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76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1" Type="http://schemas.openxmlformats.org/officeDocument/2006/relationships/viewProps" Target="viewProps.xml" /><Relationship Id="rId1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3" Type="http://schemas.openxmlformats.org/officeDocument/2006/relationships/tableStyles" Target="tableStyles.xml" /><Relationship Id="rId1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514350" indent="-284163">
              <a:spcBef>
                <a:spcPts val="0"/>
              </a:spcBef>
              <a:tabLst/>
              <a:defRPr sz="1600"/>
            </a:lvl2pPr>
            <a:lvl3pPr marL="692150" indent="-177800">
              <a:spcBef>
                <a:spcPts val="0"/>
              </a:spcBef>
              <a:tabLst/>
              <a:defRPr sz="1400"/>
            </a:lvl3pPr>
            <a:lvl4pPr marL="914400" indent="-222250">
              <a:spcBef>
                <a:spcPts val="0"/>
              </a:spcBef>
              <a:tabLst/>
              <a:defRPr sz="1400"/>
            </a:lvl4pPr>
            <a:lvl5pPr marL="1146175" indent="-231775">
              <a:spcBef>
                <a:spcPts val="0"/>
              </a:spcBef>
              <a:tabLst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>
            <a:lvl1pPr algn="l">
              <a:defRPr b="0">
                <a:solidFill>
                  <a:srgbClr val="FDCC3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0" y="662663"/>
            <a:ext cx="6010759" cy="4480837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460375" indent="-230188">
              <a:tabLst/>
              <a:defRPr sz="1600"/>
            </a:lvl2pPr>
            <a:lvl3pPr marL="630238" indent="-169863">
              <a:tabLst/>
              <a:defRPr sz="1400"/>
            </a:lvl3pPr>
            <a:lvl4pPr marL="914400" indent="-284163">
              <a:tabLst/>
              <a:defRPr sz="1400"/>
            </a:lvl4pPr>
            <a:lvl5pPr marL="1146175" indent="-231775">
              <a:tabLst/>
              <a:defRPr sz="14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9580" y="662664"/>
            <a:ext cx="2790986" cy="4480836"/>
          </a:xfrm>
        </p:spPr>
        <p:txBody>
          <a:bodyPr>
            <a:normAutofit/>
          </a:bodyPr>
          <a:lstStyle>
            <a:lvl1pPr marL="342900" indent="-34290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60804"/>
            <a:ext cx="5238426" cy="38064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70121D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DCC3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b="0"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6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6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Activity: ANCOVA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Covariates</a:t>
            </a:r>
            <a:br/>
            <a:br/>
            <a:r>
              <a:rPr/>
              <a:t>Bill Perry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Worksheet: ANCOVA — Analysis of Covariance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sz="2000" b="1"/>
              <a:t>How to use this worksheet</a:t>
            </a:r>
          </a:p>
          <a:p>
            <a:pPr lvl="0" indent="0" marL="1270000">
              <a:buNone/>
            </a:pPr>
            <a:r>
              <a:rPr sz="2000"/>
              <a:t>Work through each part in order, at your own pace. Type every line of code yourself into a </a:t>
            </a:r>
            <a:r>
              <a:rPr sz="2000" b="1"/>
              <a:t>plain R script</a:t>
            </a:r>
            <a:r>
              <a:rPr sz="2000"/>
              <a:t> — do not copy-paste. Blocks marked </a:t>
            </a:r>
            <a:r>
              <a:rPr sz="2000" b="1"/>
              <a:t>▶ Run this</a:t>
            </a:r>
            <a:r>
              <a:rPr sz="2000"/>
              <a:t> are code you should type and execute. Blocks marked </a:t>
            </a:r>
            <a:r>
              <a:rPr sz="2000" b="1"/>
              <a:t>✏️ Your turn</a:t>
            </a:r>
            <a:r>
              <a:rPr sz="2000"/>
              <a:t> ask you to write, modify, or answer something. Boxes marked </a:t>
            </a:r>
            <a:r>
              <a:rPr sz="2000" b="1"/>
              <a:t>🚀 If you finish early</a:t>
            </a:r>
            <a:r>
              <a:rPr sz="2000"/>
              <a:t> are optional bonus material that goes a bit further than what we covered in lecture.</a:t>
            </a:r>
          </a:p>
          <a:p>
            <a:pPr lvl="0" indent="0" marL="1270000">
              <a:buNone/>
            </a:pPr>
            <a:r>
              <a:rPr sz="2000"/>
              <a:t>This worksheet uses simulated cricket chirping data, the real Partridge fruitfly-longevity dataset, and simulated sea urchin data (for a heterogeneous-slopes example).</a:t>
            </a:r>
          </a:p>
          <a:p>
            <a:pPr lvl="0" indent="0" marL="0">
              <a:buNone/>
            </a:pPr>
            <a:r>
              <a:rPr b="1"/>
              <a:t>▶ Run this in your Script: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(lmtest)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(interactions)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(janitor)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(car)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(emmeans)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(broom)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(patchwork)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(tidyverse)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options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scipen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999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 b="1"/>
              <a:t>What is ANCOVA?</a:t>
            </a:r>
            <a:r>
              <a:rPr/>
              <a:t> ANCOVA (Analysis of Covariance) combines regression and ANOVA to:</a:t>
            </a:r>
          </a:p>
          <a:p>
            <a:pPr lvl="0"/>
            <a:r>
              <a:rPr/>
              <a:t>Compare group means while adjusting for a continuous covariate</a:t>
            </a:r>
          </a:p>
          <a:p>
            <a:pPr lvl="0"/>
            <a:r>
              <a:rPr/>
              <a:t>Increase statistical power by reducing residual error</a:t>
            </a:r>
          </a:p>
          <a:p>
            <a:pPr lvl="0"/>
            <a:r>
              <a:rPr/>
              <a:t>Control for confounding variables</a:t>
            </a:r>
          </a:p>
          <a:p>
            <a:pPr lvl="0" indent="0" marL="0">
              <a:buNone/>
            </a:pPr>
            <a:r>
              <a:rPr b="1"/>
              <a:t>When to use ANCOVA:</a:t>
            </a:r>
          </a:p>
          <a:p>
            <a:pPr lvl="0"/>
            <a:r>
              <a:rPr b="1"/>
              <a:t>Response variable</a:t>
            </a:r>
            <a:r>
              <a:rPr/>
              <a:t>: Continuous</a:t>
            </a:r>
          </a:p>
          <a:p>
            <a:pPr lvl="0"/>
            <a:r>
              <a:rPr b="1"/>
              <a:t>Predictor variable</a:t>
            </a:r>
            <a:r>
              <a:rPr/>
              <a:t>: Categorical (factor/groups)</a:t>
            </a:r>
          </a:p>
          <a:p>
            <a:pPr lvl="0"/>
            <a:r>
              <a:rPr b="1"/>
              <a:t>Covariate</a:t>
            </a:r>
            <a:r>
              <a:rPr/>
              <a:t>: Continuous variable that affects the response</a:t>
            </a:r>
          </a:p>
          <a:p>
            <a:pPr lvl="0" indent="0" marL="0">
              <a:buNone/>
            </a:pPr>
            <a:r>
              <a:rPr b="1"/>
              <a:t>Key assumptions of ANCOVA:</a:t>
            </a:r>
          </a:p>
          <a:p>
            <a:pPr lvl="0" indent="-342900" marL="342900">
              <a:buAutoNum type="arabicPeriod"/>
            </a:pPr>
            <a:r>
              <a:rPr b="1"/>
              <a:t>Independence</a:t>
            </a:r>
            <a:r>
              <a:rPr/>
              <a:t> of observations</a:t>
            </a:r>
          </a:p>
          <a:p>
            <a:pPr lvl="0" indent="-342900" marL="342900">
              <a:buAutoNum type="arabicPeriod"/>
            </a:pPr>
            <a:r>
              <a:rPr b="1"/>
              <a:t>Normality</a:t>
            </a:r>
            <a:r>
              <a:rPr/>
              <a:t> of residuals</a:t>
            </a:r>
          </a:p>
          <a:p>
            <a:pPr lvl="0" indent="-342900" marL="342900">
              <a:buAutoNum type="arabicPeriod"/>
            </a:pPr>
            <a:r>
              <a:rPr b="1"/>
              <a:t>Homogeneity of variances</a:t>
            </a:r>
            <a:r>
              <a:rPr/>
              <a:t> across groups</a:t>
            </a:r>
          </a:p>
          <a:p>
            <a:pPr lvl="0" indent="-342900" marL="342900">
              <a:buAutoNum type="arabicPeriod"/>
            </a:pPr>
            <a:r>
              <a:rPr b="1"/>
              <a:t>Linearity</a:t>
            </a:r>
            <a:r>
              <a:rPr/>
              <a:t> between response and covariate within each group</a:t>
            </a:r>
          </a:p>
          <a:p>
            <a:pPr lvl="0" indent="-342900" marL="342900">
              <a:buAutoNum type="arabicPeriod"/>
            </a:pPr>
            <a:r>
              <a:rPr b="1"/>
              <a:t>Homogeneity of slopes</a:t>
            </a:r>
            <a:r>
              <a:rPr/>
              <a:t> (most critical!) — regression slopes must not be significantly different across all groups</a:t>
            </a:r>
          </a:p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 b="1"/>
              <a:t>Critical first step:</a:t>
            </a:r>
            <a:r>
              <a:rPr sz="2000"/>
              <a:t> Always test for </a:t>
            </a:r>
            <a:r>
              <a:rPr sz="2000" b="1"/>
              <a:t>homogeneity of slopes</a:t>
            </a:r>
            <a:r>
              <a:rPr sz="2000"/>
              <a:t> before proceeding with ANCOVA. If slopes differ significantly between groups, standard ANCOVA is inappropriate.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1 · Cricket Chirping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 want to compare chirping rate of two cricket species — </a:t>
            </a:r>
            <a:r>
              <a:rPr i="1"/>
              <a:t>Oecanthus exclamationis</a:t>
            </a:r>
            <a:r>
              <a:rPr/>
              <a:t> and </a:t>
            </a:r>
            <a:r>
              <a:rPr i="1"/>
              <a:t>Oecanthus niveus</a:t>
            </a:r>
            <a:r>
              <a:rPr/>
              <a:t>. But we measured rates at different temperatures, and there’s a relationship between pulse rate and temperature. ANCOVA lets us adjust for the temperature effect to get a more powerful test!</a:t>
            </a:r>
          </a:p>
          <a:p>
            <a:pPr lvl="0" indent="0" marL="0">
              <a:buNone/>
            </a:pPr>
            <a:r>
              <a:rPr b="1"/>
              <a:t>▶ Run this</a:t>
            </a:r>
            <a:r>
              <a:rPr/>
              <a:t> — create the simulated cricket data and visualize it: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set.seed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456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n &lt;- </a:t>
            </a:r>
            <a:r>
              <a:rPr>
                <a:solidFill>
                  <a:srgbClr val="AD0000"/>
                </a:solidFill>
                <a:latin typeface="Courier"/>
              </a:rPr>
              <a:t>40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spp &lt;- </a:t>
            </a:r>
            <a:r>
              <a:rPr>
                <a:solidFill>
                  <a:srgbClr val="4758AB"/>
                </a:solidFill>
                <a:latin typeface="Courier"/>
              </a:rPr>
              <a:t>rep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"O. exclamationis"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"O. niveus"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657422"/>
                </a:solidFill>
                <a:latin typeface="Courier"/>
              </a:rPr>
              <a:t>each =</a:t>
            </a:r>
            <a:r>
              <a:rPr>
                <a:solidFill>
                  <a:srgbClr val="003B4F"/>
                </a:solidFill>
                <a:latin typeface="Courier"/>
              </a:rPr>
              <a:t> n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temp &lt;-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rnorm</a:t>
            </a:r>
            <a:r>
              <a:rPr>
                <a:solidFill>
                  <a:srgbClr val="003B4F"/>
                </a:solidFill>
                <a:latin typeface="Courier"/>
              </a:rPr>
              <a:t>(n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mean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22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4758AB"/>
                </a:solidFill>
                <a:latin typeface="Courier"/>
              </a:rPr>
              <a:t>rnorm</a:t>
            </a:r>
            <a:r>
              <a:rPr>
                <a:solidFill>
                  <a:srgbClr val="003B4F"/>
                </a:solidFill>
                <a:latin typeface="Courier"/>
              </a:rPr>
              <a:t>(n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mean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24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chirp_rate &lt;- </a:t>
            </a:r>
            <a:r>
              <a:rPr>
                <a:solidFill>
                  <a:srgbClr val="AD0000"/>
                </a:solidFill>
                <a:latin typeface="Courier"/>
              </a:rPr>
              <a:t>40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2.5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*</a:t>
            </a:r>
            <a:r>
              <a:rPr>
                <a:solidFill>
                  <a:srgbClr val="003B4F"/>
                </a:solidFill>
                <a:latin typeface="Courier"/>
              </a:rPr>
              <a:t> (temp 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23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ifelse</a:t>
            </a:r>
            <a:r>
              <a:rPr>
                <a:solidFill>
                  <a:srgbClr val="003B4F"/>
                </a:solidFill>
                <a:latin typeface="Courier"/>
              </a:rPr>
              <a:t>(spp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"O. exclamationis"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0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rnorm</a:t>
            </a:r>
            <a:r>
              <a:rPr>
                <a:solidFill>
                  <a:srgbClr val="003B4F"/>
                </a:solidFill>
                <a:latin typeface="Courier"/>
              </a:rPr>
              <a:t>(n, </a:t>
            </a:r>
            <a:r>
              <a:rPr>
                <a:solidFill>
                  <a:srgbClr val="657422"/>
                </a:solidFill>
                <a:latin typeface="Courier"/>
              </a:rPr>
              <a:t>sd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c_df &lt;- </a:t>
            </a:r>
            <a:r>
              <a:rPr>
                <a:solidFill>
                  <a:srgbClr val="4758AB"/>
                </a:solidFill>
                <a:latin typeface="Courier"/>
              </a:rPr>
              <a:t>data.frame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spp =</a:t>
            </a:r>
            <a:r>
              <a:rPr>
                <a:solidFill>
                  <a:srgbClr val="003B4F"/>
                </a:solidFill>
                <a:latin typeface="Courier"/>
              </a:rPr>
              <a:t> spp, </a:t>
            </a:r>
            <a:r>
              <a:rPr>
                <a:solidFill>
                  <a:srgbClr val="657422"/>
                </a:solidFill>
                <a:latin typeface="Courier"/>
              </a:rPr>
              <a:t>temp =</a:t>
            </a:r>
            <a:r>
              <a:rPr>
                <a:solidFill>
                  <a:srgbClr val="003B4F"/>
                </a:solidFill>
                <a:latin typeface="Courier"/>
              </a:rPr>
              <a:t> temp, </a:t>
            </a:r>
            <a:r>
              <a:rPr>
                <a:solidFill>
                  <a:srgbClr val="657422"/>
                </a:solidFill>
                <a:latin typeface="Courier"/>
              </a:rPr>
              <a:t>chirp_rate =</a:t>
            </a:r>
            <a:r>
              <a:rPr>
                <a:solidFill>
                  <a:srgbClr val="003B4F"/>
                </a:solidFill>
                <a:latin typeface="Courier"/>
              </a:rPr>
              <a:t> chirp_rate)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(c_df)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(c_df,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temp,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chirp_rate,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spp))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0.7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geom_smooth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method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"lm"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FALSE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Step 1: Test homogeneity of slopes</a:t>
            </a:r>
          </a:p>
          <a:p>
            <a:pPr lvl="0" indent="0" marL="0">
              <a:buNone/>
            </a:pPr>
            <a:r>
              <a:rPr/>
              <a:t>This is the most critical assumption! We test if the regression slopes are equal across all groups.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options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contrasts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"contr.sum"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"contr.poly"</a:t>
            </a:r>
            <a:r>
              <a:rPr>
                <a:solidFill>
                  <a:srgbClr val="003B4F"/>
                </a:solidFill>
                <a:latin typeface="Courier"/>
              </a:rPr>
              <a:t>)) </a:t>
            </a:r>
            <a:r>
              <a:rPr>
                <a:solidFill>
                  <a:srgbClr val="5E5E5E"/>
                </a:solidFill>
                <a:latin typeface="Courier"/>
              </a:rPr>
              <a:t># for true type 3 anovas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options(contrasts = c("contr.treatment", "contr.poly")) # original version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see below for interpretation...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lm_int_model &lt;- </a:t>
            </a:r>
            <a:r>
              <a:rPr>
                <a:solidFill>
                  <a:srgbClr val="4758AB"/>
                </a:solidFill>
                <a:latin typeface="Courier"/>
              </a:rPr>
              <a:t>lm</a:t>
            </a:r>
            <a:r>
              <a:rPr>
                <a:solidFill>
                  <a:srgbClr val="003B4F"/>
                </a:solidFill>
                <a:latin typeface="Courier"/>
              </a:rPr>
              <a:t>(chirp_rate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temp </a:t>
            </a:r>
            <a:r>
              <a:rPr>
                <a:solidFill>
                  <a:srgbClr val="5E5E5E"/>
                </a:solidFill>
                <a:latin typeface="Courier"/>
              </a:rPr>
              <a:t>*</a:t>
            </a:r>
            <a:r>
              <a:rPr>
                <a:solidFill>
                  <a:srgbClr val="003B4F"/>
                </a:solidFill>
                <a:latin typeface="Courier"/>
              </a:rPr>
              <a:t> spp,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c_df)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Anova</a:t>
            </a:r>
            <a:r>
              <a:rPr>
                <a:solidFill>
                  <a:srgbClr val="003B4F"/>
                </a:solidFill>
                <a:latin typeface="Courier"/>
              </a:rPr>
              <a:t>(lm_int_model, </a:t>
            </a:r>
            <a:r>
              <a:rPr>
                <a:solidFill>
                  <a:srgbClr val="657422"/>
                </a:solidFill>
                <a:latin typeface="Courier"/>
              </a:rPr>
              <a:t>type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 b="1"/>
              <a:t>Interpretation:</a:t>
            </a:r>
            <a:r>
              <a:rPr/>
              <a:t> If p &gt; 0.05, slopes are homogeneous — proceed with ANCOVA. If p &lt; 0.05, slopes differ and standard ANCOVA is inappropriate.</a:t>
            </a:r>
          </a:p>
          <a:p>
            <a:pPr lvl="0" indent="0" marL="0">
              <a:buNone/>
            </a:pPr>
            <a:r>
              <a:rPr b="1"/>
              <a:t>The contrasts setting changes the specific hypothesis being tested for your main effects:</a:t>
            </a:r>
          </a:p>
          <a:p>
            <a:pPr lvl="0"/>
            <a:r>
              <a:rPr/>
              <a:t>With </a:t>
            </a:r>
            <a:r>
              <a:rPr>
                <a:latin typeface="Courier"/>
              </a:rPr>
              <a:t>contr.treatment</a:t>
            </a:r>
            <a:r>
              <a:rPr/>
              <a:t>, the test for </a:t>
            </a:r>
            <a:r>
              <a:rPr>
                <a:latin typeface="Courier"/>
              </a:rPr>
              <a:t>temp</a:t>
            </a:r>
            <a:r>
              <a:rPr/>
              <a:t> tests the effect of temperature only for the reference species (</a:t>
            </a:r>
            <a:r>
              <a:rPr>
                <a:latin typeface="Courier"/>
              </a:rPr>
              <a:t>O. exclamationis</a:t>
            </a:r>
            <a:r>
              <a:rPr/>
              <a:t> comes first alphabetically) — is mean </a:t>
            </a:r>
            <a:r>
              <a:rPr>
                <a:latin typeface="Courier"/>
              </a:rPr>
              <a:t>chirp_rate</a:t>
            </a:r>
            <a:r>
              <a:rPr/>
              <a:t> equal to zero for the reference species when </a:t>
            </a:r>
            <a:r>
              <a:rPr>
                <a:latin typeface="Courier"/>
              </a:rPr>
              <a:t>temp</a:t>
            </a:r>
            <a:r>
              <a:rPr/>
              <a:t> is 0?</a:t>
            </a:r>
          </a:p>
          <a:p>
            <a:pPr lvl="0"/>
            <a:r>
              <a:rPr/>
              <a:t>With </a:t>
            </a:r>
            <a:r>
              <a:rPr>
                <a:latin typeface="Courier"/>
              </a:rPr>
              <a:t>contr.sum</a:t>
            </a:r>
            <a:r>
              <a:rPr/>
              <a:t> (“sum coding” or “deviation coding”), the test for </a:t>
            </a:r>
            <a:r>
              <a:rPr>
                <a:latin typeface="Courier"/>
              </a:rPr>
              <a:t>temp</a:t>
            </a:r>
            <a:r>
              <a:rPr/>
              <a:t> tests the </a:t>
            </a:r>
            <a:r>
              <a:rPr i="1"/>
              <a:t>average</a:t>
            </a:r>
            <a:r>
              <a:rPr/>
              <a:t> effect of temperature across both species — is average mean </a:t>
            </a:r>
            <a:r>
              <a:rPr>
                <a:latin typeface="Courier"/>
              </a:rPr>
              <a:t>chirp_rate</a:t>
            </a:r>
            <a:r>
              <a:rPr/>
              <a:t> (averaged across both species) equal to zero when </a:t>
            </a:r>
            <a:r>
              <a:rPr>
                <a:latin typeface="Courier"/>
              </a:rPr>
              <a:t>temp</a:t>
            </a:r>
            <a:r>
              <a:rPr/>
              <a:t> is 0?</a:t>
            </a:r>
          </a:p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/>
              <a:t>The intercept is hard to interpret in both models because </a:t>
            </a:r>
            <a:r>
              <a:rPr sz="2000">
                <a:latin typeface="Courier"/>
              </a:rPr>
              <a:t>temp = 0</a:t>
            </a:r>
            <a:r>
              <a:rPr sz="2000"/>
              <a:t> is meaningless. If you centered the </a:t>
            </a:r>
            <a:r>
              <a:rPr sz="2000">
                <a:latin typeface="Courier"/>
              </a:rPr>
              <a:t>temp</a:t>
            </a:r>
            <a:r>
              <a:rPr sz="2000"/>
              <a:t> variable (</a:t>
            </a:r>
            <a:r>
              <a:rPr sz="2000">
                <a:latin typeface="Courier"/>
              </a:rPr>
              <a:t>temp_c = temp - mean(temp)</a:t>
            </a:r>
            <a:r>
              <a:rPr sz="2000"/>
              <a:t>) and re-ran the model, the intercept would then test the </a:t>
            </a:r>
            <a:r>
              <a:rPr sz="2000">
                <a:latin typeface="Courier"/>
              </a:rPr>
              <a:t>chirp_rate</a:t>
            </a:r>
            <a:r>
              <a:rPr sz="2000"/>
              <a:t> at the </a:t>
            </a:r>
            <a:r>
              <a:rPr sz="2000" i="1"/>
              <a:t>average</a:t>
            </a:r>
            <a:r>
              <a:rPr sz="2000"/>
              <a:t> temperature — much more interpretable.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Step 2: Fit the ANCOVA model</a:t>
            </a:r>
          </a:p>
          <a:p>
            <a:pPr lvl="0" indent="0" marL="0">
              <a:buNone/>
            </a:pPr>
            <a:r>
              <a:rPr/>
              <a:t>Since slopes are homogeneous (p &gt; 0.05), fit the ANCOVA model without the interaction term.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ancova_model &lt;- </a:t>
            </a:r>
            <a:r>
              <a:rPr>
                <a:solidFill>
                  <a:srgbClr val="4758AB"/>
                </a:solidFill>
                <a:latin typeface="Courier"/>
              </a:rPr>
              <a:t>lm</a:t>
            </a:r>
            <a:r>
              <a:rPr>
                <a:solidFill>
                  <a:srgbClr val="003B4F"/>
                </a:solidFill>
                <a:latin typeface="Courier"/>
              </a:rPr>
              <a:t>(chirp_rate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temp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spp,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c_df)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summary</a:t>
            </a:r>
            <a:r>
              <a:rPr>
                <a:solidFill>
                  <a:srgbClr val="003B4F"/>
                </a:solidFill>
                <a:latin typeface="Courier"/>
              </a:rPr>
              <a:t>(ancova_model)</a:t>
            </a:r>
          </a:p>
          <a:p>
            <a:pPr lvl="0" indent="0" marL="0">
              <a:buNone/>
            </a:pPr>
            <a:r>
              <a:rPr b="1"/>
              <a:t>Interpretation:</a:t>
            </a:r>
          </a:p>
          <a:p>
            <a:pPr lvl="0"/>
            <a:r>
              <a:rPr>
                <a:latin typeface="Courier"/>
              </a:rPr>
              <a:t>spp1</a:t>
            </a:r>
            <a:r>
              <a:rPr/>
              <a:t> is the clue that </a:t>
            </a:r>
            <a:r>
              <a:rPr>
                <a:latin typeface="Courier"/>
              </a:rPr>
              <a:t>contr.sum</a:t>
            </a:r>
            <a:r>
              <a:rPr/>
              <a:t> is active — it represents the coefficient for the first species (</a:t>
            </a:r>
            <a:r>
              <a:rPr>
                <a:latin typeface="Courier"/>
              </a:rPr>
              <a:t>O. exclamationis</a:t>
            </a:r>
            <a:r>
              <a:rPr/>
              <a:t>) relative to the grand mean.</a:t>
            </a:r>
          </a:p>
          <a:p>
            <a:pPr lvl="0"/>
            <a:r>
              <a:rPr>
                <a:latin typeface="Courier"/>
              </a:rPr>
              <a:t>(Intercept)</a:t>
            </a:r>
            <a:r>
              <a:rPr/>
              <a:t>: the average </a:t>
            </a:r>
            <a:r>
              <a:rPr>
                <a:latin typeface="Courier"/>
              </a:rPr>
              <a:t>chirp_rate</a:t>
            </a:r>
            <a:r>
              <a:rPr/>
              <a:t> (across both species) when </a:t>
            </a:r>
            <a:r>
              <a:rPr>
                <a:latin typeface="Courier"/>
              </a:rPr>
              <a:t>temp</a:t>
            </a:r>
            <a:r>
              <a:rPr/>
              <a:t> is 0.</a:t>
            </a:r>
          </a:p>
          <a:p>
            <a:pPr lvl="0"/>
            <a:r>
              <a:rPr>
                <a:latin typeface="Courier"/>
              </a:rPr>
              <a:t>temp</a:t>
            </a:r>
            <a:r>
              <a:rPr/>
              <a:t>: the common slope — for every 1-degree increase in </a:t>
            </a:r>
            <a:r>
              <a:rPr>
                <a:latin typeface="Courier"/>
              </a:rPr>
              <a:t>temp</a:t>
            </a:r>
            <a:r>
              <a:rPr/>
              <a:t>, </a:t>
            </a:r>
            <a:r>
              <a:rPr>
                <a:latin typeface="Courier"/>
              </a:rPr>
              <a:t>chirp_rate</a:t>
            </a:r>
            <a:r>
              <a:rPr/>
              <a:t> increases by that many units.</a:t>
            </a:r>
          </a:p>
          <a:p>
            <a:pPr lvl="0"/>
            <a:r>
              <a:rPr>
                <a:latin typeface="Courier"/>
              </a:rPr>
              <a:t>spp1</a:t>
            </a:r>
            <a:r>
              <a:rPr/>
              <a:t>: the deviation from the grand mean for </a:t>
            </a:r>
            <a:r>
              <a:rPr>
                <a:latin typeface="Courier"/>
              </a:rPr>
              <a:t>O. exclamationis</a:t>
            </a:r>
            <a:r>
              <a:rPr/>
              <a:t>; the effect for </a:t>
            </a:r>
            <a:r>
              <a:rPr>
                <a:latin typeface="Courier"/>
              </a:rPr>
              <a:t>O. niveus</a:t>
            </a:r>
            <a:r>
              <a:rPr/>
              <a:t> is the negative of that value.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Anova</a:t>
            </a:r>
            <a:r>
              <a:rPr>
                <a:solidFill>
                  <a:srgbClr val="003B4F"/>
                </a:solidFill>
                <a:latin typeface="Courier"/>
              </a:rPr>
              <a:t>(ancova_model, </a:t>
            </a:r>
            <a:r>
              <a:rPr>
                <a:solidFill>
                  <a:srgbClr val="657422"/>
                </a:solidFill>
                <a:latin typeface="Courier"/>
              </a:rPr>
              <a:t>type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/>
              <a:t>Both Type II (technically more appropriate here) and Type III end up doing the exact same calculation:</a:t>
            </a:r>
          </a:p>
          <a:p>
            <a:pPr lvl="0"/>
            <a:r>
              <a:rPr/>
              <a:t>The test for </a:t>
            </a:r>
            <a:r>
              <a:rPr>
                <a:latin typeface="Courier"/>
              </a:rPr>
              <a:t>temp</a:t>
            </a:r>
            <a:r>
              <a:rPr/>
              <a:t> gets the Sum of Squares for </a:t>
            </a:r>
            <a:r>
              <a:rPr>
                <a:latin typeface="Courier"/>
              </a:rPr>
              <a:t>temp</a:t>
            </a:r>
            <a:r>
              <a:rPr/>
              <a:t> after accounting for </a:t>
            </a:r>
            <a:r>
              <a:rPr>
                <a:latin typeface="Courier"/>
              </a:rPr>
              <a:t>spp</a:t>
            </a:r>
            <a:r>
              <a:rPr/>
              <a:t>.</a:t>
            </a:r>
          </a:p>
          <a:p>
            <a:pPr lvl="0"/>
            <a:r>
              <a:rPr/>
              <a:t>The test for </a:t>
            </a:r>
            <a:r>
              <a:rPr>
                <a:latin typeface="Courier"/>
              </a:rPr>
              <a:t>spp</a:t>
            </a:r>
            <a:r>
              <a:rPr/>
              <a:t> gets the Sum of Squares for </a:t>
            </a:r>
            <a:r>
              <a:rPr>
                <a:latin typeface="Courier"/>
              </a:rPr>
              <a:t>spp</a:t>
            </a:r>
            <a:r>
              <a:rPr/>
              <a:t> after accounting for </a:t>
            </a:r>
            <a:r>
              <a:rPr>
                <a:latin typeface="Courier"/>
              </a:rPr>
              <a:t>temp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Based on the </a:t>
            </a:r>
            <a:r>
              <a:rPr>
                <a:latin typeface="Courier"/>
              </a:rPr>
              <a:t>Anova()</a:t>
            </a:r>
            <a:r>
              <a:rPr/>
              <a:t> output, is there a significant species effect on chirping rate after adjusting for temperature? </a:t>
            </a:r>
            <a:r>
              <a:rPr>
                <a:latin typeface="Courier"/>
              </a:rPr>
              <a:t>________________________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Step 3: Check model assumptions</a:t>
            </a:r>
          </a:p>
          <a:p>
            <a:pPr lvl="0" indent="0" marL="0">
              <a:buNone/>
            </a:pPr>
            <a:r>
              <a:rPr b="1"/>
              <a:t>▶ Run this: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par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mfrow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plot</a:t>
            </a:r>
            <a:r>
              <a:rPr>
                <a:solidFill>
                  <a:srgbClr val="003B4F"/>
                </a:solidFill>
                <a:latin typeface="Courier"/>
              </a:rPr>
              <a:t>(ancova_model, </a:t>
            </a:r>
            <a:r>
              <a:rPr>
                <a:solidFill>
                  <a:srgbClr val="657422"/>
                </a:solidFill>
                <a:latin typeface="Courier"/>
              </a:rPr>
              <a:t>main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"ANCOVA Diagnostic Plots"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par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mfrow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shapiro.test</a:t>
            </a:r>
            <a:r>
              <a:rPr>
                <a:solidFill>
                  <a:srgbClr val="003B4F"/>
                </a:solidFill>
                <a:latin typeface="Courier"/>
              </a:rPr>
              <a:t>(ancova_model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residuals)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leveneTest</a:t>
            </a:r>
            <a:r>
              <a:rPr>
                <a:solidFill>
                  <a:srgbClr val="003B4F"/>
                </a:solidFill>
                <a:latin typeface="Courier"/>
              </a:rPr>
              <a:t>(chirp_rate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spp,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c_df)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Breusch-Pagan (BP) test for homoscedasticity</a:t>
            </a:r>
            <a:br/>
            <a:r>
              <a:rPr>
                <a:solidFill>
                  <a:srgbClr val="003B4F"/>
                </a:solidFill>
                <a:latin typeface="Courier"/>
              </a:rPr>
              <a:t>lmtest</a:t>
            </a:r>
            <a:r>
              <a:rPr>
                <a:solidFill>
                  <a:srgbClr val="5E5E5E"/>
                </a:solidFill>
                <a:latin typeface="Courier"/>
              </a:rPr>
              <a:t>::</a:t>
            </a:r>
            <a:r>
              <a:rPr>
                <a:solidFill>
                  <a:srgbClr val="4758AB"/>
                </a:solidFill>
                <a:latin typeface="Courier"/>
              </a:rPr>
              <a:t>bptest</a:t>
            </a:r>
            <a:r>
              <a:rPr>
                <a:solidFill>
                  <a:srgbClr val="003B4F"/>
                </a:solidFill>
                <a:latin typeface="Courier"/>
              </a:rPr>
              <a:t>(ancova_model)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Step 4: Calculate adjusted means</a:t>
            </a:r>
          </a:p>
          <a:p>
            <a:pPr lvl="0" indent="0" marL="0">
              <a:buNone/>
            </a:pPr>
            <a:r>
              <a:rPr/>
              <a:t>ANCOVA compares adjusted means — what each group’s mean would be at the overall mean of the covariate.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c_emmeans &lt;- </a:t>
            </a:r>
            <a:r>
              <a:rPr>
                <a:solidFill>
                  <a:srgbClr val="4758AB"/>
                </a:solidFill>
                <a:latin typeface="Courier"/>
              </a:rPr>
              <a:t>emmeans</a:t>
            </a:r>
            <a:r>
              <a:rPr>
                <a:solidFill>
                  <a:srgbClr val="003B4F"/>
                </a:solidFill>
                <a:latin typeface="Courier"/>
              </a:rPr>
              <a:t>(ancova_model, </a:t>
            </a:r>
            <a:r>
              <a:rPr>
                <a:solidFill>
                  <a:srgbClr val="20794D"/>
                </a:solidFill>
                <a:latin typeface="Courier"/>
              </a:rPr>
              <a:t>"spp"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cricket_adj_means_df &lt;- </a:t>
            </a:r>
            <a:r>
              <a:rPr>
                <a:solidFill>
                  <a:srgbClr val="4758AB"/>
                </a:solidFill>
                <a:latin typeface="Courier"/>
              </a:rPr>
              <a:t>as.data.frame</a:t>
            </a:r>
            <a:r>
              <a:rPr>
                <a:solidFill>
                  <a:srgbClr val="003B4F"/>
                </a:solidFill>
                <a:latin typeface="Courier"/>
              </a:rPr>
              <a:t>(c_emmeans)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cricket_adj_means_df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Step 5: Pairwise comparisons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pairs</a:t>
            </a:r>
            <a:r>
              <a:rPr>
                <a:solidFill>
                  <a:srgbClr val="003B4F"/>
                </a:solidFill>
                <a:latin typeface="Courier"/>
              </a:rPr>
              <a:t>(c_emmeans, </a:t>
            </a:r>
            <a:r>
              <a:rPr>
                <a:solidFill>
                  <a:srgbClr val="657422"/>
                </a:solidFill>
                <a:latin typeface="Courier"/>
              </a:rPr>
              <a:t>adjust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"sidak"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Step 6: Visualize results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plot</a:t>
            </a:r>
            <a:r>
              <a:rPr>
                <a:solidFill>
                  <a:srgbClr val="003B4F"/>
                </a:solidFill>
                <a:latin typeface="Courier"/>
              </a:rPr>
              <a:t>(c_emmeans, </a:t>
            </a:r>
            <a:r>
              <a:rPr>
                <a:solidFill>
                  <a:srgbClr val="657422"/>
                </a:solidFill>
                <a:latin typeface="Courier"/>
              </a:rPr>
              <a:t>comparisons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c_emmeans_df &lt;- </a:t>
            </a:r>
            <a:r>
              <a:rPr>
                <a:solidFill>
                  <a:srgbClr val="4758AB"/>
                </a:solidFill>
                <a:latin typeface="Courier"/>
              </a:rPr>
              <a:t>as.data.frame</a:t>
            </a:r>
            <a:r>
              <a:rPr>
                <a:solidFill>
                  <a:srgbClr val="003B4F"/>
                </a:solidFill>
                <a:latin typeface="Courier"/>
              </a:rPr>
              <a:t>(c_emmeans)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(c_emmeans_df,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spp,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emmean,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spp))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geom_bar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stat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"identity"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0.7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geom_errorbar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ymin =</a:t>
            </a:r>
            <a:r>
              <a:rPr>
                <a:solidFill>
                  <a:srgbClr val="003B4F"/>
                </a:solidFill>
                <a:latin typeface="Courier"/>
              </a:rPr>
              <a:t> lower.CL, </a:t>
            </a:r>
            <a:r>
              <a:rPr>
                <a:solidFill>
                  <a:srgbClr val="657422"/>
                </a:solidFill>
                <a:latin typeface="Courier"/>
              </a:rPr>
              <a:t>ymax =</a:t>
            </a:r>
            <a:r>
              <a:rPr>
                <a:solidFill>
                  <a:srgbClr val="003B4F"/>
                </a:solidFill>
                <a:latin typeface="Courier"/>
              </a:rPr>
              <a:t> upper.CL), </a:t>
            </a:r>
            <a:r>
              <a:rPr>
                <a:solidFill>
                  <a:srgbClr val="657422"/>
                </a:solidFill>
                <a:latin typeface="Courier"/>
              </a:rPr>
              <a:t>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0.2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"Adjusted Mean Chirping Rate by Species"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subtitle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"Means adjusted for temperature"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"Species"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"Adjusted Chirping Rate"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legend.position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"none"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</a:t>
            </a:r>
            <a:r>
              <a:rPr>
                <a:solidFill>
                  <a:srgbClr val="657422"/>
                </a:solidFill>
                <a:latin typeface="Courier"/>
              </a:rPr>
              <a:t>axis.text.x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element_text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angle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45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hjust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🚀 If you finish early:</a:t>
            </a:r>
            <a:r>
              <a:rPr sz="2000"/>
              <a:t> Refit </a:t>
            </a:r>
            <a:r>
              <a:rPr sz="2000">
                <a:latin typeface="Courier"/>
              </a:rPr>
              <a:t>ancova_model</a:t>
            </a:r>
            <a:r>
              <a:rPr sz="2000"/>
              <a:t> with </a:t>
            </a:r>
            <a:r>
              <a:rPr sz="2000">
                <a:latin typeface="Courier"/>
              </a:rPr>
              <a:t>options(contrasts = c("contr.treatment", "contr.poly"))</a:t>
            </a:r>
            <a:r>
              <a:rPr sz="2000"/>
              <a:t> instead of </a:t>
            </a:r>
            <a:r>
              <a:rPr sz="2000">
                <a:latin typeface="Courier"/>
              </a:rPr>
              <a:t>contr.sum</a:t>
            </a:r>
            <a:r>
              <a:rPr sz="2000"/>
              <a:t>, and compare the coefficient table. Does the </a:t>
            </a:r>
            <a:r>
              <a:rPr sz="2000">
                <a:latin typeface="Courier"/>
              </a:rPr>
              <a:t>Anova()</a:t>
            </a:r>
            <a:r>
              <a:rPr sz="2000"/>
              <a:t> F-test for </a:t>
            </a:r>
            <a:r>
              <a:rPr sz="2000">
                <a:latin typeface="Courier"/>
              </a:rPr>
              <a:t>spp</a:t>
            </a:r>
            <a:r>
              <a:rPr sz="2000"/>
              <a:t> change? Does the intercept’s meaning change?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Write your code here: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2 · Partridge Longevity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We’ll analyze the effect of mating strategy on male fruitfly longevity, using thorax length as a covariate — this is real data from Partridge &amp; Farquhar (1981).</a:t>
            </a:r>
          </a:p>
          <a:p>
            <a:pPr lvl="0" indent="0" marL="0">
              <a:buNone/>
            </a:pPr>
            <a:r>
              <a:rPr b="1"/>
              <a:t>▶ Run this</a:t>
            </a:r>
            <a:r>
              <a:rPr/>
              <a:t> — load and visualize the data: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p_df &lt;- </a:t>
            </a:r>
            <a:r>
              <a:rPr>
                <a:solidFill>
                  <a:srgbClr val="4758AB"/>
                </a:solidFill>
                <a:latin typeface="Courier"/>
              </a:rPr>
              <a:t>read.csv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"data/partridge.csv"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clean_names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rename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treat =</a:t>
            </a:r>
            <a:r>
              <a:rPr>
                <a:solidFill>
                  <a:srgbClr val="003B4F"/>
                </a:solidFill>
                <a:latin typeface="Courier"/>
              </a:rPr>
              <a:t> treatmen)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p_df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treat &lt;- </a:t>
            </a:r>
            <a:r>
              <a:rPr>
                <a:solidFill>
                  <a:srgbClr val="4758AB"/>
                </a:solidFill>
                <a:latin typeface="Courier"/>
              </a:rPr>
              <a:t>factor</a:t>
            </a:r>
            <a:r>
              <a:rPr>
                <a:solidFill>
                  <a:srgbClr val="003B4F"/>
                </a:solidFill>
                <a:latin typeface="Courier"/>
              </a:rPr>
              <a:t>(p_df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treat,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 </a:t>
            </a:r>
            <a:r>
              <a:rPr>
                <a:solidFill>
                  <a:srgbClr val="657422"/>
                </a:solidFill>
                <a:latin typeface="Courier"/>
              </a:rPr>
              <a:t>levels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 </a:t>
            </a:r>
            <a:r>
              <a:rPr>
                <a:solidFill>
                  <a:srgbClr val="657422"/>
                </a:solidFill>
                <a:latin typeface="Courier"/>
              </a:rPr>
              <a:t>labels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"No females"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            </a:t>
            </a:r>
            <a:r>
              <a:rPr>
                <a:solidFill>
                  <a:srgbClr val="20794D"/>
                </a:solidFill>
                <a:latin typeface="Courier"/>
              </a:rPr>
              <a:t>"One virgin female daily"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            </a:t>
            </a:r>
            <a:r>
              <a:rPr>
                <a:solidFill>
                  <a:srgbClr val="20794D"/>
                </a:solidFill>
                <a:latin typeface="Courier"/>
              </a:rPr>
              <a:t>"Eight virgin females daily"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            </a:t>
            </a:r>
            <a:r>
              <a:rPr>
                <a:solidFill>
                  <a:srgbClr val="20794D"/>
                </a:solidFill>
                <a:latin typeface="Courier"/>
              </a:rPr>
              <a:t>"One inseminated female daily"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            </a:t>
            </a:r>
            <a:r>
              <a:rPr>
                <a:solidFill>
                  <a:srgbClr val="20794D"/>
                </a:solidFill>
                <a:latin typeface="Courier"/>
              </a:rPr>
              <a:t>"Eight inseminated females daily"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(p_df)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(p_df,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thorax,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longev,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treat))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geom_smooth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method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"lm"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FALSE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"Relationship between Thorax Length and Longevity"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"Thorax Length (mm)"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"Longevity (days)"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"Treatment"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legend.position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"bottom"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Step 1: Test homogeneity of slopes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homo_slopes_model &lt;- </a:t>
            </a:r>
            <a:r>
              <a:rPr>
                <a:solidFill>
                  <a:srgbClr val="4758AB"/>
                </a:solidFill>
                <a:latin typeface="Courier"/>
              </a:rPr>
              <a:t>lm</a:t>
            </a:r>
            <a:r>
              <a:rPr>
                <a:solidFill>
                  <a:srgbClr val="003B4F"/>
                </a:solidFill>
                <a:latin typeface="Courier"/>
              </a:rPr>
              <a:t>(longev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thorax </a:t>
            </a:r>
            <a:r>
              <a:rPr>
                <a:solidFill>
                  <a:srgbClr val="5E5E5E"/>
                </a:solidFill>
                <a:latin typeface="Courier"/>
              </a:rPr>
              <a:t>*</a:t>
            </a:r>
            <a:r>
              <a:rPr>
                <a:solidFill>
                  <a:srgbClr val="003B4F"/>
                </a:solidFill>
                <a:latin typeface="Courier"/>
              </a:rPr>
              <a:t> treat,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p_df)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Anova</a:t>
            </a:r>
            <a:r>
              <a:rPr>
                <a:solidFill>
                  <a:srgbClr val="003B4F"/>
                </a:solidFill>
                <a:latin typeface="Courier"/>
              </a:rPr>
              <a:t>(homo_slopes_model, </a:t>
            </a:r>
            <a:r>
              <a:rPr>
                <a:solidFill>
                  <a:srgbClr val="657422"/>
                </a:solidFill>
                <a:latin typeface="Courier"/>
              </a:rPr>
              <a:t>type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Step 2: Fit the ANCOVA model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p_ancova_model &lt;- </a:t>
            </a:r>
            <a:r>
              <a:rPr>
                <a:solidFill>
                  <a:srgbClr val="4758AB"/>
                </a:solidFill>
                <a:latin typeface="Courier"/>
              </a:rPr>
              <a:t>lm</a:t>
            </a:r>
            <a:r>
              <a:rPr>
                <a:solidFill>
                  <a:srgbClr val="003B4F"/>
                </a:solidFill>
                <a:latin typeface="Courier"/>
              </a:rPr>
              <a:t>(longev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thorax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treat,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p_df)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summary</a:t>
            </a:r>
            <a:r>
              <a:rPr>
                <a:solidFill>
                  <a:srgbClr val="003B4F"/>
                </a:solidFill>
                <a:latin typeface="Courier"/>
              </a:rPr>
              <a:t>(p_ancova_model)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Anova</a:t>
            </a:r>
            <a:r>
              <a:rPr>
                <a:solidFill>
                  <a:srgbClr val="003B4F"/>
                </a:solidFill>
                <a:latin typeface="Courier"/>
              </a:rPr>
              <a:t>(p_ancova_model, </a:t>
            </a:r>
            <a:r>
              <a:rPr>
                <a:solidFill>
                  <a:srgbClr val="657422"/>
                </a:solidFill>
                <a:latin typeface="Courier"/>
              </a:rPr>
              <a:t>type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"II"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Step 3: Check assumptions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par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mfrow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plot</a:t>
            </a:r>
            <a:r>
              <a:rPr>
                <a:solidFill>
                  <a:srgbClr val="003B4F"/>
                </a:solidFill>
                <a:latin typeface="Courier"/>
              </a:rPr>
              <a:t>(p_ancova_model)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par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mfrow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shapiro.test</a:t>
            </a:r>
            <a:r>
              <a:rPr>
                <a:solidFill>
                  <a:srgbClr val="003B4F"/>
                </a:solidFill>
                <a:latin typeface="Courier"/>
              </a:rPr>
              <a:t>(p_ancova_model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residuals)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leveneTest</a:t>
            </a:r>
            <a:r>
              <a:rPr>
                <a:solidFill>
                  <a:srgbClr val="003B4F"/>
                </a:solidFill>
                <a:latin typeface="Courier"/>
              </a:rPr>
              <a:t>(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thorax </a:t>
            </a:r>
            <a:r>
              <a:rPr>
                <a:solidFill>
                  <a:srgbClr val="5E5E5E"/>
                </a:solidFill>
                <a:latin typeface="Courier"/>
              </a:rPr>
              <a:t>*</a:t>
            </a:r>
            <a:r>
              <a:rPr>
                <a:solidFill>
                  <a:srgbClr val="003B4F"/>
                </a:solidFill>
                <a:latin typeface="Courier"/>
              </a:rPr>
              <a:t> treat,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p_df)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Breusch-Pagan (BP) test for homoscedasticity</a:t>
            </a:r>
            <a:br/>
            <a:r>
              <a:rPr>
                <a:solidFill>
                  <a:srgbClr val="003B4F"/>
                </a:solidFill>
                <a:latin typeface="Courier"/>
              </a:rPr>
              <a:t>lmtest</a:t>
            </a:r>
            <a:r>
              <a:rPr>
                <a:solidFill>
                  <a:srgbClr val="5E5E5E"/>
                </a:solidFill>
                <a:latin typeface="Courier"/>
              </a:rPr>
              <a:t>::</a:t>
            </a:r>
            <a:r>
              <a:rPr>
                <a:solidFill>
                  <a:srgbClr val="4758AB"/>
                </a:solidFill>
                <a:latin typeface="Courier"/>
              </a:rPr>
              <a:t>bptest</a:t>
            </a:r>
            <a:r>
              <a:rPr>
                <a:solidFill>
                  <a:srgbClr val="003B4F"/>
                </a:solidFill>
                <a:latin typeface="Courier"/>
              </a:rPr>
              <a:t>(p_ancova_model)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Step 4: Calculate adjusted means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p_means &lt;- </a:t>
            </a:r>
            <a:r>
              <a:rPr>
                <a:solidFill>
                  <a:srgbClr val="4758AB"/>
                </a:solidFill>
                <a:latin typeface="Courier"/>
              </a:rPr>
              <a:t>emmeans</a:t>
            </a:r>
            <a:r>
              <a:rPr>
                <a:solidFill>
                  <a:srgbClr val="003B4F"/>
                </a:solidFill>
                <a:latin typeface="Courier"/>
              </a:rPr>
              <a:t>(p_ancova_model, </a:t>
            </a:r>
            <a:r>
              <a:rPr>
                <a:solidFill>
                  <a:srgbClr val="20794D"/>
                </a:solidFill>
                <a:latin typeface="Courier"/>
              </a:rPr>
              <a:t>"treat"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p_means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Step 5: Pairwise comparisons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pairs</a:t>
            </a:r>
            <a:r>
              <a:rPr>
                <a:solidFill>
                  <a:srgbClr val="003B4F"/>
                </a:solidFill>
                <a:latin typeface="Courier"/>
              </a:rPr>
              <a:t>(p_means, </a:t>
            </a:r>
            <a:r>
              <a:rPr>
                <a:solidFill>
                  <a:srgbClr val="657422"/>
                </a:solidFill>
                <a:latin typeface="Courier"/>
              </a:rPr>
              <a:t>adjust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"tukey"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plot</a:t>
            </a:r>
            <a:r>
              <a:rPr>
                <a:solidFill>
                  <a:srgbClr val="003B4F"/>
                </a:solidFill>
                <a:latin typeface="Courier"/>
              </a:rPr>
              <a:t>(p_means, </a:t>
            </a:r>
            <a:r>
              <a:rPr>
                <a:solidFill>
                  <a:srgbClr val="657422"/>
                </a:solidFill>
                <a:latin typeface="Courier"/>
              </a:rPr>
              <a:t>comparisons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multcomp</a:t>
            </a:r>
            <a:r>
              <a:rPr>
                <a:solidFill>
                  <a:srgbClr val="5E5E5E"/>
                </a:solidFill>
                <a:latin typeface="Courier"/>
              </a:rPr>
              <a:t>::</a:t>
            </a:r>
            <a:r>
              <a:rPr>
                <a:solidFill>
                  <a:srgbClr val="4758AB"/>
                </a:solidFill>
                <a:latin typeface="Courier"/>
              </a:rPr>
              <a:t>cld</a:t>
            </a:r>
            <a:r>
              <a:rPr>
                <a:solidFill>
                  <a:srgbClr val="003B4F"/>
                </a:solidFill>
                <a:latin typeface="Courier"/>
              </a:rPr>
              <a:t>(p_means)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According to the compact letter display, which treatment(s) had the highest adjusted mean longevity? Does that match what you’d predict biologically? </a:t>
            </a:r>
            <a:r>
              <a:rPr>
                <a:latin typeface="Courier"/>
              </a:rPr>
              <a:t>________________________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3 · Example with Heterogeneous Slopes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Let’s look at an example where slopes are </a:t>
            </a:r>
            <a:r>
              <a:rPr b="1"/>
              <a:t>NOT</a:t>
            </a:r>
            <a:r>
              <a:rPr/>
              <a:t> homogeneous, using simulated sea urchin data.</a:t>
            </a:r>
          </a:p>
          <a:p>
            <a:pPr lvl="0" indent="0" marL="0">
              <a:buNone/>
            </a:pPr>
            <a:r>
              <a:rPr b="1"/>
              <a:t>▶ Run this: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set.seed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345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n &lt;- </a:t>
            </a:r>
            <a:r>
              <a:rPr>
                <a:solidFill>
                  <a:srgbClr val="AD0000"/>
                </a:solidFill>
                <a:latin typeface="Courier"/>
              </a:rPr>
              <a:t>72</a:t>
            </a:r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5E5E5E"/>
                </a:solidFill>
                <a:latin typeface="Courier"/>
              </a:rPr>
              <a:t># 24 urchins per group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treatments &lt;- </a:t>
            </a:r>
            <a:r>
              <a:rPr>
                <a:solidFill>
                  <a:srgbClr val="4758AB"/>
                </a:solidFill>
                <a:latin typeface="Courier"/>
              </a:rPr>
              <a:t>rep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"Initial"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"Low Food"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"High Food"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657422"/>
                </a:solidFill>
                <a:latin typeface="Courier"/>
              </a:rPr>
              <a:t>each =</a:t>
            </a:r>
            <a:r>
              <a:rPr>
                <a:solidFill>
                  <a:srgbClr val="003B4F"/>
                </a:solidFill>
                <a:latin typeface="Courier"/>
              </a:rPr>
              <a:t> n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volume &lt;-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runif</a:t>
            </a:r>
            <a:r>
              <a:rPr>
                <a:solidFill>
                  <a:srgbClr val="003B4F"/>
                </a:solidFill>
                <a:latin typeface="Courier"/>
              </a:rPr>
              <a:t>(n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40</a:t>
            </a:r>
            <a:r>
              <a:rPr>
                <a:solidFill>
                  <a:srgbClr val="003B4F"/>
                </a:solidFill>
                <a:latin typeface="Courier"/>
              </a:rPr>
              <a:t>),  </a:t>
            </a:r>
            <a:r>
              <a:rPr>
                <a:solidFill>
                  <a:srgbClr val="5E5E5E"/>
                </a:solidFill>
                <a:latin typeface="Courier"/>
              </a:rPr>
              <a:t># Initial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runif</a:t>
            </a:r>
            <a:r>
              <a:rPr>
                <a:solidFill>
                  <a:srgbClr val="003B4F"/>
                </a:solidFill>
                <a:latin typeface="Courier"/>
              </a:rPr>
              <a:t>(n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40</a:t>
            </a:r>
            <a:r>
              <a:rPr>
                <a:solidFill>
                  <a:srgbClr val="003B4F"/>
                </a:solidFill>
                <a:latin typeface="Courier"/>
              </a:rPr>
              <a:t>),  </a:t>
            </a:r>
            <a:r>
              <a:rPr>
                <a:solidFill>
                  <a:srgbClr val="5E5E5E"/>
                </a:solidFill>
                <a:latin typeface="Courier"/>
              </a:rPr>
              <a:t># Low Food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runif</a:t>
            </a:r>
            <a:r>
              <a:rPr>
                <a:solidFill>
                  <a:srgbClr val="003B4F"/>
                </a:solidFill>
                <a:latin typeface="Courier"/>
              </a:rPr>
              <a:t>(n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40</a:t>
            </a:r>
            <a:r>
              <a:rPr>
                <a:solidFill>
                  <a:srgbClr val="003B4F"/>
                </a:solidFill>
                <a:latin typeface="Courier"/>
              </a:rPr>
              <a:t>)   </a:t>
            </a:r>
            <a:r>
              <a:rPr>
                <a:solidFill>
                  <a:srgbClr val="5E5E5E"/>
                </a:solidFill>
                <a:latin typeface="Courier"/>
              </a:rPr>
              <a:t># High Food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suture_width &lt;- </a:t>
            </a:r>
            <a:r>
              <a:rPr>
                <a:solidFill>
                  <a:srgbClr val="4758AB"/>
                </a:solidFill>
                <a:latin typeface="Courier"/>
              </a:rPr>
              <a:t>ifelse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treatments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"Initial"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0.05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0.002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*</a:t>
            </a:r>
            <a:r>
              <a:rPr>
                <a:solidFill>
                  <a:srgbClr val="003B4F"/>
                </a:solidFill>
                <a:latin typeface="Courier"/>
              </a:rPr>
              <a:t> volume,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ifelse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treatments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"Low Food"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0.04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0.0005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*</a:t>
            </a:r>
            <a:r>
              <a:rPr>
                <a:solidFill>
                  <a:srgbClr val="003B4F"/>
                </a:solidFill>
                <a:latin typeface="Courier"/>
              </a:rPr>
              <a:t> volume,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AD0000"/>
                </a:solidFill>
                <a:latin typeface="Courier"/>
              </a:rPr>
              <a:t>0.02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0.003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*</a:t>
            </a:r>
            <a:r>
              <a:rPr>
                <a:solidFill>
                  <a:srgbClr val="003B4F"/>
                </a:solidFill>
                <a:latin typeface="Courier"/>
              </a:rPr>
              <a:t> volume  </a:t>
            </a:r>
            <a:r>
              <a:rPr>
                <a:solidFill>
                  <a:srgbClr val="5E5E5E"/>
                </a:solidFill>
                <a:latin typeface="Courier"/>
              </a:rPr>
              <a:t># High Food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rnorm</a:t>
            </a:r>
            <a:r>
              <a:rPr>
                <a:solidFill>
                  <a:srgbClr val="003B4F"/>
                </a:solidFill>
                <a:latin typeface="Courier"/>
              </a:rPr>
              <a:t>(n, </a:t>
            </a:r>
            <a:r>
              <a:rPr>
                <a:solidFill>
                  <a:srgbClr val="AD0000"/>
                </a:solidFill>
                <a:latin typeface="Courier"/>
              </a:rPr>
              <a:t>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0.01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u_df &lt;- </a:t>
            </a:r>
            <a:r>
              <a:rPr>
                <a:solidFill>
                  <a:srgbClr val="4758AB"/>
                </a:solidFill>
                <a:latin typeface="Courier"/>
              </a:rPr>
              <a:t>data.frame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treatment =</a:t>
            </a:r>
            <a:r>
              <a:rPr>
                <a:solidFill>
                  <a:srgbClr val="003B4F"/>
                </a:solidFill>
                <a:latin typeface="Courier"/>
              </a:rPr>
              <a:t> treatments, </a:t>
            </a:r>
            <a:r>
              <a:rPr>
                <a:solidFill>
                  <a:srgbClr val="657422"/>
                </a:solidFill>
                <a:latin typeface="Courier"/>
              </a:rPr>
              <a:t>volume =</a:t>
            </a:r>
            <a:r>
              <a:rPr>
                <a:solidFill>
                  <a:srgbClr val="003B4F"/>
                </a:solidFill>
                <a:latin typeface="Courier"/>
              </a:rPr>
              <a:t> volume, </a:t>
            </a:r>
            <a:r>
              <a:rPr>
                <a:solidFill>
                  <a:srgbClr val="657422"/>
                </a:solidFill>
                <a:latin typeface="Courier"/>
              </a:rPr>
              <a:t>suture_width =</a:t>
            </a:r>
            <a:r>
              <a:rPr>
                <a:solidFill>
                  <a:srgbClr val="003B4F"/>
                </a:solidFill>
                <a:latin typeface="Courier"/>
              </a:rPr>
              <a:t> suture_width)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Explicitly set "Initial" as the reference level for the factor</a:t>
            </a:r>
            <a:br/>
            <a:r>
              <a:rPr>
                <a:solidFill>
                  <a:srgbClr val="003B4F"/>
                </a:solidFill>
                <a:latin typeface="Courier"/>
              </a:rPr>
              <a:t>u_df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treatment &lt;- </a:t>
            </a:r>
            <a:r>
              <a:rPr>
                <a:solidFill>
                  <a:srgbClr val="4758AB"/>
                </a:solidFill>
                <a:latin typeface="Courier"/>
              </a:rPr>
              <a:t>factor</a:t>
            </a:r>
            <a:r>
              <a:rPr>
                <a:solidFill>
                  <a:srgbClr val="003B4F"/>
                </a:solidFill>
                <a:latin typeface="Courier"/>
              </a:rPr>
              <a:t>(u_df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treatment, </a:t>
            </a:r>
            <a:r>
              <a:rPr>
                <a:solidFill>
                  <a:srgbClr val="657422"/>
                </a:solidFill>
                <a:latin typeface="Courier"/>
              </a:rPr>
              <a:t>levels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"Initial"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"Low Food"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"High Food"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(u_df,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volume,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suture_width,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treatment))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geom_smooth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method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"lm"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FALSE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"Cube Root Body Volume"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"Suture Width (mm)"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"Treatment"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Test for homogeneity of slopes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urchin_model &lt;- </a:t>
            </a:r>
            <a:r>
              <a:rPr>
                <a:solidFill>
                  <a:srgbClr val="4758AB"/>
                </a:solidFill>
                <a:latin typeface="Courier"/>
              </a:rPr>
              <a:t>lm</a:t>
            </a:r>
            <a:r>
              <a:rPr>
                <a:solidFill>
                  <a:srgbClr val="003B4F"/>
                </a:solidFill>
                <a:latin typeface="Courier"/>
              </a:rPr>
              <a:t>(suture_width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volume </a:t>
            </a:r>
            <a:r>
              <a:rPr>
                <a:solidFill>
                  <a:srgbClr val="5E5E5E"/>
                </a:solidFill>
                <a:latin typeface="Courier"/>
              </a:rPr>
              <a:t>*</a:t>
            </a:r>
            <a:r>
              <a:rPr>
                <a:solidFill>
                  <a:srgbClr val="003B4F"/>
                </a:solidFill>
                <a:latin typeface="Courier"/>
              </a:rPr>
              <a:t> treatment,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u_df)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Anova</a:t>
            </a:r>
            <a:r>
              <a:rPr>
                <a:solidFill>
                  <a:srgbClr val="003B4F"/>
                </a:solidFill>
                <a:latin typeface="Courier"/>
              </a:rPr>
              <a:t>(urchin_model, </a:t>
            </a:r>
            <a:r>
              <a:rPr>
                <a:solidFill>
                  <a:srgbClr val="657422"/>
                </a:solidFill>
                <a:latin typeface="Courier"/>
              </a:rPr>
              <a:t>type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 b="1"/>
              <a:t>Result:</a:t>
            </a:r>
            <a:r>
              <a:rPr/>
              <a:t> With p &lt; 0.05, we have heterogeneous slopes! Standard ANCOVA is inappropriate here.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What to do with heterogeneous slopes</a:t>
            </a:r>
          </a:p>
          <a:p>
            <a:pPr lvl="0" indent="0" marL="0">
              <a:buNone/>
            </a:pPr>
            <a:r>
              <a:rPr/>
              <a:t>When slopes are not homogeneous, you have several options.</a:t>
            </a:r>
          </a:p>
          <a:p>
            <a:pPr lvl="0" indent="0" marL="0">
              <a:buNone/>
            </a:pPr>
            <a:r>
              <a:rPr b="1"/>
              <a:t>Option 1 — Analyze groups separately: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initial_model &lt;- </a:t>
            </a:r>
            <a:r>
              <a:rPr>
                <a:solidFill>
                  <a:srgbClr val="4758AB"/>
                </a:solidFill>
                <a:latin typeface="Courier"/>
              </a:rPr>
              <a:t>lm</a:t>
            </a:r>
            <a:r>
              <a:rPr>
                <a:solidFill>
                  <a:srgbClr val="003B4F"/>
                </a:solidFill>
                <a:latin typeface="Courier"/>
              </a:rPr>
              <a:t>(suture_width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volume,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(u_df, treatment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"Initial"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low_food_model &lt;- </a:t>
            </a:r>
            <a:r>
              <a:rPr>
                <a:solidFill>
                  <a:srgbClr val="4758AB"/>
                </a:solidFill>
                <a:latin typeface="Courier"/>
              </a:rPr>
              <a:t>lm</a:t>
            </a:r>
            <a:r>
              <a:rPr>
                <a:solidFill>
                  <a:srgbClr val="003B4F"/>
                </a:solidFill>
                <a:latin typeface="Courier"/>
              </a:rPr>
              <a:t>(suture_width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volume,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(u_df, treatment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"Low Food"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high_food_model &lt;- </a:t>
            </a:r>
            <a:r>
              <a:rPr>
                <a:solidFill>
                  <a:srgbClr val="4758AB"/>
                </a:solidFill>
                <a:latin typeface="Courier"/>
              </a:rPr>
              <a:t>lm</a:t>
            </a:r>
            <a:r>
              <a:rPr>
                <a:solidFill>
                  <a:srgbClr val="003B4F"/>
                </a:solidFill>
                <a:latin typeface="Courier"/>
              </a:rPr>
              <a:t>(suture_width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volume,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(u_df, treatment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"High Food"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initial_model</a:t>
            </a:r>
            <a:br/>
            <a:r>
              <a:rPr>
                <a:solidFill>
                  <a:srgbClr val="003B4F"/>
                </a:solidFill>
                <a:latin typeface="Courier"/>
              </a:rPr>
              <a:t>low_food_model</a:t>
            </a:r>
            <a:br/>
            <a:r>
              <a:rPr>
                <a:solidFill>
                  <a:srgbClr val="003B4F"/>
                </a:solidFill>
                <a:latin typeface="Courier"/>
              </a:rPr>
              <a:t>high_food_model</a:t>
            </a:r>
          </a:p>
          <a:p>
            <a:pPr lvl="0" indent="0" marL="0">
              <a:buNone/>
            </a:pPr>
            <a:r>
              <a:rPr b="1"/>
              <a:t>Option 2 — Johnson-Neyman procedure:</a:t>
            </a:r>
            <a:r>
              <a:rPr/>
              <a:t> identifies the specific regions of the covariate where groups do (and do not) significantly differ.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(interactions)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jn_model &lt;- </a:t>
            </a:r>
            <a:r>
              <a:rPr>
                <a:solidFill>
                  <a:srgbClr val="4758AB"/>
                </a:solidFill>
                <a:latin typeface="Courier"/>
              </a:rPr>
              <a:t>lm</a:t>
            </a:r>
            <a:r>
              <a:rPr>
                <a:solidFill>
                  <a:srgbClr val="003B4F"/>
                </a:solidFill>
                <a:latin typeface="Courier"/>
              </a:rPr>
              <a:t>(suture_width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volume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treatment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volume </a:t>
            </a:r>
            <a:r>
              <a:rPr>
                <a:solidFill>
                  <a:srgbClr val="5E5E5E"/>
                </a:solidFill>
                <a:latin typeface="Courier"/>
              </a:rPr>
              <a:t>*</a:t>
            </a:r>
            <a:r>
              <a:rPr>
                <a:solidFill>
                  <a:srgbClr val="003B4F"/>
                </a:solidFill>
                <a:latin typeface="Courier"/>
              </a:rPr>
              <a:t> treatment,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u_df)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pred = "volume" (the continuous moderator)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modx = "treatment" (the categorical predictor)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sim_slopes</a:t>
            </a:r>
            <a:r>
              <a:rPr>
                <a:solidFill>
                  <a:srgbClr val="003B4F"/>
                </a:solidFill>
                <a:latin typeface="Courier"/>
              </a:rPr>
              <a:t>(jn_model,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</a:t>
            </a:r>
            <a:r>
              <a:rPr>
                <a:solidFill>
                  <a:srgbClr val="657422"/>
                </a:solidFill>
                <a:latin typeface="Courier"/>
              </a:rPr>
              <a:t>pred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"volume"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</a:t>
            </a:r>
            <a:r>
              <a:rPr>
                <a:solidFill>
                  <a:srgbClr val="657422"/>
                </a:solidFill>
                <a:latin typeface="Courier"/>
              </a:rPr>
              <a:t>modx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"treatment"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</a:t>
            </a:r>
            <a:r>
              <a:rPr>
                <a:solidFill>
                  <a:srgbClr val="657422"/>
                </a:solidFill>
                <a:latin typeface="Courier"/>
              </a:rPr>
              <a:t>johnson_neyman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Based on the Johnson-Neyman output, over what range of </a:t>
            </a:r>
            <a:r>
              <a:rPr>
                <a:latin typeface="Courier"/>
              </a:rPr>
              <a:t>volume</a:t>
            </a:r>
            <a:r>
              <a:rPr/>
              <a:t> (if any) do the treatment groups differ significantly? </a:t>
            </a:r>
            <a:r>
              <a:rPr>
                <a:latin typeface="Courier"/>
              </a:rPr>
              <a:t>________________________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🚀 If you finish early:</a:t>
            </a:r>
            <a:r>
              <a:rPr sz="2000"/>
              <a:t> Try </a:t>
            </a:r>
            <a:r>
              <a:rPr sz="2000">
                <a:latin typeface="Courier"/>
              </a:rPr>
              <a:t>emtrends(urchin_model, "treatment", var = "volume")</a:t>
            </a:r>
            <a:r>
              <a:rPr sz="2000"/>
              <a:t> to get the estimated slope for each treatment group directly, instead of fitting three separate models.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Write your code here: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Summary checklist for ANCOVA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When conducting ANCOVA, always follow these steps: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ANCOVA checklist</a:t>
            </a:r>
          </a:p>
          <a:p>
            <a:pPr lvl="0" indent="-342900" marL="342900">
              <a:buAutoNum type="arabicPeriod"/>
            </a:pPr>
            <a:r>
              <a:rPr sz="2000" b="1"/>
              <a:t>Visualize your data</a:t>
            </a:r>
            <a:r>
              <a:rPr sz="2000"/>
              <a:t> — plot response vs covariate, colored by group.</a:t>
            </a:r>
          </a:p>
          <a:p>
            <a:pPr lvl="0" indent="-342900" marL="342900">
              <a:buAutoNum type="arabicPeriod"/>
            </a:pPr>
            <a:r>
              <a:rPr sz="2000" b="1"/>
              <a:t>Test homogeneity of slopes</a:t>
            </a:r>
            <a:r>
              <a:rPr sz="2000"/>
              <a:t> — fit a model with an interaction term.</a:t>
            </a:r>
          </a:p>
          <a:p>
            <a:pPr lvl="1"/>
            <a:r>
              <a:rPr sz="2000"/>
              <a:t>If p &gt; 0.05: proceed with ANCOVA.</a:t>
            </a:r>
          </a:p>
          <a:p>
            <a:pPr lvl="1"/>
            <a:r>
              <a:rPr sz="2000"/>
              <a:t>If p &lt; 0.05: use alternative approaches (Johnson-Neyman, separate regressions).</a:t>
            </a:r>
          </a:p>
          <a:p>
            <a:pPr lvl="0" indent="-342900" marL="342900">
              <a:buAutoNum type="arabicPeriod"/>
            </a:pPr>
            <a:r>
              <a:rPr sz="2000" b="1"/>
              <a:t>Fit the ANCOVA model</a:t>
            </a:r>
            <a:r>
              <a:rPr sz="2000"/>
              <a:t> — </a:t>
            </a:r>
            <a:r>
              <a:rPr sz="2000">
                <a:latin typeface="Courier"/>
              </a:rPr>
              <a:t>response ~ covariate + factor</a:t>
            </a:r>
            <a:r>
              <a:rPr sz="2000"/>
              <a:t>.</a:t>
            </a:r>
          </a:p>
          <a:p>
            <a:pPr lvl="0" indent="-342900" marL="342900">
              <a:buAutoNum type="arabicPeriod"/>
            </a:pPr>
            <a:r>
              <a:rPr sz="2000" b="1"/>
              <a:t>Check assumptions</a:t>
            </a:r>
            <a:r>
              <a:rPr sz="2000"/>
              <a:t> — use diagnostic plots.</a:t>
            </a:r>
          </a:p>
          <a:p>
            <a:pPr lvl="0" indent="-342900" marL="342900">
              <a:buAutoNum type="arabicPeriod"/>
            </a:pPr>
            <a:r>
              <a:rPr sz="2000" b="1"/>
              <a:t>Interpret results</a:t>
            </a:r>
            <a:r>
              <a:rPr sz="2000"/>
              <a:t> — focus on adjusted means, not raw means.</a:t>
            </a:r>
          </a:p>
          <a:p>
            <a:pPr lvl="0" indent="-342900" marL="342900">
              <a:buAutoNum type="arabicPeriod"/>
            </a:pPr>
            <a:r>
              <a:rPr sz="2000" b="1"/>
              <a:t>Conduct post-hoc tests</a:t>
            </a:r>
            <a:r>
              <a:rPr sz="2000"/>
              <a:t> — pairwise comparisons if needed.</a:t>
            </a:r>
          </a:p>
          <a:p>
            <a:pPr lvl="0" indent="-342900" marL="342900">
              <a:buAutoNum type="arabicPeriod"/>
            </a:pPr>
            <a:r>
              <a:rPr sz="2000" b="1"/>
              <a:t>Visualize results</a:t>
            </a:r>
            <a:r>
              <a:rPr sz="2000"/>
              <a:t> — show adjusted means with confidence intervals.</a:t>
            </a:r>
          </a:p>
          <a:p>
            <a:pPr lvl="0" indent="0" marL="0">
              <a:buNone/>
            </a:pPr>
            <a:r>
              <a:rPr b="1"/>
              <a:t>Key points to remember:</a:t>
            </a:r>
          </a:p>
          <a:p>
            <a:pPr lvl="0"/>
            <a:r>
              <a:rPr b="1"/>
              <a:t>ANCOVA increases power</a:t>
            </a:r>
            <a:r>
              <a:rPr/>
              <a:t> by accounting for covariate variation.</a:t>
            </a:r>
          </a:p>
          <a:p>
            <a:pPr lvl="0"/>
            <a:r>
              <a:rPr b="1"/>
              <a:t>Adjusted means</a:t>
            </a:r>
            <a:r>
              <a:rPr/>
              <a:t> are what we compare, not raw group means.</a:t>
            </a:r>
          </a:p>
          <a:p>
            <a:pPr lvl="0"/>
            <a:r>
              <a:rPr b="1"/>
              <a:t>Homogeneity of slopes</a:t>
            </a:r>
            <a:r>
              <a:rPr/>
              <a:t> is the most critical assumption.</a:t>
            </a:r>
          </a:p>
          <a:p>
            <a:pPr lvl="0"/>
            <a:r>
              <a:rPr b="1"/>
              <a:t>Parallel lines</a:t>
            </a:r>
            <a:r>
              <a:rPr/>
              <a:t> in the plot suggest homogeneous slopes.</a:t>
            </a:r>
          </a:p>
          <a:p>
            <a:pPr lvl="0"/>
            <a:r>
              <a:rPr b="1"/>
              <a:t>Non-parallel lines</a:t>
            </a:r>
            <a:r>
              <a:rPr/>
              <a:t> indicate heterogeneous slopes — use alternative methods.</a:t>
            </a:r>
          </a:p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 b="1"/>
              <a:t>Key points from ANCOVA analysis</a:t>
            </a:r>
          </a:p>
          <a:p>
            <a:pPr lvl="0" indent="-342900" marL="342900">
              <a:buAutoNum type="arabicPeriod"/>
            </a:pPr>
            <a:r>
              <a:rPr sz="2000" b="1"/>
              <a:t>Test homogeneity of slopes first</a:t>
            </a:r>
            <a:r>
              <a:rPr sz="2000"/>
              <a:t> — the most critical assumption.</a:t>
            </a:r>
          </a:p>
          <a:p>
            <a:pPr lvl="0" indent="-342900" marL="342900">
              <a:buAutoNum type="arabicPeriod"/>
            </a:pPr>
            <a:r>
              <a:rPr sz="2000" b="1"/>
              <a:t>ANCOVA compares adjusted means</a:t>
            </a:r>
            <a:r>
              <a:rPr sz="2000"/>
              <a:t> at the mean value of the covariate.</a:t>
            </a:r>
          </a:p>
          <a:p>
            <a:pPr lvl="0" indent="-342900" marL="342900">
              <a:buAutoNum type="arabicPeriod"/>
            </a:pPr>
            <a:r>
              <a:rPr sz="2000" b="1"/>
              <a:t>Increases statistical power</a:t>
            </a:r>
            <a:r>
              <a:rPr sz="2000"/>
              <a:t> by removing variation due to the covariate.</a:t>
            </a:r>
          </a:p>
          <a:p>
            <a:pPr lvl="0" indent="-342900" marL="342900">
              <a:buAutoNum type="arabicPeriod"/>
            </a:pPr>
            <a:r>
              <a:rPr sz="2000" b="1"/>
              <a:t>Choose appropriate methods</a:t>
            </a:r>
            <a:r>
              <a:rPr sz="2000"/>
              <a:t> based on whether slopes are homogeneous.</a:t>
            </a:r>
          </a:p>
          <a:p>
            <a:pPr lvl="0" indent="-342900" marL="342900">
              <a:buAutoNum type="arabicPeriod"/>
            </a:pPr>
            <a:r>
              <a:rPr sz="2000" b="1"/>
              <a:t>Visualize your results</a:t>
            </a:r>
            <a:r>
              <a:rPr sz="2000"/>
              <a:t> showing the relationship between variables.</a:t>
            </a:r>
          </a:p>
          <a:p>
            <a:pPr lvl="0" indent="-342900" marL="342900">
              <a:buAutoNum type="arabicPeriod"/>
            </a:pPr>
            <a:r>
              <a:rPr sz="2000" b="1"/>
              <a:t>Check all assumptions</a:t>
            </a:r>
            <a:r>
              <a:rPr sz="2000"/>
              <a:t> using diagnostic plots.</a:t>
            </a:r>
          </a:p>
          <a:p>
            <a:pPr lvl="0" indent="-342900" marL="342900">
              <a:buAutoNum type="arabicPeriod"/>
            </a:pPr>
            <a:r>
              <a:rPr sz="2000" b="1"/>
              <a:t>Interpret in biological context</a:t>
            </a:r>
            <a:r>
              <a:rPr sz="2000"/>
              <a:t> — what do the adjusted means tell us?</a:t>
            </a:r>
          </a:p>
          <a:p>
            <a:pPr lvl="0" indent="0" marL="1270000">
              <a:buNone/>
            </a:pPr>
            <a:r>
              <a:rPr sz="2000"/>
              <a:t>Remember: the covariate should be measured independently of the treatment and should not be affected by the treatment itself!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Review and checkpoint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At this point you can:</a:t>
            </a:r>
          </a:p>
          <a:p>
            <a:pPr lvl="0"/>
            <a:r>
              <a:rPr/>
              <a:t>☐ Explain what ANCOVA is and when to use it</a:t>
            </a:r>
          </a:p>
          <a:p>
            <a:pPr lvl="0"/>
            <a:r>
              <a:rPr/>
              <a:t>☐ Test for homogeneity of slopes before running an ANCOVA</a:t>
            </a:r>
          </a:p>
          <a:p>
            <a:pPr lvl="0"/>
            <a:r>
              <a:rPr/>
              <a:t>☐ Fit an additive ANCOVA model and interpret its ANOVA table</a:t>
            </a:r>
          </a:p>
          <a:p>
            <a:pPr lvl="0"/>
            <a:r>
              <a:rPr/>
              <a:t>☐ Calculate and compare adjusted (estimated marginal) means</a:t>
            </a:r>
          </a:p>
          <a:p>
            <a:pPr lvl="0"/>
            <a:r>
              <a:rPr/>
              <a:t>☐ Recognize when slopes are heterogeneous and know the alternatives (Johnson-Neyman, separate regressions)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📤 What to turn in before next class</a:t>
            </a:r>
          </a:p>
          <a:p>
            <a:pPr lvl="0" indent="0" marL="1270000">
              <a:buNone/>
            </a:pPr>
            <a:r>
              <a:rPr sz="2000"/>
              <a:t>Upload both of these to the course management system:</a:t>
            </a:r>
          </a:p>
          <a:p>
            <a:pPr lvl="0" indent="-342900" marL="342900">
              <a:buAutoNum type="arabicPeriod"/>
            </a:pPr>
            <a:r>
              <a:rPr sz="2000"/>
              <a:t>Your code — the </a:t>
            </a:r>
            <a:r>
              <a:rPr sz="2000">
                <a:latin typeface="Courier"/>
              </a:rPr>
              <a:t>scripts/</a:t>
            </a:r>
            <a:r>
              <a:rPr sz="2000"/>
              <a:t> folder (or just </a:t>
            </a:r>
            <a:r>
              <a:rPr sz="2000">
                <a:latin typeface="Courier"/>
              </a:rPr>
              <a:t>08_ancova.R</a:t>
            </a:r>
            <a:r>
              <a:rPr sz="2000"/>
              <a:t>)</a:t>
            </a:r>
          </a:p>
          <a:p>
            <a:pPr lvl="0" indent="-342900" marL="342900">
              <a:buAutoNum type="arabicPeriod"/>
            </a:pPr>
            <a:r>
              <a:rPr sz="2000"/>
              <a:t>This worksheet, with your written answers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Getting unstuck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When code breaks — and it will, that is normal:</a:t>
            </a:r>
          </a:p>
          <a:p>
            <a:pPr lvl="0" indent="-342900" marL="342900">
              <a:buAutoNum type="arabicPeriod"/>
            </a:pPr>
            <a:r>
              <a:rPr b="1"/>
              <a:t>Read the error message out loud.</a:t>
            </a:r>
            <a:r>
              <a:rPr/>
              <a:t> R usually names the line and the problem.</a:t>
            </a:r>
          </a:p>
          <a:p>
            <a:pPr lvl="0" indent="-342900" marL="342900">
              <a:buAutoNum type="arabicPeriod"/>
            </a:pPr>
            <a:r>
              <a:rPr b="1"/>
              <a:t>Check the usual suspects:</a:t>
            </a:r>
            <a:r>
              <a:rPr/>
              <a:t> did you run all the </a:t>
            </a:r>
            <a:r>
              <a:rPr>
                <a:latin typeface="Courier"/>
              </a:rPr>
              <a:t>library()</a:t>
            </a:r>
            <a:r>
              <a:rPr/>
              <a:t> calls at the top? Spelling? A missing </a:t>
            </a:r>
            <a:r>
              <a:rPr>
                <a:latin typeface="Courier"/>
              </a:rPr>
              <a:t>)</a:t>
            </a:r>
            <a:r>
              <a:rPr/>
              <a:t> or </a:t>
            </a:r>
            <a:r>
              <a:rPr>
                <a:latin typeface="Courier"/>
              </a:rPr>
              <a:t>%&gt;%</a:t>
            </a:r>
            <a:r>
              <a:rPr/>
              <a:t> at the </a:t>
            </a:r>
            <a:r>
              <a:rPr i="1"/>
              <a:t>start</a:t>
            </a:r>
            <a:r>
              <a:rPr/>
              <a:t> of a line?</a:t>
            </a:r>
          </a:p>
          <a:p>
            <a:pPr lvl="0" indent="-342900" marL="342900">
              <a:buAutoNum type="arabicPeriod"/>
            </a:pPr>
            <a:r>
              <a:rPr>
                <a:latin typeface="Courier"/>
              </a:rPr>
              <a:t>?function_name</a:t>
            </a:r>
            <a:r>
              <a:rPr/>
              <a:t> opens the built-in help page.</a:t>
            </a:r>
          </a:p>
          <a:p>
            <a:pPr lvl="0" indent="-342900" marL="342900">
              <a:buAutoNum type="arabicPeriod"/>
            </a:pPr>
            <a:r>
              <a:rPr b="1"/>
              <a:t>Bring the exact error</a:t>
            </a:r>
            <a:r>
              <a:rPr/>
              <a:t> (copy-paste it) to class or office hours.</a:t>
            </a:r>
          </a:p>
          <a:p>
            <a:pPr lvl="0" indent="0" marL="1270000">
              <a:buNone/>
            </a:pPr>
            <a:r>
              <a:rPr sz="2000"/>
              <a:t>💡 </a:t>
            </a:r>
            <a:r>
              <a:rPr sz="2000" b="1"/>
              <a:t>Key idea:</a:t>
            </a:r>
            <a:r>
              <a:rPr sz="2000"/>
              <a:t> Every working scientist googles error messages daily. Getting stuck is not failing — it is the job.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Activity: ANCOVA</dc:title>
  <dc:creator>Bill Perry</dc:creator>
  <cp:keywords/>
  <dc:description>Hands-on activity: analysis of covariance, using cricket chirping data, real fruitfly longevity data (Partridge), and a heterogeneous-slopes sea urchin example.</dc:description>
  <dcterms:created xsi:type="dcterms:W3CDTF">2026-08-21T15:07:36Z</dcterms:created>
  <dcterms:modified xsi:type="dcterms:W3CDTF">2026-08-21T15:07:36Z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header-includes">
    <vt:lpwstr/>
  </property>
  <property fmtid="{D5CDD505-2E9C-101B-9397-08002B2CF9AE}" pid="6" name="include-after">
    <vt:lpwstr/>
  </property>
  <property fmtid="{D5CDD505-2E9C-101B-9397-08002B2CF9AE}" pid="7" name="include-before">
    <vt:lpwstr/>
  </property>
  <property fmtid="{D5CDD505-2E9C-101B-9397-08002B2CF9AE}" pid="8" name="labels">
    <vt:lpwstr/>
  </property>
  <property fmtid="{D5CDD505-2E9C-101B-9397-08002B2CF9AE}" pid="9" name="order">
    <vt:lpwstr>16</vt:lpwstr>
  </property>
  <property fmtid="{D5CDD505-2E9C-101B-9397-08002B2CF9AE}" pid="10" name="resources">
    <vt:lpwstr/>
  </property>
  <property fmtid="{D5CDD505-2E9C-101B-9397-08002B2CF9AE}" pid="11" name="subtitle">
    <vt:lpwstr>Covariates</vt:lpwstr>
  </property>
  <property fmtid="{D5CDD505-2E9C-101B-9397-08002B2CF9AE}" pid="12" name="toc-title">
    <vt:lpwstr>Table of contents</vt:lpwstr>
  </property>
  <property fmtid="{D5CDD505-2E9C-101B-9397-08002B2CF9AE}" pid="13" name="week">
    <vt:lpwstr>8</vt:lpwstr>
  </property>
</Properties>
</file>