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viewProps" Target="viewProps.xml" /><Relationship Id="rId17" Type="http://schemas.openxmlformats.org/officeDocument/2006/relationships/presProps" Target="presProps.xml" /><Relationship Id="rId1" Type="http://schemas.openxmlformats.org/officeDocument/2006/relationships/slideMaster" Target="slideMasters/slideMaster1.xml" /><Relationship Id="rId20" Type="http://schemas.openxmlformats.org/officeDocument/2006/relationships/tableStyles" Target="tableStyles.xml" /><Relationship Id="rId1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Analysis of Covariance (ANCOVA)</a:t>
            </a:r>
          </a:p>
        </p:txBody>
      </p:sp>
      <p:sp>
        <p:nvSpPr>
          <p:cNvPr id="3" name="Content Placeholder 2"/>
          <p:cNvSpPr>
            <a:spLocks noGrp="1"/>
          </p:cNvSpPr>
          <p:nvPr>
            <p:ph idx="1"/>
          </p:nvPr>
        </p:nvSpPr>
        <p:spPr/>
        <p:txBody>
          <a:bodyPr/>
          <a:lstStyle/>
          <a:p>
            <a:pPr lvl="0" indent="0" marL="0">
              <a:spcBef>
                <a:spcPts val="3000"/>
              </a:spcBef>
              <a:buNone/>
            </a:pPr>
            <a:r>
              <a:rPr b="1"/>
              <a:t>What is ANCOVA?</a:t>
            </a:r>
          </a:p>
          <a:p>
            <a:pPr lvl="0"/>
            <a:r>
              <a:rPr/>
              <a:t>ANCOVA (Analysis of Covariance) combines regression and ANOVA to:</a:t>
            </a:r>
          </a:p>
          <a:p>
            <a:pPr lvl="1"/>
            <a:r>
              <a:rPr/>
              <a:t>Compare group means while adjusting for a continuous covariate</a:t>
            </a:r>
          </a:p>
          <a:p>
            <a:pPr lvl="1"/>
            <a:r>
              <a:rPr/>
              <a:t>Increase statistical power by reducing residual error</a:t>
            </a:r>
          </a:p>
          <a:p>
            <a:pPr lvl="1"/>
            <a:r>
              <a:rPr/>
              <a:t>Control for confounding variables</a:t>
            </a:r>
          </a:p>
          <a:p>
            <a:pPr lvl="0" indent="0" marL="0">
              <a:spcBef>
                <a:spcPts val="3000"/>
              </a:spcBef>
              <a:buNone/>
            </a:pPr>
            <a:r>
              <a:rPr b="1"/>
              <a:t>When to Use ANCOVA</a:t>
            </a:r>
          </a:p>
          <a:p>
            <a:pPr lvl="0"/>
            <a:r>
              <a:rPr/>
              <a:t>Use ANCOVA when you have:</a:t>
            </a:r>
          </a:p>
          <a:p>
            <a:pPr lvl="1"/>
            <a:r>
              <a:rPr b="1"/>
              <a:t>Response variable</a:t>
            </a:r>
            <a:r>
              <a:rPr/>
              <a:t>: Continuous</a:t>
            </a:r>
          </a:p>
          <a:p>
            <a:pPr lvl="1"/>
            <a:r>
              <a:rPr b="1"/>
              <a:t>Predictor variable</a:t>
            </a:r>
            <a:r>
              <a:rPr/>
              <a:t>: Categorical (factor/groups)</a:t>
            </a:r>
          </a:p>
          <a:p>
            <a:pPr lvl="1"/>
            <a:r>
              <a:rPr b="1"/>
              <a:t>Covariate</a:t>
            </a:r>
            <a:r>
              <a:rPr/>
              <a:t>: Continuous variable that affects the response</a:t>
            </a:r>
          </a:p>
          <a:p>
            <a:pPr lvl="0" indent="0" marL="0">
              <a:spcBef>
                <a:spcPts val="3000"/>
              </a:spcBef>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be not significantly different across all groups</a:t>
            </a:r>
          </a:p>
          <a:p>
            <a:pPr lvl="0" indent="0" marL="1270000">
              <a:buNone/>
            </a:pPr>
            <a:r>
              <a:rPr sz="2000" b="1"/>
              <a:t>Critical First Step</a:t>
            </a:r>
          </a:p>
          <a:p>
            <a:pPr lvl="0" indent="0" marL="1270000">
              <a:buNone/>
            </a:pPr>
            <a:r>
              <a:rPr sz="2000"/>
              <a:t>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Cricket Chirping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 want to compare chirping rate of two cricket species: - </a:t>
            </a:r>
            <a:r>
              <a:rPr i="1"/>
              <a:t>Oecanthus exclamationis</a:t>
            </a:r>
            <a:r>
              <a:rPr/>
              <a:t> - </a:t>
            </a:r>
            <a:r>
              <a:rPr i="1"/>
              <a:t>Oecanthus niveus</a:t>
            </a:r>
          </a:p>
          <a:p>
            <a:pPr lvl="0" indent="0" marL="0">
              <a:buNone/>
            </a:pPr>
            <a:r>
              <a:rPr/>
              <a:t>But we measured rates at different temperatures, and there’s a relationship between pulse rate and temperature. ANCOVA lets us adjust for temperature effect to get a more powerful test!</a:t>
            </a:r>
          </a:p>
          <a:p>
            <a:pPr lvl="0" indent="0">
              <a:buNone/>
            </a:pPr>
            <a:r>
              <a:rPr>
                <a:latin typeface="Courier"/>
              </a:rPr>
              <a:t>               spp     temp chirp_rate
1 O. exclamationis 19.31296   40.69557
2 O. exclamationis 23.24355   51.78799
3 O. exclamationis 23.60175   50.75553
4 O. exclamationis 19.22222   40.80589
5 O. exclamationis 20.57129   50.16484
6 O. exclamationis 21.35188   46.24225</a:t>
            </a:r>
          </a:p>
        </p:txBody>
      </p:sp>
      <p:pic>
        <p:nvPicPr>
          <p:cNvPr descr="ancova_activity_files/figure-pptx/cricket-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latin typeface="Courier"/>
              </a:rPr>
              <a:t>Anova Table (Type III tests)
Response: chirp_rate
             Sum Sq Df  F value                Pr(&gt;F)    
(Intercept)  133.06  1  19.7625            0.00008062 ***
temp        1372.62  1 203.8707 &lt; 0.00000000000000022 ***
spp           69.76  1  10.3617              0.002724 ** 
temp:spp      26.08  1   3.8734              0.056796 .  
Residuals    242.38 36                                   
---
Signif. codes:  0 '***' 0.001 '**' 0.01 '*' 0.05 '.' 0.1 ' ' 1</a:t>
            </a:r>
          </a:p>
          <a:p>
            <a:pPr lvl="0" indent="0" marL="0">
              <a:buNone/>
            </a:pPr>
            <a:r>
              <a:rPr b="1"/>
              <a:t>Interpretation</a:t>
            </a:r>
            <a:r>
              <a:rPr/>
              <a:t>: - p &gt; 0.05, slopes homogeneous - proceed with ANCOVA - p &lt; 0.05, slopes differ and standard ANCOVA is inappropriate</a:t>
            </a:r>
          </a:p>
          <a:p>
            <a:pPr lvl="0" indent="0" marL="0">
              <a:spcBef>
                <a:spcPts val="3000"/>
              </a:spcBef>
              <a:buNone/>
            </a:pPr>
            <a:r>
              <a:rPr b="1"/>
              <a:t>The contrasts setting changes the specific hypothesis being tested for your main effects.</a:t>
            </a:r>
          </a:p>
          <a:p>
            <a:pPr lvl="0"/>
            <a:r>
              <a:rPr/>
              <a:t>contr.treatment the test for temp is testing the effect of temperature only for the reference species (O. exclamationis)</a:t>
            </a:r>
          </a:p>
          <a:p>
            <a:pPr lvl="0"/>
            <a:r>
              <a:rPr/>
              <a:t>one level of factor is the “reference” level (“O. exclamationis” comes first alphabetically).</a:t>
            </a:r>
          </a:p>
          <a:p>
            <a:pPr lvl="0"/>
            <a:r>
              <a:rPr/>
              <a:t>is mean chirp_rate equal to zero for the reference species (“O. exclamationis”) when temp is 0?</a:t>
            </a:r>
          </a:p>
          <a:p>
            <a:pPr lvl="0" indent="0" marL="0">
              <a:spcBef>
                <a:spcPts val="3000"/>
              </a:spcBef>
              <a:buNone/>
            </a:pPr>
            <a:r>
              <a:rPr b="1"/>
              <a:t>With contr.sum, test for temp is testing the average effect of temperature across both species.</a:t>
            </a:r>
          </a:p>
          <a:p>
            <a:pPr lvl="0"/>
            <a:r>
              <a:rPr/>
              <a:t>“sum coding” or “deviation coding.”</a:t>
            </a:r>
          </a:p>
          <a:p>
            <a:pPr lvl="0"/>
            <a:r>
              <a:rPr/>
              <a:t>compares each factor level to the grand mean</a:t>
            </a:r>
          </a:p>
          <a:p>
            <a:pPr lvl="0"/>
            <a:r>
              <a:rPr/>
              <a:t>is average mean chirp_rate (averaged across both species) equal to zero when temp is 0?</a:t>
            </a:r>
          </a:p>
          <a:p>
            <a:pPr lvl="0" indent="0" marL="1270000">
              <a:buNone/>
            </a:pPr>
            <a:r>
              <a:rPr sz="2000" b="1"/>
              <a:t>Important</a:t>
            </a:r>
          </a:p>
          <a:p>
            <a:pPr lvl="0" indent="0" marL="1270000">
              <a:buNone/>
            </a:pPr>
            <a:r>
              <a:rPr sz="2000"/>
              <a:t>Intercept is hard to interpret in both models because temp = 0 is meaningless - center temp variable (e.g., temp_c = temp - mean(temp)) - run model - intercept would then test the chirp_rate at the average temperature - much more interpretable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Fit ANCOVA Model</a:t>
            </a:r>
          </a:p>
        </p:txBody>
      </p:sp>
      <p:sp>
        <p:nvSpPr>
          <p:cNvPr id="4" name="Text Placeholder 3"/>
          <p:cNvSpPr>
            <a:spLocks noGrp="1"/>
          </p:cNvSpPr>
          <p:nvPr>
            <p:ph idx="2" sz="half" type="body"/>
          </p:nvPr>
        </p:nvSpPr>
        <p:spPr/>
        <p:txBody>
          <a:bodyPr/>
          <a:lstStyle/>
          <a:p>
            <a:pPr lvl="0" indent="0" marL="0">
              <a:buNone/>
            </a:pPr>
            <a:r>
              <a:rPr/>
              <a:t>Since slopes are homogeneous (p &gt; 0.05), fit ANCOVA model without interaction term</a:t>
            </a:r>
          </a:p>
          <a:p>
            <a:pPr lvl="0" indent="0">
              <a:buNone/>
            </a:pPr>
            <a:r>
              <a:rPr>
                <a:latin typeface="Courier"/>
              </a:rPr>
              <a:t>
Call:
lm(formula = chirp_rate ~ temp + spp, data = c_df)
Residuals:
    Min      1Q  Median      3Q     Max 
-6.0065 -1.9653  0.1923  0.7886  5.9192 
Coefficients:
            Estimate Std. Error t value             Pr(&gt;|t|)    
(Intercept) -19.1014     4.7795  -3.997             0.000295 ***
temp          2.7926     0.2048  13.634 0.000000000000000530 ***
spp1          5.9003     0.4296  13.733 0.000000000000000424 ***
---
Signif. codes:  0 '***' 0.001 '**' 0.01 '*' 0.05 '.' 0.1 ' ' 1
Residual standard error: 2.694 on 37 degrees of freedom
Multiple R-squared:  0.8994,    Adjusted R-squared:  0.894 
F-statistic: 165.4 on 2 and 37 DF,  p-value: &lt; 0.00000000000000022</a:t>
            </a:r>
          </a:p>
          <a:p>
            <a:pPr lvl="0"/>
            <a:r>
              <a:rPr/>
              <a:t>Interpretation</a:t>
            </a:r>
          </a:p>
          <a:p>
            <a:pPr lvl="1"/>
            <a:r>
              <a:rPr/>
              <a:t>spp1 is clue that contr.sum is active</a:t>
            </a:r>
          </a:p>
          <a:p>
            <a:pPr lvl="1"/>
            <a:r>
              <a:rPr/>
              <a:t>represents coefficient for first species (O. exclamationis) relative to grand mean.</a:t>
            </a:r>
          </a:p>
          <a:p>
            <a:pPr lvl="1"/>
            <a:r>
              <a:rPr/>
              <a:t>(Intercept): -19.1014 - average chirp_rate (across both species) when temp is 0</a:t>
            </a:r>
          </a:p>
          <a:p>
            <a:pPr lvl="1"/>
            <a:r>
              <a:rPr/>
              <a:t>temp: 2.7926 - common slope- for every 1-degree increase in temp- chirp_rate increases by 2.7926 units</a:t>
            </a:r>
          </a:p>
          <a:p>
            <a:pPr lvl="1"/>
            <a:r>
              <a:rPr/>
              <a:t>spp1: 5.9003- spp1 coefficient - deviation from grand mean for first species- O. exclamationis</a:t>
            </a:r>
          </a:p>
          <a:p>
            <a:pPr lvl="1"/>
            <a:r>
              <a:rPr/>
              <a:t>effect for O. niveus is assumed to be -5.9003</a:t>
            </a:r>
          </a:p>
          <a:p>
            <a:pPr lvl="0" indent="0">
              <a:buNone/>
            </a:pPr>
            <a:r>
              <a:rPr>
                <a:latin typeface="Courier"/>
              </a:rPr>
              <a:t>Anova Table (Type II tests)
Response: chirp_rate
           Sum Sq Df F value                Pr(&gt;F)    
temp      1348.81  1  185.90 0.0000000000000005296 ***
spp       1368.34  1  188.59 0.0000000000000004236 ***
Residuals  268.46 37                                  
---
Signif. codes:  0 '***' 0.001 '**' 0.01 '*' 0.05 '.' 0.1 ' ' 1</a:t>
            </a:r>
          </a:p>
          <a:p>
            <a:pPr lvl="0" indent="0" marL="0">
              <a:buNone/>
            </a:pPr>
            <a:r>
              <a:rPr/>
              <a:t>Both Type II (technically more appropriate) and Type III end up doing the exact same calculation:</a:t>
            </a:r>
          </a:p>
          <a:p>
            <a:pPr lvl="0"/>
            <a:r>
              <a:rPr/>
              <a:t>test for temp gets the Sum of Squares for temp after accounting for spp.</a:t>
            </a:r>
          </a:p>
          <a:p>
            <a:pPr lvl="0"/>
            <a:r>
              <a:rPr/>
              <a:t>test for spp gets the Sum of Squares for spp after accounting for temp.</a:t>
            </a:r>
          </a:p>
          <a:p>
            <a:pPr lvl="0" indent="0" marL="0">
              <a:spcBef>
                <a:spcPts val="3000"/>
              </a:spcBef>
              <a:buNone/>
            </a:pPr>
            <a:r>
              <a:rPr b="1"/>
              <a:t>Step 3: Check Model Assumptions</a:t>
            </a:r>
          </a:p>
        </p:txBody>
      </p:sp>
      <p:pic>
        <p:nvPicPr>
          <p:cNvPr descr="ancova_activity_files/figure-pptx/cricket-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ancova_model$residuals
W = 0.96208, p-value = 0.1971</a:t>
            </a:r>
          </a:p>
          <a:p>
            <a:pPr lvl="0" indent="0">
              <a:buNone/>
            </a:pPr>
            <a:r>
              <a:rPr>
                <a:latin typeface="Courier"/>
              </a:rPr>
              <a:t>Levene's Test for Homogeneity of Variance (center = median)
      Df F value Pr(&gt;F)
group  1  0.3897 0.5362
      38               </a:t>
            </a:r>
          </a:p>
          <a:p>
            <a:pPr lvl="0" indent="0" marL="0">
              <a:buNone/>
            </a:pPr>
            <a:r>
              <a:rPr/>
              <a:t>Breusch-Pagan (BP) Test for homoscedasticity</a:t>
            </a:r>
          </a:p>
          <a:p>
            <a:pPr lvl="0" indent="0">
              <a:buNone/>
            </a:pPr>
            <a:r>
              <a:rPr>
                <a:latin typeface="Courier"/>
              </a:rPr>
              <a:t>
    studentized Breusch-Pagan test
data:  ancova_model
BP = 1.0098, df = 2, p-value = 0.6036</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latin typeface="Courier"/>
              </a:rPr>
              <a:t> spp                emmean        SE df lower.CL upper.CL
 O. exclamationis 51.70513 0.6049702 37 50.47934 52.93091
 O. niveus        39.90462 0.6049702 37 38.67883 41.13040
Confidence level used: 0.95 </a:t>
            </a:r>
          </a:p>
          <a:p>
            <a:pPr lvl="0" indent="0" marL="0">
              <a:spcBef>
                <a:spcPts val="3000"/>
              </a:spcBef>
              <a:buNone/>
            </a:pPr>
            <a:r>
              <a:rPr b="1"/>
              <a:t>Step 5: Pairwise Comparisons</a:t>
            </a:r>
          </a:p>
          <a:p>
            <a:pPr lvl="0" indent="0">
              <a:buNone/>
            </a:pPr>
            <a:r>
              <a:rPr>
                <a:latin typeface="Courier"/>
              </a:rPr>
              <a:t> contrast                     estimate    SE df t.ratio p.value
 O. exclamationis - O. niveus     11.8 0.859 37  13.733 &lt;0.0001</a:t>
            </a:r>
          </a:p>
          <a:p>
            <a:pPr lvl="0" indent="0" marL="0">
              <a:spcBef>
                <a:spcPts val="3000"/>
              </a:spcBef>
              <a:buNone/>
            </a:pPr>
            <a:r>
              <a:rPr b="1"/>
              <a:t>Step 6: Visualize Results</a:t>
            </a:r>
          </a:p>
        </p:txBody>
      </p:sp>
      <p:pic>
        <p:nvPicPr>
          <p:cNvPr descr="ancova_activity_files/figure-pptx/cricket-results-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cova_activity_files/figure-pptx/cricket_gg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Partridge Longevity Analysis</a:t>
            </a:r>
          </a:p>
        </p:txBody>
      </p:sp>
      <p:sp>
        <p:nvSpPr>
          <p:cNvPr id="4" name="Text Placeholder 3"/>
          <p:cNvSpPr>
            <a:spLocks noGrp="1"/>
          </p:cNvSpPr>
          <p:nvPr>
            <p:ph idx="2" sz="half" type="body"/>
          </p:nvPr>
        </p:nvSpPr>
        <p:spPr/>
        <p:txBody>
          <a:bodyPr/>
          <a:lstStyle/>
          <a:p>
            <a:pPr lvl="0" indent="0" marL="0">
              <a:spcBef>
                <a:spcPts val="3000"/>
              </a:spcBef>
              <a:buNone/>
            </a:pPr>
            <a:r>
              <a:rPr b="1"/>
              <a:t>Data Overview</a:t>
            </a:r>
          </a:p>
          <a:p>
            <a:pPr lvl="0" indent="0" marL="0">
              <a:buNone/>
            </a:pPr>
            <a:r>
              <a:rPr/>
              <a:t>We’ll analyze the effect of mating strategy on male fruitfly longevity, using thorax length as a covariate.</a:t>
            </a:r>
          </a:p>
          <a:p>
            <a:pPr lvl="0" indent="0">
              <a:buNone/>
            </a:pPr>
            <a:r>
              <a:rPr>
                <a:latin typeface="Courier"/>
              </a:rPr>
              <a:t>  partners type      treat longev  llongev thorax     resid1 predict1
1        8    0 No females     35 1.544068   0.64  -5.868456 40.86846
2        8    0 No females     37 1.568202   0.68  -9.301196 46.30120
3        8    0 No females     49 1.690196   0.68   2.698804 46.30120
4        8    0 No females     46 1.662758   0.72  -5.733936 51.73394
5        8    0 No females     63 1.799341   0.72  11.266064 51.73394
6        8    0 No females     39 1.591065   0.76 -18.166676 57.16668
       resid2 predict2
1 -0.04743024 1.591498
2 -0.07105067 1.639252
3  0.05094369 1.639252
4 -0.02424867 1.687007
5  0.11233405 1.687007
6 -0.14369601 1.734761</a:t>
            </a:r>
          </a:p>
        </p:txBody>
      </p:sp>
      <p:pic>
        <p:nvPicPr>
          <p:cNvPr descr="ancova_activity_files/figure-pptx/p_df-visualizati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1: Test Homogeneity of Slopes</a:t>
            </a:r>
          </a:p>
          <a:p>
            <a:pPr lvl="0" indent="0">
              <a:buNone/>
            </a:pPr>
            <a:r>
              <a:rPr>
                <a:latin typeface="Courier"/>
              </a:rPr>
              <a:t>Anova Table (Type III tests)
Response: longev
              Sum Sq  Df  F value                Pr(&gt;F)    
(Intercept)   2963.8   1  26.0142           0.000001349 ***
thorax       12805.8   1 112.3988 &lt; 0.00000000000000022 ***
treat           36.9   4   0.0810                0.9881    
thorax:treat    42.5   4   0.0933                0.9844    
Residuals    13102.1 115                                   
---
Signif. codes:  0 '***' 0.001 '**' 0.01 '*' 0.05 '.' 0.1 ' ' 1</a:t>
            </a:r>
          </a:p>
          <a:p>
            <a:pPr lvl="0" indent="0" marL="0">
              <a:spcBef>
                <a:spcPts val="3000"/>
              </a:spcBef>
              <a:buNone/>
            </a:pPr>
            <a:r>
              <a:rPr b="1"/>
              <a:t>Step 2: Fit ANCOVA Model</a:t>
            </a:r>
          </a:p>
          <a:p>
            <a:pPr lvl="0" indent="0">
              <a:buNone/>
            </a:pPr>
            <a:r>
              <a:rPr>
                <a:latin typeface="Courier"/>
              </a:rPr>
              <a:t>
Call:
lm(formula = longev ~ thorax + treat, data = p_df)
Residuals:
    Min      1Q  Median      3Q     Max 
-26.189  -6.599  -0.989   6.408  30.244 
Coefficients:
            Estimate Std. Error t value             Pr(&gt;|t|)    
(Intercept)  -54.062     10.255  -5.272          0.000000612 ***
thorax       135.819     12.439  10.919 &lt; 0.0000000000000002 ***
treat1         8.006      1.890   4.237          0.000044991 ***
treat2         4.077      1.889   2.158             0.032935 *  
treat3         6.730      1.881   3.578             0.000502 ***
treat4        -2.940      1.891  -1.554             0.122749    
---
Signif. codes:  0 '***' 0.001 '**' 0.01 '*' 0.05 '.' 0.1 ' ' 1
Residual standard error: 10.51 on 119 degrees of freedom
Multiple R-squared:  0.6564,    Adjusted R-squared:  0.6419 
F-statistic: 45.46 on 5 and 119 DF,  p-value: &lt; 0.00000000000000022</a:t>
            </a:r>
          </a:p>
          <a:p>
            <a:pPr lvl="0" indent="0">
              <a:buNone/>
            </a:pPr>
            <a:r>
              <a:rPr>
                <a:latin typeface="Courier"/>
              </a:rPr>
              <a:t>Anova Table (Type II tests)
Response: longev
           Sum Sq  Df F value                Pr(&gt;F)    
thorax    13168.9   1 119.219 &lt; 0.00000000000000022 ***
treat      9611.5   4  21.753    0.0000000000001719 ***
Residuals 13144.7 119                                  
---
Signif. codes:  0 '***' 0.001 '**' 0.01 '*' 0.05 '.' 0.1 ' ' 1</a:t>
            </a:r>
          </a:p>
          <a:p>
            <a:pPr lvl="0" indent="0" marL="0">
              <a:spcBef>
                <a:spcPts val="3000"/>
              </a:spcBef>
              <a:buNone/>
            </a:pPr>
            <a:r>
              <a:rPr b="1"/>
              <a:t>Step 3: Check Assumptions</a:t>
            </a:r>
          </a:p>
        </p:txBody>
      </p:sp>
      <p:pic>
        <p:nvPicPr>
          <p:cNvPr descr="ancova_activity_files/figure-pptx/p_df-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Shapiro-Wilk normality test
data:  p_ancova_model$residuals
W = 0.99174, p-value = 0.6689</a:t>
            </a:r>
          </a:p>
          <a:p>
            <a:pPr lvl="0" indent="0">
              <a:buNone/>
            </a:pPr>
            <a:r>
              <a:rPr>
                <a:latin typeface="Courier"/>
              </a:rPr>
              <a:t>Levene's Test for Homogeneity of Variance (center = median)
       Df F value Pr(&gt;F)
group   4  0.6535 0.6255
      120               </a:t>
            </a:r>
          </a:p>
          <a:p>
            <a:pPr lvl="0" indent="0" marL="0">
              <a:buNone/>
            </a:pPr>
            <a:r>
              <a:rPr/>
              <a:t>Breusch-Pagan (BP) Test for homoscedasticity</a:t>
            </a:r>
          </a:p>
          <a:p>
            <a:pPr lvl="0" indent="0">
              <a:buNone/>
            </a:pPr>
            <a:r>
              <a:rPr>
                <a:latin typeface="Courier"/>
              </a:rPr>
              <a:t>
    studentized Breusch-Pagan test
data:  p_ancova_model
BP = 11.763, df = 5, p-value = 0.03818</a:t>
            </a:r>
          </a:p>
          <a:p>
            <a:pPr lvl="0" indent="0" marL="0">
              <a:spcBef>
                <a:spcPts val="3000"/>
              </a:spcBef>
              <a:buNone/>
            </a:pPr>
            <a:r>
              <a:rPr b="1"/>
              <a:t>Step 4: Calculate Adjusted Means</a:t>
            </a:r>
          </a:p>
          <a:p>
            <a:pPr lvl="0" indent="0">
              <a:buNone/>
            </a:pPr>
            <a:r>
              <a:rPr>
                <a:latin typeface="Courier"/>
              </a:rPr>
              <a:t> treat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a:p>
            <a:pPr lvl="0" indent="0" marL="0">
              <a:spcBef>
                <a:spcPts val="3000"/>
              </a:spcBef>
              <a:buNone/>
            </a:pPr>
            <a:r>
              <a:rPr b="1"/>
              <a:t>Step 5: Pairwise Comparisons</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&lt;0.0001
 119  -0.891  0.8996
 119   2.361  0.1336
 119   6.636 &lt;0.0001
 119   3.249  0.0129
 119   7.560 &lt;0.0001
 119   4.298  0.0003
P value adjustment: tukey method for comparing a family of 5 estimates </a:t>
            </a:r>
          </a:p>
        </p:txBody>
      </p:sp>
      <p:pic>
        <p:nvPicPr>
          <p:cNvPr descr="ancova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treat                           emmean   SE  df lower.CL upper.CL .group
 Eight inseminated females daily   41.6 2.12 119     37.4     45.8  1    
 One inseminated female daily      54.5 2.11 119     50.3     58.7   2   
 One virgin female daily           61.5 2.11 119     57.3     65.7   23  
 Eight virgin females daily        64.2 2.10 119     60.0     68.3    3  
 No females                        65.4 2.11 119     61.3     69.6    3  
Confidence level used: 0.95 
P value adjustment: tukey method for comparing a family of 5 estimates 
significance level used: alpha = 0.05 
NOTE: If two or more means share the same grouping symbol,
      then we cannot show them to be different.
      But we also did not show them to be the same.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Example with Heterogeneous Slopes</a:t>
            </a:r>
          </a:p>
        </p:txBody>
      </p:sp>
      <p:sp>
        <p:nvSpPr>
          <p:cNvPr id="4" name="Text Placeholder 3"/>
          <p:cNvSpPr>
            <a:spLocks noGrp="1"/>
          </p:cNvSpPr>
          <p:nvPr>
            <p:ph idx="2" sz="half" type="body"/>
          </p:nvPr>
        </p:nvSpPr>
        <p:spPr/>
        <p:txBody>
          <a:bodyPr/>
          <a:lstStyle/>
          <a:p>
            <a:pPr lvl="0" indent="0" marL="0">
              <a:buNone/>
            </a:pPr>
            <a:r>
              <a:rPr/>
              <a:t>Example where slopes are </a:t>
            </a:r>
            <a:r>
              <a:rPr b="1"/>
              <a:t>NOT</a:t>
            </a:r>
            <a:r>
              <a:rPr/>
              <a:t> homogeneous using sea urchin data.</a:t>
            </a:r>
          </a:p>
        </p:txBody>
      </p:sp>
      <p:pic>
        <p:nvPicPr>
          <p:cNvPr descr="ancova_activity_files/figure-pptx/unnamed-chunk-1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 for Homogeneity of Slopes</a:t>
            </a:r>
          </a:p>
          <a:p>
            <a:pPr lvl="0" indent="0">
              <a:buNone/>
            </a:pPr>
            <a:r>
              <a:rPr>
                <a:latin typeface="Courier"/>
              </a:rPr>
              <a:t>Anova Table (Type III tests)
Response: suture_width
                    Sum Sq Df F value                Pr(&gt;F)    
(Intercept)      0.0093295  1  104.97  0.000000000000002828 ***
volume           0.0197876  1  222.63 &lt; 0.00000000000000022 ***
treatment        0.0020070  2   11.29  0.000060644383975751 ***
volume:treatment 0.0062129  2   34.95  0.000000000044525318 ***
Residuals        0.0058662 66                                  
---
Signif. codes:  0 '***' 0.001 '**' 0.01 '*' 0.05 '.' 0.1 ' ' 1</a:t>
            </a:r>
          </a:p>
          <a:p>
            <a:pPr lvl="0" indent="0" marL="0">
              <a:buNone/>
            </a:pPr>
            <a:r>
              <a:rPr b="1"/>
              <a:t>Result</a:t>
            </a:r>
            <a:r>
              <a:rPr/>
              <a:t>: With p &lt; 0.05 - heterogeneous slopes! - Standard ANCOVA inappropriate here</a:t>
            </a:r>
          </a:p>
          <a:p>
            <a:pPr lvl="0" indent="0" marL="0">
              <a:spcBef>
                <a:spcPts val="3000"/>
              </a:spcBef>
              <a:buNone/>
            </a:pPr>
            <a:r>
              <a:rPr b="1"/>
              <a:t>What to do with Heterogeneous Slopes</a:t>
            </a:r>
          </a:p>
          <a:p>
            <a:pPr lvl="0" indent="0" marL="0">
              <a:buNone/>
            </a:pPr>
            <a:r>
              <a:rPr/>
              <a:t>When slopes are not homogeneous have several options:</a:t>
            </a:r>
          </a:p>
          <a:p>
            <a:pPr lvl="0" indent="0">
              <a:buNone/>
            </a:pPr>
            <a:r>
              <a:rPr>
                <a:latin typeface="Courier"/>
              </a:rPr>
              <a:t>
Call:
lm(formula = suture_width ~ volume, data = filter(u_df, treatment == 
    "Initial"))
Coefficients:
(Intercept)       volume  
   0.051785     0.001926  </a:t>
            </a:r>
          </a:p>
          <a:p>
            <a:pPr lvl="0" indent="0">
              <a:buNone/>
            </a:pPr>
            <a:r>
              <a:rPr>
                <a:latin typeface="Courier"/>
              </a:rPr>
              <a:t>
Call:
lm(formula = suture_width ~ volume, data = filter(u_df, treatment == 
    "Low Food"))
Coefficients:
(Intercept)       volume  
  0.0359532    0.0005453  </a:t>
            </a:r>
          </a:p>
          <a:p>
            <a:pPr lvl="0" indent="0">
              <a:buNone/>
            </a:pPr>
            <a:r>
              <a:rPr>
                <a:latin typeface="Courier"/>
              </a:rPr>
              <a:t>
Call:
lm(formula = suture_width ~ volume, data = filter(u_df, treatment == 
    "High Food"))
Coefficients:
(Intercept)       volume  
   0.014077     0.003376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Option 2 - Johnson-Neyman procedure</a:t>
            </a:r>
          </a:p>
        </p:txBody>
      </p:sp>
      <p:sp>
        <p:nvSpPr>
          <p:cNvPr id="3" name="Content Placeholder 2"/>
          <p:cNvSpPr>
            <a:spLocks noGrp="1"/>
          </p:cNvSpPr>
          <p:nvPr>
            <p:ph idx="1"/>
          </p:nvPr>
        </p:nvSpPr>
        <p:spPr/>
        <p:txBody>
          <a:bodyPr/>
          <a:lstStyle/>
          <a:p>
            <a:pPr lvl="0" indent="0">
              <a:buNone/>
            </a:pPr>
            <a:r>
              <a:rPr>
                <a:latin typeface="Courier"/>
              </a:rPr>
              <a:t>SIMPLE SLOPES ANALYSIS
Slope of volume when treatment = Initial: 
  Est.   S.E.   t val.      p
------ ------ -------- ------
  0.00   0.00     9.87   0.00
Slope of volume when treatment = Low Food: 
  Est.   S.E.   t val.      p
------ ------ -------- ------
  0.00   0.00     2.47   0.02
Slope of volume when treatment = High Food: 
  Est.   S.E.   t val.      p
------ ------ -------- ------
  0.00   0.00    13.06   0.00</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ANCOVA Checklist</a:t>
            </a:r>
          </a:p>
          <a:p>
            <a:pPr lvl="0" indent="-342900" marL="342900">
              <a:buAutoNum type="arabicPeriod"/>
            </a:pPr>
            <a:r>
              <a:rPr sz="2000" b="1"/>
              <a:t>Visualize your data</a:t>
            </a:r>
            <a:r>
              <a:rPr sz="2000"/>
              <a:t> - plot response vs covariate, colored by groups</a:t>
            </a:r>
          </a:p>
          <a:p>
            <a:pPr lvl="0" indent="-342900" marL="342900">
              <a:buAutoNum type="arabicPeriod"/>
            </a:pPr>
            <a:r>
              <a:rPr sz="2000" b="1"/>
              <a:t>Test homogeneity of slopes</a:t>
            </a:r>
            <a:r>
              <a:rPr sz="2000"/>
              <a:t> - fit model with interaction term</a:t>
            </a:r>
          </a:p>
          <a:p>
            <a:pPr lvl="1"/>
            <a:r>
              <a:rPr sz="2000"/>
              <a:t>If p &gt; 0.05: proceed with ANCOVA</a:t>
            </a:r>
          </a:p>
          <a:p>
            <a:pPr lvl="1"/>
            <a:r>
              <a:rPr sz="2000"/>
              <a:t>If p &lt; 0.05: use alternative approaches</a:t>
            </a:r>
          </a:p>
          <a:p>
            <a:pPr lvl="0" indent="-342900" marL="342900">
              <a:buAutoNum type="arabicPeriod"/>
            </a:pPr>
            <a:r>
              <a:rPr sz="2000" b="1"/>
              <a:t>Fit ANCOVA model</a:t>
            </a:r>
            <a:r>
              <a:rPr sz="2000"/>
              <a:t> - response ~ covariate + factor</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spcBef>
                <a:spcPts val="3000"/>
              </a:spcBef>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plot suggest homogeneous slopes</a:t>
            </a:r>
          </a:p>
          <a:p>
            <a:pPr lvl="0"/>
            <a:r>
              <a:rPr b="1"/>
              <a:t>Non-parallel lines</a:t>
            </a:r>
            <a:r>
              <a:rPr/>
              <a:t> indicate heterogeneous slopes - use alternative methods</a:t>
            </a:r>
          </a:p>
          <a:p>
            <a:pPr lvl="0" indent="0" marL="1270000">
              <a:buNone/>
            </a:pPr>
            <a:r>
              <a:rPr sz="2000" b="1"/>
              <a:t>Key Points from ANCOVA Analysis</a:t>
            </a:r>
          </a:p>
          <a:p>
            <a:pPr lvl="0" indent="-342900" marL="342900">
              <a:buAutoNum type="arabicPeriod"/>
            </a:pPr>
            <a:r>
              <a:rPr sz="2000" b="1"/>
              <a:t>Test homogeneity of slopes first</a:t>
            </a:r>
            <a:r>
              <a:rPr sz="2000"/>
              <a:t> -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covariate should be measured independently of the treatment and should not be affected by the treatment itself!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ANCOVA</dc:title>
  <dc:creator>Bill Perry</dc:creator>
  <cp:keywords/>
  <dc:description>Hands-on activity: analysis of covariance.</dc:description>
  <dcterms:created xsi:type="dcterms:W3CDTF">2026-08-20T19:16:08Z</dcterms:created>
  <dcterms:modified xsi:type="dcterms:W3CDTF">2026-08-20T19:16:08Z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16</vt:lpwstr>
  </property>
  <property fmtid="{D5CDD505-2E9C-101B-9397-08002B2CF9AE}" pid="10" name="resources">
    <vt:lpwstr/>
  </property>
  <property fmtid="{D5CDD505-2E9C-101B-9397-08002B2CF9AE}" pid="11" name="subtitle">
    <vt:lpwstr>Covariates</vt:lpwstr>
  </property>
  <property fmtid="{D5CDD505-2E9C-101B-9397-08002B2CF9AE}" pid="12" name="toc-title">
    <vt:lpwstr>Table of contents</vt:lpwstr>
  </property>
  <property fmtid="{D5CDD505-2E9C-101B-9397-08002B2CF9AE}" pid="13" name="week">
    <vt:lpwstr>8</vt:lpwstr>
  </property>
</Properties>
</file>