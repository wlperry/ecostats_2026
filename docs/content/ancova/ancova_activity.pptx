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ANCOVA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Covariates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ANCOVA — Analysis of Covariance</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simulated cricket chirping data, the real Partridge fruitfly-longevity dataset, and simulated sea urchin data (for a heterogeneous-slopes example).</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(lmtest)</a:t>
            </a:r>
            <a:br/>
            <a:r>
              <a:rPr>
                <a:solidFill>
                  <a:srgbClr val="4758AB"/>
                </a:solidFill>
                <a:latin typeface="Courier"/>
              </a:rPr>
              <a:t>library</a:t>
            </a:r>
            <a:r>
              <a:rPr>
                <a:solidFill>
                  <a:srgbClr val="003B4F"/>
                </a:solidFill>
                <a:latin typeface="Courier"/>
              </a:rPr>
              <a:t>(interactions)</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(emmeans)</a:t>
            </a:r>
            <a:br/>
            <a:r>
              <a:rPr>
                <a:solidFill>
                  <a:srgbClr val="4758AB"/>
                </a:solidFill>
                <a:latin typeface="Courier"/>
              </a:rPr>
              <a:t>library</a:t>
            </a:r>
            <a:r>
              <a:rPr>
                <a:solidFill>
                  <a:srgbClr val="003B4F"/>
                </a:solidFill>
                <a:latin typeface="Courier"/>
              </a:rPr>
              <a:t>(broom)</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options</a:t>
            </a:r>
            <a:r>
              <a:rPr>
                <a:solidFill>
                  <a:srgbClr val="003B4F"/>
                </a:solidFill>
                <a:latin typeface="Courier"/>
              </a:rPr>
              <a:t>(</a:t>
            </a:r>
            <a:r>
              <a:rPr>
                <a:solidFill>
                  <a:srgbClr val="657422"/>
                </a:solidFill>
                <a:latin typeface="Courier"/>
              </a:rPr>
              <a:t>scipen =</a:t>
            </a:r>
            <a:r>
              <a:rPr>
                <a:solidFill>
                  <a:srgbClr val="003B4F"/>
                </a:solidFill>
                <a:latin typeface="Courier"/>
              </a:rPr>
              <a:t> </a:t>
            </a:r>
            <a:r>
              <a:rPr>
                <a:solidFill>
                  <a:srgbClr val="AD0000"/>
                </a:solidFill>
                <a:latin typeface="Courier"/>
              </a:rPr>
              <a:t>999</a:t>
            </a:r>
            <a:r>
              <a:rPr>
                <a:solidFill>
                  <a:srgbClr val="003B4F"/>
                </a:solidFill>
                <a:latin typeface="Courier"/>
              </a:rPr>
              <a:t>)</a:t>
            </a:r>
          </a:p>
          <a:p>
            <a:pPr lvl="0" indent="0" marL="0">
              <a:buNone/>
            </a:pPr>
            <a:r>
              <a:rPr b="1"/>
              <a:t>What is ANCOVA?</a:t>
            </a:r>
            <a:r>
              <a:rPr/>
              <a:t> ANCOVA (Analysis of Covariance) combines regression and ANOVA to:</a:t>
            </a:r>
          </a:p>
          <a:p>
            <a:pPr lvl="0"/>
            <a:r>
              <a:rPr/>
              <a:t>Compare group means while adjusting for a continuous covariate</a:t>
            </a:r>
          </a:p>
          <a:p>
            <a:pPr lvl="0"/>
            <a:r>
              <a:rPr/>
              <a:t>Increase statistical power by reducing residual error</a:t>
            </a:r>
          </a:p>
          <a:p>
            <a:pPr lvl="0"/>
            <a:r>
              <a:rPr/>
              <a:t>Control for confounding variables</a:t>
            </a:r>
          </a:p>
          <a:p>
            <a:pPr lvl="0" indent="0" marL="0">
              <a:buNone/>
            </a:pPr>
            <a:r>
              <a:rPr b="1"/>
              <a:t>When to use ANCOVA:</a:t>
            </a:r>
          </a:p>
          <a:p>
            <a:pPr lvl="0"/>
            <a:r>
              <a:rPr b="1"/>
              <a:t>Response variable</a:t>
            </a:r>
            <a:r>
              <a:rPr/>
              <a:t>: Continuous</a:t>
            </a:r>
          </a:p>
          <a:p>
            <a:pPr lvl="0"/>
            <a:r>
              <a:rPr b="1"/>
              <a:t>Predictor variable</a:t>
            </a:r>
            <a:r>
              <a:rPr/>
              <a:t>: Categorical (factor/groups)</a:t>
            </a:r>
          </a:p>
          <a:p>
            <a:pPr lvl="0"/>
            <a:r>
              <a:rPr b="1"/>
              <a:t>Covariate</a:t>
            </a:r>
            <a:r>
              <a:rPr/>
              <a:t>: Continuous variable that affects the response</a:t>
            </a:r>
          </a:p>
          <a:p>
            <a:pPr lvl="0" indent="0" marL="0">
              <a:buNone/>
            </a:pPr>
            <a:r>
              <a:rPr b="1"/>
              <a:t>Key assumptions of ANCOVA:</a:t>
            </a:r>
          </a:p>
          <a:p>
            <a:pPr lvl="0" indent="-342900" marL="342900">
              <a:buAutoNum type="arabicPeriod"/>
            </a:pPr>
            <a:r>
              <a:rPr b="1"/>
              <a:t>Independence</a:t>
            </a:r>
            <a:r>
              <a:rPr/>
              <a:t> of observations</a:t>
            </a:r>
          </a:p>
          <a:p>
            <a:pPr lvl="0" indent="-342900" marL="342900">
              <a:buAutoNum type="arabicPeriod"/>
            </a:pPr>
            <a:r>
              <a:rPr b="1"/>
              <a:t>Normality</a:t>
            </a:r>
            <a:r>
              <a:rPr/>
              <a:t> of residuals</a:t>
            </a:r>
          </a:p>
          <a:p>
            <a:pPr lvl="0" indent="-342900" marL="342900">
              <a:buAutoNum type="arabicPeriod"/>
            </a:pPr>
            <a:r>
              <a:rPr b="1"/>
              <a:t>Homogeneity of variances</a:t>
            </a:r>
            <a:r>
              <a:rPr/>
              <a:t> across groups</a:t>
            </a:r>
          </a:p>
          <a:p>
            <a:pPr lvl="0" indent="-342900" marL="342900">
              <a:buAutoNum type="arabicPeriod"/>
            </a:pPr>
            <a:r>
              <a:rPr b="1"/>
              <a:t>Linearity</a:t>
            </a:r>
            <a:r>
              <a:rPr/>
              <a:t> between response and covariate within each group</a:t>
            </a:r>
          </a:p>
          <a:p>
            <a:pPr lvl="0" indent="-342900" marL="342900">
              <a:buAutoNum type="arabicPeriod"/>
            </a:pPr>
            <a:r>
              <a:rPr b="1"/>
              <a:t>Homogeneity of slopes</a:t>
            </a:r>
            <a:r>
              <a:rPr/>
              <a:t> (most critical!) — regression slopes must not be significantly different across all groups</a:t>
            </a:r>
          </a:p>
          <a:p>
            <a:pPr lvl="0" indent="0" marL="1270000">
              <a:buNone/>
            </a:pPr>
            <a:r>
              <a:rPr sz="2000" b="1"/>
              <a:t>Important</a:t>
            </a:r>
          </a:p>
          <a:p>
            <a:pPr lvl="0" indent="0" marL="1270000">
              <a:buNone/>
            </a:pPr>
            <a:r>
              <a:rPr sz="2000" b="1"/>
              <a:t>Critical first step:</a:t>
            </a:r>
            <a:r>
              <a:rPr sz="2000"/>
              <a:t> Always test for </a:t>
            </a:r>
            <a:r>
              <a:rPr sz="2000" b="1"/>
              <a:t>homogeneity of slopes</a:t>
            </a:r>
            <a:r>
              <a:rPr sz="2000"/>
              <a:t> before proceeding with ANCOVA. If slopes differ significantly between groups, standard ANCOVA is inappropriate.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Cricket Chirping Analysis</a:t>
            </a:r>
          </a:p>
        </p:txBody>
      </p:sp>
      <p:sp>
        <p:nvSpPr>
          <p:cNvPr id="3" name="Content Placeholder 2"/>
          <p:cNvSpPr>
            <a:spLocks noGrp="1"/>
          </p:cNvSpPr>
          <p:nvPr>
            <p:ph idx="1"/>
          </p:nvPr>
        </p:nvSpPr>
        <p:spPr/>
        <p:txBody>
          <a:bodyPr/>
          <a:lstStyle/>
          <a:p>
            <a:pPr lvl="0" indent="0" marL="0">
              <a:buNone/>
            </a:pPr>
            <a:r>
              <a:rPr/>
              <a:t>We want to compare chirping rate of two cricket species — </a:t>
            </a:r>
            <a:r>
              <a:rPr i="1"/>
              <a:t>Oecanthus exclamationis</a:t>
            </a:r>
            <a:r>
              <a:rPr/>
              <a:t> and </a:t>
            </a:r>
            <a:r>
              <a:rPr i="1"/>
              <a:t>Oecanthus niveus</a:t>
            </a:r>
            <a:r>
              <a:rPr/>
              <a:t>. But we measured rates at different temperatures, and there’s a relationship between pulse rate and temperature. ANCOVA lets us adjust for the temperature effect to get a more powerful test!</a:t>
            </a:r>
          </a:p>
          <a:p>
            <a:pPr lvl="0" indent="0" marL="0">
              <a:buNone/>
            </a:pPr>
            <a:r>
              <a:rPr b="1"/>
              <a:t>▶ Run this</a:t>
            </a:r>
            <a:r>
              <a:rPr/>
              <a:t> — create the simulated cricket data and visualize it: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456</a:t>
            </a:r>
            <a:r>
              <a:rPr>
                <a:solidFill>
                  <a:srgbClr val="003B4F"/>
                </a:solidFill>
                <a:latin typeface="Courier"/>
              </a:rPr>
              <a:t>)</a:t>
            </a:r>
            <a:br/>
            <a:r>
              <a:rPr>
                <a:solidFill>
                  <a:srgbClr val="003B4F"/>
                </a:solidFill>
                <a:latin typeface="Courier"/>
              </a:rPr>
              <a:t>n &lt;- </a:t>
            </a:r>
            <a:r>
              <a:rPr>
                <a:solidFill>
                  <a:srgbClr val="AD0000"/>
                </a:solidFill>
                <a:latin typeface="Courier"/>
              </a:rPr>
              <a:t>40</a:t>
            </a:r>
            <a:br/>
            <a:r>
              <a:rPr>
                <a:solidFill>
                  <a:srgbClr val="003B4F"/>
                </a:solidFill>
                <a:latin typeface="Courier"/>
              </a:rPr>
              <a:t>spp &lt;-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"O. exclamationis"</a:t>
            </a:r>
            <a:r>
              <a:rPr>
                <a:solidFill>
                  <a:srgbClr val="003B4F"/>
                </a:solidFill>
                <a:latin typeface="Courier"/>
              </a:rPr>
              <a:t>, </a:t>
            </a:r>
            <a:r>
              <a:rPr>
                <a:solidFill>
                  <a:srgbClr val="20794D"/>
                </a:solidFill>
                <a:latin typeface="Courier"/>
              </a:rPr>
              <a:t>"O. niveus"</a:t>
            </a:r>
            <a:r>
              <a:rPr>
                <a:solidFill>
                  <a:srgbClr val="003B4F"/>
                </a:solidFill>
                <a:latin typeface="Courier"/>
              </a:rPr>
              <a:t>), </a:t>
            </a:r>
            <a:r>
              <a:rPr>
                <a:solidFill>
                  <a:srgbClr val="657422"/>
                </a:solidFill>
                <a:latin typeface="Courier"/>
              </a:rPr>
              <a:t>each =</a:t>
            </a:r>
            <a:r>
              <a:rPr>
                <a:solidFill>
                  <a:srgbClr val="003B4F"/>
                </a:solidFill>
                <a:latin typeface="Courier"/>
              </a:rPr>
              <a:t> 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temp &lt;- </a:t>
            </a:r>
            <a:r>
              <a:rPr>
                <a:solidFill>
                  <a:srgbClr val="4758AB"/>
                </a:solidFill>
                <a:latin typeface="Courier"/>
              </a:rPr>
              <a:t>c</a:t>
            </a:r>
            <a:r>
              <a:rPr>
                <a:solidFill>
                  <a:srgbClr val="003B4F"/>
                </a:solidFill>
                <a:latin typeface="Courier"/>
              </a:rPr>
              <a:t>(</a:t>
            </a:r>
            <a:r>
              <a:rPr>
                <a:solidFill>
                  <a:srgbClr val="4758AB"/>
                </a:solidFill>
                <a:latin typeface="Courier"/>
              </a:rPr>
              <a:t>rnorm</a:t>
            </a:r>
            <a:r>
              <a:rPr>
                <a:solidFill>
                  <a:srgbClr val="003B4F"/>
                </a:solidFill>
                <a:latin typeface="Courier"/>
              </a:rPr>
              <a:t>(n</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AD0000"/>
                </a:solidFill>
                <a:latin typeface="Courier"/>
              </a:rPr>
              <a:t>22</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4758AB"/>
                </a:solidFill>
                <a:latin typeface="Courier"/>
              </a:rPr>
              <a:t>rnorm</a:t>
            </a:r>
            <a:r>
              <a:rPr>
                <a:solidFill>
                  <a:srgbClr val="003B4F"/>
                </a:solidFill>
                <a:latin typeface="Courier"/>
              </a:rPr>
              <a:t>(n</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AD0000"/>
                </a:solidFill>
                <a:latin typeface="Courier"/>
              </a:rPr>
              <a:t>24</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chirp_rate &lt;- </a:t>
            </a:r>
            <a:r>
              <a:rPr>
                <a:solidFill>
                  <a:srgbClr val="AD0000"/>
                </a:solidFill>
                <a:latin typeface="Courier"/>
              </a:rPr>
              <a:t>40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ifelse</a:t>
            </a:r>
            <a:r>
              <a:rPr>
                <a:solidFill>
                  <a:srgbClr val="003B4F"/>
                </a:solidFill>
                <a:latin typeface="Courier"/>
              </a:rPr>
              <a:t>(spp </a:t>
            </a:r>
            <a:r>
              <a:rPr>
                <a:solidFill>
                  <a:srgbClr val="5E5E5E"/>
                </a:solidFill>
                <a:latin typeface="Courier"/>
              </a:rPr>
              <a:t>==</a:t>
            </a:r>
            <a:r>
              <a:rPr>
                <a:solidFill>
                  <a:srgbClr val="003B4F"/>
                </a:solidFill>
                <a:latin typeface="Courier"/>
              </a:rPr>
              <a:t> </a:t>
            </a:r>
            <a:r>
              <a:rPr>
                <a:solidFill>
                  <a:srgbClr val="20794D"/>
                </a:solidFill>
                <a:latin typeface="Courier"/>
              </a:rPr>
              <a:t>"O. exclamationis"</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rnorm</a:t>
            </a:r>
            <a:r>
              <a:rPr>
                <a:solidFill>
                  <a:srgbClr val="003B4F"/>
                </a:solidFill>
                <a:latin typeface="Courier"/>
              </a:rPr>
              <a:t>(n, </a:t>
            </a:r>
            <a:r>
              <a:rPr>
                <a:solidFill>
                  <a:srgbClr val="657422"/>
                </a:solidFill>
                <a:latin typeface="Courier"/>
              </a:rPr>
              <a:t>sd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c_df &lt;- </a:t>
            </a:r>
            <a:r>
              <a:rPr>
                <a:solidFill>
                  <a:srgbClr val="4758AB"/>
                </a:solidFill>
                <a:latin typeface="Courier"/>
              </a:rPr>
              <a:t>data.frame</a:t>
            </a:r>
            <a:r>
              <a:rPr>
                <a:solidFill>
                  <a:srgbClr val="003B4F"/>
                </a:solidFill>
                <a:latin typeface="Courier"/>
              </a:rPr>
              <a:t>(</a:t>
            </a:r>
            <a:r>
              <a:rPr>
                <a:solidFill>
                  <a:srgbClr val="657422"/>
                </a:solidFill>
                <a:latin typeface="Courier"/>
              </a:rPr>
              <a:t>spp =</a:t>
            </a:r>
            <a:r>
              <a:rPr>
                <a:solidFill>
                  <a:srgbClr val="003B4F"/>
                </a:solidFill>
                <a:latin typeface="Courier"/>
              </a:rPr>
              <a:t> spp, </a:t>
            </a:r>
            <a:r>
              <a:rPr>
                <a:solidFill>
                  <a:srgbClr val="657422"/>
                </a:solidFill>
                <a:latin typeface="Courier"/>
              </a:rPr>
              <a:t>temp =</a:t>
            </a:r>
            <a:r>
              <a:rPr>
                <a:solidFill>
                  <a:srgbClr val="003B4F"/>
                </a:solidFill>
                <a:latin typeface="Courier"/>
              </a:rPr>
              <a:t> temp, </a:t>
            </a:r>
            <a:r>
              <a:rPr>
                <a:solidFill>
                  <a:srgbClr val="657422"/>
                </a:solidFill>
                <a:latin typeface="Courier"/>
              </a:rPr>
              <a:t>chirp_rate =</a:t>
            </a:r>
            <a:r>
              <a:rPr>
                <a:solidFill>
                  <a:srgbClr val="003B4F"/>
                </a:solidFill>
                <a:latin typeface="Courier"/>
              </a:rPr>
              <a:t> chirp_rate)</a:t>
            </a:r>
            <a:br/>
            <a:br/>
            <a:r>
              <a:rPr>
                <a:solidFill>
                  <a:srgbClr val="4758AB"/>
                </a:solidFill>
                <a:latin typeface="Courier"/>
              </a:rPr>
              <a:t>head</a:t>
            </a:r>
            <a:r>
              <a:rPr>
                <a:solidFill>
                  <a:srgbClr val="003B4F"/>
                </a:solidFill>
                <a:latin typeface="Courier"/>
              </a:rPr>
              <a:t>(c_df)</a:t>
            </a:r>
            <a:br/>
            <a:br/>
            <a:r>
              <a:rPr>
                <a:solidFill>
                  <a:srgbClr val="4758AB"/>
                </a:solidFill>
                <a:latin typeface="Courier"/>
              </a:rPr>
              <a:t>ggplot</a:t>
            </a:r>
            <a:r>
              <a:rPr>
                <a:solidFill>
                  <a:srgbClr val="003B4F"/>
                </a:solidFill>
                <a:latin typeface="Courier"/>
              </a:rPr>
              <a:t>(c_df,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temp, </a:t>
            </a:r>
            <a:r>
              <a:rPr>
                <a:solidFill>
                  <a:srgbClr val="657422"/>
                </a:solidFill>
                <a:latin typeface="Courier"/>
              </a:rPr>
              <a:t>y =</a:t>
            </a:r>
            <a:r>
              <a:rPr>
                <a:solidFill>
                  <a:srgbClr val="003B4F"/>
                </a:solidFill>
                <a:latin typeface="Courier"/>
              </a:rPr>
              <a:t> chirp_rate, </a:t>
            </a:r>
            <a:r>
              <a:rPr>
                <a:solidFill>
                  <a:srgbClr val="657422"/>
                </a:solidFill>
                <a:latin typeface="Courier"/>
              </a:rPr>
              <a:t>color =</a:t>
            </a:r>
            <a:r>
              <a:rPr>
                <a:solidFill>
                  <a:srgbClr val="003B4F"/>
                </a:solidFill>
                <a:latin typeface="Courier"/>
              </a:rPr>
              <a:t> spp))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a:t>
            </a:r>
          </a:p>
          <a:p>
            <a:pPr lvl="0" indent="0" marL="0">
              <a:spcBef>
                <a:spcPts val="3000"/>
              </a:spcBef>
              <a:buNone/>
            </a:pPr>
            <a:r>
              <a:rPr b="1"/>
              <a:t>Step 1: Test homogeneity of slopes</a:t>
            </a:r>
          </a:p>
          <a:p>
            <a:pPr lvl="0" indent="0" marL="0">
              <a:buNone/>
            </a:pPr>
            <a:r>
              <a:rPr/>
              <a:t>This is the most critical assumption! We test if the regression slopes are equal across all groups.</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 </a:t>
            </a:r>
            <a:r>
              <a:rPr>
                <a:solidFill>
                  <a:srgbClr val="5E5E5E"/>
                </a:solidFill>
                <a:latin typeface="Courier"/>
              </a:rPr>
              <a:t># for true type 3 anovas</a:t>
            </a:r>
            <a:br/>
            <a:r>
              <a:rPr>
                <a:solidFill>
                  <a:srgbClr val="5E5E5E"/>
                </a:solidFill>
                <a:latin typeface="Courier"/>
              </a:rPr>
              <a:t># options(contrasts = c("contr.treatment", "contr.poly")) # original version</a:t>
            </a:r>
            <a:br/>
            <a:r>
              <a:rPr>
                <a:solidFill>
                  <a:srgbClr val="5E5E5E"/>
                </a:solidFill>
                <a:latin typeface="Courier"/>
              </a:rPr>
              <a:t># see below for interpretation...</a:t>
            </a:r>
            <a:br/>
            <a:br/>
            <a:r>
              <a:rPr>
                <a:solidFill>
                  <a:srgbClr val="003B4F"/>
                </a:solidFill>
                <a:latin typeface="Courier"/>
              </a:rPr>
              <a:t>lm_int_model &lt;- </a:t>
            </a:r>
            <a:r>
              <a:rPr>
                <a:solidFill>
                  <a:srgbClr val="4758AB"/>
                </a:solidFill>
                <a:latin typeface="Courier"/>
              </a:rPr>
              <a:t>lm</a:t>
            </a:r>
            <a:r>
              <a:rPr>
                <a:solidFill>
                  <a:srgbClr val="003B4F"/>
                </a:solidFill>
                <a:latin typeface="Courier"/>
              </a:rPr>
              <a:t>(chirp_rate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spp, </a:t>
            </a:r>
            <a:r>
              <a:rPr>
                <a:solidFill>
                  <a:srgbClr val="657422"/>
                </a:solidFill>
                <a:latin typeface="Courier"/>
              </a:rPr>
              <a:t>data =</a:t>
            </a:r>
            <a:r>
              <a:rPr>
                <a:solidFill>
                  <a:srgbClr val="003B4F"/>
                </a:solidFill>
                <a:latin typeface="Courier"/>
              </a:rPr>
              <a:t> c_df)</a:t>
            </a:r>
            <a:br/>
            <a:r>
              <a:rPr>
                <a:solidFill>
                  <a:srgbClr val="4758AB"/>
                </a:solidFill>
                <a:latin typeface="Courier"/>
              </a:rPr>
              <a:t>Anova</a:t>
            </a:r>
            <a:r>
              <a:rPr>
                <a:solidFill>
                  <a:srgbClr val="003B4F"/>
                </a:solidFill>
                <a:latin typeface="Courier"/>
              </a:rPr>
              <a:t>(lm_int_model,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Interpretation:</a:t>
            </a:r>
            <a:r>
              <a:rPr/>
              <a:t> If p &gt; 0.05, slopes are homogeneous — proceed with ANCOVA. If p &lt; 0.05, slopes differ and standard ANCOVA is inappropriate.</a:t>
            </a:r>
          </a:p>
          <a:p>
            <a:pPr lvl="0" indent="0" marL="0">
              <a:buNone/>
            </a:pPr>
            <a:r>
              <a:rPr b="1"/>
              <a:t>The contrasts setting changes the specific hypothesis being tested for your main effects:</a:t>
            </a:r>
          </a:p>
          <a:p>
            <a:pPr lvl="0"/>
            <a:r>
              <a:rPr/>
              <a:t>With </a:t>
            </a:r>
            <a:r>
              <a:rPr>
                <a:latin typeface="Courier"/>
              </a:rPr>
              <a:t>contr.treatment</a:t>
            </a:r>
            <a:r>
              <a:rPr/>
              <a:t>, the test for </a:t>
            </a:r>
            <a:r>
              <a:rPr>
                <a:latin typeface="Courier"/>
              </a:rPr>
              <a:t>temp</a:t>
            </a:r>
            <a:r>
              <a:rPr/>
              <a:t> tests the effect of temperature only for the reference species (</a:t>
            </a:r>
            <a:r>
              <a:rPr>
                <a:latin typeface="Courier"/>
              </a:rPr>
              <a:t>O. exclamationis</a:t>
            </a:r>
            <a:r>
              <a:rPr/>
              <a:t> comes first alphabetically) — is mean </a:t>
            </a:r>
            <a:r>
              <a:rPr>
                <a:latin typeface="Courier"/>
              </a:rPr>
              <a:t>chirp_rate</a:t>
            </a:r>
            <a:r>
              <a:rPr/>
              <a:t> equal to zero for the reference species when </a:t>
            </a:r>
            <a:r>
              <a:rPr>
                <a:latin typeface="Courier"/>
              </a:rPr>
              <a:t>temp</a:t>
            </a:r>
            <a:r>
              <a:rPr/>
              <a:t> is 0?</a:t>
            </a:r>
          </a:p>
          <a:p>
            <a:pPr lvl="0"/>
            <a:r>
              <a:rPr/>
              <a:t>With </a:t>
            </a:r>
            <a:r>
              <a:rPr>
                <a:latin typeface="Courier"/>
              </a:rPr>
              <a:t>contr.sum</a:t>
            </a:r>
            <a:r>
              <a:rPr/>
              <a:t> (“sum coding” or “deviation coding”), the test for </a:t>
            </a:r>
            <a:r>
              <a:rPr>
                <a:latin typeface="Courier"/>
              </a:rPr>
              <a:t>temp</a:t>
            </a:r>
            <a:r>
              <a:rPr/>
              <a:t> tests the </a:t>
            </a:r>
            <a:r>
              <a:rPr i="1"/>
              <a:t>average</a:t>
            </a:r>
            <a:r>
              <a:rPr/>
              <a:t> effect of temperature across both species — is average mean </a:t>
            </a:r>
            <a:r>
              <a:rPr>
                <a:latin typeface="Courier"/>
              </a:rPr>
              <a:t>chirp_rate</a:t>
            </a:r>
            <a:r>
              <a:rPr/>
              <a:t> (averaged across both species) equal to zero when </a:t>
            </a:r>
            <a:r>
              <a:rPr>
                <a:latin typeface="Courier"/>
              </a:rPr>
              <a:t>temp</a:t>
            </a:r>
            <a:r>
              <a:rPr/>
              <a:t> is 0?</a:t>
            </a:r>
          </a:p>
          <a:p>
            <a:pPr lvl="0" indent="0" marL="1270000">
              <a:buNone/>
            </a:pPr>
            <a:r>
              <a:rPr sz="2000" b="1"/>
              <a:t>Important</a:t>
            </a:r>
          </a:p>
          <a:p>
            <a:pPr lvl="0" indent="0" marL="1270000">
              <a:buNone/>
            </a:pPr>
            <a:r>
              <a:rPr sz="2000"/>
              <a:t>The intercept is hard to interpret in both models because </a:t>
            </a:r>
            <a:r>
              <a:rPr sz="2000">
                <a:latin typeface="Courier"/>
              </a:rPr>
              <a:t>temp = 0</a:t>
            </a:r>
            <a:r>
              <a:rPr sz="2000"/>
              <a:t> is meaningless. If you centered the </a:t>
            </a:r>
            <a:r>
              <a:rPr sz="2000">
                <a:latin typeface="Courier"/>
              </a:rPr>
              <a:t>temp</a:t>
            </a:r>
            <a:r>
              <a:rPr sz="2000"/>
              <a:t> variable (</a:t>
            </a:r>
            <a:r>
              <a:rPr sz="2000">
                <a:latin typeface="Courier"/>
              </a:rPr>
              <a:t>temp_c = temp - mean(temp)</a:t>
            </a:r>
            <a:r>
              <a:rPr sz="2000"/>
              <a:t>) and re-ran the model, the intercept would then test the </a:t>
            </a:r>
            <a:r>
              <a:rPr sz="2000">
                <a:latin typeface="Courier"/>
              </a:rPr>
              <a:t>chirp_rate</a:t>
            </a:r>
            <a:r>
              <a:rPr sz="2000"/>
              <a:t> at the </a:t>
            </a:r>
            <a:r>
              <a:rPr sz="2000" i="1"/>
              <a:t>average</a:t>
            </a:r>
            <a:r>
              <a:rPr sz="2000"/>
              <a:t> temperature — much more interpretable.</a:t>
            </a:r>
          </a:p>
          <a:p>
            <a:pPr lvl="0" indent="0" marL="0">
              <a:spcBef>
                <a:spcPts val="3000"/>
              </a:spcBef>
              <a:buNone/>
            </a:pPr>
            <a:r>
              <a:rPr b="1"/>
              <a:t>Step 2: Fit the ANCOVA model</a:t>
            </a:r>
          </a:p>
          <a:p>
            <a:pPr lvl="0" indent="0" marL="0">
              <a:buNone/>
            </a:pPr>
            <a:r>
              <a:rPr/>
              <a:t>Since slopes are homogeneous (p &gt; 0.05), fit the ANCOVA model without the interaction term.</a:t>
            </a:r>
          </a:p>
          <a:p>
            <a:pPr lvl="0" indent="0">
              <a:buNone/>
            </a:pPr>
            <a:r>
              <a:rPr>
                <a:solidFill>
                  <a:srgbClr val="003B4F"/>
                </a:solidFill>
                <a:latin typeface="Courier"/>
              </a:rPr>
              <a:t>ancova_model &lt;- </a:t>
            </a:r>
            <a:r>
              <a:rPr>
                <a:solidFill>
                  <a:srgbClr val="4758AB"/>
                </a:solidFill>
                <a:latin typeface="Courier"/>
              </a:rPr>
              <a:t>lm</a:t>
            </a:r>
            <a:r>
              <a:rPr>
                <a:solidFill>
                  <a:srgbClr val="003B4F"/>
                </a:solidFill>
                <a:latin typeface="Courier"/>
              </a:rPr>
              <a:t>(chirp_rate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spp, </a:t>
            </a:r>
            <a:r>
              <a:rPr>
                <a:solidFill>
                  <a:srgbClr val="657422"/>
                </a:solidFill>
                <a:latin typeface="Courier"/>
              </a:rPr>
              <a:t>data =</a:t>
            </a:r>
            <a:r>
              <a:rPr>
                <a:solidFill>
                  <a:srgbClr val="003B4F"/>
                </a:solidFill>
                <a:latin typeface="Courier"/>
              </a:rPr>
              <a:t> c_df)</a:t>
            </a:r>
            <a:br/>
            <a:r>
              <a:rPr>
                <a:solidFill>
                  <a:srgbClr val="4758AB"/>
                </a:solidFill>
                <a:latin typeface="Courier"/>
              </a:rPr>
              <a:t>summary</a:t>
            </a:r>
            <a:r>
              <a:rPr>
                <a:solidFill>
                  <a:srgbClr val="003B4F"/>
                </a:solidFill>
                <a:latin typeface="Courier"/>
              </a:rPr>
              <a:t>(ancova_model)</a:t>
            </a:r>
          </a:p>
          <a:p>
            <a:pPr lvl="0" indent="0" marL="0">
              <a:buNone/>
            </a:pPr>
            <a:r>
              <a:rPr b="1"/>
              <a:t>Interpretation:</a:t>
            </a:r>
          </a:p>
          <a:p>
            <a:pPr lvl="0"/>
            <a:r>
              <a:rPr>
                <a:latin typeface="Courier"/>
              </a:rPr>
              <a:t>spp1</a:t>
            </a:r>
            <a:r>
              <a:rPr/>
              <a:t> is the clue that </a:t>
            </a:r>
            <a:r>
              <a:rPr>
                <a:latin typeface="Courier"/>
              </a:rPr>
              <a:t>contr.sum</a:t>
            </a:r>
            <a:r>
              <a:rPr/>
              <a:t> is active — it represents the coefficient for the first species (</a:t>
            </a:r>
            <a:r>
              <a:rPr>
                <a:latin typeface="Courier"/>
              </a:rPr>
              <a:t>O. exclamationis</a:t>
            </a:r>
            <a:r>
              <a:rPr/>
              <a:t>) relative to the grand mean.</a:t>
            </a:r>
          </a:p>
          <a:p>
            <a:pPr lvl="0"/>
            <a:r>
              <a:rPr>
                <a:latin typeface="Courier"/>
              </a:rPr>
              <a:t>(Intercept)</a:t>
            </a:r>
            <a:r>
              <a:rPr/>
              <a:t>: the average </a:t>
            </a:r>
            <a:r>
              <a:rPr>
                <a:latin typeface="Courier"/>
              </a:rPr>
              <a:t>chirp_rate</a:t>
            </a:r>
            <a:r>
              <a:rPr/>
              <a:t> (across both species) when </a:t>
            </a:r>
            <a:r>
              <a:rPr>
                <a:latin typeface="Courier"/>
              </a:rPr>
              <a:t>temp</a:t>
            </a:r>
            <a:r>
              <a:rPr/>
              <a:t> is 0.</a:t>
            </a:r>
          </a:p>
          <a:p>
            <a:pPr lvl="0"/>
            <a:r>
              <a:rPr>
                <a:latin typeface="Courier"/>
              </a:rPr>
              <a:t>temp</a:t>
            </a:r>
            <a:r>
              <a:rPr/>
              <a:t>: the common slope — for every 1-degree increase in </a:t>
            </a:r>
            <a:r>
              <a:rPr>
                <a:latin typeface="Courier"/>
              </a:rPr>
              <a:t>temp</a:t>
            </a:r>
            <a:r>
              <a:rPr/>
              <a:t>, </a:t>
            </a:r>
            <a:r>
              <a:rPr>
                <a:latin typeface="Courier"/>
              </a:rPr>
              <a:t>chirp_rate</a:t>
            </a:r>
            <a:r>
              <a:rPr/>
              <a:t> increases by that many units.</a:t>
            </a:r>
          </a:p>
          <a:p>
            <a:pPr lvl="0"/>
            <a:r>
              <a:rPr>
                <a:latin typeface="Courier"/>
              </a:rPr>
              <a:t>spp1</a:t>
            </a:r>
            <a:r>
              <a:rPr/>
              <a:t>: the deviation from the grand mean for </a:t>
            </a:r>
            <a:r>
              <a:rPr>
                <a:latin typeface="Courier"/>
              </a:rPr>
              <a:t>O. exclamationis</a:t>
            </a:r>
            <a:r>
              <a:rPr/>
              <a:t>; the effect for </a:t>
            </a:r>
            <a:r>
              <a:rPr>
                <a:latin typeface="Courier"/>
              </a:rPr>
              <a:t>O. niveus</a:t>
            </a:r>
            <a:r>
              <a:rPr/>
              <a:t> is the negative of that value.</a:t>
            </a:r>
          </a:p>
          <a:p>
            <a:pPr lvl="0" indent="0">
              <a:buNone/>
            </a:pPr>
            <a:r>
              <a:rPr>
                <a:solidFill>
                  <a:srgbClr val="4758AB"/>
                </a:solidFill>
                <a:latin typeface="Courier"/>
              </a:rPr>
              <a:t>Anova</a:t>
            </a:r>
            <a:r>
              <a:rPr>
                <a:solidFill>
                  <a:srgbClr val="003B4F"/>
                </a:solidFill>
                <a:latin typeface="Courier"/>
              </a:rPr>
              <a:t>(ancova_model, </a:t>
            </a:r>
            <a:r>
              <a:rPr>
                <a:solidFill>
                  <a:srgbClr val="657422"/>
                </a:solidFill>
                <a:latin typeface="Courier"/>
              </a:rPr>
              <a:t>type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r>
              <a:rPr/>
              <a:t>Both Type II (technically more appropriate here) and Type III end up doing the exact same calculation:</a:t>
            </a:r>
          </a:p>
          <a:p>
            <a:pPr lvl="0"/>
            <a:r>
              <a:rPr/>
              <a:t>The test for </a:t>
            </a:r>
            <a:r>
              <a:rPr>
                <a:latin typeface="Courier"/>
              </a:rPr>
              <a:t>temp</a:t>
            </a:r>
            <a:r>
              <a:rPr/>
              <a:t> gets the Sum of Squares for </a:t>
            </a:r>
            <a:r>
              <a:rPr>
                <a:latin typeface="Courier"/>
              </a:rPr>
              <a:t>temp</a:t>
            </a:r>
            <a:r>
              <a:rPr/>
              <a:t> after accounting for </a:t>
            </a:r>
            <a:r>
              <a:rPr>
                <a:latin typeface="Courier"/>
              </a:rPr>
              <a:t>spp</a:t>
            </a:r>
            <a:r>
              <a:rPr/>
              <a:t>.</a:t>
            </a:r>
          </a:p>
          <a:p>
            <a:pPr lvl="0"/>
            <a:r>
              <a:rPr/>
              <a:t>The test for </a:t>
            </a:r>
            <a:r>
              <a:rPr>
                <a:latin typeface="Courier"/>
              </a:rPr>
              <a:t>spp</a:t>
            </a:r>
            <a:r>
              <a:rPr/>
              <a:t> gets the Sum of Squares for </a:t>
            </a:r>
            <a:r>
              <a:rPr>
                <a:latin typeface="Courier"/>
              </a:rPr>
              <a:t>spp</a:t>
            </a:r>
            <a:r>
              <a:rPr/>
              <a:t> after accounting for </a:t>
            </a:r>
            <a:r>
              <a:rPr>
                <a:latin typeface="Courier"/>
              </a:rPr>
              <a:t>temp</a:t>
            </a:r>
            <a:r>
              <a:rPr/>
              <a:t>.</a:t>
            </a:r>
          </a:p>
          <a:p>
            <a:pPr lvl="0" indent="0" marL="0">
              <a:buNone/>
            </a:pPr>
            <a:r>
              <a:rPr/>
              <a:t>✏️ </a:t>
            </a:r>
            <a:r>
              <a:rPr b="1"/>
              <a:t>Your turn:</a:t>
            </a:r>
            <a:r>
              <a:rPr/>
              <a:t> Based on the </a:t>
            </a:r>
            <a:r>
              <a:rPr>
                <a:latin typeface="Courier"/>
              </a:rPr>
              <a:t>Anova()</a:t>
            </a:r>
            <a:r>
              <a:rPr/>
              <a:t> output, is there a significant species effect on chirping rate after adjusting for temperature? </a:t>
            </a:r>
            <a:r>
              <a:rPr>
                <a:latin typeface="Courier"/>
              </a:rPr>
              <a:t>________________________</a:t>
            </a:r>
          </a:p>
          <a:p>
            <a:pPr lvl="0" indent="0" marL="0">
              <a:spcBef>
                <a:spcPts val="3000"/>
              </a:spcBef>
              <a:buNone/>
            </a:pPr>
            <a:r>
              <a:rPr b="1"/>
              <a:t>Step 3: Check model assumptions</a:t>
            </a:r>
          </a:p>
          <a:p>
            <a:pPr lvl="0" indent="0" marL="0">
              <a:buNone/>
            </a:pPr>
            <a:r>
              <a:rPr b="1"/>
              <a:t>▶ Run this: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 </a:t>
            </a:r>
            <a:r>
              <a:rPr>
                <a:solidFill>
                  <a:srgbClr val="657422"/>
                </a:solidFill>
                <a:latin typeface="Courier"/>
              </a:rPr>
              <a:t>main =</a:t>
            </a:r>
            <a:r>
              <a:rPr>
                <a:solidFill>
                  <a:srgbClr val="003B4F"/>
                </a:solidFill>
                <a:latin typeface="Courier"/>
              </a:rPr>
              <a:t> </a:t>
            </a:r>
            <a:r>
              <a:rPr>
                <a:solidFill>
                  <a:srgbClr val="20794D"/>
                </a:solidFill>
                <a:latin typeface="Courier"/>
              </a:rPr>
              <a:t>"ANCOVA Diagnostic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4758AB"/>
                </a:solidFill>
                <a:latin typeface="Courier"/>
              </a:rPr>
              <a:t>shapiro.test</a:t>
            </a:r>
            <a:r>
              <a:rPr>
                <a:solidFill>
                  <a:srgbClr val="003B4F"/>
                </a:solidFill>
                <a:latin typeface="Courier"/>
              </a:rPr>
              <a:t>(ancova_model</a:t>
            </a:r>
            <a:r>
              <a:rPr>
                <a:solidFill>
                  <a:srgbClr val="5E5E5E"/>
                </a:solidFill>
                <a:latin typeface="Courier"/>
              </a:rPr>
              <a:t>$</a:t>
            </a:r>
            <a:r>
              <a:rPr>
                <a:solidFill>
                  <a:srgbClr val="003B4F"/>
                </a:solidFill>
                <a:latin typeface="Courier"/>
              </a:rPr>
              <a:t>residuals)</a:t>
            </a:r>
            <a:br/>
            <a:br/>
            <a:r>
              <a:rPr>
                <a:solidFill>
                  <a:srgbClr val="4758AB"/>
                </a:solidFill>
                <a:latin typeface="Courier"/>
              </a:rPr>
              <a:t>leveneTest</a:t>
            </a:r>
            <a:r>
              <a:rPr>
                <a:solidFill>
                  <a:srgbClr val="003B4F"/>
                </a:solidFill>
                <a:latin typeface="Courier"/>
              </a:rPr>
              <a:t>(chirp_rate </a:t>
            </a:r>
            <a:r>
              <a:rPr>
                <a:solidFill>
                  <a:srgbClr val="5E5E5E"/>
                </a:solidFill>
                <a:latin typeface="Courier"/>
              </a:rPr>
              <a:t>~</a:t>
            </a:r>
            <a:r>
              <a:rPr>
                <a:solidFill>
                  <a:srgbClr val="003B4F"/>
                </a:solidFill>
                <a:latin typeface="Courier"/>
              </a:rPr>
              <a:t> spp, </a:t>
            </a:r>
            <a:r>
              <a:rPr>
                <a:solidFill>
                  <a:srgbClr val="657422"/>
                </a:solidFill>
                <a:latin typeface="Courier"/>
              </a:rPr>
              <a:t>data =</a:t>
            </a:r>
            <a:r>
              <a:rPr>
                <a:solidFill>
                  <a:srgbClr val="003B4F"/>
                </a:solidFill>
                <a:latin typeface="Courier"/>
              </a:rPr>
              <a:t> c_df)</a:t>
            </a:r>
            <a:br/>
            <a:br/>
            <a:r>
              <a:rPr>
                <a:solidFill>
                  <a:srgbClr val="5E5E5E"/>
                </a:solidFill>
                <a:latin typeface="Courier"/>
              </a:rPr>
              <a:t># Breusch-Pagan (BP) test for homoscedasticity</a:t>
            </a:r>
            <a:br/>
            <a:r>
              <a:rPr>
                <a:solidFill>
                  <a:srgbClr val="003B4F"/>
                </a:solidFill>
                <a:latin typeface="Courier"/>
              </a:rPr>
              <a:t>lmtest</a:t>
            </a:r>
            <a:r>
              <a:rPr>
                <a:solidFill>
                  <a:srgbClr val="5E5E5E"/>
                </a:solidFill>
                <a:latin typeface="Courier"/>
              </a:rPr>
              <a:t>::</a:t>
            </a:r>
            <a:r>
              <a:rPr>
                <a:solidFill>
                  <a:srgbClr val="4758AB"/>
                </a:solidFill>
                <a:latin typeface="Courier"/>
              </a:rPr>
              <a:t>bptest</a:t>
            </a:r>
            <a:r>
              <a:rPr>
                <a:solidFill>
                  <a:srgbClr val="003B4F"/>
                </a:solidFill>
                <a:latin typeface="Courier"/>
              </a:rPr>
              <a:t>(ancova_model)</a:t>
            </a:r>
          </a:p>
          <a:p>
            <a:pPr lvl="0" indent="0" marL="0">
              <a:spcBef>
                <a:spcPts val="3000"/>
              </a:spcBef>
              <a:buNone/>
            </a:pPr>
            <a:r>
              <a:rPr b="1"/>
              <a:t>Step 4: Calculate adjusted means</a:t>
            </a:r>
          </a:p>
          <a:p>
            <a:pPr lvl="0" indent="0" marL="0">
              <a:buNone/>
            </a:pPr>
            <a:r>
              <a:rPr/>
              <a:t>ANCOVA compares adjusted means — what each group’s mean would be at the overall mean of the covariate.</a:t>
            </a:r>
          </a:p>
          <a:p>
            <a:pPr lvl="0" indent="0">
              <a:buNone/>
            </a:pPr>
            <a:r>
              <a:rPr>
                <a:solidFill>
                  <a:srgbClr val="003B4F"/>
                </a:solidFill>
                <a:latin typeface="Courier"/>
              </a:rPr>
              <a:t>c_emmeans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"spp"</a:t>
            </a:r>
            <a:r>
              <a:rPr>
                <a:solidFill>
                  <a:srgbClr val="003B4F"/>
                </a:solidFill>
                <a:latin typeface="Courier"/>
              </a:rPr>
              <a:t>)</a:t>
            </a:r>
            <a:br/>
            <a:br/>
            <a:r>
              <a:rPr>
                <a:solidFill>
                  <a:srgbClr val="003B4F"/>
                </a:solidFill>
                <a:latin typeface="Courier"/>
              </a:rPr>
              <a:t>cricket_adj_means_df &lt;- </a:t>
            </a:r>
            <a:r>
              <a:rPr>
                <a:solidFill>
                  <a:srgbClr val="4758AB"/>
                </a:solidFill>
                <a:latin typeface="Courier"/>
              </a:rPr>
              <a:t>as.data.frame</a:t>
            </a:r>
            <a:r>
              <a:rPr>
                <a:solidFill>
                  <a:srgbClr val="003B4F"/>
                </a:solidFill>
                <a:latin typeface="Courier"/>
              </a:rPr>
              <a:t>(c_emmeans)</a:t>
            </a:r>
            <a:br/>
            <a:r>
              <a:rPr>
                <a:solidFill>
                  <a:srgbClr val="003B4F"/>
                </a:solidFill>
                <a:latin typeface="Courier"/>
              </a:rPr>
              <a:t>cricket_adj_means_df</a:t>
            </a:r>
          </a:p>
          <a:p>
            <a:pPr lvl="0" indent="0" marL="0">
              <a:spcBef>
                <a:spcPts val="3000"/>
              </a:spcBef>
              <a:buNone/>
            </a:pPr>
            <a:r>
              <a:rPr b="1"/>
              <a:t>Step 5: Pairwise comparisons</a:t>
            </a:r>
          </a:p>
          <a:p>
            <a:pPr lvl="0" indent="0">
              <a:buNone/>
            </a:pPr>
            <a:r>
              <a:rPr>
                <a:solidFill>
                  <a:srgbClr val="4758AB"/>
                </a:solidFill>
                <a:latin typeface="Courier"/>
              </a:rPr>
              <a:t>pairs</a:t>
            </a:r>
            <a:r>
              <a:rPr>
                <a:solidFill>
                  <a:srgbClr val="003B4F"/>
                </a:solidFill>
                <a:latin typeface="Courier"/>
              </a:rPr>
              <a:t>(c_emmeans,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p>
          <a:p>
            <a:pPr lvl="0" indent="0" marL="0">
              <a:spcBef>
                <a:spcPts val="3000"/>
              </a:spcBef>
              <a:buNone/>
            </a:pPr>
            <a:r>
              <a:rPr b="1"/>
              <a:t>Step 6: Visualize results</a:t>
            </a:r>
          </a:p>
          <a:p>
            <a:pPr lvl="0" indent="0">
              <a:buNone/>
            </a:pPr>
            <a:r>
              <a:rPr>
                <a:solidFill>
                  <a:srgbClr val="4758AB"/>
                </a:solidFill>
                <a:latin typeface="Courier"/>
              </a:rPr>
              <a:t>plot</a:t>
            </a:r>
            <a:r>
              <a:rPr>
                <a:solidFill>
                  <a:srgbClr val="003B4F"/>
                </a:solidFill>
                <a:latin typeface="Courier"/>
              </a:rPr>
              <a:t>(c_emmeans,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c_emmeans_df &lt;- </a:t>
            </a:r>
            <a:r>
              <a:rPr>
                <a:solidFill>
                  <a:srgbClr val="4758AB"/>
                </a:solidFill>
                <a:latin typeface="Courier"/>
              </a:rPr>
              <a:t>as.data.frame</a:t>
            </a:r>
            <a:r>
              <a:rPr>
                <a:solidFill>
                  <a:srgbClr val="003B4F"/>
                </a:solidFill>
                <a:latin typeface="Courier"/>
              </a:rPr>
              <a:t>(c_emmeans)</a:t>
            </a:r>
            <a:br/>
            <a:r>
              <a:rPr>
                <a:solidFill>
                  <a:srgbClr val="4758AB"/>
                </a:solidFill>
                <a:latin typeface="Courier"/>
              </a:rPr>
              <a:t>ggplot</a:t>
            </a:r>
            <a:r>
              <a:rPr>
                <a:solidFill>
                  <a:srgbClr val="003B4F"/>
                </a:solidFill>
                <a:latin typeface="Courier"/>
              </a:rPr>
              <a:t>(c_emmeans_df,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spp, </a:t>
            </a:r>
            <a:r>
              <a:rPr>
                <a:solidFill>
                  <a:srgbClr val="657422"/>
                </a:solidFill>
                <a:latin typeface="Courier"/>
              </a:rPr>
              <a:t>y =</a:t>
            </a:r>
            <a:r>
              <a:rPr>
                <a:solidFill>
                  <a:srgbClr val="003B4F"/>
                </a:solidFill>
                <a:latin typeface="Courier"/>
              </a:rPr>
              <a:t> emmean, </a:t>
            </a:r>
            <a:r>
              <a:rPr>
                <a:solidFill>
                  <a:srgbClr val="657422"/>
                </a:solidFill>
                <a:latin typeface="Courier"/>
              </a:rPr>
              <a:t>fill =</a:t>
            </a:r>
            <a:r>
              <a:rPr>
                <a:solidFill>
                  <a:srgbClr val="003B4F"/>
                </a:solidFill>
                <a:latin typeface="Courier"/>
              </a:rPr>
              <a:t> spp))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 Chirping Rate by Species"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"Means adjusted for temperature"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"Adjusted Chirping Rate"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1270000">
              <a:buNone/>
            </a:pPr>
            <a:r>
              <a:rPr sz="2000" b="1"/>
              <a:t>Tip</a:t>
            </a:r>
          </a:p>
          <a:p>
            <a:pPr lvl="0" indent="0" marL="1270000">
              <a:buNone/>
            </a:pPr>
            <a:r>
              <a:rPr sz="2000" b="1"/>
              <a:t>🚀 If you finish early:</a:t>
            </a:r>
            <a:r>
              <a:rPr sz="2000"/>
              <a:t> Refit </a:t>
            </a:r>
            <a:r>
              <a:rPr sz="2000">
                <a:latin typeface="Courier"/>
              </a:rPr>
              <a:t>ancova_model</a:t>
            </a:r>
            <a:r>
              <a:rPr sz="2000"/>
              <a:t> with </a:t>
            </a:r>
            <a:r>
              <a:rPr sz="2000">
                <a:latin typeface="Courier"/>
              </a:rPr>
              <a:t>options(contrasts = c("contr.treatment", "contr.poly"))</a:t>
            </a:r>
            <a:r>
              <a:rPr sz="2000"/>
              <a:t> instead of </a:t>
            </a:r>
            <a:r>
              <a:rPr sz="2000">
                <a:latin typeface="Courier"/>
              </a:rPr>
              <a:t>contr.sum</a:t>
            </a:r>
            <a:r>
              <a:rPr sz="2000"/>
              <a:t>, and compare the coefficient table. Does the </a:t>
            </a:r>
            <a:r>
              <a:rPr sz="2000">
                <a:latin typeface="Courier"/>
              </a:rPr>
              <a:t>Anova()</a:t>
            </a:r>
            <a:r>
              <a:rPr sz="2000"/>
              <a:t> F-test for </a:t>
            </a:r>
            <a:r>
              <a:rPr sz="2000">
                <a:latin typeface="Courier"/>
              </a:rPr>
              <a:t>spp</a:t>
            </a:r>
            <a:r>
              <a:rPr sz="2000"/>
              <a:t> change? Does the intercept’s meaning change?</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Partridge Longevity Analysis</a:t>
            </a:r>
          </a:p>
        </p:txBody>
      </p:sp>
      <p:sp>
        <p:nvSpPr>
          <p:cNvPr id="3" name="Content Placeholder 2"/>
          <p:cNvSpPr>
            <a:spLocks noGrp="1"/>
          </p:cNvSpPr>
          <p:nvPr>
            <p:ph idx="1"/>
          </p:nvPr>
        </p:nvSpPr>
        <p:spPr/>
        <p:txBody>
          <a:bodyPr/>
          <a:lstStyle/>
          <a:p>
            <a:pPr lvl="0" indent="0" marL="0">
              <a:buNone/>
            </a:pPr>
            <a:r>
              <a:rPr/>
              <a:t>We’ll analyze the effect of mating strategy on male fruitfly longevity, using thorax length as a covariate — this is real data from Partridge &amp; Farquhar (1981).</a:t>
            </a:r>
          </a:p>
          <a:p>
            <a:pPr lvl="0" indent="0" marL="0">
              <a:buNone/>
            </a:pPr>
            <a:r>
              <a:rPr b="1"/>
              <a:t>▶ Run this</a:t>
            </a:r>
            <a:r>
              <a:rPr/>
              <a:t> — load and visualize the data:</a:t>
            </a:r>
          </a:p>
          <a:p>
            <a:pPr lvl="0" indent="0">
              <a:buNone/>
            </a:pPr>
            <a:r>
              <a:rPr>
                <a:solidFill>
                  <a:srgbClr val="003B4F"/>
                </a:solidFill>
                <a:latin typeface="Courier"/>
              </a:rPr>
              <a:t>p_df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treat =</a:t>
            </a:r>
            <a:r>
              <a:rPr>
                <a:solidFill>
                  <a:srgbClr val="003B4F"/>
                </a:solidFill>
                <a:latin typeface="Courier"/>
              </a:rPr>
              <a:t> treatmen)</a:t>
            </a:r>
            <a:br/>
            <a:br/>
            <a:r>
              <a:rPr>
                <a:solidFill>
                  <a:srgbClr val="003B4F"/>
                </a:solidFill>
                <a:latin typeface="Courier"/>
              </a:rPr>
              <a:t>p_df</a:t>
            </a:r>
            <a:r>
              <a:rPr>
                <a:solidFill>
                  <a:srgbClr val="5E5E5E"/>
                </a:solidFill>
                <a:latin typeface="Courier"/>
              </a:rPr>
              <a:t>$</a:t>
            </a:r>
            <a:r>
              <a:rPr>
                <a:solidFill>
                  <a:srgbClr val="003B4F"/>
                </a:solidFill>
                <a:latin typeface="Courier"/>
              </a:rPr>
              <a:t>treat &lt;- </a:t>
            </a:r>
            <a:r>
              <a:rPr>
                <a:solidFill>
                  <a:srgbClr val="4758AB"/>
                </a:solidFill>
                <a:latin typeface="Courier"/>
              </a:rPr>
              <a:t>factor</a:t>
            </a:r>
            <a:r>
              <a:rPr>
                <a:solidFill>
                  <a:srgbClr val="003B4F"/>
                </a:solidFill>
                <a:latin typeface="Courier"/>
              </a:rPr>
              <a:t>(p_df</a:t>
            </a:r>
            <a:r>
              <a:rPr>
                <a:solidFill>
                  <a:srgbClr val="5E5E5E"/>
                </a:solidFill>
                <a:latin typeface="Courier"/>
              </a:rPr>
              <a:t>$</a:t>
            </a:r>
            <a:r>
              <a:rPr>
                <a:solidFill>
                  <a:srgbClr val="003B4F"/>
                </a:solidFill>
                <a:latin typeface="Courier"/>
              </a:rPr>
              <a:t>treat,</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4758AB"/>
                </a:solidFill>
                <a:latin typeface="Courier"/>
              </a:rPr>
              <a:t>head</a:t>
            </a:r>
            <a:r>
              <a:rPr>
                <a:solidFill>
                  <a:srgbClr val="003B4F"/>
                </a:solidFill>
                <a:latin typeface="Courier"/>
              </a:rPr>
              <a:t>(p_df)</a:t>
            </a:r>
            <a:br/>
            <a:br/>
            <a:r>
              <a:rPr>
                <a:solidFill>
                  <a:srgbClr val="4758AB"/>
                </a:solidFill>
                <a:latin typeface="Courier"/>
              </a:rPr>
              <a:t>ggplot</a:t>
            </a:r>
            <a:r>
              <a:rPr>
                <a:solidFill>
                  <a:srgbClr val="003B4F"/>
                </a:solidFill>
                <a:latin typeface="Courier"/>
              </a:rPr>
              <a:t>(p_df,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a:p>
            <a:pPr lvl="0" indent="0" marL="0">
              <a:spcBef>
                <a:spcPts val="3000"/>
              </a:spcBef>
              <a:buNone/>
            </a:pPr>
            <a:r>
              <a:rPr b="1"/>
              <a:t>Step 1: Test homogeneity of slopes</a:t>
            </a:r>
          </a:p>
          <a:p>
            <a:pPr lvl="0" indent="0">
              <a:buNone/>
            </a:pP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p_df)</a:t>
            </a:r>
            <a:br/>
            <a:r>
              <a:rPr>
                <a:solidFill>
                  <a:srgbClr val="4758AB"/>
                </a:solidFill>
                <a:latin typeface="Courier"/>
              </a:rPr>
              <a:t>Anova</a:t>
            </a:r>
            <a:r>
              <a:rPr>
                <a:solidFill>
                  <a:srgbClr val="003B4F"/>
                </a:solidFill>
                <a:latin typeface="Courier"/>
              </a:rPr>
              <a:t>(homo_slopes_model,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spcBef>
                <a:spcPts val="3000"/>
              </a:spcBef>
              <a:buNone/>
            </a:pPr>
            <a:r>
              <a:rPr b="1"/>
              <a:t>Step 2: Fit the ANCOVA model</a:t>
            </a:r>
          </a:p>
          <a:p>
            <a:pPr lvl="0" indent="0">
              <a:buNone/>
            </a:pPr>
            <a:r>
              <a:rPr>
                <a:solidFill>
                  <a:srgbClr val="003B4F"/>
                </a:solidFill>
                <a:latin typeface="Courier"/>
              </a:rPr>
              <a:t>p_ancova_model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p_df)</a:t>
            </a:r>
            <a:br/>
            <a:r>
              <a:rPr>
                <a:solidFill>
                  <a:srgbClr val="4758AB"/>
                </a:solidFill>
                <a:latin typeface="Courier"/>
              </a:rPr>
              <a:t>summary</a:t>
            </a:r>
            <a:r>
              <a:rPr>
                <a:solidFill>
                  <a:srgbClr val="003B4F"/>
                </a:solidFill>
                <a:latin typeface="Courier"/>
              </a:rPr>
              <a:t>(p_ancova_model)</a:t>
            </a:r>
            <a:br/>
            <a:br/>
            <a:r>
              <a:rPr>
                <a:solidFill>
                  <a:srgbClr val="4758AB"/>
                </a:solidFill>
                <a:latin typeface="Courier"/>
              </a:rPr>
              <a:t>Anova</a:t>
            </a:r>
            <a:r>
              <a:rPr>
                <a:solidFill>
                  <a:srgbClr val="003B4F"/>
                </a:solidFill>
                <a:latin typeface="Courier"/>
              </a:rPr>
              <a:t>(p_ancova_model,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marL="0">
              <a:spcBef>
                <a:spcPts val="3000"/>
              </a:spcBef>
              <a:buNone/>
            </a:pPr>
            <a:r>
              <a:rPr b="1"/>
              <a:t>Step 3: Check assumptions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(p_ancova_model)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4758AB"/>
                </a:solidFill>
                <a:latin typeface="Courier"/>
              </a:rPr>
              <a:t>shapiro.test</a:t>
            </a:r>
            <a:r>
              <a:rPr>
                <a:solidFill>
                  <a:srgbClr val="003B4F"/>
                </a:solidFill>
                <a:latin typeface="Courier"/>
              </a:rPr>
              <a:t>(p_ancova_model</a:t>
            </a:r>
            <a:r>
              <a:rPr>
                <a:solidFill>
                  <a:srgbClr val="5E5E5E"/>
                </a:solidFill>
                <a:latin typeface="Courier"/>
              </a:rPr>
              <a:t>$</a:t>
            </a:r>
            <a:r>
              <a:rPr>
                <a:solidFill>
                  <a:srgbClr val="003B4F"/>
                </a:solidFill>
                <a:latin typeface="Courier"/>
              </a:rPr>
              <a:t>residuals)</a:t>
            </a:r>
            <a:br/>
            <a:br/>
            <a:r>
              <a:rPr>
                <a:solidFill>
                  <a:srgbClr val="4758AB"/>
                </a:solidFill>
                <a:latin typeface="Courier"/>
              </a:rPr>
              <a:t>leveneTest</a:t>
            </a:r>
            <a:r>
              <a:rPr>
                <a:solidFill>
                  <a:srgbClr val="003B4F"/>
                </a:solidFill>
                <a:latin typeface="Courier"/>
              </a:rPr>
              <a:t>(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p_df)</a:t>
            </a:r>
            <a:br/>
            <a:br/>
            <a:r>
              <a:rPr>
                <a:solidFill>
                  <a:srgbClr val="5E5E5E"/>
                </a:solidFill>
                <a:latin typeface="Courier"/>
              </a:rPr>
              <a:t># Breusch-Pagan (BP) test for homoscedasticity</a:t>
            </a:r>
            <a:br/>
            <a:r>
              <a:rPr>
                <a:solidFill>
                  <a:srgbClr val="003B4F"/>
                </a:solidFill>
                <a:latin typeface="Courier"/>
              </a:rPr>
              <a:t>lmtest</a:t>
            </a:r>
            <a:r>
              <a:rPr>
                <a:solidFill>
                  <a:srgbClr val="5E5E5E"/>
                </a:solidFill>
                <a:latin typeface="Courier"/>
              </a:rPr>
              <a:t>::</a:t>
            </a:r>
            <a:r>
              <a:rPr>
                <a:solidFill>
                  <a:srgbClr val="4758AB"/>
                </a:solidFill>
                <a:latin typeface="Courier"/>
              </a:rPr>
              <a:t>bptest</a:t>
            </a:r>
            <a:r>
              <a:rPr>
                <a:solidFill>
                  <a:srgbClr val="003B4F"/>
                </a:solidFill>
                <a:latin typeface="Courier"/>
              </a:rPr>
              <a:t>(p_ancova_model)</a:t>
            </a:r>
          </a:p>
          <a:p>
            <a:pPr lvl="0" indent="0" marL="0">
              <a:spcBef>
                <a:spcPts val="3000"/>
              </a:spcBef>
              <a:buNone/>
            </a:pPr>
            <a:r>
              <a:rPr b="1"/>
              <a:t>Step 4: Calculate adjusted means</a:t>
            </a:r>
          </a:p>
          <a:p>
            <a:pPr lvl="0" indent="0">
              <a:buNone/>
            </a:pPr>
            <a:r>
              <a:rPr>
                <a:solidFill>
                  <a:srgbClr val="003B4F"/>
                </a:solidFill>
                <a:latin typeface="Courier"/>
              </a:rPr>
              <a:t>p_means &lt;- </a:t>
            </a:r>
            <a:r>
              <a:rPr>
                <a:solidFill>
                  <a:srgbClr val="4758AB"/>
                </a:solidFill>
                <a:latin typeface="Courier"/>
              </a:rPr>
              <a:t>emmeans</a:t>
            </a:r>
            <a:r>
              <a:rPr>
                <a:solidFill>
                  <a:srgbClr val="003B4F"/>
                </a:solidFill>
                <a:latin typeface="Courier"/>
              </a:rPr>
              <a:t>(p_ancova_model, </a:t>
            </a:r>
            <a:r>
              <a:rPr>
                <a:solidFill>
                  <a:srgbClr val="20794D"/>
                </a:solidFill>
                <a:latin typeface="Courier"/>
              </a:rPr>
              <a:t>"treat"</a:t>
            </a:r>
            <a:r>
              <a:rPr>
                <a:solidFill>
                  <a:srgbClr val="003B4F"/>
                </a:solidFill>
                <a:latin typeface="Courier"/>
              </a:rPr>
              <a:t>)</a:t>
            </a:r>
            <a:br/>
            <a:r>
              <a:rPr>
                <a:solidFill>
                  <a:srgbClr val="003B4F"/>
                </a:solidFill>
                <a:latin typeface="Courier"/>
              </a:rPr>
              <a:t>p_means</a:t>
            </a:r>
          </a:p>
          <a:p>
            <a:pPr lvl="0" indent="0" marL="0">
              <a:spcBef>
                <a:spcPts val="3000"/>
              </a:spcBef>
              <a:buNone/>
            </a:pPr>
            <a:r>
              <a:rPr b="1"/>
              <a:t>Step 5: Pairwise comparisons</a:t>
            </a:r>
          </a:p>
          <a:p>
            <a:pPr lvl="0" indent="0">
              <a:buNone/>
            </a:pPr>
            <a:r>
              <a:rPr>
                <a:solidFill>
                  <a:srgbClr val="4758AB"/>
                </a:solidFill>
                <a:latin typeface="Courier"/>
              </a:rPr>
              <a:t>pairs</a:t>
            </a:r>
            <a:r>
              <a:rPr>
                <a:solidFill>
                  <a:srgbClr val="003B4F"/>
                </a:solidFill>
                <a:latin typeface="Courier"/>
              </a:rPr>
              <a:t>(p_means,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4758AB"/>
                </a:solidFill>
                <a:latin typeface="Courier"/>
              </a:rPr>
              <a:t>plot</a:t>
            </a:r>
            <a:r>
              <a:rPr>
                <a:solidFill>
                  <a:srgbClr val="003B4F"/>
                </a:solidFill>
                <a:latin typeface="Courier"/>
              </a:rPr>
              <a:t>(p_means,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multcomp</a:t>
            </a:r>
            <a:r>
              <a:rPr>
                <a:solidFill>
                  <a:srgbClr val="5E5E5E"/>
                </a:solidFill>
                <a:latin typeface="Courier"/>
              </a:rPr>
              <a:t>::</a:t>
            </a:r>
            <a:r>
              <a:rPr>
                <a:solidFill>
                  <a:srgbClr val="4758AB"/>
                </a:solidFill>
                <a:latin typeface="Courier"/>
              </a:rPr>
              <a:t>cld</a:t>
            </a:r>
            <a:r>
              <a:rPr>
                <a:solidFill>
                  <a:srgbClr val="003B4F"/>
                </a:solidFill>
                <a:latin typeface="Courier"/>
              </a:rPr>
              <a:t>(p_means)</a:t>
            </a:r>
          </a:p>
          <a:p>
            <a:pPr lvl="0" indent="0" marL="0">
              <a:buNone/>
            </a:pPr>
            <a:r>
              <a:rPr/>
              <a:t>✏️ </a:t>
            </a:r>
            <a:r>
              <a:rPr b="1"/>
              <a:t>Your turn:</a:t>
            </a:r>
            <a:r>
              <a:rPr/>
              <a:t> According to the compact letter display, which treatment(s) had the highest adjusted mean longevity? Does that match what you’d predict biologically?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Example with Heterogeneous Slopes</a:t>
            </a:r>
          </a:p>
        </p:txBody>
      </p:sp>
      <p:sp>
        <p:nvSpPr>
          <p:cNvPr id="3" name="Content Placeholder 2"/>
          <p:cNvSpPr>
            <a:spLocks noGrp="1"/>
          </p:cNvSpPr>
          <p:nvPr>
            <p:ph idx="1"/>
          </p:nvPr>
        </p:nvSpPr>
        <p:spPr/>
        <p:txBody>
          <a:bodyPr/>
          <a:lstStyle/>
          <a:p>
            <a:pPr lvl="0" indent="0" marL="0">
              <a:buNone/>
            </a:pPr>
            <a:r>
              <a:rPr/>
              <a:t>Let’s look at an example where slopes are </a:t>
            </a:r>
            <a:r>
              <a:rPr b="1"/>
              <a:t>NOT</a:t>
            </a:r>
            <a:r>
              <a:rPr/>
              <a:t> homogeneous, using simulated sea urchin data.</a:t>
            </a:r>
          </a:p>
          <a:p>
            <a:pPr lvl="0" indent="0" marL="0">
              <a:buNone/>
            </a:pPr>
            <a:r>
              <a:rPr b="1"/>
              <a:t>▶ Run this: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345</a:t>
            </a:r>
            <a:r>
              <a:rPr>
                <a:solidFill>
                  <a:srgbClr val="003B4F"/>
                </a:solidFill>
                <a:latin typeface="Courier"/>
              </a:rPr>
              <a:t>)</a:t>
            </a:r>
            <a:br/>
            <a:r>
              <a:rPr>
                <a:solidFill>
                  <a:srgbClr val="003B4F"/>
                </a:solidFill>
                <a:latin typeface="Courier"/>
              </a:rPr>
              <a:t>n &lt;- </a:t>
            </a:r>
            <a:r>
              <a:rPr>
                <a:solidFill>
                  <a:srgbClr val="AD0000"/>
                </a:solidFill>
                <a:latin typeface="Courier"/>
              </a:rPr>
              <a:t>72</a:t>
            </a:r>
            <a:r>
              <a:rPr>
                <a:solidFill>
                  <a:srgbClr val="003B4F"/>
                </a:solidFill>
                <a:latin typeface="Courier"/>
              </a:rPr>
              <a:t>  </a:t>
            </a:r>
            <a:r>
              <a:rPr>
                <a:solidFill>
                  <a:srgbClr val="5E5E5E"/>
                </a:solidFill>
                <a:latin typeface="Courier"/>
              </a:rPr>
              <a:t># 24 urchins per group</a:t>
            </a:r>
            <a:br/>
            <a:br/>
            <a:r>
              <a:rPr>
                <a:solidFill>
                  <a:srgbClr val="003B4F"/>
                </a:solidFill>
                <a:latin typeface="Courier"/>
              </a:rPr>
              <a:t>treatments &lt;-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"Initial"</a:t>
            </a:r>
            <a:r>
              <a:rPr>
                <a:solidFill>
                  <a:srgbClr val="003B4F"/>
                </a:solidFill>
                <a:latin typeface="Courier"/>
              </a:rPr>
              <a:t>, </a:t>
            </a:r>
            <a:r>
              <a:rPr>
                <a:solidFill>
                  <a:srgbClr val="20794D"/>
                </a:solidFill>
                <a:latin typeface="Courier"/>
              </a:rPr>
              <a:t>"Low Food"</a:t>
            </a:r>
            <a:r>
              <a:rPr>
                <a:solidFill>
                  <a:srgbClr val="003B4F"/>
                </a:solidFill>
                <a:latin typeface="Courier"/>
              </a:rPr>
              <a:t>, </a:t>
            </a:r>
            <a:r>
              <a:rPr>
                <a:solidFill>
                  <a:srgbClr val="20794D"/>
                </a:solidFill>
                <a:latin typeface="Courier"/>
              </a:rPr>
              <a:t>"High Food"</a:t>
            </a:r>
            <a:r>
              <a:rPr>
                <a:solidFill>
                  <a:srgbClr val="003B4F"/>
                </a:solidFill>
                <a:latin typeface="Courier"/>
              </a:rPr>
              <a:t>), </a:t>
            </a:r>
            <a:r>
              <a:rPr>
                <a:solidFill>
                  <a:srgbClr val="657422"/>
                </a:solidFill>
                <a:latin typeface="Courier"/>
              </a:rPr>
              <a:t>each =</a:t>
            </a:r>
            <a:r>
              <a:rPr>
                <a:solidFill>
                  <a:srgbClr val="003B4F"/>
                </a:solidFill>
                <a:latin typeface="Courier"/>
              </a:rPr>
              <a:t> n</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volume &lt;- </a:t>
            </a:r>
            <a:r>
              <a:rPr>
                <a:solidFill>
                  <a:srgbClr val="4758AB"/>
                </a:solidFill>
                <a:latin typeface="Courier"/>
              </a:rPr>
              <a:t>c</a:t>
            </a:r>
            <a:r>
              <a:rPr>
                <a:solidFill>
                  <a:srgbClr val="003B4F"/>
                </a:solidFill>
                <a:latin typeface="Courier"/>
              </a:rPr>
              <a:t>(</a:t>
            </a:r>
            <a:br/>
            <a:r>
              <a:rPr>
                <a:solidFill>
                  <a:srgbClr val="003B4F"/>
                </a:solidFill>
                <a:latin typeface="Courier"/>
              </a:rPr>
              <a:t>  </a:t>
            </a:r>
            <a:r>
              <a:rPr>
                <a:solidFill>
                  <a:srgbClr val="4758AB"/>
                </a:solidFill>
                <a:latin typeface="Courier"/>
              </a:rPr>
              <a:t>runif</a:t>
            </a:r>
            <a:r>
              <a:rPr>
                <a:solidFill>
                  <a:srgbClr val="003B4F"/>
                </a:solidFill>
                <a:latin typeface="Courier"/>
              </a:rPr>
              <a:t>(n</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Initial</a:t>
            </a:r>
            <a:br/>
            <a:r>
              <a:rPr>
                <a:solidFill>
                  <a:srgbClr val="003B4F"/>
                </a:solidFill>
                <a:latin typeface="Courier"/>
              </a:rPr>
              <a:t>  </a:t>
            </a:r>
            <a:r>
              <a:rPr>
                <a:solidFill>
                  <a:srgbClr val="4758AB"/>
                </a:solidFill>
                <a:latin typeface="Courier"/>
              </a:rPr>
              <a:t>runif</a:t>
            </a:r>
            <a:r>
              <a:rPr>
                <a:solidFill>
                  <a:srgbClr val="003B4F"/>
                </a:solidFill>
                <a:latin typeface="Courier"/>
              </a:rPr>
              <a:t>(n</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Low Food</a:t>
            </a:r>
            <a:br/>
            <a:r>
              <a:rPr>
                <a:solidFill>
                  <a:srgbClr val="003B4F"/>
                </a:solidFill>
                <a:latin typeface="Courier"/>
              </a:rPr>
              <a:t>  </a:t>
            </a:r>
            <a:r>
              <a:rPr>
                <a:solidFill>
                  <a:srgbClr val="4758AB"/>
                </a:solidFill>
                <a:latin typeface="Courier"/>
              </a:rPr>
              <a:t>runif</a:t>
            </a:r>
            <a:r>
              <a:rPr>
                <a:solidFill>
                  <a:srgbClr val="003B4F"/>
                </a:solidFill>
                <a:latin typeface="Courier"/>
              </a:rPr>
              <a:t>(n</a:t>
            </a:r>
            <a:r>
              <a:rPr>
                <a:solidFill>
                  <a:srgbClr val="5E5E5E"/>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High Food</a:t>
            </a:r>
            <a:br/>
            <a:r>
              <a:rPr>
                <a:solidFill>
                  <a:srgbClr val="003B4F"/>
                </a:solidFill>
                <a:latin typeface="Courier"/>
              </a:rPr>
              <a:t>)</a:t>
            </a:r>
            <a:br/>
            <a:br/>
            <a:r>
              <a:rPr>
                <a:solidFill>
                  <a:srgbClr val="003B4F"/>
                </a:solidFill>
                <a:latin typeface="Courier"/>
              </a:rPr>
              <a:t>suture_width &lt;- </a:t>
            </a:r>
            <a:r>
              <a:rPr>
                <a:solidFill>
                  <a:srgbClr val="4758AB"/>
                </a:solidFill>
                <a:latin typeface="Courier"/>
              </a:rPr>
              <a:t>ifelse</a:t>
            </a:r>
            <a:r>
              <a:rPr>
                <a:solidFill>
                  <a:srgbClr val="003B4F"/>
                </a:solidFill>
                <a:latin typeface="Courier"/>
              </a:rPr>
              <a:t>(</a:t>
            </a:r>
            <a:br/>
            <a:r>
              <a:rPr>
                <a:solidFill>
                  <a:srgbClr val="003B4F"/>
                </a:solidFill>
                <a:latin typeface="Courier"/>
              </a:rPr>
              <a:t>  treatments </a:t>
            </a:r>
            <a:r>
              <a:rPr>
                <a:solidFill>
                  <a:srgbClr val="5E5E5E"/>
                </a:solidFill>
                <a:latin typeface="Courier"/>
              </a:rPr>
              <a:t>==</a:t>
            </a:r>
            <a:r>
              <a:rPr>
                <a:solidFill>
                  <a:srgbClr val="003B4F"/>
                </a:solidFill>
                <a:latin typeface="Courier"/>
              </a:rPr>
              <a:t> </a:t>
            </a:r>
            <a:r>
              <a:rPr>
                <a:solidFill>
                  <a:srgbClr val="20794D"/>
                </a:solidFill>
                <a:latin typeface="Courier"/>
              </a:rPr>
              <a:t>"Initial"</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0.002</a:t>
            </a:r>
            <a:r>
              <a:rPr>
                <a:solidFill>
                  <a:srgbClr val="003B4F"/>
                </a:solidFill>
                <a:latin typeface="Courier"/>
              </a:rPr>
              <a:t> </a:t>
            </a:r>
            <a:r>
              <a:rPr>
                <a:solidFill>
                  <a:srgbClr val="5E5E5E"/>
                </a:solidFill>
                <a:latin typeface="Courier"/>
              </a:rPr>
              <a:t>*</a:t>
            </a:r>
            <a:r>
              <a:rPr>
                <a:solidFill>
                  <a:srgbClr val="003B4F"/>
                </a:solidFill>
                <a:latin typeface="Courier"/>
              </a:rPr>
              <a:t> volume,</a:t>
            </a:r>
            <a:br/>
            <a:r>
              <a:rPr>
                <a:solidFill>
                  <a:srgbClr val="003B4F"/>
                </a:solidFill>
                <a:latin typeface="Courier"/>
              </a:rPr>
              <a:t>  </a:t>
            </a:r>
            <a:r>
              <a:rPr>
                <a:solidFill>
                  <a:srgbClr val="4758AB"/>
                </a:solidFill>
                <a:latin typeface="Courier"/>
              </a:rPr>
              <a:t>ifelse</a:t>
            </a:r>
            <a:r>
              <a:rPr>
                <a:solidFill>
                  <a:srgbClr val="003B4F"/>
                </a:solidFill>
                <a:latin typeface="Courier"/>
              </a:rPr>
              <a:t>(</a:t>
            </a:r>
            <a:br/>
            <a:r>
              <a:rPr>
                <a:solidFill>
                  <a:srgbClr val="003B4F"/>
                </a:solidFill>
                <a:latin typeface="Courier"/>
              </a:rPr>
              <a:t>    treatments </a:t>
            </a:r>
            <a:r>
              <a:rPr>
                <a:solidFill>
                  <a:srgbClr val="5E5E5E"/>
                </a:solidFill>
                <a:latin typeface="Courier"/>
              </a:rPr>
              <a:t>==</a:t>
            </a:r>
            <a:r>
              <a:rPr>
                <a:solidFill>
                  <a:srgbClr val="003B4F"/>
                </a:solidFill>
                <a:latin typeface="Courier"/>
              </a:rPr>
              <a:t> </a:t>
            </a:r>
            <a:r>
              <a:rPr>
                <a:solidFill>
                  <a:srgbClr val="20794D"/>
                </a:solidFill>
                <a:latin typeface="Courier"/>
              </a:rPr>
              <a:t>"Low Food"</a:t>
            </a:r>
            <a:r>
              <a:rPr>
                <a:solidFill>
                  <a:srgbClr val="003B4F"/>
                </a:solidFill>
                <a:latin typeface="Courier"/>
              </a:rPr>
              <a:t>, </a:t>
            </a:r>
            <a:r>
              <a:rPr>
                <a:solidFill>
                  <a:srgbClr val="AD0000"/>
                </a:solidFill>
                <a:latin typeface="Courier"/>
              </a:rPr>
              <a:t>0.04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0.0005</a:t>
            </a:r>
            <a:r>
              <a:rPr>
                <a:solidFill>
                  <a:srgbClr val="003B4F"/>
                </a:solidFill>
                <a:latin typeface="Courier"/>
              </a:rPr>
              <a:t> </a:t>
            </a:r>
            <a:r>
              <a:rPr>
                <a:solidFill>
                  <a:srgbClr val="5E5E5E"/>
                </a:solidFill>
                <a:latin typeface="Courier"/>
              </a:rPr>
              <a:t>*</a:t>
            </a:r>
            <a:r>
              <a:rPr>
                <a:solidFill>
                  <a:srgbClr val="003B4F"/>
                </a:solidFill>
                <a:latin typeface="Courier"/>
              </a:rPr>
              <a:t> volume,</a:t>
            </a:r>
            <a:br/>
            <a:r>
              <a:rPr>
                <a:solidFill>
                  <a:srgbClr val="003B4F"/>
                </a:solidFill>
                <a:latin typeface="Courier"/>
              </a:rPr>
              <a:t>    </a:t>
            </a:r>
            <a:r>
              <a:rPr>
                <a:solidFill>
                  <a:srgbClr val="AD0000"/>
                </a:solidFill>
                <a:latin typeface="Courier"/>
              </a:rPr>
              <a:t>0.02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0.003</a:t>
            </a:r>
            <a:r>
              <a:rPr>
                <a:solidFill>
                  <a:srgbClr val="003B4F"/>
                </a:solidFill>
                <a:latin typeface="Courier"/>
              </a:rPr>
              <a:t> </a:t>
            </a:r>
            <a:r>
              <a:rPr>
                <a:solidFill>
                  <a:srgbClr val="5E5E5E"/>
                </a:solidFill>
                <a:latin typeface="Courier"/>
              </a:rPr>
              <a:t>*</a:t>
            </a:r>
            <a:r>
              <a:rPr>
                <a:solidFill>
                  <a:srgbClr val="003B4F"/>
                </a:solidFill>
                <a:latin typeface="Courier"/>
              </a:rPr>
              <a:t> volume  </a:t>
            </a:r>
            <a:r>
              <a:rPr>
                <a:solidFill>
                  <a:srgbClr val="5E5E5E"/>
                </a:solidFill>
                <a:latin typeface="Courier"/>
              </a:rPr>
              <a:t># High Food</a:t>
            </a:r>
            <a:br/>
            <a:r>
              <a:rPr>
                <a:solidFill>
                  <a:srgbClr val="003B4F"/>
                </a:solidFill>
                <a:latin typeface="Courier"/>
              </a:rPr>
              <a:t>  )</a:t>
            </a:r>
            <a:b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rnorm</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0.01</a:t>
            </a:r>
            <a:r>
              <a:rPr>
                <a:solidFill>
                  <a:srgbClr val="003B4F"/>
                </a:solidFill>
                <a:latin typeface="Courier"/>
              </a:rPr>
              <a:t>)</a:t>
            </a:r>
            <a:br/>
            <a:br/>
            <a:r>
              <a:rPr>
                <a:solidFill>
                  <a:srgbClr val="003B4F"/>
                </a:solidFill>
                <a:latin typeface="Courier"/>
              </a:rPr>
              <a:t>u_df &lt;- </a:t>
            </a:r>
            <a:r>
              <a:rPr>
                <a:solidFill>
                  <a:srgbClr val="4758AB"/>
                </a:solidFill>
                <a:latin typeface="Courier"/>
              </a:rPr>
              <a:t>data.frame</a:t>
            </a:r>
            <a:r>
              <a:rPr>
                <a:solidFill>
                  <a:srgbClr val="003B4F"/>
                </a:solidFill>
                <a:latin typeface="Courier"/>
              </a:rPr>
              <a:t>(</a:t>
            </a:r>
            <a:r>
              <a:rPr>
                <a:solidFill>
                  <a:srgbClr val="657422"/>
                </a:solidFill>
                <a:latin typeface="Courier"/>
              </a:rPr>
              <a:t>treatment =</a:t>
            </a:r>
            <a:r>
              <a:rPr>
                <a:solidFill>
                  <a:srgbClr val="003B4F"/>
                </a:solidFill>
                <a:latin typeface="Courier"/>
              </a:rPr>
              <a:t> treatments, </a:t>
            </a:r>
            <a:r>
              <a:rPr>
                <a:solidFill>
                  <a:srgbClr val="657422"/>
                </a:solidFill>
                <a:latin typeface="Courier"/>
              </a:rPr>
              <a:t>volume =</a:t>
            </a:r>
            <a:r>
              <a:rPr>
                <a:solidFill>
                  <a:srgbClr val="003B4F"/>
                </a:solidFill>
                <a:latin typeface="Courier"/>
              </a:rPr>
              <a:t> volume, </a:t>
            </a:r>
            <a:r>
              <a:rPr>
                <a:solidFill>
                  <a:srgbClr val="657422"/>
                </a:solidFill>
                <a:latin typeface="Courier"/>
              </a:rPr>
              <a:t>suture_width =</a:t>
            </a:r>
            <a:r>
              <a:rPr>
                <a:solidFill>
                  <a:srgbClr val="003B4F"/>
                </a:solidFill>
                <a:latin typeface="Courier"/>
              </a:rPr>
              <a:t> suture_width)</a:t>
            </a:r>
            <a:br/>
            <a:br/>
            <a:r>
              <a:rPr>
                <a:solidFill>
                  <a:srgbClr val="5E5E5E"/>
                </a:solidFill>
                <a:latin typeface="Courier"/>
              </a:rPr>
              <a:t># Explicitly set "Initial" as the reference level for the factor</a:t>
            </a:r>
            <a:br/>
            <a:r>
              <a:rPr>
                <a:solidFill>
                  <a:srgbClr val="003B4F"/>
                </a:solidFill>
                <a:latin typeface="Courier"/>
              </a:rPr>
              <a:t>u_df</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(u_df</a:t>
            </a:r>
            <a:r>
              <a:rPr>
                <a:solidFill>
                  <a:srgbClr val="5E5E5E"/>
                </a:solidFill>
                <a:latin typeface="Courier"/>
              </a:rPr>
              <a:t>$</a:t>
            </a:r>
            <a:r>
              <a:rPr>
                <a:solidFill>
                  <a:srgbClr val="003B4F"/>
                </a:solidFill>
                <a:latin typeface="Courier"/>
              </a:rPr>
              <a:t>treatment,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"Initial"</a:t>
            </a:r>
            <a:r>
              <a:rPr>
                <a:solidFill>
                  <a:srgbClr val="003B4F"/>
                </a:solidFill>
                <a:latin typeface="Courier"/>
              </a:rPr>
              <a:t>, </a:t>
            </a:r>
            <a:r>
              <a:rPr>
                <a:solidFill>
                  <a:srgbClr val="20794D"/>
                </a:solidFill>
                <a:latin typeface="Courier"/>
              </a:rPr>
              <a:t>"Low Food"</a:t>
            </a:r>
            <a:r>
              <a:rPr>
                <a:solidFill>
                  <a:srgbClr val="003B4F"/>
                </a:solidFill>
                <a:latin typeface="Courier"/>
              </a:rPr>
              <a:t>, </a:t>
            </a:r>
            <a:r>
              <a:rPr>
                <a:solidFill>
                  <a:srgbClr val="20794D"/>
                </a:solidFill>
                <a:latin typeface="Courier"/>
              </a:rPr>
              <a:t>"High Food"</a:t>
            </a:r>
            <a:r>
              <a:rPr>
                <a:solidFill>
                  <a:srgbClr val="003B4F"/>
                </a:solidFill>
                <a:latin typeface="Courier"/>
              </a:rPr>
              <a:t>))</a:t>
            </a:r>
            <a:br/>
            <a:br/>
            <a:r>
              <a:rPr>
                <a:solidFill>
                  <a:srgbClr val="4758AB"/>
                </a:solidFill>
                <a:latin typeface="Courier"/>
              </a:rPr>
              <a:t>ggplot</a:t>
            </a:r>
            <a:r>
              <a:rPr>
                <a:solidFill>
                  <a:srgbClr val="003B4F"/>
                </a:solidFill>
                <a:latin typeface="Courier"/>
              </a:rPr>
              <a:t>(u_df,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volume, </a:t>
            </a:r>
            <a:r>
              <a:rPr>
                <a:solidFill>
                  <a:srgbClr val="657422"/>
                </a:solidFill>
                <a:latin typeface="Courier"/>
              </a:rPr>
              <a:t>y =</a:t>
            </a:r>
            <a:r>
              <a:rPr>
                <a:solidFill>
                  <a:srgbClr val="003B4F"/>
                </a:solidFill>
                <a:latin typeface="Courier"/>
              </a:rPr>
              <a:t> suture_width,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"Cube Root Body Volume"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"Suture Width (mm)"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spcBef>
                <a:spcPts val="3000"/>
              </a:spcBef>
              <a:buNone/>
            </a:pPr>
            <a:r>
              <a:rPr b="1"/>
              <a:t>Test for homogeneity of slopes</a:t>
            </a:r>
          </a:p>
          <a:p>
            <a:pPr lvl="0" indent="0">
              <a:buNone/>
            </a:pPr>
            <a:r>
              <a:rPr>
                <a:solidFill>
                  <a:srgbClr val="003B4F"/>
                </a:solidFill>
                <a:latin typeface="Courier"/>
              </a:rPr>
              <a:t>urchin_model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u_df)</a:t>
            </a:r>
            <a:br/>
            <a:r>
              <a:rPr>
                <a:solidFill>
                  <a:srgbClr val="4758AB"/>
                </a:solidFill>
                <a:latin typeface="Courier"/>
              </a:rPr>
              <a:t>Anova</a:t>
            </a:r>
            <a:r>
              <a:rPr>
                <a:solidFill>
                  <a:srgbClr val="003B4F"/>
                </a:solidFill>
                <a:latin typeface="Courier"/>
              </a:rPr>
              <a:t>(urchin_model,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r>
              <a:rPr b="1"/>
              <a:t>Result:</a:t>
            </a:r>
            <a:r>
              <a:rPr/>
              <a:t> With p &lt; 0.05, we have heterogeneous slopes! Standard ANCOVA is inappropriate here.</a:t>
            </a:r>
          </a:p>
          <a:p>
            <a:pPr lvl="0" indent="0" marL="0">
              <a:spcBef>
                <a:spcPts val="3000"/>
              </a:spcBef>
              <a:buNone/>
            </a:pPr>
            <a:r>
              <a:rPr b="1"/>
              <a:t>What to do with heterogeneous slopes</a:t>
            </a:r>
          </a:p>
          <a:p>
            <a:pPr lvl="0" indent="0" marL="0">
              <a:buNone/>
            </a:pPr>
            <a:r>
              <a:rPr/>
              <a:t>When slopes are not homogeneous, you have several options.</a:t>
            </a:r>
          </a:p>
          <a:p>
            <a:pPr lvl="0" indent="0" marL="0">
              <a:buNone/>
            </a:pPr>
            <a:r>
              <a:rPr b="1"/>
              <a:t>Option 1 — Analyze groups separately:</a:t>
            </a:r>
          </a:p>
          <a:p>
            <a:pPr lvl="0" indent="0">
              <a:buNone/>
            </a:pPr>
            <a:r>
              <a:rPr>
                <a:solidFill>
                  <a:srgbClr val="003B4F"/>
                </a:solidFill>
                <a:latin typeface="Courier"/>
              </a:rPr>
              <a:t>initial_model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657422"/>
                </a:solidFill>
                <a:latin typeface="Courier"/>
              </a:rPr>
              <a:t>data =</a:t>
            </a:r>
            <a:r>
              <a:rPr>
                <a:solidFill>
                  <a:srgbClr val="003B4F"/>
                </a:solidFill>
                <a:latin typeface="Courier"/>
              </a:rPr>
              <a:t> </a:t>
            </a:r>
            <a:r>
              <a:rPr>
                <a:solidFill>
                  <a:srgbClr val="4758AB"/>
                </a:solidFill>
                <a:latin typeface="Courier"/>
              </a:rPr>
              <a:t>filter</a:t>
            </a:r>
            <a:r>
              <a:rPr>
                <a:solidFill>
                  <a:srgbClr val="003B4F"/>
                </a:solidFill>
                <a:latin typeface="Courier"/>
              </a:rPr>
              <a:t>(u_df, treatment </a:t>
            </a:r>
            <a:r>
              <a:rPr>
                <a:solidFill>
                  <a:srgbClr val="5E5E5E"/>
                </a:solidFill>
                <a:latin typeface="Courier"/>
              </a:rPr>
              <a:t>==</a:t>
            </a:r>
            <a:r>
              <a:rPr>
                <a:solidFill>
                  <a:srgbClr val="003B4F"/>
                </a:solidFill>
                <a:latin typeface="Courier"/>
              </a:rPr>
              <a:t> </a:t>
            </a:r>
            <a:r>
              <a:rPr>
                <a:solidFill>
                  <a:srgbClr val="20794D"/>
                </a:solidFill>
                <a:latin typeface="Courier"/>
              </a:rPr>
              <a:t>"Initial"</a:t>
            </a:r>
            <a:r>
              <a:rPr>
                <a:solidFill>
                  <a:srgbClr val="003B4F"/>
                </a:solidFill>
                <a:latin typeface="Courier"/>
              </a:rPr>
              <a:t>))</a:t>
            </a:r>
            <a:br/>
            <a:r>
              <a:rPr>
                <a:solidFill>
                  <a:srgbClr val="003B4F"/>
                </a:solidFill>
                <a:latin typeface="Courier"/>
              </a:rPr>
              <a:t>low_food_model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657422"/>
                </a:solidFill>
                <a:latin typeface="Courier"/>
              </a:rPr>
              <a:t>data =</a:t>
            </a:r>
            <a:r>
              <a:rPr>
                <a:solidFill>
                  <a:srgbClr val="003B4F"/>
                </a:solidFill>
                <a:latin typeface="Courier"/>
              </a:rPr>
              <a:t> </a:t>
            </a:r>
            <a:r>
              <a:rPr>
                <a:solidFill>
                  <a:srgbClr val="4758AB"/>
                </a:solidFill>
                <a:latin typeface="Courier"/>
              </a:rPr>
              <a:t>filter</a:t>
            </a:r>
            <a:r>
              <a:rPr>
                <a:solidFill>
                  <a:srgbClr val="003B4F"/>
                </a:solidFill>
                <a:latin typeface="Courier"/>
              </a:rPr>
              <a:t>(u_df, treatment </a:t>
            </a:r>
            <a:r>
              <a:rPr>
                <a:solidFill>
                  <a:srgbClr val="5E5E5E"/>
                </a:solidFill>
                <a:latin typeface="Courier"/>
              </a:rPr>
              <a:t>==</a:t>
            </a:r>
            <a:r>
              <a:rPr>
                <a:solidFill>
                  <a:srgbClr val="003B4F"/>
                </a:solidFill>
                <a:latin typeface="Courier"/>
              </a:rPr>
              <a:t> </a:t>
            </a:r>
            <a:r>
              <a:rPr>
                <a:solidFill>
                  <a:srgbClr val="20794D"/>
                </a:solidFill>
                <a:latin typeface="Courier"/>
              </a:rPr>
              <a:t>"Low Food"</a:t>
            </a:r>
            <a:r>
              <a:rPr>
                <a:solidFill>
                  <a:srgbClr val="003B4F"/>
                </a:solidFill>
                <a:latin typeface="Courier"/>
              </a:rPr>
              <a:t>))</a:t>
            </a:r>
            <a:br/>
            <a:r>
              <a:rPr>
                <a:solidFill>
                  <a:srgbClr val="003B4F"/>
                </a:solidFill>
                <a:latin typeface="Courier"/>
              </a:rPr>
              <a:t>high_food_model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657422"/>
                </a:solidFill>
                <a:latin typeface="Courier"/>
              </a:rPr>
              <a:t>data =</a:t>
            </a:r>
            <a:r>
              <a:rPr>
                <a:solidFill>
                  <a:srgbClr val="003B4F"/>
                </a:solidFill>
                <a:latin typeface="Courier"/>
              </a:rPr>
              <a:t> </a:t>
            </a:r>
            <a:r>
              <a:rPr>
                <a:solidFill>
                  <a:srgbClr val="4758AB"/>
                </a:solidFill>
                <a:latin typeface="Courier"/>
              </a:rPr>
              <a:t>filter</a:t>
            </a:r>
            <a:r>
              <a:rPr>
                <a:solidFill>
                  <a:srgbClr val="003B4F"/>
                </a:solidFill>
                <a:latin typeface="Courier"/>
              </a:rPr>
              <a:t>(u_df, treatment </a:t>
            </a:r>
            <a:r>
              <a:rPr>
                <a:solidFill>
                  <a:srgbClr val="5E5E5E"/>
                </a:solidFill>
                <a:latin typeface="Courier"/>
              </a:rPr>
              <a:t>==</a:t>
            </a:r>
            <a:r>
              <a:rPr>
                <a:solidFill>
                  <a:srgbClr val="003B4F"/>
                </a:solidFill>
                <a:latin typeface="Courier"/>
              </a:rPr>
              <a:t> </a:t>
            </a:r>
            <a:r>
              <a:rPr>
                <a:solidFill>
                  <a:srgbClr val="20794D"/>
                </a:solidFill>
                <a:latin typeface="Courier"/>
              </a:rPr>
              <a:t>"High Food"</a:t>
            </a:r>
            <a:r>
              <a:rPr>
                <a:solidFill>
                  <a:srgbClr val="003B4F"/>
                </a:solidFill>
                <a:latin typeface="Courier"/>
              </a:rPr>
              <a:t>))</a:t>
            </a:r>
            <a:br/>
            <a:br/>
            <a:r>
              <a:rPr>
                <a:solidFill>
                  <a:srgbClr val="003B4F"/>
                </a:solidFill>
                <a:latin typeface="Courier"/>
              </a:rPr>
              <a:t>initial_model</a:t>
            </a:r>
            <a:br/>
            <a:r>
              <a:rPr>
                <a:solidFill>
                  <a:srgbClr val="003B4F"/>
                </a:solidFill>
                <a:latin typeface="Courier"/>
              </a:rPr>
              <a:t>low_food_model</a:t>
            </a:r>
            <a:br/>
            <a:r>
              <a:rPr>
                <a:solidFill>
                  <a:srgbClr val="003B4F"/>
                </a:solidFill>
                <a:latin typeface="Courier"/>
              </a:rPr>
              <a:t>high_food_model</a:t>
            </a:r>
          </a:p>
          <a:p>
            <a:pPr lvl="0" indent="0" marL="0">
              <a:buNone/>
            </a:pPr>
            <a:r>
              <a:rPr b="1"/>
              <a:t>Option 2 — Johnson-Neyman procedure:</a:t>
            </a:r>
            <a:r>
              <a:rPr/>
              <a:t> identifies the specific regions of the covariate where groups do (and do not) significantly differ.</a:t>
            </a:r>
          </a:p>
          <a:p>
            <a:pPr lvl="0" indent="0">
              <a:buNone/>
            </a:pPr>
            <a:r>
              <a:rPr>
                <a:solidFill>
                  <a:srgbClr val="4758AB"/>
                </a:solidFill>
                <a:latin typeface="Courier"/>
              </a:rPr>
              <a:t>library</a:t>
            </a:r>
            <a:r>
              <a:rPr>
                <a:solidFill>
                  <a:srgbClr val="003B4F"/>
                </a:solidFill>
                <a:latin typeface="Courier"/>
              </a:rPr>
              <a:t>(interactions)</a:t>
            </a:r>
            <a:br/>
            <a:r>
              <a:rPr>
                <a:solidFill>
                  <a:srgbClr val="003B4F"/>
                </a:solidFill>
                <a:latin typeface="Courier"/>
              </a:rPr>
              <a:t>jn_model &lt;- </a:t>
            </a:r>
            <a:r>
              <a:rPr>
                <a:solidFill>
                  <a:srgbClr val="4758AB"/>
                </a:solidFill>
                <a:latin typeface="Courier"/>
              </a:rPr>
              <a:t>lm</a:t>
            </a:r>
            <a:r>
              <a:rPr>
                <a:solidFill>
                  <a:srgbClr val="003B4F"/>
                </a:solidFill>
                <a:latin typeface="Courier"/>
              </a:rPr>
              <a:t>(suture_width </a:t>
            </a:r>
            <a:r>
              <a:rPr>
                <a:solidFill>
                  <a:srgbClr val="5E5E5E"/>
                </a:solidFill>
                <a:latin typeface="Courier"/>
              </a:rPr>
              <a:t>~</a:t>
            </a:r>
            <a:r>
              <a:rPr>
                <a:solidFill>
                  <a:srgbClr val="003B4F"/>
                </a:solidFill>
                <a:latin typeface="Courier"/>
              </a:rPr>
              <a:t> volume </a:t>
            </a:r>
            <a:r>
              <a:rPr>
                <a:solidFill>
                  <a:srgbClr val="5E5E5E"/>
                </a:solidFill>
                <a:latin typeface="Courier"/>
              </a:rPr>
              <a:t>+</a:t>
            </a:r>
            <a:r>
              <a:rPr>
                <a:solidFill>
                  <a:srgbClr val="003B4F"/>
                </a:solidFill>
                <a:latin typeface="Courier"/>
              </a:rPr>
              <a:t> treatment </a:t>
            </a:r>
            <a:r>
              <a:rPr>
                <a:solidFill>
                  <a:srgbClr val="5E5E5E"/>
                </a:solidFill>
                <a:latin typeface="Courier"/>
              </a:rPr>
              <a:t>+</a:t>
            </a:r>
            <a:r>
              <a:rPr>
                <a:solidFill>
                  <a:srgbClr val="003B4F"/>
                </a:solidFill>
                <a:latin typeface="Courier"/>
              </a:rPr>
              <a:t> volume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u_df)</a:t>
            </a:r>
            <a:br/>
            <a:br/>
            <a:r>
              <a:rPr>
                <a:solidFill>
                  <a:srgbClr val="5E5E5E"/>
                </a:solidFill>
                <a:latin typeface="Courier"/>
              </a:rPr>
              <a:t># pred = "volume" (the continuous moderator)</a:t>
            </a:r>
            <a:br/>
            <a:r>
              <a:rPr>
                <a:solidFill>
                  <a:srgbClr val="5E5E5E"/>
                </a:solidFill>
                <a:latin typeface="Courier"/>
              </a:rPr>
              <a:t># modx = "treatment" (the categorical predictor)</a:t>
            </a:r>
            <a:br/>
            <a:r>
              <a:rPr>
                <a:solidFill>
                  <a:srgbClr val="4758AB"/>
                </a:solidFill>
                <a:latin typeface="Courier"/>
              </a:rPr>
              <a:t>sim_slopes</a:t>
            </a:r>
            <a:r>
              <a:rPr>
                <a:solidFill>
                  <a:srgbClr val="003B4F"/>
                </a:solidFill>
                <a:latin typeface="Courier"/>
              </a:rPr>
              <a:t>(jn_model,</a:t>
            </a:r>
            <a:br/>
            <a:r>
              <a:rPr>
                <a:solidFill>
                  <a:srgbClr val="003B4F"/>
                </a:solidFill>
                <a:latin typeface="Courier"/>
              </a:rPr>
              <a:t>           </a:t>
            </a:r>
            <a:r>
              <a:rPr>
                <a:solidFill>
                  <a:srgbClr val="657422"/>
                </a:solidFill>
                <a:latin typeface="Courier"/>
              </a:rPr>
              <a:t>pred =</a:t>
            </a:r>
            <a:r>
              <a:rPr>
                <a:solidFill>
                  <a:srgbClr val="003B4F"/>
                </a:solidFill>
                <a:latin typeface="Courier"/>
              </a:rPr>
              <a:t> </a:t>
            </a:r>
            <a:r>
              <a:rPr>
                <a:solidFill>
                  <a:srgbClr val="20794D"/>
                </a:solidFill>
                <a:latin typeface="Courier"/>
              </a:rPr>
              <a:t>"volume"</a:t>
            </a:r>
            <a:r>
              <a:rPr>
                <a:solidFill>
                  <a:srgbClr val="003B4F"/>
                </a:solidFill>
                <a:latin typeface="Courier"/>
              </a:rPr>
              <a:t>,</a:t>
            </a:r>
            <a:br/>
            <a:r>
              <a:rPr>
                <a:solidFill>
                  <a:srgbClr val="003B4F"/>
                </a:solidFill>
                <a:latin typeface="Courier"/>
              </a:rPr>
              <a:t>           </a:t>
            </a:r>
            <a:r>
              <a:rPr>
                <a:solidFill>
                  <a:srgbClr val="657422"/>
                </a:solidFill>
                <a:latin typeface="Courier"/>
              </a:rPr>
              <a:t>modx =</a:t>
            </a:r>
            <a:r>
              <a:rPr>
                <a:solidFill>
                  <a:srgbClr val="003B4F"/>
                </a:solidFill>
                <a:latin typeface="Courier"/>
              </a:rPr>
              <a:t> </a:t>
            </a:r>
            <a:r>
              <a:rPr>
                <a:solidFill>
                  <a:srgbClr val="20794D"/>
                </a:solidFill>
                <a:latin typeface="Courier"/>
              </a:rPr>
              <a:t>"treatment"</a:t>
            </a:r>
            <a:r>
              <a:rPr>
                <a:solidFill>
                  <a:srgbClr val="003B4F"/>
                </a:solidFill>
                <a:latin typeface="Courier"/>
              </a:rPr>
              <a:t>,</a:t>
            </a:r>
            <a:br/>
            <a:r>
              <a:rPr>
                <a:solidFill>
                  <a:srgbClr val="003B4F"/>
                </a:solidFill>
                <a:latin typeface="Courier"/>
              </a:rPr>
              <a:t>           </a:t>
            </a:r>
            <a:r>
              <a:rPr>
                <a:solidFill>
                  <a:srgbClr val="657422"/>
                </a:solidFill>
                <a:latin typeface="Courier"/>
              </a:rPr>
              <a:t>johnson_neyman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Based on the Johnson-Neyman output, over what range of </a:t>
            </a:r>
            <a:r>
              <a:rPr>
                <a:latin typeface="Courier"/>
              </a:rPr>
              <a:t>volume</a:t>
            </a:r>
            <a:r>
              <a:rPr/>
              <a:t> (if any) do the treatment groups differ significantly? </a:t>
            </a:r>
            <a:r>
              <a:rPr>
                <a:latin typeface="Courier"/>
              </a:rPr>
              <a:t>________________________</a:t>
            </a:r>
          </a:p>
          <a:p>
            <a:pPr lvl="0" indent="0" marL="1270000">
              <a:buNone/>
            </a:pPr>
            <a:r>
              <a:rPr sz="2000" b="1"/>
              <a:t>Tip</a:t>
            </a:r>
          </a:p>
          <a:p>
            <a:pPr lvl="0" indent="0" marL="1270000">
              <a:buNone/>
            </a:pPr>
            <a:r>
              <a:rPr sz="2000" b="1"/>
              <a:t>🚀 If you finish early:</a:t>
            </a:r>
            <a:r>
              <a:rPr sz="2000"/>
              <a:t> Try </a:t>
            </a:r>
            <a:r>
              <a:rPr sz="2000">
                <a:latin typeface="Courier"/>
              </a:rPr>
              <a:t>emtrends(urchin_model, "treatment", var = "volume")</a:t>
            </a:r>
            <a:r>
              <a:rPr sz="2000"/>
              <a:t> to get the estimated slope for each treatment group directly, instead of fitting three separate models.</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ANCOVA</a:t>
            </a:r>
          </a:p>
        </p:txBody>
      </p:sp>
      <p:sp>
        <p:nvSpPr>
          <p:cNvPr id="3" name="Content Placeholder 2"/>
          <p:cNvSpPr>
            <a:spLocks noGrp="1"/>
          </p:cNvSpPr>
          <p:nvPr>
            <p:ph idx="1"/>
          </p:nvPr>
        </p:nvSpPr>
        <p:spPr/>
        <p:txBody>
          <a:bodyPr/>
          <a:lstStyle/>
          <a:p>
            <a:pPr lvl="0" indent="0" marL="0">
              <a:buNone/>
            </a:pPr>
            <a:r>
              <a:rPr/>
              <a:t>When conducting ANCOVA, always follow these steps:</a:t>
            </a:r>
          </a:p>
          <a:p>
            <a:pPr lvl="0" indent="0" marL="1270000">
              <a:buNone/>
            </a:pPr>
            <a:r>
              <a:rPr sz="2000" b="1"/>
              <a:t>Tip</a:t>
            </a:r>
          </a:p>
          <a:p>
            <a:pPr lvl="0" indent="0" marL="1270000">
              <a:buNone/>
            </a:pPr>
            <a:r>
              <a:rPr sz="2000" b="1"/>
              <a:t>ANCOVA checklist</a:t>
            </a:r>
          </a:p>
          <a:p>
            <a:pPr lvl="0" indent="-342900" marL="342900">
              <a:buAutoNum type="arabicPeriod"/>
            </a:pPr>
            <a:r>
              <a:rPr sz="2000" b="1"/>
              <a:t>Visualize your data</a:t>
            </a:r>
            <a:r>
              <a:rPr sz="2000"/>
              <a:t> — plot response vs covariate, colored by group.</a:t>
            </a:r>
          </a:p>
          <a:p>
            <a:pPr lvl="0" indent="-342900" marL="342900">
              <a:buAutoNum type="arabicPeriod"/>
            </a:pPr>
            <a:r>
              <a:rPr sz="2000" b="1"/>
              <a:t>Test homogeneity of slopes</a:t>
            </a:r>
            <a:r>
              <a:rPr sz="2000"/>
              <a:t> — fit a model with an interaction term.</a:t>
            </a:r>
          </a:p>
          <a:p>
            <a:pPr lvl="1"/>
            <a:r>
              <a:rPr sz="2000"/>
              <a:t>If p &gt; 0.05: proceed with ANCOVA.</a:t>
            </a:r>
          </a:p>
          <a:p>
            <a:pPr lvl="1"/>
            <a:r>
              <a:rPr sz="2000"/>
              <a:t>If p &lt; 0.05: use alternative approaches (Johnson-Neyman, separate regressions).</a:t>
            </a:r>
          </a:p>
          <a:p>
            <a:pPr lvl="0" indent="-342900" marL="342900">
              <a:buAutoNum type="arabicPeriod"/>
            </a:pPr>
            <a:r>
              <a:rPr sz="2000" b="1"/>
              <a:t>Fit the ANCOVA model</a:t>
            </a:r>
            <a:r>
              <a:rPr sz="2000"/>
              <a:t> — </a:t>
            </a:r>
            <a:r>
              <a:rPr sz="2000">
                <a:latin typeface="Courier"/>
              </a:rPr>
              <a:t>response ~ covariate + factor</a:t>
            </a:r>
            <a:r>
              <a:rPr sz="2000"/>
              <a:t>.</a:t>
            </a:r>
          </a:p>
          <a:p>
            <a:pPr lvl="0" indent="-342900" marL="342900">
              <a:buAutoNum type="arabicPeriod"/>
            </a:pPr>
            <a:r>
              <a:rPr sz="2000" b="1"/>
              <a:t>Check assumptions</a:t>
            </a:r>
            <a:r>
              <a:rPr sz="2000"/>
              <a:t> — use diagnostic plots.</a:t>
            </a:r>
          </a:p>
          <a:p>
            <a:pPr lvl="0" indent="-342900" marL="342900">
              <a:buAutoNum type="arabicPeriod"/>
            </a:pPr>
            <a:r>
              <a:rPr sz="2000" b="1"/>
              <a:t>Interpret results</a:t>
            </a:r>
            <a:r>
              <a:rPr sz="2000"/>
              <a:t> — focus on adjusted means, not raw means.</a:t>
            </a:r>
          </a:p>
          <a:p>
            <a:pPr lvl="0" indent="-342900" marL="342900">
              <a:buAutoNum type="arabicPeriod"/>
            </a:pPr>
            <a:r>
              <a:rPr sz="2000" b="1"/>
              <a:t>Conduct post-hoc tests</a:t>
            </a:r>
            <a:r>
              <a:rPr sz="2000"/>
              <a:t> — pairwise comparisons if needed.</a:t>
            </a:r>
          </a:p>
          <a:p>
            <a:pPr lvl="0" indent="-342900" marL="342900">
              <a:buAutoNum type="arabicPeriod"/>
            </a:pPr>
            <a:r>
              <a:rPr sz="2000" b="1"/>
              <a:t>Visualize results</a:t>
            </a:r>
            <a:r>
              <a:rPr sz="2000"/>
              <a:t> — show adjusted means with confidence intervals.</a:t>
            </a:r>
          </a:p>
          <a:p>
            <a:pPr lvl="0" indent="0" marL="0">
              <a:buNone/>
            </a:pPr>
            <a:r>
              <a:rPr b="1"/>
              <a:t>Key points to remember:</a:t>
            </a:r>
          </a:p>
          <a:p>
            <a:pPr lvl="0"/>
            <a:r>
              <a:rPr b="1"/>
              <a:t>ANCOVA increases power</a:t>
            </a:r>
            <a:r>
              <a:rPr/>
              <a:t> by accounting for covariate variation.</a:t>
            </a:r>
          </a:p>
          <a:p>
            <a:pPr lvl="0"/>
            <a:r>
              <a:rPr b="1"/>
              <a:t>Adjusted means</a:t>
            </a:r>
            <a:r>
              <a:rPr/>
              <a:t> are what we compare, not raw group means.</a:t>
            </a:r>
          </a:p>
          <a:p>
            <a:pPr lvl="0"/>
            <a:r>
              <a:rPr b="1"/>
              <a:t>Homogeneity of slopes</a:t>
            </a:r>
            <a:r>
              <a:rPr/>
              <a:t> is the most critical assumption.</a:t>
            </a:r>
          </a:p>
          <a:p>
            <a:pPr lvl="0"/>
            <a:r>
              <a:rPr b="1"/>
              <a:t>Parallel lines</a:t>
            </a:r>
            <a:r>
              <a:rPr/>
              <a:t> in the plot suggest homogeneous slopes.</a:t>
            </a:r>
          </a:p>
          <a:p>
            <a:pPr lvl="0"/>
            <a:r>
              <a:rPr b="1"/>
              <a:t>Non-parallel lines</a:t>
            </a:r>
            <a:r>
              <a:rPr/>
              <a:t> indicate heterogeneous slopes — use alternative methods.</a:t>
            </a:r>
          </a:p>
          <a:p>
            <a:pPr lvl="0" indent="0" marL="1270000">
              <a:buNone/>
            </a:pPr>
            <a:r>
              <a:rPr sz="2000" b="1"/>
              <a:t>Important</a:t>
            </a:r>
          </a:p>
          <a:p>
            <a:pPr lvl="0" indent="0" marL="1270000">
              <a:buNone/>
            </a:pPr>
            <a:r>
              <a:rPr sz="2000" b="1"/>
              <a:t>Key points from ANCOVA analysis</a:t>
            </a:r>
          </a:p>
          <a:p>
            <a:pPr lvl="0" indent="-342900" marL="342900">
              <a:buAutoNum type="arabicPeriod"/>
            </a:pPr>
            <a:r>
              <a:rPr sz="2000" b="1"/>
              <a:t>Test homogeneity of slopes first</a:t>
            </a:r>
            <a:r>
              <a:rPr sz="2000"/>
              <a:t> — the most critical assumption.</a:t>
            </a:r>
          </a:p>
          <a:p>
            <a:pPr lvl="0" indent="-342900" marL="342900">
              <a:buAutoNum type="arabicPeriod"/>
            </a:pPr>
            <a:r>
              <a:rPr sz="2000" b="1"/>
              <a:t>ANCOVA compares adjusted means</a:t>
            </a:r>
            <a:r>
              <a:rPr sz="2000"/>
              <a:t> at the mean value of the covariate.</a:t>
            </a:r>
          </a:p>
          <a:p>
            <a:pPr lvl="0" indent="-342900" marL="342900">
              <a:buAutoNum type="arabicPeriod"/>
            </a:pPr>
            <a:r>
              <a:rPr sz="2000" b="1"/>
              <a:t>Increases statistical power</a:t>
            </a:r>
            <a:r>
              <a:rPr sz="2000"/>
              <a:t> by removing variation due to the covariate.</a:t>
            </a:r>
          </a:p>
          <a:p>
            <a:pPr lvl="0" indent="-342900" marL="342900">
              <a:buAutoNum type="arabicPeriod"/>
            </a:pPr>
            <a:r>
              <a:rPr sz="2000" b="1"/>
              <a:t>Choose appropriate methods</a:t>
            </a:r>
            <a:r>
              <a:rPr sz="2000"/>
              <a:t> based on whether slopes are homogeneous.</a:t>
            </a:r>
          </a:p>
          <a:p>
            <a:pPr lvl="0" indent="-342900" marL="342900">
              <a:buAutoNum type="arabicPeriod"/>
            </a:pPr>
            <a:r>
              <a:rPr sz="2000" b="1"/>
              <a:t>Visualize your results</a:t>
            </a:r>
            <a:r>
              <a:rPr sz="2000"/>
              <a:t> showing the relationship between variables.</a:t>
            </a:r>
          </a:p>
          <a:p>
            <a:pPr lvl="0" indent="-342900" marL="342900">
              <a:buAutoNum type="arabicPeriod"/>
            </a:pPr>
            <a:r>
              <a:rPr sz="2000" b="1"/>
              <a:t>Check all assumptions</a:t>
            </a:r>
            <a:r>
              <a:rPr sz="2000"/>
              <a:t> using diagnostic plots.</a:t>
            </a:r>
          </a:p>
          <a:p>
            <a:pPr lvl="0" indent="-342900" marL="342900">
              <a:buAutoNum type="arabicPeriod"/>
            </a:pPr>
            <a:r>
              <a:rPr sz="2000" b="1"/>
              <a:t>Interpret in biological context</a:t>
            </a:r>
            <a:r>
              <a:rPr sz="2000"/>
              <a:t> — what do the adjusted means tell us?</a:t>
            </a:r>
          </a:p>
          <a:p>
            <a:pPr lvl="0" indent="0" marL="1270000">
              <a:buNone/>
            </a:pPr>
            <a:r>
              <a:rPr sz="2000"/>
              <a:t>Remember: the covariate should be measured independently of the treatment and should not be affected by the treatment itself!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Explain what ANCOVA is and when to use it</a:t>
            </a:r>
          </a:p>
          <a:p>
            <a:pPr lvl="0"/>
            <a:r>
              <a:rPr/>
              <a:t>☐ Test for homogeneity of slopes before running an ANCOVA</a:t>
            </a:r>
          </a:p>
          <a:p>
            <a:pPr lvl="0"/>
            <a:r>
              <a:rPr/>
              <a:t>☐ Fit an additive ANCOVA model and interpret its ANOVA table</a:t>
            </a:r>
          </a:p>
          <a:p>
            <a:pPr lvl="0"/>
            <a:r>
              <a:rPr/>
              <a:t>☐ Calculate and compare adjusted (estimated marginal) means</a:t>
            </a:r>
          </a:p>
          <a:p>
            <a:pPr lvl="0"/>
            <a:r>
              <a:rPr/>
              <a:t>☐ Recognize when slopes are heterogeneous and know the alternatives (Johnson-Neyman, separate regressions)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08_ancova.R</a:t>
            </a:r>
            <a:r>
              <a:rPr sz="2000"/>
              <a:t>)</a:t>
            </a:r>
          </a:p>
          <a:p>
            <a:pPr lvl="0" indent="-342900" marL="342900">
              <a:buAutoNum type="arabicPeriod"/>
            </a:pPr>
            <a:r>
              <a:rPr sz="2000"/>
              <a:t>This worksheet, with your written answers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Take-Home Extension — Real Cricket Chirp Data</a:t>
            </a:r>
          </a:p>
        </p:txBody>
      </p:sp>
      <p:sp>
        <p:nvSpPr>
          <p:cNvPr id="3" name="Content Placeholder 2"/>
          <p:cNvSpPr>
            <a:spLocks noGrp="1"/>
          </p:cNvSpPr>
          <p:nvPr>
            <p:ph idx="1"/>
          </p:nvPr>
        </p:nvSpPr>
        <p:spPr/>
        <p:txBody>
          <a:bodyPr/>
          <a:lstStyle/>
          <a:p>
            <a:pPr lvl="0" indent="0" marL="0">
              <a:buNone/>
            </a:pPr>
            <a:r>
              <a:rPr i="1"/>
              <a:t>Due Wednesday, November 25 — before the Multivariate Statistics class.</a:t>
            </a:r>
          </a:p>
          <a:p>
            <a:pPr lvl="0" indent="0" marL="0">
              <a:buNone/>
            </a:pPr>
            <a:r>
              <a:rPr/>
              <a:t>Part 1 used simulated cricket data to introduce ANCOVA. Below is real data on the same question — two cricket species, chirp rate vs. temperature — from Walker’s classic study. Same workflow, real noise, and this time you decide whether standard ANCOVA is even appropriate before you run it.</a:t>
            </a:r>
          </a:p>
          <a:p>
            <a:pPr lvl="0" indent="0" marL="0">
              <a:buNone/>
            </a:pPr>
            <a:r>
              <a:rPr b="1"/>
              <a:t>▶ Run this:</a:t>
            </a:r>
          </a:p>
          <a:p>
            <a:pPr lvl="0" indent="0">
              <a:buNone/>
            </a:pPr>
            <a:r>
              <a:rPr>
                <a:solidFill>
                  <a:srgbClr val="003B4F"/>
                </a:solidFill>
                <a:latin typeface="Courier"/>
              </a:rPr>
              <a:t>cricket_df &lt;- </a:t>
            </a:r>
            <a:r>
              <a:rPr>
                <a:solidFill>
                  <a:srgbClr val="4758AB"/>
                </a:solidFill>
                <a:latin typeface="Courier"/>
              </a:rPr>
              <a:t>read_csv</a:t>
            </a:r>
            <a:r>
              <a:rPr>
                <a:solidFill>
                  <a:srgbClr val="003B4F"/>
                </a:solidFill>
                <a:latin typeface="Courier"/>
              </a:rPr>
              <a:t>(</a:t>
            </a:r>
            <a:r>
              <a:rPr>
                <a:solidFill>
                  <a:srgbClr val="20794D"/>
                </a:solidFill>
                <a:latin typeface="Courier"/>
              </a:rPr>
              <a:t>"data/walker_cricket_chirp_rate.csv"</a:t>
            </a:r>
            <a:r>
              <a:rPr>
                <a:solidFill>
                  <a:srgbClr val="003B4F"/>
                </a:solidFill>
                <a:latin typeface="Courier"/>
              </a:rPr>
              <a:t>)</a:t>
            </a:r>
            <a:br/>
            <a:r>
              <a:rPr>
                <a:solidFill>
                  <a:srgbClr val="4758AB"/>
                </a:solidFill>
                <a:latin typeface="Courier"/>
              </a:rPr>
              <a:t>head</a:t>
            </a:r>
            <a:r>
              <a:rPr>
                <a:solidFill>
                  <a:srgbClr val="003B4F"/>
                </a:solidFill>
                <a:latin typeface="Courier"/>
              </a:rPr>
              <a:t>(cricket_df)</a:t>
            </a:r>
            <a:br/>
            <a:br/>
            <a:r>
              <a:rPr>
                <a:solidFill>
                  <a:srgbClr val="4758AB"/>
                </a:solidFill>
                <a:latin typeface="Courier"/>
              </a:rPr>
              <a:t>ggplot</a:t>
            </a:r>
            <a:r>
              <a:rPr>
                <a:solidFill>
                  <a:srgbClr val="003B4F"/>
                </a:solidFill>
                <a:latin typeface="Courier"/>
              </a:rPr>
              <a:t>(cricket_df,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temp, </a:t>
            </a:r>
            <a:r>
              <a:rPr>
                <a:solidFill>
                  <a:srgbClr val="657422"/>
                </a:solidFill>
                <a:latin typeface="Courier"/>
              </a:rPr>
              <a:t>y =</a:t>
            </a:r>
            <a:r>
              <a:rPr>
                <a:solidFill>
                  <a:srgbClr val="003B4F"/>
                </a:solidFill>
                <a:latin typeface="Courier"/>
              </a:rPr>
              <a:t> pulse,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a:t>
            </a:r>
          </a:p>
          <a:p>
            <a:pPr lvl="0" indent="0" marL="0">
              <a:spcBef>
                <a:spcPts val="3000"/>
              </a:spcBef>
              <a:buNone/>
            </a:pPr>
            <a:r>
              <a:rPr b="1"/>
              <a:t>Your Task</a:t>
            </a:r>
          </a:p>
          <a:p>
            <a:pPr lvl="0" indent="0" marL="0">
              <a:buNone/>
            </a:pPr>
            <a:r>
              <a:rPr b="1"/>
              <a:t>Question:</a:t>
            </a:r>
            <a:r>
              <a:rPr/>
              <a:t> Does chirp rate (</a:t>
            </a:r>
            <a:r>
              <a:rPr>
                <a:latin typeface="Courier"/>
              </a:rPr>
              <a:t>pulse</a:t>
            </a:r>
            <a:r>
              <a:rPr/>
              <a:t>) differ between the two cricket species after accounting for temperature (</a:t>
            </a:r>
            <a:r>
              <a:rPr>
                <a:latin typeface="Courier"/>
              </a:rPr>
              <a:t>temp</a:t>
            </a:r>
            <a:r>
              <a:rPr/>
              <a:t>)?</a:t>
            </a:r>
          </a:p>
          <a:p>
            <a:pPr lvl="0" indent="0" marL="0">
              <a:buNone/>
            </a:pPr>
            <a:r>
              <a:rPr/>
              <a:t>✏️ </a:t>
            </a:r>
            <a:r>
              <a:rPr b="1"/>
              <a:t>Your turn:</a:t>
            </a:r>
            <a:r>
              <a:rPr/>
              <a:t> State your hypotheses. Test the homogeneity-of-slopes assumption yourself and decide whether standard (additive) ANCOVA is appropriate, or whether you need to keep the interaction and report separate slopes instead. Justify your choice, fit the model, check the remaining assumptions, interpret it, and report the result properly.</a:t>
            </a:r>
          </a:p>
          <a:p>
            <a:pPr lvl="0" indent="0">
              <a:buNone/>
            </a:pPr>
            <a:r>
              <a:rPr>
                <a:latin typeface="Courier"/>
              </a:rPr>
              <a:t>H0 =
________________________________________________________
Ha =
________________________________________________________
Model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a:t>
            </a:r>
          </a:p>
          <a:p>
            <a:pPr lvl="0" indent="0" marL="0">
              <a:spcBef>
                <a:spcPts val="3000"/>
              </a:spcBef>
              <a:buNone/>
            </a:pPr>
            <a:r>
              <a:rPr b="1"/>
              <a:t>Final Figure</a:t>
            </a:r>
          </a:p>
          <a:p>
            <a:pPr lvl="0" indent="0" marL="0">
              <a:buNone/>
            </a:pPr>
            <a:r>
              <a:rPr/>
              <a:t>Produce one publication-quality figure showing chirp rate vs. temperature by species (adjusted means with confidence intervals, or the raw regression lines — whichever fits your model from above)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Nov 25</a:t>
            </a:r>
          </a:p>
          <a:p>
            <a:pPr lvl="0" indent="0" marL="1270000">
              <a:buNone/>
            </a:pPr>
            <a:r>
              <a:rPr sz="2000"/>
              <a:t>Your write-up should include:</a:t>
            </a:r>
          </a:p>
          <a:p>
            <a:pPr lvl="0"/>
            <a:r>
              <a:rPr sz="2000"/>
              <a:t>☐ The question</a:t>
            </a:r>
          </a:p>
          <a:p>
            <a:pPr lvl="0"/>
            <a:r>
              <a:rPr sz="2000"/>
              <a:t>☐ Your hypotheses</a:t>
            </a:r>
          </a:p>
          <a:p>
            <a:pPr lvl="0"/>
            <a:r>
              <a:rPr sz="2000"/>
              <a:t>☐ Which model you used, and your justification for choosing it</a:t>
            </a:r>
          </a:p>
          <a:p>
            <a:pPr lvl="0"/>
            <a:r>
              <a:rPr sz="2000"/>
              <a:t>☐ The code and its output</a:t>
            </a:r>
          </a:p>
          <a:p>
            <a:pPr lvl="0"/>
            <a:r>
              <a:rPr sz="2000"/>
              <a:t>☐ Your interpretation of the result</a:t>
            </a:r>
          </a:p>
          <a:p>
            <a:pPr lvl="0"/>
            <a:r>
              <a:rPr sz="2000"/>
              <a:t>☐ A final figure showing the result</a:t>
            </a:r>
          </a:p>
          <a:p>
            <a:pPr lvl="0" indent="0" marL="1270000">
              <a:buNone/>
            </a:pPr>
            <a:r>
              <a:rPr sz="2000" b="1"/>
              <a:t>Note</a:t>
            </a:r>
          </a:p>
          <a:p>
            <a:pPr lvl="0" indent="0" marL="1270000">
              <a:buNone/>
            </a:pPr>
            <a:r>
              <a:rPr sz="2000" b="1"/>
              <a:t>Reference</a:t>
            </a:r>
          </a:p>
          <a:p>
            <a:pPr lvl="0" indent="0" marL="1270000">
              <a:buNone/>
            </a:pPr>
            <a:r>
              <a:rPr sz="2000"/>
              <a:t>Walker, T.J. (1962). Factors responsible for intraspecific variation in the calling songs of crickets. </a:t>
            </a:r>
            <a:r>
              <a:rPr sz="2000" i="1"/>
              <a:t>Evolution</a:t>
            </a:r>
            <a:r>
              <a:rPr sz="2000"/>
              <a:t>, 16, 407–428.</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ANCOVA</dc:title>
  <dc:creator>Bill Perry</dc:creator>
  <cp:keywords/>
  <dc:description>Hands-on activity: analysis of covariance, using cricket chirping data, real fruitfly longevity data (Partridge), and a heterogeneous-slopes sea urchin example.</dc:description>
  <dcterms:created xsi:type="dcterms:W3CDTF">2026-08-28T18:16:46Z</dcterms:created>
  <dcterms:modified xsi:type="dcterms:W3CDTF">2026-08-28T18:16:46Z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17</vt:lpwstr>
  </property>
  <property fmtid="{D5CDD505-2E9C-101B-9397-08002B2CF9AE}" pid="13" name="resources">
    <vt:lpwstr/>
  </property>
  <property fmtid="{D5CDD505-2E9C-101B-9397-08002B2CF9AE}" pid="14" name="subtitle">
    <vt:lpwstr>Covariates</vt:lpwstr>
  </property>
  <property fmtid="{D5CDD505-2E9C-101B-9397-08002B2CF9AE}" pid="15" name="toc-title">
    <vt:lpwstr>Table of contents</vt:lpwstr>
  </property>
  <property fmtid="{D5CDD505-2E9C-101B-9397-08002B2CF9AE}" pid="16" name="week">
    <vt:lpwstr>12</vt:lpwstr>
  </property>
</Properties>
</file>