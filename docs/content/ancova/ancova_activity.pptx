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ANCOVA — Analysis of Covariance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simulated cricket chirping data, the real Partridge fruitfly-longevity dataset, and simulated sea urchin data (for a heterogeneous-slopes example).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(interactions)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scipen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What is ANCOVA?</a:t>
            </a:r>
            <a:r>
              <a:rPr/>
              <a:t> ANCOVA (Analysis of Covariance) combines regression and ANOVA to:</a:t>
            </a:r>
          </a:p>
          <a:p>
            <a:pPr lvl="0"/>
            <a:r>
              <a:rPr/>
              <a:t>Compare group means while adjusting for a continuous covariate</a:t>
            </a:r>
          </a:p>
          <a:p>
            <a:pPr lvl="0"/>
            <a:r>
              <a:rPr/>
              <a:t>Increase statistical power by reducing residual error</a:t>
            </a:r>
          </a:p>
          <a:p>
            <a:pPr lvl="0"/>
            <a:r>
              <a:rPr/>
              <a:t>Control for confounding variables</a:t>
            </a:r>
          </a:p>
          <a:p>
            <a:pPr lvl="0" indent="0" marL="0">
              <a:buNone/>
            </a:pPr>
            <a:r>
              <a:rPr b="1"/>
              <a:t>When to use ANCOVA:</a:t>
            </a:r>
          </a:p>
          <a:p>
            <a:pPr lvl="0"/>
            <a:r>
              <a:rPr b="1"/>
              <a:t>Response variable</a:t>
            </a:r>
            <a:r>
              <a:rPr/>
              <a:t>: Continuous</a:t>
            </a:r>
          </a:p>
          <a:p>
            <a:pPr lvl="0"/>
            <a:r>
              <a:rPr b="1"/>
              <a:t>Predictor variable</a:t>
            </a:r>
            <a:r>
              <a:rPr/>
              <a:t>: Categorical (factor/groups)</a:t>
            </a:r>
          </a:p>
          <a:p>
            <a:pPr lvl="0"/>
            <a:r>
              <a:rPr b="1"/>
              <a:t>Covariate</a:t>
            </a:r>
            <a:r>
              <a:rPr/>
              <a:t>: Continuous variable that affects the response</a:t>
            </a:r>
          </a:p>
          <a:p>
            <a:pPr lvl="0" indent="0" marL="0">
              <a:buNone/>
            </a:pPr>
            <a:r>
              <a:rPr b="1"/>
              <a:t>Key assumptions of ANCOVA: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of observations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of residuals</a:t>
            </a:r>
          </a:p>
          <a:p>
            <a:pPr lvl="0" indent="-342900" marL="342900">
              <a:buAutoNum type="arabicPeriod"/>
            </a:pPr>
            <a:r>
              <a:rPr b="1"/>
              <a:t>Homogeneity of variances</a:t>
            </a:r>
            <a:r>
              <a:rPr/>
              <a:t> across groups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 between response and covariate within each group</a:t>
            </a:r>
          </a:p>
          <a:p>
            <a:pPr lvl="0" indent="-342900" marL="342900">
              <a:buAutoNum type="arabicPeriod"/>
            </a:pPr>
            <a:r>
              <a:rPr b="1"/>
              <a:t>Homogeneity of slopes</a:t>
            </a:r>
            <a:r>
              <a:rPr/>
              <a:t> (most critical!) — regression slopes must not be significantly different across all groups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Critical first step:</a:t>
            </a:r>
            <a:r>
              <a:rPr sz="2000"/>
              <a:t> Always test for </a:t>
            </a:r>
            <a:r>
              <a:rPr sz="2000" b="1"/>
              <a:t>homogeneity of slopes</a:t>
            </a:r>
            <a:r>
              <a:rPr sz="2000"/>
              <a:t> before proceeding with ANCOVA. If slopes differ significantly between groups, standard ANCOVA is inappropriate.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Cricket Chirping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compare chirping rate of two cricket species — </a:t>
            </a:r>
            <a:r>
              <a:rPr i="1"/>
              <a:t>Oecanthus exclamationis</a:t>
            </a:r>
            <a:r>
              <a:rPr/>
              <a:t> and </a:t>
            </a:r>
            <a:r>
              <a:rPr i="1"/>
              <a:t>Oecanthus niveus</a:t>
            </a:r>
            <a:r>
              <a:rPr/>
              <a:t>. But we measured rates at different temperatures, and there’s a relationship between pulse rate and temperature. ANCOVA lets us adjust for the temperature effect to get a more powerful test!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create the simulated cricket data and visualize it: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"O. exclamationis"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"O. niveus"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temp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chirp_rate &lt;-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(temp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"O. exclamationis"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spp =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chirp_rate =</a:t>
            </a:r>
            <a:r>
              <a:rPr>
                <a:solidFill>
                  <a:srgbClr val="003B4F"/>
                </a:solidFill>
                <a:latin typeface="Courier"/>
              </a:rPr>
              <a:t> chirp_rate)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(c_df)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chirp_rate,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Test homogeneity of slopes</a:t>
            </a:r>
          </a:p>
          <a:p>
            <a:pPr lvl="0" indent="0" marL="0">
              <a:buNone/>
            </a:pPr>
            <a:r>
              <a:rPr/>
              <a:t>This is the most critical assumption! We test if the regression slopes are equal across all groups.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contrasts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"contr.sum"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"contr.poly"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# for true type 3 anovas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options(contrasts = c("contr.treatment", "contr.poly")) # original version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see below for interpretation...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lm_int_model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(chirp_rate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(lm_int_model,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Interpretation:</a:t>
            </a:r>
            <a:r>
              <a:rPr/>
              <a:t> If p &gt; 0.05, slopes are homogeneous — proceed with ANCOVA. If p &lt; 0.05, slopes differ and standard ANCOVA is inappropriate.</a:t>
            </a:r>
          </a:p>
          <a:p>
            <a:pPr lvl="0" indent="0" marL="0">
              <a:buNone/>
            </a:pPr>
            <a:r>
              <a:rPr b="1"/>
              <a:t>The contrasts setting changes the specific hypothesis being tested for your main effects:</a:t>
            </a:r>
          </a:p>
          <a:p>
            <a:pPr lvl="0"/>
            <a:r>
              <a:rPr/>
              <a:t>With </a:t>
            </a:r>
            <a:r>
              <a:rPr>
                <a:latin typeface="Courier"/>
              </a:rPr>
              <a:t>contr.treatment</a:t>
            </a:r>
            <a:r>
              <a:rPr/>
              <a:t>, the test for </a:t>
            </a:r>
            <a:r>
              <a:rPr>
                <a:latin typeface="Courier"/>
              </a:rPr>
              <a:t>temp</a:t>
            </a:r>
            <a:r>
              <a:rPr/>
              <a:t> tests the effect of temperature only for the reference species (</a:t>
            </a:r>
            <a:r>
              <a:rPr>
                <a:latin typeface="Courier"/>
              </a:rPr>
              <a:t>O. exclamationis</a:t>
            </a:r>
            <a:r>
              <a:rPr/>
              <a:t> comes first alphabetically) — is mean </a:t>
            </a:r>
            <a:r>
              <a:rPr>
                <a:latin typeface="Courier"/>
              </a:rPr>
              <a:t>chirp_rate</a:t>
            </a:r>
            <a:r>
              <a:rPr/>
              <a:t> equal to zero for the reference species when </a:t>
            </a:r>
            <a:r>
              <a:rPr>
                <a:latin typeface="Courier"/>
              </a:rPr>
              <a:t>temp</a:t>
            </a:r>
            <a:r>
              <a:rPr/>
              <a:t> is 0?</a:t>
            </a:r>
          </a:p>
          <a:p>
            <a:pPr lvl="0"/>
            <a:r>
              <a:rPr/>
              <a:t>With </a:t>
            </a:r>
            <a:r>
              <a:rPr>
                <a:latin typeface="Courier"/>
              </a:rPr>
              <a:t>contr.sum</a:t>
            </a:r>
            <a:r>
              <a:rPr/>
              <a:t> (“sum coding” or “deviation coding”), the test for </a:t>
            </a:r>
            <a:r>
              <a:rPr>
                <a:latin typeface="Courier"/>
              </a:rPr>
              <a:t>temp</a:t>
            </a:r>
            <a:r>
              <a:rPr/>
              <a:t> tests the </a:t>
            </a:r>
            <a:r>
              <a:rPr i="1"/>
              <a:t>average</a:t>
            </a:r>
            <a:r>
              <a:rPr/>
              <a:t> effect of temperature across both species — is average mean </a:t>
            </a:r>
            <a:r>
              <a:rPr>
                <a:latin typeface="Courier"/>
              </a:rPr>
              <a:t>chirp_rate</a:t>
            </a:r>
            <a:r>
              <a:rPr/>
              <a:t> (averaged across both species) equal to zero when </a:t>
            </a:r>
            <a:r>
              <a:rPr>
                <a:latin typeface="Courier"/>
              </a:rPr>
              <a:t>temp</a:t>
            </a:r>
            <a:r>
              <a:rPr/>
              <a:t> is 0?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intercept is hard to interpret in both models because </a:t>
            </a:r>
            <a:r>
              <a:rPr sz="2000">
                <a:latin typeface="Courier"/>
              </a:rPr>
              <a:t>temp = 0</a:t>
            </a:r>
            <a:r>
              <a:rPr sz="2000"/>
              <a:t> is meaningless. If you centered the </a:t>
            </a:r>
            <a:r>
              <a:rPr sz="2000">
                <a:latin typeface="Courier"/>
              </a:rPr>
              <a:t>temp</a:t>
            </a:r>
            <a:r>
              <a:rPr sz="2000"/>
              <a:t> variable (</a:t>
            </a:r>
            <a:r>
              <a:rPr sz="2000">
                <a:latin typeface="Courier"/>
              </a:rPr>
              <a:t>temp_c = temp - mean(temp)</a:t>
            </a:r>
            <a:r>
              <a:rPr sz="2000"/>
              <a:t>) and re-ran the model, the intercept would then test the </a:t>
            </a:r>
            <a:r>
              <a:rPr sz="2000">
                <a:latin typeface="Courier"/>
              </a:rPr>
              <a:t>chirp_rate</a:t>
            </a:r>
            <a:r>
              <a:rPr sz="2000"/>
              <a:t> at the </a:t>
            </a:r>
            <a:r>
              <a:rPr sz="2000" i="1"/>
              <a:t>average</a:t>
            </a:r>
            <a:r>
              <a:rPr sz="2000"/>
              <a:t> temperature — much more interpretable.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Fit the ANCOVA model</a:t>
            </a:r>
          </a:p>
          <a:p>
            <a:pPr lvl="0" indent="0" marL="0">
              <a:buNone/>
            </a:pPr>
            <a:r>
              <a:rPr/>
              <a:t>Since slopes are homogeneous (p &gt; 0.05), fit the ANCOVA model without the interaction term.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(chirp_rate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(ancova_model)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/>
            <a:r>
              <a:rPr>
                <a:latin typeface="Courier"/>
              </a:rPr>
              <a:t>spp1</a:t>
            </a:r>
            <a:r>
              <a:rPr/>
              <a:t> is the clue that </a:t>
            </a:r>
            <a:r>
              <a:rPr>
                <a:latin typeface="Courier"/>
              </a:rPr>
              <a:t>contr.sum</a:t>
            </a:r>
            <a:r>
              <a:rPr/>
              <a:t> is active — it represents the coefficient for the first species (</a:t>
            </a:r>
            <a:r>
              <a:rPr>
                <a:latin typeface="Courier"/>
              </a:rPr>
              <a:t>O. exclamationis</a:t>
            </a:r>
            <a:r>
              <a:rPr/>
              <a:t>) relative to the grand mean.</a:t>
            </a:r>
          </a:p>
          <a:p>
            <a:pPr lvl="0"/>
            <a:r>
              <a:rPr>
                <a:latin typeface="Courier"/>
              </a:rPr>
              <a:t>(Intercept)</a:t>
            </a:r>
            <a:r>
              <a:rPr/>
              <a:t>: the average </a:t>
            </a:r>
            <a:r>
              <a:rPr>
                <a:latin typeface="Courier"/>
              </a:rPr>
              <a:t>chirp_rate</a:t>
            </a:r>
            <a:r>
              <a:rPr/>
              <a:t> (across both species) when </a:t>
            </a:r>
            <a:r>
              <a:rPr>
                <a:latin typeface="Courier"/>
              </a:rPr>
              <a:t>temp</a:t>
            </a:r>
            <a:r>
              <a:rPr/>
              <a:t> is 0.</a:t>
            </a:r>
          </a:p>
          <a:p>
            <a:pPr lvl="0"/>
            <a:r>
              <a:rPr>
                <a:latin typeface="Courier"/>
              </a:rPr>
              <a:t>temp</a:t>
            </a:r>
            <a:r>
              <a:rPr/>
              <a:t>: the common slope — for every 1-degree increase in </a:t>
            </a:r>
            <a:r>
              <a:rPr>
                <a:latin typeface="Courier"/>
              </a:rPr>
              <a:t>temp</a:t>
            </a:r>
            <a:r>
              <a:rPr/>
              <a:t>, </a:t>
            </a:r>
            <a:r>
              <a:rPr>
                <a:latin typeface="Courier"/>
              </a:rPr>
              <a:t>chirp_rate</a:t>
            </a:r>
            <a:r>
              <a:rPr/>
              <a:t> increases by that many units.</a:t>
            </a:r>
          </a:p>
          <a:p>
            <a:pPr lvl="0"/>
            <a:r>
              <a:rPr>
                <a:latin typeface="Courier"/>
              </a:rPr>
              <a:t>spp1</a:t>
            </a:r>
            <a:r>
              <a:rPr/>
              <a:t>: the deviation from the grand mean for </a:t>
            </a:r>
            <a:r>
              <a:rPr>
                <a:latin typeface="Courier"/>
              </a:rPr>
              <a:t>O. exclamationis</a:t>
            </a:r>
            <a:r>
              <a:rPr/>
              <a:t>; the effect for </a:t>
            </a:r>
            <a:r>
              <a:rPr>
                <a:latin typeface="Courier"/>
              </a:rPr>
              <a:t>O. niveus</a:t>
            </a:r>
            <a:r>
              <a:rPr/>
              <a:t> is the negative of that value.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Both Type II (technically more appropriate here) and Type III end up doing the exact same calculation:</a:t>
            </a:r>
          </a:p>
          <a:p>
            <a:pPr lvl="0"/>
            <a:r>
              <a:rPr/>
              <a:t>The test for </a:t>
            </a:r>
            <a:r>
              <a:rPr>
                <a:latin typeface="Courier"/>
              </a:rPr>
              <a:t>temp</a:t>
            </a:r>
            <a:r>
              <a:rPr/>
              <a:t> gets the Sum of Squares for </a:t>
            </a:r>
            <a:r>
              <a:rPr>
                <a:latin typeface="Courier"/>
              </a:rPr>
              <a:t>temp</a:t>
            </a:r>
            <a:r>
              <a:rPr/>
              <a:t> after accounting for </a:t>
            </a:r>
            <a:r>
              <a:rPr>
                <a:latin typeface="Courier"/>
              </a:rPr>
              <a:t>spp</a:t>
            </a:r>
            <a:r>
              <a:rPr/>
              <a:t>.</a:t>
            </a:r>
          </a:p>
          <a:p>
            <a:pPr lvl="0"/>
            <a:r>
              <a:rPr/>
              <a:t>The test for </a:t>
            </a:r>
            <a:r>
              <a:rPr>
                <a:latin typeface="Courier"/>
              </a:rPr>
              <a:t>spp</a:t>
            </a:r>
            <a:r>
              <a:rPr/>
              <a:t> gets the Sum of Squares for </a:t>
            </a:r>
            <a:r>
              <a:rPr>
                <a:latin typeface="Courier"/>
              </a:rPr>
              <a:t>spp</a:t>
            </a:r>
            <a:r>
              <a:rPr/>
              <a:t> after accounting for </a:t>
            </a:r>
            <a:r>
              <a:rPr>
                <a:latin typeface="Courier"/>
              </a:rPr>
              <a:t>temp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</a:t>
            </a:r>
            <a:r>
              <a:rPr>
                <a:latin typeface="Courier"/>
              </a:rPr>
              <a:t>Anova()</a:t>
            </a:r>
            <a:r>
              <a:rPr/>
              <a:t> output, is there a significant species effect on chirping rate after adjusting for temperature?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Check model assumptions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"ANCOVA Diagnostic Plots"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(ancova_model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residuals)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(chirp_rate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Breusch-Pagan (BP) test for homoscedasticity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lmtest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(ancova_model)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Calculate adjusted means</a:t>
            </a:r>
          </a:p>
          <a:p>
            <a:pPr lvl="0" indent="0" marL="0">
              <a:buNone/>
            </a:pPr>
            <a:r>
              <a:rPr/>
              <a:t>ANCOVA compares adjusted means — what each group’s mean would be at the overall mean of the covariate.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"spp"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cricket_adj_means_df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(c_emmeans)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cricket_adj_means_df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Pairwise comparisons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(c_emmeans,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6: Visualize results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(c_emmeans,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c_emmeans_df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(c_emmeans)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(c_emmeans_df,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 Chirping Rate by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"Means adjusted for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Chirping Rate"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Refit </a:t>
            </a:r>
            <a:r>
              <a:rPr sz="2000">
                <a:latin typeface="Courier"/>
              </a:rPr>
              <a:t>ancova_model</a:t>
            </a:r>
            <a:r>
              <a:rPr sz="2000"/>
              <a:t> with </a:t>
            </a:r>
            <a:r>
              <a:rPr sz="2000">
                <a:latin typeface="Courier"/>
              </a:rPr>
              <a:t>options(contrasts = c("contr.treatment", "contr.poly"))</a:t>
            </a:r>
            <a:r>
              <a:rPr sz="2000"/>
              <a:t> instead of </a:t>
            </a:r>
            <a:r>
              <a:rPr sz="2000">
                <a:latin typeface="Courier"/>
              </a:rPr>
              <a:t>contr.sum</a:t>
            </a:r>
            <a:r>
              <a:rPr sz="2000"/>
              <a:t>, and compare the coefficient table. Does the </a:t>
            </a:r>
            <a:r>
              <a:rPr sz="2000">
                <a:latin typeface="Courier"/>
              </a:rPr>
              <a:t>Anova()</a:t>
            </a:r>
            <a:r>
              <a:rPr sz="2000"/>
              <a:t> F-test for </a:t>
            </a:r>
            <a:r>
              <a:rPr sz="2000">
                <a:latin typeface="Courier"/>
              </a:rPr>
              <a:t>spp</a:t>
            </a:r>
            <a:r>
              <a:rPr sz="2000"/>
              <a:t> change? Does the intercept’s meaning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Partridge Longevity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analyze the effect of mating strategy on male fruitfly longevity, using thorax length as a covariate — this is real data from Partridge &amp; Farquhar (1981).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load and visualize the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"data/partridge.csv"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treat =</a:t>
            </a:r>
            <a:r>
              <a:rPr>
                <a:solidFill>
                  <a:srgbClr val="003B4F"/>
                </a:solidFill>
                <a:latin typeface="Courier"/>
              </a:rPr>
              <a:t> treatmen)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 females"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"One virgin female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"Eight virgin females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"One inseminated female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"Eight inseminated females daily"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thorax,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longev,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"Relationship between Thorax Length and Longevity"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"Thorax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Test homogeneity of slopes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Fit the ANCOVA model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(p_ancova_model)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(p_ancova_model,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Check assumptions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(p_ancova_model)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(p_ancova_model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residuals)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Breusch-Pagan (BP) test for homoscedasticity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lmtest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(p_ancova_model)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Calculate adjusted means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(p_ancova_model, </a:t>
            </a:r>
            <a:r>
              <a:rPr>
                <a:solidFill>
                  <a:srgbClr val="20794D"/>
                </a:solidFill>
                <a:latin typeface="Courier"/>
              </a:rPr>
              <a:t>"treat"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p_means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Pairwise comparisons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(p_means)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According to the compact letter display, which treatment(s) had the highest adjusted mean longevity? Does that match what you’d predict biologically?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Example with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look at an example where slopes are </a:t>
            </a:r>
            <a:r>
              <a:rPr b="1"/>
              <a:t>NOT</a:t>
            </a:r>
            <a:r>
              <a:rPr/>
              <a:t> homogeneous, using simulated sea urchin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345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72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24 urchins per group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treatments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"Initial"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 Food"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"High Food"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volume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Initial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Low Food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High Food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suture_width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treatments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"Initial"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0.002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volume,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treatments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 Food"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0.04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0.0005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volume,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AD0000"/>
                </a:solidFill>
                <a:latin typeface="Courier"/>
              </a:rPr>
              <a:t>0.02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0.003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volume  </a:t>
            </a:r>
            <a:r>
              <a:rPr>
                <a:solidFill>
                  <a:srgbClr val="5E5E5E"/>
                </a:solidFill>
                <a:latin typeface="Courier"/>
              </a:rPr>
              <a:t># High Food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u_df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treatments, </a:t>
            </a:r>
            <a:r>
              <a:rPr>
                <a:solidFill>
                  <a:srgbClr val="657422"/>
                </a:solidFill>
                <a:latin typeface="Courier"/>
              </a:rPr>
              <a:t>volume =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suture_width =</a:t>
            </a:r>
            <a:r>
              <a:rPr>
                <a:solidFill>
                  <a:srgbClr val="003B4F"/>
                </a:solidFill>
                <a:latin typeface="Courier"/>
              </a:rPr>
              <a:t> suture_width)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Explicitly set "Initial" as the reference level for the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(u_df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treatment,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"Initial"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 Food"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"High Food"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(u_df,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suture_width,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"Cube Root Body Volume"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"Suture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for homogeneity of slopes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urchin_model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(urchin_model,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Result:</a:t>
            </a:r>
            <a:r>
              <a:rPr/>
              <a:t> With p &lt; 0.05, we have heterogeneous slopes! Standard ANCOVA is inappropriate here.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with heterogeneous slopes</a:t>
            </a:r>
          </a:p>
          <a:p>
            <a:pPr lvl="0" indent="0" marL="0">
              <a:buNone/>
            </a:pPr>
            <a:r>
              <a:rPr/>
              <a:t>When slopes are not homogeneous, you have several options.</a:t>
            </a:r>
          </a:p>
          <a:p>
            <a:pPr lvl="0" indent="0" marL="0">
              <a:buNone/>
            </a:pPr>
            <a:r>
              <a:rPr b="1"/>
              <a:t>Option 1 — Analyze groups separately: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initial_model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(u_df,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"Initial"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low_food_model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(u_df,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 Food"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high_food_model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(u_df,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"High Food"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initial_model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low_food_model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high_food_model</a:t>
            </a:r>
          </a:p>
          <a:p>
            <a:pPr lvl="0" indent="0" marL="0">
              <a:buNone/>
            </a:pPr>
            <a:r>
              <a:rPr b="1"/>
              <a:t>Option 2 — Johnson-Neyman procedure:</a:t>
            </a:r>
            <a:r>
              <a:rPr/>
              <a:t> identifies the specific regions of the covariate where groups do (and do not) significantly differ.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(interactions)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jn_model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 = "volume" (the continuous moderator)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modx = "treatment" (the categorical predictor)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sim_slopes</a:t>
            </a:r>
            <a:r>
              <a:rPr>
                <a:solidFill>
                  <a:srgbClr val="003B4F"/>
                </a:solidFill>
                <a:latin typeface="Courier"/>
              </a:rPr>
              <a:t>(jn_model,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"volume"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modx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johnson_neyman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Johnson-Neyman output, over what range of </a:t>
            </a:r>
            <a:r>
              <a:rPr>
                <a:latin typeface="Courier"/>
              </a:rPr>
              <a:t>volume</a:t>
            </a:r>
            <a:r>
              <a:rPr/>
              <a:t> (if any) do the treatment groups differ significantly?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emtrends(urchin_model, "treatment", var = "volume")</a:t>
            </a:r>
            <a:r>
              <a:rPr sz="2000"/>
              <a:t> to get the estimated slope for each treatment group directly, instead of fitting three separate models.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checklist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conducting ANCOVA, always follow these steps: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ANCOVA checklist</a:t>
            </a:r>
          </a:p>
          <a:p>
            <a:pPr lvl="0" indent="-342900" marL="342900">
              <a:buAutoNum type="arabicPeriod"/>
            </a:pPr>
            <a:r>
              <a:rPr sz="2000" b="1"/>
              <a:t>Visualize your data</a:t>
            </a:r>
            <a:r>
              <a:rPr sz="2000"/>
              <a:t> — plot response vs covariate, colored by group.</a:t>
            </a:r>
          </a:p>
          <a:p>
            <a:pPr lvl="0" indent="-342900" marL="342900">
              <a:buAutoNum type="arabicPeriod"/>
            </a:pPr>
            <a:r>
              <a:rPr sz="2000" b="1"/>
              <a:t>Test homogeneity of slopes</a:t>
            </a:r>
            <a:r>
              <a:rPr sz="2000"/>
              <a:t> — fit a model with an interaction term.</a:t>
            </a:r>
          </a:p>
          <a:p>
            <a:pPr lvl="1"/>
            <a:r>
              <a:rPr sz="2000"/>
              <a:t>If p &gt; 0.05: proceed with ANCOVA.</a:t>
            </a:r>
          </a:p>
          <a:p>
            <a:pPr lvl="1"/>
            <a:r>
              <a:rPr sz="2000"/>
              <a:t>If p &lt; 0.05: use alternative approaches (Johnson-Neyman, separate regressions).</a:t>
            </a:r>
          </a:p>
          <a:p>
            <a:pPr lvl="0" indent="-342900" marL="342900">
              <a:buAutoNum type="arabicPeriod"/>
            </a:pPr>
            <a:r>
              <a:rPr sz="2000" b="1"/>
              <a:t>Fit the ANCOVA model</a:t>
            </a:r>
            <a:r>
              <a:rPr sz="2000"/>
              <a:t> — </a:t>
            </a:r>
            <a:r>
              <a:rPr sz="2000">
                <a:latin typeface="Courier"/>
              </a:rPr>
              <a:t>response ~ covariate + factor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b="1"/>
              <a:t>Check assumptions</a:t>
            </a:r>
            <a:r>
              <a:rPr sz="2000"/>
              <a:t> — use diagnostic plots.</a:t>
            </a:r>
          </a:p>
          <a:p>
            <a:pPr lvl="0" indent="-342900" marL="342900">
              <a:buAutoNum type="arabicPeriod"/>
            </a:pPr>
            <a:r>
              <a:rPr sz="2000" b="1"/>
              <a:t>Interpret results</a:t>
            </a:r>
            <a:r>
              <a:rPr sz="2000"/>
              <a:t> — focus on adjusted means, not raw means.</a:t>
            </a:r>
          </a:p>
          <a:p>
            <a:pPr lvl="0" indent="-342900" marL="342900">
              <a:buAutoNum type="arabicPeriod"/>
            </a:pPr>
            <a:r>
              <a:rPr sz="2000" b="1"/>
              <a:t>Conduct post-hoc tests</a:t>
            </a:r>
            <a:r>
              <a:rPr sz="2000"/>
              <a:t> — pairwise comparisons if needed.</a:t>
            </a:r>
          </a:p>
          <a:p>
            <a:pPr lvl="0" indent="-342900" marL="342900">
              <a:buAutoNum type="arabicPeriod"/>
            </a:pPr>
            <a:r>
              <a:rPr sz="2000" b="1"/>
              <a:t>Visualize results</a:t>
            </a:r>
            <a:r>
              <a:rPr sz="2000"/>
              <a:t> — show adjusted means with confidence intervals.</a:t>
            </a:r>
          </a:p>
          <a:p>
            <a:pPr lvl="0" indent="0" marL="0">
              <a:buNone/>
            </a:pPr>
            <a:r>
              <a:rPr b="1"/>
              <a:t>Key points to remember:</a:t>
            </a:r>
          </a:p>
          <a:p>
            <a:pPr lvl="0"/>
            <a:r>
              <a:rPr b="1"/>
              <a:t>ANCOVA increases power</a:t>
            </a:r>
            <a:r>
              <a:rPr/>
              <a:t> by accounting for covariate variation.</a:t>
            </a:r>
          </a:p>
          <a:p>
            <a:pPr lvl="0"/>
            <a:r>
              <a:rPr b="1"/>
              <a:t>Adjusted means</a:t>
            </a:r>
            <a:r>
              <a:rPr/>
              <a:t> are what we compare, not raw group means.</a:t>
            </a:r>
          </a:p>
          <a:p>
            <a:pPr lvl="0"/>
            <a:r>
              <a:rPr b="1"/>
              <a:t>Homogeneity of slopes</a:t>
            </a:r>
            <a:r>
              <a:rPr/>
              <a:t> is the most critical assumption.</a:t>
            </a:r>
          </a:p>
          <a:p>
            <a:pPr lvl="0"/>
            <a:r>
              <a:rPr b="1"/>
              <a:t>Parallel lines</a:t>
            </a:r>
            <a:r>
              <a:rPr/>
              <a:t> in the plot suggest homogeneous slopes.</a:t>
            </a:r>
          </a:p>
          <a:p>
            <a:pPr lvl="0"/>
            <a:r>
              <a:rPr b="1"/>
              <a:t>Non-parallel lines</a:t>
            </a:r>
            <a:r>
              <a:rPr/>
              <a:t> indicate heterogeneous slopes — use alternative methods.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Key points from ANCOVA analysis</a:t>
            </a:r>
          </a:p>
          <a:p>
            <a:pPr lvl="0" indent="-342900" marL="342900">
              <a:buAutoNum type="arabicPeriod"/>
            </a:pPr>
            <a:r>
              <a:rPr sz="2000" b="1"/>
              <a:t>Test homogeneity of slopes first</a:t>
            </a:r>
            <a:r>
              <a:rPr sz="2000"/>
              <a:t> — the most critical assumption.</a:t>
            </a:r>
          </a:p>
          <a:p>
            <a:pPr lvl="0" indent="-342900" marL="342900">
              <a:buAutoNum type="arabicPeriod"/>
            </a:pPr>
            <a:r>
              <a:rPr sz="2000" b="1"/>
              <a:t>ANCOVA compares adjusted means</a:t>
            </a:r>
            <a:r>
              <a:rPr sz="2000"/>
              <a:t> at the mean value of the covariate.</a:t>
            </a:r>
          </a:p>
          <a:p>
            <a:pPr lvl="0" indent="-342900" marL="342900">
              <a:buAutoNum type="arabicPeriod"/>
            </a:pPr>
            <a:r>
              <a:rPr sz="2000" b="1"/>
              <a:t>Increases statistical power</a:t>
            </a:r>
            <a:r>
              <a:rPr sz="2000"/>
              <a:t> by removing variation due to the covariate.</a:t>
            </a:r>
          </a:p>
          <a:p>
            <a:pPr lvl="0" indent="-342900" marL="342900">
              <a:buAutoNum type="arabicPeriod"/>
            </a:pPr>
            <a:r>
              <a:rPr sz="2000" b="1"/>
              <a:t>Choose appropriate methods</a:t>
            </a:r>
            <a:r>
              <a:rPr sz="2000"/>
              <a:t> based on whether slopes are homogeneous.</a:t>
            </a:r>
          </a:p>
          <a:p>
            <a:pPr lvl="0" indent="-342900" marL="342900">
              <a:buAutoNum type="arabicPeriod"/>
            </a:pPr>
            <a:r>
              <a:rPr sz="2000" b="1"/>
              <a:t>Visualize your results</a:t>
            </a:r>
            <a:r>
              <a:rPr sz="2000"/>
              <a:t> showing the relationship between variables.</a:t>
            </a:r>
          </a:p>
          <a:p>
            <a:pPr lvl="0" indent="-342900" marL="342900">
              <a:buAutoNum type="arabicPeriod"/>
            </a:pPr>
            <a:r>
              <a:rPr sz="2000" b="1"/>
              <a:t>Check all assumptions</a:t>
            </a:r>
            <a:r>
              <a:rPr sz="2000"/>
              <a:t> using diagnostic plots.</a:t>
            </a:r>
          </a:p>
          <a:p>
            <a:pPr lvl="0" indent="-342900" marL="342900">
              <a:buAutoNum type="arabicPeriod"/>
            </a:pPr>
            <a:r>
              <a:rPr sz="2000" b="1"/>
              <a:t>Interpret in biological context</a:t>
            </a:r>
            <a:r>
              <a:rPr sz="2000"/>
              <a:t> — what do the adjusted means tell us?</a:t>
            </a:r>
          </a:p>
          <a:p>
            <a:pPr lvl="0" indent="0" marL="1270000">
              <a:buNone/>
            </a:pPr>
            <a:r>
              <a:rPr sz="2000"/>
              <a:t>Remember: the covariate should be measured independently of the treatment and should not be affected by the treatment itself!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what ANCOVA is and when to use it</a:t>
            </a:r>
          </a:p>
          <a:p>
            <a:pPr lvl="0"/>
            <a:r>
              <a:rPr/>
              <a:t>☐ Test for homogeneity of slopes before running an ANCOVA</a:t>
            </a:r>
          </a:p>
          <a:p>
            <a:pPr lvl="0"/>
            <a:r>
              <a:rPr/>
              <a:t>☐ Fit an additive ANCOVA model and interpret its ANOVA table</a:t>
            </a:r>
          </a:p>
          <a:p>
            <a:pPr lvl="0"/>
            <a:r>
              <a:rPr/>
              <a:t>☐ Calculate and compare adjusted (estimated marginal) means</a:t>
            </a:r>
          </a:p>
          <a:p>
            <a:pPr lvl="0"/>
            <a:r>
              <a:rPr/>
              <a:t>☐ Recognize when slopes are heterogeneous and know the alternatives (Johnson-Neyman, separate regressions)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08_ancova.R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ANCOVA</dc:title>
  <dc:creator>Bill Perry</dc:creator>
  <cp:keywords/>
  <dc:description>Hands-on activity: analysis of covariance, using cricket chirping data, real fruitfly longevity data (Partridge), and a heterogeneous-slopes sea urchin example.</dc:description>
  <dcterms:created xsi:type="dcterms:W3CDTF">2026-08-24T18:42:29Z</dcterms:created>
  <dcterms:modified xsi:type="dcterms:W3CDTF">2026-08-24T18:42:29Z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16</vt:lpwstr>
  </property>
  <property fmtid="{D5CDD505-2E9C-101B-9397-08002B2CF9AE}" pid="10" name="resources">
    <vt:lpwstr/>
  </property>
  <property fmtid="{D5CDD505-2E9C-101B-9397-08002B2CF9AE}" pid="11" name="subtitle">
    <vt:lpwstr>Covariates</vt:lpwstr>
  </property>
  <property fmtid="{D5CDD505-2E9C-101B-9397-08002B2CF9AE}" pid="12" name="toc-title">
    <vt:lpwstr>Table of contents</vt:lpwstr>
  </property>
  <property fmtid="{D5CDD505-2E9C-101B-9397-08002B2CF9AE}" pid="13" name="week">
    <vt:lpwstr>8</vt:lpwstr>
  </property>
</Properties>
</file>