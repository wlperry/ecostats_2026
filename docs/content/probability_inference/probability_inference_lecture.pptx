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l04-02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plotting a box plot is really useful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the </a:t>
            </a:r>
            <a:r>
              <a:rPr b="1"/>
              <a:t>standard normal distribution</a:t>
            </a:r>
            <a:r>
              <a:rPr/>
              <a:t> and </a:t>
            </a:r>
            <a:r>
              <a:rPr b="1"/>
              <a:t>Student’s t-distribution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2 — Random Variables and Probability Distributions.</a:t>
            </a:r>
          </a:p>
        </p:txBody>
      </p:sp>
      <p:pic>
        <p:nvPicPr>
          <p:cNvPr descr="probability_inference_lecture_files/figure-pptx/l04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 b="1"/>
              <a:t>Approximately</a:t>
            </a:r>
            <a:r>
              <a:rPr/>
              <a:t>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</a:t>
            </a:r>
            <a:r>
              <a:rPr b="1"/>
              <a:t>normal distribution</a:t>
            </a:r>
            <a:r>
              <a:rPr/>
              <a:t> to the </a:t>
            </a:r>
            <a:r>
              <a:rPr b="1"/>
              <a:t>standard normal distribution.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10 — The Normal Distribution.</a:t>
            </a:r>
          </a:p>
        </p:txBody>
      </p:sp>
      <p:pic>
        <p:nvPicPr>
          <p:cNvPr descr="probability_inference_lecture_files/figure-pptx/l04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 b="1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fish data as a z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if we plot this data what does it look like in a standard normal distribution?</a:t>
            </a:r>
          </a:p>
        </p:txBody>
      </p:sp>
      <p:pic>
        <p:nvPicPr>
          <p:cNvPr descr="probability_inference_lecture_files/figure-pptx/l04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get area under 1 STD DEV?</a:t>
            </a:r>
          </a:p>
          <a:p>
            <a:pPr lvl="0" indent="0" marL="0">
              <a:buNone/>
            </a:pPr>
            <a:r>
              <a:rPr/>
              <a:t>Proportion within 1 standard deviation = </a:t>
            </a:r>
            <a:r>
              <a:rPr b="1"/>
              <a:t>count</a:t>
            </a:r>
            <a:r>
              <a:rPr/>
              <a:t> the observations whose absolute z-score is ≤ 1, then divide by the number in the sample.</a:t>
            </a:r>
          </a:p>
          <a:p>
            <a:pPr lvl="0" indent="0" marL="0">
              <a:buNone/>
            </a:pPr>
            <a:r>
              <a:rPr/>
              <a:t>(That is exactly what </a:t>
            </a:r>
            <a:r>
              <a:rPr>
                <a:latin typeface="Courier"/>
              </a:rPr>
              <a:t>sum(abs(z) &lt;= 1)</a:t>
            </a:r>
            <a:r>
              <a:rPr/>
              <a:t> does: </a:t>
            </a:r>
            <a:r>
              <a:rPr>
                <a:latin typeface="Courier"/>
              </a:rPr>
              <a:t>abs(z) &lt;= 1</a:t>
            </a:r>
            <a:r>
              <a:rPr/>
              <a:t> is </a:t>
            </a:r>
            <a:r>
              <a:rPr>
                <a:latin typeface="Courier"/>
              </a:rPr>
              <a:t>TRUE</a:t>
            </a:r>
            <a:r>
              <a:rPr/>
              <a:t>/</a:t>
            </a:r>
            <a:r>
              <a:rPr>
                <a:latin typeface="Courier"/>
              </a:rPr>
              <a:t>FALSE</a:t>
            </a:r>
            <a:r>
              <a:rPr/>
              <a:t> for each fish, and summing </a:t>
            </a:r>
            <a:r>
              <a:rPr>
                <a:latin typeface="Courier"/>
              </a:rPr>
              <a:t>TRUE</a:t>
            </a:r>
            <a:r>
              <a:rPr/>
              <a:t>s counts them.)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</a:t>
            </a:r>
            <a:r>
              <a:rPr b="1"/>
              <a:t>approximately (varies if distribution is not normal)</a:t>
            </a:r>
            <a:r>
              <a:rPr/>
              <a:t>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 b="1"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probability_inference_lecture_files/figure-pptx/l04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95900" y="1295400"/>
            <a:ext cx="2946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probability_inference_lecture_files/figure-pptx/l04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Calculated once for the standard normal curve — no sample size needed (unlike the t-table, which needs df)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probability_inference_lecture_files/figure-pptx/l04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pic>
        <p:nvPicPr>
          <p:cNvPr descr="probability_inference_lecture_files/figure-pptx/l04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from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/>
                <a:r>
                  <a:rPr/>
                  <a:t>z = (300 - 265.61)/28.3 = 1.22</a:t>
                </a:r>
              </a:p>
              <a:p>
                <a:pPr lvl="0"/>
                <a:r>
                  <a:rPr/>
                  <a:t>look up 1.2 on left and 0.02 on top to get 0.8888 in table</a:t>
                </a:r>
              </a:p>
              <a:p>
                <a:pPr lvl="0"/>
                <a:r>
                  <a:rPr/>
                  <a:t>Means 88.9% is the area left of the curve </a:t>
                </a:r>
                <a:r>
                  <a:rPr b="1"/>
                  <a:t>and</a:t>
                </a:r>
              </a:p>
              <a:p>
                <a:pPr lvl="0"/>
                <a:r>
                  <a:rPr/>
                  <a:t>100 - 88.9 = 11.1% of fish are expected to be longer</a:t>
                </a:r>
              </a:p>
              <a:p>
                <a:pPr lvl="0" indent="0" marL="0">
                  <a:buNone/>
                </a:pPr>
                <a:r>
                  <a:rPr b="1"/>
                  <a:t>At what point do you think its not likely to catch a larger fish - what percentage?</a:t>
                </a:r>
              </a:p>
              <a:p>
                <a:pPr lvl="0" indent="0" marL="0">
                  <a:buNone/>
                </a:pPr>
                <a:r>
                  <a:rPr/>
                  <a:t>Now work it backwards: pick a percentage first, and find the length it corresponds to. Why might you want to do it in that direction?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93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Standard normal (Z) table giving the cumulative area to the left of z for z-values from 0.0 to 3.4 in rows and hundredths in columns, used to look up the proportion of a normal distribution below a given z-score.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calculation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For the standard normal distribution (mean = 0, sd = 1):</a:t>
            </a:r>
          </a:p>
          <a:p>
            <a:pPr lvl="0"/>
            <a:r>
              <a:rPr>
                <a:latin typeface="Courier"/>
              </a:rPr>
              <a:t>pnorm(z)</a:t>
            </a:r>
            <a:r>
              <a:rPr/>
              <a:t> — cumulative probability (area to the left)</a:t>
            </a:r>
          </a:p>
          <a:p>
            <a:pPr lvl="0"/>
            <a:r>
              <a:rPr>
                <a:latin typeface="Courier"/>
              </a:rPr>
              <a:t>qnorm(p)</a:t>
            </a:r>
            <a:r>
              <a:rPr/>
              <a:t> — the z-value for a given probability</a:t>
            </a:r>
          </a:p>
          <a:p>
            <a:pPr lvl="0"/>
            <a:r>
              <a:rPr>
                <a:latin typeface="Courier"/>
              </a:rPr>
              <a:t>dnorm(z)</a:t>
            </a:r>
            <a:r>
              <a:rPr/>
              <a:t> — the probability density at 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Look up OUR fish: the 300 mm grayling, z = 1.22 ---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    </a:t>
            </a:r>
            <a:r>
              <a:rPr>
                <a:solidFill>
                  <a:srgbClr val="5E5E5E"/>
                </a:solidFill>
                <a:latin typeface="Courier"/>
              </a:rPr>
              <a:t># 0.8888 -&gt; 88.9% of fish are SHORTER than 300 mm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</a:t>
            </a:r>
            <a:r>
              <a:rPr>
                <a:solidFill>
                  <a:srgbClr val="5E5E5E"/>
                </a:solidFill>
                <a:latin typeface="Courier"/>
              </a:rPr>
              <a:t># 0.1112 -&gt; 11.1% are LONGER (matches the z-table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Where does the famous 1.96 come from? 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"95% within +/- 2 SD" is the rule of thumb; the exact value is 1.96.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0.9545 -&gt; +/-2 SD is really 95.4%, not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0.9500 -&gt; +/-1.96 SD is exactly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0.9500042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1.96  &lt;- the z with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1.645 &lt;- the z with 5% in ONE tail (we use this next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1.644854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But wait — are these fish actually normal?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probability we just calculated </a:t>
            </a:r>
            <a:r>
              <a:rPr b="1"/>
              <a:t>assumed a normal distribution</a:t>
            </a:r>
            <a:r>
              <a:rPr/>
              <a:t>. Let’s check that assumption.</a:t>
            </a:r>
          </a:p>
          <a:p>
            <a:pPr lvl="0"/>
            <a:r>
              <a:rPr/>
              <a:t>The normal curve says 68% of fish should be within 1 SD</a:t>
            </a:r>
          </a:p>
          <a:p>
            <a:pPr lvl="0"/>
            <a:r>
              <a:rPr/>
              <a:t>Our fish: </a:t>
            </a:r>
            <a:r>
              <a:rPr b="1"/>
              <a:t>81.8%</a:t>
            </a:r>
            <a:r>
              <a:rPr/>
              <a:t> are</a:t>
            </a:r>
          </a:p>
          <a:p>
            <a:pPr lvl="0"/>
            <a:r>
              <a:rPr/>
              <a:t>Shapiro-Wilk test: </a:t>
            </a:r>
            <a:r>
              <a:rPr b="1"/>
              <a:t>p = 0.0002</a:t>
            </a:r>
            <a:r>
              <a:rPr/>
              <a:t> — significantly non-normal</a:t>
            </a:r>
          </a:p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310.0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percentile is fine. The </a:t>
            </a:r>
            <a:r>
              <a:rPr b="1"/>
              <a:t>tail probability is off by a third</a:t>
            </a:r>
            <a:r>
              <a:rPr/>
              <a:t> — and the tails are exactly where we do hypothesis testing.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the normal model actually fit?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 reality out in the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mean_i3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sd_i3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"normal theory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mean_i3, sd_i3)),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normal theory P(&gt;300): 11.2 %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"actual       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actual        P(&gt;300): 7.6 %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Given that we can: transform data to z-scores from standard normal distribution…</a:t>
            </a:r>
          </a:p>
          <a:p>
            <a:pPr lvl="0"/>
            <a:r>
              <a:rPr/>
              <a:t>…figure out area under the curve (probability) associated with range of z-scores…</a:t>
            </a:r>
          </a:p>
          <a:p>
            <a:pPr lvl="0"/>
            <a:r>
              <a:rPr/>
              <a:t>…can therefore figure out probability associated with a range of original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Careful: two different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have now used the normal curve for </a:t>
            </a:r>
            <a:r>
              <a:rPr b="1"/>
              <a:t>two different things</a:t>
            </a:r>
            <a:r>
              <a:rPr/>
              <a:t>. Keep them straight: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to 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i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i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distribution of </a:t>
            </a:r>
            <a:r>
              <a:rPr b="1"/>
              <a:t>fish</a:t>
            </a:r>
            <a:r>
              <a:rPr/>
              <a:t> is as wide as the fish actually are — it does not get narrower if you catch more fish</a:t>
            </a:r>
          </a:p>
          <a:p>
            <a:pPr lvl="0"/>
            <a:r>
              <a:rPr/>
              <a:t>The distribution of </a:t>
            </a:r>
            <a:r>
              <a:rPr b="1"/>
              <a:t>sample means</a:t>
            </a:r>
            <a:r>
              <a:rPr/>
              <a:t> gets narrower as n grows, because averages are more stable than individuals</a:t>
            </a:r>
          </a:p>
          <a:p>
            <a:pPr lvl="0" indent="0" marL="0">
              <a:buNone/>
            </a:pPr>
            <a:r>
              <a:rPr/>
              <a:t>That is why:</a:t>
            </a:r>
          </a:p>
          <a:p>
            <a:pPr lvl="0"/>
            <a:r>
              <a:rPr/>
              <a:t>“5% of fish are longer than 312 mm” uses </a:t>
            </a:r>
            <a:r>
              <a:rPr b="1"/>
              <a:t>SD</a:t>
            </a:r>
          </a:p>
          <a:p>
            <a:pPr lvl="0"/>
            <a:r>
              <a:rPr/>
              <a:t>“the 95% CI for mean length is 258.6–272.6 mm”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when you meant SD makes your interval about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sd_i3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n_i3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se_i3 &lt;- sd_i3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(n_i3)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(spread of fish):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(spread of fish):   28.3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(spread of means):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(spread of means):  3.5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n_i3, </a:t>
            </a:r>
            <a:r>
              <a:rPr>
                <a:solidFill>
                  <a:srgbClr val="20794D"/>
                </a:solidFill>
                <a:latin typeface="Courier"/>
              </a:rPr>
              <a:t>" -&gt; SE 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"x smaller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66  -&gt; SE is 8.1 x smaller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what is next…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look at Standard normal distributions and know probability of a value being in a range under the standard normal curve…</a:t>
            </a:r>
          </a:p>
          <a:p>
            <a:pPr lvl="0" indent="0" marL="0">
              <a:buNone/>
            </a:pPr>
            <a:r>
              <a:rPr/>
              <a:t>Previously we had calculated Standard Error and Confidence Intervals -</a:t>
            </a:r>
          </a:p>
          <a:p>
            <a:pPr lvl="0"/>
            <a:r>
              <a:rPr/>
              <a:t>Now can assess our confidence that the population mean is within a certain range</a:t>
            </a:r>
            <a:br/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the probability of getting a sample with mean = ȳ from a population with mean = µ?” (1 sample t-test)</a:t>
            </a:r>
            <a:br/>
          </a:p>
          <a:p>
            <a:pPr lvl="1"/>
            <a:r>
              <a:rPr/>
              <a:t>“What is the probability that two samples came from the same population?” (2 sample t-test)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calculating confidence intervals we usually DON’T know the population σ (standard deviation) or 𝝁 population mean</a:t>
            </a:r>
          </a:p>
          <a:p>
            <a:pPr lvl="0"/>
            <a:r>
              <a:rPr/>
              <a:t>we estimate σ from the sample, using s</a:t>
            </a:r>
          </a:p>
          <a:p>
            <a:pPr lvl="0"/>
            <a:r>
              <a:rPr/>
              <a:t>that estimate carries its own uncertainty — so the z distribution is too narrow</a:t>
            </a:r>
          </a:p>
          <a:p>
            <a:pPr lvl="0"/>
            <a:r>
              <a:rPr b="1"/>
              <a:t>whenever σ is estimated, use t — at any sample size</a:t>
            </a:r>
          </a:p>
          <a:p>
            <a:pPr lvl="0"/>
            <a:r>
              <a:rPr/>
              <a:t>t and z agree to ~2 decimals once n is past ~30, which is where the “n &gt; 30” rule of thumb comes from — it’s a convenience, not the rule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sample sizes are small, the t-distribution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probability_inference_lecture_files/figure-pptx/l04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one-tail and two-tail probabilities across the columns and degrees of freedom down the rows, used to look up the t-value for a chosen confidence level and sample size.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Student’s t critical-value table repeated, with probabilities along the top and degrees of freedom down the left column, illustrating how to read off a critical t-value for a given df and confidence level.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 = 1.328 shaded, illustrating a one-tailed cutoff.</a:t>
            </a:r>
          </a:p>
        </p:txBody>
      </p:sp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0.10 column and df = 19 row highlighted, intersecting at the critical value 1.328, the value used for a one-tailed test with n = 20.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 = -1.729 and t = 1.729, illustrating a two-tailed cutoff.</a:t>
            </a:r>
          </a:p>
        </p:txBody>
      </p:sp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0.10 column and df = 19 row highlighted, intersecting at the critical value 1.729, the value used for a two-tailed test with n = 20.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t-distribution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2.306 * (37.81/(9^0.5))</a:t>
                </a:r>
              </a:p>
              <a:p>
                <a:pPr lvl="0"/>
                <a:r>
                  <a:rPr/>
                  <a:t>mean = 272.8, N = 9, and s = 37.81 - t is ? (df = N - 1 = 8)</a:t>
                </a:r>
              </a:p>
              <a:p>
                <a:pPr lvl="0"/>
                <a:r>
                  <a:rPr/>
                  <a:t>CI = 29.06</a:t>
                </a:r>
              </a:p>
              <a:p>
                <a:pPr lvl="0"/>
                <a:r>
                  <a:rPr/>
                  <a:t>The 95% CI is between 243.7 and 301.9</a:t>
                </a:r>
              </a:p>
              <a:p>
                <a:pPr lvl="0"/>
                <a:r>
                  <a:rPr/>
                  <a:t>“The 95% CI for the population mean from sample A is 272.8 ± 29.06</a:t>
                </a:r>
              </a:p>
            </p:txBody>
          </p:sp>
        </mc:Choice>
      </mc:AlternateContent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8 row highlighted, intersecting at the critical value 2.306, the value used to compute the 95% confidence interval in this worked example.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Practice Exercise 4: Using the t-distribution</a:t>
                </a:r>
              </a:p>
              <a:p>
                <a:pPr lvl="0" indent="0" marL="1270000">
                  <a:buNone/>
                </a:pPr>
                <a:r>
                  <a:rPr sz="2000"/>
                  <a:t>Let’s compare confidence intervals using the normal approximation (z) versus the t-distribution for our fish data — a random sample of 10 fish from I3.</a:t>
                </a:r>
              </a:p>
              <a:p>
                <a:pPr lvl="0" indent="0" marL="1270000">
                  <a:buNone/>
                </a:pPr>
                <a:r>
                  <a:rPr sz="2000"/>
                  <a:t>Look at how much wider the t interval is: with n = 10 the critical value is </a:t>
                </a:r>
                <a:r>
                  <a:rPr sz="2000" b="1"/>
                  <a:t>t = 2.262</a:t>
                </a:r>
                <a:r>
                  <a:rPr sz="2000"/>
                  <a:t> rather than </a:t>
                </a:r>
                <a:r>
                  <a:rPr sz="2000" b="1"/>
                  <a:t>z = 1.96</a:t>
                </a:r>
                <a:r>
                  <a:rPr sz="2000"/>
                  <a:t>, about </a:t>
                </a:r>
                <a:r>
                  <a:rPr sz="2000" b="1"/>
                  <a:t>15% wider</a:t>
                </a:r>
                <a:r>
                  <a:rPr sz="2000"/>
                  <a:t>. That extra width is the price of having estimated σ from only 10 fish.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deviation:"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error:"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z:"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 critical value:"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"vs z critical value: 1.96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Mean: 258.9 mm
 Standard deviation: 34.73 mm
 Standard error: 10.98 mm
 95% CI using z: 237.4 to 280.4 mm
 95% CI using t: 234.1 to 283.7 mm
 t critical value: 2.262 vs z critical value: 1.96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4 — Framing and Testing Hypotheses.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One-Tailed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285 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size: 12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42.15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12.168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2.876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(one-tailed): 1.796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value: 306.85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upper rejection region)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</p:txBody>
      </p:sp>
      <p:pic>
        <p:nvPicPr>
          <p:cNvPr descr="probability_inference_lecture_files/figure-pptx/l04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  <a:br/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270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12.603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3.967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(±): 2.306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values: 240.94 to 299.06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rejection region)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</a:p>
        </p:txBody>
      </p:sp>
      <p:pic>
        <p:nvPicPr>
          <p:cNvPr descr="probability_inference_lecture_files/figure-pptx/l04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p &lt; 0.05: Strong evidence against H₀</a:t>
            </a:r>
          </a:p>
          <a:p>
            <a:pPr lvl="0"/>
            <a:r>
              <a:rPr/>
              <a:t>0.05 ≤ p &lt; 0.10: Moderate evidence against H₀</a:t>
            </a:r>
          </a:p>
          <a:p>
            <a:pPr lvl="0"/>
            <a:r>
              <a:rPr/>
              <a:t>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p-value is NOT the probability that H₀ is true</a:t>
            </a:r>
          </a:p>
          <a:p>
            <a:pPr lvl="0"/>
            <a:r>
              <a:rPr/>
              <a:t>p-value is NOT the probability that results occurred by chance</a:t>
            </a:r>
          </a:p>
          <a:p>
            <a:pPr lvl="0"/>
            <a:r>
              <a:rPr/>
              <a:t>Statistical significance ≠ practical significance</a:t>
            </a:r>
          </a:p>
          <a:p>
            <a:pPr lvl="0"/>
            <a:r>
              <a:rPr/>
              <a:t>a very small p-value means the effect is </a:t>
            </a:r>
            <a:r>
              <a:rPr b="1"/>
              <a:t>detectable</a:t>
            </a:r>
            <a:r>
              <a:rPr/>
              <a:t>, not that it is </a:t>
            </a:r>
            <a:r>
              <a:rPr b="1"/>
              <a:t>large</a:t>
            </a:r>
            <a:r>
              <a:rPr/>
              <a:t> — with n = 168 a biologically trivial difference can give p = 10^-16</a:t>
            </a:r>
          </a:p>
          <a:p>
            <a:pPr lvl="0"/>
            <a:r>
              <a:rPr/>
              <a:t>so report </a:t>
            </a:r>
            <a:r>
              <a:rPr>
                <a:latin typeface="Courier"/>
              </a:rPr>
              <a:t>p &lt; 0.001</a:t>
            </a:r>
            <a:r>
              <a:rPr/>
              <a:t> rather than </a:t>
            </a:r>
            <a:r>
              <a:rPr>
                <a:latin typeface="Courier"/>
              </a:rPr>
              <a:t>p = 1.2e-16</a:t>
            </a:r>
            <a:r>
              <a:rPr/>
              <a:t>, and always report the effect size alongside it</a:t>
            </a:r>
          </a:p>
        </p:txBody>
      </p:sp>
      <p:pic>
        <p:nvPicPr>
          <p:cNvPr descr="probability_inference_lecture_files/figure-pptx/l04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</a:p>
          <a:p>
            <a:pPr lvl="0"/>
            <a:r>
              <a:rPr/>
              <a:t>Rejecting H₀ when it’s actually true</a:t>
            </a:r>
          </a:p>
          <a:p>
            <a:pPr lvl="0"/>
            <a:r>
              <a:rPr/>
              <a:t>Probability = α (significance level)</a:t>
            </a:r>
          </a:p>
          <a:p>
            <a:pPr lvl="0"/>
            <a:r>
              <a:rPr/>
              <a:t>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</a:p>
          <a:p>
            <a:pPr lvl="0"/>
            <a:r>
              <a:rPr/>
              <a:t>Failing to reject H₀ when it’s actually false</a:t>
            </a:r>
          </a:p>
          <a:p>
            <a:pPr lvl="0"/>
            <a:r>
              <a:rPr/>
              <a:t>Probability = β</a:t>
            </a:r>
          </a:p>
          <a:p>
            <a:pPr lvl="0"/>
            <a:r>
              <a:rPr/>
              <a:t>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</a:p>
          <a:p>
            <a:pPr lvl="0"/>
            <a:r>
              <a:rPr/>
              <a:t>Probability of correctly rejecting a false H₀</a:t>
            </a:r>
          </a:p>
          <a:p>
            <a:pPr lvl="0"/>
            <a:r>
              <a:rPr/>
              <a:t>Increases with:</a:t>
            </a:r>
          </a:p>
          <a:p>
            <a:pPr lvl="1"/>
            <a:r>
              <a:rPr/>
              <a:t>Larger sample size</a:t>
            </a:r>
          </a:p>
          <a:p>
            <a:pPr lvl="1"/>
            <a:r>
              <a:rPr/>
              <a:t>Larger effect size</a:t>
            </a:r>
          </a:p>
          <a:p>
            <a:pPr lvl="1"/>
            <a:r>
              <a:rPr/>
              <a:t>Lower variability</a:t>
            </a:r>
          </a:p>
          <a:p>
            <a:pPr lvl="1"/>
            <a:r>
              <a:rPr/>
              <a:t>Higher α level</a:t>
            </a:r>
          </a:p>
        </p:txBody>
      </p:sp>
      <p:pic>
        <p:nvPicPr>
          <p:cNvPr descr="probability_inference_lecture_files/figure-pptx/l04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 — What It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does it mean…</a:t>
            </a:r>
          </a:p>
          <a:p>
            <a:pPr lvl="1"/>
            <a:r>
              <a:rPr/>
              <a:t>Black curve (Null Distribution): distribution of test statistics when Ho is true</a:t>
            </a:r>
          </a:p>
          <a:p>
            <a:pPr lvl="1"/>
            <a:r>
              <a:rPr/>
              <a:t>Green curve (Alternative Distribution): distribution when Ha is true (is an effect)</a:t>
            </a:r>
          </a:p>
          <a:p>
            <a:pPr lvl="0"/>
            <a:r>
              <a:rPr/>
              <a:t>Red shaded area (Type I Error): probability of rejecting Ho when it’s actually true</a:t>
            </a:r>
          </a:p>
          <a:p>
            <a:pPr lvl="1"/>
            <a:r>
              <a:rPr/>
              <a:t>area under the null distribution (black curve) to the right of the critical value (set by α = 0.05)</a:t>
            </a:r>
          </a:p>
          <a:p>
            <a:pPr lvl="0"/>
            <a:r>
              <a:rPr/>
              <a:t>Blue shaded area (Type II Error): probability of failing to reject Ho when alternative is actually true</a:t>
            </a:r>
          </a:p>
          <a:p>
            <a:pPr lvl="1"/>
            <a:r>
              <a:rPr/>
              <a:t>area under alternative distribution (green curve) left of α (depends on effect size, sample size, etc.)</a:t>
            </a:r>
          </a:p>
          <a:p>
            <a:pPr lvl="0" indent="0" marL="0">
              <a:buNone/>
            </a:pPr>
            <a:r>
              <a:rPr/>
              <a:t>The Key Insight fundamental trade-off in hypothesis testing:</a:t>
            </a:r>
          </a:p>
          <a:p>
            <a:pPr lvl="0"/>
            <a:r>
              <a:rPr/>
              <a:t>as α value moves left or right, change balance between Type I and Type II errors</a:t>
            </a:r>
          </a:p>
          <a:p>
            <a:pPr lvl="0"/>
            <a:r>
              <a:rPr/>
              <a:t>Moving left reduces Type II errors increases Type I errors, and vice versa</a:t>
            </a:r>
          </a:p>
          <a:p>
            <a:pPr lvl="0"/>
            <a:r>
              <a:rPr/>
              <a:t>power (1 - β) area under the green curve RIGHT of dashed line</a:t>
            </a:r>
          </a:p>
          <a:p>
            <a:pPr lvl="0"/>
            <a:r>
              <a:rPr/>
              <a:t>the probability of correctly detecting a real effect.</a:t>
            </a:r>
          </a:p>
        </p:txBody>
      </p:sp>
      <p:pic>
        <p:nvPicPr>
          <p:cNvPr descr="probability_inference_lecture_files/figure-pptx/l04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Power to detect a 30 mm difference in mean length between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count only the fish we actually measured (the length() trap from week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power.t.test assumes EQUAL group sizes. Ours are 66 and 102, so use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harmonic mean - the effective n per group when the design is unbalanced.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n_effective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n_effective,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difference we care about,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sd_pooled,      </a:t>
            </a:r>
            <a:r>
              <a:rPr>
                <a:solidFill>
                  <a:srgbClr val="5E5E5E"/>
                </a:solidFill>
                <a:latin typeface="Courier"/>
              </a:rPr>
              <a:t># same scale as delta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per group (harmonic mean):"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(n_effective,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n per group (harmonic mean): 80.1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"pooled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(sd_pooled,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pooled SD: 44.5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"Cohen's d for a 30 mm difference:"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Cohen's d for a 30 mm difference: 0.67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80.14286
          delta = 30
             sd = 44.50181
      sig.level = 0.05
          power = 0.9887372
    alternative = two.sided
NOTE: n is number in *each* group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An assumption we just quietly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sd_pooled</a:t>
            </a:r>
            <a:r>
              <a:rPr sz="2000"/>
              <a:t> averages the two lakes’ SDs, which assumes they are equal. They are not: sd(I3) = 28.3 mm but sd(I8) = 52.3 mm — nearly double. That is also why the t-test two slides back was a </a:t>
            </a:r>
            <a:r>
              <a:rPr sz="2000" b="1"/>
              <a:t>Welch</a:t>
            </a:r>
            <a:r>
              <a:rPr sz="2000"/>
              <a:t> test (R’s default), which does </a:t>
            </a:r>
            <a:r>
              <a:rPr sz="2000" i="1"/>
              <a:t>not</a:t>
            </a:r>
            <a:r>
              <a:rPr sz="2000"/>
              <a:t> assume equal variances.</a:t>
            </a:r>
          </a:p>
          <a:p>
            <a:pPr lvl="0" indent="0" marL="1270000">
              <a:buNone/>
            </a:pPr>
            <a:r>
              <a:rPr sz="2000"/>
              <a:t>So treat this power number as a rough guide, not a precise answer.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t(0.975, df) × SE</a:t>
            </a:r>
          </a:p>
          <a:p>
            <a:pPr lvl="1"/>
            <a:r>
              <a:rPr/>
              <a:t>t ≈ 1.96 only once n is large — with n = 10 it is 2.26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probability_inference_lecture_files/figure-pptx/l04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Probability distributions, the standard normal and t-distributions, Z-scores, confidence intervals, one- and two-tailed hypothesis testing, p-values, and Type I/II error — on the Arctic grayling length dataset.</dc:description>
  <dcterms:created xsi:type="dcterms:W3CDTF">2026-09-08T20:19:55Z</dcterms:created>
  <dcterms:modified xsi:type="dcterms:W3CDTF">2026-09-08T20:19:55Z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Foundations of inference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