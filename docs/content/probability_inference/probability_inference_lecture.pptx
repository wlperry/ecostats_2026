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lecture_files/figure-pptx/l04-0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2 — Random Variables and Probability Distributions.</a:t>
            </a:r>
          </a:p>
        </p:txBody>
      </p:sp>
      <p:pic>
        <p:nvPicPr>
          <p:cNvPr descr="probability_inference_lecture_files/figure-pptx/l04-04-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10 — The Normal Distribution.</a:t>
            </a:r>
          </a:p>
        </p:txBody>
      </p:sp>
      <p:pic>
        <p:nvPicPr>
          <p:cNvPr descr="probability_inference_lecture_files/figure-pptx/l04-05-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probability_inference_lecture_files/figure-pptx/l04-07-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lecture_files/figure-pptx/l04-09-1.png" id="0" name="Picture 1"/>
          <p:cNvPicPr>
            <a:picLocks noGrp="1" noChangeAspect="1"/>
          </p:cNvPicPr>
          <p:nvPr/>
        </p:nvPicPr>
        <p:blipFill>
          <a:blip r:embed="rId2"/>
          <a:stretch>
            <a:fillRect/>
          </a:stretch>
        </p:blipFill>
        <p:spPr bwMode="auto">
          <a:xfrm>
            <a:off x="5295900" y="1295400"/>
            <a:ext cx="29464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lectur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lectur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lectur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193800"/>
            <a:ext cx="2781300" cy="2908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Standard normal (Z) table giving the cumulative area to the left of z for z-values from 0.0 to 3.4 in rows and hundredths in columns, used to look up the proportion of a normal distribution below a given z-score.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lecture_files/figure-pptx/l04-1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Student’s t critical-value table with one-tail and two-tail probabilities across the columns and degrees of freedom down the rows, used to look up the t-value for a chosen confidence level and sample size.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Student’s t critical-value table repeated, with probabilities along the top and degrees of freedom down the left column, illustrating how to read off a critical t-value for a given df and confidence level.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447800"/>
            <a:ext cx="4432300" cy="24511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Bell-shaped t-distribution curve with the area to the left of t = 1.328 shaded, illustrating a one-tailed cutoff.</a:t>
            </a:r>
          </a:p>
        </p:txBody>
      </p:sp>
      <p:pic>
        <p:nvPicPr>
          <p:cNvPr descr="images/clipboard-641796945.png" id="0" name="Picture 1"/>
          <p:cNvPicPr>
            <a:picLocks noGrp="1" noChangeAspect="1"/>
          </p:cNvPicPr>
          <p:nvPr/>
        </p:nvPicPr>
        <p:blipFill>
          <a:blip r:embed="rId3"/>
          <a:stretch>
            <a:fillRect/>
          </a:stretch>
        </p:blipFill>
        <p:spPr bwMode="auto">
          <a:xfrm>
            <a:off x="5334000" y="1295400"/>
            <a:ext cx="28829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Student’s t critical-value table with the one-tail 0.10 column and df = 19 row highlighted, intersecting at the critical value 1.328, the value used for a one-tailed test with n = 20.</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397000"/>
            <a:ext cx="4432300" cy="2540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Bell-shaped t-distribution curve with both tails shaded beyond t = -1.729 and t = 1.729, illustrating a two-tailed cutoff.</a:t>
            </a:r>
          </a:p>
        </p:txBody>
      </p:sp>
      <p:pic>
        <p:nvPicPr>
          <p:cNvPr descr="images/clipboard-1734806681.png" id="0" name="Picture 1"/>
          <p:cNvPicPr>
            <a:picLocks noGrp="1" noChangeAspect="1"/>
          </p:cNvPicPr>
          <p:nvPr/>
        </p:nvPicPr>
        <p:blipFill>
          <a:blip r:embed="rId3"/>
          <a:stretch>
            <a:fillRect/>
          </a:stretch>
        </p:blipFill>
        <p:spPr bwMode="auto">
          <a:xfrm>
            <a:off x="5334000" y="1295400"/>
            <a:ext cx="28829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Student’s t critical-value table with the two-tail 0.10 column and df = 19 row highlighted, intersecting at the critical value 1.729, the value used for a two-tailed test with n =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Student’s t critical-value table with the two-tail 0.05 column and df = 8 row highlighted, intersecting at the critical value 2.306, the value used to compute the 95% confidence interval in this worked example.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264.9 mm
 Standard deviation: 15.9 mm
 Standard error: 5.03 mm
 95% CI using z: 255 to 274.8 mm
 95% CI using t: 253.5 to 276.3 mm
 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a:p>
            <a:pPr lvl="0" indent="0" marL="1270000">
              <a:buNone/>
            </a:pPr>
            <a:r>
              <a:rPr sz="2000" b="1"/>
              <a:t>Note</a:t>
            </a:r>
          </a:p>
          <a:p>
            <a:pPr lvl="0" indent="0" marL="1270000">
              <a:buNone/>
            </a:pPr>
            <a:r>
              <a:rPr sz="2000" b="1"/>
              <a:t>📖 Reference</a:t>
            </a:r>
          </a:p>
          <a:p>
            <a:pPr lvl="0" indent="0" marL="1270000">
              <a:buNone/>
            </a:pPr>
            <a:r>
              <a:rPr sz="2000"/>
              <a:t>Gotelli &amp; Ellison, Ch. 4 — Framing and Testing Hypotheses.</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probability_inference_lectur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lectur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probability_inference_lecture_files/figure-pptx/l04-2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lectur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What It Means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lectur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7: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lectur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Probability &amp; Inference</dc:title>
  <dc:creator>Bill Perry</dc:creator>
  <cp:keywords/>
  <dc:description>Probability distributions, the standard normal and t-distributions, Z-scores, confidence intervals, one- and two-tailed hypothesis testing, p-values, and Type I/II error — on the Arctic grayling length dataset.</dc:description>
  <dcterms:created xsi:type="dcterms:W3CDTF">2026-08-24T18:45:42Z</dcterms:created>
  <dcterms:modified xsi:type="dcterms:W3CDTF">2026-08-24T18:45:42Z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resources">
    <vt:lpwstr/>
  </property>
  <property fmtid="{D5CDD505-2E9C-101B-9397-08002B2CF9AE}" pid="13" name="subtitle">
    <vt:lpwstr>Foundations of inference</vt:lpwstr>
  </property>
  <property fmtid="{D5CDD505-2E9C-101B-9397-08002B2CF9AE}" pid="14" name="toc-title">
    <vt:lpwstr>Table of contents</vt:lpwstr>
  </property>
  <property fmtid="{D5CDD505-2E9C-101B-9397-08002B2CF9AE}" pid="15" name="week">
    <vt:lpwstr>3</vt:lpwstr>
  </property>
</Properties>
</file>