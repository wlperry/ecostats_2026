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gray_I3_I8.csv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5.png" /><Relationship Id="rId2" Type="http://schemas.openxmlformats.org/officeDocument/2006/relationships/image" Target="../media/image14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layers.html" TargetMode="External" /><Relationship Id="rId3" Type="http://schemas.openxmlformats.org/officeDocument/2006/relationships/hyperlink" Target="https://r4ds.hadley.nz/EDA.html" TargetMode="External" /><Relationship Id="rId4" Type="http://schemas.openxmlformats.org/officeDocument/2006/relationships/hyperlink" Target="https://r4ds.hadley.nz/numbers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Probability &amp;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Foundations of inference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Review of probability distributions</a:t>
            </a:r>
          </a:p>
          <a:p>
            <a:pPr lvl="0"/>
            <a:r>
              <a:rPr/>
              <a:t>Standard normal distribution and Z-scores</a:t>
            </a:r>
          </a:p>
          <a:p>
            <a:pPr lvl="0"/>
            <a:r>
              <a:rPr/>
              <a:t>Standard error and confidence intervals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</p:txBody>
      </p:sp>
      <p:pic>
        <p:nvPicPr>
          <p:cNvPr descr="probability_inference_lecture_files/figure-pptx/l04-02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346200"/>
            <a:ext cx="27813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Exploring the Grayling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Exploring the Grayling Dataset</a:t>
            </a:r>
          </a:p>
          <a:p>
            <a:pPr lvl="0" indent="0" marL="1270000">
              <a:buNone/>
            </a:pPr>
            <a:r>
              <a:rPr sz="2000"/>
              <a:t>Let’s explore the Arctic grayling data from lakes I3 and I8. Use the </a:t>
            </a:r>
            <a:r>
              <a:rPr sz="2000">
                <a:latin typeface="Courier"/>
              </a:rPr>
              <a:t>grayling_df</a:t>
            </a:r>
            <a:r>
              <a:rPr sz="2000"/>
              <a:t> data frame to create basic summary statistics.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explore the basic structure of the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also note plotting a box plot is really useful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summary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grayling_summary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grayling_summary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5
  lake  mean_length sd_length se_length count
  &lt;chr&gt;       &lt;dbl&gt;     &lt;dbl&gt;     &lt;dbl&gt; &lt;int&gt;
1 I3           266.      28.3      3.48    66
2 I8           363.      52.3      5.18   102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Probability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Probability Distribution Functions</a:t>
            </a:r>
          </a:p>
          <a:p>
            <a:pPr lvl="0"/>
            <a:r>
              <a:rPr/>
              <a:t>A </a:t>
            </a:r>
            <a:r>
              <a:rPr b="1"/>
              <a:t>probability distribution</a:t>
            </a:r>
            <a:r>
              <a:rPr/>
              <a:t> describes the probability of different outcomes in an experiment</a:t>
            </a:r>
          </a:p>
          <a:p>
            <a:pPr lvl="0"/>
            <a:r>
              <a:rPr/>
              <a:t>We’ve seen histograms of observed data</a:t>
            </a:r>
          </a:p>
          <a:p>
            <a:pPr lvl="0"/>
            <a:r>
              <a:rPr/>
              <a:t>Theoretical distributions help us model and understand real-world data</a:t>
            </a:r>
          </a:p>
          <a:p>
            <a:pPr lvl="0"/>
            <a:r>
              <a:rPr/>
              <a:t>We will focus on the </a:t>
            </a:r>
            <a:r>
              <a:rPr b="1"/>
              <a:t>standard normal distribution</a:t>
            </a:r>
            <a:r>
              <a:rPr/>
              <a:t> and </a:t>
            </a:r>
            <a:r>
              <a:rPr b="1"/>
              <a:t>Student’s t-distribution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2 — Random Variables and Probability Distributions.</a:t>
            </a:r>
            <a:br/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5 — Probability, and Ch. 10 — The Normal Distribution.</a:t>
            </a:r>
          </a:p>
        </p:txBody>
      </p:sp>
      <p:pic>
        <p:nvPicPr>
          <p:cNvPr descr="probability_inference_lecture_files/figure-pptx/l04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Standard Normal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normal distribution is crucial for understanding statistical inference:</a:t>
            </a:r>
          </a:p>
          <a:p>
            <a:pPr lvl="0"/>
            <a:r>
              <a:rPr/>
              <a:t>Has mean (μ) = 0 and standard deviation (σ) = 1</a:t>
            </a:r>
          </a:p>
          <a:p>
            <a:pPr lvl="0"/>
            <a:r>
              <a:rPr/>
              <a:t>Symmetrical bell-shaped curve</a:t>
            </a:r>
          </a:p>
          <a:p>
            <a:pPr lvl="0"/>
            <a:r>
              <a:rPr/>
              <a:t>Area under the curve = 1 (total probability)</a:t>
            </a:r>
          </a:p>
          <a:p>
            <a:pPr lvl="0"/>
            <a:r>
              <a:rPr b="1"/>
              <a:t>Approximately</a:t>
            </a:r>
            <a:r>
              <a:rPr/>
              <a:t>:</a:t>
            </a:r>
          </a:p>
          <a:p>
            <a:pPr lvl="1"/>
            <a:r>
              <a:rPr/>
              <a:t>68% of data within ±1σ of the mean</a:t>
            </a:r>
          </a:p>
          <a:p>
            <a:pPr lvl="1"/>
            <a:r>
              <a:rPr b="1"/>
              <a:t>95% of data within ±2σ of the mean - really 1.96σ</a:t>
            </a:r>
          </a:p>
          <a:p>
            <a:pPr lvl="1"/>
            <a:r>
              <a:rPr/>
              <a:t>99.7% of data within ±3σ of the mean</a:t>
            </a:r>
          </a:p>
          <a:p>
            <a:pPr lvl="0" indent="0" marL="0">
              <a:buNone/>
            </a:pPr>
            <a:r>
              <a:rPr/>
              <a:t>Z-scores allow us to convert any </a:t>
            </a:r>
            <a:r>
              <a:rPr b="1"/>
              <a:t>normal distribution</a:t>
            </a:r>
            <a:r>
              <a:rPr/>
              <a:t> to the </a:t>
            </a:r>
            <a:r>
              <a:rPr b="1"/>
              <a:t>standard normal distribution.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10 — The Normal Distribution.</a:t>
            </a:r>
          </a:p>
        </p:txBody>
      </p:sp>
      <p:pic>
        <p:nvPicPr>
          <p:cNvPr descr="probability_inference_lecture_files/figure-pptx/l04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Calculating Z-scores of lake I3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Calculating Z-scores</a:t>
            </a:r>
          </a:p>
          <a:p>
            <a:pPr lvl="0" indent="0" marL="1270000">
              <a:buNone/>
            </a:pPr>
            <a:r>
              <a:rPr sz="2000"/>
              <a:t>Let’s practice converting raw values to Z-scores using the Arctic grayling data.</a:t>
            </a:r>
          </a:p>
          <a:p>
            <a:pPr lvl="0" indent="0" marL="1270000">
              <a:buNone/>
            </a:pPr>
            <a:r>
              <a:rPr sz="2000" b="1"/>
              <a:t>Z Score = (length - mean) / standard deviation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fish lengths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mean_length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Z-scores for fish lengths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first few rows with Z-scores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(i3_df)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6
   site lake  species         length_mm mass_g z_score
  &lt;dbl&gt; &lt;chr&gt; &lt;chr&gt;               &lt;dbl&gt;  &lt;dbl&gt;   &lt;dbl&gt;
1   113 I3    arctic grayling       266    135  0.0139
2   113 I3    arctic grayling       290    185  0.862 
3   113 I3    arctic grayling       262    145 -0.127 
4   113 I3    arctic grayling       275    160  0.332 
5   113 I3    arctic grayling       240    105 -0.905 
6   113 I3    arctic grayling       265    145 -0.0214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fish data as a z score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if we plot this data what does it look like in a standard normal distribution?</a:t>
            </a:r>
          </a:p>
        </p:txBody>
      </p:sp>
      <p:pic>
        <p:nvPicPr>
          <p:cNvPr descr="probability_inference_lecture_files/figure-pptx/l04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Z-score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get area under 1 STD DEV?</a:t>
            </a:r>
          </a:p>
          <a:p>
            <a:pPr lvl="0" indent="0" marL="0">
              <a:buNone/>
            </a:pPr>
            <a:r>
              <a:rPr/>
              <a:t>Proportion within 1 standard deviation = </a:t>
            </a:r>
            <a:r>
              <a:rPr b="1"/>
              <a:t>count</a:t>
            </a:r>
            <a:r>
              <a:rPr/>
              <a:t> the observations whose absolute z-score is ≤ 1, then divide by the number in the sample.</a:t>
            </a:r>
          </a:p>
          <a:p>
            <a:pPr lvl="0" indent="0" marL="0">
              <a:buNone/>
            </a:pPr>
            <a:r>
              <a:rPr/>
              <a:t>(That is exactly what </a:t>
            </a:r>
            <a:r>
              <a:rPr>
                <a:latin typeface="Courier"/>
              </a:rPr>
              <a:t>sum(abs(z) &lt;= 1)</a:t>
            </a:r>
            <a:r>
              <a:rPr/>
              <a:t> does: </a:t>
            </a:r>
            <a:r>
              <a:rPr>
                <a:latin typeface="Courier"/>
              </a:rPr>
              <a:t>abs(z) &lt;= 1</a:t>
            </a:r>
            <a:r>
              <a:rPr/>
              <a:t> is </a:t>
            </a:r>
            <a:r>
              <a:rPr>
                <a:latin typeface="Courier"/>
              </a:rPr>
              <a:t>TRUE</a:t>
            </a:r>
            <a:r>
              <a:rPr/>
              <a:t>/</a:t>
            </a:r>
            <a:r>
              <a:rPr>
                <a:latin typeface="Courier"/>
              </a:rPr>
              <a:t>FALSE</a:t>
            </a:r>
            <a:r>
              <a:rPr/>
              <a:t> for each fish, and summing </a:t>
            </a:r>
            <a:r>
              <a:rPr>
                <a:latin typeface="Courier"/>
              </a:rPr>
              <a:t>TRUE</a:t>
            </a:r>
            <a:r>
              <a:rPr/>
              <a:t>s counts them.)</a:t>
            </a:r>
          </a:p>
          <a:p>
            <a:pPr lvl="0" indent="0" marL="0">
              <a:buNone/>
            </a:pPr>
            <a:r>
              <a:rPr/>
              <a:t>Remember in a true normal distribution it is 68% within 1 std dev.</a:t>
            </a:r>
          </a:p>
          <a:p>
            <a:pPr lvl="0" indent="0" marL="0">
              <a:buNone/>
            </a:pPr>
            <a:r>
              <a:rPr/>
              <a:t>should be </a:t>
            </a:r>
            <a:r>
              <a:rPr b="1"/>
              <a:t>approximately (varies if distribution is not normal)</a:t>
            </a:r>
            <a:r>
              <a:rPr/>
              <a:t>:</a:t>
            </a:r>
          </a:p>
          <a:p>
            <a:pPr lvl="0"/>
            <a:r>
              <a:rPr/>
              <a:t>68% of data within ±1σ of the mean</a:t>
            </a:r>
          </a:p>
          <a:p>
            <a:pPr lvl="0"/>
            <a:r>
              <a:rPr b="1"/>
              <a:t>95% of data within ±2σ of the mean - really 1.96σ</a:t>
            </a:r>
          </a:p>
          <a:p>
            <a:pPr lvl="0"/>
            <a:r>
              <a:rPr/>
              <a:t>99.7% of data within ±3σ of the mean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proportion of fish are within 1 standard deviation of the mean?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"Proportion within 1 SD:"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(within_1sd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Proportion within 1 SD: 81.8 %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 normal distribution - Fish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want to know things about this population like</a:t>
            </a:r>
          </a:p>
          <a:p>
            <a:pPr lvl="0"/>
            <a:r>
              <a:rPr/>
              <a:t>probability of a fish having a certain length (e.g., &gt; 300 mm)</a:t>
            </a:r>
          </a:p>
          <a:p>
            <a:pPr lvl="0"/>
            <a:r>
              <a:rPr/>
              <a:t>Can solve this by integrating the area under curve</a:t>
            </a:r>
          </a:p>
          <a:p>
            <a:pPr lvl="0"/>
            <a:r>
              <a:rPr/>
              <a:t>But it is tedious to do every time</a:t>
            </a:r>
          </a:p>
          <a:p>
            <a:pPr lvl="0"/>
            <a:r>
              <a:rPr/>
              <a:t>Instead</a:t>
            </a:r>
          </a:p>
          <a:p>
            <a:pPr lvl="1"/>
            <a:r>
              <a:rPr/>
              <a:t>we can use the </a:t>
            </a:r>
            <a:r>
              <a:rPr i="1"/>
              <a:t>standard normal distribution</a:t>
            </a:r>
            <a:r>
              <a:rPr/>
              <a:t> (SND)</a:t>
            </a:r>
          </a:p>
          <a:p>
            <a:pPr lvl="1"/>
            <a:r>
              <a:rPr/>
              <a:t>and can use the proportions from the density curve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1 × 1
  mean_length
        &lt;dbl&gt;
1        266.</a:t>
            </a:r>
          </a:p>
        </p:txBody>
      </p:sp>
      <p:pic>
        <p:nvPicPr>
          <p:cNvPr descr="probability_inference_lecture_files/figure-pptx/l04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95900" y="1295400"/>
            <a:ext cx="2946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Standard normal distribution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Normal Distribution</a:t>
            </a:r>
          </a:p>
          <a:p>
            <a:pPr lvl="0"/>
            <a:r>
              <a:rPr/>
              <a:t>“benchmark” normal distribution with µ = 0, σ = 1</a:t>
            </a:r>
          </a:p>
          <a:p>
            <a:pPr lvl="0"/>
            <a:r>
              <a:rPr/>
              <a:t>The Standard Normal Distribution is defined so that:</a:t>
            </a:r>
          </a:p>
          <a:p>
            <a:pPr lvl="1"/>
            <a:r>
              <a:rPr/>
              <a:t>~68% of the curve area within +/- 1 σ of the mean,</a:t>
            </a:r>
          </a:p>
          <a:p>
            <a:pPr lvl="1"/>
            <a:r>
              <a:rPr/>
              <a:t>~95% within +/- 2 σ of the mean,</a:t>
            </a:r>
          </a:p>
          <a:p>
            <a:pPr lvl="1"/>
            <a:r>
              <a:rPr/>
              <a:t>~99.7% within +/- 3 σ of the mean</a:t>
            </a:r>
          </a:p>
          <a:p>
            <a:pPr lvl="0" indent="0" marL="0">
              <a:buNone/>
            </a:pPr>
            <a:r>
              <a:rPr/>
              <a:t>*remember σ = standard deviation</a:t>
            </a:r>
          </a:p>
        </p:txBody>
      </p:sp>
      <p:pic>
        <p:nvPicPr>
          <p:cNvPr descr="probability_inference_lecture_files/figure-pptx/l04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Using Z-tables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Areas under curve of Standard Normal Distribution</a:t>
            </a:r>
          </a:p>
          <a:p>
            <a:pPr lvl="0"/>
            <a:r>
              <a:rPr/>
              <a:t>Calculated once for the standard normal curve — no sample size needed (unlike the t-table, which needs df)</a:t>
            </a:r>
          </a:p>
          <a:p>
            <a:pPr lvl="0"/>
            <a:r>
              <a:rPr/>
              <a:t>Can be looked up in z-table</a:t>
            </a:r>
          </a:p>
          <a:p>
            <a:pPr lvl="0"/>
            <a:r>
              <a:rPr/>
              <a:t>No need to integrate</a:t>
            </a:r>
          </a:p>
          <a:p>
            <a:pPr lvl="0"/>
            <a:r>
              <a:rPr/>
              <a:t>Any normally distributed data can be standardized</a:t>
            </a:r>
          </a:p>
          <a:p>
            <a:pPr lvl="1"/>
            <a:r>
              <a:rPr/>
              <a:t>transformed into the standard normal distribution</a:t>
            </a:r>
          </a:p>
          <a:p>
            <a:pPr lvl="1"/>
            <a:r>
              <a:rPr/>
              <a:t>a value can be looked up in a table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10 — The Normal Distribution, on standardizing a value and reading the standard normal table.</a:t>
            </a:r>
          </a:p>
        </p:txBody>
      </p:sp>
      <p:pic>
        <p:nvPicPr>
          <p:cNvPr descr="probability_inference_lecture_files/figure-pptx/l04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Z-score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Done by converting original data points to z-scores</a:t>
                </a:r>
              </a:p>
              <a:p>
                <a:pPr lvl="0"/>
                <a:r>
                  <a:rPr/>
                  <a:t>Z-scores calculated as: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Z = 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z = z-score for observation</a:t>
                </a:r>
              </a:p>
              <a:p>
                <a:pPr lvl="0"/>
                <a:r>
                  <a:rPr/>
                  <a:t>xi = original observation</a:t>
                </a:r>
              </a:p>
              <a:p>
                <a:pPr lvl="0"/>
                <a:r>
                  <a:rPr/>
                  <a:t>µ = mean of data distribution</a:t>
                </a:r>
              </a:p>
              <a:p>
                <a:pPr lvl="0"/>
                <a:r>
                  <a:rPr/>
                  <a:t>σ = SD of data distribution</a:t>
                </a:r>
              </a:p>
              <a:p>
                <a:pPr lvl="0" indent="0" marL="0">
                  <a:buNone/>
                </a:pPr>
                <a:r>
                  <a:rPr/>
                  <a:t>So let’s do this for a fish that is 300mm long and guess the probability of catching something larger</a:t>
                </a:r>
              </a:p>
              <a:p>
                <a:pPr lvl="0" indent="0" marL="0">
                  <a:buNone/>
                </a:pPr>
                <a:r>
                  <a:rPr/>
                  <a:t>z = (300 - 265.61)/28.3 = 1.215194</a:t>
                </a:r>
              </a:p>
            </p:txBody>
          </p:sp>
        </mc:Choice>
      </mc:AlternateContent>
      <p:pic>
        <p:nvPicPr>
          <p:cNvPr descr="probability_inference_lecture_files/figure-pptx/l04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Z-score example from 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Done by converting original data points to z-scores</a:t>
                </a:r>
              </a:p>
              <a:p>
                <a:pPr lvl="0"/>
                <a:r>
                  <a:rPr/>
                  <a:t>Z-scores calculated as: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Z = 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z = z-score for observation</a:t>
                </a:r>
              </a:p>
              <a:p>
                <a:pPr lvl="0"/>
                <a:r>
                  <a:rPr/>
                  <a:t>xi = original observation</a:t>
                </a:r>
              </a:p>
              <a:p>
                <a:pPr lvl="0"/>
                <a:r>
                  <a:rPr/>
                  <a:t>µ = mean of data distribution</a:t>
                </a:r>
              </a:p>
              <a:p>
                <a:pPr lvl="0"/>
                <a:r>
                  <a:rPr/>
                  <a:t>σ = SD of data distribution</a:t>
                </a:r>
              </a:p>
              <a:p>
                <a:pPr lvl="0" indent="0" marL="0">
                  <a:buNone/>
                </a:pPr>
                <a:r>
                  <a:rPr/>
                  <a:t>So let’s do this for a fish that is 300mm long and guess the probability of catching something larger</a:t>
                </a:r>
              </a:p>
              <a:p>
                <a:pPr lvl="0"/>
                <a:r>
                  <a:rPr/>
                  <a:t>z = (300 - 265.61)/28.3 = 1.22</a:t>
                </a:r>
              </a:p>
              <a:p>
                <a:pPr lvl="0"/>
                <a:r>
                  <a:rPr/>
                  <a:t>look up 1.2 on left and 0.02 on top to get 0.8888 in table</a:t>
                </a:r>
              </a:p>
              <a:p>
                <a:pPr lvl="0"/>
                <a:r>
                  <a:rPr/>
                  <a:t>Means 88.9% is the area left of the curve </a:t>
                </a:r>
                <a:r>
                  <a:rPr b="1"/>
                  <a:t>and</a:t>
                </a:r>
              </a:p>
              <a:p>
                <a:pPr lvl="0"/>
                <a:r>
                  <a:rPr/>
                  <a:t>100 - 88.9 = 11.1% of fish are expected to be longer</a:t>
                </a:r>
              </a:p>
              <a:p>
                <a:pPr lvl="0" indent="0" marL="0">
                  <a:buNone/>
                </a:pPr>
                <a:r>
                  <a:rPr b="1"/>
                  <a:t>At what point do you think its not likely to catch a larger fish - what percentage?</a:t>
                </a:r>
              </a:p>
              <a:p>
                <a:pPr lvl="0" indent="0" marL="0">
                  <a:buNone/>
                </a:pPr>
                <a:r>
                  <a:rPr/>
                  <a:t>Now work it backwards: pick a percentage first, and find the length it corresponds to. Why might you want to do it in that direction?</a:t>
                </a:r>
              </a:p>
            </p:txBody>
          </p:sp>
        </mc:Choice>
      </mc:AlternateContent>
      <p:pic>
        <p:nvPicPr>
          <p:cNvPr descr="images/clipboard-19957911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93800"/>
            <a:ext cx="27813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Standard normal (Z) table giving the cumulative area to the left of z for z-values from 0.0 to 3.4 in rows and hundredths in columns, used to look up the proportion of a normal distribution below a given z-score.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Z-score example calculation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 use R to get these values easier…</a:t>
            </a:r>
          </a:p>
          <a:p>
            <a:pPr lvl="0" indent="0" marL="0">
              <a:buNone/>
            </a:pPr>
            <a:r>
              <a:rPr/>
              <a:t>For the standard normal distribution (mean = 0, sd = 1):</a:t>
            </a:r>
          </a:p>
          <a:p>
            <a:pPr lvl="0"/>
            <a:r>
              <a:rPr>
                <a:latin typeface="Courier"/>
              </a:rPr>
              <a:t>pnorm(z)</a:t>
            </a:r>
            <a:r>
              <a:rPr/>
              <a:t> — cumulative probability (area to the left)</a:t>
            </a:r>
          </a:p>
          <a:p>
            <a:pPr lvl="0"/>
            <a:r>
              <a:rPr>
                <a:latin typeface="Courier"/>
              </a:rPr>
              <a:t>qnorm(p)</a:t>
            </a:r>
            <a:r>
              <a:rPr/>
              <a:t> — the z-value for a given probability</a:t>
            </a:r>
          </a:p>
          <a:p>
            <a:pPr lvl="0"/>
            <a:r>
              <a:rPr>
                <a:latin typeface="Courier"/>
              </a:rPr>
              <a:t>dnorm(z)</a:t>
            </a:r>
            <a:r>
              <a:rPr/>
              <a:t> — the probability density at z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--- Look up OUR fish: the 300 mm grayling, z = 1.22 ---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z_fish &lt;- </a:t>
            </a:r>
            <a:r>
              <a:rPr>
                <a:solidFill>
                  <a:srgbClr val="AD0000"/>
                </a:solidFill>
                <a:latin typeface="Courier"/>
              </a:rPr>
              <a:t>1.22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(z_fish)        </a:t>
            </a:r>
            <a:r>
              <a:rPr>
                <a:solidFill>
                  <a:srgbClr val="5E5E5E"/>
                </a:solidFill>
                <a:latin typeface="Courier"/>
              </a:rPr>
              <a:t># 0.8888 -&gt; 88.9% of fish are SHORTER than 300 mm</a:t>
            </a:r>
          </a:p>
          <a:p>
            <a:pPr lvl="0" indent="0">
              <a:buNone/>
            </a:pPr>
            <a:r>
              <a:rPr>
                <a:latin typeface="Courier"/>
              </a:rPr>
              <a:t>[1] 0.8887676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(z_fish)    </a:t>
            </a:r>
            <a:r>
              <a:rPr>
                <a:solidFill>
                  <a:srgbClr val="5E5E5E"/>
                </a:solidFill>
                <a:latin typeface="Courier"/>
              </a:rPr>
              <a:t># 0.1112 -&gt; 11.1% are LONGER (matches the z-table slide)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0.1112324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--- Where does the famous 1.96 come from? 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"95% within +/- 2 SD" is the rule of thumb; the exact value is 1.96.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   </a:t>
            </a:r>
            <a:r>
              <a:rPr>
                <a:solidFill>
                  <a:srgbClr val="5E5E5E"/>
                </a:solidFill>
                <a:latin typeface="Courier"/>
              </a:rPr>
              <a:t># 0.9545 -&gt; +/-2 SD is really 95.4%, not 95%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0.9544997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0.9500 -&gt; +/-1.96 SD is exactly 95%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0.9500042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1.96  &lt;- the z with 2.5% in each tail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1.959964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1.645 &lt;- the z with 5% in ONE tail (we use this next slide)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1.644854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We can now use this for fun in the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say we are interested in knowing at what point from I3 it is not likely to catch a larger fish?</a:t>
            </a:r>
          </a:p>
          <a:p>
            <a:pPr lvl="0" indent="0" marL="0">
              <a:buNone/>
            </a:pPr>
            <a:r>
              <a:rPr/>
              <a:t>Maybe we expect 95% of the time to catch a fish that is “common” but the 5% is the unlikely portion….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Examples: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fish length corresponds to the top 5% (unlikely)?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top_5_percent_z &lt;- </a:t>
            </a: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z-score for 95th percentile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unlikely_length &lt;-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(top_5_percent_z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"Only 5% of fish are longer than:"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(unlikely_length,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Only 5% of fish are longer than: 312.2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"This corresponds to z-score:"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(top_5_percent_z,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This corresponds to z-score: 1.645 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But wait — are these fish actually normal?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probability we just calculated </a:t>
            </a:r>
            <a:r>
              <a:rPr b="1"/>
              <a:t>assumed a normal distribution</a:t>
            </a:r>
            <a:r>
              <a:rPr/>
              <a:t>. Let’s check that assumption.</a:t>
            </a:r>
          </a:p>
          <a:p>
            <a:pPr lvl="0"/>
            <a:r>
              <a:rPr/>
              <a:t>The normal curve says 68% of fish should be within 1 SD</a:t>
            </a:r>
          </a:p>
          <a:p>
            <a:pPr lvl="0"/>
            <a:r>
              <a:rPr/>
              <a:t>Our fish: </a:t>
            </a:r>
            <a:r>
              <a:rPr b="1"/>
              <a:t>81.8%</a:t>
            </a:r>
            <a:r>
              <a:rPr/>
              <a:t> are</a:t>
            </a:r>
          </a:p>
          <a:p>
            <a:pPr lvl="0"/>
            <a:r>
              <a:rPr/>
              <a:t>Shapiro-Wilk test: </a:t>
            </a:r>
            <a:r>
              <a:rPr b="1"/>
              <a:t>p = 0.0002</a:t>
            </a:r>
            <a:r>
              <a:rPr/>
              <a:t> — significantly non-normal</a:t>
            </a:r>
          </a:p>
          <a:p>
            <a:pPr lvl="0" indent="0" marL="0">
              <a:buNone/>
            </a:pPr>
            <a:r>
              <a:rPr/>
              <a:t>So how wrong were we?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theory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actual data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95th percentile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312.2 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310.0 mm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P(fish &gt; 300 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11.2%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7.6%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percentile is fine. The </a:t>
            </a:r>
            <a:r>
              <a:rPr b="1"/>
              <a:t>tail probability is off by a third</a:t>
            </a:r>
            <a:r>
              <a:rPr/>
              <a:t> — and the tails are exactly where we do hypothesis testing.</a:t>
            </a:r>
          </a:p>
          <a:p>
            <a:pPr lvl="0" indent="0" marL="0">
              <a:buNone/>
            </a:pPr>
            <a:r>
              <a:rPr b="1"/>
              <a:t>This is why we check assumptions before trusting a p-value.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13 — Handling Violations of Assumptions, on checking normality and what to do when it fails.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Does the normal model actually fit?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i3_df$length_mm
W = 0.91051, p-value = 0.0001623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theory vs reality out in the tail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mean_i3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sd_i3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"normal theory P(&gt;300):"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mean_i3, sd_i3)),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normal theory P(&gt;300): 11.2 %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"actual        P(&gt;300):"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actual        P(&gt;300): 7.6 %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this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Given that we can: transform data to z-scores from standard normal distribution…</a:t>
            </a:r>
          </a:p>
          <a:p>
            <a:pPr lvl="0"/>
            <a:r>
              <a:rPr/>
              <a:t>…figure out area under the curve (probability) associated with range of z-scores…</a:t>
            </a:r>
          </a:p>
          <a:p>
            <a:pPr lvl="0"/>
            <a:r>
              <a:rPr/>
              <a:t>…can therefore figure out probability associated with a range of original data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Careful: two different distributions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have now used the normal curve for </a:t>
            </a:r>
            <a:r>
              <a:rPr b="1"/>
              <a:t>two different things</a:t>
            </a:r>
            <a:r>
              <a:rPr/>
              <a:t>. Keep them straight: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to use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long is a </a:t>
                      </a:r>
                      <a:r>
                        <a:rPr i="1"/>
                        <a:t>single fish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  <a:r>
                        <a:rPr/>
                        <a:t> (s)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is the </a:t>
                      </a:r>
                      <a:r>
                        <a:rPr i="1"/>
                        <a:t>population mean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  <a:r>
                        <a:rPr/>
                        <a:t> (s/√n)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The distribution of </a:t>
            </a:r>
            <a:r>
              <a:rPr b="1"/>
              <a:t>fish</a:t>
            </a:r>
            <a:r>
              <a:rPr/>
              <a:t> is as wide as the fish actually are — it does not get narrower if you catch more fish</a:t>
            </a:r>
          </a:p>
          <a:p>
            <a:pPr lvl="0"/>
            <a:r>
              <a:rPr/>
              <a:t>The distribution of </a:t>
            </a:r>
            <a:r>
              <a:rPr b="1"/>
              <a:t>sample means</a:t>
            </a:r>
            <a:r>
              <a:rPr/>
              <a:t> gets narrower as n grows, because averages are more stable than individuals</a:t>
            </a:r>
          </a:p>
          <a:p>
            <a:pPr lvl="0" indent="0" marL="0">
              <a:buNone/>
            </a:pPr>
            <a:r>
              <a:rPr/>
              <a:t>That is why:</a:t>
            </a:r>
          </a:p>
          <a:p>
            <a:pPr lvl="0"/>
            <a:r>
              <a:rPr/>
              <a:t>“5% of fish are longer than 312 mm” uses </a:t>
            </a:r>
            <a:r>
              <a:rPr b="1"/>
              <a:t>SD</a:t>
            </a:r>
          </a:p>
          <a:p>
            <a:pPr lvl="0"/>
            <a:r>
              <a:rPr/>
              <a:t>“the 95% CI for mean length is 258.6–272.6 mm” uses </a:t>
            </a:r>
            <a:r>
              <a:rPr b="1"/>
              <a:t>SE</a:t>
            </a:r>
          </a:p>
          <a:p>
            <a:pPr lvl="0" indent="0" marL="0">
              <a:buNone/>
            </a:pPr>
            <a:r>
              <a:rPr b="1"/>
              <a:t>Using SE when you meant SD makes your interval about √n times too narrow.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is the chapter that separates these two ideas.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sd_i3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n_i3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se_i3 &lt;- sd_i3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(n_i3)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(spread of fish):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(sd_i3,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(spread of fish):   28.3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(spread of means):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(se_i3,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(spread of means):  3.5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="</a:t>
            </a:r>
            <a:r>
              <a:rPr>
                <a:solidFill>
                  <a:srgbClr val="003B4F"/>
                </a:solidFill>
                <a:latin typeface="Courier"/>
              </a:rPr>
              <a:t>, n_i3, </a:t>
            </a:r>
            <a:r>
              <a:rPr>
                <a:solidFill>
                  <a:srgbClr val="20794D"/>
                </a:solidFill>
                <a:latin typeface="Courier"/>
              </a:rPr>
              <a:t>" -&gt; SE is"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(sd_i3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se_i3,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"x smaller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= 66  -&gt; SE is 8.1 x smaller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 what is next…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 look at Standard normal distributions and know probability of a value being in a range under the standard normal curve…</a:t>
            </a:r>
          </a:p>
          <a:p>
            <a:pPr lvl="0" indent="0" marL="0">
              <a:buNone/>
            </a:pPr>
            <a:r>
              <a:rPr/>
              <a:t>Previously we had calculated Standard Error and Confidence Intervals -</a:t>
            </a:r>
          </a:p>
          <a:p>
            <a:pPr lvl="0"/>
            <a:r>
              <a:rPr/>
              <a:t>Now can assess our confidence that the population mean is within a certain range</a:t>
            </a:r>
            <a:br/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the probability of getting a sample with mean = ȳ from a population with mean = µ?” (1 sample t-test)</a:t>
            </a:r>
            <a:br/>
          </a:p>
          <a:p>
            <a:pPr lvl="1"/>
            <a:r>
              <a:rPr/>
              <a:t>“What is the probability that two samples came from the same population?” (2 sample t-test)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Population σ is Unknown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When calculating confidence intervals we usually DON’T know the population σ (standard deviation) or 𝝁 population mean</a:t>
            </a:r>
          </a:p>
          <a:p>
            <a:pPr lvl="0"/>
            <a:r>
              <a:rPr/>
              <a:t>we estimate σ from the sample, using s</a:t>
            </a:r>
          </a:p>
          <a:p>
            <a:pPr lvl="0"/>
            <a:r>
              <a:rPr/>
              <a:t>that estimate carries its own uncertainty — so the z distribution is too narrow</a:t>
            </a:r>
          </a:p>
          <a:p>
            <a:pPr lvl="0"/>
            <a:r>
              <a:rPr b="1"/>
              <a:t>whenever σ is estimated, use t — at any sample size</a:t>
            </a:r>
          </a:p>
          <a:p>
            <a:pPr lvl="0"/>
            <a:r>
              <a:rPr/>
              <a:t>t and z agree to ~2 decimals once n is past ~30, which is where the “n &gt; 30” rule of thumb comes from — it’s a convenience, not the rule</a:t>
            </a:r>
          </a:p>
          <a:p>
            <a:pPr lvl="0" indent="0" marL="0">
              <a:buNone/>
            </a:pPr>
            <a:r>
              <a:rPr i="1"/>
              <a:t>Instead, we use Student’s t distribution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11 — Inference for a Normal Population, introduces the t-distribution for exactly this situation.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When sample sizes are small, the t-distribution is more appropriate than the normal distribution.</a:t>
            </a:r>
          </a:p>
          <a:p>
            <a:pPr lvl="0"/>
            <a:r>
              <a:rPr/>
              <a:t>Similar to normal distribution but with heavier tails</a:t>
            </a:r>
          </a:p>
          <a:p>
            <a:pPr lvl="0"/>
            <a:r>
              <a:rPr/>
              <a:t>Shape depends on </a:t>
            </a:r>
            <a:r>
              <a:rPr b="1"/>
              <a:t>degrees of freedom</a:t>
            </a:r>
            <a:r>
              <a:rPr/>
              <a:t> (df = n-1)</a:t>
            </a:r>
          </a:p>
          <a:p>
            <a:pPr lvl="0"/>
            <a:r>
              <a:rPr/>
              <a:t>With large df (&gt;30), approaches the normal distribution</a:t>
            </a:r>
          </a:p>
          <a:p>
            <a:pPr lvl="0"/>
            <a:r>
              <a:rPr/>
              <a:t>Used for:</a:t>
            </a:r>
          </a:p>
          <a:p>
            <a:pPr lvl="1"/>
            <a:r>
              <a:rPr/>
              <a:t>Small sample sizes</a:t>
            </a:r>
          </a:p>
          <a:p>
            <a:pPr lvl="1"/>
            <a:r>
              <a:rPr/>
              <a:t>When population standard deviation is unknown</a:t>
            </a:r>
          </a:p>
          <a:p>
            <a:pPr lvl="1"/>
            <a:r>
              <a:rPr/>
              <a:t>Calculating confidence intervals</a:t>
            </a:r>
          </a:p>
          <a:p>
            <a:pPr lvl="1"/>
            <a:r>
              <a:rPr/>
              <a:t>Conducting t-tests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11 — Inference for a Normal Population.</a:t>
            </a:r>
            <a:br/>
            <a:r>
              <a:rPr sz="2000"/>
              <a:t>Gotelli &amp; Ellison, Ch. 3 — Summary Statistics, on the standard error that sits inside every t.</a:t>
            </a:r>
          </a:p>
        </p:txBody>
      </p:sp>
      <p:pic>
        <p:nvPicPr>
          <p:cNvPr descr="probability_inference_lecture_files/figure-pptx/l04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Student’s t-distribution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To calculate CI for sample from “unknown” population: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ȳ is sample mean</a:t>
                </a:r>
              </a:p>
              <a:p>
                <a:pPr lvl="0"/>
                <a:r>
                  <a:rPr/>
                  <a:t>𝑛 is sample size</a:t>
                </a:r>
              </a:p>
              <a:p>
                <a:pPr lvl="0"/>
                <a:r>
                  <a:rPr/>
                  <a:t>s is sample standard deviation</a:t>
                </a:r>
              </a:p>
              <a:p>
                <a:pPr lvl="0"/>
                <a:r>
                  <a:rPr/>
                  <a:t>t t-value corresponding the probability of the CI</a:t>
                </a:r>
              </a:p>
              <a:p>
                <a:pPr lvl="0"/>
                <a:r>
                  <a:rPr/>
                  <a:t>t in t-table for different degrees of freedom (n-1)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08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one-tail and two-tail probabilities across the columns and degrees of freedom down the rows, used to look up the t-value for a chosen confidence level and sample size.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Student’s t-distribution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Here is a t-table</a:t>
            </a:r>
          </a:p>
          <a:p>
            <a:pPr lvl="0"/>
            <a:r>
              <a:rPr/>
              <a:t>Values of t that correspond to probabilities</a:t>
            </a:r>
          </a:p>
          <a:p>
            <a:pPr lvl="0"/>
            <a:r>
              <a:rPr/>
              <a:t>Probabilities listed along top</a:t>
            </a:r>
          </a:p>
          <a:p>
            <a:pPr lvl="0"/>
            <a:r>
              <a:rPr/>
              <a:t>Sample dfs are listed in the left-most column</a:t>
            </a:r>
          </a:p>
          <a:p>
            <a:pPr lvl="0"/>
            <a:r>
              <a:rPr/>
              <a:t>Probabilities are given for one-tailed and two-tailed “questions”</a:t>
            </a:r>
          </a:p>
        </p:txBody>
      </p:sp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08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Student’s t critical-value table repeated, with probabilities along the top and degrees of freedom down the left column, illustrating how to read off a critical t-value for a given df and confidence level.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One-tailed questions: area of distribution left or (right) of a certain value</a:t>
            </a:r>
          </a:p>
          <a:p>
            <a:pPr lvl="0"/>
            <a:r>
              <a:rPr/>
              <a:t>n=20 (df=19) - 90% of the observations found left</a:t>
            </a:r>
          </a:p>
          <a:p>
            <a:pPr lvl="0"/>
            <a:r>
              <a:rPr/>
              <a:t>t= 1.328 (10%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47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the area to the left of t = 1.328 shaded, illustrating a one-tailed cutoff.</a:t>
            </a:r>
          </a:p>
        </p:txBody>
      </p:sp>
      <p:pic>
        <p:nvPicPr>
          <p:cNvPr descr="images/clipboard-641796945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34000" y="1295400"/>
            <a:ext cx="28829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one-tail 0.10 column and df = 19 row highlighted, intersecting at the critical value 1.328, the value used for a one-tailed test with n = 20.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20 (df=19), 90% of the observations are between</a:t>
            </a:r>
          </a:p>
          <a:p>
            <a:pPr lvl="0"/>
            <a:r>
              <a:rPr/>
              <a:t>t=-1.729 and t=1.729 (10%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97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both tails shaded beyond t = -1.729 and t = 1.729, illustrating a two-tailed cutoff.</a:t>
            </a:r>
          </a:p>
        </p:txBody>
      </p:sp>
      <p:pic>
        <p:nvPicPr>
          <p:cNvPr descr="images/clipboard-173480668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34000" y="1295400"/>
            <a:ext cx="28829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0.10 column and df = 19 row highlighted, intersecting at the critical value 1.729, the value used for a two-tailed test with n = 20.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t-distribution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272.8 ± 2.306 * (37.81/(9^0.5))</a:t>
                </a:r>
              </a:p>
              <a:p>
                <a:pPr lvl="0"/>
                <a:r>
                  <a:rPr/>
                  <a:t>mean = 272.8, N = 9, and s = 37.81 - t is ? (df = N - 1 = 8)</a:t>
                </a:r>
              </a:p>
              <a:p>
                <a:pPr lvl="0"/>
                <a:r>
                  <a:rPr/>
                  <a:t>CI = 29.06</a:t>
                </a:r>
              </a:p>
              <a:p>
                <a:pPr lvl="0"/>
                <a:r>
                  <a:rPr/>
                  <a:t>The 95% CI is between 243.7 and 301.9</a:t>
                </a:r>
              </a:p>
              <a:p>
                <a:pPr lvl="0"/>
                <a:r>
                  <a:rPr/>
                  <a:t>“The 95% CI for the population mean from sample A is 272.8 ± 29.06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4 — Estimating with Uncertainty (what a confidence interval means), and Ch. 11 — Inference for a Normal Population (why the multiplier is </a:t>
                </a:r>
                <a:r>
                  <a:rPr sz="2000" i="1"/>
                  <a:t>t</a:t>
                </a:r>
                <a:r>
                  <a:rPr sz="2000"/>
                  <a:t>, not 1.96).</a:t>
                </a:r>
              </a:p>
            </p:txBody>
          </p:sp>
        </mc:Choice>
      </mc:AlternateContent>
      <p:pic>
        <p:nvPicPr>
          <p:cNvPr descr="images/clipboard-39596309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08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8 row highlighted, intersecting at the critical value 2.306, the value used to compute the 95% confidence interval in this worked example.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Using the t-distribution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Practice Exercise 4: Using the t-distribution</a:t>
                </a:r>
              </a:p>
              <a:p>
                <a:pPr lvl="0" indent="0" marL="1270000">
                  <a:buNone/>
                </a:pPr>
                <a:r>
                  <a:rPr sz="2000"/>
                  <a:t>Let’s compare confidence intervals using the normal approximation (z) versus the t-distribution for our fish data — a random sample of 10 fish from I3.</a:t>
                </a:r>
              </a:p>
              <a:p>
                <a:pPr lvl="0" indent="0" marL="1270000">
                  <a:buNone/>
                </a:pPr>
                <a:r>
                  <a:rPr sz="2000"/>
                  <a:t>Look at how much wider the t interval is: with n = 10 the critical value is </a:t>
                </a:r>
                <a:r>
                  <a:rPr sz="2000" b="1"/>
                  <a:t>t = 2.262</a:t>
                </a:r>
                <a:r>
                  <a:rPr sz="2000"/>
                  <a:t> rather than </a:t>
                </a:r>
                <a:r>
                  <a:rPr sz="2000" b="1"/>
                  <a:t>z = 1.96</a:t>
                </a:r>
                <a:r>
                  <a:rPr sz="2000"/>
                  <a:t>, about </a:t>
                </a:r>
                <a:r>
                  <a:rPr sz="2000" b="1"/>
                  <a:t>15% wider</a:t>
                </a:r>
                <a:r>
                  <a:rPr sz="2000"/>
                  <a:t>. That extra width is the price of having estimated σ from only 10 fish.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Display results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"Mean:"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(sample_mean,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"Standard deviation:"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(sample_sd,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"Standard error:"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(sample_se,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"95% CI using z:"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(z_ci_lower,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(z_ci_upper,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"95% CI using t:"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(t_ci_lower,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(t_ci_upper,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 critical value:"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(t_crit,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"vs z critical value: 1.96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 sz="2000">
                    <a:latin typeface="Courier"/>
                  </a:rPr>
                  <a:t>Mean: 258.9 mm
 Standard deviation: 34.73 mm
 Standard error: 10.98 mm
 95% CI using z: 237.4 to 280.4 mm
 95% CI using t: 234.1 to 283.7 mm
 t critical value: 2.262 vs z critical value: 1.96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 to Hypothesis Testing (One-Tailed) — The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  <a:br/>
            <a:br/>
            <a:r>
              <a:rPr/>
              <a:t>let’s test if our sample mean of 320 is larger than 285 or not? Essentially we are looking at the confidence intervals!!! But we are only interested if it is larger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Ch. 4 — Framing and Testing Hypotheses.</a:t>
            </a:r>
            <a:br/>
            <a:r>
              <a:rPr sz="2000"/>
              <a:t>Whitlock &amp; Schluter, Ch. 6 — Hypothesis Testing, including one-tailed vs. two-tailed tests.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Summary of One-Tailed Hypothesis Test:</a:t>
            </a:r>
          </a:p>
          <a:p>
            <a:pPr lvl="0" indent="0">
              <a:buNone/>
            </a:pPr>
            <a:r>
              <a:rPr>
                <a:latin typeface="Courier"/>
              </a:rPr>
              <a:t>Sample mean: 320 </a:t>
            </a:r>
          </a:p>
          <a:p>
            <a:pPr lvl="0" indent="0">
              <a:buNone/>
            </a:pPr>
            <a:r>
              <a:rPr>
                <a:latin typeface="Courier"/>
              </a:rPr>
              <a:t>Hypothesized mean: 285 </a:t>
            </a:r>
          </a:p>
          <a:p>
            <a:pPr lvl="0" indent="0">
              <a:buNone/>
            </a:pPr>
            <a:r>
              <a:rPr>
                <a:latin typeface="Courier"/>
              </a:rPr>
              <a:t>Sample size: 12 </a:t>
            </a:r>
          </a:p>
          <a:p>
            <a:pPr lvl="0" indent="0">
              <a:buNone/>
            </a:pPr>
            <a:r>
              <a:rPr>
                <a:latin typeface="Courier"/>
              </a:rPr>
              <a:t>Standard deviation: 42.15 </a:t>
            </a:r>
          </a:p>
          <a:p>
            <a:pPr lvl="0" indent="0">
              <a:buNone/>
            </a:pPr>
            <a:r>
              <a:rPr>
                <a:latin typeface="Courier"/>
              </a:rPr>
              <a:t>Standard error: 12.168 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2.876 </a:t>
            </a:r>
          </a:p>
          <a:p>
            <a:pPr lvl="0" indent="0">
              <a:buNone/>
            </a:pPr>
            <a:r>
              <a:rPr>
                <a:latin typeface="Courier"/>
              </a:rPr>
              <a:t>Critical t-value (one-tailed): 1.796 </a:t>
            </a:r>
          </a:p>
          <a:p>
            <a:pPr lvl="0" indent="0">
              <a:buNone/>
            </a:pPr>
            <a:r>
              <a:rPr>
                <a:latin typeface="Courier"/>
              </a:rPr>
              <a:t>Critical value: 306.85 </a:t>
            </a:r>
          </a:p>
          <a:p>
            <a:pPr lvl="0" indent="0">
              <a:buNone/>
            </a:pPr>
            <a:r>
              <a:rPr>
                <a:latin typeface="Courier"/>
              </a:rPr>
              <a:t>Decision: Reject Ho (sample mean falls in upper rejection region)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 to Hypothesis Testing (One-Tailed) — The Picture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  <a:br/>
            <a:br/>
            <a:r>
              <a:rPr/>
              <a:t>let’s test if our sample mean of 320 is larger than 285 or not? Essentially we are looking at the confidence intervals!!! But we are only interested if it is larger</a:t>
            </a:r>
          </a:p>
        </p:txBody>
      </p:sp>
      <p:pic>
        <p:nvPicPr>
          <p:cNvPr descr="probability_inference_lecture_files/figure-pptx/l04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Hypothesis Testing (Two-Tailed) — The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  <a:p>
            <a:pPr lvl="0" indent="0" marL="0">
              <a:buNone/>
            </a:pPr>
            <a:r>
              <a:rPr/>
              <a:t>let’s test if our sample mean of 320 is equal to 270 or not? Essentially we are looking at the confidence intervals!!!</a:t>
            </a:r>
            <a:br/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6 — Hypothesis Testing, on why a two-tailed test is the default and what it costs to go one-tailed.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Summary of Hypothesis Test:</a:t>
            </a:r>
          </a:p>
          <a:p>
            <a:pPr lvl="0" indent="0">
              <a:buNone/>
            </a:pPr>
            <a:r>
              <a:rPr>
                <a:latin typeface="Courier"/>
              </a:rPr>
              <a:t>Sample mean: 320 </a:t>
            </a:r>
          </a:p>
          <a:p>
            <a:pPr lvl="0" indent="0">
              <a:buNone/>
            </a:pPr>
            <a:r>
              <a:rPr>
                <a:latin typeface="Courier"/>
              </a:rPr>
              <a:t>Hypothesized mean: 270 </a:t>
            </a:r>
          </a:p>
          <a:p>
            <a:pPr lvl="0" indent="0">
              <a:buNone/>
            </a:pPr>
            <a:r>
              <a:rPr>
                <a:latin typeface="Courier"/>
              </a:rPr>
              <a:t>Standard error: 12.603 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3.967 </a:t>
            </a:r>
          </a:p>
          <a:p>
            <a:pPr lvl="0" indent="0">
              <a:buNone/>
            </a:pPr>
            <a:r>
              <a:rPr>
                <a:latin typeface="Courier"/>
              </a:rPr>
              <a:t>Critical t-value (±): 2.306 </a:t>
            </a:r>
          </a:p>
          <a:p>
            <a:pPr lvl="0" indent="0">
              <a:buNone/>
            </a:pPr>
            <a:r>
              <a:rPr>
                <a:latin typeface="Courier"/>
              </a:rPr>
              <a:t>Critical values: 240.94 to 299.06 </a:t>
            </a:r>
          </a:p>
          <a:p>
            <a:pPr lvl="0" indent="0">
              <a:buNone/>
            </a:pPr>
            <a:r>
              <a:rPr>
                <a:latin typeface="Courier"/>
              </a:rPr>
              <a:t>Decision: Reject Ho (sample mean falls in rejection region)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Hypothesis Testing (Two-Tailed) — The Picture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  <a:p>
            <a:pPr lvl="0" indent="0" marL="0">
              <a:buNone/>
            </a:pPr>
            <a:r>
              <a:rPr/>
              <a:t>let’s test if our sample mean of 320 is equal to 270 or not? Essentially we are looking at the confidence intervals!!!</a:t>
            </a:r>
          </a:p>
        </p:txBody>
      </p:sp>
      <p:pic>
        <p:nvPicPr>
          <p:cNvPr descr="probability_inference_lecture_files/figure-pptx/l04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Lets practice a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fish length in Lake I3 differs from 260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only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(i3_mean,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265.6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1.6091, df = 65, p-value = 0.1124
alternative hypothesis: true mean is not equal to 260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fish biologists?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Arctic grayling,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fish in Lake I8 longer than fish in Lake I3?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test one of these hypotheses: Are fish in Lake I8 longer than fish in Lake I3?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an independent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grayling_df,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H₀: μ_I3 ≥ μ_I8, H₁: μ_I3 &lt; μ_I8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Welch Two Sample t-test
data:  length_mm by lake
t = -15.532, df = 161.63, p-value &lt; 2.2e-16
alternative hypothesis: true difference in means between group I3 and group I8 is less than 0
95 percent confidence interval:
      -Inf -86.66138
sample estimates:
mean in group I3 mean in group I8 
        265.6061         362.5980 </a:t>
            </a:r>
          </a:p>
          <a:p>
            <a:pPr lvl="0" indent="0" marL="1270000">
              <a:buNone/>
            </a:pPr>
            <a:r>
              <a:rPr sz="2000"/>
              <a:t>Based on this t-test, what can we conclude about the difference in fish length between the two lakes?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P-values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p-value</a:t>
            </a:r>
            <a:r>
              <a:rPr/>
              <a:t> is the probability of observing the sample result (or something more extreme) if the null hypothesis is true.</a:t>
            </a:r>
          </a:p>
          <a:p>
            <a:pPr lvl="0" indent="0" marL="0">
              <a:buNone/>
            </a:pPr>
            <a:r>
              <a:rPr b="1"/>
              <a:t>Common interpretations:</a:t>
            </a:r>
          </a:p>
          <a:p>
            <a:pPr lvl="0"/>
            <a:r>
              <a:rPr/>
              <a:t>p &lt; 0.05: Strong evidence against H₀</a:t>
            </a:r>
          </a:p>
          <a:p>
            <a:pPr lvl="0"/>
            <a:r>
              <a:rPr/>
              <a:t>0.05 ≤ p &lt; 0.10: Moderate evidence against H₀</a:t>
            </a:r>
          </a:p>
          <a:p>
            <a:pPr lvl="0"/>
            <a:r>
              <a:rPr/>
              <a:t>p ≥ 0.10: Insufficient evidence against H₀</a:t>
            </a:r>
          </a:p>
          <a:p>
            <a:pPr lvl="0" indent="0" marL="0">
              <a:buNone/>
            </a:pPr>
            <a:r>
              <a:rPr b="1"/>
              <a:t>Common misinterpretations:</a:t>
            </a:r>
          </a:p>
          <a:p>
            <a:pPr lvl="0"/>
            <a:r>
              <a:rPr/>
              <a:t>p-value is NOT the probability that H₀ is true</a:t>
            </a:r>
          </a:p>
          <a:p>
            <a:pPr lvl="0"/>
            <a:r>
              <a:rPr/>
              <a:t>p-value is NOT the probability that results occurred by chance</a:t>
            </a:r>
          </a:p>
          <a:p>
            <a:pPr lvl="0"/>
            <a:r>
              <a:rPr/>
              <a:t>Statistical significance ≠ practical significance</a:t>
            </a:r>
          </a:p>
          <a:p>
            <a:pPr lvl="0"/>
            <a:r>
              <a:rPr/>
              <a:t>a very small p-value means the effect is </a:t>
            </a:r>
            <a:r>
              <a:rPr b="1"/>
              <a:t>detectable</a:t>
            </a:r>
            <a:r>
              <a:rPr/>
              <a:t>, not that it is </a:t>
            </a:r>
            <a:r>
              <a:rPr b="1"/>
              <a:t>large</a:t>
            </a:r>
            <a:r>
              <a:rPr/>
              <a:t> — with n = 168 a biologically trivial difference can give p = 10^-16</a:t>
            </a:r>
          </a:p>
          <a:p>
            <a:pPr lvl="0"/>
            <a:r>
              <a:rPr/>
              <a:t>so report </a:t>
            </a:r>
            <a:r>
              <a:rPr>
                <a:latin typeface="Courier"/>
              </a:rPr>
              <a:t>p &lt; 0.001</a:t>
            </a:r>
            <a:r>
              <a:rPr/>
              <a:t> rather than </a:t>
            </a:r>
            <a:r>
              <a:rPr>
                <a:latin typeface="Courier"/>
              </a:rPr>
              <a:t>p = 1.2e-16</a:t>
            </a:r>
            <a:r>
              <a:rPr/>
              <a:t>, and always report the effect size alongside it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6 — Hypothesis Testing.</a:t>
            </a:r>
            <a:br/>
            <a:r>
              <a:rPr sz="2000"/>
              <a:t>Gotelli &amp; Ellison, Ch. 4 — Framing and Testing Hypotheses, “Statistical Significance and P-Values,” covers these misinterpretations directly.</a:t>
            </a:r>
          </a:p>
        </p:txBody>
      </p:sp>
      <p:pic>
        <p:nvPicPr>
          <p:cNvPr descr="probability_inference_lecture_files/figure-pptx/l04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 and Type II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making decisions based on hypothesis tests, two types of errors can occur:</a:t>
            </a:r>
          </a:p>
          <a:p>
            <a:pPr lvl="0" indent="0" marL="0">
              <a:buNone/>
            </a:pPr>
            <a:r>
              <a:rPr b="1"/>
              <a:t>Type I Error (False Positive)</a:t>
            </a:r>
          </a:p>
          <a:p>
            <a:pPr lvl="0"/>
            <a:r>
              <a:rPr/>
              <a:t>Rejecting H₀ when it’s actually true</a:t>
            </a:r>
          </a:p>
          <a:p>
            <a:pPr lvl="0"/>
            <a:r>
              <a:rPr/>
              <a:t>Probability = α (significance level)</a:t>
            </a:r>
          </a:p>
          <a:p>
            <a:pPr lvl="0"/>
            <a:r>
              <a:rPr/>
              <a:t>“Finding an effect that isn’t real”</a:t>
            </a:r>
          </a:p>
          <a:p>
            <a:pPr lvl="0" indent="0" marL="0">
              <a:buNone/>
            </a:pPr>
            <a:r>
              <a:rPr b="1"/>
              <a:t>Type II Error (False Negative)</a:t>
            </a:r>
          </a:p>
          <a:p>
            <a:pPr lvl="0"/>
            <a:r>
              <a:rPr/>
              <a:t>Failing to reject H₀ when it’s actually false</a:t>
            </a:r>
          </a:p>
          <a:p>
            <a:pPr lvl="0"/>
            <a:r>
              <a:rPr/>
              <a:t>Probability = β</a:t>
            </a:r>
          </a:p>
          <a:p>
            <a:pPr lvl="0"/>
            <a:r>
              <a:rPr/>
              <a:t>“Missing an effect that is real”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6 — Hypothesis Testing, and Gotelli &amp; Ellison, Ch. 4 — “Errors in Hypothesis Testing.” We return to both in Power and Type I and II Error.</a:t>
            </a:r>
          </a:p>
          <a:p>
            <a:pPr lvl="0" indent="0" marL="0">
              <a:buNone/>
            </a:pPr>
            <a:r>
              <a:rPr b="1"/>
              <a:t>Statistical Power = 1 - β</a:t>
            </a:r>
          </a:p>
          <a:p>
            <a:pPr lvl="0"/>
            <a:r>
              <a:rPr/>
              <a:t>Probability of correctly rejecting a false H₀</a:t>
            </a:r>
          </a:p>
          <a:p>
            <a:pPr lvl="0"/>
            <a:r>
              <a:rPr/>
              <a:t>Increases with:</a:t>
            </a:r>
          </a:p>
          <a:p>
            <a:pPr lvl="1"/>
            <a:r>
              <a:rPr/>
              <a:t>Larger sample size</a:t>
            </a:r>
          </a:p>
          <a:p>
            <a:pPr lvl="1"/>
            <a:r>
              <a:rPr/>
              <a:t>Larger effect size</a:t>
            </a:r>
          </a:p>
          <a:p>
            <a:pPr lvl="1"/>
            <a:r>
              <a:rPr/>
              <a:t>Lower variability</a:t>
            </a:r>
          </a:p>
          <a:p>
            <a:pPr lvl="1"/>
            <a:r>
              <a:rPr/>
              <a:t>Higher α level</a:t>
            </a:r>
          </a:p>
        </p:txBody>
      </p:sp>
      <p:pic>
        <p:nvPicPr>
          <p:cNvPr descr="probability_inference_lecture_files/figure-pptx/l04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 and Type II Errors — What It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does it mean…</a:t>
            </a:r>
          </a:p>
          <a:p>
            <a:pPr lvl="1"/>
            <a:r>
              <a:rPr/>
              <a:t>Black curve (Null Distribution): distribution of test statistics when Ho is true</a:t>
            </a:r>
          </a:p>
          <a:p>
            <a:pPr lvl="1"/>
            <a:r>
              <a:rPr/>
              <a:t>Green curve (Alternative Distribution): distribution when Ha is true (is an effect)</a:t>
            </a:r>
          </a:p>
          <a:p>
            <a:pPr lvl="0"/>
            <a:r>
              <a:rPr/>
              <a:t>Red shaded area (Type I Error): probability of rejecting Ho when it’s actually true</a:t>
            </a:r>
          </a:p>
          <a:p>
            <a:pPr lvl="1"/>
            <a:r>
              <a:rPr/>
              <a:t>area under the null distribution (black curve) to the right of the critical value (set by α = 0.05)</a:t>
            </a:r>
          </a:p>
          <a:p>
            <a:pPr lvl="0"/>
            <a:r>
              <a:rPr/>
              <a:t>Blue shaded area (Type II Error): probability of failing to reject Ho when alternative is actually true</a:t>
            </a:r>
          </a:p>
          <a:p>
            <a:pPr lvl="1"/>
            <a:r>
              <a:rPr/>
              <a:t>area under alternative distribution (green curve) left of α (depends on effect size, sample size, etc.)</a:t>
            </a:r>
          </a:p>
          <a:p>
            <a:pPr lvl="0" indent="0" marL="0">
              <a:buNone/>
            </a:pPr>
            <a:r>
              <a:rPr/>
              <a:t>The Key Insight fundamental trade-off in hypothesis testing:</a:t>
            </a:r>
          </a:p>
          <a:p>
            <a:pPr lvl="0"/>
            <a:r>
              <a:rPr/>
              <a:t>as α value moves left or right, change balance between Type I and Type II errors</a:t>
            </a:r>
          </a:p>
          <a:p>
            <a:pPr lvl="0"/>
            <a:r>
              <a:rPr/>
              <a:t>Moving left reduces Type II errors increases Type I errors, and vice versa</a:t>
            </a:r>
          </a:p>
          <a:p>
            <a:pPr lvl="0"/>
            <a:r>
              <a:rPr/>
              <a:t>power (1 - β) area under the green curve RIGHT of dashed line</a:t>
            </a:r>
          </a:p>
          <a:p>
            <a:pPr lvl="0"/>
            <a:r>
              <a:rPr/>
              <a:t>the probability of correctly detecting a real effect.</a:t>
            </a:r>
          </a:p>
        </p:txBody>
      </p:sp>
      <p:pic>
        <p:nvPicPr>
          <p:cNvPr descr="probability_inference_lecture_files/figure-pptx/l04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Interpreting Errors and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Interpreting P-values and Errors</a:t>
            </a:r>
          </a:p>
          <a:p>
            <a:pPr lvl="0" indent="0" marL="1270000">
              <a:buNone/>
            </a:pPr>
            <a:r>
              <a:rPr sz="2000"/>
              <a:t>Given the following scenarios, identify whether a Type I or Type II error might have occurred:</a:t>
            </a:r>
          </a:p>
          <a:p>
            <a:pPr lvl="0" indent="-342900" marL="342900">
              <a:buAutoNum type="arabicPeriod"/>
            </a:pPr>
            <a:r>
              <a:rPr sz="2000"/>
              <a:t>A researcher concludes that a new fishing regulation increased grayling size, when in fact it had no effect.</a:t>
            </a:r>
          </a:p>
          <a:p>
            <a:pPr lvl="0" indent="-342900" marL="342900">
              <a:buAutoNum type="arabicPeriod"/>
            </a:pPr>
            <a:r>
              <a:rPr sz="2000"/>
              <a:t>A study fails to detect a real decline in grayling population due to warming water, concluding there was no effect.</a:t>
            </a:r>
          </a:p>
          <a:p>
            <a:pPr lvl="0" indent="-342900" marL="342900">
              <a:buAutoNum type="arabicPeriod"/>
            </a:pPr>
            <a:r>
              <a:rPr sz="2000"/>
              <a:t>Let’s calculate the power of our t-test to detect a 30 mm difference in length between lakes: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Power to detect a 30 mm difference in mean length between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lake_I8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"I8"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count only the fish we actually measured (the length() trap from week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n1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n2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(lake_I8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sd_pooled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(n1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(lake_I8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(n2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(n1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n2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power.t.test assumes EQUAL group sizes. Ours are 66 and 102, so use the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harmonic mean - the effective n per group when the design is unbalanced.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n_effective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n1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n2)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power_result &lt;- </a:t>
            </a:r>
            <a:r>
              <a:rPr>
                <a:solidFill>
                  <a:srgbClr val="4758AB"/>
                </a:solidFill>
                <a:latin typeface="Courier"/>
              </a:rPr>
              <a:t>power.t.test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n_effective,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delta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         </a:t>
            </a:r>
            <a:r>
              <a:rPr>
                <a:solidFill>
                  <a:srgbClr val="5E5E5E"/>
                </a:solidFill>
                <a:latin typeface="Courier"/>
              </a:rPr>
              <a:t># difference we care about, in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sd_pooled,      </a:t>
            </a:r>
            <a:r>
              <a:rPr>
                <a:solidFill>
                  <a:srgbClr val="5E5E5E"/>
                </a:solidFill>
                <a:latin typeface="Courier"/>
              </a:rPr>
              <a:t># same scale as delta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per group (harmonic mean):"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(n_effective,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n per group (harmonic mean): 80.1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"pooled SD:"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(sd_pooled,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pooled SD: 44.5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"Cohen's d for a 30 mm difference:"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sd_pooled,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Cohen's d for a 30 mm difference: 0.67 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power_result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80.14286
          delta = 30
             sd = 44.50181
      sig.level = 0.05
          power = 0.9887372
    alternative = two.sided
NOTE: n is number in *each* group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An assumption we just quietly made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sd_pooled</a:t>
            </a:r>
            <a:r>
              <a:rPr sz="2000"/>
              <a:t> averages the two lakes’ SDs, which assumes they are equal. They are not: sd(I3) = 28.3 mm but sd(I8) = 52.3 mm — nearly double. That is also why the t-test two slides back was a </a:t>
            </a:r>
            <a:r>
              <a:rPr sz="2000" b="1"/>
              <a:t>Welch</a:t>
            </a:r>
            <a:r>
              <a:rPr sz="2000"/>
              <a:t> test (R’s default), which does </a:t>
            </a:r>
            <a:r>
              <a:rPr sz="2000" i="1"/>
              <a:t>not</a:t>
            </a:r>
            <a:r>
              <a:rPr sz="2000"/>
              <a:t> assume equal variances.</a:t>
            </a:r>
          </a:p>
          <a:p>
            <a:pPr lvl="0" indent="0" marL="1270000">
              <a:buNone/>
            </a:pPr>
            <a:r>
              <a:rPr sz="2000"/>
              <a:t>So treat this power number as a rough guide, not a precise answer.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concepts covered:</a:t>
            </a:r>
          </a:p>
          <a:p>
            <a:pPr lvl="0" indent="-342900" marL="342900">
              <a:buAutoNum type="arabicPeriod"/>
            </a:pPr>
            <a:r>
              <a:rPr b="1"/>
              <a:t>Probability distributions</a:t>
            </a:r>
            <a:r>
              <a:rPr/>
              <a:t> model random phenomena</a:t>
            </a:r>
          </a:p>
          <a:p>
            <a:pPr lvl="1"/>
            <a:r>
              <a:rPr/>
              <a:t>Normal distribution is especially important</a:t>
            </a:r>
          </a:p>
          <a:p>
            <a:pPr lvl="1"/>
            <a:r>
              <a:rPr/>
              <a:t>Z-scores standardize measurements</a:t>
            </a:r>
          </a:p>
          <a:p>
            <a:pPr lvl="0" indent="-342900" marL="342900">
              <a:buAutoNum type="arabicPeriod"/>
            </a:pPr>
            <a:r>
              <a:rPr b="1"/>
              <a:t>Standard error</a:t>
            </a:r>
            <a:r>
              <a:rPr/>
              <a:t> measures precision of estimates</a:t>
            </a:r>
          </a:p>
          <a:p>
            <a:pPr lvl="1"/>
            <a:r>
              <a:rPr/>
              <a:t>Decreases with larger sample sizes</a:t>
            </a:r>
          </a:p>
          <a:p>
            <a:pPr lvl="1"/>
            <a:r>
              <a:rPr/>
              <a:t>Used to construct confidence intervals</a:t>
            </a:r>
          </a:p>
          <a:p>
            <a:pPr lvl="0" indent="-342900" marL="342900">
              <a:buAutoNum type="arabicPeriod"/>
            </a:pPr>
            <a:r>
              <a:rPr b="1"/>
              <a:t>Confidence intervals</a:t>
            </a:r>
            <a:r>
              <a:rPr/>
              <a:t> express uncertainty</a:t>
            </a:r>
          </a:p>
          <a:p>
            <a:pPr lvl="1"/>
            <a:r>
              <a:rPr/>
              <a:t>Provide plausible range for parameters</a:t>
            </a:r>
          </a:p>
          <a:p>
            <a:pPr lvl="1"/>
            <a:r>
              <a:rPr/>
              <a:t>95% CI: </a:t>
            </a:r>
            <a:r>
              <a:rPr>
                <a:latin typeface="Courier"/>
              </a:rPr>
              <a:t>mean ± t(0.975, df) × SE</a:t>
            </a:r>
          </a:p>
          <a:p>
            <a:pPr lvl="1"/>
            <a:r>
              <a:rPr/>
              <a:t>t ≈ 1.96 only once n is large — with n = 10 it is 2.26</a:t>
            </a:r>
          </a:p>
          <a:p>
            <a:pPr lvl="0" indent="-342900" marL="342900">
              <a:buAutoNum type="arabicPeriod"/>
            </a:pPr>
            <a:r>
              <a:rPr b="1"/>
              <a:t>Hypothesis testing</a:t>
            </a:r>
            <a:r>
              <a:rPr/>
              <a:t> evaluates claims</a:t>
            </a:r>
          </a:p>
          <a:p>
            <a:pPr lvl="1"/>
            <a:r>
              <a:rPr/>
              <a:t>Null vs. alternative hypotheses</a:t>
            </a:r>
          </a:p>
          <a:p>
            <a:pPr lvl="1"/>
            <a:r>
              <a:rPr/>
              <a:t>P-values quantify evidence against H₀</a:t>
            </a:r>
          </a:p>
          <a:p>
            <a:pPr lvl="1"/>
            <a:r>
              <a:rPr/>
              <a:t>Consider both statistical and practical significance</a:t>
            </a:r>
          </a:p>
        </p:txBody>
      </p:sp>
      <p:pic>
        <p:nvPicPr>
          <p:cNvPr descr="probability_inference_lecture_files/figure-pptx/l04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5</a:t>
            </a:r>
            <a:r>
              <a:rPr/>
              <a:t>, Probability; </a:t>
            </a:r>
            <a:r>
              <a:rPr b="1"/>
              <a:t>Ch. 10</a:t>
            </a:r>
            <a:r>
              <a:rPr/>
              <a:t>, The Normal Distribution; </a:t>
            </a:r>
            <a:r>
              <a:rPr b="1"/>
              <a:t>Ch. 6</a:t>
            </a:r>
            <a:r>
              <a:rPr/>
              <a:t>, Hypothesis Testing. If you read only one, read Ch. 6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2</a:t>
            </a:r>
            <a:r>
              <a:rPr/>
              <a:t>, Random Variables and Probability Distributions, and </a:t>
            </a:r>
            <a:r>
              <a:rPr b="1"/>
              <a:t>Ch. 4</a:t>
            </a:r>
            <a:r>
              <a:rPr/>
              <a:t>, Framing and Testing Hypotheses</a:t>
            </a:r>
          </a:p>
          <a:p>
            <a:pPr lvl="0" indent="0" marL="0">
              <a:buNone/>
            </a:pPr>
            <a:r>
              <a:rPr b="1"/>
              <a:t>Where each piece of today lives: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Today’s 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distributions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5; Gotelli Ch. 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distribution, z-scores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 and confidence intervals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t-distribution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 tests, p-values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6; Gotelli Ch.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 I / Type II error, power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6; Gotelli Ch.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Checking 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13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T-Tests</a:t>
            </a:r>
          </a:p>
          <a:p>
            <a:pPr lvl="0" indent="0" marL="1270000">
              <a:buNone/>
            </a:pPr>
            <a:r>
              <a:rPr sz="2000"/>
              <a:t>Everything today was the machinery. Next module we point it at a real comparison between two groups, and Whitlock &amp; Schluter </a:t>
            </a:r>
            <a:r>
              <a:rPr sz="2000" b="1"/>
              <a:t>Ch. 11</a:t>
            </a:r>
            <a:r>
              <a:rPr sz="2000"/>
              <a:t> and </a:t>
            </a:r>
            <a:r>
              <a:rPr sz="2000" b="1"/>
              <a:t>Ch. 12</a:t>
            </a:r>
            <a:r>
              <a:rPr sz="2000"/>
              <a:t> become the chapters to have read.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Little new R today — but the plots in this lecture are the same grammar as ever:</a:t>
            </a:r>
          </a:p>
          <a:p>
            <a:pPr lvl="0"/>
            <a:r>
              <a:rPr sz="2000">
                <a:hlinkClick r:id="rId2"/>
              </a:rPr>
              <a:t>§9 — Layers</a:t>
            </a:r>
          </a:p>
          <a:p>
            <a:pPr lvl="0"/>
            <a:r>
              <a:rPr sz="2000">
                <a:hlinkClick r:id="rId3"/>
              </a:rPr>
              <a:t>§10 — Exploratory data analysis</a:t>
            </a:r>
          </a:p>
          <a:p>
            <a:pPr lvl="0"/>
            <a:r>
              <a:rPr sz="2000">
                <a:hlinkClick r:id="rId4"/>
              </a:rPr>
              <a:t>§13 — Numbers</a:t>
            </a:r>
            <a:r>
              <a:rPr sz="2000"/>
              <a:t> — </a:t>
            </a:r>
            <a:r>
              <a:rPr sz="2000">
                <a:latin typeface="Courier"/>
              </a:rPr>
              <a:t>mean()</a:t>
            </a:r>
            <a:r>
              <a:rPr sz="2000"/>
              <a:t>, </a:t>
            </a:r>
            <a:r>
              <a:rPr sz="2000">
                <a:latin typeface="Courier"/>
              </a:rPr>
              <a:t>sd()</a:t>
            </a:r>
            <a:r>
              <a:rPr sz="2000"/>
              <a:t>, rounding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Probability &amp; Inference</dc:title>
  <dc:creator>Bill Perry</dc:creator>
  <cp:keywords/>
  <dc:description>Probability distributions, the standard normal and t-distributions, Z-scores, confidence intervals, one- and two-tailed hypothesis testing, p-values, and Type I/II error — on the Arctic grayling length dataset.</dc:description>
  <dcterms:created xsi:type="dcterms:W3CDTF">2026-09-14T16:08:49Z</dcterms:created>
  <dcterms:modified xsi:type="dcterms:W3CDTF">2026-09-14T16:08:49Z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5</vt:lpwstr>
  </property>
  <property fmtid="{D5CDD505-2E9C-101B-9397-08002B2CF9AE}" pid="14" name="resources">
    <vt:lpwstr/>
  </property>
  <property fmtid="{D5CDD505-2E9C-101B-9397-08002B2CF9AE}" pid="15" name="subtitle">
    <vt:lpwstr>Foundations of inference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