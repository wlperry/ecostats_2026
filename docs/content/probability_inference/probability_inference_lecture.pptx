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lperry.github.io/ecostats_2026/content/probability_inference/data/gray_I3_I8.csv" TargetMode="Externa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layers.html" TargetMode="External" /><Relationship Id="rId3" Type="http://schemas.openxmlformats.org/officeDocument/2006/relationships/hyperlink" Target="https://r4ds.hadley.nz/EDA.html" TargetMode="External" /><Relationship Id="rId4" Type="http://schemas.openxmlformats.org/officeDocument/2006/relationships/hyperlink" Target="https://r4ds.hadley.nz/numbers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Probability &amp;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the normal curve to the confidence interval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 build one chain of reasoning, start to finish:</a:t>
            </a:r>
          </a:p>
          <a:p>
            <a:pPr lvl="0" indent="-342900" marL="342900">
              <a:buAutoNum type="arabicPeriod"/>
            </a:pPr>
            <a:r>
              <a:rPr/>
              <a:t>Real data have a </a:t>
            </a:r>
            <a:r>
              <a:rPr b="1"/>
              <a:t>distribution</a:t>
            </a:r>
          </a:p>
          <a:p>
            <a:pPr lvl="0" indent="-342900" marL="342900">
              <a:buAutoNum type="arabicPeriod"/>
            </a:pPr>
            <a:r>
              <a:rPr/>
              <a:t>Any normal distribution can be </a:t>
            </a:r>
            <a:r>
              <a:rPr b="1"/>
              <a:t>standardized</a:t>
            </a:r>
            <a:r>
              <a:rPr/>
              <a:t> to standard normal distribution</a:t>
            </a:r>
          </a:p>
          <a:p>
            <a:pPr lvl="0" indent="-342900" marL="342900">
              <a:buAutoNum type="arabicPeriod"/>
            </a:pPr>
            <a:r>
              <a:rPr/>
              <a:t>Area under that curve is </a:t>
            </a:r>
            <a:r>
              <a:rPr b="1"/>
              <a:t>probability</a:t>
            </a:r>
          </a:p>
          <a:p>
            <a:pPr lvl="0" indent="-342900" marL="342900">
              <a:buAutoNum type="arabicPeriod"/>
            </a:pPr>
            <a:r>
              <a:rPr/>
              <a:t>All of it </a:t>
            </a:r>
            <a:r>
              <a:rPr b="1"/>
              <a:t>assumes normality</a:t>
            </a:r>
            <a:r>
              <a:rPr/>
              <a:t> — so we check</a:t>
            </a:r>
          </a:p>
          <a:p>
            <a:pPr lvl="0" indent="-342900" marL="342900">
              <a:buAutoNum type="arabicPeriod"/>
            </a:pPr>
            <a:r>
              <a:rPr/>
              <a:t>From one fish to the </a:t>
            </a:r>
            <a:r>
              <a:rPr b="1"/>
              <a:t>mean</a:t>
            </a:r>
            <a:r>
              <a:rPr/>
              <a:t>: SD, SE, confidence intervals</a:t>
            </a:r>
          </a:p>
          <a:p>
            <a:pPr lvl="0" indent="-342900" marL="342900">
              <a:buAutoNum type="arabicPeriod"/>
            </a:pPr>
            <a:r>
              <a:rPr/>
              <a:t>When σ is unknown we use the </a:t>
            </a:r>
            <a:r>
              <a:rPr b="1"/>
              <a:t>t-distribution</a:t>
            </a:r>
            <a:r>
              <a:rPr/>
              <a:t> the safe alternative</a:t>
            </a:r>
          </a:p>
          <a:p>
            <a:pPr lvl="0" indent="-342900" marL="342900">
              <a:buAutoNum type="arabicPeriod"/>
            </a:pPr>
            <a:r>
              <a:rPr/>
              <a:t>Putting a number on evidence: </a:t>
            </a:r>
            <a:r>
              <a:rPr b="1"/>
              <a:t>hypothesis tests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Download the data</a:t>
            </a:r>
          </a:p>
        </p:txBody>
      </p:sp>
      <p:pic>
        <p:nvPicPr>
          <p:cNvPr descr="probability_inference_lecture_files/figure-pptx/pi-01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From data to a distribution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probability distribution</a:t>
            </a:r>
            <a:r>
              <a:rPr/>
              <a:t> spreads probability across the possible outcomes — but </a:t>
            </a:r>
            <a:r>
              <a:rPr i="1"/>
              <a:t>how</a:t>
            </a:r>
            <a:r>
              <a:rPr/>
              <a:t> depends on the data:</a:t>
            </a:r>
          </a:p>
          <a:p>
            <a:pPr lvl="0"/>
            <a:r>
              <a:rPr b="1"/>
              <a:t>Discrete</a:t>
            </a:r>
            <a:r>
              <a:rPr/>
              <a:t> (a die): each outcome has its own probability, P(4) = 1/6</a:t>
            </a:r>
          </a:p>
          <a:p>
            <a:pPr lvl="0"/>
            <a:r>
              <a:rPr b="1"/>
              <a:t>Continuous</a:t>
            </a:r>
            <a:r>
              <a:rPr/>
              <a:t> (fish length): any </a:t>
            </a:r>
            <a:r>
              <a:rPr i="1"/>
              <a:t>exact</a:t>
            </a:r>
            <a:r>
              <a:rPr/>
              <a:t> value has probability </a:t>
            </a:r>
            <a:r>
              <a:rPr b="1"/>
              <a:t>zero</a:t>
            </a:r>
            <a:r>
              <a:rPr/>
              <a:t>. Probability lives in </a:t>
            </a:r>
            <a:r>
              <a:rPr b="1"/>
              <a:t>ranges</a:t>
            </a:r>
            <a:r>
              <a:rPr/>
              <a:t>, as </a:t>
            </a:r>
            <a:r>
              <a:rPr b="1"/>
              <a:t>area</a:t>
            </a:r>
            <a:r>
              <a:rPr/>
              <a:t> under the curve</a:t>
            </a:r>
          </a:p>
          <a:p>
            <a:pPr lvl="0" indent="0" marL="0">
              <a:buNone/>
            </a:pPr>
            <a:r>
              <a:rPr/>
              <a:t>The curve’s height is a </a:t>
            </a:r>
            <a:r>
              <a:rPr b="1"/>
              <a:t>density</a:t>
            </a:r>
            <a:r>
              <a:rPr/>
              <a:t> — probability </a:t>
            </a:r>
            <a:r>
              <a:rPr i="1"/>
              <a:t>per mm</a:t>
            </a:r>
            <a:r>
              <a:rPr/>
              <a:t>, not a probability. </a:t>
            </a:r>
            <a:r>
              <a:rPr b="1"/>
              <a:t>Density × width ≈ probability.</a:t>
            </a:r>
          </a:p>
          <a:p>
            <a:pPr lvl="0" indent="0" marL="1270000">
              <a:buNone/>
            </a:pPr>
            <a:r>
              <a:rPr sz="2000"/>
              <a:t>Density is a </a:t>
            </a:r>
            <a:r>
              <a:rPr sz="2000" b="1"/>
              <a:t>rate</a:t>
            </a:r>
            <a:r>
              <a:rPr sz="2000"/>
              <a:t>, so it is not capped at 1: </a:t>
            </a:r>
            <a:r>
              <a:rPr sz="2000">
                <a:latin typeface="Courier"/>
              </a:rPr>
              <a:t>dnorm(0, sd = 0.1)</a:t>
            </a:r>
            <a:r>
              <a:rPr sz="2000"/>
              <a:t> = </a:t>
            </a:r>
            <a:r>
              <a:rPr sz="2000" b="1"/>
              <a:t>3.989</a:t>
            </a:r>
            <a:r>
              <a:rPr sz="2000"/>
              <a:t>. Nothing is 399% likely — proof that height ≠ probability.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normal</a:t>
            </a:r>
            <a:r>
              <a:rPr/>
              <a:t> is the density we lean on: symmetric, fixed by </a:t>
            </a:r>
            <a:r>
              <a:rPr b="1"/>
              <a:t>μ</a:t>
            </a:r>
            <a:r>
              <a:rPr/>
              <a:t> (where it sits) and </a:t>
            </a:r>
            <a:r>
              <a:rPr b="1"/>
              <a:t>σ</a:t>
            </a:r>
            <a:r>
              <a:rPr/>
              <a:t> (how wide), total area 1.</a:t>
            </a:r>
          </a:p>
          <a:p>
            <a:pPr lvl="0" indent="0" marL="0">
              <a:buNone/>
            </a:pPr>
            <a:r>
              <a:rPr/>
              <a:t>Lake I3: </a:t>
            </a:r>
            <a:r>
              <a:rPr b="1"/>
              <a:t>μ ≈ 265.6 mm</a:t>
            </a:r>
            <a:r>
              <a:rPr/>
              <a:t>, </a:t>
            </a:r>
            <a:r>
              <a:rPr b="1"/>
              <a:t>σ ≈ 28.3 mm</a:t>
            </a:r>
            <a:r>
              <a:rPr/>
              <a:t> — </a:t>
            </a:r>
            <a:r>
              <a:rPr i="1"/>
              <a:t>our</a:t>
            </a:r>
            <a:r>
              <a:rPr/>
              <a:t> curve. Every dataset has its own.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 Ch. 10 — The Normal Distribution.</a:t>
            </a:r>
            <a:br/>
            <a:r>
              <a:rPr sz="2000"/>
              <a:t>Gotelli &amp; Ellison Ch. 2 — Random Variables and Probability Distributions.</a:t>
            </a:r>
          </a:p>
        </p:txBody>
      </p:sp>
      <p:pic>
        <p:nvPicPr>
          <p:cNvPr descr="probability_inference_lecture_files/figure-pptx/pi-0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we standardize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There is a </a:t>
                </a:r>
                <a:r>
                  <a:rPr b="1"/>
                  <a:t>different normal curve for every μ and σ</a:t>
                </a:r>
                <a:r>
                  <a:rPr/>
                  <a:t>. Nobody can tabulate </a:t>
                </a:r>
                <a:r>
                  <a:rPr b="1" i="1"/>
                  <a:t>infinitely</a:t>
                </a:r>
                <a:r>
                  <a:rPr/>
                  <a:t> many curves.</a:t>
                </a:r>
              </a:p>
              <a:p>
                <a:pPr lvl="0" indent="0" marL="0">
                  <a:buNone/>
                </a:pPr>
                <a:r>
                  <a:rPr/>
                  <a:t>So we rescale every value into the same units — </a:t>
                </a:r>
                <a:r>
                  <a:rPr b="1"/>
                  <a:t>standard deviations from the mean</a:t>
                </a:r>
                <a:r>
                  <a:rPr/>
                  <a:t>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μ</m:t>
                        </m:r>
                      </m:num>
                      <m:den>
                        <m:r>
                          <m:t>σ</m:t>
                        </m:r>
                      </m:den>
                    </m:f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the observation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mean of the distribution</a:t>
                </a:r>
              </a:p>
              <a:p>
                <a:pPr lvl="0"/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= standard deviation of the distribution</a:t>
                </a:r>
              </a:p>
              <a:p>
                <a:pPr lvl="0" indent="0" marL="0">
                  <a:buNone/>
                </a:pPr>
                <a:r>
                  <a:rPr/>
                  <a:t>Subtracting μ slides the curve to centre 0. Dividing by σ squeezes it to width 1.</a:t>
                </a:r>
              </a:p>
              <a:p>
                <a:pPr lvl="0" indent="0" marL="0">
                  <a:buNone/>
                </a:pPr>
                <a:r>
                  <a:rPr/>
                  <a:t>The result is the </a:t>
                </a:r>
                <a:r>
                  <a:rPr b="1"/>
                  <a:t>standard normal distribution</a:t>
                </a:r>
                <a:r>
                  <a:rPr/>
                  <a:t>: </a:t>
                </a:r>
                <a:r>
                  <a:rPr b="1"/>
                  <a:t>μ = 0, σ = 1</a:t>
                </a:r>
                <a:r>
                  <a:rPr/>
                  <a:t>. One curve. One table.</a:t>
                </a:r>
              </a:p>
              <a:p>
                <a:pPr lvl="0" indent="0" marL="1270000">
                  <a:buNone/>
                </a:pPr>
                <a:r>
                  <a:rPr sz="2000"/>
                  <a:t>A z-score is not a new measurement. It is the same fish, expressed as “how many SDs from average.”</a:t>
                </a:r>
              </a:p>
            </p:txBody>
          </p:sp>
        </mc:Choice>
      </mc:AlternateContent>
      <p:pic>
        <p:nvPicPr>
          <p:cNvPr descr="probability_inference_lecture_files/figure-pptx/pi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1 · Standardize the I3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z = (length − mean) / standard deviation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i3_mean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i3_sd  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i3_df &lt;- 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z_score =</a:t>
            </a:r>
            <a:r>
              <a:rPr>
                <a:solidFill>
                  <a:srgbClr val="003B4F"/>
                </a:solidFill>
                <a:latin typeface="Courier"/>
              </a:rPr>
              <a:t> (length_mm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i3_mean)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i3_sd)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(lake, length_mm, z_score)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4 × 3
  lake  length_mm z_score
  &lt;chr&gt;     &lt;dbl&gt;   &lt;dbl&gt;
1 I3          266  0.0139
2 I3          290  0.862 
3 I3          262 -0.127 
4 I3          275  0.332 </a:t>
            </a:r>
          </a:p>
          <a:p>
            <a:pPr lvl="0" indent="0" marL="1270000">
              <a:buNone/>
            </a:pPr>
            <a:r>
              <a:rPr sz="2000" b="1"/>
              <a:t>A fish of 266 mm gets z = 0. A fish one SD above average gets z = 1.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same fish, two sets of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Standardizing changes the </a:t>
            </a:r>
            <a:r>
              <a:rPr b="1"/>
              <a:t>axis labels</a:t>
            </a:r>
            <a:r>
              <a:rPr/>
              <a:t>, not the </a:t>
            </a:r>
            <a:r>
              <a:rPr b="1"/>
              <a:t>shape</a:t>
            </a:r>
            <a:r>
              <a:rPr/>
              <a:t>.</a:t>
            </a:r>
          </a:p>
          <a:p>
            <a:pPr lvl="0"/>
            <a:r>
              <a:rPr b="1"/>
              <a:t>Top</a:t>
            </a:r>
            <a:r>
              <a:rPr/>
              <a:t>: millimetres, centred near 266</a:t>
            </a:r>
          </a:p>
          <a:p>
            <a:pPr lvl="0"/>
            <a:r>
              <a:rPr b="1"/>
              <a:t>Bottom</a:t>
            </a:r>
            <a:r>
              <a:rPr/>
              <a:t>: z, centred at 0</a:t>
            </a:r>
          </a:p>
          <a:p>
            <a:pPr lvl="0"/>
            <a:r>
              <a:rPr/>
              <a:t>Same fish, same bars, same skew — only the ruler changed</a:t>
            </a:r>
          </a:p>
          <a:p>
            <a:pPr lvl="0" indent="0" marL="0">
              <a:buNone/>
            </a:pPr>
            <a:r>
              <a:rPr/>
              <a:t>That matters: </a:t>
            </a:r>
            <a:r>
              <a:rPr b="1"/>
              <a:t>standardizing does not make non-normal data normal.</a:t>
            </a:r>
            <a:r>
              <a:rPr/>
              <a:t> It only puts it on a common ruler. We come back to this in Part 3.</a:t>
            </a:r>
          </a:p>
        </p:txBody>
      </p:sp>
      <p:pic>
        <p:nvPicPr>
          <p:cNvPr descr="probability_inference_lecture_files/figure-pptx/pi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Area under the curve is probability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68–95–99.7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Because the standard normal is </a:t>
            </a:r>
            <a:r>
              <a:rPr b="1"/>
              <a:t>one fixed curve</a:t>
            </a:r>
            <a:r>
              <a:rPr/>
              <a:t>, its areas are fixed too:</a:t>
            </a:r>
          </a:p>
          <a:p>
            <a:pPr lvl="0"/>
            <a:r>
              <a:rPr b="1"/>
              <a:t>68%</a:t>
            </a:r>
            <a:r>
              <a:rPr/>
              <a:t> of the curve within ±1σ</a:t>
            </a:r>
          </a:p>
          <a:p>
            <a:pPr lvl="0"/>
            <a:r>
              <a:rPr b="1"/>
              <a:t>95%</a:t>
            </a:r>
            <a:r>
              <a:rPr/>
              <a:t> within ±</a:t>
            </a:r>
            <a:r>
              <a:rPr b="1"/>
              <a:t>1.96</a:t>
            </a:r>
            <a:r>
              <a:rPr/>
              <a:t>σ — “±2” is the rule of thumb, 1.96 is the number</a:t>
            </a:r>
          </a:p>
          <a:p>
            <a:pPr lvl="0"/>
            <a:r>
              <a:rPr b="1"/>
              <a:t>99.7%</a:t>
            </a:r>
            <a:r>
              <a:rPr/>
              <a:t> within ±3σ</a:t>
            </a:r>
          </a:p>
          <a:p>
            <a:pPr lvl="0" indent="0" marL="0">
              <a:buNone/>
            </a:pPr>
            <a:r>
              <a:rPr/>
              <a:t>Our I3 fish, counted directly: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within_1sd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z_score)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within_1sd,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percent within 1 SD</a:t>
            </a:r>
          </a:p>
          <a:p>
            <a:pPr lvl="0" indent="0">
              <a:buNone/>
            </a:pPr>
            <a:r>
              <a:rPr>
                <a:latin typeface="Courier"/>
              </a:rPr>
              <a:t>[1] 81.8</a:t>
            </a:r>
          </a:p>
          <a:p>
            <a:pPr lvl="0" indent="0" marL="0">
              <a:buNone/>
            </a:pPr>
            <a:r>
              <a:rPr/>
              <a:t>Theory says 68%. We get </a:t>
            </a:r>
            <a:r>
              <a:rPr b="1"/>
              <a:t>81.8%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Hold that gap. It is the whole point of Part 3.</a:t>
            </a:r>
          </a:p>
        </p:txBody>
      </p:sp>
      <p:pic>
        <p:nvPicPr>
          <p:cNvPr descr="probability_inference_lecture_files/figure-pptx/pi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pnorm</a:t>
            </a:r>
            <a:r>
              <a:rPr/>
              <a:t>, </a:t>
            </a:r>
            <a:r>
              <a:rPr>
                <a:latin typeface="Courier"/>
              </a:rPr>
              <a:t>qnorm</a:t>
            </a:r>
            <a:r>
              <a:rPr/>
              <a:t>, </a:t>
            </a:r>
            <a:r>
              <a:rPr>
                <a:latin typeface="Courier"/>
              </a:rPr>
              <a:t>dnorm</a:t>
            </a:r>
            <a:r>
              <a:rPr/>
              <a:t> — which is which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three describe the </a:t>
            </a:r>
            <a:r>
              <a:rPr b="1"/>
              <a:t>same</a:t>
            </a:r>
            <a:r>
              <a:rPr/>
              <a:t> standard normal curve. They differ in what you hand them and what you get back.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give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get back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pnorm(z)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</a:t>
                      </a:r>
                      <a:r>
                        <a:rPr b="1"/>
                        <a:t>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 b="1"/>
                        <a:t>area to the left</a:t>
                      </a:r>
                      <a:r>
                        <a:rPr/>
                        <a:t> of 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qnorm(p)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</a:t>
                      </a:r>
                      <a:r>
                        <a:rPr b="1"/>
                        <a:t>area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 b="1"/>
                        <a:t>z</a:t>
                      </a:r>
                      <a:r>
                        <a:rPr/>
                        <a:t> that cuts it off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dnorm(z)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</a:t>
                      </a:r>
                      <a:r>
                        <a:rPr b="1"/>
                        <a:t>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 b="1"/>
                        <a:t>height</a:t>
                      </a:r>
                      <a:r>
                        <a:rPr/>
                        <a:t> of the curve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</a:t>
            </a:r>
            <a:r>
              <a:rPr b="1"/>
              <a:t> = probability, </a:t>
            </a:r>
            <a:r>
              <a:rPr b="1">
                <a:latin typeface="Courier"/>
              </a:rPr>
              <a:t>q</a:t>
            </a:r>
            <a:r>
              <a:rPr b="1"/>
              <a:t> = quantile</a:t>
            </a:r>
            <a:r>
              <a:rPr/>
              <a:t> — and they are inverses</a:t>
            </a:r>
          </a:p>
          <a:p>
            <a:pPr lvl="0"/>
            <a:r>
              <a:rPr>
                <a:latin typeface="Courier"/>
              </a:rPr>
              <a:t>dnorm</a:t>
            </a:r>
            <a:r>
              <a:rPr/>
              <a:t> is the curve’s </a:t>
            </a:r>
            <a:r>
              <a:rPr b="1"/>
              <a:t>height</a:t>
            </a:r>
            <a:r>
              <a:rPr/>
              <a:t>, used to </a:t>
            </a:r>
            <a:r>
              <a:rPr i="1"/>
              <a:t>draw</a:t>
            </a:r>
            <a:r>
              <a:rPr/>
              <a:t> it. </a:t>
            </a:r>
            <a:r>
              <a:rPr b="1"/>
              <a:t>A height is not a probability</a:t>
            </a:r>
            <a:r>
              <a:rPr/>
              <a:t> — only area is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1.96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area left of 1.96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0.9750021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qnorm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the z that puts 97.5% on its left</a:t>
            </a:r>
          </a:p>
          <a:p>
            <a:pPr lvl="0" indent="0">
              <a:buNone/>
            </a:pPr>
            <a:r>
              <a:rPr>
                <a:latin typeface="Courier"/>
              </a:rPr>
              <a:t>[1] 1.959964</a:t>
            </a:r>
          </a:p>
        </p:txBody>
      </p:sp>
      <p:pic>
        <p:nvPicPr>
          <p:cNvPr descr="probability_inference_lecture_files/figure-pptx/pi-0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 the z-table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z-table is </a:t>
            </a:r>
            <a:r>
              <a:rPr>
                <a:latin typeface="Courier"/>
              </a:rPr>
              <a:t>pnorm()</a:t>
            </a:r>
            <a:r>
              <a:rPr/>
              <a:t> printed on paper: </a:t>
            </a:r>
            <a:r>
              <a:rPr b="1"/>
              <a:t>cumulative area to the LEFT of z</a:t>
            </a:r>
            <a:r>
              <a:rPr/>
              <a:t>.</a:t>
            </a:r>
          </a:p>
          <a:p>
            <a:pPr lvl="0"/>
            <a:r>
              <a:rPr/>
              <a:t>Find the </a:t>
            </a:r>
            <a:r>
              <a:rPr b="1"/>
              <a:t>ones and tenths</a:t>
            </a:r>
            <a:r>
              <a:rPr/>
              <a:t> of z down the left column</a:t>
            </a:r>
          </a:p>
          <a:p>
            <a:pPr lvl="0"/>
            <a:r>
              <a:rPr/>
              <a:t>Find the </a:t>
            </a:r>
            <a:r>
              <a:rPr b="1"/>
              <a:t>hundredths</a:t>
            </a:r>
            <a:r>
              <a:rPr/>
              <a:t> across the top</a:t>
            </a:r>
          </a:p>
          <a:p>
            <a:pPr lvl="0"/>
            <a:r>
              <a:rPr/>
              <a:t>Read the area where they meet</a:t>
            </a:r>
          </a:p>
          <a:p>
            <a:pPr lvl="0" indent="0" marL="0">
              <a:buNone/>
            </a:pPr>
            <a:r>
              <a:rPr/>
              <a:t>One table works for every dataset — because every dataset gets standardized first. (Contrast the t-table later, which needs a row for each sample size.)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 Ch. 10 — standardizing a value and reading the standard normal table.</a:t>
            </a:r>
          </a:p>
        </p:txBody>
      </p:sp>
      <p:pic>
        <p:nvPicPr>
          <p:cNvPr descr="images/clipboard-19957911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47800"/>
            <a:ext cx="27813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Worked example — how rare is a 300 mm grayling?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Step 1 — standardize.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300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265.61</m:t>
                        </m:r>
                      </m:num>
                      <m:den>
                        <m:r>
                          <m:t>28.3</m:t>
                        </m:r>
                      </m:den>
                    </m:f>
                    <m:r>
                      <m:rPr>
                        <m:sty m:val="p"/>
                      </m:rPr>
                      <m:t>=</m:t>
                    </m:r>
                    <m:r>
                      <m:t>1.22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Step 2 — look it up.</a:t>
                </a:r>
                <a:r>
                  <a:rPr/>
                  <a:t> Row 1.2, column 0.02 → </a:t>
                </a:r>
                <a:r>
                  <a:rPr b="1"/>
                  <a:t>0.8888</a:t>
                </a:r>
              </a:p>
              <a:p>
                <a:pPr lvl="0" indent="0" marL="0">
                  <a:buNone/>
                </a:pPr>
                <a:r>
                  <a:rPr b="1"/>
                  <a:t>Step 3 — read it as biology.</a:t>
                </a:r>
              </a:p>
              <a:p>
                <a:pPr lvl="0"/>
                <a:r>
                  <a:rPr/>
                  <a:t>88.9% of I3 fish are </a:t>
                </a:r>
                <a:r>
                  <a:rPr b="1"/>
                  <a:t>shorter</a:t>
                </a:r>
                <a:r>
                  <a:rPr/>
                  <a:t> than 300 mm</a:t>
                </a:r>
              </a:p>
              <a:p>
                <a:pPr lvl="0"/>
                <a:r>
                  <a:rPr/>
                  <a:t>100 − 88.9 = </a:t>
                </a:r>
                <a:r>
                  <a:rPr b="1"/>
                  <a:t>11.1%</a:t>
                </a:r>
                <a:r>
                  <a:rPr/>
                  <a:t> are </a:t>
                </a:r>
                <a:r>
                  <a:rPr b="1"/>
                  <a:t>longer</a:t>
                </a:r>
              </a:p>
              <a:p>
                <a:pPr lvl="0" indent="0" marL="0">
                  <a:buNone/>
                </a:pPr>
                <a:r>
                  <a:rPr/>
                  <a:t>Catch 100 fish in I3 and about 11 should beat 300 mm.</a:t>
                </a:r>
              </a:p>
              <a:p>
                <a:pPr lvl="0" indent="0" marL="0">
                  <a:buNone/>
                </a:pPr>
                <a:r>
                  <a:rPr b="1"/>
                  <a:t>Same answer, in R — no table: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z_fish &lt;- 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300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i3_mean)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i3_sd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round_half_up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(z_fish,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2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        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1.22, matches the table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1.22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round_half_up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100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pnorm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(z_fish)),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% longer than 300 mm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11.2</a:t>
                </a:r>
              </a:p>
            </p:txBody>
          </p:sp>
        </mc:Choice>
      </mc:AlternateContent>
      <p:pic>
        <p:nvPicPr>
          <p:cNvPr descr="probability_inference_lecture_files/figure-pptx/pi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it backwards — </a:t>
            </a:r>
            <a:r>
              <a:rPr>
                <a:latin typeface="Courier"/>
              </a:rPr>
              <a:t>qnorm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table question can be asked the other way round, and in fisheries it usually is:</a:t>
                </a:r>
              </a:p>
              <a:p>
                <a:pPr lvl="0" indent="0" marL="1270000">
                  <a:buNone/>
                </a:pPr>
                <a:r>
                  <a:rPr sz="2000" i="1"/>
                  <a:t>We had a length and wanted a probability. Now we have a probability and want a length.</a:t>
                </a:r>
              </a:p>
              <a:p>
                <a:pPr lvl="0" indent="0" marL="0">
                  <a:buNone/>
                </a:pPr>
                <a:r>
                  <a:rPr b="1"/>
                  <a:t>“How big must a grayling be to land in the top 5%?”</a:t>
                </a:r>
                <a:r>
                  <a:rPr/>
                  <a:t> — the trophy-fish question, and the size-limit question.</a:t>
                </a:r>
              </a:p>
              <a:p>
                <a:pPr lvl="0"/>
                <a:r>
                  <a:rPr>
                    <a:latin typeface="Courier"/>
                  </a:rPr>
                  <a:t>qnorm(0.95)</a:t>
                </a:r>
                <a:r>
                  <a:rPr/>
                  <a:t> = </a:t>
                </a:r>
                <a:r>
                  <a:rPr b="1"/>
                  <a:t>1.645</a:t>
                </a:r>
                <a:r>
                  <a:rPr/>
                  <a:t> — the z with 5% above it</a:t>
                </a:r>
              </a:p>
              <a:p>
                <a:pPr lvl="0"/>
                <a:r>
                  <a:rPr/>
                  <a:t>Back to millimetres: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r>
                      <m:t>z</m:t>
                    </m:r>
                    <m:r>
                      <m:t>σ</m:t>
                    </m:r>
                  </m:oMath>
                </a14:m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z_top5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qnorm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length_top5 &lt;- i3_mean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z_top5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i3_sd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round_half_up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(length_top5,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mm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312.2</a:t>
                </a:r>
              </a:p>
              <a:p>
                <a:pPr lvl="0" indent="0" marL="0">
                  <a:buNone/>
                </a:pPr>
                <a:r>
                  <a:rPr/>
                  <a:t>Only 5% of I3 fish should exceed </a:t>
                </a:r>
                <a:r>
                  <a:rPr b="1"/>
                  <a:t>312.2 mm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Every number on this slide assumed the fish are normal. Do we know that?</a:t>
                </a:r>
              </a:p>
            </p:txBody>
          </p:sp>
        </mc:Choice>
      </mc:AlternateContent>
      <p:pic>
        <p:nvPicPr>
          <p:cNvPr descr="probability_inference_lecture_files/figure-pptx/pi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Checking the assumption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Shapiro-Wilk — and its backwards logic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Shapiro-Wilk test asks one question, and its hypotheses run </a:t>
            </a:r>
            <a:r>
              <a:rPr b="1"/>
              <a:t>opposite</a:t>
            </a:r>
            <a:r>
              <a:rPr/>
              <a:t> to what you expect:</a:t>
            </a:r>
          </a:p>
          <a:p>
            <a:pPr lvl="0"/>
            <a:r>
              <a:rPr b="1"/>
              <a:t>H₀: the data ARE normal</a:t>
            </a:r>
          </a:p>
          <a:p>
            <a:pPr lvl="0"/>
            <a:r>
              <a:rPr b="1"/>
              <a:t>Hₐ: the data are NOT normal</a:t>
            </a:r>
          </a:p>
          <a:p>
            <a:pPr lvl="0" indent="0" marL="0">
              <a:buNone/>
            </a:pPr>
            <a:r>
              <a:rPr/>
              <a:t>So:</a:t>
            </a:r>
          </a:p>
          <a:p>
            <a:pPr lvl="0"/>
            <a:r>
              <a:rPr b="1"/>
              <a:t>p &gt; 0.05</a:t>
            </a:r>
            <a:r>
              <a:rPr/>
              <a:t> → no evidence against normal → </a:t>
            </a:r>
            <a:r>
              <a:rPr b="1"/>
              <a:t>carry on</a:t>
            </a:r>
          </a:p>
          <a:p>
            <a:pPr lvl="0"/>
            <a:r>
              <a:rPr b="1"/>
              <a:t>p &lt; 0.05</a:t>
            </a:r>
            <a:r>
              <a:rPr/>
              <a:t> → evidence of </a:t>
            </a:r>
            <a:r>
              <a:rPr b="1"/>
              <a:t>non-normality</a:t>
            </a:r>
            <a:r>
              <a:rPr/>
              <a:t> → </a:t>
            </a:r>
            <a:r>
              <a:rPr b="1"/>
              <a:t>be careful</a:t>
            </a:r>
          </a:p>
          <a:p>
            <a:pPr lvl="0" indent="0" marL="1270000">
              <a:buNone/>
            </a:pPr>
            <a:r>
              <a:rPr sz="2000"/>
              <a:t>A small p-value here is </a:t>
            </a:r>
            <a:r>
              <a:rPr sz="2000" b="1"/>
              <a:t>bad news</a:t>
            </a:r>
            <a:r>
              <a:rPr sz="2000"/>
              <a:t>, not a result. That reversal is why this test gets misread every semester.</a:t>
            </a:r>
          </a:p>
          <a:p>
            <a:pPr lvl="0" indent="0" marL="0">
              <a:buNone/>
            </a:pPr>
            <a:r>
              <a:rPr b="1"/>
              <a:t>Two cautions:</a:t>
            </a:r>
            <a:r>
              <a:rPr/>
              <a:t> with </a:t>
            </a:r>
            <a:r>
              <a:rPr b="1"/>
              <a:t>large n</a:t>
            </a:r>
            <a:r>
              <a:rPr/>
              <a:t> it flags departures too small to matter; with </a:t>
            </a:r>
            <a:r>
              <a:rPr b="1"/>
              <a:t>small n</a:t>
            </a:r>
            <a:r>
              <a:rPr/>
              <a:t> it misses ones that matter. Always </a:t>
            </a:r>
            <a:r>
              <a:rPr b="1"/>
              <a:t>read the Q-Q plot too</a:t>
            </a:r>
            <a:r>
              <a:rPr/>
              <a:t> — points on the line = normal.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i3_df$length_mm
W = 0.91051, p-value = 0.0001623</a:t>
            </a:r>
          </a:p>
        </p:txBody>
      </p:sp>
      <p:pic>
        <p:nvPicPr>
          <p:cNvPr descr="probability_inference_lecture_files/figure-pptx/pi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 how wrong were we?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 = 0.0002. The I3 fish are </a:t>
            </a:r>
            <a:r>
              <a:rPr b="1"/>
              <a:t>not</a:t>
            </a:r>
            <a:r>
              <a:rPr/>
              <a:t> normal. Every probability in Part 2 assumed they were — so let’s audit them against the fish themselves.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actual data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within ±1 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81.8%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95th percentile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312.2 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310 mm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P(fish &gt; 300 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7.6%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centre is fine. The tail is off by a third.</a:t>
            </a:r>
          </a:p>
          <a:p>
            <a:pPr lvl="0" indent="0" marL="0">
              <a:buNone/>
            </a:pPr>
            <a:r>
              <a:rPr/>
              <a:t>And the tail is exactly where inference lives — critical values, rejection regions, p-values all sit out in the tails.</a:t>
            </a:r>
          </a:p>
          <a:p>
            <a:pPr lvl="0" indent="0" marL="0">
              <a:buNone/>
            </a:pPr>
            <a:r>
              <a:rPr b="1"/>
              <a:t>This is why we check assumptions before trusting a p-value.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 Ch. 13 — Handling Violations of Assumptions.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theory vs. the actual fish, out in the tail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, i3_mean, i3_sd)),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11.2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7.6</a:t>
            </a:r>
          </a:p>
        </p:txBody>
      </p:sp>
      <p:pic>
        <p:nvPicPr>
          <p:cNvPr descr="probability_inference_lecture_files/figure-pptx/pi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From one fish to the mean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SD and SE answer different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so far described </a:t>
            </a:r>
            <a:r>
              <a:rPr b="1"/>
              <a:t>individual fish</a:t>
            </a:r>
            <a:r>
              <a:rPr/>
              <a:t>. Science usually asks about the </a:t>
            </a:r>
            <a:r>
              <a:rPr b="1"/>
              <a:t>mean</a:t>
            </a:r>
            <a:r>
              <a:rPr/>
              <a:t>. Those need different spreads.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long is a </a:t>
                      </a:r>
                      <a:r>
                        <a:rPr b="1"/>
                        <a:t>single fish</a:t>
                      </a:r>
                      <a:r>
                        <a:rPr/>
                        <a:t>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  <a:r>
                        <a:rPr/>
                        <a:t> (s)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is the </a:t>
                      </a:r>
                      <a:r>
                        <a:rPr b="1"/>
                        <a:t>population mean</a:t>
                      </a:r>
                      <a:r>
                        <a:rPr/>
                        <a:t>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  <a:r>
                        <a:rPr/>
                        <a:t> (s/√n)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Fish spread is however wide the fish are — more fish does </a:t>
            </a:r>
            <a:r>
              <a:rPr b="1"/>
              <a:t>not</a:t>
            </a:r>
            <a:r>
              <a:rPr/>
              <a:t> narrow it</a:t>
            </a:r>
          </a:p>
          <a:p>
            <a:pPr lvl="0"/>
            <a:r>
              <a:rPr/>
              <a:t>Mean spread </a:t>
            </a:r>
            <a:r>
              <a:rPr b="1"/>
              <a:t>shrinks as n grows</a:t>
            </a:r>
            <a:r>
              <a:rPr/>
              <a:t> — averages are steadier than individuals</a:t>
            </a:r>
          </a:p>
          <a:p>
            <a:pPr lvl="0"/>
            <a:r>
              <a:rPr/>
              <a:t>“5% of fish exceed 312.2 mm” uses </a:t>
            </a:r>
            <a:r>
              <a:rPr b="1"/>
              <a:t>SD</a:t>
            </a:r>
            <a:r>
              <a:rPr/>
              <a:t>; “the mean is near 265.6” uses </a:t>
            </a:r>
            <a:r>
              <a:rPr b="1"/>
              <a:t>SE</a:t>
            </a:r>
          </a:p>
          <a:p>
            <a:pPr lvl="0" indent="0" marL="0">
              <a:buNone/>
            </a:pPr>
            <a:r>
              <a:rPr b="1"/>
              <a:t>Using SE where you meant SD makes your interval √n times too narrow.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i3_n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i3_se &lt;- i3_sd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(i3_n)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  =</a:t>
            </a:r>
            <a:r>
              <a:rPr>
                <a:solidFill>
                  <a:srgbClr val="003B4F"/>
                </a:solidFill>
                <a:latin typeface="Courier"/>
              </a:rPr>
              <a:t> i3_n,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(i3_sd,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(i3_se,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    n    SD    SE
  &lt;int&gt; &lt;dbl&gt; &lt;dbl&gt;
1    66  28.3   3.5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a confidence interval actually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have one sample and one mean, 265.6 mm. The true μ is some other number we will never see. A </a:t>
                </a:r>
                <a:r>
                  <a:rPr b="1"/>
                  <a:t>confidence interval</a:t>
                </a:r>
                <a:r>
                  <a:rPr/>
                  <a:t> is our honest statement of how close we probably are.</a:t>
                </a:r>
              </a:p>
              <a:p>
                <a:pPr lvl="0" indent="0" marL="0">
                  <a:buNone/>
                </a:pPr>
                <a:r>
                  <a:rPr b="1"/>
                  <a:t>The recipe:</a:t>
                </a:r>
                <a:r>
                  <a:rPr/>
                  <a:t>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critical value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What “95%” means:</a:t>
                </a:r>
                <a:r>
                  <a:rPr/>
                  <a:t> repeat the whole study many times, build an interval each time, and </a:t>
                </a:r>
                <a:r>
                  <a:rPr b="1"/>
                  <a:t>95% of those intervals will contain μ</a:t>
                </a:r>
                <a:r>
                  <a:rPr/>
                  <a:t>. The figure shows 20 such studies — one misses.</a:t>
                </a:r>
              </a:p>
              <a:p>
                <a:pPr lvl="0" indent="0" marL="1270000">
                  <a:buNone/>
                </a:pPr>
                <a:r>
                  <a:rPr sz="2000" b="1"/>
                  <a:t>Warning</a:t>
                </a:r>
              </a:p>
              <a:p>
                <a:pPr lvl="0" indent="0" marL="1270000">
                  <a:buNone/>
                </a:pPr>
                <a:r>
                  <a:rPr sz="2000" b="1"/>
                  <a:t>The interpretation everyone gets wrong</a:t>
                </a:r>
              </a:p>
              <a:p>
                <a:pPr lvl="0" indent="0" marL="1270000">
                  <a:buNone/>
                </a:pPr>
                <a:r>
                  <a:rPr sz="2000"/>
                  <a:t>❌ “There is a 95% chance μ is in </a:t>
                </a:r>
                <a:r>
                  <a:rPr sz="2000" b="1"/>
                  <a:t>my</a:t>
                </a:r>
                <a:r>
                  <a:rPr sz="2000"/>
                  <a:t> interval.”</a:t>
                </a:r>
              </a:p>
              <a:p>
                <a:pPr lvl="0" indent="0" marL="1270000">
                  <a:buNone/>
                </a:pPr>
                <a:r>
                  <a:rPr sz="2000"/>
                  <a:t>✅ “95% of intervals built this way capture μ.”</a:t>
                </a:r>
              </a:p>
              <a:p>
                <a:pPr lvl="0" indent="0" marL="1270000">
                  <a:buNone/>
                </a:pPr>
                <a:r>
                  <a:rPr sz="2000"/>
                  <a:t>μ is a fixed number — it is not moving around. </a:t>
                </a:r>
                <a:r>
                  <a:rPr sz="2000" b="1"/>
                  <a:t>The interval is what is random.</a:t>
                </a:r>
                <a:r>
                  <a:rPr sz="2000"/>
                  <a:t> Yours either caught μ or it didn’t; you don’t get to know which.</a:t>
                </a:r>
              </a:p>
            </p:txBody>
          </p:sp>
        </mc:Choice>
      </mc:AlternateContent>
      <p:pic>
        <p:nvPicPr>
          <p:cNvPr descr="probability_inference_lecture_files/figure-pptx/pi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If we knew σ, we would use 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When the population σ is </a:t>
                </a:r>
                <a:r>
                  <a:rPr b="1"/>
                  <a:t>genuinely known</a:t>
                </a:r>
                <a:r>
                  <a:rPr/>
                  <a:t>, the critical value comes straight off the standard normal: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C</m:t>
                    </m:r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1.96</m:t>
                    </m:r>
                    <m:r>
                      <m:rPr>
                        <m:sty m:val="p"/>
                      </m:rPr>
                      <m:t>⋅</m:t>
                    </m:r>
                    <m:f>
                      <m:fPr>
                        <m:type m:val="bar"/>
                      </m:fPr>
                      <m:num>
                        <m:r>
                          <m:t>σ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1.96 because 95% of the standard normal lies within ±1.96</a:t>
                </a:r>
              </a:p>
              <a:p>
                <a:pPr lvl="0"/>
                <a:r>
                  <a:rPr/>
                  <a:t>90% CI → 1.645 · 99% CI → 2.576 · all from </a:t>
                </a:r>
                <a:r>
                  <a:rPr>
                    <a:latin typeface="Courier"/>
                  </a:rPr>
                  <a:t>qnorm()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qnorm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0.975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95%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1.959964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qnorm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90%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1.644854</a:t>
                </a:r>
              </a:p>
              <a:p>
                <a:pPr lvl="0" indent="0" marL="0">
                  <a:buNone/>
                </a:pPr>
                <a:r>
                  <a:rPr b="1"/>
                  <a:t>Wider confidence costs a wider interval.</a:t>
                </a:r>
                <a:r>
                  <a:rPr/>
                  <a:t> You cannot be more certain and more precise at the same time — only a bigger n buys you both.</a:t>
                </a:r>
              </a:p>
            </p:txBody>
          </p:sp>
        </mc:Choice>
      </mc:AlternateContent>
      <p:pic>
        <p:nvPicPr>
          <p:cNvPr descr="probability_inference_lecture_files/figure-pptx/pi-2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But we never know σ — so z is too confident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again at that formula. It needs </a:t>
            </a:r>
            <a:r>
              <a:rPr b="1"/>
              <a:t>σ</a:t>
            </a:r>
            <a:r>
              <a:rPr/>
              <a:t>, the </a:t>
            </a:r>
            <a:r>
              <a:rPr i="1"/>
              <a:t>population</a:t>
            </a:r>
            <a:r>
              <a:rPr/>
              <a:t> standard deviation. We have never once had it.</a:t>
            </a:r>
          </a:p>
          <a:p>
            <a:pPr lvl="0" indent="0" marL="0">
              <a:buNone/>
            </a:pPr>
            <a:r>
              <a:rPr/>
              <a:t>What we actually have is </a:t>
            </a:r>
            <a:r>
              <a:rPr b="1"/>
              <a:t>s</a:t>
            </a:r>
            <a:r>
              <a:rPr/>
              <a:t>, computed from our 66 fish. And s is itself an estimate — a different sample gives a different s.</a:t>
            </a:r>
          </a:p>
          <a:p>
            <a:pPr lvl="0" indent="0" marL="0">
              <a:buNone/>
            </a:pPr>
            <a:r>
              <a:rPr b="1"/>
              <a:t>Two sources of uncertainty, not one:</a:t>
            </a:r>
          </a:p>
          <a:p>
            <a:pPr lvl="0" indent="-342900" marL="342900">
              <a:buAutoNum type="arabicPeriod"/>
            </a:pPr>
            <a:r>
              <a:rPr/>
              <a:t>the mean wobbles from sample to sample</a:t>
            </a:r>
          </a:p>
          <a:p>
            <a:pPr lvl="0" indent="-342900" marL="342900">
              <a:buAutoNum type="arabicPeriod"/>
            </a:pPr>
            <a:r>
              <a:rPr/>
              <a:t>our </a:t>
            </a:r>
            <a:r>
              <a:rPr b="1"/>
              <a:t>estimate of the spread</a:t>
            </a:r>
            <a:r>
              <a:rPr/>
              <a:t> also wobbles</a:t>
            </a:r>
          </a:p>
          <a:p>
            <a:pPr lvl="0" indent="0" marL="0">
              <a:buNone/>
            </a:pPr>
            <a:r>
              <a:rPr/>
              <a:t>Using 1.96 accounts for the first and ignores the second. Intervals come out </a:t>
            </a:r>
            <a:r>
              <a:rPr b="1"/>
              <a:t>too narrow</a:t>
            </a:r>
            <a:r>
              <a:rPr/>
              <a:t> and we claim more precision than we earned.</a:t>
            </a:r>
          </a:p>
          <a:p>
            <a:pPr lvl="0" indent="0" marL="0">
              <a:buNone/>
            </a:pPr>
            <a:r>
              <a:rPr/>
              <a:t>Gosset hit exactly this at Guinness — tiny barley samples, σ never known. His fix: </a:t>
            </a:r>
            <a:r>
              <a:rPr b="1"/>
              <a:t>use a curve with fatter tails</a:t>
            </a:r>
            <a:r>
              <a:rPr/>
              <a:t>, so the critical value is bigger and the interval honest.</a:t>
            </a:r>
          </a:p>
          <a:p>
            <a:pPr lvl="0" indent="0" marL="0">
              <a:buNone/>
            </a:pPr>
            <a:r>
              <a:rPr b="1"/>
              <a:t>That curve is Student’s t.</a:t>
            </a:r>
          </a:p>
        </p:txBody>
      </p:sp>
      <p:pic>
        <p:nvPicPr>
          <p:cNvPr descr="images/clipboard-105223778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06500"/>
            <a:ext cx="27813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t-distribution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bell shape as the normal, but </a:t>
            </a:r>
            <a:r>
              <a:rPr b="1"/>
              <a:t>heavier in the tails</a:t>
            </a:r>
            <a:r>
              <a:rPr/>
              <a:t> — that extra thickness is the price of estimating σ.</a:t>
            </a:r>
          </a:p>
          <a:p>
            <a:pPr lvl="0"/>
            <a:r>
              <a:rPr/>
              <a:t>Shape set by </a:t>
            </a:r>
            <a:r>
              <a:rPr b="1"/>
              <a:t>degrees of freedom, df = n − 1</a:t>
            </a:r>
          </a:p>
          <a:p>
            <a:pPr lvl="0"/>
            <a:r>
              <a:rPr b="1"/>
              <a:t>Small df</a:t>
            </a:r>
            <a:r>
              <a:rPr/>
              <a:t> → very heavy tails → large critical values</a:t>
            </a:r>
          </a:p>
          <a:p>
            <a:pPr lvl="0"/>
            <a:r>
              <a:rPr b="1"/>
              <a:t>df grows</a:t>
            </a:r>
            <a:r>
              <a:rPr/>
              <a:t> → t creeps toward the normal</a:t>
            </a:r>
          </a:p>
          <a:p>
            <a:pPr lvl="0"/>
            <a:r>
              <a:rPr/>
              <a:t>Past n ≈ 30 they agree to about two decimals — which is where the “n &gt; 30” rule of thumb came from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rule that matters:</a:t>
            </a:r>
            <a:r>
              <a:rPr sz="2000"/>
              <a:t> whenever σ is </a:t>
            </a:r>
            <a:r>
              <a:rPr sz="2000" b="1"/>
              <a:t>estimated from the sample</a:t>
            </a:r>
            <a:r>
              <a:rPr sz="2000"/>
              <a:t>, use </a:t>
            </a:r>
            <a:r>
              <a:rPr sz="2000" b="1"/>
              <a:t>t</a:t>
            </a:r>
            <a:r>
              <a:rPr sz="2000"/>
              <a:t> — at </a:t>
            </a:r>
            <a:r>
              <a:rPr sz="2000" i="1"/>
              <a:t>any</a:t>
            </a:r>
            <a:r>
              <a:rPr sz="2000"/>
              <a:t> sample size. “n &gt; 30, use z” is a convenience from the era of paper tables, not a statistical law. R uses t always.</a:t>
            </a:r>
          </a:p>
        </p:txBody>
      </p:sp>
      <p:pic>
        <p:nvPicPr>
          <p:cNvPr descr="probability_inference_lecture_files/figure-pptx/pi-2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 the t-table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C</m:t>
                    </m:r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⋅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Only the multiplier changed: </a:t>
                </a:r>
                <a:r>
                  <a:rPr b="1"/>
                  <a:t>t in place of 1.96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Rows</a:t>
                </a:r>
                <a:r>
                  <a:rPr/>
                  <a:t> = degrees of freedom (n − 1)</a:t>
                </a:r>
              </a:p>
              <a:p>
                <a:pPr lvl="0"/>
                <a:r>
                  <a:rPr b="1"/>
                  <a:t>Columns</a:t>
                </a:r>
                <a:r>
                  <a:rPr/>
                  <a:t> = probability, with </a:t>
                </a:r>
                <a:r>
                  <a:rPr b="1"/>
                  <a:t>two header rows</a:t>
                </a:r>
                <a:r>
                  <a:rPr/>
                  <a:t>: one-tail and two-tail</a:t>
                </a:r>
              </a:p>
              <a:p>
                <a:pPr lvl="0"/>
                <a:r>
                  <a:rPr b="1"/>
                  <a:t>A CI is always two-tailed</a:t>
                </a:r>
                <a:r>
                  <a:rPr/>
                  <a:t> — it has two ends. Use the two-tail column</a:t>
                </a:r>
              </a:p>
              <a:p>
                <a:pPr lvl="0" indent="0" marL="0">
                  <a:buNone/>
                </a:pPr>
                <a:r>
                  <a:rPr/>
                  <a:t>The bottom row (df = ∞) is 1.96: the t-table </a:t>
                </a:r>
                <a:r>
                  <a:rPr i="1"/>
                  <a:t>contains</a:t>
                </a:r>
                <a:r>
                  <a:rPr/>
                  <a:t> the z-table.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qt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0.975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df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8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95% CI, n = 9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2.306004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qt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0.975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df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65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95% CI, n = 66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1.997138</a:t>
                </a:r>
              </a:p>
            </p:txBody>
          </p:sp>
        </mc:Choice>
      </mc:AlternateContent>
      <p:pic>
        <p:nvPicPr>
          <p:cNvPr descr="images/clipboard-32038788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562100"/>
            <a:ext cx="27813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Worked CI — by table and by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sample of </a:t>
            </a:r>
            <a:r>
              <a:rPr b="1"/>
              <a:t>9</a:t>
            </a:r>
            <a:r>
              <a:rPr/>
              <a:t> fish: mean = 272.8, s = 37.81</a:t>
            </a:r>
          </a:p>
          <a:p>
            <a:pPr lvl="0" indent="-342900" marL="342900">
              <a:buAutoNum type="arabicPeriod"/>
            </a:pPr>
            <a:r>
              <a:rPr b="1"/>
              <a:t>df</a:t>
            </a:r>
            <a:r>
              <a:rPr/>
              <a:t> = 9 − 1 = </a:t>
            </a:r>
            <a:r>
              <a:rPr b="1"/>
              <a:t>8</a:t>
            </a:r>
          </a:p>
          <a:p>
            <a:pPr lvl="0" indent="-342900" marL="342900">
              <a:buAutoNum type="arabicPeriod"/>
            </a:pPr>
            <a:r>
              <a:rPr b="1"/>
              <a:t>Two-tail 0.05 column, row 8</a:t>
            </a:r>
            <a:r>
              <a:rPr/>
              <a:t> → </a:t>
            </a:r>
            <a:r>
              <a:rPr b="1"/>
              <a:t>t = 2.306</a:t>
            </a:r>
          </a:p>
          <a:p>
            <a:pPr lvl="0" indent="-342900" marL="342900">
              <a:buAutoNum type="arabicPeriod"/>
            </a:pPr>
            <a:r>
              <a:rPr b="1"/>
              <a:t>SE</a:t>
            </a:r>
            <a:r>
              <a:rPr/>
              <a:t> = 37.81 / √9 = 12.60</a:t>
            </a:r>
          </a:p>
          <a:p>
            <a:pPr lvl="0" indent="-342900" marL="342900">
              <a:buAutoNum type="arabicPeriod"/>
            </a:pPr>
            <a:r>
              <a:rPr b="1"/>
              <a:t>Margin</a:t>
            </a:r>
            <a:r>
              <a:rPr/>
              <a:t> = 2.306 × 12.60 = </a:t>
            </a:r>
            <a:r>
              <a:rPr b="1"/>
              <a:t>29.06</a:t>
            </a:r>
          </a:p>
          <a:p>
            <a:pPr lvl="0" indent="-342900" marL="342900">
              <a:buAutoNum type="arabicPeriod"/>
            </a:pPr>
            <a:r>
              <a:rPr b="1"/>
              <a:t>CI</a:t>
            </a:r>
            <a:r>
              <a:rPr/>
              <a:t> = 272.8 ± 29.06 = </a:t>
            </a:r>
            <a:r>
              <a:rPr b="1"/>
              <a:t>243.7 to 301.9 mm</a:t>
            </a:r>
          </a:p>
          <a:p>
            <a:pPr lvl="0" indent="0" marL="1270000">
              <a:buNone/>
            </a:pPr>
            <a:r>
              <a:rPr sz="2000"/>
              <a:t>“The 95% CI for mean length is 243.7–301.9 mm.”</a:t>
            </a:r>
          </a:p>
          <a:p>
            <a:pPr lvl="0" indent="0" marL="0">
              <a:buNone/>
            </a:pPr>
            <a:r>
              <a:rPr/>
              <a:t>Had we wrongly used 1.96, we’d have reported ±24.7 — an interval </a:t>
            </a:r>
            <a:r>
              <a:rPr b="1"/>
              <a:t>15% too narrow</a:t>
            </a:r>
            <a:r>
              <a:rPr/>
              <a:t>, claiming precision we never had.</a:t>
            </a:r>
          </a:p>
        </p:txBody>
      </p:sp>
      <p:pic>
        <p:nvPicPr>
          <p:cNvPr descr="images/clipboard-39596309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562100"/>
            <a:ext cx="27813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2 · z vs t on a real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Ten fish from I3. Same mean, same SE — only the multiplier differs.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small_sample &lt;- 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slice_sample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s_mean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(small_sample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s_se  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(small_sample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"z (wrong)"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 (correct)"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crit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1.96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)),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lower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(s_mean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crit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s_se,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upper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round_half_up</a:t>
            </a:r>
            <a:r>
              <a:rPr>
                <a:solidFill>
                  <a:srgbClr val="003B4F"/>
                </a:solidFill>
                <a:latin typeface="Courier"/>
              </a:rPr>
              <a:t>(s_mean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crit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s_se,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2 × 4
  method       crit lower upper
  &lt;chr&gt;       &lt;dbl&gt; &lt;dbl&gt; &lt;dbl&gt;
1 z (wrong)    1.96  237.  280.
2 t (correct)  2.26  234.  284.</a:t>
            </a:r>
          </a:p>
          <a:p>
            <a:pPr lvl="0" indent="0" marL="1270000">
              <a:buNone/>
            </a:pPr>
            <a:r>
              <a:rPr sz="2000"/>
              <a:t>R agrees: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(small_sample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234.0564 283.7436
attr(,"conf.level")
[1] 0.95</a:t>
            </a:r>
          </a:p>
          <a:p>
            <a:pPr lvl="0" indent="0" marL="1270000">
              <a:buNone/>
            </a:pPr>
            <a:r>
              <a:rPr sz="2000" b="1"/>
              <a:t>The t interval is wider — and that extra width is the honest cost of not knowing σ.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Hypothesis testing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confidence interval asks </a:t>
                </a:r>
                <a:r>
                  <a:rPr i="1"/>
                  <a:t>where is μ?</a:t>
                </a:r>
                <a:r>
                  <a:rPr/>
                  <a:t> A hypothesis test asks </a:t>
                </a:r>
                <a:r>
                  <a:rPr i="1"/>
                  <a:t>is μ equal to some specific value?</a:t>
                </a:r>
                <a:r>
                  <a:rPr/>
                  <a:t> Same machinery, different question.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H₀</a:t>
                </a:r>
                <a:r>
                  <a:rPr/>
                  <a:t> — the boring claim: no effect, no difference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Hₐ</a:t>
                </a:r>
                <a:r>
                  <a:rPr/>
                  <a:t> — what we suspect instead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Assume H₀ is true</a:t>
                </a:r>
                <a:r>
                  <a:rPr/>
                  <a:t> and ask: how likely is data like ours?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p-value</a:t>
                </a:r>
                <a:r>
                  <a:rPr/>
                  <a:t> — probability of our result, or more extreme, </a:t>
                </a:r>
                <a:r>
                  <a:rPr b="1"/>
                  <a:t>if H₀ is true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α</a:t>
                </a:r>
                <a:r>
                  <a:rPr/>
                  <a:t> — how rare is rare enough, set </a:t>
                </a:r>
                <a:r>
                  <a:rPr b="1"/>
                  <a:t>before</a:t>
                </a:r>
                <a:r>
                  <a:rPr/>
                  <a:t> looking. Usually 0.05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Decide</a:t>
                </a:r>
                <a:r>
                  <a:rPr/>
                  <a:t> — p &lt; α → reject H₀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μ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num>
                      <m:den>
                        <m:r>
                          <m:t>s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  <a:r>
                  <a:rPr/>
                  <a:t> — how many SEs is our mean from the claim?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 b="1"/>
                  <a:t>📖 Reference</a:t>
                </a:r>
              </a:p>
              <a:p>
                <a:pPr lvl="0" indent="0" marL="1270000">
                  <a:buNone/>
                </a:pPr>
                <a:r>
                  <a:rPr sz="2000"/>
                  <a:t>Whitlock &amp; Schluter Ch. 6 — Hypothesis Testing.</a:t>
                </a:r>
                <a:br/>
                <a:r>
                  <a:rPr sz="2000"/>
                  <a:t>Gotelli &amp; Ellison Ch. 4 — Framing and Testing Hypotheses.</a:t>
                </a:r>
              </a:p>
            </p:txBody>
          </p:sp>
        </mc:Choice>
      </mc:AlternateContent>
      <p:pic>
        <p:nvPicPr>
          <p:cNvPr descr="probability_inference_lecture_files/figure-pptx/pi-2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One-tailed: all of α at one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when the question has a direction</a:t>
            </a:r>
            <a:r>
              <a:rPr/>
              <a:t>: </a:t>
            </a:r>
            <a:r>
              <a:rPr i="1"/>
              <a:t>are these fish </a:t>
            </a:r>
            <a:r>
              <a:rPr b="1" i="1"/>
              <a:t>longer</a:t>
            </a:r>
            <a:r>
              <a:rPr i="1"/>
              <a:t> than 285 mm?</a:t>
            </a:r>
            <a:r>
              <a:rPr/>
              <a:t> A shorter result would not interest us — it goes with H₀.</a:t>
            </a:r>
          </a:p>
          <a:p>
            <a:pPr lvl="0"/>
            <a:r>
              <a:rPr b="1"/>
              <a:t>H₀: μ ≤ 285 · Hₐ: μ &gt; 285</a:t>
            </a:r>
          </a:p>
          <a:p>
            <a:pPr lvl="0"/>
            <a:r>
              <a:rPr/>
              <a:t>n = 20, so </a:t>
            </a:r>
            <a:r>
              <a:rPr b="1"/>
              <a:t>df = 19</a:t>
            </a:r>
          </a:p>
          <a:p>
            <a:pPr lvl="0"/>
            <a:r>
              <a:rPr b="1"/>
              <a:t>All 5% sits in the upper tail</a:t>
            </a:r>
          </a:p>
          <a:p>
            <a:pPr lvl="0"/>
            <a:r>
              <a:rPr/>
              <a:t>t-table, </a:t>
            </a:r>
            <a:r>
              <a:rPr b="1"/>
              <a:t>one-tail</a:t>
            </a:r>
            <a:r>
              <a:rPr/>
              <a:t> 0.05, row 19 → </a:t>
            </a:r>
            <a:r>
              <a:rPr b="1"/>
              <a:t>t = 1.729</a:t>
            </a:r>
          </a:p>
          <a:p>
            <a:pPr lvl="0" indent="0" marL="0">
              <a:buNone/>
            </a:pPr>
            <a:r>
              <a:rPr/>
              <a:t>Reject H₀ only if our t exceeds </a:t>
            </a:r>
            <a:r>
              <a:rPr b="1"/>
              <a:t>+1.729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one-tailed, α = 0.05</a:t>
            </a:r>
          </a:p>
          <a:p>
            <a:pPr lvl="0" indent="0">
              <a:buNone/>
            </a:pPr>
            <a:r>
              <a:rPr>
                <a:latin typeface="Courier"/>
              </a:rPr>
              <a:t>[1] 1.729133</a:t>
            </a:r>
          </a:p>
        </p:txBody>
      </p:sp>
      <p:pic>
        <p:nvPicPr>
          <p:cNvPr descr="probability_inference_lecture_files/figure-pptx/pi-2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17700"/>
            <a:ext cx="2781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Two-tailed: α split between both 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when either direction would matter</a:t>
            </a:r>
            <a:r>
              <a:rPr/>
              <a:t>: </a:t>
            </a:r>
            <a:r>
              <a:rPr i="1"/>
              <a:t>do these fish </a:t>
            </a:r>
            <a:r>
              <a:rPr b="1" i="1"/>
              <a:t>differ</a:t>
            </a:r>
            <a:r>
              <a:rPr i="1"/>
              <a:t> from 285 mm?</a:t>
            </a:r>
            <a:r>
              <a:rPr/>
              <a:t> Longer or shorter, we want to know.</a:t>
            </a:r>
          </a:p>
          <a:p>
            <a:pPr lvl="0"/>
            <a:r>
              <a:rPr b="1"/>
              <a:t>H₀: μ = 285 · Hₐ: μ ≠ 285</a:t>
            </a:r>
          </a:p>
          <a:p>
            <a:pPr lvl="0"/>
            <a:r>
              <a:rPr/>
              <a:t>Same df = 19, same total α = 0.05</a:t>
            </a:r>
          </a:p>
          <a:p>
            <a:pPr lvl="0"/>
            <a:r>
              <a:rPr/>
              <a:t>But now </a:t>
            </a:r>
            <a:r>
              <a:rPr b="1"/>
              <a:t>2.5% in each tail</a:t>
            </a:r>
          </a:p>
          <a:p>
            <a:pPr lvl="0"/>
            <a:r>
              <a:rPr/>
              <a:t>t-table, </a:t>
            </a:r>
            <a:r>
              <a:rPr b="1"/>
              <a:t>two-tail</a:t>
            </a:r>
            <a:r>
              <a:rPr/>
              <a:t> 0.05, row 19 → </a:t>
            </a:r>
            <a:r>
              <a:rPr b="1"/>
              <a:t>t = 2.093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two-tailed, α = 0.05</a:t>
            </a:r>
          </a:p>
          <a:p>
            <a:pPr lvl="0" indent="0">
              <a:buNone/>
            </a:pPr>
            <a:r>
              <a:rPr>
                <a:latin typeface="Courier"/>
              </a:rPr>
              <a:t>[1] 2.093024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Same α, same df, bigger critical value</a:t>
            </a:r>
            <a:r>
              <a:rPr sz="2000"/>
              <a:t> (2.093 &gt; 1.729) — splitting α pushes each cutoff further out, so a two-tailed test is </a:t>
            </a:r>
            <a:r>
              <a:rPr sz="2000" b="1"/>
              <a:t>harder to pass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Pick your tails from the </a:t>
            </a:r>
            <a:r>
              <a:rPr sz="2000" b="1"/>
              <a:t>question</a:t>
            </a:r>
            <a:r>
              <a:rPr sz="2000"/>
              <a:t>, before seeing the data. </a:t>
            </a:r>
            <a:r>
              <a:rPr sz="2000" b="1"/>
              <a:t>When in doubt, two-tailed</a:t>
            </a:r>
            <a:r>
              <a:rPr sz="2000"/>
              <a:t> — it is also R’s default.</a:t>
            </a:r>
          </a:p>
        </p:txBody>
      </p:sp>
      <p:pic>
        <p:nvPicPr>
          <p:cNvPr descr="probability_inference_lecture_files/figure-pptx/pi-3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17700"/>
            <a:ext cx="2781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3 · One-sample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Are I3 grayling different from a historical mean of 260 mm?</a:t>
            </a:r>
          </a:p>
          <a:p>
            <a:pPr lvl="0" indent="0" marL="1270000">
              <a:buNone/>
            </a:pPr>
            <a:r>
              <a:rPr sz="2000"/>
              <a:t>H₀: μ = 260 · Hₐ: μ ≠ 260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260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
    One Sample t-test
data:  i3_df$length_mm
t = 1.6091, df = 65, p-value = 0.1124
alternative hypothesis: true mean is not equal to 260
95 percent confidence interval:
 258.6481 272.5640
sample estimates:
mean of x 
 265.6061 </a:t>
            </a:r>
          </a:p>
          <a:p>
            <a:pPr lvl="0" indent="0" marL="1270000">
              <a:buNone/>
            </a:pPr>
            <a:r>
              <a:rPr sz="2000"/>
              <a:t>Read the output in this order:</a:t>
            </a:r>
          </a:p>
          <a:p>
            <a:pPr lvl="0" indent="-342900" marL="342900">
              <a:buAutoNum type="arabicPeriod"/>
            </a:pPr>
            <a:r>
              <a:rPr sz="2000" b="1"/>
              <a:t>t</a:t>
            </a:r>
            <a:r>
              <a:rPr sz="2000"/>
              <a:t> — how many SEs from 260 we landed</a:t>
            </a:r>
          </a:p>
          <a:p>
            <a:pPr lvl="0" indent="-342900" marL="342900">
              <a:buAutoNum type="arabicPeriod"/>
            </a:pPr>
            <a:r>
              <a:rPr sz="2000" b="1"/>
              <a:t>df</a:t>
            </a:r>
            <a:r>
              <a:rPr sz="2000"/>
              <a:t> — n − 1</a:t>
            </a:r>
          </a:p>
          <a:p>
            <a:pPr lvl="0" indent="-342900" marL="342900">
              <a:buAutoNum type="arabicPeriod"/>
            </a:pPr>
            <a:r>
              <a:rPr sz="2000" b="1"/>
              <a:t>p-value</a:t>
            </a:r>
            <a:r>
              <a:rPr sz="2000"/>
              <a:t> — compare to α = 0.05</a:t>
            </a:r>
          </a:p>
          <a:p>
            <a:pPr lvl="0" indent="-342900" marL="342900">
              <a:buAutoNum type="arabicPeriod"/>
            </a:pPr>
            <a:r>
              <a:rPr sz="2000" b="1"/>
              <a:t>conf.int</a:t>
            </a:r>
            <a:r>
              <a:rPr sz="2000"/>
              <a:t> — and notice: </a:t>
            </a:r>
            <a:r>
              <a:rPr sz="2000" i="1"/>
              <a:t>does it contain 260?</a:t>
            </a:r>
            <a:r>
              <a:rPr sz="2000"/>
              <a:t> The CI and the test always agree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4 ·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Are I8 fish longer than I3 fish?</a:t>
            </a:r>
            <a:r>
              <a:rPr sz="2000"/>
              <a:t> Directional → one-tailed.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lake,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grayling_df,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"less"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
    Welch Two Sample t-test
data:  length_mm by lake
t = -15.532, df = 161.63, p-value &lt; 2.2e-16
alternative hypothesis: true difference in means between group I3 and group I8 is less than 0
95 percent confidence interval:
      -Inf -86.66138
sample estimates:
mean in group I3 mean in group I8 
        265.6061         362.5980 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lake</a:t>
            </a:r>
            <a:r>
              <a:rPr sz="2000"/>
              <a:t> is alphabetical, so R tests </a:t>
            </a:r>
            <a:r>
              <a:rPr sz="2000" b="1"/>
              <a:t>I3 − I8</a:t>
            </a:r>
            <a:r>
              <a:rPr sz="2000"/>
              <a:t>. “I8 longer” therefore means I3 − I8 is </a:t>
            </a:r>
            <a:r>
              <a:rPr sz="2000" b="1"/>
              <a:t>less</a:t>
            </a:r>
            <a:r>
              <a:rPr sz="2000"/>
              <a:t> than zero → </a:t>
            </a:r>
            <a:r>
              <a:rPr sz="2000">
                <a:latin typeface="Courier"/>
              </a:rPr>
              <a:t>alternative = "less"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Note “Welch Two Sample t-test” — R does </a:t>
            </a:r>
            <a:r>
              <a:rPr sz="2000" b="1"/>
              <a:t>not</a:t>
            </a:r>
            <a:r>
              <a:rPr sz="2000"/>
              <a:t> assume the two lakes have equal variances, and here that matters: sd(I3) = 28.3 mm but sd(I8) = 52.3 mm.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a p-value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is:</a:t>
            </a:r>
            <a:r>
              <a:rPr/>
              <a:t> the probability of data like ours </a:t>
            </a:r>
            <a:r>
              <a:rPr b="1"/>
              <a:t>if H₀ were true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It is not:</a:t>
            </a:r>
          </a:p>
          <a:p>
            <a:pPr lvl="0"/>
            <a:r>
              <a:rPr/>
              <a:t>the probability that H₀ is true</a:t>
            </a:r>
          </a:p>
          <a:p>
            <a:pPr lvl="0"/>
            <a:r>
              <a:rPr/>
              <a:t>the probability the result is due to chance</a:t>
            </a:r>
          </a:p>
          <a:p>
            <a:pPr lvl="0"/>
            <a:r>
              <a:rPr/>
              <a:t>a measure of </a:t>
            </a:r>
            <a:r>
              <a:rPr b="1"/>
              <a:t>how big</a:t>
            </a:r>
            <a:r>
              <a:rPr/>
              <a:t> the effect is</a:t>
            </a:r>
          </a:p>
          <a:p>
            <a:pPr lvl="0" indent="0" marL="0">
              <a:buNone/>
            </a:pPr>
            <a:r>
              <a:rPr b="1"/>
              <a:t>Small p means detectable, not large.</a:t>
            </a:r>
            <a:r>
              <a:rPr/>
              <a:t> With n = 168, a biologically meaningless 2 mm difference can return p = 10⁻¹⁶.</a:t>
            </a:r>
          </a:p>
          <a:p>
            <a:pPr lvl="0" indent="0" marL="0">
              <a:buNone/>
            </a:pPr>
            <a:r>
              <a:rPr b="1"/>
              <a:t>So, every time:</a:t>
            </a:r>
          </a:p>
          <a:p>
            <a:pPr lvl="0"/>
            <a:r>
              <a:rPr/>
              <a:t>report </a:t>
            </a:r>
            <a:r>
              <a:rPr b="1"/>
              <a:t>p &lt; 0.001</a:t>
            </a:r>
            <a:r>
              <a:rPr/>
              <a:t>, not </a:t>
            </a:r>
            <a:r>
              <a:rPr>
                <a:latin typeface="Courier"/>
              </a:rPr>
              <a:t>p = 1.2e-16</a:t>
            </a:r>
          </a:p>
          <a:p>
            <a:pPr lvl="0"/>
            <a:r>
              <a:rPr/>
              <a:t>report the </a:t>
            </a:r>
            <a:r>
              <a:rPr b="1"/>
              <a:t>effect size</a:t>
            </a:r>
            <a:r>
              <a:rPr/>
              <a:t> — the difference in millimetres</a:t>
            </a:r>
          </a:p>
          <a:p>
            <a:pPr lvl="0"/>
            <a:r>
              <a:rPr/>
              <a:t>report the </a:t>
            </a:r>
            <a:r>
              <a:rPr b="1"/>
              <a:t>CI</a:t>
            </a:r>
            <a:r>
              <a:rPr/>
              <a:t> — it shows size </a:t>
            </a:r>
            <a:r>
              <a:rPr i="1"/>
              <a:t>and</a:t>
            </a:r>
            <a:r>
              <a:rPr/>
              <a:t> uncertainty in one line</a:t>
            </a:r>
          </a:p>
          <a:p>
            <a:pPr lvl="0"/>
            <a:r>
              <a:rPr b="1"/>
              <a:t>significant ≠ important</a:t>
            </a:r>
            <a:r>
              <a:rPr/>
              <a:t>. That call is biology, not arithmetic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Gotelli &amp; Ellison Ch. 4 — “Statistical Significance and P-Values.”</a:t>
            </a:r>
          </a:p>
        </p:txBody>
      </p:sp>
      <p:pic>
        <p:nvPicPr>
          <p:cNvPr descr="probability_inference_lecture_files/figure-pptx/pi-3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chain, end to end:</a:t>
            </a:r>
          </a:p>
          <a:p>
            <a:pPr lvl="0" indent="-342900" marL="342900">
              <a:buAutoNum type="arabicPeriod"/>
            </a:pPr>
            <a:r>
              <a:rPr/>
              <a:t>Data have a distribution — μ and σ describe a </a:t>
            </a:r>
            <a:r>
              <a:rPr b="1"/>
              <a:t>normal</a:t>
            </a:r>
            <a:r>
              <a:rPr/>
              <a:t> one</a:t>
            </a:r>
          </a:p>
          <a:p>
            <a:pPr lvl="0" indent="-342900" marL="342900">
              <a:buAutoNum type="arabicPeriod"/>
            </a:pPr>
            <a:r>
              <a:rPr b="1"/>
              <a:t>z = (x − μ)/σ</a:t>
            </a:r>
            <a:r>
              <a:rPr/>
              <a:t> collapses every normal curve onto </a:t>
            </a:r>
            <a:r>
              <a:rPr b="1"/>
              <a:t>one</a:t>
            </a:r>
            <a:r>
              <a:rPr/>
              <a:t> standard curve</a:t>
            </a:r>
          </a:p>
          <a:p>
            <a:pPr lvl="0" indent="-342900" marL="342900">
              <a:buAutoNum type="arabicPeriod"/>
            </a:pPr>
            <a:r>
              <a:rPr/>
              <a:t>Area under that curve is </a:t>
            </a:r>
            <a:r>
              <a:rPr b="1"/>
              <a:t>probability</a:t>
            </a:r>
            <a:r>
              <a:rPr/>
              <a:t> — </a:t>
            </a:r>
            <a:r>
              <a:rPr>
                <a:latin typeface="Courier"/>
              </a:rPr>
              <a:t>pnorm</a:t>
            </a:r>
            <a:r>
              <a:rPr/>
              <a:t> for areas, </a:t>
            </a:r>
            <a:r>
              <a:rPr>
                <a:latin typeface="Courier"/>
              </a:rPr>
              <a:t>qnorm</a:t>
            </a:r>
            <a:r>
              <a:rPr/>
              <a:t> for cutoffs</a:t>
            </a:r>
          </a:p>
          <a:p>
            <a:pPr lvl="0" indent="-342900" marL="342900">
              <a:buAutoNum type="arabicPeriod"/>
            </a:pPr>
            <a:r>
              <a:rPr b="1"/>
              <a:t>All of it assumes normality.</a:t>
            </a:r>
            <a:r>
              <a:rPr/>
              <a:t> Shapiro-Wilk plus a Q-Q plot; our fish failed, and the </a:t>
            </a:r>
            <a:r>
              <a:rPr i="1"/>
              <a:t>tail</a:t>
            </a:r>
            <a:r>
              <a:rPr/>
              <a:t> was off by a third</a:t>
            </a:r>
          </a:p>
          <a:p>
            <a:pPr lvl="0" indent="-342900" marL="342900">
              <a:buAutoNum type="arabicPeriod"/>
            </a:pPr>
            <a:r>
              <a:rPr b="1"/>
              <a:t>SD</a:t>
            </a:r>
            <a:r>
              <a:rPr/>
              <a:t> describes fish; </a:t>
            </a:r>
            <a:r>
              <a:rPr b="1"/>
              <a:t>SE = s/√n</a:t>
            </a:r>
            <a:r>
              <a:rPr/>
              <a:t> describes means. Never swap them</a:t>
            </a:r>
          </a:p>
          <a:p>
            <a:pPr lvl="0" indent="-342900" marL="342900">
              <a:buAutoNum type="arabicPeriod"/>
            </a:pPr>
            <a:r>
              <a:rPr b="1"/>
              <a:t>CI = ȳ ± t · SE</a:t>
            </a:r>
            <a:r>
              <a:rPr/>
              <a:t> — 95% of intervals built this way capture μ</a:t>
            </a:r>
          </a:p>
          <a:p>
            <a:pPr lvl="0" indent="-342900" marL="342900">
              <a:buAutoNum type="arabicPeriod"/>
            </a:pPr>
            <a:r>
              <a:rPr/>
              <a:t>σ is never known, so the multiplier is </a:t>
            </a:r>
            <a:r>
              <a:rPr b="1"/>
              <a:t>t</a:t>
            </a:r>
            <a:r>
              <a:rPr/>
              <a:t>, not 1.96 — fatter tails, wider interval, honest</a:t>
            </a:r>
          </a:p>
          <a:p>
            <a:pPr lvl="0" indent="-342900" marL="342900">
              <a:buAutoNum type="arabicPeriod"/>
            </a:pPr>
            <a:r>
              <a:rPr/>
              <a:t>A </a:t>
            </a:r>
            <a:r>
              <a:rPr b="1"/>
              <a:t>p-value</a:t>
            </a:r>
            <a:r>
              <a:rPr/>
              <a:t> is tail area under H₀. It measures detectability, never importance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t-Tests</a:t>
            </a:r>
            <a:r>
              <a:rPr sz="2000"/>
              <a:t>, then </a:t>
            </a:r>
            <a:r>
              <a:rPr sz="2000" b="1"/>
              <a:t>Power and Error</a:t>
            </a:r>
            <a:r>
              <a:rPr sz="2000"/>
              <a:t>, where Type I/II errors and statistical power get the full treatment they need.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next class</a:t>
            </a:r>
            <a:r>
              <a:rPr/>
              <a:t> — chapter PDFs are on </a:t>
            </a:r>
            <a:r>
              <a:rPr b="1"/>
              <a:t>Canvas</a:t>
            </a:r>
            <a:r>
              <a:rPr/>
              <a:t>:</a:t>
            </a:r>
          </a:p>
          <a:p>
            <a:pPr lvl="0"/>
            <a:r>
              <a:rPr b="1"/>
              <a:t>Whitlock &amp; Schluter</a:t>
            </a:r>
            <a:r>
              <a:rPr/>
              <a:t> — </a:t>
            </a:r>
            <a:r>
              <a:rPr b="1"/>
              <a:t>Ch. 10</a:t>
            </a:r>
            <a:r>
              <a:rPr/>
              <a:t>, The Normal Distribution; </a:t>
            </a:r>
            <a:r>
              <a:rPr b="1"/>
              <a:t>Ch. 4</a:t>
            </a:r>
            <a:r>
              <a:rPr/>
              <a:t>, Estimating with Uncertainty; </a:t>
            </a:r>
            <a:r>
              <a:rPr b="1"/>
              <a:t>Ch. 11</a:t>
            </a:r>
            <a:r>
              <a:rPr/>
              <a:t>, Inference for a Normal Population. If you read only one, read </a:t>
            </a:r>
            <a:r>
              <a:rPr b="1"/>
              <a:t>Ch. 4</a:t>
            </a:r>
          </a:p>
          <a:p>
            <a:pPr lvl="0"/>
            <a:r>
              <a:rPr b="1"/>
              <a:t>Gotelli &amp; Ellison</a:t>
            </a:r>
            <a:r>
              <a:rPr/>
              <a:t> — </a:t>
            </a:r>
            <a:r>
              <a:rPr b="1"/>
              <a:t>Ch. 2</a:t>
            </a:r>
            <a:r>
              <a:rPr/>
              <a:t>, Random Variables and Probability Distributions; </a:t>
            </a:r>
            <a:r>
              <a:rPr b="1"/>
              <a:t>Ch. 4</a:t>
            </a:r>
            <a:r>
              <a:rPr/>
              <a:t>, Framing and Testing Hypotheses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Today’s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distribution, z-scores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W&amp;S Ch. 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Checking normality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W&amp;S Ch. 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 and confidence intervals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W&amp;S Ch. 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t-distribution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W&amp;S Ch. 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Hypothesis tests, p-values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W&amp;S Ch. 6; Gotelli Ch. 4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 for Data Science (2e)</a:t>
            </a:r>
          </a:p>
          <a:p>
            <a:pPr lvl="0"/>
            <a:r>
              <a:rPr sz="2000">
                <a:hlinkClick r:id="rId2"/>
              </a:rPr>
              <a:t>§9 — Layers</a:t>
            </a:r>
          </a:p>
          <a:p>
            <a:pPr lvl="0"/>
            <a:r>
              <a:rPr sz="2000">
                <a:hlinkClick r:id="rId3"/>
              </a:rPr>
              <a:t>§10 — Exploratory data analysis</a:t>
            </a:r>
          </a:p>
          <a:p>
            <a:pPr lvl="0"/>
            <a:r>
              <a:rPr sz="2000">
                <a:hlinkClick r:id="rId4"/>
              </a:rPr>
              <a:t>§13 — Numbers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Probability &amp; Inference</dc:title>
  <dc:creator>Bill Perry</dc:creator>
  <cp:keywords/>
  <dc:description>The normal distribution, standardizing to the standard normal, z-scores and areas under the curve, checking the normality assumption, standard error, confidence intervals, the t-distribution, and one- and two-tailed hypothesis testing — on the Arctic grayling length dataset.</dc:description>
  <dcterms:created xsi:type="dcterms:W3CDTF">2026-10-19T16:29:58Z</dcterms:created>
  <dcterms:modified xsi:type="dcterms:W3CDTF">2026-10-19T16:29:58Z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5</vt:lpwstr>
  </property>
  <property fmtid="{D5CDD505-2E9C-101B-9397-08002B2CF9AE}" pid="14" name="resources">
    <vt:lpwstr/>
  </property>
  <property fmtid="{D5CDD505-2E9C-101B-9397-08002B2CF9AE}" pid="15" name="subtitle">
    <vt:lpwstr>From the normal curve to the confidence interval</vt:lpwstr>
  </property>
  <property fmtid="{D5CDD505-2E9C-101B-9397-08002B2CF9AE}" pid="16" name="toc-title">
    <vt:lpwstr>Table of contents</vt:lpwstr>
  </property>
  <property fmtid="{D5CDD505-2E9C-101B-9397-08002B2CF9AE}" pid="17" name="week">
    <vt:lpwstr>3</vt:lpwstr>
  </property>
</Properties>
</file>