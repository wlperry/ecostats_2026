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lecture_files/figure-pptx/l04-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plotting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2 — Random Variables and Probability Distributions.</a:t>
            </a:r>
          </a:p>
        </p:txBody>
      </p:sp>
      <p:pic>
        <p:nvPicPr>
          <p:cNvPr descr="probability_inference_lecture_files/figure-pptx/l04-04-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10 — The Normal Distribution.</a:t>
            </a:r>
          </a:p>
        </p:txBody>
      </p:sp>
      <p:pic>
        <p:nvPicPr>
          <p:cNvPr descr="probability_inference_lecture_files/figure-pptx/l04-05-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distribution?</a:t>
            </a:r>
          </a:p>
        </p:txBody>
      </p:sp>
      <p:pic>
        <p:nvPicPr>
          <p:cNvPr descr="probability_inference_lecture_files/figure-pptx/l04-07-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lecture_files/figure-pptx/l04-09-1.png" id="0" name="Picture 1"/>
          <p:cNvPicPr>
            <a:picLocks noGrp="1" noChangeAspect="1"/>
          </p:cNvPicPr>
          <p:nvPr/>
        </p:nvPicPr>
        <p:blipFill>
          <a:blip r:embed="rId2"/>
          <a:stretch>
            <a:fillRect/>
          </a:stretch>
        </p:blipFill>
        <p:spPr bwMode="auto">
          <a:xfrm>
            <a:off x="5295900" y="1295400"/>
            <a:ext cx="29464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lectur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Calculated once for the standard normal curve — no sample size needed (unlike the t-table, which needs df)</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lectur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lectur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11.1%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193800"/>
            <a:ext cx="2781300" cy="2908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Standard normal (Z) table giving the cumulative area to the left of z for z-values from 0.0 to 3.4 in rows and hundredths in columns, used to look up the proportion of a normal distribution below a given z-score.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 Look up OUR fish: the 300 mm grayling, z = 1.22 ---</a:t>
            </a:r>
            <a:br/>
            <a:r>
              <a:rPr>
                <a:solidFill>
                  <a:srgbClr val="003B4F"/>
                </a:solidFill>
                <a:latin typeface="Courier"/>
              </a:rPr>
              <a:t>z_fish &lt;- </a:t>
            </a:r>
            <a:r>
              <a:rPr>
                <a:solidFill>
                  <a:srgbClr val="AD0000"/>
                </a:solidFill>
                <a:latin typeface="Courier"/>
              </a:rPr>
              <a:t>1.22</a:t>
            </a:r>
            <a:br/>
            <a:br/>
            <a:r>
              <a:rPr>
                <a:solidFill>
                  <a:srgbClr val="4758AB"/>
                </a:solidFill>
                <a:latin typeface="Courier"/>
              </a:rPr>
              <a:t>pnorm</a:t>
            </a:r>
            <a:r>
              <a:rPr>
                <a:solidFill>
                  <a:srgbClr val="003B4F"/>
                </a:solidFill>
                <a:latin typeface="Courier"/>
              </a:rPr>
              <a:t>(z_fish)        </a:t>
            </a:r>
            <a:r>
              <a:rPr>
                <a:solidFill>
                  <a:srgbClr val="5E5E5E"/>
                </a:solidFill>
                <a:latin typeface="Courier"/>
              </a:rPr>
              <a:t># 0.8888 -&gt; 88.9% of fish are SHORTER than 300 mm</a:t>
            </a:r>
          </a:p>
          <a:p>
            <a:pPr lvl="0" indent="0">
              <a:buNone/>
            </a:pPr>
            <a:r>
              <a:rPr>
                <a:latin typeface="Courier"/>
              </a:rPr>
              <a:t>[1] 0.8887676</a:t>
            </a:r>
          </a:p>
          <a:p>
            <a:pPr lvl="0" indent="0">
              <a:buNone/>
            </a:pP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(z_fish)    </a:t>
            </a:r>
            <a:r>
              <a:rPr>
                <a:solidFill>
                  <a:srgbClr val="5E5E5E"/>
                </a:solidFill>
                <a:latin typeface="Courier"/>
              </a:rPr>
              <a:t># 0.1112 -&gt; 11.1% are LONGER (matches the z-table slide)</a:t>
            </a:r>
          </a:p>
          <a:p>
            <a:pPr lvl="0" indent="0">
              <a:buNone/>
            </a:pPr>
            <a:r>
              <a:rPr>
                <a:latin typeface="Courier"/>
              </a:rPr>
              <a:t>[1] 0.1112324</a:t>
            </a:r>
          </a:p>
          <a:p>
            <a:pPr lvl="0" indent="0">
              <a:buNone/>
            </a:pPr>
            <a:r>
              <a:rPr>
                <a:solidFill>
                  <a:srgbClr val="5E5E5E"/>
                </a:solidFill>
                <a:latin typeface="Courier"/>
              </a:rPr>
              <a:t># --- Where does the famous 1.96 come from? ---</a:t>
            </a:r>
            <a:br/>
            <a:r>
              <a:rPr>
                <a:solidFill>
                  <a:srgbClr val="5E5E5E"/>
                </a:solidFill>
                <a:latin typeface="Courier"/>
              </a:rPr>
              <a:t># "95% within +/- 2 SD" is the rule of thumb; the exact value is 1.96.</a:t>
            </a:r>
            <a:b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0.9545 -&gt; +/-2 SD is really 95.4%, not 95%</a:t>
            </a:r>
          </a:p>
          <a:p>
            <a:pPr lvl="0" indent="0">
              <a:buNone/>
            </a:pPr>
            <a:r>
              <a:rPr>
                <a:latin typeface="Courier"/>
              </a:rPr>
              <a:t>[1] 0.9544997</a:t>
            </a:r>
          </a:p>
          <a:p>
            <a:pPr lvl="0" indent="0">
              <a:buNone/>
            </a:pPr>
            <a:r>
              <a:rPr>
                <a:solidFill>
                  <a:srgbClr val="4758AB"/>
                </a:solidFill>
                <a:latin typeface="Courier"/>
              </a:rPr>
              <a:t>pnorm</a:t>
            </a:r>
            <a:r>
              <a:rPr>
                <a:solidFill>
                  <a:srgbClr val="003B4F"/>
                </a:solidFill>
                <a:latin typeface="Courier"/>
              </a:rPr>
              <a:t>(</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1.96</a:t>
            </a:r>
            <a:r>
              <a:rPr>
                <a:solidFill>
                  <a:srgbClr val="003B4F"/>
                </a:solidFill>
                <a:latin typeface="Courier"/>
              </a:rPr>
              <a:t>)   </a:t>
            </a:r>
            <a:r>
              <a:rPr>
                <a:solidFill>
                  <a:srgbClr val="5E5E5E"/>
                </a:solidFill>
                <a:latin typeface="Courier"/>
              </a:rPr>
              <a:t># 0.9500 -&gt; +/-1.96 SD is exactly 95%</a:t>
            </a:r>
          </a:p>
          <a:p>
            <a:pPr lvl="0" indent="0">
              <a:buNone/>
            </a:pPr>
            <a:r>
              <a:rPr>
                <a:latin typeface="Courier"/>
              </a:rPr>
              <a:t>[1] 0.9500042</a:t>
            </a:r>
          </a:p>
          <a:p>
            <a:pPr lvl="0" indent="0">
              <a:buNone/>
            </a:pPr>
            <a:r>
              <a:rPr>
                <a:solidFill>
                  <a:srgbClr val="4758AB"/>
                </a:solidFill>
                <a:latin typeface="Courier"/>
              </a:rPr>
              <a:t>qnorm</a:t>
            </a:r>
            <a:r>
              <a:rPr>
                <a:solidFill>
                  <a:srgbClr val="003B4F"/>
                </a:solidFill>
                <a:latin typeface="Courier"/>
              </a:rPr>
              <a:t>(</a:t>
            </a:r>
            <a:r>
              <a:rPr>
                <a:solidFill>
                  <a:srgbClr val="AD0000"/>
                </a:solidFill>
                <a:latin typeface="Courier"/>
              </a:rPr>
              <a:t>0.975</a:t>
            </a:r>
            <a:r>
              <a:rPr>
                <a:solidFill>
                  <a:srgbClr val="003B4F"/>
                </a:solidFill>
                <a:latin typeface="Courier"/>
              </a:rPr>
              <a:t>)   </a:t>
            </a:r>
            <a:r>
              <a:rPr>
                <a:solidFill>
                  <a:srgbClr val="5E5E5E"/>
                </a:solidFill>
                <a:latin typeface="Courier"/>
              </a:rPr>
              <a:t># 1.96  &lt;- the z with 2.5% in each tail</a:t>
            </a:r>
          </a:p>
          <a:p>
            <a:pPr lvl="0" indent="0">
              <a:buNone/>
            </a:pPr>
            <a:r>
              <a:rPr>
                <a:latin typeface="Courier"/>
              </a:rPr>
              <a:t>[1] 1.959964</a:t>
            </a:r>
          </a:p>
          <a:p>
            <a:pPr lvl="0" indent="0">
              <a:buNone/>
            </a:pP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1.645 &lt;- the z with 5% in ONE tail (we use this next slide)</a:t>
            </a:r>
          </a:p>
          <a:p>
            <a:pPr lvl="0" indent="0">
              <a:buNone/>
            </a:pPr>
            <a:r>
              <a:rPr>
                <a:latin typeface="Courier"/>
              </a:rPr>
              <a:t>[1] 1.644854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But wait — are these fish actually normal?</a:t>
            </a:r>
          </a:p>
        </p:txBody>
      </p:sp>
      <p:sp>
        <p:nvSpPr>
          <p:cNvPr id="3" name="Text Placeholder 2"/>
          <p:cNvSpPr>
            <a:spLocks noGrp="1"/>
          </p:cNvSpPr>
          <p:nvPr>
            <p:ph idx="1" type="body"/>
          </p:nvPr>
        </p:nvSpPr>
        <p:spPr/>
        <p:txBody>
          <a:bodyPr/>
          <a:lstStyle/>
          <a:p>
            <a:pPr lvl="0" indent="0" marL="0">
              <a:buNone/>
            </a:pPr>
            <a:r>
              <a:rPr/>
              <a:t>Every probability we just calculated </a:t>
            </a:r>
            <a:r>
              <a:rPr b="1"/>
              <a:t>assumed a normal distribution</a:t>
            </a:r>
            <a:r>
              <a:rPr/>
              <a:t>. Let’s check that assumption.</a:t>
            </a:r>
          </a:p>
          <a:p>
            <a:pPr lvl="0"/>
            <a:r>
              <a:rPr/>
              <a:t>The normal curve says 68% of fish should be within 1 SD</a:t>
            </a:r>
          </a:p>
          <a:p>
            <a:pPr lvl="0"/>
            <a:r>
              <a:rPr/>
              <a:t>Our fish: </a:t>
            </a:r>
            <a:r>
              <a:rPr b="1"/>
              <a:t>81.8%</a:t>
            </a:r>
            <a:r>
              <a:rPr/>
              <a:t> are</a:t>
            </a:r>
          </a:p>
          <a:p>
            <a:pPr lvl="0"/>
            <a:r>
              <a:rPr/>
              <a:t>Shapiro-Wilk test: </a:t>
            </a:r>
            <a:r>
              <a:rPr b="1"/>
              <a:t>p = 0.0002</a:t>
            </a:r>
            <a:r>
              <a:rPr/>
              <a:t> — significantly non-normal</a:t>
            </a:r>
          </a:p>
          <a:p>
            <a:pPr lvl="0" indent="0" marL="0">
              <a:buNone/>
            </a:pPr>
            <a:r>
              <a:rPr/>
              <a:t>So how wrong were we?</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endParaRPr/>
                    </a:p>
                  </a:txBody>
                  <a:tcPr/>
                </a:tc>
                <a:tc>
                  <a:txBody>
                    <a:bodyPr/>
                    <a:lstStyle/>
                    <a:p>
                      <a:pPr lvl="0" indent="0" marL="0">
                        <a:buNone/>
                      </a:pPr>
                      <a:r>
                        <a:rPr/>
                        <a:t>normal theory</a:t>
                      </a:r>
                    </a:p>
                  </a:txBody>
                  <a:tcPr/>
                </a:tc>
                <a:tc>
                  <a:txBody>
                    <a:bodyPr/>
                    <a:lstStyle/>
                    <a:p>
                      <a:pPr lvl="0" indent="0" marL="0">
                        <a:buNone/>
                      </a:pPr>
                      <a:r>
                        <a:rPr/>
                        <a:t>actual data</a:t>
                      </a:r>
                    </a:p>
                  </a:txBody>
                  <a:tcPr/>
                </a:tc>
              </a:tr>
              <a:tr h="0">
                <a:tc>
                  <a:txBody>
                    <a:bodyPr/>
                    <a:lstStyle/>
                    <a:p>
                      <a:pPr lvl="0" indent="0" marL="0">
                        <a:buNone/>
                      </a:pPr>
                      <a:r>
                        <a:rPr/>
                        <a:t>95th percentile</a:t>
                      </a:r>
                    </a:p>
                  </a:txBody>
                </a:tc>
                <a:tc>
                  <a:txBody>
                    <a:bodyPr/>
                    <a:lstStyle/>
                    <a:p>
                      <a:pPr lvl="0" indent="0" marL="0">
                        <a:buNone/>
                      </a:pPr>
                      <a:r>
                        <a:rPr/>
                        <a:t>312.2 mm</a:t>
                      </a:r>
                    </a:p>
                  </a:txBody>
                </a:tc>
                <a:tc>
                  <a:txBody>
                    <a:bodyPr/>
                    <a:lstStyle/>
                    <a:p>
                      <a:pPr lvl="0" indent="0" marL="0">
                        <a:buNone/>
                      </a:pPr>
                      <a:r>
                        <a:rPr/>
                        <a:t>310.0 mm</a:t>
                      </a:r>
                    </a:p>
                  </a:txBody>
                </a:tc>
              </a:tr>
              <a:tr h="0">
                <a:tc>
                  <a:txBody>
                    <a:bodyPr/>
                    <a:lstStyle/>
                    <a:p>
                      <a:pPr lvl="0" indent="0" marL="0">
                        <a:buNone/>
                      </a:pPr>
                      <a:r>
                        <a:rPr/>
                        <a:t>P(fish &gt; 300 mm)</a:t>
                      </a:r>
                    </a:p>
                  </a:txBody>
                </a:tc>
                <a:tc>
                  <a:txBody>
                    <a:bodyPr/>
                    <a:lstStyle/>
                    <a:p>
                      <a:pPr lvl="0" indent="0" marL="0">
                        <a:buNone/>
                      </a:pPr>
                      <a:r>
                        <a:rPr/>
                        <a:t>11.2%</a:t>
                      </a:r>
                    </a:p>
                  </a:txBody>
                </a:tc>
                <a:tc>
                  <a:txBody>
                    <a:bodyPr/>
                    <a:lstStyle/>
                    <a:p>
                      <a:pPr lvl="0" indent="0" marL="0">
                        <a:buNone/>
                      </a:pPr>
                      <a:r>
                        <a:rPr b="1"/>
                        <a:t>7.6%</a:t>
                      </a:r>
                    </a:p>
                  </a:txBody>
                </a:tc>
              </a:tr>
            </a:tbl>
          </a:graphicData>
        </a:graphic>
      </p:graphicFrame>
      <p:sp>
        <p:nvSpPr>
          <p:cNvPr id="4" name="Content Placeholder 3"/>
          <p:cNvSpPr>
            <a:spLocks noGrp="1"/>
          </p:cNvSpPr>
          <p:nvPr>
            <p:ph idx="2" sz="half"/>
          </p:nvPr>
        </p:nvSpPr>
        <p:spPr/>
        <p:txBody>
          <a:bodyPr/>
          <a:lstStyle/>
          <a:p>
            <a:pPr lvl="0" indent="0" marL="0">
              <a:buNone/>
            </a:pPr>
            <a:r>
              <a:rPr/>
              <a:t>The percentile is fine. The </a:t>
            </a:r>
            <a:r>
              <a:rPr b="1"/>
              <a:t>tail probability is off by a third</a:t>
            </a:r>
            <a:r>
              <a:rPr/>
              <a:t> — and the tails are exactly where we do hypothesis testing.</a:t>
            </a:r>
          </a:p>
          <a:p>
            <a:pPr lvl="0" indent="0" marL="0">
              <a:buNone/>
            </a:pPr>
            <a:r>
              <a:rPr b="1"/>
              <a:t>This is why we check assumptions before trusting a p-value.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Does the normal model actually fit?</a:t>
            </a:r>
            <a:br/>
            <a:r>
              <a:rPr>
                <a:solidFill>
                  <a:srgbClr val="4758AB"/>
                </a:solidFill>
                <a:latin typeface="Courier"/>
              </a:rPr>
              <a:t>shapiro.test</a:t>
            </a:r>
            <a:r>
              <a:rPr>
                <a:solidFill>
                  <a:srgbClr val="003B4F"/>
                </a:solidFill>
                <a:latin typeface="Courier"/>
              </a:rPr>
              <a:t>(i3_df</a:t>
            </a:r>
            <a:r>
              <a:rPr>
                <a:solidFill>
                  <a:srgbClr val="5E5E5E"/>
                </a:solidFill>
                <a:latin typeface="Courier"/>
              </a:rPr>
              <a:t>$</a:t>
            </a:r>
            <a:r>
              <a:rPr>
                <a:solidFill>
                  <a:srgbClr val="003B4F"/>
                </a:solidFill>
                <a:latin typeface="Courier"/>
              </a:rPr>
              <a:t>length_mm)</a:t>
            </a:r>
          </a:p>
          <a:p>
            <a:pPr lvl="0" indent="0">
              <a:buNone/>
            </a:pPr>
            <a:r>
              <a:rPr>
                <a:latin typeface="Courier"/>
              </a:rPr>
              <a:t>
    Shapiro-Wilk normality test
data:  i3_df$length_mm
W = 0.91051, p-value = 0.0001623</a:t>
            </a:r>
          </a:p>
          <a:p>
            <a:pPr lvl="0" indent="0">
              <a:buNone/>
            </a:pPr>
            <a:r>
              <a:rPr>
                <a:solidFill>
                  <a:srgbClr val="5E5E5E"/>
                </a:solidFill>
                <a:latin typeface="Courier"/>
              </a:rPr>
              <a:t># theory vs reality out in the tail</a:t>
            </a:r>
            <a:br/>
            <a:r>
              <a:rPr>
                <a:solidFill>
                  <a:srgbClr val="003B4F"/>
                </a:solidFill>
                <a:latin typeface="Courier"/>
              </a:rPr>
              <a:t>mean_i3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sd_i3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"normal theory P(&gt;300):"</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AD0000"/>
                </a:solidFill>
                <a:latin typeface="Courier"/>
              </a:rPr>
              <a:t>300</a:t>
            </a:r>
            <a:r>
              <a:rPr>
                <a:solidFill>
                  <a:srgbClr val="003B4F"/>
                </a:solidFill>
                <a:latin typeface="Courier"/>
              </a:rPr>
              <a:t>, mean_i3, sd_i3)),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normal theory P(&gt;300): 11.2 %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"actual        P(&gt;300):"</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5E5E5E"/>
                </a:solidFill>
                <a:latin typeface="Courier"/>
              </a:rPr>
              <a:t>&gt;</a:t>
            </a:r>
            <a:r>
              <a:rPr>
                <a:solidFill>
                  <a:srgbClr val="003B4F"/>
                </a:solidFill>
                <a:latin typeface="Courier"/>
              </a:rPr>
              <a:t> </a:t>
            </a:r>
            <a:r>
              <a:rPr>
                <a:solidFill>
                  <a:srgbClr val="AD0000"/>
                </a:solidFill>
                <a:latin typeface="Courier"/>
              </a:rPr>
              <a:t>300</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actual        P(&gt;300): 7.6 %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this means</a:t>
            </a:r>
          </a:p>
        </p:txBody>
      </p:sp>
      <p:sp>
        <p:nvSpPr>
          <p:cNvPr id="3" name="Content Placeholder 2"/>
          <p:cNvSpPr>
            <a:spLocks noGrp="1"/>
          </p:cNvSpPr>
          <p:nvPr>
            <p:ph idx="1"/>
          </p:nvPr>
        </p:nvSpPr>
        <p:spPr/>
        <p:txBody>
          <a:bodyPr/>
          <a:lstStyle/>
          <a:p>
            <a:pPr lvl="0"/>
            <a:r>
              <a:rPr/>
              <a:t>Given that we can: transform data to z-scores from standard normal distribution…</a:t>
            </a:r>
          </a:p>
          <a:p>
            <a:pPr lvl="0"/>
            <a:r>
              <a:rPr/>
              <a:t>…figure out area under the curve (probability) associated with range of z-scores…</a:t>
            </a:r>
          </a:p>
          <a:p>
            <a:pPr lvl="0"/>
            <a:r>
              <a:rPr/>
              <a:t>…can therefore figure out probability associated with a range of original data</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Careful: two different distributions</a:t>
            </a:r>
          </a:p>
        </p:txBody>
      </p:sp>
      <p:sp>
        <p:nvSpPr>
          <p:cNvPr id="3" name="Text Placeholder 2"/>
          <p:cNvSpPr>
            <a:spLocks noGrp="1"/>
          </p:cNvSpPr>
          <p:nvPr>
            <p:ph idx="1" type="body"/>
          </p:nvPr>
        </p:nvSpPr>
        <p:spPr/>
        <p:txBody>
          <a:bodyPr/>
          <a:lstStyle/>
          <a:p>
            <a:pPr lvl="0" indent="0" marL="0">
              <a:buNone/>
            </a:pPr>
            <a:r>
              <a:rPr/>
              <a:t>We have now used the normal curve for </a:t>
            </a:r>
            <a:r>
              <a:rPr b="1"/>
              <a:t>two different things</a:t>
            </a:r>
            <a:r>
              <a:rPr/>
              <a:t>. Keep them straight:</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2209800"/>
                <a:gridCol w="2209800"/>
              </a:tblGrid>
              <a:tr h="0">
                <a:tc>
                  <a:txBody>
                    <a:bodyPr/>
                    <a:lstStyle/>
                    <a:p>
                      <a:pPr lvl="0" indent="0" marL="0">
                        <a:buNone/>
                      </a:pPr>
                      <a:r>
                        <a:rPr/>
                        <a:t>Question</a:t>
                      </a:r>
                    </a:p>
                  </a:txBody>
                  <a:tcPr/>
                </a:tc>
                <a:tc>
                  <a:txBody>
                    <a:bodyPr/>
                    <a:lstStyle/>
                    <a:p>
                      <a:pPr lvl="0" indent="0" marL="0">
                        <a:buNone/>
                      </a:pPr>
                      <a:r>
                        <a:rPr/>
                        <a:t>Spread to use</a:t>
                      </a:r>
                    </a:p>
                  </a:txBody>
                  <a:tcPr/>
                </a:tc>
              </a:tr>
              <a:tr h="0">
                <a:tc>
                  <a:txBody>
                    <a:bodyPr/>
                    <a:lstStyle/>
                    <a:p>
                      <a:pPr lvl="0" indent="0" marL="0">
                        <a:buNone/>
                      </a:pPr>
                      <a:r>
                        <a:rPr/>
                        <a:t>How long is a </a:t>
                      </a:r>
                      <a:r>
                        <a:rPr i="1"/>
                        <a:t>single fish</a:t>
                      </a:r>
                      <a:r>
                        <a:rPr/>
                        <a:t>?</a:t>
                      </a:r>
                    </a:p>
                  </a:txBody>
                </a:tc>
                <a:tc>
                  <a:txBody>
                    <a:bodyPr/>
                    <a:lstStyle/>
                    <a:p>
                      <a:pPr lvl="0" indent="0" marL="0">
                        <a:buNone/>
                      </a:pPr>
                      <a:r>
                        <a:rPr b="1"/>
                        <a:t>SD</a:t>
                      </a:r>
                      <a:r>
                        <a:rPr/>
                        <a:t> (s)</a:t>
                      </a:r>
                    </a:p>
                  </a:txBody>
                </a:tc>
              </a:tr>
              <a:tr h="0">
                <a:tc>
                  <a:txBody>
                    <a:bodyPr/>
                    <a:lstStyle/>
                    <a:p>
                      <a:pPr lvl="0" indent="0" marL="0">
                        <a:buNone/>
                      </a:pPr>
                      <a:r>
                        <a:rPr/>
                        <a:t>Where is the </a:t>
                      </a:r>
                      <a:r>
                        <a:rPr i="1"/>
                        <a:t>population mean</a:t>
                      </a:r>
                      <a:r>
                        <a:rPr/>
                        <a:t>?</a:t>
                      </a:r>
                    </a:p>
                  </a:txBody>
                </a:tc>
                <a:tc>
                  <a:txBody>
                    <a:bodyPr/>
                    <a:lstStyle/>
                    <a:p>
                      <a:pPr lvl="0" indent="0" marL="0">
                        <a:buNone/>
                      </a:pPr>
                      <a:r>
                        <a:rPr b="1"/>
                        <a:t>SE</a:t>
                      </a:r>
                      <a:r>
                        <a:rPr/>
                        <a:t> (s/√n)</a:t>
                      </a:r>
                    </a:p>
                  </a:txBody>
                </a:tc>
              </a:tr>
            </a:tbl>
          </a:graphicData>
        </a:graphic>
      </p:graphicFrame>
      <p:sp>
        <p:nvSpPr>
          <p:cNvPr id="4" name="Content Placeholder 3"/>
          <p:cNvSpPr>
            <a:spLocks noGrp="1"/>
          </p:cNvSpPr>
          <p:nvPr>
            <p:ph idx="2" sz="half"/>
          </p:nvPr>
        </p:nvSpPr>
        <p:spPr/>
        <p:txBody>
          <a:bodyPr/>
          <a:lstStyle/>
          <a:p>
            <a:pPr lvl="0"/>
            <a:r>
              <a:rPr/>
              <a:t>The distribution of </a:t>
            </a:r>
            <a:r>
              <a:rPr b="1"/>
              <a:t>fish</a:t>
            </a:r>
            <a:r>
              <a:rPr/>
              <a:t> is as wide as the fish actually are — it does not get narrower if you catch more fish</a:t>
            </a:r>
          </a:p>
          <a:p>
            <a:pPr lvl="0"/>
            <a:r>
              <a:rPr/>
              <a:t>The distribution of </a:t>
            </a:r>
            <a:r>
              <a:rPr b="1"/>
              <a:t>sample means</a:t>
            </a:r>
            <a:r>
              <a:rPr/>
              <a:t> gets narrower as n grows, because averages are more stable than individuals</a:t>
            </a:r>
          </a:p>
          <a:p>
            <a:pPr lvl="0" indent="0" marL="0">
              <a:buNone/>
            </a:pPr>
            <a:r>
              <a:rPr/>
              <a:t>That is why:</a:t>
            </a:r>
          </a:p>
          <a:p>
            <a:pPr lvl="0"/>
            <a:r>
              <a:rPr/>
              <a:t>“5% of fish are longer than 312 mm” uses </a:t>
            </a:r>
            <a:r>
              <a:rPr b="1"/>
              <a:t>SD</a:t>
            </a:r>
          </a:p>
          <a:p>
            <a:pPr lvl="0"/>
            <a:r>
              <a:rPr/>
              <a:t>“the 95% CI for mean length is 258.6–272.6 mm” uses </a:t>
            </a:r>
            <a:r>
              <a:rPr b="1"/>
              <a:t>SE</a:t>
            </a:r>
          </a:p>
          <a:p>
            <a:pPr lvl="0" indent="0" marL="0">
              <a:buNone/>
            </a:pPr>
            <a:r>
              <a:rPr b="1"/>
              <a:t>Using SE when you meant SD makes your interval about √n times too narrow.</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sd_i3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n_i3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length_mm))</a:t>
            </a:r>
            <a:br/>
            <a:r>
              <a:rPr>
                <a:solidFill>
                  <a:srgbClr val="003B4F"/>
                </a:solidFill>
                <a:latin typeface="Courier"/>
              </a:rPr>
              <a:t>se_i3 &lt;- sd_i3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(n_i3)</a:t>
            </a:r>
            <a:br/>
            <a:br/>
            <a:r>
              <a:rPr>
                <a:solidFill>
                  <a:srgbClr val="4758AB"/>
                </a:solidFill>
                <a:latin typeface="Courier"/>
              </a:rPr>
              <a:t>cat</a:t>
            </a:r>
            <a:r>
              <a:rPr>
                <a:solidFill>
                  <a:srgbClr val="003B4F"/>
                </a:solidFill>
                <a:latin typeface="Courier"/>
              </a:rPr>
              <a:t>(</a:t>
            </a:r>
            <a:r>
              <a:rPr>
                <a:solidFill>
                  <a:srgbClr val="20794D"/>
                </a:solidFill>
                <a:latin typeface="Courier"/>
              </a:rPr>
              <a:t>"SD (spread of fish):  "</a:t>
            </a:r>
            <a:r>
              <a:rPr>
                <a:solidFill>
                  <a:srgbClr val="003B4F"/>
                </a:solidFill>
                <a:latin typeface="Courier"/>
              </a:rPr>
              <a:t>, </a:t>
            </a:r>
            <a:r>
              <a:rPr>
                <a:solidFill>
                  <a:srgbClr val="4758AB"/>
                </a:solidFill>
                <a:latin typeface="Courier"/>
              </a:rPr>
              <a:t>round</a:t>
            </a:r>
            <a:r>
              <a:rPr>
                <a:solidFill>
                  <a:srgbClr val="003B4F"/>
                </a:solidFill>
                <a:latin typeface="Courier"/>
              </a:rPr>
              <a:t>(sd_i3,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SD (spread of fish):   28.3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 (spread of means): "</a:t>
            </a:r>
            <a:r>
              <a:rPr>
                <a:solidFill>
                  <a:srgbClr val="003B4F"/>
                </a:solidFill>
                <a:latin typeface="Courier"/>
              </a:rPr>
              <a:t>, </a:t>
            </a:r>
            <a:r>
              <a:rPr>
                <a:solidFill>
                  <a:srgbClr val="4758AB"/>
                </a:solidFill>
                <a:latin typeface="Courier"/>
              </a:rPr>
              <a:t>round</a:t>
            </a:r>
            <a:r>
              <a:rPr>
                <a:solidFill>
                  <a:srgbClr val="003B4F"/>
                </a:solidFill>
                <a:latin typeface="Courier"/>
              </a:rPr>
              <a:t>(se_i3,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 (spread of means):  3.5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"n ="</a:t>
            </a:r>
            <a:r>
              <a:rPr>
                <a:solidFill>
                  <a:srgbClr val="003B4F"/>
                </a:solidFill>
                <a:latin typeface="Courier"/>
              </a:rPr>
              <a:t>, n_i3, </a:t>
            </a:r>
            <a:r>
              <a:rPr>
                <a:solidFill>
                  <a:srgbClr val="20794D"/>
                </a:solidFill>
                <a:latin typeface="Courier"/>
              </a:rPr>
              <a:t>" -&gt; SE is"</a:t>
            </a:r>
            <a:r>
              <a:rPr>
                <a:solidFill>
                  <a:srgbClr val="003B4F"/>
                </a:solidFill>
                <a:latin typeface="Courier"/>
              </a:rPr>
              <a:t>, </a:t>
            </a:r>
            <a:r>
              <a:rPr>
                <a:solidFill>
                  <a:srgbClr val="4758AB"/>
                </a:solidFill>
                <a:latin typeface="Courier"/>
              </a:rPr>
              <a:t>round</a:t>
            </a:r>
            <a:r>
              <a:rPr>
                <a:solidFill>
                  <a:srgbClr val="003B4F"/>
                </a:solidFill>
                <a:latin typeface="Courier"/>
              </a:rPr>
              <a:t>(sd_i3</a:t>
            </a:r>
            <a:r>
              <a:rPr>
                <a:solidFill>
                  <a:srgbClr val="5E5E5E"/>
                </a:solidFill>
                <a:latin typeface="Courier"/>
              </a:rPr>
              <a:t>/</a:t>
            </a:r>
            <a:r>
              <a:rPr>
                <a:solidFill>
                  <a:srgbClr val="003B4F"/>
                </a:solidFill>
                <a:latin typeface="Courier"/>
              </a:rPr>
              <a:t>se_i3, </a:t>
            </a:r>
            <a:r>
              <a:rPr>
                <a:solidFill>
                  <a:srgbClr val="AD0000"/>
                </a:solidFill>
                <a:latin typeface="Courier"/>
              </a:rPr>
              <a:t>1</a:t>
            </a:r>
            <a:r>
              <a:rPr>
                <a:solidFill>
                  <a:srgbClr val="003B4F"/>
                </a:solidFill>
                <a:latin typeface="Courier"/>
              </a:rPr>
              <a:t>), </a:t>
            </a:r>
            <a:r>
              <a:rPr>
                <a:solidFill>
                  <a:srgbClr val="20794D"/>
                </a:solidFill>
                <a:latin typeface="Courier"/>
              </a:rPr>
              <a:t>"x smaller</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n = 66  -&gt; SE is 8.1 x smaller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we estimate σ from the sample, using s</a:t>
            </a:r>
          </a:p>
          <a:p>
            <a:pPr lvl="0"/>
            <a:r>
              <a:rPr/>
              <a:t>that estimate carries its own uncertainty — so the z distribution is too narrow</a:t>
            </a:r>
          </a:p>
          <a:p>
            <a:pPr lvl="0"/>
            <a:r>
              <a:rPr b="1"/>
              <a:t>whenever σ is estimated, use t — at any sample size</a:t>
            </a:r>
          </a:p>
          <a:p>
            <a:pPr lvl="0"/>
            <a:r>
              <a:rPr/>
              <a:t>t and z agree to ~2 decimals once n is past ~30, which is where the “n &gt; 30” rule of thumb comes from — it’s a convenience, not the rule</a:t>
            </a:r>
          </a:p>
          <a:p>
            <a:pPr lvl="0" indent="0" marL="0">
              <a:buNone/>
            </a:pPr>
            <a:r>
              <a:rPr i="1"/>
              <a:t>Instead, we use Student’s t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lecture_files/figure-pptx/l04-1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Student’s t critical-value table with one-tail and two-tail probabilities across the columns and degrees of freedom down the rows, used to look up the t-value for a chosen confidence level and sample size.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The same Student’s t critical-value table repeated, with probabilities along the top and degrees of freedom down the left column, illustrating how to read off a critical t-value for a given df and confidence level.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447800"/>
            <a:ext cx="4432300" cy="24511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Bell-shaped t-distribution curve with the area to the left of t = 1.328 shaded, illustrating a one-tailed cutoff.</a:t>
            </a:r>
          </a:p>
        </p:txBody>
      </p:sp>
      <p:pic>
        <p:nvPicPr>
          <p:cNvPr descr="images/clipboard-641796945.png" id="0" name="Picture 1"/>
          <p:cNvPicPr>
            <a:picLocks noGrp="1" noChangeAspect="1"/>
          </p:cNvPicPr>
          <p:nvPr/>
        </p:nvPicPr>
        <p:blipFill>
          <a:blip r:embed="rId3"/>
          <a:stretch>
            <a:fillRect/>
          </a:stretch>
        </p:blipFill>
        <p:spPr bwMode="auto">
          <a:xfrm>
            <a:off x="5334000" y="1295400"/>
            <a:ext cx="28829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Student’s t critical-value table with the one-tail 0.10 column and df = 19 row highlighted, intersecting at the critical value 1.328, the value used for a one-tailed test with n = 20.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397000"/>
            <a:ext cx="4432300" cy="2540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Bell-shaped t-distribution curve with both tails shaded beyond t = -1.729 and t = 1.729, illustrating a two-tailed cutoff.</a:t>
            </a:r>
          </a:p>
        </p:txBody>
      </p:sp>
      <p:pic>
        <p:nvPicPr>
          <p:cNvPr descr="images/clipboard-1734806681.png" id="0" name="Picture 1"/>
          <p:cNvPicPr>
            <a:picLocks noGrp="1" noChangeAspect="1"/>
          </p:cNvPicPr>
          <p:nvPr/>
        </p:nvPicPr>
        <p:blipFill>
          <a:blip r:embed="rId3"/>
          <a:stretch>
            <a:fillRect/>
          </a:stretch>
        </p:blipFill>
        <p:spPr bwMode="auto">
          <a:xfrm>
            <a:off x="5334000" y="1295400"/>
            <a:ext cx="28829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Student’s t critical-value table with the two-tail 0.10 column and df = 19 row highlighted, intersecting at the critical value 1.729, the value used for a two-tailed test with n = 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9, and s = 37.81 - t is ? (df = N - 1 = 8)</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308100"/>
            <a:ext cx="2781300" cy="2667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Student’s t critical-value table with the two-tail 0.05 column and df = 8 row highlighted, intersecting at the critical value 2.306, the value used to compute the 95% confidence interval in this worked example.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 a random sample of 10 fish from I3.</a:t>
                </a:r>
              </a:p>
              <a:p>
                <a:pPr lvl="0" indent="0" marL="1270000">
                  <a:buNone/>
                </a:pPr>
                <a:r>
                  <a:rPr sz="2000"/>
                  <a:t>Look at how much wider the t interval is: with n = 10 the critical value is </a:t>
                </a:r>
                <a:r>
                  <a:rPr sz="2000" b="1"/>
                  <a:t>t = 2.262</a:t>
                </a:r>
                <a:r>
                  <a:rPr sz="2000"/>
                  <a:t> rather than </a:t>
                </a:r>
                <a:r>
                  <a:rPr sz="2000" b="1"/>
                  <a:t>z = 1.96</a:t>
                </a:r>
                <a:r>
                  <a:rPr sz="2000"/>
                  <a:t>, about </a:t>
                </a:r>
                <a:r>
                  <a:rPr sz="2000" b="1"/>
                  <a:t>15% wider</a:t>
                </a:r>
                <a:r>
                  <a:rPr sz="2000"/>
                  <a:t>. That extra width is the price of having estimated σ from only 10 fish.</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br/>
                <a:r>
                  <a:rPr>
                    <a:solidFill>
                      <a:srgbClr val="003B4F"/>
                    </a:solidFill>
                    <a:latin typeface="Courier"/>
                  </a:rPr>
                  <a:t>    </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258.9 mm
 Standard deviation: 34.73 mm
 Standard error: 10.98 mm
 95% CI using z: 237.4 to 280.4 mm
 95% CI using t: 234.1 to 283.7 mm
 t critical value: 2.262 vs z critical value: 1.96</a:t>
                </a:r>
              </a:p>
            </p:txBody>
          </p:sp>
        </mc:Choice>
      </mc:AlternateContent>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285 or not? Essentially we are looking at the confidence intervals!!! But we are only interested if it is larger</a:t>
            </a:r>
          </a:p>
          <a:p>
            <a:pPr lvl="0" indent="0" marL="1270000">
              <a:buNone/>
            </a:pPr>
            <a:r>
              <a:rPr sz="2000" b="1"/>
              <a:t>Note</a:t>
            </a:r>
          </a:p>
          <a:p>
            <a:pPr lvl="0" indent="0" marL="1270000">
              <a:buNone/>
            </a:pPr>
            <a:r>
              <a:rPr sz="2000" b="1"/>
              <a:t>📖 Reference</a:t>
            </a:r>
          </a:p>
          <a:p>
            <a:pPr lvl="0" indent="0" marL="1270000">
              <a:buNone/>
            </a:pPr>
            <a:r>
              <a:rPr sz="2000"/>
              <a:t>Gotelli &amp; Ellison, Ch. 4 — Framing and Testing Hypotheses.</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 to Hypothesis Testing (One-Tailed)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285 or not? Essentially we are looking at the confidence intervals!!! But we are only interested if it is larger</a:t>
            </a:r>
          </a:p>
        </p:txBody>
      </p:sp>
      <p:pic>
        <p:nvPicPr>
          <p:cNvPr descr="probability_inference_lectur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Numbers</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Testing (Two-Tailed) — The Picture</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lectur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 a very small p-value means the effect is </a:t>
            </a:r>
            <a:r>
              <a:rPr b="1"/>
              <a:t>detectable</a:t>
            </a:r>
            <a:r>
              <a:rPr/>
              <a:t>, not that it is </a:t>
            </a:r>
            <a:r>
              <a:rPr b="1"/>
              <a:t>large</a:t>
            </a:r>
            <a:r>
              <a:rPr/>
              <a:t> — with n = 168 a biologically trivial difference can give p = 10^-16</a:t>
            </a:r>
          </a:p>
          <a:p>
            <a:pPr lvl="0"/>
            <a:r>
              <a:rPr/>
              <a:t>- so report </a:t>
            </a:r>
            <a:r>
              <a:rPr>
                <a:latin typeface="Courier"/>
              </a:rPr>
              <a:t>p &lt; 0.001</a:t>
            </a:r>
            <a:r>
              <a:rPr/>
              <a:t> rather than </a:t>
            </a:r>
            <a:r>
              <a:rPr>
                <a:latin typeface="Courier"/>
              </a:rPr>
              <a:t>p = 1.2e-16</a:t>
            </a:r>
            <a:r>
              <a:rPr/>
              <a:t>, and always report the effect size alongside it</a:t>
            </a:r>
          </a:p>
        </p:txBody>
      </p:sp>
      <p:pic>
        <p:nvPicPr>
          <p:cNvPr descr="probability_inference_lecture_files/figure-pptx/l04-2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lectur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What It Means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true</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lectur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7: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Power to detect a 30 mm difference in mean length between lakes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a:t>
            </a:r>
            <a:br/>
            <a:br/>
            <a:r>
              <a:rPr>
                <a:solidFill>
                  <a:srgbClr val="5E5E5E"/>
                </a:solidFill>
                <a:latin typeface="Courier"/>
              </a:rPr>
              <a:t># count only the fish we actually measured (the length() trap from week 2)</a:t>
            </a:r>
            <a:br/>
            <a:r>
              <a:rPr>
                <a:solidFill>
                  <a:srgbClr val="003B4F"/>
                </a:solidFill>
                <a:latin typeface="Courier"/>
              </a:rPr>
              <a:t>n1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(lake_I3</a:t>
            </a:r>
            <a:r>
              <a:rPr>
                <a:solidFill>
                  <a:srgbClr val="5E5E5E"/>
                </a:solidFill>
                <a:latin typeface="Courier"/>
              </a:rPr>
              <a:t>$</a:t>
            </a:r>
            <a:r>
              <a:rPr>
                <a:solidFill>
                  <a:srgbClr val="003B4F"/>
                </a:solidFill>
                <a:latin typeface="Courier"/>
              </a:rPr>
              <a:t>length_mm))</a:t>
            </a:r>
            <a:br/>
            <a:r>
              <a:rPr>
                <a:solidFill>
                  <a:srgbClr val="003B4F"/>
                </a:solidFill>
                <a:latin typeface="Courier"/>
              </a:rPr>
              <a:t>n2 &lt;-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(lake_I8</a:t>
            </a:r>
            <a:r>
              <a:rPr>
                <a:solidFill>
                  <a:srgbClr val="5E5E5E"/>
                </a:solidFill>
                <a:latin typeface="Courier"/>
              </a:rPr>
              <a:t>$</a:t>
            </a:r>
            <a:r>
              <a:rPr>
                <a:solidFill>
                  <a:srgbClr val="003B4F"/>
                </a:solidFill>
                <a:latin typeface="Courier"/>
              </a:rPr>
              <a:t>length_mm))</a:t>
            </a:r>
            <a:b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power.t.test assumes EQUAL group sizes. Ours are 66 and 102, so use the</a:t>
            </a:r>
            <a:br/>
            <a:r>
              <a:rPr>
                <a:solidFill>
                  <a:srgbClr val="5E5E5E"/>
                </a:solidFill>
                <a:latin typeface="Courier"/>
              </a:rPr>
              <a:t># harmonic mean - the effective n per group when the design is unbalanced.</a:t>
            </a:r>
            <a:br/>
            <a:r>
              <a:rPr>
                <a:solidFill>
                  <a:srgbClr val="003B4F"/>
                </a:solidFill>
                <a:latin typeface="Courier"/>
              </a:rPr>
              <a:t>n_effective &lt;-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n1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n2)</a:t>
            </a:r>
            <a:br/>
            <a:br/>
            <a:r>
              <a:rPr>
                <a:solidFill>
                  <a:srgbClr val="003B4F"/>
                </a:solidFill>
                <a:latin typeface="Courier"/>
              </a:rPr>
              <a:t>power_result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n_effective,</a:t>
            </a:r>
            <a:br/>
            <a:r>
              <a:rPr>
                <a:solidFill>
                  <a:srgbClr val="003B4F"/>
                </a:solidFill>
                <a:latin typeface="Courier"/>
              </a:rPr>
              <a:t>                             </a:t>
            </a:r>
            <a:r>
              <a:rPr>
                <a:solidFill>
                  <a:srgbClr val="657422"/>
                </a:solidFill>
                <a:latin typeface="Courier"/>
              </a:rPr>
              <a:t>delta =</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5E5E5E"/>
                </a:solidFill>
                <a:latin typeface="Courier"/>
              </a:rPr>
              <a:t># difference we care about, in mm</a:t>
            </a:r>
            <a:br/>
            <a:r>
              <a:rPr>
                <a:solidFill>
                  <a:srgbClr val="003B4F"/>
                </a:solidFill>
                <a:latin typeface="Courier"/>
              </a:rPr>
              <a:t>                             </a:t>
            </a:r>
            <a:r>
              <a:rPr>
                <a:solidFill>
                  <a:srgbClr val="657422"/>
                </a:solidFill>
                <a:latin typeface="Courier"/>
              </a:rPr>
              <a:t>sd =</a:t>
            </a:r>
            <a:r>
              <a:rPr>
                <a:solidFill>
                  <a:srgbClr val="003B4F"/>
                </a:solidFill>
                <a:latin typeface="Courier"/>
              </a:rPr>
              <a:t> sd_pooled,      </a:t>
            </a:r>
            <a:r>
              <a:rPr>
                <a:solidFill>
                  <a:srgbClr val="5E5E5E"/>
                </a:solidFill>
                <a:latin typeface="Courier"/>
              </a:rPr>
              <a:t># same scale as delta</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"n per group (harmonic mean):"</a:t>
            </a:r>
            <a:r>
              <a:rPr>
                <a:solidFill>
                  <a:srgbClr val="003B4F"/>
                </a:solidFill>
                <a:latin typeface="Courier"/>
              </a:rPr>
              <a:t>, </a:t>
            </a:r>
            <a:r>
              <a:rPr>
                <a:solidFill>
                  <a:srgbClr val="4758AB"/>
                </a:solidFill>
                <a:latin typeface="Courier"/>
              </a:rPr>
              <a:t>round</a:t>
            </a:r>
            <a:r>
              <a:rPr>
                <a:solidFill>
                  <a:srgbClr val="003B4F"/>
                </a:solidFill>
                <a:latin typeface="Courier"/>
              </a:rPr>
              <a:t>(n_effective,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n per group (harmonic mean): 80.1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(sd_pooled,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pooled SD: 44.5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 for a 30 mm difference:"</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sz="2000">
                <a:latin typeface="Courier"/>
              </a:rPr>
              <a:t>Cohen's d for a 30 mm difference: 0.67 </a:t>
            </a:r>
          </a:p>
          <a:p>
            <a:pPr lvl="0" indent="0">
              <a:buNone/>
            </a:pPr>
            <a:r>
              <a:rPr>
                <a:solidFill>
                  <a:srgbClr val="003B4F"/>
                </a:solidFill>
                <a:latin typeface="Courier"/>
              </a:rPr>
              <a:t>power_result</a:t>
            </a:r>
          </a:p>
          <a:p>
            <a:pPr lvl="0" indent="0">
              <a:buNone/>
            </a:pPr>
            <a:r>
              <a:rPr sz="2000">
                <a:latin typeface="Courier"/>
              </a:rPr>
              <a:t>
     Two-sample t test power calculation 
              n = 80.14286
          delta = 30
             sd = 44.50181
      sig.level = 0.05
          power = 0.9887372
    alternative = two.sided
NOTE: n is number in *each* group</a:t>
            </a:r>
          </a:p>
          <a:p>
            <a:pPr lvl="0" indent="0" marL="1270000">
              <a:buNone/>
            </a:pPr>
            <a:r>
              <a:rPr sz="2000" b="1"/>
              <a:t>Warning</a:t>
            </a:r>
          </a:p>
          <a:p>
            <a:pPr lvl="0" indent="0" marL="1270000">
              <a:buNone/>
            </a:pPr>
            <a:r>
              <a:rPr sz="2000" b="1"/>
              <a:t>⚠️ An assumption we just quietly made</a:t>
            </a:r>
          </a:p>
          <a:p>
            <a:pPr lvl="0" indent="0" marL="1270000">
              <a:buNone/>
            </a:pPr>
            <a:r>
              <a:rPr sz="2000">
                <a:latin typeface="Courier"/>
              </a:rPr>
              <a:t>sd_pooled</a:t>
            </a:r>
            <a:r>
              <a:rPr sz="2000"/>
              <a:t> averages the two lakes’ SDs, which assumes they are equal. They are not: sd(I3) = 28.3 mm but sd(I8) = 52.3 mm — nearly double. That is also why the t-test two slides back was a </a:t>
            </a:r>
            <a:r>
              <a:rPr sz="2000" b="1"/>
              <a:t>Welch</a:t>
            </a:r>
            <a:r>
              <a:rPr sz="2000"/>
              <a:t> test (R’s default), which does </a:t>
            </a:r>
            <a:r>
              <a:rPr sz="2000" i="1"/>
              <a:t>not</a:t>
            </a:r>
            <a:r>
              <a:rPr sz="2000"/>
              <a:t> assume equal variances.</a:t>
            </a:r>
          </a:p>
          <a:p>
            <a:pPr lvl="0" indent="0" marL="1270000">
              <a:buNone/>
            </a:pPr>
            <a:r>
              <a:rPr sz="2000"/>
              <a:t>So treat this power number as a rough guide, not a precise answer.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t(0.975, df) × SE</a:t>
            </a:r>
          </a:p>
          <a:p>
            <a:pPr lvl="1"/>
            <a:r>
              <a:rPr/>
              <a:t>t ≈ 1.96 only once n is large — with n = 10 it is 2.26</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lectur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Probability &amp; Inference</dc:title>
  <dc:creator>Bill Perry</dc:creator>
  <cp:keywords/>
  <dc:description>Probability distributions, the standard normal and t-distributions, Z-scores, confidence intervals, one- and two-tailed hypothesis testing, p-values, and Type I/II error — on the Arctic grayling length dataset.</dc:description>
  <dcterms:created xsi:type="dcterms:W3CDTF">2026-09-01T20:21:54Z</dcterms:created>
  <dcterms:modified xsi:type="dcterms:W3CDTF">2026-09-01T20:21:54Z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5</vt:lpwstr>
  </property>
  <property fmtid="{D5CDD505-2E9C-101B-9397-08002B2CF9AE}" pid="14" name="resources">
    <vt:lpwstr/>
  </property>
  <property fmtid="{D5CDD505-2E9C-101B-9397-08002B2CF9AE}" pid="15" name="subtitle">
    <vt:lpwstr>Foundations of inference</vt:lpwstr>
  </property>
  <property fmtid="{D5CDD505-2E9C-101B-9397-08002B2CF9AE}" pid="16" name="toc-title">
    <vt:lpwstr>Table of contents</vt:lpwstr>
  </property>
  <property fmtid="{D5CDD505-2E9C-101B-9397-08002B2CF9AE}" pid="17" name="week">
    <vt:lpwstr>3</vt:lpwstr>
  </property>
</Properties>
</file>