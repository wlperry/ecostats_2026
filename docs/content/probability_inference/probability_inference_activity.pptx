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Probability &amp;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real data from Arctic grayling populations in two Alaskan lakes (I3 and I8), focusing on frequency distributions, how sample size affects our view of a population, and how distributions differ among lakes.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lakes are in this dataset, and how many fish were measured in each?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lake has more fish measured? Which has the larger mean length?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Frequency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histogram shows how many observations fall into certain ranges (“bins”).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histogram for lake I3: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changing </a:t>
            </a:r>
            <a:r>
              <a:rPr sz="2000">
                <a:latin typeface="Courier"/>
              </a:rPr>
              <a:t>binwidth</a:t>
            </a:r>
            <a:r>
              <a:rPr sz="2000"/>
              <a:t>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compare the two lakes: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two lakes’ distributions look like they overlap a lot, or are they fairly distinct?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Histograms to Density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density plot is a smoothed version of the histogram — the proportion of the data under each part of the curve, which sums to 1 over the whole curve.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overlay the density on the histogram: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Area Under the Density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whole point of a probability density is that area under it = probability. Let’s confirm the total area is ~1, then find the area for a specific range.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total area is ~1: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find the probability that a fish falls in a specific length range (you don’t need to understand every line of this function — it’s here to play with):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these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lower_bound</a:t>
            </a:r>
            <a:r>
              <a:rPr/>
              <a:t> and </a:t>
            </a:r>
            <a:r>
              <a:rPr>
                <a:latin typeface="Courier"/>
              </a:rPr>
              <a:t>upper_bound</a:t>
            </a:r>
            <a:r>
              <a:rPr/>
              <a:t> to a range of your choosing. What percentage of fish fall in your new range?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Z-Scores — a Shortcut for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the area under the curve every time is a pain. Converting to Z-scores gives us a shortcut.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proportion within 1 SD, the easy way: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Proportion within 1 standard deviation = sum of |Z| &lt;= 1, divided by 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In a true normal distribution: ~68% of data within ±1σ, ~95% within ±2σ (really 1.96σ), ~99.7% within ±3σ. This will vary somewhat if the distribution isn’t perfectly normal.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using R’s built-in normal-distribution functions instead of integrating by hand: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the standard normal distribution (mean = 0, sd = 1):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 </a:t>
            </a:r>
            <a:r>
              <a:rPr>
                <a:solidFill>
                  <a:srgbClr val="5E5E5E"/>
                </a:solidFill>
                <a:latin typeface="Courier"/>
              </a:rPr>
              <a:t># area to the left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</a:t>
            </a:r>
            <a:r>
              <a:rPr>
                <a:solidFill>
                  <a:srgbClr val="5E5E5E"/>
                </a:solidFill>
                <a:latin typeface="Courier"/>
              </a:rPr>
              <a:t># area to the right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area between two z-values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z-value for a given probability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it to a real question: how long does a fish need to be before it’s in the top 5% (unlikely to catch)?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the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</a:t>
            </a:r>
            <a:r>
              <a:rPr>
                <a:latin typeface="Courier"/>
              </a:rPr>
              <a:t>pnorm()</a:t>
            </a:r>
            <a:r>
              <a:rPr/>
              <a:t>, what proportion of I3 fish (assuming normality) are longer than 300mm? (Hint: you’ll need to convert 300mm to a z-score first.)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</a:t>
            </a:r>
            <a:r>
              <a:rPr sz="2000">
                <a:latin typeface="Courier"/>
              </a:rPr>
              <a:t>within_1sd</a:t>
            </a:r>
            <a:r>
              <a:rPr sz="2000"/>
              <a:t> (computed directly from the data) to </a:t>
            </a:r>
            <a:r>
              <a:rPr sz="2000">
                <a:latin typeface="Courier"/>
              </a:rPr>
              <a:t>pnorm(1) - pnorm(-1)</a:t>
            </a:r>
            <a:r>
              <a:rPr sz="2000"/>
              <a:t> (the theoretical value for a perfect normal distribution). How close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a Sample Mean to an Expected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this sample come from a population with a specific mean? Let’s practice a one-sample t-test.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whether the mean fish length in Lake I3 differs from 260mm: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null hypothesis here? Do you reject or fail to reject it at α = 0.05?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Formulating hypotheses:</a:t>
            </a:r>
            <a:r>
              <a:rPr/>
              <a:t> for the research question “Are fish in Lake I8 longer than fish in Lake I3?”, write the null and alternative hypotheses.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mu_I3 &gt;= mu_I8, Ha: mu_I3 &lt; mu_I8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this t-test, what can you conclude about the difference in fish length between the two lakes?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alternative = "two.sided"</a:t>
            </a:r>
            <a:r>
              <a:rPr sz="2000"/>
              <a:t> instead of </a:t>
            </a:r>
            <a:r>
              <a:rPr sz="2000">
                <a:latin typeface="Courier"/>
              </a:rPr>
              <a:t>"less"</a:t>
            </a:r>
            <a:r>
              <a:rPr sz="2000"/>
              <a:t>. Does the p-value change? Does your conclusion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and interpret histograms and density plots</a:t>
            </a:r>
          </a:p>
          <a:p>
            <a:pPr lvl="0"/>
            <a:r>
              <a:rPr/>
              <a:t>☐ Explain why the area under a density curve equals 1</a:t>
            </a:r>
          </a:p>
          <a:p>
            <a:pPr lvl="0"/>
            <a:r>
              <a:rPr/>
              <a:t>☐ Convert raw values to Z-scores and use </a:t>
            </a:r>
            <a:r>
              <a:rPr>
                <a:latin typeface="Courier"/>
              </a:rPr>
              <a:t>pnorm()</a:t>
            </a:r>
            <a:r>
              <a:rPr/>
              <a:t>/</a:t>
            </a:r>
            <a:r>
              <a:rPr>
                <a:latin typeface="Courier"/>
              </a:rPr>
              <a:t>qnorm()</a:t>
            </a:r>
            <a:r>
              <a:rPr/>
              <a:t> to find areas/probabilities</a:t>
            </a:r>
          </a:p>
          <a:p>
            <a:pPr lvl="0"/>
            <a:r>
              <a:rPr/>
              <a:t>☐ Run and interpret a one-sample t-test</a:t>
            </a:r>
          </a:p>
          <a:p>
            <a:pPr lvl="0"/>
            <a:r>
              <a:rPr/>
              <a:t>☐ Formulate hypotheses and run a directional (one-sided) two-sample t-test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05_probability_inference.R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library(patchwork)</a:t>
            </a:r>
            <a:r>
              <a:rPr/>
              <a:t>, and </a:t>
            </a:r>
            <a:r>
              <a:rPr>
                <a:latin typeface="Courier"/>
              </a:rPr>
              <a:t>library(skimr)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Probability &amp; Inference</dc:title>
  <dc:creator>Bill Perry</dc:creator>
  <cp:keywords/>
  <dc:description>Hands-on activity: frequency distributions, density plots, area under the curve, Z-scores, and one- and two-sample t-tests on the Arctic grayling length dataset.</dc:description>
  <dcterms:created xsi:type="dcterms:W3CDTF">2026-08-24T18:45:30Z</dcterms:created>
  <dcterms:modified xsi:type="dcterms:W3CDTF">2026-08-24T18:45:30Z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Foundations of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