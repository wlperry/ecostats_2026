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Probability &amp;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Probability and inference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 class activity 4: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did we do last time in activity 3?</a:t>
            </a:r>
          </a:p>
          <a:p>
            <a:pPr lvl="0"/>
            <a:r>
              <a:rPr/>
              <a:t>Setting up a project and variable names and code names</a:t>
            </a:r>
          </a:p>
          <a:p>
            <a:pPr lvl="0"/>
            <a:r>
              <a:rPr/>
              <a:t>How to use the pipe command %&gt;%</a:t>
            </a:r>
          </a:p>
          <a:p>
            <a:pPr lvl="0"/>
            <a:r>
              <a:rPr/>
              <a:t>How to create descriptive statistics of a sample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(length_mm)))</a:t>
            </a:r>
          </a:p>
          <a:p>
            <a:pPr lvl="0"/>
            <a:r>
              <a:rPr/>
              <a:t>More graphs…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wind))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 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sets the width in units of the bins - try different nubmers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1" indent="0" marL="342900">
              <a:buNone/>
            </a:pPr>
          </a:p>
          <a:p>
            <a:pPr lvl="0"/>
            <a:r>
              <a:rPr/>
              <a:t>What questions do you have and what is unclear - what did not work so far when you started the homework?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active learning module, we’ll explore real data from fish populations in Alaska. We’ll focus on understanding:</a:t>
            </a:r>
          </a:p>
          <a:p>
            <a:pPr lvl="0"/>
            <a:r>
              <a:rPr/>
              <a:t>How to create and interpret frequency distributions</a:t>
            </a:r>
          </a:p>
          <a:p>
            <a:pPr lvl="0"/>
            <a:r>
              <a:rPr/>
              <a:t>How sample size affects our view of a population</a:t>
            </a:r>
          </a:p>
          <a:p>
            <a:pPr lvl="0"/>
            <a:r>
              <a:rPr/>
              <a:t>How distributions differ among lakes</a:t>
            </a:r>
          </a:p>
          <a:p>
            <a:pPr lvl="0" indent="0" marL="0">
              <a:buNone/>
            </a:pPr>
            <a:r>
              <a:rPr/>
              <a:t>We’ll use the </a:t>
            </a:r>
            <a:r>
              <a:rPr>
                <a:latin typeface="Courier"/>
              </a:rPr>
              <a:t>tidyverse</a:t>
            </a:r>
            <a:r>
              <a:rPr/>
              <a:t> package for data manipulation and visualization.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Setup</a:t>
            </a:r>
          </a:p>
          <a:p>
            <a:pPr lvl="0" indent="0" marL="0">
              <a:buNone/>
            </a:pPr>
            <a:r>
              <a:rPr/>
              <a:t>First, let’s load the packages we need and the dataset: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# Install the patchwork package if needed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install.packages("patchwork")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br/>
            <a:r>
              <a:rPr>
                <a:solidFill>
                  <a:srgbClr val="5E5E5E"/>
                </a:solidFill>
                <a:latin typeface="Courier"/>
              </a:rPr>
              <a:t># Read in the data file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"data/gray_I3_I8.csv"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i3_df &lt;- 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20794D"/>
                </a:solidFill>
                <a:latin typeface="Courier"/>
              </a:rPr>
              <a:t>"I3"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Look at the first few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(g_df)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 site lake  species         length_mm mass_g
  &lt;dbl&gt; &lt;chr&gt; &lt;chr&gt;               &lt;dbl&gt;  &lt;dbl&gt;
1   113 I3    arctic grayling       266    135
2   113 I3    arctic grayling       290    185
3   113 I3    arctic grayling       262    145
4   113 I3    arctic grayling       275    160
5   113 I3    arctic grayling       240    105
6   113 I3    arctic grayling       265    145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Summary Statistics - 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mean, standard deviation, and sample size by lake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.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(count))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lake  mean_length sd_length se_length count
  &lt;chr&gt;       &lt;dbl&gt;     &lt;dbl&gt;     &lt;dbl&gt; &lt;int&gt;
1 I8           363.      52.3      5.18   102
2 I3           266.      28.3      3.48    66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Creating Frequency Distributions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Histograms</a:t>
            </a:r>
          </a:p>
          <a:p>
            <a:pPr lvl="0" indent="0" marL="0">
              <a:buNone/>
            </a:pPr>
            <a:r>
              <a:rPr/>
              <a:t>A histogram shows how many observations fall into certain ranges (or “bins”).</a:t>
            </a:r>
          </a:p>
          <a:p>
            <a:pPr lvl="0" indent="0" marL="0">
              <a:buNone/>
            </a:pPr>
            <a:r>
              <a:rPr/>
              <a:t>Let’s create a simple histogram of fish lengths from I3 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for I3 and create a histogram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</p:txBody>
      </p:sp>
      <p:pic>
        <p:nvPicPr>
          <p:cNvPr descr="probability_inference_activity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1</a:t>
            </a:r>
          </a:p>
          <a:p>
            <a:pPr lvl="0" indent="0" marL="1270000">
              <a:buNone/>
            </a:pPr>
            <a:r>
              <a:rPr sz="2000"/>
              <a:t>Try changing the </a:t>
            </a:r>
            <a:r>
              <a:rPr sz="2000">
                <a:latin typeface="Courier"/>
              </a:rPr>
              <a:t>binwidth</a:t>
            </a:r>
            <a:r>
              <a:rPr sz="2000"/>
              <a:t> parameter to 5 and then to 1. How does the appearance of the histogram change?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it here or above...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Comparing Lakes</a:t>
            </a:r>
          </a:p>
          <a:p>
            <a:pPr lvl="0" indent="0" marL="0">
              <a:buNone/>
            </a:pPr>
            <a:r>
              <a:rPr/>
              <a:t>Now let’s compare two lakes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histograms from I3 I8 lakes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lake))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</a:p>
        </p:txBody>
      </p:sp>
      <p:pic>
        <p:nvPicPr>
          <p:cNvPr descr="probability_inference_activity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let’s compare two lakes side by side: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Compare histograms from lake I3 I8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lake))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"lake"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probability_inference_activity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From Histograms to Density Plots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Density plots give us a smoothed version of the histogram It has the proportion of the data under each part of the curve This sums to 1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Create a density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</p:txBody>
      </p:sp>
      <p:pic>
        <p:nvPicPr>
          <p:cNvPr descr="probability_inference_activity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can overlay the density plot on the histogram 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histogram and density 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after_stat</a:t>
            </a:r>
            <a:r>
              <a:rPr>
                <a:solidFill>
                  <a:srgbClr val="003B4F"/>
                </a:solidFill>
                <a:latin typeface="Courier"/>
              </a:rPr>
              <a:t>(density)), 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</a:p>
        </p:txBody>
      </p:sp>
      <p:pic>
        <p:nvPicPr>
          <p:cNvPr descr="probability_inference_activity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3 - area under the density curve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could show this if we really wanted…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Function to calculate area under density curve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calculate_density_area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(data_vector)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Remove NA 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data_vector &lt;- data_vector[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(data_vector)]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Calculate density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dens &lt;- </a:t>
            </a:r>
            <a:r>
              <a:rPr>
                <a:solidFill>
                  <a:srgbClr val="4758AB"/>
                </a:solidFill>
                <a:latin typeface="Courier"/>
              </a:rPr>
              <a:t>density</a:t>
            </a:r>
            <a:r>
              <a:rPr>
                <a:solidFill>
                  <a:srgbClr val="003B4F"/>
                </a:solidFill>
                <a:latin typeface="Courier"/>
              </a:rPr>
              <a:t>(data_vector)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Calculate area using numeric integration (trapezoidal rule)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Area should be approximately 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dx &lt;- </a:t>
            </a:r>
            <a:r>
              <a:rPr>
                <a:solidFill>
                  <a:srgbClr val="4758AB"/>
                </a:solidFill>
                <a:latin typeface="Courier"/>
              </a:rPr>
              <a:t>diff</a:t>
            </a:r>
            <a:r>
              <a:rPr>
                <a:solidFill>
                  <a:srgbClr val="003B4F"/>
                </a:solidFill>
                <a:latin typeface="Courier"/>
              </a:rPr>
              <a:t>(dens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y_avg &lt;- (dens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y)])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area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(dx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y_avg)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(area)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Apply to i3 lake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i3_data &lt;- 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area_value &lt;- </a:t>
            </a:r>
            <a:r>
              <a:rPr>
                <a:solidFill>
                  <a:srgbClr val="4758AB"/>
                </a:solidFill>
                <a:latin typeface="Courier"/>
              </a:rPr>
              <a:t>calculate_density_area</a:t>
            </a:r>
            <a:r>
              <a:rPr>
                <a:solidFill>
                  <a:srgbClr val="003B4F"/>
                </a:solidFill>
                <a:latin typeface="Courier"/>
              </a:rPr>
              <a:t>(i3_data)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plot with calculated area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geom_area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Under Probability Density Function = 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"Calculated area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(area_value,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probability_inference_activity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looking at particular areas…</a:t>
            </a:r>
          </a:p>
          <a:p>
            <a:pPr lvl="0" indent="0" marL="0">
              <a:buNone/>
            </a:pPr>
            <a:r>
              <a:rPr/>
              <a:t>This can be adapted to calculate the area of a subset of the plot</a:t>
            </a:r>
          </a:p>
          <a:p>
            <a:pPr lvl="0" indent="0" marL="0">
              <a:buNone/>
            </a:pPr>
            <a:r>
              <a:rPr/>
              <a:t>I don’t expect you to know or be able to do all of this but is here to play with the code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------- PART 3: SET  INPUT VALUES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change these values to calculate different probabilities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 this example, let's calculate the probability of fish between 40mm and 60mm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lower_bound &lt;- </a:t>
            </a:r>
            <a:r>
              <a:rPr>
                <a:solidFill>
                  <a:srgbClr val="AD0000"/>
                </a:solidFill>
                <a:latin typeface="Courier"/>
              </a:rPr>
              <a:t>320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change this 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upper_bound &lt;- </a:t>
            </a:r>
            <a:r>
              <a:rPr>
                <a:solidFill>
                  <a:srgbClr val="AD0000"/>
                </a:solidFill>
                <a:latin typeface="Courier"/>
              </a:rPr>
              <a:t>350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change this value</a:t>
            </a:r>
            <a:br/>
            <a:br/>
            <a:br/>
            <a:br/>
            <a:r>
              <a:rPr>
                <a:solidFill>
                  <a:srgbClr val="5E5E5E"/>
                </a:solidFill>
                <a:latin typeface="Courier"/>
              </a:rPr>
              <a:t># ------- PART 1: PREPARE THE DATA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Filter data for just one lake to keep it simple for students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i3_fish &lt;- 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  </a:t>
            </a:r>
            <a:r>
              <a:rPr>
                <a:solidFill>
                  <a:srgbClr val="5E5E5E"/>
                </a:solidFill>
                <a:latin typeface="Courier"/>
              </a:rPr>
              <a:t># Remove any missing values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------- PART 2: CREATE A FUNCTION TO CALCULATE PROBABILITY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This function calculates the probability of finding a fish with length between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lower_bound and upper_bound using the empirical distribution of our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calculate_probability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(data_vector, lower_bound, upper_bound)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First, we create a density object from our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dens &lt;- </a:t>
            </a:r>
            <a:r>
              <a:rPr>
                <a:solidFill>
                  <a:srgbClr val="4758AB"/>
                </a:solidFill>
                <a:latin typeface="Courier"/>
              </a:rPr>
              <a:t>density</a:t>
            </a:r>
            <a:r>
              <a:rPr>
                <a:solidFill>
                  <a:srgbClr val="003B4F"/>
                </a:solidFill>
                <a:latin typeface="Courier"/>
              </a:rPr>
              <a:t>(data_vector)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Find indices of x-values that fall within our bounds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indices &lt;- </a:t>
            </a:r>
            <a:r>
              <a:rPr>
                <a:solidFill>
                  <a:srgbClr val="4758AB"/>
                </a:solidFill>
                <a:latin typeface="Courier"/>
              </a:rPr>
              <a:t>which</a:t>
            </a:r>
            <a:r>
              <a:rPr>
                <a:solidFill>
                  <a:srgbClr val="003B4F"/>
                </a:solidFill>
                <a:latin typeface="Courier"/>
              </a:rPr>
              <a:t>(dens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lower_bound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upper_bound)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If we have no points in the range, return 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(indices)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Get x and y values within our bounds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x_values &lt;- 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x[indices]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y_values &lt;- dens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y[indices]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Calculate the area using the trapezoidal rule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(average height × width) for each segment, then sum all segments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widths &lt;- </a:t>
            </a:r>
            <a:r>
              <a:rPr>
                <a:solidFill>
                  <a:srgbClr val="4758AB"/>
                </a:solidFill>
                <a:latin typeface="Courier"/>
              </a:rPr>
              <a:t>diff</a:t>
            </a:r>
            <a:r>
              <a:rPr>
                <a:solidFill>
                  <a:srgbClr val="003B4F"/>
                </a:solidFill>
                <a:latin typeface="Courier"/>
              </a:rPr>
              <a:t>(x_values)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avg_heights &lt;- (y_values[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y_values[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(y_values)])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area_in_range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(widths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avg_heights)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Return the calculated probability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(area_in_range)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------- PART 4: CALCULATE THE PROBABILITY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Calculate the probability for the specified range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probability &lt;- </a:t>
            </a:r>
            <a:r>
              <a:rPr>
                <a:solidFill>
                  <a:srgbClr val="4758AB"/>
                </a:solidFill>
                <a:latin typeface="Courier"/>
              </a:rPr>
              <a:t>calculate_probability</a:t>
            </a:r>
            <a:r>
              <a:rPr>
                <a:solidFill>
                  <a:srgbClr val="003B4F"/>
                </a:solidFill>
                <a:latin typeface="Courier"/>
              </a:rPr>
              <a:t>(i3_fish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lower_bound, upper_bound)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the total area to show that the complete distribution sums to approximately 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total_area &lt;- </a:t>
            </a:r>
            <a:r>
              <a:rPr>
                <a:solidFill>
                  <a:srgbClr val="4758AB"/>
                </a:solidFill>
                <a:latin typeface="Courier"/>
              </a:rPr>
              <a:t>calculate_probability</a:t>
            </a:r>
            <a:r>
              <a:rPr>
                <a:solidFill>
                  <a:srgbClr val="003B4F"/>
                </a:solidFill>
                <a:latin typeface="Courier"/>
              </a:rPr>
              <a:t>(i3_fish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(i3_fish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(i3_fish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------- PART 5: CREATE THE VISUALIZATION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Create density data for the highlighting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density_data &lt;- </a:t>
            </a:r>
            <a:r>
              <a:rPr>
                <a:solidFill>
                  <a:srgbClr val="4758AB"/>
                </a:solidFill>
                <a:latin typeface="Courier"/>
              </a:rPr>
              <a:t>density</a:t>
            </a:r>
            <a:r>
              <a:rPr>
                <a:solidFill>
                  <a:srgbClr val="003B4F"/>
                </a:solidFill>
                <a:latin typeface="Courier"/>
              </a:rPr>
              <a:t>(i3_fish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density_df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density_data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density_data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a subset for the area of interest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highlight_df &lt;- density_df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(x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lower_bound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x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upper_bound)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Create the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(i3_fish,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First, plot the overall density curve in light blue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Then highlight our region of interest in dark red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geom_area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highlight_df,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y),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vertical lines to clearly mark the boundaries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lower_bound,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upper_bound,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informative labels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"Probability Distribution of Fish Lengths"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"Probability of fish between "</a:t>
            </a:r>
            <a:r>
              <a:rPr>
                <a:solidFill>
                  <a:srgbClr val="003B4F"/>
                </a:solidFill>
                <a:latin typeface="Courier"/>
              </a:rPr>
              <a:t>, lower_bound,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20794D"/>
                </a:solidFill>
                <a:latin typeface="Courier"/>
              </a:rPr>
              <a:t>" and "</a:t>
            </a:r>
            <a:r>
              <a:rPr>
                <a:solidFill>
                  <a:srgbClr val="003B4F"/>
                </a:solidFill>
                <a:latin typeface="Courier"/>
              </a:rPr>
              <a:t>, upper_bound, </a:t>
            </a:r>
            <a:r>
              <a:rPr>
                <a:solidFill>
                  <a:srgbClr val="20794D"/>
                </a:solidFill>
                <a:latin typeface="Courier"/>
              </a:rPr>
              <a:t>" mm =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(probability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"%"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"Total area under the curve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(total_area,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"Fish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Add text annotations to explain the areas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annotate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(lower_bound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upper_bound)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density</a:t>
            </a:r>
            <a:r>
              <a:rPr>
                <a:solidFill>
                  <a:srgbClr val="003B4F"/>
                </a:solidFill>
                <a:latin typeface="Courier"/>
              </a:rPr>
              <a:t>(i3_fish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"Area =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(probability,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Make the plot look nicer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plot.subtitle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"darkred"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</p:txBody>
      </p:sp>
      <p:pic>
        <p:nvPicPr>
          <p:cNvPr descr="probability_inference_activity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4: this is great but integrating area each time is a pain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Converting data to Z scores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mean and standard deviation of fish lengths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mean_length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sd_length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Z-scores for fish lengths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i3_df &lt;- 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z_score =</a:t>
            </a:r>
            <a:r>
              <a:rPr>
                <a:solidFill>
                  <a:srgbClr val="003B4F"/>
                </a:solidFill>
                <a:latin typeface="Courier"/>
              </a:rPr>
              <a:t> (length_mm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mean_length)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sd_length)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View the first few rows with Z-scores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(i3_df)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 site lake  species         length_mm mass_g z_score
  &lt;dbl&gt; &lt;chr&gt; &lt;chr&gt;               &lt;dbl&gt;  &lt;dbl&gt;   &lt;dbl&gt;
1   113 I3    arctic grayling       266    135  0.0139
2   113 I3    arctic grayling       290    185  0.862 
3   113 I3    arctic grayling       262    145 -0.127 
4   113 I3    arctic grayling       275    160  0.332 
5   113 I3    arctic grayling       240    105 -0.905 
6   113 I3    arctic grayling       265    145 -0.0214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Now plot the Z Scores as a histogram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z_fish_plot &lt;- i3_df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x=</a:t>
            </a:r>
            <a:r>
              <a:rPr>
                <a:solidFill>
                  <a:srgbClr val="003B4F"/>
                </a:solidFill>
                <a:latin typeface="Courier"/>
              </a:rPr>
              <a:t>z_score))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z_fish_plot</a:t>
            </a:r>
          </a:p>
          <a:p>
            <a:pPr lvl="0" indent="0">
              <a:buNone/>
            </a:pPr>
            <a:r>
              <a:rPr>
                <a:latin typeface="Courier"/>
              </a:rPr>
              <a:t>`stat_bin()` using `bins = 30`. Pick better value `binwidth`.</a:t>
            </a:r>
          </a:p>
        </p:txBody>
      </p:sp>
      <p:pic>
        <p:nvPicPr>
          <p:cNvPr descr="probability_inference_activity_files/figure-pptx/unnamed-chunk-1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98900" y="952500"/>
            <a:ext cx="47498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 can use this now to get the area the same way as above but easier…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Proportion within 1 standard deviation = sum of absolute values of Z Scores that are less than or equal to 1 divided by the number in the sample…</a:t>
            </a:r>
          </a:p>
          <a:p>
            <a:pPr lvl="0" indent="0" marL="0">
              <a:buNone/>
            </a:pPr>
            <a:r>
              <a:rPr/>
              <a:t>Remember in a true normal distribution it is 68% within 1 std dev.</a:t>
            </a:r>
          </a:p>
          <a:p>
            <a:pPr lvl="0" indent="0" marL="0">
              <a:buNone/>
            </a:pPr>
            <a:r>
              <a:rPr/>
              <a:t>should be approximately (varies if distribution is not normal):</a:t>
            </a:r>
          </a:p>
          <a:p>
            <a:pPr lvl="0"/>
            <a:r>
              <a:rPr/>
              <a:t>68% of data within ±1σ of the mean</a:t>
            </a:r>
          </a:p>
          <a:p>
            <a:pPr lvl="0"/>
            <a:r>
              <a:rPr/>
              <a:t>95% of data within ±2σ of the mean - really 1.96σ</a:t>
            </a:r>
          </a:p>
          <a:p>
            <a:pPr lvl="0"/>
            <a:r>
              <a:rPr/>
              <a:t>99.7% of data within ±3σ of the mean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What proportion of fish are within 1 standard deviation of the mean?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within_1sd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z_score)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z_score))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"Proportion within 1 SD:"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(within_1sd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"%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Proportion within 1 SD: 81.8 %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Z-score example calculation in 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can use R to get these values easier…</a:t>
            </a:r>
          </a:p>
          <a:p>
            <a:pPr lvl="0" indent="0" marL="0">
              <a:buNone/>
            </a:pPr>
            <a:r>
              <a:rPr/>
              <a:t># For standard normal distribution (mean=0, sd=1):</a:t>
            </a:r>
          </a:p>
          <a:p>
            <a:pPr lvl="0"/>
            <a:r>
              <a:rPr/>
              <a:t>pnorm(z) # gives cumulative probability (area to the left)</a:t>
            </a:r>
          </a:p>
          <a:p>
            <a:pPr lvl="0"/>
            <a:r>
              <a:rPr/>
              <a:t>qnorm(p) # gives z-value for a given probability</a:t>
            </a:r>
          </a:p>
          <a:p>
            <a:pPr lvl="0"/>
            <a:r>
              <a:rPr/>
              <a:t>dnorm(z) # gives probability density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z_value &lt;-  </a:t>
            </a:r>
            <a:r>
              <a:rPr>
                <a:solidFill>
                  <a:srgbClr val="AD0000"/>
                </a:solidFill>
                <a:latin typeface="Courier"/>
              </a:rPr>
              <a:t>1.22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prob_left &lt;- </a:t>
            </a:r>
            <a:r>
              <a:rPr>
                <a:solidFill>
                  <a:srgbClr val="4758AB"/>
                </a:solidFill>
                <a:latin typeface="Courier"/>
              </a:rPr>
              <a:t>pnorm</a:t>
            </a:r>
            <a:r>
              <a:rPr>
                <a:solidFill>
                  <a:srgbClr val="003B4F"/>
                </a:solidFill>
                <a:latin typeface="Courier"/>
              </a:rPr>
              <a:t>(z_value)          </a:t>
            </a:r>
            <a:r>
              <a:rPr>
                <a:solidFill>
                  <a:srgbClr val="5E5E5E"/>
                </a:solidFill>
                <a:latin typeface="Courier"/>
              </a:rPr>
              <a:t># 0.975 (97.5% to the left)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prob_right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pnorm</a:t>
            </a:r>
            <a:r>
              <a:rPr>
                <a:solidFill>
                  <a:srgbClr val="003B4F"/>
                </a:solidFill>
                <a:latin typeface="Courier"/>
              </a:rPr>
              <a:t>(z_value)     </a:t>
            </a:r>
            <a:r>
              <a:rPr>
                <a:solidFill>
                  <a:srgbClr val="5E5E5E"/>
                </a:solidFill>
                <a:latin typeface="Courier"/>
              </a:rPr>
              <a:t># 0.025 (2.5% to the right)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prob_between &lt;- </a:t>
            </a:r>
            <a:r>
              <a:rPr>
                <a:solidFill>
                  <a:srgbClr val="4758AB"/>
                </a:solidFill>
                <a:latin typeface="Courier"/>
              </a:rPr>
              <a:t>pnorm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0.95 (95% between ±1.96)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To find z-value for a given probability: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z_for_95_percent &lt;- </a:t>
            </a:r>
            <a:r>
              <a:rPr>
                <a:solidFill>
                  <a:srgbClr val="4758AB"/>
                </a:solidFill>
                <a:latin typeface="Courier"/>
              </a:rPr>
              <a:t>qnorm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0.888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1.96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(prob_left)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0.8887676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(prob_right)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0.1112324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(prob_between)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0.9544997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(z_for_95_percent)</a:t>
            </a:r>
          </a:p>
          <a:p>
            <a:pPr lvl="0" indent="0">
              <a:buNone/>
            </a:pPr>
            <a:r>
              <a:rPr>
                <a:latin typeface="Courier"/>
              </a:rPr>
              <a:t>[1] 1.21596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We can now use this for fun in the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Lets say we are interested in knowing at what point from I3 it is not likely to catch a larger fish?</a:t>
            </a:r>
          </a:p>
          <a:p>
            <a:pPr lvl="0" indent="0" marL="0">
              <a:buNone/>
            </a:pPr>
            <a:r>
              <a:rPr/>
              <a:t>Maybe we expect 95% of the time to catch a fish that is “common” but the 5% is the unlikely portion….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Examples: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What fish length corresponds to the top 5% (unlikely)?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top_5_percent_z &lt;- </a:t>
            </a:r>
            <a:r>
              <a:rPr>
                <a:solidFill>
                  <a:srgbClr val="4758AB"/>
                </a:solidFill>
                <a:latin typeface="Courier"/>
              </a:rPr>
              <a:t>qnorm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0.95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z-score for 95th percentile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unlikely_length &lt;- mean_length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(top_5_percent_z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sd_length)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"Only 5% of fish are longer than:"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(unlikely_length,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"mm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Only 5% of fish are longer than: 312.2 mm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"This corresponds to z-score:"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(top_5_percent_z,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This corresponds to z-score: 1.645 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5: Comparing a sampe mean to an expected mean….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Did the smaple come from that lake?</a:t>
            </a:r>
          </a:p>
          <a:p>
            <a:pPr lvl="0" indent="0" marL="0">
              <a:buNone/>
            </a:pPr>
            <a:r>
              <a:rPr/>
              <a:t>Lets practice a One-Sample t-Test</a:t>
            </a:r>
          </a:p>
          <a:p>
            <a:pPr lvl="0" indent="0" marL="0">
              <a:buNone/>
            </a:pPr>
            <a:r>
              <a:rPr/>
              <a:t>Let’s perform a one-sample t-test to determine if the mean fish length in Lake I3 differs from 260 mm: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get only lake I3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i3_df &lt;- g_df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20794D"/>
                </a:solidFill>
                <a:latin typeface="Courier"/>
              </a:rPr>
              <a:t>"I3"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what is the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i3_mean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na.rm=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(i3_mean,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"mm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Mean: 265.6 mm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Perform a one-sample t-test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(i3_df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length_mm, </a:t>
            </a:r>
            <a:r>
              <a:rPr>
                <a:solidFill>
                  <a:srgbClr val="657422"/>
                </a:solidFill>
                <a:latin typeface="Courier"/>
              </a:rPr>
              <a:t>mu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260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View the test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</a:t>
            </a:r>
          </a:p>
          <a:p>
            <a:pPr lvl="0" indent="0">
              <a:buNone/>
            </a:pPr>
            <a:r>
              <a:rPr>
                <a:latin typeface="Courier"/>
              </a:rPr>
              <a:t>
    One Sample t-test
data:  i3_df$length_mm
t = 1.6091, df = 65, p-value = 0.1124
alternative hypothesis: true mean is not equal to 260
95 percent confidence interval:
 258.6481 272.5640
sample estimates:
mean of x 
 265.6061 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6: Comparing two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Formulating Hypotheses</a:t>
            </a:r>
          </a:p>
          <a:p>
            <a:pPr lvl="0" indent="0" marL="0">
              <a:buNone/>
            </a:pPr>
            <a:r>
              <a:rPr/>
              <a:t>For the following research questions about Arctic grayling, write the null and alternative hypotheses:</a:t>
            </a:r>
          </a:p>
          <a:p>
            <a:pPr lvl="0" indent="-342900" marL="342900">
              <a:buAutoNum type="arabicPeriod"/>
            </a:pPr>
            <a:r>
              <a:rPr/>
              <a:t>Are fish in Lake I8 longer than fish in Lake I3?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Let's test one of these hypotheses: Are fish in Lake I8 longer than fish in Lake I3?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Perform an independent t-test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lake,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g_df,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"less"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H₀: μ_I3 ≥ μ_I8, H₁: μ_I3 &lt; μ_I8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t_test_result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length_mm by lake
t = -15.532, df = 161.63, p-value &lt; 2.2e-16
alternative hypothesis: true difference in means between group I3 and group I8 is less than 0
95 percent confidence interval:
      -Inf -86.66138
sample estimates:
mean in group I3 mean in group I8 
        265.6061         362.5980 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&amp; Inference</dc:title>
  <dc:creator>Bill Perry</dc:creator>
  <cp:keywords/>
  <dc:description>Hands-on activity: probability and statistical inference.</dc:description>
  <dcterms:created xsi:type="dcterms:W3CDTF">2026-08-20T19:17:05Z</dcterms:created>
  <dcterms:modified xsi:type="dcterms:W3CDTF">2026-08-20T19:17:05Z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5</vt:lpwstr>
  </property>
  <property fmtid="{D5CDD505-2E9C-101B-9397-08002B2CF9AE}" pid="13" name="resources">
    <vt:lpwstr/>
  </property>
  <property fmtid="{D5CDD505-2E9C-101B-9397-08002B2CF9AE}" pid="14" name="subtitle">
    <vt:lpwstr>Probability and inference</vt:lpwstr>
  </property>
  <property fmtid="{D5CDD505-2E9C-101B-9397-08002B2CF9AE}" pid="15" name="toc-title">
    <vt:lpwstr>Table of contents</vt:lpwstr>
  </property>
  <property fmtid="{D5CDD505-2E9C-101B-9397-08002B2CF9AE}" pid="16" name="week">
    <vt:lpwstr>3</vt:lpwstr>
  </property>
</Properties>
</file>