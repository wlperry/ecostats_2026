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Foundations of inference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Probability &amp;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real data from Arctic grayling populations in two Alaskan lakes (I3 and I8), focusing on frequency distributions, how sample size affects our view of a population, and how distributions differ among lakes.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lakes are in this dataset, and how many fish were measured in each?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lake has more fish measured? Which has the larger mean length?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Frequency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histogram shows how many observations fall into certain ranges (“bins”).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basic histogram for lake I3: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changing </a:t>
            </a:r>
            <a:r>
              <a:rPr sz="2000">
                <a:latin typeface="Courier"/>
              </a:rPr>
              <a:t>binwidth</a:t>
            </a:r>
            <a:r>
              <a:rPr sz="2000"/>
              <a:t> to 5 and then to 1. How does the appearance of the histogram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compare the two lakes: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two lakes’ distributions look like they overlap a lot, or are they fairly distinct?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Histograms to Density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density plot is a smoothed version of the histogram — the proportion of the data under each part of the curve, which sums to 1 over the whole curve.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overlay the density on the histogram: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after_stat</a:t>
            </a:r>
            <a:r>
              <a:rPr>
                <a:solidFill>
                  <a:srgbClr val="003B4F"/>
                </a:solidFill>
                <a:latin typeface="Courier"/>
              </a:rPr>
              <a:t>(density)), 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Area Under the Density Curve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whole point of a probability density is that area under it = probability. Let’s confirm the total area is ~1, then find the area for a specific range.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confirm the total area is ~1: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calculate_density_area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data_vector &lt;- data_vector[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(data_vector)]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Trapezoidal rule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dx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y_avg &lt;- 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area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(dx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y_avg)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(area)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i3_data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area_value &lt;- </a:t>
            </a:r>
            <a:r>
              <a:rPr>
                <a:solidFill>
                  <a:srgbClr val="4758AB"/>
                </a:solidFill>
                <a:latin typeface="Courier"/>
              </a:rPr>
              <a:t>calculate_density_area</a:t>
            </a:r>
            <a:r>
              <a:rPr>
                <a:solidFill>
                  <a:srgbClr val="003B4F"/>
                </a:solidFill>
                <a:latin typeface="Courier"/>
              </a:rPr>
              <a:t>(i3_data)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Under Probability Density Function =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"Calculated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(area_value,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find the probability that a fish falls in a specific length range (you don’t need to understand every line of this function — it’s here to play with):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lower_bound &lt;- </a:t>
            </a:r>
            <a:r>
              <a:rPr>
                <a:solidFill>
                  <a:srgbClr val="AD0000"/>
                </a:solidFill>
                <a:latin typeface="Courier"/>
              </a:rPr>
              <a:t>320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change these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upper_bound &lt;-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i3_fish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calculate_probability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(data_vector, lower_bound, upper_bound)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(indices)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x_values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widths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(x_values)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avg_heights &lt;- (y_values[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(y_values)])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(widths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avg_heights)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probability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lower_bound, upper_bound)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total_area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density_data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density_df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highlight_df &lt;- density_df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(i3_fish,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highlight_df,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y),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lower_bound,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upper_bound,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Distribution of Fish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"Probability of fish between "</a:t>
            </a:r>
            <a:r>
              <a:rPr>
                <a:solidFill>
                  <a:srgbClr val="003B4F"/>
                </a:solidFill>
                <a:latin typeface="Courier"/>
              </a:rPr>
              <a:t>, lower_bound,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and "</a:t>
            </a:r>
            <a:r>
              <a:rPr>
                <a:solidFill>
                  <a:srgbClr val="003B4F"/>
                </a:solidFill>
                <a:latin typeface="Courier"/>
              </a:rPr>
              <a:t>, upper_bound, </a:t>
            </a:r>
            <a:r>
              <a:rPr>
                <a:solidFill>
                  <a:srgbClr val="20794D"/>
                </a:solidFill>
                <a:latin typeface="Courier"/>
              </a:rPr>
              <a:t>" mm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"Total area under the curve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(total_area,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(lower_bound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plot.subtitle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lower_bound</a:t>
            </a:r>
            <a:r>
              <a:rPr/>
              <a:t> and </a:t>
            </a:r>
            <a:r>
              <a:rPr>
                <a:latin typeface="Courier"/>
              </a:rPr>
              <a:t>upper_bound</a:t>
            </a:r>
            <a:r>
              <a:rPr/>
              <a:t> to a range of your choosing. What percentage of fish fall in your new range?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Z-Scores — a Shortcut for Area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the area under the curve every time is a pain. Converting to Z-scores gives us a shortcut.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(i3_df)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z_fish_plot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z_score))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z_fish_plot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proportion within 1 SD, the easy way: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Proportion within 1 standard deviation = sum of |Z| &lt;= 1, divided by 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💡 In a true normal distribution: ~68% of data within ±1σ, ~95% within ±2σ (really 1.96σ), ~99.7% within ±3σ. This will vary somewhat if the distribution isn’t perfectly normal.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using R’s built-in normal-distribution functions instead of integrating by hand: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 the standard normal distribution (mean = 0, sd = 1):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z_value &lt;- </a:t>
            </a:r>
            <a:r>
              <a:rPr>
                <a:solidFill>
                  <a:srgbClr val="AD0000"/>
                </a:solidFill>
                <a:latin typeface="Courier"/>
              </a:rPr>
              <a:t>1.22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prob_left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      </a:t>
            </a:r>
            <a:r>
              <a:rPr>
                <a:solidFill>
                  <a:srgbClr val="5E5E5E"/>
                </a:solidFill>
                <a:latin typeface="Courier"/>
              </a:rPr>
              <a:t># area to the left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prob_right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 </a:t>
            </a:r>
            <a:r>
              <a:rPr>
                <a:solidFill>
                  <a:srgbClr val="5E5E5E"/>
                </a:solidFill>
                <a:latin typeface="Courier"/>
              </a:rPr>
              <a:t># area to the right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prob_between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area between two z-values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z_for_95_percent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0.888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z-value for a given probability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(prob_left)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(prob_right)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(prob_between)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(z_for_95_percent)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apply it to a real question: how long does a fish need to be before it’s in the top 5% (unlikely to catch)?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top_5_percent_z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z-score for the 95th percentile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unlikely_length &lt;-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(top_5_percent_z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"Only 5% of fish are longer than:"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(unlikely_length,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"This corresponds to z-score:"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(top_5_percent_z,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Using </a:t>
            </a:r>
            <a:r>
              <a:rPr>
                <a:latin typeface="Courier"/>
              </a:rPr>
              <a:t>pnorm()</a:t>
            </a:r>
            <a:r>
              <a:rPr/>
              <a:t>, what proportion of I3 fish (assuming normality) are longer than 300mm? (Hint: you’ll need to convert 300mm to a z-score first.)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Compare </a:t>
            </a:r>
            <a:r>
              <a:rPr sz="2000">
                <a:latin typeface="Courier"/>
              </a:rPr>
              <a:t>within_1sd</a:t>
            </a:r>
            <a:r>
              <a:rPr sz="2000"/>
              <a:t> (computed directly from the data) to </a:t>
            </a:r>
            <a:r>
              <a:rPr sz="2000">
                <a:latin typeface="Courier"/>
              </a:rPr>
              <a:t>pnorm(1) - pnorm(-1)</a:t>
            </a:r>
            <a:r>
              <a:rPr sz="2000"/>
              <a:t> (the theoretical value for a perfect normal distribution). How close are they?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a Sample Mean to an Expected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this sample come from a population with a specific mean? Let’s practice a one-sample t-test.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test whether the mean fish length in Lake I3 differs from 260mm: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null hypothesis here? Do you reject or fail to reject it at α = 0.05?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Two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Formulating hypotheses:</a:t>
            </a:r>
            <a:r>
              <a:rPr/>
              <a:t> for the research question “Are fish in Lake I8 longer than fish in Lake I3?”, write the null and alternative hypotheses.</a:t>
            </a:r>
          </a:p>
          <a:p>
            <a:pPr lvl="0" indent="0">
              <a:buNone/>
            </a:pPr>
            <a:r>
              <a:rPr>
                <a:latin typeface="Courier"/>
              </a:rPr>
              <a:t>H0 = ________________________________________________________
Ha = 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H0: mu_I3 &gt;= mu_I8, Ha: mu_I3 &lt; mu_I8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this t-test, what can you conclude about the difference in fish length between the two lakes?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the test with </a:t>
            </a:r>
            <a:r>
              <a:rPr sz="2000">
                <a:latin typeface="Courier"/>
              </a:rPr>
              <a:t>alternative = "two.sided"</a:t>
            </a:r>
            <a:r>
              <a:rPr sz="2000"/>
              <a:t> instead of </a:t>
            </a:r>
            <a:r>
              <a:rPr sz="2000">
                <a:latin typeface="Courier"/>
              </a:rPr>
              <a:t>"less"</a:t>
            </a:r>
            <a:r>
              <a:rPr sz="2000"/>
              <a:t>. Does the p-value change? Does your conclusion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Build and interpret histograms and density plots</a:t>
            </a:r>
          </a:p>
          <a:p>
            <a:pPr lvl="0"/>
            <a:r>
              <a:rPr/>
              <a:t>☐ Explain why the area under a density curve equals 1</a:t>
            </a:r>
          </a:p>
          <a:p>
            <a:pPr lvl="0"/>
            <a:r>
              <a:rPr/>
              <a:t>☐ Convert raw values to Z-scores and use </a:t>
            </a:r>
            <a:r>
              <a:rPr>
                <a:latin typeface="Courier"/>
              </a:rPr>
              <a:t>pnorm()</a:t>
            </a:r>
            <a:r>
              <a:rPr/>
              <a:t>/</a:t>
            </a:r>
            <a:r>
              <a:rPr>
                <a:latin typeface="Courier"/>
              </a:rPr>
              <a:t>qnorm()</a:t>
            </a:r>
            <a:r>
              <a:rPr/>
              <a:t> to find areas/probabilities</a:t>
            </a:r>
          </a:p>
          <a:p>
            <a:pPr lvl="0"/>
            <a:r>
              <a:rPr/>
              <a:t>☐ Run and interpret a one-sample t-test</a:t>
            </a:r>
          </a:p>
          <a:p>
            <a:pPr lvl="0"/>
            <a:r>
              <a:rPr/>
              <a:t>☐ Formulate hypotheses and run a directional (one-sided) two-sample t-test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05_probability_inference.R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library(patchwork)</a:t>
            </a:r>
            <a:r>
              <a:rPr/>
              <a:t>, and </a:t>
            </a:r>
            <a:r>
              <a:rPr>
                <a:latin typeface="Courier"/>
              </a:rPr>
              <a:t>library(skimr)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Probability &amp; Inference</dc:title>
  <dc:creator>Bill Perry</dc:creator>
  <cp:keywords/>
  <dc:description>Hands-on activity: frequency distributions, density plots, area under the curve, Z-scores, and one- and two-sample t-tests on the Arctic grayling length dataset.</dc:description>
  <dcterms:created xsi:type="dcterms:W3CDTF">2026-08-21T18:42:55Z</dcterms:created>
  <dcterms:modified xsi:type="dcterms:W3CDTF">2026-08-21T18:42:55Z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Foundations of inference</vt:lpwstr>
  </property>
  <property fmtid="{D5CDD505-2E9C-101B-9397-08002B2CF9AE}" pid="15" name="toc-title">
    <vt:lpwstr>Table of contents</vt:lpwstr>
  </property>
  <property fmtid="{D5CDD505-2E9C-101B-9397-08002B2CF9AE}" pid="16" name="week">
    <vt:lpwstr>3</vt:lpwstr>
  </property>
</Properties>
</file>