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and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4: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3?</a:t>
            </a:r>
          </a:p>
          <a:p>
            <a:pPr lvl="0"/>
            <a:r>
              <a:rPr/>
              <a:t>Setting up a project and variable names and code names</a:t>
            </a:r>
          </a:p>
          <a:p>
            <a:pPr lvl="0"/>
            <a:r>
              <a:rPr/>
              <a:t>How to use the pipe command %&gt;%</a:t>
            </a:r>
          </a:p>
          <a:p>
            <a:pPr lvl="0"/>
            <a:r>
              <a:rPr/>
              <a:t>How to create descriptive statistics of a sample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</a:t>
            </a:r>
          </a:p>
          <a:p>
            <a:pPr lvl="0"/>
            <a:r>
              <a:rPr/>
              <a:t>More graphs…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sets the width in units of the bins - try different nubmers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1" indent="0" marL="342900">
              <a:buNone/>
            </a:pPr>
          </a:p>
          <a:p>
            <a:pPr lvl="0"/>
            <a:r>
              <a:rPr/>
              <a:t>What questions do you have and what is unclear - what did not work so far when you started the homework?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active learning module, we’ll explore real data from fish populations in Alaska. We’ll focus on understanding:</a:t>
            </a:r>
          </a:p>
          <a:p>
            <a:pPr lvl="0"/>
            <a:r>
              <a:rPr/>
              <a:t>How to create and interpret frequency distributions</a:t>
            </a:r>
          </a:p>
          <a:p>
            <a:pPr lvl="0"/>
            <a:r>
              <a:rPr/>
              <a:t>How sample size affects our view of a population</a:t>
            </a:r>
          </a:p>
          <a:p>
            <a:pPr lvl="0"/>
            <a:r>
              <a:rPr/>
              <a:t>How distributions differ among lakes</a:t>
            </a:r>
          </a:p>
          <a:p>
            <a:pPr lvl="0" indent="0" marL="0">
              <a:buNone/>
            </a:pPr>
            <a:r>
              <a:rPr/>
              <a:t>We’ll use the </a:t>
            </a:r>
            <a:r>
              <a:rPr>
                <a:latin typeface="Courier"/>
              </a:rPr>
              <a:t>tidyverse</a:t>
            </a:r>
            <a:r>
              <a:rPr/>
              <a:t> package for data manipulation and visualization.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Setup</a:t>
            </a:r>
          </a:p>
          <a:p>
            <a:pPr lvl="0" indent="0" marL="0">
              <a:buNone/>
            </a:pPr>
            <a:r>
              <a:rPr/>
              <a:t>First, let’s load the packages we need and the dataset: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# Install the patchwork package if needed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install.packages("patchwork")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in the data file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Summary Statistics -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standard deviation, and sample size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I8           363.      52.3      5.18   102
2 I3           266.      28.3      3.48    66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Creating Frequency Distributions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Histograms</a:t>
            </a:r>
          </a:p>
          <a:p>
            <a:pPr lvl="0" indent="0" marL="0">
              <a:buNone/>
            </a:pPr>
            <a:r>
              <a:rPr/>
              <a:t>A histogram shows how many observations fall into certain ranges (or “bins”).</a:t>
            </a:r>
          </a:p>
          <a:p>
            <a:pPr lvl="0" indent="0" marL="0">
              <a:buNone/>
            </a:pPr>
            <a:r>
              <a:rPr/>
              <a:t>Let’s create a simple histogram of fish lengths from I3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I3 and create a histogram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</a:t>
            </a:r>
          </a:p>
          <a:p>
            <a:pPr lvl="0" indent="0" marL="1270000">
              <a:buNone/>
            </a:pPr>
            <a:r>
              <a:rPr sz="2000"/>
              <a:t>Try changing the </a:t>
            </a:r>
            <a:r>
              <a:rPr sz="2000">
                <a:latin typeface="Courier"/>
              </a:rPr>
              <a:t>binwidth</a:t>
            </a:r>
            <a:r>
              <a:rPr sz="2000"/>
              <a:t> parameter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it here or above...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Comparing Lakes</a:t>
            </a:r>
          </a:p>
          <a:p>
            <a:pPr lvl="0" indent="0" marL="0">
              <a:buNone/>
            </a:pPr>
            <a:r>
              <a:rPr/>
              <a:t>Now let’s compare two lakes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I3 I8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</p:txBody>
      </p:sp>
      <p:pic>
        <p:nvPicPr>
          <p:cNvPr descr="probability_inference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compare two lakes side by side: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lake I3 I8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From Histograms to Density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Density plots give us a smoothed version of the histogram It has the proportion of the data under each part of the curve This sums to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overlay the density plot on the histogram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histogram and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3 - area under the density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could show this if we really wanted…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to calculate area under density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NA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density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area using numeric integration (trapezoidal rule)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Area should be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Apply to i3 lake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plot with calculated area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looking at particular areas…</a:t>
            </a:r>
          </a:p>
          <a:p>
            <a:pPr lvl="0" indent="0" marL="0">
              <a:buNone/>
            </a:pPr>
            <a:r>
              <a:rPr/>
              <a:t>This can be adapted to calculate the area of a subset of the plot</a:t>
            </a:r>
          </a:p>
          <a:p>
            <a:pPr lvl="0" indent="0" marL="0">
              <a:buNone/>
            </a:pPr>
            <a:r>
              <a:rPr/>
              <a:t>I don’t expect you to know or be able to do all of this but is here to play with the code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------- PART 3: SET  INPUT VALUES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change these values to calculate different probabilities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this example, let's calculate the probability of fish between 40mm and 60mm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1: PREPARE THE DATA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Filter data for just one lake to keep it simple for students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</a:t>
            </a:r>
            <a:r>
              <a:rPr>
                <a:solidFill>
                  <a:srgbClr val="5E5E5E"/>
                </a:solidFill>
                <a:latin typeface="Courier"/>
              </a:rPr>
              <a:t># Remove any missing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2: CREATE A FUNCTION TO CALCULATE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function calculates the probability of finding a fish with length between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lower_bound and upper_bound using the empirical distribution of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we create a density object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Find indices of x-values that fall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If we have no points in the range, return 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Get x and y values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the area using the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(average height × width) for each segment, then sum all segments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area_in_range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Return the calculated probability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(area_in_range)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4: CALCULATE THE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the probability for the specified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total area to show that the complete distribution sums to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5: CREATE THE VISUALIZATION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density data for the highlighting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subset for the area of interest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plot the overall density curve in light blue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Then highlight our region of interest in dark red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vertical lines to clearly mark the boundaries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informative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text annotations to explain the areas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Make the plot look nicer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probability_inference_activity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this is great but integrating area each time is a pain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Converting data to Z scores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Now plot the Z Scores as a histogram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>
              <a:buNone/>
            </a:pPr>
            <a:r>
              <a:rPr>
                <a:latin typeface="Courier"/>
              </a:rPr>
              <a:t>`stat_bin()` using `bins = 30`. Pick better value `binwidth`.</a:t>
            </a:r>
          </a:p>
        </p:txBody>
      </p:sp>
      <p:pic>
        <p:nvPicPr>
          <p:cNvPr descr="probability_inference_activity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can use this now to get the area the same way as above but easier…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Proportion within 1 standard deviation = sum of absolute values of Z Scores that are less than or equal to 1 divided by the number in the sample…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approximately (varies if distribution is not normal):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Z-score example calculation in 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# For standard normal distribution (mean=0, sd=1):</a:t>
            </a:r>
          </a:p>
          <a:p>
            <a:pPr lvl="0"/>
            <a:r>
              <a:rPr/>
              <a:t>pnorm(z) # gives cumulative probability (area to the left)</a:t>
            </a:r>
          </a:p>
          <a:p>
            <a:pPr lvl="0"/>
            <a:r>
              <a:rPr/>
              <a:t>qnorm(p) # gives z-value for a given probability</a:t>
            </a:r>
          </a:p>
          <a:p>
            <a:pPr lvl="0"/>
            <a:r>
              <a:rPr/>
              <a:t>dnorm(z) # gives probability density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</a:t>
            </a:r>
            <a:r>
              <a:rPr>
                <a:solidFill>
                  <a:srgbClr val="5E5E5E"/>
                </a:solidFill>
                <a:latin typeface="Courier"/>
              </a:rPr>
              <a:t># 0.975 (97.5% to the left)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</a:t>
            </a:r>
            <a:r>
              <a:rPr>
                <a:solidFill>
                  <a:srgbClr val="5E5E5E"/>
                </a:solidFill>
                <a:latin typeface="Courier"/>
              </a:rPr>
              <a:t># 0.025 (2.5% to the right)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0.95 (95% between ±1.96)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To find z-value for a given probability: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1.96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1.21596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Comparing a sampe mean to an expected mean….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smaple come from that lake?</a:t>
            </a:r>
          </a:p>
          <a:p>
            <a:pPr lvl="0" indent="0" marL="0">
              <a:buNone/>
            </a:pPr>
            <a:r>
              <a:rPr/>
              <a:t>Lets practice a One-Sample t-Test</a:t>
            </a:r>
          </a:p>
          <a:p>
            <a:pPr lvl="0" indent="0" marL="0">
              <a:buNone/>
            </a:pPr>
            <a:r>
              <a:rPr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Formulating Hypotheses</a:t>
            </a:r>
          </a:p>
          <a:p>
            <a:pPr lvl="0" indent="0" marL="0">
              <a:buNone/>
            </a:pPr>
            <a:r>
              <a:rPr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&amp; Inference</dc:title>
  <dc:creator>Bill Perry</dc:creator>
  <cp:keywords/>
  <dc:description>Hands-on activity: probability and statistical inference.</dc:description>
  <dcterms:created xsi:type="dcterms:W3CDTF">2026-08-19T22:20:18Z</dcterms:created>
  <dcterms:modified xsi:type="dcterms:W3CDTF">2026-08-19T22:20:18Z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Probability and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