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6" Type="http://schemas.openxmlformats.org/officeDocument/2006/relationships/viewProps" Target="viewProps.xml" /><Relationship Id="rId15" Type="http://schemas.openxmlformats.org/officeDocument/2006/relationships/presProps" Target="presProps.xml" /><Relationship Id="rId1" Type="http://schemas.openxmlformats.org/officeDocument/2006/relationships/slideMaster" Target="slideMasters/slideMaster1.xml" /><Relationship Id="rId18" Type="http://schemas.openxmlformats.org/officeDocument/2006/relationships/tableStyles" Target="tableStyles.xml" /><Relationship Id="rId1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Activity: Multiple Regression</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Several predictors</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Worksheet: Multiple Regression — Forest Net Primary Production</a:t>
            </a:r>
          </a:p>
        </p:txBody>
      </p:sp>
      <p:sp>
        <p:nvSpPr>
          <p:cNvPr id="3" name="Content Placeholder 2"/>
          <p:cNvSpPr>
            <a:spLocks noGrp="1"/>
          </p:cNvSpPr>
          <p:nvPr>
            <p:ph idx="1"/>
          </p:nvPr>
        </p:nvSpPr>
        <p:spPr/>
        <p:txBody>
          <a:bodyPr/>
          <a:lstStyle/>
          <a:p>
            <a:pPr lvl="0" indent="0" marL="0">
              <a:spcBef>
                <a:spcPts val="3000"/>
              </a:spcBef>
              <a:buNone/>
            </a:pPr>
            <a:r>
              <a:rPr sz="2000" b="1"/>
              <a:t>How to use this worksheet</a:t>
            </a:r>
          </a:p>
          <a:p>
            <a:pPr lvl="0" indent="0" marL="1270000">
              <a:buNone/>
            </a:pPr>
            <a:r>
              <a:rPr sz="2000"/>
              <a:t>Work through each part in order, at your own pace. Type every line of code yourself into a </a:t>
            </a:r>
            <a:r>
              <a:rPr sz="2000" b="1"/>
              <a:t>plain R script</a:t>
            </a:r>
            <a:r>
              <a:rPr sz="2000"/>
              <a:t> — do not copy-paste. Blocks marked </a:t>
            </a:r>
            <a:r>
              <a:rPr sz="2000" b="1"/>
              <a:t>▶ Run this</a:t>
            </a:r>
            <a:r>
              <a:rPr sz="2000"/>
              <a:t> are code you should type and execute. Blocks marked </a:t>
            </a:r>
            <a:r>
              <a:rPr sz="2000" b="1"/>
              <a:t>✏️ Your turn</a:t>
            </a:r>
            <a:r>
              <a:rPr sz="2000"/>
              <a:t> ask you to write, modify, or answer something. Boxes marked </a:t>
            </a:r>
            <a:r>
              <a:rPr sz="2000" b="1"/>
              <a:t>🚀 If you finish early</a:t>
            </a:r>
            <a:r>
              <a:rPr sz="2000"/>
              <a:t> are optional bonus material that goes a bit further than what we covered in lecture.</a:t>
            </a:r>
          </a:p>
          <a:p>
            <a:pPr lvl="0" indent="0" marL="1270000">
              <a:buNone/>
            </a:pPr>
            <a:r>
              <a:rPr sz="2000"/>
              <a:t>This worksheet examines the relationship between Net Primary Production (npp) and various climate and forest characteristics across global forest sites, based on Michaletz et al. (2014). We’ll explore multicollinearity, model selection, and variable transformations — the real-data, many-predictor counterpart to the lecture’s two-predictor ant example.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Setup and Data</a:t>
            </a:r>
          </a:p>
        </p:txBody>
      </p:sp>
      <p:sp>
        <p:nvSpPr>
          <p:cNvPr id="3" name="Content Placeholder 2"/>
          <p:cNvSpPr>
            <a:spLocks noGrp="1"/>
          </p:cNvSpPr>
          <p:nvPr>
            <p:ph idx="1"/>
          </p:nvPr>
        </p:nvSpPr>
        <p:spPr/>
        <p:txBody>
          <a:bodyPr/>
          <a:lstStyle/>
          <a:p>
            <a:pPr lvl="0" indent="0" marL="0">
              <a:buNone/>
            </a:pPr>
            <a:r>
              <a:rPr b="1"/>
              <a:t>▶ Run this in your Script:</a:t>
            </a:r>
          </a:p>
          <a:p>
            <a:pPr lvl="0" indent="0">
              <a:buNone/>
            </a:pPr>
            <a:r>
              <a:rPr>
                <a:solidFill>
                  <a:srgbClr val="4758AB"/>
                </a:solidFill>
                <a:latin typeface="Courier"/>
              </a:rPr>
              <a:t>library</a:t>
            </a:r>
            <a:r>
              <a:rPr>
                <a:solidFill>
                  <a:srgbClr val="003B4F"/>
                </a:solidFill>
                <a:latin typeface="Courier"/>
              </a:rPr>
              <a:t>(tidyverse)    </a:t>
            </a:r>
            <a:r>
              <a:rPr>
                <a:solidFill>
                  <a:srgbClr val="5E5E5E"/>
                </a:solidFill>
                <a:latin typeface="Courier"/>
              </a:rPr>
              <a:t># For data manipulation and visualization</a:t>
            </a:r>
            <a:br/>
            <a:r>
              <a:rPr>
                <a:solidFill>
                  <a:srgbClr val="4758AB"/>
                </a:solidFill>
                <a:latin typeface="Courier"/>
              </a:rPr>
              <a:t>library</a:t>
            </a:r>
            <a:r>
              <a:rPr>
                <a:solidFill>
                  <a:srgbClr val="003B4F"/>
                </a:solidFill>
                <a:latin typeface="Courier"/>
              </a:rPr>
              <a:t>(car)           </a:t>
            </a:r>
            <a:r>
              <a:rPr>
                <a:solidFill>
                  <a:srgbClr val="5E5E5E"/>
                </a:solidFill>
                <a:latin typeface="Courier"/>
              </a:rPr>
              <a:t># For regression diagnostics (VIF, etc.)</a:t>
            </a:r>
            <a:br/>
            <a:r>
              <a:rPr>
                <a:solidFill>
                  <a:srgbClr val="4758AB"/>
                </a:solidFill>
                <a:latin typeface="Courier"/>
              </a:rPr>
              <a:t>library</a:t>
            </a:r>
            <a:r>
              <a:rPr>
                <a:solidFill>
                  <a:srgbClr val="003B4F"/>
                </a:solidFill>
                <a:latin typeface="Courier"/>
              </a:rPr>
              <a:t>(corrplot)      </a:t>
            </a:r>
            <a:r>
              <a:rPr>
                <a:solidFill>
                  <a:srgbClr val="5E5E5E"/>
                </a:solidFill>
                <a:latin typeface="Courier"/>
              </a:rPr>
              <a:t># For correlation plots</a:t>
            </a:r>
            <a:br/>
            <a:r>
              <a:rPr>
                <a:solidFill>
                  <a:srgbClr val="4758AB"/>
                </a:solidFill>
                <a:latin typeface="Courier"/>
              </a:rPr>
              <a:t>library</a:t>
            </a:r>
            <a:r>
              <a:rPr>
                <a:solidFill>
                  <a:srgbClr val="003B4F"/>
                </a:solidFill>
                <a:latin typeface="Courier"/>
              </a:rPr>
              <a:t>(GGally)        </a:t>
            </a:r>
            <a:r>
              <a:rPr>
                <a:solidFill>
                  <a:srgbClr val="5E5E5E"/>
                </a:solidFill>
                <a:latin typeface="Courier"/>
              </a:rPr>
              <a:t># For pairs plots</a:t>
            </a:r>
            <a:br/>
            <a:r>
              <a:rPr>
                <a:solidFill>
                  <a:srgbClr val="4758AB"/>
                </a:solidFill>
                <a:latin typeface="Courier"/>
              </a:rPr>
              <a:t>library</a:t>
            </a:r>
            <a:r>
              <a:rPr>
                <a:solidFill>
                  <a:srgbClr val="003B4F"/>
                </a:solidFill>
                <a:latin typeface="Courier"/>
              </a:rPr>
              <a:t>(broom)         </a:t>
            </a:r>
            <a:r>
              <a:rPr>
                <a:solidFill>
                  <a:srgbClr val="5E5E5E"/>
                </a:solidFill>
                <a:latin typeface="Courier"/>
              </a:rPr>
              <a:t># For tidy model outputs</a:t>
            </a:r>
            <a:br/>
            <a:br/>
            <a:r>
              <a:rPr>
                <a:solidFill>
                  <a:srgbClr val="003B4F"/>
                </a:solidFill>
                <a:latin typeface="Courier"/>
              </a:rPr>
              <a:t>forest_df &lt;- </a:t>
            </a:r>
            <a:r>
              <a:rPr>
                <a:solidFill>
                  <a:srgbClr val="4758AB"/>
                </a:solidFill>
                <a:latin typeface="Courier"/>
              </a:rPr>
              <a:t>read_csv</a:t>
            </a:r>
            <a:r>
              <a:rPr>
                <a:solidFill>
                  <a:srgbClr val="003B4F"/>
                </a:solidFill>
                <a:latin typeface="Courier"/>
              </a:rPr>
              <a:t>(</a:t>
            </a:r>
            <a:r>
              <a:rPr>
                <a:solidFill>
                  <a:srgbClr val="20794D"/>
                </a:solidFill>
                <a:latin typeface="Courier"/>
              </a:rPr>
              <a:t>"data/michaletz_etal_2014_clean.csv"</a:t>
            </a:r>
            <a:r>
              <a:rPr>
                <a:solidFill>
                  <a:srgbClr val="003B4F"/>
                </a:solidFill>
                <a:latin typeface="Courier"/>
              </a:rPr>
              <a:t>)</a:t>
            </a:r>
            <a:br/>
            <a:r>
              <a:rPr>
                <a:solidFill>
                  <a:srgbClr val="4758AB"/>
                </a:solidFill>
                <a:latin typeface="Courier"/>
              </a:rPr>
              <a:t>head</a:t>
            </a:r>
            <a:r>
              <a:rPr>
                <a:solidFill>
                  <a:srgbClr val="003B4F"/>
                </a:solidFill>
                <a:latin typeface="Courier"/>
              </a:rPr>
              <a:t>(forest_df)</a:t>
            </a:r>
          </a:p>
          <a:p>
            <a:pPr lvl="0" indent="0" marL="0">
              <a:buNone/>
            </a:pPr>
            <a:r>
              <a:rPr/>
              <a:t>✏️ </a:t>
            </a:r>
            <a:r>
              <a:rPr b="1"/>
              <a:t>Your turn:</a:t>
            </a:r>
            <a:r>
              <a:rPr/>
              <a:t> Run </a:t>
            </a:r>
            <a:r>
              <a:rPr>
                <a:latin typeface="Courier"/>
              </a:rPr>
              <a:t>glimpse(forest_df)</a:t>
            </a:r>
            <a:r>
              <a:rPr/>
              <a:t>. Which columns look continuous, and which look categorical? </a:t>
            </a:r>
            <a:r>
              <a:rPr>
                <a:latin typeface="Courier"/>
              </a:rPr>
              <a:t>________________________</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Exploring Multicollinearity</a:t>
            </a:r>
          </a:p>
        </p:txBody>
      </p:sp>
      <p:sp>
        <p:nvSpPr>
          <p:cNvPr id="3" name="Content Placeholder 2"/>
          <p:cNvSpPr>
            <a:spLocks noGrp="1"/>
          </p:cNvSpPr>
          <p:nvPr>
            <p:ph idx="1"/>
          </p:nvPr>
        </p:nvSpPr>
        <p:spPr/>
        <p:txBody>
          <a:bodyPr/>
          <a:lstStyle/>
          <a:p>
            <a:pPr lvl="0" indent="0" marL="0">
              <a:buNone/>
            </a:pPr>
            <a:r>
              <a:rPr b="1"/>
              <a:t>▶ Run this</a:t>
            </a:r>
            <a:r>
              <a:rPr/>
              <a:t> — a correlation matrix, and a visual version of it:</a:t>
            </a:r>
          </a:p>
          <a:p>
            <a:pPr lvl="0" indent="0">
              <a:buNone/>
            </a:pPr>
            <a:r>
              <a:rPr>
                <a:solidFill>
                  <a:srgbClr val="003B4F"/>
                </a:solidFill>
                <a:latin typeface="Courier"/>
              </a:rPr>
              <a:t>num_vars &lt;- forest_df </a:t>
            </a:r>
            <a:r>
              <a:rPr>
                <a:solidFill>
                  <a:srgbClr val="5E5E5E"/>
                </a:solidFill>
                <a:latin typeface="Courier"/>
              </a:rPr>
              <a:t>%&gt;%</a:t>
            </a:r>
            <a:br/>
            <a:r>
              <a:rPr>
                <a:solidFill>
                  <a:srgbClr val="003B4F"/>
                </a:solidFill>
                <a:latin typeface="Courier"/>
              </a:rPr>
              <a:t>  </a:t>
            </a:r>
            <a:r>
              <a:rPr>
                <a:solidFill>
                  <a:srgbClr val="4758AB"/>
                </a:solidFill>
                <a:latin typeface="Courier"/>
              </a:rPr>
              <a:t>select_if</a:t>
            </a:r>
            <a:r>
              <a:rPr>
                <a:solidFill>
                  <a:srgbClr val="003B4F"/>
                </a:solidFill>
                <a:latin typeface="Courier"/>
              </a:rPr>
              <a:t>(is.numeric)</a:t>
            </a:r>
            <a:br/>
            <a:br/>
            <a:r>
              <a:rPr>
                <a:solidFill>
                  <a:srgbClr val="003B4F"/>
                </a:solidFill>
                <a:latin typeface="Courier"/>
              </a:rPr>
              <a:t>cor_matrix &lt;- </a:t>
            </a:r>
            <a:r>
              <a:rPr>
                <a:solidFill>
                  <a:srgbClr val="4758AB"/>
                </a:solidFill>
                <a:latin typeface="Courier"/>
              </a:rPr>
              <a:t>cor</a:t>
            </a:r>
            <a:r>
              <a:rPr>
                <a:solidFill>
                  <a:srgbClr val="003B4F"/>
                </a:solidFill>
                <a:latin typeface="Courier"/>
              </a:rPr>
              <a:t>(num_vars, </a:t>
            </a:r>
            <a:r>
              <a:rPr>
                <a:solidFill>
                  <a:srgbClr val="657422"/>
                </a:solidFill>
                <a:latin typeface="Courier"/>
              </a:rPr>
              <a:t>use =</a:t>
            </a:r>
            <a:r>
              <a:rPr>
                <a:solidFill>
                  <a:srgbClr val="003B4F"/>
                </a:solidFill>
                <a:latin typeface="Courier"/>
              </a:rPr>
              <a:t> </a:t>
            </a:r>
            <a:r>
              <a:rPr>
                <a:solidFill>
                  <a:srgbClr val="20794D"/>
                </a:solidFill>
                <a:latin typeface="Courier"/>
              </a:rPr>
              <a:t>"complete.obs"</a:t>
            </a:r>
            <a:r>
              <a:rPr>
                <a:solidFill>
                  <a:srgbClr val="003B4F"/>
                </a:solidFill>
                <a:latin typeface="Courier"/>
              </a:rPr>
              <a:t>)</a:t>
            </a:r>
            <a:br/>
            <a:r>
              <a:rPr>
                <a:solidFill>
                  <a:srgbClr val="003B4F"/>
                </a:solidFill>
                <a:latin typeface="Courier"/>
              </a:rPr>
              <a:t>cor_matrix</a:t>
            </a:r>
            <a:br/>
            <a:br/>
            <a:r>
              <a:rPr>
                <a:solidFill>
                  <a:srgbClr val="4758AB"/>
                </a:solidFill>
                <a:latin typeface="Courier"/>
              </a:rPr>
              <a:t>corrplot</a:t>
            </a:r>
            <a:r>
              <a:rPr>
                <a:solidFill>
                  <a:srgbClr val="003B4F"/>
                </a:solidFill>
                <a:latin typeface="Courier"/>
              </a:rPr>
              <a:t>(cor_matrix, </a:t>
            </a:r>
            <a:r>
              <a:rPr>
                <a:solidFill>
                  <a:srgbClr val="657422"/>
                </a:solidFill>
                <a:latin typeface="Courier"/>
              </a:rPr>
              <a:t>method =</a:t>
            </a:r>
            <a:r>
              <a:rPr>
                <a:solidFill>
                  <a:srgbClr val="003B4F"/>
                </a:solidFill>
                <a:latin typeface="Courier"/>
              </a:rPr>
              <a:t> </a:t>
            </a:r>
            <a:r>
              <a:rPr>
                <a:solidFill>
                  <a:srgbClr val="20794D"/>
                </a:solidFill>
                <a:latin typeface="Courier"/>
              </a:rPr>
              <a:t>"color"</a:t>
            </a: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"upper"</a:t>
            </a:r>
            <a:r>
              <a:rPr>
                <a:solidFill>
                  <a:srgbClr val="003B4F"/>
                </a:solidFill>
                <a:latin typeface="Courier"/>
              </a:rPr>
              <a:t>,</a:t>
            </a:r>
            <a:br/>
            <a:r>
              <a:rPr>
                <a:solidFill>
                  <a:srgbClr val="003B4F"/>
                </a:solidFill>
                <a:latin typeface="Courier"/>
              </a:rPr>
              <a:t>         </a:t>
            </a:r>
            <a:r>
              <a:rPr>
                <a:solidFill>
                  <a:srgbClr val="657422"/>
                </a:solidFill>
                <a:latin typeface="Courier"/>
              </a:rPr>
              <a:t>addCoef.col =</a:t>
            </a:r>
            <a:r>
              <a:rPr>
                <a:solidFill>
                  <a:srgbClr val="003B4F"/>
                </a:solidFill>
                <a:latin typeface="Courier"/>
              </a:rPr>
              <a:t> </a:t>
            </a:r>
            <a:r>
              <a:rPr>
                <a:solidFill>
                  <a:srgbClr val="20794D"/>
                </a:solidFill>
                <a:latin typeface="Courier"/>
              </a:rPr>
              <a:t>"grey45"</a:t>
            </a:r>
            <a:r>
              <a:rPr>
                <a:solidFill>
                  <a:srgbClr val="003B4F"/>
                </a:solidFill>
                <a:latin typeface="Courier"/>
              </a:rPr>
              <a:t>, </a:t>
            </a:r>
            <a:r>
              <a:rPr>
                <a:solidFill>
                  <a:srgbClr val="657422"/>
                </a:solidFill>
                <a:latin typeface="Courier"/>
              </a:rPr>
              <a:t>tl.cex =</a:t>
            </a:r>
            <a:r>
              <a:rPr>
                <a:solidFill>
                  <a:srgbClr val="003B4F"/>
                </a:solidFill>
                <a:latin typeface="Courier"/>
              </a:rPr>
              <a:t> </a:t>
            </a:r>
            <a:r>
              <a:rPr>
                <a:solidFill>
                  <a:srgbClr val="AD0000"/>
                </a:solidFill>
                <a:latin typeface="Courier"/>
              </a:rPr>
              <a:t>0.8</a:t>
            </a:r>
            <a:r>
              <a:rPr>
                <a:solidFill>
                  <a:srgbClr val="003B4F"/>
                </a:solidFill>
                <a:latin typeface="Courier"/>
              </a:rPr>
              <a:t>, </a:t>
            </a:r>
            <a:r>
              <a:rPr>
                <a:solidFill>
                  <a:srgbClr val="657422"/>
                </a:solidFill>
                <a:latin typeface="Courier"/>
              </a:rPr>
              <a:t>number.cex =</a:t>
            </a:r>
            <a:r>
              <a:rPr>
                <a:solidFill>
                  <a:srgbClr val="003B4F"/>
                </a:solidFill>
                <a:latin typeface="Courier"/>
              </a:rPr>
              <a:t> </a:t>
            </a:r>
            <a:r>
              <a:rPr>
                <a:solidFill>
                  <a:srgbClr val="AD0000"/>
                </a:solidFill>
                <a:latin typeface="Courier"/>
              </a:rPr>
              <a:t>0.7</a:t>
            </a:r>
            <a:r>
              <a:rPr>
                <a:solidFill>
                  <a:srgbClr val="003B4F"/>
                </a:solidFill>
                <a:latin typeface="Courier"/>
              </a:rPr>
              <a:t>)</a:t>
            </a:r>
          </a:p>
          <a:p>
            <a:pPr lvl="0" indent="0" marL="0">
              <a:buNone/>
            </a:pPr>
            <a:r>
              <a:rPr b="1"/>
              <a:t>▶ Run this</a:t>
            </a:r>
            <a:r>
              <a:rPr/>
              <a:t> — a pairs plot for a fuller picture:</a:t>
            </a:r>
          </a:p>
          <a:p>
            <a:pPr lvl="0" indent="0">
              <a:buNone/>
            </a:pPr>
            <a:r>
              <a:rPr>
                <a:solidFill>
                  <a:srgbClr val="003B4F"/>
                </a:solidFill>
                <a:latin typeface="Courier"/>
              </a:rPr>
              <a:t>forest_df </a:t>
            </a:r>
            <a:r>
              <a:rPr>
                <a:solidFill>
                  <a:srgbClr val="5E5E5E"/>
                </a:solidFill>
                <a:latin typeface="Courier"/>
              </a:rPr>
              <a:t>%&gt;%</a:t>
            </a:r>
            <a:br/>
            <a:r>
              <a:rPr>
                <a:solidFill>
                  <a:srgbClr val="003B4F"/>
                </a:solidFill>
                <a:latin typeface="Courier"/>
              </a:rPr>
              <a:t>  </a:t>
            </a:r>
            <a:r>
              <a:rPr>
                <a:solidFill>
                  <a:srgbClr val="4758AB"/>
                </a:solidFill>
                <a:latin typeface="Courier"/>
              </a:rPr>
              <a:t>select</a:t>
            </a:r>
            <a:r>
              <a:rPr>
                <a:solidFill>
                  <a:srgbClr val="003B4F"/>
                </a:solidFill>
                <a:latin typeface="Courier"/>
              </a:rPr>
              <a:t>(</a:t>
            </a:r>
            <a:r>
              <a:rPr>
                <a:solidFill>
                  <a:srgbClr val="5E5E5E"/>
                </a:solidFill>
                <a:latin typeface="Courier"/>
              </a:rPr>
              <a:t>-</a:t>
            </a:r>
            <a:r>
              <a:rPr>
                <a:solidFill>
                  <a:srgbClr val="003B4F"/>
                </a:solidFill>
                <a:latin typeface="Courier"/>
              </a:rPr>
              <a:t>leaf) </a:t>
            </a:r>
            <a:r>
              <a:rPr>
                <a:solidFill>
                  <a:srgbClr val="5E5E5E"/>
                </a:solidFill>
                <a:latin typeface="Courier"/>
              </a:rPr>
              <a:t>%&gt;%</a:t>
            </a:r>
            <a:r>
              <a:rPr>
                <a:solidFill>
                  <a:srgbClr val="003B4F"/>
                </a:solidFill>
                <a:latin typeface="Courier"/>
              </a:rPr>
              <a:t>  </a:t>
            </a:r>
            <a:r>
              <a:rPr>
                <a:solidFill>
                  <a:srgbClr val="5E5E5E"/>
                </a:solidFill>
                <a:latin typeface="Courier"/>
              </a:rPr>
              <a:t># Exclude categorical variable for pairs plot</a:t>
            </a:r>
            <a:br/>
            <a:r>
              <a:rPr>
                <a:solidFill>
                  <a:srgbClr val="003B4F"/>
                </a:solidFill>
                <a:latin typeface="Courier"/>
              </a:rPr>
              <a:t>  </a:t>
            </a:r>
            <a:r>
              <a:rPr>
                <a:solidFill>
                  <a:srgbClr val="4758AB"/>
                </a:solidFill>
                <a:latin typeface="Courier"/>
              </a:rPr>
              <a:t>ggpairs</a:t>
            </a:r>
            <a:r>
              <a:rPr>
                <a:solidFill>
                  <a:srgbClr val="003B4F"/>
                </a:solidFill>
                <a:latin typeface="Courier"/>
              </a:rPr>
              <a:t>(</a:t>
            </a:r>
            <a:br/>
            <a:r>
              <a:rPr>
                <a:solidFill>
                  <a:srgbClr val="003B4F"/>
                </a:solidFill>
                <a:latin typeface="Courier"/>
              </a:rPr>
              <a:t>    </a:t>
            </a:r>
            <a:r>
              <a:rPr>
                <a:solidFill>
                  <a:srgbClr val="657422"/>
                </a:solidFill>
                <a:latin typeface="Courier"/>
              </a:rPr>
              <a:t>upper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continuous =</a:t>
            </a:r>
            <a:r>
              <a:rPr>
                <a:solidFill>
                  <a:srgbClr val="003B4F"/>
                </a:solidFill>
                <a:latin typeface="Courier"/>
              </a:rPr>
              <a:t> </a:t>
            </a:r>
            <a:r>
              <a:rPr>
                <a:solidFill>
                  <a:srgbClr val="4758AB"/>
                </a:solidFill>
                <a:latin typeface="Courier"/>
              </a:rPr>
              <a:t>wrap</a:t>
            </a:r>
            <a:r>
              <a:rPr>
                <a:solidFill>
                  <a:srgbClr val="003B4F"/>
                </a:solidFill>
                <a:latin typeface="Courier"/>
              </a:rPr>
              <a:t>(</a:t>
            </a:r>
            <a:r>
              <a:rPr>
                <a:solidFill>
                  <a:srgbClr val="20794D"/>
                </a:solidFill>
                <a:latin typeface="Courier"/>
              </a:rPr>
              <a:t>"cor"</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5</a:t>
            </a:r>
            <a:r>
              <a:rPr>
                <a:solidFill>
                  <a:srgbClr val="003B4F"/>
                </a:solidFill>
                <a:latin typeface="Courier"/>
              </a:rPr>
              <a:t>)),</a:t>
            </a:r>
            <a:br/>
            <a:r>
              <a:rPr>
                <a:solidFill>
                  <a:srgbClr val="003B4F"/>
                </a:solidFill>
                <a:latin typeface="Courier"/>
              </a:rPr>
              <a:t>    </a:t>
            </a:r>
            <a:r>
              <a:rPr>
                <a:solidFill>
                  <a:srgbClr val="657422"/>
                </a:solidFill>
                <a:latin typeface="Courier"/>
              </a:rPr>
              <a:t>lower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continuous =</a:t>
            </a:r>
            <a:r>
              <a:rPr>
                <a:solidFill>
                  <a:srgbClr val="003B4F"/>
                </a:solidFill>
                <a:latin typeface="Courier"/>
              </a:rPr>
              <a:t> </a:t>
            </a:r>
            <a:r>
              <a:rPr>
                <a:solidFill>
                  <a:srgbClr val="4758AB"/>
                </a:solidFill>
                <a:latin typeface="Courier"/>
              </a:rPr>
              <a:t>wrap</a:t>
            </a:r>
            <a:r>
              <a:rPr>
                <a:solidFill>
                  <a:srgbClr val="003B4F"/>
                </a:solidFill>
                <a:latin typeface="Courier"/>
              </a:rPr>
              <a:t>(</a:t>
            </a:r>
            <a:r>
              <a:rPr>
                <a:solidFill>
                  <a:srgbClr val="20794D"/>
                </a:solidFill>
                <a:latin typeface="Courier"/>
              </a:rPr>
              <a:t>"points"</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0.6</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0.8</a:t>
            </a:r>
            <a:r>
              <a:rPr>
                <a:solidFill>
                  <a:srgbClr val="003B4F"/>
                </a:solidFill>
                <a:latin typeface="Courier"/>
              </a:rPr>
              <a:t>))</a:t>
            </a:r>
            <a:br/>
            <a:r>
              <a:rPr>
                <a:solidFill>
                  <a:srgbClr val="003B4F"/>
                </a:solidFill>
                <a:latin typeface="Courier"/>
              </a:rPr>
              <a:t>  )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p>
          <a:p>
            <a:pPr lvl="0" indent="0" marL="0">
              <a:buNone/>
            </a:pPr>
            <a:r>
              <a:rPr/>
              <a:t>✏️ </a:t>
            </a:r>
            <a:r>
              <a:rPr b="1"/>
              <a:t>Your turn:</a:t>
            </a:r>
            <a:r>
              <a:rPr/>
              <a:t> From the correlation matrix, which two predictors look most strongly correlated with each other? </a:t>
            </a:r>
            <a:r>
              <a:rPr>
                <a:latin typeface="Courier"/>
              </a:rPr>
              <a:t>________________________</a:t>
            </a:r>
          </a:p>
          <a:p>
            <a:pPr lvl="0" indent="0" marL="0">
              <a:buNone/>
            </a:pPr>
            <a:r>
              <a:rPr b="1"/>
              <a:t>▶ Run this</a:t>
            </a:r>
            <a:r>
              <a:rPr/>
              <a:t> — fit the full model with every predictor:</a:t>
            </a:r>
          </a:p>
          <a:p>
            <a:pPr lvl="0" indent="0">
              <a:buNone/>
            </a:pPr>
            <a:r>
              <a:rPr>
                <a:solidFill>
                  <a:srgbClr val="003B4F"/>
                </a:solidFill>
                <a:latin typeface="Courier"/>
              </a:rPr>
              <a:t>model_init &lt;- </a:t>
            </a:r>
            <a:r>
              <a:rPr>
                <a:solidFill>
                  <a:srgbClr val="4758AB"/>
                </a:solidFill>
                <a:latin typeface="Courier"/>
              </a:rPr>
              <a:t>lm</a:t>
            </a:r>
            <a:r>
              <a:rPr>
                <a:solidFill>
                  <a:srgbClr val="003B4F"/>
                </a:solidFill>
                <a:latin typeface="Courier"/>
              </a:rPr>
              <a:t>(npp </a:t>
            </a:r>
            <a:r>
              <a:rPr>
                <a:solidFill>
                  <a:srgbClr val="5E5E5E"/>
                </a:solidFill>
                <a:latin typeface="Courier"/>
              </a:rPr>
              <a:t>~</a:t>
            </a:r>
            <a:r>
              <a:rPr>
                <a:solidFill>
                  <a:srgbClr val="003B4F"/>
                </a:solidFill>
                <a:latin typeface="Courier"/>
              </a:rPr>
              <a:t> age </a:t>
            </a:r>
            <a:r>
              <a:rPr>
                <a:solidFill>
                  <a:srgbClr val="5E5E5E"/>
                </a:solidFill>
                <a:latin typeface="Courier"/>
              </a:rPr>
              <a:t>+</a:t>
            </a:r>
            <a:r>
              <a:rPr>
                <a:solidFill>
                  <a:srgbClr val="003B4F"/>
                </a:solidFill>
                <a:latin typeface="Courier"/>
              </a:rPr>
              <a:t> biomass </a:t>
            </a:r>
            <a:r>
              <a:rPr>
                <a:solidFill>
                  <a:srgbClr val="5E5E5E"/>
                </a:solidFill>
                <a:latin typeface="Courier"/>
              </a:rPr>
              <a:t>+</a:t>
            </a:r>
            <a:r>
              <a:rPr>
                <a:solidFill>
                  <a:srgbClr val="003B4F"/>
                </a:solidFill>
                <a:latin typeface="Courier"/>
              </a:rPr>
              <a:t> season </a:t>
            </a:r>
            <a:r>
              <a:rPr>
                <a:solidFill>
                  <a:srgbClr val="5E5E5E"/>
                </a:solidFill>
                <a:latin typeface="Courier"/>
              </a:rPr>
              <a:t>+</a:t>
            </a:r>
            <a:r>
              <a:rPr>
                <a:solidFill>
                  <a:srgbClr val="003B4F"/>
                </a:solidFill>
                <a:latin typeface="Courier"/>
              </a:rPr>
              <a:t> temp </a:t>
            </a:r>
            <a:r>
              <a:rPr>
                <a:solidFill>
                  <a:srgbClr val="5E5E5E"/>
                </a:solidFill>
                <a:latin typeface="Courier"/>
              </a:rPr>
              <a:t>+</a:t>
            </a:r>
            <a:br/>
            <a:r>
              <a:rPr>
                <a:solidFill>
                  <a:srgbClr val="003B4F"/>
                </a:solidFill>
                <a:latin typeface="Courier"/>
              </a:rPr>
              <a:t>             precip </a:t>
            </a:r>
            <a:r>
              <a:rPr>
                <a:solidFill>
                  <a:srgbClr val="5E5E5E"/>
                </a:solidFill>
                <a:latin typeface="Courier"/>
              </a:rPr>
              <a:t>+</a:t>
            </a:r>
            <a:r>
              <a:rPr>
                <a:solidFill>
                  <a:srgbClr val="003B4F"/>
                </a:solidFill>
                <a:latin typeface="Courier"/>
              </a:rPr>
              <a:t> teb </a:t>
            </a:r>
            <a:r>
              <a:rPr>
                <a:solidFill>
                  <a:srgbClr val="5E5E5E"/>
                </a:solidFill>
                <a:latin typeface="Courier"/>
              </a:rPr>
              <a:t>+</a:t>
            </a:r>
            <a:r>
              <a:rPr>
                <a:solidFill>
                  <a:srgbClr val="003B4F"/>
                </a:solidFill>
                <a:latin typeface="Courier"/>
              </a:rPr>
              <a:t> leaf, </a:t>
            </a:r>
            <a:r>
              <a:rPr>
                <a:solidFill>
                  <a:srgbClr val="657422"/>
                </a:solidFill>
                <a:latin typeface="Courier"/>
              </a:rPr>
              <a:t>data =</a:t>
            </a:r>
            <a:r>
              <a:rPr>
                <a:solidFill>
                  <a:srgbClr val="003B4F"/>
                </a:solidFill>
                <a:latin typeface="Courier"/>
              </a:rPr>
              <a:t> forest_df)</a:t>
            </a:r>
            <a:br/>
            <a:r>
              <a:rPr>
                <a:solidFill>
                  <a:srgbClr val="4758AB"/>
                </a:solidFill>
                <a:latin typeface="Courier"/>
              </a:rPr>
              <a:t>summary</a:t>
            </a:r>
            <a:r>
              <a:rPr>
                <a:solidFill>
                  <a:srgbClr val="003B4F"/>
                </a:solidFill>
                <a:latin typeface="Courier"/>
              </a:rPr>
              <a:t>(model_init)</a:t>
            </a:r>
          </a:p>
          <a:p>
            <a:pPr lvl="0" indent="0" marL="0">
              <a:buNone/>
            </a:pPr>
            <a:r>
              <a:rPr b="1"/>
              <a:t>▶ Run this</a:t>
            </a:r>
            <a:r>
              <a:rPr/>
              <a:t> — check Variance Inflation Factors:</a:t>
            </a:r>
          </a:p>
          <a:p>
            <a:pPr lvl="0" indent="0">
              <a:buNone/>
            </a:pPr>
            <a:r>
              <a:rPr>
                <a:solidFill>
                  <a:srgbClr val="003B4F"/>
                </a:solidFill>
                <a:latin typeface="Courier"/>
              </a:rPr>
              <a:t>vif_values &lt;- </a:t>
            </a:r>
            <a:r>
              <a:rPr>
                <a:solidFill>
                  <a:srgbClr val="4758AB"/>
                </a:solidFill>
                <a:latin typeface="Courier"/>
              </a:rPr>
              <a:t>vif</a:t>
            </a:r>
            <a:r>
              <a:rPr>
                <a:solidFill>
                  <a:srgbClr val="003B4F"/>
                </a:solidFill>
                <a:latin typeface="Courier"/>
              </a:rPr>
              <a:t>(model_init)</a:t>
            </a:r>
            <a:br/>
            <a:r>
              <a:rPr>
                <a:solidFill>
                  <a:srgbClr val="003B4F"/>
                </a:solidFill>
                <a:latin typeface="Courier"/>
              </a:rPr>
              <a:t>vif_values</a:t>
            </a:r>
            <a:br/>
            <a:br/>
            <a:r>
              <a:rPr>
                <a:solidFill>
                  <a:srgbClr val="003B4F"/>
                </a:solidFill>
                <a:latin typeface="Courier"/>
              </a:rPr>
              <a:t>vif_df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Variable =</a:t>
            </a:r>
            <a:r>
              <a:rPr>
                <a:solidFill>
                  <a:srgbClr val="003B4F"/>
                </a:solidFill>
                <a:latin typeface="Courier"/>
              </a:rPr>
              <a:t> </a:t>
            </a:r>
            <a:r>
              <a:rPr>
                <a:solidFill>
                  <a:srgbClr val="4758AB"/>
                </a:solidFill>
                <a:latin typeface="Courier"/>
              </a:rPr>
              <a:t>names</a:t>
            </a:r>
            <a:r>
              <a:rPr>
                <a:solidFill>
                  <a:srgbClr val="003B4F"/>
                </a:solidFill>
                <a:latin typeface="Courier"/>
              </a:rPr>
              <a:t>(vif_values),</a:t>
            </a:r>
            <a:br/>
            <a:r>
              <a:rPr>
                <a:solidFill>
                  <a:srgbClr val="003B4F"/>
                </a:solidFill>
                <a:latin typeface="Courier"/>
              </a:rPr>
              <a:t>  </a:t>
            </a:r>
            <a:r>
              <a:rPr>
                <a:solidFill>
                  <a:srgbClr val="657422"/>
                </a:solidFill>
                <a:latin typeface="Courier"/>
              </a:rPr>
              <a:t>VIF =</a:t>
            </a:r>
            <a:r>
              <a:rPr>
                <a:solidFill>
                  <a:srgbClr val="003B4F"/>
                </a:solidFill>
                <a:latin typeface="Courier"/>
              </a:rPr>
              <a:t> </a:t>
            </a:r>
            <a:r>
              <a:rPr>
                <a:solidFill>
                  <a:srgbClr val="4758AB"/>
                </a:solidFill>
                <a:latin typeface="Courier"/>
              </a:rPr>
              <a:t>as.numeric</a:t>
            </a:r>
            <a:r>
              <a:rPr>
                <a:solidFill>
                  <a:srgbClr val="003B4F"/>
                </a:solidFill>
                <a:latin typeface="Courier"/>
              </a:rPr>
              <a:t>(vif_values)</a:t>
            </a:r>
            <a:b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arrange</a:t>
            </a:r>
            <a:r>
              <a:rPr>
                <a:solidFill>
                  <a:srgbClr val="003B4F"/>
                </a:solidFill>
                <a:latin typeface="Courier"/>
              </a:rPr>
              <a:t>(</a:t>
            </a:r>
            <a:r>
              <a:rPr>
                <a:solidFill>
                  <a:srgbClr val="4758AB"/>
                </a:solidFill>
                <a:latin typeface="Courier"/>
              </a:rPr>
              <a:t>desc</a:t>
            </a:r>
            <a:r>
              <a:rPr>
                <a:solidFill>
                  <a:srgbClr val="003B4F"/>
                </a:solidFill>
                <a:latin typeface="Courier"/>
              </a:rPr>
              <a:t>(VIF))</a:t>
            </a:r>
            <a:br/>
            <a:br/>
            <a:r>
              <a:rPr>
                <a:solidFill>
                  <a:srgbClr val="4758AB"/>
                </a:solidFill>
                <a:latin typeface="Courier"/>
              </a:rPr>
              <a:t>ggplot</a:t>
            </a:r>
            <a:r>
              <a:rPr>
                <a:solidFill>
                  <a:srgbClr val="003B4F"/>
                </a:solidFill>
                <a:latin typeface="Courier"/>
              </a:rPr>
              <a:t>(vif_df,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4758AB"/>
                </a:solidFill>
                <a:latin typeface="Courier"/>
              </a:rPr>
              <a:t>reorder</a:t>
            </a:r>
            <a:r>
              <a:rPr>
                <a:solidFill>
                  <a:srgbClr val="003B4F"/>
                </a:solidFill>
                <a:latin typeface="Courier"/>
              </a:rPr>
              <a:t>(Variable, VIF), </a:t>
            </a:r>
            <a:r>
              <a:rPr>
                <a:solidFill>
                  <a:srgbClr val="657422"/>
                </a:solidFill>
                <a:latin typeface="Courier"/>
              </a:rPr>
              <a:t>y =</a:t>
            </a:r>
            <a:r>
              <a:rPr>
                <a:solidFill>
                  <a:srgbClr val="003B4F"/>
                </a:solidFill>
                <a:latin typeface="Courier"/>
              </a:rPr>
              <a:t> VIF)) </a:t>
            </a:r>
            <a:r>
              <a:rPr>
                <a:solidFill>
                  <a:srgbClr val="5E5E5E"/>
                </a:solidFill>
                <a:latin typeface="Courier"/>
              </a:rPr>
              <a:t>+</a:t>
            </a:r>
            <a:br/>
            <a:r>
              <a:rPr>
                <a:solidFill>
                  <a:srgbClr val="003B4F"/>
                </a:solidFill>
                <a:latin typeface="Courier"/>
              </a:rPr>
              <a:t>  </a:t>
            </a:r>
            <a:r>
              <a:rPr>
                <a:solidFill>
                  <a:srgbClr val="4758AB"/>
                </a:solidFill>
                <a:latin typeface="Courier"/>
              </a:rPr>
              <a:t>geom_col</a:t>
            </a:r>
            <a:r>
              <a:rPr>
                <a:solidFill>
                  <a:srgbClr val="003B4F"/>
                </a:solidFill>
                <a:latin typeface="Courier"/>
              </a:rPr>
              <a:t>(</a:t>
            </a:r>
            <a:r>
              <a:rPr>
                <a:solidFill>
                  <a:srgbClr val="657422"/>
                </a:solidFill>
                <a:latin typeface="Courier"/>
              </a:rPr>
              <a:t>fill =</a:t>
            </a:r>
            <a:r>
              <a:rPr>
                <a:solidFill>
                  <a:srgbClr val="003B4F"/>
                </a:solidFill>
                <a:latin typeface="Courier"/>
              </a:rPr>
              <a:t> </a:t>
            </a:r>
            <a:r>
              <a:rPr>
                <a:solidFill>
                  <a:srgbClr val="20794D"/>
                </a:solidFill>
                <a:latin typeface="Courier"/>
              </a:rPr>
              <a:t>"steelblue"</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0.7</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geom_hline</a:t>
            </a:r>
            <a:r>
              <a:rPr>
                <a:solidFill>
                  <a:srgbClr val="003B4F"/>
                </a:solidFill>
                <a:latin typeface="Courier"/>
              </a:rPr>
              <a:t>(</a:t>
            </a:r>
            <a:r>
              <a:rPr>
                <a:solidFill>
                  <a:srgbClr val="657422"/>
                </a:solidFill>
                <a:latin typeface="Courier"/>
              </a:rPr>
              <a:t>yintercept =</a:t>
            </a:r>
            <a:r>
              <a:rPr>
                <a:solidFill>
                  <a:srgbClr val="003B4F"/>
                </a:solidFill>
                <a:latin typeface="Courier"/>
              </a:rPr>
              <a:t> </a:t>
            </a:r>
            <a:r>
              <a:rPr>
                <a:solidFill>
                  <a:srgbClr val="AD0000"/>
                </a:solidFill>
                <a:latin typeface="Courier"/>
              </a:rPr>
              <a:t>10</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"red"</a:t>
            </a:r>
            <a:r>
              <a:rPr>
                <a:solidFill>
                  <a:srgbClr val="003B4F"/>
                </a:solidFill>
                <a:latin typeface="Courier"/>
              </a:rPr>
              <a:t>, </a:t>
            </a:r>
            <a:r>
              <a:rPr>
                <a:solidFill>
                  <a:srgbClr val="657422"/>
                </a:solidFill>
                <a:latin typeface="Courier"/>
              </a:rPr>
              <a:t>linetype =</a:t>
            </a:r>
            <a:r>
              <a:rPr>
                <a:solidFill>
                  <a:srgbClr val="003B4F"/>
                </a:solidFill>
                <a:latin typeface="Courier"/>
              </a:rPr>
              <a:t> </a:t>
            </a:r>
            <a:r>
              <a:rPr>
                <a:solidFill>
                  <a:srgbClr val="20794D"/>
                </a:solidFill>
                <a:latin typeface="Courier"/>
              </a:rPr>
              <a:t>"dashed"</a:t>
            </a:r>
            <a:r>
              <a:rPr>
                <a:solidFill>
                  <a:srgbClr val="003B4F"/>
                </a:solidFill>
                <a:latin typeface="Courier"/>
              </a:rPr>
              <a:t>, </a:t>
            </a:r>
            <a:r>
              <a:rPr>
                <a:solidFill>
                  <a:srgbClr val="657422"/>
                </a:solidFill>
                <a:latin typeface="Courier"/>
              </a:rPr>
              <a:t>linewidth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geom_hline</a:t>
            </a:r>
            <a:r>
              <a:rPr>
                <a:solidFill>
                  <a:srgbClr val="003B4F"/>
                </a:solidFill>
                <a:latin typeface="Courier"/>
              </a:rPr>
              <a:t>(</a:t>
            </a:r>
            <a:r>
              <a:rPr>
                <a:solidFill>
                  <a:srgbClr val="657422"/>
                </a:solidFill>
                <a:latin typeface="Courier"/>
              </a:rPr>
              <a:t>yintercept =</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"orange"</a:t>
            </a:r>
            <a:r>
              <a:rPr>
                <a:solidFill>
                  <a:srgbClr val="003B4F"/>
                </a:solidFill>
                <a:latin typeface="Courier"/>
              </a:rPr>
              <a:t>, </a:t>
            </a:r>
            <a:r>
              <a:rPr>
                <a:solidFill>
                  <a:srgbClr val="657422"/>
                </a:solidFill>
                <a:latin typeface="Courier"/>
              </a:rPr>
              <a:t>linetype =</a:t>
            </a:r>
            <a:r>
              <a:rPr>
                <a:solidFill>
                  <a:srgbClr val="003B4F"/>
                </a:solidFill>
                <a:latin typeface="Courier"/>
              </a:rPr>
              <a:t> </a:t>
            </a:r>
            <a:r>
              <a:rPr>
                <a:solidFill>
                  <a:srgbClr val="20794D"/>
                </a:solidFill>
                <a:latin typeface="Courier"/>
              </a:rPr>
              <a:t>"dashed"</a:t>
            </a:r>
            <a:r>
              <a:rPr>
                <a:solidFill>
                  <a:srgbClr val="003B4F"/>
                </a:solidFill>
                <a:latin typeface="Courier"/>
              </a:rPr>
              <a:t>, </a:t>
            </a:r>
            <a:r>
              <a:rPr>
                <a:solidFill>
                  <a:srgbClr val="657422"/>
                </a:solidFill>
                <a:latin typeface="Courier"/>
              </a:rPr>
              <a:t>linewidth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coord_flip</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br/>
            <a:r>
              <a:rPr>
                <a:solidFill>
                  <a:srgbClr val="003B4F"/>
                </a:solidFill>
                <a:latin typeface="Courier"/>
              </a:rPr>
              <a:t>    </a:t>
            </a:r>
            <a:r>
              <a:rPr>
                <a:solidFill>
                  <a:srgbClr val="657422"/>
                </a:solidFill>
                <a:latin typeface="Courier"/>
              </a:rPr>
              <a:t>title =</a:t>
            </a:r>
            <a:r>
              <a:rPr>
                <a:solidFill>
                  <a:srgbClr val="003B4F"/>
                </a:solidFill>
                <a:latin typeface="Courier"/>
              </a:rPr>
              <a:t> </a:t>
            </a:r>
            <a:r>
              <a:rPr>
                <a:solidFill>
                  <a:srgbClr val="20794D"/>
                </a:solidFill>
                <a:latin typeface="Courier"/>
              </a:rPr>
              <a:t>"Variance Inflation Factors"</a:t>
            </a:r>
            <a:r>
              <a:rPr>
                <a:solidFill>
                  <a:srgbClr val="003B4F"/>
                </a:solidFill>
                <a:latin typeface="Courier"/>
              </a:rPr>
              <a:t>,</a:t>
            </a:r>
            <a:br/>
            <a:r>
              <a:rPr>
                <a:solidFill>
                  <a:srgbClr val="003B4F"/>
                </a:solidFill>
                <a:latin typeface="Courier"/>
              </a:rPr>
              <a:t>    </a:t>
            </a:r>
            <a:r>
              <a:rPr>
                <a:solidFill>
                  <a:srgbClr val="657422"/>
                </a:solidFill>
                <a:latin typeface="Courier"/>
              </a:rPr>
              <a:t>subtitle =</a:t>
            </a:r>
            <a:r>
              <a:rPr>
                <a:solidFill>
                  <a:srgbClr val="003B4F"/>
                </a:solidFill>
                <a:latin typeface="Courier"/>
              </a:rPr>
              <a:t> </a:t>
            </a:r>
            <a:r>
              <a:rPr>
                <a:solidFill>
                  <a:srgbClr val="20794D"/>
                </a:solidFill>
                <a:latin typeface="Courier"/>
              </a:rPr>
              <a:t>"Red line: VIF = 10 (serious concern), Orange line: VIF = 5 (moderate concern)"</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"Variables"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"VIF"</a:t>
            </a:r>
            <a:br/>
            <a:r>
              <a:rPr>
                <a:solidFill>
                  <a:srgbClr val="003B4F"/>
                </a:solidFill>
                <a:latin typeface="Courier"/>
              </a:rPr>
              <a:t>  )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p>
          <a:p>
            <a:pPr lvl="0" indent="0" marL="0">
              <a:buNone/>
            </a:pPr>
            <a:r>
              <a:rPr/>
              <a:t>✏️ </a:t>
            </a:r>
            <a:r>
              <a:rPr b="1"/>
              <a:t>Your turn:</a:t>
            </a:r>
            <a:r>
              <a:rPr/>
              <a:t> Which predictor(s) have VIF &gt; 10? Does that match what you flagged from the correlation matrix? </a:t>
            </a:r>
            <a:r>
              <a:rPr>
                <a:latin typeface="Courier"/>
              </a:rPr>
              <a:t>________________________</a:t>
            </a:r>
          </a:p>
          <a:p>
            <a:pPr lvl="0" indent="0" marL="1270000">
              <a:buNone/>
            </a:pPr>
            <a:r>
              <a:rPr sz="2000" b="1"/>
              <a:t>Tip</a:t>
            </a:r>
          </a:p>
          <a:p>
            <a:pPr lvl="0" indent="0" marL="1270000">
              <a:buNone/>
            </a:pPr>
            <a:r>
              <a:rPr sz="2000" b="1"/>
              <a:t>🚀 If you finish early:</a:t>
            </a:r>
            <a:r>
              <a:rPr sz="2000"/>
              <a:t> Recompute VIF using only 3 predictors of your choice (drop the rest from the model formula). Do the remaining VIFs change? Why would dropping a correlated predictor lower the VIFs of the ones that are left?</a:t>
            </a:r>
          </a:p>
          <a:p>
            <a:pPr lvl="0" indent="0">
              <a:buNone/>
            </a:pPr>
            <a:r>
              <a:rPr>
                <a:solidFill>
                  <a:srgbClr val="5E5E5E"/>
                </a:solidFill>
                <a:latin typeface="Courier"/>
              </a:rPr>
              <a:t># Write your code here: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Addressing Multicollinearity</a:t>
            </a:r>
          </a:p>
        </p:txBody>
      </p:sp>
      <p:sp>
        <p:nvSpPr>
          <p:cNvPr id="3" name="Content Placeholder 2"/>
          <p:cNvSpPr>
            <a:spLocks noGrp="1"/>
          </p:cNvSpPr>
          <p:nvPr>
            <p:ph idx="1"/>
          </p:nvPr>
        </p:nvSpPr>
        <p:spPr/>
        <p:txBody>
          <a:bodyPr/>
          <a:lstStyle/>
          <a:p>
            <a:pPr lvl="0" indent="0" marL="0">
              <a:buNone/>
            </a:pPr>
            <a:r>
              <a:rPr/>
              <a:t>Season and temperature are highly correlated. Let’s remove season.</a:t>
            </a:r>
          </a:p>
          <a:p>
            <a:pPr lvl="0" indent="0" marL="0">
              <a:buNone/>
            </a:pPr>
            <a:r>
              <a:rPr b="1"/>
              <a:t>▶ Run this:</a:t>
            </a:r>
          </a:p>
          <a:p>
            <a:pPr lvl="0" indent="0">
              <a:buNone/>
            </a:pPr>
            <a:r>
              <a:rPr>
                <a:solidFill>
                  <a:srgbClr val="003B4F"/>
                </a:solidFill>
                <a:latin typeface="Courier"/>
              </a:rPr>
              <a:t>model_2 &lt;- </a:t>
            </a:r>
            <a:r>
              <a:rPr>
                <a:solidFill>
                  <a:srgbClr val="4758AB"/>
                </a:solidFill>
                <a:latin typeface="Courier"/>
              </a:rPr>
              <a:t>lm</a:t>
            </a:r>
            <a:r>
              <a:rPr>
                <a:solidFill>
                  <a:srgbClr val="003B4F"/>
                </a:solidFill>
                <a:latin typeface="Courier"/>
              </a:rPr>
              <a:t>(npp </a:t>
            </a:r>
            <a:r>
              <a:rPr>
                <a:solidFill>
                  <a:srgbClr val="5E5E5E"/>
                </a:solidFill>
                <a:latin typeface="Courier"/>
              </a:rPr>
              <a:t>~</a:t>
            </a:r>
            <a:r>
              <a:rPr>
                <a:solidFill>
                  <a:srgbClr val="003B4F"/>
                </a:solidFill>
                <a:latin typeface="Courier"/>
              </a:rPr>
              <a:t> age </a:t>
            </a:r>
            <a:r>
              <a:rPr>
                <a:solidFill>
                  <a:srgbClr val="5E5E5E"/>
                </a:solidFill>
                <a:latin typeface="Courier"/>
              </a:rPr>
              <a:t>+</a:t>
            </a:r>
            <a:r>
              <a:rPr>
                <a:solidFill>
                  <a:srgbClr val="003B4F"/>
                </a:solidFill>
                <a:latin typeface="Courier"/>
              </a:rPr>
              <a:t> biomass </a:t>
            </a:r>
            <a:r>
              <a:rPr>
                <a:solidFill>
                  <a:srgbClr val="5E5E5E"/>
                </a:solidFill>
                <a:latin typeface="Courier"/>
              </a:rPr>
              <a:t>+</a:t>
            </a:r>
            <a:r>
              <a:rPr>
                <a:solidFill>
                  <a:srgbClr val="003B4F"/>
                </a:solidFill>
                <a:latin typeface="Courier"/>
              </a:rPr>
              <a:t> temp </a:t>
            </a:r>
            <a:r>
              <a:rPr>
                <a:solidFill>
                  <a:srgbClr val="5E5E5E"/>
                </a:solidFill>
                <a:latin typeface="Courier"/>
              </a:rPr>
              <a:t>+</a:t>
            </a:r>
            <a:r>
              <a:rPr>
                <a:solidFill>
                  <a:srgbClr val="003B4F"/>
                </a:solidFill>
                <a:latin typeface="Courier"/>
              </a:rPr>
              <a:t> precip </a:t>
            </a:r>
            <a:r>
              <a:rPr>
                <a:solidFill>
                  <a:srgbClr val="5E5E5E"/>
                </a:solidFill>
                <a:latin typeface="Courier"/>
              </a:rPr>
              <a:t>+</a:t>
            </a:r>
            <a:r>
              <a:rPr>
                <a:solidFill>
                  <a:srgbClr val="003B4F"/>
                </a:solidFill>
                <a:latin typeface="Courier"/>
              </a:rPr>
              <a:t> teb </a:t>
            </a:r>
            <a:r>
              <a:rPr>
                <a:solidFill>
                  <a:srgbClr val="5E5E5E"/>
                </a:solidFill>
                <a:latin typeface="Courier"/>
              </a:rPr>
              <a:t>+</a:t>
            </a:r>
            <a:r>
              <a:rPr>
                <a:solidFill>
                  <a:srgbClr val="003B4F"/>
                </a:solidFill>
                <a:latin typeface="Courier"/>
              </a:rPr>
              <a:t> leaf,</a:t>
            </a:r>
            <a:br/>
            <a:r>
              <a:rPr>
                <a:solidFill>
                  <a:srgbClr val="003B4F"/>
                </a:solidFill>
                <a:latin typeface="Courier"/>
              </a:rPr>
              <a:t>             </a:t>
            </a:r>
            <a:r>
              <a:rPr>
                <a:solidFill>
                  <a:srgbClr val="657422"/>
                </a:solidFill>
                <a:latin typeface="Courier"/>
              </a:rPr>
              <a:t>data =</a:t>
            </a:r>
            <a:r>
              <a:rPr>
                <a:solidFill>
                  <a:srgbClr val="003B4F"/>
                </a:solidFill>
                <a:latin typeface="Courier"/>
              </a:rPr>
              <a:t> forest_df)</a:t>
            </a:r>
            <a:br/>
            <a:r>
              <a:rPr>
                <a:solidFill>
                  <a:srgbClr val="4758AB"/>
                </a:solidFill>
                <a:latin typeface="Courier"/>
              </a:rPr>
              <a:t>summary</a:t>
            </a:r>
            <a:r>
              <a:rPr>
                <a:solidFill>
                  <a:srgbClr val="003B4F"/>
                </a:solidFill>
                <a:latin typeface="Courier"/>
              </a:rPr>
              <a:t>(model_2)</a:t>
            </a:r>
            <a:br/>
            <a:br/>
            <a:r>
              <a:rPr>
                <a:solidFill>
                  <a:srgbClr val="003B4F"/>
                </a:solidFill>
                <a:latin typeface="Courier"/>
              </a:rPr>
              <a:t>vif_values2 &lt;- </a:t>
            </a:r>
            <a:r>
              <a:rPr>
                <a:solidFill>
                  <a:srgbClr val="4758AB"/>
                </a:solidFill>
                <a:latin typeface="Courier"/>
              </a:rPr>
              <a:t>vif</a:t>
            </a:r>
            <a:r>
              <a:rPr>
                <a:solidFill>
                  <a:srgbClr val="003B4F"/>
                </a:solidFill>
                <a:latin typeface="Courier"/>
              </a:rPr>
              <a:t>(model_2)</a:t>
            </a:r>
            <a:br/>
            <a:r>
              <a:rPr>
                <a:solidFill>
                  <a:srgbClr val="003B4F"/>
                </a:solidFill>
                <a:latin typeface="Courier"/>
              </a:rPr>
              <a:t>vif_values2</a:t>
            </a:r>
          </a:p>
          <a:p>
            <a:pPr lvl="0" indent="0" marL="0">
              <a:buNone/>
            </a:pPr>
            <a:r>
              <a:rPr/>
              <a:t>✏️ </a:t>
            </a:r>
            <a:r>
              <a:rPr b="1"/>
              <a:t>Your turn:</a:t>
            </a:r>
            <a:r>
              <a:rPr/>
              <a:t> Did removing </a:t>
            </a:r>
            <a:r>
              <a:rPr>
                <a:latin typeface="Courier"/>
              </a:rPr>
              <a:t>season</a:t>
            </a:r>
            <a:r>
              <a:rPr/>
              <a:t> fix the VIF problem? </a:t>
            </a:r>
            <a:r>
              <a:rPr>
                <a:latin typeface="Courier"/>
              </a:rPr>
              <a:t>________________________</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Checking the Shape of Relationships</a:t>
            </a:r>
          </a:p>
        </p:txBody>
      </p:sp>
      <p:sp>
        <p:nvSpPr>
          <p:cNvPr id="3" name="Content Placeholder 2"/>
          <p:cNvSpPr>
            <a:spLocks noGrp="1"/>
          </p:cNvSpPr>
          <p:nvPr>
            <p:ph idx="1"/>
          </p:nvPr>
        </p:nvSpPr>
        <p:spPr/>
        <p:txBody>
          <a:bodyPr/>
          <a:lstStyle/>
          <a:p>
            <a:pPr lvl="0" indent="0" marL="0">
              <a:buNone/>
            </a:pPr>
            <a:r>
              <a:rPr b="1"/>
              <a:t>▶ Run this</a:t>
            </a:r>
            <a:r>
              <a:rPr/>
              <a:t> — Added Variable (partial regression) plots:</a:t>
            </a:r>
          </a:p>
          <a:p>
            <a:pPr lvl="0" indent="0">
              <a:buNone/>
            </a:pP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3</a:t>
            </a:r>
            <a:r>
              <a:rPr>
                <a:solidFill>
                  <a:srgbClr val="003B4F"/>
                </a:solidFill>
                <a:latin typeface="Courier"/>
              </a:rPr>
              <a:t>))</a:t>
            </a:r>
            <a:br/>
            <a:r>
              <a:rPr>
                <a:solidFill>
                  <a:srgbClr val="4758AB"/>
                </a:solidFill>
                <a:latin typeface="Courier"/>
              </a:rPr>
              <a:t>avPlots</a:t>
            </a:r>
            <a:r>
              <a:rPr>
                <a:solidFill>
                  <a:srgbClr val="003B4F"/>
                </a:solidFill>
                <a:latin typeface="Courier"/>
              </a:rPr>
              <a:t>(model_2, </a:t>
            </a:r>
            <a:r>
              <a:rPr>
                <a:solidFill>
                  <a:srgbClr val="657422"/>
                </a:solidFill>
                <a:latin typeface="Courier"/>
              </a:rPr>
              <a:t>main =</a:t>
            </a:r>
            <a:r>
              <a:rPr>
                <a:solidFill>
                  <a:srgbClr val="003B4F"/>
                </a:solidFill>
                <a:latin typeface="Courier"/>
              </a:rPr>
              <a:t> </a:t>
            </a:r>
            <a:r>
              <a:rPr>
                <a:solidFill>
                  <a:srgbClr val="20794D"/>
                </a:solidFill>
                <a:latin typeface="Courier"/>
              </a:rPr>
              <a:t>"Partial Regression Plots"</a:t>
            </a:r>
            <a:r>
              <a:rPr>
                <a:solidFill>
                  <a:srgbClr val="003B4F"/>
                </a:solidFill>
                <a:latin typeface="Courier"/>
              </a:rPr>
              <a:t>)</a:t>
            </a:r>
            <a:b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a:t>
            </a:r>
          </a:p>
          <a:p>
            <a:pPr lvl="0" indent="0" marL="0">
              <a:buNone/>
            </a:pPr>
            <a:r>
              <a:rPr/>
              <a:t>The original analysis found </a:t>
            </a:r>
            <a:r>
              <a:rPr>
                <a:latin typeface="Courier"/>
              </a:rPr>
              <a:t>age</a:t>
            </a:r>
            <a:r>
              <a:rPr/>
              <a:t> showed a curvy relationship. Let’s try a log transformation. (Really, you should try transforming the </a:t>
            </a:r>
            <a:r>
              <a:rPr i="1"/>
              <a:t>response</a:t>
            </a:r>
            <a:r>
              <a:rPr/>
              <a:t> variable first — we’re doing </a:t>
            </a:r>
            <a:r>
              <a:rPr>
                <a:latin typeface="Courier"/>
              </a:rPr>
              <a:t>age</a:t>
            </a:r>
            <a:r>
              <a:rPr/>
              <a:t> here to see the AV-plot difference clearly.)</a:t>
            </a:r>
          </a:p>
          <a:p>
            <a:pPr lvl="0" indent="0" marL="0">
              <a:buNone/>
            </a:pPr>
            <a:r>
              <a:rPr b="1"/>
              <a:t>▶ Run this:</a:t>
            </a:r>
          </a:p>
          <a:p>
            <a:pPr lvl="0" indent="0">
              <a:buNone/>
            </a:pPr>
            <a:r>
              <a:rPr>
                <a:solidFill>
                  <a:srgbClr val="003B4F"/>
                </a:solidFill>
                <a:latin typeface="Courier"/>
              </a:rPr>
              <a:t>forest_df &lt;- forest_df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log_age =</a:t>
            </a:r>
            <a:r>
              <a:rPr>
                <a:solidFill>
                  <a:srgbClr val="003B4F"/>
                </a:solidFill>
                <a:latin typeface="Courier"/>
              </a:rPr>
              <a:t> </a:t>
            </a:r>
            <a:r>
              <a:rPr>
                <a:solidFill>
                  <a:srgbClr val="4758AB"/>
                </a:solidFill>
                <a:latin typeface="Courier"/>
              </a:rPr>
              <a:t>log10</a:t>
            </a:r>
            <a:r>
              <a:rPr>
                <a:solidFill>
                  <a:srgbClr val="003B4F"/>
                </a:solidFill>
                <a:latin typeface="Courier"/>
              </a:rPr>
              <a:t>(age))</a:t>
            </a:r>
            <a:br/>
            <a:br/>
            <a:r>
              <a:rPr>
                <a:solidFill>
                  <a:srgbClr val="003B4F"/>
                </a:solidFill>
                <a:latin typeface="Courier"/>
              </a:rPr>
              <a:t>model_3 &lt;- </a:t>
            </a:r>
            <a:r>
              <a:rPr>
                <a:solidFill>
                  <a:srgbClr val="4758AB"/>
                </a:solidFill>
                <a:latin typeface="Courier"/>
              </a:rPr>
              <a:t>lm</a:t>
            </a:r>
            <a:r>
              <a:rPr>
                <a:solidFill>
                  <a:srgbClr val="003B4F"/>
                </a:solidFill>
                <a:latin typeface="Courier"/>
              </a:rPr>
              <a:t>(npp </a:t>
            </a:r>
            <a:r>
              <a:rPr>
                <a:solidFill>
                  <a:srgbClr val="5E5E5E"/>
                </a:solidFill>
                <a:latin typeface="Courier"/>
              </a:rPr>
              <a:t>~</a:t>
            </a:r>
            <a:r>
              <a:rPr>
                <a:solidFill>
                  <a:srgbClr val="003B4F"/>
                </a:solidFill>
                <a:latin typeface="Courier"/>
              </a:rPr>
              <a:t> log_age </a:t>
            </a:r>
            <a:r>
              <a:rPr>
                <a:solidFill>
                  <a:srgbClr val="5E5E5E"/>
                </a:solidFill>
                <a:latin typeface="Courier"/>
              </a:rPr>
              <a:t>+</a:t>
            </a:r>
            <a:r>
              <a:rPr>
                <a:solidFill>
                  <a:srgbClr val="003B4F"/>
                </a:solidFill>
                <a:latin typeface="Courier"/>
              </a:rPr>
              <a:t> biomass </a:t>
            </a:r>
            <a:r>
              <a:rPr>
                <a:solidFill>
                  <a:srgbClr val="5E5E5E"/>
                </a:solidFill>
                <a:latin typeface="Courier"/>
              </a:rPr>
              <a:t>+</a:t>
            </a:r>
            <a:r>
              <a:rPr>
                <a:solidFill>
                  <a:srgbClr val="003B4F"/>
                </a:solidFill>
                <a:latin typeface="Courier"/>
              </a:rPr>
              <a:t> temp </a:t>
            </a:r>
            <a:r>
              <a:rPr>
                <a:solidFill>
                  <a:srgbClr val="5E5E5E"/>
                </a:solidFill>
                <a:latin typeface="Courier"/>
              </a:rPr>
              <a:t>+</a:t>
            </a:r>
            <a:r>
              <a:rPr>
                <a:solidFill>
                  <a:srgbClr val="003B4F"/>
                </a:solidFill>
                <a:latin typeface="Courier"/>
              </a:rPr>
              <a:t> precip </a:t>
            </a:r>
            <a:r>
              <a:rPr>
                <a:solidFill>
                  <a:srgbClr val="5E5E5E"/>
                </a:solidFill>
                <a:latin typeface="Courier"/>
              </a:rPr>
              <a:t>+</a:t>
            </a:r>
            <a:r>
              <a:rPr>
                <a:solidFill>
                  <a:srgbClr val="003B4F"/>
                </a:solidFill>
                <a:latin typeface="Courier"/>
              </a:rPr>
              <a:t> teb </a:t>
            </a:r>
            <a:r>
              <a:rPr>
                <a:solidFill>
                  <a:srgbClr val="5E5E5E"/>
                </a:solidFill>
                <a:latin typeface="Courier"/>
              </a:rPr>
              <a:t>+</a:t>
            </a:r>
            <a:r>
              <a:rPr>
                <a:solidFill>
                  <a:srgbClr val="003B4F"/>
                </a:solidFill>
                <a:latin typeface="Courier"/>
              </a:rPr>
              <a:t> leaf,</a:t>
            </a:r>
            <a:br/>
            <a:r>
              <a:rPr>
                <a:solidFill>
                  <a:srgbClr val="003B4F"/>
                </a:solidFill>
                <a:latin typeface="Courier"/>
              </a:rPr>
              <a:t>             </a:t>
            </a:r>
            <a:r>
              <a:rPr>
                <a:solidFill>
                  <a:srgbClr val="657422"/>
                </a:solidFill>
                <a:latin typeface="Courier"/>
              </a:rPr>
              <a:t>data =</a:t>
            </a:r>
            <a:r>
              <a:rPr>
                <a:solidFill>
                  <a:srgbClr val="003B4F"/>
                </a:solidFill>
                <a:latin typeface="Courier"/>
              </a:rPr>
              <a:t> forest_df)</a:t>
            </a:r>
            <a:br/>
            <a:r>
              <a:rPr>
                <a:solidFill>
                  <a:srgbClr val="4758AB"/>
                </a:solidFill>
                <a:latin typeface="Courier"/>
              </a:rPr>
              <a:t>summary</a:t>
            </a:r>
            <a:r>
              <a:rPr>
                <a:solidFill>
                  <a:srgbClr val="003B4F"/>
                </a:solidFill>
                <a:latin typeface="Courier"/>
              </a:rPr>
              <a:t>(model_3)</a:t>
            </a:r>
            <a:br/>
            <a:b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3</a:t>
            </a:r>
            <a:r>
              <a:rPr>
                <a:solidFill>
                  <a:srgbClr val="003B4F"/>
                </a:solidFill>
                <a:latin typeface="Courier"/>
              </a:rPr>
              <a:t>))</a:t>
            </a:r>
            <a:br/>
            <a:r>
              <a:rPr>
                <a:solidFill>
                  <a:srgbClr val="4758AB"/>
                </a:solidFill>
                <a:latin typeface="Courier"/>
              </a:rPr>
              <a:t>avPlots</a:t>
            </a:r>
            <a:r>
              <a:rPr>
                <a:solidFill>
                  <a:srgbClr val="003B4F"/>
                </a:solidFill>
                <a:latin typeface="Courier"/>
              </a:rPr>
              <a:t>(model_3, </a:t>
            </a:r>
            <a:r>
              <a:rPr>
                <a:solidFill>
                  <a:srgbClr val="657422"/>
                </a:solidFill>
                <a:latin typeface="Courier"/>
              </a:rPr>
              <a:t>main =</a:t>
            </a:r>
            <a:r>
              <a:rPr>
                <a:solidFill>
                  <a:srgbClr val="003B4F"/>
                </a:solidFill>
                <a:latin typeface="Courier"/>
              </a:rPr>
              <a:t> </a:t>
            </a:r>
            <a:r>
              <a:rPr>
                <a:solidFill>
                  <a:srgbClr val="20794D"/>
                </a:solidFill>
                <a:latin typeface="Courier"/>
              </a:rPr>
              <a:t>"Partial Regression Plots (Log age)"</a:t>
            </a:r>
            <a:r>
              <a:rPr>
                <a:solidFill>
                  <a:srgbClr val="003B4F"/>
                </a:solidFill>
                <a:latin typeface="Courier"/>
              </a:rPr>
              <a:t>)</a:t>
            </a:r>
            <a:b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a:t>
            </a:r>
          </a:p>
          <a:p>
            <a:pPr lvl="0" indent="0" marL="0">
              <a:buNone/>
            </a:pPr>
            <a:r>
              <a:rPr/>
              <a:t>✏️ </a:t>
            </a:r>
            <a:r>
              <a:rPr b="1"/>
              <a:t>Your turn:</a:t>
            </a:r>
            <a:r>
              <a:rPr/>
              <a:t> Compare the AV plot for </a:t>
            </a:r>
            <a:r>
              <a:rPr>
                <a:latin typeface="Courier"/>
              </a:rPr>
              <a:t>age</a:t>
            </a:r>
            <a:r>
              <a:rPr/>
              <a:t> before and after the log transform. Does the relationship look straighter now? </a:t>
            </a:r>
            <a:r>
              <a:rPr>
                <a:latin typeface="Courier"/>
              </a:rPr>
              <a:t>________________________</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Model Diagnostics</a:t>
            </a:r>
          </a:p>
        </p:txBody>
      </p:sp>
      <p:sp>
        <p:nvSpPr>
          <p:cNvPr id="3" name="Content Placeholder 2"/>
          <p:cNvSpPr>
            <a:spLocks noGrp="1"/>
          </p:cNvSpPr>
          <p:nvPr>
            <p:ph idx="1"/>
          </p:nvPr>
        </p:nvSpPr>
        <p:spPr/>
        <p:txBody>
          <a:bodyPr/>
          <a:lstStyle/>
          <a:p>
            <a:pPr lvl="0" indent="0" marL="0">
              <a:buNone/>
            </a:pPr>
            <a:r>
              <a:rPr b="1"/>
              <a:t>▶ Run this</a:t>
            </a:r>
            <a:r>
              <a:rPr/>
              <a:t> — the four standard diagnostic plots:</a:t>
            </a:r>
          </a:p>
          <a:p>
            <a:pPr lvl="0" indent="0">
              <a:buNone/>
            </a:pP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4758AB"/>
                </a:solidFill>
                <a:latin typeface="Courier"/>
              </a:rPr>
              <a:t>plot</a:t>
            </a:r>
            <a:r>
              <a:rPr>
                <a:solidFill>
                  <a:srgbClr val="003B4F"/>
                </a:solidFill>
                <a:latin typeface="Courier"/>
              </a:rPr>
              <a:t>(model_3)</a:t>
            </a:r>
            <a:b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a:t>
            </a:r>
          </a:p>
          <a:p>
            <a:pPr lvl="0" indent="0" marL="0">
              <a:buNone/>
            </a:pPr>
            <a:r>
              <a:rPr b="1"/>
              <a:t>▶ Run this</a:t>
            </a:r>
            <a:r>
              <a:rPr/>
              <a:t> — a closer look at residuals vs. fitted:</a:t>
            </a:r>
          </a:p>
          <a:p>
            <a:pPr lvl="0" indent="0">
              <a:buNone/>
            </a:pPr>
            <a:r>
              <a:rPr>
                <a:solidFill>
                  <a:srgbClr val="003B4F"/>
                </a:solidFill>
                <a:latin typeface="Courier"/>
              </a:rPr>
              <a:t>residuals_data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Fitted =</a:t>
            </a:r>
            <a:r>
              <a:rPr>
                <a:solidFill>
                  <a:srgbClr val="003B4F"/>
                </a:solidFill>
                <a:latin typeface="Courier"/>
              </a:rPr>
              <a:t> </a:t>
            </a:r>
            <a:r>
              <a:rPr>
                <a:solidFill>
                  <a:srgbClr val="4758AB"/>
                </a:solidFill>
                <a:latin typeface="Courier"/>
              </a:rPr>
              <a:t>fitted</a:t>
            </a:r>
            <a:r>
              <a:rPr>
                <a:solidFill>
                  <a:srgbClr val="003B4F"/>
                </a:solidFill>
                <a:latin typeface="Courier"/>
              </a:rPr>
              <a:t>(model_3),</a:t>
            </a:r>
            <a:br/>
            <a:r>
              <a:rPr>
                <a:solidFill>
                  <a:srgbClr val="003B4F"/>
                </a:solidFill>
                <a:latin typeface="Courier"/>
              </a:rPr>
              <a:t>  </a:t>
            </a:r>
            <a:r>
              <a:rPr>
                <a:solidFill>
                  <a:srgbClr val="657422"/>
                </a:solidFill>
                <a:latin typeface="Courier"/>
              </a:rPr>
              <a:t>Residuals =</a:t>
            </a:r>
            <a:r>
              <a:rPr>
                <a:solidFill>
                  <a:srgbClr val="003B4F"/>
                </a:solidFill>
                <a:latin typeface="Courier"/>
              </a:rPr>
              <a:t> </a:t>
            </a:r>
            <a:r>
              <a:rPr>
                <a:solidFill>
                  <a:srgbClr val="4758AB"/>
                </a:solidFill>
                <a:latin typeface="Courier"/>
              </a:rPr>
              <a:t>residuals</a:t>
            </a:r>
            <a:r>
              <a:rPr>
                <a:solidFill>
                  <a:srgbClr val="003B4F"/>
                </a:solidFill>
                <a:latin typeface="Courier"/>
              </a:rPr>
              <a:t>(model_3),</a:t>
            </a:r>
            <a:br/>
            <a:r>
              <a:rPr>
                <a:solidFill>
                  <a:srgbClr val="003B4F"/>
                </a:solidFill>
                <a:latin typeface="Courier"/>
              </a:rPr>
              <a:t>  </a:t>
            </a:r>
            <a:r>
              <a:rPr>
                <a:solidFill>
                  <a:srgbClr val="657422"/>
                </a:solidFill>
                <a:latin typeface="Courier"/>
              </a:rPr>
              <a:t>Standardized_Residuals =</a:t>
            </a:r>
            <a:r>
              <a:rPr>
                <a:solidFill>
                  <a:srgbClr val="003B4F"/>
                </a:solidFill>
                <a:latin typeface="Courier"/>
              </a:rPr>
              <a:t> </a:t>
            </a:r>
            <a:r>
              <a:rPr>
                <a:solidFill>
                  <a:srgbClr val="4758AB"/>
                </a:solidFill>
                <a:latin typeface="Courier"/>
              </a:rPr>
              <a:t>rstandard</a:t>
            </a:r>
            <a:r>
              <a:rPr>
                <a:solidFill>
                  <a:srgbClr val="003B4F"/>
                </a:solidFill>
                <a:latin typeface="Courier"/>
              </a:rPr>
              <a:t>(model_3)</a:t>
            </a:r>
            <a:br/>
            <a:r>
              <a:rPr>
                <a:solidFill>
                  <a:srgbClr val="003B4F"/>
                </a:solidFill>
                <a:latin typeface="Courier"/>
              </a:rPr>
              <a:t>)</a:t>
            </a:r>
            <a:br/>
            <a:br/>
            <a:r>
              <a:rPr>
                <a:solidFill>
                  <a:srgbClr val="4758AB"/>
                </a:solidFill>
                <a:latin typeface="Courier"/>
              </a:rPr>
              <a:t>ggplot</a:t>
            </a:r>
            <a:r>
              <a:rPr>
                <a:solidFill>
                  <a:srgbClr val="003B4F"/>
                </a:solidFill>
                <a:latin typeface="Courier"/>
              </a:rPr>
              <a:t>(residuals_data,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Fitted, </a:t>
            </a:r>
            <a:r>
              <a:rPr>
                <a:solidFill>
                  <a:srgbClr val="657422"/>
                </a:solidFill>
                <a:latin typeface="Courier"/>
              </a:rPr>
              <a:t>y =</a:t>
            </a:r>
            <a:r>
              <a:rPr>
                <a:solidFill>
                  <a:srgbClr val="003B4F"/>
                </a:solidFill>
                <a:latin typeface="Courier"/>
              </a:rPr>
              <a:t> Residuals))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alpha =</a:t>
            </a:r>
            <a:r>
              <a:rPr>
                <a:solidFill>
                  <a:srgbClr val="003B4F"/>
                </a:solidFill>
                <a:latin typeface="Courier"/>
              </a:rPr>
              <a:t> </a:t>
            </a:r>
            <a:r>
              <a:rPr>
                <a:solidFill>
                  <a:srgbClr val="AD0000"/>
                </a:solidFill>
                <a:latin typeface="Courier"/>
              </a:rPr>
              <a:t>0.6</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geom_smooth</a:t>
            </a:r>
            <a:r>
              <a:rPr>
                <a:solidFill>
                  <a:srgbClr val="003B4F"/>
                </a:solidFill>
                <a:latin typeface="Courier"/>
              </a:rPr>
              <a:t>(</a:t>
            </a:r>
            <a:r>
              <a:rPr>
                <a:solidFill>
                  <a:srgbClr val="657422"/>
                </a:solidFill>
                <a:latin typeface="Courier"/>
              </a:rPr>
              <a:t>method =</a:t>
            </a:r>
            <a:r>
              <a:rPr>
                <a:solidFill>
                  <a:srgbClr val="003B4F"/>
                </a:solidFill>
                <a:latin typeface="Courier"/>
              </a:rPr>
              <a:t> </a:t>
            </a:r>
            <a:r>
              <a:rPr>
                <a:solidFill>
                  <a:srgbClr val="20794D"/>
                </a:solidFill>
                <a:latin typeface="Courier"/>
              </a:rPr>
              <a:t>"lm"</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"red"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geom_hline</a:t>
            </a:r>
            <a:r>
              <a:rPr>
                <a:solidFill>
                  <a:srgbClr val="003B4F"/>
                </a:solidFill>
                <a:latin typeface="Courier"/>
              </a:rPr>
              <a:t>(</a:t>
            </a:r>
            <a:r>
              <a:rPr>
                <a:solidFill>
                  <a:srgbClr val="657422"/>
                </a:solidFill>
                <a:latin typeface="Courier"/>
              </a:rPr>
              <a:t>yintercept =</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657422"/>
                </a:solidFill>
                <a:latin typeface="Courier"/>
              </a:rPr>
              <a:t>linetype =</a:t>
            </a:r>
            <a:r>
              <a:rPr>
                <a:solidFill>
                  <a:srgbClr val="003B4F"/>
                </a:solidFill>
                <a:latin typeface="Courier"/>
              </a:rPr>
              <a:t> </a:t>
            </a:r>
            <a:r>
              <a:rPr>
                <a:solidFill>
                  <a:srgbClr val="20794D"/>
                </a:solidFill>
                <a:latin typeface="Courier"/>
              </a:rPr>
              <a:t>"dashed"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"Residuals vs Fitted Values"</a:t>
            </a: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"Fitted Values"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"Residuals"</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p>
          <a:p>
            <a:pPr lvl="0" indent="0" marL="0">
              <a:buNone/>
            </a:pPr>
            <a:r>
              <a:rPr/>
              <a:t>Let’s also try a cube-root transformation of the response, </a:t>
            </a:r>
            <a:r>
              <a:rPr>
                <a:latin typeface="Courier"/>
              </a:rPr>
              <a:t>npp</a:t>
            </a:r>
            <a:r>
              <a:rPr/>
              <a:t>:</a:t>
            </a:r>
          </a:p>
          <a:p>
            <a:pPr lvl="0" indent="0" marL="0">
              <a:buNone/>
            </a:pPr>
            <a:r>
              <a:rPr b="1"/>
              <a:t>▶ Run this:</a:t>
            </a:r>
          </a:p>
          <a:p>
            <a:pPr lvl="0" indent="0">
              <a:buNone/>
            </a:pPr>
            <a:r>
              <a:rPr>
                <a:solidFill>
                  <a:srgbClr val="003B4F"/>
                </a:solidFill>
                <a:latin typeface="Courier"/>
              </a:rPr>
              <a:t>forest_df &lt;- forest_df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npp_cuberoot =</a:t>
            </a:r>
            <a:r>
              <a:rPr>
                <a:solidFill>
                  <a:srgbClr val="003B4F"/>
                </a:solidFill>
                <a:latin typeface="Courier"/>
              </a:rPr>
              <a:t> npp</a:t>
            </a:r>
            <a:r>
              <a:rPr>
                <a:solidFill>
                  <a:srgbClr val="5E5E5E"/>
                </a:solidFill>
                <a:latin typeface="Courier"/>
              </a:rPr>
              <a:t>^</a:t>
            </a:r>
            <a:r>
              <a:rPr>
                <a:solidFill>
                  <a:srgbClr val="003B4F"/>
                </a:solidFill>
                <a:latin typeface="Courier"/>
              </a:rPr>
              <a:t>(</a:t>
            </a:r>
            <a:r>
              <a:rPr>
                <a:solidFill>
                  <a:srgbClr val="AD0000"/>
                </a:solidFill>
                <a:latin typeface="Courier"/>
              </a:rPr>
              <a:t>1</a:t>
            </a:r>
            <a:r>
              <a:rPr>
                <a:solidFill>
                  <a:srgbClr val="5E5E5E"/>
                </a:solidFill>
                <a:latin typeface="Courier"/>
              </a:rPr>
              <a:t>/</a:t>
            </a:r>
            <a:r>
              <a:rPr>
                <a:solidFill>
                  <a:srgbClr val="AD0000"/>
                </a:solidFill>
                <a:latin typeface="Courier"/>
              </a:rPr>
              <a:t>3</a:t>
            </a:r>
            <a:r>
              <a:rPr>
                <a:solidFill>
                  <a:srgbClr val="003B4F"/>
                </a:solidFill>
                <a:latin typeface="Courier"/>
              </a:rPr>
              <a:t>))</a:t>
            </a:r>
            <a:br/>
            <a:br/>
            <a:r>
              <a:rPr>
                <a:solidFill>
                  <a:srgbClr val="003B4F"/>
                </a:solidFill>
                <a:latin typeface="Courier"/>
              </a:rPr>
              <a:t>model_4 &lt;- </a:t>
            </a:r>
            <a:r>
              <a:rPr>
                <a:solidFill>
                  <a:srgbClr val="4758AB"/>
                </a:solidFill>
                <a:latin typeface="Courier"/>
              </a:rPr>
              <a:t>lm</a:t>
            </a:r>
            <a:r>
              <a:rPr>
                <a:solidFill>
                  <a:srgbClr val="003B4F"/>
                </a:solidFill>
                <a:latin typeface="Courier"/>
              </a:rPr>
              <a:t>(npp_cuberoot </a:t>
            </a:r>
            <a:r>
              <a:rPr>
                <a:solidFill>
                  <a:srgbClr val="5E5E5E"/>
                </a:solidFill>
                <a:latin typeface="Courier"/>
              </a:rPr>
              <a:t>~</a:t>
            </a:r>
            <a:r>
              <a:rPr>
                <a:solidFill>
                  <a:srgbClr val="003B4F"/>
                </a:solidFill>
                <a:latin typeface="Courier"/>
              </a:rPr>
              <a:t> log_age </a:t>
            </a:r>
            <a:r>
              <a:rPr>
                <a:solidFill>
                  <a:srgbClr val="5E5E5E"/>
                </a:solidFill>
                <a:latin typeface="Courier"/>
              </a:rPr>
              <a:t>+</a:t>
            </a:r>
            <a:r>
              <a:rPr>
                <a:solidFill>
                  <a:srgbClr val="003B4F"/>
                </a:solidFill>
                <a:latin typeface="Courier"/>
              </a:rPr>
              <a:t> biomass </a:t>
            </a:r>
            <a:r>
              <a:rPr>
                <a:solidFill>
                  <a:srgbClr val="5E5E5E"/>
                </a:solidFill>
                <a:latin typeface="Courier"/>
              </a:rPr>
              <a:t>+</a:t>
            </a:r>
            <a:r>
              <a:rPr>
                <a:solidFill>
                  <a:srgbClr val="003B4F"/>
                </a:solidFill>
                <a:latin typeface="Courier"/>
              </a:rPr>
              <a:t> temp </a:t>
            </a:r>
            <a:r>
              <a:rPr>
                <a:solidFill>
                  <a:srgbClr val="5E5E5E"/>
                </a:solidFill>
                <a:latin typeface="Courier"/>
              </a:rPr>
              <a:t>+</a:t>
            </a:r>
            <a:r>
              <a:rPr>
                <a:solidFill>
                  <a:srgbClr val="003B4F"/>
                </a:solidFill>
                <a:latin typeface="Courier"/>
              </a:rPr>
              <a:t> precip </a:t>
            </a:r>
            <a:r>
              <a:rPr>
                <a:solidFill>
                  <a:srgbClr val="5E5E5E"/>
                </a:solidFill>
                <a:latin typeface="Courier"/>
              </a:rPr>
              <a:t>+</a:t>
            </a:r>
            <a:br/>
            <a:r>
              <a:rPr>
                <a:solidFill>
                  <a:srgbClr val="003B4F"/>
                </a:solidFill>
                <a:latin typeface="Courier"/>
              </a:rPr>
              <a:t>             teb </a:t>
            </a:r>
            <a:r>
              <a:rPr>
                <a:solidFill>
                  <a:srgbClr val="5E5E5E"/>
                </a:solidFill>
                <a:latin typeface="Courier"/>
              </a:rPr>
              <a:t>+</a:t>
            </a:r>
            <a:r>
              <a:rPr>
                <a:solidFill>
                  <a:srgbClr val="003B4F"/>
                </a:solidFill>
                <a:latin typeface="Courier"/>
              </a:rPr>
              <a:t> leaf, </a:t>
            </a:r>
            <a:r>
              <a:rPr>
                <a:solidFill>
                  <a:srgbClr val="657422"/>
                </a:solidFill>
                <a:latin typeface="Courier"/>
              </a:rPr>
              <a:t>data =</a:t>
            </a:r>
            <a:r>
              <a:rPr>
                <a:solidFill>
                  <a:srgbClr val="003B4F"/>
                </a:solidFill>
                <a:latin typeface="Courier"/>
              </a:rPr>
              <a:t> forest_df)</a:t>
            </a:r>
            <a:br/>
            <a:r>
              <a:rPr>
                <a:solidFill>
                  <a:srgbClr val="4758AB"/>
                </a:solidFill>
                <a:latin typeface="Courier"/>
              </a:rPr>
              <a:t>summary</a:t>
            </a:r>
            <a:r>
              <a:rPr>
                <a:solidFill>
                  <a:srgbClr val="003B4F"/>
                </a:solidFill>
                <a:latin typeface="Courier"/>
              </a:rPr>
              <a:t>(model_4)</a:t>
            </a:r>
            <a:br/>
            <a:b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4758AB"/>
                </a:solidFill>
                <a:latin typeface="Courier"/>
              </a:rPr>
              <a:t>plot</a:t>
            </a:r>
            <a:r>
              <a:rPr>
                <a:solidFill>
                  <a:srgbClr val="003B4F"/>
                </a:solidFill>
                <a:latin typeface="Courier"/>
              </a:rPr>
              <a:t>(model_4)</a:t>
            </a:r>
            <a:b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a:t>
            </a:r>
          </a:p>
          <a:p>
            <a:pPr lvl="0" indent="0" marL="0">
              <a:buNone/>
            </a:pPr>
            <a:r>
              <a:rPr/>
              <a:t>✏️ </a:t>
            </a:r>
            <a:r>
              <a:rPr b="1"/>
              <a:t>Your turn:</a:t>
            </a:r>
            <a:r>
              <a:rPr/>
              <a:t> Do the residual plots for </a:t>
            </a:r>
            <a:r>
              <a:rPr>
                <a:latin typeface="Courier"/>
              </a:rPr>
              <a:t>model_4</a:t>
            </a:r>
            <a:r>
              <a:rPr/>
              <a:t> look better than for </a:t>
            </a:r>
            <a:r>
              <a:rPr>
                <a:latin typeface="Courier"/>
              </a:rPr>
              <a:t>model_3</a:t>
            </a:r>
            <a:r>
              <a:rPr/>
              <a:t>? What specifically improved (or didn’t)? </a:t>
            </a:r>
            <a:r>
              <a:rPr>
                <a:latin typeface="Courier"/>
              </a:rPr>
              <a:t>________________________</a:t>
            </a:r>
          </a:p>
          <a:p>
            <a:pPr lvl="0" indent="0" marL="1270000">
              <a:buNone/>
            </a:pPr>
            <a:r>
              <a:rPr sz="2000" b="1"/>
              <a:t>Tip</a:t>
            </a:r>
          </a:p>
          <a:p>
            <a:pPr lvl="0" indent="0" marL="1270000">
              <a:buNone/>
            </a:pPr>
            <a:r>
              <a:rPr sz="2000" b="1"/>
              <a:t>🚀 If you finish early:</a:t>
            </a:r>
            <a:r>
              <a:rPr sz="2000"/>
              <a:t> Try a square-root transform of </a:t>
            </a:r>
            <a:r>
              <a:rPr sz="2000">
                <a:latin typeface="Courier"/>
              </a:rPr>
              <a:t>npp</a:t>
            </a:r>
            <a:r>
              <a:rPr sz="2000"/>
              <a:t> instead of cube-root (</a:t>
            </a:r>
            <a:r>
              <a:rPr sz="2000">
                <a:latin typeface="Courier"/>
              </a:rPr>
              <a:t>sqrt(npp)</a:t>
            </a:r>
            <a:r>
              <a:rPr sz="2000"/>
              <a:t>). Refit the model and compare its residual plots to </a:t>
            </a:r>
            <a:r>
              <a:rPr sz="2000">
                <a:latin typeface="Courier"/>
              </a:rPr>
              <a:t>model_4</a:t>
            </a:r>
            <a:r>
              <a:rPr sz="2000"/>
              <a:t>’s.</a:t>
            </a:r>
          </a:p>
          <a:p>
            <a:pPr lvl="0" indent="0">
              <a:buNone/>
            </a:pPr>
            <a:r>
              <a:rPr>
                <a:solidFill>
                  <a:srgbClr val="5E5E5E"/>
                </a:solidFill>
                <a:latin typeface="Courier"/>
              </a:rPr>
              <a:t># Write your code here: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6 · Model Simplification and Comparison</a:t>
            </a:r>
          </a:p>
        </p:txBody>
      </p:sp>
      <p:sp>
        <p:nvSpPr>
          <p:cNvPr id="3" name="Content Placeholder 2"/>
          <p:cNvSpPr>
            <a:spLocks noGrp="1"/>
          </p:cNvSpPr>
          <p:nvPr>
            <p:ph idx="1"/>
          </p:nvPr>
        </p:nvSpPr>
        <p:spPr/>
        <p:txBody>
          <a:bodyPr/>
          <a:lstStyle/>
          <a:p>
            <a:pPr lvl="0" indent="0" marL="0">
              <a:buNone/>
            </a:pPr>
            <a:r>
              <a:rPr b="1"/>
              <a:t>▶ Run this</a:t>
            </a:r>
            <a:r>
              <a:rPr/>
              <a:t> — drop the non-significant </a:t>
            </a:r>
            <a:r>
              <a:rPr>
                <a:latin typeface="Courier"/>
              </a:rPr>
              <a:t>precip</a:t>
            </a:r>
            <a:r>
              <a:rPr/>
              <a:t> term:</a:t>
            </a:r>
          </a:p>
          <a:p>
            <a:pPr lvl="0" indent="0">
              <a:buNone/>
            </a:pPr>
            <a:r>
              <a:rPr>
                <a:solidFill>
                  <a:srgbClr val="003B4F"/>
                </a:solidFill>
                <a:latin typeface="Courier"/>
              </a:rPr>
              <a:t>model_5 &lt;- </a:t>
            </a:r>
            <a:r>
              <a:rPr>
                <a:solidFill>
                  <a:srgbClr val="4758AB"/>
                </a:solidFill>
                <a:latin typeface="Courier"/>
              </a:rPr>
              <a:t>lm</a:t>
            </a:r>
            <a:r>
              <a:rPr>
                <a:solidFill>
                  <a:srgbClr val="003B4F"/>
                </a:solidFill>
                <a:latin typeface="Courier"/>
              </a:rPr>
              <a:t>(npp_cuberoot </a:t>
            </a:r>
            <a:r>
              <a:rPr>
                <a:solidFill>
                  <a:srgbClr val="5E5E5E"/>
                </a:solidFill>
                <a:latin typeface="Courier"/>
              </a:rPr>
              <a:t>~</a:t>
            </a:r>
            <a:r>
              <a:rPr>
                <a:solidFill>
                  <a:srgbClr val="003B4F"/>
                </a:solidFill>
                <a:latin typeface="Courier"/>
              </a:rPr>
              <a:t> log_age </a:t>
            </a:r>
            <a:r>
              <a:rPr>
                <a:solidFill>
                  <a:srgbClr val="5E5E5E"/>
                </a:solidFill>
                <a:latin typeface="Courier"/>
              </a:rPr>
              <a:t>+</a:t>
            </a:r>
            <a:r>
              <a:rPr>
                <a:solidFill>
                  <a:srgbClr val="003B4F"/>
                </a:solidFill>
                <a:latin typeface="Courier"/>
              </a:rPr>
              <a:t> biomass </a:t>
            </a:r>
            <a:r>
              <a:rPr>
                <a:solidFill>
                  <a:srgbClr val="5E5E5E"/>
                </a:solidFill>
                <a:latin typeface="Courier"/>
              </a:rPr>
              <a:t>+</a:t>
            </a:r>
            <a:r>
              <a:rPr>
                <a:solidFill>
                  <a:srgbClr val="003B4F"/>
                </a:solidFill>
                <a:latin typeface="Courier"/>
              </a:rPr>
              <a:t> temp </a:t>
            </a:r>
            <a:r>
              <a:rPr>
                <a:solidFill>
                  <a:srgbClr val="5E5E5E"/>
                </a:solidFill>
                <a:latin typeface="Courier"/>
              </a:rPr>
              <a:t>+</a:t>
            </a:r>
            <a:r>
              <a:rPr>
                <a:solidFill>
                  <a:srgbClr val="003B4F"/>
                </a:solidFill>
                <a:latin typeface="Courier"/>
              </a:rPr>
              <a:t> teb </a:t>
            </a:r>
            <a:r>
              <a:rPr>
                <a:solidFill>
                  <a:srgbClr val="5E5E5E"/>
                </a:solidFill>
                <a:latin typeface="Courier"/>
              </a:rPr>
              <a:t>+</a:t>
            </a:r>
            <a:r>
              <a:rPr>
                <a:solidFill>
                  <a:srgbClr val="003B4F"/>
                </a:solidFill>
                <a:latin typeface="Courier"/>
              </a:rPr>
              <a:t> leaf,</a:t>
            </a:r>
            <a:br/>
            <a:r>
              <a:rPr>
                <a:solidFill>
                  <a:srgbClr val="003B4F"/>
                </a:solidFill>
                <a:latin typeface="Courier"/>
              </a:rPr>
              <a:t>             </a:t>
            </a:r>
            <a:r>
              <a:rPr>
                <a:solidFill>
                  <a:srgbClr val="657422"/>
                </a:solidFill>
                <a:latin typeface="Courier"/>
              </a:rPr>
              <a:t>data =</a:t>
            </a:r>
            <a:r>
              <a:rPr>
                <a:solidFill>
                  <a:srgbClr val="003B4F"/>
                </a:solidFill>
                <a:latin typeface="Courier"/>
              </a:rPr>
              <a:t> forest_df)</a:t>
            </a:r>
            <a:br/>
            <a:r>
              <a:rPr>
                <a:solidFill>
                  <a:srgbClr val="4758AB"/>
                </a:solidFill>
                <a:latin typeface="Courier"/>
              </a:rPr>
              <a:t>summary</a:t>
            </a:r>
            <a:r>
              <a:rPr>
                <a:solidFill>
                  <a:srgbClr val="003B4F"/>
                </a:solidFill>
                <a:latin typeface="Courier"/>
              </a:rPr>
              <a:t>(model_5)</a:t>
            </a:r>
          </a:p>
          <a:p>
            <a:pPr lvl="0" indent="0" marL="0">
              <a:buNone/>
            </a:pPr>
            <a:r>
              <a:rPr b="1"/>
              <a:t>▶ Run this</a:t>
            </a:r>
            <a:r>
              <a:rPr/>
              <a:t> — compare </a:t>
            </a:r>
            <a:r>
              <a:rPr>
                <a:latin typeface="Courier"/>
              </a:rPr>
              <a:t>model_4</a:t>
            </a:r>
            <a:r>
              <a:rPr/>
              <a:t> and </a:t>
            </a:r>
            <a:r>
              <a:rPr>
                <a:latin typeface="Courier"/>
              </a:rPr>
              <a:t>model_5</a:t>
            </a:r>
            <a:r>
              <a:rPr/>
              <a:t> by AIC:</a:t>
            </a:r>
          </a:p>
          <a:p>
            <a:pPr lvl="0" indent="0">
              <a:buNone/>
            </a:pPr>
            <a:r>
              <a:rPr>
                <a:solidFill>
                  <a:srgbClr val="003B4F"/>
                </a:solidFill>
                <a:latin typeface="Courier"/>
              </a:rPr>
              <a:t>model_comparison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Model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"Model 4 (Full)"</a:t>
            </a:r>
            <a:r>
              <a:rPr>
                <a:solidFill>
                  <a:srgbClr val="003B4F"/>
                </a:solidFill>
                <a:latin typeface="Courier"/>
              </a:rPr>
              <a:t>, </a:t>
            </a:r>
            <a:r>
              <a:rPr>
                <a:solidFill>
                  <a:srgbClr val="20794D"/>
                </a:solidFill>
                <a:latin typeface="Courier"/>
              </a:rPr>
              <a:t>"Model 5 (No precip)"</a:t>
            </a:r>
            <a:r>
              <a:rPr>
                <a:solidFill>
                  <a:srgbClr val="003B4F"/>
                </a:solidFill>
                <a:latin typeface="Courier"/>
              </a:rPr>
              <a:t>),</a:t>
            </a:r>
            <a:br/>
            <a:r>
              <a:rPr>
                <a:solidFill>
                  <a:srgbClr val="003B4F"/>
                </a:solidFill>
                <a:latin typeface="Courier"/>
              </a:rPr>
              <a:t>  </a:t>
            </a:r>
            <a:r>
              <a:rPr>
                <a:solidFill>
                  <a:srgbClr val="657422"/>
                </a:solidFill>
                <a:latin typeface="Courier"/>
              </a:rPr>
              <a:t>AIC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4758AB"/>
                </a:solidFill>
                <a:latin typeface="Courier"/>
              </a:rPr>
              <a:t>AIC</a:t>
            </a:r>
            <a:r>
              <a:rPr>
                <a:solidFill>
                  <a:srgbClr val="003B4F"/>
                </a:solidFill>
                <a:latin typeface="Courier"/>
              </a:rPr>
              <a:t>(model_4), </a:t>
            </a:r>
            <a:r>
              <a:rPr>
                <a:solidFill>
                  <a:srgbClr val="4758AB"/>
                </a:solidFill>
                <a:latin typeface="Courier"/>
              </a:rPr>
              <a:t>AIC</a:t>
            </a:r>
            <a:r>
              <a:rPr>
                <a:solidFill>
                  <a:srgbClr val="003B4F"/>
                </a:solidFill>
                <a:latin typeface="Courier"/>
              </a:rPr>
              <a:t>(model_5)),</a:t>
            </a:r>
            <a:br/>
            <a:r>
              <a:rPr>
                <a:solidFill>
                  <a:srgbClr val="003B4F"/>
                </a:solidFill>
                <a:latin typeface="Courier"/>
              </a:rPr>
              <a:t>  </a:t>
            </a:r>
            <a:r>
              <a:rPr>
                <a:solidFill>
                  <a:srgbClr val="657422"/>
                </a:solidFill>
                <a:latin typeface="Courier"/>
              </a:rPr>
              <a:t>R_squared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4758AB"/>
                </a:solidFill>
                <a:latin typeface="Courier"/>
              </a:rPr>
              <a:t>summary</a:t>
            </a:r>
            <a:r>
              <a:rPr>
                <a:solidFill>
                  <a:srgbClr val="003B4F"/>
                </a:solidFill>
                <a:latin typeface="Courier"/>
              </a:rPr>
              <a:t>(model_4)</a:t>
            </a:r>
            <a:r>
              <a:rPr>
                <a:solidFill>
                  <a:srgbClr val="5E5E5E"/>
                </a:solidFill>
                <a:latin typeface="Courier"/>
              </a:rPr>
              <a:t>$</a:t>
            </a:r>
            <a:r>
              <a:rPr>
                <a:solidFill>
                  <a:srgbClr val="003B4F"/>
                </a:solidFill>
                <a:latin typeface="Courier"/>
              </a:rPr>
              <a:t>r.squared, </a:t>
            </a:r>
            <a:r>
              <a:rPr>
                <a:solidFill>
                  <a:srgbClr val="4758AB"/>
                </a:solidFill>
                <a:latin typeface="Courier"/>
              </a:rPr>
              <a:t>summary</a:t>
            </a:r>
            <a:r>
              <a:rPr>
                <a:solidFill>
                  <a:srgbClr val="003B4F"/>
                </a:solidFill>
                <a:latin typeface="Courier"/>
              </a:rPr>
              <a:t>(model_5)</a:t>
            </a:r>
            <a:r>
              <a:rPr>
                <a:solidFill>
                  <a:srgbClr val="5E5E5E"/>
                </a:solidFill>
                <a:latin typeface="Courier"/>
              </a:rPr>
              <a:t>$</a:t>
            </a:r>
            <a:r>
              <a:rPr>
                <a:solidFill>
                  <a:srgbClr val="003B4F"/>
                </a:solidFill>
                <a:latin typeface="Courier"/>
              </a:rPr>
              <a:t>r.squared),</a:t>
            </a:r>
            <a:br/>
            <a:r>
              <a:rPr>
                <a:solidFill>
                  <a:srgbClr val="003B4F"/>
                </a:solidFill>
                <a:latin typeface="Courier"/>
              </a:rPr>
              <a:t>  </a:t>
            </a:r>
            <a:r>
              <a:rPr>
                <a:solidFill>
                  <a:srgbClr val="657422"/>
                </a:solidFill>
                <a:latin typeface="Courier"/>
              </a:rPr>
              <a:t>Adj_R_squared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4758AB"/>
                </a:solidFill>
                <a:latin typeface="Courier"/>
              </a:rPr>
              <a:t>summary</a:t>
            </a:r>
            <a:r>
              <a:rPr>
                <a:solidFill>
                  <a:srgbClr val="003B4F"/>
                </a:solidFill>
                <a:latin typeface="Courier"/>
              </a:rPr>
              <a:t>(model_4)</a:t>
            </a:r>
            <a:r>
              <a:rPr>
                <a:solidFill>
                  <a:srgbClr val="5E5E5E"/>
                </a:solidFill>
                <a:latin typeface="Courier"/>
              </a:rPr>
              <a:t>$</a:t>
            </a:r>
            <a:r>
              <a:rPr>
                <a:solidFill>
                  <a:srgbClr val="003B4F"/>
                </a:solidFill>
                <a:latin typeface="Courier"/>
              </a:rPr>
              <a:t>adj.r.squared, </a:t>
            </a:r>
            <a:r>
              <a:rPr>
                <a:solidFill>
                  <a:srgbClr val="4758AB"/>
                </a:solidFill>
                <a:latin typeface="Courier"/>
              </a:rPr>
              <a:t>summary</a:t>
            </a:r>
            <a:r>
              <a:rPr>
                <a:solidFill>
                  <a:srgbClr val="003B4F"/>
                </a:solidFill>
                <a:latin typeface="Courier"/>
              </a:rPr>
              <a:t>(model_5)</a:t>
            </a:r>
            <a:r>
              <a:rPr>
                <a:solidFill>
                  <a:srgbClr val="5E5E5E"/>
                </a:solidFill>
                <a:latin typeface="Courier"/>
              </a:rPr>
              <a:t>$</a:t>
            </a:r>
            <a:r>
              <a:rPr>
                <a:solidFill>
                  <a:srgbClr val="003B4F"/>
                </a:solidFill>
                <a:latin typeface="Courier"/>
              </a:rPr>
              <a:t>adj.r.squared)</a:t>
            </a:r>
            <a:br/>
            <a:r>
              <a:rPr>
                <a:solidFill>
                  <a:srgbClr val="003B4F"/>
                </a:solidFill>
                <a:latin typeface="Courier"/>
              </a:rPr>
              <a:t>)</a:t>
            </a:r>
            <a:br/>
            <a:r>
              <a:rPr>
                <a:solidFill>
                  <a:srgbClr val="003B4F"/>
                </a:solidFill>
                <a:latin typeface="Courier"/>
              </a:rPr>
              <a:t>model_comparison</a:t>
            </a:r>
            <a:br/>
            <a:br/>
            <a:r>
              <a:rPr>
                <a:solidFill>
                  <a:srgbClr val="4758AB"/>
                </a:solidFill>
                <a:latin typeface="Courier"/>
              </a:rPr>
              <a:t>summary</a:t>
            </a:r>
            <a:r>
              <a:rPr>
                <a:solidFill>
                  <a:srgbClr val="003B4F"/>
                </a:solidFill>
                <a:latin typeface="Courier"/>
              </a:rPr>
              <a:t>(model_5, </a:t>
            </a:r>
            <a:r>
              <a:rPr>
                <a:solidFill>
                  <a:srgbClr val="657422"/>
                </a:solidFill>
                <a:latin typeface="Courier"/>
              </a:rPr>
              <a:t>conf.int =</a:t>
            </a:r>
            <a:r>
              <a:rPr>
                <a:solidFill>
                  <a:srgbClr val="003B4F"/>
                </a:solidFill>
                <a:latin typeface="Courier"/>
              </a:rPr>
              <a:t> </a:t>
            </a:r>
            <a:r>
              <a:rPr>
                <a:solidFill>
                  <a:srgbClr val="8F5902"/>
                </a:solidFill>
                <a:latin typeface="Courier"/>
              </a:rPr>
              <a:t>TRUE</a:t>
            </a:r>
            <a:r>
              <a:rPr>
                <a:solidFill>
                  <a:srgbClr val="003B4F"/>
                </a:solidFill>
                <a:latin typeface="Courier"/>
              </a:rPr>
              <a:t>)</a:t>
            </a:r>
          </a:p>
          <a:p>
            <a:pPr lvl="0" indent="0" marL="0">
              <a:buNone/>
            </a:pPr>
            <a:r>
              <a:rPr/>
              <a:t>✏️ </a:t>
            </a:r>
            <a:r>
              <a:rPr b="1"/>
              <a:t>Your turn:</a:t>
            </a:r>
            <a:r>
              <a:rPr/>
              <a:t> Does </a:t>
            </a:r>
            <a:r>
              <a:rPr>
                <a:latin typeface="Courier"/>
              </a:rPr>
              <a:t>model_5</a:t>
            </a:r>
            <a:r>
              <a:rPr/>
              <a:t> have a lower AIC than </a:t>
            </a:r>
            <a:r>
              <a:rPr>
                <a:latin typeface="Courier"/>
              </a:rPr>
              <a:t>model_4</a:t>
            </a:r>
            <a:r>
              <a:rPr/>
              <a:t>? Given the “penalize complexity” logic from lecture, what does that tell you about dropping </a:t>
            </a:r>
            <a:r>
              <a:rPr>
                <a:latin typeface="Courier"/>
              </a:rPr>
              <a:t>precip</a:t>
            </a:r>
            <a:r>
              <a:rPr/>
              <a:t>? </a:t>
            </a:r>
            <a:r>
              <a:rPr>
                <a:latin typeface="Courier"/>
              </a:rPr>
              <a:t>________________________</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7 · Predictor Importance</a:t>
            </a:r>
          </a:p>
        </p:txBody>
      </p:sp>
      <p:sp>
        <p:nvSpPr>
          <p:cNvPr id="3" name="Content Placeholder 2"/>
          <p:cNvSpPr>
            <a:spLocks noGrp="1"/>
          </p:cNvSpPr>
          <p:nvPr>
            <p:ph idx="1"/>
          </p:nvPr>
        </p:nvSpPr>
        <p:spPr/>
        <p:txBody>
          <a:bodyPr/>
          <a:lstStyle/>
          <a:p>
            <a:pPr lvl="0" indent="0" marL="0">
              <a:buNone/>
            </a:pPr>
            <a:r>
              <a:rPr b="1"/>
              <a:t>▶ Run this</a:t>
            </a:r>
            <a:r>
              <a:rPr/>
              <a:t> — partial R² for every predictor at once, using </a:t>
            </a:r>
            <a:r>
              <a:rPr>
                <a:latin typeface="Courier"/>
              </a:rPr>
              <a:t>sensemakr</a:t>
            </a:r>
            <a:r>
              <a:rPr/>
              <a:t>:</a:t>
            </a:r>
          </a:p>
          <a:p>
            <a:pPr lvl="0" indent="0">
              <a:buNone/>
            </a:pPr>
            <a:r>
              <a:rPr>
                <a:solidFill>
                  <a:srgbClr val="4758AB"/>
                </a:solidFill>
                <a:latin typeface="Courier"/>
              </a:rPr>
              <a:t>library</a:t>
            </a:r>
            <a:r>
              <a:rPr>
                <a:solidFill>
                  <a:srgbClr val="003B4F"/>
                </a:solidFill>
                <a:latin typeface="Courier"/>
              </a:rPr>
              <a:t>(sensemakr)</a:t>
            </a:r>
            <a:br/>
            <a:r>
              <a:rPr>
                <a:solidFill>
                  <a:srgbClr val="003B4F"/>
                </a:solidFill>
                <a:latin typeface="Courier"/>
              </a:rPr>
              <a:t>partial_r2_sensemakr &lt;- </a:t>
            </a:r>
            <a:r>
              <a:rPr>
                <a:solidFill>
                  <a:srgbClr val="4758AB"/>
                </a:solidFill>
                <a:latin typeface="Courier"/>
              </a:rPr>
              <a:t>partial_r2</a:t>
            </a:r>
            <a:r>
              <a:rPr>
                <a:solidFill>
                  <a:srgbClr val="003B4F"/>
                </a:solidFill>
                <a:latin typeface="Courier"/>
              </a:rPr>
              <a:t>(model_5)</a:t>
            </a:r>
            <a:br/>
            <a:r>
              <a:rPr>
                <a:solidFill>
                  <a:srgbClr val="003B4F"/>
                </a:solidFill>
                <a:latin typeface="Courier"/>
              </a:rPr>
              <a:t>partial_r2_sensemakr</a:t>
            </a:r>
          </a:p>
          <a:p>
            <a:pPr lvl="0" indent="0" marL="0">
              <a:buNone/>
            </a:pPr>
            <a:r>
              <a:rPr b="1"/>
              <a:t>▶ Run this</a:t>
            </a:r>
            <a:r>
              <a:rPr/>
              <a:t> — the same idea, computed by hand from a Type III ANOVA table:</a:t>
            </a:r>
          </a:p>
          <a:p>
            <a:pPr lvl="0" indent="0">
              <a:buNone/>
            </a:pPr>
            <a:r>
              <a:rPr>
                <a:solidFill>
                  <a:srgbClr val="003B4F"/>
                </a:solidFill>
                <a:latin typeface="Courier"/>
              </a:rPr>
              <a:t>anova_type3 &lt;- </a:t>
            </a:r>
            <a:r>
              <a:rPr>
                <a:solidFill>
                  <a:srgbClr val="4758AB"/>
                </a:solidFill>
                <a:latin typeface="Courier"/>
              </a:rPr>
              <a:t>Anova</a:t>
            </a:r>
            <a:r>
              <a:rPr>
                <a:solidFill>
                  <a:srgbClr val="003B4F"/>
                </a:solidFill>
                <a:latin typeface="Courier"/>
              </a:rPr>
              <a:t>(model_5, </a:t>
            </a:r>
            <a:r>
              <a:rPr>
                <a:solidFill>
                  <a:srgbClr val="657422"/>
                </a:solidFill>
                <a:latin typeface="Courier"/>
              </a:rPr>
              <a:t>type =</a:t>
            </a:r>
            <a:r>
              <a:rPr>
                <a:solidFill>
                  <a:srgbClr val="003B4F"/>
                </a:solidFill>
                <a:latin typeface="Courier"/>
              </a:rPr>
              <a:t> </a:t>
            </a:r>
            <a:r>
              <a:rPr>
                <a:solidFill>
                  <a:srgbClr val="20794D"/>
                </a:solidFill>
                <a:latin typeface="Courier"/>
              </a:rPr>
              <a:t>"III"</a:t>
            </a:r>
            <a:r>
              <a:rPr>
                <a:solidFill>
                  <a:srgbClr val="003B4F"/>
                </a:solidFill>
                <a:latin typeface="Courier"/>
              </a:rPr>
              <a:t>)</a:t>
            </a:r>
            <a:br/>
            <a:r>
              <a:rPr>
                <a:solidFill>
                  <a:srgbClr val="003B4F"/>
                </a:solidFill>
                <a:latin typeface="Courier"/>
              </a:rPr>
              <a:t>anova_type3</a:t>
            </a:r>
            <a:br/>
            <a:br/>
            <a:r>
              <a:rPr>
                <a:solidFill>
                  <a:srgbClr val="003B4F"/>
                </a:solidFill>
                <a:latin typeface="Courier"/>
              </a:rPr>
              <a:t>f_stats &lt;- anova_type3</a:t>
            </a:r>
            <a:r>
              <a:rPr>
                <a:solidFill>
                  <a:srgbClr val="5E5E5E"/>
                </a:solidFill>
                <a:latin typeface="Courier"/>
              </a:rPr>
              <a:t>$</a:t>
            </a:r>
            <a:r>
              <a:rPr>
                <a:solidFill>
                  <a:srgbClr val="20794D"/>
                </a:solidFill>
                <a:latin typeface="Courier"/>
              </a:rPr>
              <a:t>`</a:t>
            </a:r>
            <a:r>
              <a:rPr>
                <a:solidFill>
                  <a:srgbClr val="657422"/>
                </a:solidFill>
                <a:latin typeface="Courier"/>
              </a:rPr>
              <a:t>F value</a:t>
            </a:r>
            <a:r>
              <a:rPr>
                <a:solidFill>
                  <a:srgbClr val="20794D"/>
                </a:solidFill>
                <a:latin typeface="Courier"/>
              </a:rPr>
              <a:t>`</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(anova_type3</a:t>
            </a:r>
            <a:r>
              <a:rPr>
                <a:solidFill>
                  <a:srgbClr val="5E5E5E"/>
                </a:solidFill>
                <a:latin typeface="Courier"/>
              </a:rPr>
              <a:t>$</a:t>
            </a:r>
            <a:r>
              <a:rPr>
                <a:solidFill>
                  <a:srgbClr val="20794D"/>
                </a:solidFill>
                <a:latin typeface="Courier"/>
              </a:rPr>
              <a:t>`</a:t>
            </a:r>
            <a:r>
              <a:rPr>
                <a:solidFill>
                  <a:srgbClr val="657422"/>
                </a:solidFill>
                <a:latin typeface="Courier"/>
              </a:rPr>
              <a:t>F value</a:t>
            </a:r>
            <a:r>
              <a:rPr>
                <a:solidFill>
                  <a:srgbClr val="20794D"/>
                </a:solidFill>
                <a:latin typeface="Courier"/>
              </a:rPr>
              <a:t>`</a:t>
            </a:r>
            <a:r>
              <a:rPr>
                <a:solidFill>
                  <a:srgbClr val="003B4F"/>
                </a:solidFill>
                <a:latin typeface="Courier"/>
              </a:rPr>
              <a:t>)]</a:t>
            </a:r>
            <a:br/>
            <a:r>
              <a:rPr>
                <a:solidFill>
                  <a:srgbClr val="003B4F"/>
                </a:solidFill>
                <a:latin typeface="Courier"/>
              </a:rPr>
              <a:t>df_num &lt;- anova_type3</a:t>
            </a:r>
            <a:r>
              <a:rPr>
                <a:solidFill>
                  <a:srgbClr val="5E5E5E"/>
                </a:solidFill>
                <a:latin typeface="Courier"/>
              </a:rPr>
              <a:t>$</a:t>
            </a:r>
            <a:r>
              <a:rPr>
                <a:solidFill>
                  <a:srgbClr val="003B4F"/>
                </a:solidFill>
                <a:latin typeface="Courier"/>
              </a:rPr>
              <a:t>Df[</a:t>
            </a:r>
            <a:r>
              <a:rPr>
                <a:solidFill>
                  <a:srgbClr val="5E5E5E"/>
                </a:solidFill>
                <a:latin typeface="Courier"/>
              </a:rPr>
              <a:t>!</a:t>
            </a:r>
            <a:r>
              <a:rPr>
                <a:solidFill>
                  <a:srgbClr val="4758AB"/>
                </a:solidFill>
                <a:latin typeface="Courier"/>
              </a:rPr>
              <a:t>is.na</a:t>
            </a:r>
            <a:r>
              <a:rPr>
                <a:solidFill>
                  <a:srgbClr val="003B4F"/>
                </a:solidFill>
                <a:latin typeface="Courier"/>
              </a:rPr>
              <a:t>(anova_type3</a:t>
            </a:r>
            <a:r>
              <a:rPr>
                <a:solidFill>
                  <a:srgbClr val="5E5E5E"/>
                </a:solidFill>
                <a:latin typeface="Courier"/>
              </a:rPr>
              <a:t>$</a:t>
            </a:r>
            <a:r>
              <a:rPr>
                <a:solidFill>
                  <a:srgbClr val="20794D"/>
                </a:solidFill>
                <a:latin typeface="Courier"/>
              </a:rPr>
              <a:t>`</a:t>
            </a:r>
            <a:r>
              <a:rPr>
                <a:solidFill>
                  <a:srgbClr val="657422"/>
                </a:solidFill>
                <a:latin typeface="Courier"/>
              </a:rPr>
              <a:t>F value</a:t>
            </a:r>
            <a:r>
              <a:rPr>
                <a:solidFill>
                  <a:srgbClr val="20794D"/>
                </a:solidFill>
                <a:latin typeface="Courier"/>
              </a:rPr>
              <a:t>`</a:t>
            </a:r>
            <a:r>
              <a:rPr>
                <a:solidFill>
                  <a:srgbClr val="003B4F"/>
                </a:solidFill>
                <a:latin typeface="Courier"/>
              </a:rPr>
              <a:t>)]</a:t>
            </a:r>
            <a:br/>
            <a:r>
              <a:rPr>
                <a:solidFill>
                  <a:srgbClr val="003B4F"/>
                </a:solidFill>
                <a:latin typeface="Courier"/>
              </a:rPr>
              <a:t>df_den &lt;- anova_type3</a:t>
            </a:r>
            <a:r>
              <a:rPr>
                <a:solidFill>
                  <a:srgbClr val="5E5E5E"/>
                </a:solidFill>
                <a:latin typeface="Courier"/>
              </a:rPr>
              <a:t>$</a:t>
            </a:r>
            <a:r>
              <a:rPr>
                <a:solidFill>
                  <a:srgbClr val="003B4F"/>
                </a:solidFill>
                <a:latin typeface="Courier"/>
              </a:rPr>
              <a:t>Df[</a:t>
            </a:r>
            <a:r>
              <a:rPr>
                <a:solidFill>
                  <a:srgbClr val="4758AB"/>
                </a:solidFill>
                <a:latin typeface="Courier"/>
              </a:rPr>
              <a:t>nrow</a:t>
            </a:r>
            <a:r>
              <a:rPr>
                <a:solidFill>
                  <a:srgbClr val="003B4F"/>
                </a:solidFill>
                <a:latin typeface="Courier"/>
              </a:rPr>
              <a:t>(anova_type3)]  </a:t>
            </a:r>
            <a:r>
              <a:rPr>
                <a:solidFill>
                  <a:srgbClr val="5E5E5E"/>
                </a:solidFill>
                <a:latin typeface="Courier"/>
              </a:rPr>
              <a:t># Residual df</a:t>
            </a:r>
            <a:br/>
            <a:br/>
            <a:r>
              <a:rPr>
                <a:solidFill>
                  <a:srgbClr val="003B4F"/>
                </a:solidFill>
                <a:latin typeface="Courier"/>
              </a:rPr>
              <a:t>partial_r2_from_f &lt;- f_stats </a:t>
            </a:r>
            <a:r>
              <a:rPr>
                <a:solidFill>
                  <a:srgbClr val="5E5E5E"/>
                </a:solidFill>
                <a:latin typeface="Courier"/>
              </a:rPr>
              <a:t>*</a:t>
            </a:r>
            <a:r>
              <a:rPr>
                <a:solidFill>
                  <a:srgbClr val="003B4F"/>
                </a:solidFill>
                <a:latin typeface="Courier"/>
              </a:rPr>
              <a:t> df_num </a:t>
            </a:r>
            <a:r>
              <a:rPr>
                <a:solidFill>
                  <a:srgbClr val="5E5E5E"/>
                </a:solidFill>
                <a:latin typeface="Courier"/>
              </a:rPr>
              <a:t>/</a:t>
            </a:r>
            <a:r>
              <a:rPr>
                <a:solidFill>
                  <a:srgbClr val="003B4F"/>
                </a:solidFill>
                <a:latin typeface="Courier"/>
              </a:rPr>
              <a:t> (f_stats </a:t>
            </a:r>
            <a:r>
              <a:rPr>
                <a:solidFill>
                  <a:srgbClr val="5E5E5E"/>
                </a:solidFill>
                <a:latin typeface="Courier"/>
              </a:rPr>
              <a:t>*</a:t>
            </a:r>
            <a:r>
              <a:rPr>
                <a:solidFill>
                  <a:srgbClr val="003B4F"/>
                </a:solidFill>
                <a:latin typeface="Courier"/>
              </a:rPr>
              <a:t> df_num </a:t>
            </a:r>
            <a:r>
              <a:rPr>
                <a:solidFill>
                  <a:srgbClr val="5E5E5E"/>
                </a:solidFill>
                <a:latin typeface="Courier"/>
              </a:rPr>
              <a:t>+</a:t>
            </a:r>
            <a:r>
              <a:rPr>
                <a:solidFill>
                  <a:srgbClr val="003B4F"/>
                </a:solidFill>
                <a:latin typeface="Courier"/>
              </a:rPr>
              <a:t> df_den)</a:t>
            </a:r>
            <a:br/>
            <a:br/>
            <a:r>
              <a:rPr>
                <a:solidFill>
                  <a:srgbClr val="003B4F"/>
                </a:solidFill>
                <a:latin typeface="Courier"/>
              </a:rPr>
              <a:t>results_table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Variable =</a:t>
            </a:r>
            <a:r>
              <a:rPr>
                <a:solidFill>
                  <a:srgbClr val="003B4F"/>
                </a:solidFill>
                <a:latin typeface="Courier"/>
              </a:rPr>
              <a:t> </a:t>
            </a:r>
            <a:r>
              <a:rPr>
                <a:solidFill>
                  <a:srgbClr val="4758AB"/>
                </a:solidFill>
                <a:latin typeface="Courier"/>
              </a:rPr>
              <a:t>rownames</a:t>
            </a:r>
            <a:r>
              <a:rPr>
                <a:solidFill>
                  <a:srgbClr val="003B4F"/>
                </a:solidFill>
                <a:latin typeface="Courier"/>
              </a:rPr>
              <a:t>(anova_type3)[</a:t>
            </a:r>
            <a:r>
              <a:rPr>
                <a:solidFill>
                  <a:srgbClr val="5E5E5E"/>
                </a:solidFill>
                <a:latin typeface="Courier"/>
              </a:rPr>
              <a:t>!</a:t>
            </a:r>
            <a:r>
              <a:rPr>
                <a:solidFill>
                  <a:srgbClr val="4758AB"/>
                </a:solidFill>
                <a:latin typeface="Courier"/>
              </a:rPr>
              <a:t>is.na</a:t>
            </a:r>
            <a:r>
              <a:rPr>
                <a:solidFill>
                  <a:srgbClr val="003B4F"/>
                </a:solidFill>
                <a:latin typeface="Courier"/>
              </a:rPr>
              <a:t>(anova_type3</a:t>
            </a:r>
            <a:r>
              <a:rPr>
                <a:solidFill>
                  <a:srgbClr val="5E5E5E"/>
                </a:solidFill>
                <a:latin typeface="Courier"/>
              </a:rPr>
              <a:t>$</a:t>
            </a:r>
            <a:r>
              <a:rPr>
                <a:solidFill>
                  <a:srgbClr val="20794D"/>
                </a:solidFill>
                <a:latin typeface="Courier"/>
              </a:rPr>
              <a:t>`</a:t>
            </a:r>
            <a:r>
              <a:rPr>
                <a:solidFill>
                  <a:srgbClr val="657422"/>
                </a:solidFill>
                <a:latin typeface="Courier"/>
              </a:rPr>
              <a:t>F value</a:t>
            </a:r>
            <a:r>
              <a:rPr>
                <a:solidFill>
                  <a:srgbClr val="20794D"/>
                </a:solidFill>
                <a:latin typeface="Courier"/>
              </a:rPr>
              <a:t>`</a:t>
            </a:r>
            <a:r>
              <a:rPr>
                <a:solidFill>
                  <a:srgbClr val="003B4F"/>
                </a:solidFill>
                <a:latin typeface="Courier"/>
              </a:rPr>
              <a:t>)],</a:t>
            </a:r>
            <a:br/>
            <a:r>
              <a:rPr>
                <a:solidFill>
                  <a:srgbClr val="003B4F"/>
                </a:solidFill>
                <a:latin typeface="Courier"/>
              </a:rPr>
              <a:t>  </a:t>
            </a:r>
            <a:r>
              <a:rPr>
                <a:solidFill>
                  <a:srgbClr val="657422"/>
                </a:solidFill>
                <a:latin typeface="Courier"/>
              </a:rPr>
              <a:t>F_statistic =</a:t>
            </a:r>
            <a:r>
              <a:rPr>
                <a:solidFill>
                  <a:srgbClr val="003B4F"/>
                </a:solidFill>
                <a:latin typeface="Courier"/>
              </a:rPr>
              <a:t> f_stats,</a:t>
            </a:r>
            <a:br/>
            <a:r>
              <a:rPr>
                <a:solidFill>
                  <a:srgbClr val="003B4F"/>
                </a:solidFill>
                <a:latin typeface="Courier"/>
              </a:rPr>
              <a:t>  </a:t>
            </a:r>
            <a:r>
              <a:rPr>
                <a:solidFill>
                  <a:srgbClr val="657422"/>
                </a:solidFill>
                <a:latin typeface="Courier"/>
              </a:rPr>
              <a:t>p_value =</a:t>
            </a:r>
            <a:r>
              <a:rPr>
                <a:solidFill>
                  <a:srgbClr val="003B4F"/>
                </a:solidFill>
                <a:latin typeface="Courier"/>
              </a:rPr>
              <a:t> anova_type3</a:t>
            </a:r>
            <a:r>
              <a:rPr>
                <a:solidFill>
                  <a:srgbClr val="5E5E5E"/>
                </a:solidFill>
                <a:latin typeface="Courier"/>
              </a:rPr>
              <a:t>$</a:t>
            </a:r>
            <a:r>
              <a:rPr>
                <a:solidFill>
                  <a:srgbClr val="20794D"/>
                </a:solidFill>
                <a:latin typeface="Courier"/>
              </a:rPr>
              <a:t>`</a:t>
            </a:r>
            <a:r>
              <a:rPr>
                <a:solidFill>
                  <a:srgbClr val="657422"/>
                </a:solidFill>
                <a:latin typeface="Courier"/>
              </a:rPr>
              <a:t>Pr(&gt;F)</a:t>
            </a:r>
            <a:r>
              <a:rPr>
                <a:solidFill>
                  <a:srgbClr val="20794D"/>
                </a:solidFill>
                <a:latin typeface="Courier"/>
              </a:rPr>
              <a:t>`</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(anova_type3</a:t>
            </a:r>
            <a:r>
              <a:rPr>
                <a:solidFill>
                  <a:srgbClr val="5E5E5E"/>
                </a:solidFill>
                <a:latin typeface="Courier"/>
              </a:rPr>
              <a:t>$</a:t>
            </a:r>
            <a:r>
              <a:rPr>
                <a:solidFill>
                  <a:srgbClr val="20794D"/>
                </a:solidFill>
                <a:latin typeface="Courier"/>
              </a:rPr>
              <a:t>`</a:t>
            </a:r>
            <a:r>
              <a:rPr>
                <a:solidFill>
                  <a:srgbClr val="657422"/>
                </a:solidFill>
                <a:latin typeface="Courier"/>
              </a:rPr>
              <a:t>F value</a:t>
            </a:r>
            <a:r>
              <a:rPr>
                <a:solidFill>
                  <a:srgbClr val="20794D"/>
                </a:solidFill>
                <a:latin typeface="Courier"/>
              </a:rPr>
              <a:t>`</a:t>
            </a:r>
            <a:r>
              <a:rPr>
                <a:solidFill>
                  <a:srgbClr val="003B4F"/>
                </a:solidFill>
                <a:latin typeface="Courier"/>
              </a:rPr>
              <a:t>)],</a:t>
            </a:r>
            <a:br/>
            <a:r>
              <a:rPr>
                <a:solidFill>
                  <a:srgbClr val="003B4F"/>
                </a:solidFill>
                <a:latin typeface="Courier"/>
              </a:rPr>
              <a:t>  </a:t>
            </a:r>
            <a:r>
              <a:rPr>
                <a:solidFill>
                  <a:srgbClr val="657422"/>
                </a:solidFill>
                <a:latin typeface="Courier"/>
              </a:rPr>
              <a:t>Partial_R_squared =</a:t>
            </a:r>
            <a:r>
              <a:rPr>
                <a:solidFill>
                  <a:srgbClr val="003B4F"/>
                </a:solidFill>
                <a:latin typeface="Courier"/>
              </a:rPr>
              <a:t> partial_r2_from_f</a:t>
            </a:r>
            <a:br/>
            <a:r>
              <a:rPr>
                <a:solidFill>
                  <a:srgbClr val="003B4F"/>
                </a:solidFill>
                <a:latin typeface="Courier"/>
              </a:rPr>
              <a:t>)</a:t>
            </a:r>
            <a:br/>
            <a:r>
              <a:rPr>
                <a:solidFill>
                  <a:srgbClr val="003B4F"/>
                </a:solidFill>
                <a:latin typeface="Courier"/>
              </a:rPr>
              <a:t>results_table</a:t>
            </a:r>
          </a:p>
          <a:p>
            <a:pPr lvl="0" indent="0" marL="0">
              <a:buNone/>
            </a:pPr>
            <a:r>
              <a:rPr/>
              <a:t>✏️ </a:t>
            </a:r>
            <a:r>
              <a:rPr b="1"/>
              <a:t>Your turn:</a:t>
            </a:r>
            <a:r>
              <a:rPr/>
              <a:t> Do the </a:t>
            </a:r>
            <a:r>
              <a:rPr>
                <a:latin typeface="Courier"/>
              </a:rPr>
              <a:t>sensemakr</a:t>
            </a:r>
            <a:r>
              <a:rPr/>
              <a:t> partial R² values roughly match your by-hand </a:t>
            </a:r>
            <a:r>
              <a:rPr>
                <a:latin typeface="Courier"/>
              </a:rPr>
              <a:t>Partial_R_squared</a:t>
            </a:r>
            <a:r>
              <a:rPr/>
              <a:t> column? </a:t>
            </a:r>
            <a:r>
              <a:rPr>
                <a:latin typeface="Courier"/>
              </a:rPr>
              <a:t>________________________</a:t>
            </a:r>
          </a:p>
          <a:p>
            <a:pPr lvl="0" indent="0" marL="1270000">
              <a:buNone/>
            </a:pPr>
            <a:r>
              <a:rPr sz="2000" b="1"/>
              <a:t>Tip</a:t>
            </a:r>
          </a:p>
          <a:p>
            <a:pPr lvl="0" indent="0" marL="1270000">
              <a:buNone/>
            </a:pPr>
            <a:r>
              <a:rPr sz="2000" b="1"/>
              <a:t>🚀 If you finish early:</a:t>
            </a:r>
            <a:r>
              <a:rPr sz="2000"/>
              <a:t> Which single predictor has the highest partial R² in </a:t>
            </a:r>
            <a:r>
              <a:rPr sz="2000">
                <a:latin typeface="Courier"/>
              </a:rPr>
              <a:t>model_5</a:t>
            </a:r>
            <a:r>
              <a:rPr sz="2000"/>
              <a:t>? Does that match which predictor had the smallest p-value in </a:t>
            </a:r>
            <a:r>
              <a:rPr sz="2000">
                <a:latin typeface="Courier"/>
              </a:rPr>
              <a:t>summary(model_5)</a:t>
            </a:r>
            <a:r>
              <a:rPr sz="2000"/>
              <a:t>?</a:t>
            </a:r>
          </a:p>
          <a:p>
            <a:pPr lvl="0" indent="0">
              <a:buNone/>
            </a:pPr>
            <a:r>
              <a:rPr>
                <a:solidFill>
                  <a:srgbClr val="5E5E5E"/>
                </a:solidFill>
                <a:latin typeface="Courier"/>
              </a:rPr>
              <a:t># Write your code here: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8 · An Alternative: Standardized Variables</a:t>
            </a:r>
          </a:p>
        </p:txBody>
      </p:sp>
      <p:sp>
        <p:nvSpPr>
          <p:cNvPr id="3" name="Content Placeholder 2"/>
          <p:cNvSpPr>
            <a:spLocks noGrp="1"/>
          </p:cNvSpPr>
          <p:nvPr>
            <p:ph idx="1"/>
          </p:nvPr>
        </p:nvSpPr>
        <p:spPr/>
        <p:txBody>
          <a:bodyPr/>
          <a:lstStyle/>
          <a:p>
            <a:pPr lvl="0" indent="0" marL="0">
              <a:buNone/>
            </a:pPr>
            <a:r>
              <a:rPr b="1"/>
              <a:t>▶ Run this</a:t>
            </a:r>
            <a:r>
              <a:rPr/>
              <a:t> — refit with every numeric predictor standardized (mean 0, SD 1), including a temp × precip interaction:</a:t>
            </a:r>
          </a:p>
          <a:p>
            <a:pPr lvl="0" indent="0">
              <a:buNone/>
            </a:pPr>
            <a:r>
              <a:rPr>
                <a:solidFill>
                  <a:srgbClr val="003B4F"/>
                </a:solidFill>
                <a:latin typeface="Courier"/>
              </a:rPr>
              <a:t>forest_standardized &lt;- forest_df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npp_sqrt_scaled =</a:t>
            </a:r>
            <a:r>
              <a:rPr>
                <a:solidFill>
                  <a:srgbClr val="003B4F"/>
                </a:solidFill>
                <a:latin typeface="Courier"/>
              </a:rPr>
              <a:t> </a:t>
            </a:r>
            <a:r>
              <a:rPr>
                <a:solidFill>
                  <a:srgbClr val="4758AB"/>
                </a:solidFill>
                <a:latin typeface="Courier"/>
              </a:rPr>
              <a:t>scale</a:t>
            </a:r>
            <a:r>
              <a:rPr>
                <a:solidFill>
                  <a:srgbClr val="003B4F"/>
                </a:solidFill>
                <a:latin typeface="Courier"/>
              </a:rPr>
              <a:t>(</a:t>
            </a:r>
            <a:r>
              <a:rPr>
                <a:solidFill>
                  <a:srgbClr val="4758AB"/>
                </a:solidFill>
                <a:latin typeface="Courier"/>
              </a:rPr>
              <a:t>sqrt</a:t>
            </a:r>
            <a:r>
              <a:rPr>
                <a:solidFill>
                  <a:srgbClr val="003B4F"/>
                </a:solidFill>
                <a:latin typeface="Courier"/>
              </a:rPr>
              <a:t>(npp))[,</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log_age_scaled =</a:t>
            </a:r>
            <a:r>
              <a:rPr>
                <a:solidFill>
                  <a:srgbClr val="003B4F"/>
                </a:solidFill>
                <a:latin typeface="Courier"/>
              </a:rPr>
              <a:t> </a:t>
            </a:r>
            <a:r>
              <a:rPr>
                <a:solidFill>
                  <a:srgbClr val="4758AB"/>
                </a:solidFill>
                <a:latin typeface="Courier"/>
              </a:rPr>
              <a:t>scale</a:t>
            </a:r>
            <a:r>
              <a:rPr>
                <a:solidFill>
                  <a:srgbClr val="003B4F"/>
                </a:solidFill>
                <a:latin typeface="Courier"/>
              </a:rPr>
              <a:t>(</a:t>
            </a:r>
            <a:r>
              <a:rPr>
                <a:solidFill>
                  <a:srgbClr val="4758AB"/>
                </a:solidFill>
                <a:latin typeface="Courier"/>
              </a:rPr>
              <a:t>log10</a:t>
            </a:r>
            <a:r>
              <a:rPr>
                <a:solidFill>
                  <a:srgbClr val="003B4F"/>
                </a:solidFill>
                <a:latin typeface="Courier"/>
              </a:rPr>
              <a:t>(age))[,</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biomass_scaled =</a:t>
            </a:r>
            <a:r>
              <a:rPr>
                <a:solidFill>
                  <a:srgbClr val="003B4F"/>
                </a:solidFill>
                <a:latin typeface="Courier"/>
              </a:rPr>
              <a:t> </a:t>
            </a:r>
            <a:r>
              <a:rPr>
                <a:solidFill>
                  <a:srgbClr val="4758AB"/>
                </a:solidFill>
                <a:latin typeface="Courier"/>
              </a:rPr>
              <a:t>scale</a:t>
            </a:r>
            <a:r>
              <a:rPr>
                <a:solidFill>
                  <a:srgbClr val="003B4F"/>
                </a:solidFill>
                <a:latin typeface="Courier"/>
              </a:rPr>
              <a:t>(biomass)[,</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temp_scaled =</a:t>
            </a:r>
            <a:r>
              <a:rPr>
                <a:solidFill>
                  <a:srgbClr val="003B4F"/>
                </a:solidFill>
                <a:latin typeface="Courier"/>
              </a:rPr>
              <a:t> </a:t>
            </a:r>
            <a:r>
              <a:rPr>
                <a:solidFill>
                  <a:srgbClr val="4758AB"/>
                </a:solidFill>
                <a:latin typeface="Courier"/>
              </a:rPr>
              <a:t>scale</a:t>
            </a:r>
            <a:r>
              <a:rPr>
                <a:solidFill>
                  <a:srgbClr val="003B4F"/>
                </a:solidFill>
                <a:latin typeface="Courier"/>
              </a:rPr>
              <a:t>(temp)[,</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precip_scaled =</a:t>
            </a:r>
            <a:r>
              <a:rPr>
                <a:solidFill>
                  <a:srgbClr val="003B4F"/>
                </a:solidFill>
                <a:latin typeface="Courier"/>
              </a:rPr>
              <a:t> </a:t>
            </a:r>
            <a:r>
              <a:rPr>
                <a:solidFill>
                  <a:srgbClr val="4758AB"/>
                </a:solidFill>
                <a:latin typeface="Courier"/>
              </a:rPr>
              <a:t>scale</a:t>
            </a:r>
            <a:r>
              <a:rPr>
                <a:solidFill>
                  <a:srgbClr val="003B4F"/>
                </a:solidFill>
                <a:latin typeface="Courier"/>
              </a:rPr>
              <a:t>(precip)[,</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teb_scaled =</a:t>
            </a:r>
            <a:r>
              <a:rPr>
                <a:solidFill>
                  <a:srgbClr val="003B4F"/>
                </a:solidFill>
                <a:latin typeface="Courier"/>
              </a:rPr>
              <a:t> </a:t>
            </a:r>
            <a:r>
              <a:rPr>
                <a:solidFill>
                  <a:srgbClr val="4758AB"/>
                </a:solidFill>
                <a:latin typeface="Courier"/>
              </a:rPr>
              <a:t>scale</a:t>
            </a:r>
            <a:r>
              <a:rPr>
                <a:solidFill>
                  <a:srgbClr val="003B4F"/>
                </a:solidFill>
                <a:latin typeface="Courier"/>
              </a:rPr>
              <a:t>(teb)[,</a:t>
            </a:r>
            <a:r>
              <a:rPr>
                <a:solidFill>
                  <a:srgbClr val="AD0000"/>
                </a:solidFill>
                <a:latin typeface="Courier"/>
              </a:rPr>
              <a:t>1</a:t>
            </a:r>
            <a:r>
              <a:rPr>
                <a:solidFill>
                  <a:srgbClr val="003B4F"/>
                </a:solidFill>
                <a:latin typeface="Courier"/>
              </a:rPr>
              <a:t>]</a:t>
            </a:r>
            <a:br/>
            <a:r>
              <a:rPr>
                <a:solidFill>
                  <a:srgbClr val="003B4F"/>
                </a:solidFill>
                <a:latin typeface="Courier"/>
              </a:rPr>
              <a:t>  )</a:t>
            </a:r>
            <a:br/>
            <a:br/>
            <a:r>
              <a:rPr>
                <a:solidFill>
                  <a:srgbClr val="003B4F"/>
                </a:solidFill>
                <a:latin typeface="Courier"/>
              </a:rPr>
              <a:t>model_std &lt;- </a:t>
            </a:r>
            <a:r>
              <a:rPr>
                <a:solidFill>
                  <a:srgbClr val="4758AB"/>
                </a:solidFill>
                <a:latin typeface="Courier"/>
              </a:rPr>
              <a:t>lm</a:t>
            </a:r>
            <a:r>
              <a:rPr>
                <a:solidFill>
                  <a:srgbClr val="003B4F"/>
                </a:solidFill>
                <a:latin typeface="Courier"/>
              </a:rPr>
              <a:t>(npp_sqrt_scaled </a:t>
            </a:r>
            <a:r>
              <a:rPr>
                <a:solidFill>
                  <a:srgbClr val="5E5E5E"/>
                </a:solidFill>
                <a:latin typeface="Courier"/>
              </a:rPr>
              <a:t>~</a:t>
            </a:r>
            <a:r>
              <a:rPr>
                <a:solidFill>
                  <a:srgbClr val="003B4F"/>
                </a:solidFill>
                <a:latin typeface="Courier"/>
              </a:rPr>
              <a:t> log_age_scaled </a:t>
            </a:r>
            <a:r>
              <a:rPr>
                <a:solidFill>
                  <a:srgbClr val="5E5E5E"/>
                </a:solidFill>
                <a:latin typeface="Courier"/>
              </a:rPr>
              <a:t>+</a:t>
            </a:r>
            <a:r>
              <a:rPr>
                <a:solidFill>
                  <a:srgbClr val="003B4F"/>
                </a:solidFill>
                <a:latin typeface="Courier"/>
              </a:rPr>
              <a:t> biomass_scaled </a:t>
            </a:r>
            <a:r>
              <a:rPr>
                <a:solidFill>
                  <a:srgbClr val="5E5E5E"/>
                </a:solidFill>
                <a:latin typeface="Courier"/>
              </a:rPr>
              <a:t>+</a:t>
            </a:r>
            <a:br/>
            <a:r>
              <a:rPr>
                <a:solidFill>
                  <a:srgbClr val="003B4F"/>
                </a:solidFill>
                <a:latin typeface="Courier"/>
              </a:rPr>
              <a:t>                temp_scaled </a:t>
            </a:r>
            <a:r>
              <a:rPr>
                <a:solidFill>
                  <a:srgbClr val="5E5E5E"/>
                </a:solidFill>
                <a:latin typeface="Courier"/>
              </a:rPr>
              <a:t>*</a:t>
            </a:r>
            <a:r>
              <a:rPr>
                <a:solidFill>
                  <a:srgbClr val="003B4F"/>
                </a:solidFill>
                <a:latin typeface="Courier"/>
              </a:rPr>
              <a:t> precip_scaled </a:t>
            </a:r>
            <a:r>
              <a:rPr>
                <a:solidFill>
                  <a:srgbClr val="5E5E5E"/>
                </a:solidFill>
                <a:latin typeface="Courier"/>
              </a:rPr>
              <a:t>+</a:t>
            </a:r>
            <a:r>
              <a:rPr>
                <a:solidFill>
                  <a:srgbClr val="003B4F"/>
                </a:solidFill>
                <a:latin typeface="Courier"/>
              </a:rPr>
              <a:t> teb_scaled,</a:t>
            </a:r>
            <a:br/>
            <a:r>
              <a:rPr>
                <a:solidFill>
                  <a:srgbClr val="003B4F"/>
                </a:solidFill>
                <a:latin typeface="Courier"/>
              </a:rPr>
              <a:t>                </a:t>
            </a:r>
            <a:r>
              <a:rPr>
                <a:solidFill>
                  <a:srgbClr val="657422"/>
                </a:solidFill>
                <a:latin typeface="Courier"/>
              </a:rPr>
              <a:t>data =</a:t>
            </a:r>
            <a:r>
              <a:rPr>
                <a:solidFill>
                  <a:srgbClr val="003B4F"/>
                </a:solidFill>
                <a:latin typeface="Courier"/>
              </a:rPr>
              <a:t> forest_standardized)</a:t>
            </a:r>
            <a:br/>
            <a:r>
              <a:rPr>
                <a:solidFill>
                  <a:srgbClr val="4758AB"/>
                </a:solidFill>
                <a:latin typeface="Courier"/>
              </a:rPr>
              <a:t>summary</a:t>
            </a:r>
            <a:r>
              <a:rPr>
                <a:solidFill>
                  <a:srgbClr val="003B4F"/>
                </a:solidFill>
                <a:latin typeface="Courier"/>
              </a:rPr>
              <a:t>(model_std)</a:t>
            </a:r>
          </a:p>
          <a:p>
            <a:pPr lvl="0" indent="0" marL="0">
              <a:buNone/>
            </a:pPr>
            <a:r>
              <a:rPr/>
              <a:t>✏️ </a:t>
            </a:r>
            <a:r>
              <a:rPr b="1"/>
              <a:t>Your turn:</a:t>
            </a:r>
            <a:r>
              <a:rPr/>
              <a:t> In </a:t>
            </a:r>
            <a:r>
              <a:rPr>
                <a:latin typeface="Courier"/>
              </a:rPr>
              <a:t>model_std</a:t>
            </a:r>
            <a:r>
              <a:rPr/>
              <a:t>, which predictor has the largest absolute standardized coefficient? Is that the same predictor that had the highest partial R² in Part 7? </a:t>
            </a:r>
            <a:r>
              <a:rPr>
                <a:latin typeface="Courier"/>
              </a:rPr>
              <a:t>________________________</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Key Findings</a:t>
            </a:r>
          </a:p>
        </p:txBody>
      </p:sp>
      <p:sp>
        <p:nvSpPr>
          <p:cNvPr id="3" name="Content Placeholder 2"/>
          <p:cNvSpPr>
            <a:spLocks noGrp="1"/>
          </p:cNvSpPr>
          <p:nvPr>
            <p:ph idx="1"/>
          </p:nvPr>
        </p:nvSpPr>
        <p:spPr/>
        <p:txBody>
          <a:bodyPr/>
          <a:lstStyle/>
          <a:p>
            <a:pPr lvl="0" indent="-342900" marL="342900">
              <a:buAutoNum type="arabicPeriod"/>
            </a:pPr>
            <a:r>
              <a:rPr b="1"/>
              <a:t>Multicollinearity</a:t>
            </a:r>
            <a:r>
              <a:rPr/>
              <a:t> — growing season length and temperature were highly correlated; removed season to address it.</a:t>
            </a:r>
          </a:p>
          <a:p>
            <a:pPr lvl="0" indent="-342900" marL="342900">
              <a:buAutoNum type="arabicPeriod"/>
            </a:pPr>
            <a:r>
              <a:rPr b="1"/>
              <a:t>Variable transformations</a:t>
            </a:r>
            <a:r>
              <a:rPr/>
              <a:t> — log transformation of age improved model fit; cube-root transformation of npp addressed assumption violations.</a:t>
            </a:r>
          </a:p>
          <a:p>
            <a:pPr lvl="0" indent="-342900" marL="342900">
              <a:buAutoNum type="arabicPeriod"/>
            </a:pPr>
            <a:r>
              <a:rPr b="1"/>
              <a:t>Final model results</a:t>
            </a:r>
            <a:r>
              <a:rPr/>
              <a:t> — significant predictors: age (negative), biomass (positive), temp (positive); teb had a negative effect; leaf type differences were significant.</a:t>
            </a:r>
          </a:p>
          <a:p>
            <a:pPr lvl="0" indent="-342900" marL="342900">
              <a:buAutoNum type="arabicPeriod"/>
            </a:pPr>
            <a:r>
              <a:rPr b="1"/>
              <a:t>Biological interpretation</a:t>
            </a:r>
            <a:r>
              <a:rPr/>
              <a:t> — younger stands had higher npp (for a given biomass); higher biomass was associated with higher npp; temperature was positively related to npp; coniferous forests had lower npp than broadleaf forests.</a:t>
            </a:r>
          </a:p>
          <a:p>
            <a:pPr lvl="0" indent="0" marL="1270000">
              <a:buNone/>
            </a:pPr>
            <a:r>
              <a:rPr sz="2000" b="1"/>
              <a:t>Note</a:t>
            </a:r>
          </a:p>
          <a:p>
            <a:pPr lvl="0" indent="0" marL="1270000">
              <a:buNone/>
            </a:pPr>
            <a:r>
              <a:rPr sz="2000" b="1"/>
              <a:t>Reference</a:t>
            </a:r>
          </a:p>
          <a:p>
            <a:pPr lvl="0" indent="0" marL="1270000">
              <a:buNone/>
            </a:pPr>
            <a:r>
              <a:rPr sz="2000"/>
              <a:t>Michaletz, S.T., Cheng, D., Kerkhoff, A.J. &amp; Enquist, B.J. (2014). Convergence of terrestrial plant production across global climate gradients. </a:t>
            </a:r>
            <a:r>
              <a:rPr sz="2000" i="1"/>
              <a:t>Nature</a:t>
            </a:r>
            <a:r>
              <a:rPr sz="2000"/>
              <a:t>, 512, 39–43.</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and checkpoint</a:t>
            </a:r>
          </a:p>
        </p:txBody>
      </p:sp>
      <p:sp>
        <p:nvSpPr>
          <p:cNvPr id="3" name="Content Placeholder 2"/>
          <p:cNvSpPr>
            <a:spLocks noGrp="1"/>
          </p:cNvSpPr>
          <p:nvPr>
            <p:ph idx="1"/>
          </p:nvPr>
        </p:nvSpPr>
        <p:spPr/>
        <p:txBody>
          <a:bodyPr/>
          <a:lstStyle/>
          <a:p>
            <a:pPr lvl="0" indent="0" marL="0">
              <a:buNone/>
            </a:pPr>
            <a:r>
              <a:rPr/>
              <a:t>At this point you can:</a:t>
            </a:r>
          </a:p>
          <a:p>
            <a:pPr lvl="0"/>
            <a:r>
              <a:rPr/>
              <a:t>☐ Detect multicollinearity with a correlation matrix and VIFs, and address it by dropping a redundant predictor</a:t>
            </a:r>
          </a:p>
          <a:p>
            <a:pPr lvl="0"/>
            <a:r>
              <a:rPr/>
              <a:t>☐ Use Added Variable plots to check whether a predictor’s relationship with Y is linear</a:t>
            </a:r>
          </a:p>
          <a:p>
            <a:pPr lvl="0"/>
            <a:r>
              <a:rPr/>
              <a:t>☐ Apply and evaluate predictor and response transformations</a:t>
            </a:r>
          </a:p>
          <a:p>
            <a:pPr lvl="0"/>
            <a:r>
              <a:rPr/>
              <a:t>☐ Read the standard four-panel regression diagnostic plots</a:t>
            </a:r>
          </a:p>
          <a:p>
            <a:pPr lvl="0"/>
            <a:r>
              <a:rPr/>
              <a:t>☐ Compare nested models with AIC and adjusted R²</a:t>
            </a:r>
          </a:p>
          <a:p>
            <a:pPr lvl="0"/>
            <a:r>
              <a:rPr/>
              <a:t>☐ Quantify predictor importance with partial R² and standardized coefficients</a:t>
            </a:r>
          </a:p>
          <a:p>
            <a:pPr lvl="0" indent="0" marL="1270000">
              <a:buNone/>
            </a:pPr>
            <a:r>
              <a:rPr sz="2000" b="1"/>
              <a:t>Note</a:t>
            </a:r>
          </a:p>
          <a:p>
            <a:pPr lvl="0" indent="0" marL="1270000">
              <a:buNone/>
            </a:pPr>
            <a:r>
              <a:rPr sz="2000" b="1"/>
              <a:t>📤 What to turn in before next class</a:t>
            </a:r>
          </a:p>
          <a:p>
            <a:pPr lvl="0" indent="0" marL="1270000">
              <a:buNone/>
            </a:pPr>
            <a:r>
              <a:rPr sz="2000"/>
              <a:t>Upload both of these to the course management system:</a:t>
            </a:r>
          </a:p>
          <a:p>
            <a:pPr lvl="0" indent="-342900" marL="342900">
              <a:buAutoNum type="arabicPeriod"/>
            </a:pPr>
            <a:r>
              <a:rPr sz="2000"/>
              <a:t>Your code — the </a:t>
            </a:r>
            <a:r>
              <a:rPr sz="2000">
                <a:latin typeface="Courier"/>
              </a:rPr>
              <a:t>scripts/</a:t>
            </a:r>
            <a:r>
              <a:rPr sz="2000"/>
              <a:t> folder (or just </a:t>
            </a:r>
            <a:r>
              <a:rPr sz="2000">
                <a:latin typeface="Courier"/>
              </a:rPr>
              <a:t>11_multiple_regression.R</a:t>
            </a:r>
            <a:r>
              <a:rPr sz="2000"/>
              <a:t>)</a:t>
            </a:r>
          </a:p>
          <a:p>
            <a:pPr lvl="0" indent="-342900" marL="342900">
              <a:buAutoNum type="arabicPeriod"/>
            </a:pPr>
            <a:r>
              <a:rPr sz="2000"/>
              <a:t>This worksheet, with your written answers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Getting unstuck</a:t>
            </a:r>
          </a:p>
        </p:txBody>
      </p:sp>
      <p:sp>
        <p:nvSpPr>
          <p:cNvPr id="3" name="Content Placeholder 2"/>
          <p:cNvSpPr>
            <a:spLocks noGrp="1"/>
          </p:cNvSpPr>
          <p:nvPr>
            <p:ph idx="1"/>
          </p:nvPr>
        </p:nvSpPr>
        <p:spPr/>
        <p:txBody>
          <a:bodyPr/>
          <a:lstStyle/>
          <a:p>
            <a:pPr lvl="0" indent="0" marL="0">
              <a:buNone/>
            </a:pPr>
            <a:r>
              <a:rPr/>
              <a:t>When code breaks — and it will, that is normal:</a:t>
            </a:r>
          </a:p>
          <a:p>
            <a:pPr lvl="0" indent="-342900" marL="342900">
              <a:buAutoNum type="arabicPeriod"/>
            </a:pPr>
            <a:r>
              <a:rPr b="1"/>
              <a:t>Read the error message out loud.</a:t>
            </a:r>
            <a:r>
              <a:rPr/>
              <a:t> R usually names the line and the problem.</a:t>
            </a:r>
          </a:p>
          <a:p>
            <a:pPr lvl="0" indent="-342900" marL="342900">
              <a:buAutoNum type="arabicPeriod"/>
            </a:pPr>
            <a:r>
              <a:rPr b="1"/>
              <a:t>Check the usual suspects:</a:t>
            </a:r>
            <a:r>
              <a:rPr/>
              <a:t> did you run </a:t>
            </a:r>
            <a:r>
              <a:rPr>
                <a:latin typeface="Courier"/>
              </a:rPr>
              <a:t>library(tidyverse)</a:t>
            </a:r>
            <a:r>
              <a:rPr/>
              <a:t>, </a:t>
            </a:r>
            <a:r>
              <a:rPr>
                <a:latin typeface="Courier"/>
              </a:rPr>
              <a:t>library(car)</a:t>
            </a:r>
            <a:r>
              <a:rPr/>
              <a:t>, </a:t>
            </a:r>
            <a:r>
              <a:rPr>
                <a:latin typeface="Courier"/>
              </a:rPr>
              <a:t>library(corrplot)</a:t>
            </a:r>
            <a:r>
              <a:rPr/>
              <a:t>, </a:t>
            </a:r>
            <a:r>
              <a:rPr>
                <a:latin typeface="Courier"/>
              </a:rPr>
              <a:t>library(GGally)</a:t>
            </a:r>
            <a:r>
              <a:rPr/>
              <a:t>, and </a:t>
            </a:r>
            <a:r>
              <a:rPr>
                <a:latin typeface="Courier"/>
              </a:rPr>
              <a:t>library(sensemakr)</a:t>
            </a:r>
            <a:r>
              <a:rPr/>
              <a:t>? Spelling? A missing </a:t>
            </a:r>
            <a:r>
              <a:rPr>
                <a:latin typeface="Courier"/>
              </a:rPr>
              <a:t>)</a:t>
            </a:r>
            <a:r>
              <a:rPr/>
              <a:t> or </a:t>
            </a:r>
            <a:r>
              <a:rPr>
                <a:latin typeface="Courier"/>
              </a:rPr>
              <a:t>%&gt;%</a:t>
            </a:r>
            <a:r>
              <a:rPr/>
              <a:t> at the </a:t>
            </a:r>
            <a:r>
              <a:rPr i="1"/>
              <a:t>start</a:t>
            </a:r>
            <a:r>
              <a:rPr/>
              <a:t> of a line?</a:t>
            </a:r>
          </a:p>
          <a:p>
            <a:pPr lvl="0" indent="-342900" marL="342900">
              <a:buAutoNum type="arabicPeriod"/>
            </a:pPr>
            <a:r>
              <a:rPr>
                <a:latin typeface="Courier"/>
              </a:rPr>
              <a:t>?function_name</a:t>
            </a:r>
            <a:r>
              <a:rPr/>
              <a:t> opens the built-in help page.</a:t>
            </a:r>
          </a:p>
          <a:p>
            <a:pPr lvl="0" indent="-342900" marL="342900">
              <a:buAutoNum type="arabicPeriod"/>
            </a:pPr>
            <a:r>
              <a:rPr b="1"/>
              <a:t>Bring the exact error</a:t>
            </a:r>
            <a:r>
              <a:rPr/>
              <a:t> (copy-paste it) to class or office hours.</a:t>
            </a:r>
          </a:p>
          <a:p>
            <a:pPr lvl="0" indent="0" marL="1270000">
              <a:buNone/>
            </a:pPr>
            <a:r>
              <a:rPr sz="2000"/>
              <a:t>💡 </a:t>
            </a:r>
            <a:r>
              <a:rPr sz="2000" b="1"/>
              <a:t>Key idea:</a:t>
            </a:r>
            <a:r>
              <a:rPr sz="2000"/>
              <a:t> Every working scientist googles error messages daily. Getting stuck is not failing — it is the job.</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Activity: Multiple Regression</dc:title>
  <dc:creator>Bill Perry</dc:creator>
  <cp:keywords/>
  <dc:description>Hands-on activity: multicollinearity, variable transformations, model diagnostics, model comparison, and predictor importance on the Michaletz et al. (2014) global forest NPP dataset.</dc:description>
  <dcterms:created xsi:type="dcterms:W3CDTF">2026-08-21T18:41:06Z</dcterms:created>
  <dcterms:modified xsi:type="dcterms:W3CDTF">2026-08-21T18:41:06Z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order">
    <vt:lpwstr>11</vt:lpwstr>
  </property>
  <property fmtid="{D5CDD505-2E9C-101B-9397-08002B2CF9AE}" pid="13" name="resources">
    <vt:lpwstr/>
  </property>
  <property fmtid="{D5CDD505-2E9C-101B-9397-08002B2CF9AE}" pid="14" name="subtitle">
    <vt:lpwstr>Several predictors</vt:lpwstr>
  </property>
  <property fmtid="{D5CDD505-2E9C-101B-9397-08002B2CF9AE}" pid="15" name="toc-title">
    <vt:lpwstr>Table of contents</vt:lpwstr>
  </property>
  <property fmtid="{D5CDD505-2E9C-101B-9397-08002B2CF9AE}" pid="16" name="week">
    <vt:lpwstr>6</vt:lpwstr>
  </property>
</Properties>
</file>