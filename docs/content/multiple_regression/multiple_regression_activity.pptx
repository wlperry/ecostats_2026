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Net Primary Production in Forests: A Modern Tidyverse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Based on Michaletz et al. (2014)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analysis examines the relationships between Net Primary Production (npp) and various climate and forest characteristics across global forest sites. We’ll explore multicollinearity, model selection, and variable transformations.</a:t>
            </a:r>
          </a:p>
          <a:p>
            <a:pPr lvl="0" indent="0" marL="0">
              <a:buNone/>
            </a:pPr>
            <a:r>
              <a:rPr b="1"/>
              <a:t>Key Learning Objectives:</a:t>
            </a:r>
          </a:p>
          <a:p>
            <a:pPr lvl="0"/>
            <a:r>
              <a:rPr/>
              <a:t>Understand multicollinearity in multiple regression</a:t>
            </a:r>
          </a:p>
          <a:p>
            <a:pPr lvl="0"/>
            <a:r>
              <a:rPr/>
              <a:t>Learn model diagnostics and assumption checking</a:t>
            </a:r>
          </a:p>
          <a:p>
            <a:pPr lvl="0"/>
            <a:r>
              <a:rPr/>
              <a:t>Practice variable selection techniques</a:t>
            </a:r>
          </a:p>
          <a:p>
            <a:pPr lvl="0"/>
            <a:r>
              <a:rPr/>
              <a:t>Apply data transformations appropriately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Required Packages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 (VIF, etc.)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     </a:t>
            </a:r>
            <a:r>
              <a:rPr>
                <a:solidFill>
                  <a:srgbClr val="5E5E5E"/>
                </a:solidFill>
                <a:latin typeface="Courier"/>
              </a:rPr>
              <a:t># For correlation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(GGally)       </a:t>
            </a:r>
            <a:r>
              <a:rPr>
                <a:solidFill>
                  <a:srgbClr val="5E5E5E"/>
                </a:solidFill>
                <a:latin typeface="Courier"/>
              </a:rPr>
              <a:t># For pairs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  </a:t>
            </a:r>
            <a:r>
              <a:rPr>
                <a:solidFill>
                  <a:srgbClr val="5E5E5E"/>
                </a:solidFill>
                <a:latin typeface="Courier"/>
              </a:rPr>
              <a:t># For model performance metrics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(see)          </a:t>
            </a:r>
            <a:r>
              <a:rPr>
                <a:solidFill>
                  <a:srgbClr val="5E5E5E"/>
                </a:solidFill>
                <a:latin typeface="Courier"/>
              </a:rPr>
              <a:t># For better diagnostic plots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and Explore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forest npp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"data/michaletz_etal_2014_clean.csv"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1220 Columns: 8
── Column specification ────────────────────────────────────────────────────────
Delimiter: ","
chr (1): leaf
dbl (7): npp, age, biomass, season, temp, precip, teb
ℹ Use `spec()` to retrieve the full column specification for this data.
ℹ Specify the column types or set `show_col_types = FALSE` to quiet this message.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top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(forest_df)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  npp   age biomass season  temp precip   teb leaf     
  &lt;dbl&gt; &lt;dbl&gt;   &lt;dbl&gt;  &lt;dbl&gt; &lt;dbl&gt;  &lt;dbl&gt; &lt;dbl&gt; &lt;chr&gt;    
1  2084  104.  18198.     11 25.3   1888   0.55 broadleaf
2  2234  333.  54523.     12 26.9   2348.  0.6  broadleaf
3  2714  213.  41358.     12 26.9   2348.  0.6  broadleaf
4  2828  114.  31557.     12 26.7   2784.  1.25 broadleaf
5  2882  113.  21417      12 26.7   2784.  1.25 broadleaf
6   774   79   11188       3 -3.53   408.  1.8  broadleaf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Data Preparation</a:t>
            </a:r>
          </a:p>
          <a:p>
            <a:pPr lvl="0" indent="0" marL="0">
              <a:buNone/>
            </a:pPr>
            <a:r>
              <a:rPr/>
              <a:t>Following the original analysis, we’ll focus on the key variables from a cleaned dataframe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Initial Exploration: Variable Relationships and Multicollinearity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Matrix and Visualization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correlation matrix for numeric variables only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num_vars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select_if</a:t>
            </a:r>
            <a:r>
              <a:rPr>
                <a:solidFill>
                  <a:srgbClr val="003B4F"/>
                </a:solidFill>
                <a:latin typeface="Courier"/>
              </a:rPr>
              <a:t>(is.numeric)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(num_vars,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npp          age    biomass     season       temp       precip
npp      1.0000000 -0.153215979  0.4591083  0.5614272  0.5520590  0.531186333
age     -0.1532160  1.000000000  0.5923809 -0.2715014 -0.2307658  0.003642104
biomass  0.4591083  0.592380901  1.0000000  0.1317097  0.1551923  0.353901541
season   0.5614272 -0.271501387  0.1317097  1.0000000  0.9226905  0.567630275
temp     0.5520590 -0.230765849  0.1551923  0.9226905  1.0000000  0.576659967
precip   0.5311863  0.003642104  0.3539015  0.5676303  0.5766600  1.000000000
teb     -0.3167187 -0.011779155 -0.2748724 -0.2491779 -0.2495479 -0.291376661
                teb
npp     -0.31671865
age     -0.01177916
biomass -0.27487245
season  -0.24917787
temp    -0.24954794
precip  -0.29137666
teb      1.00000000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visual correlation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visual_cor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Pairs Plot for Visual Inspection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pairs plot to visualize relationships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replaces the original pairs() function with ggplot2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leaf)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Exclude categorical variable for pairs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"points"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pai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Initial Multiple Regression Model</a:t>
            </a:r>
          </a:p>
          <a:p>
            <a:pPr lvl="0" indent="0" marL="0">
              <a:buNone/>
            </a:pPr>
            <a:r>
              <a:rPr/>
              <a:t>Let’s start with a full model including all predictors: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initial model with all predictors (Model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model_init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season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season + temp + precip + teb + 
    leaf, data = forest_df)
Residuals:
     Min       1Q   Median       3Q      Max 
-1331.10  -206.27   -34.09   166.94  2760.41 
Coefficients:
              Estimate Std. Error t value Pr(&gt;|t|)    
(Intercept)  583.92959   53.81169  10.851  &lt; 2e-16 ***
age           -4.78822    0.28518 -16.790  &lt; 2e-16 ***
biomass        0.03154    0.00122  25.848  &lt; 2e-16 ***
season        41.18220    9.49073   4.339 1.55e-05 ***
temp           4.61281    4.37372   1.055 0.291788    
precip         0.09674    0.02852   3.392 0.000716 ***
teb           -2.12880    1.08408  -1.964 0.049794 *  
leafneedle  -267.00569   22.43078 -11.904  &lt; 2e-16 ***
---
Signif. codes:  0 '***' 0.001 '**' 0.01 '*' 0.05 '.' 0.1 ' ' 1
Residual standard error: 351.7 on 1212 degrees of freedom
Multiple R-squared:  0.6415,    Adjusted R-squared:  0.6394 
F-statistic: 309.8 on 7 and 1212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for Multicollinearity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Variance Inflation Factors (VIF)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season     temp   precip      teb     leaf 
1.993348 2.061766 7.079004 6.972147 1.831127 1.167007 1.236588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data frame for better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(vif_values),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(vif_values)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(VIF))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VIF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(vif_df,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VIF),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VIF))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Inflation Factors"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line: VIF = 10 (serious concern), Orange line: VIF = 5 (moderate concern)"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"VIF"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 Multicollinearity by Removing Growing Season</a:t>
            </a:r>
          </a:p>
          <a:p>
            <a:pPr lvl="0" indent="0" marL="0">
              <a:buNone/>
            </a:pPr>
            <a:r>
              <a:rPr/>
              <a:t>Based on the original analysis, season and Temperature are highly correlated. Let’s remove season: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2: Remove season due to multicollinearity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model_2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temp + precip + teb + leaf, 
    data = forest_df)
Residuals:
     Min       1Q   Median       3Q      Max 
-1309.94  -209.40   -42.65   167.71  2898.47 
Coefficients:
              Estimate Std. Error t value Pr(&gt;|t|)    
(Intercept)  7.511e+02  3.785e+01  19.845  &lt; 2e-16 ***
age         -5.004e+00  2.829e-01 -17.690  &lt; 2e-16 ***
biomass      3.180e-02  1.228e-03  25.905  &lt; 2e-16 ***
temp         2.112e+01  2.173e+00   9.718  &lt; 2e-16 ***
precip       1.120e-01  2.851e-02   3.929 9.02e-05 ***
teb         -2.255e+00  1.092e+00  -2.066    0.039 *  
leafneedle  -2.634e+02  2.258e+01 -11.666  &lt; 2e-16 ***
---
Signif. codes:  0 '***' 0.001 '**' 0.01 '*' 0.05 '.' 0.1 ' ' 1
Residual standard error: 354.3 on 1213 degrees of freedom
Multiple R-squared:  0.6359,    Adjusted R-squared:  0.6341 
F-statistic: 353.1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VIF again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  temp   precip      teb     leaf 
1.932806 2.056724 1.696787 1.803266 1.166162 1.234906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Exploring Variable Transformations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the Shape of Relationships with Partial Regression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partial regression plots (Added Variable Plots)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helps us see the relationship between each predictor and response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after accounting for other variables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(model_2,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partial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Apply Log Transformation to age</a:t>
            </a:r>
          </a:p>
          <a:p>
            <a:pPr lvl="0" indent="0" marL="0">
              <a:buNone/>
            </a:pPr>
            <a:r>
              <a:rPr/>
              <a:t>The original analysis found that age showed a curvy relationship. Let’s try log transformation: REally what you should do is log transform of the response variable first..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3: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model_3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log_age + biomass + temp + precip + teb + 
    leaf, data = forest_df)
Residuals:
     Min       1Q   Median       3Q      Max 
-1282.97  -203.31   -23.13   163.75  2810.76 
Coefficients:
              Estimate Std. Error t value Pr(&gt;|t|)    
(Intercept)  2.237e+03  8.961e+01  24.962  &lt; 2e-16 ***
log_age     -1.012e+03  5.064e+01 -19.973  &lt; 2e-16 ***
biomass      3.313e-02  1.194e-03  27.755  &lt; 2e-16 ***
temp         1.723e+01  2.159e+00   7.982 3.33e-15 ***
precip       7.194e-02  2.781e-02   2.587  0.00981 ** 
teb         -2.315e+00  1.061e+00  -2.183  0.02925 *  
leafneedle  -2.852e+02  2.177e+01 -13.105  &lt; 2e-16 ***
---
Signif. codes:  0 '***' 0.001 '**' 0.01 '*' 0.05 '.' 0.1 ' ' 1
Residual standard error: 344.7 on 1213 degrees of freedom
Multiple R-squared:  0.6553,    Adjusted R-squared:  0.6536 
F-statistic: 384.4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partial regression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 (Log age)"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Model Diagnostics and Assumption Checking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Residuals - its the upper left above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residuals_data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Standardized_Residuals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rstandard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Residuals vs Fitted plot using ggplot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(residuals_data,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vs 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multiple_regression_activity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Try Response Variable Transformation</a:t>
            </a:r>
          </a:p>
          <a:p>
            <a:pPr lvl="0" indent="0" marL="0">
              <a:buNone/>
            </a:pPr>
            <a:r>
              <a:rPr/>
              <a:t>Following the original analysis, let’s try a cube root transformation of npp: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4: Cube root transformation of npp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npp_cuberoot =</a:t>
            </a:r>
            <a:r>
              <a:rPr>
                <a:solidFill>
                  <a:srgbClr val="003B4F"/>
                </a:solidFill>
                <a:latin typeface="Courier"/>
              </a:rPr>
              <a:t> npp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model_4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precip + 
    teb + leaf, data = forest_df)
Residuals:
    Min      1Q  Median      3Q     Max 
-4.0936 -0.5916 -0.0030  0.6463  5.0795 
Coefficients:
              Estimate Std. Error t value Pr(&gt;|t|)    
(Intercept)  1.391e+01  2.601e-01  53.489  &lt; 2e-16 ***
log_age     -3.151e+00  1.470e-01 -21.436  &lt; 2e-16 ***
biomass      1.032e-04  3.464e-06  29.791  &lt; 2e-16 ***
temp         4.507e-02  6.265e-03   7.194 1.10e-12 ***
precip       6.361e-05  8.072e-05   0.788    0.431    
teb         -1.273e-02  3.078e-03  -4.135 3.79e-05 ***
leafneedle  -1.029e+00  6.317e-02 -16.283  &lt; 2e-16 ***
---
Signif. codes:  0 '***' 0.001 '**' 0.01 '*' 0.05 '.' 0.1 ' ' 1
Residual standard error: 1 on 1213 degrees of freedom
Multiple R-squared:  0.6793,    Adjusted R-squared:  0.6777 
F-statistic: 428.2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(model_4,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 (Cube Root npp)"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Model Simplification and Comparison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Remove Non-significant Variables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5: Remove non-significant Precipitation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model_5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models using AIC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"Model 4 (Full)"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"Model 5 (No precip)"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(model_4),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(model_5)),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Model      AIC R_squared Adj_R_squared
1      Model 4 (Full) 3472.092 0.6792946     0.6777082
2 Model 5 (No precip) 3470.717 0.6791304     0.6778089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Model Performance and Interpretation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tidy summary of final model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conf.int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using the sensemaker package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(sensemakr)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Calculate partial R-squared for all variables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 &lt;- </a:t>
            </a:r>
            <a:r>
              <a:rPr>
                <a:solidFill>
                  <a:srgbClr val="4758AB"/>
                </a:solidFill>
                <a:latin typeface="Courier"/>
              </a:rPr>
              <a:t>partial_r2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 log_age     biomass        temp         teb  leafneedle 
 0.71450239  0.27686109  0.44919401  0.05421045  0.01453129  0.19064332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partial R-squared for each variable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Using the car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"Using car package Anova() with Type III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"Using car package Anova() with Type III sums of squares:"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anova_type2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(anova_type2)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npp_cuberoot
             Sum Sq   Df  F value    Pr(&gt;F)    
(Intercept) 3039.52    1 3038.225 &lt; 2.2e-16 ***
log_age      464.99    1  464.792 &lt; 2.2e-16 ***
biomass      990.47    1  990.043 &lt; 2.2e-16 ***
temp          69.61    1   69.584 &lt; 2.2e-16 ***
teb           17.91    1   17.901 2.502e-05 ***
leaf         286.08    1  285.957 &lt; 2.2e-16 ***
Residuals   1214.52 1214 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Convert F-statistics to partial R-squared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Partial R² = F * df_num / (F * df_num + df_den)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f_stats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df_num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df_den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(anova_type2)]  </a:t>
            </a:r>
            <a:r>
              <a:rPr>
                <a:solidFill>
                  <a:srgbClr val="5E5E5E"/>
                </a:solidFill>
                <a:latin typeface="Courier"/>
              </a:rPr>
              <a:t># Residual df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partial_r2_from_f &lt;- 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df_den)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results_table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(anova_type2)[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f_stats,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Partial_R_squared =</a:t>
            </a:r>
            <a:r>
              <a:rPr>
                <a:solidFill>
                  <a:srgbClr val="003B4F"/>
                </a:solidFill>
                <a:latin typeface="Courier"/>
              </a:rPr>
              <a:t> partial_r2_from_f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"Complete results with partial R-squared:"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"Complete results with partial R-squared:"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(results_table)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Variable F_statistic       p_value Partial_R_squared
1 (Intercept)  3038.22472  0.000000e+00        0.71450239
2     log_age   464.79225  1.532052e-87        0.27686109
3     biomass   990.04285 2.085787e-159        0.44919401
4        temp    69.58365  1.967636e-16        0.05421045
5         teb    17.90111  2.501886e-05        0.01453129
6        leaf   285.95672  9.100842e-58        0.19064332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 Alternative Approach: Standardized Variables</a:t>
            </a:r>
          </a:p>
          <a:p>
            <a:pPr lvl="0" indent="0" marL="0">
              <a:buNone/>
            </a:pPr>
            <a:r>
              <a:rPr/>
              <a:t>Following the original analysis, let’s also try the standardized approach: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standardized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forest_standardized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npp_sqrt_scaled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(npp))[,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log_age_scaled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biomass_scaled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(biomass)[,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(temp)[,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precip_scaled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(precip)[,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teb_scaled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(teb)[,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Standardized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model_std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(npp_sqrt_scaled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temp_scaled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precip_scaled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teb_scaled,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forest_standardized)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(model_std)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npp_sqrt_scaled ~ log_age_scaled + biomass_scaled + 
    temp_scaled * precip_scaled + teb_scaled, data = forest_standardized)
Residuals:
     Min       1Q   Median       3Q      Max 
-3.14438 -0.38836 -0.03068  0.39178  3.01216 
Coefficients:
                           Estimate Std. Error t value Pr(&gt;|t|)    
(Intercept)               -0.064952   0.020075  -3.235 0.001247 ** 
log_age_scaled            -0.543699   0.024500 -22.192  &lt; 2e-16 ***
biomass_scaled             0.691415   0.025313  27.315  &lt; 2e-16 ***
temp_scaled                0.215693   0.023304   9.256  &lt; 2e-16 ***
precip_scaled             -0.008188   0.028714  -0.285 0.775563    
teb_scaled                -0.071775   0.018879  -3.802 0.000151 ***
temp_scaled:precip_scaled  0.112727   0.017068   6.605 5.94e-11 ***
---
Signif. codes:  0 '***' 0.001 '**' 0.01 '*' 0.05 '.' 0.1 ' ' 1
Residual standard error: 0.6113 on 1213 degrees of freedom
Multiple R-squared:  0.6281,    Adjusted R-squared:  0.6263 
F-statistic: 341.5 on 6 and 1213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 Key Findings and Conclusions</a:t>
            </a:r>
          </a:p>
          <a:p>
            <a:pPr lvl="0" indent="-342900" marL="342900">
              <a:buAutoNum type="arabicPeriod"/>
            </a:pPr>
            <a:r>
              <a:rPr/>
              <a:t>MULTICOLLINEARITY:</a:t>
            </a:r>
          </a:p>
          <a:p>
            <a:pPr lvl="1"/>
            <a:r>
              <a:rPr/>
              <a:t>Growing season length and temperature were highly correlated</a:t>
            </a:r>
          </a:p>
          <a:p>
            <a:pPr lvl="1"/>
            <a:r>
              <a:rPr/>
              <a:t>Removed growing season to address multicollinearity</a:t>
            </a:r>
          </a:p>
          <a:p>
            <a:pPr lvl="0" indent="-342900" marL="342900">
              <a:buAutoNum type="arabicPeriod"/>
            </a:pPr>
            <a:r>
              <a:rPr/>
              <a:t>VARIABLE TRANSFORMATIONS:</a:t>
            </a:r>
          </a:p>
          <a:p>
            <a:pPr lvl="1"/>
            <a:r>
              <a:rPr/>
              <a:t>Log transformation of age improved model fit</a:t>
            </a:r>
          </a:p>
          <a:p>
            <a:pPr lvl="1"/>
            <a:r>
              <a:rPr/>
              <a:t>Cube root transformation of npp addressed assumption violations</a:t>
            </a:r>
          </a:p>
          <a:p>
            <a:pPr lvl="0" indent="-342900" marL="342900">
              <a:buAutoNum type="arabicPeriod"/>
            </a:pPr>
            <a:r>
              <a:rPr/>
              <a:t>FINAL MODEL RESULTS:</a:t>
            </a:r>
          </a:p>
          <a:p>
            <a:pPr lvl="1"/>
            <a:r>
              <a:rPr/>
              <a:t>Significant predictors: age (negative), biomass (positive), temp (positive)</a:t>
            </a:r>
          </a:p>
          <a:p>
            <a:pPr lvl="1"/>
            <a:r>
              <a:rPr/>
              <a:t>teb had negative effect, Leaf type differences were significant</a:t>
            </a:r>
          </a:p>
          <a:p>
            <a:pPr lvl="0" indent="-342900" marL="342900">
              <a:buAutoNum type="arabicPeriod"/>
            </a:pPr>
            <a:r>
              <a:rPr/>
              <a:t>BIOLOGICAL INTERPRETATION:</a:t>
            </a:r>
          </a:p>
          <a:p>
            <a:pPr lvl="1"/>
            <a:r>
              <a:rPr/>
              <a:t>Younger stands had higher npp (for given biomass)</a:t>
            </a:r>
          </a:p>
          <a:p>
            <a:pPr lvl="1"/>
            <a:r>
              <a:rPr/>
              <a:t>Higher biomass associated with higher npp</a:t>
            </a:r>
          </a:p>
          <a:p>
            <a:pPr lvl="1"/>
            <a:r>
              <a:rPr/>
              <a:t>temp positively related to npp</a:t>
            </a:r>
          </a:p>
          <a:p>
            <a:pPr lvl="1"/>
            <a:r>
              <a:rPr/>
              <a:t>Coniferous forests had lower npp than broadleaf forests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 and Additional Notes</a:t>
            </a:r>
          </a:p>
          <a:p>
            <a:pPr lvl="0" indent="0" marL="0">
              <a:buNone/>
            </a:pPr>
            <a:r>
              <a:rPr/>
              <a:t>This analysis is based on:</a:t>
            </a:r>
          </a:p>
          <a:p>
            <a:pPr lvl="0"/>
            <a:r>
              <a:rPr b="1"/>
              <a:t>Michaletz, S.T., Cheng, D., Kerkhoff, A.J. &amp; Enquist, B.J.</a:t>
            </a:r>
            <a:r>
              <a:rPr/>
              <a:t> (2014). Convergence of terrestrial plant production across global climate gradients. </a:t>
            </a:r>
            <a:r>
              <a:rPr i="1"/>
              <a:t>Nature</a:t>
            </a:r>
            <a:r>
              <a:rPr/>
              <a:t>, 512, 39-43.</a:t>
            </a:r>
          </a:p>
          <a:p>
            <a:pPr lvl="0" indent="0" marL="0">
              <a:buNone/>
            </a:pPr>
            <a:r>
              <a:rPr b="1"/>
              <a:t>Key Learning Points:</a:t>
            </a:r>
          </a:p>
          <a:p>
            <a:pPr lvl="0" indent="-342900" marL="342900">
              <a:buAutoNum type="arabicPeriod"/>
            </a:pPr>
            <a:r>
              <a:rPr b="1"/>
              <a:t>Multicollinearity Detection</a:t>
            </a:r>
            <a:r>
              <a:rPr/>
              <a:t>: Use VIF values and correlation matrices</a:t>
            </a:r>
          </a:p>
          <a:p>
            <a:pPr lvl="0" indent="-342900" marL="342900">
              <a:buAutoNum type="arabicPeriod"/>
            </a:pPr>
            <a:r>
              <a:rPr b="1"/>
              <a:t>Variable Transformations</a:t>
            </a:r>
            <a:r>
              <a:rPr/>
              <a:t>: Log and power transformations can improve model fit</a:t>
            </a:r>
          </a:p>
          <a:p>
            <a:pPr lvl="0" indent="-342900" marL="342900">
              <a:buAutoNum type="arabicPeriod"/>
            </a:pPr>
            <a:r>
              <a:rPr b="1"/>
              <a:t>Model Diagnostics</a:t>
            </a:r>
            <a:r>
              <a:rPr/>
              <a:t>: Always check residual plots and assumption violations</a:t>
            </a:r>
          </a:p>
          <a:p>
            <a:pPr lvl="0" indent="-342900" marL="342900">
              <a:buAutoNum type="arabicPeriod"/>
            </a:pPr>
            <a:r>
              <a:rPr b="1"/>
              <a:t>Model Comparison</a:t>
            </a:r>
            <a:r>
              <a:rPr/>
              <a:t>: Use AIC and other criteria for model selection</a:t>
            </a:r>
          </a:p>
          <a:p>
            <a:pPr lvl="0" indent="-342900" marL="342900">
              <a:buAutoNum type="arabicPeriod"/>
            </a:pPr>
            <a:r>
              <a:rPr b="1"/>
              <a:t>Interpretation</a:t>
            </a:r>
            <a:r>
              <a:rPr/>
              <a:t>: Focus on biologically meaningful relationships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Session information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sessionInfo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R version 4.6.1 (2026-06-24)
Platform: aarch64-apple-darwin23
Running under: macOS Tahoe 26.6.2
Matrix products: default
BLAS:   /Library/Frameworks/R.framework/Versions/4.6/Resources/lib/libRblas.0.dylib 
LAPACK: /Library/Frameworks/R.framework/Versions/4.6/Resources/lib/libRlapack.dylib;  LAPACK version 3.12.1
locale:
[1] en_US.UTF-8/en_US.UTF-8/en_US.UTF-8/C/en_US.UTF-8/en_US.UTF-8
time zone: America/Chicago
tzcode source: internal
attached base packages:
[1] stats     graphics  grDevices utils     datasets  methods   base     
other attached packages:
 [1] sensemakr_0.1.6    see_0.14.1         performance_0.17.1 broom_1.0.13      
 [5] GGally_2.4.0       corrplot_0.95      car_3.1-5          carData_3.0-6     
 [9] lubridate_1.9.5    forcats_1.0.1      stringr_1.6.0      dplyr_1.2.1       
[13] purrr_1.2.2        readr_2.2.0        tidyr_1.3.2        tibble_3.3.1      
[17] ggplot2_4.0.3      tidyverse_2.0.0   
loaded via a namespace (and not attached):
 [1] gtable_0.3.6       xfun_0.60          insight_1.5.2      lattice_0.22-9    
 [5] tzdb_0.5.0         vctrs_0.7.3        tools_4.6.1        generics_0.1.4    
 [9] stats4_4.6.1       parallel_4.6.1     pkgconfig_2.0.3    Matrix_1.7-6      
[13] RColorBrewer_1.1-3 S7_0.2.2           lifecycle_1.0.5    compiler_4.6.1    
[17] farver_2.1.2       codetools_0.2-20   htmltools_0.5.9    yaml_2.3.12       
[21] Formula_1.2-6      pillar_1.11.1      crayon_1.5.3       abind_1.4-8       
[25] nlme_3.1-170       ggstats_0.13.0     tidyselect_1.2.1   digest_0.6.39     
[29] stringi_1.8.9      labeling_0.4.3     splines_4.6.1      fastmap_1.2.0     
[33] grid_4.6.1         cli_3.6.6          magrittr_2.0.5     utf8_1.2.6        
[37] withr_3.0.3        scales_1.4.0       backports_1.5.1    bit64_4.8.2       
[41] timechange_0.4.0   rmarkdown_2.31     bit_4.6.0          otel_0.2.0        
[45] hms_1.1.4          evaluate_1.0.5     knitr_1.51         mgcv_1.9-4        
[49] rlang_1.3.0        glue_1.8.1         vroom_1.7.1        jsonlite_2.0.0    
[53] R6_2.6.1          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Hands-on activity: multiple linear regression.</dc:description>
  <dcterms:created xsi:type="dcterms:W3CDTF">2026-08-20T19:18:18Z</dcterms:created>
  <dcterms:modified xsi:type="dcterms:W3CDTF">2026-08-20T19:18:18Z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Several predictors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