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Multiple Regression — Forest Net Primary Production</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examines the relationship between Net Primary Production (npp) and various climate and forest characteristics across global forest sites, based on Michaletz et al. (2014). We’ll explore multicollinearity, model selection, and variable transformations — the real-data, many-predictor counterpart to the lecture’s two-predictor ant example.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regression diagnostics (VIF, etc.)</a:t>
            </a:r>
            <a:br/>
            <a:r>
              <a:rPr>
                <a:solidFill>
                  <a:srgbClr val="4758AB"/>
                </a:solidFill>
                <a:latin typeface="Courier"/>
              </a:rPr>
              <a:t>library</a:t>
            </a:r>
            <a:r>
              <a:rPr>
                <a:solidFill>
                  <a:srgbClr val="003B4F"/>
                </a:solidFill>
                <a:latin typeface="Courier"/>
              </a:rPr>
              <a:t>(corrplot)      </a:t>
            </a:r>
            <a:r>
              <a:rPr>
                <a:solidFill>
                  <a:srgbClr val="5E5E5E"/>
                </a:solidFill>
                <a:latin typeface="Courier"/>
              </a:rPr>
              <a:t># For correlation plots</a:t>
            </a:r>
            <a:br/>
            <a:r>
              <a:rPr>
                <a:solidFill>
                  <a:srgbClr val="4758AB"/>
                </a:solidFill>
                <a:latin typeface="Courier"/>
              </a:rPr>
              <a:t>library</a:t>
            </a:r>
            <a:r>
              <a:rPr>
                <a:solidFill>
                  <a:srgbClr val="003B4F"/>
                </a:solidFill>
                <a:latin typeface="Courier"/>
              </a:rPr>
              <a:t>(GGally)        </a:t>
            </a:r>
            <a:r>
              <a:rPr>
                <a:solidFill>
                  <a:srgbClr val="5E5E5E"/>
                </a:solidFill>
                <a:latin typeface="Courier"/>
              </a:rPr>
              <a:t># For pairs plots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 model outputs</a:t>
            </a:r>
            <a:br/>
            <a:br/>
            <a:r>
              <a:rPr>
                <a:solidFill>
                  <a:srgbClr val="003B4F"/>
                </a:solidFill>
                <a:latin typeface="Courier"/>
              </a:rPr>
              <a:t>forest_df &lt;- </a:t>
            </a:r>
            <a:r>
              <a:rPr>
                <a:solidFill>
                  <a:srgbClr val="4758AB"/>
                </a:solidFill>
                <a:latin typeface="Courier"/>
              </a:rPr>
              <a:t>read_csv</a:t>
            </a:r>
            <a:r>
              <a:rPr>
                <a:solidFill>
                  <a:srgbClr val="003B4F"/>
                </a:solidFill>
                <a:latin typeface="Courier"/>
              </a:rPr>
              <a:t>(</a:t>
            </a:r>
            <a:r>
              <a:rPr>
                <a:solidFill>
                  <a:srgbClr val="20794D"/>
                </a:solidFill>
                <a:latin typeface="Courier"/>
              </a:rPr>
              <a:t>"data/michaletz_etal_2014_clean.csv"</a:t>
            </a:r>
            <a:r>
              <a:rPr>
                <a:solidFill>
                  <a:srgbClr val="003B4F"/>
                </a:solidFill>
                <a:latin typeface="Courier"/>
              </a:rPr>
              <a:t>)</a:t>
            </a:r>
            <a:br/>
            <a:r>
              <a:rPr>
                <a:solidFill>
                  <a:srgbClr val="4758AB"/>
                </a:solidFill>
                <a:latin typeface="Courier"/>
              </a:rPr>
              <a:t>head</a:t>
            </a:r>
            <a:r>
              <a:rPr>
                <a:solidFill>
                  <a:srgbClr val="003B4F"/>
                </a:solidFill>
                <a:latin typeface="Courier"/>
              </a:rPr>
              <a:t>(forest_df)</a:t>
            </a:r>
          </a:p>
          <a:p>
            <a:pPr lvl="0" indent="0" marL="0">
              <a:buNone/>
            </a:pPr>
            <a:r>
              <a:rPr/>
              <a:t>✏️ </a:t>
            </a:r>
            <a:r>
              <a:rPr b="1"/>
              <a:t>Your turn:</a:t>
            </a:r>
            <a:r>
              <a:rPr/>
              <a:t> Run </a:t>
            </a:r>
            <a:r>
              <a:rPr>
                <a:latin typeface="Courier"/>
              </a:rPr>
              <a:t>glimpse(forest_df)</a:t>
            </a:r>
            <a:r>
              <a:rPr/>
              <a:t>. Which columns look continuous, and which look categorical?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Exploring Multicollinearity</a:t>
            </a:r>
          </a:p>
        </p:txBody>
      </p:sp>
      <p:sp>
        <p:nvSpPr>
          <p:cNvPr id="3" name="Content Placeholder 2"/>
          <p:cNvSpPr>
            <a:spLocks noGrp="1"/>
          </p:cNvSpPr>
          <p:nvPr>
            <p:ph idx="1"/>
          </p:nvPr>
        </p:nvSpPr>
        <p:spPr/>
        <p:txBody>
          <a:bodyPr/>
          <a:lstStyle/>
          <a:p>
            <a:pPr lvl="0" indent="0" marL="0">
              <a:buNone/>
            </a:pPr>
            <a:r>
              <a:rPr b="1"/>
              <a:t>▶ Run this</a:t>
            </a:r>
            <a:r>
              <a:rPr/>
              <a:t> — a correlation matrix, and a visual version of it:</a:t>
            </a:r>
          </a:p>
          <a:p>
            <a:pPr lvl="0" indent="0">
              <a:buNone/>
            </a:pPr>
            <a:r>
              <a:rPr>
                <a:solidFill>
                  <a:srgbClr val="003B4F"/>
                </a:solidFill>
                <a:latin typeface="Courier"/>
              </a:rPr>
              <a:t>num_vars &lt;- forest_df </a:t>
            </a:r>
            <a:r>
              <a:rPr>
                <a:solidFill>
                  <a:srgbClr val="5E5E5E"/>
                </a:solidFill>
                <a:latin typeface="Courier"/>
              </a:rPr>
              <a:t>%&gt;%</a:t>
            </a:r>
            <a:br/>
            <a:r>
              <a:rPr>
                <a:solidFill>
                  <a:srgbClr val="003B4F"/>
                </a:solidFill>
                <a:latin typeface="Courier"/>
              </a:rPr>
              <a:t>  </a:t>
            </a:r>
            <a:r>
              <a:rPr>
                <a:solidFill>
                  <a:srgbClr val="4758AB"/>
                </a:solidFill>
                <a:latin typeface="Courier"/>
              </a:rPr>
              <a:t>select_if</a:t>
            </a:r>
            <a:r>
              <a:rPr>
                <a:solidFill>
                  <a:srgbClr val="003B4F"/>
                </a:solidFill>
                <a:latin typeface="Courier"/>
              </a:rPr>
              <a:t>(is.numeric)</a:t>
            </a:r>
            <a:br/>
            <a:br/>
            <a:r>
              <a:rPr>
                <a:solidFill>
                  <a:srgbClr val="003B4F"/>
                </a:solidFill>
                <a:latin typeface="Courier"/>
              </a:rPr>
              <a:t>cor_matrix &lt;- </a:t>
            </a:r>
            <a:r>
              <a:rPr>
                <a:solidFill>
                  <a:srgbClr val="4758AB"/>
                </a:solidFill>
                <a:latin typeface="Courier"/>
              </a:rPr>
              <a:t>cor</a:t>
            </a:r>
            <a:r>
              <a:rPr>
                <a:solidFill>
                  <a:srgbClr val="003B4F"/>
                </a:solidFill>
                <a:latin typeface="Courier"/>
              </a:rPr>
              <a:t>(num_vars, </a:t>
            </a:r>
            <a:r>
              <a:rPr>
                <a:solidFill>
                  <a:srgbClr val="657422"/>
                </a:solidFill>
                <a:latin typeface="Courier"/>
              </a:rPr>
              <a:t>use =</a:t>
            </a:r>
            <a:r>
              <a:rPr>
                <a:solidFill>
                  <a:srgbClr val="003B4F"/>
                </a:solidFill>
                <a:latin typeface="Courier"/>
              </a:rPr>
              <a:t> </a:t>
            </a:r>
            <a:r>
              <a:rPr>
                <a:solidFill>
                  <a:srgbClr val="20794D"/>
                </a:solidFill>
                <a:latin typeface="Courier"/>
              </a:rPr>
              <a:t>"complete.obs"</a:t>
            </a:r>
            <a:r>
              <a:rPr>
                <a:solidFill>
                  <a:srgbClr val="003B4F"/>
                </a:solidFill>
                <a:latin typeface="Courier"/>
              </a:rPr>
              <a:t>)</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"grey45"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0.7</a:t>
            </a:r>
            <a:r>
              <a:rPr>
                <a:solidFill>
                  <a:srgbClr val="003B4F"/>
                </a:solidFill>
                <a:latin typeface="Courier"/>
              </a:rPr>
              <a:t>)</a:t>
            </a:r>
          </a:p>
          <a:p>
            <a:pPr lvl="0" indent="0" marL="0">
              <a:buNone/>
            </a:pPr>
            <a:r>
              <a:rPr b="1"/>
              <a:t>▶ Run this</a:t>
            </a:r>
            <a:r>
              <a:rPr/>
              <a:t> — a pairs plot for a fuller picture:</a:t>
            </a:r>
          </a:p>
          <a:p>
            <a:pPr lvl="0" indent="0">
              <a:buNone/>
            </a:pPr>
            <a:r>
              <a:rPr>
                <a:solidFill>
                  <a:srgbClr val="003B4F"/>
                </a:solidFill>
                <a:latin typeface="Courier"/>
              </a:rPr>
              <a:t>forest_df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leaf) </a:t>
            </a:r>
            <a:r>
              <a:rPr>
                <a:solidFill>
                  <a:srgbClr val="5E5E5E"/>
                </a:solidFill>
                <a:latin typeface="Courier"/>
              </a:rPr>
              <a:t>%&gt;%</a:t>
            </a:r>
            <a:r>
              <a:rPr>
                <a:solidFill>
                  <a:srgbClr val="003B4F"/>
                </a:solidFill>
                <a:latin typeface="Courier"/>
              </a:rPr>
              <a:t>  </a:t>
            </a:r>
            <a:r>
              <a:rPr>
                <a:solidFill>
                  <a:srgbClr val="5E5E5E"/>
                </a:solidFill>
                <a:latin typeface="Courier"/>
              </a:rPr>
              <a:t># Exclude categorical variable for pairs plot</a:t>
            </a:r>
            <a:br/>
            <a:r>
              <a:rPr>
                <a:solidFill>
                  <a:srgbClr val="003B4F"/>
                </a:solidFill>
                <a:latin typeface="Courier"/>
              </a:rPr>
              <a:t>  </a:t>
            </a:r>
            <a:r>
              <a:rPr>
                <a:solidFill>
                  <a:srgbClr val="4758AB"/>
                </a:solidFill>
                <a:latin typeface="Courier"/>
              </a:rPr>
              <a:t>ggpairs</a:t>
            </a:r>
            <a:r>
              <a:rPr>
                <a:solidFill>
                  <a:srgbClr val="003B4F"/>
                </a:solidFill>
                <a:latin typeface="Courier"/>
              </a:rPr>
              <a:t>(</a:t>
            </a:r>
            <a:br/>
            <a:r>
              <a:rPr>
                <a:solidFill>
                  <a:srgbClr val="003B4F"/>
                </a:solidFill>
                <a:latin typeface="Courier"/>
              </a:rPr>
              <a:t>    </a:t>
            </a:r>
            <a:r>
              <a:rPr>
                <a:solidFill>
                  <a:srgbClr val="657422"/>
                </a:solidFill>
                <a:latin typeface="Courier"/>
              </a:rPr>
              <a:t>upper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"cor"</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lower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"points"</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From the correlation matrix, which two predictors look most strongly correlated with each other? </a:t>
            </a:r>
            <a:r>
              <a:rPr>
                <a:latin typeface="Courier"/>
              </a:rPr>
              <a:t>________________________</a:t>
            </a:r>
          </a:p>
          <a:p>
            <a:pPr lvl="0" indent="0" marL="0">
              <a:buNone/>
            </a:pPr>
            <a:r>
              <a:rPr b="1"/>
              <a:t>▶ Run this</a:t>
            </a:r>
            <a:r>
              <a:rPr/>
              <a:t> — fit the full model with every predictor:</a:t>
            </a:r>
          </a:p>
          <a:p>
            <a:pPr lvl="0" indent="0">
              <a:buNone/>
            </a:pPr>
            <a:r>
              <a:rPr>
                <a:solidFill>
                  <a:srgbClr val="003B4F"/>
                </a:solidFill>
                <a:latin typeface="Courier"/>
              </a:rPr>
              <a:t>model_init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season </a:t>
            </a:r>
            <a:r>
              <a:rPr>
                <a:solidFill>
                  <a:srgbClr val="5E5E5E"/>
                </a:solidFill>
                <a:latin typeface="Courier"/>
              </a:rPr>
              <a:t>+</a:t>
            </a:r>
            <a:r>
              <a:rPr>
                <a:solidFill>
                  <a:srgbClr val="003B4F"/>
                </a:solidFill>
                <a:latin typeface="Courier"/>
              </a:rPr>
              <a:t> temp </a:t>
            </a:r>
            <a:r>
              <a:rPr>
                <a:solidFill>
                  <a:srgbClr val="5E5E5E"/>
                </a:solidFill>
                <a:latin typeface="Courier"/>
              </a:rPr>
              <a:t>+</a:t>
            </a:r>
            <a:b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(model_init)</a:t>
            </a:r>
          </a:p>
          <a:p>
            <a:pPr lvl="0" indent="0" marL="0">
              <a:buNone/>
            </a:pPr>
            <a:r>
              <a:rPr b="1"/>
              <a:t>▶ Run this</a:t>
            </a:r>
            <a:r>
              <a:rPr/>
              <a:t> — check Variance Inflation Factors:</a:t>
            </a:r>
          </a:p>
          <a:p>
            <a:pPr lvl="0" indent="0">
              <a:buNone/>
            </a:pPr>
            <a:r>
              <a:rPr>
                <a:solidFill>
                  <a:srgbClr val="003B4F"/>
                </a:solidFill>
                <a:latin typeface="Courier"/>
              </a:rPr>
              <a:t>vif_values &lt;- </a:t>
            </a:r>
            <a:r>
              <a:rPr>
                <a:solidFill>
                  <a:srgbClr val="4758AB"/>
                </a:solidFill>
                <a:latin typeface="Courier"/>
              </a:rPr>
              <a:t>vif</a:t>
            </a:r>
            <a:r>
              <a:rPr>
                <a:solidFill>
                  <a:srgbClr val="003B4F"/>
                </a:solidFill>
                <a:latin typeface="Courier"/>
              </a:rPr>
              <a:t>(model_init)</a:t>
            </a:r>
            <a:br/>
            <a:r>
              <a:rPr>
                <a:solidFill>
                  <a:srgbClr val="003B4F"/>
                </a:solidFill>
                <a:latin typeface="Courier"/>
              </a:rPr>
              <a:t>vif_values</a:t>
            </a:r>
            <a:br/>
            <a:br/>
            <a:r>
              <a:rPr>
                <a:solidFill>
                  <a:srgbClr val="003B4F"/>
                </a:solidFill>
                <a:latin typeface="Courier"/>
              </a:rPr>
              <a:t>vif_df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names</a:t>
            </a:r>
            <a:r>
              <a:rPr>
                <a:solidFill>
                  <a:srgbClr val="003B4F"/>
                </a:solidFill>
                <a:latin typeface="Courier"/>
              </a:rPr>
              <a:t>(vif_values),</a:t>
            </a:r>
            <a:br/>
            <a:r>
              <a:rPr>
                <a:solidFill>
                  <a:srgbClr val="003B4F"/>
                </a:solidFill>
                <a:latin typeface="Courier"/>
              </a:rPr>
              <a:t>  </a:t>
            </a:r>
            <a:r>
              <a:rPr>
                <a:solidFill>
                  <a:srgbClr val="657422"/>
                </a:solidFill>
                <a:latin typeface="Courier"/>
              </a:rPr>
              <a:t>VIF =</a:t>
            </a:r>
            <a:r>
              <a:rPr>
                <a:solidFill>
                  <a:srgbClr val="003B4F"/>
                </a:solidFill>
                <a:latin typeface="Courier"/>
              </a:rPr>
              <a:t> </a:t>
            </a:r>
            <a:r>
              <a:rPr>
                <a:solidFill>
                  <a:srgbClr val="4758AB"/>
                </a:solidFill>
                <a:latin typeface="Courier"/>
              </a:rPr>
              <a:t>as.numeric</a:t>
            </a:r>
            <a:r>
              <a:rPr>
                <a:solidFill>
                  <a:srgbClr val="003B4F"/>
                </a:solidFill>
                <a:latin typeface="Courier"/>
              </a:rPr>
              <a:t>(vif_values)</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(VIF))</a:t>
            </a:r>
            <a:br/>
            <a:br/>
            <a:r>
              <a:rPr>
                <a:solidFill>
                  <a:srgbClr val="4758AB"/>
                </a:solidFill>
                <a:latin typeface="Courier"/>
              </a:rPr>
              <a:t>ggplot</a:t>
            </a:r>
            <a:r>
              <a:rPr>
                <a:solidFill>
                  <a:srgbClr val="003B4F"/>
                </a:solidFill>
                <a:latin typeface="Courier"/>
              </a:rPr>
              <a:t>(vif_df,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reorder</a:t>
            </a:r>
            <a:r>
              <a:rPr>
                <a:solidFill>
                  <a:srgbClr val="003B4F"/>
                </a:solidFill>
                <a:latin typeface="Courier"/>
              </a:rPr>
              <a:t>(Variable, VIF), </a:t>
            </a:r>
            <a:r>
              <a:rPr>
                <a:solidFill>
                  <a:srgbClr val="657422"/>
                </a:solidFill>
                <a:latin typeface="Courier"/>
              </a:rPr>
              <a:t>y =</a:t>
            </a:r>
            <a:r>
              <a:rPr>
                <a:solidFill>
                  <a:srgbClr val="003B4F"/>
                </a:solidFill>
                <a:latin typeface="Courier"/>
              </a:rPr>
              <a:t> VIF))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"orange"</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"Variance Inflation Factors"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line: VIF = 10 (serious concern), Orange line: VIF = 5 (moderate concern)"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"VIF"</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Which predictor(s) have VIF &gt; 10? Does that match what you flagged from the correlation matrix? </a:t>
            </a:r>
            <a:r>
              <a:rPr>
                <a:latin typeface="Courier"/>
              </a:rPr>
              <a:t>________________________</a:t>
            </a:r>
          </a:p>
          <a:p>
            <a:pPr lvl="0" indent="0" marL="1270000">
              <a:buNone/>
            </a:pPr>
            <a:r>
              <a:rPr sz="2000" b="1"/>
              <a:t>Tip</a:t>
            </a:r>
          </a:p>
          <a:p>
            <a:pPr lvl="0" indent="0" marL="1270000">
              <a:buNone/>
            </a:pPr>
            <a:r>
              <a:rPr sz="2000" b="1"/>
              <a:t>🚀 If you finish early:</a:t>
            </a:r>
            <a:r>
              <a:rPr sz="2000"/>
              <a:t> Recompute VIF using only 3 predictors of your choice (drop the rest from the model formula). Do the remaining VIFs change? Why would dropping a correlated predictor lower the VIFs of the ones that are left?</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Addressing Multicollinearity</a:t>
            </a:r>
          </a:p>
        </p:txBody>
      </p:sp>
      <p:sp>
        <p:nvSpPr>
          <p:cNvPr id="3" name="Content Placeholder 2"/>
          <p:cNvSpPr>
            <a:spLocks noGrp="1"/>
          </p:cNvSpPr>
          <p:nvPr>
            <p:ph idx="1"/>
          </p:nvPr>
        </p:nvSpPr>
        <p:spPr/>
        <p:txBody>
          <a:bodyPr/>
          <a:lstStyle/>
          <a:p>
            <a:pPr lvl="0" indent="0" marL="0">
              <a:buNone/>
            </a:pPr>
            <a:r>
              <a:rPr/>
              <a:t>Season and temperature are highly correlated. Let’s remove season.</a:t>
            </a:r>
          </a:p>
          <a:p>
            <a:pPr lvl="0" indent="0" marL="0">
              <a:buNone/>
            </a:pPr>
            <a:r>
              <a:rPr b="1"/>
              <a:t>▶ Run this:</a:t>
            </a:r>
          </a:p>
          <a:p>
            <a:pPr lvl="0" indent="0">
              <a:buNone/>
            </a:pPr>
            <a:r>
              <a:rPr>
                <a:solidFill>
                  <a:srgbClr val="003B4F"/>
                </a:solidFill>
                <a:latin typeface="Courier"/>
              </a:rPr>
              <a:t>model_2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(model_2)</a:t>
            </a:r>
            <a:br/>
            <a:br/>
            <a:r>
              <a:rPr>
                <a:solidFill>
                  <a:srgbClr val="003B4F"/>
                </a:solidFill>
                <a:latin typeface="Courier"/>
              </a:rPr>
              <a:t>vif_values2 &lt;- </a:t>
            </a:r>
            <a:r>
              <a:rPr>
                <a:solidFill>
                  <a:srgbClr val="4758AB"/>
                </a:solidFill>
                <a:latin typeface="Courier"/>
              </a:rPr>
              <a:t>vif</a:t>
            </a:r>
            <a:r>
              <a:rPr>
                <a:solidFill>
                  <a:srgbClr val="003B4F"/>
                </a:solidFill>
                <a:latin typeface="Courier"/>
              </a:rPr>
              <a:t>(model_2)</a:t>
            </a:r>
            <a:br/>
            <a:r>
              <a:rPr>
                <a:solidFill>
                  <a:srgbClr val="003B4F"/>
                </a:solidFill>
                <a:latin typeface="Courier"/>
              </a:rPr>
              <a:t>vif_values2</a:t>
            </a:r>
          </a:p>
          <a:p>
            <a:pPr lvl="0" indent="0" marL="0">
              <a:buNone/>
            </a:pPr>
            <a:r>
              <a:rPr/>
              <a:t>✏️ </a:t>
            </a:r>
            <a:r>
              <a:rPr b="1"/>
              <a:t>Your turn:</a:t>
            </a:r>
            <a:r>
              <a:rPr/>
              <a:t> Did removing </a:t>
            </a:r>
            <a:r>
              <a:rPr>
                <a:latin typeface="Courier"/>
              </a:rPr>
              <a:t>season</a:t>
            </a:r>
            <a:r>
              <a:rPr/>
              <a:t> fix the VIF problem?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Checking the Shape of Relationships</a:t>
            </a:r>
          </a:p>
        </p:txBody>
      </p:sp>
      <p:sp>
        <p:nvSpPr>
          <p:cNvPr id="3" name="Content Placeholder 2"/>
          <p:cNvSpPr>
            <a:spLocks noGrp="1"/>
          </p:cNvSpPr>
          <p:nvPr>
            <p:ph idx="1"/>
          </p:nvPr>
        </p:nvSpPr>
        <p:spPr/>
        <p:txBody>
          <a:bodyPr/>
          <a:lstStyle/>
          <a:p>
            <a:pPr lvl="0" indent="0" marL="0">
              <a:buNone/>
            </a:pPr>
            <a:r>
              <a:rPr b="1"/>
              <a:t>▶ Run this</a:t>
            </a:r>
            <a:r>
              <a:rPr/>
              <a:t> — Added Variable (partial regression)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(model_2,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The original analysis found </a:t>
            </a:r>
            <a:r>
              <a:rPr>
                <a:latin typeface="Courier"/>
              </a:rPr>
              <a:t>age</a:t>
            </a:r>
            <a:r>
              <a:rPr/>
              <a:t> showed a curvy relationship. Let’s try a log transformation. (Really, you should try transforming the </a:t>
            </a:r>
            <a:r>
              <a:rPr i="1"/>
              <a:t>response</a:t>
            </a:r>
            <a:r>
              <a:rPr/>
              <a:t> variable first — we’re doing </a:t>
            </a:r>
            <a:r>
              <a:rPr>
                <a:latin typeface="Courier"/>
              </a:rPr>
              <a:t>age</a:t>
            </a:r>
            <a:r>
              <a:rPr/>
              <a:t> here to see the AV-plot difference clearly.)</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log_age =</a:t>
            </a:r>
            <a:r>
              <a:rPr>
                <a:solidFill>
                  <a:srgbClr val="003B4F"/>
                </a:solidFill>
                <a:latin typeface="Courier"/>
              </a:rPr>
              <a:t> </a:t>
            </a:r>
            <a:r>
              <a:rPr>
                <a:solidFill>
                  <a:srgbClr val="4758AB"/>
                </a:solidFill>
                <a:latin typeface="Courier"/>
              </a:rPr>
              <a:t>log10</a:t>
            </a:r>
            <a:r>
              <a:rPr>
                <a:solidFill>
                  <a:srgbClr val="003B4F"/>
                </a:solidFill>
                <a:latin typeface="Courier"/>
              </a:rPr>
              <a:t>(age))</a:t>
            </a:r>
            <a:br/>
            <a:br/>
            <a:r>
              <a:rPr>
                <a:solidFill>
                  <a:srgbClr val="003B4F"/>
                </a:solidFill>
                <a:latin typeface="Courier"/>
              </a:rPr>
              <a:t>model_3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(model_3)</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(model_3,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 (Log age)"</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Compare the AV plot for </a:t>
            </a:r>
            <a:r>
              <a:rPr>
                <a:latin typeface="Courier"/>
              </a:rPr>
              <a:t>age</a:t>
            </a:r>
            <a:r>
              <a:rPr/>
              <a:t> before and after the log transform. Does the relationship look straighter now? </a:t>
            </a:r>
            <a:r>
              <a:rPr>
                <a:latin typeface="Courier"/>
              </a:rPr>
              <a:t>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Model Diagnostics</a:t>
            </a:r>
          </a:p>
        </p:txBody>
      </p:sp>
      <p:sp>
        <p:nvSpPr>
          <p:cNvPr id="3" name="Content Placeholder 2"/>
          <p:cNvSpPr>
            <a:spLocks noGrp="1"/>
          </p:cNvSpPr>
          <p:nvPr>
            <p:ph idx="1"/>
          </p:nvPr>
        </p:nvSpPr>
        <p:spPr/>
        <p:txBody>
          <a:bodyPr/>
          <a:lstStyle/>
          <a:p>
            <a:pPr lvl="0" indent="0" marL="0">
              <a:buNone/>
            </a:pPr>
            <a:r>
              <a:rPr b="1"/>
              <a:t>▶ Run this</a:t>
            </a:r>
            <a:r>
              <a:rPr/>
              <a:t> — the four standard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(model_3)</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a closer look at residuals vs. fitted:</a:t>
            </a:r>
          </a:p>
          <a:p>
            <a:pPr lvl="0" indent="0">
              <a:buNone/>
            </a:pPr>
            <a:r>
              <a:rPr>
                <a:solidFill>
                  <a:srgbClr val="003B4F"/>
                </a:solidFill>
                <a:latin typeface="Courier"/>
              </a:rPr>
              <a:t>residuals_data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(model_3),</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(model_3),</a:t>
            </a:r>
            <a:br/>
            <a:r>
              <a:rPr>
                <a:solidFill>
                  <a:srgbClr val="003B4F"/>
                </a:solidFill>
                <a:latin typeface="Courier"/>
              </a:rPr>
              <a:t>  </a:t>
            </a:r>
            <a:r>
              <a:rPr>
                <a:solidFill>
                  <a:srgbClr val="657422"/>
                </a:solidFill>
                <a:latin typeface="Courier"/>
              </a:rPr>
              <a:t>Standardized_Residuals =</a:t>
            </a:r>
            <a:r>
              <a:rPr>
                <a:solidFill>
                  <a:srgbClr val="003B4F"/>
                </a:solidFill>
                <a:latin typeface="Courier"/>
              </a:rPr>
              <a:t> </a:t>
            </a:r>
            <a:r>
              <a:rPr>
                <a:solidFill>
                  <a:srgbClr val="4758AB"/>
                </a:solidFill>
                <a:latin typeface="Courier"/>
              </a:rPr>
              <a:t>rstandard</a:t>
            </a:r>
            <a:r>
              <a:rPr>
                <a:solidFill>
                  <a:srgbClr val="003B4F"/>
                </a:solidFill>
                <a:latin typeface="Courier"/>
              </a:rPr>
              <a:t>(model_3)</a:t>
            </a:r>
            <a:br/>
            <a:r>
              <a:rPr>
                <a:solidFill>
                  <a:srgbClr val="003B4F"/>
                </a:solidFill>
                <a:latin typeface="Courier"/>
              </a:rPr>
              <a:t>)</a:t>
            </a:r>
            <a:br/>
            <a:br/>
            <a:r>
              <a:rPr>
                <a:solidFill>
                  <a:srgbClr val="4758AB"/>
                </a:solidFill>
                <a:latin typeface="Courier"/>
              </a:rPr>
              <a:t>ggplot</a:t>
            </a:r>
            <a:r>
              <a:rPr>
                <a:solidFill>
                  <a:srgbClr val="003B4F"/>
                </a:solidFill>
                <a:latin typeface="Courier"/>
              </a:rPr>
              <a:t>(residuals_data,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Let’s also try a cube-root transformation of the response, </a:t>
            </a:r>
            <a:r>
              <a:rPr>
                <a:latin typeface="Courier"/>
              </a:rPr>
              <a:t>npp</a:t>
            </a:r>
            <a:r>
              <a:rPr/>
              <a:t>:</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npp_cuberoot =</a:t>
            </a:r>
            <a:r>
              <a:rPr>
                <a:solidFill>
                  <a:srgbClr val="003B4F"/>
                </a:solidFill>
                <a:latin typeface="Courier"/>
              </a:rPr>
              <a:t> npp</a:t>
            </a:r>
            <a:r>
              <a:rPr>
                <a:solidFill>
                  <a:srgbClr val="5E5E5E"/>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br/>
            <a:br/>
            <a:r>
              <a:rPr>
                <a:solidFill>
                  <a:srgbClr val="003B4F"/>
                </a:solidFill>
                <a:latin typeface="Courier"/>
              </a:rPr>
              <a:t>model_4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b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(model_4)</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(model_4)</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Do the residual plots for </a:t>
            </a:r>
            <a:r>
              <a:rPr>
                <a:latin typeface="Courier"/>
              </a:rPr>
              <a:t>model_4</a:t>
            </a:r>
            <a:r>
              <a:rPr/>
              <a:t> look better than for </a:t>
            </a:r>
            <a:r>
              <a:rPr>
                <a:latin typeface="Courier"/>
              </a:rPr>
              <a:t>model_3</a:t>
            </a:r>
            <a:r>
              <a:rPr/>
              <a:t>? What specifically improved (or didn’t)?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 of </a:t>
            </a:r>
            <a:r>
              <a:rPr sz="2000">
                <a:latin typeface="Courier"/>
              </a:rPr>
              <a:t>npp</a:t>
            </a:r>
            <a:r>
              <a:rPr sz="2000"/>
              <a:t> instead of cube-root (</a:t>
            </a:r>
            <a:r>
              <a:rPr sz="2000">
                <a:latin typeface="Courier"/>
              </a:rPr>
              <a:t>sqrt(npp)</a:t>
            </a:r>
            <a:r>
              <a:rPr sz="2000"/>
              <a:t>). Refit the model and compare its residual plots to </a:t>
            </a:r>
            <a:r>
              <a:rPr sz="2000">
                <a:latin typeface="Courier"/>
              </a:rPr>
              <a:t>model_4</a:t>
            </a:r>
            <a:r>
              <a:rPr sz="2000"/>
              <a:t>’s.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Model Simplification and Comparison</a:t>
            </a:r>
          </a:p>
        </p:txBody>
      </p:sp>
      <p:sp>
        <p:nvSpPr>
          <p:cNvPr id="3" name="Content Placeholder 2"/>
          <p:cNvSpPr>
            <a:spLocks noGrp="1"/>
          </p:cNvSpPr>
          <p:nvPr>
            <p:ph idx="1"/>
          </p:nvPr>
        </p:nvSpPr>
        <p:spPr/>
        <p:txBody>
          <a:bodyPr/>
          <a:lstStyle/>
          <a:p>
            <a:pPr lvl="0" indent="0" marL="0">
              <a:buNone/>
            </a:pPr>
            <a:r>
              <a:rPr b="1"/>
              <a:t>▶ Run this</a:t>
            </a:r>
            <a:r>
              <a:rPr/>
              <a:t> — drop the non-significant </a:t>
            </a:r>
            <a:r>
              <a:rPr>
                <a:latin typeface="Courier"/>
              </a:rPr>
              <a:t>precip</a:t>
            </a:r>
            <a:r>
              <a:rPr/>
              <a:t> term:</a:t>
            </a:r>
          </a:p>
          <a:p>
            <a:pPr lvl="0" indent="0">
              <a:buNone/>
            </a:pPr>
            <a:r>
              <a:rPr>
                <a:solidFill>
                  <a:srgbClr val="003B4F"/>
                </a:solidFill>
                <a:latin typeface="Courier"/>
              </a:rPr>
              <a:t>model_5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(model_5)</a:t>
            </a:r>
          </a:p>
          <a:p>
            <a:pPr lvl="0" indent="0" marL="0">
              <a:buNone/>
            </a:pPr>
            <a:r>
              <a:rPr b="1"/>
              <a:t>▶ Run this</a:t>
            </a:r>
            <a:r>
              <a:rPr/>
              <a:t> — compare </a:t>
            </a:r>
            <a:r>
              <a:rPr>
                <a:latin typeface="Courier"/>
              </a:rPr>
              <a:t>model_4</a:t>
            </a:r>
            <a:r>
              <a:rPr/>
              <a:t> and </a:t>
            </a:r>
            <a:r>
              <a:rPr>
                <a:latin typeface="Courier"/>
              </a:rPr>
              <a:t>model_5</a:t>
            </a:r>
            <a:r>
              <a:rPr/>
              <a:t> by AIC:</a:t>
            </a:r>
          </a:p>
          <a:p>
            <a:pPr lvl="0" indent="0">
              <a:buNone/>
            </a:pP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"Model 4 (Full)"</a:t>
            </a:r>
            <a:r>
              <a:rPr>
                <a:solidFill>
                  <a:srgbClr val="003B4F"/>
                </a:solidFill>
                <a:latin typeface="Courier"/>
              </a:rPr>
              <a:t>, </a:t>
            </a:r>
            <a:r>
              <a:rPr>
                <a:solidFill>
                  <a:srgbClr val="20794D"/>
                </a:solidFill>
                <a:latin typeface="Courier"/>
              </a:rPr>
              <a:t>"Model 5 (No precip)"</a:t>
            </a:r>
            <a:r>
              <a:rPr>
                <a:solidFill>
                  <a:srgbClr val="003B4F"/>
                </a:solidFill>
                <a:latin typeface="Courier"/>
              </a:rPr>
              <a:t>),</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AIC</a:t>
            </a:r>
            <a:r>
              <a:rPr>
                <a:solidFill>
                  <a:srgbClr val="003B4F"/>
                </a:solidFill>
                <a:latin typeface="Courier"/>
              </a:rPr>
              <a:t>(model_4), </a:t>
            </a:r>
            <a:r>
              <a:rPr>
                <a:solidFill>
                  <a:srgbClr val="4758AB"/>
                </a:solidFill>
                <a:latin typeface="Courier"/>
              </a:rPr>
              <a:t>AIC</a:t>
            </a:r>
            <a:r>
              <a:rPr>
                <a:solidFill>
                  <a:srgbClr val="003B4F"/>
                </a:solidFill>
                <a:latin typeface="Courier"/>
              </a:rPr>
              <a:t>(model_5)),</a:t>
            </a:r>
            <a:br/>
            <a:r>
              <a:rPr>
                <a:solidFill>
                  <a:srgbClr val="003B4F"/>
                </a:solidFill>
                <a:latin typeface="Courier"/>
              </a:rPr>
              <a:t>  </a:t>
            </a:r>
            <a:r>
              <a:rPr>
                <a:solidFill>
                  <a:srgbClr val="657422"/>
                </a:solidFill>
                <a:latin typeface="Courier"/>
              </a:rPr>
              <a:t>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657422"/>
                </a:solidFill>
                <a:latin typeface="Courier"/>
              </a:rPr>
              <a:t>Adj_R_squared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adj.r.squared,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adj.r.squared)</a:t>
            </a:r>
            <a:br/>
            <a:r>
              <a:rPr>
                <a:solidFill>
                  <a:srgbClr val="003B4F"/>
                </a:solidFill>
                <a:latin typeface="Courier"/>
              </a:rPr>
              <a:t>)</a:t>
            </a:r>
            <a:br/>
            <a:r>
              <a:rPr>
                <a:solidFill>
                  <a:srgbClr val="003B4F"/>
                </a:solidFill>
                <a:latin typeface="Courier"/>
              </a:rPr>
              <a:t>model_comparison</a:t>
            </a:r>
            <a:br/>
            <a:br/>
            <a:r>
              <a:rPr>
                <a:solidFill>
                  <a:srgbClr val="4758AB"/>
                </a:solidFill>
                <a:latin typeface="Courier"/>
              </a:rPr>
              <a:t>summary</a:t>
            </a:r>
            <a:r>
              <a:rPr>
                <a:solidFill>
                  <a:srgbClr val="003B4F"/>
                </a:solidFill>
                <a:latin typeface="Courier"/>
              </a:rPr>
              <a:t>(model_5, </a:t>
            </a:r>
            <a:r>
              <a:rPr>
                <a:solidFill>
                  <a:srgbClr val="657422"/>
                </a:solidFill>
                <a:latin typeface="Courier"/>
              </a:rPr>
              <a:t>conf.int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r>
              <a:rPr/>
              <a:t>✏️ </a:t>
            </a:r>
            <a:r>
              <a:rPr b="1"/>
              <a:t>Your turn:</a:t>
            </a:r>
            <a:r>
              <a:rPr/>
              <a:t> Does </a:t>
            </a:r>
            <a:r>
              <a:rPr>
                <a:latin typeface="Courier"/>
              </a:rPr>
              <a:t>model_5</a:t>
            </a:r>
            <a:r>
              <a:rPr/>
              <a:t> have a lower AIC than </a:t>
            </a:r>
            <a:r>
              <a:rPr>
                <a:latin typeface="Courier"/>
              </a:rPr>
              <a:t>model_4</a:t>
            </a:r>
            <a:r>
              <a:rPr/>
              <a:t>? Given the “penalize complexity” logic from lecture, what does that tell you about dropping </a:t>
            </a:r>
            <a:r>
              <a:rPr>
                <a:latin typeface="Courier"/>
              </a:rPr>
              <a:t>precip</a:t>
            </a:r>
            <a:r>
              <a:rPr/>
              <a: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Predictor Importance</a:t>
            </a:r>
          </a:p>
        </p:txBody>
      </p:sp>
      <p:sp>
        <p:nvSpPr>
          <p:cNvPr id="3" name="Content Placeholder 2"/>
          <p:cNvSpPr>
            <a:spLocks noGrp="1"/>
          </p:cNvSpPr>
          <p:nvPr>
            <p:ph idx="1"/>
          </p:nvPr>
        </p:nvSpPr>
        <p:spPr/>
        <p:txBody>
          <a:bodyPr/>
          <a:lstStyle/>
          <a:p>
            <a:pPr lvl="0" indent="0" marL="0">
              <a:buNone/>
            </a:pPr>
            <a:r>
              <a:rPr b="1"/>
              <a:t>▶ Run this</a:t>
            </a:r>
            <a:r>
              <a:rPr/>
              <a:t> — partial R² for every predictor at once, using </a:t>
            </a:r>
            <a:r>
              <a:rPr>
                <a:latin typeface="Courier"/>
              </a:rPr>
              <a:t>sensemakr</a:t>
            </a:r>
            <a:r>
              <a:rPr/>
              <a:t>:</a:t>
            </a:r>
          </a:p>
          <a:p>
            <a:pPr lvl="0" indent="0">
              <a:buNone/>
            </a:pPr>
            <a:r>
              <a:rPr>
                <a:solidFill>
                  <a:srgbClr val="4758AB"/>
                </a:solidFill>
                <a:latin typeface="Courier"/>
              </a:rPr>
              <a:t>library</a:t>
            </a:r>
            <a:r>
              <a:rPr>
                <a:solidFill>
                  <a:srgbClr val="003B4F"/>
                </a:solidFill>
                <a:latin typeface="Courier"/>
              </a:rPr>
              <a:t>(sensemakr)</a:t>
            </a:r>
            <a:br/>
            <a:r>
              <a:rPr>
                <a:solidFill>
                  <a:srgbClr val="003B4F"/>
                </a:solidFill>
                <a:latin typeface="Courier"/>
              </a:rPr>
              <a:t>partial_r2_sensemakr &lt;- </a:t>
            </a:r>
            <a:r>
              <a:rPr>
                <a:solidFill>
                  <a:srgbClr val="4758AB"/>
                </a:solidFill>
                <a:latin typeface="Courier"/>
              </a:rPr>
              <a:t>partial_r2</a:t>
            </a:r>
            <a:r>
              <a:rPr>
                <a:solidFill>
                  <a:srgbClr val="003B4F"/>
                </a:solidFill>
                <a:latin typeface="Courier"/>
              </a:rPr>
              <a:t>(model_5)</a:t>
            </a:r>
            <a:br/>
            <a:r>
              <a:rPr>
                <a:solidFill>
                  <a:srgbClr val="003B4F"/>
                </a:solidFill>
                <a:latin typeface="Courier"/>
              </a:rPr>
              <a:t>partial_r2_sensemakr</a:t>
            </a:r>
          </a:p>
          <a:p>
            <a:pPr lvl="0" indent="0" marL="0">
              <a:buNone/>
            </a:pPr>
            <a:r>
              <a:rPr b="1"/>
              <a:t>▶ Run this</a:t>
            </a:r>
            <a:r>
              <a:rPr/>
              <a:t> — the same idea, computed by hand from a Type III ANOVA table:</a:t>
            </a:r>
          </a:p>
          <a:p>
            <a:pPr lvl="0" indent="0">
              <a:buNone/>
            </a:pPr>
            <a:r>
              <a:rPr>
                <a:solidFill>
                  <a:srgbClr val="003B4F"/>
                </a:solidFill>
                <a:latin typeface="Courier"/>
              </a:rPr>
              <a:t>anova_type3 &lt;- </a:t>
            </a:r>
            <a:r>
              <a:rPr>
                <a:solidFill>
                  <a:srgbClr val="4758AB"/>
                </a:solidFill>
                <a:latin typeface="Courier"/>
              </a:rPr>
              <a:t>Anova</a:t>
            </a:r>
            <a:r>
              <a:rPr>
                <a:solidFill>
                  <a:srgbClr val="003B4F"/>
                </a:solidFill>
                <a:latin typeface="Courier"/>
              </a:rPr>
              <a:t>(model_5,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003B4F"/>
                </a:solidFill>
                <a:latin typeface="Courier"/>
              </a:rPr>
              <a:t>anova_type3</a:t>
            </a:r>
            <a:br/>
            <a:br/>
            <a:r>
              <a:rPr>
                <a:solidFill>
                  <a:srgbClr val="003B4F"/>
                </a:solidFill>
                <a:latin typeface="Courier"/>
              </a:rPr>
              <a:t>f_stats &lt;- 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df_num &lt;- anova_type3</a:t>
            </a:r>
            <a:r>
              <a:rPr>
                <a:solidFill>
                  <a:srgbClr val="5E5E5E"/>
                </a:solidFill>
                <a:latin typeface="Courier"/>
              </a:rPr>
              <a:t>$</a:t>
            </a:r>
            <a:r>
              <a:rPr>
                <a:solidFill>
                  <a:srgbClr val="003B4F"/>
                </a:solidFill>
                <a:latin typeface="Courier"/>
              </a:rPr>
              <a:t>Df[</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df_den &lt;- anova_type3</a:t>
            </a:r>
            <a:r>
              <a:rPr>
                <a:solidFill>
                  <a:srgbClr val="5E5E5E"/>
                </a:solidFill>
                <a:latin typeface="Courier"/>
              </a:rPr>
              <a:t>$</a:t>
            </a:r>
            <a:r>
              <a:rPr>
                <a:solidFill>
                  <a:srgbClr val="003B4F"/>
                </a:solidFill>
                <a:latin typeface="Courier"/>
              </a:rPr>
              <a:t>Df[</a:t>
            </a:r>
            <a:r>
              <a:rPr>
                <a:solidFill>
                  <a:srgbClr val="4758AB"/>
                </a:solidFill>
                <a:latin typeface="Courier"/>
              </a:rPr>
              <a:t>nrow</a:t>
            </a:r>
            <a:r>
              <a:rPr>
                <a:solidFill>
                  <a:srgbClr val="003B4F"/>
                </a:solidFill>
                <a:latin typeface="Courier"/>
              </a:rPr>
              <a:t>(anova_type3)]  </a:t>
            </a:r>
            <a:r>
              <a:rPr>
                <a:solidFill>
                  <a:srgbClr val="5E5E5E"/>
                </a:solidFill>
                <a:latin typeface="Courier"/>
              </a:rPr>
              <a:t># Residual df</a:t>
            </a:r>
            <a:br/>
            <a:br/>
            <a:r>
              <a:rPr>
                <a:solidFill>
                  <a:srgbClr val="003B4F"/>
                </a:solidFill>
                <a:latin typeface="Courier"/>
              </a:rPr>
              <a:t>partial_r2_from_f &lt;-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df_den)</a:t>
            </a:r>
            <a:br/>
            <a:br/>
            <a:r>
              <a:rPr>
                <a:solidFill>
                  <a:srgbClr val="003B4F"/>
                </a:solidFill>
                <a:latin typeface="Courier"/>
              </a:rPr>
              <a:t>results_table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(anova_type3)[</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F_statistic =</a:t>
            </a:r>
            <a:r>
              <a:rPr>
                <a:solidFill>
                  <a:srgbClr val="003B4F"/>
                </a:solidFill>
                <a:latin typeface="Courier"/>
              </a:rPr>
              <a:t> f_stats,</a:t>
            </a:r>
            <a:br/>
            <a:r>
              <a:rPr>
                <a:solidFill>
                  <a:srgbClr val="003B4F"/>
                </a:solidFill>
                <a:latin typeface="Courier"/>
              </a:rPr>
              <a:t>  </a:t>
            </a:r>
            <a:r>
              <a:rPr>
                <a:solidFill>
                  <a:srgbClr val="657422"/>
                </a:solidFill>
                <a:latin typeface="Courier"/>
              </a:rPr>
              <a:t>p_value =</a:t>
            </a: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Partial_R_squared =</a:t>
            </a:r>
            <a:r>
              <a:rPr>
                <a:solidFill>
                  <a:srgbClr val="003B4F"/>
                </a:solidFill>
                <a:latin typeface="Courier"/>
              </a:rPr>
              <a:t> partial_r2_from_f</a:t>
            </a:r>
            <a:br/>
            <a:r>
              <a:rPr>
                <a:solidFill>
                  <a:srgbClr val="003B4F"/>
                </a:solidFill>
                <a:latin typeface="Courier"/>
              </a:rPr>
              <a:t>)</a:t>
            </a:r>
            <a:br/>
            <a:r>
              <a:rPr>
                <a:solidFill>
                  <a:srgbClr val="003B4F"/>
                </a:solidFill>
                <a:latin typeface="Courier"/>
              </a:rPr>
              <a:t>results_table</a:t>
            </a:r>
          </a:p>
          <a:p>
            <a:pPr lvl="0" indent="0" marL="0">
              <a:buNone/>
            </a:pPr>
            <a:r>
              <a:rPr/>
              <a:t>✏️ </a:t>
            </a:r>
            <a:r>
              <a:rPr b="1"/>
              <a:t>Your turn:</a:t>
            </a:r>
            <a:r>
              <a:rPr/>
              <a:t> Do the </a:t>
            </a:r>
            <a:r>
              <a:rPr>
                <a:latin typeface="Courier"/>
              </a:rPr>
              <a:t>sensemakr</a:t>
            </a:r>
            <a:r>
              <a:rPr/>
              <a:t> partial R² values roughly match your by-hand </a:t>
            </a:r>
            <a:r>
              <a:rPr>
                <a:latin typeface="Courier"/>
              </a:rPr>
              <a:t>Partial_R_squared</a:t>
            </a:r>
            <a:r>
              <a:rPr/>
              <a:t> column? </a:t>
            </a:r>
            <a:r>
              <a:rPr>
                <a:latin typeface="Courier"/>
              </a:rPr>
              <a:t>________________________</a:t>
            </a:r>
          </a:p>
          <a:p>
            <a:pPr lvl="0" indent="0" marL="1270000">
              <a:buNone/>
            </a:pPr>
            <a:r>
              <a:rPr sz="2000" b="1"/>
              <a:t>Tip</a:t>
            </a:r>
          </a:p>
          <a:p>
            <a:pPr lvl="0" indent="0" marL="1270000">
              <a:buNone/>
            </a:pPr>
            <a:r>
              <a:rPr sz="2000" b="1"/>
              <a:t>🚀 If you finish early:</a:t>
            </a:r>
            <a:r>
              <a:rPr sz="2000"/>
              <a:t> Which single predictor has the highest partial R² in </a:t>
            </a:r>
            <a:r>
              <a:rPr sz="2000">
                <a:latin typeface="Courier"/>
              </a:rPr>
              <a:t>model_5</a:t>
            </a:r>
            <a:r>
              <a:rPr sz="2000"/>
              <a:t>? Does that match which predictor had the smallest p-value in </a:t>
            </a:r>
            <a:r>
              <a:rPr sz="2000">
                <a:latin typeface="Courier"/>
              </a:rPr>
              <a:t>summary(model_5)</a:t>
            </a:r>
            <a:r>
              <a:rPr sz="2000"/>
              <a:t>?</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An Alternative: Standardized Variables</a:t>
            </a:r>
          </a:p>
        </p:txBody>
      </p:sp>
      <p:sp>
        <p:nvSpPr>
          <p:cNvPr id="3" name="Content Placeholder 2"/>
          <p:cNvSpPr>
            <a:spLocks noGrp="1"/>
          </p:cNvSpPr>
          <p:nvPr>
            <p:ph idx="1"/>
          </p:nvPr>
        </p:nvSpPr>
        <p:spPr/>
        <p:txBody>
          <a:bodyPr/>
          <a:lstStyle/>
          <a:p>
            <a:pPr lvl="0" indent="0" marL="0">
              <a:buNone/>
            </a:pPr>
            <a:r>
              <a:rPr b="1"/>
              <a:t>▶ Run this</a:t>
            </a:r>
            <a:r>
              <a:rPr/>
              <a:t> — refit with every numeric predictor standardized (mean 0, SD 1), including a temp × precip interaction:</a:t>
            </a:r>
          </a:p>
          <a:p>
            <a:pPr lvl="0" indent="0">
              <a:buNone/>
            </a:pPr>
            <a:r>
              <a:rPr>
                <a:solidFill>
                  <a:srgbClr val="003B4F"/>
                </a:solidFill>
                <a:latin typeface="Courier"/>
              </a:rPr>
              <a:t>forest_standardized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npp_sqrt_scaled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sqrt</a:t>
            </a:r>
            <a:r>
              <a:rPr>
                <a:solidFill>
                  <a:srgbClr val="003B4F"/>
                </a:solidFill>
                <a:latin typeface="Courier"/>
              </a:rPr>
              <a:t>(npp))[,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log_age_scaled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log10</a:t>
            </a:r>
            <a:r>
              <a:rPr>
                <a:solidFill>
                  <a:srgbClr val="003B4F"/>
                </a:solidFill>
                <a:latin typeface="Courier"/>
              </a:rPr>
              <a:t>(age))[,</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biomass_scaled =</a:t>
            </a:r>
            <a:r>
              <a:rPr>
                <a:solidFill>
                  <a:srgbClr val="003B4F"/>
                </a:solidFill>
                <a:latin typeface="Courier"/>
              </a:rPr>
              <a:t> </a:t>
            </a:r>
            <a:r>
              <a:rPr>
                <a:solidFill>
                  <a:srgbClr val="4758AB"/>
                </a:solidFill>
                <a:latin typeface="Courier"/>
              </a:rPr>
              <a:t>scale</a:t>
            </a:r>
            <a:r>
              <a:rPr>
                <a:solidFill>
                  <a:srgbClr val="003B4F"/>
                </a:solidFill>
                <a:latin typeface="Courier"/>
              </a:rPr>
              <a:t>(biomass)[,</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temp_scaled =</a:t>
            </a:r>
            <a:r>
              <a:rPr>
                <a:solidFill>
                  <a:srgbClr val="003B4F"/>
                </a:solidFill>
                <a:latin typeface="Courier"/>
              </a:rPr>
              <a:t> </a:t>
            </a:r>
            <a:r>
              <a:rPr>
                <a:solidFill>
                  <a:srgbClr val="4758AB"/>
                </a:solidFill>
                <a:latin typeface="Courier"/>
              </a:rPr>
              <a:t>scale</a:t>
            </a:r>
            <a:r>
              <a:rPr>
                <a:solidFill>
                  <a:srgbClr val="003B4F"/>
                </a:solidFill>
                <a:latin typeface="Courier"/>
              </a:rPr>
              <a:t>(temp)[,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precip_scaled =</a:t>
            </a:r>
            <a:r>
              <a:rPr>
                <a:solidFill>
                  <a:srgbClr val="003B4F"/>
                </a:solidFill>
                <a:latin typeface="Courier"/>
              </a:rPr>
              <a:t> </a:t>
            </a:r>
            <a:r>
              <a:rPr>
                <a:solidFill>
                  <a:srgbClr val="4758AB"/>
                </a:solidFill>
                <a:latin typeface="Courier"/>
              </a:rPr>
              <a:t>scale</a:t>
            </a:r>
            <a:r>
              <a:rPr>
                <a:solidFill>
                  <a:srgbClr val="003B4F"/>
                </a:solidFill>
                <a:latin typeface="Courier"/>
              </a:rPr>
              <a:t>(precip)[,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teb_scaled =</a:t>
            </a:r>
            <a:r>
              <a:rPr>
                <a:solidFill>
                  <a:srgbClr val="003B4F"/>
                </a:solidFill>
                <a:latin typeface="Courier"/>
              </a:rPr>
              <a:t> </a:t>
            </a:r>
            <a:r>
              <a:rPr>
                <a:solidFill>
                  <a:srgbClr val="4758AB"/>
                </a:solidFill>
                <a:latin typeface="Courier"/>
              </a:rPr>
              <a:t>scale</a:t>
            </a:r>
            <a:r>
              <a:rPr>
                <a:solidFill>
                  <a:srgbClr val="003B4F"/>
                </a:solidFill>
                <a:latin typeface="Courier"/>
              </a:rPr>
              <a:t>(teb)[,</a:t>
            </a:r>
            <a:r>
              <a:rPr>
                <a:solidFill>
                  <a:srgbClr val="AD0000"/>
                </a:solidFill>
                <a:latin typeface="Courier"/>
              </a:rPr>
              <a:t>1</a:t>
            </a:r>
            <a:r>
              <a:rPr>
                <a:solidFill>
                  <a:srgbClr val="003B4F"/>
                </a:solidFill>
                <a:latin typeface="Courier"/>
              </a:rPr>
              <a:t>]</a:t>
            </a:r>
            <a:br/>
            <a:r>
              <a:rPr>
                <a:solidFill>
                  <a:srgbClr val="003B4F"/>
                </a:solidFill>
                <a:latin typeface="Courier"/>
              </a:rPr>
              <a:t>  )</a:t>
            </a:r>
            <a:br/>
            <a:br/>
            <a:r>
              <a:rPr>
                <a:solidFill>
                  <a:srgbClr val="003B4F"/>
                </a:solidFill>
                <a:latin typeface="Courier"/>
              </a:rPr>
              <a:t>model_std &lt;- </a:t>
            </a:r>
            <a:r>
              <a:rPr>
                <a:solidFill>
                  <a:srgbClr val="4758AB"/>
                </a:solidFill>
                <a:latin typeface="Courier"/>
              </a:rPr>
              <a:t>lm</a:t>
            </a:r>
            <a:r>
              <a:rPr>
                <a:solidFill>
                  <a:srgbClr val="003B4F"/>
                </a:solidFill>
                <a:latin typeface="Courier"/>
              </a:rPr>
              <a:t>(npp_sqrt_scaled </a:t>
            </a:r>
            <a:r>
              <a:rPr>
                <a:solidFill>
                  <a:srgbClr val="5E5E5E"/>
                </a:solidFill>
                <a:latin typeface="Courier"/>
              </a:rPr>
              <a:t>~</a:t>
            </a:r>
            <a:r>
              <a:rPr>
                <a:solidFill>
                  <a:srgbClr val="003B4F"/>
                </a:solidFill>
                <a:latin typeface="Courier"/>
              </a:rPr>
              <a:t> log_age_scaled </a:t>
            </a:r>
            <a:r>
              <a:rPr>
                <a:solidFill>
                  <a:srgbClr val="5E5E5E"/>
                </a:solidFill>
                <a:latin typeface="Courier"/>
              </a:rPr>
              <a:t>+</a:t>
            </a:r>
            <a:r>
              <a:rPr>
                <a:solidFill>
                  <a:srgbClr val="003B4F"/>
                </a:solidFill>
                <a:latin typeface="Courier"/>
              </a:rPr>
              <a:t> biomass_scaled </a:t>
            </a:r>
            <a:r>
              <a:rPr>
                <a:solidFill>
                  <a:srgbClr val="5E5E5E"/>
                </a:solidFill>
                <a:latin typeface="Courier"/>
              </a:rPr>
              <a:t>+</a:t>
            </a:r>
            <a:br/>
            <a:r>
              <a:rPr>
                <a:solidFill>
                  <a:srgbClr val="003B4F"/>
                </a:solidFill>
                <a:latin typeface="Courier"/>
              </a:rPr>
              <a:t>                temp_scaled </a:t>
            </a:r>
            <a:r>
              <a:rPr>
                <a:solidFill>
                  <a:srgbClr val="5E5E5E"/>
                </a:solidFill>
                <a:latin typeface="Courier"/>
              </a:rPr>
              <a:t>*</a:t>
            </a:r>
            <a:r>
              <a:rPr>
                <a:solidFill>
                  <a:srgbClr val="003B4F"/>
                </a:solidFill>
                <a:latin typeface="Courier"/>
              </a:rPr>
              <a:t> precip_scaled </a:t>
            </a:r>
            <a:r>
              <a:rPr>
                <a:solidFill>
                  <a:srgbClr val="5E5E5E"/>
                </a:solidFill>
                <a:latin typeface="Courier"/>
              </a:rPr>
              <a:t>+</a:t>
            </a:r>
            <a:r>
              <a:rPr>
                <a:solidFill>
                  <a:srgbClr val="003B4F"/>
                </a:solidFill>
                <a:latin typeface="Courier"/>
              </a:rPr>
              <a:t> teb_scaled,</a:t>
            </a:r>
            <a:br/>
            <a:r>
              <a:rPr>
                <a:solidFill>
                  <a:srgbClr val="003B4F"/>
                </a:solidFill>
                <a:latin typeface="Courier"/>
              </a:rPr>
              <a:t>                </a:t>
            </a:r>
            <a:r>
              <a:rPr>
                <a:solidFill>
                  <a:srgbClr val="657422"/>
                </a:solidFill>
                <a:latin typeface="Courier"/>
              </a:rPr>
              <a:t>data =</a:t>
            </a:r>
            <a:r>
              <a:rPr>
                <a:solidFill>
                  <a:srgbClr val="003B4F"/>
                </a:solidFill>
                <a:latin typeface="Courier"/>
              </a:rPr>
              <a:t> forest_standardized)</a:t>
            </a:r>
            <a:br/>
            <a:r>
              <a:rPr>
                <a:solidFill>
                  <a:srgbClr val="4758AB"/>
                </a:solidFill>
                <a:latin typeface="Courier"/>
              </a:rPr>
              <a:t>summary</a:t>
            </a:r>
            <a:r>
              <a:rPr>
                <a:solidFill>
                  <a:srgbClr val="003B4F"/>
                </a:solidFill>
                <a:latin typeface="Courier"/>
              </a:rPr>
              <a:t>(model_std)</a:t>
            </a:r>
          </a:p>
          <a:p>
            <a:pPr lvl="0" indent="0" marL="0">
              <a:buNone/>
            </a:pPr>
            <a:r>
              <a:rPr/>
              <a:t>✏️ </a:t>
            </a:r>
            <a:r>
              <a:rPr b="1"/>
              <a:t>Your turn:</a:t>
            </a:r>
            <a:r>
              <a:rPr/>
              <a:t> In </a:t>
            </a:r>
            <a:r>
              <a:rPr>
                <a:latin typeface="Courier"/>
              </a:rPr>
              <a:t>model_std</a:t>
            </a:r>
            <a:r>
              <a:rPr/>
              <a:t>, which predictor has the largest absolute standardized coefficient? Is that the same predictor that had the highest partial R² in Part 7? </a:t>
            </a:r>
            <a:r>
              <a:rPr>
                <a:latin typeface="Courier"/>
              </a:rPr>
              <a:t>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Multicollinearity</a:t>
            </a:r>
            <a:r>
              <a:rPr/>
              <a:t> — growing season length and temperature were highly correlated; removed season to address it.</a:t>
            </a:r>
          </a:p>
          <a:p>
            <a:pPr lvl="0" indent="-342900" marL="342900">
              <a:buAutoNum type="arabicPeriod"/>
            </a:pPr>
            <a:r>
              <a:rPr b="1"/>
              <a:t>Variable transformations</a:t>
            </a:r>
            <a:r>
              <a:rPr/>
              <a:t> — log transformation of age improved model fit; cube-root transformation of npp addressed assumption violations.</a:t>
            </a:r>
          </a:p>
          <a:p>
            <a:pPr lvl="0" indent="-342900" marL="342900">
              <a:buAutoNum type="arabicPeriod"/>
            </a:pPr>
            <a:r>
              <a:rPr b="1"/>
              <a:t>Final model results</a:t>
            </a:r>
            <a:r>
              <a:rPr/>
              <a:t> — significant predictors: age (negative), biomass (positive), temp (positive); teb had a negative effect; leaf type differences were significant.</a:t>
            </a:r>
          </a:p>
          <a:p>
            <a:pPr lvl="0" indent="-342900" marL="342900">
              <a:buAutoNum type="arabicPeriod"/>
            </a:pPr>
            <a:r>
              <a:rPr b="1"/>
              <a:t>Biological interpretation</a:t>
            </a:r>
            <a:r>
              <a:rPr/>
              <a:t> — younger stands had higher npp (for a given biomass); higher biomass was associated with higher npp; temperature was positively related to npp; coniferous forests had lower npp than broadleaf forests.</a:t>
            </a:r>
          </a:p>
          <a:p>
            <a:pPr lvl="0" indent="0" marL="1270000">
              <a:buNone/>
            </a:pPr>
            <a:r>
              <a:rPr sz="2000" b="1"/>
              <a:t>Note</a:t>
            </a:r>
          </a:p>
          <a:p>
            <a:pPr lvl="0" indent="0" marL="1270000">
              <a:buNone/>
            </a:pPr>
            <a:r>
              <a:rPr sz="2000" b="1"/>
              <a:t>Reference</a:t>
            </a:r>
          </a:p>
          <a:p>
            <a:pPr lvl="0" indent="0" marL="1270000">
              <a:buNone/>
            </a:pPr>
            <a:r>
              <a:rPr sz="2000"/>
              <a:t>Michaletz, S.T., Cheng, D., Kerkhoff, A.J. &amp; Enquist, B.J. (2014). Convergence of terrestrial plant production across global climate gradients. </a:t>
            </a:r>
            <a:r>
              <a:rPr sz="2000" i="1"/>
              <a:t>Nature</a:t>
            </a:r>
            <a:r>
              <a:rPr sz="2000"/>
              <a:t>, 512, 39–43.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Detect multicollinearity with a correlation matrix and VIFs, and address it by dropping a redundant predictor</a:t>
            </a:r>
          </a:p>
          <a:p>
            <a:pPr lvl="0"/>
            <a:r>
              <a:rPr/>
              <a:t>☐ Use Added Variable plots to check whether a predictor’s relationship with Y is linear</a:t>
            </a:r>
          </a:p>
          <a:p>
            <a:pPr lvl="0"/>
            <a:r>
              <a:rPr/>
              <a:t>☐ Apply and evaluate predictor and response transformations</a:t>
            </a:r>
          </a:p>
          <a:p>
            <a:pPr lvl="0"/>
            <a:r>
              <a:rPr/>
              <a:t>☐ Read the standard four-panel regression diagnostic plots</a:t>
            </a:r>
          </a:p>
          <a:p>
            <a:pPr lvl="0"/>
            <a:r>
              <a:rPr/>
              <a:t>☐ Compare nested models with AIC and adjusted R²</a:t>
            </a:r>
          </a:p>
          <a:p>
            <a:pPr lvl="0"/>
            <a:r>
              <a:rPr/>
              <a:t>☐ Quantify predictor importance with partial R² and standardized coefficients</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11_multiple_regression.R</a:t>
            </a:r>
            <a:r>
              <a:rPr sz="2000"/>
              <a:t>)</a:t>
            </a:r>
          </a:p>
          <a:p>
            <a:pPr lvl="0" indent="-342900" marL="342900">
              <a:buAutoNum type="arabicPeriod"/>
            </a:pPr>
            <a:r>
              <a:rPr sz="2000"/>
              <a:t>This worksheet, with your written answers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Take-Home Extension — Nutrients and Chlorophyll in New Zealand Lakes</a:t>
            </a:r>
          </a:p>
        </p:txBody>
      </p:sp>
      <p:sp>
        <p:nvSpPr>
          <p:cNvPr id="3" name="Content Placeholder 2"/>
          <p:cNvSpPr>
            <a:spLocks noGrp="1"/>
          </p:cNvSpPr>
          <p:nvPr>
            <p:ph idx="1"/>
          </p:nvPr>
        </p:nvSpPr>
        <p:spPr/>
        <p:txBody>
          <a:bodyPr/>
          <a:lstStyle/>
          <a:p>
            <a:pPr lvl="0" indent="0" marL="0">
              <a:buNone/>
            </a:pPr>
            <a:r>
              <a:rPr i="1"/>
              <a:t>Due Monday, October 19 — before the Analysis of Variance class.</a:t>
            </a:r>
          </a:p>
          <a:p>
            <a:pPr lvl="0" indent="0" marL="0">
              <a:buNone/>
            </a:pPr>
            <a:r>
              <a:rPr/>
              <a:t>Same workflow as Parts 1–6 — correlation/multicollinearity check, fit the model, diagnose, transform if needed, interpret — new dataset, new question. This time you decide what (if anything) needs fixing before you trust the model; nobody walks you through it step by step.</a:t>
            </a:r>
          </a:p>
          <a:p>
            <a:pPr lvl="0" indent="0" marL="0">
              <a:spcBef>
                <a:spcPts val="3000"/>
              </a:spcBef>
              <a:buNone/>
            </a:pPr>
            <a:r>
              <a:rPr b="1"/>
              <a:t>Background</a:t>
            </a:r>
          </a:p>
          <a:p>
            <a:pPr lvl="0" indent="0" marL="0">
              <a:buNone/>
            </a:pPr>
            <a:r>
              <a:rPr/>
              <a:t>Abell et al. (2010) studied nutrient limitation in New Zealand lakes. Chlorophyll-a is a standard proxy for algal biomass, and both phosphorus and nitrogen can drive it up. Below are measurements from 111 New Zealand lakes.</a:t>
            </a:r>
          </a:p>
          <a:p>
            <a:pPr lvl="0" indent="0" marL="0">
              <a:buNone/>
            </a:pPr>
            <a:r>
              <a:rPr b="1"/>
              <a:t>▶ Run this:</a:t>
            </a:r>
          </a:p>
          <a:p>
            <a:pPr lvl="0" indent="0">
              <a:buNone/>
            </a:pPr>
            <a:r>
              <a:rPr>
                <a:solidFill>
                  <a:srgbClr val="003B4F"/>
                </a:solidFill>
                <a:latin typeface="Courier"/>
              </a:rPr>
              <a:t>nz_df &lt;- </a:t>
            </a:r>
            <a:r>
              <a:rPr>
                <a:solidFill>
                  <a:srgbClr val="4758AB"/>
                </a:solidFill>
                <a:latin typeface="Courier"/>
              </a:rPr>
              <a:t>read_csv</a:t>
            </a:r>
            <a:r>
              <a:rPr>
                <a:solidFill>
                  <a:srgbClr val="003B4F"/>
                </a:solidFill>
                <a:latin typeface="Courier"/>
              </a:rPr>
              <a:t>(</a:t>
            </a:r>
            <a:r>
              <a:rPr>
                <a:solidFill>
                  <a:srgbClr val="20794D"/>
                </a:solidFill>
                <a:latin typeface="Courier"/>
              </a:rPr>
              <a:t>"data/abel_et_al_lakes_data.csv"</a:t>
            </a:r>
            <a:r>
              <a:rPr>
                <a:solidFill>
                  <a:srgbClr val="003B4F"/>
                </a:solidFill>
                <a:latin typeface="Courier"/>
              </a:rPr>
              <a:t>)</a:t>
            </a:r>
            <a:br/>
            <a:r>
              <a:rPr>
                <a:solidFill>
                  <a:srgbClr val="4758AB"/>
                </a:solidFill>
                <a:latin typeface="Courier"/>
              </a:rPr>
              <a:t>head</a:t>
            </a:r>
            <a:r>
              <a:rPr>
                <a:solidFill>
                  <a:srgbClr val="003B4F"/>
                </a:solidFill>
                <a:latin typeface="Courier"/>
              </a:rPr>
              <a:t>(nz_df)</a:t>
            </a:r>
          </a:p>
          <a:p>
            <a:pPr lvl="0" indent="0" marL="0">
              <a:spcBef>
                <a:spcPts val="3000"/>
              </a:spcBef>
              <a:buNone/>
            </a:pPr>
            <a:r>
              <a:rPr b="1"/>
              <a:t>Your Task</a:t>
            </a:r>
          </a:p>
          <a:p>
            <a:pPr lvl="0" indent="0" marL="0">
              <a:buNone/>
            </a:pPr>
            <a:r>
              <a:rPr b="1"/>
              <a:t>Question:</a:t>
            </a:r>
            <a:r>
              <a:rPr/>
              <a:t> How do total phosphorus and total nitrogen jointly predict chlorophyll-a concentration across these lakes?</a:t>
            </a:r>
          </a:p>
          <a:p>
            <a:pPr lvl="0" indent="0" marL="0">
              <a:buNone/>
            </a:pPr>
            <a:r>
              <a:rPr/>
              <a:t>✏️ </a:t>
            </a:r>
            <a:r>
              <a:rPr b="1"/>
              <a:t>Your turn:</a:t>
            </a:r>
            <a:r>
              <a:rPr/>
              <a:t> State your hypotheses. Check for multicollinearity between the two predictors and decide whether it’s a problem here. Look at the shape of each relationship and decide whether a transformation is needed before you trust a linear model (hint: nutrient–chlorophyll relationships are rarely linear on the raw scale). Justify whatever choices you make, then fit the model, interpret it, and report the result properly.</a:t>
            </a:r>
          </a:p>
          <a:p>
            <a:pPr lvl="0" indent="0">
              <a:buNone/>
            </a:pPr>
            <a:r>
              <a:rPr>
                <a:latin typeface="Courier"/>
              </a:rPr>
              <a:t>H0 =
________________________________________________________
Ha =
________________________________________________________
Model/transformation I will use and why:
________________________________________________________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Final Figure</a:t>
            </a:r>
          </a:p>
          <a:p>
            <a:pPr lvl="0" indent="0" marL="0">
              <a:buNone/>
            </a:pPr>
            <a:r>
              <a:rPr/>
              <a:t>Produce one publication-quality figure showing the relationship between chlorophyll-a and the predictor(s) that mattered most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Oct 19</a:t>
            </a:r>
          </a:p>
          <a:p>
            <a:pPr lvl="0" indent="0" marL="1270000">
              <a:buNone/>
            </a:pPr>
            <a:r>
              <a:rPr sz="2000"/>
              <a:t>Your write-up should include:</a:t>
            </a:r>
          </a:p>
          <a:p>
            <a:pPr lvl="0"/>
            <a:r>
              <a:rPr sz="2000"/>
              <a:t>☐ The question</a:t>
            </a:r>
          </a:p>
          <a:p>
            <a:pPr lvl="0"/>
            <a:r>
              <a:rPr sz="2000"/>
              <a:t>☐ Your hypotheses</a:t>
            </a:r>
          </a:p>
          <a:p>
            <a:pPr lvl="0"/>
            <a:r>
              <a:rPr sz="2000"/>
              <a:t>☐ Which model/transformation you used, and your justification for choosing it</a:t>
            </a:r>
          </a:p>
          <a:p>
            <a:pPr lvl="0"/>
            <a:r>
              <a:rPr sz="2000"/>
              <a:t>☐ The code and its output</a:t>
            </a:r>
          </a:p>
          <a:p>
            <a:pPr lvl="0"/>
            <a:r>
              <a:rPr sz="2000"/>
              <a:t>☐ Your interpretation of the result</a:t>
            </a:r>
          </a:p>
          <a:p>
            <a:pPr lvl="0"/>
            <a:r>
              <a:rPr sz="2000"/>
              <a:t>☐ A final figure showing the result</a:t>
            </a:r>
          </a:p>
          <a:p>
            <a:pPr lvl="0" indent="0" marL="1270000">
              <a:buNone/>
            </a:pPr>
            <a:r>
              <a:rPr sz="2000" b="1"/>
              <a:t>Note</a:t>
            </a:r>
          </a:p>
          <a:p>
            <a:pPr lvl="0" indent="0" marL="1270000">
              <a:buNone/>
            </a:pPr>
            <a:r>
              <a:rPr sz="2000" b="1"/>
              <a:t>Reference</a:t>
            </a:r>
          </a:p>
          <a:p>
            <a:pPr lvl="0" indent="0" marL="1270000">
              <a:buNone/>
            </a:pPr>
            <a:r>
              <a:rPr sz="2000"/>
              <a:t>Abell, J.M., Özkundakci, D. &amp; Hamilton, D.P. (2010). Nitrogen and phosphorus limitation of phytoplankton growth in New Zealand lakes. </a:t>
            </a:r>
            <a:r>
              <a:rPr sz="2000" i="1"/>
              <a:t>Ecosystems</a:t>
            </a:r>
            <a:r>
              <a:rPr sz="2000"/>
              <a:t>, 13, 966–977.</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library(corrplot)</a:t>
            </a:r>
            <a:r>
              <a:rPr/>
              <a:t>, </a:t>
            </a:r>
            <a:r>
              <a:rPr>
                <a:latin typeface="Courier"/>
              </a:rPr>
              <a:t>library(GGally)</a:t>
            </a:r>
            <a:r>
              <a:rPr/>
              <a:t>, and </a:t>
            </a:r>
            <a:r>
              <a:rPr>
                <a:latin typeface="Courier"/>
              </a:rPr>
              <a:t>library(sensemakr)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Multiple Regression</dc:title>
  <dc:creator>Bill Perry</dc:creator>
  <cp:keywords/>
  <dc:description>Hands-on activity: multicollinearity, variable transformations, model diagnostics, model comparison, and predictor importance on the Michaletz et al. (2014) global forest NPP dataset.</dc:description>
  <dcterms:created xsi:type="dcterms:W3CDTF">2026-08-28T18:18:09Z</dcterms:created>
  <dcterms:modified xsi:type="dcterms:W3CDTF">2026-08-28T18:18:09Z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11</vt:lpwstr>
  </property>
  <property fmtid="{D5CDD505-2E9C-101B-9397-08002B2CF9AE}" pid="13" name="resources">
    <vt:lpwstr/>
  </property>
  <property fmtid="{D5CDD505-2E9C-101B-9397-08002B2CF9AE}" pid="14" name="subtitle">
    <vt:lpwstr>Several predictors</vt:lpwstr>
  </property>
  <property fmtid="{D5CDD505-2E9C-101B-9397-08002B2CF9AE}" pid="15" name="toc-title">
    <vt:lpwstr>Table of contents</vt:lpwstr>
  </property>
  <property fmtid="{D5CDD505-2E9C-101B-9397-08002B2CF9AE}" pid="16" name="week">
    <vt:lpwstr>7</vt:lpwstr>
  </property>
</Properties>
</file>