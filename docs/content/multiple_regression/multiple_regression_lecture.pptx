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1" Type="http://schemas.openxmlformats.org/officeDocument/2006/relationships/viewProps" Target="viewProps.xml" /><Relationship Id="rId6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3" Type="http://schemas.openxmlformats.org/officeDocument/2006/relationships/tableStyles" Target="tableStyles.xml" /><Relationship Id="rId6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data/loyn_birds.csv" TargetMode="External" /><Relationship Id="rId3" Type="http://schemas.openxmlformats.org/officeDocument/2006/relationships/hyperlink" Target="data/11_multiple_regression.R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Multiple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Several predictors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Covered last time:</a:t>
                </a:r>
              </a:p>
              <a:p>
                <a:pPr lvl="0"/>
                <a:r>
                  <a:rPr/>
                  <a:t>One continuous predictor, one continuous response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sums-of-squares partition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Mean squares, the F-ratio, and </a:t>
                </a:r>
                <a:r>
                  <a:rPr b="1"/>
                  <a:t>t² = F</a:t>
                </a:r>
              </a:p>
              <a:p>
                <a:pPr lvl="0"/>
                <a:r>
                  <a:rPr/>
                  <a:t>The four assumptions, all checked on the </a:t>
                </a:r>
                <a:r>
                  <a:rPr b="1"/>
                  <a:t>residuals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last lecture</a:t>
            </a:r>
          </a:p>
          <a:p>
            <a:pPr lvl="0" indent="0" marL="1270000">
              <a:buNone/>
            </a:pPr>
            <a:r>
              <a:rPr sz="2000"/>
              <a:t>A simple regression has one predictor and one partition of variance. Today we add more predictors.</a:t>
            </a:r>
          </a:p>
          <a:p>
            <a:pPr lvl="0" indent="0" marL="1270000">
              <a:buNone/>
            </a:pPr>
            <a:r>
              <a:rPr sz="2000"/>
              <a:t>The logic barely changes. The </a:t>
            </a:r>
            <a:r>
              <a:rPr sz="2000" b="1"/>
              <a:t>bookkeeping</a:t>
            </a:r>
            <a:r>
              <a:rPr sz="2000"/>
              <a:t> does — and so does what each slope means.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Why Multiple Regression?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Today’s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multiple linear regression model:</a:t>
            </a:r>
          </a:p>
          <a:p>
            <a:pPr lvl="0"/>
            <a:r>
              <a:rPr/>
              <a:t>Partial regression slopes — and why they are not the same as simple slopes</a:t>
            </a:r>
          </a:p>
          <a:p>
            <a:pPr lvl="0"/>
            <a:r>
              <a:rPr/>
              <a:t>Analysis of variance and the null hypotheses</a:t>
            </a:r>
          </a:p>
          <a:p>
            <a:pPr lvl="0"/>
            <a:r>
              <a:rPr/>
              <a:t>Assumptions, diagnostics and collinearity</a:t>
            </a:r>
          </a:p>
          <a:p>
            <a:pPr lvl="0"/>
            <a:r>
              <a:rPr/>
              <a:t>Interactions</a:t>
            </a:r>
          </a:p>
          <a:p>
            <a:pPr lvl="0"/>
            <a:r>
              <a:rPr b="1"/>
              <a:t>Factors, dummy variables, and choosing your reference level</a:t>
            </a:r>
          </a:p>
          <a:p>
            <a:pPr lvl="0"/>
            <a:r>
              <a:rPr/>
              <a:t>Model comparison and predictor importance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📥 Bird data</a:t>
            </a:r>
            <a:r>
              <a:rPr/>
              <a:t> </a:t>
            </a:r>
            <a:r>
              <a:rPr>
                <a:hlinkClick r:id="rId3"/>
              </a:rPr>
              <a:t>📥 Script skeleton (.R)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Reading</a:t>
            </a:r>
          </a:p>
          <a:p>
            <a:pPr lvl="0" indent="0" marL="1270000">
              <a:buNone/>
            </a:pPr>
            <a:r>
              <a:rPr sz="2000"/>
              <a:t>Quinn &amp; Keough, Ch. 6 — Multiple and Complex Regression.</a:t>
            </a:r>
          </a:p>
          <a:p>
            <a:pPr lvl="0" indent="0" marL="1270000">
              <a:buNone/>
            </a:pPr>
            <a:r>
              <a:rPr sz="2000"/>
              <a:t>Whitlock &amp; Schluter, Ch. 17; Gotelli &amp; Ellison, Ch. 9.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Study · Birds in Fragmented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Loyn (1987) surveyed </a:t>
            </a:r>
            <a:r>
              <a:rPr b="1"/>
              <a:t>56 remnant forest patches</a:t>
            </a:r>
            <a:r>
              <a:rPr/>
              <a:t> in Victoria, Australia, and counted the birds in each one. For every patch he also recorded six things that might explain the count.</a:t>
            </a:r>
          </a:p>
          <a:p>
            <a:pPr lvl="0" indent="0" marL="0">
              <a:buNone/>
            </a:pPr>
            <a:r>
              <a:rPr/>
              <a:t>Small patches, isolated patches, recently cut-off patches and heavily grazed patches are all candidates — and they are not independent of each other.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Reading the Data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bird_df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"data/loyn_birds.csv"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log_area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log10</a:t>
            </a:r>
            <a:r>
              <a:rPr>
                <a:solidFill>
                  <a:srgbClr val="003B4F"/>
                </a:solidFill>
                <a:latin typeface="Courier"/>
              </a:rPr>
              <a:t>(area_ha),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log_dist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log10</a:t>
            </a:r>
            <a:r>
              <a:rPr>
                <a:solidFill>
                  <a:srgbClr val="003B4F"/>
                </a:solidFill>
                <a:latin typeface="Courier"/>
              </a:rPr>
              <a:t>(dist_m),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log_dist_larger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log10</a:t>
            </a:r>
            <a:r>
              <a:rPr>
                <a:solidFill>
                  <a:srgbClr val="003B4F"/>
                </a:solidFill>
                <a:latin typeface="Courier"/>
              </a:rPr>
              <a:t>(dist_larger_m))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(bird_df)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56
Columns: 11
$ abundance       &lt;dbl&gt; 5.3, 2.0, 1.5, 17.1, 13.8, 14.1, 3.8, 2.2, 3.3, 3.0, 2…
$ area_ha         &lt;dbl&gt; 0.1, 0.5, 0.5, 1.0, 1.0, 1.0, 1.0, 1.0, 1.0, 1.0, 2.0,…
$ year_isolated   &lt;dbl&gt; 1968, 1920, 1900, 1966, 1918, 1965, 1955, 1920, 1965, …
$ dist_m          &lt;dbl&gt; 39, 234, 104, 66, 246, 234, 467, 284, 156, 311, 66, 93…
$ dist_larger_m   &lt;dbl&gt; 39, 234, 311, 66, 246, 285, 467, 1829, 156, 571, 332, …
$ grazing         &lt;dbl&gt; 2, 5, 5, 3, 5, 3, 5, 5, 4, 5, 3, 5, 2, 1, 5, 5, 3, 3, …
$ altitude_m      &lt;dbl&gt; 160, 60, 140, 160, 140, 130, 90, 60, 130, 130, 210, 16…
$ grazing_class   &lt;chr&gt; "light", "intense", "intense", "moderate", "intense", …
$ log_area        &lt;dbl&gt; -1.0000000, -0.3010300, -0.3010300, 0.0000000, 0.00000…
$ log_dist        &lt;dbl&gt; 1.591065, 2.369216, 2.017033, 1.819544, 2.390935, 2.36…
$ log_dist_larger &lt;dbl&gt; 1.591065, 2.369216, 2.492760, 1.819544, 2.390935, 2.45…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three area and distance columns are </a:t>
            </a:r>
            <a:r>
              <a:rPr b="1"/>
              <a:t>logged on the way in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That is not a stylistic choice — Part 4 shows what the raw scale does to the residuals, and it is the same failure you met in last week’s homework.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>
                <a:latin typeface="Courier"/>
              </a:rPr>
              <a:t>grazing_class</a:t>
            </a:r>
          </a:p>
          <a:p>
            <a:pPr lvl="0" indent="0" marL="1270000">
              <a:buNone/>
            </a:pPr>
            <a:r>
              <a:rPr sz="2000"/>
              <a:t>The same grazing intensity as a </a:t>
            </a:r>
            <a:r>
              <a:rPr sz="2000" b="1"/>
              <a:t>word</a:t>
            </a:r>
            <a:r>
              <a:rPr sz="2000"/>
              <a:t> rather than a number. Part 7 is about what changes when you use it.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When Do We Need More Than One Predictor?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Bird abundance in a patch plausibly depends on </a:t>
            </a:r>
            <a:r>
              <a:rPr b="1"/>
              <a:t>all six</a:t>
            </a:r>
            <a:r>
              <a:rPr/>
              <a:t> of those predictors at once, and they are not independent of each other — small patches tend to be grazed harder, and isolated patches tend to be older.</a:t>
            </a:r>
          </a:p>
          <a:p>
            <a:pPr lvl="0" indent="0" marL="0">
              <a:buNone/>
            </a:pPr>
            <a:r>
              <a:rPr/>
              <a:t>Fitting one predictor at a time cannot answer “does area matter </a:t>
            </a:r>
            <a:r>
              <a:rPr i="1"/>
              <a:t>once grazing is accounted for</a:t>
            </a:r>
            <a:r>
              <a:rPr/>
              <a:t>.”</a:t>
            </a:r>
          </a:p>
          <a:p>
            <a:pPr lvl="0"/>
            <a:r>
              <a:rPr/>
              <a:t>Predictors all continuous → </a:t>
            </a:r>
            <a:r>
              <a:rPr b="1"/>
              <a:t>multiple regression</a:t>
            </a:r>
          </a:p>
          <a:p>
            <a:pPr lvl="0"/>
            <a:r>
              <a:rPr/>
              <a:t>A mix of continuous and categorical → still multiple regression, with dummy variables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21400" y="660400"/>
          <a:ext cx="27813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/>
                <a:gridCol w="927100"/>
                <a:gridCol w="9271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Continuous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Categorical 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Continuous 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Categorical 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Contingency tables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One Predictor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the way you would have last week — fit each predictor on its own.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predictor         slope        p
  &lt;chr&gt;             &lt;dbl&gt;    &lt;dbl&gt;
1 log_area         9.78   7.18e-11
2 log_dist         3.29   3.52e- 1
3 log_dist_larger  2.21   3.86e- 1
4 year_isolated    0.211  7.68e- 5
5 grazing         -4.98   6.90e- 9
6 altitude_m       0.0952 3.32e- 3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Four of the six are significant on their own</a:t>
            </a:r>
            <a:r>
              <a:rPr/>
              <a:t>, two of them overwhelmingly.</a:t>
            </a:r>
          </a:p>
          <a:p>
            <a:pPr lvl="0" indent="0" marL="0">
              <a:buNone/>
            </a:pPr>
            <a:r>
              <a:rPr/>
              <a:t>Grazing has the most quotable effect: every extra step of grazing intensity costs about </a:t>
            </a:r>
            <a:r>
              <a:rPr b="1"/>
              <a:t>5 birds</a:t>
            </a:r>
            <a:r>
              <a:rPr/>
              <a:t>, at p = 6.90e-09. Area is the better-supported one — smaller p, more variance explained.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Hold that thought</a:t>
            </a:r>
          </a:p>
          <a:p>
            <a:pPr lvl="0" indent="0" marL="1270000">
              <a:buNone/>
            </a:pPr>
            <a:r>
              <a:rPr sz="2000"/>
              <a:t>Every one of these fits ignores the other five predictors entirely.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🗳️ DECIDE · Which Predictors Will Survive?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are about to put all six predictors into one model together.</a:t>
            </a:r>
          </a:p>
          <a:p>
            <a:pPr lvl="0" indent="0" marL="0">
              <a:buNone/>
            </a:pPr>
            <a:r>
              <a:rPr b="1"/>
              <a:t>What do you expect to happen?</a:t>
            </a:r>
          </a:p>
          <a:p>
            <a:pPr lvl="0" indent="0" marL="0">
              <a:buNone/>
            </a:pPr>
            <a:r>
              <a:rPr b="1"/>
              <a:t>(a)</a:t>
            </a:r>
            <a:r>
              <a:rPr/>
              <a:t> All four significant predictors stay significant — they were each real</a:t>
            </a:r>
          </a:p>
          <a:p>
            <a:pPr lvl="0" indent="0" marL="0">
              <a:buNone/>
            </a:pPr>
            <a:r>
              <a:rPr b="1"/>
              <a:t>(b)</a:t>
            </a:r>
            <a:r>
              <a:rPr/>
              <a:t> Roughly the same four stay, but with smaller slopes</a:t>
            </a:r>
          </a:p>
          <a:p>
            <a:pPr lvl="0" indent="0" marL="0">
              <a:buNone/>
            </a:pPr>
            <a:r>
              <a:rPr b="1"/>
              <a:t>(c)</a:t>
            </a:r>
            <a:r>
              <a:rPr/>
              <a:t> Only one or two survive, and at least one strong predictor becomes non-significant</a:t>
            </a:r>
          </a:p>
          <a:p>
            <a:pPr lvl="0" indent="0" marL="0">
              <a:buNone/>
            </a:pPr>
            <a:r>
              <a:rPr b="1"/>
              <a:t>(d)</a:t>
            </a:r>
            <a:r>
              <a:rPr/>
              <a:t> Nothing survives — with six predictors and 56 patches there is not enough data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✍️ Write your letter down, then vote.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 question to ask</a:t>
            </a:r>
          </a:p>
          <a:p>
            <a:pPr lvl="0" indent="0" marL="1270000">
              <a:buNone/>
            </a:pPr>
            <a:r>
              <a:rPr sz="2000" i="1"/>
              <a:t>How much of what grazing “explains” on its own is really being explained by patch area?</a:t>
            </a:r>
          </a:p>
          <a:p>
            <a:pPr lvl="0" indent="0" marL="1270000">
              <a:buNone/>
            </a:pPr>
            <a:r>
              <a:rPr sz="2000"/>
              <a:t>Small patches are grazed harder. Look back at the table — is grazing telling you something area was not already telling you?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From a Line to a (Hyper)plane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one predictor we fit a </a:t>
            </a:r>
            <a:r>
              <a:rPr b="1"/>
              <a:t>line</a:t>
            </a:r>
            <a:r>
              <a:rPr/>
              <a:t> through a scatterplot.</a:t>
            </a:r>
          </a:p>
          <a:p>
            <a:pPr lvl="0" indent="0" marL="0">
              <a:buNone/>
            </a:pPr>
            <a:r>
              <a:rPr/>
              <a:t>With two, we fit a </a:t>
            </a:r>
            <a:r>
              <a:rPr b="1"/>
              <a:t>plane</a:t>
            </a:r>
            <a:r>
              <a:rPr/>
              <a:t> through a cloud — here, bird abundance over log patch area and grazing intensity.</a:t>
            </a:r>
          </a:p>
          <a:p>
            <a:pPr lvl="0" indent="0" marL="0">
              <a:buNone/>
            </a:pPr>
            <a:r>
              <a:rPr/>
              <a:t>With three or more it is a </a:t>
            </a:r>
            <a:r>
              <a:rPr b="1"/>
              <a:t>hyperplane</a:t>
            </a:r>
            <a:r>
              <a:rPr/>
              <a:t>, which you cannot draw but can still fit.</a:t>
            </a:r>
          </a:p>
        </p:txBody>
      </p:sp>
      <p:pic>
        <p:nvPicPr>
          <p:cNvPr descr="multiple_regression_lecture_files/figure-pptx/multiple-regression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The Multiple Regression Model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Multiple Regression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i = 1 to n observations and p predictors: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— the response for observation i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— the intercept, the mean of Y when </a:t>
                </a:r>
                <a:r>
                  <a:rPr b="1"/>
                  <a:t>every</a:t>
                </a:r>
                <a:r>
                  <a:rPr/>
                  <a:t> predictor is 0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…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— the </a:t>
                </a:r>
                <a:r>
                  <a:rPr b="1"/>
                  <a:t>partial</a:t>
                </a:r>
                <a:r>
                  <a:rPr/>
                  <a:t> regression slopes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ϵ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— the error, estimated by the residual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— what “partial” means</a:t>
            </a:r>
          </a:p>
          <a:p>
            <a:pPr lvl="0" indent="0" marL="1270000">
              <a:buNone/>
            </a:pPr>
            <a:r>
              <a:rPr sz="2000"/>
              <a:t>A partial slope is the change in Y per one-unit change in that predictor </a:t>
            </a:r>
            <a:r>
              <a:rPr sz="2000" b="1"/>
              <a:t>while every other predictor is held constant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It is a </a:t>
            </a:r>
            <a:r>
              <a:rPr sz="2000" i="1"/>
              <a:t>conditional</a:t>
            </a:r>
            <a:r>
              <a:rPr sz="2000"/>
              <a:t> statement. Change what else is in the model and you have changed the condition — so the number is allowed to change too.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Full Model · The Answer to the Vote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full_model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(abundance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log_area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log_dist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log_dist_larger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year_isolated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grazing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altitude_m,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bird_df)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(full_model)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abundance ~ log_area + log_dist + log_dist_larger + 
    year_isolated + grazing + altitude_m, data = bird_df)
Residuals:
     Min       1Q   Median       3Q      Max 
-15.6506  -2.9390   0.5289   2.5353  15.2842 
Coefficients:
                  Estimate Std. Error t value Pr(&gt;|t|)    
(Intercept)     -125.69725   91.69228  -1.371   0.1767    
log_area           7.47023    1.46489   5.099 5.49e-06 ***
log_dist          -0.90696    2.67572  -0.339   0.7361    
log_dist_larger   -0.64842    2.12270  -0.305   0.7613    
year_isolated      0.07387    0.04520   1.634   0.1086    
grazing           -1.66774    0.92993  -1.793   0.0791 .  
altitude_m         0.01951    0.02396   0.814   0.4195    
---
Signif. codes:  0 '***' 0.001 '**' 0.01 '*' 0.05 '.' 0.1 ' ' 1
Residual standard error: 6.384 on 49 degrees of freedom
Multiple R-squared:  0.6849,    Adjusted R-squared:  0.6464 
F-statistic: 17.75 on 6 and 49 DF,  p-value: 8.443e-11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The answer is (c).</a:t>
            </a:r>
          </a:p>
          <a:p>
            <a:pPr lvl="0" indent="0" marL="1270000">
              <a:buNone/>
            </a:pPr>
            <a:r>
              <a:rPr sz="2000"/>
              <a:t>Four predictors were significant alone. In the model together, </a:t>
            </a:r>
            <a:r>
              <a:rPr sz="2000" b="1"/>
              <a:t>only </a:t>
            </a:r>
            <a:r>
              <a:rPr sz="2000" b="1">
                <a:latin typeface="Courier"/>
              </a:rPr>
              <a:t>log_area</a:t>
            </a:r>
            <a:r>
              <a:rPr sz="2000" b="1"/>
              <a:t> survives</a:t>
            </a:r>
            <a:r>
              <a:rPr sz="2000"/>
              <a:t> (p &lt; 0.001).</a:t>
            </a:r>
          </a:p>
          <a:p>
            <a:pPr lvl="0" indent="0" marL="1270000">
              <a:buNone/>
            </a:pPr>
            <a:r>
              <a:rPr sz="2000"/>
              <a:t>Grazing has gone from a slope of </a:t>
            </a:r>
            <a:r>
              <a:rPr sz="2000" b="1"/>
              <a:t>-4.98</a:t>
            </a:r>
            <a:r>
              <a:rPr sz="2000"/>
              <a:t> (p = 6.90e-09) to </a:t>
            </a:r>
            <a:r>
              <a:rPr sz="2000" b="1"/>
              <a:t>-1.67</a:t>
            </a:r>
            <a:r>
              <a:rPr sz="2000"/>
              <a:t> (p = 0.0791) — most of what grazing appeared to explain was patch area wearing a different hat.</a:t>
            </a:r>
          </a:p>
          <a:p>
            <a:pPr lvl="0" indent="0" marL="1270000">
              <a:buNone/>
            </a:pPr>
            <a:r>
              <a:rPr sz="2000"/>
              <a:t>Year of isolation and altitude have gone the same way.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Not Just Regress Y on Each X Separately?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simple regression asks </a:t>
            </a:r>
            <a:r>
              <a:rPr i="1"/>
              <a:t>“does this predictor track abundance?”</a:t>
            </a:r>
            <a:r>
              <a:rPr/>
              <a:t> The multiple regression asks </a:t>
            </a:r>
            <a:r>
              <a:rPr i="1"/>
              <a:t>“does it track abundance </a:t>
            </a:r>
            <a:r>
              <a:rPr b="1" i="1"/>
              <a:t>among patches that are otherwise alike</a:t>
            </a:r>
            <a:r>
              <a:rPr i="1"/>
              <a:t>?”</a:t>
            </a:r>
          </a:p>
          <a:p>
            <a:pPr lvl="0" indent="0" marL="0">
              <a:buNone/>
            </a:pPr>
            <a:r>
              <a:rPr/>
              <a:t>Those are different questions, and they can have different answers.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Neither number is “wrong”</a:t>
            </a:r>
          </a:p>
          <a:p>
            <a:pPr lvl="0" indent="0" marL="1270000">
              <a:buNone/>
            </a:pPr>
            <a:r>
              <a:rPr sz="2000"/>
              <a:t>If you want to predict bird abundance from grazing alone, -4.98 is the right slope to use.</a:t>
            </a:r>
          </a:p>
          <a:p>
            <a:pPr lvl="0" indent="0" marL="1270000">
              <a:buNone/>
            </a:pPr>
            <a:r>
              <a:rPr sz="2000"/>
              <a:t>If you want to claim grazing has an effect </a:t>
            </a:r>
            <a:r>
              <a:rPr sz="2000" b="1"/>
              <a:t>beyond</a:t>
            </a:r>
            <a:r>
              <a:rPr sz="2000"/>
              <a:t> the fact that grazed patches are small, -1.67 is the number you have to defend — and here you cannot.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Estimation and 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Estimation.</a:t>
                </a:r>
                <a:r>
                  <a:rPr/>
                  <a:t> Ordinary least squares again: choose the coefficients that minimise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∑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 With several predictors this is a set of simultaneous equations solved with matrix algebra — </a:t>
                </a:r>
                <a:r>
                  <a:rPr>
                    <a:latin typeface="Courier"/>
                  </a:rPr>
                  <a:t>lm()</a:t>
                </a:r>
                <a:r>
                  <a:rPr/>
                  <a:t> does it instantly, and what matters is knowing </a:t>
                </a:r>
                <a:r>
                  <a:rPr i="1"/>
                  <a:t>what</a:t>
                </a:r>
                <a:r>
                  <a:rPr/>
                  <a:t> it minimises.</a:t>
                </a:r>
              </a:p>
              <a:p>
                <a:pPr lvl="0" indent="0" marL="0">
                  <a:buNone/>
                </a:pPr>
                <a:r>
                  <a:rPr b="1"/>
                  <a:t>Prediction.</a:t>
                </a:r>
                <a:r>
                  <a:rPr/>
                  <a:t> Substitute new values for every predictor.</a:t>
                </a:r>
              </a:p>
              <a:p>
                <a:pPr lvl="0"/>
                <a:r>
                  <a:rPr/>
                  <a:t>More observations → narrower intervals</a:t>
                </a:r>
              </a:p>
              <a:p>
                <a:pPr lvl="0"/>
                <a:r>
                  <a:rPr/>
                  <a:t>More predictors → wider intervals</a:t>
                </a:r>
              </a:p>
              <a:p>
                <a:pPr lvl="0"/>
                <a:r>
                  <a:rPr/>
                  <a:t>Stay inside the range of </a:t>
                </a:r>
                <a:r>
                  <a:rPr b="1"/>
                  <a:t>every</a:t>
                </a:r>
                <a:r>
                  <a:rPr/>
                  <a:t> predictor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Extrapolation is worse here</a:t>
            </a:r>
          </a:p>
          <a:p>
            <a:pPr lvl="0" indent="0" marL="1270000">
              <a:buNone/>
            </a:pPr>
            <a:r>
              <a:rPr sz="2000"/>
              <a:t>In simple regression you only have to stay inside one range. Here you have to stay inside the </a:t>
            </a:r>
            <a:r>
              <a:rPr sz="2000" b="1"/>
              <a:t>data cloud</a:t>
            </a:r>
            <a:r>
              <a:rPr sz="2000"/>
              <a:t> — and a combination can be far outside it even when each predictor separately looks ordinary.</a:t>
            </a:r>
          </a:p>
          <a:p>
            <a:pPr lvl="0" indent="0" marL="1270000">
              <a:buNone/>
            </a:pPr>
            <a:r>
              <a:rPr sz="2000"/>
              <a:t>There are no 1000-ha patches under intense grazing in these data. The model will still happily predict one.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ANOVA for Multiple Regression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Partitioning Variance — Sums of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Exactly the partition from last week, </a:t>
                </a:r>
                <a:r>
                  <a:rPr b="1"/>
                  <a:t>with p predictors instead of one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t</m:t>
                          </m:r>
                          <m:r>
                            <m:t>o</m:t>
                          </m:r>
                          <m:r>
                            <m:t>t</m:t>
                          </m:r>
                          <m:r>
                            <m:t>a</m:t>
                          </m:r>
                          <m: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S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r</m:t>
                          </m:r>
                          <m:r>
                            <m:t>e</m:t>
                          </m:r>
                          <m:r>
                            <m:t>g</m:t>
                          </m:r>
                          <m:r>
                            <m:t>r</m:t>
                          </m:r>
                          <m:r>
                            <m:t>e</m:t>
                          </m:r>
                          <m:r>
                            <m:t>s</m:t>
                          </m:r>
                          <m:r>
                            <m:t>s</m:t>
                          </m:r>
                          <m:r>
                            <m:t>i</m:t>
                          </m:r>
                          <m:r>
                            <m:t>o</m:t>
                          </m:r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S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r</m:t>
                          </m:r>
                          <m:r>
                            <m:t>e</m:t>
                          </m:r>
                          <m:r>
                            <m:t>s</m:t>
                          </m:r>
                          <m:r>
                            <m:t>i</m:t>
                          </m:r>
                          <m:r>
                            <m:t>d</m:t>
                          </m:r>
                          <m:r>
                            <m:t>u</m:t>
                          </m:r>
                          <m:r>
                            <m:t>a</m:t>
                          </m:r>
                          <m:r>
                            <m:t>l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— variation the model explains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 — variation it does not</a:t>
                </a:r>
              </a:p>
              <a:p>
                <a:pPr lvl="0"/>
                <a:r>
                  <a:rPr/>
                  <a:t>Regression df is now </a:t>
                </a:r>
                <a:r>
                  <a:rPr b="1"/>
                  <a:t>p</a:t>
                </a:r>
                <a:r>
                  <a:rPr/>
                  <a:t>, not 1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Mean squares are </a:t>
            </a:r>
            <a:r>
              <a:rPr b="1"/>
              <a:t>variance estimators</a:t>
            </a:r>
            <a:r>
              <a:rPr/>
              <a:t>, so they do not grow with n</a:t>
            </a:r>
          </a:p>
          <a:p>
            <a:pPr lvl="0"/>
            <a:r>
              <a:rPr/>
              <a:t>which is why the </a:t>
            </a:r>
            <a:r>
              <a:rPr b="1"/>
              <a:t>F-ratio</a:t>
            </a:r>
            <a:r>
              <a:rPr/>
              <a:t> is </a:t>
            </a:r>
            <a:r>
              <a:rPr b="1"/>
              <a:t>built</a:t>
            </a:r>
            <a:r>
              <a:rPr/>
              <a:t> from </a:t>
            </a:r>
            <a:r>
              <a:rPr b="1"/>
              <a:t>Mean Squares</a:t>
            </a:r>
            <a:r>
              <a:rPr/>
              <a:t> and </a:t>
            </a:r>
            <a:r>
              <a:rPr b="1"/>
              <a:t>NOT</a:t>
            </a:r>
            <a:r>
              <a:rPr/>
              <a:t> from the </a:t>
            </a:r>
            <a:r>
              <a:rPr b="1"/>
              <a:t>Sums of Squares</a:t>
            </a:r>
            <a:r>
              <a:rPr/>
              <a:t> directly.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Hypotheses — the “Basic”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overall F-test</a:t>
                </a:r>
                <a:r>
                  <a:rPr/>
                  <a:t> at the bottom of </a:t>
                </a:r>
                <a:r>
                  <a:rPr>
                    <a:latin typeface="Courier"/>
                  </a:rPr>
                  <a:t>summary()</a:t>
                </a:r>
                <a:r>
                  <a:rPr/>
                  <a:t> tests one null: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/>
                <a:r>
                  <a:rPr/>
                  <a:t>If it is true, </a:t>
                </a:r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 estimate the same variance and F ≈ 1</a:t>
                </a:r>
              </a:p>
              <a:p>
                <a:pPr lvl="0"/>
                <a:r>
                  <a:rPr/>
                  <a:t>If any β is non-zero, </a:t>
                </a:r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is inflated and F &gt; 1</a:t>
                </a:r>
              </a:p>
              <a:p>
                <a:pPr lvl="0" indent="0" marL="0">
                  <a:buNone/>
                </a:pPr>
                <a:r>
                  <a:rPr/>
                  <a:t>It tells you the model as a whole explains something. It does </a:t>
                </a:r>
                <a:r>
                  <a:rPr b="1"/>
                  <a:t>not</a:t>
                </a:r>
                <a:r>
                  <a:rPr/>
                  <a:t> tell you which predictor did the work.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A significant overall F with nothing significant inside it</a:t>
            </a:r>
          </a:p>
          <a:p>
            <a:pPr lvl="0" indent="0" marL="1270000">
              <a:buNone/>
            </a:pPr>
            <a:r>
              <a:rPr sz="2000"/>
              <a:t>This happens, and it is the classic signature of collinearity: the predictors jointly explain a lot, but they are so tangled that no individual slope can be pinned down.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Hypotheses — Testing One Predictor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 ask whether one specific β is zero, fit the model </a:t>
                </a:r>
                <a:r>
                  <a:rPr b="1"/>
                  <a:t>with</a:t>
                </a:r>
                <a:r>
                  <a:rPr/>
                  <a:t> and </a:t>
                </a:r>
                <a:r>
                  <a:rPr b="1"/>
                  <a:t>without</a:t>
                </a:r>
                <a:r>
                  <a:rPr/>
                  <a:t> it and compare: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e</m:t>
                          </m:r>
                          <m:r>
                            <m:t>x</m:t>
                          </m:r>
                          <m:r>
                            <m:t>t</m:t>
                          </m:r>
                          <m:r>
                            <m:t>r</m:t>
                          </m:r>
                          <m: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S</m:t>
                      </m:r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r</m:t>
                          </m:r>
                          <m:r>
                            <m:t>e</m:t>
                          </m:r>
                          <m:r>
                            <m:t>g</m:t>
                          </m:r>
                          <m:r>
                            <m:t>r</m:t>
                          </m:r>
                          <m:r>
                            <m:t>e</m:t>
                          </m:r>
                          <m:r>
                            <m:t>s</m:t>
                          </m:r>
                          <m:r>
                            <m:t>s</m:t>
                          </m:r>
                          <m:r>
                            <m:t>i</m:t>
                          </m:r>
                          <m:r>
                            <m:t>o</m:t>
                          </m:r>
                          <m:r>
                            <m:t>n</m:t>
                          </m:r>
                        </m:sub>
                        <m:sup>
                          <m:r>
                            <m:t>f</m:t>
                          </m:r>
                          <m:r>
                            <m:t>u</m:t>
                          </m:r>
                          <m:r>
                            <m:t>l</m:t>
                          </m:r>
                          <m:r>
                            <m:t>l</m:t>
                          </m:r>
                        </m:sup>
                      </m:sSubSup>
                      <m:r>
                        <m:rPr>
                          <m:sty m:val="p"/>
                        </m:rPr>
                        <m:t>−</m:t>
                      </m:r>
                      <m:r>
                        <m:t>S</m:t>
                      </m:r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r</m:t>
                          </m:r>
                          <m:r>
                            <m:t>e</m:t>
                          </m:r>
                          <m:r>
                            <m:t>g</m:t>
                          </m:r>
                          <m:r>
                            <m:t>r</m:t>
                          </m:r>
                          <m:r>
                            <m:t>e</m:t>
                          </m:r>
                          <m:r>
                            <m:t>s</m:t>
                          </m:r>
                          <m:r>
                            <m:t>s</m:t>
                          </m:r>
                          <m:r>
                            <m:t>i</m:t>
                          </m:r>
                          <m:r>
                            <m:t>o</m:t>
                          </m:r>
                          <m:r>
                            <m:t>n</m:t>
                          </m:r>
                        </m:sub>
                        <m:sup>
                          <m:r>
                            <m:t>r</m:t>
                          </m:r>
                          <m:r>
                            <m:t>e</m:t>
                          </m:r>
                          <m:r>
                            <m:t>d</m:t>
                          </m:r>
                          <m:r>
                            <m:t>u</m:t>
                          </m:r>
                          <m:r>
                            <m:t>c</m:t>
                          </m:r>
                          <m:r>
                            <m:t>e</m:t>
                          </m:r>
                          <m:r>
                            <m:t>d</m:t>
                          </m:r>
                        </m:sup>
                      </m:sSubSup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q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 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e</m:t>
                              </m:r>
                              <m:r>
                                <m:t>x</m:t>
                              </m:r>
                              <m:r>
                                <m:t>t</m:t>
                              </m:r>
                              <m:r>
                                <m:t>r</m:t>
                              </m:r>
                              <m:r>
                                <m:t>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q</m:t>
                          </m:r>
                        </m:num>
                        <m:den>
                          <m:r>
                            <m:t>M</m:t>
                          </m:r>
                          <m:sSubSup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  <m:sup>
                              <m:r>
                                <m:t>f</m:t>
                              </m:r>
                              <m:r>
                                <m:t>u</m:t>
                              </m:r>
                              <m:r>
                                <m:t>l</m:t>
                              </m:r>
                              <m:r>
                                <m:t>l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:r>
                  <a:rPr b="1"/>
                  <a:t>q</a:t>
                </a:r>
                <a:r>
                  <a:rPr/>
                  <a:t> is how many predictors you dropped — q = 1 for a single predictor, q = 4 below.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reduced_model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lm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(abundance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~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log_area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grazing,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data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bird_df)</a:t>
                </a:r>
                <a:br/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anova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(reduced_model, full_model)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Analysis of Variance Table
Model 1: abundance ~ log_area + grazing
Model 2: abundance ~ log_area + log_dist + log_dist_larger + year_isolated + 
    grazing + altitude_m
  Res.Df    RSS Df Sum of Sq     F Pr(&gt;F)
1     53 2200.9                          
2     49 1996.8  4    204.09 1.252 0.3015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Dropping </a:t>
            </a:r>
            <a:r>
              <a:rPr b="1"/>
              <a:t>four</a:t>
            </a:r>
            <a:r>
              <a:rPr/>
              <a:t> predictors at once — distance, distance to a larger patch, year of isolation and altitude — costs nothing detectable (p = 0.302).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You rarely run this by hand</a:t>
            </a:r>
          </a:p>
          <a:p>
            <a:pPr lvl="0" indent="0" marL="1270000">
              <a:buNone/>
            </a:pPr>
            <a:r>
              <a:rPr sz="2000"/>
              <a:t>The t-test beside each coefficient in </a:t>
            </a:r>
            <a:r>
              <a:rPr sz="2000">
                <a:latin typeface="Courier"/>
              </a:rPr>
              <a:t>summary()</a:t>
            </a:r>
            <a:r>
              <a:rPr sz="2000"/>
              <a:t> answers the same question for a single predictor. Use </a:t>
            </a:r>
            <a:r>
              <a:rPr sz="2000">
                <a:latin typeface="Courier"/>
              </a:rPr>
              <a:t>anova()</a:t>
            </a:r>
            <a:r>
              <a:rPr sz="2000"/>
              <a:t> when you want to drop a </a:t>
            </a:r>
            <a:r>
              <a:rPr sz="2000" b="1"/>
              <a:t>group</a:t>
            </a:r>
            <a:r>
              <a:rPr sz="2000"/>
              <a:t> of predictors at once.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Explained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g</m:t>
                              </m:r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o</m:t>
                              </m:r>
                              <m: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the reduced model: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4137</m:t>
                        </m:r>
                      </m:num>
                      <m:den>
                        <m:r>
                          <m:t>6338</m:t>
                        </m:r>
                      </m:den>
                    </m:f>
                  </m:oMath>
                </a14:m>
                <a:r>
                  <a:rPr/>
                  <a:t> = </a:t>
                </a:r>
                <a:r>
                  <a:rPr b="1"/>
                  <a:t>0.653</a:t>
                </a:r>
              </a:p>
              <a:p>
                <a:pPr lvl="0" indent="0" marL="0">
                  <a:buNone/>
                </a:pPr>
                <a:r>
                  <a:rPr/>
                  <a:t>The six-predictor model manages 0.685 — higher, as it must be.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</a:t>
            </a:r>
          </a:p>
          <a:p>
            <a:pPr lvl="0"/>
            <a:r>
              <a:rPr sz="2000"/>
              <a:t>R² </a:t>
            </a:r>
            <a:r>
              <a:rPr sz="2000" b="1"/>
              <a:t>always</a:t>
            </a:r>
            <a:r>
              <a:rPr sz="2000"/>
              <a:t> rises when you add a predictor, even a useless one</a:t>
            </a:r>
          </a:p>
          <a:p>
            <a:pPr lvl="0"/>
            <a:r>
              <a:rPr sz="2000"/>
              <a:t>So R² cannot be used to compare models with different numbers of predictors</a:t>
            </a:r>
          </a:p>
          <a:p>
            <a:pPr lvl="0"/>
            <a:r>
              <a:rPr sz="2000"/>
              <a:t>R² from models with differently transformed Y are not comparable at all</a:t>
            </a:r>
          </a:p>
          <a:p>
            <a:pPr lvl="0" indent="0" marL="0">
              <a:buNone/>
            </a:pPr>
            <a:r>
              <a:rPr b="1" i="1" u="sng"/>
              <a:t>That is why adjusted R² and AIC exist, and we come back to them in Part 8.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Assumptions and Diagnostics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First: Does a Predictor Need a Transform?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Patch area runs from </a:t>
            </a:r>
            <a:r>
              <a:rPr b="1"/>
              <a:t>0.1 ha to 1,771 ha</a:t>
            </a:r>
            <a:r>
              <a:rPr/>
              <a:t> — four orders of magnitude. Fitted raw, it behaves exactly like last week’s homework:</a:t>
            </a:r>
          </a:p>
          <a:p>
            <a:pPr lvl="0" indent="0" marL="0">
              <a:buNone/>
            </a:pPr>
            <a:r>
              <a:rPr/>
              <a:t>Every model in this lecture uses </a:t>
            </a:r>
            <a:r>
              <a:rPr>
                <a:latin typeface="Courier"/>
              </a:rPr>
              <a:t>log_area</a:t>
            </a:r>
            <a:r>
              <a:rPr/>
              <a:t>, and the diagnostics are why.</a:t>
            </a:r>
          </a:p>
        </p:txBody>
      </p:sp>
      <p:pic>
        <p:nvPicPr>
          <p:cNvPr descr="multiple_regression_lecture_files/figure-pptx/multiple-regression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and Diagnostics — Outliers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Fixed X values — unrealistic in field data, but the working assumption</a:t>
            </a:r>
          </a:p>
          <a:p>
            <a:pPr lvl="0"/>
            <a:r>
              <a:rPr b="1"/>
              <a:t>No overly influential points</a:t>
            </a:r>
            <a:r>
              <a:rPr/>
              <a:t> — check leverage and influence with </a:t>
            </a:r>
            <a:r>
              <a:rPr b="1"/>
              <a:t>Cook’s distance</a:t>
            </a:r>
          </a:p>
          <a:p>
            <a:pPr lvl="0"/>
            <a:r>
              <a:rPr/>
              <a:t>A point can be extreme in Y, extreme in X, or extreme in the </a:t>
            </a:r>
            <a:r>
              <a:rPr i="1"/>
              <a:t>combination</a:t>
            </a:r>
            <a:r>
              <a:rPr/>
              <a:t>; only the third kind is uniquely a multiple-regression problem</a:t>
            </a:r>
          </a:p>
          <a:p>
            <a:pPr lvl="0" indent="0" marL="0">
              <a:buNone/>
            </a:pPr>
            <a:r>
              <a:rPr/>
              <a:t>Largest Cook’s distance here is </a:t>
            </a:r>
            <a:r>
              <a:rPr b="1"/>
              <a:t>0.2</a:t>
            </a:r>
            <a:r>
              <a:rPr/>
              <a:t> — nothing near the usual threshold of 1.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(reduced_model, </a:t>
            </a:r>
            <a:r>
              <a:rPr>
                <a:solidFill>
                  <a:srgbClr val="657422"/>
                </a:solidFill>
                <a:latin typeface="Courier"/>
              </a:rPr>
              <a:t>which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ultiple_regression_lecture_files/figure-pptx/multiple-regression-0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16500" y="1295400"/>
            <a:ext cx="3492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and Diagnostics — Residuals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Normality, equal variance and independence — all read off the </a:t>
            </a:r>
            <a:r>
              <a:rPr b="1"/>
              <a:t>residuals</a:t>
            </a:r>
            <a:r>
              <a:rPr/>
              <a:t>, exactly as last week.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(reduced_model))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residuals(reduced_model)
W = 0.98422, p-value = 0.6728</a:t>
            </a:r>
          </a:p>
          <a:p>
            <a:pPr lvl="0" indent="0" marL="0">
              <a:buNone/>
            </a:pPr>
            <a:r>
              <a:rPr/>
              <a:t>Distribution and variance problems are usually fixed by transforming Y, or a predictor, before anything more exotic.</a:t>
            </a:r>
          </a:p>
        </p:txBody>
      </p:sp>
      <p:pic>
        <p:nvPicPr>
          <p:cNvPr descr="multiple_regression_lecture_files/figure-pptx/multiple-regression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— Sample Size and Added-Variable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More observations than predictors</a:t>
            </a:r>
            <a:r>
              <a:rPr/>
              <a:t> — a common rule of thumb is </a:t>
            </a:r>
            <a:r>
              <a:rPr b="1"/>
              <a:t>10 observations per predictor</a:t>
            </a:r>
            <a:r>
              <a:rPr/>
              <a:t>. Six predictors would want 60; we have 56, so the full model is already at the edge</a:t>
            </a:r>
          </a:p>
          <a:p>
            <a:pPr lvl="0"/>
            <a:r>
              <a:rPr b="1"/>
              <a:t>Predictors not collinear</a:t>
            </a:r>
            <a:r>
              <a:rPr/>
              <a:t> — Part 5</a:t>
            </a:r>
          </a:p>
          <a:p>
            <a:pPr lvl="0"/>
            <a:r>
              <a:rPr b="1"/>
              <a:t>Each X linear in Y after accounting for the others</a:t>
            </a:r>
            <a:r>
              <a:rPr/>
              <a:t> — this is what an </a:t>
            </a:r>
            <a:r>
              <a:rPr b="1"/>
              <a:t>added-variable plot</a:t>
            </a:r>
            <a:r>
              <a:rPr/>
              <a:t> shows, and it is the multiple-regression version of “plot your data first”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avPlots</a:t>
            </a:r>
            <a:r>
              <a:rPr>
                <a:solidFill>
                  <a:srgbClr val="003B4F"/>
                </a:solidFill>
                <a:latin typeface="Courier"/>
              </a:rPr>
              <a:t>(reduced_model)</a:t>
            </a:r>
          </a:p>
        </p:txBody>
      </p:sp>
      <p:pic>
        <p:nvPicPr>
          <p:cNvPr descr="multiple_regression_lecture_files/figure-pptx/multiple-regression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63700"/>
            <a:ext cx="2781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Collinearity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Collinearity —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Predictors in field data are almost never independent. Here, </a:t>
            </a:r>
            <a:r>
              <a:rPr b="1"/>
              <a:t>small patches are grazed harder</a:t>
            </a:r>
            <a:r>
              <a:rPr/>
              <a:t> — r = -0.56.</a:t>
            </a:r>
          </a:p>
          <a:p>
            <a:pPr lvl="0" indent="0" marL="0">
              <a:buNone/>
            </a:pPr>
            <a:r>
              <a:rPr/>
              <a:t>When predictors overlap:</a:t>
            </a:r>
          </a:p>
          <a:p>
            <a:pPr lvl="0"/>
            <a:r>
              <a:rPr/>
              <a:t>Parameter estimates become </a:t>
            </a:r>
            <a:r>
              <a:rPr b="1"/>
              <a:t>unstable</a:t>
            </a:r>
            <a:r>
              <a:rPr/>
              <a:t> — one changed value can move them a lot</a:t>
            </a:r>
          </a:p>
          <a:p>
            <a:pPr lvl="0"/>
            <a:r>
              <a:rPr/>
              <a:t>Standard errors </a:t>
            </a:r>
            <a:r>
              <a:rPr b="1"/>
              <a:t>inflate</a:t>
            </a:r>
            <a:r>
              <a:rPr/>
              <a:t>, so slopes lose significance</a:t>
            </a:r>
          </a:p>
          <a:p>
            <a:pPr lvl="0"/>
            <a:r>
              <a:rPr/>
              <a:t>The model can fit well while no single slope is trustworthy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log_area log_dist log_dist_larger year_isolated grazing
log_area            1.00     0.30            0.38          0.28   -0.56
log_dist            0.30     1.00            0.60         -0.02   -0.14
log_dist_larger     0.38     0.60            1.00         -0.16   -0.03
year_isolated       0.28    -0.02           -0.16          1.00   -0.64
grazing            -0.56    -0.14           -0.03         -0.64    1.00
altitude_m          0.28    -0.22           -0.27          0.23   -0.41
                altitude_m
log_area              0.28
log_dist             -0.22
log_dist_larger      -0.27
year_isolated         0.23
grazing              -0.41
altitude_m            1.00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Collinearity — Detecting 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Variance Inflation Factors: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r>
                        <m:t>I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Sup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Sup>
                      <m:e>
                        <m:r>
                          <m:t>R</m:t>
                        </m:r>
                      </m:e>
                      <m:sub>
                        <m:r>
                          <m:t>j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comes from regressing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on all the </a:t>
                </a:r>
                <a:r>
                  <a:rPr i="1"/>
                  <a:t>other</a:t>
                </a:r>
                <a:r>
                  <a:rPr/>
                  <a:t> predictors — not from a pairwise correlation. (With two predictors they coincide; with more they do not.)</a:t>
                </a:r>
              </a:p>
              <a:p>
                <a:pPr lvl="0"/>
                <a:r>
                  <a:rPr/>
                  <a:t>Rule of thumb: </a:t>
                </a:r>
                <a:r>
                  <a:rPr b="1"/>
                  <a:t>VIF &gt; 10 is bad</a:t>
                </a:r>
                <a:r>
                  <a:rPr/>
                  <a:t>; some authors use &gt; 5</a:t>
                </a:r>
              </a:p>
              <a:p>
                <a:pPr lvl="0"/>
                <a:r>
                  <a:rPr/>
                  <a:t>Simplest fix: drop predictors that are measuring the same thing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vif</a:t>
            </a:r>
            <a:r>
              <a:rPr>
                <a:solidFill>
                  <a:srgbClr val="003B4F"/>
                </a:solidFill>
                <a:latin typeface="Courier"/>
              </a:rPr>
              <a:t>(full_model)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log_area        log_dist log_dist_larger   year_isolated         grazing 
       1.911514        1.654553        2.009749        1.804769        2.524814 
     altitude_m 
       1.467937 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high VIF does not mean the model is wrong. It means you cannot trust the </a:t>
            </a:r>
            <a:r>
              <a:rPr sz="2000" b="1"/>
              <a:t>individual</a:t>
            </a:r>
            <a:r>
              <a:rPr sz="2000"/>
              <a:t> partial slopes, even when the model as a whole fits well.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🗳️ DECIDE · The Slope That Changed Its Mind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Grazing went from </a:t>
            </a:r>
            <a:r>
              <a:rPr b="1"/>
              <a:t>-4.98</a:t>
            </a:r>
            <a:r>
              <a:rPr/>
              <a:t> on its own to </a:t>
            </a:r>
            <a:r>
              <a:rPr b="1"/>
              <a:t>-1.67</a:t>
            </a:r>
            <a:r>
              <a:rPr/>
              <a:t> in the full model, and lost its significance. The VIFs are all under 3.</a:t>
            </a:r>
          </a:p>
          <a:p>
            <a:pPr lvl="0" indent="0" marL="0">
              <a:buNone/>
            </a:pPr>
            <a:r>
              <a:rPr b="1"/>
              <a:t>What is the right thing to say about grazing?</a:t>
            </a:r>
          </a:p>
          <a:p>
            <a:pPr lvl="0" indent="0" marL="0">
              <a:buNone/>
            </a:pPr>
            <a:r>
              <a:rPr b="1"/>
              <a:t>(a)</a:t>
            </a:r>
            <a:r>
              <a:rPr/>
              <a:t> Grazing has no effect on bird abundance</a:t>
            </a:r>
          </a:p>
          <a:p>
            <a:pPr lvl="0" indent="0" marL="0">
              <a:buNone/>
            </a:pPr>
            <a:r>
              <a:rPr b="1"/>
              <a:t>(b)</a:t>
            </a:r>
            <a:r>
              <a:rPr/>
              <a:t> The effect of grazing is real but small — the full model estimates it better</a:t>
            </a:r>
          </a:p>
          <a:p>
            <a:pPr lvl="0" indent="0" marL="0">
              <a:buNone/>
            </a:pPr>
            <a:r>
              <a:rPr b="1"/>
              <a:t>(c)</a:t>
            </a:r>
            <a:r>
              <a:rPr/>
              <a:t> Grazing and patch area explain overlapping variation, and these data cannot cleanly separate them</a:t>
            </a:r>
          </a:p>
          <a:p>
            <a:pPr lvl="0" indent="0" marL="0">
              <a:buNone/>
            </a:pPr>
            <a:r>
              <a:rPr b="1"/>
              <a:t>(d)</a:t>
            </a:r>
            <a:r>
              <a:rPr/>
              <a:t> The full model is broken by collinearity and should be discarded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✍️ One letter. Write it down, then argue it with your neighbour.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 question to ask</a:t>
            </a:r>
          </a:p>
          <a:p>
            <a:pPr lvl="0" indent="0" marL="1270000">
              <a:buNone/>
            </a:pPr>
            <a:r>
              <a:rPr sz="2000" i="1"/>
              <a:t>Is this a statement about the world, or a statement about what this dataset can resolve?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the Data Can and Cannot Separate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The answer is (c).</a:t>
            </a:r>
          </a:p>
          <a:p>
            <a:pPr lvl="0" indent="0" marL="1270000">
              <a:buNone/>
            </a:pPr>
            <a:r>
              <a:rPr sz="2000"/>
              <a:t>Grazing and area are correlated at r = -0.56. The heavily grazed patches in this dataset are </a:t>
            </a:r>
            <a:r>
              <a:rPr sz="2000" i="1"/>
              <a:t>also</a:t>
            </a:r>
            <a:r>
              <a:rPr sz="2000"/>
              <a:t> the small ones, so no analysis can tell you which of the two is doing the work.</a:t>
            </a:r>
          </a:p>
          <a:p>
            <a:pPr lvl="0" indent="0" marL="1270000">
              <a:buNone/>
            </a:pPr>
            <a:r>
              <a:rPr sz="2000" b="1"/>
              <a:t>(a)</a:t>
            </a:r>
            <a:r>
              <a:rPr sz="2000"/>
              <a:t> overstates it — a non-significant partial slope is not evidence of no effect. </a:t>
            </a:r>
            <a:r>
              <a:rPr sz="2000" b="1"/>
              <a:t>(b)</a:t>
            </a:r>
            <a:r>
              <a:rPr sz="2000"/>
              <a:t> is the common mistake: the full model is not “better”, it answers a </a:t>
            </a:r>
            <a:r>
              <a:rPr sz="2000" i="1"/>
              <a:t>different, conditional</a:t>
            </a:r>
            <a:r>
              <a:rPr sz="2000"/>
              <a:t> question. </a:t>
            </a:r>
            <a:r>
              <a:rPr sz="2000" b="1"/>
              <a:t>(d)</a:t>
            </a:r>
            <a:r>
              <a:rPr sz="2000"/>
              <a:t> is wrong too — VIFs under 3 are mild, and the model predicts perfectly well. It just cannot apportion credit.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What would settle it</a:t>
            </a:r>
          </a:p>
          <a:p>
            <a:pPr lvl="0" indent="0" marL="1270000">
              <a:buNone/>
            </a:pPr>
            <a:r>
              <a:rPr sz="2000"/>
              <a:t>Find, or create, patches that break the correlation: </a:t>
            </a:r>
            <a:r>
              <a:rPr sz="2000" b="1"/>
              <a:t>large heavily grazed</a:t>
            </a:r>
            <a:r>
              <a:rPr sz="2000"/>
              <a:t> patches and </a:t>
            </a:r>
            <a:r>
              <a:rPr sz="2000" b="1"/>
              <a:t>small lightly grazed</a:t>
            </a:r>
            <a:r>
              <a:rPr sz="2000"/>
              <a:t> ones.</a:t>
            </a:r>
          </a:p>
          <a:p>
            <a:pPr lvl="0" indent="0" marL="1270000">
              <a:buNone/>
            </a:pPr>
            <a:r>
              <a:rPr sz="2000"/>
              <a:t>That is a design problem, not an analysis problem — which is where this course started.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Interactions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Interactions — Additive vs. Multiplicative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So far every model has been </a:t>
                </a:r>
                <a:r>
                  <a:rPr b="1"/>
                  <a:t>additive</a:t>
                </a:r>
                <a:r>
                  <a:rPr/>
                  <a:t> — the effect of area is the same at every grazing level.</a:t>
                </a:r>
              </a:p>
              <a:p>
                <a:pPr lvl="0" indent="0" marL="0">
                  <a:buNone/>
                </a:pPr>
                <a:r>
                  <a:rPr/>
                  <a:t>An </a:t>
                </a:r>
                <a:r>
                  <a:rPr b="1"/>
                  <a:t>interaction</a:t>
                </a:r>
                <a:r>
                  <a:rPr/>
                  <a:t> says the effect of one predictor </a:t>
                </a:r>
                <a:r>
                  <a:rPr i="1"/>
                  <a:t>depends on</a:t>
                </a:r>
                <a:r>
                  <a:rPr/>
                  <a:t> the level of another: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 interaction term is just </a:t>
                </a:r>
                <a:r>
                  <a:rPr b="1"/>
                  <a:t>another predictor</a:t>
                </a:r>
                <a:r>
                  <a:rPr/>
                  <a:t>: the product of two others, with its own coefficient.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Additive: parallel lines.</a:t>
            </a:r>
          </a:p>
          <a:p>
            <a:pPr lvl="0" indent="0" marL="1270000">
              <a:buNone/>
            </a:pPr>
            <a:r>
              <a:rPr sz="2000"/>
              <a:t>Interactive: lines with different slopes — the fitted surface is no longer flat.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Interactions — Fitting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interaction_model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(abundance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log_area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grazing,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bird_df)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(interaction_model)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coefficients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Estimate Std. Error   t value     Pr(&gt;|t|)
(Intercept)      26.558079  3.3576293  7.909771 1.768256e-10
log_area          2.112005  2.0375755  1.036528 3.047520e-01
grazing          -4.547139  0.8850592 -5.137667 4.246998e-06
log_area:grazing  2.142303  0.7358161  2.911465 5.287173e-03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interaction is </a:t>
            </a:r>
            <a:r>
              <a:rPr b="1"/>
              <a:t>significant</a:t>
            </a:r>
            <a:r>
              <a:rPr/>
              <a:t> (p = 0.00529), and </a:t>
            </a:r>
            <a:r>
              <a:rPr>
                <a:latin typeface="Courier"/>
              </a:rPr>
              <a:t>a * b</a:t>
            </a:r>
            <a:r>
              <a:rPr/>
              <a:t> expands to </a:t>
            </a:r>
            <a:r>
              <a:rPr>
                <a:latin typeface="Courier"/>
              </a:rPr>
              <a:t>a + b + a:b</a:t>
            </a:r>
            <a:r>
              <a:rPr/>
              <a:t> automatically.</a:t>
            </a:r>
          </a:p>
          <a:p>
            <a:pPr lvl="0" indent="0" marL="0">
              <a:buNone/>
            </a:pPr>
            <a:r>
              <a:rPr b="1"/>
              <a:t>What it means:</a:t>
            </a:r>
            <a:r>
              <a:rPr/>
              <a:t> patch area matters </a:t>
            </a:r>
            <a:r>
              <a:rPr b="1"/>
              <a:t>more</a:t>
            </a:r>
            <a:r>
              <a:rPr/>
              <a:t> where grazing is heavy. In lightly grazed country a small patch still holds birds; under heavy grazing only the big patches do.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You cannot read the main effects the same way any more</a:t>
            </a:r>
          </a:p>
          <a:p>
            <a:pPr lvl="0" indent="0" marL="1270000">
              <a:buNone/>
            </a:pPr>
            <a:r>
              <a:rPr sz="2000"/>
              <a:t>With an interaction in the model, the </a:t>
            </a:r>
            <a:r>
              <a:rPr sz="2000">
                <a:latin typeface="Courier"/>
              </a:rPr>
              <a:t>log_area</a:t>
            </a:r>
            <a:r>
              <a:rPr sz="2000"/>
              <a:t> coefficient is the slope </a:t>
            </a:r>
            <a:r>
              <a:rPr sz="2000" b="1"/>
              <a:t>when grazing = 0</a:t>
            </a:r>
            <a:r>
              <a:rPr sz="2000"/>
              <a:t> — a value that does not exist in these data.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Interactions — the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Parameter proliferation.</a:t>
            </a:r>
            <a:r>
              <a:rPr/>
              <a:t> Every predictor you add roughly doubles the number of possible terms — six predictors with all interactions is 64 terms, and you have 56 patches</a:t>
            </a:r>
          </a:p>
          <a:p>
            <a:pPr lvl="0"/>
            <a:r>
              <a:rPr b="1"/>
              <a:t>Interpretation gets harder</a:t>
            </a:r>
            <a:r>
              <a:rPr/>
              <a:t>, as the slide before shows</a:t>
            </a:r>
          </a:p>
          <a:p>
            <a:pPr lvl="0"/>
            <a:r>
              <a:rPr b="1"/>
              <a:t>Include an interaction when it makes biological sense</a:t>
            </a:r>
            <a:r>
              <a:rPr/>
              <a:t>, not because it might be significant</a:t>
            </a:r>
          </a:p>
          <a:p>
            <a:pPr lvl="0" indent="0" marL="0">
              <a:buNone/>
            </a:pPr>
            <a:r>
              <a:rPr/>
              <a:t>“Does fragmentation hurt more where grazing is heavy” is a real hypothesis. That is why this one belongs.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</a:t>
            </a:r>
          </a:p>
          <a:p>
            <a:pPr lvl="0" indent="0" marL="1270000">
              <a:buNone/>
            </a:pPr>
            <a:r>
              <a:rPr sz="2000"/>
              <a:t>Test enough interactions and one will reach p &lt; 0.05 by chance. With six predictors there are 15 two-way interactions alone — at α = 0.05 you expect roughly one false positive just from testing them all.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Factors and Dummy Variables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Categorical Predictors Become Dummy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far grazing has been a </a:t>
            </a:r>
            <a:r>
              <a:rPr b="1"/>
              <a:t>number</a:t>
            </a:r>
            <a:r>
              <a:rPr/>
              <a:t>, 1 to 5, which forces every step to have the same effect. That is a strong assumption — is the jump from light to moderate really the same size as moderate to heavy?</a:t>
            </a:r>
          </a:p>
          <a:p>
            <a:pPr lvl="0" indent="0" marL="0">
              <a:buNone/>
            </a:pPr>
            <a:r>
              <a:rPr/>
              <a:t>Treat it as a </a:t>
            </a:r>
            <a:r>
              <a:rPr b="1"/>
              <a:t>category</a:t>
            </a:r>
            <a:r>
              <a:rPr/>
              <a:t> instead and the model estimates each level separately. A categorical predictor with k levels becomes </a:t>
            </a:r>
            <a:r>
              <a:rPr b="1"/>
              <a:t>k − 1 dummy variables</a:t>
            </a:r>
            <a:r>
              <a:rPr/>
              <a:t>, each 0 or 1.</a:t>
            </a:r>
          </a:p>
          <a:p>
            <a:pPr lvl="0" indent="0" marL="0">
              <a:buNone/>
            </a:pPr>
            <a:r>
              <a:rPr/>
              <a:t>One level gets no dummy at all. That is the </a:t>
            </a:r>
            <a:r>
              <a:rPr b="1"/>
              <a:t>reference level</a:t>
            </a:r>
            <a:r>
              <a:rPr/>
              <a:t>, and every other coefficient is a comparison </a:t>
            </a:r>
            <a:r>
              <a:rPr i="1"/>
              <a:t>against it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(bird_df, grazing, grazing_class)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 × 3
  grazing grazing_class     n
    &lt;dbl&gt; &lt;chr&gt;         &lt;int&gt;
1       1 minimal          13
2       2 light             8
3       3 moderate         15
4       4 heavy             7
5       5 intense          13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 Picks the Reference Level for You — Alphabetically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bird_df &lt;- bird_df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grazing_class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(grazing_class))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(bird_df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grazing_class)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"heavy"    "intense"  "light"    "minimal"  "moderate"</a:t>
            </a:r>
          </a:p>
          <a:p>
            <a:pPr lvl="0" indent="0" marL="0">
              <a:buNone/>
            </a:pPr>
            <a:r>
              <a:rPr/>
              <a:t>A character column becomes a factor in </a:t>
            </a:r>
            <a:r>
              <a:rPr b="1"/>
              <a:t>alphabetical</a:t>
            </a:r>
            <a:r>
              <a:rPr/>
              <a:t> order, so the reference level here is </a:t>
            </a:r>
            <a:r>
              <a:rPr b="1"/>
              <a:t>heavy</a:t>
            </a:r>
            <a:r>
              <a:rPr/>
              <a:t> — the fourth of five grazing intensities, chosen by spelling.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      Estimate Std. Error t value Pr(&gt;|t|)
(Intercept)              14.12       2.49    5.68     0.00
log_area                  7.25       1.26    5.77     0.00
grazing_classintense    -10.30       2.84   -3.62     0.00
grazing_classlight        1.97       3.05    0.65     0.52
grazing_classminimal      1.59       2.98    0.53     0.60
grazing_classmoderate     1.40       2.70    0.52     0.61</a:t>
            </a:r>
          </a:p>
          <a:p>
            <a:pPr lvl="0" indent="0" marL="0">
              <a:buNone/>
            </a:pPr>
            <a:r>
              <a:rPr/>
              <a:t>Every grazing coefficient is now “compared with </a:t>
            </a:r>
            <a:r>
              <a:rPr b="1"/>
              <a:t>heavy</a:t>
            </a:r>
            <a:r>
              <a:rPr/>
              <a:t> grazing,” which is a comparison nobody asked for.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</a:t>
            </a:r>
            <a:r>
              <a:rPr>
                <a:latin typeface="Courier"/>
              </a:rPr>
              <a:t>lm()</a:t>
            </a:r>
            <a:r>
              <a:rPr/>
              <a:t> Actually Fits · the Dummy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factor()</a:t>
            </a:r>
            <a:r>
              <a:rPr/>
              <a:t> did </a:t>
            </a:r>
            <a:r>
              <a:rPr b="1"/>
              <a:t>not</a:t>
            </a:r>
            <a:r>
              <a:rPr/>
              <a:t> put any zeros and ones in your data — the column still reads </a:t>
            </a:r>
            <a:r>
              <a:rPr>
                <a:latin typeface="Courier"/>
              </a:rPr>
              <a:t>minimal</a:t>
            </a:r>
            <a:r>
              <a:rPr/>
              <a:t>, </a:t>
            </a:r>
            <a:r>
              <a:rPr>
                <a:latin typeface="Courier"/>
              </a:rPr>
              <a:t>light</a:t>
            </a:r>
            <a:r>
              <a:rPr/>
              <a:t>, </a:t>
            </a:r>
            <a:r>
              <a:rPr>
                <a:latin typeface="Courier"/>
              </a:rPr>
              <a:t>heavy</a:t>
            </a:r>
            <a:r>
              <a:rPr/>
              <a:t>. The 0/1s get built when the model is fit, by </a:t>
            </a:r>
            <a:r>
              <a:rPr>
                <a:latin typeface="Courier"/>
              </a:rPr>
              <a:t>model.matrix()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dummies &lt;- </a:t>
            </a:r>
            <a:r>
              <a:rPr>
                <a:solidFill>
                  <a:srgbClr val="4758AB"/>
                </a:solidFill>
                <a:latin typeface="Courier"/>
              </a:rPr>
              <a:t>model.matrix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grazing_class,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bird_df)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colnames</a:t>
            </a:r>
            <a:r>
              <a:rPr>
                <a:solidFill>
                  <a:srgbClr val="003B4F"/>
                </a:solidFill>
                <a:latin typeface="Courier"/>
              </a:rPr>
              <a:t>(dummies) &lt;- </a:t>
            </a:r>
            <a:r>
              <a:rPr>
                <a:solidFill>
                  <a:srgbClr val="4758AB"/>
                </a:solidFill>
                <a:latin typeface="Courier"/>
              </a:rPr>
              <a:t>str_remove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colnames</a:t>
            </a:r>
            <a:r>
              <a:rPr>
                <a:solidFill>
                  <a:srgbClr val="003B4F"/>
                </a:solidFill>
                <a:latin typeface="Courier"/>
              </a:rPr>
              <a:t>(dummies), </a:t>
            </a:r>
            <a:r>
              <a:rPr>
                <a:solidFill>
                  <a:srgbClr val="20794D"/>
                </a:solidFill>
                <a:latin typeface="Courier"/>
              </a:rPr>
              <a:t>"grazing_class"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one_each &lt;- </a:t>
            </a:r>
            <a:r>
              <a:rPr>
                <a:solidFill>
                  <a:srgbClr val="4758AB"/>
                </a:solidFill>
                <a:latin typeface="Courier"/>
              </a:rPr>
              <a:t>match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(bird_df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grazing_class), bird_df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grazing_class)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cbind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(bird_df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grazing_class),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(dummies[one_each, ]))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class (Intercept) intense light minimal moderate
9     heavy           1       0     0       0        0
2   intense           1       1     0       0        0
1     light           1       0     1       0        0
14  minimal           1       0     0       1        0
4  moderate           1       0     0       0        1</a:t>
            </a:r>
          </a:p>
          <a:p>
            <a:pPr lvl="0" indent="0" marL="0">
              <a:buNone/>
            </a:pPr>
            <a:r>
              <a:rPr/>
              <a:t>One site per class. </a:t>
            </a:r>
            <a:r>
              <a:rPr b="1"/>
              <a:t>That matrix is what least squares actually solves</a:t>
            </a:r>
            <a:r>
              <a:rPr/>
              <a:t> — </a:t>
            </a:r>
            <a:r>
              <a:rPr>
                <a:latin typeface="Courier"/>
              </a:rPr>
              <a:t>lm()</a:t>
            </a:r>
            <a:r>
              <a:rPr/>
              <a:t> never sees the word “heavy.”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dummy is a </a:t>
            </a:r>
            <a:r>
              <a:rPr b="1"/>
              <a:t>yes/no switch</a:t>
            </a:r>
            <a:r>
              <a:rPr/>
              <a:t>: </a:t>
            </a:r>
            <a:r>
              <a:rPr i="1"/>
              <a:t>is this site </a:t>
            </a:r>
            <a:r>
              <a:rPr i="1">
                <a:latin typeface="Courier"/>
              </a:rPr>
              <a:t>light</a:t>
            </a:r>
            <a:r>
              <a:rPr i="1"/>
              <a:t>?</a:t>
            </a:r>
            <a:r>
              <a:rPr/>
              <a:t> A site belongs to exactly one class, so exactly one switch is on per row — </a:t>
            </a:r>
            <a:r>
              <a:rPr b="1"/>
              <a:t>or none at all.</a:t>
            </a:r>
          </a:p>
          <a:p>
            <a:pPr lvl="0" indent="0" marL="0">
              <a:buNone/>
            </a:pPr>
            <a:r>
              <a:rPr/>
              <a:t>Look at the </a:t>
            </a:r>
            <a:r>
              <a:rPr>
                <a:latin typeface="Courier"/>
              </a:rPr>
              <a:t>heavy</a:t>
            </a:r>
            <a:r>
              <a:rPr/>
              <a:t> row: all four switches are 0, and only the intercept column of 1s is left. </a:t>
            </a:r>
            <a:r>
              <a:rPr>
                <a:latin typeface="Courier"/>
              </a:rPr>
              <a:t>heavy</a:t>
            </a:r>
            <a:r>
              <a:rPr/>
              <a:t> is not missing from the model — it is the row where nothing is switched on. </a:t>
            </a:r>
            <a:r>
              <a:rPr b="1"/>
              <a:t>The reference level </a:t>
            </a:r>
            <a:r>
              <a:rPr b="1" i="1"/>
              <a:t>is</a:t>
            </a:r>
            <a:r>
              <a:rPr b="1"/>
              <a:t> the intercept</a:t>
            </a:r>
            <a:r>
              <a:rPr/>
              <a:t>, which is why 5 levels need only </a:t>
            </a:r>
            <a:r>
              <a:rPr b="1"/>
              <a:t>4</a:t>
            </a:r>
            <a:r>
              <a:rPr/>
              <a:t> dummies.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Why not a fifth dummy</a:t>
            </a:r>
          </a:p>
          <a:p>
            <a:pPr lvl="0" indent="0" marL="1270000">
              <a:buNone/>
            </a:pPr>
            <a:r>
              <a:rPr sz="2000"/>
              <a:t>Five switches would sum to 1 in every single row — exactly the intercept column. The model could not tell them apart, and R would print </a:t>
            </a:r>
            <a:r>
              <a:rPr sz="2000">
                <a:latin typeface="Courier"/>
              </a:rPr>
              <a:t>NA</a:t>
            </a:r>
            <a:r>
              <a:rPr sz="2000"/>
              <a:t>: the same perfect aliasing as the deer-mouse brothers.</a:t>
            </a:r>
          </a:p>
          <a:p>
            <a:pPr lvl="0" indent="0" marL="1270000">
              <a:buNone/>
            </a:pPr>
            <a:r>
              <a:rPr sz="2000" b="1"/>
              <a:t>Dropping a level is not a choice. It is arithmetic.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🗳️ DECIDE · Which Level Should Be the Reference?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grazing classes are </a:t>
            </a:r>
            <a:r>
              <a:rPr>
                <a:latin typeface="Courier"/>
              </a:rPr>
              <a:t>minimal</a:t>
            </a:r>
            <a:r>
              <a:rPr/>
              <a:t>, </a:t>
            </a:r>
            <a:r>
              <a:rPr>
                <a:latin typeface="Courier"/>
              </a:rPr>
              <a:t>light</a:t>
            </a:r>
            <a:r>
              <a:rPr/>
              <a:t>, </a:t>
            </a:r>
            <a:r>
              <a:rPr>
                <a:latin typeface="Courier"/>
              </a:rPr>
              <a:t>moderate</a:t>
            </a:r>
            <a:r>
              <a:rPr/>
              <a:t>, </a:t>
            </a:r>
            <a:r>
              <a:rPr>
                <a:latin typeface="Courier"/>
              </a:rPr>
              <a:t>heavy</a:t>
            </a:r>
            <a:r>
              <a:rPr/>
              <a:t>, </a:t>
            </a:r>
            <a:r>
              <a:rPr>
                <a:latin typeface="Courier"/>
              </a:rPr>
              <a:t>intense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Which should be the reference level, and why?</a:t>
            </a:r>
          </a:p>
          <a:p>
            <a:pPr lvl="0" indent="0" marL="0">
              <a:buNone/>
            </a:pPr>
            <a:r>
              <a:rPr b="1"/>
              <a:t>(a)</a:t>
            </a:r>
            <a:r>
              <a:rPr/>
              <a:t> </a:t>
            </a:r>
            <a:r>
              <a:rPr>
                <a:latin typeface="Courier"/>
              </a:rPr>
              <a:t>heavy</a:t>
            </a:r>
            <a:r>
              <a:rPr/>
              <a:t> — leave R’s default alone; the choice does not affect the model</a:t>
            </a:r>
          </a:p>
          <a:p>
            <a:pPr lvl="0" indent="0" marL="0">
              <a:buNone/>
            </a:pPr>
            <a:r>
              <a:rPr b="1"/>
              <a:t>(b)</a:t>
            </a:r>
            <a:r>
              <a:rPr/>
              <a:t> </a:t>
            </a:r>
            <a:r>
              <a:rPr>
                <a:latin typeface="Courier"/>
              </a:rPr>
              <a:t>intense</a:t>
            </a:r>
            <a:r>
              <a:rPr/>
              <a:t> — the most extreme level makes the biggest contrasts</a:t>
            </a:r>
          </a:p>
          <a:p>
            <a:pPr lvl="0" indent="0" marL="0">
              <a:buNone/>
            </a:pPr>
            <a:r>
              <a:rPr b="1"/>
              <a:t>(c)</a:t>
            </a:r>
            <a:r>
              <a:rPr/>
              <a:t> </a:t>
            </a:r>
            <a:r>
              <a:rPr>
                <a:latin typeface="Courier"/>
              </a:rPr>
              <a:t>minimal</a:t>
            </a:r>
            <a:r>
              <a:rPr/>
              <a:t> — the least-disturbed level, so every coefficient reads as the cost of adding grazing</a:t>
            </a:r>
          </a:p>
          <a:p>
            <a:pPr lvl="0" indent="0" marL="0">
              <a:buNone/>
            </a:pPr>
            <a:r>
              <a:rPr b="1"/>
              <a:t>(d)</a:t>
            </a:r>
            <a:r>
              <a:rPr/>
              <a:t> It does not matter, because R² and the F-test are identical either way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✍️ Careful — two of these are true statements. Only one is the right decision.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 question to ask</a:t>
            </a:r>
          </a:p>
          <a:p>
            <a:pPr lvl="0" indent="0" marL="1270000">
              <a:buNone/>
            </a:pPr>
            <a:r>
              <a:rPr sz="2000" i="1"/>
              <a:t>Which comparison do I want to read straight off the output?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Making the Control the Reference · </a:t>
            </a:r>
            <a:r>
              <a:rPr>
                <a:latin typeface="Courier"/>
              </a:rPr>
              <a:t>fct_relevel()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The answer is (c).</a:t>
            </a:r>
          </a:p>
          <a:p>
            <a:pPr lvl="0" indent="-342900" marL="342900">
              <a:buAutoNum startAt="4" type="alphaLcParenBoth"/>
            </a:pPr>
            <a:r>
              <a:rPr sz="2000"/>
              <a:t>is </a:t>
            </a:r>
            <a:r>
              <a:rPr sz="2000" i="1"/>
              <a:t>true</a:t>
            </a:r>
            <a:r>
              <a:rPr sz="2000"/>
              <a:t> — the fit, R², F and the ANOVA table are identical whichever level is the reference. But that is not a reason to accept a bad default: the coefficients are what people read, and they should answer the question you asked.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minimal</a:t>
            </a:r>
            <a:r>
              <a:rPr sz="2000"/>
              <a:t> grazing is the closest thing this observational study has to a </a:t>
            </a:r>
            <a:r>
              <a:rPr sz="2000" b="1"/>
              <a:t>control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 b="1"/>
              <a:t>Name the control. That is the whole call.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bird_df &lt;- bird_df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grazing_class =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4758AB"/>
                </a:solidFill>
                <a:latin typeface="Courier"/>
              </a:rPr>
              <a:t>fct_relevel</a:t>
            </a:r>
            <a:r>
              <a:rPr>
                <a:solidFill>
                  <a:srgbClr val="003B4F"/>
                </a:solidFill>
                <a:latin typeface="Courier"/>
              </a:rPr>
              <a:t>(grazing_class, </a:t>
            </a:r>
            <a:r>
              <a:rPr>
                <a:solidFill>
                  <a:srgbClr val="20794D"/>
                </a:solidFill>
                <a:latin typeface="Courier"/>
              </a:rPr>
              <a:t>"minimal"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(bird_df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grazing_class)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"minimal"  "heavy"    "intense"  "light"    "moderate"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fct_relevel()</a:t>
            </a:r>
            <a:r>
              <a:rPr/>
              <a:t> </a:t>
            </a:r>
            <a:r>
              <a:rPr b="1"/>
              <a:t>moves the levels you name to the front</a:t>
            </a:r>
            <a:r>
              <a:rPr/>
              <a:t> and leaves the rest where they were. Name one level and it becomes level 1 — the reference.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minimal</a:t>
            </a:r>
            <a:r>
              <a:rPr/>
              <a:t> is now first. The other four are still in alphabetical order behind it, and that is fine: </a:t>
            </a:r>
            <a:r>
              <a:rPr b="1"/>
              <a:t>only the first level decides the reference.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The habit to build</a:t>
            </a:r>
          </a:p>
          <a:p>
            <a:pPr lvl="0" indent="0" marL="1270000">
              <a:buNone/>
            </a:pPr>
            <a:r>
              <a:rPr sz="2000"/>
              <a:t>One line, every time a factor enters a model: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fct_relevel</a:t>
            </a:r>
            <a:r>
              <a:rPr>
                <a:solidFill>
                  <a:srgbClr val="003B4F"/>
                </a:solidFill>
                <a:latin typeface="Courier"/>
              </a:rPr>
              <a:t>(treatment,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Not </a:t>
            </a:r>
            <a:r>
              <a:rPr sz="2000">
                <a:latin typeface="Courier"/>
              </a:rPr>
              <a:t>factor()</a:t>
            </a:r>
            <a:r>
              <a:rPr sz="2000"/>
              <a:t> and hope. Not relevel-it-later. Set it where you make the factor.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Naming All Five · Reference </a:t>
            </a:r>
            <a:r>
              <a:rPr i="1"/>
              <a:t>and</a:t>
            </a:r>
            <a:r>
              <a:rPr/>
              <a:t> Display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Naming one level fixed the </a:t>
            </a:r>
            <a:r>
              <a:rPr b="1"/>
              <a:t>reference</a:t>
            </a:r>
            <a:r>
              <a:rPr/>
              <a:t>. Name all five and you also fix the </a:t>
            </a:r>
            <a:r>
              <a:rPr b="1"/>
              <a:t>order they print and plot in</a:t>
            </a:r>
            <a:r>
              <a:rPr/>
              <a:t> — light → intense, the way the gradient actually runs.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bird_df &lt;- bird_df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grazing_class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fct_relevel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grazing_class,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"minimal"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"light"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"moderate"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"heavy"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"intense"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(bird_df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grazing_class)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"minimal"  "light"    "moderate" "heavy"    "intense"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Both versions fit the same model</a:t>
            </a:r>
          </a:p>
          <a:p>
            <a:pPr lvl="0" indent="0" marL="1270000">
              <a:buNone/>
            </a:pPr>
            <a:r>
              <a:rPr sz="2000"/>
              <a:t>Same reference, so same R², same F, same fitted values — only the </a:t>
            </a:r>
            <a:r>
              <a:rPr sz="2000" b="1"/>
              <a:t>order of the coefficient rows</a:t>
            </a:r>
            <a:r>
              <a:rPr sz="2000"/>
              <a:t> changes.</a:t>
            </a:r>
          </a:p>
          <a:p>
            <a:pPr lvl="0" indent="0" marL="1270000">
              <a:buNone/>
            </a:pPr>
            <a:r>
              <a:rPr sz="2000"/>
              <a:t>The reason to name all five anyway: that order becomes your </a:t>
            </a:r>
            <a:r>
              <a:rPr sz="2000" b="1"/>
              <a:t>legend order</a:t>
            </a:r>
            <a:r>
              <a:rPr sz="2000"/>
              <a:t> in every figure you draw from this column.</a:t>
            </a:r>
          </a:p>
          <a:p>
            <a:pPr lvl="0" indent="0" marL="0">
              <a:buNone/>
            </a:pPr>
            <a:r>
              <a:rPr/>
              <a:t>The activity ends by checking exactly this — if the legend runs minimal → intense instead of alphabetically, the relevel worked.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Model, Same F, a Readable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grazing_model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(abundance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log_area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grazing_class,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bird_df)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(grazing_model)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coefficients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Estimate Std. Error t value Pr(&gt;|t|)
(Intercept)              15.72       2.77    5.68     0.00
log_area                  7.25       1.26    5.77     0.00
grazing_classlight        0.38       2.91    0.13     0.90
grazing_classmoderate    -0.19       2.55   -0.07     0.94
grazing_classheavy       -1.59       2.98   -0.53     0.60
grazing_classintense    -11.89       2.93   -4.06     0.00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every coefficient is a comparison with </a:t>
            </a:r>
            <a:r>
              <a:rPr b="1"/>
              <a:t>minimal</a:t>
            </a:r>
            <a:r>
              <a:rPr/>
              <a:t> grazing, and the pattern is obvious:</a:t>
            </a:r>
          </a:p>
          <a:p>
            <a:pPr lvl="0"/>
            <a:r>
              <a:rPr/>
              <a:t>light, moderate and heavy are all </a:t>
            </a:r>
            <a:r>
              <a:rPr b="1"/>
              <a:t>indistinguishable</a:t>
            </a:r>
            <a:r>
              <a:rPr/>
              <a:t> from minimal</a:t>
            </a:r>
          </a:p>
          <a:p>
            <a:pPr lvl="0"/>
            <a:r>
              <a:rPr>
                <a:latin typeface="Courier"/>
              </a:rPr>
              <a:t>intense</a:t>
            </a:r>
            <a:r>
              <a:rPr/>
              <a:t> costs about </a:t>
            </a:r>
            <a:r>
              <a:rPr b="1"/>
              <a:t>11.9 birds</a:t>
            </a:r>
            <a:r>
              <a:rPr/>
              <a:t>, p &lt; 0.001</a:t>
            </a:r>
          </a:p>
          <a:p>
            <a:pPr lvl="0" indent="0" marL="0">
              <a:buNone/>
            </a:pPr>
            <a:r>
              <a:rPr b="1"/>
              <a:t>Grazing is a threshold, not a gradient</a:t>
            </a:r>
            <a:r>
              <a:rPr/>
              <a:t> — and fitting it as the number 1–5 hid that completely, averaging the effect into -2.85 birds per step.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Adding the Coefficients 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factor coefficient is </a:t>
                </a:r>
                <a:r>
                  <a:rPr b="1"/>
                  <a:t>a piece of an equation</a:t>
                </a:r>
                <a:r>
                  <a:rPr/>
                  <a:t>, not a mean on its own. To get a group’s prediction, start at the intercept and add the one switch that is 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log_area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L</m:t>
                          </m:r>
                        </m:sub>
                      </m:sSub>
                      <m:r>
                        <m:t>L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r>
                        <m:t>M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H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I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Hold area at its average and add them up — the </a:t>
                </a:r>
                <a:r>
                  <a:rPr>
                    <a:latin typeface="Courier"/>
                  </a:rPr>
                  <a:t>c(0, ...)</a:t>
                </a:r>
                <a:r>
                  <a:rPr/>
                  <a:t> </a:t>
                </a:r>
                <a:r>
                  <a:rPr b="1"/>
                  <a:t>is</a:t>
                </a:r>
                <a:r>
                  <a:rPr/>
                  <a:t> the reference level, minimal’s dummy: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b 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coef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(grazing_model)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la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(bird_df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log_area)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group_fit &lt;- b[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]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b[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2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]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la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c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b[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3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: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6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])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names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(group_fit)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levels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(bird_df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grazing_class)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round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(group_fit,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 minimal    light moderate    heavy  intense 
    22.5     22.9     22.3     20.9     10.6 </a:t>
                </a:r>
              </a:p>
              <a:p>
                <a:pPr lvl="0" indent="0" marL="0">
                  <a:buNone/>
                </a:pPr>
                <a:r>
                  <a:rPr>
                    <a:latin typeface="Courier"/>
                  </a:rPr>
                  <a:t>minimal</a:t>
                </a:r>
                <a:r>
                  <a:rPr/>
                  <a:t> is 15.72 + 7.25(0.93) = </a:t>
                </a:r>
                <a:r>
                  <a:rPr b="1"/>
                  <a:t>22.5</a:t>
                </a:r>
                <a:r>
                  <a:rPr/>
                  <a:t> birds; </a:t>
                </a:r>
                <a:r>
                  <a:rPr>
                    <a:latin typeface="Courier"/>
                  </a:rPr>
                  <a:t>intense</a:t>
                </a:r>
                <a:r>
                  <a:rPr/>
                  <a:t> is that same number 11.89 lower. Every class is the reference prediction </a:t>
                </a:r>
                <a:r>
                  <a:rPr b="1"/>
                  <a:t>plus its own contrast</a:t>
                </a:r>
                <a:r>
                  <a:rPr/>
                  <a:t>.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1270000">
                  <a:buNone/>
                </a:pPr>
                <a:r>
                  <a:rPr sz="2000" b="1"/>
                  <a:t>Important</a:t>
                </a:r>
              </a:p>
              <a:p>
                <a:pPr lvl="0" indent="0" marL="1270000">
                  <a:buNone/>
                </a:pPr>
                <a:r>
                  <a:rPr sz="2000" b="1"/>
                  <a:t>✅ This is where ANOVA starts</a:t>
                </a:r>
              </a:p>
              <a:p>
                <a:pPr lvl="0" indent="0" marL="1270000">
                  <a:buNone/>
                </a:pPr>
                <a:r>
                  <a:rPr sz="2000"/>
                  <a:t>Drop the continuous predictor and the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 sz="2000"/>
                  <a:t> term disappears. Then</a:t>
                </a:r>
              </a:p>
              <a:p>
                <a:pPr lvl="0"/>
                <a:r>
                  <a:rPr sz="2000" b="1"/>
                  <a:t>intercept</a:t>
                </a:r>
                <a:r>
                  <a:rPr sz="2000"/>
                  <a:t> = the reference group’s mean</a:t>
                </a:r>
              </a:p>
              <a:p>
                <a:pPr lvl="0"/>
                <a:r>
                  <a:rPr sz="2000" b="1"/>
                  <a:t>intercept + contrast</a:t>
                </a:r>
                <a:r>
                  <a:rPr sz="2000"/>
                  <a:t> = any other group’s mean</a:t>
                </a:r>
              </a:p>
              <a:p>
                <a:pPr lvl="0" indent="0" marL="1270000">
                  <a:buNone/>
                </a:pPr>
                <a:r>
                  <a:rPr sz="2000" b="1"/>
                  <a:t>One-way ANOVA is this slide with no </a:t>
                </a:r>
                <a:r>
                  <a:rPr sz="2000" b="1">
                    <a:latin typeface="Courier"/>
                  </a:rPr>
                  <a:t>log_area</a:t>
                </a:r>
                <a:r>
                  <a:rPr sz="2000" b="1"/>
                  <a:t> column</a:t>
                </a:r>
                <a:r>
                  <a:rPr sz="2000"/>
                  <a:t> — same dummy coding, same addition.</a:t>
                </a:r>
              </a:p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 indent="0" marL="1270000">
                  <a:buNone/>
                </a:pPr>
                <a:r>
                  <a:rPr sz="2000" b="1"/>
                  <a:t>🧭 Adjusted, not raw</a:t>
                </a:r>
              </a:p>
              <a:p>
                <a:pPr lvl="0" indent="0" marL="1270000">
                  <a:buNone/>
                </a:pPr>
                <a:r>
                  <a:rPr sz="2000"/>
                  <a:t>Raw </a:t>
                </a:r>
                <a:r>
                  <a:rPr sz="2000">
                    <a:latin typeface="Courier"/>
                  </a:rPr>
                  <a:t>minimal</a:t>
                </a:r>
                <a:r>
                  <a:rPr sz="2000"/>
                  <a:t> is 28.6 birds, not 22.5 — ungrazed patches are also the </a:t>
                </a:r>
                <a:r>
                  <a:rPr sz="2000" b="1"/>
                  <a:t>big</a:t>
                </a:r>
                <a:r>
                  <a:rPr sz="2000"/>
                  <a:t> ones, and holding area constant takes that credit back. </a:t>
                </a:r>
                <a:r>
                  <a:rPr sz="2000" b="1"/>
                  <a:t>That gap is ANCOVA.</a:t>
                </a:r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This Matters Even More in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only continuous predictors there is no reference level at all — every slope is “per unit of X” and nothing is being compared with anything.</a:t>
            </a:r>
          </a:p>
          <a:p>
            <a:pPr lvl="0" indent="0" marL="0">
              <a:buNone/>
            </a:pPr>
            <a:r>
              <a:rPr/>
              <a:t>The moment a </a:t>
            </a:r>
            <a:r>
              <a:rPr b="1"/>
              <a:t>factor</a:t>
            </a:r>
            <a:r>
              <a:rPr/>
              <a:t> enters the model, every coefficient becomes a </a:t>
            </a:r>
            <a:r>
              <a:rPr b="1"/>
              <a:t>contrast against the reference</a:t>
            </a:r>
            <a:r>
              <a:rPr/>
              <a:t>, and that is the whole structure of the next five weeks:</a:t>
            </a:r>
          </a:p>
          <a:p>
            <a:pPr lvl="0"/>
            <a:r>
              <a:rPr b="1"/>
              <a:t>One-way ANOVA</a:t>
            </a:r>
            <a:r>
              <a:rPr/>
              <a:t> — treatment means against a control</a:t>
            </a:r>
          </a:p>
          <a:p>
            <a:pPr lvl="0"/>
            <a:r>
              <a:rPr b="1"/>
              <a:t>Two-way ANOVA</a:t>
            </a:r>
            <a:r>
              <a:rPr/>
              <a:t> — main effects read at the other factor’s reference level</a:t>
            </a:r>
          </a:p>
          <a:p>
            <a:pPr lvl="0"/>
            <a:r>
              <a:rPr b="1"/>
              <a:t>ANCOVA</a:t>
            </a:r>
            <a:r>
              <a:rPr/>
              <a:t> — separate intercepts, all relative to one group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The rule to carry forward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factor()</a:t>
            </a:r>
            <a:r>
              <a:rPr sz="2000"/>
              <a:t> gives you alphabetical order. Alphabetical order is almost never the order your experiment was designed in.</a:t>
            </a:r>
          </a:p>
          <a:p>
            <a:pPr lvl="0" indent="0" marL="1270000">
              <a:buNone/>
            </a:pPr>
            <a:r>
              <a:rPr sz="2000" b="1"/>
              <a:t>Set the control as the first level, every time</a:t>
            </a:r>
            <a:r>
              <a:rPr sz="2000"/>
              <a:t>, and your model output reads as “what each treatment did to the control” without any further work.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Comparing Models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Comparing Models —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Which predictors should be in the model?</a:t>
            </a:r>
          </a:p>
          <a:p>
            <a:pPr lvl="0"/>
            <a:r>
              <a:rPr b="1"/>
              <a:t>Occam’s razor:</a:t>
            </a:r>
            <a:r>
              <a:rPr/>
              <a:t> the best model balances fit against complexity</a:t>
            </a:r>
          </a:p>
          <a:p>
            <a:pPr lvl="0"/>
            <a:r>
              <a:rPr b="1"/>
              <a:t>Overfitting:</a:t>
            </a:r>
            <a:r>
              <a:rPr/>
              <a:t> a high R² bought with useless predictors — which is why R² alone cannot choose between models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anova()</a:t>
            </a:r>
            <a:r>
              <a:rPr/>
              <a:t> needs the models to be </a:t>
            </a:r>
            <a:r>
              <a:rPr b="1"/>
              <a:t>nested</a:t>
            </a:r>
            <a:r>
              <a:rPr/>
              <a:t> — one model’s predictors a subset of the other’s. </a:t>
            </a:r>
            <a:r>
              <a:rPr b="1"/>
              <a:t>AIC does not</a:t>
            </a:r>
            <a:r>
              <a:rPr/>
              <a:t>, which is why it can rank “area only” against “grazing only”; it only needs the same response and the same rows.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Quinn &amp; Keough, Ch. 6, works through exactly this dataset. Whitlock &amp; Schluter, Ch. 17, covers model comparison for regression.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Comparing Models — Penalizing 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Two ways to charge a model for its predictors: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Adjusted </m:t>
                      </m:r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AIC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R</m:t>
                          </m:r>
                          <m:r>
                            <m:t>e</m:t>
                          </m:r>
                          <m:r>
                            <m:t>s</m:t>
                          </m:r>
                          <m:r>
                            <m:t>i</m:t>
                          </m:r>
                          <m:r>
                            <m:t>d</m:t>
                          </m:r>
                          <m:r>
                            <m:t>u</m:t>
                          </m:r>
                          <m:r>
                            <m:t>a</m:t>
                          </m:r>
                          <m: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 b="1"/>
                  <a:t>Higher</a:t>
                </a:r>
                <a:r>
                  <a:rPr/>
                  <a:t> adjusted R² is better</a:t>
                </a:r>
              </a:p>
              <a:p>
                <a:pPr lvl="0"/>
                <a:r>
                  <a:rPr b="1"/>
                  <a:t>Lower</a:t>
                </a:r>
                <a:r>
                  <a:rPr/>
                  <a:t> AIC is better</a:t>
                </a:r>
              </a:p>
              <a:p>
                <a:pPr lvl="0"/>
                <a:r>
                  <a:rPr/>
                  <a:t>AIC is comparative only — the number on its own means nothing, and models must be fitted to </a:t>
                </a:r>
                <a:r>
                  <a:rPr b="1"/>
                  <a:t>the same rows</a:t>
                </a:r>
              </a:p>
              <a:p>
                <a:pPr lvl="0"/>
                <a:r>
                  <a:rPr/>
                  <a:t>This is Quinn &amp; Keough’s form; </a:t>
                </a:r>
                <a:r>
                  <a:rPr>
                    <a:latin typeface="Courier"/>
                  </a:rPr>
                  <a:t>AIC()</a:t>
                </a:r>
                <a:r>
                  <a:rPr/>
                  <a:t> in R adds a constant, so the printed values differ from the formula while every </a:t>
                </a:r>
                <a:r>
                  <a:rPr b="1"/>
                  <a:t>ΔAIC</a:t>
                </a:r>
                <a:r>
                  <a:rPr/>
                  <a:t> is identical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The NA trap</a:t>
            </a:r>
          </a:p>
          <a:p>
            <a:pPr lvl="0" indent="0" marL="1270000">
              <a:buNone/>
            </a:pPr>
            <a:r>
              <a:rPr sz="2000"/>
              <a:t>If one predictor has missing values, </a:t>
            </a:r>
            <a:r>
              <a:rPr sz="2000">
                <a:latin typeface="Courier"/>
              </a:rPr>
              <a:t>lm()</a:t>
            </a:r>
            <a:r>
              <a:rPr sz="2000"/>
              <a:t> silently drops those rows. Two models fitted to different numbers of rows </a:t>
            </a:r>
            <a:r>
              <a:rPr sz="2000" b="1"/>
              <a:t>cannot</a:t>
            </a:r>
            <a:r>
              <a:rPr sz="2000"/>
              <a:t> be compared by AIC, and R will not warn you.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Comparing Models — How to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Fit all possible models and compare — fine with a few predictors, hopeless with many</a:t>
            </a:r>
          </a:p>
          <a:p>
            <a:pPr lvl="0"/>
            <a:r>
              <a:rPr b="1"/>
              <a:t>Automated stepwise</a:t>
            </a:r>
            <a:r>
              <a:rPr/>
              <a:t> selection adds or removes terms by partial F or AIC</a:t>
            </a:r>
          </a:p>
          <a:p>
            <a:pPr lvl="0"/>
            <a:r>
              <a:rPr/>
              <a:t>We use </a:t>
            </a:r>
            <a:r>
              <a:rPr b="1"/>
              <a:t>manual backward selection</a:t>
            </a:r>
            <a:r>
              <a:rPr/>
              <a:t>: start full, drop what earns nothing, stop when dropping hurts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Stepwise selection is controversial</a:t>
            </a:r>
          </a:p>
          <a:p>
            <a:pPr lvl="0" indent="0" marL="1270000">
              <a:buNone/>
            </a:pPr>
            <a:r>
              <a:rPr sz="2000"/>
              <a:t>It inflates R², biases p-values, and knows nothing about biology. A small set of models you can </a:t>
            </a:r>
            <a:r>
              <a:rPr sz="2000" i="1"/>
              <a:t>justify</a:t>
            </a:r>
            <a:r>
              <a:rPr sz="2000"/>
              <a:t> beats an automated search over all of them.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Comparing Models — 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model_comparison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model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"all six predictors"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20794D"/>
                </a:solidFill>
                <a:latin typeface="Courier"/>
              </a:rPr>
              <a:t>"log_area + grazing"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20794D"/>
                </a:solidFill>
                <a:latin typeface="Courier"/>
              </a:rPr>
              <a:t>"log_area only"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20794D"/>
                </a:solidFill>
                <a:latin typeface="Courier"/>
              </a:rPr>
              <a:t>"grazing only"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adj_r2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(full_model)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adj.r.squared,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(reduced_model)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adj.r.squared,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(abundance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log_area, bird_df))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adj.r.squared,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(abundance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grazing, bird_df))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adj.r.squared),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AIC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AIC</a:t>
            </a:r>
            <a:r>
              <a:rPr>
                <a:solidFill>
                  <a:srgbClr val="003B4F"/>
                </a:solidFill>
                <a:latin typeface="Courier"/>
              </a:rPr>
              <a:t>(full_model),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4758AB"/>
                </a:solidFill>
                <a:latin typeface="Courier"/>
              </a:rPr>
              <a:t>AIC</a:t>
            </a:r>
            <a:r>
              <a:rPr>
                <a:solidFill>
                  <a:srgbClr val="003B4F"/>
                </a:solidFill>
                <a:latin typeface="Courier"/>
              </a:rPr>
              <a:t>(reduced_model),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4758AB"/>
                </a:solidFill>
                <a:latin typeface="Courier"/>
              </a:rPr>
              <a:t>AIC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(abundance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log_area, bird_df)),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4758AB"/>
                </a:solidFill>
                <a:latin typeface="Courier"/>
              </a:rPr>
              <a:t>AIC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(abundance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grazing, bird_df)))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delta_AIC =</a:t>
            </a:r>
            <a:r>
              <a:rPr>
                <a:solidFill>
                  <a:srgbClr val="003B4F"/>
                </a:solidFill>
                <a:latin typeface="Courier"/>
              </a:rPr>
              <a:t> AIC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(AIC))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(AIC)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model_comparison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4
  model              adj_r2   AIC delta_AIC
  &lt;chr&gt;               &lt;dbl&gt; &lt;dbl&gt;     &lt;dbl&gt;
1 log_area + grazing  0.640  373.      0   
2 all six predictors  0.646  375.      2.55
3 log_area only       0.539  385.     12.8 
4 grazing only        0.456  395.     22.1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The two-predictor model wins</a:t>
            </a:r>
          </a:p>
          <a:p>
            <a:pPr lvl="0" indent="0" marL="1270000">
              <a:buNone/>
            </a:pPr>
            <a:r>
              <a:rPr sz="2000"/>
              <a:t>It has the </a:t>
            </a:r>
            <a:r>
              <a:rPr sz="2000" b="1"/>
              <a:t>lowest AIC</a:t>
            </a:r>
            <a:r>
              <a:rPr sz="2000"/>
              <a:t> and essentially the same adjusted R² as the full model — with four fewer predictors.</a:t>
            </a:r>
          </a:p>
          <a:p>
            <a:pPr lvl="0" indent="0" marL="1270000">
              <a:buNone/>
            </a:pPr>
            <a:r>
              <a:rPr sz="2000"/>
              <a:t>A </a:t>
            </a:r>
            <a:r>
              <a:rPr sz="2000" b="1"/>
              <a:t>ΔAIC above about 2</a:t>
            </a:r>
            <a:r>
              <a:rPr sz="2000"/>
              <a:t> is usually treated as a real difference, so the full model’s extra terms are not paying for themselves.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anova()</a:t>
            </a:r>
            <a:r>
              <a:rPr/>
              <a:t> test in Part 3 said the same thing. Two routes, one answer.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Relative Importance of Predictors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Important Is Each Predictor?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standard approaches, and they answer slightly different questions:</a:t>
            </a:r>
          </a:p>
          <a:p>
            <a:pPr lvl="0" indent="-342900" marL="342900">
              <a:buAutoNum type="arabicPeriod"/>
            </a:pPr>
            <a:r>
              <a:rPr b="1"/>
              <a:t>F- or t-tests</a:t>
            </a:r>
            <a:r>
              <a:rPr/>
              <a:t> on the partial slopes</a:t>
            </a:r>
          </a:p>
          <a:p>
            <a:pPr lvl="0" indent="-342900" marL="342900">
              <a:buAutoNum type="arabicPeriod"/>
            </a:pPr>
            <a:r>
              <a:rPr b="1"/>
              <a:t>Coefficient of partial determination</a:t>
            </a:r>
            <a:r>
              <a:rPr/>
              <a:t> — the variance a predictor adds</a:t>
            </a:r>
          </a:p>
          <a:p>
            <a:pPr lvl="0" indent="-342900" marL="342900">
              <a:buAutoNum type="arabicPeriod"/>
            </a:pPr>
            <a:r>
              <a:rPr b="1"/>
              <a:t>Standardized partial slopes</a:t>
            </a:r>
            <a:r>
              <a:rPr/>
              <a:t> — every predictor in SD units</a:t>
            </a:r>
          </a:p>
          <a:p>
            <a:pPr lvl="0" indent="0" marL="0">
              <a:buNone/>
            </a:pPr>
            <a:r>
              <a:rPr/>
              <a:t>None of them is “the” right answer.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Why the raw slopes cannot be compared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log_area</a:t>
            </a:r>
            <a:r>
              <a:rPr sz="2000"/>
              <a:t> has a slope of 6.89 and </a:t>
            </a:r>
            <a:r>
              <a:rPr sz="2000">
                <a:latin typeface="Courier"/>
              </a:rPr>
              <a:t>grazing</a:t>
            </a:r>
            <a:r>
              <a:rPr sz="2000"/>
              <a:t> -2.85.</a:t>
            </a:r>
          </a:p>
          <a:p>
            <a:pPr lvl="0" indent="0" marL="1270000">
              <a:buNone/>
            </a:pPr>
            <a:r>
              <a:rPr sz="2000"/>
              <a:t>One is “birds per tenfold increase in area,” the other is “birds per step of grazing intensity.” Comparing those two numbers is comparing metres with kilograms.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Approaches 1 and 2 — Partial F and Partial R²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Anova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(reduced_model,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type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"II"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Anova Table (Type II tests)
Response: abundance
          Sum Sq Df F value    Pr(&gt;F)    
log_area  1184.6  1  28.527 1.977e-06 ***
grazing    666.0  1  16.038 0.0001946 ***
Residuals 2200.9 53                      
---
Signif. codes:  0 '***' 0.001 '**' 0.01 '*' 0.05 '.' 0.1 ' ' 1</a:t>
                </a:r>
              </a:p>
              <a:p>
                <a:pPr lvl="0" indent="0" marL="0">
                  <a:buNone/>
                </a:pPr>
                <a:r>
                  <a:rPr b="1"/>
                  <a:t>Partial η²</a:t>
                </a:r>
                <a:r>
                  <a:rPr/>
                  <a:t> =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p</m:t>
                            </m:r>
                            <m:r>
                              <m:t>r</m:t>
                            </m:r>
                            <m:r>
                              <m:t>e</m:t>
                            </m:r>
                            <m:r>
                              <m:t>d</m:t>
                            </m:r>
                            <m:r>
                              <m:t>i</m:t>
                            </m:r>
                            <m:r>
                              <m:t>c</m:t>
                            </m:r>
                            <m:r>
                              <m:t>t</m:t>
                            </m:r>
                            <m:r>
                              <m:t>o</m:t>
                            </m:r>
                            <m:r>
                              <m:t>r</m:t>
                            </m:r>
                          </m:sub>
                        </m:sSub>
                      </m:num>
                      <m:den>
                        <m:r>
                          <m:t>S</m:t>
                        </m:r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p</m:t>
                            </m:r>
                            <m:r>
                              <m:t>r</m:t>
                            </m:r>
                            <m:r>
                              <m:t>e</m:t>
                            </m:r>
                            <m:r>
                              <m:t>d</m:t>
                            </m:r>
                            <m:r>
                              <m:t>i</m:t>
                            </m:r>
                            <m:r>
                              <m:t>c</m:t>
                            </m:r>
                            <m:r>
                              <m:t>t</m:t>
                            </m:r>
                            <m:r>
                              <m:t>o</m:t>
                            </m:r>
                            <m: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+</m:t>
                        </m:r>
                        <m:r>
                          <m:t>S</m:t>
                        </m:r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r</m:t>
                            </m:r>
                            <m:r>
                              <m:t>e</m:t>
                            </m:r>
                            <m:r>
                              <m:t>s</m:t>
                            </m:r>
                            <m:r>
                              <m:t>i</m:t>
                            </m:r>
                            <m:r>
                              <m:t>d</m:t>
                            </m:r>
                            <m:r>
                              <m:t>u</m:t>
                            </m:r>
                            <m:r>
                              <m:t>a</m:t>
                            </m:r>
                            <m:r>
                              <m:t>l</m:t>
                            </m:r>
                          </m:sub>
                        </m:sSub>
                      </m:den>
                    </m:f>
                  </m:oMath>
                </a14:m>
                <a:r>
                  <a:rPr/>
                  <a:t> — variance explained </a:t>
                </a:r>
                <a:r>
                  <a:rPr i="1"/>
                  <a:t>after</a:t>
                </a:r>
                <a:r>
                  <a:rPr/>
                  <a:t> controlling for the other predictor.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ΔR²</a:t>
            </a:r>
            <a:r>
              <a:rPr/>
              <a:t> is what the model’s R² would lose if you dropped that predictor — its </a:t>
            </a:r>
            <a:r>
              <a:rPr i="1"/>
              <a:t>unique</a:t>
            </a:r>
            <a:r>
              <a:rPr/>
              <a:t> contribution.</a:t>
            </a:r>
          </a:p>
          <a:p>
            <a:pPr lvl="0" indent="0" marL="0">
              <a:buNone/>
            </a:pPr>
            <a:r>
              <a:rPr/>
              <a:t>Both say area is the stronger of the two.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Approach 3 — Standardized Partial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Rescale every variable to mean 0 and SD 1, and the slopes become directly comparable: “SDs of Y per SD of X.”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bird_z &lt;- bird_df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(abundance, log_area, grazing),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scale</a:t>
            </a:r>
            <a:r>
              <a:rPr>
                <a:solidFill>
                  <a:srgbClr val="003B4F"/>
                </a:solidFill>
                <a:latin typeface="Courier"/>
              </a:rPr>
              <a:t>(.))))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(abundance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log_area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grazing,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bird_z)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(Intercept)    log_area     grazing 
      0.000       0.521      -0.391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log_area 0.52</a:t>
            </a:r>
            <a:r>
              <a:rPr/>
              <a:t> versus </a:t>
            </a:r>
            <a:r>
              <a:rPr b="1"/>
              <a:t>grazing -0.39</a:t>
            </a:r>
            <a:r>
              <a:rPr/>
              <a:t> — area is about 1.3× the influence of grazing per standard deviation.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All three agree here</a:t>
            </a:r>
          </a:p>
          <a:p>
            <a:pPr lvl="0" indent="0" marL="1270000">
              <a:buNone/>
            </a:pPr>
            <a:r>
              <a:rPr sz="2000"/>
              <a:t>Partial F, partial R² and standardized slopes all rank area above grazing. When they </a:t>
            </a:r>
            <a:r>
              <a:rPr sz="2000" i="1"/>
              <a:t>disagree</a:t>
            </a:r>
            <a:r>
              <a:rPr sz="2000"/>
              <a:t>, that is worth reporting — it usually means the predictors are tangled.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Partial η² and ΔR² — What to Keep, What to Toss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both on the </a:t>
            </a:r>
            <a:r>
              <a:rPr b="1"/>
              <a:t>full</a:t>
            </a:r>
            <a:r>
              <a:rPr/>
              <a:t> model and every predictor is ranked at once.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anova_full  &lt;-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(full_model,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ss_res_full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(full_model)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predictor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rownames</a:t>
            </a:r>
            <a:r>
              <a:rPr>
                <a:solidFill>
                  <a:srgbClr val="003B4F"/>
                </a:solidFill>
                <a:latin typeface="Courier"/>
              </a:rPr>
              <a:t>(anova_full),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SS        =</a:t>
            </a:r>
            <a:r>
              <a:rPr>
                <a:solidFill>
                  <a:srgbClr val="003B4F"/>
                </a:solidFill>
                <a:latin typeface="Courier"/>
              </a:rPr>
              <a:t> anova_full[, </a:t>
            </a:r>
            <a:r>
              <a:rPr>
                <a:solidFill>
                  <a:srgbClr val="20794D"/>
                </a:solidFill>
                <a:latin typeface="Courier"/>
              </a:rPr>
              <a:t>"Sum Sq"</a:t>
            </a:r>
            <a:r>
              <a:rPr>
                <a:solidFill>
                  <a:srgbClr val="003B4F"/>
                </a:solidFill>
                <a:latin typeface="Courier"/>
              </a:rPr>
              <a:t>])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(predictor </a:t>
            </a:r>
            <a:r>
              <a:rPr>
                <a:solidFill>
                  <a:srgbClr val="5E5E5E"/>
                </a:solidFill>
                <a:latin typeface="Courier"/>
              </a:rPr>
              <a:t>!=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"Residuals"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pEta2 =</a:t>
            </a:r>
            <a:r>
              <a:rPr>
                <a:solidFill>
                  <a:srgbClr val="003B4F"/>
                </a:solidFill>
                <a:latin typeface="Courier"/>
              </a:rPr>
              <a:t> SS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(SS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ss_res_full),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dR2   =</a:t>
            </a:r>
            <a:r>
              <a:rPr>
                <a:solidFill>
                  <a:srgbClr val="003B4F"/>
                </a:solidFill>
                <a:latin typeface="Courier"/>
              </a:rPr>
              <a:t> SS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ss_tot)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(pEta2))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predictor            SS   pEta2      dR2
  &lt;chr&gt;             &lt;dbl&gt;   &lt;dbl&gt;    &lt;dbl&gt;
1 log_area        1060.   0.347   0.167   
2 grazing          131.   0.0616  0.0207  
3 year_isolated    109.   0.0517  0.0172  
4 altitude_m        27.0  0.0133  0.00426 
5 log_dist           4.68 0.00234 0.000739
6 log_dist_larger    3.80 0.00190 0.000600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log_area</a:t>
            </a:r>
            <a:r>
              <a:rPr/>
              <a:t> carries pη² = 0.35 — 5.6× the next predictor.</a:t>
            </a:r>
          </a:p>
          <a:p>
            <a:pPr lvl="0" indent="0" marL="0">
              <a:buNone/>
            </a:pPr>
            <a:r>
              <a:rPr/>
              <a:t>The two distance predictors sit at 0.002. That is nothing.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Two columns, two questions</a:t>
            </a:r>
          </a:p>
          <a:p>
            <a:pPr lvl="0" indent="0" marL="1270000">
              <a:buNone/>
            </a:pPr>
            <a:r>
              <a:rPr sz="2000"/>
              <a:t>pη² </a:t>
            </a:r>
            <a:r>
              <a:rPr sz="2000" b="1"/>
              <a:t>ranks</a:t>
            </a:r>
            <a:r>
              <a:rPr sz="2000"/>
              <a:t> the predictors. ΔR² says what each one </a:t>
            </a:r>
            <a:r>
              <a:rPr sz="2000" b="1"/>
              <a:t>uniquely buys</a:t>
            </a:r>
            <a:r>
              <a:rPr sz="2000"/>
              <a:t> — what R² would lose if you dropped it.</a:t>
            </a:r>
          </a:p>
          <a:p>
            <a:pPr lvl="0" indent="0" marL="0">
              <a:buNone/>
            </a:pPr>
            <a:r>
              <a:rPr/>
              <a:t>A fourth route to the same answer the vote, the t-tests and AIC already gave you.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Trap in the ΔR²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up the ΔR² column: </a:t>
            </a:r>
            <a:r>
              <a:rPr b="1"/>
              <a:t>0.211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model’s R² is </a:t>
            </a:r>
            <a:r>
              <a:rPr b="1"/>
              <a:t>0.685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So where did the other 0.47 of explained variance go?</a:t>
            </a:r>
          </a:p>
          <a:p>
            <a:pPr lvl="0" indent="0" marL="0">
              <a:buNone/>
            </a:pPr>
            <a:r>
              <a:rPr/>
              <a:t>It is real, and it is </a:t>
            </a:r>
            <a:r>
              <a:rPr b="1"/>
              <a:t>shared</a:t>
            </a:r>
            <a:r>
              <a:rPr/>
              <a:t>. ΔR² only counts the variance a predictor explains that </a:t>
            </a:r>
            <a:r>
              <a:rPr i="1"/>
              <a:t>nothing else can</a:t>
            </a:r>
            <a:r>
              <a:rPr/>
              <a:t>. Variance that two collinear predictors could each account for belongs to neither of them, so it appears in R² and in no row of this table.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Do not toss on pη² alone</a:t>
            </a:r>
          </a:p>
          <a:p>
            <a:pPr lvl="0" indent="0" marL="1270000">
              <a:buNone/>
            </a:pPr>
            <a:r>
              <a:rPr sz="2000"/>
              <a:t>A predictor can have a tiny pη² for two completely different reasons:</a:t>
            </a:r>
          </a:p>
          <a:p>
            <a:pPr lvl="0" indent="-342900" marL="342900">
              <a:buAutoNum type="arabicPeriod"/>
            </a:pPr>
            <a:r>
              <a:rPr sz="2000"/>
              <a:t>It genuinely does nothing — </a:t>
            </a:r>
            <a:r>
              <a:rPr sz="2000" b="1"/>
              <a:t>toss it</a:t>
            </a:r>
          </a:p>
          <a:p>
            <a:pPr lvl="0" indent="-342900" marL="342900">
              <a:buAutoNum type="arabicPeriod"/>
            </a:pPr>
            <a:r>
              <a:rPr sz="2000"/>
              <a:t>It is tangled with a predictor already in the model — </a:t>
            </a:r>
            <a:r>
              <a:rPr sz="2000">
                <a:latin typeface="Courier"/>
              </a:rPr>
              <a:t>vif()</a:t>
            </a:r>
            <a:r>
              <a:rPr sz="2000"/>
              <a:t> from Part 5 is how you tell the difference</a:t>
            </a:r>
          </a:p>
          <a:p>
            <a:pPr lvl="0" indent="0" marL="1270000">
              <a:buNone/>
            </a:pPr>
            <a:r>
              <a:rPr sz="2000"/>
              <a:t>Drop it for reason 2 and you have not learned it has no effect — only that these data cannot separate it from its partner.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How to use these</a:t>
            </a:r>
          </a:p>
          <a:p>
            <a:pPr lvl="0" indent="0" marL="1270000">
              <a:buNone/>
            </a:pPr>
            <a:r>
              <a:rPr sz="2000"/>
              <a:t>pη² to </a:t>
            </a:r>
            <a:r>
              <a:rPr sz="2000" b="1"/>
              <a:t>rank</a:t>
            </a:r>
            <a:r>
              <a:rPr sz="2000"/>
              <a:t>, ΔR² to see what each predictor </a:t>
            </a:r>
            <a:r>
              <a:rPr sz="2000" b="1"/>
              <a:t>uniquely buys you</a:t>
            </a:r>
            <a:r>
              <a:rPr sz="2000"/>
              <a:t>, </a:t>
            </a:r>
            <a:r>
              <a:rPr sz="2000">
                <a:latin typeface="Courier"/>
              </a:rPr>
              <a:t>vif()</a:t>
            </a:r>
            <a:r>
              <a:rPr sz="2000"/>
              <a:t> to decide whether a small value means “useless” or “redundant.”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Extended the regression line to a </a:t>
            </a:r>
            <a:r>
              <a:rPr b="1"/>
              <a:t>plane</a:t>
            </a:r>
            <a:r>
              <a:rPr/>
              <a:t>, and fitted 56 forest patches against six predictors at once</a:t>
            </a:r>
          </a:p>
          <a:p>
            <a:pPr lvl="0"/>
            <a:r>
              <a:rPr/>
              <a:t>Watched four predictors that were significant alone collapse to </a:t>
            </a:r>
            <a:r>
              <a:rPr b="1"/>
              <a:t>one</a:t>
            </a:r>
            <a:r>
              <a:rPr/>
              <a:t> in the model together</a:t>
            </a:r>
          </a:p>
          <a:p>
            <a:pPr lvl="0"/>
            <a:r>
              <a:rPr/>
              <a:t>Read a </a:t>
            </a:r>
            <a:r>
              <a:rPr b="1"/>
              <a:t>partial slope</a:t>
            </a:r>
            <a:r>
              <a:rPr/>
              <a:t> as a conditional statement, and saw that neither it nor the simple slope is “wrong”</a:t>
            </a:r>
          </a:p>
          <a:p>
            <a:pPr lvl="0"/>
            <a:r>
              <a:rPr/>
              <a:t>Tested groups of predictors with </a:t>
            </a:r>
            <a:r>
              <a:rPr>
                <a:latin typeface="Courier"/>
              </a:rPr>
              <a:t>anova(reduced, full)</a:t>
            </a:r>
            <a:r>
              <a:rPr/>
              <a:t> and single ones with the t-tests in </a:t>
            </a:r>
            <a:r>
              <a:rPr>
                <a:latin typeface="Courier"/>
              </a:rPr>
              <a:t>summary()</a:t>
            </a:r>
          </a:p>
          <a:p>
            <a:pPr lvl="0"/>
            <a:r>
              <a:rPr/>
              <a:t>Diagnosed </a:t>
            </a:r>
            <a:r>
              <a:rPr b="1"/>
              <a:t>collinearity</a:t>
            </a:r>
            <a:r>
              <a:rPr/>
              <a:t> with </a:t>
            </a:r>
            <a:r>
              <a:rPr>
                <a:latin typeface="Courier"/>
              </a:rPr>
              <a:t>vif()</a:t>
            </a:r>
            <a:r>
              <a:rPr/>
              <a:t>, and learned to say “these data cannot separate them” instead of “it has no effect”</a:t>
            </a:r>
          </a:p>
          <a:p>
            <a:pPr lvl="0"/>
            <a:r>
              <a:rPr/>
              <a:t>Fitted a real </a:t>
            </a:r>
            <a:r>
              <a:rPr b="1"/>
              <a:t>interaction</a:t>
            </a:r>
            <a:r>
              <a:rPr/>
              <a:t> — fragmentation costs more where grazing is heavy</a:t>
            </a:r>
          </a:p>
          <a:p>
            <a:pPr lvl="0"/>
            <a:r>
              <a:rPr/>
              <a:t>Turned a categorical predictor into </a:t>
            </a:r>
            <a:r>
              <a:rPr b="1"/>
              <a:t>dummy variables</a:t>
            </a:r>
            <a:r>
              <a:rPr/>
              <a:t>, and set the reference level on purpose with </a:t>
            </a:r>
            <a:r>
              <a:rPr>
                <a:latin typeface="Courier"/>
              </a:rPr>
              <a:t>fct_relevel()</a:t>
            </a:r>
          </a:p>
          <a:p>
            <a:pPr lvl="0"/>
            <a:r>
              <a:rPr/>
              <a:t>Compared models with </a:t>
            </a:r>
            <a:r>
              <a:rPr b="1"/>
              <a:t>adjusted R²</a:t>
            </a:r>
            <a:r>
              <a:rPr/>
              <a:t> and </a:t>
            </a:r>
            <a:r>
              <a:rPr b="1"/>
              <a:t>AIC</a:t>
            </a:r>
            <a:r>
              <a:rPr/>
              <a:t>, and ranked predictors by partial η², ΔR² and standardized slopes to decide what to keep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Three Things to Carry Out of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R² always rises</a:t>
            </a:r>
          </a:p>
          <a:p>
            <a:pPr lvl="0" indent="0" marL="1270000">
              <a:buNone/>
            </a:pPr>
            <a:r>
              <a:rPr sz="2000"/>
              <a:t>Adding predictors can only increase plain R². Adjusted R² and AIC exist precisely because “explains more variance” is not the same as “is a better model.”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A partial slope is conditional</a:t>
            </a:r>
          </a:p>
          <a:p>
            <a:pPr lvl="0" indent="0" marL="1270000">
              <a:buNone/>
            </a:pPr>
            <a:r>
              <a:rPr sz="2000"/>
              <a:t>“What does area do among patches grazed the same amount?” Change what else is in the model and you have changed the question.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Set your reference level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factor()</a:t>
            </a:r>
            <a:r>
              <a:rPr sz="2000"/>
              <a:t> sorts alphabetically. Your control is almost never first alphabetically — use </a:t>
            </a:r>
            <a:r>
              <a:rPr sz="2000">
                <a:latin typeface="Courier"/>
              </a:rPr>
              <a:t>fct_relevel()</a:t>
            </a:r>
            <a:r>
              <a:rPr sz="2000"/>
              <a:t> and make the output say what you meant.</a:t>
            </a:r>
          </a:p>
          <a:p>
            <a:pPr lvl="0" indent="0" marL="1270000">
              <a:buNone/>
            </a:pPr>
            <a:r>
              <a:rPr sz="2000"/>
              <a:t>This is the habit that makes every ANOVA from Week 8 onward readable.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Up next — Analysis of Variance</a:t>
            </a:r>
          </a:p>
          <a:p>
            <a:pPr lvl="0" indent="0" marL="1270000">
              <a:buNone/>
            </a:pPr>
            <a:r>
              <a:rPr sz="2000"/>
              <a:t>What happens when </a:t>
            </a:r>
            <a:r>
              <a:rPr sz="2000" b="1"/>
              <a:t>every</a:t>
            </a:r>
            <a:r>
              <a:rPr sz="2000"/>
              <a:t> predictor is categorical, and why ANOVA and regression are the same machinery in different clothes.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Quinn, G. P., &amp; Keough, M. J.</a:t>
            </a:r>
            <a:r>
              <a:rPr/>
              <a:t> (2002). </a:t>
            </a:r>
            <a:r>
              <a:rPr i="1"/>
              <a:t>Experimental Design and Data Analysis for Biologists</a:t>
            </a:r>
            <a:r>
              <a:rPr/>
              <a:t>, Ch. 6 — Multiple and Complex Regression. This lecture follows their Box 6-2 analysis of the Loyn data.</a:t>
            </a:r>
          </a:p>
          <a:p>
            <a:pPr lvl="0"/>
            <a:r>
              <a:rPr b="1"/>
              <a:t>Whitlock &amp; Schluter</a:t>
            </a:r>
            <a:r>
              <a:rPr/>
              <a:t>, Ch. 17 — Regression.</a:t>
            </a:r>
          </a:p>
          <a:p>
            <a:pPr lvl="0"/>
            <a:r>
              <a:rPr b="1"/>
              <a:t>Gotelli &amp; Ellison</a:t>
            </a:r>
            <a:r>
              <a:rPr/>
              <a:t>, Ch. 9 — Regression.</a:t>
            </a:r>
          </a:p>
          <a:p>
            <a:pPr lvl="0"/>
            <a:r>
              <a:rPr/>
              <a:t>Loyn, R. H. (1987). Effects of patch area and habitat on bird abundances, species numbers and tree health in fragmented Victorian forests. In </a:t>
            </a:r>
            <a:r>
              <a:rPr i="1"/>
              <a:t>Nature Conservation: The Role of Remnants of Native Vegetation</a:t>
            </a:r>
            <a:r>
              <a:rPr/>
              <a:t>. Surrey Beatty &amp; Sons.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Multiple Regression</dc:title>
  <dc:creator>Bill Perry</dc:creator>
  <cp:keywords/>
  <dc:description>Multiple regression on Loyn’s Victorian forest-bird dataset: partial regression slopes, the ANOVA partition, assumptions and diagnostics, collinearity, interactions, categorical predictors as factors with a chosen reference level, model comparison with AIC, and ranking predictor importance.</dc:description>
  <dcterms:created xsi:type="dcterms:W3CDTF">2026-10-19T18:23:03Z</dcterms:created>
  <dcterms:modified xsi:type="dcterms:W3CDTF">2026-10-19T18:23:03Z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11</vt:lpwstr>
  </property>
  <property fmtid="{D5CDD505-2E9C-101B-9397-08002B2CF9AE}" pid="14" name="resources">
    <vt:lpwstr/>
  </property>
  <property fmtid="{D5CDD505-2E9C-101B-9397-08002B2CF9AE}" pid="15" name="subtitle">
    <vt:lpwstr>Several predictors</vt:lpwstr>
  </property>
  <property fmtid="{D5CDD505-2E9C-101B-9397-08002B2CF9AE}" pid="16" name="toc-title">
    <vt:lpwstr>Table of contents</vt:lpwstr>
  </property>
  <property fmtid="{D5CDD505-2E9C-101B-9397-08002B2CF9AE}" pid="17" name="week">
    <vt:lpwstr>7</vt:lpwstr>
  </property>
</Properties>
</file>