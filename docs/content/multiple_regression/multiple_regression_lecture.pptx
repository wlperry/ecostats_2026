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Regression, t-tests, and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Sum-of-squares allocation and subdivision from total sums of squares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 (regression vs. residual). Today we add more predictors — the logic barely changes, but the bookkeeping does.</a:t>
            </a:r>
          </a:p>
        </p:txBody>
      </p:sp>
      <p:pic>
        <p:nvPicPr>
          <p:cNvPr descr="multiple_regression_lecture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 — Regression, and Gotelli &amp; Ellison, </a:t>
            </a:r>
            <a:r>
              <a:rPr sz="2000" i="1"/>
              <a:t>A Primer of Ecological Statistics</a:t>
            </a:r>
            <a:r>
              <a:rPr sz="2000"/>
              <a:t>, Ch. 9 — Regression, are the core references for this lecture.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there’s more than one predictor (X) variable?</a:t>
            </a:r>
          </a:p>
          <a:p>
            <a:pPr lvl="0"/>
            <a:r>
              <a:rPr/>
              <a:t>If predictors are continuous</a:t>
            </a:r>
          </a:p>
          <a:p>
            <a:pPr lvl="0"/>
            <a:r>
              <a:rPr/>
              <a:t>A mix between categorical and continuous</a:t>
            </a:r>
          </a:p>
          <a:p>
            <a:pPr lvl="0"/>
            <a:r>
              <a:rPr/>
              <a:t>We 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a function of: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a line, it’s modeled with a (hyper)plane.</a:t>
            </a:r>
          </a:p>
        </p:txBody>
      </p:sp>
      <p:pic>
        <p:nvPicPr>
          <p:cNvPr descr="multiple_regression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Multiple Regression Is Used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a similar way to simple linear regression:</a:t>
            </a:r>
          </a:p>
          <a:p>
            <a:pPr lvl="0"/>
            <a:r>
              <a:rPr/>
              <a:t>Describe the nature of the relationship between Y and the X’s</a:t>
            </a:r>
          </a:p>
          <a:p>
            <a:pPr lvl="0"/>
            <a:r>
              <a:rPr/>
              <a:t>Determine explained/unexplained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Challenges of Multiple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(2012):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Stock photo of a frustrated man in a suit punching through a laptop screen, used humorously to illustrate the frustration multiple regression’s challenges (overfitting, multicollinearity, model selection) can cause.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i = 1 to n observations</a:t>
                </a:r>
              </a:p>
              <a:p>
                <a:pPr lvl="0"/>
                <a:r>
                  <a:rPr/>
                  <a:t>Fixed X-values for p predictor variables (X₁, X₂ … Xₚ)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yᵢ: value of Y for the i-th observation, X₁ = x_i1, X₂ = x_i2, …, Xₚ = x_ip</a:t>
            </a:r>
          </a:p>
          <a:p>
            <a:pPr lvl="0"/>
            <a:r>
              <a:rPr/>
              <a:t>β₀: population intercept — the mean value of Y when X₁ = 0, X₂ = 0, …, Xₚ = 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β₁: partial regression slope — change in Y per unit change in X₁, holding other X-vars constant</a:t>
                </a:r>
              </a:p>
              <a:p>
                <a:pPr lvl="0"/>
                <a:r>
                  <a:rPr/>
                  <a:t>β₂: partial regression slope for X₂, holding others constant</a:t>
                </a:r>
              </a:p>
              <a:p>
                <a:pPr lvl="0"/>
                <a:r>
                  <a:rPr/>
                  <a:t>βₚ: partial regression slope for Xₚ, holding others constant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The relationship between a predictor and the response </a:t>
            </a:r>
            <a:r>
              <a:rPr sz="2000" b="1"/>
              <a:t>while holding all other predictors constant</a:t>
            </a:r>
            <a:r>
              <a:rPr sz="2000"/>
              <a:t>. It tells you the isolated effect of one variable, controlling for the influence of others.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 — the Ant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</a:t>
            </a:r>
            <a:r>
              <a:rPr>
                <a:latin typeface="Courier"/>
              </a:rPr>
              <a:t>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→ ant spp decrease by 0.012 spp, holding latitude constant</a:t>
            </a:r>
          </a:p>
          <a:p>
            <a:pPr lvl="1"/>
            <a:r>
              <a:rPr/>
              <a:t>Or: 100-m increase in elevation →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 → ant spp decrease by 2 species, holding elevation constant</a:t>
            </a:r>
          </a:p>
          <a:p>
            <a:pPr lvl="1"/>
            <a:r>
              <a:rPr/>
              <a:t>Moving north = fewer ant spp, even comparing sites at the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the Error Term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εᵢ: unexplained error — the difference between yᵢ and the value predicted by the model (ŷᵢ)</a:t>
                </a:r>
              </a:p>
              <a:p>
                <a:pPr lvl="0"/>
                <a:r>
                  <a:rPr/>
                  <a:t>ant_spp = β₀ + β₁(lat) + β₂(elevation) + εᵢ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exactly the same “signal vs. noise” structure as a simple regression — just with more terms on the signal side.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the SS (vertical distance) between observed yᵢ and predicted ŷᵢ for each xᵢⱼ</a:t>
                </a:r>
              </a:p>
              <a:p>
                <a:pPr lvl="0"/>
                <a:r>
                  <a:rPr/>
                  <a:t>ε estimated as residuals: εᵢ = yᵢ − ŷᵢ</a:t>
                </a:r>
              </a:p>
              <a:p>
                <a:pPr lvl="0"/>
                <a:r>
                  <a:rPr/>
                  <a:t>Calculation solves a set of simultaneous normal equations with matrix algebra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You’ll never do this matrix algebra by hand — R’s </a:t>
            </a:r>
            <a:r>
              <a:rPr sz="2000">
                <a:latin typeface="Courier"/>
              </a:rPr>
              <a:t>lm()</a:t>
            </a:r>
            <a:r>
              <a:rPr sz="2000"/>
              <a:t> does it instantly. What matters is knowing </a:t>
            </a:r>
            <a:r>
              <a:rPr sz="2000" i="1"/>
              <a:t>what</a:t>
            </a:r>
            <a:r>
              <a:rPr sz="2000"/>
              <a:t> it’s minimizing.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regression equation can be used for prediction by substituting new values for the predictor (X) variables.</a:t>
            </a:r>
          </a:p>
          <a:p>
            <a:pPr lvl="0"/>
            <a:r>
              <a:rPr/>
              <a:t>Confidence intervals are calculated for parameters</a:t>
            </a:r>
          </a:p>
          <a:p>
            <a:pPr lvl="0"/>
            <a:r>
              <a:rPr/>
              <a:t>Confidence and prediction intervals depend on the number of observations and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Predictions should be restricted to within the range of the X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Extrapolating a multiple regression beyond the observed range of </a:t>
            </a:r>
            <a:r>
              <a:rPr sz="2000" i="1"/>
              <a:t>any</a:t>
            </a:r>
            <a:r>
              <a:rPr sz="2000"/>
              <a:t> predictor is riskier than in simple regression — the fitted (hyper)plane has no guarantee of being right outside the data cloud.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Partitioning Variance — Sums of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Variance — </a:t></a:r><a14:m><m:oMath xmlns:m="http://schemas.openxmlformats.org/officeDocument/2006/math"><m:r><m:t>S</m:t></m:r><m:sSub><m:e><m:r><m:t>S</m:t></m:r></m:e><m:sub><m:r><m:t>t</m:t></m:r><m:r><m:t>o</m:t></m:r><m:r><m:t>t</m:t></m:r><m:r><m:t>a</m:t></m:r><m:r><m:t>l</m:t></m:r></m:sub></m:sSub></m:oMath></a14:m><a:r><a:rPr /><a:t> is partitioned into </a:t></a:r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and </a:t></a:r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.</a:t></a:r></a:p><a:p><a:pPr lvl="0" /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is the variance in Y explained by the model</a:t></a:r></a:p><a:p><a:pPr lvl="0" /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 is the variance not explained by the model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927100" /><a:gridCol w="927100" /><a:gridCol w="9271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/a:tr></a:tbl></a:graphicData></a:graphic></p:graphicFrame></p:spTree></p:cSld>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From Sums of Squares to Mean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converted to (non-additive) MS = SS/df:</a:t></a:r></a:p><a:p><a:pPr lvl="0" /><a14:m><m:oMath xmlns:m="http://schemas.openxmlformats.org/officeDocument/2006/math"><m:r><m:t>M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: estimates population variance</a:t></a:r></a:p><a:p><a:pPr lvl="0" /><a14:m><m:oMath xmlns:m="http://schemas.openxmlformats.org/officeDocument/2006/math"><m:r><m:t>M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: estimates population variance + variation due to the strength of the X-Y relationships</a:t></a:r></a:p><a:p><a:pPr lvl="0" /><a:r><a:rPr /><a:t>MS is an estimate of variance that doesn’t increase with sample size the way SS does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null hypotheses are usually tested in MLR. The “basic” H₀: all partial regression slopes equal 0; β₁ = β₂ = … = βₚ = 0.</a:t>
                </a:r>
              </a:p>
              <a:p>
                <a:pPr lvl="0"/>
                <a:r>
                  <a:rPr/>
                  <a:t>If the “basic” H₀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variance, and their ratio (F-ratio) ≈ 1</a:t>
                </a:r>
              </a:p>
              <a:p>
                <a:pPr lvl="0"/>
                <a:r>
                  <a:rPr/>
                  <a:t>If the “basic” H₀ is false (at least one β ≠ 0),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estimates variance + partial regression slope effects, and the F-ratio will be &gt; 1 — compared to the F-distribution for a p-value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9, covers this F-test framework for multiple regression in detail.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Specific 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Also: is any </a:t>
                </a:r>
                <a:r>
                  <a:rPr i="1"/>
                  <a:t>specific</a:t>
                </a:r>
                <a:r>
                  <a:rPr/>
                  <a:t> β = 0 (explanatory role)?</a:t>
                </a:r>
              </a:p>
              <a:p>
                <a:pPr lvl="0"/>
                <a:r>
                  <a:rPr/>
                  <a:t>E.g., does latitude have an effect on ant species?</a:t>
                </a:r>
              </a:p>
              <a:p>
                <a:pPr lvl="0"/>
                <a:r>
                  <a:rPr/>
                  <a:t>These H’s are tested through model comparison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with 2 predictors X₁, X₂: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Model 2</a:t>
                </a:r>
                <a:r>
                  <a:rPr/>
                  <a:t> — to test H₀ that β₂ = 0, compare the fit of Model 1 to Model 2 with 1 predictor: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a preview of the model-comparison approach we’ll use throughout this lecture — fit two nested models and compare their fit.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Partial F-Test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= model 2, we cannot reject H₀: β₁ = 0 — adding X₂ did not explain any additional variance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&gt; model 2, there’s evidence to reject H₀: β₂ = 0 — adding X₂ explains more variance</a:t>
                </a:r>
              </a:p>
              <a:p>
                <a:pPr lvl="0"/>
                <a:r>
                  <a:rPr/>
                  <a:t>SS for β₂ is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/>
                  <a:t> = Full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− 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this quantifies how much additional variance X₂ explains</a:t>
                </a:r>
              </a:p>
              <a:p>
                <a:pPr lvl="0"/>
                <a:r>
                  <a:rPr/>
                  <a:t>Use a partial F-test to test H₀: β₂ = 0: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R also gives you a t-test for each coefficient that answers exactly this same question — you rarely need to run the partial F-test by hand.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(r²)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r² values cannot be used to directly compare models with different numbers of predictors</a:t>
            </a:r>
          </a:p>
          <a:p>
            <a:pPr lvl="0"/>
            <a:r>
              <a:rPr sz="2000"/>
              <a:t>r² values will always increase as predictors are added, even useless ones</a:t>
            </a:r>
          </a:p>
          <a:p>
            <a:pPr lvl="0"/>
            <a:r>
              <a:rPr sz="2000"/>
              <a:t>r² values with different transformations of Y are not comparable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X’s — unrealistic in most biological settings, but a working assumption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 and influence with Cook’s Dᵢ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29200" y="1295400"/>
            <a:ext cx="34798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residuals-vs-predicted-values plot</a:t>
            </a:r>
          </a:p>
          <a:p>
            <a:pPr lvl="0"/>
            <a:r>
              <a:rPr/>
              <a:t>Distribution/variance issues are often corrected by transforming Y</a:t>
            </a:r>
          </a:p>
        </p:txBody>
      </p:sp>
      <p:pic>
        <p:nvPicPr>
          <p:cNvPr descr="multiple_regression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Sample Size and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  <a:r>
              <a:rPr/>
              <a:t> — ideally at least </a:t>
            </a:r>
            <a:r>
              <a:rPr b="1"/>
              <a:t>10× observations than predictors</a:t>
            </a:r>
            <a:r>
              <a:rPr/>
              <a:t>, to avoid “overfitting.” 2 predictors = 20 observations, minimum!</a:t>
            </a:r>
          </a:p>
          <a:p>
            <a:pPr lvl="0"/>
            <a:r>
              <a:rPr b="1"/>
              <a:t>No collinearity</a:t>
            </a:r>
            <a:r>
              <a:rPr/>
              <a:t> — need uncorrelated predictor variables (assessed using a scatterplot matrix and VIFs)</a:t>
            </a:r>
          </a:p>
          <a:p>
            <a:pPr lvl="0"/>
            <a:r>
              <a:rPr b="1"/>
              <a:t>Each X has a linear relationship with Y after accounting for other predictors</a:t>
            </a:r>
            <a:r>
              <a:rPr/>
              <a:t> — checked with Added Variable (AV) plots, also called partial regression plots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AV plots in R</a:t>
            </a:r>
          </a:p>
          <a:p>
            <a:pPr lvl="0"/>
            <a:r>
              <a:rPr sz="2000"/>
              <a:t>All predictors: </a:t>
            </a:r>
            <a:r>
              <a:rPr sz="2000">
                <a:latin typeface="Courier"/>
              </a:rPr>
              <a:t>avPlots(model)</a:t>
            </a:r>
          </a:p>
          <a:p>
            <a:pPr lvl="0"/>
            <a:r>
              <a:rPr sz="2000"/>
              <a:t>One predictor: </a:t>
            </a:r>
            <a:r>
              <a:rPr sz="2000">
                <a:latin typeface="Courier"/>
              </a:rPr>
              <a:t>avPlot(model, variable = "proportion_black")</a:t>
            </a:r>
          </a:p>
          <a:p>
            <a:pPr lvl="0" indent="0" marL="1270000">
              <a:buNone/>
            </a:pPr>
            <a:r>
              <a:rPr sz="2000"/>
              <a:t>AV plots show the relationship between Y and X₁ after removing the linear effects of all other predictors.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Regressing Y vs. each X separately does not consider the effect of other predictors — but we want to know the shape of the relationship while holding other predictors constant.</a:t>
            </a:r>
          </a:p>
        </p:txBody>
      </p:sp>
      <p:pic>
        <p:nvPicPr>
          <p:cNvPr descr="multiple_regression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 — a small change in a single value can result in large changes in βₚ estimates</a:t>
            </a:r>
          </a:p>
          <a:p>
            <a:pPr lvl="0"/>
            <a:r>
              <a:rPr/>
              <a:t>Inflates partial-slope error estimates, and causes a loss of power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Collinearity can be detected by:</a:t>
                </a:r>
              </a:p>
              <a:p>
                <a:pPr lvl="0"/>
                <a:r>
                  <a:rPr b="1"/>
                  <a:t>Variance Inflation Factors (VIF)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t>I</m:t>
                    </m:r>
                    <m:sSub>
                      <m:e>
                        <m:r>
                          <m:t>F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; VIF &gt; 10 = bad</a:t>
                </a:r>
              </a:p>
              <a:p>
                <a:pPr lvl="0"/>
                <a:r>
                  <a:rPr/>
                  <a:t>Best/simplest solution: exclude variables that are highly correlated with other variables — they’re probably measuring similar things and are redundant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doesn’t mean your model is “wrong” — it means you can’t trust the </a:t>
            </a:r>
            <a:r>
              <a:rPr sz="2000" i="1"/>
              <a:t>individual</a:t>
            </a:r>
            <a:r>
              <a:rPr sz="2000"/>
              <a:t> partial slopes for the correlated predictors, even if the overall model fits well.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 u="sng"/>
                  <a:t>additive</a:t>
                </a:r>
                <a:r>
                  <a:rPr/>
                  <a:t> (effect of temp, plus precip, plus fertility), or</a:t>
                </a:r>
              </a:p>
              <a:p>
                <a:pPr lvl="0"/>
                <a:r>
                  <a:rPr u="sng"/>
                  <a:t>multiplicative (interactive)</a:t>
                </a:r>
              </a:p>
              <a:p>
                <a:pPr lvl="0"/>
                <a:r>
                  <a:rPr b="1"/>
                  <a:t>Interaction:</a:t>
                </a:r>
                <a:r>
                  <a:rPr/>
                  <a:t> the effect of Xᵢ depends on the level of Xⱼ</a:t>
                </a:r>
              </a:p>
              <a:p>
                <a:pPr lvl="0"/>
                <a:r>
                  <a:rPr/>
                  <a:t>The partial slope of Y vs. X₁ is different for different levels of X₂ (and vice versa) — measured by β₃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An interaction term is just another predictor: the product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sz="2000"/>
                  <a:t>, fit with its own coefficient β₃.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Curvature of the Regression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(hyper)plane.</a:t>
            </a:r>
          </a:p>
        </p:txBody>
      </p:sp>
      <p:pic>
        <p:nvPicPr>
          <p:cNvPr descr="multiple_regression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Means many more predictors (“parameter proliferation”) — 2ⁿ terms are required; 6 parameters = 64 terms, 7 parameters = 128 terms</a:t>
            </a:r>
          </a:p>
          <a:p>
            <a:pPr lvl="0"/>
            <a:r>
              <a:rPr/>
              <a:t>Makes interpretation more complex</a:t>
            </a:r>
          </a:p>
          <a:p>
            <a:pPr lvl="0"/>
            <a:r>
              <a:rPr b="1"/>
              <a:t>When to include interactions? When they make biological sense!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Don’t add interaction terms just to see if they’re significant — with enough predictors, some interaction will hit p &lt; 0.05 by chance alone.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etc.). Categorical vars become “dummy vars”: number of dummy variables = number of categories − 1.</a:t>
            </a:r>
          </a:p>
          <a:p>
            <a:pPr lvl="0"/>
            <a:r>
              <a:rPr b="1"/>
              <a:t>Sex M/F:</a:t>
            </a:r>
            <a:r>
              <a:rPr/>
              <a:t> need 1 dummy var with two values (0, 1)</a:t>
            </a:r>
          </a:p>
          <a:p>
            <a:pPr lvl="0"/>
            <a:r>
              <a:rPr b="1"/>
              <a:t>Fertility L/M/H:</a:t>
            </a:r>
            <a:r>
              <a:rPr/>
              <a:t> need 2 dummy vars,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the Reference Condition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are interpreted relative to a reference condition: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It picks the “reference” level alphabetically</a:t>
            </a:r>
          </a:p>
          <a:p>
            <a:pPr lvl="0"/>
            <a:r>
              <a:rPr/>
              <a:t>Dummy variables with more than 2 levels add extra predictor variables to the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Worked Example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698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622800"/>
            <a:ext cx="600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 console output for a linear model regressing total net primary productivity on mean annual temperature, mean annual precipitation, and a three-level fertility factor (High reference, Low, Med), showing the coefficient table with all predictors highly significant (p &lt; 0.001) and dummy-variable coefficients of 205.16 for Low and 116.33 for Medium fertility relative to High.</a:t>
            </a:r>
          </a:p>
        </p:txBody>
      </p:sp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168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Boxplot of net primary productivity by fertility category (High, Low, Med), showing the Low fertility group with the highest median productivity, matching the positive dummy-variable coefficients shown in the accompanying regression output.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have multiple predictors (and interactions!):</a:t>
            </a:r>
          </a:p>
          <a:p>
            <a:pPr lvl="0"/>
            <a:r>
              <a:rPr/>
              <a:t>How do you choose the “best” model?</a:t>
            </a:r>
          </a:p>
          <a:p>
            <a:pPr lvl="0"/>
            <a:r>
              <a:rPr/>
              <a:t>Which predictors should you include?</a:t>
            </a:r>
          </a:p>
          <a:p>
            <a:pPr lvl="0"/>
            <a:r>
              <a:rPr b="1"/>
              <a:t>Occam’s razor:</a:t>
            </a:r>
            <a:r>
              <a:rPr/>
              <a:t> the “best” model balances complexity with fit to the data</a:t>
            </a:r>
          </a:p>
          <a:p>
            <a:pPr lvl="0"/>
            <a:r>
              <a:rPr/>
              <a:t>To choose: compare “nested” models</a:t>
            </a:r>
          </a:p>
          <a:p>
            <a:pPr lvl="0"/>
            <a:r>
              <a:rPr b="1"/>
              <a:t>Overfitting:</a:t>
            </a:r>
            <a:r>
              <a:rPr/>
              <a:t> getting a high r² just by having more (useless) predictors — so r² alone is not a good way to choose between nested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17, covers model comparison and selection for regression.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account for the increase in fit that comes just from added predictors:</a:t>
            </a:r>
          </a:p>
          <a:p>
            <a:pPr lvl="0"/>
            <a:r>
              <a:rPr/>
              <a:t>Adjusted r²</a:t>
            </a:r>
          </a:p>
          <a:p>
            <a:pPr lvl="0"/>
            <a:r>
              <a:rPr/>
              <a:t>Akaike’s Information Criterion (AIC)</a:t>
            </a:r>
          </a:p>
          <a:p>
            <a:pPr lvl="0"/>
            <a:r>
              <a:rPr/>
              <a:t>Both “penalize” models for extra predictors</a:t>
            </a:r>
          </a:p>
          <a:p>
            <a:pPr lvl="0"/>
            <a:r>
              <a:rPr/>
              <a:t>Higher adjusted r² and lower AIC are better when comparing models (p = predictors, n = sample size)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fit all possible models, then compare AICs or adjusted r² — tedious with lots of predictors</a:t>
            </a:r>
          </a:p>
          <a:p>
            <a:pPr lvl="0"/>
            <a:r>
              <a:rPr/>
              <a:t>Automated forward (and backward) stepwise procedures: start with no terms (or all terms), add (remove) the term with the largest (smallest) partial F statistic</a:t>
            </a:r>
          </a:p>
          <a:p>
            <a:pPr lvl="0"/>
            <a:r>
              <a:rPr/>
              <a:t>We will use a manual form of backward selection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Automated stepwise selection is convenient but controversial — it can overfit and doesn’t know which predictors make biological sense. Manual, hypothesis-driven selection is usually better for a small model.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Full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Elevation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Latitude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R^2: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R^2: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R^2: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R^2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R^2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HIGHEST Adjusted R^2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we want to know the relative importance of predictors in explaining Y. 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the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None of these three approaches is “the” right answer — each answers a slightly different question about importance.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1 — F-Tests on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F-tests of H₀ that each partial regression slope = 0</a:t>
            </a:r>
          </a:p>
          <a:p>
            <a:pPr lvl="0"/>
            <a:r>
              <a:rPr/>
              <a:t>If you cannot reject H₀, discard the predictor</a:t>
            </a:r>
          </a:p>
          <a:p>
            <a:pPr lvl="0"/>
            <a:r>
              <a:rPr/>
              <a:t>Can get additional clues from the relative size of F-values</a:t>
            </a:r>
          </a:p>
          <a:p>
            <a:pPr lvl="0"/>
            <a:r>
              <a:rPr/>
              <a:t>Does </a:t>
            </a:r>
            <a:r>
              <a:rPr b="1"/>
              <a:t>not</a:t>
            </a:r>
            <a:r>
              <a:rPr/>
              <a:t> tell us the absolute importance of a predictor — you usually cannot directly compare slope parameters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bigger F-value doesn’t automatically mean a “more important” predictor if the predictors are on very different scales.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2 — Coefficient of Partial Determination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reduction in variation of Y due to adding predictor Xⱼ: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 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= increase in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when Xⱼ is added to the model</a:t>
                </a:r>
              </a:p>
              <a:p>
                <a:pPr lvl="0"/>
                <a:r>
                  <a:rPr/>
                  <a:t>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is the unexplained SS from the model </a:t>
                </a:r>
                <a:r>
                  <a:rPr i="1"/>
                  <a:t>without</a:t>
                </a:r>
                <a:r>
                  <a:rPr/>
                  <a:t> Xⱼ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is the same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 sz="2000"/>
                  <a:t> logic from the partial F-test earlier — just expressed as a proportion of variance instead of an F-ratio.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on different scales cannot be directly compared — why?</a:t>
            </a:r>
          </a:p>
          <a:p>
            <a:pPr lvl="0"/>
            <a:r>
              <a:rPr/>
              <a:t>Standardize all variables (mean = 0, SD = 1)</a:t>
            </a:r>
          </a:p>
          <a:p>
            <a:pPr lvl="0"/>
            <a:r>
              <a:rPr/>
              <a:t>Scales are then identical, and a larger standardized partial slope means a more important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Standardizing puts every predictor in “SD units,” so a slope of 0.5 always means “half an SD change in Y per SD change in X” — directly comparable across predictors.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Eta Squared and Delta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r² values — </a:t>
            </a:r>
            <a:r>
              <a:rPr b="1"/>
              <a:t>partial eta squared (pEta²):</a:t>
            </a:r>
          </a:p>
          <a:p>
            <a:pPr lvl="0"/>
            <a:r>
              <a:rPr b="1"/>
              <a:t>Elevation: 0.3189 (31.9%)</a:t>
            </a:r>
            <a:r>
              <a:rPr/>
              <a:t> — elevation explains 31.9% of the variance </a:t>
            </a:r>
            <a:r>
              <a:rPr i="1"/>
              <a:t>after controlling for latitude</a:t>
            </a:r>
          </a:p>
          <a:p>
            <a:pPr lvl="0"/>
            <a:r>
              <a:rPr b="1"/>
              <a:t>Latitude: 0.3564 (35.6%)</a:t>
            </a:r>
            <a:r>
              <a:rPr/>
              <a:t> — latitude explains 35.6% of the variance </a:t>
            </a:r>
            <a:r>
              <a:rPr i="1"/>
              <a:t>after controlling for elevation</a:t>
            </a:r>
          </a:p>
          <a:p>
            <a:pPr lvl="0"/>
            <a:r>
              <a:rPr/>
              <a:t>Both are important predictors! Latitude is slightly stronger</a:t>
            </a:r>
          </a:p>
          <a:p>
            <a:pPr lvl="0" indent="0" marL="0">
              <a:buNone/>
            </a:pPr>
            <a:r>
              <a:rPr b="1"/>
              <a:t>Delta R² (semi-partial R²):</a:t>
            </a:r>
          </a:p>
          <a:p>
            <a:pPr lvl="0"/>
            <a:r>
              <a:rPr/>
              <a:t>Elevation: 0.2087 — if you removed elevation, R² would drop by 20.9%</a:t>
            </a:r>
          </a:p>
          <a:p>
            <a:pPr lvl="0"/>
            <a:r>
              <a:rPr/>
              <a:t>Latitude: 0.2468 — if you removed latitude, R² would drop by 24.7%</a:t>
            </a:r>
          </a:p>
          <a:p>
            <a:pPr lvl="0"/>
            <a:r>
              <a:rPr/>
              <a:t>Shows the </a:t>
            </a:r>
            <a:r>
              <a:rPr i="1"/>
              <a:t>unique</a:t>
            </a:r>
            <a:r>
              <a:rPr/>
              <a:t> contribution of each predictor to the total variance explained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SSE: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SST: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R^2: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The multiple regression model, partial regression slopes, ANOVA and hypothesis tests for regression, assumptions and diagnostics, collinearity, interactions, dummy variables, model comparison, and predictor importance — on the Gotelli ant-diversity dataset.</dc:description>
  <dcterms:created xsi:type="dcterms:W3CDTF">2026-08-24T18:43:53Z</dcterms:created>
  <dcterms:modified xsi:type="dcterms:W3CDTF">2026-08-24T18:43:53Z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11</vt:lpwstr>
  </property>
  <property fmtid="{D5CDD505-2E9C-101B-9397-08002B2CF9AE}" pid="12" name="resources">
    <vt:lpwstr/>
  </property>
  <property fmtid="{D5CDD505-2E9C-101B-9397-08002B2CF9AE}" pid="13" name="subtitle">
    <vt:lpwstr>Several predictors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