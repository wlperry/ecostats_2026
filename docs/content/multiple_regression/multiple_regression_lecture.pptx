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7" Type="http://schemas.openxmlformats.org/officeDocument/2006/relationships/viewProps" Target="viewProps.xml" /><Relationship Id="rId56" Type="http://schemas.openxmlformats.org/officeDocument/2006/relationships/presProps" Target="presProps.xml" /><Relationship Id="rId1" Type="http://schemas.openxmlformats.org/officeDocument/2006/relationships/slideMaster" Target="slideMasters/slideMaster1.xml" /><Relationship Id="rId59" Type="http://schemas.openxmlformats.org/officeDocument/2006/relationships/tableStyles" Target="tableStyles.xml" /><Relationship Id="rId58"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5.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7.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10.png" /><Relationship Id="rId2" Type="http://schemas.openxmlformats.org/officeDocument/2006/relationships/image" Target="../media/image9.png"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Multiple Regression</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Several predictors</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Where We Left Off</a:t>
            </a:r>
          </a:p>
        </p:txBody>
      </p:sp>
      <p:sp>
        <p:nvSpPr>
          <p:cNvPr id="3" name="Content Placeholder 2"/>
          <p:cNvSpPr>
            <a:spLocks noGrp="1"/>
          </p:cNvSpPr>
          <p:nvPr>
            <p:ph idx="1" sz="half"/>
          </p:nvPr>
        </p:nvSpPr>
        <p:spPr/>
        <p:txBody>
          <a:bodyPr/>
          <a:lstStyle/>
          <a:p>
            <a:pPr lvl="0" indent="0" marL="0">
              <a:buNone/>
            </a:pPr>
            <a:r>
              <a:rPr/>
              <a:t>Covered last time:</a:t>
            </a:r>
          </a:p>
          <a:p>
            <a:pPr lvl="0"/>
            <a:r>
              <a:rPr/>
              <a:t>Regression, t-tests, and ANOVA</a:t>
            </a:r>
          </a:p>
          <a:p>
            <a:pPr lvl="0"/>
            <a:r>
              <a:rPr/>
              <a:t>Regression assumptions</a:t>
            </a:r>
          </a:p>
          <a:p>
            <a:pPr lvl="0"/>
            <a:r>
              <a:rPr/>
              <a:t>Sum-of-squares allocation and subdivision from total sums of squares</a:t>
            </a:r>
          </a:p>
          <a:p>
            <a:pPr lvl="0" indent="0" marL="1270000">
              <a:buNone/>
            </a:pPr>
            <a:r>
              <a:rPr sz="2000" b="1"/>
              <a:t>Note</a:t>
            </a:r>
          </a:p>
          <a:p>
            <a:pPr lvl="0" indent="0" marL="1270000">
              <a:buNone/>
            </a:pPr>
            <a:r>
              <a:rPr sz="2000" b="1"/>
              <a:t>✅ Key idea from last lecture</a:t>
            </a:r>
          </a:p>
          <a:p>
            <a:pPr lvl="0" indent="0" marL="1270000">
              <a:buNone/>
            </a:pPr>
            <a:r>
              <a:rPr sz="2000"/>
              <a:t>A simple regression has one predictor and one partition of variance (regression vs. residual). Today we add more predictors — the logic barely changes, but the bookkeeping does.</a:t>
            </a:r>
          </a:p>
        </p:txBody>
      </p:sp>
      <p:pic>
        <p:nvPicPr>
          <p:cNvPr descr="multiple_regression_lecture_files/figure-pptx/multiple-regression-02-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Why Multiple Regression?</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Today’s Objectives</a:t>
            </a:r>
          </a:p>
        </p:txBody>
      </p:sp>
      <p:sp>
        <p:nvSpPr>
          <p:cNvPr id="3" name="Content Placeholder 2"/>
          <p:cNvSpPr>
            <a:spLocks noGrp="1"/>
          </p:cNvSpPr>
          <p:nvPr>
            <p:ph idx="1" sz="half"/>
          </p:nvPr>
        </p:nvSpPr>
        <p:spPr/>
        <p:txBody>
          <a:bodyPr/>
          <a:lstStyle/>
          <a:p>
            <a:pPr lvl="0" indent="0" marL="0">
              <a:buNone/>
            </a:pPr>
            <a:r>
              <a:rPr/>
              <a:t>The multiple linear regression model:</a:t>
            </a:r>
          </a:p>
          <a:p>
            <a:pPr lvl="0"/>
            <a:r>
              <a:rPr/>
              <a:t>Regression parameters</a:t>
            </a:r>
          </a:p>
          <a:p>
            <a:pPr lvl="0"/>
            <a:r>
              <a:rPr/>
              <a:t>Analysis of variance</a:t>
            </a:r>
          </a:p>
          <a:p>
            <a:pPr lvl="0"/>
            <a:r>
              <a:rPr/>
              <a:t>Null hypotheses</a:t>
            </a:r>
          </a:p>
          <a:p>
            <a:pPr lvl="0"/>
            <a:r>
              <a:rPr/>
              <a:t>Explained variance</a:t>
            </a:r>
          </a:p>
          <a:p>
            <a:pPr lvl="0"/>
            <a:r>
              <a:rPr/>
              <a:t>Assumptions and diagnostics</a:t>
            </a:r>
          </a:p>
          <a:p>
            <a:pPr lvl="0"/>
            <a:r>
              <a:rPr/>
              <a:t>Collinearity</a:t>
            </a:r>
          </a:p>
          <a:p>
            <a:pPr lvl="0"/>
            <a:r>
              <a:rPr/>
              <a:t>Interactions</a:t>
            </a:r>
          </a:p>
          <a:p>
            <a:pPr lvl="0"/>
            <a:r>
              <a:rPr/>
              <a:t>Dummy variables</a:t>
            </a:r>
          </a:p>
          <a:p>
            <a:pPr lvl="0"/>
            <a:r>
              <a:rPr/>
              <a:t>Model selection</a:t>
            </a:r>
          </a:p>
          <a:p>
            <a:pPr lvl="0"/>
            <a:r>
              <a:rPr/>
              <a:t>Importance of predictors</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Reference</a:t>
            </a:r>
          </a:p>
          <a:p>
            <a:pPr lvl="0" indent="0" marL="1270000">
              <a:buNone/>
            </a:pPr>
            <a:r>
              <a:rPr sz="2000"/>
              <a:t>Whitlock &amp; Schluter, Ch. 17 — Regression, and Gotelli &amp; Ellison, </a:t>
            </a:r>
            <a:r>
              <a:rPr sz="2000" i="1"/>
              <a:t>A Primer of Ecological Statistics</a:t>
            </a:r>
            <a:r>
              <a:rPr sz="2000"/>
              <a:t>, Ch. 9 — Regression, are the core references for this lecture.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When Do We Need More Than One Predictor?</a:t>
            </a:r>
          </a:p>
        </p:txBody>
      </p:sp>
      <p:sp>
        <p:nvSpPr>
          <p:cNvPr id="3" name="Content Placeholder 2"/>
          <p:cNvSpPr>
            <a:spLocks noGrp="1"/>
          </p:cNvSpPr>
          <p:nvPr>
            <p:ph idx="1" sz="half"/>
          </p:nvPr>
        </p:nvSpPr>
        <p:spPr/>
        <p:txBody>
          <a:bodyPr/>
          <a:lstStyle/>
          <a:p>
            <a:pPr lvl="0" indent="0" marL="0">
              <a:buNone/>
            </a:pPr>
            <a:r>
              <a:rPr/>
              <a:t>What if there’s more than one predictor (X) variable?</a:t>
            </a:r>
          </a:p>
          <a:p>
            <a:pPr lvl="0"/>
            <a:r>
              <a:rPr/>
              <a:t>If predictors are continuous</a:t>
            </a:r>
          </a:p>
          <a:p>
            <a:pPr lvl="0"/>
            <a:r>
              <a:rPr/>
              <a:t>A mix between categorical and continuous</a:t>
            </a:r>
          </a:p>
          <a:p>
            <a:pPr lvl="0"/>
            <a:r>
              <a:rPr/>
              <a:t>We can use multiple linear regression</a:t>
            </a:r>
          </a:p>
        </p:txBody>
      </p:sp>
      <p:graphicFrame>
        <p:nvGraphicFramePr>
          <p:cNvPr id="6" name="Content Placeholder 5"/>
          <p:cNvGraphicFramePr>
            <a:graphicFrameLocks noGrp="1"/>
          </p:cNvGraphicFramePr>
          <p:nvPr>
            <p:ph idx="1"/>
          </p:nvPr>
        </p:nvGraphicFramePr>
        <p:xfrm>
          <a:off x="6121400" y="660400"/>
          <a:ext cx="2781300" cy="4470400"/>
        </p:xfrm>
        <a:graphic>
          <a:graphicData uri="http://schemas.openxmlformats.org/drawingml/2006/table">
            <a:tbl>
              <a:tblPr firstRow="1" bandRow="1">
                <a:tableStyleId>{5C22544A-7EE6-4342-B048-85BDC9FD1C3A}</a:tableStyleId>
              </a:tblPr>
              <a:tblGrid>
                <a:gridCol w="927100"/>
                <a:gridCol w="927100"/>
                <a:gridCol w="927100"/>
              </a:tblGrid>
              <a:tr h="0">
                <a:tc>
                  <a:txBody>
                    <a:bodyPr/>
                    <a:lstStyle/>
                    <a:p>
                      <a:endParaRPr/>
                    </a:p>
                  </a:txBody>
                  <a:tcPr/>
                </a:tc>
                <a:tc>
                  <a:txBody>
                    <a:bodyPr/>
                    <a:lstStyle/>
                    <a:p>
                      <a:pPr lvl="0" indent="0" marL="0" algn="l">
                        <a:buNone/>
                      </a:pPr>
                      <a:r>
                        <a:rPr/>
                        <a:t>Continuous X</a:t>
                      </a:r>
                    </a:p>
                  </a:txBody>
                  <a:tcPr/>
                </a:tc>
                <a:tc>
                  <a:txBody>
                    <a:bodyPr/>
                    <a:lstStyle/>
                    <a:p>
                      <a:pPr lvl="0" indent="0" marL="0" algn="l">
                        <a:buNone/>
                      </a:pPr>
                      <a:r>
                        <a:rPr/>
                        <a:t>Categorical X</a:t>
                      </a:r>
                    </a:p>
                  </a:txBody>
                  <a:tcPr/>
                </a:tc>
              </a:tr>
              <a:tr h="0">
                <a:tc>
                  <a:txBody>
                    <a:bodyPr/>
                    <a:lstStyle/>
                    <a:p>
                      <a:pPr lvl="0" indent="0" marL="0" algn="l">
                        <a:buNone/>
                      </a:pPr>
                      <a:r>
                        <a:rPr b="1"/>
                        <a:t>Continuous Y</a:t>
                      </a:r>
                    </a:p>
                  </a:txBody>
                </a:tc>
                <a:tc>
                  <a:txBody>
                    <a:bodyPr/>
                    <a:lstStyle/>
                    <a:p>
                      <a:pPr lvl="0" indent="0" marL="0" algn="l">
                        <a:buNone/>
                      </a:pPr>
                      <a:r>
                        <a:rPr/>
                        <a:t>Regression</a:t>
                      </a:r>
                    </a:p>
                  </a:txBody>
                </a:tc>
                <a:tc>
                  <a:txBody>
                    <a:bodyPr/>
                    <a:lstStyle/>
                    <a:p>
                      <a:pPr lvl="0" indent="0" marL="0" algn="l">
                        <a:buNone/>
                      </a:pPr>
                      <a:r>
                        <a:rPr/>
                        <a:t>ANOVA</a:t>
                      </a:r>
                    </a:p>
                  </a:txBody>
                </a:tc>
              </a:tr>
              <a:tr h="0">
                <a:tc>
                  <a:txBody>
                    <a:bodyPr/>
                    <a:lstStyle/>
                    <a:p>
                      <a:pPr lvl="0" indent="0" marL="0" algn="l">
                        <a:buNone/>
                      </a:pPr>
                      <a:r>
                        <a:rPr b="1"/>
                        <a:t>Categorical Y</a:t>
                      </a:r>
                    </a:p>
                  </a:txBody>
                </a:tc>
                <a:tc>
                  <a:txBody>
                    <a:bodyPr/>
                    <a:lstStyle/>
                    <a:p>
                      <a:pPr lvl="0" indent="0" marL="0" algn="l">
                        <a:buNone/>
                      </a:pPr>
                      <a:r>
                        <a:rPr/>
                        <a:t>Logistic regression</a:t>
                      </a:r>
                    </a:p>
                  </a:txBody>
                </a:tc>
                <a:tc>
                  <a:txBody>
                    <a:bodyPr/>
                    <a:lstStyle/>
                    <a:p>
                      <a:endParaRPr/>
                    </a:p>
                  </a:txBody>
                </a:tc>
              </a:tr>
            </a:tbl>
          </a:graphicData>
        </a:graphic>
      </p:graphicFrame>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From a Line to a (Hyper)plane</a:t>
            </a:r>
          </a:p>
        </p:txBody>
      </p:sp>
      <p:sp>
        <p:nvSpPr>
          <p:cNvPr id="3" name="Content Placeholder 2"/>
          <p:cNvSpPr>
            <a:spLocks noGrp="1"/>
          </p:cNvSpPr>
          <p:nvPr>
            <p:ph idx="1" sz="half"/>
          </p:nvPr>
        </p:nvSpPr>
        <p:spPr/>
        <p:txBody>
          <a:bodyPr/>
          <a:lstStyle/>
          <a:p>
            <a:pPr lvl="0" indent="0" marL="0">
              <a:buNone/>
            </a:pPr>
            <a:r>
              <a:rPr/>
              <a:t>Abundance of ants can be modeled as a function of:</a:t>
            </a:r>
          </a:p>
          <a:p>
            <a:pPr lvl="0"/>
            <a:r>
              <a:rPr/>
              <a:t>latitude</a:t>
            </a:r>
          </a:p>
          <a:p>
            <a:pPr lvl="0"/>
            <a:r>
              <a:rPr/>
              <a:t>longitude</a:t>
            </a:r>
          </a:p>
          <a:p>
            <a:pPr lvl="0"/>
            <a:r>
              <a:rPr/>
              <a:t>both</a:t>
            </a:r>
          </a:p>
          <a:p>
            <a:pPr lvl="0" indent="0" marL="0">
              <a:buNone/>
            </a:pPr>
            <a:r>
              <a:rPr/>
              <a:t>Instead of a line, it’s modeled with a (hyper)plane.</a:t>
            </a:r>
          </a:p>
        </p:txBody>
      </p:sp>
      <p:pic>
        <p:nvPicPr>
          <p:cNvPr descr="multiple_regression_lecture_files/figure-pptx/multiple-regression-03-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Multiple Regression Is Used For</a:t>
            </a:r>
          </a:p>
        </p:txBody>
      </p:sp>
      <p:sp>
        <p:nvSpPr>
          <p:cNvPr id="3" name="Content Placeholder 2"/>
          <p:cNvSpPr>
            <a:spLocks noGrp="1"/>
          </p:cNvSpPr>
          <p:nvPr>
            <p:ph idx="1" sz="half"/>
          </p:nvPr>
        </p:nvSpPr>
        <p:spPr/>
        <p:txBody>
          <a:bodyPr/>
          <a:lstStyle/>
          <a:p>
            <a:pPr lvl="0" indent="0" marL="0">
              <a:buNone/>
            </a:pPr>
            <a:r>
              <a:rPr/>
              <a:t>Used in a similar way to simple linear regression:</a:t>
            </a:r>
          </a:p>
          <a:p>
            <a:pPr lvl="0"/>
            <a:r>
              <a:rPr/>
              <a:t>Describe the nature of the relationship between Y and the X’s</a:t>
            </a:r>
          </a:p>
          <a:p>
            <a:pPr lvl="0"/>
            <a:r>
              <a:rPr/>
              <a:t>Determine explained/unexplained variation in Y</a:t>
            </a:r>
          </a:p>
          <a:p>
            <a:pPr lvl="0"/>
            <a:r>
              <a:rPr/>
              <a:t>Predict new Ys from X</a:t>
            </a:r>
          </a:p>
          <a:p>
            <a:pPr lvl="0"/>
            <a:r>
              <a:rPr/>
              <a:t>Find the “best” model</a:t>
            </a:r>
          </a:p>
        </p:txBody>
      </p:sp>
      <p:pic>
        <p:nvPicPr>
          <p:cNvPr descr="multiple_regression_lecture_files/figure-pptx/multiple-regression-04-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Challenges of Multiple Regression</a:t>
            </a:r>
          </a:p>
        </p:txBody>
      </p:sp>
      <p:sp>
        <p:nvSpPr>
          <p:cNvPr id="3" name="Content Placeholder 2"/>
          <p:cNvSpPr>
            <a:spLocks noGrp="1"/>
          </p:cNvSpPr>
          <p:nvPr>
            <p:ph idx="1" sz="half"/>
          </p:nvPr>
        </p:nvSpPr>
        <p:spPr/>
        <p:txBody>
          <a:bodyPr/>
          <a:lstStyle/>
          <a:p>
            <a:pPr lvl="0" indent="0" marL="0">
              <a:buNone/>
            </a:pPr>
            <a:r>
              <a:rPr/>
              <a:t>Crawley (2012): “Multiple regression models provide some of the most profound challenges faced by the analyst”:</a:t>
            </a:r>
          </a:p>
          <a:p>
            <a:pPr lvl="0"/>
            <a:r>
              <a:rPr/>
              <a:t>Overfitting</a:t>
            </a:r>
          </a:p>
          <a:p>
            <a:pPr lvl="0"/>
            <a:r>
              <a:rPr/>
              <a:t>Parameter proliferation</a:t>
            </a:r>
          </a:p>
          <a:p>
            <a:pPr lvl="0"/>
            <a:r>
              <a:rPr/>
              <a:t>Multicollinearity</a:t>
            </a:r>
          </a:p>
          <a:p>
            <a:pPr lvl="0"/>
            <a:r>
              <a:rPr/>
              <a:t>Model selection</a:t>
            </a:r>
          </a:p>
        </p:txBody>
      </p:sp>
      <p:pic>
        <p:nvPicPr>
          <p:cNvPr descr="images/clipboard-1736453741.png" id="0" name="Picture 1"/>
          <p:cNvPicPr>
            <a:picLocks noGrp="1" noChangeAspect="1"/>
          </p:cNvPicPr>
          <p:nvPr/>
        </p:nvPicPr>
        <p:blipFill>
          <a:blip r:embed="rId2"/>
          <a:stretch>
            <a:fillRect/>
          </a:stretch>
        </p:blipFill>
        <p:spPr bwMode="auto">
          <a:xfrm>
            <a:off x="6121400" y="1600200"/>
            <a:ext cx="2781300" cy="20701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Stock photo of a frustrated man in a suit punching through a laptop screen, used humorously to illustrate the frustration multiple regression’s challenges (overfitting, multicollinearity, model selection) can cause.</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The Multiple Regression Model</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Multiple Regression Model</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A set of i = 1 to n observations</a:t>
                </a:r>
              </a:p>
              <a:p>
                <a:pPr lvl="0"/>
                <a:r>
                  <a:rPr/>
                  <a:t>Fixed X-values for p predictor variables (X₁, X₂ … Xₚ)</a:t>
                </a:r>
              </a:p>
              <a:p>
                <a:pPr lvl="0"/>
                <a:r>
                  <a:rPr/>
                  <a:t>Random Y-values:</a:t>
                </a:r>
              </a:p>
              <a:p>
                <a:pPr lvl="0" indent="0" marL="0">
                  <a:buNone/>
                </a:pPr>
                <a14:m>
                  <m:oMathPara xmlns:m="http://schemas.openxmlformats.org/officeDocument/2006/math">
                    <m:oMathParaPr>
                      <m:jc m:val="center"/>
                    </m:oMathParaPr>
                    <m:oMath>
                      <m:sSub>
                        <m:e>
                          <m:r>
                            <m:t>y</m:t>
                          </m:r>
                        </m:e>
                        <m:sub>
                          <m:r>
                            <m:t>i</m:t>
                          </m:r>
                        </m:sub>
                      </m:sSub>
                      <m:r>
                        <m:rPr>
                          <m:sty m:val="p"/>
                        </m:rPr>
                        <m:t>=</m:t>
                      </m:r>
                      <m:sSub>
                        <m:e>
                          <m:r>
                            <m:t>β</m:t>
                          </m:r>
                        </m:e>
                        <m:sub>
                          <m:r>
                            <m:t>0</m:t>
                          </m:r>
                        </m:sub>
                      </m:sSub>
                      <m:r>
                        <m:rPr>
                          <m:sty m:val="p"/>
                        </m:rPr>
                        <m:t>+</m:t>
                      </m:r>
                      <m:sSub>
                        <m:e>
                          <m:r>
                            <m:t>β</m:t>
                          </m:r>
                        </m:e>
                        <m:sub>
                          <m:r>
                            <m:t>1</m:t>
                          </m:r>
                        </m:sub>
                      </m:sSub>
                      <m:sSub>
                        <m:e>
                          <m:r>
                            <m:t>x</m:t>
                          </m:r>
                        </m:e>
                        <m:sub>
                          <m:r>
                            <m:t>i</m:t>
                          </m:r>
                          <m:r>
                            <m:t>1</m:t>
                          </m:r>
                        </m:sub>
                      </m:sSub>
                      <m:r>
                        <m:rPr>
                          <m:sty m:val="p"/>
                        </m:rPr>
                        <m:t>+</m:t>
                      </m:r>
                      <m:sSub>
                        <m:e>
                          <m:r>
                            <m:t>β</m:t>
                          </m:r>
                        </m:e>
                        <m:sub>
                          <m:r>
                            <m:t>2</m:t>
                          </m:r>
                        </m:sub>
                      </m:sSub>
                      <m:sSub>
                        <m:e>
                          <m:r>
                            <m:t>x</m:t>
                          </m:r>
                        </m:e>
                        <m:sub>
                          <m:r>
                            <m:t>i</m:t>
                          </m:r>
                          <m:r>
                            <m:t>2</m:t>
                          </m:r>
                        </m:sub>
                      </m:sSub>
                      <m:r>
                        <m:rPr>
                          <m:sty m:val="p"/>
                        </m:rPr>
                        <m:t>+</m:t>
                      </m:r>
                      <m:r>
                        <m:rPr>
                          <m:sty m:val="p"/>
                        </m:rPr>
                        <m:t>.</m:t>
                      </m:r>
                      <m:r>
                        <m:rPr>
                          <m:sty m:val="p"/>
                        </m:rPr>
                        <m:t>.</m:t>
                      </m:r>
                      <m:r>
                        <m:rPr>
                          <m:sty m:val="p"/>
                        </m:rPr>
                        <m:t>.</m:t>
                      </m:r>
                      <m:r>
                        <m:rPr>
                          <m:sty m:val="p"/>
                        </m:rPr>
                        <m:t>+</m:t>
                      </m:r>
                      <m:sSub>
                        <m:e>
                          <m:r>
                            <m:t>β</m:t>
                          </m:r>
                        </m:e>
                        <m:sub>
                          <m:r>
                            <m:t>p</m:t>
                          </m:r>
                        </m:sub>
                      </m:sSub>
                      <m:sSub>
                        <m:e>
                          <m:r>
                            <m:t>x</m:t>
                          </m:r>
                        </m:e>
                        <m:sub>
                          <m:r>
                            <m:t>i</m:t>
                          </m:r>
                          <m:r>
                            <m:t>p</m:t>
                          </m:r>
                        </m:sub>
                      </m:sSub>
                      <m:r>
                        <m:rPr>
                          <m:sty m:val="p"/>
                        </m:rPr>
                        <m:t>+</m:t>
                      </m:r>
                      <m:sSub>
                        <m:e>
                          <m:r>
                            <m:t>ϵ</m:t>
                          </m:r>
                        </m:e>
                        <m:sub>
                          <m:r>
                            <m:t>i</m:t>
                          </m:r>
                        </m:sub>
                      </m:sSub>
                    </m:oMath>
                  </m:oMathPara>
                </a14:m>
              </a:p>
            </p:txBody>
          </p:sp>
        </mc:Choice>
      </mc:AlternateContent>
      <p:sp>
        <p:nvSpPr>
          <p:cNvPr id="4" name="Content Placeholder 3"/>
          <p:cNvSpPr>
            <a:spLocks noGrp="1"/>
          </p:cNvSpPr>
          <p:nvPr>
            <p:ph idx="2" sz="half"/>
          </p:nvPr>
        </p:nvSpPr>
        <p:spPr/>
        <p:txBody>
          <a:bodyPr/>
          <a:lstStyle/>
          <a:p>
            <a:pPr lvl="0"/>
            <a:r>
              <a:rPr/>
              <a:t>yᵢ: value of Y for the i-th observation, X₁ = x_i1, X₂ = x_i2, …, Xₚ = x_ip</a:t>
            </a:r>
          </a:p>
          <a:p>
            <a:pPr lvl="0"/>
            <a:r>
              <a:rPr/>
              <a:t>β₀: population intercept — the mean value of Y when X₁ = 0, X₂ = 0, …, Xₚ = 0</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Partial Regression Slopes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14:m>
                  <m:oMathPara xmlns:m="http://schemas.openxmlformats.org/officeDocument/2006/math">
                    <m:oMathParaPr>
                      <m:jc m:val="center"/>
                    </m:oMathParaPr>
                    <m:oMath>
                      <m:sSub>
                        <m:e>
                          <m:r>
                            <m:t>y</m:t>
                          </m:r>
                        </m:e>
                        <m:sub>
                          <m:r>
                            <m:t>i</m:t>
                          </m:r>
                        </m:sub>
                      </m:sSub>
                      <m:r>
                        <m:rPr>
                          <m:sty m:val="p"/>
                        </m:rPr>
                        <m:t>=</m:t>
                      </m:r>
                      <m:sSub>
                        <m:e>
                          <m:r>
                            <m:t>β</m:t>
                          </m:r>
                        </m:e>
                        <m:sub>
                          <m:r>
                            <m:t>0</m:t>
                          </m:r>
                        </m:sub>
                      </m:sSub>
                      <m:r>
                        <m:rPr>
                          <m:sty m:val="p"/>
                        </m:rPr>
                        <m:t>+</m:t>
                      </m:r>
                      <m:sSub>
                        <m:e>
                          <m:r>
                            <m:t>β</m:t>
                          </m:r>
                        </m:e>
                        <m:sub>
                          <m:r>
                            <m:t>1</m:t>
                          </m:r>
                        </m:sub>
                      </m:sSub>
                      <m:sSub>
                        <m:e>
                          <m:r>
                            <m:t>x</m:t>
                          </m:r>
                        </m:e>
                        <m:sub>
                          <m:r>
                            <m:t>i</m:t>
                          </m:r>
                          <m:r>
                            <m:t>1</m:t>
                          </m:r>
                        </m:sub>
                      </m:sSub>
                      <m:r>
                        <m:rPr>
                          <m:sty m:val="p"/>
                        </m:rPr>
                        <m:t>+</m:t>
                      </m:r>
                      <m:sSub>
                        <m:e>
                          <m:r>
                            <m:t>β</m:t>
                          </m:r>
                        </m:e>
                        <m:sub>
                          <m:r>
                            <m:t>2</m:t>
                          </m:r>
                        </m:sub>
                      </m:sSub>
                      <m:sSub>
                        <m:e>
                          <m:r>
                            <m:t>x</m:t>
                          </m:r>
                        </m:e>
                        <m:sub>
                          <m:r>
                            <m:t>i</m:t>
                          </m:r>
                          <m:r>
                            <m:t>2</m:t>
                          </m:r>
                        </m:sub>
                      </m:sSub>
                      <m:r>
                        <m:rPr>
                          <m:sty m:val="p"/>
                        </m:rPr>
                        <m:t>+</m:t>
                      </m:r>
                      <m:r>
                        <m:rPr>
                          <m:sty m:val="p"/>
                        </m:rPr>
                        <m:t>.</m:t>
                      </m:r>
                      <m:r>
                        <m:rPr>
                          <m:sty m:val="p"/>
                        </m:rPr>
                        <m:t>.</m:t>
                      </m:r>
                      <m:r>
                        <m:rPr>
                          <m:sty m:val="p"/>
                        </m:rPr>
                        <m:t>.</m:t>
                      </m:r>
                      <m:r>
                        <m:rPr>
                          <m:sty m:val="p"/>
                        </m:rPr>
                        <m:t>+</m:t>
                      </m:r>
                      <m:sSub>
                        <m:e>
                          <m:r>
                            <m:t>β</m:t>
                          </m:r>
                        </m:e>
                        <m:sub>
                          <m:r>
                            <m:t>p</m:t>
                          </m:r>
                        </m:sub>
                      </m:sSub>
                      <m:sSub>
                        <m:e>
                          <m:r>
                            <m:t>x</m:t>
                          </m:r>
                        </m:e>
                        <m:sub>
                          <m:r>
                            <m:t>i</m:t>
                          </m:r>
                          <m:r>
                            <m:t>p</m:t>
                          </m:r>
                        </m:sub>
                      </m:sSub>
                      <m:r>
                        <m:rPr>
                          <m:sty m:val="p"/>
                        </m:rPr>
                        <m:t>+</m:t>
                      </m:r>
                      <m:sSub>
                        <m:e>
                          <m:r>
                            <m:t>ϵ</m:t>
                          </m:r>
                        </m:e>
                        <m:sub>
                          <m:r>
                            <m:t>i</m:t>
                          </m:r>
                        </m:sub>
                      </m:sSub>
                    </m:oMath>
                  </m:oMathPara>
                </a14:m>
              </a:p>
              <a:p>
                <a:pPr lvl="0"/>
                <a:r>
                  <a:rPr/>
                  <a:t>β₁: partial regression slope — change in Y per unit change in X₁, holding other X-vars constant</a:t>
                </a:r>
              </a:p>
              <a:p>
                <a:pPr lvl="0"/>
                <a:r>
                  <a:rPr/>
                  <a:t>β₂: partial regression slope for X₂, holding others constant</a:t>
                </a:r>
              </a:p>
              <a:p>
                <a:pPr lvl="0"/>
                <a:r>
                  <a:rPr/>
                  <a:t>βₚ: partial regression slope for Xₚ, holding others constant</a:t>
                </a:r>
              </a:p>
            </p:txBody>
          </p:sp>
        </mc:Choice>
      </mc:AlternateContent>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Key idea — what “partial” means</a:t>
            </a:r>
          </a:p>
          <a:p>
            <a:pPr lvl="0" indent="0" marL="1270000">
              <a:buNone/>
            </a:pPr>
            <a:r>
              <a:rPr sz="2000"/>
              <a:t>The relationship between a predictor and the response </a:t>
            </a:r>
            <a:r>
              <a:rPr sz="2000" b="1"/>
              <a:t>while holding all other predictors constant</a:t>
            </a:r>
            <a:r>
              <a:rPr sz="2000"/>
              <a:t>. It tells you the isolated effect of one variable, controlling for the influence of others.</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Partial Regression Slopes — the Ant Model</a:t>
            </a:r>
          </a:p>
        </p:txBody>
      </p:sp>
      <p:sp>
        <p:nvSpPr>
          <p:cNvPr id="3" name="Content Placeholder 2"/>
          <p:cNvSpPr>
            <a:spLocks noGrp="1"/>
          </p:cNvSpPr>
          <p:nvPr>
            <p:ph idx="1" sz="half"/>
          </p:nvPr>
        </p:nvSpPr>
        <p:spPr/>
        <p:txBody>
          <a:bodyPr/>
          <a:lstStyle/>
          <a:p>
            <a:pPr lvl="0" indent="0" marL="0">
              <a:buNone/>
            </a:pPr>
            <a:r>
              <a:rPr/>
              <a:t>Model: </a:t>
            </a:r>
            <a:r>
              <a:rPr>
                <a:latin typeface="Courier"/>
              </a:rPr>
              <a:t>ant_spp ~ elevation + latitude</a:t>
            </a:r>
          </a:p>
          <a:p>
            <a:pPr lvl="0"/>
            <a:r>
              <a:rPr/>
              <a:t>The partial slope for elevation tells you how ant species richness changes with elevation when latitude is held constant</a:t>
            </a:r>
          </a:p>
          <a:p>
            <a:pPr lvl="1"/>
            <a:r>
              <a:rPr/>
              <a:t>1-m increase in elevation → ant spp decrease by 0.012 spp, holding latitude constant</a:t>
            </a:r>
          </a:p>
          <a:p>
            <a:pPr lvl="1"/>
            <a:r>
              <a:rPr/>
              <a:t>Or: 100-m increase in elevation → lose 1.2 spp</a:t>
            </a:r>
          </a:p>
          <a:p>
            <a:pPr lvl="0"/>
            <a:r>
              <a:rPr/>
              <a:t>The partial slope for latitude tells you how ant species richness changes with latitude when elevation is held constant</a:t>
            </a:r>
          </a:p>
          <a:p>
            <a:pPr lvl="1"/>
            <a:r>
              <a:rPr/>
              <a:t>1-degree increase in latitude → ant spp decrease by 2 species, holding elevation constant</a:t>
            </a:r>
          </a:p>
          <a:p>
            <a:pPr lvl="1"/>
            <a:r>
              <a:rPr/>
              <a:t>Moving north = fewer ant spp, even comparing sites at the same elevation</a:t>
            </a:r>
          </a:p>
        </p:txBody>
      </p:sp>
      <p:sp>
        <p:nvSpPr>
          <p:cNvPr id="4" name="Content Placeholder 3"/>
          <p:cNvSpPr>
            <a:spLocks noGrp="1"/>
          </p:cNvSpPr>
          <p:nvPr>
            <p:ph idx="2" sz="half"/>
          </p:nvPr>
        </p:nvSpPr>
        <p:spPr/>
        <p:txBody>
          <a:bodyPr/>
          <a:lstStyle/>
          <a:p>
            <a:pPr lvl="0" indent="0">
              <a:buNone/>
            </a:pPr>
            <a:r>
              <a:rPr>
                <a:solidFill>
                  <a:srgbClr val="003B4F"/>
                </a:solidFill>
                <a:latin typeface="Courier"/>
              </a:rPr>
              <a:t>ant_model &lt;- </a:t>
            </a:r>
            <a:r>
              <a:rPr>
                <a:solidFill>
                  <a:srgbClr val="4758AB"/>
                </a:solidFill>
                <a:latin typeface="Courier"/>
              </a:rPr>
              <a:t>lm</a:t>
            </a:r>
            <a:r>
              <a:rPr>
                <a:solidFill>
                  <a:srgbClr val="003B4F"/>
                </a:solidFill>
                <a:latin typeface="Courier"/>
              </a:rPr>
              <a:t>(ant_spp </a:t>
            </a:r>
            <a:r>
              <a:rPr>
                <a:solidFill>
                  <a:srgbClr val="5E5E5E"/>
                </a:solidFill>
                <a:latin typeface="Courier"/>
              </a:rPr>
              <a:t>~</a:t>
            </a:r>
            <a:r>
              <a:rPr>
                <a:solidFill>
                  <a:srgbClr val="003B4F"/>
                </a:solidFill>
                <a:latin typeface="Courier"/>
              </a:rPr>
              <a:t> elevation </a:t>
            </a:r>
            <a:r>
              <a:rPr>
                <a:solidFill>
                  <a:srgbClr val="5E5E5E"/>
                </a:solidFill>
                <a:latin typeface="Courier"/>
              </a:rPr>
              <a:t>+</a:t>
            </a:r>
            <a:r>
              <a:rPr>
                <a:solidFill>
                  <a:srgbClr val="003B4F"/>
                </a:solidFill>
                <a:latin typeface="Courier"/>
              </a:rPr>
              <a:t> latitude, </a:t>
            </a:r>
            <a:r>
              <a:rPr>
                <a:solidFill>
                  <a:srgbClr val="657422"/>
                </a:solidFill>
                <a:latin typeface="Courier"/>
              </a:rPr>
              <a:t>data =</a:t>
            </a:r>
            <a:r>
              <a:rPr>
                <a:solidFill>
                  <a:srgbClr val="003B4F"/>
                </a:solidFill>
                <a:latin typeface="Courier"/>
              </a:rPr>
              <a:t> ant_df)</a:t>
            </a:r>
            <a:br/>
            <a:r>
              <a:rPr>
                <a:solidFill>
                  <a:srgbClr val="4758AB"/>
                </a:solidFill>
                <a:latin typeface="Courier"/>
              </a:rPr>
              <a:t>summary</a:t>
            </a:r>
            <a:r>
              <a:rPr>
                <a:solidFill>
                  <a:srgbClr val="003B4F"/>
                </a:solidFill>
                <a:latin typeface="Courier"/>
              </a:rPr>
              <a:t>(ant_model)</a:t>
            </a:r>
          </a:p>
          <a:p>
            <a:pPr lvl="0" indent="0">
              <a:buNone/>
            </a:pPr>
            <a:r>
              <a:rPr>
                <a:latin typeface="Courier"/>
              </a:rPr>
              <a:t>
Call:
lm(formula = ant_spp ~ elevation + latitude, data = ant_df)
Residuals:
    Min      1Q  Median      3Q     Max 
-6.1180 -2.3759  0.3218  1.9070  5.8369 
Coefficients:
            Estimate Std. Error t value Pr(&gt;|t|)   
(Intercept) 98.49651   26.50701   3.716  0.00147 **
elevation   -0.01226    0.00411  -2.983  0.00765 **
latitude    -2.00981    0.61956  -3.244  0.00427 **
---
Signif. codes:  0 '***' 0.001 '**' 0.01 '*' 0.05 '.' 0.1 ' ' 1
Residual standard error: 3.022 on 19 degrees of freedom
Multiple R-squared:  0.5543,    Adjusted R-squared:  0.5074 
F-statistic: 11.82 on 2 and 19 DF,  p-value: 0.000463</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Regression Parameters — the Error Term</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14:m>
                  <m:oMathPara xmlns:m="http://schemas.openxmlformats.org/officeDocument/2006/math">
                    <m:oMathParaPr>
                      <m:jc m:val="center"/>
                    </m:oMathParaPr>
                    <m:oMath>
                      <m:sSub>
                        <m:e>
                          <m:r>
                            <m:t>y</m:t>
                          </m:r>
                        </m:e>
                        <m:sub>
                          <m:r>
                            <m:t>i</m:t>
                          </m:r>
                        </m:sub>
                      </m:sSub>
                      <m:r>
                        <m:rPr>
                          <m:sty m:val="p"/>
                        </m:rPr>
                        <m:t>=</m:t>
                      </m:r>
                      <m:sSub>
                        <m:e>
                          <m:r>
                            <m:t>β</m:t>
                          </m:r>
                        </m:e>
                        <m:sub>
                          <m:r>
                            <m:t>0</m:t>
                          </m:r>
                        </m:sub>
                      </m:sSub>
                      <m:r>
                        <m:rPr>
                          <m:sty m:val="p"/>
                        </m:rPr>
                        <m:t>+</m:t>
                      </m:r>
                      <m:sSub>
                        <m:e>
                          <m:r>
                            <m:t>β</m:t>
                          </m:r>
                        </m:e>
                        <m:sub>
                          <m:r>
                            <m:t>1</m:t>
                          </m:r>
                        </m:sub>
                      </m:sSub>
                      <m:sSub>
                        <m:e>
                          <m:r>
                            <m:t>x</m:t>
                          </m:r>
                        </m:e>
                        <m:sub>
                          <m:r>
                            <m:t>i</m:t>
                          </m:r>
                          <m:r>
                            <m:t>1</m:t>
                          </m:r>
                        </m:sub>
                      </m:sSub>
                      <m:r>
                        <m:rPr>
                          <m:sty m:val="p"/>
                        </m:rPr>
                        <m:t>+</m:t>
                      </m:r>
                      <m:sSub>
                        <m:e>
                          <m:r>
                            <m:t>β</m:t>
                          </m:r>
                        </m:e>
                        <m:sub>
                          <m:r>
                            <m:t>2</m:t>
                          </m:r>
                        </m:sub>
                      </m:sSub>
                      <m:sSub>
                        <m:e>
                          <m:r>
                            <m:t>x</m:t>
                          </m:r>
                        </m:e>
                        <m:sub>
                          <m:r>
                            <m:t>i</m:t>
                          </m:r>
                          <m:r>
                            <m:t>2</m:t>
                          </m:r>
                        </m:sub>
                      </m:sSub>
                      <m:r>
                        <m:rPr>
                          <m:sty m:val="p"/>
                        </m:rPr>
                        <m:t>+</m:t>
                      </m:r>
                      <m:r>
                        <m:rPr>
                          <m:sty m:val="p"/>
                        </m:rPr>
                        <m:t>.</m:t>
                      </m:r>
                      <m:r>
                        <m:rPr>
                          <m:sty m:val="p"/>
                        </m:rPr>
                        <m:t>.</m:t>
                      </m:r>
                      <m:r>
                        <m:rPr>
                          <m:sty m:val="p"/>
                        </m:rPr>
                        <m:t>.</m:t>
                      </m:r>
                      <m:r>
                        <m:rPr>
                          <m:sty m:val="p"/>
                        </m:rPr>
                        <m:t>+</m:t>
                      </m:r>
                      <m:sSub>
                        <m:e>
                          <m:r>
                            <m:t>β</m:t>
                          </m:r>
                        </m:e>
                        <m:sub>
                          <m:r>
                            <m:t>p</m:t>
                          </m:r>
                        </m:sub>
                      </m:sSub>
                      <m:sSub>
                        <m:e>
                          <m:r>
                            <m:t>x</m:t>
                          </m:r>
                        </m:e>
                        <m:sub>
                          <m:r>
                            <m:t>i</m:t>
                          </m:r>
                          <m:r>
                            <m:t>p</m:t>
                          </m:r>
                        </m:sub>
                      </m:sSub>
                      <m:r>
                        <m:rPr>
                          <m:sty m:val="p"/>
                        </m:rPr>
                        <m:t>+</m:t>
                      </m:r>
                      <m:sSub>
                        <m:e>
                          <m:r>
                            <m:t>ϵ</m:t>
                          </m:r>
                        </m:e>
                        <m:sub>
                          <m:r>
                            <m:t>i</m:t>
                          </m:r>
                        </m:sub>
                      </m:sSub>
                    </m:oMath>
                  </m:oMathPara>
                </a14:m>
              </a:p>
              <a:p>
                <a:pPr lvl="0"/>
                <a:r>
                  <a:rPr/>
                  <a:t>εᵢ: unexplained error — the difference between yᵢ and the value predicted by the model (ŷᵢ)</a:t>
                </a:r>
              </a:p>
              <a:p>
                <a:pPr lvl="0"/>
                <a:r>
                  <a:rPr/>
                  <a:t>ant_spp = β₀ + β₁(lat) + β₂(elevation) + εᵢ</a:t>
                </a:r>
              </a:p>
            </p:txBody>
          </p:sp>
        </mc:Choice>
      </mc:AlternateContent>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Notice</a:t>
            </a:r>
          </a:p>
          <a:p>
            <a:pPr lvl="0" indent="0" marL="1270000">
              <a:buNone/>
            </a:pPr>
            <a:r>
              <a:rPr sz="2000"/>
              <a:t>This is exactly the same “signal vs. noise” structure as a simple regression — just with more terms on the signal side.</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Regression Parameters — Estimation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14:m>
                  <m:oMathPara xmlns:m="http://schemas.openxmlformats.org/officeDocument/2006/math">
                    <m:oMathParaPr>
                      <m:jc m:val="center"/>
                    </m:oMathParaPr>
                    <m:oMath>
                      <m:sSub>
                        <m:e>
                          <m:r>
                            <m:t>y</m:t>
                          </m:r>
                        </m:e>
                        <m:sub>
                          <m:r>
                            <m:t>i</m:t>
                          </m:r>
                        </m:sub>
                      </m:sSub>
                      <m:r>
                        <m:rPr>
                          <m:sty m:val="p"/>
                        </m:rPr>
                        <m:t>=</m:t>
                      </m:r>
                      <m:sSub>
                        <m:e>
                          <m:r>
                            <m:t>β</m:t>
                          </m:r>
                        </m:e>
                        <m:sub>
                          <m:r>
                            <m:t>0</m:t>
                          </m:r>
                        </m:sub>
                      </m:sSub>
                      <m:r>
                        <m:rPr>
                          <m:sty m:val="p"/>
                        </m:rPr>
                        <m:t>+</m:t>
                      </m:r>
                      <m:sSub>
                        <m:e>
                          <m:r>
                            <m:t>β</m:t>
                          </m:r>
                        </m:e>
                        <m:sub>
                          <m:r>
                            <m:t>1</m:t>
                          </m:r>
                        </m:sub>
                      </m:sSub>
                      <m:sSub>
                        <m:e>
                          <m:r>
                            <m:t>x</m:t>
                          </m:r>
                        </m:e>
                        <m:sub>
                          <m:r>
                            <m:t>i</m:t>
                          </m:r>
                          <m:r>
                            <m:t>1</m:t>
                          </m:r>
                        </m:sub>
                      </m:sSub>
                      <m:r>
                        <m:rPr>
                          <m:sty m:val="p"/>
                        </m:rPr>
                        <m:t>+</m:t>
                      </m:r>
                      <m:sSub>
                        <m:e>
                          <m:r>
                            <m:t>β</m:t>
                          </m:r>
                        </m:e>
                        <m:sub>
                          <m:r>
                            <m:t>2</m:t>
                          </m:r>
                        </m:sub>
                      </m:sSub>
                      <m:sSub>
                        <m:e>
                          <m:r>
                            <m:t>x</m:t>
                          </m:r>
                        </m:e>
                        <m:sub>
                          <m:r>
                            <m:t>i</m:t>
                          </m:r>
                          <m:r>
                            <m:t>2</m:t>
                          </m:r>
                        </m:sub>
                      </m:sSub>
                      <m:r>
                        <m:rPr>
                          <m:sty m:val="p"/>
                        </m:rPr>
                        <m:t>+</m:t>
                      </m:r>
                      <m:r>
                        <m:rPr>
                          <m:sty m:val="p"/>
                        </m:rPr>
                        <m:t>.</m:t>
                      </m:r>
                      <m:r>
                        <m:rPr>
                          <m:sty m:val="p"/>
                        </m:rPr>
                        <m:t>.</m:t>
                      </m:r>
                      <m:r>
                        <m:rPr>
                          <m:sty m:val="p"/>
                        </m:rPr>
                        <m:t>.</m:t>
                      </m:r>
                      <m:r>
                        <m:rPr>
                          <m:sty m:val="p"/>
                        </m:rPr>
                        <m:t>+</m:t>
                      </m:r>
                      <m:sSub>
                        <m:e>
                          <m:r>
                            <m:t>β</m:t>
                          </m:r>
                        </m:e>
                        <m:sub>
                          <m:r>
                            <m:t>p</m:t>
                          </m:r>
                        </m:sub>
                      </m:sSub>
                      <m:sSub>
                        <m:e>
                          <m:r>
                            <m:t>x</m:t>
                          </m:r>
                        </m:e>
                        <m:sub>
                          <m:r>
                            <m:t>i</m:t>
                          </m:r>
                          <m:r>
                            <m:t>p</m:t>
                          </m:r>
                        </m:sub>
                      </m:sSub>
                      <m:r>
                        <m:rPr>
                          <m:sty m:val="p"/>
                        </m:rPr>
                        <m:t>+</m:t>
                      </m:r>
                      <m:sSub>
                        <m:e>
                          <m:r>
                            <m:t>ϵ</m:t>
                          </m:r>
                        </m:e>
                        <m:sub>
                          <m:r>
                            <m:t>i</m:t>
                          </m:r>
                        </m:sub>
                      </m:sSub>
                    </m:oMath>
                  </m:oMathPara>
                </a14:m>
              </a:p>
              <a:p>
                <a:pPr lvl="0"/>
                <a:r>
                  <a:rPr/>
                  <a:t>Estimate multiple regression parameters (intercept, partial slopes) using OLS to fit the regression line</a:t>
                </a:r>
              </a:p>
              <a:p>
                <a:pPr lvl="0"/>
                <a:r>
                  <a:rPr/>
                  <a:t>OLS minimizes </a:t>
                </a:r>
                <a14:m>
                  <m:oMath xmlns:m="http://schemas.openxmlformats.org/officeDocument/2006/math">
                    <m:r>
                      <m:rPr>
                        <m:sty m:val="p"/>
                      </m:rPr>
                      <m:t>∑</m:t>
                    </m:r>
                    <m:r>
                      <m:rPr>
                        <m:sty m:val="p"/>
                      </m:rPr>
                      <m:t>(</m:t>
                    </m:r>
                    <m:sSub>
                      <m:e>
                        <m:r>
                          <m:t>y</m:t>
                        </m:r>
                      </m:e>
                      <m:sub>
                        <m:r>
                          <m:t>i</m:t>
                        </m:r>
                      </m:sub>
                    </m:sSub>
                    <m:r>
                      <m:rPr>
                        <m:sty m:val="p"/>
                      </m:rPr>
                      <m:t>−</m:t>
                    </m:r>
                    <m:sSub>
                      <m:e>
                        <m:acc>
                          <m:accPr>
                            <m:chr m:val="̂"/>
                          </m:accPr>
                          <m:e>
                            <m:r>
                              <m:t>y</m:t>
                            </m:r>
                          </m:e>
                        </m:acc>
                      </m:e>
                      <m:sub>
                        <m:r>
                          <m:t>i</m:t>
                        </m:r>
                      </m:sub>
                    </m:sSub>
                    <m:sSup>
                      <m:e>
                        <m:r>
                          <m:rPr>
                            <m:sty m:val="p"/>
                          </m:rPr>
                          <m:t>)</m:t>
                        </m:r>
                      </m:e>
                      <m:sup>
                        <m:r>
                          <m:t>2</m:t>
                        </m:r>
                      </m:sup>
                    </m:sSup>
                  </m:oMath>
                </a14:m>
                <a:r>
                  <a:rPr/>
                  <a:t>, the SS (vertical distance) between observed yᵢ and predicted ŷᵢ for each xᵢⱼ</a:t>
                </a:r>
              </a:p>
              <a:p>
                <a:pPr lvl="0"/>
                <a:r>
                  <a:rPr/>
                  <a:t>ε estimated as residuals: εᵢ = yᵢ − ŷᵢ</a:t>
                </a:r>
              </a:p>
              <a:p>
                <a:pPr lvl="0"/>
                <a:r>
                  <a:rPr/>
                  <a:t>Calculation solves a set of simultaneous normal equations with matrix algebra</a:t>
                </a:r>
              </a:p>
            </p:txBody>
          </p:sp>
        </mc:Choice>
      </mc:AlternateContent>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Key idea</a:t>
            </a:r>
          </a:p>
          <a:p>
            <a:pPr lvl="0" indent="0" marL="1270000">
              <a:buNone/>
            </a:pPr>
            <a:r>
              <a:rPr sz="2000"/>
              <a:t>You’ll never do this matrix algebra by hand — R’s </a:t>
            </a:r>
            <a:r>
              <a:rPr sz="2000">
                <a:latin typeface="Courier"/>
              </a:rPr>
              <a:t>lm()</a:t>
            </a:r>
            <a:r>
              <a:rPr sz="2000"/>
              <a:t> does it instantly. What matters is knowing </a:t>
            </a:r>
            <a:r>
              <a:rPr sz="2000" i="1"/>
              <a:t>what</a:t>
            </a:r>
            <a:r>
              <a:rPr sz="2000"/>
              <a:t> it’s minimizing.</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Regression Parameters — Prediction</a:t>
            </a:r>
          </a:p>
        </p:txBody>
      </p:sp>
      <p:sp>
        <p:nvSpPr>
          <p:cNvPr id="3" name="Content Placeholder 2"/>
          <p:cNvSpPr>
            <a:spLocks noGrp="1"/>
          </p:cNvSpPr>
          <p:nvPr>
            <p:ph idx="1" sz="half"/>
          </p:nvPr>
        </p:nvSpPr>
        <p:spPr/>
        <p:txBody>
          <a:bodyPr/>
          <a:lstStyle/>
          <a:p>
            <a:pPr lvl="0" indent="0" marL="0">
              <a:buNone/>
            </a:pPr>
            <a:r>
              <a:rPr/>
              <a:t>The regression equation can be used for prediction by substituting new values for the predictor (X) variables.</a:t>
            </a:r>
          </a:p>
          <a:p>
            <a:pPr lvl="0"/>
            <a:r>
              <a:rPr/>
              <a:t>Confidence intervals are calculated for parameters</a:t>
            </a:r>
          </a:p>
          <a:p>
            <a:pPr lvl="0"/>
            <a:r>
              <a:rPr/>
              <a:t>Confidence and prediction intervals depend on the number of observations and predictors</a:t>
            </a:r>
          </a:p>
          <a:p>
            <a:pPr lvl="1"/>
            <a:r>
              <a:rPr/>
              <a:t>More observations decrease interval width</a:t>
            </a:r>
          </a:p>
          <a:p>
            <a:pPr lvl="1"/>
            <a:r>
              <a:rPr/>
              <a:t>More predictors increase interval width</a:t>
            </a:r>
          </a:p>
          <a:p>
            <a:pPr lvl="0"/>
            <a:r>
              <a:rPr/>
              <a:t>Predictions should be restricted to within the range of the X variables</a:t>
            </a:r>
          </a:p>
        </p:txBody>
      </p:sp>
      <p:sp>
        <p:nvSpPr>
          <p:cNvPr id="4" name="Content Placeholder 3"/>
          <p:cNvSpPr>
            <a:spLocks noGrp="1"/>
          </p:cNvSpPr>
          <p:nvPr>
            <p:ph idx="2" sz="half"/>
          </p:nvPr>
        </p:nvSpPr>
        <p:spPr/>
        <p:txBody>
          <a:bodyPr/>
          <a:lstStyle/>
          <a:p>
            <a:pPr lvl="0" indent="0" marL="1270000">
              <a:buNone/>
            </a:pPr>
            <a:r>
              <a:rPr sz="2000" b="1"/>
              <a:t>Warning</a:t>
            </a:r>
          </a:p>
          <a:p>
            <a:pPr lvl="0" indent="0" marL="1270000">
              <a:buNone/>
            </a:pPr>
            <a:r>
              <a:rPr sz="2000" b="1"/>
              <a:t>⚠️ Watch out!</a:t>
            </a:r>
          </a:p>
          <a:p>
            <a:pPr lvl="0" indent="0" marL="1270000">
              <a:buNone/>
            </a:pPr>
            <a:r>
              <a:rPr sz="2000"/>
              <a:t>Extrapolating a multiple regression beyond the observed range of </a:t>
            </a:r>
            <a:r>
              <a:rPr sz="2000" i="1"/>
              <a:t>any</a:t>
            </a:r>
            <a:r>
              <a:rPr sz="2000"/>
              <a:t> predictor is riskier than in simple regression — the fitted (hyper)plane has no guarantee of being right outside the data cloud.</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ANOVA for Multiple Regression</a:t>
            </a:r>
          </a:p>
        </p:txBody>
      </p:sp>
    </p:spTree>
  </p:cSld>
</p:sld>
</file>

<file path=ppt/slides/slide17.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2" name="Title 1" /><p:cNvSpPr><a:spLocks noGrp="1" /></p:cNvSpPr><p:nvPr><p:ph type="title" /></p:nvPr></p:nvSpPr><p:spPr><a:xfrm><a:off x="0" y="0" /><a:ext cx="9144000" cy="602780" /></a:xfrm><a:solidFill><a:srgbClr val="70121D" /></a:solidFill></p:spPr><p:txBody><a:bodyPr /><a:lstStyle /><a:p><a:pPr lvl="0" indent="0" marL="0"><a:buNone /></a:pPr><a:r><a:rPr /><a:t>Partitioning Variance — Sums of Squares</a:t></a:r></a:p></p:txBody></p:sp><mc:AlternateContent xmlns:mc="http://schemas.openxmlformats.org/markup-compatibility/2006"><mc:Choice xmlns:a14="http://schemas.microsoft.com/office/drawing/2010/main" Requires="a14"><p:sp><p:nvSpPr><p:cNvPr id="3" name="Content Placeholder 2" /><p:cNvSpPr><a:spLocks noGrp="1" /></p:cNvSpPr><p:nvPr><p:ph idx="1" sz="half" /></p:nvPr></p:nvSpPr><p:spPr /><p:txBody><a:bodyPr /><a:lstStyle /><a:p><a:pPr lvl="0" indent="0" marL="0"><a:buNone /></a:pPr><a:r><a:rPr /><a:t>Variance — </a:t></a:r><a14:m><m:oMath xmlns:m="http://schemas.openxmlformats.org/officeDocument/2006/math"><m:r><m:t>S</m:t></m:r><m:sSub><m:e><m:r><m:t>S</m:t></m:r></m:e><m:sub><m:r><m:t>t</m:t></m:r><m:r><m:t>o</m:t></m:r><m:r><m:t>t</m:t></m:r><m:r><m:t>a</m:t></m:r><m:r><m:t>l</m:t></m:r></m:sub></m:sSub></m:oMath></a14:m><a:r><a:rPr /><a:t> is partitioned into </a:t></a:r><a14:m><m:oMath xmlns:m="http://schemas.openxmlformats.org/officeDocument/2006/math"><m:r><m:t>S</m:t></m:r><m:sSub><m:e><m:r><m:t>S</m:t></m:r></m:e><m:sub><m:r><m:t>r</m:t></m:r><m:r><m:t>e</m:t></m:r><m:r><m:t>g</m:t></m:r><m:r><m:t>r</m:t></m:r><m:r><m:t>e</m:t></m:r><m:r><m:t>s</m:t></m:r><m:r><m:t>s</m:t></m:r><m:r><m:t>i</m:t></m:r><m:r><m:t>o</m:t></m:r><m:r><m:t>n</m:t></m:r></m:sub></m:sSub></m:oMath></a14:m><a:r><a:rPr /><a:t> and </a:t></a:r><a14:m><m:oMath xmlns:m="http://schemas.openxmlformats.org/officeDocument/2006/math"><m:r><m:t>S</m:t></m:r><m:sSub><m:e><m:r><m:t>S</m:t></m:r></m:e><m:sub><m:r><m:t>r</m:t></m:r><m:r><m:t>e</m:t></m:r><m:r><m:t>s</m:t></m:r><m:r><m:t>i</m:t></m:r><m:r><m:t>d</m:t></m:r><m:r><m:t>u</m:t></m:r><m:r><m:t>a</m:t></m:r><m:r><m:t>l</m:t></m:r></m:sub></m:sSub></m:oMath></a14:m><a:r><a:rPr /><a:t>.</a:t></a:r></a:p><a:p><a:pPr lvl="0" /><a14:m><m:oMath xmlns:m="http://schemas.openxmlformats.org/officeDocument/2006/math"><m:r><m:t>S</m:t></m:r><m:sSub><m:e><m:r><m:t>S</m:t></m:r></m:e><m:sub><m:r><m:t>r</m:t></m:r><m:r><m:t>e</m:t></m:r><m:r><m:t>g</m:t></m:r><m:r><m:t>r</m:t></m:r><m:r><m:t>e</m:t></m:r><m:r><m:t>s</m:t></m:r><m:r><m:t>s</m:t></m:r><m:r><m:t>i</m:t></m:r><m:r><m:t>o</m:t></m:r><m:r><m:t>n</m:t></m:r></m:sub></m:sSub></m:oMath></a14:m><a:r><a:rPr /><a:t> is the variance in Y explained by the model</a:t></a:r></a:p><a:p><a:pPr lvl="0" /><a14:m><m:oMath xmlns:m="http://schemas.openxmlformats.org/officeDocument/2006/math"><m:r><m:t>S</m:t></m:r><m:sSub><m:e><m:r><m:t>S</m:t></m:r></m:e><m:sub><m:r><m:t>r</m:t></m:r><m:r><m:t>e</m:t></m:r><m:r><m:t>s</m:t></m:r><m:r><m:t>i</m:t></m:r><m:r><m:t>d</m:t></m:r><m:r><m:t>u</m:t></m:r><m:r><m:t>a</m:t></m:r><m:r><m:t>l</m:t></m:r></m:sub></m:sSub></m:oMath></a14:m><a:r><a:rPr /><a:t> is the variance not explained by the model</a:t></a:r></a:p></p:txBody></p:sp></mc:Choice></mc:AlternateContent><p:graphicFrame><p:nvGraphicFramePr><p:cNvPr id="6" name="Content Placeholder 5" /><p:cNvGraphicFramePr><a:graphicFrameLocks noGrp="1" /></p:cNvGraphicFramePr><p:nvPr><p:ph idx="1" /></p:nvPr></p:nvGraphicFramePr><p:xfrm><a:off x="6121400" y="660400" /><a:ext cx="2781300" cy="4470400" /></p:xfrm><a:graphic><a:graphicData uri="http://schemas.openxmlformats.org/drawingml/2006/table"><a:tbl><a:tblPr firstRow="1" bandRow="1"><a:tableStyleId>{5C22544A-7EE6-4342-B048-85BDC9FD1C3A}</a:tableStyleId></a:tblPr><a:tblGrid><a:gridCol w="927100" /><a:gridCol w="927100" /><a:gridCol w="927100" /></a:tblGrid><a:tr h="0"><a:tc><a:txBody><a:bodyPr /><a:lstStyle /><a:p><a:pPr lvl="0" indent="0" marL="0" algn="l"><a:buNone /></a:pPr><a:r><a:rPr /><a:t>Source</a:t></a:r></a:p></a:txBody><a:tcPr /></a:tc><a:tc><a:txBody><a:bodyPr /><a:lstStyle /><a:p><a:pPr lvl="0" indent="0" marL="0" algn="l"><a:buNone /></a:pPr><a:r><a:rPr /><a:t>SS</a:t></a:r></a:p></a:txBody><a:tcPr /></a:tc><a:tc><a:txBody><a:bodyPr /><a:lstStyle /><a:p><a:pPr lvl="0" indent="0" marL="0" algn="l"><a:buNone /></a:pPr><a:r><a:rPr /><a:t>df</a:t></a:r></a:p></a:txBody><a:tcPr /></a:tc></a:tr><a:tr h="0"><a:tc><a:txBody><a:bodyPr /><a:lstStyle /><a:p><a:pPr lvl="0" indent="0" marL="0" algn="l"><a:buNone /></a:pPr><a:r><a:rPr /><a:t>Regression</a:t></a:r></a:p></a:txBody></a:tc><a:tc><a:txBody><a:bodyPr /><a:lstStyle /><a:p><a:pPr lvl="0" indent="0" marL="0" algn="l"><a:buNone /></a:pPr><a14:m><m:oMath xmlns:m="http://schemas.openxmlformats.org/officeDocument/2006/math"><m:r><m:rPr><m:sty m:val="p" /></m:rPr><m:t>∑</m:t></m:r><m:r><m:rPr><m:sty m:val="p" /></m:rPr><m:t>(</m:t></m:r><m:sSub><m:e><m:r><m:t>y</m:t></m:r></m:e><m:sub><m:r><m:t>i</m:t></m:r></m:sub></m:sSub><m:r><m:rPr><m:sty m:val="p" /></m:rPr><m:t>−</m:t></m:r><m:acc><m:accPr><m:chr m:val="‾" /></m:accPr><m:e><m:r><m:t>y</m:t></m:r></m:e></m:acc><m:sSup><m:e><m:r><m:rPr><m:sty m:val="p" /></m:rPr><m:t>)</m:t></m:r></m:e><m:sup><m:r><m:t>2</m:t></m:r></m:sup></m:sSup></m:oMath></a14:m></a:p></a:txBody></a:tc><a:tc><a:txBody><a:bodyPr /><a:lstStyle /><a:p><a:pPr lvl="0" indent="0" marL="0" algn="l"><a:buNone /></a:pPr><a14:m><m:oMath xmlns:m="http://schemas.openxmlformats.org/officeDocument/2006/math"><m:r><m:t>p</m:t></m:r></m:oMath></a14:m></a:p></a:txBody></a:tc></a:tr><a:tr h="0"><a:tc><a:txBody><a:bodyPr /><a:lstStyle /><a:p><a:pPr lvl="0" indent="0" marL="0" algn="l"><a:buNone /></a:pPr><a:r><a:rPr /><a:t>Residual</a:t></a:r></a:p></a:txBody></a:tc><a:tc><a:txBody><a:bodyPr /><a:lstStyle /><a:p><a:pPr lvl="0" indent="0" marL="0" algn="l"><a:buNone /></a:pPr><a14:m><m:oMath xmlns:m="http://schemas.openxmlformats.org/officeDocument/2006/math"><m:r><m:rPr><m:sty m:val="p" /></m:rPr><m:t>∑</m:t></m:r><m:r><m:rPr><m:sty m:val="p" /></m:rPr><m:t>(</m:t></m:r><m:sSub><m:e><m:r><m:t>y</m:t></m:r></m:e><m:sub><m:r><m:t>i</m:t></m:r></m:sub></m:sSub><m:r><m:rPr><m:sty m:val="p" /></m:rPr><m:t>−</m:t></m:r><m:sSub><m:e><m:acc><m:accPr><m:chr m:val="̂" /></m:accPr><m:e><m:r><m:t>y</m:t></m:r></m:e></m:acc></m:e><m:sub><m:r><m:t>i</m:t></m:r></m:sub></m:sSub><m:sSup><m:e><m:r><m:rPr><m:sty m:val="p" /></m:rPr><m:t>)</m:t></m:r></m:e><m:sup><m:r><m:t>2</m:t></m:r></m:sup></m:sSup></m:oMath></a14:m></a:p></a:txBody></a:tc><a:tc><a:txBody><a:bodyPr /><a:lstStyle /><a:p><a:pPr lvl="0" indent="0" marL="0" algn="l"><a:buNone /></a:pPr><a14:m><m:oMath xmlns:m="http://schemas.openxmlformats.org/officeDocument/2006/math"><m:r><m:t>n</m:t></m:r><m:r><m:rPr><m:sty m:val="p" /></m:rPr><m:t>−</m:t></m:r><m:r><m:t>p</m:t></m:r><m:r><m:rPr><m:sty m:val="p" /></m:rPr><m:t>−</m:t></m:r><m:r><m:t>1</m:t></m:r></m:oMath></a14:m></a:p></a:txBody></a:tc></a:tr><a:tr h="0"><a:tc><a:txBody><a:bodyPr /><a:lstStyle /><a:p><a:pPr lvl="0" indent="0" marL="0" algn="l"><a:buNone /></a:pPr><a:r><a:rPr /><a:t>Total</a:t></a:r></a:p></a:txBody></a:tc><a:tc><a:txBody><a:bodyPr /><a:lstStyle /><a:p><a:pPr lvl="0" indent="0" marL="0" algn="l"><a:buNone /></a:pPr><a14:m><m:oMath xmlns:m="http://schemas.openxmlformats.org/officeDocument/2006/math"><m:r><m:rPr><m:sty m:val="p" /></m:rPr><m:t>∑</m:t></m:r><m:r><m:rPr><m:sty m:val="p" /></m:rPr><m:t>(</m:t></m:r><m:sSub><m:e><m:r><m:t>y</m:t></m:r></m:e><m:sub><m:r><m:t>i</m:t></m:r></m:sub></m:sSub><m:r><m:rPr><m:sty m:val="p" /></m:rPr><m:t>−</m:t></m:r><m:acc><m:accPr><m:chr m:val="‾" /></m:accPr><m:e><m:r><m:t>y</m:t></m:r></m:e></m:acc><m:sSup><m:e><m:r><m:rPr><m:sty m:val="p" /></m:rPr><m:t>)</m:t></m:r></m:e><m:sup><m:r><m:t>2</m:t></m:r></m:sup></m:sSup></m:oMath></a14:m></a:p></a:txBody></a:tc><a:tc><a:txBody><a:bodyPr /><a:lstStyle /><a:p><a:pPr lvl="0" indent="0" marL="0" algn="l"><a:buNone /></a:pPr><a14:m><m:oMath xmlns:m="http://schemas.openxmlformats.org/officeDocument/2006/math"><m:r><m:t>n</m:t></m:r><m:r><m:rPr><m:sty m:val="p" /></m:rPr><m:t>−</m:t></m:r><m:r><m:t>1</m:t></m:r></m:oMath></a14:m></a:p></a:txBody></a:tc></a:tr></a:tbl></a:graphicData></a:graphic></p:graphicFrame></p:spTree></p:cSld></p:sld>
</file>

<file path=ppt/slides/slide18.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2" name="Title 1" /><p:cNvSpPr><a:spLocks noGrp="1" /></p:cNvSpPr><p:nvPr><p:ph type="title" /></p:nvPr></p:nvSpPr><p:spPr><a:xfrm><a:off x="0" y="0" /><a:ext cx="9144000" cy="602780" /></a:xfrm><a:solidFill><a:srgbClr val="70121D" /></a:solidFill></p:spPr><p:txBody><a:bodyPr /><a:lstStyle /><a:p><a:pPr lvl="0" indent="0" marL="0"><a:buNone /></a:pPr><a:r><a:rPr /><a:t>From Sums of Squares to Mean Squares</a:t></a:r></a:p></p:txBody></p:sp><mc:AlternateContent xmlns:mc="http://schemas.openxmlformats.org/markup-compatibility/2006"><mc:Choice xmlns:a14="http://schemas.microsoft.com/office/drawing/2010/main" Requires="a14"><p:sp><p:nvSpPr><p:cNvPr id="3" name="Content Placeholder 2" /><p:cNvSpPr><a:spLocks noGrp="1" /></p:cNvSpPr><p:nvPr><p:ph idx="1" sz="half" /></p:nvPr></p:nvSpPr><p:spPr /><p:txBody><a:bodyPr /><a:lstStyle /><a:p><a:pPr lvl="0" indent="0" marL="0"><a:buNone /></a:pPr><a:r><a:rPr /><a:t>SS converted to (non-additive) MS = SS/df:</a:t></a:r></a:p><a:p><a:pPr lvl="0" /><a14:m><m:oMath xmlns:m="http://schemas.openxmlformats.org/officeDocument/2006/math"><m:r><m:t>M</m:t></m:r><m:sSub><m:e><m:r><m:t>S</m:t></m:r></m:e><m:sub><m:r><m:t>r</m:t></m:r><m:r><m:t>e</m:t></m:r><m:r><m:t>s</m:t></m:r><m:r><m:t>i</m:t></m:r><m:r><m:t>d</m:t></m:r><m:r><m:t>u</m:t></m:r><m:r><m:t>a</m:t></m:r><m:r><m:t>l</m:t></m:r></m:sub></m:sSub></m:oMath></a14:m><a:r><a:rPr /><a:t>: estimates population variance</a:t></a:r></a:p><a:p><a:pPr lvl="0" /><a14:m><m:oMath xmlns:m="http://schemas.openxmlformats.org/officeDocument/2006/math"><m:r><m:t>M</m:t></m:r><m:sSub><m:e><m:r><m:t>S</m:t></m:r></m:e><m:sub><m:r><m:t>r</m:t></m:r><m:r><m:t>e</m:t></m:r><m:r><m:t>g</m:t></m:r><m:r><m:t>r</m:t></m:r><m:r><m:t>e</m:t></m:r><m:r><m:t>s</m:t></m:r><m:r><m:t>s</m:t></m:r><m:r><m:t>i</m:t></m:r><m:r><m:t>o</m:t></m:r><m:r><m:t>n</m:t></m:r></m:sub></m:sSub></m:oMath></a14:m><a:r><a:rPr /><a:t>: estimates population variance + variation due to the strength of the X-Y relationships</a:t></a:r></a:p><a:p><a:pPr lvl="0" /><a:r><a:rPr /><a:t>MS is an estimate of variance that doesn’t increase with sample size the way SS does</a:t></a:r></a:p></p:txBody></p:sp></mc:Choice></mc:AlternateContent><p:graphicFrame><p:nvGraphicFramePr><p:cNvPr id="6" name="Content Placeholder 5" /><p:cNvGraphicFramePr><a:graphicFrameLocks noGrp="1" /></p:cNvGraphicFramePr><p:nvPr><p:ph idx="1" /></p:nvPr></p:nvGraphicFramePr><p:xfrm><a:off x="6121400" y="660400" /><a:ext cx="2781300" cy="4470400" /></p:xfrm><a:graphic><a:graphicData uri="http://schemas.openxmlformats.org/drawingml/2006/table"><a:tbl><a:tblPr firstRow="1" bandRow="1"><a:tableStyleId>{5C22544A-7EE6-4342-B048-85BDC9FD1C3A}</a:tableStyleId></a:tblPr><a:tblGrid><a:gridCol w="685800" /><a:gridCol w="685800" /><a:gridCol w="685800" /><a:gridCol w="685800" /></a:tblGrid><a:tr h="0"><a:tc><a:txBody><a:bodyPr /><a:lstStyle /><a:p><a:pPr lvl="0" indent="0" marL="0" algn="l"><a:buNone /></a:pPr><a:r><a:rPr /><a:t>Source</a:t></a:r></a:p></a:txBody><a:tcPr /></a:tc><a:tc><a:txBody><a:bodyPr /><a:lstStyle /><a:p><a:pPr lvl="0" indent="0" marL="0" algn="l"><a:buNone /></a:pPr><a:r><a:rPr /><a:t>SS</a:t></a:r></a:p></a:txBody><a:tcPr /></a:tc><a:tc><a:txBody><a:bodyPr /><a:lstStyle /><a:p><a:pPr lvl="0" indent="0" marL="0" algn="l"><a:buNone /></a:pPr><a:r><a:rPr /><a:t>df</a:t></a:r></a:p></a:txBody><a:tcPr /></a:tc><a:tc><a:txBody><a:bodyPr /><a:lstStyle /><a:p><a:pPr lvl="0" indent="0" marL="0" algn="l"><a:buNone /></a:pPr><a:r><a:rPr /><a:t>MS</a:t></a:r></a:p></a:txBody><a:tcPr /></a:tc></a:tr><a:tr h="0"><a:tc><a:txBody><a:bodyPr /><a:lstStyle /><a:p><a:pPr lvl="0" indent="0" marL="0" algn="l"><a:buNone /></a:pPr><a:r><a:rPr /><a:t>Regression</a:t></a:r></a:p></a:txBody></a:tc><a:tc><a:txBody><a:bodyPr /><a:lstStyle /><a:p><a:pPr lvl="0" indent="0" marL="0" algn="l"><a:buNone /></a:pPr><a14:m><m:oMath xmlns:m="http://schemas.openxmlformats.org/officeDocument/2006/math"><m:r><m:rPr><m:sty m:val="p" /></m:rPr><m:t>∑</m:t></m:r><m:r><m:rPr><m:sty m:val="p" /></m:rPr><m:t>(</m:t></m:r><m:sSub><m:e><m:r><m:t>y</m:t></m:r></m:e><m:sub><m:r><m:t>i</m:t></m:r></m:sub></m:sSub><m:r><m:rPr><m:sty m:val="p" /></m:rPr><m:t>−</m:t></m:r><m:acc><m:accPr><m:chr m:val="‾" /></m:accPr><m:e><m:r><m:t>y</m:t></m:r></m:e></m:acc><m:sSup><m:e><m:r><m:rPr><m:sty m:val="p" /></m:rPr><m:t>)</m:t></m:r></m:e><m:sup><m:r><m:t>2</m:t></m:r></m:sup></m:sSup></m:oMath></a14:m></a:p></a:txBody></a:tc><a:tc><a:txBody><a:bodyPr /><a:lstStyle /><a:p><a:pPr lvl="0" indent="0" marL="0" algn="l"><a:buNone /></a:pPr><a14:m><m:oMath xmlns:m="http://schemas.openxmlformats.org/officeDocument/2006/math"><m:r><m:t>p</m:t></m:r></m:oMath></a14:m></a:p></a:txBody></a:tc><a:tc><a:txBody><a:bodyPr /><a:lstStyle /><a:p><a:pPr lvl="0" indent="0" marL="0" algn="l"><a:buNone /></a:pPr><a:r><a:rPr /><a:t>SS/df</a:t></a:r></a:p></a:txBody></a:tc></a:tr><a:tr h="0"><a:tc><a:txBody><a:bodyPr /><a:lstStyle /><a:p><a:pPr lvl="0" indent="0" marL="0" algn="l"><a:buNone /></a:pPr><a:r><a:rPr /><a:t>Residual</a:t></a:r></a:p></a:txBody></a:tc><a:tc><a:txBody><a:bodyPr /><a:lstStyle /><a:p><a:pPr lvl="0" indent="0" marL="0" algn="l"><a:buNone /></a:pPr><a14:m><m:oMath xmlns:m="http://schemas.openxmlformats.org/officeDocument/2006/math"><m:r><m:rPr><m:sty m:val="p" /></m:rPr><m:t>∑</m:t></m:r><m:r><m:rPr><m:sty m:val="p" /></m:rPr><m:t>(</m:t></m:r><m:sSub><m:e><m:r><m:t>y</m:t></m:r></m:e><m:sub><m:r><m:t>i</m:t></m:r></m:sub></m:sSub><m:r><m:rPr><m:sty m:val="p" /></m:rPr><m:t>−</m:t></m:r><m:sSub><m:e><m:acc><m:accPr><m:chr m:val="̂" /></m:accPr><m:e><m:r><m:t>y</m:t></m:r></m:e></m:acc></m:e><m:sub><m:r><m:t>i</m:t></m:r></m:sub></m:sSub><m:sSup><m:e><m:r><m:rPr><m:sty m:val="p" /></m:rPr><m:t>)</m:t></m:r></m:e><m:sup><m:r><m:t>2</m:t></m:r></m:sup></m:sSup></m:oMath></a14:m></a:p></a:txBody></a:tc><a:tc><a:txBody><a:bodyPr /><a:lstStyle /><a:p><a:pPr lvl="0" indent="0" marL="0" algn="l"><a:buNone /></a:pPr><a14:m><m:oMath xmlns:m="http://schemas.openxmlformats.org/officeDocument/2006/math"><m:r><m:t>n</m:t></m:r><m:r><m:rPr><m:sty m:val="p" /></m:rPr><m:t>−</m:t></m:r><m:r><m:t>p</m:t></m:r><m:r><m:rPr><m:sty m:val="p" /></m:rPr><m:t>−</m:t></m:r><m:r><m:t>1</m:t></m:r></m:oMath></a14:m></a:p></a:txBody></a:tc><a:tc><a:txBody><a:bodyPr /><a:lstStyle /><a:p><a:pPr lvl="0" indent="0" marL="0" algn="l"><a:buNone /></a:pPr><a:r><a:rPr /><a:t>SS/df</a:t></a:r></a:p></a:txBody></a:tc></a:tr><a:tr h="0"><a:tc><a:txBody><a:bodyPr /><a:lstStyle /><a:p><a:pPr lvl="0" indent="0" marL="0" algn="l"><a:buNone /></a:pPr><a:r><a:rPr /><a:t>Total</a:t></a:r></a:p></a:txBody></a:tc><a:tc><a:txBody><a:bodyPr /><a:lstStyle /><a:p><a:pPr lvl="0" indent="0" marL="0" algn="l"><a:buNone /></a:pPr><a14:m><m:oMath xmlns:m="http://schemas.openxmlformats.org/officeDocument/2006/math"><m:r><m:rPr><m:sty m:val="p" /></m:rPr><m:t>∑</m:t></m:r><m:r><m:rPr><m:sty m:val="p" /></m:rPr><m:t>(</m:t></m:r><m:sSub><m:e><m:r><m:t>y</m:t></m:r></m:e><m:sub><m:r><m:t>i</m:t></m:r></m:sub></m:sSub><m:r><m:rPr><m:sty m:val="p" /></m:rPr><m:t>−</m:t></m:r><m:acc><m:accPr><m:chr m:val="‾" /></m:accPr><m:e><m:r><m:t>y</m:t></m:r></m:e></m:acc><m:sSup><m:e><m:r><m:rPr><m:sty m:val="p" /></m:rPr><m:t>)</m:t></m:r></m:e><m:sup><m:r><m:t>2</m:t></m:r></m:sup></m:sSup></m:oMath></a14:m></a:p></a:txBody></a:tc><a:tc><a:txBody><a:bodyPr /><a:lstStyle /><a:p><a:pPr lvl="0" indent="0" marL="0" algn="l"><a:buNone /></a:pPr><a14:m><m:oMath xmlns:m="http://schemas.openxmlformats.org/officeDocument/2006/math"><m:r><m:t>n</m:t></m:r><m:r><m:rPr><m:sty m:val="p" /></m:rPr><m:t>−</m:t></m:r><m:r><m:t>1</m:t></m:r></m:oMath></a14:m></a:p></a:txBody></a:tc><a:tc><a:txBody><a:bodyPr /><a:lstStyle /><a:p><a:endParaRPr /></a:p></a:txBody></a:tc></a:tr></a:tbl></a:graphicData></a:graphic></p:graphicFrame></p:spTree></p:cSld></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Hypotheses — the “Basic” Test</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Two null hypotheses are usually tested in MLR. The “basic” H₀: all partial regression slopes equal 0; β₁ = β₂ = … = βₚ = 0.</a:t>
                </a:r>
              </a:p>
              <a:p>
                <a:pPr lvl="0"/>
                <a:r>
                  <a:rPr/>
                  <a:t>If the “basic” H₀ is true, </a:t>
                </a:r>
                <a14:m>
                  <m:oMath xmlns:m="http://schemas.openxmlformats.org/officeDocument/2006/math">
                    <m:r>
                      <m:t>M</m:t>
                    </m:r>
                    <m:sSub>
                      <m:e>
                        <m:r>
                          <m:t>S</m:t>
                        </m:r>
                      </m:e>
                      <m:sub>
                        <m:r>
                          <m:t>r</m:t>
                        </m:r>
                        <m:r>
                          <m:t>e</m:t>
                        </m:r>
                        <m:r>
                          <m:t>g</m:t>
                        </m:r>
                        <m:r>
                          <m:t>r</m:t>
                        </m:r>
                        <m:r>
                          <m:t>e</m:t>
                        </m:r>
                        <m:r>
                          <m:t>s</m:t>
                        </m:r>
                        <m:r>
                          <m:t>s</m:t>
                        </m:r>
                        <m:r>
                          <m:t>i</m:t>
                        </m:r>
                        <m:r>
                          <m:t>o</m:t>
                        </m:r>
                        <m:r>
                          <m:t>n</m:t>
                        </m:r>
                      </m:sub>
                    </m:sSub>
                  </m:oMath>
                </a14:m>
                <a:r>
                  <a:rPr/>
                  <a:t> and </a:t>
                </a:r>
                <a14:m>
                  <m:oMath xmlns:m="http://schemas.openxmlformats.org/officeDocument/2006/math">
                    <m:r>
                      <m:t>M</m:t>
                    </m:r>
                    <m:sSub>
                      <m:e>
                        <m:r>
                          <m:t>S</m:t>
                        </m:r>
                      </m:e>
                      <m:sub>
                        <m:r>
                          <m:t>r</m:t>
                        </m:r>
                        <m:r>
                          <m:t>e</m:t>
                        </m:r>
                        <m:r>
                          <m:t>s</m:t>
                        </m:r>
                        <m:r>
                          <m:t>i</m:t>
                        </m:r>
                        <m:r>
                          <m:t>d</m:t>
                        </m:r>
                        <m:r>
                          <m:t>u</m:t>
                        </m:r>
                        <m:r>
                          <m:t>a</m:t>
                        </m:r>
                        <m:r>
                          <m:t>l</m:t>
                        </m:r>
                      </m:sub>
                    </m:sSub>
                  </m:oMath>
                </a14:m>
                <a:r>
                  <a:rPr/>
                  <a:t> estimate the same variance, and their ratio (F-ratio) ≈ 1</a:t>
                </a:r>
              </a:p>
              <a:p>
                <a:pPr lvl="0"/>
                <a:r>
                  <a:rPr/>
                  <a:t>If the “basic” H₀ is false (at least one β ≠ 0), </a:t>
                </a:r>
                <a14:m>
                  <m:oMath xmlns:m="http://schemas.openxmlformats.org/officeDocument/2006/math">
                    <m:r>
                      <m:t>M</m:t>
                    </m:r>
                    <m:sSub>
                      <m:e>
                        <m:r>
                          <m:t>S</m:t>
                        </m:r>
                      </m:e>
                      <m:sub>
                        <m:r>
                          <m:t>r</m:t>
                        </m:r>
                        <m:r>
                          <m:t>e</m:t>
                        </m:r>
                        <m:r>
                          <m:t>g</m:t>
                        </m:r>
                        <m:r>
                          <m:t>r</m:t>
                        </m:r>
                        <m:r>
                          <m:t>e</m:t>
                        </m:r>
                        <m:r>
                          <m:t>s</m:t>
                        </m:r>
                        <m:r>
                          <m:t>s</m:t>
                        </m:r>
                        <m:r>
                          <m:t>i</m:t>
                        </m:r>
                        <m:r>
                          <m:t>o</m:t>
                        </m:r>
                        <m:r>
                          <m:t>n</m:t>
                        </m:r>
                      </m:sub>
                    </m:sSub>
                  </m:oMath>
                </a14:m>
                <a:r>
                  <a:rPr/>
                  <a:t> estimates variance + partial regression slope effects, and the F-ratio will be &gt; 1 — compared to the F-distribution for a p-value</a:t>
                </a:r>
              </a:p>
            </p:txBody>
          </p:sp>
        </mc:Choice>
      </mc:AlternateContent>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Reference</a:t>
            </a:r>
          </a:p>
          <a:p>
            <a:pPr lvl="0" indent="0" marL="1270000">
              <a:buNone/>
            </a:pPr>
            <a:r>
              <a:rPr sz="2000"/>
              <a:t>Gotelli &amp; Ellison, Ch. 9, covers this F-test framework for multiple regression in detail.</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Hypotheses — Testing One Specific β</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Also: is any </a:t>
                </a:r>
                <a:r>
                  <a:rPr i="1"/>
                  <a:t>specific</a:t>
                </a:r>
                <a:r>
                  <a:rPr/>
                  <a:t> β = 0 (explanatory role)?</a:t>
                </a:r>
              </a:p>
              <a:p>
                <a:pPr lvl="0"/>
                <a:r>
                  <a:rPr/>
                  <a:t>E.g., does latitude have an effect on ant species?</a:t>
                </a:r>
              </a:p>
              <a:p>
                <a:pPr lvl="0"/>
                <a:r>
                  <a:rPr/>
                  <a:t>These H’s are tested through model comparison</a:t>
                </a:r>
              </a:p>
              <a:p>
                <a:pPr lvl="0"/>
                <a:r>
                  <a:rPr b="1"/>
                  <a:t>Model 1</a:t>
                </a:r>
                <a:r>
                  <a:rPr/>
                  <a:t> — with 2 predictors X₁, X₂: </a:t>
                </a:r>
                <a14:m>
                  <m:oMath xmlns:m="http://schemas.openxmlformats.org/officeDocument/2006/math">
                    <m:sSub>
                      <m:e>
                        <m:r>
                          <m:t>y</m:t>
                        </m:r>
                      </m:e>
                      <m:sub>
                        <m:r>
                          <m:t>i</m:t>
                        </m:r>
                      </m:sub>
                    </m:sSub>
                    <m:r>
                      <m:rPr>
                        <m:sty m:val="p"/>
                      </m:rPr>
                      <m:t>=</m:t>
                    </m:r>
                    <m:sSub>
                      <m:e>
                        <m:r>
                          <m:t>β</m:t>
                        </m:r>
                      </m:e>
                      <m:sub>
                        <m:r>
                          <m:t>0</m:t>
                        </m:r>
                      </m:sub>
                    </m:sSub>
                    <m:r>
                      <m:rPr>
                        <m:sty m:val="p"/>
                      </m:rPr>
                      <m:t>+</m:t>
                    </m:r>
                    <m:sSub>
                      <m:e>
                        <m:r>
                          <m:t>β</m:t>
                        </m:r>
                      </m:e>
                      <m:sub>
                        <m:r>
                          <m:t>1</m:t>
                        </m:r>
                      </m:sub>
                    </m:sSub>
                    <m:sSub>
                      <m:e>
                        <m:r>
                          <m:t>x</m:t>
                        </m:r>
                      </m:e>
                      <m:sub>
                        <m:r>
                          <m:t>i</m:t>
                        </m:r>
                        <m:r>
                          <m:t>1</m:t>
                        </m:r>
                      </m:sub>
                    </m:sSub>
                    <m:r>
                      <m:rPr>
                        <m:sty m:val="p"/>
                      </m:rPr>
                      <m:t>+</m:t>
                    </m:r>
                    <m:sSub>
                      <m:e>
                        <m:r>
                          <m:t>β</m:t>
                        </m:r>
                      </m:e>
                      <m:sub>
                        <m:r>
                          <m:t>2</m:t>
                        </m:r>
                      </m:sub>
                    </m:sSub>
                    <m:sSub>
                      <m:e>
                        <m:r>
                          <m:t>x</m:t>
                        </m:r>
                      </m:e>
                      <m:sub>
                        <m:r>
                          <m:t>i</m:t>
                        </m:r>
                        <m:r>
                          <m:t>2</m:t>
                        </m:r>
                      </m:sub>
                    </m:sSub>
                    <m:r>
                      <m:rPr>
                        <m:sty m:val="p"/>
                      </m:rPr>
                      <m:t>+</m:t>
                    </m:r>
                    <m:sSub>
                      <m:e>
                        <m:r>
                          <m:t>ϵ</m:t>
                        </m:r>
                      </m:e>
                      <m:sub>
                        <m:r>
                          <m:t>i</m:t>
                        </m:r>
                      </m:sub>
                    </m:sSub>
                  </m:oMath>
                </a14:m>
              </a:p>
              <a:p>
                <a:pPr lvl="0"/>
                <a:r>
                  <a:rPr b="1"/>
                  <a:t>Model 2</a:t>
                </a:r>
                <a:r>
                  <a:rPr/>
                  <a:t> — to test H₀ that β₂ = 0, compare the fit of Model 1 to Model 2 with 1 predictor: </a:t>
                </a:r>
                <a14:m>
                  <m:oMath xmlns:m="http://schemas.openxmlformats.org/officeDocument/2006/math">
                    <m:sSub>
                      <m:e>
                        <m:r>
                          <m:t>y</m:t>
                        </m:r>
                      </m:e>
                      <m:sub>
                        <m:r>
                          <m:t>i</m:t>
                        </m:r>
                      </m:sub>
                    </m:sSub>
                    <m:r>
                      <m:rPr>
                        <m:sty m:val="p"/>
                      </m:rPr>
                      <m:t>=</m:t>
                    </m:r>
                    <m:sSub>
                      <m:e>
                        <m:r>
                          <m:t>β</m:t>
                        </m:r>
                      </m:e>
                      <m:sub>
                        <m:r>
                          <m:t>0</m:t>
                        </m:r>
                      </m:sub>
                    </m:sSub>
                    <m:r>
                      <m:rPr>
                        <m:sty m:val="p"/>
                      </m:rPr>
                      <m:t>+</m:t>
                    </m:r>
                    <m:sSub>
                      <m:e>
                        <m:r>
                          <m:t>β</m:t>
                        </m:r>
                      </m:e>
                      <m:sub>
                        <m:r>
                          <m:t>1</m:t>
                        </m:r>
                      </m:sub>
                    </m:sSub>
                    <m:sSub>
                      <m:e>
                        <m:r>
                          <m:t>x</m:t>
                        </m:r>
                      </m:e>
                      <m:sub>
                        <m:r>
                          <m:t>i</m:t>
                        </m:r>
                        <m:r>
                          <m:t>1</m:t>
                        </m:r>
                      </m:sub>
                    </m:sSub>
                    <m:r>
                      <m:rPr>
                        <m:sty m:val="p"/>
                      </m:rPr>
                      <m:t>+</m:t>
                    </m:r>
                    <m:sSub>
                      <m:e>
                        <m:r>
                          <m:t>ϵ</m:t>
                        </m:r>
                      </m:e>
                      <m:sub>
                        <m:r>
                          <m:t>i</m:t>
                        </m:r>
                      </m:sub>
                    </m:sSub>
                  </m:oMath>
                </a14:m>
              </a:p>
            </p:txBody>
          </p:sp>
        </mc:Choice>
      </mc:AlternateContent>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Notice</a:t>
            </a:r>
          </a:p>
          <a:p>
            <a:pPr lvl="0" indent="0" marL="1270000">
              <a:buNone/>
            </a:pPr>
            <a:r>
              <a:rPr sz="2000"/>
              <a:t>This is a preview of the model-comparison approach we’ll use throughout this lecture — fit two nested models and compare their fit.</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Hypotheses — the Partial F-Test</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If </a:t>
                </a:r>
                <a14:m>
                  <m:oMath xmlns:m="http://schemas.openxmlformats.org/officeDocument/2006/math">
                    <m:r>
                      <m:t>S</m:t>
                    </m:r>
                    <m:sSub>
                      <m:e>
                        <m:r>
                          <m:t>S</m:t>
                        </m:r>
                      </m:e>
                      <m:sub>
                        <m:r>
                          <m:t>r</m:t>
                        </m:r>
                        <m:r>
                          <m:t>e</m:t>
                        </m:r>
                        <m:r>
                          <m:t>g</m:t>
                        </m:r>
                        <m:r>
                          <m:t>r</m:t>
                        </m:r>
                        <m:r>
                          <m:t>e</m:t>
                        </m:r>
                        <m:r>
                          <m:t>s</m:t>
                        </m:r>
                        <m:r>
                          <m:t>s</m:t>
                        </m:r>
                        <m:r>
                          <m:t>i</m:t>
                        </m:r>
                        <m:r>
                          <m:t>o</m:t>
                        </m:r>
                        <m:r>
                          <m:t>n</m:t>
                        </m:r>
                      </m:sub>
                    </m:sSub>
                  </m:oMath>
                </a14:m>
                <a:r>
                  <a:rPr/>
                  <a:t> of model 1 = model 2, we cannot reject H₀: β₁ = 0 — adding X₂ did not explain any additional variance</a:t>
                </a:r>
              </a:p>
              <a:p>
                <a:pPr lvl="0"/>
                <a:r>
                  <a:rPr/>
                  <a:t>If </a:t>
                </a:r>
                <a14:m>
                  <m:oMath xmlns:m="http://schemas.openxmlformats.org/officeDocument/2006/math">
                    <m:r>
                      <m:t>S</m:t>
                    </m:r>
                    <m:sSub>
                      <m:e>
                        <m:r>
                          <m:t>S</m:t>
                        </m:r>
                      </m:e>
                      <m:sub>
                        <m:r>
                          <m:t>r</m:t>
                        </m:r>
                        <m:r>
                          <m:t>e</m:t>
                        </m:r>
                        <m:r>
                          <m:t>g</m:t>
                        </m:r>
                        <m:r>
                          <m:t>r</m:t>
                        </m:r>
                        <m:r>
                          <m:t>e</m:t>
                        </m:r>
                        <m:r>
                          <m:t>s</m:t>
                        </m:r>
                        <m:r>
                          <m:t>s</m:t>
                        </m:r>
                        <m:r>
                          <m:t>i</m:t>
                        </m:r>
                        <m:r>
                          <m:t>o</m:t>
                        </m:r>
                        <m:r>
                          <m:t>n</m:t>
                        </m:r>
                      </m:sub>
                    </m:sSub>
                  </m:oMath>
                </a14:m>
                <a:r>
                  <a:rPr/>
                  <a:t> of model 1 &gt; model 2, there’s evidence to reject H₀: β₂ = 0 — adding X₂ explains more variance</a:t>
                </a:r>
              </a:p>
              <a:p>
                <a:pPr lvl="0"/>
                <a:r>
                  <a:rPr/>
                  <a:t>SS for β₂ is </a:t>
                </a:r>
                <a14:m>
                  <m:oMath xmlns:m="http://schemas.openxmlformats.org/officeDocument/2006/math">
                    <m:r>
                      <m:t>S</m:t>
                    </m:r>
                    <m:sSub>
                      <m:e>
                        <m:r>
                          <m:t>S</m:t>
                        </m:r>
                      </m:e>
                      <m:sub>
                        <m:r>
                          <m:t>e</m:t>
                        </m:r>
                        <m:r>
                          <m:t>x</m:t>
                        </m:r>
                        <m:r>
                          <m:t>t</m:t>
                        </m:r>
                        <m:r>
                          <m:t>r</m:t>
                        </m:r>
                        <m:r>
                          <m:t>a</m:t>
                        </m:r>
                        <m:r>
                          <m:rPr>
                            <m:sty m:val="p"/>
                          </m:rPr>
                          <m:t>,</m:t>
                        </m:r>
                        <m:sSub>
                          <m:e>
                            <m:r>
                              <m:t>β</m:t>
                            </m:r>
                          </m:e>
                          <m:sub>
                            <m:r>
                              <m:t>2</m:t>
                            </m:r>
                          </m:sub>
                        </m:sSub>
                      </m:sub>
                    </m:sSub>
                  </m:oMath>
                </a14:m>
                <a:r>
                  <a:rPr/>
                  <a:t> = Full </a:t>
                </a:r>
                <a14:m>
                  <m:oMath xmlns:m="http://schemas.openxmlformats.org/officeDocument/2006/math">
                    <m:r>
                      <m:t>S</m:t>
                    </m:r>
                    <m:sSub>
                      <m:e>
                        <m:r>
                          <m:t>S</m:t>
                        </m:r>
                      </m:e>
                      <m:sub>
                        <m:r>
                          <m:t>r</m:t>
                        </m:r>
                        <m:r>
                          <m:t>e</m:t>
                        </m:r>
                        <m:r>
                          <m:t>g</m:t>
                        </m:r>
                        <m:r>
                          <m:t>r</m:t>
                        </m:r>
                        <m:r>
                          <m:t>e</m:t>
                        </m:r>
                        <m:r>
                          <m:t>s</m:t>
                        </m:r>
                        <m:r>
                          <m:t>s</m:t>
                        </m:r>
                        <m:r>
                          <m:t>i</m:t>
                        </m:r>
                        <m:r>
                          <m:t>o</m:t>
                        </m:r>
                        <m:r>
                          <m:t>n</m:t>
                        </m:r>
                      </m:sub>
                    </m:sSub>
                  </m:oMath>
                </a14:m>
                <a:r>
                  <a:rPr/>
                  <a:t> − Reduced </a:t>
                </a:r>
                <a14:m>
                  <m:oMath xmlns:m="http://schemas.openxmlformats.org/officeDocument/2006/math">
                    <m:r>
                      <m:t>S</m:t>
                    </m:r>
                    <m:sSub>
                      <m:e>
                        <m:r>
                          <m:t>S</m:t>
                        </m:r>
                      </m:e>
                      <m:sub>
                        <m:r>
                          <m:t>r</m:t>
                        </m:r>
                        <m:r>
                          <m:t>e</m:t>
                        </m:r>
                        <m:r>
                          <m:t>g</m:t>
                        </m:r>
                        <m:r>
                          <m:t>r</m:t>
                        </m:r>
                        <m:r>
                          <m:t>e</m:t>
                        </m:r>
                        <m:r>
                          <m:t>s</m:t>
                        </m:r>
                        <m:r>
                          <m:t>s</m:t>
                        </m:r>
                        <m:r>
                          <m:t>i</m:t>
                        </m:r>
                        <m:r>
                          <m:t>o</m:t>
                        </m:r>
                        <m:r>
                          <m:t>n</m:t>
                        </m:r>
                      </m:sub>
                    </m:sSub>
                  </m:oMath>
                </a14:m>
                <a:r>
                  <a:rPr/>
                  <a:t> — this quantifies how much additional variance X₂ explains</a:t>
                </a:r>
              </a:p>
              <a:p>
                <a:pPr lvl="0"/>
                <a:r>
                  <a:rPr/>
                  <a:t>Use a partial F-test to test H₀: β₂ = 0:</a:t>
                </a:r>
              </a:p>
              <a:p>
                <a:pPr lvl="0" indent="0" marL="0">
                  <a:buNone/>
                </a:pPr>
                <a14:m>
                  <m:oMathPara xmlns:m="http://schemas.openxmlformats.org/officeDocument/2006/math">
                    <m:oMathParaPr>
                      <m:jc m:val="center"/>
                    </m:oMathParaPr>
                    <m:oMath>
                      <m:sSub>
                        <m:e>
                          <m:r>
                            <m:t>F</m:t>
                          </m:r>
                        </m:e>
                        <m:sub>
                          <m:r>
                            <m:t>1</m:t>
                          </m:r>
                          <m:r>
                            <m:rPr>
                              <m:sty m:val="p"/>
                            </m:rPr>
                            <m:t>,</m:t>
                          </m:r>
                          <m:r>
                            <m:t>n</m:t>
                          </m:r>
                          <m:r>
                            <m:rPr>
                              <m:sty m:val="p"/>
                            </m:rPr>
                            <m:t>−</m:t>
                          </m:r>
                          <m:r>
                            <m:t>p</m:t>
                          </m:r>
                        </m:sub>
                      </m:sSub>
                      <m:r>
                        <m:rPr>
                          <m:sty m:val="p"/>
                        </m:rPr>
                        <m:t>=</m:t>
                      </m:r>
                      <m:f>
                        <m:fPr>
                          <m:type m:val="bar"/>
                        </m:fPr>
                        <m:num>
                          <m:r>
                            <m:t>M</m:t>
                          </m:r>
                          <m:sSub>
                            <m:e>
                              <m:r>
                                <m:t>S</m:t>
                              </m:r>
                            </m:e>
                            <m:sub>
                              <m:r>
                                <m:t>E</m:t>
                              </m:r>
                              <m:r>
                                <m:t>x</m:t>
                              </m:r>
                              <m:r>
                                <m:t>t</m:t>
                              </m:r>
                              <m:r>
                                <m:t>r</m:t>
                              </m:r>
                              <m:r>
                                <m:t>a</m:t>
                              </m:r>
                            </m:sub>
                          </m:sSub>
                        </m:num>
                        <m:den>
                          <m:r>
                            <m:t>F</m:t>
                          </m:r>
                          <m:r>
                            <m:t>u</m:t>
                          </m:r>
                          <m:r>
                            <m:t>l</m:t>
                          </m:r>
                          <m:r>
                            <m:t>l</m:t>
                          </m:r>
                          <m:r>
                            <m:t> </m:t>
                          </m:r>
                          <m:r>
                            <m:t>M</m:t>
                          </m:r>
                          <m:sSub>
                            <m:e>
                              <m:r>
                                <m:t>S</m:t>
                              </m:r>
                            </m:e>
                            <m:sub>
                              <m:r>
                                <m:t>R</m:t>
                              </m:r>
                              <m:r>
                                <m:t>e</m:t>
                              </m:r>
                              <m:r>
                                <m:t>s</m:t>
                              </m:r>
                              <m:r>
                                <m:t>i</m:t>
                              </m:r>
                              <m:r>
                                <m:t>d</m:t>
                              </m:r>
                              <m:r>
                                <m:t>u</m:t>
                              </m:r>
                              <m:r>
                                <m:t>a</m:t>
                              </m:r>
                              <m:r>
                                <m:t>l</m:t>
                              </m:r>
                            </m:sub>
                          </m:sSub>
                        </m:den>
                      </m:f>
                    </m:oMath>
                  </m:oMathPara>
                </a14:m>
              </a:p>
            </p:txBody>
          </p:sp>
        </mc:Choice>
      </mc:AlternateContent>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Notice</a:t>
            </a:r>
          </a:p>
          <a:p>
            <a:pPr lvl="0" indent="0" marL="1270000">
              <a:buNone/>
            </a:pPr>
            <a:r>
              <a:rPr sz="2000"/>
              <a:t>R also gives you a t-test for each coefficient that answers exactly this same question — you rarely need to run the partial F-test by hand.</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Explained Variance</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Explained variance (r²) is calculated the same way as for simple regression:</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S</m:t>
                          </m:r>
                          <m:sSub>
                            <m:e>
                              <m:r>
                                <m:t>S</m:t>
                              </m:r>
                            </m:e>
                            <m:sub>
                              <m:r>
                                <m:t>R</m:t>
                              </m:r>
                              <m:r>
                                <m:t>e</m:t>
                              </m:r>
                              <m:r>
                                <m:t>g</m:t>
                              </m:r>
                              <m:r>
                                <m:t>r</m:t>
                              </m:r>
                              <m:r>
                                <m:t>e</m:t>
                              </m:r>
                              <m:r>
                                <m:t>s</m:t>
                              </m:r>
                              <m:r>
                                <m:t>s</m:t>
                              </m:r>
                              <m:r>
                                <m:t>i</m:t>
                              </m:r>
                              <m:r>
                                <m:t>o</m:t>
                              </m:r>
                              <m:r>
                                <m:t>n</m:t>
                              </m:r>
                            </m:sub>
                          </m:sSub>
                        </m:num>
                        <m:den>
                          <m:r>
                            <m:t>S</m:t>
                          </m:r>
                          <m:sSub>
                            <m:e>
                              <m:r>
                                <m:t>S</m:t>
                              </m:r>
                            </m:e>
                            <m:sub>
                              <m:r>
                                <m:t>T</m:t>
                              </m:r>
                              <m:r>
                                <m:t>o</m:t>
                              </m:r>
                              <m:r>
                                <m:t>t</m:t>
                              </m:r>
                              <m:r>
                                <m:t>a</m:t>
                              </m:r>
                              <m:r>
                                <m:t>l</m:t>
                              </m:r>
                            </m:sub>
                          </m:sSub>
                        </m:den>
                      </m:f>
                      <m:r>
                        <m:rPr>
                          <m:sty m:val="p"/>
                        </m:rPr>
                        <m:t>=</m:t>
                      </m:r>
                      <m:r>
                        <m:t>1</m:t>
                      </m:r>
                      <m:r>
                        <m:rPr>
                          <m:sty m:val="p"/>
                        </m:rPr>
                        <m:t>−</m:t>
                      </m:r>
                      <m:f>
                        <m:fPr>
                          <m:type m:val="bar"/>
                        </m:fPr>
                        <m:num>
                          <m:r>
                            <m:t>S</m:t>
                          </m:r>
                          <m:sSub>
                            <m:e>
                              <m:r>
                                <m:t>S</m:t>
                              </m:r>
                            </m:e>
                            <m:sub>
                              <m:r>
                                <m:t>R</m:t>
                              </m:r>
                              <m:r>
                                <m:t>e</m:t>
                              </m:r>
                              <m:r>
                                <m:t>s</m:t>
                              </m:r>
                              <m:r>
                                <m:t>i</m:t>
                              </m:r>
                              <m:r>
                                <m:t>d</m:t>
                              </m:r>
                              <m:r>
                                <m:t>u</m:t>
                              </m:r>
                              <m:r>
                                <m:t>a</m:t>
                              </m:r>
                              <m:r>
                                <m:t>l</m:t>
                              </m:r>
                            </m:sub>
                          </m:sSub>
                        </m:num>
                        <m:den>
                          <m:r>
                            <m:t>S</m:t>
                          </m:r>
                          <m:sSub>
                            <m:e>
                              <m:r>
                                <m:t>S</m:t>
                              </m:r>
                            </m:e>
                            <m:sub>
                              <m:r>
                                <m:t>T</m:t>
                              </m:r>
                              <m:r>
                                <m:t>o</m:t>
                              </m:r>
                              <m:r>
                                <m:t>t</m:t>
                              </m:r>
                              <m:r>
                                <m:t>a</m:t>
                              </m:r>
                              <m:r>
                                <m:t>l</m:t>
                              </m:r>
                            </m:sub>
                          </m:sSub>
                        </m:den>
                      </m:f>
                    </m:oMath>
                  </m:oMathPara>
                </a14:m>
              </a:p>
            </p:txBody>
          </p:sp>
        </mc:Choice>
      </mc:AlternateContent>
      <p:sp>
        <p:nvSpPr>
          <p:cNvPr id="4" name="Content Placeholder 3"/>
          <p:cNvSpPr>
            <a:spLocks noGrp="1"/>
          </p:cNvSpPr>
          <p:nvPr>
            <p:ph idx="2" sz="half"/>
          </p:nvPr>
        </p:nvSpPr>
        <p:spPr/>
        <p:txBody>
          <a:bodyPr/>
          <a:lstStyle/>
          <a:p>
            <a:pPr lvl="0" indent="0" marL="1270000">
              <a:buNone/>
            </a:pPr>
            <a:r>
              <a:rPr sz="2000" b="1"/>
              <a:t>Warning</a:t>
            </a:r>
          </a:p>
          <a:p>
            <a:pPr lvl="0" indent="0" marL="1270000">
              <a:buNone/>
            </a:pPr>
            <a:r>
              <a:rPr sz="2000" b="1"/>
              <a:t>⚠️ Watch out!</a:t>
            </a:r>
          </a:p>
          <a:p>
            <a:pPr lvl="0"/>
            <a:r>
              <a:rPr sz="2000"/>
              <a:t>r² values cannot be used to directly compare models with different numbers of predictors</a:t>
            </a:r>
          </a:p>
          <a:p>
            <a:pPr lvl="0"/>
            <a:r>
              <a:rPr sz="2000"/>
              <a:t>r² values will always increase as predictors are added, even useless ones</a:t>
            </a:r>
          </a:p>
          <a:p>
            <a:pPr lvl="0"/>
            <a:r>
              <a:rPr sz="2000"/>
              <a:t>r² values with different transformations of Y are not comparable</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Assumptions and Diagnostics</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Assumptions and Diagnostics — Outliers</a:t>
            </a:r>
          </a:p>
        </p:txBody>
      </p:sp>
      <p:sp>
        <p:nvSpPr>
          <p:cNvPr id="3" name="Text Placeholder 2"/>
          <p:cNvSpPr>
            <a:spLocks noGrp="1"/>
          </p:cNvSpPr>
          <p:nvPr>
            <p:ph idx="1" type="body"/>
          </p:nvPr>
        </p:nvSpPr>
        <p:spPr/>
        <p:txBody>
          <a:bodyPr/>
          <a:lstStyle/>
          <a:p>
            <a:pPr lvl="0"/>
            <a:r>
              <a:rPr/>
              <a:t>Assume fixed X’s — unrealistic in most biological settings, but a working assumption</a:t>
            </a:r>
          </a:p>
          <a:p>
            <a:pPr lvl="0"/>
            <a:r>
              <a:rPr/>
              <a:t>No major (influential) outliers</a:t>
            </a:r>
          </a:p>
          <a:p>
            <a:pPr lvl="0"/>
            <a:r>
              <a:rPr/>
              <a:t>Check leverage and influence with Cook’s Dᵢ</a:t>
            </a:r>
          </a:p>
        </p:txBody>
      </p:sp>
      <p:sp>
        <p:nvSpPr>
          <p:cNvPr id="5" name="Text Placeholder 4"/>
          <p:cNvSpPr>
            <a:spLocks noGrp="1"/>
          </p:cNvSpPr>
          <p:nvPr>
            <p:ph idx="3" sz="quarter" type="body"/>
          </p:nvPr>
        </p:nvSpPr>
        <p:spPr/>
        <p:txBody>
          <a:bodyPr/>
          <a:lstStyle/>
          <a:p>
            <a:pPr lvl="0" indent="0">
              <a:buNone/>
            </a:pPr>
            <a:r>
              <a:rPr>
                <a:solidFill>
                  <a:srgbClr val="4758AB"/>
                </a:solidFill>
                <a:latin typeface="Courier"/>
              </a:rPr>
              <a:t>plot</a:t>
            </a:r>
            <a:r>
              <a:rPr>
                <a:solidFill>
                  <a:srgbClr val="003B4F"/>
                </a:solidFill>
                <a:latin typeface="Courier"/>
              </a:rPr>
              <a:t>(ant_model, </a:t>
            </a:r>
            <a:r>
              <a:rPr>
                <a:solidFill>
                  <a:srgbClr val="657422"/>
                </a:solidFill>
                <a:latin typeface="Courier"/>
              </a:rPr>
              <a:t>which =</a:t>
            </a:r>
            <a:r>
              <a:rPr>
                <a:solidFill>
                  <a:srgbClr val="003B4F"/>
                </a:solidFill>
                <a:latin typeface="Courier"/>
              </a:rPr>
              <a:t> </a:t>
            </a:r>
            <a:r>
              <a:rPr>
                <a:solidFill>
                  <a:srgbClr val="AD0000"/>
                </a:solidFill>
                <a:latin typeface="Courier"/>
              </a:rPr>
              <a:t>4</a:t>
            </a:r>
            <a:r>
              <a:rPr>
                <a:solidFill>
                  <a:srgbClr val="003B4F"/>
                </a:solidFill>
                <a:latin typeface="Courier"/>
              </a:rPr>
              <a:t>)</a:t>
            </a:r>
          </a:p>
        </p:txBody>
      </p:sp>
      <p:pic>
        <p:nvPicPr>
          <p:cNvPr descr="multiple_regression_lecture_files/figure-pptx/multiple-regression-06-1.png" id="0" name="Picture 1"/>
          <p:cNvPicPr>
            <a:picLocks noGrp="1" noChangeAspect="1"/>
          </p:cNvPicPr>
          <p:nvPr/>
        </p:nvPicPr>
        <p:blipFill>
          <a:blip r:embed="rId2"/>
          <a:stretch>
            <a:fillRect/>
          </a:stretch>
        </p:blipFill>
        <p:spPr bwMode="auto">
          <a:xfrm>
            <a:off x="5029200" y="1295400"/>
            <a:ext cx="3479800" cy="32766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Assumptions and Diagnostics — Residuals</a:t>
            </a:r>
          </a:p>
        </p:txBody>
      </p:sp>
      <p:sp>
        <p:nvSpPr>
          <p:cNvPr id="3" name="Content Placeholder 2"/>
          <p:cNvSpPr>
            <a:spLocks noGrp="1"/>
          </p:cNvSpPr>
          <p:nvPr>
            <p:ph idx="1" sz="half"/>
          </p:nvPr>
        </p:nvSpPr>
        <p:spPr/>
        <p:txBody>
          <a:bodyPr/>
          <a:lstStyle/>
          <a:p>
            <a:pPr lvl="0"/>
            <a:r>
              <a:rPr/>
              <a:t>Normality, equal variance, independence</a:t>
            </a:r>
          </a:p>
          <a:p>
            <a:pPr lvl="0"/>
            <a:r>
              <a:rPr/>
              <a:t>Residual QQ-plots, residuals-vs-predicted-values plot</a:t>
            </a:r>
          </a:p>
          <a:p>
            <a:pPr lvl="0"/>
            <a:r>
              <a:rPr/>
              <a:t>Distribution/variance issues are often corrected by transforming Y</a:t>
            </a:r>
          </a:p>
        </p:txBody>
      </p:sp>
      <p:pic>
        <p:nvPicPr>
          <p:cNvPr descr="multiple_regression_lecture_files/figure-pptx/multiple-regression-07-1.png" id="0" name="Picture 1"/>
          <p:cNvPicPr>
            <a:picLocks noGrp="1" noChangeAspect="1"/>
          </p:cNvPicPr>
          <p:nvPr/>
        </p:nvPicPr>
        <p:blipFill>
          <a:blip r:embed="rId2"/>
          <a:stretch>
            <a:fillRect/>
          </a:stretch>
        </p:blipFill>
        <p:spPr bwMode="auto">
          <a:xfrm>
            <a:off x="6121400" y="1587500"/>
            <a:ext cx="2781300" cy="26162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Assumptions and Diagnostics — Sample Size and Collinearity</a:t>
            </a:r>
          </a:p>
        </p:txBody>
      </p:sp>
      <p:sp>
        <p:nvSpPr>
          <p:cNvPr id="3" name="Content Placeholder 2"/>
          <p:cNvSpPr>
            <a:spLocks noGrp="1"/>
          </p:cNvSpPr>
          <p:nvPr>
            <p:ph idx="1" sz="half"/>
          </p:nvPr>
        </p:nvSpPr>
        <p:spPr/>
        <p:txBody>
          <a:bodyPr/>
          <a:lstStyle/>
          <a:p>
            <a:pPr lvl="0"/>
            <a:r>
              <a:rPr b="1"/>
              <a:t>More observations than predictor variables</a:t>
            </a:r>
            <a:r>
              <a:rPr/>
              <a:t> — ideally at least </a:t>
            </a:r>
            <a:r>
              <a:rPr b="1"/>
              <a:t>10× observations than predictors</a:t>
            </a:r>
            <a:r>
              <a:rPr/>
              <a:t>, to avoid “overfitting.” 2 predictors = 20 observations, minimum!</a:t>
            </a:r>
          </a:p>
          <a:p>
            <a:pPr lvl="0"/>
            <a:r>
              <a:rPr b="1"/>
              <a:t>No collinearity</a:t>
            </a:r>
            <a:r>
              <a:rPr/>
              <a:t> — need uncorrelated predictor variables (assessed using a scatterplot matrix and VIFs)</a:t>
            </a:r>
          </a:p>
          <a:p>
            <a:pPr lvl="0"/>
            <a:r>
              <a:rPr b="1"/>
              <a:t>Each X has a linear relationship with Y after accounting for other predictors</a:t>
            </a:r>
            <a:r>
              <a:rPr/>
              <a:t> — checked with Added Variable (AV) plots, also called partial regression plots</a:t>
            </a:r>
          </a:p>
        </p:txBody>
      </p:sp>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AV plots in R</a:t>
            </a:r>
          </a:p>
          <a:p>
            <a:pPr lvl="0"/>
            <a:r>
              <a:rPr sz="2000"/>
              <a:t>All predictors: </a:t>
            </a:r>
            <a:r>
              <a:rPr sz="2000">
                <a:latin typeface="Courier"/>
              </a:rPr>
              <a:t>avPlots(ant_model)</a:t>
            </a:r>
          </a:p>
          <a:p>
            <a:pPr lvl="0"/>
            <a:r>
              <a:rPr sz="2000"/>
              <a:t>One predictor: </a:t>
            </a:r>
            <a:r>
              <a:rPr sz="2000">
                <a:latin typeface="Courier"/>
              </a:rPr>
              <a:t>avPlot(ant_model, variable = "elevation")</a:t>
            </a:r>
          </a:p>
          <a:p>
            <a:pPr lvl="0" indent="0" marL="1270000">
              <a:buNone/>
            </a:pPr>
            <a:r>
              <a:rPr sz="2000"/>
              <a:t>AV plots show the relationship between Y and X₁ after removing the linear effects of all other predictors.</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Why Not Just Regress Y on Each X Separately?</a:t>
            </a:r>
          </a:p>
        </p:txBody>
      </p:sp>
      <p:sp>
        <p:nvSpPr>
          <p:cNvPr id="3" name="Text Placeholder 2"/>
          <p:cNvSpPr>
            <a:spLocks noGrp="1"/>
          </p:cNvSpPr>
          <p:nvPr>
            <p:ph idx="1" type="body"/>
          </p:nvPr>
        </p:nvSpPr>
        <p:spPr/>
        <p:txBody>
          <a:bodyPr/>
          <a:lstStyle/>
          <a:p>
            <a:pPr lvl="0" indent="0" marL="0">
              <a:buNone/>
            </a:pPr>
            <a:r>
              <a:rPr/>
              <a:t>Regressing Y vs. each X separately does not consider the effect of other predictors — but we want to know the shape of the relationship while holding other predictors constant.</a:t>
            </a:r>
          </a:p>
          <a:p>
            <a:pPr lvl="0" indent="0" marL="0">
              <a:buNone/>
            </a:pPr>
            <a:r>
              <a:rPr b="1"/>
              <a:t>Compare the slopes:</a:t>
            </a:r>
          </a:p>
        </p:txBody>
      </p:sp>
      <p:graphicFrame>
        <p:nvGraphicFramePr>
          <p:cNvPr id="6" name="Content Placeholder 5"/>
          <p:cNvGraphicFramePr>
            <a:graphicFrameLocks noGrp="1"/>
          </p:cNvGraphicFramePr>
          <p:nvPr>
            <p:ph idx="1"/>
          </p:nvPr>
        </p:nvGraphicFramePr>
        <p:xfrm>
          <a:off x="127000" y="1270000"/>
          <a:ext cx="4432300" cy="3302000"/>
        </p:xfrm>
        <a:graphic>
          <a:graphicData uri="http://schemas.openxmlformats.org/drawingml/2006/table">
            <a:tbl>
              <a:tblPr firstRow="1" bandRow="1">
                <a:tableStyleId>{5C22544A-7EE6-4342-B048-85BDC9FD1C3A}</a:tableStyleId>
              </a:tblPr>
              <a:tblGrid>
                <a:gridCol w="1473200"/>
                <a:gridCol w="1473200"/>
                <a:gridCol w="1473200"/>
              </a:tblGrid>
              <a:tr h="0">
                <a:tc>
                  <a:txBody>
                    <a:bodyPr/>
                    <a:lstStyle/>
                    <a:p>
                      <a:pPr lvl="0" indent="0" marL="0">
                        <a:buNone/>
                      </a:pPr>
                      <a:r>
                        <a:rPr/>
                        <a:t>Predictor</a:t>
                      </a:r>
                    </a:p>
                  </a:txBody>
                  <a:tcPr/>
                </a:tc>
                <a:tc>
                  <a:txBody>
                    <a:bodyPr/>
                    <a:lstStyle/>
                    <a:p>
                      <a:pPr lvl="0" indent="0" marL="0">
                        <a:buNone/>
                      </a:pPr>
                      <a:r>
                        <a:rPr/>
                        <a:t>Alone</a:t>
                      </a:r>
                    </a:p>
                  </a:txBody>
                  <a:tcPr/>
                </a:tc>
                <a:tc>
                  <a:txBody>
                    <a:bodyPr/>
                    <a:lstStyle/>
                    <a:p>
                      <a:pPr lvl="0" indent="0" marL="0">
                        <a:buNone/>
                      </a:pPr>
                      <a:r>
                        <a:rPr/>
                        <a:t>Controlling for the other</a:t>
                      </a:r>
                    </a:p>
                  </a:txBody>
                  <a:tcPr/>
                </a:tc>
              </a:tr>
              <a:tr h="0">
                <a:tc>
                  <a:txBody>
                    <a:bodyPr/>
                    <a:lstStyle/>
                    <a:p>
                      <a:pPr lvl="0" indent="0" marL="0">
                        <a:buNone/>
                      </a:pPr>
                      <a:r>
                        <a:rPr/>
                        <a:t>elevation</a:t>
                      </a:r>
                    </a:p>
                  </a:txBody>
                </a:tc>
                <a:tc>
                  <a:txBody>
                    <a:bodyPr/>
                    <a:lstStyle/>
                    <a:p>
                      <a:pPr lvl="0" indent="0" marL="0">
                        <a:buNone/>
                      </a:pPr>
                      <a:r>
                        <a:rPr/>
                        <a:t>−0.0146</a:t>
                      </a:r>
                    </a:p>
                  </a:txBody>
                </a:tc>
                <a:tc>
                  <a:txBody>
                    <a:bodyPr/>
                    <a:lstStyle/>
                    <a:p>
                      <a:pPr lvl="0" indent="0" marL="0">
                        <a:buNone/>
                      </a:pPr>
                      <a:r>
                        <a:rPr b="1"/>
                        <a:t>−0.0123</a:t>
                      </a:r>
                    </a:p>
                  </a:txBody>
                </a:tc>
              </a:tr>
              <a:tr h="0">
                <a:tc>
                  <a:txBody>
                    <a:bodyPr/>
                    <a:lstStyle/>
                    <a:p>
                      <a:pPr lvl="0" indent="0" marL="0">
                        <a:buNone/>
                      </a:pPr>
                      <a:r>
                        <a:rPr/>
                        <a:t>latitude</a:t>
                      </a:r>
                    </a:p>
                  </a:txBody>
                </a:tc>
                <a:tc>
                  <a:txBody>
                    <a:bodyPr/>
                    <a:lstStyle/>
                    <a:p>
                      <a:pPr lvl="0" indent="0" marL="0">
                        <a:buNone/>
                      </a:pPr>
                      <a:r>
                        <a:rPr/>
                        <a:t>−2.340</a:t>
                      </a:r>
                    </a:p>
                  </a:txBody>
                </a:tc>
                <a:tc>
                  <a:txBody>
                    <a:bodyPr/>
                    <a:lstStyle/>
                    <a:p>
                      <a:pPr lvl="0" indent="0" marL="0">
                        <a:buNone/>
                      </a:pPr>
                      <a:r>
                        <a:rPr b="1"/>
                        <a:t>−2.010</a:t>
                      </a:r>
                    </a:p>
                  </a:txBody>
                </a:tc>
              </a:tr>
            </a:tbl>
          </a:graphicData>
        </a:graphic>
      </p:graphicFrame>
      <p:sp>
        <p:nvSpPr>
          <p:cNvPr id="4" name="Content Placeholder 3"/>
          <p:cNvSpPr>
            <a:spLocks noGrp="1"/>
          </p:cNvSpPr>
          <p:nvPr>
            <p:ph idx="2" sz="half"/>
          </p:nvPr>
        </p:nvSpPr>
        <p:spPr/>
        <p:txBody>
          <a:bodyPr/>
          <a:lstStyle/>
          <a:p>
            <a:pPr lvl="0" indent="0" marL="0">
              <a:buNone/>
            </a:pPr>
            <a:r>
              <a:rPr/>
              <a:t>Both shrink a little once the other predictor is in the model — each was taking a small amount of credit that belonged to the other.</a:t>
            </a:r>
          </a:p>
          <a:p>
            <a:pPr lvl="0" indent="0" marL="1270000">
              <a:buNone/>
            </a:pPr>
            <a:r>
              <a:rPr sz="2000" b="1"/>
              <a:t>Note</a:t>
            </a:r>
          </a:p>
          <a:p>
            <a:pPr lvl="0" indent="0" marL="1270000">
              <a:buNone/>
            </a:pPr>
            <a:r>
              <a:rPr sz="2000" b="1"/>
              <a:t>✅ Why only “a little” here?</a:t>
            </a:r>
          </a:p>
          <a:p>
            <a:pPr lvl="0" indent="0" marL="1270000">
              <a:buNone/>
            </a:pPr>
            <a:r>
              <a:rPr sz="2000"/>
              <a:t>Because elevation and latitude are </a:t>
            </a:r>
            <a:r>
              <a:rPr sz="2000" b="1"/>
              <a:t>nearly independent</a:t>
            </a:r>
            <a:r>
              <a:rPr sz="2000"/>
              <a:t> in these data (r = 0.18). When predictors </a:t>
            </a:r>
            <a:r>
              <a:rPr sz="2000" i="1"/>
              <a:t>are</a:t>
            </a:r>
            <a:r>
              <a:rPr sz="2000"/>
              <a:t> strongly correlated, the same comparison can change a slope’s size dramatically — or even flip its sign.</a:t>
            </a:r>
          </a:p>
        </p:txBody>
      </p:sp>
      <p:pic>
        <p:nvPicPr>
          <p:cNvPr descr="multiple_regression_lecture_files/figure-pptx/multiple-regression-08-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Collinearity</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Collinearity — the Problem</a:t>
            </a:r>
          </a:p>
        </p:txBody>
      </p:sp>
      <p:sp>
        <p:nvSpPr>
          <p:cNvPr id="3" name="Content Placeholder 2"/>
          <p:cNvSpPr>
            <a:spLocks noGrp="1"/>
          </p:cNvSpPr>
          <p:nvPr>
            <p:ph idx="1" sz="half"/>
          </p:nvPr>
        </p:nvSpPr>
        <p:spPr/>
        <p:txBody>
          <a:bodyPr/>
          <a:lstStyle/>
          <a:p>
            <a:pPr lvl="0"/>
            <a:r>
              <a:rPr/>
              <a:t>Potential predictor variables are often correlated (e.g., morphometrics, nutrients, climatic parameters)</a:t>
            </a:r>
          </a:p>
          <a:p>
            <a:pPr lvl="0"/>
            <a:r>
              <a:rPr/>
              <a:t>Multicollinearity (strong correlation between predictors) causes problems for parameter estimates</a:t>
            </a:r>
          </a:p>
          <a:p>
            <a:pPr lvl="0"/>
            <a:r>
              <a:rPr/>
              <a:t>Severe collinearity causes unstable parameter estimates — a small change in a single value can result in large changes in βₚ estimates</a:t>
            </a:r>
          </a:p>
          <a:p>
            <a:pPr lvl="0"/>
            <a:r>
              <a:rPr/>
              <a:t>Inflates partial-slope error estimates, and causes a loss of power</a:t>
            </a:r>
          </a:p>
        </p:txBody>
      </p:sp>
      <p:sp>
        <p:nvSpPr>
          <p:cNvPr id="4" name="Content Placeholder 3"/>
          <p:cNvSpPr>
            <a:spLocks noGrp="1"/>
          </p:cNvSpPr>
          <p:nvPr>
            <p:ph idx="2" sz="half"/>
          </p:nvPr>
        </p:nvSpPr>
        <p:spPr/>
        <p:txBody>
          <a:bodyPr/>
          <a:lstStyle/>
          <a:p>
            <a:pPr lvl="0" indent="0">
              <a:buNone/>
            </a:pPr>
            <a:r>
              <a:rPr>
                <a:latin typeface="Courier"/>
              </a:rPr>
              <a:t>           elevation   latitude    ant_spp
elevation  1.0000000  0.1787454 -0.5545244
latitude   0.1787454  1.0000000 -0.5879407
ant_spp   -0.5545244 -0.5879407  1.0000000</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Collinearity — Detecting It</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Collinearity can be detected by:</a:t>
                </a:r>
              </a:p>
              <a:p>
                <a:pPr lvl="0"/>
                <a:r>
                  <a:rPr b="1"/>
                  <a:t>Variance Inflation Factors (VIF):</a:t>
                </a:r>
              </a:p>
              <a:p>
                <a:pPr lvl="0" indent="0" marL="0">
                  <a:buNone/>
                </a:pPr>
                <a14:m>
                  <m:oMathPara xmlns:m="http://schemas.openxmlformats.org/officeDocument/2006/math">
                    <m:oMathParaPr>
                      <m:jc m:val="center"/>
                    </m:oMathParaPr>
                    <m:oMath>
                      <m:r>
                        <m:t>V</m:t>
                      </m:r>
                      <m:r>
                        <m:t>I</m:t>
                      </m:r>
                      <m:sSub>
                        <m:e>
                          <m:r>
                            <m:t>F</m:t>
                          </m:r>
                        </m:e>
                        <m:sub>
                          <m:sSub>
                            <m:e>
                              <m:r>
                                <m:t>X</m:t>
                              </m:r>
                            </m:e>
                            <m:sub>
                              <m:r>
                                <m:t>j</m:t>
                              </m:r>
                            </m:sub>
                          </m:sSub>
                        </m:sub>
                      </m:sSub>
                      <m:r>
                        <m:rPr>
                          <m:sty m:val="p"/>
                        </m:rPr>
                        <m:t>=</m:t>
                      </m:r>
                      <m:f>
                        <m:fPr>
                          <m:type m:val="bar"/>
                        </m:fPr>
                        <m:num>
                          <m:r>
                            <m:t>1</m:t>
                          </m:r>
                        </m:num>
                        <m:den>
                          <m:r>
                            <m:t>1</m:t>
                          </m:r>
                          <m:r>
                            <m:rPr>
                              <m:sty m:val="p"/>
                            </m:rPr>
                            <m:t>−</m:t>
                          </m:r>
                          <m:sSubSup>
                            <m:e>
                              <m:r>
                                <m:t>R</m:t>
                              </m:r>
                            </m:e>
                            <m:sub>
                              <m:r>
                                <m:t>j</m:t>
                              </m:r>
                            </m:sub>
                            <m:sup>
                              <m:r>
                                <m:t>2</m:t>
                              </m:r>
                            </m:sup>
                          </m:sSubSup>
                        </m:den>
                      </m:f>
                    </m:oMath>
                  </m:oMathPara>
                </a14:m>
              </a:p>
              <a:p>
                <a:pPr lvl="0" indent="0" marL="0">
                  <a:buNone/>
                </a:pPr>
                <a:r>
                  <a:rPr/>
                  <a:t>where </a:t>
                </a:r>
                <a14:m>
                  <m:oMath xmlns:m="http://schemas.openxmlformats.org/officeDocument/2006/math">
                    <m:sSubSup>
                      <m:e>
                        <m:r>
                          <m:t>R</m:t>
                        </m:r>
                      </m:e>
                      <m:sub>
                        <m:r>
                          <m:t>j</m:t>
                        </m:r>
                      </m:sub>
                      <m:sup>
                        <m:r>
                          <m:t>2</m:t>
                        </m:r>
                      </m:sup>
                    </m:sSubSup>
                  </m:oMath>
                </a14:m>
                <a:r>
                  <a:rPr/>
                  <a:t> is the R² you get from regressing </a:t>
                </a:r>
                <a14:m>
                  <m:oMath xmlns:m="http://schemas.openxmlformats.org/officeDocument/2006/math">
                    <m:sSub>
                      <m:e>
                        <m:r>
                          <m:t>X</m:t>
                        </m:r>
                      </m:e>
                      <m:sub>
                        <m:r>
                          <m:t>j</m:t>
                        </m:r>
                      </m:sub>
                    </m:sSub>
                  </m:oMath>
                </a14:m>
                <a:r>
                  <a:rPr b="1"/>
                  <a:t> on all the </a:t>
                </a:r>
                <a:r>
                  <a:rPr b="1" i="1"/>
                  <a:t>other</a:t>
                </a:r>
                <a:r>
                  <a:rPr b="1"/>
                  <a:t> predictors</a:t>
                </a:r>
                <a:r>
                  <a:rPr/>
                  <a:t> — not the pairwise correlation between two of them. (With only two predictors those happen to coincide; with three or more they do not.)</a:t>
                </a:r>
              </a:p>
              <a:p>
                <a:pPr lvl="0"/>
                <a:r>
                  <a:rPr/>
                  <a:t>Rule of thumb: </a:t>
                </a:r>
                <a:r>
                  <a:rPr b="1"/>
                  <a:t>VIF &gt; 10 is bad</a:t>
                </a:r>
                <a:r>
                  <a:rPr/>
                  <a:t>; some authors use &gt; 5</a:t>
                </a:r>
              </a:p>
              <a:p>
                <a:pPr lvl="0"/>
                <a:r>
                  <a:rPr/>
                  <a:t>Best/simplest solution: exclude variables that are highly correlated with other variables — they’re probably measuring similar things and are redundant</a:t>
                </a:r>
              </a:p>
              <a:p>
                <a:pPr lvl="0" indent="0">
                  <a:buNone/>
                </a:pPr>
                <a:r>
                  <a:rPr>
                    <a:solidFill>
                      <a:srgbClr val="5E5E5E"/>
                    </a:solidFill>
                    <a:latin typeface="Courier"/>
                  </a:rPr>
                  <a:t># car::vif() does this for you</a:t>
                </a:r>
                <a:br/>
                <a:r>
                  <a:rPr>
                    <a:solidFill>
                      <a:srgbClr val="4758AB"/>
                    </a:solidFill>
                    <a:latin typeface="Courier"/>
                  </a:rPr>
                  <a:t>vif</a:t>
                </a:r>
                <a:r>
                  <a:rPr>
                    <a:solidFill>
                      <a:srgbClr val="003B4F"/>
                    </a:solidFill>
                    <a:latin typeface="Courier"/>
                  </a:rPr>
                  <a:t>(ant_model)</a:t>
                </a:r>
              </a:p>
              <a:p>
                <a:pPr lvl="0" indent="0">
                  <a:buNone/>
                </a:pPr>
                <a:r>
                  <a:rPr>
                    <a:latin typeface="Courier"/>
                  </a:rPr>
                  <a:t>elevation  latitude 
 1.033004  1.033004 </a:t>
                </a:r>
              </a:p>
            </p:txBody>
          </p:sp>
        </mc:Choice>
      </mc:AlternateContent>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Key idea</a:t>
            </a:r>
          </a:p>
          <a:p>
            <a:pPr lvl="0" indent="0" marL="1270000">
              <a:buNone/>
            </a:pPr>
            <a:r>
              <a:rPr sz="2000"/>
              <a:t>A high VIF doesn’t mean your model is “wrong” — it means you can’t trust the </a:t>
            </a:r>
            <a:r>
              <a:rPr sz="2000" i="1"/>
              <a:t>individual</a:t>
            </a:r>
            <a:r>
              <a:rPr sz="2000"/>
              <a:t> partial slopes for the correlated predictors, even if the overall model fits well.</a:t>
            </a:r>
          </a:p>
          <a:p>
            <a:pPr lvl="0" indent="0" marL="1270000">
              <a:buNone/>
            </a:pPr>
            <a:r>
              <a:rPr sz="2000" b="1"/>
              <a:t>Tip</a:t>
            </a:r>
          </a:p>
          <a:p>
            <a:pPr lvl="0" indent="0" marL="1270000">
              <a:buNone/>
            </a:pPr>
            <a:r>
              <a:rPr sz="2000" b="1"/>
              <a:t>🖐 Our ants are fine</a:t>
            </a:r>
          </a:p>
          <a:p>
            <a:pPr lvl="0" indent="0" marL="1270000">
              <a:buNone/>
            </a:pPr>
            <a:r>
              <a:rPr sz="2000"/>
              <a:t>Both VIFs are about </a:t>
            </a:r>
            <a:r>
              <a:rPr sz="2000" b="1"/>
              <a:t>1.03</a:t>
            </a:r>
            <a:r>
              <a:rPr sz="2000"/>
              <a:t> — essentially no inflation. Latitude and elevation are nearly independent here, which is why each partial slope is interpretable on its own.</a:t>
            </a:r>
          </a:p>
          <a:p>
            <a:pPr lvl="0" indent="0" marL="1270000">
              <a:buNone/>
            </a:pPr>
            <a:r>
              <a:rPr sz="2000"/>
              <a:t>A VIF of 1 means “this predictor shares nothing with the others.” That is the ideal, and it is rarer than you would like.</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6 · Interactions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Interactions — Additive vs. Multiplicative</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Predictors can be modeled as:</a:t>
                </a:r>
              </a:p>
              <a:p>
                <a:pPr lvl="0"/>
                <a:r>
                  <a:rPr u="sng"/>
                  <a:t>additive</a:t>
                </a:r>
                <a:r>
                  <a:rPr/>
                  <a:t> (effect of temp, plus precip, plus fertility), or</a:t>
                </a:r>
              </a:p>
              <a:p>
                <a:pPr lvl="0"/>
                <a:r>
                  <a:rPr u="sng"/>
                  <a:t>multiplicative (interactive)</a:t>
                </a:r>
              </a:p>
              <a:p>
                <a:pPr lvl="0"/>
                <a:r>
                  <a:rPr b="1"/>
                  <a:t>Interaction:</a:t>
                </a:r>
                <a:r>
                  <a:rPr/>
                  <a:t> the effect of Xᵢ depends on the level of Xⱼ</a:t>
                </a:r>
              </a:p>
              <a:p>
                <a:pPr lvl="0"/>
                <a:r>
                  <a:rPr/>
                  <a:t>The partial slope of Y vs. X₁ is different for different levels of X₂ (and vice versa) — measured by β₃</a:t>
                </a:r>
              </a:p>
              <a:p>
                <a:pPr lvl="0" indent="0" marL="0">
                  <a:buNone/>
                </a:pPr>
                <a14:m>
                  <m:oMathPara xmlns:m="http://schemas.openxmlformats.org/officeDocument/2006/math">
                    <m:oMathParaPr>
                      <m:jc m:val="center"/>
                    </m:oMathParaPr>
                    <m:oMath>
                      <m:sSub>
                        <m:e>
                          <m:r>
                            <m:t>y</m:t>
                          </m:r>
                        </m:e>
                        <m:sub>
                          <m:r>
                            <m:t>i</m:t>
                          </m:r>
                        </m:sub>
                      </m:sSub>
                      <m:r>
                        <m:rPr>
                          <m:sty m:val="p"/>
                        </m:rPr>
                        <m:t>=</m:t>
                      </m:r>
                      <m:sSub>
                        <m:e>
                          <m:r>
                            <m:t>β</m:t>
                          </m:r>
                        </m:e>
                        <m:sub>
                          <m:r>
                            <m:t>0</m:t>
                          </m:r>
                        </m:sub>
                      </m:sSub>
                      <m:r>
                        <m:rPr>
                          <m:sty m:val="p"/>
                        </m:rPr>
                        <m:t>+</m:t>
                      </m:r>
                      <m:sSub>
                        <m:e>
                          <m:r>
                            <m:t>β</m:t>
                          </m:r>
                        </m:e>
                        <m:sub>
                          <m:r>
                            <m:t>1</m:t>
                          </m:r>
                        </m:sub>
                      </m:sSub>
                      <m:sSub>
                        <m:e>
                          <m:r>
                            <m:t>X</m:t>
                          </m:r>
                        </m:e>
                        <m:sub>
                          <m:r>
                            <m:t>i</m:t>
                          </m:r>
                          <m:r>
                            <m:t>1</m:t>
                          </m:r>
                        </m:sub>
                      </m:sSub>
                      <m:r>
                        <m:rPr>
                          <m:sty m:val="p"/>
                        </m:rPr>
                        <m:t>+</m:t>
                      </m:r>
                      <m:sSub>
                        <m:e>
                          <m:r>
                            <m:t>β</m:t>
                          </m:r>
                        </m:e>
                        <m:sub>
                          <m:r>
                            <m:t>2</m:t>
                          </m:r>
                        </m:sub>
                      </m:sSub>
                      <m:sSub>
                        <m:e>
                          <m:r>
                            <m:t>X</m:t>
                          </m:r>
                        </m:e>
                        <m:sub>
                          <m:r>
                            <m:t>i</m:t>
                          </m:r>
                          <m:r>
                            <m:t>2</m:t>
                          </m:r>
                        </m:sub>
                      </m:sSub>
                      <m:r>
                        <m:rPr>
                          <m:sty m:val="p"/>
                        </m:rPr>
                        <m:t>+</m:t>
                      </m:r>
                      <m:sSub>
                        <m:e>
                          <m:r>
                            <m:t>ϵ</m:t>
                          </m:r>
                        </m:e>
                        <m:sub>
                          <m:r>
                            <m:t>i</m:t>
                          </m:r>
                        </m:sub>
                      </m:sSub>
                      <m:r>
                        <m:t> </m:t>
                      </m:r>
                      <m:r>
                        <m:rPr>
                          <m:nor/>
                          <m:sty m:val="p"/>
                        </m:rPr>
                        <m:t>vs.</m:t>
                      </m:r>
                      <m:r>
                        <m:t> </m:t>
                      </m:r>
                      <m:sSub>
                        <m:e>
                          <m:r>
                            <m:t>y</m:t>
                          </m:r>
                        </m:e>
                        <m:sub>
                          <m:r>
                            <m:t>i</m:t>
                          </m:r>
                        </m:sub>
                      </m:sSub>
                      <m:r>
                        <m:rPr>
                          <m:sty m:val="p"/>
                        </m:rPr>
                        <m:t>=</m:t>
                      </m:r>
                      <m:sSub>
                        <m:e>
                          <m:r>
                            <m:t>β</m:t>
                          </m:r>
                        </m:e>
                        <m:sub>
                          <m:r>
                            <m:t>0</m:t>
                          </m:r>
                        </m:sub>
                      </m:sSub>
                      <m:r>
                        <m:rPr>
                          <m:sty m:val="p"/>
                        </m:rPr>
                        <m:t>+</m:t>
                      </m:r>
                      <m:sSub>
                        <m:e>
                          <m:r>
                            <m:t>β</m:t>
                          </m:r>
                        </m:e>
                        <m:sub>
                          <m:r>
                            <m:t>1</m:t>
                          </m:r>
                        </m:sub>
                      </m:sSub>
                      <m:sSub>
                        <m:e>
                          <m:r>
                            <m:t>X</m:t>
                          </m:r>
                        </m:e>
                        <m:sub>
                          <m:r>
                            <m:t>i</m:t>
                          </m:r>
                          <m:r>
                            <m:t>1</m:t>
                          </m:r>
                        </m:sub>
                      </m:sSub>
                      <m:r>
                        <m:rPr>
                          <m:sty m:val="p"/>
                        </m:rPr>
                        <m:t>+</m:t>
                      </m:r>
                      <m:sSub>
                        <m:e>
                          <m:r>
                            <m:t>β</m:t>
                          </m:r>
                        </m:e>
                        <m:sub>
                          <m:r>
                            <m:t>2</m:t>
                          </m:r>
                        </m:sub>
                      </m:sSub>
                      <m:sSub>
                        <m:e>
                          <m:r>
                            <m:t>X</m:t>
                          </m:r>
                        </m:e>
                        <m:sub>
                          <m:r>
                            <m:t>i</m:t>
                          </m:r>
                          <m:r>
                            <m:t>2</m:t>
                          </m:r>
                        </m:sub>
                      </m:sSub>
                      <m:r>
                        <m:rPr>
                          <m:sty m:val="p"/>
                        </m:rPr>
                        <m:t>+</m:t>
                      </m:r>
                      <m:sSub>
                        <m:e>
                          <m:r>
                            <m:t>β</m:t>
                          </m:r>
                        </m:e>
                        <m:sub>
                          <m:r>
                            <m:t>3</m:t>
                          </m:r>
                        </m:sub>
                      </m:sSub>
                      <m:sSub>
                        <m:e>
                          <m:r>
                            <m:t>X</m:t>
                          </m:r>
                        </m:e>
                        <m:sub>
                          <m:r>
                            <m:t>i</m:t>
                          </m:r>
                          <m:r>
                            <m:t>1</m:t>
                          </m:r>
                        </m:sub>
                      </m:sSub>
                      <m:sSub>
                        <m:e>
                          <m:r>
                            <m:t>X</m:t>
                          </m:r>
                        </m:e>
                        <m:sub>
                          <m:r>
                            <m:t>i</m:t>
                          </m:r>
                          <m:r>
                            <m:t>2</m:t>
                          </m:r>
                        </m:sub>
                      </m:sSub>
                      <m:r>
                        <m:rPr>
                          <m:sty m:val="p"/>
                        </m:rPr>
                        <m:t>+</m:t>
                      </m:r>
                      <m:sSub>
                        <m:e>
                          <m:r>
                            <m:t>ϵ</m:t>
                          </m:r>
                        </m:e>
                        <m:sub>
                          <m:r>
                            <m:t>i</m:t>
                          </m:r>
                        </m:sub>
                      </m:sSub>
                    </m:oMath>
                  </m:oMathPara>
                </a14:m>
              </a:p>
              <a:p>
                <a:pPr lvl="0" indent="0" marL="0">
                  <a:buNone/>
                </a:pPr>
                <a:r>
                  <a:rPr/>
                  <a:t>This leads to “curvature” of the regression (hyper)plane.</a:t>
                </a:r>
              </a:p>
            </p:txBody>
          </p:sp>
        </mc:Choice>
      </mc:AlternateContent>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Notice</a:t>
                </a:r>
              </a:p>
              <a:p>
                <a:pPr lvl="0" indent="0" marL="1270000">
                  <a:buNone/>
                </a:pPr>
                <a:r>
                  <a:rPr sz="2000"/>
                  <a:t>An interaction term is just another predictor: the product </a:t>
                </a:r>
                <a14:m>
                  <m:oMath xmlns:m="http://schemas.openxmlformats.org/officeDocument/2006/math">
                    <m:sSub>
                      <m:e>
                        <m:r>
                          <m:t>X</m:t>
                        </m:r>
                      </m:e>
                      <m:sub>
                        <m:r>
                          <m:t>1</m:t>
                        </m:r>
                      </m:sub>
                    </m:sSub>
                    <m:r>
                      <m:rPr>
                        <m:sty m:val="p"/>
                      </m:rPr>
                      <m:t>×</m:t>
                    </m:r>
                    <m:sSub>
                      <m:e>
                        <m:r>
                          <m:t>X</m:t>
                        </m:r>
                      </m:e>
                      <m:sub>
                        <m:r>
                          <m:t>2</m:t>
                        </m:r>
                      </m:sub>
                    </m:sSub>
                  </m:oMath>
                </a14:m>
                <a:r>
                  <a:rPr sz="2000"/>
                  <a:t>, fit with its own coefficient β₃.</a:t>
                </a:r>
              </a:p>
            </p:txBody>
          </p:sp>
        </mc:Choice>
      </mc:AlternateContent>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Interactions — Curvature of the Regression Plane</a:t>
            </a:r>
          </a:p>
        </p:txBody>
      </p:sp>
      <p:sp>
        <p:nvSpPr>
          <p:cNvPr id="3" name="Content Placeholder 2"/>
          <p:cNvSpPr>
            <a:spLocks noGrp="1"/>
          </p:cNvSpPr>
          <p:nvPr>
            <p:ph idx="1" sz="half"/>
          </p:nvPr>
        </p:nvSpPr>
        <p:spPr/>
        <p:txBody>
          <a:bodyPr/>
          <a:lstStyle/>
          <a:p>
            <a:pPr lvl="0" indent="0" marL="0">
              <a:buNone/>
            </a:pPr>
            <a:r>
              <a:rPr/>
              <a:t>Interaction terms lead to “curvature” of the regression (hyper)plane.</a:t>
            </a:r>
          </a:p>
        </p:txBody>
      </p:sp>
      <p:pic>
        <p:nvPicPr>
          <p:cNvPr descr="multiple_regression_lecture_files/figure-pptx/multiple-regression-11-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Interactions — the Cost</a:t>
            </a:r>
          </a:p>
        </p:txBody>
      </p:sp>
      <p:sp>
        <p:nvSpPr>
          <p:cNvPr id="3" name="Content Placeholder 2"/>
          <p:cNvSpPr>
            <a:spLocks noGrp="1"/>
          </p:cNvSpPr>
          <p:nvPr>
            <p:ph idx="1" sz="half"/>
          </p:nvPr>
        </p:nvSpPr>
        <p:spPr/>
        <p:txBody>
          <a:bodyPr/>
          <a:lstStyle/>
          <a:p>
            <a:pPr lvl="0" indent="0" marL="0">
              <a:buNone/>
            </a:pPr>
            <a:r>
              <a:rPr/>
              <a:t>Adding interactions:</a:t>
            </a:r>
          </a:p>
          <a:p>
            <a:pPr lvl="0"/>
            <a:r>
              <a:rPr/>
              <a:t>Means many more predictors (“parameter proliferation”) — 2ⁿ terms are required; 6 parameters = 64 terms, 7 parameters = 128 terms</a:t>
            </a:r>
          </a:p>
          <a:p>
            <a:pPr lvl="0"/>
            <a:r>
              <a:rPr/>
              <a:t>Makes interpretation more complex</a:t>
            </a:r>
          </a:p>
          <a:p>
            <a:pPr lvl="0"/>
            <a:r>
              <a:rPr b="1"/>
              <a:t>When to include interactions? When they make biological sense!</a:t>
            </a:r>
          </a:p>
        </p:txBody>
      </p:sp>
      <p:sp>
        <p:nvSpPr>
          <p:cNvPr id="4" name="Content Placeholder 3"/>
          <p:cNvSpPr>
            <a:spLocks noGrp="1"/>
          </p:cNvSpPr>
          <p:nvPr>
            <p:ph idx="2" sz="half"/>
          </p:nvPr>
        </p:nvSpPr>
        <p:spPr/>
        <p:txBody>
          <a:bodyPr/>
          <a:lstStyle/>
          <a:p>
            <a:pPr lvl="0" indent="0" marL="1270000">
              <a:buNone/>
            </a:pPr>
            <a:r>
              <a:rPr sz="2000" b="1"/>
              <a:t>Warning</a:t>
            </a:r>
          </a:p>
          <a:p>
            <a:pPr lvl="0" indent="0" marL="1270000">
              <a:buNone/>
            </a:pPr>
            <a:r>
              <a:rPr sz="2000" b="1"/>
              <a:t>⚠️ Watch out!</a:t>
            </a:r>
          </a:p>
          <a:p>
            <a:pPr lvl="0" indent="0" marL="1270000">
              <a:buNone/>
            </a:pPr>
            <a:r>
              <a:rPr sz="2000"/>
              <a:t>Don’t add interaction terms just to see if they’re significant — with enough predictors, some interaction will hit p &lt; 0.05 by chance alone.</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7 · Dummy Variables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Dummy Variables</a:t>
            </a:r>
          </a:p>
        </p:txBody>
      </p:sp>
      <p:sp>
        <p:nvSpPr>
          <p:cNvPr id="3" name="Content Placeholder 2"/>
          <p:cNvSpPr>
            <a:spLocks noGrp="1"/>
          </p:cNvSpPr>
          <p:nvPr>
            <p:ph idx="1" sz="half"/>
          </p:nvPr>
        </p:nvSpPr>
        <p:spPr/>
        <p:txBody>
          <a:bodyPr/>
          <a:lstStyle/>
          <a:p>
            <a:pPr lvl="0" indent="0" marL="0">
              <a:buNone/>
            </a:pPr>
            <a:r>
              <a:rPr/>
              <a:t>Multiple linear regression accommodates continuous and categorical variables (gender, vegetation type, etc.). Categorical vars become “dummy vars”: number of dummy variables = number of categories − 1.</a:t>
            </a:r>
          </a:p>
          <a:p>
            <a:pPr lvl="0"/>
            <a:r>
              <a:rPr b="1"/>
              <a:t>Sex M/F:</a:t>
            </a:r>
            <a:r>
              <a:rPr/>
              <a:t> need 1 dummy var with two values (0, 1)</a:t>
            </a:r>
          </a:p>
          <a:p>
            <a:pPr lvl="0"/>
            <a:r>
              <a:rPr b="1"/>
              <a:t>Fertility L/M/H:</a:t>
            </a:r>
            <a:r>
              <a:rPr/>
              <a:t> need 2 dummy vars, each with two values (0, 1): fert1 (0 if L or H, 1 if M), fert2 (1 if H, 0 if L or M)</a:t>
            </a:r>
          </a:p>
        </p:txBody>
      </p:sp>
      <p:graphicFrame>
        <p:nvGraphicFramePr>
          <p:cNvPr id="6" name="Content Placeholder 5"/>
          <p:cNvGraphicFramePr>
            <a:graphicFrameLocks noGrp="1"/>
          </p:cNvGraphicFramePr>
          <p:nvPr>
            <p:ph idx="1"/>
          </p:nvPr>
        </p:nvGraphicFramePr>
        <p:xfrm>
          <a:off x="6121400" y="660400"/>
          <a:ext cx="2781300" cy="4470400"/>
        </p:xfrm>
        <a:graphic>
          <a:graphicData uri="http://schemas.openxmlformats.org/drawingml/2006/table">
            <a:tbl>
              <a:tblPr firstRow="1" bandRow="1">
                <a:tableStyleId>{5C22544A-7EE6-4342-B048-85BDC9FD1C3A}</a:tableStyleId>
              </a:tblPr>
              <a:tblGrid>
                <a:gridCol w="927100"/>
                <a:gridCol w="927100"/>
                <a:gridCol w="927100"/>
              </a:tblGrid>
              <a:tr h="0">
                <a:tc>
                  <a:txBody>
                    <a:bodyPr/>
                    <a:lstStyle/>
                    <a:p>
                      <a:pPr lvl="0" indent="0" marL="0" algn="l">
                        <a:buNone/>
                      </a:pPr>
                      <a:r>
                        <a:rPr/>
                        <a:t>Fertility</a:t>
                      </a:r>
                    </a:p>
                  </a:txBody>
                  <a:tcPr/>
                </a:tc>
                <a:tc>
                  <a:txBody>
                    <a:bodyPr/>
                    <a:lstStyle/>
                    <a:p>
                      <a:pPr lvl="0" indent="0" marL="0" algn="l">
                        <a:buNone/>
                      </a:pPr>
                      <a:r>
                        <a:rPr/>
                        <a:t>fert1</a:t>
                      </a:r>
                    </a:p>
                  </a:txBody>
                  <a:tcPr/>
                </a:tc>
                <a:tc>
                  <a:txBody>
                    <a:bodyPr/>
                    <a:lstStyle/>
                    <a:p>
                      <a:pPr lvl="0" indent="0" marL="0" algn="l">
                        <a:buNone/>
                      </a:pPr>
                      <a:r>
                        <a:rPr/>
                        <a:t>fert2</a:t>
                      </a:r>
                    </a:p>
                  </a:txBody>
                  <a:tcPr/>
                </a:tc>
              </a:tr>
              <a:tr h="0">
                <a:tc>
                  <a:txBody>
                    <a:bodyPr/>
                    <a:lstStyle/>
                    <a:p>
                      <a:pPr lvl="0" indent="0" marL="0" algn="l">
                        <a:buNone/>
                      </a:pPr>
                      <a:r>
                        <a:rPr/>
                        <a:t>Low</a:t>
                      </a:r>
                    </a:p>
                  </a:txBody>
                </a:tc>
                <a:tc>
                  <a:txBody>
                    <a:bodyPr/>
                    <a:lstStyle/>
                    <a:p>
                      <a:pPr lvl="0" indent="0" marL="0" algn="l">
                        <a:buNone/>
                      </a:pPr>
                      <a:r>
                        <a:rPr/>
                        <a:t>0</a:t>
                      </a:r>
                    </a:p>
                  </a:txBody>
                </a:tc>
                <a:tc>
                  <a:txBody>
                    <a:bodyPr/>
                    <a:lstStyle/>
                    <a:p>
                      <a:pPr lvl="0" indent="0" marL="0" algn="l">
                        <a:buNone/>
                      </a:pPr>
                      <a:r>
                        <a:rPr/>
                        <a:t>0</a:t>
                      </a:r>
                    </a:p>
                  </a:txBody>
                </a:tc>
              </a:tr>
              <a:tr h="0">
                <a:tc>
                  <a:txBody>
                    <a:bodyPr/>
                    <a:lstStyle/>
                    <a:p>
                      <a:pPr lvl="0" indent="0" marL="0" algn="l">
                        <a:buNone/>
                      </a:pPr>
                      <a:r>
                        <a:rPr/>
                        <a:t>Med</a:t>
                      </a:r>
                    </a:p>
                  </a:txBody>
                </a:tc>
                <a:tc>
                  <a:txBody>
                    <a:bodyPr/>
                    <a:lstStyle/>
                    <a:p>
                      <a:pPr lvl="0" indent="0" marL="0" algn="l">
                        <a:buNone/>
                      </a:pPr>
                      <a:r>
                        <a:rPr/>
                        <a:t>1</a:t>
                      </a:r>
                    </a:p>
                  </a:txBody>
                </a:tc>
                <a:tc>
                  <a:txBody>
                    <a:bodyPr/>
                    <a:lstStyle/>
                    <a:p>
                      <a:pPr lvl="0" indent="0" marL="0" algn="l">
                        <a:buNone/>
                      </a:pPr>
                      <a:r>
                        <a:rPr/>
                        <a:t>0</a:t>
                      </a:r>
                    </a:p>
                  </a:txBody>
                </a:tc>
              </a:tr>
              <a:tr h="0">
                <a:tc>
                  <a:txBody>
                    <a:bodyPr/>
                    <a:lstStyle/>
                    <a:p>
                      <a:pPr lvl="0" indent="0" marL="0" algn="l">
                        <a:buNone/>
                      </a:pPr>
                      <a:r>
                        <a:rPr/>
                        <a:t>High</a:t>
                      </a:r>
                    </a:p>
                  </a:txBody>
                </a:tc>
                <a:tc>
                  <a:txBody>
                    <a:bodyPr/>
                    <a:lstStyle/>
                    <a:p>
                      <a:pPr lvl="0" indent="0" marL="0" algn="l">
                        <a:buNone/>
                      </a:pPr>
                      <a:r>
                        <a:rPr/>
                        <a:t>0</a:t>
                      </a:r>
                    </a:p>
                  </a:txBody>
                </a:tc>
                <a:tc>
                  <a:txBody>
                    <a:bodyPr/>
                    <a:lstStyle/>
                    <a:p>
                      <a:pPr lvl="0" indent="0" marL="0" algn="l">
                        <a:buNone/>
                      </a:pPr>
                      <a:r>
                        <a:rPr/>
                        <a:t>1</a:t>
                      </a:r>
                    </a:p>
                  </a:txBody>
                </a:tc>
              </a:tr>
            </a:tbl>
          </a:graphicData>
        </a:graphic>
      </p:graphicFrame>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Dummy Variables — the Reference Condition</a:t>
            </a:r>
          </a:p>
        </p:txBody>
      </p:sp>
      <p:sp>
        <p:nvSpPr>
          <p:cNvPr id="3" name="Content Placeholder 2"/>
          <p:cNvSpPr>
            <a:spLocks noGrp="1"/>
          </p:cNvSpPr>
          <p:nvPr>
            <p:ph idx="1" sz="half"/>
          </p:nvPr>
        </p:nvSpPr>
        <p:spPr/>
        <p:txBody>
          <a:bodyPr/>
          <a:lstStyle/>
          <a:p>
            <a:pPr lvl="0" indent="0" marL="0">
              <a:buNone/>
            </a:pPr>
            <a:r>
              <a:rPr/>
              <a:t>Coefficients are interpreted relative to a reference condition:</a:t>
            </a:r>
          </a:p>
          <a:p>
            <a:pPr lvl="0"/>
            <a:r>
              <a:rPr/>
              <a:t>R codes dummy variables automatically</a:t>
            </a:r>
          </a:p>
          <a:p>
            <a:pPr lvl="0"/>
            <a:r>
              <a:rPr/>
              <a:t>It picks the “reference” level alphabetically</a:t>
            </a:r>
          </a:p>
          <a:p>
            <a:pPr lvl="0"/>
            <a:r>
              <a:rPr/>
              <a:t>Dummy variables with more than 2 levels add extra predictor variables to the model</a:t>
            </a:r>
          </a:p>
        </p:txBody>
      </p:sp>
      <p:graphicFrame>
        <p:nvGraphicFramePr>
          <p:cNvPr id="6" name="Content Placeholder 5"/>
          <p:cNvGraphicFramePr>
            <a:graphicFrameLocks noGrp="1"/>
          </p:cNvGraphicFramePr>
          <p:nvPr>
            <p:ph idx="1"/>
          </p:nvPr>
        </p:nvGraphicFramePr>
        <p:xfrm>
          <a:off x="6121400" y="660400"/>
          <a:ext cx="2781300" cy="4470400"/>
        </p:xfrm>
        <a:graphic>
          <a:graphicData uri="http://schemas.openxmlformats.org/drawingml/2006/table">
            <a:tbl>
              <a:tblPr firstRow="1" bandRow="1">
                <a:tableStyleId>{5C22544A-7EE6-4342-B048-85BDC9FD1C3A}</a:tableStyleId>
              </a:tblPr>
              <a:tblGrid>
                <a:gridCol w="927100"/>
                <a:gridCol w="927100"/>
                <a:gridCol w="927100"/>
              </a:tblGrid>
              <a:tr h="0">
                <a:tc>
                  <a:txBody>
                    <a:bodyPr/>
                    <a:lstStyle/>
                    <a:p>
                      <a:pPr lvl="0" indent="0" marL="0" algn="l">
                        <a:buNone/>
                      </a:pPr>
                      <a:r>
                        <a:rPr/>
                        <a:t>Fertility</a:t>
                      </a:r>
                    </a:p>
                  </a:txBody>
                  <a:tcPr/>
                </a:tc>
                <a:tc>
                  <a:txBody>
                    <a:bodyPr/>
                    <a:lstStyle/>
                    <a:p>
                      <a:pPr lvl="0" indent="0" marL="0" algn="l">
                        <a:buNone/>
                      </a:pPr>
                      <a:r>
                        <a:rPr/>
                        <a:t>fert1</a:t>
                      </a:r>
                    </a:p>
                  </a:txBody>
                  <a:tcPr/>
                </a:tc>
                <a:tc>
                  <a:txBody>
                    <a:bodyPr/>
                    <a:lstStyle/>
                    <a:p>
                      <a:pPr lvl="0" indent="0" marL="0" algn="l">
                        <a:buNone/>
                      </a:pPr>
                      <a:r>
                        <a:rPr/>
                        <a:t>fert2</a:t>
                      </a:r>
                    </a:p>
                  </a:txBody>
                  <a:tcPr/>
                </a:tc>
              </a:tr>
              <a:tr h="0">
                <a:tc>
                  <a:txBody>
                    <a:bodyPr/>
                    <a:lstStyle/>
                    <a:p>
                      <a:pPr lvl="0" indent="0" marL="0" algn="l">
                        <a:buNone/>
                      </a:pPr>
                      <a:r>
                        <a:rPr/>
                        <a:t>Low</a:t>
                      </a:r>
                    </a:p>
                  </a:txBody>
                </a:tc>
                <a:tc>
                  <a:txBody>
                    <a:bodyPr/>
                    <a:lstStyle/>
                    <a:p>
                      <a:pPr lvl="0" indent="0" marL="0" algn="l">
                        <a:buNone/>
                      </a:pPr>
                      <a:r>
                        <a:rPr/>
                        <a:t>0</a:t>
                      </a:r>
                    </a:p>
                  </a:txBody>
                </a:tc>
                <a:tc>
                  <a:txBody>
                    <a:bodyPr/>
                    <a:lstStyle/>
                    <a:p>
                      <a:pPr lvl="0" indent="0" marL="0" algn="l">
                        <a:buNone/>
                      </a:pPr>
                      <a:r>
                        <a:rPr/>
                        <a:t>0</a:t>
                      </a:r>
                    </a:p>
                  </a:txBody>
                </a:tc>
              </a:tr>
              <a:tr h="0">
                <a:tc>
                  <a:txBody>
                    <a:bodyPr/>
                    <a:lstStyle/>
                    <a:p>
                      <a:pPr lvl="0" indent="0" marL="0" algn="l">
                        <a:buNone/>
                      </a:pPr>
                      <a:r>
                        <a:rPr/>
                        <a:t>Med</a:t>
                      </a:r>
                    </a:p>
                  </a:txBody>
                </a:tc>
                <a:tc>
                  <a:txBody>
                    <a:bodyPr/>
                    <a:lstStyle/>
                    <a:p>
                      <a:pPr lvl="0" indent="0" marL="0" algn="l">
                        <a:buNone/>
                      </a:pPr>
                      <a:r>
                        <a:rPr/>
                        <a:t>1</a:t>
                      </a:r>
                    </a:p>
                  </a:txBody>
                </a:tc>
                <a:tc>
                  <a:txBody>
                    <a:bodyPr/>
                    <a:lstStyle/>
                    <a:p>
                      <a:pPr lvl="0" indent="0" marL="0" algn="l">
                        <a:buNone/>
                      </a:pPr>
                      <a:r>
                        <a:rPr/>
                        <a:t>0</a:t>
                      </a:r>
                    </a:p>
                  </a:txBody>
                </a:tc>
              </a:tr>
              <a:tr h="0">
                <a:tc>
                  <a:txBody>
                    <a:bodyPr/>
                    <a:lstStyle/>
                    <a:p>
                      <a:pPr lvl="0" indent="0" marL="0" algn="l">
                        <a:buNone/>
                      </a:pPr>
                      <a:r>
                        <a:rPr/>
                        <a:t>High</a:t>
                      </a:r>
                    </a:p>
                  </a:txBody>
                </a:tc>
                <a:tc>
                  <a:txBody>
                    <a:bodyPr/>
                    <a:lstStyle/>
                    <a:p>
                      <a:pPr lvl="0" indent="0" marL="0" algn="l">
                        <a:buNone/>
                      </a:pPr>
                      <a:r>
                        <a:rPr/>
                        <a:t>0</a:t>
                      </a:r>
                    </a:p>
                  </a:txBody>
                </a:tc>
                <a:tc>
                  <a:txBody>
                    <a:bodyPr/>
                    <a:lstStyle/>
                    <a:p>
                      <a:pPr lvl="0" indent="0" marL="0" algn="l">
                        <a:buNone/>
                      </a:pPr>
                      <a:r>
                        <a:rPr/>
                        <a:t>1</a:t>
                      </a:r>
                    </a:p>
                  </a:txBody>
                </a:tc>
              </a:tr>
            </a:tbl>
          </a:graphicData>
        </a:graphic>
      </p:graphicFrame>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Dummy Variables — Worked Example</a:t>
            </a:r>
          </a:p>
        </p:txBody>
      </p:sp>
      <p:pic>
        <p:nvPicPr>
          <p:cNvPr descr="images/clipboard-3847962697.png" id="0" name="Picture 1"/>
          <p:cNvPicPr>
            <a:picLocks noGrp="1" noChangeAspect="1"/>
          </p:cNvPicPr>
          <p:nvPr/>
        </p:nvPicPr>
        <p:blipFill>
          <a:blip r:embed="rId2"/>
          <a:stretch>
            <a:fillRect/>
          </a:stretch>
        </p:blipFill>
        <p:spPr bwMode="auto">
          <a:xfrm>
            <a:off x="0" y="698500"/>
            <a:ext cx="6007100" cy="3886200"/>
          </a:xfrm>
          <a:prstGeom prst="rect">
            <a:avLst/>
          </a:prstGeom>
          <a:noFill/>
          <a:ln w="9525">
            <a:noFill/>
            <a:headEnd/>
            <a:tailEnd/>
          </a:ln>
        </p:spPr>
      </p:pic>
      <p:sp>
        <p:nvSpPr>
          <p:cNvPr id="1" name="TextBox 3"/>
          <p:cNvSpPr txBox="1"/>
          <p:nvPr>
            <p:ph idx="1"/>
          </p:nvPr>
        </p:nvSpPr>
        <p:spPr>
          <a:xfrm>
            <a:off x="0" y="4622800"/>
            <a:ext cx="6007100" cy="508000"/>
          </a:xfrm>
          <a:prstGeom prst="rect">
            <a:avLst/>
          </a:prstGeom>
          <a:noFill/>
        </p:spPr>
        <p:txBody>
          <a:bodyPr/>
          <a:lstStyle/>
          <a:p>
            <a:pPr lvl="0" indent="0" marL="0" algn="ctr">
              <a:buNone/>
            </a:pPr>
            <a:r>
              <a:rPr/>
              <a:t>R console output for a linear model regressing total net primary productivity on mean annual temperature, mean annual precipitation, and a three-level fertility factor (High reference, Low, Med), showing the coefficient table with all predictors highly significant (p &lt; 0.001) and dummy-variable coefficients of 205.16 for Low and 116.33 for Medium fertility relative to High.</a:t>
            </a:r>
          </a:p>
        </p:txBody>
      </p:sp>
      <p:pic>
        <p:nvPicPr>
          <p:cNvPr descr="images/clipboard-3285444079.png" id="0" name="Picture 1"/>
          <p:cNvPicPr>
            <a:picLocks noGrp="1" noChangeAspect="1"/>
          </p:cNvPicPr>
          <p:nvPr/>
        </p:nvPicPr>
        <p:blipFill>
          <a:blip r:embed="rId3"/>
          <a:stretch>
            <a:fillRect/>
          </a:stretch>
        </p:blipFill>
        <p:spPr bwMode="auto">
          <a:xfrm>
            <a:off x="6121400" y="1168400"/>
            <a:ext cx="2781300" cy="29337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Boxplot of net primary productivity by fertility category (High, Low, Med), showing the Low fertility group with the highest median productivity, matching the positive dummy-variable coefficients shown in the accompanying regression output.</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8 · Comparing Models</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Comparing Models — the Problem</a:t>
            </a:r>
          </a:p>
        </p:txBody>
      </p:sp>
      <p:sp>
        <p:nvSpPr>
          <p:cNvPr id="3" name="Content Placeholder 2"/>
          <p:cNvSpPr>
            <a:spLocks noGrp="1"/>
          </p:cNvSpPr>
          <p:nvPr>
            <p:ph idx="1" sz="half"/>
          </p:nvPr>
        </p:nvSpPr>
        <p:spPr/>
        <p:txBody>
          <a:bodyPr/>
          <a:lstStyle/>
          <a:p>
            <a:pPr lvl="0" indent="0" marL="0">
              <a:buNone/>
            </a:pPr>
            <a:r>
              <a:rPr/>
              <a:t>When you have multiple predictors (and interactions!):</a:t>
            </a:r>
          </a:p>
          <a:p>
            <a:pPr lvl="0"/>
            <a:r>
              <a:rPr/>
              <a:t>How do you choose the “best” model?</a:t>
            </a:r>
          </a:p>
          <a:p>
            <a:pPr lvl="0"/>
            <a:r>
              <a:rPr/>
              <a:t>Which predictors should you include?</a:t>
            </a:r>
          </a:p>
          <a:p>
            <a:pPr lvl="0"/>
            <a:r>
              <a:rPr b="1"/>
              <a:t>Occam’s razor:</a:t>
            </a:r>
            <a:r>
              <a:rPr/>
              <a:t> the “best” model balances complexity with fit to the data</a:t>
            </a:r>
          </a:p>
          <a:p>
            <a:pPr lvl="0"/>
            <a:r>
              <a:rPr/>
              <a:t>To choose: compare “nested” models</a:t>
            </a:r>
          </a:p>
          <a:p>
            <a:pPr lvl="0"/>
            <a:r>
              <a:rPr b="1"/>
              <a:t>Overfitting:</a:t>
            </a:r>
            <a:r>
              <a:rPr/>
              <a:t> getting a high r² just by having more (useless) predictors — so r² alone is not a good way to choose between nested models</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Reference</a:t>
            </a:r>
          </a:p>
          <a:p>
            <a:pPr lvl="0" indent="0" marL="1270000">
              <a:buNone/>
            </a:pPr>
            <a:r>
              <a:rPr sz="2000"/>
              <a:t>Whitlock &amp; Schluter, Ch. 17, covers model comparison and selection for regression.</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Comparing Models — Penalizing Complexity</a:t>
            </a:r>
          </a:p>
        </p:txBody>
      </p:sp>
      <p:sp>
        <p:nvSpPr>
          <p:cNvPr id="3" name="Content Placeholder 2"/>
          <p:cNvSpPr>
            <a:spLocks noGrp="1"/>
          </p:cNvSpPr>
          <p:nvPr>
            <p:ph idx="1" sz="half"/>
          </p:nvPr>
        </p:nvSpPr>
        <p:spPr/>
        <p:txBody>
          <a:bodyPr/>
          <a:lstStyle/>
          <a:p>
            <a:pPr lvl="0" indent="0" marL="0">
              <a:buNone/>
            </a:pPr>
            <a:r>
              <a:rPr/>
              <a:t>Need to account for the increase in fit that comes just from added predictors:</a:t>
            </a:r>
          </a:p>
          <a:p>
            <a:pPr lvl="0"/>
            <a:r>
              <a:rPr/>
              <a:t>Adjusted r²</a:t>
            </a:r>
          </a:p>
          <a:p>
            <a:pPr lvl="0"/>
            <a:r>
              <a:rPr/>
              <a:t>Akaike’s Information Criterion (AIC)</a:t>
            </a:r>
          </a:p>
          <a:p>
            <a:pPr lvl="0"/>
            <a:r>
              <a:rPr/>
              <a:t>Both “penalize” models for extra predictors</a:t>
            </a:r>
          </a:p>
          <a:p>
            <a:pPr lvl="0"/>
            <a:r>
              <a:rPr/>
              <a:t>Higher adjusted r² and lower AIC are better when comparing models (p = predictors, n = sample size)</a:t>
            </a:r>
          </a:p>
        </p:txBody>
      </p:sp>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0">
                  <a:buNone/>
                </a:pPr>
                <a14:m>
                  <m:oMathPara xmlns:m="http://schemas.openxmlformats.org/officeDocument/2006/math">
                    <m:oMathParaPr>
                      <m:jc m:val="center"/>
                    </m:oMathParaPr>
                    <m:oMath>
                      <m:r>
                        <m:rPr>
                          <m:nor/>
                          <m:sty m:val="p"/>
                        </m:rPr>
                        <m:t>Adjusted </m:t>
                      </m:r>
                      <m:sSup>
                        <m:e>
                          <m:r>
                            <m:t>r</m:t>
                          </m:r>
                        </m:e>
                        <m:sup>
                          <m:r>
                            <m:t>2</m:t>
                          </m:r>
                        </m:sup>
                      </m:sSup>
                      <m:r>
                        <m:rPr>
                          <m:sty m:val="p"/>
                        </m:rPr>
                        <m:t>=</m:t>
                      </m:r>
                      <m:r>
                        <m:t>1</m:t>
                      </m:r>
                      <m:r>
                        <m:rPr>
                          <m:sty m:val="p"/>
                        </m:rPr>
                        <m:t>−</m:t>
                      </m:r>
                      <m:f>
                        <m:fPr>
                          <m:type m:val="bar"/>
                        </m:fPr>
                        <m:num>
                          <m:r>
                            <m:t>S</m:t>
                          </m:r>
                          <m:sSub>
                            <m:e>
                              <m:r>
                                <m:t>S</m:t>
                              </m:r>
                            </m:e>
                            <m:sub>
                              <m:r>
                                <m:t>R</m:t>
                              </m:r>
                              <m:r>
                                <m:t>e</m:t>
                              </m:r>
                              <m:r>
                                <m:t>s</m:t>
                              </m:r>
                              <m:r>
                                <m:t>i</m:t>
                              </m:r>
                              <m:r>
                                <m:t>d</m:t>
                              </m:r>
                              <m:r>
                                <m:t>u</m:t>
                              </m:r>
                              <m:r>
                                <m:t>a</m:t>
                              </m:r>
                              <m:r>
                                <m:t>l</m:t>
                              </m:r>
                            </m:sub>
                          </m:sSub>
                          <m:r>
                            <m:rPr>
                              <m:sty m:val="p"/>
                            </m:rPr>
                            <m:t>/</m:t>
                          </m:r>
                          <m:r>
                            <m:rPr>
                              <m:sty m:val="p"/>
                            </m:rPr>
                            <m:t>(</m:t>
                          </m:r>
                          <m:r>
                            <m:t>n</m:t>
                          </m:r>
                          <m:r>
                            <m:rPr>
                              <m:sty m:val="p"/>
                            </m:rPr>
                            <m:t>−</m:t>
                          </m:r>
                          <m:r>
                            <m:rPr>
                              <m:sty m:val="p"/>
                            </m:rPr>
                            <m:t>(</m:t>
                          </m:r>
                          <m:r>
                            <m:t>p</m:t>
                          </m:r>
                          <m:r>
                            <m:rPr>
                              <m:sty m:val="p"/>
                            </m:rPr>
                            <m:t>+</m:t>
                          </m:r>
                          <m:r>
                            <m:t>1</m:t>
                          </m:r>
                          <m:r>
                            <m:rPr>
                              <m:sty m:val="p"/>
                            </m:rPr>
                            <m:t>)</m:t>
                          </m:r>
                          <m:r>
                            <m:rPr>
                              <m:sty m:val="p"/>
                            </m:rPr>
                            <m:t>)</m:t>
                          </m:r>
                        </m:num>
                        <m:den>
                          <m:r>
                            <m:t>S</m:t>
                          </m:r>
                          <m:sSub>
                            <m:e>
                              <m:r>
                                <m:t>S</m:t>
                              </m:r>
                            </m:e>
                            <m:sub>
                              <m:r>
                                <m:t>T</m:t>
                              </m:r>
                              <m:r>
                                <m:t>o</m:t>
                              </m:r>
                              <m:r>
                                <m:t>t</m:t>
                              </m:r>
                              <m:r>
                                <m:t>a</m:t>
                              </m:r>
                              <m:r>
                                <m:t>l</m:t>
                              </m:r>
                            </m:sub>
                          </m:sSub>
                          <m:r>
                            <m:rPr>
                              <m:sty m:val="p"/>
                            </m:rPr>
                            <m:t>/</m:t>
                          </m:r>
                          <m:r>
                            <m:rPr>
                              <m:sty m:val="p"/>
                            </m:rPr>
                            <m:t>(</m:t>
                          </m:r>
                          <m:r>
                            <m:t>n</m:t>
                          </m:r>
                          <m:r>
                            <m:rPr>
                              <m:sty m:val="p"/>
                            </m:rPr>
                            <m:t>−</m:t>
                          </m:r>
                          <m:r>
                            <m:t>1</m:t>
                          </m:r>
                          <m:r>
                            <m:rPr>
                              <m:sty m:val="p"/>
                            </m:rPr>
                            <m:t>)</m:t>
                          </m:r>
                        </m:den>
                      </m:f>
                    </m:oMath>
                  </m:oMathPara>
                </a14:m>
              </a:p>
              <a:p>
                <a:pPr lvl="0" indent="0" marL="0">
                  <a:buNone/>
                </a:pPr>
                <a14:m>
                  <m:oMathPara xmlns:m="http://schemas.openxmlformats.org/officeDocument/2006/math">
                    <m:oMathParaPr>
                      <m:jc m:val="center"/>
                    </m:oMathParaPr>
                    <m:oMath>
                      <m:r>
                        <m:rPr>
                          <m:nor/>
                          <m:sty m:val="p"/>
                        </m:rPr>
                        <m:t>AIC</m:t>
                      </m:r>
                      <m:r>
                        <m:rPr>
                          <m:sty m:val="p"/>
                        </m:rPr>
                        <m:t>=</m:t>
                      </m:r>
                      <m:r>
                        <m:t>n</m:t>
                      </m:r>
                      <m:r>
                        <m:rPr>
                          <m:sty m:val="p"/>
                        </m:rPr>
                        <m:t>[</m:t>
                      </m:r>
                      <m:r>
                        <m:rPr>
                          <m:sty m:val="p"/>
                        </m:rPr>
                        <m:t>ln</m:t>
                      </m:r>
                      <m:r>
                        <m:rPr>
                          <m:sty m:val="p"/>
                        </m:rPr>
                        <m:t>(</m:t>
                      </m:r>
                      <m:r>
                        <m:t>S</m:t>
                      </m:r>
                      <m:sSub>
                        <m:e>
                          <m:r>
                            <m:t>S</m:t>
                          </m:r>
                        </m:e>
                        <m:sub>
                          <m:r>
                            <m:t>R</m:t>
                          </m:r>
                          <m:r>
                            <m:t>e</m:t>
                          </m:r>
                          <m:r>
                            <m:t>s</m:t>
                          </m:r>
                          <m:r>
                            <m:t>i</m:t>
                          </m:r>
                          <m:r>
                            <m:t>d</m:t>
                          </m:r>
                          <m:r>
                            <m:t>u</m:t>
                          </m:r>
                          <m:r>
                            <m:t>a</m:t>
                          </m:r>
                          <m:r>
                            <m:t>l</m:t>
                          </m:r>
                        </m:sub>
                      </m:sSub>
                      <m:r>
                        <m:rPr>
                          <m:sty m:val="p"/>
                        </m:rPr>
                        <m:t>)</m:t>
                      </m:r>
                      <m:r>
                        <m:rPr>
                          <m:sty m:val="p"/>
                        </m:rPr>
                        <m:t>]</m:t>
                      </m:r>
                      <m:r>
                        <m:rPr>
                          <m:sty m:val="p"/>
                        </m:rPr>
                        <m:t>+</m:t>
                      </m:r>
                      <m:r>
                        <m:t>2</m:t>
                      </m:r>
                      <m:r>
                        <m:rPr>
                          <m:sty m:val="p"/>
                        </m:rPr>
                        <m:t>(</m:t>
                      </m:r>
                      <m:r>
                        <m:t>p</m:t>
                      </m:r>
                      <m:r>
                        <m:rPr>
                          <m:sty m:val="p"/>
                        </m:rPr>
                        <m:t>+</m:t>
                      </m:r>
                      <m:r>
                        <m:t>1</m:t>
                      </m:r>
                      <m:r>
                        <m:rPr>
                          <m:sty m:val="p"/>
                        </m:rPr>
                        <m:t>)</m:t>
                      </m:r>
                      <m:r>
                        <m:rPr>
                          <m:sty m:val="p"/>
                        </m:rPr>
                        <m:t>−</m:t>
                      </m:r>
                      <m:r>
                        <m:t>n</m:t>
                      </m:r>
                      <m:r>
                        <m:rPr>
                          <m:sty m:val="p"/>
                        </m:rPr>
                        <m:t>ln</m:t>
                      </m:r>
                      <m:r>
                        <m:rPr>
                          <m:sty m:val="p"/>
                        </m:rPr>
                        <m:t>(</m:t>
                      </m:r>
                      <m:r>
                        <m:t>n</m:t>
                      </m:r>
                      <m:r>
                        <m:rPr>
                          <m:sty m:val="p"/>
                        </m:rPr>
                        <m:t>)</m:t>
                      </m:r>
                    </m:oMath>
                  </m:oMathPara>
                </a14:m>
              </a:p>
            </p:txBody>
          </p:sp>
        </mc:Choice>
      </mc:AlternateContent>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Comparing Models — How to Search</a:t>
            </a:r>
          </a:p>
        </p:txBody>
      </p:sp>
      <p:sp>
        <p:nvSpPr>
          <p:cNvPr id="3" name="Content Placeholder 2"/>
          <p:cNvSpPr>
            <a:spLocks noGrp="1"/>
          </p:cNvSpPr>
          <p:nvPr>
            <p:ph idx="1" sz="half"/>
          </p:nvPr>
        </p:nvSpPr>
        <p:spPr/>
        <p:txBody>
          <a:bodyPr/>
          <a:lstStyle/>
          <a:p>
            <a:pPr lvl="0"/>
            <a:r>
              <a:rPr/>
              <a:t>Can fit all possible models, then compare AICs or adjusted r² — tedious with lots of predictors</a:t>
            </a:r>
          </a:p>
          <a:p>
            <a:pPr lvl="0"/>
            <a:r>
              <a:rPr/>
              <a:t>Automated forward (and backward) stepwise procedures: start with no terms (or all terms), add (remove) the term with the largest (smallest) partial F statistic</a:t>
            </a:r>
          </a:p>
          <a:p>
            <a:pPr lvl="0"/>
            <a:r>
              <a:rPr/>
              <a:t>We will use a manual form of backward selection</a:t>
            </a:r>
          </a:p>
        </p:txBody>
      </p:sp>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Notice</a:t>
            </a:r>
          </a:p>
          <a:p>
            <a:pPr lvl="0" indent="0" marL="1270000">
              <a:buNone/>
            </a:pPr>
            <a:r>
              <a:rPr sz="2000"/>
              <a:t>Automated stepwise selection is convenient but controversial — it can overfit and doesn’t know which predictors make biological sense. Manual, hypothesis-driven selection is usually better for a small model.</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Comparing Models — the Full Model</a:t>
            </a:r>
          </a:p>
        </p:txBody>
      </p:sp>
      <p:sp>
        <p:nvSpPr>
          <p:cNvPr id="3" name="Content Placeholder 2"/>
          <p:cNvSpPr>
            <a:spLocks noGrp="1"/>
          </p:cNvSpPr>
          <p:nvPr>
            <p:ph idx="1"/>
          </p:nvPr>
        </p:nvSpPr>
        <p:spPr/>
        <p:txBody>
          <a:bodyPr/>
          <a:lstStyle/>
          <a:p>
            <a:pPr lvl="0" indent="0">
              <a:buNone/>
            </a:pPr>
            <a:r>
              <a:rPr>
                <a:latin typeface="Courier"/>
              </a:rPr>
              <a:t>
========== FULL MODEL (Both Variables) ==========</a:t>
            </a:r>
          </a:p>
          <a:p>
            <a:pPr lvl="0" indent="0">
              <a:buNone/>
            </a:pPr>
            <a:r>
              <a:rPr>
                <a:latin typeface="Courier"/>
              </a:rPr>
              <a:t>
Call:
lm(formula = ant_spp ~ elevation + latitude, data = ant_df)
Residuals:
    Min      1Q  Median      3Q     Max 
-6.1180 -2.3759  0.3218  1.9070  5.8369 
Coefficients:
            Estimate Std. Error t value Pr(&gt;|t|)   
(Intercept) 98.49651   26.50701   3.716  0.00147 **
elevation   -0.01226    0.00411  -2.983  0.00765 **
latitude    -2.00981    0.61956  -3.244  0.00427 **
---
Signif. codes:  0 '***' 0.001 '**' 0.01 '*' 0.05 '.' 0.1 ' ' 1
Residual standard error: 3.022 on 19 degrees of freedom
Multiple R-squared:  0.5543,    Adjusted R-squared:  0.5074 
F-statistic: 11.82 on 2 and 19 DF,  p-value: 0.000463</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Comparing Models — Elevation Only</a:t>
            </a:r>
          </a:p>
        </p:txBody>
      </p:sp>
      <p:sp>
        <p:nvSpPr>
          <p:cNvPr id="3" name="Content Placeholder 2"/>
          <p:cNvSpPr>
            <a:spLocks noGrp="1"/>
          </p:cNvSpPr>
          <p:nvPr>
            <p:ph idx="1"/>
          </p:nvPr>
        </p:nvSpPr>
        <p:spPr/>
        <p:txBody>
          <a:bodyPr/>
          <a:lstStyle/>
          <a:p>
            <a:pPr lvl="0" indent="0">
              <a:buNone/>
            </a:pPr>
            <a:r>
              <a:rPr>
                <a:latin typeface="Courier"/>
              </a:rPr>
              <a:t>
========== ELEVATION ONLY MODEL ==========</a:t>
            </a:r>
          </a:p>
          <a:p>
            <a:pPr lvl="0" indent="0">
              <a:buNone/>
            </a:pPr>
            <a:r>
              <a:rPr>
                <a:latin typeface="Courier"/>
              </a:rPr>
              <a:t>
Call:
lm(formula = ant_spp ~ elevation, data = ant_df)
Residuals:
    Min      1Q  Median      3Q     Max 
-4.9010 -2.6947 -0.9502  2.9657  7.6363 
Coefficients:
             Estimate Std. Error t value Pr(&gt;|t|)    
(Intercept) 12.589088   1.385615   9.086 1.55e-08 ***
elevation   -0.014641   0.004913  -2.980   0.0074 ** 
---
Signif. codes:  0 '***' 0.001 '**' 0.01 '*' 0.05 '.' 0.1 ' ' 1
Residual standard error: 3.671 on 20 degrees of freedom
Multiple R-squared:  0.3075,    Adjusted R-squared:  0.2729 
F-statistic: 8.881 on 1 and 20 DF,  p-value: 0.0074</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Comparing Models — Latitude Only</a:t>
            </a:r>
          </a:p>
        </p:txBody>
      </p:sp>
      <p:sp>
        <p:nvSpPr>
          <p:cNvPr id="3" name="Content Placeholder 2"/>
          <p:cNvSpPr>
            <a:spLocks noGrp="1"/>
          </p:cNvSpPr>
          <p:nvPr>
            <p:ph idx="1"/>
          </p:nvPr>
        </p:nvSpPr>
        <p:spPr/>
        <p:txBody>
          <a:bodyPr/>
          <a:lstStyle/>
          <a:p>
            <a:pPr lvl="0" indent="0">
              <a:buNone/>
            </a:pPr>
            <a:r>
              <a:rPr>
                <a:latin typeface="Courier"/>
              </a:rPr>
              <a:t>
========== LATITUDE ONLY MODEL ==========</a:t>
            </a:r>
          </a:p>
          <a:p>
            <a:pPr lvl="0" indent="0">
              <a:buNone/>
            </a:pPr>
            <a:r>
              <a:rPr>
                <a:latin typeface="Courier"/>
              </a:rPr>
              <a:t>
Call:
lm(formula = ant_spp ~ latitude, data = ant_df)
Residuals:
    Min      1Q  Median      3Q     Max 
-6.2223 -2.1188  0.0599  2.1267  6.4990 
Coefficients:
            Estimate Std. Error t value Pr(&gt;|t|)   
(Intercept) 109.8532    30.9803   3.546  0.00203 **
latitude     -2.3401     0.7199  -3.251  0.00401 **
---
Signif. codes:  0 '***' 0.001 '**' 0.01 '*' 0.05 '.' 0.1 ' ' 1
Residual standard error: 3.569 on 20 degrees of freedom
Multiple R-squared:  0.3457,    Adjusted R-squared:  0.313 
F-statistic: 10.57 on 1 and 20 DF,  p-value: 0.004006</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Comparing Models — Putting It Together</a:t>
            </a:r>
          </a:p>
        </p:txBody>
      </p:sp>
      <p:sp>
        <p:nvSpPr>
          <p:cNvPr id="3" name="Content Placeholder 2"/>
          <p:cNvSpPr>
            <a:spLocks noGrp="1"/>
          </p:cNvSpPr>
          <p:nvPr>
            <p:ph idx="1"/>
          </p:nvPr>
        </p:nvSpPr>
        <p:spPr/>
        <p:txBody>
          <a:bodyPr/>
          <a:lstStyle/>
          <a:p>
            <a:pPr lvl="0" indent="0">
              <a:buNone/>
            </a:pPr>
            <a:r>
              <a:rPr>
                <a:latin typeface="Courier"/>
              </a:rPr>
              <a:t>
========== MODEL COMPARISON TABLE ==========</a:t>
            </a:r>
          </a:p>
          <a:p>
            <a:pPr lvl="0" indent="0">
              <a:buNone/>
            </a:pPr>
            <a:r>
              <a:rPr>
                <a:latin typeface="Courier"/>
              </a:rPr>
              <a:t>           Model Adjusted_R2      AIC R2_vs_Full AIC_vs_Full
1 Both Variables   0.5074180 115.8646  0.0000000    0.000000
2 Elevation Only   0.2728722 123.5608 -0.2345459    7.696164
3  Latitude Only   0.3129580 122.3132 -0.1944600    6.448613</a:t>
            </a:r>
          </a:p>
          <a:p>
            <a:pPr lvl="0" indent="0">
              <a:buNone/>
            </a:pPr>
            <a:r>
              <a:rPr>
                <a:latin typeface="Courier"/>
              </a:rPr>
              <a:t>
========== KEY FINDINGS ==========</a:t>
            </a:r>
          </a:p>
          <a:p>
            <a:pPr lvl="0" indent="0">
              <a:buNone/>
            </a:pPr>
            <a:r>
              <a:rPr>
                <a:latin typeface="Courier"/>
              </a:rPr>
              <a:t>Full Model AIC: 115.86 (Adjusted R^2: 0.5074)</a:t>
            </a:r>
          </a:p>
          <a:p>
            <a:pPr lvl="0" indent="0">
              <a:buNone/>
            </a:pPr>
            <a:r>
              <a:rPr>
                <a:latin typeface="Courier"/>
              </a:rPr>
              <a:t>Elevation Only AIC: 123.56 (Adjusted R^2: 0.2729)</a:t>
            </a:r>
          </a:p>
          <a:p>
            <a:pPr lvl="0" indent="0">
              <a:buNone/>
            </a:pPr>
            <a:r>
              <a:rPr>
                <a:latin typeface="Courier"/>
              </a:rPr>
              <a:t>Latitude Only AIC: 122.31 (Adjusted R^2: 0.3130)</a:t>
            </a:r>
          </a:p>
          <a:p>
            <a:pPr lvl="0" indent="0">
              <a:buNone/>
            </a:pPr>
            <a:r>
              <a:rPr>
                <a:latin typeface="Courier"/>
              </a:rPr>
              <a:t>
--- Differences from Full Model ---</a:t>
            </a:r>
          </a:p>
          <a:p>
            <a:pPr lvl="0" indent="0">
              <a:buNone/>
            </a:pPr>
            <a:r>
              <a:rPr>
                <a:latin typeface="Courier"/>
              </a:rPr>
              <a:t>Removing latitude: AIC increases by 7.70, Adj R^2 decreases by -0.2345</a:t>
            </a:r>
          </a:p>
          <a:p>
            <a:pPr lvl="0" indent="0">
              <a:buNone/>
            </a:pPr>
            <a:r>
              <a:rPr>
                <a:latin typeface="Courier"/>
              </a:rPr>
              <a:t>Removing elevation: AIC increases by 6.45, Adj R^2 decreases by -0.1945</a:t>
            </a:r>
          </a:p>
          <a:p>
            <a:pPr lvl="0" indent="0">
              <a:buNone/>
            </a:pPr>
            <a:r>
              <a:rPr>
                <a:latin typeface="Courier"/>
              </a:rPr>
              <a:t>
========== CONCLUSION ==========</a:t>
            </a:r>
          </a:p>
          <a:p>
            <a:pPr lvl="0" indent="0">
              <a:buNone/>
            </a:pPr>
            <a:r>
              <a:rPr>
                <a:latin typeface="Courier"/>
              </a:rPr>
              <a:t>Full model has LOWEST AIC (best fit)</a:t>
            </a:r>
          </a:p>
          <a:p>
            <a:pPr lvl="0" indent="0">
              <a:buNone/>
            </a:pPr>
            <a:r>
              <a:rPr>
                <a:latin typeface="Courier"/>
              </a:rPr>
              <a:t>Full model has HIGHEST Adjusted R^2 (explains most variance)</a:t>
            </a:r>
          </a:p>
          <a:p>
            <a:pPr lvl="0" indent="0">
              <a:buNone/>
            </a:pPr>
            <a:r>
              <a:rPr>
                <a:latin typeface="Courier"/>
              </a:rPr>
              <a:t>Removing either variable worsens model performance</a:t>
            </a:r>
          </a:p>
          <a:p>
            <a:pPr lvl="0" indent="0">
              <a:buNone/>
            </a:pPr>
            <a:r>
              <a:rPr>
                <a:latin typeface="Courier"/>
              </a:rPr>
              <a:t>
Both elevation and latitude are important predictors of ant species diversity!</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9 · Relative Importance of Predictors</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How Important Is Each Predictor?</a:t>
            </a:r>
          </a:p>
        </p:txBody>
      </p:sp>
      <p:sp>
        <p:nvSpPr>
          <p:cNvPr id="3" name="Content Placeholder 2"/>
          <p:cNvSpPr>
            <a:spLocks noGrp="1"/>
          </p:cNvSpPr>
          <p:nvPr>
            <p:ph idx="1" sz="half"/>
          </p:nvPr>
        </p:nvSpPr>
        <p:spPr/>
        <p:txBody>
          <a:bodyPr/>
          <a:lstStyle/>
          <a:p>
            <a:pPr lvl="0" indent="0" marL="0">
              <a:buNone/>
            </a:pPr>
            <a:r>
              <a:rPr/>
              <a:t>Usually we want to know the relative importance of predictors in explaining Y. Three general approaches:</a:t>
            </a:r>
          </a:p>
          <a:p>
            <a:pPr lvl="0"/>
            <a:r>
              <a:rPr/>
              <a:t>Using F-tests (or t-tests) on partial regression slopes</a:t>
            </a:r>
          </a:p>
          <a:p>
            <a:pPr lvl="0"/>
            <a:r>
              <a:rPr/>
              <a:t>Using the coefficient of partial determination</a:t>
            </a:r>
          </a:p>
          <a:p>
            <a:pPr lvl="0"/>
            <a:r>
              <a:rPr/>
              <a:t>Using standardized partial regression slopes</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Key idea</a:t>
            </a:r>
          </a:p>
          <a:p>
            <a:pPr lvl="0" indent="0" marL="1270000">
              <a:buNone/>
            </a:pPr>
            <a:r>
              <a:rPr sz="2000"/>
              <a:t>None of these three approaches is “the” right answer — each answers a slightly different question about importance.</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Approach 1 — F-Tests on Partial Slopes</a:t>
            </a:r>
          </a:p>
        </p:txBody>
      </p:sp>
      <p:sp>
        <p:nvSpPr>
          <p:cNvPr id="3" name="Content Placeholder 2"/>
          <p:cNvSpPr>
            <a:spLocks noGrp="1"/>
          </p:cNvSpPr>
          <p:nvPr>
            <p:ph idx="1" sz="half"/>
          </p:nvPr>
        </p:nvSpPr>
        <p:spPr/>
        <p:txBody>
          <a:bodyPr/>
          <a:lstStyle/>
          <a:p>
            <a:pPr lvl="0" indent="0" marL="0">
              <a:buNone/>
            </a:pPr>
            <a:r>
              <a:rPr/>
              <a:t>Using F-tests (or t-tests) on partial regression slopes:</a:t>
            </a:r>
          </a:p>
          <a:p>
            <a:pPr lvl="0"/>
            <a:r>
              <a:rPr/>
              <a:t>Conduct F-tests of H₀ that each partial regression slope = 0</a:t>
            </a:r>
          </a:p>
          <a:p>
            <a:pPr lvl="0"/>
            <a:r>
              <a:rPr/>
              <a:t>If you cannot reject H₀, discard the predictor</a:t>
            </a:r>
          </a:p>
          <a:p>
            <a:pPr lvl="0"/>
            <a:r>
              <a:rPr/>
              <a:t>Can get additional clues from the relative size of F-values</a:t>
            </a:r>
          </a:p>
          <a:p>
            <a:pPr lvl="0"/>
            <a:r>
              <a:rPr/>
              <a:t>Does </a:t>
            </a:r>
            <a:r>
              <a:rPr b="1"/>
              <a:t>not</a:t>
            </a:r>
            <a:r>
              <a:rPr/>
              <a:t> tell us the absolute importance of a predictor — you usually cannot directly compare slope parameters</a:t>
            </a:r>
          </a:p>
        </p:txBody>
      </p:sp>
      <p:sp>
        <p:nvSpPr>
          <p:cNvPr id="4" name="Content Placeholder 3"/>
          <p:cNvSpPr>
            <a:spLocks noGrp="1"/>
          </p:cNvSpPr>
          <p:nvPr>
            <p:ph idx="2" sz="half"/>
          </p:nvPr>
        </p:nvSpPr>
        <p:spPr/>
        <p:txBody>
          <a:bodyPr/>
          <a:lstStyle/>
          <a:p>
            <a:pPr lvl="0" indent="0" marL="1270000">
              <a:buNone/>
            </a:pPr>
            <a:r>
              <a:rPr sz="2000" b="1"/>
              <a:t>Warning</a:t>
            </a:r>
          </a:p>
          <a:p>
            <a:pPr lvl="0" indent="0" marL="1270000">
              <a:buNone/>
            </a:pPr>
            <a:r>
              <a:rPr sz="2000" b="1"/>
              <a:t>⚠️ Watch out!</a:t>
            </a:r>
          </a:p>
          <a:p>
            <a:pPr lvl="0" indent="0" marL="1270000">
              <a:buNone/>
            </a:pPr>
            <a:r>
              <a:rPr sz="2000"/>
              <a:t>A bigger F-value doesn’t automatically mean a “more important” predictor if the predictors are on very different scales.</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Approach 2 — Coefficient of Partial Determination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reduction in variation of Y due to adding predictor Xⱼ:</a:t>
                </a:r>
              </a:p>
              <a:p>
                <a:pPr lvl="0" indent="0" marL="0">
                  <a:buNone/>
                </a:pPr>
                <a14:m>
                  <m:oMathPara xmlns:m="http://schemas.openxmlformats.org/officeDocument/2006/math">
                    <m:oMathParaPr>
                      <m:jc m:val="center"/>
                    </m:oMathParaPr>
                    <m:oMath>
                      <m:sSubSup>
                        <m:e>
                          <m:r>
                            <m:t>r</m:t>
                          </m:r>
                        </m:e>
                        <m:sub>
                          <m:sSub>
                            <m:e>
                              <m:r>
                                <m:t>X</m:t>
                              </m:r>
                            </m:e>
                            <m:sub>
                              <m:r>
                                <m:t>j</m:t>
                              </m:r>
                            </m:sub>
                          </m:sSub>
                        </m:sub>
                        <m:sup>
                          <m:r>
                            <m:t>2</m:t>
                          </m:r>
                        </m:sup>
                      </m:sSubSup>
                      <m:r>
                        <m:rPr>
                          <m:sty m:val="p"/>
                        </m:rPr>
                        <m:t>=</m:t>
                      </m:r>
                      <m:f>
                        <m:fPr>
                          <m:type m:val="bar"/>
                        </m:fPr>
                        <m:num>
                          <m:r>
                            <m:t>S</m:t>
                          </m:r>
                          <m:sSub>
                            <m:e>
                              <m:r>
                                <m:t>S</m:t>
                              </m:r>
                            </m:e>
                            <m:sub>
                              <m:r>
                                <m:t>E</m:t>
                              </m:r>
                              <m:r>
                                <m:t>x</m:t>
                              </m:r>
                              <m:r>
                                <m:t>t</m:t>
                              </m:r>
                              <m:r>
                                <m:t>r</m:t>
                              </m:r>
                              <m:r>
                                <m:t>a</m:t>
                              </m:r>
                            </m:sub>
                          </m:sSub>
                        </m:num>
                        <m:den>
                          <m:r>
                            <m:t>R</m:t>
                          </m:r>
                          <m:r>
                            <m:t>e</m:t>
                          </m:r>
                          <m:r>
                            <m:t>d</m:t>
                          </m:r>
                          <m:r>
                            <m:t>u</m:t>
                          </m:r>
                          <m:r>
                            <m:t>c</m:t>
                          </m:r>
                          <m:r>
                            <m:t>e</m:t>
                          </m:r>
                          <m:r>
                            <m:t>d</m:t>
                          </m:r>
                          <m:r>
                            <m:t> </m:t>
                          </m:r>
                          <m:r>
                            <m:t>S</m:t>
                          </m:r>
                          <m:sSub>
                            <m:e>
                              <m:r>
                                <m:t>S</m:t>
                              </m:r>
                            </m:e>
                            <m:sub>
                              <m:r>
                                <m:t>R</m:t>
                              </m:r>
                              <m:r>
                                <m:t>e</m:t>
                              </m:r>
                              <m:r>
                                <m:t>s</m:t>
                              </m:r>
                              <m:r>
                                <m:t>i</m:t>
                              </m:r>
                              <m:r>
                                <m:t>d</m:t>
                              </m:r>
                              <m:r>
                                <m:t>u</m:t>
                              </m:r>
                              <m:r>
                                <m:t>a</m:t>
                              </m:r>
                              <m:r>
                                <m:t>l</m:t>
                              </m:r>
                            </m:sub>
                          </m:sSub>
                        </m:den>
                      </m:f>
                    </m:oMath>
                  </m:oMathPara>
                </a14:m>
              </a:p>
              <a:p>
                <a:pPr lvl="0"/>
                <a14:m>
                  <m:oMath xmlns:m="http://schemas.openxmlformats.org/officeDocument/2006/math">
                    <m:r>
                      <m:t>S</m:t>
                    </m:r>
                    <m:sSub>
                      <m:e>
                        <m:r>
                          <m:t>S</m:t>
                        </m:r>
                      </m:e>
                      <m:sub>
                        <m:r>
                          <m:t>E</m:t>
                        </m:r>
                        <m:r>
                          <m:t>x</m:t>
                        </m:r>
                        <m:r>
                          <m:t>t</m:t>
                        </m:r>
                        <m:r>
                          <m:t>r</m:t>
                        </m:r>
                        <m:r>
                          <m:t>a</m:t>
                        </m:r>
                      </m:sub>
                    </m:sSub>
                  </m:oMath>
                </a14:m>
                <a:r>
                  <a:rPr/>
                  <a:t> = increase in </a:t>
                </a:r>
                <a14:m>
                  <m:oMath xmlns:m="http://schemas.openxmlformats.org/officeDocument/2006/math">
                    <m:r>
                      <m:t>S</m:t>
                    </m:r>
                    <m:sSub>
                      <m:e>
                        <m:r>
                          <m:t>S</m:t>
                        </m:r>
                      </m:e>
                      <m:sub>
                        <m:r>
                          <m:t>r</m:t>
                        </m:r>
                        <m:r>
                          <m:t>e</m:t>
                        </m:r>
                        <m:r>
                          <m:t>g</m:t>
                        </m:r>
                        <m:r>
                          <m:t>r</m:t>
                        </m:r>
                        <m:r>
                          <m:t>e</m:t>
                        </m:r>
                        <m:r>
                          <m:t>s</m:t>
                        </m:r>
                        <m:r>
                          <m:t>s</m:t>
                        </m:r>
                        <m:r>
                          <m:t>i</m:t>
                        </m:r>
                        <m:r>
                          <m:t>o</m:t>
                        </m:r>
                        <m:r>
                          <m:t>n</m:t>
                        </m:r>
                      </m:sub>
                    </m:sSub>
                  </m:oMath>
                </a14:m>
                <a:r>
                  <a:rPr/>
                  <a:t> when Xⱼ is added to the model</a:t>
                </a:r>
              </a:p>
              <a:p>
                <a:pPr lvl="0"/>
                <a:r>
                  <a:rPr/>
                  <a:t>Reduced </a:t>
                </a:r>
                <a14:m>
                  <m:oMath xmlns:m="http://schemas.openxmlformats.org/officeDocument/2006/math">
                    <m:r>
                      <m:t>S</m:t>
                    </m:r>
                    <m:sSub>
                      <m:e>
                        <m:r>
                          <m:t>S</m:t>
                        </m:r>
                      </m:e>
                      <m:sub>
                        <m:r>
                          <m:t>r</m:t>
                        </m:r>
                        <m:r>
                          <m:t>e</m:t>
                        </m:r>
                        <m:r>
                          <m:t>s</m:t>
                        </m:r>
                        <m:r>
                          <m:t>i</m:t>
                        </m:r>
                        <m:r>
                          <m:t>d</m:t>
                        </m:r>
                        <m:r>
                          <m:t>u</m:t>
                        </m:r>
                        <m:r>
                          <m:t>a</m:t>
                        </m:r>
                        <m:r>
                          <m:t>l</m:t>
                        </m:r>
                      </m:sub>
                    </m:sSub>
                  </m:oMath>
                </a14:m>
                <a:r>
                  <a:rPr/>
                  <a:t> is the unexplained SS from the model </a:t>
                </a:r>
                <a:r>
                  <a:rPr i="1"/>
                  <a:t>without</a:t>
                </a:r>
                <a:r>
                  <a:rPr/>
                  <a:t> Xⱼ</a:t>
                </a:r>
              </a:p>
            </p:txBody>
          </p:sp>
        </mc:Choice>
      </mc:AlternateContent>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Notice</a:t>
                </a:r>
              </a:p>
              <a:p>
                <a:pPr lvl="0" indent="0" marL="1270000">
                  <a:buNone/>
                </a:pPr>
                <a:r>
                  <a:rPr sz="2000"/>
                  <a:t>This is the same </a:t>
                </a:r>
                <a14:m>
                  <m:oMath xmlns:m="http://schemas.openxmlformats.org/officeDocument/2006/math">
                    <m:r>
                      <m:t>S</m:t>
                    </m:r>
                    <m:sSub>
                      <m:e>
                        <m:r>
                          <m:t>S</m:t>
                        </m:r>
                      </m:e>
                      <m:sub>
                        <m:r>
                          <m:t>E</m:t>
                        </m:r>
                        <m:r>
                          <m:t>x</m:t>
                        </m:r>
                        <m:r>
                          <m:t>t</m:t>
                        </m:r>
                        <m:r>
                          <m:t>r</m:t>
                        </m:r>
                        <m:r>
                          <m:t>a</m:t>
                        </m:r>
                      </m:sub>
                    </m:sSub>
                  </m:oMath>
                </a14:m>
                <a:r>
                  <a:rPr sz="2000"/>
                  <a:t> logic from the partial F-test earlier — just expressed as a proportion of variance instead of an F-ratio.</a:t>
                </a:r>
              </a:p>
            </p:txBody>
          </p:sp>
        </mc:Choice>
      </mc:AlternateContent>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Approach 3 — Standardized Partial Regression Slopes</a:t>
            </a:r>
          </a:p>
        </p:txBody>
      </p:sp>
      <p:sp>
        <p:nvSpPr>
          <p:cNvPr id="3" name="Content Placeholder 2"/>
          <p:cNvSpPr>
            <a:spLocks noGrp="1"/>
          </p:cNvSpPr>
          <p:nvPr>
            <p:ph idx="1" sz="half"/>
          </p:nvPr>
        </p:nvSpPr>
        <p:spPr/>
        <p:txBody>
          <a:bodyPr/>
          <a:lstStyle/>
          <a:p>
            <a:pPr lvl="0" indent="0" marL="0">
              <a:buNone/>
            </a:pPr>
            <a:r>
              <a:rPr/>
              <a:t>Predictors on different scales cannot be directly compared — why?</a:t>
            </a:r>
          </a:p>
          <a:p>
            <a:pPr lvl="0"/>
            <a:r>
              <a:rPr/>
              <a:t>Standardize all variables (mean = 0, SD = 1)</a:t>
            </a:r>
          </a:p>
          <a:p>
            <a:pPr lvl="0"/>
            <a:r>
              <a:rPr/>
              <a:t>Scales are then identical, and a larger standardized partial slope means a more important variable</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Key idea</a:t>
            </a:r>
          </a:p>
          <a:p>
            <a:pPr lvl="0" indent="0" marL="1270000">
              <a:buNone/>
            </a:pPr>
            <a:r>
              <a:rPr sz="2000"/>
              <a:t>Standardizing puts every predictor in “SD units,” so a slope of 0.5 always means “half an SD change in Y per SD change in X” — directly comparable across predictors.</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Partial Eta Squared and Delta R²</a:t>
            </a:r>
          </a:p>
        </p:txBody>
      </p:sp>
      <p:sp>
        <p:nvSpPr>
          <p:cNvPr id="3" name="Content Placeholder 2"/>
          <p:cNvSpPr>
            <a:spLocks noGrp="1"/>
          </p:cNvSpPr>
          <p:nvPr>
            <p:ph idx="1" sz="half"/>
          </p:nvPr>
        </p:nvSpPr>
        <p:spPr/>
        <p:txBody>
          <a:bodyPr/>
          <a:lstStyle/>
          <a:p>
            <a:pPr lvl="0" indent="0" marL="0">
              <a:buNone/>
            </a:pPr>
            <a:r>
              <a:rPr/>
              <a:t>Using partial r² values — </a:t>
            </a:r>
            <a:r>
              <a:rPr b="1"/>
              <a:t>partial eta squared (pEta²):</a:t>
            </a:r>
          </a:p>
          <a:p>
            <a:pPr lvl="0"/>
            <a:r>
              <a:rPr b="1"/>
              <a:t>Elevation: 0.3189 (31.9%)</a:t>
            </a:r>
            <a:r>
              <a:rPr/>
              <a:t> — elevation explains 31.9% of the variance </a:t>
            </a:r>
            <a:r>
              <a:rPr i="1"/>
              <a:t>after controlling for latitude</a:t>
            </a:r>
          </a:p>
          <a:p>
            <a:pPr lvl="0"/>
            <a:r>
              <a:rPr b="1"/>
              <a:t>Latitude: 0.3564 (35.6%)</a:t>
            </a:r>
            <a:r>
              <a:rPr/>
              <a:t> — latitude explains 35.6% of the variance </a:t>
            </a:r>
            <a:r>
              <a:rPr i="1"/>
              <a:t>after controlling for elevation</a:t>
            </a:r>
          </a:p>
          <a:p>
            <a:pPr lvl="0"/>
            <a:r>
              <a:rPr/>
              <a:t>Both are important predictors! Latitude is slightly stronger</a:t>
            </a:r>
          </a:p>
          <a:p>
            <a:pPr lvl="0" indent="0" marL="0">
              <a:buNone/>
            </a:pPr>
            <a:r>
              <a:rPr b="1"/>
              <a:t>Delta R² (semi-partial R²):</a:t>
            </a:r>
          </a:p>
          <a:p>
            <a:pPr lvl="0"/>
            <a:r>
              <a:rPr/>
              <a:t>Elevation: 0.2087 — if you removed elevation, R² would drop by 20.9%</a:t>
            </a:r>
          </a:p>
          <a:p>
            <a:pPr lvl="0"/>
            <a:r>
              <a:rPr/>
              <a:t>Latitude: 0.2468 — if you removed latitude, R² would drop by 24.7%</a:t>
            </a:r>
          </a:p>
          <a:p>
            <a:pPr lvl="0"/>
            <a:r>
              <a:rPr/>
              <a:t>Shows the </a:t>
            </a:r>
            <a:r>
              <a:rPr i="1"/>
              <a:t>unique</a:t>
            </a:r>
            <a:r>
              <a:rPr/>
              <a:t> contribution of each predictor to the total variance explained</a:t>
            </a:r>
          </a:p>
        </p:txBody>
      </p:sp>
      <p:sp>
        <p:nvSpPr>
          <p:cNvPr id="4" name="Content Placeholder 3"/>
          <p:cNvSpPr>
            <a:spLocks noGrp="1"/>
          </p:cNvSpPr>
          <p:nvPr>
            <p:ph idx="2" sz="half"/>
          </p:nvPr>
        </p:nvSpPr>
        <p:spPr/>
        <p:txBody>
          <a:bodyPr/>
          <a:lstStyle/>
          <a:p>
            <a:pPr lvl="0" indent="0">
              <a:buNone/>
            </a:pPr>
            <a:r>
              <a:rPr>
                <a:latin typeface="Courier"/>
              </a:rPr>
              <a:t>
== Type II ANOVA (car package) ==</a:t>
            </a:r>
          </a:p>
          <a:p>
            <a:pPr lvl="0" indent="0">
              <a:buNone/>
            </a:pPr>
            <a:r>
              <a:rPr>
                <a:latin typeface="Courier"/>
              </a:rPr>
              <a:t>Anova Table (Type II tests)
Response: ant_spp
           Sum Sq Df F value   Pr(&gt;F)   
elevation  81.224  1  8.8955 0.007652 **
latitude   96.085  1 10.5231 0.004272 **
Residuals 173.487 19                    
---
Signif. codes:  0 '***' 0.001 '**' 0.01 '*' 0.05 '.' 0.1 ' ' 1</a:t>
            </a:r>
          </a:p>
          <a:p>
            <a:pPr lvl="0" indent="0">
              <a:buNone/>
            </a:pPr>
            <a:r>
              <a:rPr>
                <a:latin typeface="Courier"/>
              </a:rPr>
              <a:t>== Coefficients Table ==</a:t>
            </a:r>
          </a:p>
          <a:p>
            <a:pPr lvl="0" indent="0">
              <a:buNone/>
            </a:pPr>
            <a:r>
              <a:rPr>
                <a:latin typeface="Courier"/>
              </a:rPr>
              <a:t> Coefficients    SSR df pEta_sqr dR_sqr
    elevation  81.22  1   0.3189 0.2087
     latitude  96.09  1   0.3564 0.2468
    Residuals 173.49 19   0.5000 0.4457</a:t>
            </a:r>
          </a:p>
          <a:p>
            <a:pPr lvl="0" indent="0">
              <a:buNone/>
            </a:pPr>
            <a:r>
              <a:rPr>
                <a:latin typeface="Courier"/>
              </a:rPr>
              <a:t>
== Summary Statistics ==</a:t>
            </a:r>
          </a:p>
          <a:p>
            <a:pPr lvl="0" indent="0">
              <a:buNone/>
            </a:pPr>
            <a:r>
              <a:rPr>
                <a:latin typeface="Courier"/>
              </a:rPr>
              <a:t>SSE: 173.5</a:t>
            </a:r>
          </a:p>
          <a:p>
            <a:pPr lvl="0" indent="0">
              <a:buNone/>
            </a:pPr>
            <a:r>
              <a:rPr>
                <a:latin typeface="Courier"/>
              </a:rPr>
              <a:t>SST: 389.3</a:t>
            </a:r>
          </a:p>
          <a:p>
            <a:pPr lvl="0" indent="0">
              <a:buNone/>
            </a:pPr>
            <a:r>
              <a:rPr>
                <a:latin typeface="Courier"/>
              </a:rPr>
              <a:t>Model R^2: 0.5543</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Wrap-up</a:t>
            </a:r>
          </a:p>
        </p:txBody>
      </p:sp>
      <p:sp>
        <p:nvSpPr>
          <p:cNvPr id="3" name="Content Placeholder 2"/>
          <p:cNvSpPr>
            <a:spLocks noGrp="1"/>
          </p:cNvSpPr>
          <p:nvPr>
            <p:ph idx="1" sz="half"/>
          </p:nvPr>
        </p:nvSpPr>
        <p:spPr/>
        <p:txBody>
          <a:bodyPr/>
          <a:lstStyle/>
          <a:p>
            <a:pPr lvl="0" indent="0" marL="0">
              <a:buNone/>
            </a:pPr>
            <a:r>
              <a:rPr/>
              <a:t>Today you:</a:t>
            </a:r>
          </a:p>
          <a:p>
            <a:pPr lvl="0"/>
            <a:r>
              <a:rPr/>
              <a:t>Extended the regression line to a </a:t>
            </a:r>
            <a:r>
              <a:rPr b="1"/>
              <a:t>plane</a:t>
            </a:r>
            <a:r>
              <a:rPr/>
              <a:t> — two or more predictors at once</a:t>
            </a:r>
          </a:p>
          <a:p>
            <a:pPr lvl="0"/>
            <a:r>
              <a:rPr/>
              <a:t>Learned to read a </a:t>
            </a:r>
            <a:r>
              <a:rPr b="1"/>
              <a:t>partial slope</a:t>
            </a:r>
            <a:r>
              <a:rPr/>
              <a:t>: the effect of one predictor </a:t>
            </a:r>
            <a:r>
              <a:rPr i="1"/>
              <a:t>holding the others constant</a:t>
            </a:r>
            <a:r>
              <a:rPr/>
              <a:t>, which is not the same as its slope on its own</a:t>
            </a:r>
          </a:p>
          <a:p>
            <a:pPr lvl="0"/>
            <a:r>
              <a:rPr/>
              <a:t>Tested the whole model with an </a:t>
            </a:r>
            <a:r>
              <a:rPr b="1"/>
              <a:t>overall F</a:t>
            </a:r>
            <a:r>
              <a:rPr/>
              <a:t>, and single predictors with </a:t>
            </a:r>
            <a:r>
              <a:rPr b="1"/>
              <a:t>partial F-tests</a:t>
            </a:r>
          </a:p>
          <a:p>
            <a:pPr lvl="0"/>
            <a:r>
              <a:rPr/>
              <a:t>Diagnosed </a:t>
            </a:r>
            <a:r>
              <a:rPr b="1"/>
              <a:t>collinearity</a:t>
            </a:r>
            <a:r>
              <a:rPr/>
              <a:t> with </a:t>
            </a:r>
            <a:r>
              <a:rPr>
                <a:latin typeface="Courier"/>
              </a:rPr>
              <a:t>vif()</a:t>
            </a:r>
            <a:r>
              <a:rPr/>
              <a:t>, and saw why a high VIF poisons the individual slopes without necessarily hurting the fit</a:t>
            </a:r>
          </a:p>
          <a:p>
            <a:pPr lvl="0"/>
            <a:r>
              <a:rPr/>
              <a:t>Fitted an </a:t>
            </a:r>
            <a:r>
              <a:rPr b="1"/>
              <a:t>interaction</a:t>
            </a:r>
            <a:r>
              <a:rPr/>
              <a:t> and paid for it in degrees of freedom and interpretability</a:t>
            </a:r>
          </a:p>
          <a:p>
            <a:pPr lvl="0"/>
            <a:r>
              <a:rPr/>
              <a:t>Coded a categorical predictor as </a:t>
            </a:r>
            <a:r>
              <a:rPr b="1"/>
              <a:t>dummy variables</a:t>
            </a:r>
            <a:r>
              <a:rPr/>
              <a:t> against a reference level</a:t>
            </a:r>
          </a:p>
          <a:p>
            <a:pPr lvl="0"/>
            <a:r>
              <a:rPr/>
              <a:t>Compared models with </a:t>
            </a:r>
            <a:r>
              <a:rPr b="1"/>
              <a:t>adjusted R²</a:t>
            </a:r>
            <a:r>
              <a:rPr/>
              <a:t> and </a:t>
            </a:r>
            <a:r>
              <a:rPr b="1"/>
              <a:t>AIC</a:t>
            </a:r>
            <a:r>
              <a:rPr/>
              <a:t>, which penalize you for adding predictors</a:t>
            </a:r>
          </a:p>
          <a:p>
            <a:pPr lvl="0"/>
            <a:r>
              <a:rPr/>
              <a:t>Ranked predictors by partial F, partial R², and standardized slopes</a:t>
            </a:r>
          </a:p>
          <a:p>
            <a:pPr lvl="0" indent="0" marL="1270000">
              <a:buNone/>
            </a:pPr>
            <a:r>
              <a:rPr sz="2000" b="1"/>
              <a:t>Important</a:t>
            </a:r>
          </a:p>
          <a:p>
            <a:pPr lvl="0" indent="0" marL="1270000">
              <a:buNone/>
            </a:pPr>
            <a:r>
              <a:rPr sz="2000" b="1"/>
              <a:t>⚠️ The trap to remember</a:t>
            </a:r>
          </a:p>
          <a:p>
            <a:pPr lvl="0" indent="0" marL="1270000">
              <a:buNone/>
            </a:pPr>
            <a:r>
              <a:rPr sz="2000"/>
              <a:t>Adding predictors </a:t>
            </a:r>
            <a:r>
              <a:rPr sz="2000" b="1"/>
              <a:t>always</a:t>
            </a:r>
            <a:r>
              <a:rPr sz="2000"/>
              <a:t> raises plain R². That is why we never compare models on R² alone — adjusted R² and AIC exist precisely because “it explains more variance” is not the same as “it is a better model.”</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The one idea to keep</a:t>
            </a:r>
          </a:p>
          <a:p>
            <a:pPr lvl="0" indent="0" marL="1270000">
              <a:buNone/>
            </a:pPr>
            <a:r>
              <a:rPr sz="2000"/>
              <a:t>A partial slope answers a </a:t>
            </a:r>
            <a:r>
              <a:rPr sz="2000" i="1"/>
              <a:t>conditional</a:t>
            </a:r>
            <a:r>
              <a:rPr sz="2000"/>
              <a:t> question — “what does elevation do among sites at the same latitude?” Change which other predictors are in the model and you have changed the question, so the number is allowed to change too.</a:t>
            </a:r>
          </a:p>
          <a:p>
            <a:pPr lvl="0" indent="0" marL="1270000">
              <a:buNone/>
            </a:pPr>
            <a:r>
              <a:rPr sz="2000" b="1"/>
              <a:t>Note</a:t>
            </a:r>
          </a:p>
          <a:p>
            <a:pPr lvl="0" indent="0" marL="1270000">
              <a:buNone/>
            </a:pPr>
            <a:r>
              <a:rPr sz="2000" b="1"/>
              <a:t>Up next — Analysis of Variance</a:t>
            </a:r>
          </a:p>
          <a:p>
            <a:pPr lvl="0"/>
            <a:r>
              <a:rPr sz="2000"/>
              <a:t>What happens when every predictor is categorical</a:t>
            </a:r>
          </a:p>
          <a:p>
            <a:pPr lvl="0"/>
            <a:r>
              <a:rPr sz="2000"/>
              <a:t>Why ANOVA and regression are the same machinery wearing different clothes</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Getting unstuck</a:t>
            </a:r>
          </a:p>
        </p:txBody>
      </p:sp>
      <p:sp>
        <p:nvSpPr>
          <p:cNvPr id="3" name="Content Placeholder 2"/>
          <p:cNvSpPr>
            <a:spLocks noGrp="1"/>
          </p:cNvSpPr>
          <p:nvPr>
            <p:ph idx="1"/>
          </p:nvPr>
        </p:nvSpPr>
        <p:spPr/>
        <p:txBody>
          <a:bodyPr/>
          <a:lstStyle/>
          <a:p>
            <a:pPr lvl="0" indent="0" marL="0">
              <a:buNone/>
            </a:pPr>
            <a:r>
              <a:rPr/>
              <a:t>When code breaks — and it will, that is normal:</a:t>
            </a:r>
          </a:p>
          <a:p>
            <a:pPr lvl="0" indent="-342900" marL="342900">
              <a:buAutoNum type="arabicPeriod"/>
            </a:pPr>
            <a:r>
              <a:rPr/>
              <a:t>Read the </a:t>
            </a:r>
            <a:r>
              <a:rPr b="1"/>
              <a:t>error message</a:t>
            </a:r>
            <a:r>
              <a:rPr/>
              <a:t> out loud; it usually names the line</a:t>
            </a:r>
          </a:p>
          <a:p>
            <a:pPr lvl="0" indent="-342900" marL="342900">
              <a:buAutoNum type="arabicPeriod"/>
            </a:pPr>
            <a:r>
              <a:rPr/>
              <a:t>Check the usual suspects: is it </a:t>
            </a:r>
            <a:r>
              <a:rPr>
                <a:latin typeface="Courier"/>
              </a:rPr>
              <a:t>y ~ x1 + x2</a:t>
            </a:r>
            <a:r>
              <a:rPr/>
              <a:t> (additive) or </a:t>
            </a:r>
            <a:r>
              <a:rPr>
                <a:latin typeface="Courier"/>
              </a:rPr>
              <a:t>y ~ x1 * x2</a:t>
            </a:r>
            <a:r>
              <a:rPr/>
              <a:t> (interaction)? Is </a:t>
            </a:r>
            <a:r>
              <a:rPr>
                <a:latin typeface="Courier"/>
              </a:rPr>
              <a:t>car</a:t>
            </a:r>
            <a:r>
              <a:rPr/>
              <a:t> loaded for </a:t>
            </a:r>
            <a:r>
              <a:rPr>
                <a:latin typeface="Courier"/>
              </a:rPr>
              <a:t>vif()</a:t>
            </a:r>
            <a:r>
              <a:rPr/>
              <a:t>? Are you comparing models fitted to the </a:t>
            </a:r>
            <a:r>
              <a:rPr b="1"/>
              <a:t>same rows</a:t>
            </a:r>
            <a:r>
              <a:rPr/>
              <a:t> — an </a:t>
            </a:r>
            <a:r>
              <a:rPr>
                <a:latin typeface="Courier"/>
              </a:rPr>
              <a:t>NA</a:t>
            </a:r>
            <a:r>
              <a:rPr/>
              <a:t> in one predictor silently drops that row</a:t>
            </a:r>
          </a:p>
          <a:p>
            <a:pPr lvl="0" indent="-342900" marL="342900">
              <a:buAutoNum type="arabicPeriod"/>
            </a:pPr>
            <a:r>
              <a:rPr>
                <a:latin typeface="Courier"/>
              </a:rPr>
              <a:t>?function_name</a:t>
            </a:r>
            <a:r>
              <a:rPr/>
              <a:t> opens the help page</a:t>
            </a:r>
          </a:p>
          <a:p>
            <a:pPr lvl="0" indent="-342900" marL="342900">
              <a:buAutoNum type="arabicPeriod"/>
            </a:pPr>
            <a:r>
              <a:rPr/>
              <a:t>Bring the </a:t>
            </a:r>
            <a:r>
              <a:rPr b="1"/>
              <a:t>exact error</a:t>
            </a:r>
            <a:r>
              <a:rPr/>
              <a:t> (copy-paste it) to class or office hours</a:t>
            </a:r>
          </a:p>
          <a:p>
            <a:pPr lvl="0" indent="0" marL="1270000">
              <a:buNone/>
            </a:pPr>
            <a:r>
              <a:rPr sz="2000" b="1"/>
              <a:t>Note</a:t>
            </a:r>
          </a:p>
          <a:p>
            <a:pPr lvl="0" indent="0" marL="1270000">
              <a:buNone/>
            </a:pPr>
            <a:r>
              <a:rPr sz="2000" b="1"/>
              <a:t>✅ Key idea</a:t>
            </a:r>
          </a:p>
          <a:p>
            <a:pPr lvl="0" indent="0" marL="1270000">
              <a:buNone/>
            </a:pPr>
            <a:r>
              <a:rPr sz="2000"/>
              <a:t>Every working scientist googles error messages daily. Getting stuck is not failing — it is the job.</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Multiple Regression</dc:title>
  <dc:creator>Bill Perry</dc:creator>
  <cp:keywords/>
  <dc:description>The multiple regression model, partial regression slopes, ANOVA and hypothesis tests for regression, assumptions and diagnostics, collinearity, interactions, dummy variables, model comparison, and predictor importance — on the Gotelli ant-diversity dataset.</dc:description>
  <dcterms:created xsi:type="dcterms:W3CDTF">2026-09-30T01:31:40Z</dcterms:created>
  <dcterms:modified xsi:type="dcterms:W3CDTF">2026-09-30T01:31:40Z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knitr">
    <vt:lpwstr/>
  </property>
  <property fmtid="{D5CDD505-2E9C-101B-9397-08002B2CF9AE}" pid="12" name="labels">
    <vt:lpwstr/>
  </property>
  <property fmtid="{D5CDD505-2E9C-101B-9397-08002B2CF9AE}" pid="13" name="order">
    <vt:lpwstr>11</vt:lpwstr>
  </property>
  <property fmtid="{D5CDD505-2E9C-101B-9397-08002B2CF9AE}" pid="14" name="resources">
    <vt:lpwstr/>
  </property>
  <property fmtid="{D5CDD505-2E9C-101B-9397-08002B2CF9AE}" pid="15" name="subtitle">
    <vt:lpwstr>Several predictors</vt:lpwstr>
  </property>
  <property fmtid="{D5CDD505-2E9C-101B-9397-08002B2CF9AE}" pid="16" name="toc-title">
    <vt:lpwstr>Table of contents</vt:lpwstr>
  </property>
  <property fmtid="{D5CDD505-2E9C-101B-9397-08002B2CF9AE}" pid="17" name="week">
    <vt:lpwstr>7</vt:lpwstr>
  </property>
</Properties>
</file>