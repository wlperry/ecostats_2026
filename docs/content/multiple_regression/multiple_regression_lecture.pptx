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7" Type="http://schemas.openxmlformats.org/officeDocument/2006/relationships/viewProps" Target="viewProps.xml" /><Relationship Id="rId56" Type="http://schemas.openxmlformats.org/officeDocument/2006/relationships/presProps" Target="presProps.xml" /><Relationship Id="rId1" Type="http://schemas.openxmlformats.org/officeDocument/2006/relationships/slideMaster" Target="slideMasters/slideMaster1.xml" /><Relationship Id="rId59" Type="http://schemas.openxmlformats.org/officeDocument/2006/relationships/tableStyles" Target="tableStyles.xml" /><Relationship Id="rId58"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0.png" /><Relationship Id="rId2" Type="http://schemas.openxmlformats.org/officeDocument/2006/relationships/image" Target="../media/image9.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Multiple Regression</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Several predictors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a:t>
            </a:r>
          </a:p>
          <a:p>
            <a:pPr lvl="0"/>
            <a:r>
              <a:rPr/>
              <a:t>Regression, t-tests, and ANOVA</a:t>
            </a:r>
          </a:p>
          <a:p>
            <a:pPr lvl="0"/>
            <a:r>
              <a:rPr/>
              <a:t>Regression assumptions</a:t>
            </a:r>
          </a:p>
          <a:p>
            <a:pPr lvl="0"/>
            <a:r>
              <a:rPr/>
              <a:t>Sum-of-squares allocation and subdivision from total sums of squares</a:t>
            </a:r>
          </a:p>
          <a:p>
            <a:pPr lvl="0" indent="0" marL="1270000">
              <a:buNone/>
            </a:pPr>
            <a:r>
              <a:rPr sz="2000" b="1"/>
              <a:t>Note</a:t>
            </a:r>
          </a:p>
          <a:p>
            <a:pPr lvl="0" indent="0" marL="1270000">
              <a:buNone/>
            </a:pPr>
            <a:r>
              <a:rPr sz="2000" b="1"/>
              <a:t>✅ Key idea from last lecture</a:t>
            </a:r>
          </a:p>
          <a:p>
            <a:pPr lvl="0" indent="0" marL="1270000">
              <a:buNone/>
            </a:pPr>
            <a:r>
              <a:rPr sz="2000"/>
              <a:t>A simple regression has one predictor and one partition of variance (regression vs. residual). Today we add more predictors — the logic barely changes, but the bookkeeping does.</a:t>
            </a:r>
          </a:p>
        </p:txBody>
      </p:sp>
      <p:pic>
        <p:nvPicPr>
          <p:cNvPr descr="multiple_regression_lecture_files/figure-pptx/multiple-regression-0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Why Multiple Regression?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Today’s Objectives</a:t>
            </a:r>
          </a:p>
        </p:txBody>
      </p:sp>
      <p:sp>
        <p:nvSpPr>
          <p:cNvPr id="3" name="Content Placeholder 2"/>
          <p:cNvSpPr>
            <a:spLocks noGrp="1"/>
          </p:cNvSpPr>
          <p:nvPr>
            <p:ph idx="1" sz="half"/>
          </p:nvPr>
        </p:nvSpPr>
        <p:spPr/>
        <p:txBody>
          <a:bodyPr/>
          <a:lstStyle/>
          <a:p>
            <a:pPr lvl="0" indent="0" marL="0">
              <a:buNone/>
            </a:pPr>
            <a:r>
              <a:rPr/>
              <a:t>The multiple linear regression model:</a:t>
            </a:r>
          </a:p>
          <a:p>
            <a:pPr lvl="0"/>
            <a:r>
              <a:rPr/>
              <a:t>Regression parameters</a:t>
            </a:r>
          </a:p>
          <a:p>
            <a:pPr lvl="0"/>
            <a:r>
              <a:rPr/>
              <a:t>Analysis of variance</a:t>
            </a:r>
          </a:p>
          <a:p>
            <a:pPr lvl="0"/>
            <a:r>
              <a:rPr/>
              <a:t>Null hypotheses</a:t>
            </a:r>
          </a:p>
          <a:p>
            <a:pPr lvl="0"/>
            <a:r>
              <a:rPr/>
              <a:t>Explained variance</a:t>
            </a:r>
          </a:p>
          <a:p>
            <a:pPr lvl="0"/>
            <a:r>
              <a:rPr/>
              <a:t>Assumptions and diagnostics</a:t>
            </a:r>
          </a:p>
          <a:p>
            <a:pPr lvl="0"/>
            <a:r>
              <a:rPr/>
              <a:t>Collinearity</a:t>
            </a:r>
          </a:p>
          <a:p>
            <a:pPr lvl="0"/>
            <a:r>
              <a:rPr/>
              <a:t>Interactions</a:t>
            </a:r>
          </a:p>
          <a:p>
            <a:pPr lvl="0"/>
            <a:r>
              <a:rPr/>
              <a:t>Dummy variables</a:t>
            </a:r>
          </a:p>
          <a:p>
            <a:pPr lvl="0"/>
            <a:r>
              <a:rPr/>
              <a:t>Model selection</a:t>
            </a:r>
          </a:p>
          <a:p>
            <a:pPr lvl="0"/>
            <a:r>
              <a:rPr/>
              <a:t>Importance of predictors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Reference</a:t>
            </a:r>
          </a:p>
          <a:p>
            <a:pPr lvl="0" indent="0" marL="1270000">
              <a:buNone/>
            </a:pPr>
            <a:r>
              <a:rPr sz="2000"/>
              <a:t>Whitlock &amp; Schluter, Ch. 17 — Regression, and Gotelli &amp; Ellison, </a:t>
            </a:r>
            <a:r>
              <a:rPr sz="2000" i="1"/>
              <a:t>A Primer of Ecological Statistics</a:t>
            </a:r>
            <a:r>
              <a:rPr sz="2000"/>
              <a:t>, Ch. 9 — Regression, are the core references for this lecture.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When Do We Need More Than One Predictor?</a:t>
            </a:r>
          </a:p>
        </p:txBody>
      </p:sp>
      <p:sp>
        <p:nvSpPr>
          <p:cNvPr id="3" name="Content Placeholder 2"/>
          <p:cNvSpPr>
            <a:spLocks noGrp="1"/>
          </p:cNvSpPr>
          <p:nvPr>
            <p:ph idx="1" sz="half"/>
          </p:nvPr>
        </p:nvSpPr>
        <p:spPr/>
        <p:txBody>
          <a:bodyPr/>
          <a:lstStyle/>
          <a:p>
            <a:pPr lvl="0" indent="0" marL="0">
              <a:buNone/>
            </a:pPr>
            <a:r>
              <a:rPr/>
              <a:t>What if there’s more than one predictor (X) variable?</a:t>
            </a:r>
          </a:p>
          <a:p>
            <a:pPr lvl="0"/>
            <a:r>
              <a:rPr/>
              <a:t>If predictors are continuous</a:t>
            </a:r>
          </a:p>
          <a:p>
            <a:pPr lvl="0"/>
            <a:r>
              <a:rPr/>
              <a:t>A mix between categorical and continuous</a:t>
            </a:r>
          </a:p>
          <a:p>
            <a:pPr lvl="0"/>
            <a:r>
              <a:rPr/>
              <a:t>We can use multiple linear regression</a:t>
            </a:r>
          </a:p>
        </p:txBody>
      </p:sp>
      <p:graphicFrame>
        <p:nvGraphicFramePr>
          <p:cNvPr id="6" name="Content Placeholder 5"/>
          <p:cNvGraphicFramePr>
            <a:graphicFrameLocks noGrp="1"/>
          </p:cNvGraphicFramePr>
          <p:nvPr>
            <p:ph idx="1"/>
          </p:nvPr>
        </p:nvGraphicFramePr>
        <p:xfrm>
          <a:off x="6121400" y="660400"/>
          <a:ext cx="2781300" cy="4470400"/>
        </p:xfrm>
        <a:graphic>
          <a:graphicData uri="http://schemas.openxmlformats.org/drawingml/2006/table">
            <a:tbl>
              <a:tblPr firstRow="1" bandRow="1">
                <a:tableStyleId>{5C22544A-7EE6-4342-B048-85BDC9FD1C3A}</a:tableStyleId>
              </a:tblPr>
              <a:tblGrid>
                <a:gridCol w="927100"/>
                <a:gridCol w="927100"/>
                <a:gridCol w="927100"/>
              </a:tblGrid>
              <a:tr h="0">
                <a:tc>
                  <a:txBody>
                    <a:bodyPr/>
                    <a:lstStyle/>
                    <a:p>
                      <a:endParaRPr/>
                    </a:p>
                  </a:txBody>
                  <a:tcPr/>
                </a:tc>
                <a:tc>
                  <a:txBody>
                    <a:bodyPr/>
                    <a:lstStyle/>
                    <a:p>
                      <a:pPr lvl="0" indent="0" marL="0" algn="l">
                        <a:buNone/>
                      </a:pPr>
                      <a:r>
                        <a:rPr/>
                        <a:t>Continuous X</a:t>
                      </a:r>
                    </a:p>
                  </a:txBody>
                  <a:tcPr/>
                </a:tc>
                <a:tc>
                  <a:txBody>
                    <a:bodyPr/>
                    <a:lstStyle/>
                    <a:p>
                      <a:pPr lvl="0" indent="0" marL="0" algn="l">
                        <a:buNone/>
                      </a:pPr>
                      <a:r>
                        <a:rPr/>
                        <a:t>Categorical X</a:t>
                      </a:r>
                    </a:p>
                  </a:txBody>
                  <a:tcPr/>
                </a:tc>
              </a:tr>
              <a:tr h="0">
                <a:tc>
                  <a:txBody>
                    <a:bodyPr/>
                    <a:lstStyle/>
                    <a:p>
                      <a:pPr lvl="0" indent="0" marL="0" algn="l">
                        <a:buNone/>
                      </a:pPr>
                      <a:r>
                        <a:rPr b="1"/>
                        <a:t>Continuous Y</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 Y</a:t>
                      </a:r>
                    </a:p>
                  </a:txBody>
                </a:tc>
                <a:tc>
                  <a:txBody>
                    <a:bodyPr/>
                    <a:lstStyle/>
                    <a:p>
                      <a:pPr lvl="0" indent="0" marL="0" algn="l">
                        <a:buNone/>
                      </a:pPr>
                      <a:r>
                        <a:rPr/>
                        <a:t>Logistic regression</a:t>
                      </a:r>
                    </a:p>
                  </a:txBody>
                </a:tc>
                <a:tc>
                  <a:txBody>
                    <a:bodyPr/>
                    <a:lstStyle/>
                    <a:p>
                      <a:endParaRPr/>
                    </a:p>
                  </a:txBody>
                </a:tc>
              </a:tr>
            </a:tbl>
          </a:graphicData>
        </a:graphic>
      </p:graphicFrame>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From a Line to a (Hyper)plane</a:t>
            </a:r>
          </a:p>
        </p:txBody>
      </p:sp>
      <p:sp>
        <p:nvSpPr>
          <p:cNvPr id="3" name="Content Placeholder 2"/>
          <p:cNvSpPr>
            <a:spLocks noGrp="1"/>
          </p:cNvSpPr>
          <p:nvPr>
            <p:ph idx="1" sz="half"/>
          </p:nvPr>
        </p:nvSpPr>
        <p:spPr/>
        <p:txBody>
          <a:bodyPr/>
          <a:lstStyle/>
          <a:p>
            <a:pPr lvl="0" indent="0" marL="0">
              <a:buNone/>
            </a:pPr>
            <a:r>
              <a:rPr/>
              <a:t>Abundance of ants can be modeled as a function of:</a:t>
            </a:r>
          </a:p>
          <a:p>
            <a:pPr lvl="0"/>
            <a:r>
              <a:rPr/>
              <a:t>latitude</a:t>
            </a:r>
          </a:p>
          <a:p>
            <a:pPr lvl="0"/>
            <a:r>
              <a:rPr/>
              <a:t>longitude</a:t>
            </a:r>
          </a:p>
          <a:p>
            <a:pPr lvl="0"/>
            <a:r>
              <a:rPr/>
              <a:t>both</a:t>
            </a:r>
          </a:p>
          <a:p>
            <a:pPr lvl="0" indent="0" marL="0">
              <a:buNone/>
            </a:pPr>
            <a:r>
              <a:rPr/>
              <a:t>Instead of a line, it’s modeled with a (hyper)plane.</a:t>
            </a:r>
          </a:p>
        </p:txBody>
      </p:sp>
      <p:pic>
        <p:nvPicPr>
          <p:cNvPr descr="multiple_regression_lecture_files/figure-pptx/multiple-regression-03-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Multiple Regression Is Used For</a:t>
            </a:r>
          </a:p>
        </p:txBody>
      </p:sp>
      <p:sp>
        <p:nvSpPr>
          <p:cNvPr id="3" name="Content Placeholder 2"/>
          <p:cNvSpPr>
            <a:spLocks noGrp="1"/>
          </p:cNvSpPr>
          <p:nvPr>
            <p:ph idx="1" sz="half"/>
          </p:nvPr>
        </p:nvSpPr>
        <p:spPr/>
        <p:txBody>
          <a:bodyPr/>
          <a:lstStyle/>
          <a:p>
            <a:pPr lvl="0" indent="0" marL="0">
              <a:buNone/>
            </a:pPr>
            <a:r>
              <a:rPr/>
              <a:t>Used in a similar way to simple linear regression:</a:t>
            </a:r>
          </a:p>
          <a:p>
            <a:pPr lvl="0"/>
            <a:r>
              <a:rPr/>
              <a:t>Describe the nature of the relationship between Y and the X’s</a:t>
            </a:r>
          </a:p>
          <a:p>
            <a:pPr lvl="0"/>
            <a:r>
              <a:rPr/>
              <a:t>Determine explained/unexplained variation in Y</a:t>
            </a:r>
          </a:p>
          <a:p>
            <a:pPr lvl="0"/>
            <a:r>
              <a:rPr/>
              <a:t>Predict new Ys from X</a:t>
            </a:r>
          </a:p>
          <a:p>
            <a:pPr lvl="0"/>
            <a:r>
              <a:rPr/>
              <a:t>Find the “best” model</a:t>
            </a:r>
          </a:p>
        </p:txBody>
      </p:sp>
      <p:pic>
        <p:nvPicPr>
          <p:cNvPr descr="multiple_regression_lecture_files/figure-pptx/multiple-regression-0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Challenges of Multiple Regression</a:t>
            </a:r>
          </a:p>
        </p:txBody>
      </p:sp>
      <p:sp>
        <p:nvSpPr>
          <p:cNvPr id="3" name="Content Placeholder 2"/>
          <p:cNvSpPr>
            <a:spLocks noGrp="1"/>
          </p:cNvSpPr>
          <p:nvPr>
            <p:ph idx="1" sz="half"/>
          </p:nvPr>
        </p:nvSpPr>
        <p:spPr/>
        <p:txBody>
          <a:bodyPr/>
          <a:lstStyle/>
          <a:p>
            <a:pPr lvl="0" indent="0" marL="0">
              <a:buNone/>
            </a:pPr>
            <a:r>
              <a:rPr/>
              <a:t>Crawley (2012): “Multiple regression models provide some of the most profound challenges faced by the analyst”:</a:t>
            </a:r>
          </a:p>
          <a:p>
            <a:pPr lvl="0"/>
            <a:r>
              <a:rPr/>
              <a:t>Overfitting</a:t>
            </a:r>
          </a:p>
          <a:p>
            <a:pPr lvl="0"/>
            <a:r>
              <a:rPr/>
              <a:t>Parameter proliferation</a:t>
            </a:r>
          </a:p>
          <a:p>
            <a:pPr lvl="0"/>
            <a:r>
              <a:rPr/>
              <a:t>Multicollinearity</a:t>
            </a:r>
          </a:p>
          <a:p>
            <a:pPr lvl="0"/>
            <a:r>
              <a:rPr/>
              <a:t>Model selection</a:t>
            </a:r>
          </a:p>
        </p:txBody>
      </p:sp>
      <p:pic>
        <p:nvPicPr>
          <p:cNvPr descr="images/clipboard-1736453741.png" id="0" name="Picture 1"/>
          <p:cNvPicPr>
            <a:picLocks noGrp="1" noChangeAspect="1"/>
          </p:cNvPicPr>
          <p:nvPr/>
        </p:nvPicPr>
        <p:blipFill>
          <a:blip r:embed="rId2"/>
          <a:stretch>
            <a:fillRect/>
          </a:stretch>
        </p:blipFill>
        <p:spPr bwMode="auto">
          <a:xfrm>
            <a:off x="6121400" y="1600200"/>
            <a:ext cx="2781300" cy="2070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Stock photo of a frustrated man in a suit punching through a laptop screen, used humorously to illustrate the frustration multiple regression’s challenges (overfitting, multicollinearity, model selection) can cause.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The Multiple Regression Model</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Multiple Regression Model</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A set of i = 1 to n observations</a:t>
                </a:r>
              </a:p>
              <a:p>
                <a:pPr lvl="0"/>
                <a:r>
                  <a:rPr/>
                  <a:t>Fixed X-values for p predictor variables (X₁, X₂ … Xₚ)</a:t>
                </a:r>
              </a:p>
              <a:p>
                <a:pPr lvl="0"/>
                <a:r>
                  <a:rPr/>
                  <a:t>Random Y-values:</a:t>
                </a:r>
              </a:p>
              <a:p>
                <a:pPr lvl="0" indent="0" marL="0">
                  <a:buNone/>
                </a:pPr>
                <a14:m>
                  <m:oMathPara xmlns:m="http://schemas.openxmlformats.org/officeDocument/2006/math">
                    <m:oMathParaPr>
                      <m:jc m:val="center"/>
                    </m:oMathParaPr>
                    <m:o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r>
                        <m:rPr>
                          <m:sty m:val="p"/>
                        </m:rPr>
                        <m:t>.</m:t>
                      </m:r>
                      <m:r>
                        <m:rPr>
                          <m:sty m:val="p"/>
                        </m:rPr>
                        <m:t>.</m:t>
                      </m:r>
                      <m:r>
                        <m:rPr>
                          <m:sty m:val="p"/>
                        </m:rPr>
                        <m:t>.</m:t>
                      </m:r>
                      <m:r>
                        <m:rPr>
                          <m:sty m:val="p"/>
                        </m:rPr>
                        <m:t>+</m:t>
                      </m:r>
                      <m:sSub>
                        <m:e>
                          <m:r>
                            <m:t>β</m:t>
                          </m:r>
                        </m:e>
                        <m:sub>
                          <m:r>
                            <m:t>p</m:t>
                          </m:r>
                        </m:sub>
                      </m:sSub>
                      <m:sSub>
                        <m:e>
                          <m:r>
                            <m:t>x</m:t>
                          </m:r>
                        </m:e>
                        <m:sub>
                          <m:r>
                            <m:t>i</m:t>
                          </m:r>
                          <m:r>
                            <m:t>p</m:t>
                          </m:r>
                        </m:sub>
                      </m:sSub>
                      <m:r>
                        <m:rPr>
                          <m:sty m:val="p"/>
                        </m:rPr>
                        <m:t>+</m:t>
                      </m:r>
                      <m:sSub>
                        <m:e>
                          <m:r>
                            <m:t>ϵ</m:t>
                          </m:r>
                        </m:e>
                        <m:sub>
                          <m:r>
                            <m:t>i</m:t>
                          </m:r>
                        </m:sub>
                      </m:sSub>
                    </m:oMath>
                  </m:oMathPara>
                </a14:m>
              </a:p>
            </p:txBody>
          </p:sp>
        </mc:Choice>
      </mc:AlternateContent>
      <p:sp>
        <p:nvSpPr>
          <p:cNvPr id="4" name="Content Placeholder 3"/>
          <p:cNvSpPr>
            <a:spLocks noGrp="1"/>
          </p:cNvSpPr>
          <p:nvPr>
            <p:ph idx="2" sz="half"/>
          </p:nvPr>
        </p:nvSpPr>
        <p:spPr/>
        <p:txBody>
          <a:bodyPr/>
          <a:lstStyle/>
          <a:p>
            <a:pPr lvl="0"/>
            <a:r>
              <a:rPr/>
              <a:t>yᵢ: value of Y for the i-th observation, X₁ = x_i1, X₂ = x_i2, …, Xₚ = x_ip</a:t>
            </a:r>
          </a:p>
          <a:p>
            <a:pPr lvl="0"/>
            <a:r>
              <a:rPr/>
              <a:t>β₀: population intercept — the mean value of Y when X₁ = 0, X₂ = 0, …, Xₚ = 0</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Partial Regression Slopes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r>
                        <m:rPr>
                          <m:sty m:val="p"/>
                        </m:rPr>
                        <m:t>.</m:t>
                      </m:r>
                      <m:r>
                        <m:rPr>
                          <m:sty m:val="p"/>
                        </m:rPr>
                        <m:t>.</m:t>
                      </m:r>
                      <m:r>
                        <m:rPr>
                          <m:sty m:val="p"/>
                        </m:rPr>
                        <m:t>.</m:t>
                      </m:r>
                      <m:r>
                        <m:rPr>
                          <m:sty m:val="p"/>
                        </m:rPr>
                        <m:t>+</m:t>
                      </m:r>
                      <m:sSub>
                        <m:e>
                          <m:r>
                            <m:t>β</m:t>
                          </m:r>
                        </m:e>
                        <m:sub>
                          <m:r>
                            <m:t>p</m:t>
                          </m:r>
                        </m:sub>
                      </m:sSub>
                      <m:sSub>
                        <m:e>
                          <m:r>
                            <m:t>x</m:t>
                          </m:r>
                        </m:e>
                        <m:sub>
                          <m:r>
                            <m:t>i</m:t>
                          </m:r>
                          <m:r>
                            <m:t>p</m:t>
                          </m:r>
                        </m:sub>
                      </m:sSub>
                      <m:r>
                        <m:rPr>
                          <m:sty m:val="p"/>
                        </m:rPr>
                        <m:t>+</m:t>
                      </m:r>
                      <m:sSub>
                        <m:e>
                          <m:r>
                            <m:t>ϵ</m:t>
                          </m:r>
                        </m:e>
                        <m:sub>
                          <m:r>
                            <m:t>i</m:t>
                          </m:r>
                        </m:sub>
                      </m:sSub>
                    </m:oMath>
                  </m:oMathPara>
                </a14:m>
              </a:p>
              <a:p>
                <a:pPr lvl="0"/>
                <a:r>
                  <a:rPr/>
                  <a:t>β₁: partial regression slope — change in Y per unit change in X₁, holding other X-vars constant</a:t>
                </a:r>
              </a:p>
              <a:p>
                <a:pPr lvl="0"/>
                <a:r>
                  <a:rPr/>
                  <a:t>β₂: partial regression slope for X₂, holding others constant</a:t>
                </a:r>
              </a:p>
              <a:p>
                <a:pPr lvl="0"/>
                <a:r>
                  <a:rPr/>
                  <a:t>βₚ: partial regression slope for Xₚ, holding others constant</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 — what “partial” means</a:t>
            </a:r>
          </a:p>
          <a:p>
            <a:pPr lvl="0" indent="0" marL="1270000">
              <a:buNone/>
            </a:pPr>
            <a:r>
              <a:rPr sz="2000"/>
              <a:t>The relationship between a predictor and the response </a:t>
            </a:r>
            <a:r>
              <a:rPr sz="2000" b="1"/>
              <a:t>while holding all other predictors constant</a:t>
            </a:r>
            <a:r>
              <a:rPr sz="2000"/>
              <a:t>. It tells you the isolated effect of one variable, controlling for the influence of others.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Partial Regression Slopes — the Ant Model</a:t>
            </a:r>
          </a:p>
        </p:txBody>
      </p:sp>
      <p:sp>
        <p:nvSpPr>
          <p:cNvPr id="3" name="Content Placeholder 2"/>
          <p:cNvSpPr>
            <a:spLocks noGrp="1"/>
          </p:cNvSpPr>
          <p:nvPr>
            <p:ph idx="1" sz="half"/>
          </p:nvPr>
        </p:nvSpPr>
        <p:spPr/>
        <p:txBody>
          <a:bodyPr/>
          <a:lstStyle/>
          <a:p>
            <a:pPr lvl="0" indent="0" marL="0">
              <a:buNone/>
            </a:pPr>
            <a:r>
              <a:rPr/>
              <a:t>Model: </a:t>
            </a:r>
            <a:r>
              <a:rPr>
                <a:latin typeface="Courier"/>
              </a:rPr>
              <a:t>ant_spp ~ elevation + latitude</a:t>
            </a:r>
          </a:p>
          <a:p>
            <a:pPr lvl="0"/>
            <a:r>
              <a:rPr/>
              <a:t>The partial slope for elevation tells you how ant species richness changes with elevation when latitude is held constant</a:t>
            </a:r>
          </a:p>
          <a:p>
            <a:pPr lvl="1"/>
            <a:r>
              <a:rPr/>
              <a:t>1-m increase in elevation → ant spp decrease by 0.012 spp, holding latitude constant</a:t>
            </a:r>
          </a:p>
          <a:p>
            <a:pPr lvl="1"/>
            <a:r>
              <a:rPr/>
              <a:t>Or: 100-m increase in elevation → lose 1.2 spp</a:t>
            </a:r>
          </a:p>
          <a:p>
            <a:pPr lvl="0"/>
            <a:r>
              <a:rPr/>
              <a:t>The partial slope for latitude tells you how ant species richness changes with latitude when elevation is held constant</a:t>
            </a:r>
          </a:p>
          <a:p>
            <a:pPr lvl="1"/>
            <a:r>
              <a:rPr/>
              <a:t>1-degree increase in latitude → ant spp decrease by 2 species, holding elevation constant</a:t>
            </a:r>
          </a:p>
          <a:p>
            <a:pPr lvl="1"/>
            <a:r>
              <a:rPr/>
              <a:t>Moving north = fewer ant spp, even comparing sites at the same elevation</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ant_model &lt;- </a:t>
            </a:r>
            <a:r>
              <a:rPr>
                <a:solidFill>
                  <a:srgbClr val="4758AB"/>
                </a:solidFill>
                <a:latin typeface="Courier"/>
              </a:rPr>
              <a:t>lm</a:t>
            </a:r>
            <a:r>
              <a:rPr>
                <a:solidFill>
                  <a:srgbClr val="003B4F"/>
                </a:solidFill>
                <a:latin typeface="Courier"/>
              </a:rPr>
              <a:t>(ant_spp </a:t>
            </a:r>
            <a:r>
              <a:rPr>
                <a:solidFill>
                  <a:srgbClr val="5E5E5E"/>
                </a:solidFill>
                <a:latin typeface="Courier"/>
              </a:rPr>
              <a:t>~</a:t>
            </a:r>
            <a:r>
              <a:rPr>
                <a:solidFill>
                  <a:srgbClr val="003B4F"/>
                </a:solidFill>
                <a:latin typeface="Courier"/>
              </a:rPr>
              <a:t> elevation </a:t>
            </a:r>
            <a:r>
              <a:rPr>
                <a:solidFill>
                  <a:srgbClr val="5E5E5E"/>
                </a:solidFill>
                <a:latin typeface="Courier"/>
              </a:rPr>
              <a:t>+</a:t>
            </a:r>
            <a:r>
              <a:rPr>
                <a:solidFill>
                  <a:srgbClr val="003B4F"/>
                </a:solidFill>
                <a:latin typeface="Courier"/>
              </a:rPr>
              <a:t> latitude, </a:t>
            </a:r>
            <a:r>
              <a:rPr>
                <a:solidFill>
                  <a:srgbClr val="657422"/>
                </a:solidFill>
                <a:latin typeface="Courier"/>
              </a:rPr>
              <a:t>data =</a:t>
            </a:r>
            <a:r>
              <a:rPr>
                <a:solidFill>
                  <a:srgbClr val="003B4F"/>
                </a:solidFill>
                <a:latin typeface="Courier"/>
              </a:rPr>
              <a:t> ant_df)</a:t>
            </a:r>
            <a:br/>
            <a:r>
              <a:rPr>
                <a:solidFill>
                  <a:srgbClr val="4758AB"/>
                </a:solidFill>
                <a:latin typeface="Courier"/>
              </a:rPr>
              <a:t>summary</a:t>
            </a:r>
            <a:r>
              <a:rPr>
                <a:solidFill>
                  <a:srgbClr val="003B4F"/>
                </a:solidFill>
                <a:latin typeface="Courier"/>
              </a:rPr>
              <a:t>(ant_model)</a:t>
            </a:r>
          </a:p>
          <a:p>
            <a:pPr lvl="0" indent="0">
              <a:buNone/>
            </a:pPr>
            <a:r>
              <a:rPr>
                <a:latin typeface="Courier"/>
              </a:rPr>
              <a:t>
Call:
lm(formula = ant_spp ~ elevation + latitude, data = ant_df)
Residuals:
    Min      1Q  Median      3Q     Max 
-6.1180 -2.3759  0.3218  1.9070  5.8369 
Coefficients:
            Estimate Std. Error t value Pr(&gt;|t|)   
(Intercept) 98.49651   26.50701   3.716  0.00147 **
elevation   -0.01226    0.00411  -2.983  0.00765 **
latitude    -2.00981    0.61956  -3.244  0.00427 **
---
Signif. codes:  0 '***' 0.001 '**' 0.01 '*' 0.05 '.' 0.1 ' ' 1
Residual standard error: 3.022 on 19 degrees of freedom
Multiple R-squared:  0.5543,    Adjusted R-squared:  0.5074 
F-statistic: 11.82 on 2 and 19 DF,  p-value: 0.000463</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Regression Parameters — the Error Term</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r>
                        <m:rPr>
                          <m:sty m:val="p"/>
                        </m:rPr>
                        <m:t>.</m:t>
                      </m:r>
                      <m:r>
                        <m:rPr>
                          <m:sty m:val="p"/>
                        </m:rPr>
                        <m:t>.</m:t>
                      </m:r>
                      <m:r>
                        <m:rPr>
                          <m:sty m:val="p"/>
                        </m:rPr>
                        <m:t>.</m:t>
                      </m:r>
                      <m:r>
                        <m:rPr>
                          <m:sty m:val="p"/>
                        </m:rPr>
                        <m:t>+</m:t>
                      </m:r>
                      <m:sSub>
                        <m:e>
                          <m:r>
                            <m:t>β</m:t>
                          </m:r>
                        </m:e>
                        <m:sub>
                          <m:r>
                            <m:t>p</m:t>
                          </m:r>
                        </m:sub>
                      </m:sSub>
                      <m:sSub>
                        <m:e>
                          <m:r>
                            <m:t>x</m:t>
                          </m:r>
                        </m:e>
                        <m:sub>
                          <m:r>
                            <m:t>i</m:t>
                          </m:r>
                          <m:r>
                            <m:t>p</m:t>
                          </m:r>
                        </m:sub>
                      </m:sSub>
                      <m:r>
                        <m:rPr>
                          <m:sty m:val="p"/>
                        </m:rPr>
                        <m:t>+</m:t>
                      </m:r>
                      <m:sSub>
                        <m:e>
                          <m:r>
                            <m:t>ϵ</m:t>
                          </m:r>
                        </m:e>
                        <m:sub>
                          <m:r>
                            <m:t>i</m:t>
                          </m:r>
                        </m:sub>
                      </m:sSub>
                    </m:oMath>
                  </m:oMathPara>
                </a14:m>
              </a:p>
              <a:p>
                <a:pPr lvl="0"/>
                <a:r>
                  <a:rPr/>
                  <a:t>εᵢ: unexplained error — the difference between yᵢ and the value predicted by the model (ŷᵢ)</a:t>
                </a:r>
              </a:p>
              <a:p>
                <a:pPr lvl="0"/>
                <a:r>
                  <a:rPr/>
                  <a:t>ant_spp = β₀ + β₁(lat) + β₂(elevation) + εᵢ</a:t>
                </a:r>
              </a:p>
            </p:txBody>
          </p:sp>
        </mc:Choice>
      </mc:AlternateContent>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This is exactly the same “signal vs. noise” structure as a simple regression — just with more terms on the signal side.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Regression Parameters — Estimation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r>
                        <m:rPr>
                          <m:sty m:val="p"/>
                        </m:rPr>
                        <m:t>.</m:t>
                      </m:r>
                      <m:r>
                        <m:rPr>
                          <m:sty m:val="p"/>
                        </m:rPr>
                        <m:t>.</m:t>
                      </m:r>
                      <m:r>
                        <m:rPr>
                          <m:sty m:val="p"/>
                        </m:rPr>
                        <m:t>.</m:t>
                      </m:r>
                      <m:r>
                        <m:rPr>
                          <m:sty m:val="p"/>
                        </m:rPr>
                        <m:t>+</m:t>
                      </m:r>
                      <m:sSub>
                        <m:e>
                          <m:r>
                            <m:t>β</m:t>
                          </m:r>
                        </m:e>
                        <m:sub>
                          <m:r>
                            <m:t>p</m:t>
                          </m:r>
                        </m:sub>
                      </m:sSub>
                      <m:sSub>
                        <m:e>
                          <m:r>
                            <m:t>x</m:t>
                          </m:r>
                        </m:e>
                        <m:sub>
                          <m:r>
                            <m:t>i</m:t>
                          </m:r>
                          <m:r>
                            <m:t>p</m:t>
                          </m:r>
                        </m:sub>
                      </m:sSub>
                      <m:r>
                        <m:rPr>
                          <m:sty m:val="p"/>
                        </m:rPr>
                        <m:t>+</m:t>
                      </m:r>
                      <m:sSub>
                        <m:e>
                          <m:r>
                            <m:t>ϵ</m:t>
                          </m:r>
                        </m:e>
                        <m:sub>
                          <m:r>
                            <m:t>i</m:t>
                          </m:r>
                        </m:sub>
                      </m:sSub>
                    </m:oMath>
                  </m:oMathPara>
                </a14:m>
              </a:p>
              <a:p>
                <a:pPr lvl="0"/>
                <a:r>
                  <a:rPr/>
                  <a:t>Estimate multiple regression parameters (intercept, partial slopes) using OLS to fit the regression line</a:t>
                </a:r>
              </a:p>
              <a:p>
                <a:pPr lvl="0"/>
                <a:r>
                  <a:rPr/>
                  <a:t>OLS minimizes </a:t>
                </a:r>
                <a14:m>
                  <m:oMath xmlns:m="http://schemas.openxmlformats.org/officeDocument/2006/math">
                    <m:r>
                      <m:rPr>
                        <m:sty m:val="p"/>
                      </m:rPr>
                      <m:t>∑</m:t>
                    </m:r>
                    <m:r>
                      <m:rPr>
                        <m:sty m:val="p"/>
                      </m:rPr>
                      <m:t>(</m:t>
                    </m:r>
                    <m:sSub>
                      <m:e>
                        <m:r>
                          <m:t>y</m:t>
                        </m:r>
                      </m:e>
                      <m:sub>
                        <m:r>
                          <m:t>i</m:t>
                        </m:r>
                      </m:sub>
                    </m:sSub>
                    <m:r>
                      <m:rPr>
                        <m:sty m:val="p"/>
                      </m:rPr>
                      <m:t>−</m:t>
                    </m:r>
                    <m:sSub>
                      <m:e>
                        <m:acc>
                          <m:accPr>
                            <m:chr m:val="̂"/>
                          </m:accPr>
                          <m:e>
                            <m:r>
                              <m:t>y</m:t>
                            </m:r>
                          </m:e>
                        </m:acc>
                      </m:e>
                      <m:sub>
                        <m:r>
                          <m:t>i</m:t>
                        </m:r>
                      </m:sub>
                    </m:sSub>
                    <m:sSup>
                      <m:e>
                        <m:r>
                          <m:rPr>
                            <m:sty m:val="p"/>
                          </m:rPr>
                          <m:t>)</m:t>
                        </m:r>
                      </m:e>
                      <m:sup>
                        <m:r>
                          <m:t>2</m:t>
                        </m:r>
                      </m:sup>
                    </m:sSup>
                  </m:oMath>
                </a14:m>
                <a:r>
                  <a:rPr/>
                  <a:t>, the SS (vertical distance) between observed yᵢ and predicted ŷᵢ for each xᵢⱼ</a:t>
                </a:r>
              </a:p>
              <a:p>
                <a:pPr lvl="0"/>
                <a:r>
                  <a:rPr/>
                  <a:t>ε estimated as residuals: εᵢ = yᵢ − ŷᵢ</a:t>
                </a:r>
              </a:p>
              <a:p>
                <a:pPr lvl="0"/>
                <a:r>
                  <a:rPr/>
                  <a:t>Calculation solves a set of simultaneous normal equations with matrix algebra</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You’ll never do this matrix algebra by hand — R’s </a:t>
            </a:r>
            <a:r>
              <a:rPr sz="2000">
                <a:latin typeface="Courier"/>
              </a:rPr>
              <a:t>lm()</a:t>
            </a:r>
            <a:r>
              <a:rPr sz="2000"/>
              <a:t> does it instantly. What matters is knowing </a:t>
            </a:r>
            <a:r>
              <a:rPr sz="2000" i="1"/>
              <a:t>what</a:t>
            </a:r>
            <a:r>
              <a:rPr sz="2000"/>
              <a:t> it’s minimizing.</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Regression Parameters — Prediction</a:t>
            </a:r>
          </a:p>
        </p:txBody>
      </p:sp>
      <p:sp>
        <p:nvSpPr>
          <p:cNvPr id="3" name="Content Placeholder 2"/>
          <p:cNvSpPr>
            <a:spLocks noGrp="1"/>
          </p:cNvSpPr>
          <p:nvPr>
            <p:ph idx="1" sz="half"/>
          </p:nvPr>
        </p:nvSpPr>
        <p:spPr/>
        <p:txBody>
          <a:bodyPr/>
          <a:lstStyle/>
          <a:p>
            <a:pPr lvl="0" indent="0" marL="0">
              <a:buNone/>
            </a:pPr>
            <a:r>
              <a:rPr/>
              <a:t>The regression equation can be used for prediction by substituting new values for the predictor (X) variables.</a:t>
            </a:r>
          </a:p>
          <a:p>
            <a:pPr lvl="0"/>
            <a:r>
              <a:rPr/>
              <a:t>Confidence intervals are calculated for parameters</a:t>
            </a:r>
          </a:p>
          <a:p>
            <a:pPr lvl="0"/>
            <a:r>
              <a:rPr/>
              <a:t>Confidence and prediction intervals depend on the number of observations and predictors</a:t>
            </a:r>
          </a:p>
          <a:p>
            <a:pPr lvl="1"/>
            <a:r>
              <a:rPr/>
              <a:t>More observations decrease interval width</a:t>
            </a:r>
          </a:p>
          <a:p>
            <a:pPr lvl="1"/>
            <a:r>
              <a:rPr/>
              <a:t>More predictors increase interval width</a:t>
            </a:r>
          </a:p>
          <a:p>
            <a:pPr lvl="0"/>
            <a:r>
              <a:rPr/>
              <a:t>Predictions should be restricted to within the range of the X variables</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t>Extrapolating a multiple regression beyond the observed range of </a:t>
            </a:r>
            <a:r>
              <a:rPr sz="2000" i="1"/>
              <a:t>any</a:t>
            </a:r>
            <a:r>
              <a:rPr sz="2000"/>
              <a:t> predictor is riskier than in simple regression — the fitted (hyper)plane has no guarantee of being right outside the data cloud.</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ANOVA for Multiple Regression</a:t>
            </a:r>
          </a:p>
        </p:txBody>
      </p:sp>
    </p:spTree>
  </p:cSld>
</p:sld>
</file>

<file path=ppt/slides/slide17.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0" y="0" /><a:ext cx="9144000" cy="602780" /></a:xfrm><a:solidFill><a:srgbClr val="70121D" /></a:solidFill></p:spPr><p:txBody><a:bodyPr /><a:lstStyle /><a:p><a:pPr lvl="0" indent="0" marL="0"><a:buNone /></a:pPr><a:r><a:rPr /><a:t>Partitioning Variance — Sums of Squares</a:t></a:r></a:p></p:txBody></p:sp><mc:AlternateContent xmlns:mc="http://schemas.openxmlformats.org/markup-compatibility/2006"><mc:Choice xmlns:a14="http://schemas.microsoft.com/office/drawing/2010/main" Requires="a14"><p:sp><p:nvSpPr><p:cNvPr id="3" name="Content Placeholder 2" /><p:cNvSpPr><a:spLocks noGrp="1" /></p:cNvSpPr><p:nvPr><p:ph idx="1" sz="half" /></p:nvPr></p:nvSpPr><p:spPr /><p:txBody><a:bodyPr /><a:lstStyle /><a:p><a:pPr lvl="0" indent="0" marL="0"><a:buNone /></a:pPr><a:r><a:rPr /><a:t>Variance — </a:t></a:r><a14:m><m:oMath xmlns:m="http://schemas.openxmlformats.org/officeDocument/2006/math"><m:r><m:t>S</m:t></m:r><m:sSub><m:e><m:r><m:t>S</m:t></m:r></m:e><m:sub><m:r><m:t>t</m:t></m:r><m:r><m:t>o</m:t></m:r><m:r><m:t>t</m:t></m:r><m:r><m:t>a</m:t></m:r><m:r><m:t>l</m:t></m:r></m:sub></m:sSub></m:oMath></a14:m><a:r><a:rPr /><a:t> is partitioned into </a:t></a:r><a14:m><m:oMath xmlns:m="http://schemas.openxmlformats.org/officeDocument/2006/math"><m:r><m:t>S</m:t></m:r><m:sSub><m:e><m:r><m:t>S</m:t></m:r></m:e><m:sub><m:r><m:t>r</m:t></m:r><m:r><m:t>e</m:t></m:r><m:r><m:t>g</m:t></m:r><m:r><m:t>r</m:t></m:r><m:r><m:t>e</m:t></m:r><m:r><m:t>s</m:t></m:r><m:r><m:t>s</m:t></m:r><m:r><m:t>i</m:t></m:r><m:r><m:t>o</m:t></m:r><m:r><m:t>n</m:t></m:r></m:sub></m:sSub></m:oMath></a14:m><a:r><a:rPr /><a:t> and </a:t></a:r><a14:m><m:oMath xmlns:m="http://schemas.openxmlformats.org/officeDocument/2006/math"><m:r><m:t>S</m:t></m:r><m:sSub><m:e><m:r><m:t>S</m:t></m:r></m:e><m:sub><m:r><m:t>r</m:t></m:r><m:r><m:t>e</m:t></m:r><m:r><m:t>s</m:t></m:r><m:r><m:t>i</m:t></m:r><m:r><m:t>d</m:t></m:r><m:r><m:t>u</m:t></m:r><m:r><m:t>a</m:t></m:r><m:r><m:t>l</m:t></m:r></m:sub></m:sSub></m:oMath></a14:m><a:r><a:rPr /><a:t>.</a:t></a:r></a:p><a:p><a:pPr lvl="0" /><a14:m><m:oMath xmlns:m="http://schemas.openxmlformats.org/officeDocument/2006/math"><m:r><m:t>S</m:t></m:r><m:sSub><m:e><m:r><m:t>S</m:t></m:r></m:e><m:sub><m:r><m:t>r</m:t></m:r><m:r><m:t>e</m:t></m:r><m:r><m:t>g</m:t></m:r><m:r><m:t>r</m:t></m:r><m:r><m:t>e</m:t></m:r><m:r><m:t>s</m:t></m:r><m:r><m:t>s</m:t></m:r><m:r><m:t>i</m:t></m:r><m:r><m:t>o</m:t></m:r><m:r><m:t>n</m:t></m:r></m:sub></m:sSub></m:oMath></a14:m><a:r><a:rPr /><a:t> is the variance in Y explained by the model</a:t></a:r></a:p><a:p><a:pPr lvl="0" /><a14:m><m:oMath xmlns:m="http://schemas.openxmlformats.org/officeDocument/2006/math"><m:r><m:t>S</m:t></m:r><m:sSub><m:e><m:r><m:t>S</m:t></m:r></m:e><m:sub><m:r><m:t>r</m:t></m:r><m:r><m:t>e</m:t></m:r><m:r><m:t>s</m:t></m:r><m:r><m:t>i</m:t></m:r><m:r><m:t>d</m:t></m:r><m:r><m:t>u</m:t></m:r><m:r><m:t>a</m:t></m:r><m:r><m:t>l</m:t></m:r></m:sub></m:sSub></m:oMath></a14:m><a:r><a:rPr /><a:t> is the variance not explained by the model</a:t></a:r></a:p></p:txBody></p:sp></mc:Choice></mc:AlternateContent><p:graphicFrame><p:nvGraphicFramePr><p:cNvPr id="6" name="Content Placeholder 5" /><p:cNvGraphicFramePr><a:graphicFrameLocks noGrp="1" /></p:cNvGraphicFramePr><p:nvPr><p:ph idx="1" /></p:nvPr></p:nvGraphicFramePr><p:xfrm><a:off x="6121400" y="660400" /><a:ext cx="2781300" cy="4470400" /></p:xfrm><a:graphic><a:graphicData uri="http://schemas.openxmlformats.org/drawingml/2006/table"><a:tbl><a:tblPr firstRow="1" bandRow="1"><a:tableStyleId>{5C22544A-7EE6-4342-B048-85BDC9FD1C3A}</a:tableStyleId></a:tblPr><a:tblGrid><a:gridCol w="927100" /><a:gridCol w="927100" /><a:gridCol w="927100" /></a:tblGrid><a:tr h="0"><a:tc><a:txBody><a:bodyPr /><a:lstStyle /><a:p><a:pPr lvl="0" indent="0" marL="0" algn="l"><a:buNone /></a:pPr><a:r><a:rPr /><a:t>Source</a:t></a:r></a:p></a:txBody><a:tcPr /></a:tc><a:tc><a:txBody><a:bodyPr /><a:lstStyle /><a:p><a:pPr lvl="0" indent="0" marL="0" algn="l"><a:buNone /></a:pPr><a:r><a:rPr /><a:t>SS</a:t></a:r></a:p></a:txBody><a:tcPr /></a:tc><a:tc><a:txBody><a:bodyPr /><a:lstStyle /><a:p><a:pPr lvl="0" indent="0" marL="0" algn="l"><a:buNone /></a:pPr><a:r><a:rPr /><a:t>df</a:t></a:r></a:p></a:txBody><a:tcPr /></a:tc></a:tr><a:tr h="0"><a:tc><a:txBody><a:bodyPr /><a:lstStyle /><a:p><a:pPr lvl="0" indent="0" marL="0" algn="l"><a:buNone /></a:pPr><a:r><a:rPr /><a:t>Regression</a:t></a:r></a:p></a:txBody></a:tc><a:tc><a:txBody><a:bodyPr /><a:lstStyle /><a:p><a:pPr lvl="0" indent="0" marL="0" algn="l"><a:buNone /></a:pPr><a14:m><m:oMath xmlns:m="http://schemas.openxmlformats.org/officeDocument/2006/math"><m:r><m:rPr><m:sty m:val="p" /></m:rPr><m:t>∑</m:t></m:r><m:r><m:rPr><m:sty m:val="p" /></m:rPr><m:t>(</m:t></m:r><m:sSub><m:e><m:r><m:t>y</m:t></m:r></m:e><m:sub><m:r><m:t>i</m:t></m:r></m:sub></m:sSub><m:r><m:rPr><m:sty m:val="p" /></m:rPr><m:t>−</m:t></m:r><m:acc><m:accPr><m:chr m:val="‾" /></m:accPr><m:e><m:r><m:t>y</m:t></m:r></m:e></m:acc><m:sSup><m:e><m:r><m:rPr><m:sty m:val="p" /></m:rPr><m:t>)</m:t></m:r></m:e><m:sup><m:r><m:t>2</m:t></m:r></m:sup></m:sSup></m:oMath></a14:m></a:p></a:txBody></a:tc><a:tc><a:txBody><a:bodyPr /><a:lstStyle /><a:p><a:pPr lvl="0" indent="0" marL="0" algn="l"><a:buNone /></a:pPr><a14:m><m:oMath xmlns:m="http://schemas.openxmlformats.org/officeDocument/2006/math"><m:r><m:t>p</m:t></m:r></m:oMath></a14:m></a:p></a:txBody></a:tc></a:tr><a:tr h="0"><a:tc><a:txBody><a:bodyPr /><a:lstStyle /><a:p><a:pPr lvl="0" indent="0" marL="0" algn="l"><a:buNone /></a:pPr><a:r><a:rPr /><a:t>Residual</a:t></a:r></a:p></a:txBody></a:tc><a:tc><a:txBody><a:bodyPr /><a:lstStyle /><a:p><a:pPr lvl="0" indent="0" marL="0" algn="l"><a:buNone /></a:pPr><a14:m><m:oMath xmlns:m="http://schemas.openxmlformats.org/officeDocument/2006/math"><m:r><m:rPr><m:sty m:val="p" /></m:rPr><m:t>∑</m:t></m:r><m:r><m:rPr><m:sty m:val="p" /></m:rPr><m:t>(</m:t></m:r><m:sSub><m:e><m:r><m:t>y</m:t></m:r></m:e><m:sub><m:r><m:t>i</m:t></m:r></m:sub></m:sSub><m:r><m:rPr><m:sty m:val="p" /></m:rPr><m:t>−</m:t></m:r><m:sSub><m:e><m:acc><m:accPr><m:chr m:val="̂" /></m:accPr><m:e><m:r><m:t>y</m:t></m:r></m:e></m:acc></m:e><m:sub><m:r><m:t>i</m:t></m:r></m:sub></m:sSub><m:sSup><m:e><m:r><m:rPr><m:sty m:val="p" /></m:rPr><m:t>)</m:t></m:r></m:e><m:sup><m:r><m:t>2</m:t></m:r></m:sup></m:sSup></m:oMath></a14:m></a:p></a:txBody></a:tc><a:tc><a:txBody><a:bodyPr /><a:lstStyle /><a:p><a:pPr lvl="0" indent="0" marL="0" algn="l"><a:buNone /></a:pPr><a14:m><m:oMath xmlns:m="http://schemas.openxmlformats.org/officeDocument/2006/math"><m:r><m:t>n</m:t></m:r><m:r><m:rPr><m:sty m:val="p" /></m:rPr><m:t>−</m:t></m:r><m:r><m:t>p</m:t></m:r><m:r><m:rPr><m:sty m:val="p" /></m:rPr><m:t>−</m:t></m:r><m:r><m:t>1</m:t></m:r></m:oMath></a14:m></a:p></a:txBody></a:tc></a:tr><a:tr h="0"><a:tc><a:txBody><a:bodyPr /><a:lstStyle /><a:p><a:pPr lvl="0" indent="0" marL="0" algn="l"><a:buNone /></a:pPr><a:r><a:rPr /><a:t>Total</a:t></a:r></a:p></a:txBody></a:tc><a:tc><a:txBody><a:bodyPr /><a:lstStyle /><a:p><a:pPr lvl="0" indent="0" marL="0" algn="l"><a:buNone /></a:pPr><a14:m><m:oMath xmlns:m="http://schemas.openxmlformats.org/officeDocument/2006/math"><m:r><m:rPr><m:sty m:val="p" /></m:rPr><m:t>∑</m:t></m:r><m:r><m:rPr><m:sty m:val="p" /></m:rPr><m:t>(</m:t></m:r><m:sSub><m:e><m:r><m:t>y</m:t></m:r></m:e><m:sub><m:r><m:t>i</m:t></m:r></m:sub></m:sSub><m:r><m:rPr><m:sty m:val="p" /></m:rPr><m:t>−</m:t></m:r><m:acc><m:accPr><m:chr m:val="‾" /></m:accPr><m:e><m:r><m:t>y</m:t></m:r></m:e></m:acc><m:sSup><m:e><m:r><m:rPr><m:sty m:val="p" /></m:rPr><m:t>)</m:t></m:r></m:e><m:sup><m:r><m:t>2</m:t></m:r></m:sup></m:sSup></m:oMath></a14:m></a:p></a:txBody></a:tc><a:tc><a:txBody><a:bodyPr /><a:lstStyle /><a:p><a:pPr lvl="0" indent="0" marL="0" algn="l"><a:buNone /></a:pPr><a14:m><m:oMath xmlns:m="http://schemas.openxmlformats.org/officeDocument/2006/math"><m:r><m:t>n</m:t></m:r><m:r><m:rPr><m:sty m:val="p" /></m:rPr><m:t>−</m:t></m:r><m:r><m:t>1</m:t></m:r></m:oMath></a14:m></a:p></a:txBody></a:tc></a:tr></a:tbl></a:graphicData></a:graphic></p:graphicFrame></p:spTree></p:cSld></p:sld>
</file>

<file path=ppt/slides/slide18.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0" y="0" /><a:ext cx="9144000" cy="602780" /></a:xfrm><a:solidFill><a:srgbClr val="70121D" /></a:solidFill></p:spPr><p:txBody><a:bodyPr /><a:lstStyle /><a:p><a:pPr lvl="0" indent="0" marL="0"><a:buNone /></a:pPr><a:r><a:rPr /><a:t>From Sums of Squares to Mean Squares</a:t></a:r></a:p></p:txBody></p:sp><mc:AlternateContent xmlns:mc="http://schemas.openxmlformats.org/markup-compatibility/2006"><mc:Choice xmlns:a14="http://schemas.microsoft.com/office/drawing/2010/main" Requires="a14"><p:sp><p:nvSpPr><p:cNvPr id="3" name="Content Placeholder 2" /><p:cNvSpPr><a:spLocks noGrp="1" /></p:cNvSpPr><p:nvPr><p:ph idx="1" sz="half" /></p:nvPr></p:nvSpPr><p:spPr /><p:txBody><a:bodyPr /><a:lstStyle /><a:p><a:pPr lvl="0" indent="0" marL="0"><a:buNone /></a:pPr><a:r><a:rPr /><a:t>SS converted to (non-additive) MS = SS/df:</a:t></a:r></a:p><a:p><a:pPr lvl="0" /><a14:m><m:oMath xmlns:m="http://schemas.openxmlformats.org/officeDocument/2006/math"><m:r><m:t>M</m:t></m:r><m:sSub><m:e><m:r><m:t>S</m:t></m:r></m:e><m:sub><m:r><m:t>r</m:t></m:r><m:r><m:t>e</m:t></m:r><m:r><m:t>s</m:t></m:r><m:r><m:t>i</m:t></m:r><m:r><m:t>d</m:t></m:r><m:r><m:t>u</m:t></m:r><m:r><m:t>a</m:t></m:r><m:r><m:t>l</m:t></m:r></m:sub></m:sSub></m:oMath></a14:m><a:r><a:rPr /><a:t>: estimates population variance</a:t></a:r></a:p><a:p><a:pPr lvl="0" /><a14:m><m:oMath xmlns:m="http://schemas.openxmlformats.org/officeDocument/2006/math"><m:r><m:t>M</m:t></m:r><m:sSub><m:e><m:r><m:t>S</m:t></m:r></m:e><m:sub><m:r><m:t>r</m:t></m:r><m:r><m:t>e</m:t></m:r><m:r><m:t>g</m:t></m:r><m:r><m:t>r</m:t></m:r><m:r><m:t>e</m:t></m:r><m:r><m:t>s</m:t></m:r><m:r><m:t>s</m:t></m:r><m:r><m:t>i</m:t></m:r><m:r><m:t>o</m:t></m:r><m:r><m:t>n</m:t></m:r></m:sub></m:sSub></m:oMath></a14:m><a:r><a:rPr /><a:t>: estimates population variance + variation due to the strength of the X-Y relationships</a:t></a:r></a:p><a:p><a:pPr lvl="0" /><a:r><a:rPr /><a:t>MS is an estimate of variance that doesn’t increase with sample size the way SS does</a:t></a:r></a:p></p:txBody></p:sp></mc:Choice></mc:AlternateContent><p:graphicFrame><p:nvGraphicFramePr><p:cNvPr id="6" name="Content Placeholder 5" /><p:cNvGraphicFramePr><a:graphicFrameLocks noGrp="1" /></p:cNvGraphicFramePr><p:nvPr><p:ph idx="1" /></p:nvPr></p:nvGraphicFramePr><p:xfrm><a:off x="6121400" y="660400" /><a:ext cx="2781300" cy="4470400" /></p:xfrm><a:graphic><a:graphicData uri="http://schemas.openxmlformats.org/drawingml/2006/table"><a:tbl><a:tblPr firstRow="1" bandRow="1"><a:tableStyleId>{5C22544A-7EE6-4342-B048-85BDC9FD1C3A}</a:tableStyleId></a:tblPr><a:tblGrid><a:gridCol w="685800" /><a:gridCol w="685800" /><a:gridCol w="685800" /><a:gridCol w="685800" /></a:tblGrid><a:tr h="0"><a:tc><a:txBody><a:bodyPr /><a:lstStyle /><a:p><a:pPr lvl="0" indent="0" marL="0" algn="l"><a:buNone /></a:pPr><a:r><a:rPr /><a:t>Source</a:t></a:r></a:p></a:txBody><a:tcPr /></a:tc><a:tc><a:txBody><a:bodyPr /><a:lstStyle /><a:p><a:pPr lvl="0" indent="0" marL="0" algn="l"><a:buNone /></a:pPr><a:r><a:rPr /><a:t>SS</a:t></a:r></a:p></a:txBody><a:tcPr /></a:tc><a:tc><a:txBody><a:bodyPr /><a:lstStyle /><a:p><a:pPr lvl="0" indent="0" marL="0" algn="l"><a:buNone /></a:pPr><a:r><a:rPr /><a:t>df</a:t></a:r></a:p></a:txBody><a:tcPr /></a:tc><a:tc><a:txBody><a:bodyPr /><a:lstStyle /><a:p><a:pPr lvl="0" indent="0" marL="0" algn="l"><a:buNone /></a:pPr><a:r><a:rPr /><a:t>MS</a:t></a:r></a:p></a:txBody><a:tcPr /></a:tc></a:tr><a:tr h="0"><a:tc><a:txBody><a:bodyPr /><a:lstStyle /><a:p><a:pPr lvl="0" indent="0" marL="0" algn="l"><a:buNone /></a:pPr><a:r><a:rPr /><a:t>Regression</a:t></a:r></a:p></a:txBody></a:tc><a:tc><a:txBody><a:bodyPr /><a:lstStyle /><a:p><a:pPr lvl="0" indent="0" marL="0" algn="l"><a:buNone /></a:pPr><a14:m><m:oMath xmlns:m="http://schemas.openxmlformats.org/officeDocument/2006/math"><m:r><m:rPr><m:sty m:val="p" /></m:rPr><m:t>∑</m:t></m:r><m:r><m:rPr><m:sty m:val="p" /></m:rPr><m:t>(</m:t></m:r><m:sSub><m:e><m:r><m:t>y</m:t></m:r></m:e><m:sub><m:r><m:t>i</m:t></m:r></m:sub></m:sSub><m:r><m:rPr><m:sty m:val="p" /></m:rPr><m:t>−</m:t></m:r><m:acc><m:accPr><m:chr m:val="‾" /></m:accPr><m:e><m:r><m:t>y</m:t></m:r></m:e></m:acc><m:sSup><m:e><m:r><m:rPr><m:sty m:val="p" /></m:rPr><m:t>)</m:t></m:r></m:e><m:sup><m:r><m:t>2</m:t></m:r></m:sup></m:sSup></m:oMath></a14:m></a:p></a:txBody></a:tc><a:tc><a:txBody><a:bodyPr /><a:lstStyle /><a:p><a:pPr lvl="0" indent="0" marL="0" algn="l"><a:buNone /></a:pPr><a14:m><m:oMath xmlns:m="http://schemas.openxmlformats.org/officeDocument/2006/math"><m:r><m:t>p</m:t></m:r></m:oMath></a14:m></a:p></a:txBody></a:tc><a:tc><a:txBody><a:bodyPr /><a:lstStyle /><a:p><a:pPr lvl="0" indent="0" marL="0" algn="l"><a:buNone /></a:pPr><a:r><a:rPr /><a:t>SS/df</a:t></a:r></a:p></a:txBody></a:tc></a:tr><a:tr h="0"><a:tc><a:txBody><a:bodyPr /><a:lstStyle /><a:p><a:pPr lvl="0" indent="0" marL="0" algn="l"><a:buNone /></a:pPr><a:r><a:rPr /><a:t>Residual</a:t></a:r></a:p></a:txBody></a:tc><a:tc><a:txBody><a:bodyPr /><a:lstStyle /><a:p><a:pPr lvl="0" indent="0" marL="0" algn="l"><a:buNone /></a:pPr><a14:m><m:oMath xmlns:m="http://schemas.openxmlformats.org/officeDocument/2006/math"><m:r><m:rPr><m:sty m:val="p" /></m:rPr><m:t>∑</m:t></m:r><m:r><m:rPr><m:sty m:val="p" /></m:rPr><m:t>(</m:t></m:r><m:sSub><m:e><m:r><m:t>y</m:t></m:r></m:e><m:sub><m:r><m:t>i</m:t></m:r></m:sub></m:sSub><m:r><m:rPr><m:sty m:val="p" /></m:rPr><m:t>−</m:t></m:r><m:sSub><m:e><m:acc><m:accPr><m:chr m:val="̂" /></m:accPr><m:e><m:r><m:t>y</m:t></m:r></m:e></m:acc></m:e><m:sub><m:r><m:t>i</m:t></m:r></m:sub></m:sSub><m:sSup><m:e><m:r><m:rPr><m:sty m:val="p" /></m:rPr><m:t>)</m:t></m:r></m:e><m:sup><m:r><m:t>2</m:t></m:r></m:sup></m:sSup></m:oMath></a14:m></a:p></a:txBody></a:tc><a:tc><a:txBody><a:bodyPr /><a:lstStyle /><a:p><a:pPr lvl="0" indent="0" marL="0" algn="l"><a:buNone /></a:pPr><a14:m><m:oMath xmlns:m="http://schemas.openxmlformats.org/officeDocument/2006/math"><m:r><m:t>n</m:t></m:r><m:r><m:rPr><m:sty m:val="p" /></m:rPr><m:t>−</m:t></m:r><m:r><m:t>p</m:t></m:r><m:r><m:rPr><m:sty m:val="p" /></m:rPr><m:t>−</m:t></m:r><m:r><m:t>1</m:t></m:r></m:oMath></a14:m></a:p></a:txBody></a:tc><a:tc><a:txBody><a:bodyPr /><a:lstStyle /><a:p><a:pPr lvl="0" indent="0" marL="0" algn="l"><a:buNone /></a:pPr><a:r><a:rPr /><a:t>SS/df</a:t></a:r></a:p></a:txBody></a:tc></a:tr><a:tr h="0"><a:tc><a:txBody><a:bodyPr /><a:lstStyle /><a:p><a:pPr lvl="0" indent="0" marL="0" algn="l"><a:buNone /></a:pPr><a:r><a:rPr /><a:t>Total</a:t></a:r></a:p></a:txBody></a:tc><a:tc><a:txBody><a:bodyPr /><a:lstStyle /><a:p><a:pPr lvl="0" indent="0" marL="0" algn="l"><a:buNone /></a:pPr><a14:m><m:oMath xmlns:m="http://schemas.openxmlformats.org/officeDocument/2006/math"><m:r><m:rPr><m:sty m:val="p" /></m:rPr><m:t>∑</m:t></m:r><m:r><m:rPr><m:sty m:val="p" /></m:rPr><m:t>(</m:t></m:r><m:sSub><m:e><m:r><m:t>y</m:t></m:r></m:e><m:sub><m:r><m:t>i</m:t></m:r></m:sub></m:sSub><m:r><m:rPr><m:sty m:val="p" /></m:rPr><m:t>−</m:t></m:r><m:acc><m:accPr><m:chr m:val="‾" /></m:accPr><m:e><m:r><m:t>y</m:t></m:r></m:e></m:acc><m:sSup><m:e><m:r><m:rPr><m:sty m:val="p" /></m:rPr><m:t>)</m:t></m:r></m:e><m:sup><m:r><m:t>2</m:t></m:r></m:sup></m:sSup></m:oMath></a14:m></a:p></a:txBody></a:tc><a:tc><a:txBody><a:bodyPr /><a:lstStyle /><a:p><a:pPr lvl="0" indent="0" marL="0" algn="l"><a:buNone /></a:pPr><a14:m><m:oMath xmlns:m="http://schemas.openxmlformats.org/officeDocument/2006/math"><m:r><m:t>n</m:t></m:r><m:r><m:rPr><m:sty m:val="p" /></m:rPr><m:t>−</m:t></m:r><m:r><m:t>1</m:t></m:r></m:oMath></a14:m></a:p></a:txBody></a:tc><a:tc><a:txBody><a:bodyPr /><a:lstStyle /><a:p><a:endParaRPr /></a:p></a:txBody></a:tc></a:tr></a:tbl></a:graphicData></a:graphic></p:graphicFrame></p:spTree></p:cSld></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Hypotheses — the “Basic” 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Two null hypotheses are usually tested in MLR. The “basic” H₀: all partial regression slopes equal 0; β₁ = β₂ = … = βₚ = 0.</a:t>
                </a:r>
              </a:p>
              <a:p>
                <a:pPr lvl="0"/>
                <a:r>
                  <a:rPr/>
                  <a:t>If the “basic” H₀ is true, </a:t>
                </a:r>
                <a14:m>
                  <m:oMath xmlns:m="http://schemas.openxmlformats.org/officeDocument/2006/math">
                    <m:r>
                      <m:t>M</m:t>
                    </m:r>
                    <m:sSub>
                      <m:e>
                        <m:r>
                          <m:t>S</m:t>
                        </m:r>
                      </m:e>
                      <m:sub>
                        <m:r>
                          <m:t>r</m:t>
                        </m:r>
                        <m:r>
                          <m:t>e</m:t>
                        </m:r>
                        <m:r>
                          <m:t>g</m:t>
                        </m:r>
                        <m:r>
                          <m:t>r</m:t>
                        </m:r>
                        <m:r>
                          <m:t>e</m:t>
                        </m:r>
                        <m:r>
                          <m:t>s</m:t>
                        </m:r>
                        <m:r>
                          <m:t>s</m:t>
                        </m:r>
                        <m:r>
                          <m:t>i</m:t>
                        </m:r>
                        <m:r>
                          <m:t>o</m:t>
                        </m:r>
                        <m:r>
                          <m:t>n</m:t>
                        </m:r>
                      </m:sub>
                    </m:sSub>
                  </m:oMath>
                </a14:m>
                <a:r>
                  <a:rPr/>
                  <a:t> and </a:t>
                </a:r>
                <a14:m>
                  <m:oMath xmlns:m="http://schemas.openxmlformats.org/officeDocument/2006/math">
                    <m:r>
                      <m:t>M</m:t>
                    </m:r>
                    <m:sSub>
                      <m:e>
                        <m:r>
                          <m:t>S</m:t>
                        </m:r>
                      </m:e>
                      <m:sub>
                        <m:r>
                          <m:t>r</m:t>
                        </m:r>
                        <m:r>
                          <m:t>e</m:t>
                        </m:r>
                        <m:r>
                          <m:t>s</m:t>
                        </m:r>
                        <m:r>
                          <m:t>i</m:t>
                        </m:r>
                        <m:r>
                          <m:t>d</m:t>
                        </m:r>
                        <m:r>
                          <m:t>u</m:t>
                        </m:r>
                        <m:r>
                          <m:t>a</m:t>
                        </m:r>
                        <m:r>
                          <m:t>l</m:t>
                        </m:r>
                      </m:sub>
                    </m:sSub>
                  </m:oMath>
                </a14:m>
                <a:r>
                  <a:rPr/>
                  <a:t> estimate the same variance, and their ratio (F-ratio) ≈ 1</a:t>
                </a:r>
              </a:p>
              <a:p>
                <a:pPr lvl="0"/>
                <a:r>
                  <a:rPr/>
                  <a:t>If the “basic” H₀ is false (at least one β ≠ 0), </a:t>
                </a:r>
                <a14:m>
                  <m:oMath xmlns:m="http://schemas.openxmlformats.org/officeDocument/2006/math">
                    <m:r>
                      <m:t>M</m:t>
                    </m:r>
                    <m:sSub>
                      <m:e>
                        <m:r>
                          <m:t>S</m:t>
                        </m:r>
                      </m:e>
                      <m:sub>
                        <m:r>
                          <m:t>r</m:t>
                        </m:r>
                        <m:r>
                          <m:t>e</m:t>
                        </m:r>
                        <m:r>
                          <m:t>g</m:t>
                        </m:r>
                        <m:r>
                          <m:t>r</m:t>
                        </m:r>
                        <m:r>
                          <m:t>e</m:t>
                        </m:r>
                        <m:r>
                          <m:t>s</m:t>
                        </m:r>
                        <m:r>
                          <m:t>s</m:t>
                        </m:r>
                        <m:r>
                          <m:t>i</m:t>
                        </m:r>
                        <m:r>
                          <m:t>o</m:t>
                        </m:r>
                        <m:r>
                          <m:t>n</m:t>
                        </m:r>
                      </m:sub>
                    </m:sSub>
                  </m:oMath>
                </a14:m>
                <a:r>
                  <a:rPr/>
                  <a:t> estimates variance + partial regression slope effects, and the F-ratio will be &gt; 1 — compared to the F-distribution for a p-value</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Reference</a:t>
            </a:r>
          </a:p>
          <a:p>
            <a:pPr lvl="0" indent="0" marL="1270000">
              <a:buNone/>
            </a:pPr>
            <a:r>
              <a:rPr sz="2000"/>
              <a:t>Gotelli &amp; Ellison, Ch. 9, covers this F-test framework for multiple regression in detail.</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Hypotheses — Testing One Specific β</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Also: is any </a:t>
                </a:r>
                <a:r>
                  <a:rPr i="1"/>
                  <a:t>specific</a:t>
                </a:r>
                <a:r>
                  <a:rPr/>
                  <a:t> β = 0 (explanatory role)?</a:t>
                </a:r>
              </a:p>
              <a:p>
                <a:pPr lvl="0"/>
                <a:r>
                  <a:rPr/>
                  <a:t>E.g., does latitude have an effect on ant species?</a:t>
                </a:r>
              </a:p>
              <a:p>
                <a:pPr lvl="0"/>
                <a:r>
                  <a:rPr/>
                  <a:t>These H’s are tested through model comparison</a:t>
                </a:r>
              </a:p>
              <a:p>
                <a:pPr lvl="0"/>
                <a:r>
                  <a:rPr b="1"/>
                  <a:t>Model 1</a:t>
                </a:r>
                <a:r>
                  <a:rPr/>
                  <a:t> — with 2 predictors X₁, X₂: </a:t>
                </a:r>
                <a14:m>
                  <m:oMath xmlns:m="http://schemas.openxmlformats.org/officeDocument/2006/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sSub>
                      <m:e>
                        <m:r>
                          <m:t>ϵ</m:t>
                        </m:r>
                      </m:e>
                      <m:sub>
                        <m:r>
                          <m:t>i</m:t>
                        </m:r>
                      </m:sub>
                    </m:sSub>
                  </m:oMath>
                </a14:m>
              </a:p>
              <a:p>
                <a:pPr lvl="0"/>
                <a:r>
                  <a:rPr b="1"/>
                  <a:t>Model 2</a:t>
                </a:r>
                <a:r>
                  <a:rPr/>
                  <a:t> — to test H₀ that β₂ = 0, compare the fit of Model 1 to Model 2 with 1 predictor: </a:t>
                </a:r>
                <a14:m>
                  <m:oMath xmlns:m="http://schemas.openxmlformats.org/officeDocument/2006/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ϵ</m:t>
                        </m:r>
                      </m:e>
                      <m:sub>
                        <m:r>
                          <m:t>i</m:t>
                        </m:r>
                      </m:sub>
                    </m:sSub>
                  </m:oMath>
                </a14:m>
              </a:p>
            </p:txBody>
          </p:sp>
        </mc:Choice>
      </mc:AlternateContent>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This is a preview of the model-comparison approach we’ll use throughout this lecture — fit two nested models and compare their fit.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Hypotheses — the Partial F-Test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If </a:t>
                </a:r>
                <a14:m>
                  <m:oMath xmlns:m="http://schemas.openxmlformats.org/officeDocument/2006/math">
                    <m:r>
                      <m:t>S</m:t>
                    </m:r>
                    <m:sSub>
                      <m:e>
                        <m:r>
                          <m:t>S</m:t>
                        </m:r>
                      </m:e>
                      <m:sub>
                        <m:r>
                          <m:t>r</m:t>
                        </m:r>
                        <m:r>
                          <m:t>e</m:t>
                        </m:r>
                        <m:r>
                          <m:t>g</m:t>
                        </m:r>
                        <m:r>
                          <m:t>r</m:t>
                        </m:r>
                        <m:r>
                          <m:t>e</m:t>
                        </m:r>
                        <m:r>
                          <m:t>s</m:t>
                        </m:r>
                        <m:r>
                          <m:t>s</m:t>
                        </m:r>
                        <m:r>
                          <m:t>i</m:t>
                        </m:r>
                        <m:r>
                          <m:t>o</m:t>
                        </m:r>
                        <m:r>
                          <m:t>n</m:t>
                        </m:r>
                      </m:sub>
                    </m:sSub>
                  </m:oMath>
                </a14:m>
                <a:r>
                  <a:rPr/>
                  <a:t> of model 1 = model 2, we cannot reject H₀: β₁ = 0 — adding X₂ did not explain any additional variance</a:t>
                </a:r>
              </a:p>
              <a:p>
                <a:pPr lvl="0"/>
                <a:r>
                  <a:rPr/>
                  <a:t>If </a:t>
                </a:r>
                <a14:m>
                  <m:oMath xmlns:m="http://schemas.openxmlformats.org/officeDocument/2006/math">
                    <m:r>
                      <m:t>S</m:t>
                    </m:r>
                    <m:sSub>
                      <m:e>
                        <m:r>
                          <m:t>S</m:t>
                        </m:r>
                      </m:e>
                      <m:sub>
                        <m:r>
                          <m:t>r</m:t>
                        </m:r>
                        <m:r>
                          <m:t>e</m:t>
                        </m:r>
                        <m:r>
                          <m:t>g</m:t>
                        </m:r>
                        <m:r>
                          <m:t>r</m:t>
                        </m:r>
                        <m:r>
                          <m:t>e</m:t>
                        </m:r>
                        <m:r>
                          <m:t>s</m:t>
                        </m:r>
                        <m:r>
                          <m:t>s</m:t>
                        </m:r>
                        <m:r>
                          <m:t>i</m:t>
                        </m:r>
                        <m:r>
                          <m:t>o</m:t>
                        </m:r>
                        <m:r>
                          <m:t>n</m:t>
                        </m:r>
                      </m:sub>
                    </m:sSub>
                  </m:oMath>
                </a14:m>
                <a:r>
                  <a:rPr/>
                  <a:t> of model 1 &gt; model 2, there’s evidence to reject H₀: β₂ = 0 — adding X₂ explains more variance</a:t>
                </a:r>
              </a:p>
              <a:p>
                <a:pPr lvl="0"/>
                <a:r>
                  <a:rPr/>
                  <a:t>SS for β₂ is </a:t>
                </a:r>
                <a14:m>
                  <m:oMath xmlns:m="http://schemas.openxmlformats.org/officeDocument/2006/math">
                    <m:r>
                      <m:t>S</m:t>
                    </m:r>
                    <m:sSub>
                      <m:e>
                        <m:r>
                          <m:t>S</m:t>
                        </m:r>
                      </m:e>
                      <m:sub>
                        <m:r>
                          <m:t>e</m:t>
                        </m:r>
                        <m:r>
                          <m:t>x</m:t>
                        </m:r>
                        <m:r>
                          <m:t>t</m:t>
                        </m:r>
                        <m:r>
                          <m:t>r</m:t>
                        </m:r>
                        <m:r>
                          <m:t>a</m:t>
                        </m:r>
                        <m:r>
                          <m:rPr>
                            <m:sty m:val="p"/>
                          </m:rPr>
                          <m:t>,</m:t>
                        </m:r>
                        <m:sSub>
                          <m:e>
                            <m:r>
                              <m:t>β</m:t>
                            </m:r>
                          </m:e>
                          <m:sub>
                            <m:r>
                              <m:t>2</m:t>
                            </m:r>
                          </m:sub>
                        </m:sSub>
                      </m:sub>
                    </m:sSub>
                  </m:oMath>
                </a14:m>
                <a:r>
                  <a:rPr/>
                  <a:t> = Full </a:t>
                </a:r>
                <a14:m>
                  <m:oMath xmlns:m="http://schemas.openxmlformats.org/officeDocument/2006/math">
                    <m:r>
                      <m:t>S</m:t>
                    </m:r>
                    <m:sSub>
                      <m:e>
                        <m:r>
                          <m:t>S</m:t>
                        </m:r>
                      </m:e>
                      <m:sub>
                        <m:r>
                          <m:t>r</m:t>
                        </m:r>
                        <m:r>
                          <m:t>e</m:t>
                        </m:r>
                        <m:r>
                          <m:t>g</m:t>
                        </m:r>
                        <m:r>
                          <m:t>r</m:t>
                        </m:r>
                        <m:r>
                          <m:t>e</m:t>
                        </m:r>
                        <m:r>
                          <m:t>s</m:t>
                        </m:r>
                        <m:r>
                          <m:t>s</m:t>
                        </m:r>
                        <m:r>
                          <m:t>i</m:t>
                        </m:r>
                        <m:r>
                          <m:t>o</m:t>
                        </m:r>
                        <m:r>
                          <m:t>n</m:t>
                        </m:r>
                      </m:sub>
                    </m:sSub>
                  </m:oMath>
                </a14:m>
                <a:r>
                  <a:rPr/>
                  <a:t> − Reduced </a:t>
                </a:r>
                <a14:m>
                  <m:oMath xmlns:m="http://schemas.openxmlformats.org/officeDocument/2006/math">
                    <m:r>
                      <m:t>S</m:t>
                    </m:r>
                    <m:sSub>
                      <m:e>
                        <m:r>
                          <m:t>S</m:t>
                        </m:r>
                      </m:e>
                      <m:sub>
                        <m:r>
                          <m:t>r</m:t>
                        </m:r>
                        <m:r>
                          <m:t>e</m:t>
                        </m:r>
                        <m:r>
                          <m:t>g</m:t>
                        </m:r>
                        <m:r>
                          <m:t>r</m:t>
                        </m:r>
                        <m:r>
                          <m:t>e</m:t>
                        </m:r>
                        <m:r>
                          <m:t>s</m:t>
                        </m:r>
                        <m:r>
                          <m:t>s</m:t>
                        </m:r>
                        <m:r>
                          <m:t>i</m:t>
                        </m:r>
                        <m:r>
                          <m:t>o</m:t>
                        </m:r>
                        <m:r>
                          <m:t>n</m:t>
                        </m:r>
                      </m:sub>
                    </m:sSub>
                  </m:oMath>
                </a14:m>
                <a:r>
                  <a:rPr/>
                  <a:t> — this quantifies how much additional variance X₂ explains</a:t>
                </a:r>
              </a:p>
              <a:p>
                <a:pPr lvl="0"/>
                <a:r>
                  <a:rPr/>
                  <a:t>Use a partial F-test to test H₀: β₂ = 0:</a:t>
                </a:r>
              </a:p>
              <a:p>
                <a:pPr lvl="0" indent="0" marL="0">
                  <a:buNone/>
                </a:pPr>
                <a14:m>
                  <m:oMathPara xmlns:m="http://schemas.openxmlformats.org/officeDocument/2006/math">
                    <m:oMathParaPr>
                      <m:jc m:val="center"/>
                    </m:oMathParaPr>
                    <m:oMath>
                      <m:sSub>
                        <m:e>
                          <m:r>
                            <m:t>F</m:t>
                          </m:r>
                        </m:e>
                        <m:sub>
                          <m:r>
                            <m:t>1</m:t>
                          </m:r>
                          <m:r>
                            <m:rPr>
                              <m:sty m:val="p"/>
                            </m:rPr>
                            <m:t>,</m:t>
                          </m:r>
                          <m:r>
                            <m:t>n</m:t>
                          </m:r>
                          <m:r>
                            <m:rPr>
                              <m:sty m:val="p"/>
                            </m:rPr>
                            <m:t>−</m:t>
                          </m:r>
                          <m:r>
                            <m:t>p</m:t>
                          </m:r>
                        </m:sub>
                      </m:sSub>
                      <m:r>
                        <m:rPr>
                          <m:sty m:val="p"/>
                        </m:rPr>
                        <m:t>=</m:t>
                      </m:r>
                      <m:f>
                        <m:fPr>
                          <m:type m:val="bar"/>
                        </m:fPr>
                        <m:num>
                          <m:r>
                            <m:t>M</m:t>
                          </m:r>
                          <m:sSub>
                            <m:e>
                              <m:r>
                                <m:t>S</m:t>
                              </m:r>
                            </m:e>
                            <m:sub>
                              <m:r>
                                <m:t>E</m:t>
                              </m:r>
                              <m:r>
                                <m:t>x</m:t>
                              </m:r>
                              <m:r>
                                <m:t>t</m:t>
                              </m:r>
                              <m:r>
                                <m:t>r</m:t>
                              </m:r>
                              <m:r>
                                <m:t>a</m:t>
                              </m:r>
                            </m:sub>
                          </m:sSub>
                        </m:num>
                        <m:den>
                          <m:r>
                            <m:t>F</m:t>
                          </m:r>
                          <m:r>
                            <m:t>u</m:t>
                          </m:r>
                          <m:r>
                            <m:t>l</m:t>
                          </m:r>
                          <m:r>
                            <m:t>l</m:t>
                          </m:r>
                          <m:r>
                            <m:t> </m:t>
                          </m:r>
                          <m:r>
                            <m:t>M</m:t>
                          </m:r>
                          <m:sSub>
                            <m:e>
                              <m:r>
                                <m:t>S</m:t>
                              </m:r>
                            </m:e>
                            <m:sub>
                              <m:r>
                                <m:t>R</m:t>
                              </m:r>
                              <m:r>
                                <m:t>e</m:t>
                              </m:r>
                              <m:r>
                                <m:t>s</m:t>
                              </m:r>
                              <m:r>
                                <m:t>i</m:t>
                              </m:r>
                              <m:r>
                                <m:t>d</m:t>
                              </m:r>
                              <m:r>
                                <m:t>u</m:t>
                              </m:r>
                              <m:r>
                                <m:t>a</m:t>
                              </m:r>
                              <m:r>
                                <m:t>l</m:t>
                              </m:r>
                            </m:sub>
                          </m:sSub>
                        </m:den>
                      </m:f>
                    </m:oMath>
                  </m:oMathPara>
                </a14:m>
              </a:p>
            </p:txBody>
          </p:sp>
        </mc:Choice>
      </mc:AlternateContent>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R also gives you a t-test for each coefficient that answers exactly this same question — you rarely need to run the partial F-test by hand.</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Explained Variance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Explained variance (r²) is calculated the same way as for simple regression: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R</m:t>
                              </m:r>
                              <m:r>
                                <m:t>e</m:t>
                              </m:r>
                              <m:r>
                                <m:t>g</m:t>
                              </m:r>
                              <m:r>
                                <m:t>r</m:t>
                              </m:r>
                              <m:r>
                                <m:t>e</m:t>
                              </m:r>
                              <m:r>
                                <m:t>s</m:t>
                              </m:r>
                              <m:r>
                                <m:t>s</m:t>
                              </m:r>
                              <m:r>
                                <m:t>i</m:t>
                              </m:r>
                              <m:r>
                                <m:t>o</m:t>
                              </m:r>
                              <m:r>
                                <m:t>n</m:t>
                              </m:r>
                            </m:sub>
                          </m:sSub>
                        </m:num>
                        <m:den>
                          <m:r>
                            <m:t>S</m:t>
                          </m:r>
                          <m:sSub>
                            <m:e>
                              <m:r>
                                <m:t>S</m:t>
                              </m:r>
                            </m:e>
                            <m:sub>
                              <m:r>
                                <m:t>T</m:t>
                              </m:r>
                              <m:r>
                                <m:t>o</m:t>
                              </m:r>
                              <m:r>
                                <m:t>t</m:t>
                              </m:r>
                              <m:r>
                                <m:t>a</m:t>
                              </m:r>
                              <m:r>
                                <m:t>l</m:t>
                              </m:r>
                            </m:sub>
                          </m:sSub>
                        </m:den>
                      </m:f>
                      <m:r>
                        <m:rPr>
                          <m:sty m:val="p"/>
                        </m:rPr>
                        <m:t>=</m:t>
                      </m:r>
                      <m:r>
                        <m:t>1</m:t>
                      </m:r>
                      <m:r>
                        <m:rPr>
                          <m:sty m:val="p"/>
                        </m:rPr>
                        <m:t>−</m:t>
                      </m:r>
                      <m:f>
                        <m:fPr>
                          <m:type m:val="bar"/>
                        </m:fPr>
                        <m:num>
                          <m:r>
                            <m:t>S</m:t>
                          </m:r>
                          <m:sSub>
                            <m:e>
                              <m:r>
                                <m:t>S</m:t>
                              </m:r>
                            </m:e>
                            <m:sub>
                              <m:r>
                                <m:t>R</m:t>
                              </m:r>
                              <m:r>
                                <m:t>e</m:t>
                              </m:r>
                              <m:r>
                                <m:t>s</m:t>
                              </m:r>
                              <m:r>
                                <m:t>i</m:t>
                              </m:r>
                              <m:r>
                                <m:t>d</m:t>
                              </m:r>
                              <m:r>
                                <m:t>u</m:t>
                              </m:r>
                              <m:r>
                                <m:t>a</m:t>
                              </m:r>
                              <m:r>
                                <m:t>l</m:t>
                              </m:r>
                            </m:sub>
                          </m:sSub>
                        </m:num>
                        <m:den>
                          <m:r>
                            <m:t>S</m:t>
                          </m:r>
                          <m:sSub>
                            <m:e>
                              <m:r>
                                <m:t>S</m:t>
                              </m:r>
                            </m:e>
                            <m:sub>
                              <m:r>
                                <m:t>T</m:t>
                              </m:r>
                              <m:r>
                                <m:t>o</m:t>
                              </m:r>
                              <m:r>
                                <m:t>t</m:t>
                              </m:r>
                              <m:r>
                                <m:t>a</m:t>
                              </m:r>
                              <m:r>
                                <m:t>l</m:t>
                              </m:r>
                            </m:sub>
                          </m:sSub>
                        </m:den>
                      </m:f>
                    </m:oMath>
                  </m:oMathPara>
                </a14:m>
              </a:p>
            </p:txBody>
          </p:sp>
        </mc:Choice>
      </mc:AlternateContent>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a:r>
              <a:rPr sz="2000"/>
              <a:t>r² values cannot be used to directly compare models with different numbers of predictors</a:t>
            </a:r>
          </a:p>
          <a:p>
            <a:pPr lvl="0"/>
            <a:r>
              <a:rPr sz="2000"/>
              <a:t>r² values will always increase as predictors are added, even useless ones</a:t>
            </a:r>
          </a:p>
          <a:p>
            <a:pPr lvl="0"/>
            <a:r>
              <a:rPr sz="2000"/>
              <a:t>r² values with different transformations of Y are not comparable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Assumptions and Diagnostics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 Outliers</a:t>
            </a:r>
          </a:p>
        </p:txBody>
      </p:sp>
      <p:sp>
        <p:nvSpPr>
          <p:cNvPr id="3" name="Text Placeholder 2"/>
          <p:cNvSpPr>
            <a:spLocks noGrp="1"/>
          </p:cNvSpPr>
          <p:nvPr>
            <p:ph idx="1" type="body"/>
          </p:nvPr>
        </p:nvSpPr>
        <p:spPr/>
        <p:txBody>
          <a:bodyPr/>
          <a:lstStyle/>
          <a:p>
            <a:pPr lvl="0"/>
            <a:r>
              <a:rPr/>
              <a:t>Assume fixed X’s — unrealistic in most biological settings, but a working assumption</a:t>
            </a:r>
          </a:p>
          <a:p>
            <a:pPr lvl="0"/>
            <a:r>
              <a:rPr/>
              <a:t>No major (influential) outliers</a:t>
            </a:r>
          </a:p>
          <a:p>
            <a:pPr lvl="0"/>
            <a:r>
              <a:rPr/>
              <a:t>Check leverage and influence with Cook’s Dᵢ</a:t>
            </a:r>
          </a:p>
        </p:txBody>
      </p:sp>
      <p:sp>
        <p:nvSpPr>
          <p:cNvPr id="5" name="Text Placeholder 4"/>
          <p:cNvSpPr>
            <a:spLocks noGrp="1"/>
          </p:cNvSpPr>
          <p:nvPr>
            <p:ph idx="3" sz="quarter" type="body"/>
          </p:nvPr>
        </p:nvSpPr>
        <p:spPr/>
        <p:txBody>
          <a:bodyPr/>
          <a:lstStyle/>
          <a:p>
            <a:pPr lvl="0" indent="0">
              <a:buNone/>
            </a:pPr>
            <a:r>
              <a:rPr>
                <a:solidFill>
                  <a:srgbClr val="4758AB"/>
                </a:solidFill>
                <a:latin typeface="Courier"/>
              </a:rPr>
              <a:t>plot</a:t>
            </a:r>
            <a:r>
              <a:rPr>
                <a:solidFill>
                  <a:srgbClr val="003B4F"/>
                </a:solidFill>
                <a:latin typeface="Courier"/>
              </a:rPr>
              <a:t>(ant_model, </a:t>
            </a:r>
            <a:r>
              <a:rPr>
                <a:solidFill>
                  <a:srgbClr val="657422"/>
                </a:solidFill>
                <a:latin typeface="Courier"/>
              </a:rPr>
              <a:t>which =</a:t>
            </a:r>
            <a:r>
              <a:rPr>
                <a:solidFill>
                  <a:srgbClr val="003B4F"/>
                </a:solidFill>
                <a:latin typeface="Courier"/>
              </a:rPr>
              <a:t> </a:t>
            </a:r>
            <a:r>
              <a:rPr>
                <a:solidFill>
                  <a:srgbClr val="AD0000"/>
                </a:solidFill>
                <a:latin typeface="Courier"/>
              </a:rPr>
              <a:t>4</a:t>
            </a:r>
            <a:r>
              <a:rPr>
                <a:solidFill>
                  <a:srgbClr val="003B4F"/>
                </a:solidFill>
                <a:latin typeface="Courier"/>
              </a:rPr>
              <a:t>)</a:t>
            </a:r>
          </a:p>
        </p:txBody>
      </p:sp>
      <p:pic>
        <p:nvPicPr>
          <p:cNvPr descr="multiple_regression_lecture_files/figure-pptx/multiple-regression-06-1.png" id="0" name="Picture 1"/>
          <p:cNvPicPr>
            <a:picLocks noGrp="1" noChangeAspect="1"/>
          </p:cNvPicPr>
          <p:nvPr/>
        </p:nvPicPr>
        <p:blipFill>
          <a:blip r:embed="rId2"/>
          <a:stretch>
            <a:fillRect/>
          </a:stretch>
        </p:blipFill>
        <p:spPr bwMode="auto">
          <a:xfrm>
            <a:off x="5029200" y="1295400"/>
            <a:ext cx="3479800" cy="32766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and Diagnostics — Residuals</a:t>
            </a:r>
          </a:p>
        </p:txBody>
      </p:sp>
      <p:sp>
        <p:nvSpPr>
          <p:cNvPr id="3" name="Content Placeholder 2"/>
          <p:cNvSpPr>
            <a:spLocks noGrp="1"/>
          </p:cNvSpPr>
          <p:nvPr>
            <p:ph idx="1" sz="half"/>
          </p:nvPr>
        </p:nvSpPr>
        <p:spPr/>
        <p:txBody>
          <a:bodyPr/>
          <a:lstStyle/>
          <a:p>
            <a:pPr lvl="0"/>
            <a:r>
              <a:rPr/>
              <a:t>Normality, equal variance, independence</a:t>
            </a:r>
          </a:p>
          <a:p>
            <a:pPr lvl="0"/>
            <a:r>
              <a:rPr/>
              <a:t>Residual QQ-plots, residuals-vs-predicted-values plot</a:t>
            </a:r>
          </a:p>
          <a:p>
            <a:pPr lvl="0"/>
            <a:r>
              <a:rPr/>
              <a:t>Distribution/variance issues are often corrected by transforming Y</a:t>
            </a:r>
          </a:p>
        </p:txBody>
      </p:sp>
      <p:pic>
        <p:nvPicPr>
          <p:cNvPr descr="multiple_regression_lecture_files/figure-pptx/multiple-regression-07-1.png" id="0" name="Picture 1"/>
          <p:cNvPicPr>
            <a:picLocks noGrp="1" noChangeAspect="1"/>
          </p:cNvPicPr>
          <p:nvPr/>
        </p:nvPicPr>
        <p:blipFill>
          <a:blip r:embed="rId2"/>
          <a:stretch>
            <a:fillRect/>
          </a:stretch>
        </p:blipFill>
        <p:spPr bwMode="auto">
          <a:xfrm>
            <a:off x="6121400" y="1587500"/>
            <a:ext cx="2781300" cy="26162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and Diagnostics — Sample Size and Collinearity</a:t>
            </a:r>
          </a:p>
        </p:txBody>
      </p:sp>
      <p:sp>
        <p:nvSpPr>
          <p:cNvPr id="3" name="Content Placeholder 2"/>
          <p:cNvSpPr>
            <a:spLocks noGrp="1"/>
          </p:cNvSpPr>
          <p:nvPr>
            <p:ph idx="1" sz="half"/>
          </p:nvPr>
        </p:nvSpPr>
        <p:spPr/>
        <p:txBody>
          <a:bodyPr/>
          <a:lstStyle/>
          <a:p>
            <a:pPr lvl="0"/>
            <a:r>
              <a:rPr b="1"/>
              <a:t>More observations than predictor variables</a:t>
            </a:r>
            <a:r>
              <a:rPr/>
              <a:t> — ideally at least </a:t>
            </a:r>
            <a:r>
              <a:rPr b="1"/>
              <a:t>10× observations than predictors</a:t>
            </a:r>
            <a:r>
              <a:rPr/>
              <a:t>, to avoid “overfitting.” 2 predictors = 20 observations, minimum!</a:t>
            </a:r>
          </a:p>
          <a:p>
            <a:pPr lvl="0"/>
            <a:r>
              <a:rPr b="1"/>
              <a:t>No collinearity</a:t>
            </a:r>
            <a:r>
              <a:rPr/>
              <a:t> — need uncorrelated predictor variables (assessed using a scatterplot matrix and VIFs)</a:t>
            </a:r>
          </a:p>
          <a:p>
            <a:pPr lvl="0"/>
            <a:r>
              <a:rPr b="1"/>
              <a:t>Each X has a linear relationship with Y after accounting for other predictors</a:t>
            </a:r>
            <a:r>
              <a:rPr/>
              <a:t> — checked with Added Variable (AV) plots, also called partial regression plots</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AV plots in R</a:t>
            </a:r>
          </a:p>
          <a:p>
            <a:pPr lvl="0"/>
            <a:r>
              <a:rPr sz="2000"/>
              <a:t>All predictors: </a:t>
            </a:r>
            <a:r>
              <a:rPr sz="2000">
                <a:latin typeface="Courier"/>
              </a:rPr>
              <a:t>avPlots(ant_model)</a:t>
            </a:r>
          </a:p>
          <a:p>
            <a:pPr lvl="0"/>
            <a:r>
              <a:rPr sz="2000"/>
              <a:t>One predictor: </a:t>
            </a:r>
            <a:r>
              <a:rPr sz="2000">
                <a:latin typeface="Courier"/>
              </a:rPr>
              <a:t>avPlot(ant_model, variable = "elevation")</a:t>
            </a:r>
          </a:p>
          <a:p>
            <a:pPr lvl="0" indent="0" marL="1270000">
              <a:buNone/>
            </a:pPr>
            <a:r>
              <a:rPr sz="2000"/>
              <a:t>AV plots show the relationship between Y and X₁ after removing the linear effects of all other predictors.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Why Not Just Regress Y on Each X Separately?</a:t>
            </a:r>
          </a:p>
        </p:txBody>
      </p:sp>
      <p:sp>
        <p:nvSpPr>
          <p:cNvPr id="3" name="Text Placeholder 2"/>
          <p:cNvSpPr>
            <a:spLocks noGrp="1"/>
          </p:cNvSpPr>
          <p:nvPr>
            <p:ph idx="1" type="body"/>
          </p:nvPr>
        </p:nvSpPr>
        <p:spPr/>
        <p:txBody>
          <a:bodyPr/>
          <a:lstStyle/>
          <a:p>
            <a:pPr lvl="0" indent="0" marL="0">
              <a:buNone/>
            </a:pPr>
            <a:r>
              <a:rPr/>
              <a:t>Regressing Y vs. each X separately does not consider the effect of other predictors — but we want to know the shape of the relationship while holding other predictors constant.</a:t>
            </a:r>
          </a:p>
          <a:p>
            <a:pPr lvl="0" indent="0" marL="0">
              <a:buNone/>
            </a:pPr>
            <a:r>
              <a:rPr b="1"/>
              <a:t>Compare the slopes:</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473200"/>
                <a:gridCol w="1473200"/>
                <a:gridCol w="1473200"/>
              </a:tblGrid>
              <a:tr h="0">
                <a:tc>
                  <a:txBody>
                    <a:bodyPr/>
                    <a:lstStyle/>
                    <a:p>
                      <a:pPr lvl="0" indent="0" marL="0">
                        <a:buNone/>
                      </a:pPr>
                      <a:r>
                        <a:rPr/>
                        <a:t>Predictor</a:t>
                      </a:r>
                    </a:p>
                  </a:txBody>
                  <a:tcPr/>
                </a:tc>
                <a:tc>
                  <a:txBody>
                    <a:bodyPr/>
                    <a:lstStyle/>
                    <a:p>
                      <a:pPr lvl="0" indent="0" marL="0">
                        <a:buNone/>
                      </a:pPr>
                      <a:r>
                        <a:rPr/>
                        <a:t>Alone</a:t>
                      </a:r>
                    </a:p>
                  </a:txBody>
                  <a:tcPr/>
                </a:tc>
                <a:tc>
                  <a:txBody>
                    <a:bodyPr/>
                    <a:lstStyle/>
                    <a:p>
                      <a:pPr lvl="0" indent="0" marL="0">
                        <a:buNone/>
                      </a:pPr>
                      <a:r>
                        <a:rPr/>
                        <a:t>Controlling for the other</a:t>
                      </a:r>
                    </a:p>
                  </a:txBody>
                  <a:tcPr/>
                </a:tc>
              </a:tr>
              <a:tr h="0">
                <a:tc>
                  <a:txBody>
                    <a:bodyPr/>
                    <a:lstStyle/>
                    <a:p>
                      <a:pPr lvl="0" indent="0" marL="0">
                        <a:buNone/>
                      </a:pPr>
                      <a:r>
                        <a:rPr/>
                        <a:t>elevation</a:t>
                      </a:r>
                    </a:p>
                  </a:txBody>
                </a:tc>
                <a:tc>
                  <a:txBody>
                    <a:bodyPr/>
                    <a:lstStyle/>
                    <a:p>
                      <a:pPr lvl="0" indent="0" marL="0">
                        <a:buNone/>
                      </a:pPr>
                      <a:r>
                        <a:rPr/>
                        <a:t>−0.0146</a:t>
                      </a:r>
                    </a:p>
                  </a:txBody>
                </a:tc>
                <a:tc>
                  <a:txBody>
                    <a:bodyPr/>
                    <a:lstStyle/>
                    <a:p>
                      <a:pPr lvl="0" indent="0" marL="0">
                        <a:buNone/>
                      </a:pPr>
                      <a:r>
                        <a:rPr b="1"/>
                        <a:t>−0.0123</a:t>
                      </a:r>
                    </a:p>
                  </a:txBody>
                </a:tc>
              </a:tr>
              <a:tr h="0">
                <a:tc>
                  <a:txBody>
                    <a:bodyPr/>
                    <a:lstStyle/>
                    <a:p>
                      <a:pPr lvl="0" indent="0" marL="0">
                        <a:buNone/>
                      </a:pPr>
                      <a:r>
                        <a:rPr/>
                        <a:t>latitude</a:t>
                      </a:r>
                    </a:p>
                  </a:txBody>
                </a:tc>
                <a:tc>
                  <a:txBody>
                    <a:bodyPr/>
                    <a:lstStyle/>
                    <a:p>
                      <a:pPr lvl="0" indent="0" marL="0">
                        <a:buNone/>
                      </a:pPr>
                      <a:r>
                        <a:rPr/>
                        <a:t>−2.340</a:t>
                      </a:r>
                    </a:p>
                  </a:txBody>
                </a:tc>
                <a:tc>
                  <a:txBody>
                    <a:bodyPr/>
                    <a:lstStyle/>
                    <a:p>
                      <a:pPr lvl="0" indent="0" marL="0">
                        <a:buNone/>
                      </a:pPr>
                      <a:r>
                        <a:rPr b="1"/>
                        <a:t>−2.010</a:t>
                      </a:r>
                    </a:p>
                  </a:txBody>
                </a:tc>
              </a:tr>
            </a:tbl>
          </a:graphicData>
        </a:graphic>
      </p:graphicFrame>
      <p:sp>
        <p:nvSpPr>
          <p:cNvPr id="4" name="Content Placeholder 3"/>
          <p:cNvSpPr>
            <a:spLocks noGrp="1"/>
          </p:cNvSpPr>
          <p:nvPr>
            <p:ph idx="2" sz="half"/>
          </p:nvPr>
        </p:nvSpPr>
        <p:spPr/>
        <p:txBody>
          <a:bodyPr/>
          <a:lstStyle/>
          <a:p>
            <a:pPr lvl="0" indent="0" marL="0">
              <a:buNone/>
            </a:pPr>
            <a:r>
              <a:rPr/>
              <a:t>Both shrink a little once the other predictor is in the model — each was taking a small amount of credit that belonged to the other.</a:t>
            </a:r>
          </a:p>
          <a:p>
            <a:pPr lvl="0" indent="0" marL="1270000">
              <a:buNone/>
            </a:pPr>
            <a:r>
              <a:rPr sz="2000" b="1"/>
              <a:t>Note</a:t>
            </a:r>
          </a:p>
          <a:p>
            <a:pPr lvl="0" indent="0" marL="1270000">
              <a:buNone/>
            </a:pPr>
            <a:r>
              <a:rPr sz="2000" b="1"/>
              <a:t>✅ Why only “a little” here?</a:t>
            </a:r>
          </a:p>
          <a:p>
            <a:pPr lvl="0" indent="0" marL="1270000">
              <a:buNone/>
            </a:pPr>
            <a:r>
              <a:rPr sz="2000"/>
              <a:t>Because elevation and latitude are </a:t>
            </a:r>
            <a:r>
              <a:rPr sz="2000" b="1"/>
              <a:t>nearly independent</a:t>
            </a:r>
            <a:r>
              <a:rPr sz="2000"/>
              <a:t> in these data (r = 0.18). When predictors </a:t>
            </a:r>
            <a:r>
              <a:rPr sz="2000" i="1"/>
              <a:t>are</a:t>
            </a:r>
            <a:r>
              <a:rPr sz="2000"/>
              <a:t> strongly correlated, the same comparison can change a slope’s size dramatically — or even flip its sign.</a:t>
            </a:r>
          </a:p>
        </p:txBody>
      </p:sp>
      <p:pic>
        <p:nvPicPr>
          <p:cNvPr descr="multiple_regression_lecture_files/figure-pptx/multiple-regression-08-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Collinearity</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Collinearity — the Problem</a:t>
            </a:r>
          </a:p>
        </p:txBody>
      </p:sp>
      <p:sp>
        <p:nvSpPr>
          <p:cNvPr id="3" name="Content Placeholder 2"/>
          <p:cNvSpPr>
            <a:spLocks noGrp="1"/>
          </p:cNvSpPr>
          <p:nvPr>
            <p:ph idx="1" sz="half"/>
          </p:nvPr>
        </p:nvSpPr>
        <p:spPr/>
        <p:txBody>
          <a:bodyPr/>
          <a:lstStyle/>
          <a:p>
            <a:pPr lvl="0"/>
            <a:r>
              <a:rPr/>
              <a:t>Potential predictor variables are often correlated (e.g., morphometrics, nutrients, climatic parameters)</a:t>
            </a:r>
          </a:p>
          <a:p>
            <a:pPr lvl="0"/>
            <a:r>
              <a:rPr/>
              <a:t>Multicollinearity (strong correlation between predictors) causes problems for parameter estimates</a:t>
            </a:r>
          </a:p>
          <a:p>
            <a:pPr lvl="0"/>
            <a:r>
              <a:rPr/>
              <a:t>Severe collinearity causes unstable parameter estimates — a small change in a single value can result in large changes in βₚ estimates</a:t>
            </a:r>
          </a:p>
          <a:p>
            <a:pPr lvl="0"/>
            <a:r>
              <a:rPr/>
              <a:t>Inflates partial-slope error estimates, and causes a loss of power</a:t>
            </a:r>
          </a:p>
        </p:txBody>
      </p:sp>
      <p:sp>
        <p:nvSpPr>
          <p:cNvPr id="4" name="Content Placeholder 3"/>
          <p:cNvSpPr>
            <a:spLocks noGrp="1"/>
          </p:cNvSpPr>
          <p:nvPr>
            <p:ph idx="2" sz="half"/>
          </p:nvPr>
        </p:nvSpPr>
        <p:spPr/>
        <p:txBody>
          <a:bodyPr/>
          <a:lstStyle/>
          <a:p>
            <a:pPr lvl="0" indent="0">
              <a:buNone/>
            </a:pPr>
            <a:r>
              <a:rPr>
                <a:latin typeface="Courier"/>
              </a:rPr>
              <a:t>           elevation   latitude    ant_spp
elevation  1.0000000  0.1787454 -0.5545244
latitude   0.1787454  1.0000000 -0.5879407
ant_spp   -0.5545244 -0.5879407  1.0000000</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Collinearity — Detecting It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Collinearity can be detected by:</a:t>
                </a:r>
              </a:p>
              <a:p>
                <a:pPr lvl="0"/>
                <a:r>
                  <a:rPr b="1"/>
                  <a:t>Variance Inflation Factors (VIF):</a:t>
                </a:r>
              </a:p>
              <a:p>
                <a:pPr lvl="0" indent="0" marL="0">
                  <a:buNone/>
                </a:pPr>
                <a14:m>
                  <m:oMathPara xmlns:m="http://schemas.openxmlformats.org/officeDocument/2006/math">
                    <m:oMathParaPr>
                      <m:jc m:val="center"/>
                    </m:oMathParaPr>
                    <m:oMath>
                      <m:r>
                        <m:t>V</m:t>
                      </m:r>
                      <m:r>
                        <m:t>I</m:t>
                      </m:r>
                      <m:sSub>
                        <m:e>
                          <m:r>
                            <m:t>F</m:t>
                          </m:r>
                        </m:e>
                        <m:sub>
                          <m:sSub>
                            <m:e>
                              <m:r>
                                <m:t>X</m:t>
                              </m:r>
                            </m:e>
                            <m:sub>
                              <m:r>
                                <m:t>j</m:t>
                              </m:r>
                            </m:sub>
                          </m:sSub>
                        </m:sub>
                      </m:sSub>
                      <m:r>
                        <m:rPr>
                          <m:sty m:val="p"/>
                        </m:rPr>
                        <m:t>=</m:t>
                      </m:r>
                      <m:f>
                        <m:fPr>
                          <m:type m:val="bar"/>
                        </m:fPr>
                        <m:num>
                          <m:r>
                            <m:t>1</m:t>
                          </m:r>
                        </m:num>
                        <m:den>
                          <m:r>
                            <m:t>1</m:t>
                          </m:r>
                          <m:r>
                            <m:rPr>
                              <m:sty m:val="p"/>
                            </m:rPr>
                            <m:t>−</m:t>
                          </m:r>
                          <m:sSubSup>
                            <m:e>
                              <m:r>
                                <m:t>R</m:t>
                              </m:r>
                            </m:e>
                            <m:sub>
                              <m:r>
                                <m:t>j</m:t>
                              </m:r>
                            </m:sub>
                            <m:sup>
                              <m:r>
                                <m:t>2</m:t>
                              </m:r>
                            </m:sup>
                          </m:sSubSup>
                        </m:den>
                      </m:f>
                    </m:oMath>
                  </m:oMathPara>
                </a14:m>
              </a:p>
              <a:p>
                <a:pPr lvl="0" indent="0" marL="0">
                  <a:buNone/>
                </a:pPr>
                <a:r>
                  <a:rPr/>
                  <a:t>where </a:t>
                </a:r>
                <a14:m>
                  <m:oMath xmlns:m="http://schemas.openxmlformats.org/officeDocument/2006/math">
                    <m:sSubSup>
                      <m:e>
                        <m:r>
                          <m:t>R</m:t>
                        </m:r>
                      </m:e>
                      <m:sub>
                        <m:r>
                          <m:t>j</m:t>
                        </m:r>
                      </m:sub>
                      <m:sup>
                        <m:r>
                          <m:t>2</m:t>
                        </m:r>
                      </m:sup>
                    </m:sSubSup>
                  </m:oMath>
                </a14:m>
                <a:r>
                  <a:rPr/>
                  <a:t> is the R² you get from regressing </a:t>
                </a:r>
                <a14:m>
                  <m:oMath xmlns:m="http://schemas.openxmlformats.org/officeDocument/2006/math">
                    <m:sSub>
                      <m:e>
                        <m:r>
                          <m:t>X</m:t>
                        </m:r>
                      </m:e>
                      <m:sub>
                        <m:r>
                          <m:t>j</m:t>
                        </m:r>
                      </m:sub>
                    </m:sSub>
                  </m:oMath>
                </a14:m>
                <a:r>
                  <a:rPr b="1"/>
                  <a:t> on all the </a:t>
                </a:r>
                <a:r>
                  <a:rPr b="1" i="1"/>
                  <a:t>other</a:t>
                </a:r>
                <a:r>
                  <a:rPr b="1"/>
                  <a:t> predictors</a:t>
                </a:r>
                <a:r>
                  <a:rPr/>
                  <a:t> — not the pairwise correlation between two of them. (With only two predictors those happen to coincide; with three or more they do not.)</a:t>
                </a:r>
              </a:p>
              <a:p>
                <a:pPr lvl="0"/>
                <a:r>
                  <a:rPr/>
                  <a:t>Rule of thumb: </a:t>
                </a:r>
                <a:r>
                  <a:rPr b="1"/>
                  <a:t>VIF &gt; 10 is bad</a:t>
                </a:r>
                <a:r>
                  <a:rPr/>
                  <a:t>; some authors use &gt; 5</a:t>
                </a:r>
              </a:p>
              <a:p>
                <a:pPr lvl="0"/>
                <a:r>
                  <a:rPr/>
                  <a:t>Best/simplest solution: exclude variables that are highly correlated with other variables — they’re probably measuring similar things and are redundant</a:t>
                </a:r>
              </a:p>
              <a:p>
                <a:pPr lvl="0" indent="0">
                  <a:buNone/>
                </a:pPr>
                <a:r>
                  <a:rPr>
                    <a:solidFill>
                      <a:srgbClr val="5E5E5E"/>
                    </a:solidFill>
                    <a:latin typeface="Courier"/>
                  </a:rPr>
                  <a:t># car::vif() does this for you</a:t>
                </a:r>
                <a:br/>
                <a:r>
                  <a:rPr>
                    <a:solidFill>
                      <a:srgbClr val="4758AB"/>
                    </a:solidFill>
                    <a:latin typeface="Courier"/>
                  </a:rPr>
                  <a:t>vif</a:t>
                </a:r>
                <a:r>
                  <a:rPr>
                    <a:solidFill>
                      <a:srgbClr val="003B4F"/>
                    </a:solidFill>
                    <a:latin typeface="Courier"/>
                  </a:rPr>
                  <a:t>(ant_model)</a:t>
                </a:r>
              </a:p>
              <a:p>
                <a:pPr lvl="0" indent="0">
                  <a:buNone/>
                </a:pPr>
                <a:r>
                  <a:rPr>
                    <a:latin typeface="Courier"/>
                  </a:rPr>
                  <a:t>elevation  latitude 
 1.033004  1.033004 </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A high VIF doesn’t mean your model is “wrong” — it means you can’t trust the </a:t>
            </a:r>
            <a:r>
              <a:rPr sz="2000" i="1"/>
              <a:t>individual</a:t>
            </a:r>
            <a:r>
              <a:rPr sz="2000"/>
              <a:t> partial slopes for the correlated predictors, even if the overall model fits well.</a:t>
            </a:r>
          </a:p>
          <a:p>
            <a:pPr lvl="0" indent="0" marL="1270000">
              <a:buNone/>
            </a:pPr>
            <a:r>
              <a:rPr sz="2000" b="1"/>
              <a:t>Tip</a:t>
            </a:r>
          </a:p>
          <a:p>
            <a:pPr lvl="0" indent="0" marL="1270000">
              <a:buNone/>
            </a:pPr>
            <a:r>
              <a:rPr sz="2000" b="1"/>
              <a:t>🖐 Our ants are fine</a:t>
            </a:r>
          </a:p>
          <a:p>
            <a:pPr lvl="0" indent="0" marL="1270000">
              <a:buNone/>
            </a:pPr>
            <a:r>
              <a:rPr sz="2000"/>
              <a:t>Both VIFs are about </a:t>
            </a:r>
            <a:r>
              <a:rPr sz="2000" b="1"/>
              <a:t>1.03</a:t>
            </a:r>
            <a:r>
              <a:rPr sz="2000"/>
              <a:t> — essentially no inflation. Latitude and elevation are nearly independent here, which is why each partial slope is interpretable on its own.</a:t>
            </a:r>
          </a:p>
          <a:p>
            <a:pPr lvl="0" indent="0" marL="1270000">
              <a:buNone/>
            </a:pPr>
            <a:r>
              <a:rPr sz="2000"/>
              <a:t>A VIF of 1 means “this predictor shares nothing with the others.” That is the ideal, and it is rarer than you would like.</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Interactions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Interactions — Additive vs. Multiplicative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Predictors can be modeled as:</a:t>
                </a:r>
              </a:p>
              <a:p>
                <a:pPr lvl="0"/>
                <a:r>
                  <a:rPr u="sng"/>
                  <a:t>additive</a:t>
                </a:r>
                <a:r>
                  <a:rPr/>
                  <a:t> (effect of temp, plus precip, plus fertility), or</a:t>
                </a:r>
              </a:p>
              <a:p>
                <a:pPr lvl="0"/>
                <a:r>
                  <a:rPr u="sng"/>
                  <a:t>multiplicative (interactive)</a:t>
                </a:r>
              </a:p>
              <a:p>
                <a:pPr lvl="0"/>
                <a:r>
                  <a:rPr b="1"/>
                  <a:t>Interaction:</a:t>
                </a:r>
                <a:r>
                  <a:rPr/>
                  <a:t> the effect of Xᵢ depends on the level of Xⱼ</a:t>
                </a:r>
              </a:p>
              <a:p>
                <a:pPr lvl="0"/>
                <a:r>
                  <a:rPr/>
                  <a:t>The partial slope of Y vs. X₁ is different for different levels of X₂ (and vice versa) — measured by β₃</a:t>
                </a:r>
              </a:p>
              <a:p>
                <a:pPr lvl="0" indent="0" marL="0">
                  <a:buNone/>
                </a:pPr>
                <a14:m>
                  <m:oMathPara xmlns:m="http://schemas.openxmlformats.org/officeDocument/2006/math">
                    <m:oMathParaPr>
                      <m:jc m:val="center"/>
                    </m:oMathParaPr>
                    <m:o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sSub>
                        <m:e>
                          <m:r>
                            <m:t>ϵ</m:t>
                          </m:r>
                        </m:e>
                        <m:sub>
                          <m:r>
                            <m:t>i</m:t>
                          </m:r>
                        </m:sub>
                      </m:sSub>
                      <m:r>
                        <m:t> </m:t>
                      </m:r>
                      <m:r>
                        <m:rPr>
                          <m:nor/>
                          <m:sty m:val="p"/>
                        </m:rPr>
                        <m:t>vs.</m:t>
                      </m:r>
                      <m:r>
                        <m:t> </m:t>
                      </m:r>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sSub>
                        <m:e>
                          <m:r>
                            <m:t>β</m:t>
                          </m:r>
                        </m:e>
                        <m:sub>
                          <m:r>
                            <m:t>3</m:t>
                          </m:r>
                        </m:sub>
                      </m:sSub>
                      <m:sSub>
                        <m:e>
                          <m:r>
                            <m:t>X</m:t>
                          </m:r>
                        </m:e>
                        <m:sub>
                          <m:r>
                            <m:t>i</m:t>
                          </m:r>
                          <m:r>
                            <m:t>1</m:t>
                          </m:r>
                        </m:sub>
                      </m:sSub>
                      <m:sSub>
                        <m:e>
                          <m:r>
                            <m:t>X</m:t>
                          </m:r>
                        </m:e>
                        <m:sub>
                          <m:r>
                            <m:t>i</m:t>
                          </m:r>
                          <m:r>
                            <m:t>2</m:t>
                          </m:r>
                        </m:sub>
                      </m:sSub>
                      <m:r>
                        <m:rPr>
                          <m:sty m:val="p"/>
                        </m:rPr>
                        <m:t>+</m:t>
                      </m:r>
                      <m:sSub>
                        <m:e>
                          <m:r>
                            <m:t>ϵ</m:t>
                          </m:r>
                        </m:e>
                        <m:sub>
                          <m:r>
                            <m:t>i</m:t>
                          </m:r>
                        </m:sub>
                      </m:sSub>
                    </m:oMath>
                  </m:oMathPara>
                </a14:m>
              </a:p>
              <a:p>
                <a:pPr lvl="0" indent="0" marL="0">
                  <a:buNone/>
                </a:pPr>
                <a:r>
                  <a:rPr/>
                  <a:t>This leads to “curvature” of the regression (hyper)plane.</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An interaction term is just another predictor: the product </a:t>
                </a:r>
                <a14:m>
                  <m:oMath xmlns:m="http://schemas.openxmlformats.org/officeDocument/2006/math">
                    <m:sSub>
                      <m:e>
                        <m:r>
                          <m:t>X</m:t>
                        </m:r>
                      </m:e>
                      <m:sub>
                        <m:r>
                          <m:t>1</m:t>
                        </m:r>
                      </m:sub>
                    </m:sSub>
                    <m:r>
                      <m:rPr>
                        <m:sty m:val="p"/>
                      </m:rPr>
                      <m:t>×</m:t>
                    </m:r>
                    <m:sSub>
                      <m:e>
                        <m:r>
                          <m:t>X</m:t>
                        </m:r>
                      </m:e>
                      <m:sub>
                        <m:r>
                          <m:t>2</m:t>
                        </m:r>
                      </m:sub>
                    </m:sSub>
                  </m:oMath>
                </a14:m>
                <a:r>
                  <a:rPr sz="2000"/>
                  <a:t>, fit with its own coefficient β₃.</a:t>
                </a:r>
              </a:p>
            </p:txBody>
          </p:sp>
        </mc:Choice>
      </mc:AlternateContent>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Interactions — Curvature of the Regression Plane</a:t>
            </a:r>
          </a:p>
        </p:txBody>
      </p:sp>
      <p:sp>
        <p:nvSpPr>
          <p:cNvPr id="3" name="Content Placeholder 2"/>
          <p:cNvSpPr>
            <a:spLocks noGrp="1"/>
          </p:cNvSpPr>
          <p:nvPr>
            <p:ph idx="1" sz="half"/>
          </p:nvPr>
        </p:nvSpPr>
        <p:spPr/>
        <p:txBody>
          <a:bodyPr/>
          <a:lstStyle/>
          <a:p>
            <a:pPr lvl="0" indent="0" marL="0">
              <a:buNone/>
            </a:pPr>
            <a:r>
              <a:rPr/>
              <a:t>Interaction terms lead to “curvature” of the regression (hyper)plane.</a:t>
            </a:r>
          </a:p>
        </p:txBody>
      </p:sp>
      <p:pic>
        <p:nvPicPr>
          <p:cNvPr descr="multiple_regression_lecture_files/figure-pptx/multiple-regression-1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Interactions — the Cost</a:t>
            </a:r>
          </a:p>
        </p:txBody>
      </p:sp>
      <p:sp>
        <p:nvSpPr>
          <p:cNvPr id="3" name="Content Placeholder 2"/>
          <p:cNvSpPr>
            <a:spLocks noGrp="1"/>
          </p:cNvSpPr>
          <p:nvPr>
            <p:ph idx="1" sz="half"/>
          </p:nvPr>
        </p:nvSpPr>
        <p:spPr/>
        <p:txBody>
          <a:bodyPr/>
          <a:lstStyle/>
          <a:p>
            <a:pPr lvl="0" indent="0" marL="0">
              <a:buNone/>
            </a:pPr>
            <a:r>
              <a:rPr/>
              <a:t>Adding interactions:</a:t>
            </a:r>
          </a:p>
          <a:p>
            <a:pPr lvl="0"/>
            <a:r>
              <a:rPr/>
              <a:t>Means many more predictors (“parameter proliferation”) — 2ⁿ terms are required; 6 parameters = 64 terms, 7 parameters = 128 terms</a:t>
            </a:r>
          </a:p>
          <a:p>
            <a:pPr lvl="0"/>
            <a:r>
              <a:rPr/>
              <a:t>Makes interpretation more complex</a:t>
            </a:r>
          </a:p>
          <a:p>
            <a:pPr lvl="0"/>
            <a:r>
              <a:rPr b="1"/>
              <a:t>When to include interactions? When they make biological sense!</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t>Don’t add interaction terms just to see if they’re significant — with enough predictors, some interaction will hit p &lt; 0.05 by chance alone.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Dummy Variables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Dummy Variables</a:t>
            </a:r>
          </a:p>
        </p:txBody>
      </p:sp>
      <p:sp>
        <p:nvSpPr>
          <p:cNvPr id="3" name="Content Placeholder 2"/>
          <p:cNvSpPr>
            <a:spLocks noGrp="1"/>
          </p:cNvSpPr>
          <p:nvPr>
            <p:ph idx="1" sz="half"/>
          </p:nvPr>
        </p:nvSpPr>
        <p:spPr/>
        <p:txBody>
          <a:bodyPr/>
          <a:lstStyle/>
          <a:p>
            <a:pPr lvl="0" indent="0" marL="0">
              <a:buNone/>
            </a:pPr>
            <a:r>
              <a:rPr/>
              <a:t>Multiple linear regression accommodates continuous and categorical variables (gender, vegetation type, etc.). Categorical vars become “dummy vars”: number of dummy variables = number of categories − 1.</a:t>
            </a:r>
          </a:p>
          <a:p>
            <a:pPr lvl="0"/>
            <a:r>
              <a:rPr b="1"/>
              <a:t>Sex M/F:</a:t>
            </a:r>
            <a:r>
              <a:rPr/>
              <a:t> need 1 dummy var with two values (0, 1)</a:t>
            </a:r>
          </a:p>
          <a:p>
            <a:pPr lvl="0"/>
            <a:r>
              <a:rPr b="1"/>
              <a:t>Fertility L/M/H:</a:t>
            </a:r>
            <a:r>
              <a:rPr/>
              <a:t> need 2 dummy vars, each with two values (0, 1): fert1 (0 if L or H, 1 if M), fert2 (1 if H, 0 if L or M)</a:t>
            </a:r>
          </a:p>
        </p:txBody>
      </p:sp>
      <p:graphicFrame>
        <p:nvGraphicFramePr>
          <p:cNvPr id="6" name="Content Placeholder 5"/>
          <p:cNvGraphicFramePr>
            <a:graphicFrameLocks noGrp="1"/>
          </p:cNvGraphicFramePr>
          <p:nvPr>
            <p:ph idx="1"/>
          </p:nvPr>
        </p:nvGraphicFramePr>
        <p:xfrm>
          <a:off x="6121400" y="660400"/>
          <a:ext cx="2781300" cy="4470400"/>
        </p:xfrm>
        <a:graphic>
          <a:graphicData uri="http://schemas.openxmlformats.org/drawingml/2006/table">
            <a:tbl>
              <a:tblPr firstRow="1" bandRow="1">
                <a:tableStyleId>{5C22544A-7EE6-4342-B048-85BDC9FD1C3A}</a:tableStyleId>
              </a:tblPr>
              <a:tblGrid>
                <a:gridCol w="927100"/>
                <a:gridCol w="927100"/>
                <a:gridCol w="927100"/>
              </a:tblGrid>
              <a:tr h="0">
                <a:tc>
                  <a:txBody>
                    <a:bodyPr/>
                    <a:lstStyle/>
                    <a:p>
                      <a:pPr lvl="0" indent="0" marL="0" algn="l">
                        <a:buNone/>
                      </a:pPr>
                      <a:r>
                        <a:rPr/>
                        <a:t>Fertility</a:t>
                      </a:r>
                    </a:p>
                  </a:txBody>
                  <a:tcPr/>
                </a:tc>
                <a:tc>
                  <a:txBody>
                    <a:bodyPr/>
                    <a:lstStyle/>
                    <a:p>
                      <a:pPr lvl="0" indent="0" marL="0" algn="l">
                        <a:buNone/>
                      </a:pPr>
                      <a:r>
                        <a:rPr/>
                        <a:t>fert1</a:t>
                      </a:r>
                    </a:p>
                  </a:txBody>
                  <a:tcPr/>
                </a:tc>
                <a:tc>
                  <a:txBody>
                    <a:bodyPr/>
                    <a:lstStyle/>
                    <a:p>
                      <a:pPr lvl="0" indent="0" marL="0" algn="l">
                        <a:buNone/>
                      </a:pPr>
                      <a:r>
                        <a:rPr/>
                        <a:t>fert2</a:t>
                      </a:r>
                    </a:p>
                  </a:txBody>
                  <a:tcPr/>
                </a:tc>
              </a:tr>
              <a:tr h="0">
                <a:tc>
                  <a:txBody>
                    <a:bodyPr/>
                    <a:lstStyle/>
                    <a:p>
                      <a:pPr lvl="0" indent="0" marL="0" algn="l">
                        <a:buNone/>
                      </a:pPr>
                      <a:r>
                        <a:rPr/>
                        <a:t>Low</a:t>
                      </a:r>
                    </a:p>
                  </a:txBody>
                </a:tc>
                <a:tc>
                  <a:txBody>
                    <a:bodyPr/>
                    <a:lstStyle/>
                    <a:p>
                      <a:pPr lvl="0" indent="0" marL="0" algn="l">
                        <a:buNone/>
                      </a:pPr>
                      <a:r>
                        <a:rPr/>
                        <a:t>0</a:t>
                      </a:r>
                    </a:p>
                  </a:txBody>
                </a:tc>
                <a:tc>
                  <a:txBody>
                    <a:bodyPr/>
                    <a:lstStyle/>
                    <a:p>
                      <a:pPr lvl="0" indent="0" marL="0" algn="l">
                        <a:buNone/>
                      </a:pPr>
                      <a:r>
                        <a:rPr/>
                        <a:t>0</a:t>
                      </a:r>
                    </a:p>
                  </a:txBody>
                </a:tc>
              </a:tr>
              <a:tr h="0">
                <a:tc>
                  <a:txBody>
                    <a:bodyPr/>
                    <a:lstStyle/>
                    <a:p>
                      <a:pPr lvl="0" indent="0" marL="0" algn="l">
                        <a:buNone/>
                      </a:pPr>
                      <a:r>
                        <a:rPr/>
                        <a:t>Med</a:t>
                      </a:r>
                    </a:p>
                  </a:txBody>
                </a:tc>
                <a:tc>
                  <a:txBody>
                    <a:bodyPr/>
                    <a:lstStyle/>
                    <a:p>
                      <a:pPr lvl="0" indent="0" marL="0" algn="l">
                        <a:buNone/>
                      </a:pPr>
                      <a:r>
                        <a:rPr/>
                        <a:t>1</a:t>
                      </a:r>
                    </a:p>
                  </a:txBody>
                </a:tc>
                <a:tc>
                  <a:txBody>
                    <a:bodyPr/>
                    <a:lstStyle/>
                    <a:p>
                      <a:pPr lvl="0" indent="0" marL="0" algn="l">
                        <a:buNone/>
                      </a:pPr>
                      <a:r>
                        <a:rPr/>
                        <a:t>0</a:t>
                      </a:r>
                    </a:p>
                  </a:txBody>
                </a:tc>
              </a:tr>
              <a:tr h="0">
                <a:tc>
                  <a:txBody>
                    <a:bodyPr/>
                    <a:lstStyle/>
                    <a:p>
                      <a:pPr lvl="0" indent="0" marL="0" algn="l">
                        <a:buNone/>
                      </a:pPr>
                      <a:r>
                        <a:rPr/>
                        <a:t>High</a:t>
                      </a:r>
                    </a:p>
                  </a:txBody>
                </a:tc>
                <a:tc>
                  <a:txBody>
                    <a:bodyPr/>
                    <a:lstStyle/>
                    <a:p>
                      <a:pPr lvl="0" indent="0" marL="0" algn="l">
                        <a:buNone/>
                      </a:pPr>
                      <a:r>
                        <a:rPr/>
                        <a:t>0</a:t>
                      </a:r>
                    </a:p>
                  </a:txBody>
                </a:tc>
                <a:tc>
                  <a:txBody>
                    <a:bodyPr/>
                    <a:lstStyle/>
                    <a:p>
                      <a:pPr lvl="0" indent="0" marL="0" algn="l">
                        <a:buNone/>
                      </a:pPr>
                      <a:r>
                        <a:rPr/>
                        <a:t>1</a:t>
                      </a:r>
                    </a:p>
                  </a:txBody>
                </a:tc>
              </a:tr>
            </a:tbl>
          </a:graphicData>
        </a:graphic>
      </p:graphicFrame>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Dummy Variables — the Reference Condition</a:t>
            </a:r>
          </a:p>
        </p:txBody>
      </p:sp>
      <p:sp>
        <p:nvSpPr>
          <p:cNvPr id="3" name="Content Placeholder 2"/>
          <p:cNvSpPr>
            <a:spLocks noGrp="1"/>
          </p:cNvSpPr>
          <p:nvPr>
            <p:ph idx="1" sz="half"/>
          </p:nvPr>
        </p:nvSpPr>
        <p:spPr/>
        <p:txBody>
          <a:bodyPr/>
          <a:lstStyle/>
          <a:p>
            <a:pPr lvl="0" indent="0" marL="0">
              <a:buNone/>
            </a:pPr>
            <a:r>
              <a:rPr/>
              <a:t>Coefficients are interpreted relative to a reference condition:</a:t>
            </a:r>
          </a:p>
          <a:p>
            <a:pPr lvl="0"/>
            <a:r>
              <a:rPr/>
              <a:t>R codes dummy variables automatically</a:t>
            </a:r>
          </a:p>
          <a:p>
            <a:pPr lvl="0"/>
            <a:r>
              <a:rPr/>
              <a:t>It picks the “reference” level alphabetically</a:t>
            </a:r>
          </a:p>
          <a:p>
            <a:pPr lvl="0"/>
            <a:r>
              <a:rPr/>
              <a:t>Dummy variables with more than 2 levels add extra predictor variables to the model</a:t>
            </a:r>
          </a:p>
        </p:txBody>
      </p:sp>
      <p:graphicFrame>
        <p:nvGraphicFramePr>
          <p:cNvPr id="6" name="Content Placeholder 5"/>
          <p:cNvGraphicFramePr>
            <a:graphicFrameLocks noGrp="1"/>
          </p:cNvGraphicFramePr>
          <p:nvPr>
            <p:ph idx="1"/>
          </p:nvPr>
        </p:nvGraphicFramePr>
        <p:xfrm>
          <a:off x="6121400" y="660400"/>
          <a:ext cx="2781300" cy="4470400"/>
        </p:xfrm>
        <a:graphic>
          <a:graphicData uri="http://schemas.openxmlformats.org/drawingml/2006/table">
            <a:tbl>
              <a:tblPr firstRow="1" bandRow="1">
                <a:tableStyleId>{5C22544A-7EE6-4342-B048-85BDC9FD1C3A}</a:tableStyleId>
              </a:tblPr>
              <a:tblGrid>
                <a:gridCol w="927100"/>
                <a:gridCol w="927100"/>
                <a:gridCol w="927100"/>
              </a:tblGrid>
              <a:tr h="0">
                <a:tc>
                  <a:txBody>
                    <a:bodyPr/>
                    <a:lstStyle/>
                    <a:p>
                      <a:pPr lvl="0" indent="0" marL="0" algn="l">
                        <a:buNone/>
                      </a:pPr>
                      <a:r>
                        <a:rPr/>
                        <a:t>Fertility</a:t>
                      </a:r>
                    </a:p>
                  </a:txBody>
                  <a:tcPr/>
                </a:tc>
                <a:tc>
                  <a:txBody>
                    <a:bodyPr/>
                    <a:lstStyle/>
                    <a:p>
                      <a:pPr lvl="0" indent="0" marL="0" algn="l">
                        <a:buNone/>
                      </a:pPr>
                      <a:r>
                        <a:rPr/>
                        <a:t>fert1</a:t>
                      </a:r>
                    </a:p>
                  </a:txBody>
                  <a:tcPr/>
                </a:tc>
                <a:tc>
                  <a:txBody>
                    <a:bodyPr/>
                    <a:lstStyle/>
                    <a:p>
                      <a:pPr lvl="0" indent="0" marL="0" algn="l">
                        <a:buNone/>
                      </a:pPr>
                      <a:r>
                        <a:rPr/>
                        <a:t>fert2</a:t>
                      </a:r>
                    </a:p>
                  </a:txBody>
                  <a:tcPr/>
                </a:tc>
              </a:tr>
              <a:tr h="0">
                <a:tc>
                  <a:txBody>
                    <a:bodyPr/>
                    <a:lstStyle/>
                    <a:p>
                      <a:pPr lvl="0" indent="0" marL="0" algn="l">
                        <a:buNone/>
                      </a:pPr>
                      <a:r>
                        <a:rPr/>
                        <a:t>Low</a:t>
                      </a:r>
                    </a:p>
                  </a:txBody>
                </a:tc>
                <a:tc>
                  <a:txBody>
                    <a:bodyPr/>
                    <a:lstStyle/>
                    <a:p>
                      <a:pPr lvl="0" indent="0" marL="0" algn="l">
                        <a:buNone/>
                      </a:pPr>
                      <a:r>
                        <a:rPr/>
                        <a:t>0</a:t>
                      </a:r>
                    </a:p>
                  </a:txBody>
                </a:tc>
                <a:tc>
                  <a:txBody>
                    <a:bodyPr/>
                    <a:lstStyle/>
                    <a:p>
                      <a:pPr lvl="0" indent="0" marL="0" algn="l">
                        <a:buNone/>
                      </a:pPr>
                      <a:r>
                        <a:rPr/>
                        <a:t>0</a:t>
                      </a:r>
                    </a:p>
                  </a:txBody>
                </a:tc>
              </a:tr>
              <a:tr h="0">
                <a:tc>
                  <a:txBody>
                    <a:bodyPr/>
                    <a:lstStyle/>
                    <a:p>
                      <a:pPr lvl="0" indent="0" marL="0" algn="l">
                        <a:buNone/>
                      </a:pPr>
                      <a:r>
                        <a:rPr/>
                        <a:t>Med</a:t>
                      </a:r>
                    </a:p>
                  </a:txBody>
                </a:tc>
                <a:tc>
                  <a:txBody>
                    <a:bodyPr/>
                    <a:lstStyle/>
                    <a:p>
                      <a:pPr lvl="0" indent="0" marL="0" algn="l">
                        <a:buNone/>
                      </a:pPr>
                      <a:r>
                        <a:rPr/>
                        <a:t>1</a:t>
                      </a:r>
                    </a:p>
                  </a:txBody>
                </a:tc>
                <a:tc>
                  <a:txBody>
                    <a:bodyPr/>
                    <a:lstStyle/>
                    <a:p>
                      <a:pPr lvl="0" indent="0" marL="0" algn="l">
                        <a:buNone/>
                      </a:pPr>
                      <a:r>
                        <a:rPr/>
                        <a:t>0</a:t>
                      </a:r>
                    </a:p>
                  </a:txBody>
                </a:tc>
              </a:tr>
              <a:tr h="0">
                <a:tc>
                  <a:txBody>
                    <a:bodyPr/>
                    <a:lstStyle/>
                    <a:p>
                      <a:pPr lvl="0" indent="0" marL="0" algn="l">
                        <a:buNone/>
                      </a:pPr>
                      <a:r>
                        <a:rPr/>
                        <a:t>High</a:t>
                      </a:r>
                    </a:p>
                  </a:txBody>
                </a:tc>
                <a:tc>
                  <a:txBody>
                    <a:bodyPr/>
                    <a:lstStyle/>
                    <a:p>
                      <a:pPr lvl="0" indent="0" marL="0" algn="l">
                        <a:buNone/>
                      </a:pPr>
                      <a:r>
                        <a:rPr/>
                        <a:t>0</a:t>
                      </a:r>
                    </a:p>
                  </a:txBody>
                </a:tc>
                <a:tc>
                  <a:txBody>
                    <a:bodyPr/>
                    <a:lstStyle/>
                    <a:p>
                      <a:pPr lvl="0" indent="0" marL="0" algn="l">
                        <a:buNone/>
                      </a:pPr>
                      <a:r>
                        <a:rPr/>
                        <a:t>1</a:t>
                      </a:r>
                    </a:p>
                  </a:txBody>
                </a:tc>
              </a:tr>
            </a:tbl>
          </a:graphicData>
        </a:graphic>
      </p:graphicFrame>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Dummy Variables — Worked Example</a:t>
            </a:r>
          </a:p>
        </p:txBody>
      </p:sp>
      <p:pic>
        <p:nvPicPr>
          <p:cNvPr descr="images/clipboard-3847962697.png" id="0" name="Picture 1"/>
          <p:cNvPicPr>
            <a:picLocks noGrp="1" noChangeAspect="1"/>
          </p:cNvPicPr>
          <p:nvPr/>
        </p:nvPicPr>
        <p:blipFill>
          <a:blip r:embed="rId2"/>
          <a:stretch>
            <a:fillRect/>
          </a:stretch>
        </p:blipFill>
        <p:spPr bwMode="auto">
          <a:xfrm>
            <a:off x="0" y="698500"/>
            <a:ext cx="6007100" cy="3886200"/>
          </a:xfrm>
          <a:prstGeom prst="rect">
            <a:avLst/>
          </a:prstGeom>
          <a:noFill/>
          <a:ln w="9525">
            <a:noFill/>
            <a:headEnd/>
            <a:tailEnd/>
          </a:ln>
        </p:spPr>
      </p:pic>
      <p:sp>
        <p:nvSpPr>
          <p:cNvPr id="1" name="TextBox 3"/>
          <p:cNvSpPr txBox="1"/>
          <p:nvPr>
            <p:ph idx="1"/>
          </p:nvPr>
        </p:nvSpPr>
        <p:spPr>
          <a:xfrm>
            <a:off x="0" y="4622800"/>
            <a:ext cx="6007100" cy="508000"/>
          </a:xfrm>
          <a:prstGeom prst="rect">
            <a:avLst/>
          </a:prstGeom>
          <a:noFill/>
        </p:spPr>
        <p:txBody>
          <a:bodyPr/>
          <a:lstStyle/>
          <a:p>
            <a:pPr lvl="0" indent="0" marL="0" algn="ctr">
              <a:buNone/>
            </a:pPr>
            <a:r>
              <a:rPr/>
              <a:t>R console output for a linear model regressing total net primary productivity on mean annual temperature, mean annual precipitation, and a three-level fertility factor (High reference, Low, Med), showing the coefficient table with all predictors highly significant (p &lt; 0.001) and dummy-variable coefficients of 205.16 for Low and 116.33 for Medium fertility relative to High.</a:t>
            </a:r>
          </a:p>
        </p:txBody>
      </p:sp>
      <p:pic>
        <p:nvPicPr>
          <p:cNvPr descr="images/clipboard-3285444079.png" id="0" name="Picture 1"/>
          <p:cNvPicPr>
            <a:picLocks noGrp="1" noChangeAspect="1"/>
          </p:cNvPicPr>
          <p:nvPr/>
        </p:nvPicPr>
        <p:blipFill>
          <a:blip r:embed="rId3"/>
          <a:stretch>
            <a:fillRect/>
          </a:stretch>
        </p:blipFill>
        <p:spPr bwMode="auto">
          <a:xfrm>
            <a:off x="6121400" y="1168400"/>
            <a:ext cx="2781300" cy="29337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Boxplot of net primary productivity by fertility category (High, Low, Med), showing the Low fertility group with the highest median productivity, matching the positive dummy-variable coefficients shown in the accompanying regression output.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Comparing Models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Comparing Models — the Problem</a:t>
            </a:r>
          </a:p>
        </p:txBody>
      </p:sp>
      <p:sp>
        <p:nvSpPr>
          <p:cNvPr id="3" name="Content Placeholder 2"/>
          <p:cNvSpPr>
            <a:spLocks noGrp="1"/>
          </p:cNvSpPr>
          <p:nvPr>
            <p:ph idx="1" sz="half"/>
          </p:nvPr>
        </p:nvSpPr>
        <p:spPr/>
        <p:txBody>
          <a:bodyPr/>
          <a:lstStyle/>
          <a:p>
            <a:pPr lvl="0" indent="0" marL="0">
              <a:buNone/>
            </a:pPr>
            <a:r>
              <a:rPr/>
              <a:t>When you have multiple predictors (and interactions!):</a:t>
            </a:r>
          </a:p>
          <a:p>
            <a:pPr lvl="0"/>
            <a:r>
              <a:rPr/>
              <a:t>How do you choose the “best” model?</a:t>
            </a:r>
          </a:p>
          <a:p>
            <a:pPr lvl="0"/>
            <a:r>
              <a:rPr/>
              <a:t>Which predictors should you include?</a:t>
            </a:r>
          </a:p>
          <a:p>
            <a:pPr lvl="0"/>
            <a:r>
              <a:rPr b="1"/>
              <a:t>Occam’s razor:</a:t>
            </a:r>
            <a:r>
              <a:rPr/>
              <a:t> the “best” model balances complexity with fit to the data</a:t>
            </a:r>
          </a:p>
          <a:p>
            <a:pPr lvl="0"/>
            <a:r>
              <a:rPr/>
              <a:t>To choose: compare “nested” models</a:t>
            </a:r>
          </a:p>
          <a:p>
            <a:pPr lvl="0"/>
            <a:r>
              <a:rPr b="1"/>
              <a:t>Overfitting:</a:t>
            </a:r>
            <a:r>
              <a:rPr/>
              <a:t> getting a high r² just by having more (useless) predictors — so r² alone is not a good way to choose between nested models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Reference</a:t>
            </a:r>
          </a:p>
          <a:p>
            <a:pPr lvl="0" indent="0" marL="1270000">
              <a:buNone/>
            </a:pPr>
            <a:r>
              <a:rPr sz="2000"/>
              <a:t>Whitlock &amp; Schluter, Ch. 17, covers model comparison and selection for regression.</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Comparing Models — Penalizing Complexity</a:t>
            </a:r>
          </a:p>
        </p:txBody>
      </p:sp>
      <p:sp>
        <p:nvSpPr>
          <p:cNvPr id="3" name="Content Placeholder 2"/>
          <p:cNvSpPr>
            <a:spLocks noGrp="1"/>
          </p:cNvSpPr>
          <p:nvPr>
            <p:ph idx="1" sz="half"/>
          </p:nvPr>
        </p:nvSpPr>
        <p:spPr/>
        <p:txBody>
          <a:bodyPr/>
          <a:lstStyle/>
          <a:p>
            <a:pPr lvl="0" indent="0" marL="0">
              <a:buNone/>
            </a:pPr>
            <a:r>
              <a:rPr/>
              <a:t>Need to account for the increase in fit that comes just from added predictors:</a:t>
            </a:r>
          </a:p>
          <a:p>
            <a:pPr lvl="0"/>
            <a:r>
              <a:rPr/>
              <a:t>Adjusted r²</a:t>
            </a:r>
          </a:p>
          <a:p>
            <a:pPr lvl="0"/>
            <a:r>
              <a:rPr/>
              <a:t>Akaike’s Information Criterion (AIC)</a:t>
            </a:r>
          </a:p>
          <a:p>
            <a:pPr lvl="0"/>
            <a:r>
              <a:rPr/>
              <a:t>Both “penalize” models for extra predictors</a:t>
            </a:r>
          </a:p>
          <a:p>
            <a:pPr lvl="0"/>
            <a:r>
              <a:rPr/>
              <a:t>Higher adjusted r² and lower AIC are better when comparing models (p = predictors, n = sample size)</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14:m>
                  <m:oMathPara xmlns:m="http://schemas.openxmlformats.org/officeDocument/2006/math">
                    <m:oMathParaPr>
                      <m:jc m:val="center"/>
                    </m:oMathParaPr>
                    <m:oMath>
                      <m:r>
                        <m:rPr>
                          <m:nor/>
                          <m:sty m:val="p"/>
                        </m:rPr>
                        <m:t>Adjusted </m:t>
                      </m:r>
                      <m:sSup>
                        <m:e>
                          <m:r>
                            <m:t>r</m:t>
                          </m:r>
                        </m:e>
                        <m:sup>
                          <m:r>
                            <m:t>2</m:t>
                          </m:r>
                        </m:sup>
                      </m:sSup>
                      <m:r>
                        <m:rPr>
                          <m:sty m:val="p"/>
                        </m:rPr>
                        <m:t>=</m:t>
                      </m:r>
                      <m:r>
                        <m:t>1</m:t>
                      </m:r>
                      <m:r>
                        <m:rPr>
                          <m:sty m:val="p"/>
                        </m:rPr>
                        <m:t>−</m:t>
                      </m:r>
                      <m:f>
                        <m:fPr>
                          <m:type m:val="bar"/>
                        </m:fPr>
                        <m:num>
                          <m:r>
                            <m:t>S</m:t>
                          </m:r>
                          <m:sSub>
                            <m:e>
                              <m:r>
                                <m:t>S</m:t>
                              </m:r>
                            </m:e>
                            <m:sub>
                              <m:r>
                                <m:t>R</m:t>
                              </m:r>
                              <m:r>
                                <m:t>e</m:t>
                              </m:r>
                              <m:r>
                                <m:t>s</m:t>
                              </m:r>
                              <m:r>
                                <m:t>i</m:t>
                              </m:r>
                              <m:r>
                                <m:t>d</m:t>
                              </m:r>
                              <m:r>
                                <m:t>u</m:t>
                              </m:r>
                              <m:r>
                                <m:t>a</m:t>
                              </m:r>
                              <m:r>
                                <m:t>l</m:t>
                              </m:r>
                            </m:sub>
                          </m:sSub>
                          <m:r>
                            <m:rPr>
                              <m:sty m:val="p"/>
                            </m:rPr>
                            <m:t>/</m:t>
                          </m:r>
                          <m:r>
                            <m:rPr>
                              <m:sty m:val="p"/>
                            </m:rPr>
                            <m:t>(</m:t>
                          </m:r>
                          <m:r>
                            <m:t>n</m:t>
                          </m:r>
                          <m:r>
                            <m:rPr>
                              <m:sty m:val="p"/>
                            </m:rPr>
                            <m:t>−</m:t>
                          </m:r>
                          <m:r>
                            <m:rPr>
                              <m:sty m:val="p"/>
                            </m:rPr>
                            <m:t>(</m:t>
                          </m:r>
                          <m:r>
                            <m:t>p</m:t>
                          </m:r>
                          <m:r>
                            <m:rPr>
                              <m:sty m:val="p"/>
                            </m:rPr>
                            <m:t>+</m:t>
                          </m:r>
                          <m:r>
                            <m:t>1</m:t>
                          </m:r>
                          <m:r>
                            <m:rPr>
                              <m:sty m:val="p"/>
                            </m:rPr>
                            <m:t>)</m:t>
                          </m:r>
                          <m:r>
                            <m:rPr>
                              <m:sty m:val="p"/>
                            </m:rPr>
                            <m:t>)</m:t>
                          </m:r>
                        </m:num>
                        <m:den>
                          <m:r>
                            <m:t>S</m:t>
                          </m:r>
                          <m:sSub>
                            <m:e>
                              <m:r>
                                <m:t>S</m:t>
                              </m:r>
                            </m:e>
                            <m:sub>
                              <m:r>
                                <m:t>T</m:t>
                              </m:r>
                              <m:r>
                                <m:t>o</m:t>
                              </m:r>
                              <m:r>
                                <m:t>t</m:t>
                              </m:r>
                              <m:r>
                                <m:t>a</m:t>
                              </m:r>
                              <m:r>
                                <m:t>l</m:t>
                              </m:r>
                            </m:sub>
                          </m:sSub>
                          <m:r>
                            <m:rPr>
                              <m:sty m:val="p"/>
                            </m:rPr>
                            <m:t>/</m:t>
                          </m:r>
                          <m:r>
                            <m:rPr>
                              <m:sty m:val="p"/>
                            </m:rPr>
                            <m:t>(</m:t>
                          </m:r>
                          <m:r>
                            <m:t>n</m:t>
                          </m:r>
                          <m:r>
                            <m:rPr>
                              <m:sty m:val="p"/>
                            </m:rPr>
                            <m:t>−</m:t>
                          </m:r>
                          <m:r>
                            <m:t>1</m:t>
                          </m:r>
                          <m:r>
                            <m:rPr>
                              <m:sty m:val="p"/>
                            </m:rPr>
                            <m:t>)</m:t>
                          </m:r>
                        </m:den>
                      </m:f>
                    </m:oMath>
                  </m:oMathPara>
                </a14:m>
              </a:p>
              <a:p>
                <a:pPr lvl="0" indent="0" marL="0">
                  <a:buNone/>
                </a:pPr>
                <a14:m>
                  <m:oMathPara xmlns:m="http://schemas.openxmlformats.org/officeDocument/2006/math">
                    <m:oMathParaPr>
                      <m:jc m:val="center"/>
                    </m:oMathParaPr>
                    <m:oMath>
                      <m:r>
                        <m:rPr>
                          <m:nor/>
                          <m:sty m:val="p"/>
                        </m:rPr>
                        <m:t>AIC</m:t>
                      </m:r>
                      <m:r>
                        <m:rPr>
                          <m:sty m:val="p"/>
                        </m:rPr>
                        <m:t>=</m:t>
                      </m:r>
                      <m:r>
                        <m:t>n</m:t>
                      </m:r>
                      <m:r>
                        <m:rPr>
                          <m:sty m:val="p"/>
                        </m:rPr>
                        <m:t>[</m:t>
                      </m:r>
                      <m:r>
                        <m:rPr>
                          <m:sty m:val="p"/>
                        </m:rPr>
                        <m:t>ln</m:t>
                      </m:r>
                      <m:r>
                        <m:rPr>
                          <m:sty m:val="p"/>
                        </m:rPr>
                        <m:t>(</m:t>
                      </m:r>
                      <m:r>
                        <m:t>S</m:t>
                      </m:r>
                      <m:sSub>
                        <m:e>
                          <m:r>
                            <m:t>S</m:t>
                          </m:r>
                        </m:e>
                        <m:sub>
                          <m:r>
                            <m:t>R</m:t>
                          </m:r>
                          <m:r>
                            <m:t>e</m:t>
                          </m:r>
                          <m:r>
                            <m:t>s</m:t>
                          </m:r>
                          <m:r>
                            <m:t>i</m:t>
                          </m:r>
                          <m:r>
                            <m:t>d</m:t>
                          </m:r>
                          <m:r>
                            <m:t>u</m:t>
                          </m:r>
                          <m:r>
                            <m:t>a</m:t>
                          </m:r>
                          <m:r>
                            <m:t>l</m:t>
                          </m:r>
                        </m:sub>
                      </m:sSub>
                      <m:r>
                        <m:rPr>
                          <m:sty m:val="p"/>
                        </m:rPr>
                        <m:t>)</m:t>
                      </m:r>
                      <m:r>
                        <m:rPr>
                          <m:sty m:val="p"/>
                        </m:rPr>
                        <m:t>]</m:t>
                      </m:r>
                      <m:r>
                        <m:rPr>
                          <m:sty m:val="p"/>
                        </m:rPr>
                        <m:t>+</m:t>
                      </m:r>
                      <m:r>
                        <m:t>2</m:t>
                      </m:r>
                      <m:r>
                        <m:rPr>
                          <m:sty m:val="p"/>
                        </m:rPr>
                        <m:t>(</m:t>
                      </m:r>
                      <m:r>
                        <m:t>p</m:t>
                      </m:r>
                      <m:r>
                        <m:rPr>
                          <m:sty m:val="p"/>
                        </m:rPr>
                        <m:t>+</m:t>
                      </m:r>
                      <m:r>
                        <m:t>1</m:t>
                      </m:r>
                      <m:r>
                        <m:rPr>
                          <m:sty m:val="p"/>
                        </m:rPr>
                        <m:t>)</m:t>
                      </m:r>
                      <m:r>
                        <m:rPr>
                          <m:sty m:val="p"/>
                        </m:rPr>
                        <m:t>−</m:t>
                      </m:r>
                      <m:r>
                        <m:t>n</m:t>
                      </m:r>
                      <m:r>
                        <m:rPr>
                          <m:sty m:val="p"/>
                        </m:rPr>
                        <m:t>ln</m:t>
                      </m:r>
                      <m:r>
                        <m:rPr>
                          <m:sty m:val="p"/>
                        </m:rPr>
                        <m:t>(</m:t>
                      </m:r>
                      <m:r>
                        <m:t>n</m:t>
                      </m:r>
                      <m:r>
                        <m:rPr>
                          <m:sty m:val="p"/>
                        </m:rPr>
                        <m:t>)</m:t>
                      </m:r>
                    </m:oMath>
                  </m:oMathPara>
                </a14:m>
              </a:p>
            </p:txBody>
          </p:sp>
        </mc:Choice>
      </mc:AlternateContent>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Comparing Models — How to Search</a:t>
            </a:r>
          </a:p>
        </p:txBody>
      </p:sp>
      <p:sp>
        <p:nvSpPr>
          <p:cNvPr id="3" name="Content Placeholder 2"/>
          <p:cNvSpPr>
            <a:spLocks noGrp="1"/>
          </p:cNvSpPr>
          <p:nvPr>
            <p:ph idx="1" sz="half"/>
          </p:nvPr>
        </p:nvSpPr>
        <p:spPr/>
        <p:txBody>
          <a:bodyPr/>
          <a:lstStyle/>
          <a:p>
            <a:pPr lvl="0"/>
            <a:r>
              <a:rPr/>
              <a:t>Can fit all possible models, then compare AICs or adjusted r² — tedious with lots of predictors</a:t>
            </a:r>
          </a:p>
          <a:p>
            <a:pPr lvl="0"/>
            <a:r>
              <a:rPr/>
              <a:t>Automated forward (and backward) stepwise procedures: start with no terms (or all terms), add (remove) the term with the largest (smallest) partial F statistic</a:t>
            </a:r>
          </a:p>
          <a:p>
            <a:pPr lvl="0"/>
            <a:r>
              <a:rPr/>
              <a:t>We will use a manual form of backward selection</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Automated stepwise selection is convenient but controversial — it can overfit and doesn’t know which predictors make biological sense. Manual, hypothesis-driven selection is usually better for a small model.</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Models — the Full Model</a:t>
            </a:r>
          </a:p>
        </p:txBody>
      </p:sp>
      <p:sp>
        <p:nvSpPr>
          <p:cNvPr id="3" name="Content Placeholder 2"/>
          <p:cNvSpPr>
            <a:spLocks noGrp="1"/>
          </p:cNvSpPr>
          <p:nvPr>
            <p:ph idx="1"/>
          </p:nvPr>
        </p:nvSpPr>
        <p:spPr/>
        <p:txBody>
          <a:bodyPr/>
          <a:lstStyle/>
          <a:p>
            <a:pPr lvl="0" indent="0">
              <a:buNone/>
            </a:pPr>
            <a:r>
              <a:rPr>
                <a:latin typeface="Courier"/>
              </a:rPr>
              <a:t>
========== FULL MODEL (Both Variables) ==========</a:t>
            </a:r>
          </a:p>
          <a:p>
            <a:pPr lvl="0" indent="0">
              <a:buNone/>
            </a:pPr>
            <a:r>
              <a:rPr>
                <a:latin typeface="Courier"/>
              </a:rPr>
              <a:t>
Call:
lm(formula = ant_spp ~ elevation + latitude, data = ant_df)
Residuals:
    Min      1Q  Median      3Q     Max 
-6.1180 -2.3759  0.3218  1.9070  5.8369 
Coefficients:
            Estimate Std. Error t value Pr(&gt;|t|)   
(Intercept) 98.49651   26.50701   3.716  0.00147 **
elevation   -0.01226    0.00411  -2.983  0.00765 **
latitude    -2.00981    0.61956  -3.244  0.00427 **
---
Signif. codes:  0 '***' 0.001 '**' 0.01 '*' 0.05 '.' 0.1 ' ' 1
Residual standard error: 3.022 on 19 degrees of freedom
Multiple R-squared:  0.5543,    Adjusted R-squared:  0.5074 
F-statistic: 11.82 on 2 and 19 DF,  p-value: 0.000463</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Models — Elevation Only</a:t>
            </a:r>
          </a:p>
        </p:txBody>
      </p:sp>
      <p:sp>
        <p:nvSpPr>
          <p:cNvPr id="3" name="Content Placeholder 2"/>
          <p:cNvSpPr>
            <a:spLocks noGrp="1"/>
          </p:cNvSpPr>
          <p:nvPr>
            <p:ph idx="1"/>
          </p:nvPr>
        </p:nvSpPr>
        <p:spPr/>
        <p:txBody>
          <a:bodyPr/>
          <a:lstStyle/>
          <a:p>
            <a:pPr lvl="0" indent="0">
              <a:buNone/>
            </a:pPr>
            <a:r>
              <a:rPr>
                <a:latin typeface="Courier"/>
              </a:rPr>
              <a:t>
========== ELEVATION ONLY MODEL ==========</a:t>
            </a:r>
          </a:p>
          <a:p>
            <a:pPr lvl="0" indent="0">
              <a:buNone/>
            </a:pPr>
            <a:r>
              <a:rPr>
                <a:latin typeface="Courier"/>
              </a:rPr>
              <a:t>
Call:
lm(formula = ant_spp ~ elevation, data = ant_df)
Residuals:
    Min      1Q  Median      3Q     Max 
-4.9010 -2.6947 -0.9502  2.9657  7.6363 
Coefficients:
             Estimate Std. Error t value Pr(&gt;|t|)    
(Intercept) 12.589088   1.385615   9.086 1.55e-08 ***
elevation   -0.014641   0.004913  -2.980   0.0074 ** 
---
Signif. codes:  0 '***' 0.001 '**' 0.01 '*' 0.05 '.' 0.1 ' ' 1
Residual standard error: 3.671 on 20 degrees of freedom
Multiple R-squared:  0.3075,    Adjusted R-squared:  0.2729 
F-statistic: 8.881 on 1 and 20 DF,  p-value: 0.0074</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Models — Latitude Only</a:t>
            </a:r>
          </a:p>
        </p:txBody>
      </p:sp>
      <p:sp>
        <p:nvSpPr>
          <p:cNvPr id="3" name="Content Placeholder 2"/>
          <p:cNvSpPr>
            <a:spLocks noGrp="1"/>
          </p:cNvSpPr>
          <p:nvPr>
            <p:ph idx="1"/>
          </p:nvPr>
        </p:nvSpPr>
        <p:spPr/>
        <p:txBody>
          <a:bodyPr/>
          <a:lstStyle/>
          <a:p>
            <a:pPr lvl="0" indent="0">
              <a:buNone/>
            </a:pPr>
            <a:r>
              <a:rPr>
                <a:latin typeface="Courier"/>
              </a:rPr>
              <a:t>
========== LATITUDE ONLY MODEL ==========</a:t>
            </a:r>
          </a:p>
          <a:p>
            <a:pPr lvl="0" indent="0">
              <a:buNone/>
            </a:pPr>
            <a:r>
              <a:rPr>
                <a:latin typeface="Courier"/>
              </a:rPr>
              <a:t>
Call:
lm(formula = ant_spp ~ latitude, data = ant_df)
Residuals:
    Min      1Q  Median      3Q     Max 
-6.2223 -2.1188  0.0599  2.1267  6.4990 
Coefficients:
            Estimate Std. Error t value Pr(&gt;|t|)   
(Intercept) 109.8532    30.9803   3.546  0.00203 **
latitude     -2.3401     0.7199  -3.251  0.00401 **
---
Signif. codes:  0 '***' 0.001 '**' 0.01 '*' 0.05 '.' 0.1 ' ' 1
Residual standard error: 3.569 on 20 degrees of freedom
Multiple R-squared:  0.3457,    Adjusted R-squared:  0.313 
F-statistic: 10.57 on 1 and 20 DF,  p-value: 0.004006</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Models — Putting It Together</a:t>
            </a:r>
          </a:p>
        </p:txBody>
      </p:sp>
      <p:sp>
        <p:nvSpPr>
          <p:cNvPr id="3" name="Content Placeholder 2"/>
          <p:cNvSpPr>
            <a:spLocks noGrp="1"/>
          </p:cNvSpPr>
          <p:nvPr>
            <p:ph idx="1"/>
          </p:nvPr>
        </p:nvSpPr>
        <p:spPr/>
        <p:txBody>
          <a:bodyPr/>
          <a:lstStyle/>
          <a:p>
            <a:pPr lvl="0" indent="0">
              <a:buNone/>
            </a:pPr>
            <a:r>
              <a:rPr>
                <a:latin typeface="Courier"/>
              </a:rPr>
              <a:t>
========== MODEL COMPARISON TABLE ==========</a:t>
            </a:r>
          </a:p>
          <a:p>
            <a:pPr lvl="0" indent="0">
              <a:buNone/>
            </a:pPr>
            <a:r>
              <a:rPr>
                <a:latin typeface="Courier"/>
              </a:rPr>
              <a:t>           Model Adjusted_R2      AIC R2_vs_Full AIC_vs_Full
1 Both Variables   0.5074180 115.8646  0.0000000    0.000000
2 Elevation Only   0.2728722 123.5608 -0.2345459    7.696164
3  Latitude Only   0.3129580 122.3132 -0.1944600    6.448613</a:t>
            </a:r>
          </a:p>
          <a:p>
            <a:pPr lvl="0" indent="0">
              <a:buNone/>
            </a:pPr>
            <a:r>
              <a:rPr>
                <a:latin typeface="Courier"/>
              </a:rPr>
              <a:t>
========== KEY FINDINGS ==========</a:t>
            </a:r>
          </a:p>
          <a:p>
            <a:pPr lvl="0" indent="0">
              <a:buNone/>
            </a:pPr>
            <a:r>
              <a:rPr>
                <a:latin typeface="Courier"/>
              </a:rPr>
              <a:t>Full Model AIC: 115.86 (Adjusted R^2: 0.5074)</a:t>
            </a:r>
          </a:p>
          <a:p>
            <a:pPr lvl="0" indent="0">
              <a:buNone/>
            </a:pPr>
            <a:r>
              <a:rPr>
                <a:latin typeface="Courier"/>
              </a:rPr>
              <a:t>Elevation Only AIC: 123.56 (Adjusted R^2: 0.2729)</a:t>
            </a:r>
          </a:p>
          <a:p>
            <a:pPr lvl="0" indent="0">
              <a:buNone/>
            </a:pPr>
            <a:r>
              <a:rPr>
                <a:latin typeface="Courier"/>
              </a:rPr>
              <a:t>Latitude Only AIC: 122.31 (Adjusted R^2: 0.3130)</a:t>
            </a:r>
          </a:p>
          <a:p>
            <a:pPr lvl="0" indent="0">
              <a:buNone/>
            </a:pPr>
            <a:r>
              <a:rPr>
                <a:latin typeface="Courier"/>
              </a:rPr>
              <a:t>
--- Differences from Full Model ---</a:t>
            </a:r>
          </a:p>
          <a:p>
            <a:pPr lvl="0" indent="0">
              <a:buNone/>
            </a:pPr>
            <a:r>
              <a:rPr>
                <a:latin typeface="Courier"/>
              </a:rPr>
              <a:t>Removing latitude: AIC increases by 7.70, Adj R^2 decreases by -0.2345</a:t>
            </a:r>
          </a:p>
          <a:p>
            <a:pPr lvl="0" indent="0">
              <a:buNone/>
            </a:pPr>
            <a:r>
              <a:rPr>
                <a:latin typeface="Courier"/>
              </a:rPr>
              <a:t>Removing elevation: AIC increases by 6.45, Adj R^2 decreases by -0.1945</a:t>
            </a:r>
          </a:p>
          <a:p>
            <a:pPr lvl="0" indent="0">
              <a:buNone/>
            </a:pPr>
            <a:r>
              <a:rPr>
                <a:latin typeface="Courier"/>
              </a:rPr>
              <a:t>
========== CONCLUSION ==========</a:t>
            </a:r>
          </a:p>
          <a:p>
            <a:pPr lvl="0" indent="0">
              <a:buNone/>
            </a:pPr>
            <a:r>
              <a:rPr>
                <a:latin typeface="Courier"/>
              </a:rPr>
              <a:t>Full model has LOWEST AIC (best fit)</a:t>
            </a:r>
          </a:p>
          <a:p>
            <a:pPr lvl="0" indent="0">
              <a:buNone/>
            </a:pPr>
            <a:r>
              <a:rPr>
                <a:latin typeface="Courier"/>
              </a:rPr>
              <a:t>Full model has HIGHEST Adjusted R^2 (explains most variance)</a:t>
            </a:r>
          </a:p>
          <a:p>
            <a:pPr lvl="0" indent="0">
              <a:buNone/>
            </a:pPr>
            <a:r>
              <a:rPr>
                <a:latin typeface="Courier"/>
              </a:rPr>
              <a:t>Removing either variable worsens model performance</a:t>
            </a:r>
          </a:p>
          <a:p>
            <a:pPr lvl="0" indent="0">
              <a:buNone/>
            </a:pPr>
            <a:r>
              <a:rPr>
                <a:latin typeface="Courier"/>
              </a:rPr>
              <a:t>
Both elevation and latitude are important predictors of ant species diversity!</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Relative Importance of Predictors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How Important Is Each Predictor?</a:t>
            </a:r>
          </a:p>
        </p:txBody>
      </p:sp>
      <p:sp>
        <p:nvSpPr>
          <p:cNvPr id="3" name="Content Placeholder 2"/>
          <p:cNvSpPr>
            <a:spLocks noGrp="1"/>
          </p:cNvSpPr>
          <p:nvPr>
            <p:ph idx="1" sz="half"/>
          </p:nvPr>
        </p:nvSpPr>
        <p:spPr/>
        <p:txBody>
          <a:bodyPr/>
          <a:lstStyle/>
          <a:p>
            <a:pPr lvl="0" indent="0" marL="0">
              <a:buNone/>
            </a:pPr>
            <a:r>
              <a:rPr/>
              <a:t>Usually we want to know the relative importance of predictors in explaining Y. Three general approaches:</a:t>
            </a:r>
          </a:p>
          <a:p>
            <a:pPr lvl="0"/>
            <a:r>
              <a:rPr/>
              <a:t>Using F-tests (or t-tests) on partial regression slopes</a:t>
            </a:r>
          </a:p>
          <a:p>
            <a:pPr lvl="0"/>
            <a:r>
              <a:rPr/>
              <a:t>Using the coefficient of partial determination</a:t>
            </a:r>
          </a:p>
          <a:p>
            <a:pPr lvl="0"/>
            <a:r>
              <a:rPr/>
              <a:t>Using standardized partial regression slopes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None of these three approaches is “the” right answer — each answers a slightly different question about importance.</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Approach 1 — F-Tests on Partial Slopes</a:t>
            </a:r>
          </a:p>
        </p:txBody>
      </p:sp>
      <p:sp>
        <p:nvSpPr>
          <p:cNvPr id="3" name="Content Placeholder 2"/>
          <p:cNvSpPr>
            <a:spLocks noGrp="1"/>
          </p:cNvSpPr>
          <p:nvPr>
            <p:ph idx="1" sz="half"/>
          </p:nvPr>
        </p:nvSpPr>
        <p:spPr/>
        <p:txBody>
          <a:bodyPr/>
          <a:lstStyle/>
          <a:p>
            <a:pPr lvl="0" indent="0" marL="0">
              <a:buNone/>
            </a:pPr>
            <a:r>
              <a:rPr/>
              <a:t>Using F-tests (or t-tests) on partial regression slopes:</a:t>
            </a:r>
          </a:p>
          <a:p>
            <a:pPr lvl="0"/>
            <a:r>
              <a:rPr/>
              <a:t>Conduct F-tests of H₀ that each partial regression slope = 0</a:t>
            </a:r>
          </a:p>
          <a:p>
            <a:pPr lvl="0"/>
            <a:r>
              <a:rPr/>
              <a:t>If you cannot reject H₀, discard the predictor</a:t>
            </a:r>
          </a:p>
          <a:p>
            <a:pPr lvl="0"/>
            <a:r>
              <a:rPr/>
              <a:t>Can get additional clues from the relative size of F-values</a:t>
            </a:r>
          </a:p>
          <a:p>
            <a:pPr lvl="0"/>
            <a:r>
              <a:rPr/>
              <a:t>Does </a:t>
            </a:r>
            <a:r>
              <a:rPr b="1"/>
              <a:t>not</a:t>
            </a:r>
            <a:r>
              <a:rPr/>
              <a:t> tell us the absolute importance of a predictor — you usually cannot directly compare slope parameters</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t>A bigger F-value doesn’t automatically mean a “more important” predictor if the predictors are on very different scales.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Approach 2 — Coefficient of Partial Determination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reduction in variation of Y due to adding predictor Xⱼ:</a:t>
                </a:r>
              </a:p>
              <a:p>
                <a:pPr lvl="0" indent="0" marL="0">
                  <a:buNone/>
                </a:pPr>
                <a14:m>
                  <m:oMathPara xmlns:m="http://schemas.openxmlformats.org/officeDocument/2006/math">
                    <m:oMathParaPr>
                      <m:jc m:val="center"/>
                    </m:oMathParaPr>
                    <m:oMath>
                      <m:sSubSup>
                        <m:e>
                          <m:r>
                            <m:t>r</m:t>
                          </m:r>
                        </m:e>
                        <m:sub>
                          <m:sSub>
                            <m:e>
                              <m:r>
                                <m:t>X</m:t>
                              </m:r>
                            </m:e>
                            <m:sub>
                              <m:r>
                                <m:t>j</m:t>
                              </m:r>
                            </m:sub>
                          </m:sSub>
                        </m:sub>
                        <m:sup>
                          <m:r>
                            <m:t>2</m:t>
                          </m:r>
                        </m:sup>
                      </m:sSubSup>
                      <m:r>
                        <m:rPr>
                          <m:sty m:val="p"/>
                        </m:rPr>
                        <m:t>=</m:t>
                      </m:r>
                      <m:f>
                        <m:fPr>
                          <m:type m:val="bar"/>
                        </m:fPr>
                        <m:num>
                          <m:r>
                            <m:t>S</m:t>
                          </m:r>
                          <m:sSub>
                            <m:e>
                              <m:r>
                                <m:t>S</m:t>
                              </m:r>
                            </m:e>
                            <m:sub>
                              <m:r>
                                <m:t>E</m:t>
                              </m:r>
                              <m:r>
                                <m:t>x</m:t>
                              </m:r>
                              <m:r>
                                <m:t>t</m:t>
                              </m:r>
                              <m:r>
                                <m:t>r</m:t>
                              </m:r>
                              <m:r>
                                <m:t>a</m:t>
                              </m:r>
                            </m:sub>
                          </m:sSub>
                        </m:num>
                        <m:den>
                          <m:r>
                            <m:t>R</m:t>
                          </m:r>
                          <m:r>
                            <m:t>e</m:t>
                          </m:r>
                          <m:r>
                            <m:t>d</m:t>
                          </m:r>
                          <m:r>
                            <m:t>u</m:t>
                          </m:r>
                          <m:r>
                            <m:t>c</m:t>
                          </m:r>
                          <m:r>
                            <m:t>e</m:t>
                          </m:r>
                          <m:r>
                            <m:t>d</m:t>
                          </m:r>
                          <m:r>
                            <m:t> </m:t>
                          </m:r>
                          <m:r>
                            <m:t>S</m:t>
                          </m:r>
                          <m:sSub>
                            <m:e>
                              <m:r>
                                <m:t>S</m:t>
                              </m:r>
                            </m:e>
                            <m:sub>
                              <m:r>
                                <m:t>R</m:t>
                              </m:r>
                              <m:r>
                                <m:t>e</m:t>
                              </m:r>
                              <m:r>
                                <m:t>s</m:t>
                              </m:r>
                              <m:r>
                                <m:t>i</m:t>
                              </m:r>
                              <m:r>
                                <m:t>d</m:t>
                              </m:r>
                              <m:r>
                                <m:t>u</m:t>
                              </m:r>
                              <m:r>
                                <m:t>a</m:t>
                              </m:r>
                              <m:r>
                                <m:t>l</m:t>
                              </m:r>
                            </m:sub>
                          </m:sSub>
                        </m:den>
                      </m:f>
                    </m:oMath>
                  </m:oMathPara>
                </a14:m>
              </a:p>
              <a:p>
                <a:pPr lvl="0"/>
                <a14:m>
                  <m:oMath xmlns:m="http://schemas.openxmlformats.org/officeDocument/2006/math">
                    <m:r>
                      <m:t>S</m:t>
                    </m:r>
                    <m:sSub>
                      <m:e>
                        <m:r>
                          <m:t>S</m:t>
                        </m:r>
                      </m:e>
                      <m:sub>
                        <m:r>
                          <m:t>E</m:t>
                        </m:r>
                        <m:r>
                          <m:t>x</m:t>
                        </m:r>
                        <m:r>
                          <m:t>t</m:t>
                        </m:r>
                        <m:r>
                          <m:t>r</m:t>
                        </m:r>
                        <m:r>
                          <m:t>a</m:t>
                        </m:r>
                      </m:sub>
                    </m:sSub>
                  </m:oMath>
                </a14:m>
                <a:r>
                  <a:rPr/>
                  <a:t> = increase in </a:t>
                </a:r>
                <a14:m>
                  <m:oMath xmlns:m="http://schemas.openxmlformats.org/officeDocument/2006/math">
                    <m:r>
                      <m:t>S</m:t>
                    </m:r>
                    <m:sSub>
                      <m:e>
                        <m:r>
                          <m:t>S</m:t>
                        </m:r>
                      </m:e>
                      <m:sub>
                        <m:r>
                          <m:t>r</m:t>
                        </m:r>
                        <m:r>
                          <m:t>e</m:t>
                        </m:r>
                        <m:r>
                          <m:t>g</m:t>
                        </m:r>
                        <m:r>
                          <m:t>r</m:t>
                        </m:r>
                        <m:r>
                          <m:t>e</m:t>
                        </m:r>
                        <m:r>
                          <m:t>s</m:t>
                        </m:r>
                        <m:r>
                          <m:t>s</m:t>
                        </m:r>
                        <m:r>
                          <m:t>i</m:t>
                        </m:r>
                        <m:r>
                          <m:t>o</m:t>
                        </m:r>
                        <m:r>
                          <m:t>n</m:t>
                        </m:r>
                      </m:sub>
                    </m:sSub>
                  </m:oMath>
                </a14:m>
                <a:r>
                  <a:rPr/>
                  <a:t> when Xⱼ is added to the model</a:t>
                </a:r>
              </a:p>
              <a:p>
                <a:pPr lvl="0"/>
                <a:r>
                  <a:rPr/>
                  <a:t>Reduced </a:t>
                </a:r>
                <a14:m>
                  <m:oMath xmlns:m="http://schemas.openxmlformats.org/officeDocument/2006/math">
                    <m:r>
                      <m:t>S</m:t>
                    </m:r>
                    <m:sSub>
                      <m:e>
                        <m:r>
                          <m:t>S</m:t>
                        </m:r>
                      </m:e>
                      <m:sub>
                        <m:r>
                          <m:t>r</m:t>
                        </m:r>
                        <m:r>
                          <m:t>e</m:t>
                        </m:r>
                        <m:r>
                          <m:t>s</m:t>
                        </m:r>
                        <m:r>
                          <m:t>i</m:t>
                        </m:r>
                        <m:r>
                          <m:t>d</m:t>
                        </m:r>
                        <m:r>
                          <m:t>u</m:t>
                        </m:r>
                        <m:r>
                          <m:t>a</m:t>
                        </m:r>
                        <m:r>
                          <m:t>l</m:t>
                        </m:r>
                      </m:sub>
                    </m:sSub>
                  </m:oMath>
                </a14:m>
                <a:r>
                  <a:rPr/>
                  <a:t> is the unexplained SS from the model </a:t>
                </a:r>
                <a:r>
                  <a:rPr i="1"/>
                  <a:t>without</a:t>
                </a:r>
                <a:r>
                  <a:rPr/>
                  <a:t> Xⱼ</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This is the same </a:t>
                </a:r>
                <a14:m>
                  <m:oMath xmlns:m="http://schemas.openxmlformats.org/officeDocument/2006/math">
                    <m:r>
                      <m:t>S</m:t>
                    </m:r>
                    <m:sSub>
                      <m:e>
                        <m:r>
                          <m:t>S</m:t>
                        </m:r>
                      </m:e>
                      <m:sub>
                        <m:r>
                          <m:t>E</m:t>
                        </m:r>
                        <m:r>
                          <m:t>x</m:t>
                        </m:r>
                        <m:r>
                          <m:t>t</m:t>
                        </m:r>
                        <m:r>
                          <m:t>r</m:t>
                        </m:r>
                        <m:r>
                          <m:t>a</m:t>
                        </m:r>
                      </m:sub>
                    </m:sSub>
                  </m:oMath>
                </a14:m>
                <a:r>
                  <a:rPr sz="2000"/>
                  <a:t> logic from the partial F-test earlier — just expressed as a proportion of variance instead of an F-ratio.</a:t>
                </a:r>
              </a:p>
            </p:txBody>
          </p:sp>
        </mc:Choice>
      </mc:AlternateContent>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Approach 3 — Standardized Partial Regression Slopes</a:t>
            </a:r>
          </a:p>
        </p:txBody>
      </p:sp>
      <p:sp>
        <p:nvSpPr>
          <p:cNvPr id="3" name="Content Placeholder 2"/>
          <p:cNvSpPr>
            <a:spLocks noGrp="1"/>
          </p:cNvSpPr>
          <p:nvPr>
            <p:ph idx="1" sz="half"/>
          </p:nvPr>
        </p:nvSpPr>
        <p:spPr/>
        <p:txBody>
          <a:bodyPr/>
          <a:lstStyle/>
          <a:p>
            <a:pPr lvl="0" indent="0" marL="0">
              <a:buNone/>
            </a:pPr>
            <a:r>
              <a:rPr/>
              <a:t>Predictors on different scales cannot be directly compared — why?</a:t>
            </a:r>
          </a:p>
          <a:p>
            <a:pPr lvl="0"/>
            <a:r>
              <a:rPr/>
              <a:t>Standardize all variables (mean = 0, SD = 1)</a:t>
            </a:r>
          </a:p>
          <a:p>
            <a:pPr lvl="0"/>
            <a:r>
              <a:rPr/>
              <a:t>Scales are then identical, and a larger standardized partial slope means a more important variable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Standardizing puts every predictor in “SD units,” so a slope of 0.5 always means “half an SD change in Y per SD change in X” — directly comparable across predictors.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Partial Eta Squared and Delta R²</a:t>
            </a:r>
          </a:p>
        </p:txBody>
      </p:sp>
      <p:sp>
        <p:nvSpPr>
          <p:cNvPr id="3" name="Content Placeholder 2"/>
          <p:cNvSpPr>
            <a:spLocks noGrp="1"/>
          </p:cNvSpPr>
          <p:nvPr>
            <p:ph idx="1" sz="half"/>
          </p:nvPr>
        </p:nvSpPr>
        <p:spPr/>
        <p:txBody>
          <a:bodyPr/>
          <a:lstStyle/>
          <a:p>
            <a:pPr lvl="0" indent="0" marL="0">
              <a:buNone/>
            </a:pPr>
            <a:r>
              <a:rPr/>
              <a:t>Using partial r² values — </a:t>
            </a:r>
            <a:r>
              <a:rPr b="1"/>
              <a:t>partial eta squared (pEta²):</a:t>
            </a:r>
          </a:p>
          <a:p>
            <a:pPr lvl="0"/>
            <a:r>
              <a:rPr b="1"/>
              <a:t>Elevation: 0.3189 (31.9%)</a:t>
            </a:r>
            <a:r>
              <a:rPr/>
              <a:t> — elevation explains 31.9% of the variance </a:t>
            </a:r>
            <a:r>
              <a:rPr i="1"/>
              <a:t>after controlling for latitude</a:t>
            </a:r>
          </a:p>
          <a:p>
            <a:pPr lvl="0"/>
            <a:r>
              <a:rPr b="1"/>
              <a:t>Latitude: 0.3564 (35.6%)</a:t>
            </a:r>
            <a:r>
              <a:rPr/>
              <a:t> — latitude explains 35.6% of the variance </a:t>
            </a:r>
            <a:r>
              <a:rPr i="1"/>
              <a:t>after controlling for elevation</a:t>
            </a:r>
          </a:p>
          <a:p>
            <a:pPr lvl="0"/>
            <a:r>
              <a:rPr/>
              <a:t>Both are important predictors! Latitude is slightly stronger</a:t>
            </a:r>
          </a:p>
          <a:p>
            <a:pPr lvl="0" indent="0" marL="0">
              <a:buNone/>
            </a:pPr>
            <a:r>
              <a:rPr b="1"/>
              <a:t>Delta R² (semi-partial R²):</a:t>
            </a:r>
          </a:p>
          <a:p>
            <a:pPr lvl="0"/>
            <a:r>
              <a:rPr/>
              <a:t>Elevation: 0.2087 — if you removed elevation, R² would drop by 20.9%</a:t>
            </a:r>
          </a:p>
          <a:p>
            <a:pPr lvl="0"/>
            <a:r>
              <a:rPr/>
              <a:t>Latitude: 0.2468 — if you removed latitude, R² would drop by 24.7%</a:t>
            </a:r>
          </a:p>
          <a:p>
            <a:pPr lvl="0"/>
            <a:r>
              <a:rPr/>
              <a:t>Shows the </a:t>
            </a:r>
            <a:r>
              <a:rPr i="1"/>
              <a:t>unique</a:t>
            </a:r>
            <a:r>
              <a:rPr/>
              <a:t> contribution of each predictor to the total variance explained</a:t>
            </a:r>
          </a:p>
        </p:txBody>
      </p:sp>
      <p:sp>
        <p:nvSpPr>
          <p:cNvPr id="4" name="Content Placeholder 3"/>
          <p:cNvSpPr>
            <a:spLocks noGrp="1"/>
          </p:cNvSpPr>
          <p:nvPr>
            <p:ph idx="2" sz="half"/>
          </p:nvPr>
        </p:nvSpPr>
        <p:spPr/>
        <p:txBody>
          <a:bodyPr/>
          <a:lstStyle/>
          <a:p>
            <a:pPr lvl="0" indent="0">
              <a:buNone/>
            </a:pPr>
            <a:r>
              <a:rPr>
                <a:latin typeface="Courier"/>
              </a:rPr>
              <a:t>
== Type II ANOVA (car package) ==</a:t>
            </a:r>
          </a:p>
          <a:p>
            <a:pPr lvl="0" indent="0">
              <a:buNone/>
            </a:pPr>
            <a:r>
              <a:rPr>
                <a:latin typeface="Courier"/>
              </a:rPr>
              <a:t>Anova Table (Type II tests)
Response: ant_spp
           Sum Sq Df F value   Pr(&gt;F)   
elevation  81.224  1  8.8955 0.007652 **
latitude   96.085  1 10.5231 0.004272 **
Residuals 173.487 19                    
---
Signif. codes:  0 '***' 0.001 '**' 0.01 '*' 0.05 '.' 0.1 ' ' 1</a:t>
            </a:r>
          </a:p>
          <a:p>
            <a:pPr lvl="0" indent="0">
              <a:buNone/>
            </a:pPr>
            <a:r>
              <a:rPr>
                <a:latin typeface="Courier"/>
              </a:rPr>
              <a:t>== Coefficients Table ==</a:t>
            </a:r>
          </a:p>
          <a:p>
            <a:pPr lvl="0" indent="0">
              <a:buNone/>
            </a:pPr>
            <a:r>
              <a:rPr>
                <a:latin typeface="Courier"/>
              </a:rPr>
              <a:t> Coefficients    SSR df pEta_sqr dR_sqr
    elevation  81.22  1   0.3189 0.2087
     latitude  96.09  1   0.3564 0.2468
    Residuals 173.49 19   0.5000 0.4457</a:t>
            </a:r>
          </a:p>
          <a:p>
            <a:pPr lvl="0" indent="0">
              <a:buNone/>
            </a:pPr>
            <a:r>
              <a:rPr>
                <a:latin typeface="Courier"/>
              </a:rPr>
              <a:t>
== Summary Statistics ==</a:t>
            </a:r>
          </a:p>
          <a:p>
            <a:pPr lvl="0" indent="0">
              <a:buNone/>
            </a:pPr>
            <a:r>
              <a:rPr>
                <a:latin typeface="Courier"/>
              </a:rPr>
              <a:t>SSE: 173.5</a:t>
            </a:r>
          </a:p>
          <a:p>
            <a:pPr lvl="0" indent="0">
              <a:buNone/>
            </a:pPr>
            <a:r>
              <a:rPr>
                <a:latin typeface="Courier"/>
              </a:rPr>
              <a:t>SST: 389.3</a:t>
            </a:r>
          </a:p>
          <a:p>
            <a:pPr lvl="0" indent="0">
              <a:buNone/>
            </a:pPr>
            <a:r>
              <a:rPr>
                <a:latin typeface="Courier"/>
              </a:rPr>
              <a:t>Model R^2: 0.5543</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Wrap-up</a:t>
            </a:r>
          </a:p>
        </p:txBody>
      </p:sp>
      <p:sp>
        <p:nvSpPr>
          <p:cNvPr id="3" name="Content Placeholder 2"/>
          <p:cNvSpPr>
            <a:spLocks noGrp="1"/>
          </p:cNvSpPr>
          <p:nvPr>
            <p:ph idx="1" sz="half"/>
          </p:nvPr>
        </p:nvSpPr>
        <p:spPr/>
        <p:txBody>
          <a:bodyPr/>
          <a:lstStyle/>
          <a:p>
            <a:pPr lvl="0" indent="0" marL="0">
              <a:buNone/>
            </a:pPr>
            <a:r>
              <a:rPr/>
              <a:t>Today you:</a:t>
            </a:r>
          </a:p>
          <a:p>
            <a:pPr lvl="0"/>
            <a:r>
              <a:rPr/>
              <a:t>Extended the regression line to a </a:t>
            </a:r>
            <a:r>
              <a:rPr b="1"/>
              <a:t>plane</a:t>
            </a:r>
            <a:r>
              <a:rPr/>
              <a:t> — two or more predictors at once</a:t>
            </a:r>
          </a:p>
          <a:p>
            <a:pPr lvl="0"/>
            <a:r>
              <a:rPr/>
              <a:t>Learned to read a </a:t>
            </a:r>
            <a:r>
              <a:rPr b="1"/>
              <a:t>partial slope</a:t>
            </a:r>
            <a:r>
              <a:rPr/>
              <a:t>: the effect of one predictor </a:t>
            </a:r>
            <a:r>
              <a:rPr i="1"/>
              <a:t>holding the others constant</a:t>
            </a:r>
            <a:r>
              <a:rPr/>
              <a:t>, which is not the same as its slope on its own</a:t>
            </a:r>
          </a:p>
          <a:p>
            <a:pPr lvl="0"/>
            <a:r>
              <a:rPr/>
              <a:t>Tested the whole model with an </a:t>
            </a:r>
            <a:r>
              <a:rPr b="1"/>
              <a:t>overall F</a:t>
            </a:r>
            <a:r>
              <a:rPr/>
              <a:t>, and single predictors with </a:t>
            </a:r>
            <a:r>
              <a:rPr b="1"/>
              <a:t>partial F-tests</a:t>
            </a:r>
          </a:p>
          <a:p>
            <a:pPr lvl="0"/>
            <a:r>
              <a:rPr/>
              <a:t>Diagnosed </a:t>
            </a:r>
            <a:r>
              <a:rPr b="1"/>
              <a:t>collinearity</a:t>
            </a:r>
            <a:r>
              <a:rPr/>
              <a:t> with </a:t>
            </a:r>
            <a:r>
              <a:rPr>
                <a:latin typeface="Courier"/>
              </a:rPr>
              <a:t>vif()</a:t>
            </a:r>
            <a:r>
              <a:rPr/>
              <a:t>, and saw why a high VIF poisons the individual slopes without necessarily hurting the fit</a:t>
            </a:r>
          </a:p>
          <a:p>
            <a:pPr lvl="0"/>
            <a:r>
              <a:rPr/>
              <a:t>Fitted an </a:t>
            </a:r>
            <a:r>
              <a:rPr b="1"/>
              <a:t>interaction</a:t>
            </a:r>
            <a:r>
              <a:rPr/>
              <a:t> and paid for it in degrees of freedom and interpretability</a:t>
            </a:r>
          </a:p>
          <a:p>
            <a:pPr lvl="0"/>
            <a:r>
              <a:rPr/>
              <a:t>Coded a categorical predictor as </a:t>
            </a:r>
            <a:r>
              <a:rPr b="1"/>
              <a:t>dummy variables</a:t>
            </a:r>
            <a:r>
              <a:rPr/>
              <a:t> against a reference level</a:t>
            </a:r>
          </a:p>
          <a:p>
            <a:pPr lvl="0"/>
            <a:r>
              <a:rPr/>
              <a:t>Compared models with </a:t>
            </a:r>
            <a:r>
              <a:rPr b="1"/>
              <a:t>adjusted R²</a:t>
            </a:r>
            <a:r>
              <a:rPr/>
              <a:t> and </a:t>
            </a:r>
            <a:r>
              <a:rPr b="1"/>
              <a:t>AIC</a:t>
            </a:r>
            <a:r>
              <a:rPr/>
              <a:t>, which penalize you for adding predictors</a:t>
            </a:r>
          </a:p>
          <a:p>
            <a:pPr lvl="0"/>
            <a:r>
              <a:rPr/>
              <a:t>Ranked predictors by partial F, partial R², and standardized slopes</a:t>
            </a:r>
          </a:p>
          <a:p>
            <a:pPr lvl="0" indent="0" marL="1270000">
              <a:buNone/>
            </a:pPr>
            <a:r>
              <a:rPr sz="2000" b="1"/>
              <a:t>Important</a:t>
            </a:r>
          </a:p>
          <a:p>
            <a:pPr lvl="0" indent="0" marL="1270000">
              <a:buNone/>
            </a:pPr>
            <a:r>
              <a:rPr sz="2000" b="1"/>
              <a:t>⚠️ The trap to remember</a:t>
            </a:r>
          </a:p>
          <a:p>
            <a:pPr lvl="0" indent="0" marL="1270000">
              <a:buNone/>
            </a:pPr>
            <a:r>
              <a:rPr sz="2000"/>
              <a:t>Adding predictors </a:t>
            </a:r>
            <a:r>
              <a:rPr sz="2000" b="1"/>
              <a:t>always</a:t>
            </a:r>
            <a:r>
              <a:rPr sz="2000"/>
              <a:t> raises plain R². That is why we never compare models on R² alone — adjusted R² and AIC exist precisely because “it explains more variance” is not the same as “it is a better model.”</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The one idea to keep</a:t>
            </a:r>
          </a:p>
          <a:p>
            <a:pPr lvl="0" indent="0" marL="1270000">
              <a:buNone/>
            </a:pPr>
            <a:r>
              <a:rPr sz="2000"/>
              <a:t>A partial slope answers a </a:t>
            </a:r>
            <a:r>
              <a:rPr sz="2000" i="1"/>
              <a:t>conditional</a:t>
            </a:r>
            <a:r>
              <a:rPr sz="2000"/>
              <a:t> question — “what does elevation do among sites at the same latitude?” Change which other predictors are in the model and you have changed the question, so the number is allowed to change too.</a:t>
            </a:r>
          </a:p>
          <a:p>
            <a:pPr lvl="0" indent="0" marL="1270000">
              <a:buNone/>
            </a:pPr>
            <a:r>
              <a:rPr sz="2000" b="1"/>
              <a:t>Note</a:t>
            </a:r>
          </a:p>
          <a:p>
            <a:pPr lvl="0" indent="0" marL="1270000">
              <a:buNone/>
            </a:pPr>
            <a:r>
              <a:rPr sz="2000" b="1"/>
              <a:t>Up next — Analysis of Variance</a:t>
            </a:r>
          </a:p>
          <a:p>
            <a:pPr lvl="0"/>
            <a:r>
              <a:rPr sz="2000"/>
              <a:t>What happens when every predictor is categorical</a:t>
            </a:r>
          </a:p>
          <a:p>
            <a:pPr lvl="0"/>
            <a:r>
              <a:rPr sz="2000"/>
              <a:t>Why ANOVA and regression are the same machinery wearing different clothes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a:t>Read the </a:t>
            </a:r>
            <a:r>
              <a:rPr b="1"/>
              <a:t>error message</a:t>
            </a:r>
            <a:r>
              <a:rPr/>
              <a:t> out loud; it usually names the line</a:t>
            </a:r>
          </a:p>
          <a:p>
            <a:pPr lvl="0" indent="-342900" marL="342900">
              <a:buAutoNum type="arabicPeriod"/>
            </a:pPr>
            <a:r>
              <a:rPr/>
              <a:t>Check the usual suspects: is it </a:t>
            </a:r>
            <a:r>
              <a:rPr>
                <a:latin typeface="Courier"/>
              </a:rPr>
              <a:t>y ~ x1 + x2</a:t>
            </a:r>
            <a:r>
              <a:rPr/>
              <a:t> (additive) or </a:t>
            </a:r>
            <a:r>
              <a:rPr>
                <a:latin typeface="Courier"/>
              </a:rPr>
              <a:t>y ~ x1 * x2</a:t>
            </a:r>
            <a:r>
              <a:rPr/>
              <a:t> (interaction)? Is </a:t>
            </a:r>
            <a:r>
              <a:rPr>
                <a:latin typeface="Courier"/>
              </a:rPr>
              <a:t>car</a:t>
            </a:r>
            <a:r>
              <a:rPr/>
              <a:t> loaded for </a:t>
            </a:r>
            <a:r>
              <a:rPr>
                <a:latin typeface="Courier"/>
              </a:rPr>
              <a:t>vif()</a:t>
            </a:r>
            <a:r>
              <a:rPr/>
              <a:t>? Are you comparing models fitted to the </a:t>
            </a:r>
            <a:r>
              <a:rPr b="1"/>
              <a:t>same rows</a:t>
            </a:r>
            <a:r>
              <a:rPr/>
              <a:t> — an </a:t>
            </a:r>
            <a:r>
              <a:rPr>
                <a:latin typeface="Courier"/>
              </a:rPr>
              <a:t>NA</a:t>
            </a:r>
            <a:r>
              <a:rPr/>
              <a:t> in one predictor silently drops that row</a:t>
            </a:r>
          </a:p>
          <a:p>
            <a:pPr lvl="0" indent="-342900" marL="342900">
              <a:buAutoNum type="arabicPeriod"/>
            </a:pPr>
            <a:r>
              <a:rPr>
                <a:latin typeface="Courier"/>
              </a:rPr>
              <a:t>?function_name</a:t>
            </a:r>
            <a:r>
              <a:rPr/>
              <a:t> opens the help page</a:t>
            </a:r>
          </a:p>
          <a:p>
            <a:pPr lvl="0" indent="-342900" marL="342900">
              <a:buAutoNum type="arabicPeriod"/>
            </a:pPr>
            <a:r>
              <a:rPr/>
              <a:t>Bring the </a:t>
            </a:r>
            <a:r>
              <a:rPr b="1"/>
              <a:t>exact error</a:t>
            </a:r>
            <a:r>
              <a:rPr/>
              <a:t> (copy-paste it) to class or office hours</a:t>
            </a:r>
          </a:p>
          <a:p>
            <a:pPr lvl="0" indent="0" marL="1270000">
              <a:buNone/>
            </a:pPr>
            <a:r>
              <a:rPr sz="2000" b="1"/>
              <a:t>Note</a:t>
            </a:r>
          </a:p>
          <a:p>
            <a:pPr lvl="0" indent="0" marL="1270000">
              <a:buNone/>
            </a:pPr>
            <a:r>
              <a:rPr sz="2000" b="1"/>
              <a:t>✅ Key idea</a:t>
            </a:r>
          </a:p>
          <a:p>
            <a:pPr lvl="0" indent="0" marL="1270000">
              <a:buNone/>
            </a:pPr>
            <a:r>
              <a:rPr sz="2000"/>
              <a:t>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Multiple Regression</dc:title>
  <dc:creator>Bill Perry</dc:creator>
  <cp:keywords/>
  <dc:description>The multiple regression model, partial regression slopes, ANOVA and hypothesis tests for regression, assumptions and diagnostics, collinearity, interactions, dummy variables, model comparison, and predictor importance — on the Gotelli ant-diversity dataset.</dc:description>
  <dcterms:created xsi:type="dcterms:W3CDTF">2026-09-21T17:10:53Z</dcterms:created>
  <dcterms:modified xsi:type="dcterms:W3CDTF">2026-09-21T17:10:53Z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11</vt:lpwstr>
  </property>
  <property fmtid="{D5CDD505-2E9C-101B-9397-08002B2CF9AE}" pid="14" name="resources">
    <vt:lpwstr/>
  </property>
  <property fmtid="{D5CDD505-2E9C-101B-9397-08002B2CF9AE}" pid="15" name="subtitle">
    <vt:lpwstr>Several predictors</vt:lpwstr>
  </property>
  <property fmtid="{D5CDD505-2E9C-101B-9397-08002B2CF9AE}" pid="16" name="toc-title">
    <vt:lpwstr>Table of contents</vt:lpwstr>
  </property>
  <property fmtid="{D5CDD505-2E9C-101B-9397-08002B2CF9AE}" pid="17" name="week">
    <vt:lpwstr>7</vt:lpwstr>
  </property>
</Properties>
</file>