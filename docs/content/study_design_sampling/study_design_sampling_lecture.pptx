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mnmas.org/about-us" TargetMode="Externa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 paired </a:t>
            </a:r>
            <a:r>
              <a:rPr b="1"/>
              <a:t>Wilcoxon signed-rank</a:t>
            </a:r>
            <a:r>
              <a:rPr/>
              <a:t> test — it ranks the </a:t>
            </a:r>
            <a:r>
              <a:rPr i="1"/>
              <a:t>sizes</a:t>
            </a:r>
            <a:r>
              <a:rPr/>
              <a:t> of the paired differences and then attaches their signs, so it uses more information than a plain sign test. It is the standard non-parametric partner to the paired t-test, and we ran it on our own four trees</a:t>
            </a:r>
          </a:p>
          <a:p>
            <a:pPr lvl="1"/>
            <a:r>
              <a:rPr/>
              <a:t>And we saw its limit: with 4 pairs it cannot return a p-value below 0.125, no matter how large the effect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handwritten field notebook page recording site data (site ID, time, depth, GPS coordinates, substrate notes) for three sampling stations, an example of real field-study record-keeping.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270000"/>
            <a:ext cx="30861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Close-up photo of a rock surface with a circular grazed patch (dark, cleared algae in the center) surrounded by a mosaic of ungrazed, algae-covered tiles, illustrating a herbivore grazing-scar pattern from a classic stream ecology study.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26000" y="1295400"/>
            <a:ext cx="3873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an experimental array of small tiles laid on a streambed, some darker with algal growth and others lighter/grazed clean, used in Lamberti and Resh’s (1983) study of caddisfly grazing effects on periphyton.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figure comparing a visited tidepool beach (people wading among the rocks) to a restricted no-access beach, each with bar charts of invertebrate density by species and pie charts showing 78.2% of boulders disturbed at the visited beach versus only 1.8% at the restricted beach.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sort of experiment is this design, and what are the issues with it?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79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three study-design types (observational field study, covariate-controlled field study, randomized controlled experiment) stacked with a downward gradient arrow labeled ‘weak’ at top to ‘strong’ at bottom, showing the strength of causal inference increasing from observational studies to randomized experiments.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Humorous meme of a dog looking out a window with text joking that its barking is the reason the mail carrier always leaves unharmed (‘I have the power of barking to thank for that’), a lighthearted example of mistaking correlation/coincidence for causation.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51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Three-part figure: (A) a scatterplot of spider density versus lizard density showing no relationship (null hypothesis), (B) a scatterplot showing spider density declining as lizard density increases (alternative hypothesis), and a photo below of a lizard eating a spider, illustrating a proposed predation mechanism.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Scatterplot of spider density against lizard density across survey plots, showing a clear negative relationship, an example of a natural experiment using existing variation rather than manipulation.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causal diagrams: a ‘confounder’ diagram where Moisture has arrows pointing to both Lizard density and Spider density (a third variable driving both), and a ‘mediator’ diagram where Moisture points to Lizard density which in turn points to Spider density (an indirect causal chain).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 large grid of manipulated experimental field plots surrounded by forest, part of the Cedar Creek Ecosystem Science Reserve’s long-term biodiversity experiments.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Cedar Creek Ecosystem Science Reserve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confounding variable Z with arrows pointing to both X and Y, illustrating that a third variable can drive an apparent relationship between the two variables of interest.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51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tile-array photo repeated, shown here as an example of replicated experimental units on a streambed.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90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Map showing the burned area of the ‘Camp House Fire’ as an orange shape near Brimson, Minnesota, with roads and nearby towns labeled, illustrating a real forest-fire footprint for the burnt-versus-unburnt forest replication example.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an aquarium tank containing a fish, a shelter labeled (a), prey items labeled (b), and a barrier or structure labeled (c), used to illustrate the barnacle/copper-aquaria pseudoreplication example where settling plates within the same tank are not true replicates.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an outdoor research facility with about 20 large circular tanks (mesocosms) arranged in a grid on gravel, plus additional smaller tanks in the background, illustrating replicated temperature-controlled growth chambers.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85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underwater photos on a coral reef: (a) a PVC-pipe apparatus with bait attached near the coral, and (b)-(c) a mesh cage/exclosure structure being lowered over the setup, illustrating a predator-exclusion control used to separate manipulation effects from confounds like cage artifacts.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Our own design, in these terms</a:t>
            </a:r>
          </a:p>
          <a:p>
            <a:pPr lvl="0" indent="0" marL="1270000">
              <a:buNone/>
            </a:pPr>
            <a:r>
              <a:rPr sz="2000"/>
              <a:t>Eight needles from one branch are </a:t>
            </a:r>
            <a:r>
              <a:rPr sz="2000" b="1"/>
              <a:t>not</a:t>
            </a:r>
            <a:r>
              <a:rPr sz="2000"/>
              <a:t> independent — they share a tree, a microclimate, a genotype. Two sides of the same tree </a:t>
            </a:r>
            <a:r>
              <a:rPr sz="2000" b="1"/>
              <a:t>are</a:t>
            </a:r>
            <a:r>
              <a:rPr sz="2000"/>
              <a:t> dependent on each other too, but deliberately so: that is a </a:t>
            </a:r>
            <a:r>
              <a:rPr sz="2000" b="1"/>
              <a:t>paired</a:t>
            </a:r>
            <a:r>
              <a:rPr sz="2000"/>
              <a:t> design, and pairing turns a violation of independence into an advantage.</a:t>
            </a:r>
          </a:p>
          <a:p>
            <a:pPr lvl="0" indent="0" marL="1270000">
              <a:buNone/>
            </a:pPr>
            <a:r>
              <a:rPr sz="2000"/>
              <a:t>Non-independence you ignore costs you. Non-independence you plan for pays you.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40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mother rat nursing a litter of newborn pups, illustrating the independence example: offspring from one mother are not independent replicates of each other.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shoreline (land at bottom, water at top) with shaded squares labeled E (experimental) and unshaded squares labeled C (control) interspersed randomly across the plots, illustrating random assignment of units to treatment and control.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blue lake with black squares scattered haphazardly throughout the water, illustrating simple random sampling where every point has an equal chance of being sampled.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divided into three concentric depth strata (shallow green, mid-depth light blue, deep dark blue), with sample points scattered within each stratum, illustrating stratified random sampling.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four red circles marking clusters, each containing three sample points, positioned around the shoreline, illustrating cluster sampling where whole groups near a location are sampled together.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sample points evenly spaced in a grid-like pattern across the water, illustrating systematic sampling along a regular interval rather than at random locations.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There are two things called “post hoc power” — one is useful, one is circular</a:t>
            </a:r>
          </a:p>
          <a:p>
            <a:pPr lvl="0" indent="0" marL="1270000">
              <a:buNone/>
            </a:pPr>
            <a:r>
              <a:rPr sz="2000" b="1"/>
              <a:t>Legitimate:</a:t>
            </a:r>
            <a:r>
              <a:rPr sz="2000"/>
              <a:t> “Given our n and σ, what power did we have to detect a difference </a:t>
            </a:r>
            <a:r>
              <a:rPr sz="2000" i="1"/>
              <a:t>we decided in advance</a:t>
            </a:r>
            <a:r>
              <a:rPr sz="2000"/>
              <a:t> was biologically meaningful?” That is a real answer about your design, and it is what the bullets on the left describe.</a:t>
            </a:r>
          </a:p>
          <a:p>
            <a:pPr lvl="0" indent="0" marL="1270000">
              <a:buNone/>
            </a:pPr>
            <a:r>
              <a:rPr sz="2000" b="1"/>
              <a:t>Invalid:</a:t>
            </a:r>
            <a:r>
              <a:rPr sz="2000"/>
              <a:t> computing power from the effect size you </a:t>
            </a:r>
            <a:r>
              <a:rPr sz="2000" i="1"/>
              <a:t>observed</a:t>
            </a:r>
            <a:r>
              <a:rPr sz="2000"/>
              <a:t>. Observed power is a direct mathematical re-expression of your p-value — a non-significant result </a:t>
            </a:r>
            <a:r>
              <a:rPr sz="2000" i="1"/>
              <a:t>always</a:t>
            </a:r>
            <a:r>
              <a:rPr sz="2000"/>
              <a:t> yields low observed power. Saying “our result was non-significant and our power was low” says the same thing twice, and is not evidence that there is no effect.</a:t>
            </a:r>
          </a:p>
          <a:p>
            <a:pPr lvl="0" indent="0" marL="1270000">
              <a:buNone/>
            </a:pPr>
            <a:r>
              <a:rPr sz="2000"/>
              <a:t>If you want to argue for no effect, use an </a:t>
            </a:r>
            <a:r>
              <a:rPr sz="2000" b="1"/>
              <a:t>equivalence test</a:t>
            </a:r>
            <a:r>
              <a:rPr sz="2000"/>
              <a:t> or report a confidence interval that excludes any meaningful difference.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 b="1"/>
              <a:t>We already have pilot data — our own.</a:t>
            </a:r>
            <a:r>
              <a:rPr sz="2000"/>
              <a:t> Four trees, both sides of each, from Week 1. That is exactly what a pilot study is </a:t>
            </a:r>
            <a:r>
              <a:rPr sz="2000" i="1"/>
              <a:t>for</a:t>
            </a:r>
            <a:r>
              <a:rPr sz="2000"/>
              <a:t>: it does not settle the question, it tells you how big the real study has to be.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Estimates from OUR four trees (see the Power lecture)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  &lt;- </a:t>
            </a:r>
            <a:r>
              <a:rPr>
                <a:solidFill>
                  <a:srgbClr val="AD0000"/>
                </a:solidFill>
                <a:latin typeface="Courier"/>
              </a:rPr>
              <a:t>14.12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sunny_mean  &lt;- </a:t>
            </a:r>
            <a:r>
              <a:rPr>
                <a:solidFill>
                  <a:srgbClr val="AD0000"/>
                </a:solidFill>
                <a:latin typeface="Courier"/>
              </a:rPr>
              <a:t>15.21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  &lt;- </a:t>
            </a:r>
            <a:r>
              <a:rPr>
                <a:solidFill>
                  <a:srgbClr val="AD0000"/>
                </a:solidFill>
                <a:latin typeface="Courier"/>
              </a:rPr>
              <a:t>1.81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(shady_mean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         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0.6022099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trees per side would a proper study need?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44.26649
              d = 0.6022099
      sig.level = 0.05
          power = 0.8
    alternative = two.sided
NOTE: n is number in *each* group</a:t>
            </a:r>
          </a:p>
          <a:p>
            <a:pPr lvl="0" indent="0" marL="1270000">
              <a:buNone/>
            </a:pPr>
            <a:r>
              <a:rPr sz="2000"/>
              <a:t>✏️ </a:t>
            </a:r>
            <a:r>
              <a:rPr sz="2000" b="1"/>
              <a:t>Your turn:</a:t>
            </a:r>
            <a:r>
              <a:rPr sz="2000"/>
              <a:t> Now re-run it as a </a:t>
            </a:r>
            <a:r>
              <a:rPr sz="2000" b="1"/>
              <a:t>paired</a:t>
            </a:r>
            <a:r>
              <a:rPr sz="2000"/>
              <a:t> design (</a:t>
            </a:r>
            <a:r>
              <a:rPr sz="2000">
                <a:latin typeface="Courier"/>
              </a:rPr>
              <a:t>type = "paired"</a:t>
            </a:r>
            <a:r>
              <a:rPr sz="2000"/>
              <a:t>) using the effect size for the </a:t>
            </a:r>
            <a:r>
              <a:rPr sz="2000" i="1"/>
              <a:t>differences</a:t>
            </a:r>
            <a:r>
              <a:rPr sz="2000"/>
              <a:t>, </a:t>
            </a:r>
            <a:r>
              <a:rPr sz="2000">
                <a:latin typeface="Courier"/>
              </a:rPr>
              <a:t>d = 1.36</a:t>
            </a:r>
            <a:r>
              <a:rPr sz="2000"/>
              <a:t>. How many trees does that need instead?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design decision, in one comparison</a:t>
            </a:r>
          </a:p>
          <a:p>
            <a:pPr lvl="0"/>
            <a:r>
              <a:rPr sz="2000"/>
              <a:t>Unpaired: </a:t>
            </a:r>
            <a:r>
              <a:rPr sz="2000" b="1"/>
              <a:t>44 trees per side</a:t>
            </a:r>
            <a:r>
              <a:rPr sz="2000"/>
              <a:t> = 88 trees</a:t>
            </a:r>
          </a:p>
          <a:p>
            <a:pPr lvl="0"/>
            <a:r>
              <a:rPr sz="2000"/>
              <a:t>Paired: </a:t>
            </a:r>
            <a:r>
              <a:rPr sz="2000" b="1"/>
              <a:t>7 trees</a:t>
            </a:r>
            <a:r>
              <a:rPr sz="2000"/>
              <a:t>, both sides of each</a:t>
            </a:r>
          </a:p>
          <a:p>
            <a:pPr lvl="0" indent="0" marL="1270000">
              <a:buNone/>
            </a:pPr>
            <a:r>
              <a:rPr sz="2000"/>
              <a:t>Same question, same measurement effort per tree, same α and power. The difference is entirely in </a:t>
            </a:r>
            <a:r>
              <a:rPr sz="2000" b="1"/>
              <a:t>how you decide to sample</a:t>
            </a:r>
            <a:r>
              <a:rPr sz="2000"/>
              <a:t> — which is what this whole lecture is about.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51600" y="660400"/>
            <a:ext cx="2108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stacked plots: statistical power rising with effect size and leveling off near 1.0, with a dashed line marking 80% power at an effect size around 23; and detectable effect size dropping steeply as the number of replicates increases, with a dashed line showing the same effect size achievable at about 23 replicates, illustrating the tradeoff between sample size and detectable effect size.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2026-09-09T18:07:11Z</dcterms:created>
  <dcterms:modified xsi:type="dcterms:W3CDTF">2026-09-09T18:07:11Z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9</vt:lpwstr>
  </property>
  <property fmtid="{D5CDD505-2E9C-101B-9397-08002B2CF9AE}" pid="14" name="resources">
    <vt:lpwstr/>
  </property>
  <property fmtid="{D5CDD505-2E9C-101B-9397-08002B2CF9AE}" pid="15" name="subtitle">
    <vt:lpwstr>Designing studies</vt:lpwstr>
  </property>
  <property fmtid="{D5CDD505-2E9C-101B-9397-08002B2CF9AE}" pid="16" name="toc-title">
    <vt:lpwstr>Table of contents</vt:lpwstr>
  </property>
  <property fmtid="{D5CDD505-2E9C-101B-9397-08002B2CF9AE}" pid="17" name="week">
    <vt:lpwstr>5</vt:lpwstr>
  </property>
</Properties>
</file>