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Type I and Type II error, and the decision table</a:t>
            </a:r>
          </a:p>
          <a:p>
            <a:pPr lvl="0"/>
            <a:r>
              <a:rPr b="1"/>
              <a:t>Power</a:t>
            </a:r>
            <a:r>
              <a:rPr/>
              <a:t> — the chance of detecting an effect that is really there</a:t>
            </a:r>
          </a:p>
          <a:p>
            <a:pPr lvl="0"/>
            <a:r>
              <a:rPr i="1"/>
              <a:t>A priori</a:t>
            </a:r>
            <a:r>
              <a:rPr/>
              <a:t> power to plan a study, retrospective power to plan the </a:t>
            </a:r>
            <a:r>
              <a:rPr i="1"/>
              <a:t>next</a:t>
            </a:r>
            <a:r>
              <a:rPr/>
              <a:t> one</a:t>
            </a:r>
          </a:p>
          <a:p>
            <a:pPr lvl="0"/>
            <a:r>
              <a:rPr/>
              <a:t>Pairing our four trees took the study from needing 88 trees to needing 7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Power is a property of a </a:t>
            </a:r>
            <a:r>
              <a:rPr sz="2000" b="1"/>
              <a:t>design</a:t>
            </a:r>
            <a:r>
              <a:rPr sz="2000"/>
              <a:t>, not of a test. Last time we measured it. Today we build the thing being measured — and we do it before any data exist.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idea organizes the whole lecture:</a:t>
            </a:r>
          </a:p>
          <a:p>
            <a:pPr lvl="0" indent="0" marL="1270000">
              <a:buNone/>
            </a:pPr>
            <a:r>
              <a:rPr sz="2000"/>
              <a:t>A design has exactly </a:t>
            </a:r>
            <a:r>
              <a:rPr sz="2000" b="1"/>
              <a:t>two jobs</a:t>
            </a:r>
            <a:r>
              <a:rPr sz="2000"/>
              <a:t> — get rid of </a:t>
            </a:r>
            <a:r>
              <a:rPr sz="2000" b="1"/>
              <a:t>bias</a:t>
            </a:r>
            <a:r>
              <a:rPr sz="2000"/>
              <a:t>, and shrink </a:t>
            </a:r>
            <a:r>
              <a:rPr sz="2000" b="1"/>
              <a:t>sampling error</a:t>
            </a:r>
            <a:r>
              <a:rPr sz="2000"/>
              <a:t>. Every technique today does one or the other.</a:t>
            </a:r>
          </a:p>
          <a:p>
            <a:pPr lvl="0"/>
            <a:r>
              <a:rPr b="1"/>
              <a:t>Bias</a:t>
            </a:r>
            <a:r>
              <a:rPr/>
              <a:t> → controls, randomization, blinding</a:t>
            </a:r>
          </a:p>
          <a:p>
            <a:pPr lvl="0"/>
            <a:r>
              <a:rPr b="1"/>
              <a:t>Sampling error</a:t>
            </a:r>
            <a:r>
              <a:rPr/>
              <a:t> → replication, balance, blocking</a:t>
            </a:r>
          </a:p>
          <a:p>
            <a:pPr lvl="0"/>
            <a:r>
              <a:rPr/>
              <a:t>Then: sampling layouts in the field, and which analysis each design leads to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Whitlock &amp; Schluter, Ch. 14 — Designing Experiments (§14.4 is bias, §14.5 is sampling error) and Ch. 1 — Statistics and Samples. Gotelli &amp; Ellison, Ch. 6 — Designing Successful Field Studies, and Ch. 7 — A Bestiary of Experimental and Sampling Designs.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Bias and Sampling Error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 Ways an Estimate Goes Wrong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study produces an estimate. It can miss the truth two different ways:</a:t>
            </a:r>
          </a:p>
          <a:p>
            <a:pPr lvl="0"/>
            <a:r>
              <a:rPr b="1"/>
              <a:t>Bias</a:t>
            </a:r>
            <a:r>
              <a:rPr/>
              <a:t> — your estimate is centred on the </a:t>
            </a:r>
            <a:r>
              <a:rPr i="1"/>
              <a:t>wrong value</a:t>
            </a:r>
            <a:r>
              <a:rPr/>
              <a:t>. Collect more data and you converge, confidently, on the wrong answer.</a:t>
            </a:r>
          </a:p>
          <a:p>
            <a:pPr lvl="0"/>
            <a:r>
              <a:rPr b="1"/>
              <a:t>Sampling error</a:t>
            </a:r>
            <a:r>
              <a:rPr/>
              <a:t> — your estimate is centred on the </a:t>
            </a:r>
            <a:r>
              <a:rPr i="1"/>
              <a:t>right value</a:t>
            </a:r>
            <a:r>
              <a:rPr/>
              <a:t> but bounces around it. Collect more data and it tightens up.</a:t>
            </a:r>
          </a:p>
          <a:p>
            <a:pPr lvl="0" indent="0" marL="0">
              <a:buNone/>
            </a:pPr>
            <a:r>
              <a:rPr b="1"/>
              <a:t>This distinction is the whole lecture</a:t>
            </a:r>
            <a:r>
              <a:rPr/>
              <a:t>, because the two problems have completely different cures: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2954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Gets worse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Cured by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nothing — more data does not help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controls, randomization, blinding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n, high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replication, balance, blocking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this matters more than any test</a:t>
            </a:r>
          </a:p>
          <a:p>
            <a:pPr lvl="0" indent="0" marL="1270000">
              <a:buNone/>
            </a:pPr>
            <a:r>
              <a:rPr sz="2000"/>
              <a:t>A p-value describes sampling error only. </a:t>
            </a:r>
            <a:r>
              <a:rPr sz="2000" b="1"/>
              <a:t>No statistical test can detect bias in your own design.</a:t>
            </a:r>
            <a:r>
              <a:rPr sz="2000"/>
              <a:t> That is why design comes first.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295400"/>
            <a:ext cx="2984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confounder is a bias machine: it moves the estimate off the truth, and it does not care how many samples you take.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From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either job, one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Gotelli &amp; Ellison’s four canonical forms:</a:t>
            </a:r>
          </a:p>
          <a:p>
            <a:pPr lvl="0"/>
            <a:r>
              <a:rPr/>
              <a:t>Spatial or temporal </a:t>
            </a:r>
            <a:r>
              <a:rPr b="1"/>
              <a:t>pattern</a:t>
            </a:r>
            <a:r>
              <a:rPr/>
              <a:t> in Y?</a:t>
            </a:r>
          </a:p>
          <a:p>
            <a:pPr lvl="0"/>
            <a:r>
              <a:rPr b="1"/>
              <a:t>Effect</a:t>
            </a:r>
            <a:r>
              <a:rPr/>
              <a:t> of factor X on Y?</a:t>
            </a:r>
          </a:p>
          <a:p>
            <a:pPr lvl="0"/>
            <a:r>
              <a:rPr/>
              <a:t>Are values of Y </a:t>
            </a:r>
            <a:r>
              <a:rPr b="1"/>
              <a:t>consistent with</a:t>
            </a:r>
            <a:r>
              <a:rPr/>
              <a:t> hypothesis H?</a:t>
            </a:r>
          </a:p>
          <a:p>
            <a:pPr lvl="0"/>
            <a:r>
              <a:rPr/>
              <a:t>What is the best </a:t>
            </a:r>
            <a:r>
              <a:rPr b="1"/>
              <a:t>estimate</a:t>
            </a:r>
            <a:r>
              <a:rPr/>
              <a:t> of parameter θ?</a:t>
            </a:r>
          </a:p>
          <a:p>
            <a:pPr lvl="0" indent="0" marL="0">
              <a:buNone/>
            </a:pPr>
            <a:r>
              <a:rPr/>
              <a:t>Each one implies a different design. “I will go measure some things and see what turns up” implies none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6 — Designing Successful Field Studies.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84300"/>
            <a:ext cx="2781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and the Inference Gradient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Much Causal Weight Can a Design Carry?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question we usually want answered is </a:t>
            </a:r>
            <a:r>
              <a:rPr b="1"/>
              <a:t>what causes Y?</a:t>
            </a:r>
          </a:p>
          <a:p>
            <a:pPr lvl="0"/>
            <a:r>
              <a:rPr/>
              <a:t>Statistics has no test for causality — </a:t>
            </a:r>
            <a:r>
              <a:rPr b="1"/>
              <a:t>the design carries the causal claim</a:t>
            </a:r>
            <a:r>
              <a:rPr/>
              <a:t>, not the analysis</a:t>
            </a:r>
          </a:p>
          <a:p>
            <a:pPr lvl="0"/>
            <a:r>
              <a:rPr/>
              <a:t>Strength of causal inference runs on a gradient, and what moves you up it is </a:t>
            </a:r>
            <a:r>
              <a:rPr b="1"/>
              <a:t>control of confounding</a:t>
            </a:r>
          </a:p>
          <a:p>
            <a:pPr lvl="0" indent="0" marL="0">
              <a:buNone/>
            </a:pPr>
            <a:r>
              <a:rPr/>
              <a:t>From weakest to strongest:</a:t>
            </a:r>
          </a:p>
          <a:p>
            <a:pPr lvl="0" indent="-342900" marL="342900">
              <a:buAutoNum type="arabicPeriod"/>
            </a:pPr>
            <a:r>
              <a:rPr/>
              <a:t>Observational field study</a:t>
            </a:r>
          </a:p>
          <a:p>
            <a:pPr lvl="0" indent="-342900" marL="342900">
              <a:buAutoNum type="arabicPeriod"/>
            </a:pPr>
            <a:r>
              <a:rPr/>
              <a:t>Field study with measured covariates</a:t>
            </a:r>
          </a:p>
          <a:p>
            <a:pPr lvl="0" indent="-342900" marL="342900">
              <a:buAutoNum type="arabicPeriod"/>
            </a:pPr>
            <a:r>
              <a:rPr/>
              <a:t>Randomized, controlled experiment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same regression, three different claims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lm(y ~ x)</a:t>
            </a:r>
            <a:r>
              <a:rPr sz="2000"/>
              <a:t> returns the identical output at all three levels. What changes is what you are </a:t>
            </a:r>
            <a:r>
              <a:rPr sz="2000" i="1"/>
              <a:t>entitled to say</a:t>
            </a:r>
            <a:r>
              <a:rPr sz="2000"/>
              <a:t> about it.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 — Spiders and Lizards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density.</a:t>
            </a:r>
          </a:p>
          <a:p>
            <a:pPr lvl="0" indent="0" marL="0">
              <a:buNone/>
            </a:pPr>
            <a:r>
              <a:rPr/>
              <a:t>Ask, in order:</a:t>
            </a:r>
          </a:p>
          <a:p>
            <a:pPr lvl="0"/>
            <a:r>
              <a:rPr/>
              <a:t>What </a:t>
            </a:r>
            <a:r>
              <a:rPr b="1"/>
              <a:t>type</a:t>
            </a:r>
            <a:r>
              <a:rPr/>
              <a:t> of study could test this?</a:t>
            </a:r>
          </a:p>
          <a:p>
            <a:pPr lvl="0"/>
            <a:r>
              <a:rPr/>
              <a:t>What could produce a lizard–spider correlation with </a:t>
            </a:r>
            <a:r>
              <a:rPr b="1"/>
              <a:t>no causal link at all</a:t>
            </a:r>
            <a:r>
              <a:rPr/>
              <a:t>?</a:t>
            </a:r>
          </a:p>
          <a:p>
            <a:pPr lvl="0"/>
            <a:r>
              <a:rPr/>
              <a:t>What would you have to </a:t>
            </a:r>
            <a:r>
              <a:rPr b="1"/>
              <a:t>measure</a:t>
            </a:r>
            <a:r>
              <a:rPr/>
              <a:t> to rule that out? What would you have to </a:t>
            </a:r>
            <a:r>
              <a:rPr b="1"/>
              <a:t>manipulate</a:t>
            </a:r>
            <a:r>
              <a:rPr/>
              <a:t>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we are going</a:t>
            </a:r>
          </a:p>
          <a:p>
            <a:pPr lvl="0" indent="0" marL="1270000">
              <a:buNone/>
            </a:pPr>
            <a:r>
              <a:rPr sz="2000"/>
              <a:t>We will answer this twice today — once as a natural experiment, once as a manipulative one — and the design, not the statistics, is what differs.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and 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experiments at all — you use </a:t>
            </a:r>
            <a:r>
              <a:rPr b="1"/>
              <a:t>natural variation</a:t>
            </a:r>
            <a:r>
              <a:rPr/>
              <a:t> in the predictor. Survey plots across an existing gradient of lizard density.</a:t>
            </a:r>
          </a:p>
          <a:p>
            <a:pPr lvl="0" indent="0" marL="0">
              <a:buNone/>
            </a:pPr>
            <a:r>
              <a:rPr b="1"/>
              <a:t>What you gain:</a:t>
            </a:r>
            <a:r>
              <a:rPr/>
              <a:t> real scale, real systems, long time spans, questions you could never manipulate.</a:t>
            </a:r>
          </a:p>
          <a:p>
            <a:pPr lvl="0" indent="0" marL="0">
              <a:buNone/>
            </a:pPr>
            <a:r>
              <a:rPr b="1"/>
              <a:t>What you give up:</a:t>
            </a:r>
          </a:p>
          <a:p>
            <a:pPr lvl="0"/>
            <a:r>
              <a:rPr/>
              <a:t>Direction of causation is not identified — lizards may eat spiders, or spiders may feed lizards</a:t>
            </a:r>
          </a:p>
          <a:p>
            <a:pPr lvl="0"/>
            <a:r>
              <a:rPr/>
              <a:t>Uncontrolled variables ride along with the predictor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§14.7 — “What if you can’t do experiments?” — is exactly this problem, and covers </a:t>
            </a:r>
            <a:r>
              <a:rPr sz="2000" b="1"/>
              <a:t>matching</a:t>
            </a:r>
            <a:r>
              <a:rPr sz="2000"/>
              <a:t> and </a:t>
            </a:r>
            <a:r>
              <a:rPr sz="2000" b="1"/>
              <a:t>adjusting for covariates</a:t>
            </a:r>
            <a:r>
              <a:rPr sz="2000"/>
              <a:t> as the two partial fixes.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a Natural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cannot randomize, so you attack confounding directly:</a:t>
            </a:r>
          </a:p>
          <a:p>
            <a:pPr lvl="0"/>
            <a:r>
              <a:rPr b="1"/>
              <a:t>Reduce</a:t>
            </a:r>
            <a:r>
              <a:rPr/>
              <a:t> it — choose plots that are alike in everything except lizard density (this is </a:t>
            </a:r>
            <a:r>
              <a:rPr b="1"/>
              <a:t>matching</a:t>
            </a:r>
            <a:r>
              <a:rPr/>
              <a:t>)</a:t>
            </a:r>
          </a:p>
          <a:p>
            <a:pPr lvl="0"/>
            <a:r>
              <a:rPr b="1"/>
              <a:t>Adjust</a:t>
            </a:r>
            <a:r>
              <a:rPr/>
              <a:t> for it — measure the covariates and put them in the model</a:t>
            </a:r>
          </a:p>
          <a:p>
            <a:pPr lvl="0"/>
            <a:r>
              <a:rPr b="1"/>
              <a:t>Name</a:t>
            </a:r>
            <a:r>
              <a:rPr/>
              <a:t> it — you cannot adjust for a confounder you never wrote down</a:t>
            </a:r>
          </a:p>
          <a:p>
            <a:pPr lvl="0" indent="0" marL="0">
              <a:buNone/>
            </a:pPr>
            <a:r>
              <a:rPr/>
              <a:t>Know which one you have:</a:t>
            </a:r>
          </a:p>
          <a:p>
            <a:pPr lvl="0"/>
            <a:r>
              <a:rPr/>
              <a:t>A </a:t>
            </a:r>
            <a:r>
              <a:rPr b="1"/>
              <a:t>confounder</a:t>
            </a:r>
            <a:r>
              <a:rPr/>
              <a:t> drives both X and Y — you must adjust for it</a:t>
            </a:r>
          </a:p>
          <a:p>
            <a:pPr lvl="0"/>
            <a:r>
              <a:rPr/>
              <a:t>A </a:t>
            </a:r>
            <a:r>
              <a:rPr b="1"/>
              <a:t>mediator</a:t>
            </a:r>
            <a:r>
              <a:rPr/>
              <a:t> sits on the causal path X → M → Y — adjusting for it </a:t>
            </a:r>
            <a:r>
              <a:rPr i="1"/>
              <a:t>removes the effect you are trying to measure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Same variable, opposite advice</a:t>
            </a:r>
          </a:p>
          <a:p>
            <a:pPr lvl="0" indent="0" marL="1270000">
              <a:buNone/>
            </a:pPr>
            <a:r>
              <a:rPr sz="2000"/>
              <a:t>Moisture as a confounder: control for it. Moisture as a mediator: controlling for it destroys your result. Only the biology tells you which — no diagnostic will.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set the predictor yourself and measure the response. Randomized and controlled, this is the strongest design available.</a:t>
            </a:r>
          </a:p>
          <a:p>
            <a:pPr lvl="0" indent="0" marL="0">
              <a:buNone/>
            </a:pPr>
            <a:r>
              <a:rPr b="1"/>
              <a:t>What it costs you</a:t>
            </a:r>
            <a:r>
              <a:rPr/>
              <a:t> — Gotelli &amp; Ellison’s trade-offs:</a:t>
            </a:r>
          </a:p>
          <a:p>
            <a:pPr lvl="0"/>
            <a:r>
              <a:rPr b="1"/>
              <a:t>Scale for replication</a:t>
            </a:r>
            <a:r>
              <a:rPr/>
              <a:t> — replicable plots are small plots</a:t>
            </a:r>
          </a:p>
          <a:p>
            <a:pPr lvl="0"/>
            <a:r>
              <a:rPr b="1"/>
              <a:t>Organism for tractability</a:t>
            </a:r>
            <a:r>
              <a:rPr/>
              <a:t> — small, short-lived species</a:t>
            </a:r>
          </a:p>
          <a:p>
            <a:pPr lvl="0"/>
            <a:r>
              <a:rPr b="1"/>
              <a:t>Treatments for replication</a:t>
            </a:r>
            <a:r>
              <a:rPr/>
              <a:t> — every extra treatment level costs replicates</a:t>
            </a:r>
          </a:p>
          <a:p>
            <a:pPr lvl="0"/>
            <a:r>
              <a:rPr/>
              <a:t>Confounding does </a:t>
            </a:r>
            <a:r>
              <a:rPr b="1"/>
              <a:t>not</a:t>
            </a:r>
            <a:r>
              <a:rPr/>
              <a:t> disappear; you now own it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Press, Pulse, Snapshot, Trajectory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Gotelli &amp; Ellison’s two axes for manipulations — and they answer different questions:</a:t>
            </a:r>
          </a:p>
          <a:p>
            <a:pPr lvl="0"/>
            <a:r>
              <a:rPr b="1"/>
              <a:t>Pulse</a:t>
            </a:r>
            <a:r>
              <a:rPr/>
              <a:t> — apply the treatment once, then walk away. Measures </a:t>
            </a:r>
            <a:r>
              <a:rPr b="1"/>
              <a:t>recovery</a:t>
            </a:r>
            <a:r>
              <a:rPr/>
              <a:t>: how fast does the system bounce back?</a:t>
            </a:r>
          </a:p>
          <a:p>
            <a:pPr lvl="0"/>
            <a:r>
              <a:rPr b="1"/>
              <a:t>Press</a:t>
            </a:r>
            <a:r>
              <a:rPr/>
              <a:t> — maintain the treatment continuously. Measures the </a:t>
            </a:r>
            <a:r>
              <a:rPr b="1"/>
              <a:t>new equilibrium</a:t>
            </a:r>
            <a:r>
              <a:rPr/>
              <a:t> the system settles into.</a:t>
            </a:r>
          </a:p>
          <a:p>
            <a:pPr lvl="0" indent="0" marL="0">
              <a:buNone/>
            </a:pPr>
            <a:r>
              <a:rPr/>
              <a:t>And for sampling the response:</a:t>
            </a:r>
          </a:p>
          <a:p>
            <a:pPr lvl="0"/>
            <a:r>
              <a:rPr b="1"/>
              <a:t>Snapshot</a:t>
            </a:r>
            <a:r>
              <a:rPr/>
              <a:t> — measure once at the end. Cheap, and blind to everything in between.</a:t>
            </a:r>
          </a:p>
          <a:p>
            <a:pPr lvl="0"/>
            <a:r>
              <a:rPr b="1"/>
              <a:t>Trajectory</a:t>
            </a:r>
            <a:r>
              <a:rPr/>
              <a:t> — measure repeatedly through time. Expensive, and the only way to see dynamics.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 snapshot can hide a complete reversal</a:t>
            </a:r>
          </a:p>
          <a:p>
            <a:pPr lvl="0" indent="0" marL="1270000">
              <a:buNone/>
            </a:pPr>
            <a:r>
              <a:rPr sz="2000"/>
              <a:t>Many treatment effects change sign as a system responds. Measure once, at one time, and you get whichever answer that moment happened to hold.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Mesocosms let you press a treatment </a:t>
            </a:r>
            <a:r>
              <a:rPr i="1"/>
              <a:t>and</a:t>
            </a:r>
            <a:r>
              <a:rPr/>
              <a:t> follow a trajectory — at the cost of scale.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Job One: Getting Rid of Bias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— and Why One Is Usually Not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control is a unit treated </a:t>
            </a:r>
            <a:r>
              <a:rPr b="1"/>
              <a:t>exactly</a:t>
            </a:r>
            <a:r>
              <a:rPr/>
              <a:t> like the manipulated units, except for the one thing under investigation.</a:t>
            </a:r>
          </a:p>
          <a:p>
            <a:pPr lvl="0" indent="0" marL="0">
              <a:buNone/>
            </a:pPr>
            <a:r>
              <a:rPr/>
              <a:t>That word </a:t>
            </a:r>
            <a:r>
              <a:rPr i="1"/>
              <a:t>exactly</a:t>
            </a:r>
            <a:r>
              <a:rPr/>
              <a:t> is where designs fail. Your manipulation almost always does something besides the thing you care about:</a:t>
            </a:r>
          </a:p>
          <a:p>
            <a:pPr lvl="0"/>
            <a:r>
              <a:rPr b="1"/>
              <a:t>Toxicology:</a:t>
            </a:r>
            <a:r>
              <a:rPr/>
              <a:t> controls get injected too — same needle, same handling, no toxin</a:t>
            </a:r>
          </a:p>
          <a:p>
            <a:pPr lvl="0"/>
            <a:r>
              <a:rPr b="1"/>
              <a:t>Predator exclosures:</a:t>
            </a:r>
            <a:r>
              <a:rPr/>
              <a:t> a cage changes flow, light and sediment. You need </a:t>
            </a:r>
            <a:r>
              <a:rPr i="1"/>
              <a:t>two</a:t>
            </a:r>
            <a:r>
              <a:rPr/>
              <a:t> controls — an open plot </a:t>
            </a:r>
            <a:r>
              <a:rPr b="1"/>
              <a:t>and</a:t>
            </a:r>
            <a:r>
              <a:rPr/>
              <a:t> a cage-with-holes</a:t>
            </a:r>
          </a:p>
          <a:p>
            <a:pPr lvl="0"/>
            <a:r>
              <a:rPr b="1"/>
              <a:t>Anything you attach, bury, or visit</a:t>
            </a:r>
            <a:r>
              <a:rPr/>
              <a:t> does something merely by being attached, buried or visited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Vocabulary</a:t>
            </a:r>
          </a:p>
          <a:p>
            <a:pPr lvl="0" indent="0" marL="1270000">
              <a:buNone/>
            </a:pPr>
            <a:r>
              <a:rPr sz="2000"/>
              <a:t>The second kind is a </a:t>
            </a:r>
            <a:r>
              <a:rPr sz="2000" b="1"/>
              <a:t>procedural</a:t>
            </a:r>
            <a:r>
              <a:rPr sz="2000"/>
              <a:t> or </a:t>
            </a:r>
            <a:r>
              <a:rPr sz="2000" b="1"/>
              <a:t>sham</a:t>
            </a:r>
            <a:r>
              <a:rPr sz="2000"/>
              <a:t> control. Next slide: real data where forgetting it would have produced a completely wrong paper.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Sham Control Earns Its Keep — Sponges on Mangrove Roots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Ellison, Farnsworth &amp; Twilley (1996) asked whether epibiont sponges promote mangrove root growth. Four treatments, </a:t>
            </a:r>
            <a:r>
              <a:rPr b="1"/>
              <a:t>14 roots each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sponge_df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"data/sponge_root_growth.csv"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sponge_df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(growth_mm_d))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treatment     n  mean    sd    se ci_lower ci_upper
  &lt;chr&gt;     &lt;int&gt; &lt;dbl&gt; &lt;dbl&gt; &lt;dbl&gt;    &lt;dbl&gt;    &lt;dbl&gt;
1 Control      14 0.329 0.432 0.115   0.0801    0.578
2 Foam         14 0.712 0.393 0.105   0.485     0.939
3 Haliclona    14 0.765 0.348 0.093   0.564     0.966
4 Tedania      14 0.914 0.442 0.118   0.659     1.17 </a:t>
            </a:r>
          </a:p>
          <a:p>
            <a:pPr lvl="0"/>
            <a:r>
              <a:rPr>
                <a:latin typeface="Courier"/>
              </a:rPr>
              <a:t>Control</a:t>
            </a:r>
            <a:r>
              <a:rPr/>
              <a:t> — bare root</a:t>
            </a:r>
          </a:p>
          <a:p>
            <a:pPr lvl="0"/>
            <a:r>
              <a:rPr>
                <a:latin typeface="Courier"/>
              </a:rPr>
              <a:t>Foam</a:t>
            </a:r>
            <a:r>
              <a:rPr/>
              <a:t> — inert foam, the </a:t>
            </a:r>
            <a:r>
              <a:rPr b="1"/>
              <a:t>sham control</a:t>
            </a:r>
          </a:p>
          <a:p>
            <a:pPr lvl="0"/>
            <a:r>
              <a:rPr>
                <a:latin typeface="Courier"/>
              </a:rPr>
              <a:t>Haliclona</a:t>
            </a:r>
            <a:r>
              <a:rPr/>
              <a:t>, </a:t>
            </a:r>
            <a:r>
              <a:rPr>
                <a:latin typeface="Courier"/>
              </a:rPr>
              <a:t>Tedania</a:t>
            </a:r>
            <a:r>
              <a:rPr/>
              <a:t> — the two sponges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Read the means before the tests</a:t>
            </a:r>
          </a:p>
          <a:p>
            <a:pPr lvl="0" indent="0" marL="1270000">
              <a:buNone/>
            </a:pPr>
            <a:r>
              <a:rPr sz="2000"/>
              <a:t>Bare root grows slowest. Foam — which is not alive — grows nearly as fast as the sponges. That ordering is the whole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Sponge Result, in Two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Is there an artifact of having ANYTHING attached?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(growth_mm_d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(sponge_df,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treatment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"Foam"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growth_mm_d by treatment
t = -2.4537, df = 25.775, p-value = 0.02122
alternative hypothesis: true difference in means between group Control and group Foam is not equal to 0
95 percent confidence interval:
 -0.70372014 -0.06199415
sample estimates:
mean in group Control    mean in group Foam 
            0.3292857             0.7121429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 the living sponges beat the inert foam?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sponge_df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(treatment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kind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"Foam"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"sponge"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(growth_mm_d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kind,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.)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growth_mm_d by kind
t = -0.98461, df = 26.362, p-value = 0.3338
alternative hypothesis: true difference in means between group sham and group sponge is not equal to 0
95 percent confidence interval:
 -0.3923957  0.1381100
sample estimates:
  mean in group sham mean in group sponge 
           0.7121429            0.8392857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paper you would have written without the foam</a:t>
            </a:r>
          </a:p>
          <a:p>
            <a:pPr lvl="0"/>
            <a:r>
              <a:rPr sz="2000">
                <a:latin typeface="Courier"/>
              </a:rPr>
              <a:t>Control</a:t>
            </a:r>
            <a:r>
              <a:rPr sz="2000"/>
              <a:t> vs </a:t>
            </a:r>
            <a:r>
              <a:rPr sz="2000">
                <a:latin typeface="Courier"/>
              </a:rPr>
              <a:t>Foam</a:t>
            </a:r>
            <a:r>
              <a:rPr sz="2000"/>
              <a:t>: </a:t>
            </a:r>
            <a:r>
              <a:rPr sz="2000" b="1"/>
              <a:t>p = 0.021</a:t>
            </a:r>
            <a:r>
              <a:rPr sz="2000"/>
              <a:t> — the </a:t>
            </a:r>
            <a:r>
              <a:rPr sz="2000" i="1"/>
              <a:t>inert</a:t>
            </a:r>
            <a:r>
              <a:rPr sz="2000"/>
              <a:t> object significantly increases root growth</a:t>
            </a:r>
          </a:p>
          <a:p>
            <a:pPr lvl="0"/>
            <a:r>
              <a:rPr sz="2000">
                <a:latin typeface="Courier"/>
              </a:rPr>
              <a:t>Foam</a:t>
            </a:r>
            <a:r>
              <a:rPr sz="2000"/>
              <a:t> vs sponges: </a:t>
            </a:r>
            <a:r>
              <a:rPr sz="2000" b="1"/>
              <a:t>p = 0.33</a:t>
            </a:r>
            <a:r>
              <a:rPr sz="2000"/>
              <a:t> — the living sponges add nothing detectable</a:t>
            </a:r>
          </a:p>
          <a:p>
            <a:pPr lvl="0" indent="0" marL="1270000">
              <a:buNone/>
            </a:pPr>
            <a:r>
              <a:rPr sz="2000"/>
              <a:t>With only a bare control you would have reported “sponges promote root growth,” with a real p-value and a clean figure. The effect is mostly </a:t>
            </a:r>
            <a:r>
              <a:rPr sz="2000" b="1"/>
              <a:t>having an object attached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The sham control is what stands between a correct result and a confident wrong one.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is how you deconfound the variables you never thought of. It works at </a:t>
            </a:r>
            <a:r>
              <a:rPr b="1"/>
              <a:t>two</a:t>
            </a:r>
            <a:r>
              <a:rPr/>
              <a:t> levels, and both matter:</a:t>
            </a:r>
          </a:p>
          <a:p>
            <a:pPr lvl="0" indent="-342900" marL="342900">
              <a:buAutoNum type="arabicPeriod"/>
            </a:pPr>
            <a:r>
              <a:rPr b="1"/>
              <a:t>Selection</a:t>
            </a:r>
            <a:r>
              <a:rPr/>
              <a:t> — which units enter the study. Makes the sample represent the population.</a:t>
            </a:r>
          </a:p>
          <a:p>
            <a:pPr lvl="0" indent="-342900" marL="342900">
              <a:buAutoNum type="arabicPeriod"/>
            </a:pPr>
            <a:r>
              <a:rPr b="1"/>
              <a:t>Assignment</a:t>
            </a:r>
            <a:r>
              <a:rPr/>
              <a:t> — which unit gets which treatment. Makes the groups exchangeable </a:t>
            </a:r>
            <a:r>
              <a:rPr i="1"/>
              <a:t>before</a:t>
            </a:r>
            <a:r>
              <a:rPr/>
              <a:t> treatment.</a:t>
            </a:r>
          </a:p>
          <a:p>
            <a:pPr lvl="0" indent="0" marL="0">
              <a:buNone/>
            </a:pPr>
            <a:r>
              <a:rPr/>
              <a:t>Haphazard is not random. “Whichever tree I reached first” correlates with trail access, which correlates with light, soil and disturbance.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Selection: 10 trees from the 100 in the stand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Assignment: 5 to treatment, the rest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tree =</a:t>
            </a:r>
            <a:r>
              <a:rPr>
                <a:solidFill>
                  <a:srgbClr val="003B4F"/>
                </a:solidFill>
                <a:latin typeface="Courier"/>
              </a:rPr>
              <a:t> selected,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(tree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treated,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(group)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 tree group    
   &lt;int&gt; &lt;chr&gt;    
 1    49 control  
 2   100 control  
 3    47 control  
 4    71 control  
 5    89 control  
 6    65 treatment
 7    25 treatment
 8    74 treatment
 9    18 treatment
10    24 treatment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set.seed()</a:t>
            </a:r>
            <a:r>
              <a:rPr sz="2000" b="1"/>
              <a:t> makes it reproducible, not less random</a:t>
            </a:r>
          </a:p>
          <a:p>
            <a:pPr lvl="0" indent="0" marL="1270000">
              <a:buNone/>
            </a:pPr>
            <a:r>
              <a:rPr sz="2000"/>
              <a:t>Record the seed and anyone can reconstruct exactly which trees you assigned where.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Blinding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measurer’s expectations leak into the measurements. This is a </a:t>
            </a:r>
            <a:r>
              <a:rPr b="1"/>
              <a:t>bias</a:t>
            </a:r>
            <a:r>
              <a:rPr/>
              <a:t>, so no amount of data fixes it.</a:t>
            </a:r>
          </a:p>
          <a:p>
            <a:pPr lvl="0"/>
            <a:r>
              <a:rPr b="1"/>
              <a:t>Single-blind</a:t>
            </a:r>
            <a:r>
              <a:rPr/>
              <a:t> — the subject does not know the treatment</a:t>
            </a:r>
          </a:p>
          <a:p>
            <a:pPr lvl="0"/>
            <a:r>
              <a:rPr b="1"/>
              <a:t>Double-blind</a:t>
            </a:r>
            <a:r>
              <a:rPr/>
              <a:t> — the person </a:t>
            </a:r>
            <a:r>
              <a:rPr i="1"/>
              <a:t>measuring</a:t>
            </a:r>
            <a:r>
              <a:rPr/>
              <a:t> does not know either</a:t>
            </a:r>
          </a:p>
          <a:p>
            <a:pPr lvl="0"/>
            <a:r>
              <a:rPr/>
              <a:t>A </a:t>
            </a:r>
            <a:r>
              <a:rPr b="1"/>
              <a:t>placebo</a:t>
            </a:r>
            <a:r>
              <a:rPr/>
              <a:t> is what makes subject-blinding possible at all</a:t>
            </a:r>
          </a:p>
          <a:p>
            <a:pPr lvl="0" indent="0" marL="0">
              <a:buNone/>
            </a:pPr>
            <a:r>
              <a:rPr/>
              <a:t>W&amp;S spend most of Ch. 14’s opening on this because medicine learned it the hard way. Ecology mostly has not.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lands on our own study</a:t>
            </a:r>
          </a:p>
          <a:p>
            <a:pPr lvl="0" indent="0" marL="1270000">
              <a:buNone/>
            </a:pPr>
            <a:r>
              <a:rPr sz="2000"/>
              <a:t>You measured needles </a:t>
            </a:r>
            <a:r>
              <a:rPr sz="2000" b="1"/>
              <a:t>knowing</a:t>
            </a:r>
            <a:r>
              <a:rPr sz="2000"/>
              <a:t> which side of the tree they came from, and knowing the hypothesis. Nobody cheated. But “is this needle bent or straight, include it or not” is a judgement call, and judgement calls drift toward the expected answer.</a:t>
            </a:r>
          </a:p>
          <a:p>
            <a:pPr lvl="0" indent="0" marL="1270000">
              <a:buNone/>
            </a:pPr>
            <a:r>
              <a:rPr sz="2000"/>
              <a:t>The fix is cheap: someone relabels the envelopes, you measure blind to </a:t>
            </a:r>
            <a:r>
              <a:rPr sz="2000">
                <a:latin typeface="Courier"/>
              </a:rPr>
              <a:t>side</a:t>
            </a:r>
            <a:r>
              <a:rPr sz="2000"/>
              <a:t>.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Expectation is a powerful thing.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Job Two: Shrinking Sampling Error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— and at What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does two jobs: it shrinks the standard error, and it is the </a:t>
            </a:r>
            <a:r>
              <a:rPr b="1"/>
              <a:t>only</a:t>
            </a:r>
            <a:r>
              <a:rPr/>
              <a:t> way to estimate variability at all.</a:t>
            </a:r>
          </a:p>
          <a:p>
            <a:pPr lvl="0" indent="0" marL="0">
              <a:buNone/>
            </a:pPr>
            <a:r>
              <a:rPr/>
              <a:t>The hard part is never </a:t>
            </a:r>
            <a:r>
              <a:rPr i="1"/>
              <a:t>how many</a:t>
            </a:r>
            <a:r>
              <a:rPr/>
              <a:t>. It is </a:t>
            </a:r>
            <a:r>
              <a:rPr b="1"/>
              <a:t>of what</a:t>
            </a:r>
            <a:r>
              <a:rPr/>
              <a:t>.</a:t>
            </a:r>
          </a:p>
          <a:p>
            <a:pPr lvl="0"/>
            <a:r>
              <a:rPr b="1"/>
              <a:t>Fire and soil invertebrates:</a:t>
            </a:r>
            <a:r>
              <a:rPr/>
              <a:t> samples from burnt and unburnt parts of </a:t>
            </a:r>
            <a:r>
              <a:rPr i="1"/>
              <a:t>one</a:t>
            </a:r>
            <a:r>
              <a:rPr/>
              <a:t> forest. What population does that describe? One forest.</a:t>
            </a:r>
          </a:p>
          <a:p>
            <a:pPr lvl="0"/>
            <a:r>
              <a:rPr b="1"/>
              <a:t>Copper and barnacles:</a:t>
            </a:r>
            <a:r>
              <a:rPr/>
              <a:t> 2 aquaria, 5 plates each. </a:t>
            </a:r>
            <a:r>
              <a:rPr>
                <a:latin typeface="Courier"/>
              </a:rPr>
              <a:t>n = 2</a:t>
            </a:r>
            <a:r>
              <a:rPr/>
              <a:t>, not 10.</a:t>
            </a:r>
          </a:p>
          <a:p>
            <a:pPr lvl="0"/>
            <a:r>
              <a:rPr b="1"/>
              <a:t>Sewage and water quality:</a:t>
            </a:r>
            <a:r>
              <a:rPr/>
              <a:t> 10 samples above the outfall, 10 below. </a:t>
            </a:r>
            <a:r>
              <a:rPr>
                <a:latin typeface="Courier"/>
              </a:rPr>
              <a:t>n = 1</a:t>
            </a:r>
            <a:r>
              <a:rPr/>
              <a:t> above and </a:t>
            </a:r>
            <a:r>
              <a:rPr>
                <a:latin typeface="Courier"/>
              </a:rPr>
              <a:t>n = 1</a:t>
            </a:r>
            <a:r>
              <a:rPr/>
              <a:t> below — one location each.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rule</a:t>
            </a:r>
          </a:p>
          <a:p>
            <a:pPr lvl="0" indent="0" marL="1270000">
              <a:buNone/>
            </a:pPr>
            <a:r>
              <a:rPr sz="2000"/>
              <a:t>Replicates must vary at the scale your </a:t>
            </a:r>
            <a:r>
              <a:rPr sz="2000" b="1"/>
              <a:t>hypothesis</a:t>
            </a:r>
            <a:r>
              <a:rPr sz="2000"/>
              <a:t> applies to. Anything finer is </a:t>
            </a:r>
            <a:r>
              <a:rPr sz="2000" b="1"/>
              <a:t>pseudoreplication</a:t>
            </a:r>
            <a:r>
              <a:rPr sz="2000"/>
              <a:t> (Hurlbert 1984), and it shrinks your SE without adding information — a bias dressed as precision.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Already Fixed This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own pine data has 64 rows and </a:t>
            </a:r>
            <a:r>
              <a:rPr b="1"/>
              <a:t>8 trees’ worth of sides</a:t>
            </a:r>
            <a:r>
              <a:rPr/>
              <a:t> — 4 trees, two sides each.</a:t>
            </a:r>
          </a:p>
          <a:p>
            <a:pPr lvl="0" indent="0" marL="0">
              <a:buNone/>
            </a:pPr>
            <a:r>
              <a:rPr/>
              <a:t>Every analysis we have run since Week 4 starts by averaging the 8 needles per side away: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0">
              <a:buNone/>
            </a:pPr>
            <a:r>
              <a:rPr/>
              <a:t>That </a:t>
            </a:r>
            <a:r>
              <a:rPr>
                <a:latin typeface="Courier"/>
              </a:rPr>
              <a:t>group_by() %&gt;% summarise()</a:t>
            </a:r>
            <a:r>
              <a:rPr/>
              <a:t> is not data cleaning. It is the line where we choose the </a:t>
            </a:r>
            <a:r>
              <a:rPr b="1"/>
              <a:t>tree</a:t>
            </a:r>
            <a:r>
              <a:rPr/>
              <a:t> as the experimental unit, because the tree is what the hypothesis is about.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with a fish, a labelled shelter, labelled prey items, and a labelled internal barrier — a single tank holding many measurable items, where the tank and not the item is the experimental unit.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tank, many measurements, </a:t>
            </a:r>
            <a:r>
              <a:rPr>
                <a:latin typeface="Courier"/>
              </a:rPr>
              <a:t>n = 1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fixed total effort, </a:t>
            </a:r>
            <a:r>
              <a:rPr b="1"/>
              <a:t>equal group sizes give the smallest standard error</a:t>
            </a:r>
            <a:r>
              <a:rPr/>
              <a:t> on the difference.</a:t>
            </a:r>
          </a:p>
          <a:p>
            <a:pPr lvl="0"/>
            <a:r>
              <a:rPr/>
              <a:t>10 and 10 beats 15 and 5, using the same 20 units</a:t>
            </a:r>
          </a:p>
          <a:p>
            <a:pPr lvl="0"/>
            <a:r>
              <a:rPr/>
              <a:t>Balance also makes the tests robust: unequal variances hurt far less when n is equal</a:t>
            </a:r>
          </a:p>
          <a:p>
            <a:pPr lvl="0"/>
            <a:r>
              <a:rPr/>
              <a:t>Unbalanced designs are harder to interpret in ANOVA — sums of squares stop being unique (we will hit this in Week 9)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imbalance is not your fault</a:t>
            </a:r>
          </a:p>
          <a:p>
            <a:pPr lvl="0" indent="0" marL="1270000">
              <a:buNone/>
            </a:pPr>
            <a:r>
              <a:rPr sz="2000"/>
              <a:t>Mortality, lost plots and weather happen. Balance is a design goal, not a moral requirement — but </a:t>
            </a:r>
            <a:r>
              <a:rPr sz="2000" i="1"/>
              <a:t>plan</a:t>
            </a:r>
            <a:r>
              <a:rPr sz="2000"/>
              <a:t> for balance, and report what you actually ended up with.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§14.5 — reducing the influence of sampling error: replication, balance, blocking, and choosing extreme treatment levels.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Extreme treatments</a:t>
            </a:r>
          </a:p>
          <a:p>
            <a:pPr lvl="0" indent="0" marL="1270000">
              <a:buNone/>
            </a:pPr>
            <a:r>
              <a:rPr sz="2000"/>
              <a:t>If you want to detect a dose response with few replicates, spread your doses wide. Four doses clustered near the middle waste your replicates on a range where nothing happens.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Blocking — and What Our Paired Design Really Was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Blocking:</a:t>
            </a:r>
            <a:r>
              <a:rPr/>
              <a:t> group the units into sets that are alike, then randomize treatments </a:t>
            </a:r>
            <a:r>
              <a:rPr i="1"/>
              <a:t>within</a:t>
            </a:r>
            <a:r>
              <a:rPr/>
              <a:t> each set. Variation among blocks is removed from the comparison instead of contaminating it.</a:t>
            </a:r>
          </a:p>
          <a:p>
            <a:pPr lvl="0"/>
            <a:r>
              <a:rPr/>
              <a:t>Chambers differ? Run every temperature in every chamber — </a:t>
            </a:r>
            <a:r>
              <a:rPr b="1"/>
              <a:t>block by chamber</a:t>
            </a:r>
          </a:p>
          <a:p>
            <a:pPr lvl="0"/>
            <a:r>
              <a:rPr/>
              <a:t>Days differ? Run all treatments each day — </a:t>
            </a:r>
            <a:r>
              <a:rPr b="1"/>
              <a:t>block by time</a:t>
            </a:r>
          </a:p>
          <a:p>
            <a:pPr lvl="0"/>
            <a:r>
              <a:rPr/>
              <a:t>Ridiculously variable sites? Put all treatments at each site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A paired design is a block of size two</a:t>
            </a:r>
          </a:p>
          <a:p>
            <a:pPr lvl="0" indent="0" marL="1270000">
              <a:buNone/>
            </a:pPr>
            <a:r>
              <a:rPr sz="2000"/>
              <a:t>Two sides of the </a:t>
            </a:r>
            <a:r>
              <a:rPr sz="2000" i="1"/>
              <a:t>same tree</a:t>
            </a:r>
            <a:r>
              <a:rPr sz="2000"/>
              <a:t> share genotype, soil, age and history. Pairing removes all of it from the comparison. That is why 7 trees do the work of 88.</a:t>
            </a:r>
          </a:p>
          <a:p>
            <a:pPr lvl="0" indent="0" marL="1270000">
              <a:buNone/>
            </a:pPr>
            <a:r>
              <a:rPr sz="2000" b="1"/>
              <a:t>Non-independence you ignore costs you. Non-independence you plan for pays you.</a:t>
            </a:r>
            <a:r>
              <a:rPr sz="2000"/>
              <a:t> Blocking is how you get paid.</a:t>
            </a:r>
          </a:p>
          <a:p>
            <a:pPr lvl="0" indent="0" marL="0">
              <a:buNone/>
            </a:pPr>
            <a:r>
              <a:rPr/>
              <a:t>Blocked designs need blocked </a:t>
            </a:r>
            <a:r>
              <a:rPr i="1"/>
              <a:t>analyses</a:t>
            </a:r>
            <a:r>
              <a:rPr/>
              <a:t> — Week 9 and Week 10.</a:t>
            </a:r>
          </a:p>
        </p:txBody>
      </p:sp>
      <p:pic>
        <p:nvPicPr>
          <p:cNvPr descr="study_design_sampling_lecture_files/figure-pptx/study-design-sampling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 and Autocorrelation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tests assume observations are </a:t>
            </a:r>
            <a:r>
              <a:rPr b="1"/>
              <a:t>independent</a:t>
            </a:r>
            <a:r>
              <a:rPr/>
              <a:t> — knowing one tells you nothing about another.</a:t>
            </a:r>
          </a:p>
          <a:p>
            <a:pPr lvl="0" indent="0" marL="0">
              <a:buNone/>
            </a:pPr>
            <a:r>
              <a:rPr b="1"/>
              <a:t>Autocorrelation</a:t>
            </a:r>
            <a:r>
              <a:rPr/>
              <a:t> is the standard violation: things near each other in space or time resemble each other.</a:t>
            </a:r>
          </a:p>
          <a:p>
            <a:pPr lvl="0" indent="0" marL="1270000">
              <a:buNone/>
            </a:pPr>
            <a:r>
              <a:rPr sz="2000"/>
              <a:t>“Everything is related to everything, but near things are more related than distant things.”</a:t>
            </a:r>
          </a:p>
          <a:p>
            <a:pPr lvl="0"/>
            <a:r>
              <a:rPr/>
              <a:t>Samples 1 m apart on a transect are not two independent samples</a:t>
            </a:r>
          </a:p>
          <a:p>
            <a:pPr lvl="0"/>
            <a:r>
              <a:rPr/>
              <a:t>Measurements on consecutive days are not independent</a:t>
            </a:r>
          </a:p>
          <a:p>
            <a:pPr lvl="0"/>
            <a:r>
              <a:rPr/>
              <a:t>Offspring of one mother are not independent of each other</a:t>
            </a:r>
          </a:p>
          <a:p>
            <a:pPr lvl="0" indent="0" marL="0">
              <a:buNone/>
            </a:pPr>
            <a:r>
              <a:rPr/>
              <a:t>The fix is either design (space samples beyond the correlation range) or model (Week 10 and beyond).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Sampling Layouts in the Field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Simple Random and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</a:t>
            </a:r>
            <a:r>
              <a:rPr/>
              <a:t> — every unit has an equal chance of selection. Number the units, draw with a random number generator.</a:t>
            </a:r>
          </a:p>
          <a:p>
            <a:pPr lvl="0"/>
            <a:r>
              <a:rPr/>
              <a:t>What nearly every test assumes you did</a:t>
            </a:r>
          </a:p>
          <a:p>
            <a:pPr lvl="0"/>
            <a:r>
              <a:rPr/>
              <a:t>Genuinely awkward in the field; </a:t>
            </a:r>
            <a:r>
              <a:rPr i="1"/>
              <a:t>haphazard</a:t>
            </a:r>
            <a:r>
              <a:rPr/>
              <a:t> is the common substitute, and it is not the same thing</a:t>
            </a:r>
          </a:p>
          <a:p>
            <a:pPr lvl="0" indent="0" marL="0">
              <a:buNone/>
            </a:pPr>
            <a:r>
              <a:rPr b="1"/>
              <a:t>Stratified</a:t>
            </a:r>
            <a:r>
              <a:rPr/>
              <a:t> — if the population has distinct strata, sample each one separately, with n proportional to stratum size.</a:t>
            </a:r>
          </a:p>
          <a:p>
            <a:pPr lvl="0"/>
            <a:r>
              <a:rPr b="1"/>
              <a:t>More precise than simple random</a:t>
            </a:r>
            <a:r>
              <a:rPr/>
              <a:t> when strata differ, because within-stratum variance is all that is left</a:t>
            </a:r>
          </a:p>
          <a:p>
            <a:pPr lvl="0"/>
            <a:r>
              <a:rPr/>
              <a:t>Strata must go </a:t>
            </a:r>
            <a:r>
              <a:rPr b="1"/>
              <a:t>into the model</a:t>
            </a:r>
            <a:r>
              <a:rPr/>
              <a:t>, not be ignored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Simple random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Cluster and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</a:t>
            </a:r>
            <a:r>
              <a:rPr/>
              <a:t> — sample subunits nested inside larger units. Used when travel or access makes anything else impossible.</a:t>
            </a:r>
          </a:p>
          <a:p>
            <a:pPr lvl="0"/>
            <a:r>
              <a:rPr/>
              <a:t>Cheap, and </a:t>
            </a:r>
            <a:r>
              <a:rPr b="1"/>
              <a:t>less</a:t>
            </a:r>
            <a:r>
              <a:rPr/>
              <a:t> precise than simple random for the same total n</a:t>
            </a:r>
          </a:p>
          <a:p>
            <a:pPr lvl="0"/>
            <a:r>
              <a:rPr/>
              <a:t>The clusters are your replicates → </a:t>
            </a:r>
            <a:r>
              <a:rPr b="1"/>
              <a:t>nested ANOVA</a:t>
            </a:r>
            <a:r>
              <a:rPr/>
              <a:t> (Week 9) or a mixed model (Week 10)</a:t>
            </a:r>
          </a:p>
          <a:p>
            <a:pPr lvl="0" indent="0" marL="0">
              <a:buNone/>
            </a:pPr>
            <a:r>
              <a:rPr b="1"/>
              <a:t>Systematic</a:t>
            </a:r>
            <a:r>
              <a:rPr/>
              <a:t> — units evenly spaced; the transect is the ecological classic.</a:t>
            </a:r>
          </a:p>
          <a:p>
            <a:pPr lvl="0"/>
            <a:r>
              <a:rPr/>
              <a:t>Ideal for describing change </a:t>
            </a:r>
            <a:r>
              <a:rPr b="1"/>
              <a:t>along a gradient</a:t>
            </a:r>
          </a:p>
          <a:p>
            <a:pPr lvl="0"/>
            <a:r>
              <a:rPr/>
              <a:t>One real risk: your spacing lines up with a periodicity in the system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BACI — When You Cannot Randomize an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Nobody randomizes an oil spill. </a:t>
            </a:r>
            <a:r>
              <a:rPr b="1"/>
              <a:t>Before–After–Control–Impact</a:t>
            </a:r>
            <a:r>
              <a:rPr/>
              <a:t> is the design for impacts you did not choose:</a:t>
            </a:r>
          </a:p>
          <a:p>
            <a:pPr lvl="0"/>
            <a:r>
              <a:rPr/>
              <a:t>Measure </a:t>
            </a:r>
            <a:r>
              <a:rPr b="1"/>
              <a:t>before</a:t>
            </a:r>
            <a:r>
              <a:rPr/>
              <a:t> and </a:t>
            </a:r>
            <a:r>
              <a:rPr b="1"/>
              <a:t>after</a:t>
            </a:r>
            <a:r>
              <a:rPr/>
              <a:t>, at both an </a:t>
            </a:r>
            <a:r>
              <a:rPr b="1"/>
              <a:t>impact</a:t>
            </a:r>
            <a:r>
              <a:rPr/>
              <a:t> site and a </a:t>
            </a:r>
            <a:r>
              <a:rPr b="1"/>
              <a:t>control</a:t>
            </a:r>
            <a:r>
              <a:rPr/>
              <a:t> site</a:t>
            </a:r>
          </a:p>
          <a:p>
            <a:pPr lvl="0"/>
            <a:r>
              <a:rPr/>
              <a:t>The evidence is the </a:t>
            </a:r>
            <a:r>
              <a:rPr b="1"/>
              <a:t>interaction</a:t>
            </a:r>
            <a:r>
              <a:rPr/>
              <a:t>: did impact-versus-control </a:t>
            </a:r>
            <a:r>
              <a:rPr i="1"/>
              <a:t>change</a:t>
            </a:r>
            <a:r>
              <a:rPr/>
              <a:t> from before to after?</a:t>
            </a:r>
          </a:p>
          <a:p>
            <a:pPr lvl="0"/>
            <a:r>
              <a:rPr/>
              <a:t>Before/after alone confounds the impact with time. Control/impact alone confounds it with place. You need both.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Look at the figure — what is missing?</a:t>
            </a:r>
          </a:p>
          <a:p>
            <a:pPr lvl="0" indent="0" marL="1270000">
              <a:buNone/>
            </a:pPr>
            <a:r>
              <a:rPr sz="2000"/>
              <a:t>Visited beach versus restricted beach, measured once. Real difference, real data. But the beaches may always have differed. With </a:t>
            </a:r>
            <a:r>
              <a:rPr sz="2000" b="1"/>
              <a:t>no “before,”</a:t>
            </a:r>
            <a:r>
              <a:rPr sz="2000"/>
              <a:t> the impact and the site are inseparable.</a:t>
            </a:r>
          </a:p>
          <a:p>
            <a:pPr lvl="0" indent="0" marL="0">
              <a:buNone/>
            </a:pPr>
            <a:r>
              <a:rPr/>
              <a:t>BACI is a factorial design with an interaction → Week 9.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Sample Size Is a Design Decision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Big, Decided 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did the mechanics last lecture. The design point is the one worth keeping:</a:t>
            </a:r>
          </a:p>
          <a:p>
            <a:pPr lvl="0"/>
            <a:r>
              <a:rPr/>
              <a:t>Power rises with the </a:t>
            </a:r>
            <a:r>
              <a:rPr b="1"/>
              <a:t>effect size</a:t>
            </a:r>
            <a:r>
              <a:rPr/>
              <a:t>, with </a:t>
            </a:r>
            <a:r>
              <a:rPr b="1"/>
              <a:t>√n</a:t>
            </a:r>
            <a:r>
              <a:rPr/>
              <a:t>, and with </a:t>
            </a:r>
            <a:r>
              <a:rPr b="1"/>
              <a:t>α</a:t>
            </a:r>
            <a:r>
              <a:rPr/>
              <a:t> — and falls as </a:t>
            </a:r>
            <a:r>
              <a:rPr b="1"/>
              <a:t>σ</a:t>
            </a:r>
            <a:r>
              <a:rPr/>
              <a:t> rises</a:t>
            </a:r>
          </a:p>
          <a:p>
            <a:pPr lvl="0"/>
            <a:r>
              <a:rPr b="1"/>
              <a:t>Type II error is β. Power is 1 − β.</a:t>
            </a:r>
          </a:p>
          <a:p>
            <a:pPr lvl="0"/>
            <a:r>
              <a:rPr/>
              <a:t>Two ways to run it </a:t>
            </a:r>
            <a:r>
              <a:rPr i="1"/>
              <a:t>a priori</a:t>
            </a:r>
            <a:r>
              <a:rPr/>
              <a:t>: solve for the </a:t>
            </a:r>
            <a:r>
              <a:rPr b="1"/>
              <a:t>n</a:t>
            </a:r>
            <a:r>
              <a:rPr/>
              <a:t> you need, or for the </a:t>
            </a:r>
            <a:r>
              <a:rPr b="1"/>
              <a:t>effect size</a:t>
            </a:r>
            <a:r>
              <a:rPr/>
              <a:t> your affordable n could detect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Our pine pilot, unpaired vs paired — same trees, same needles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d_paired,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</a:t>
            </a:r>
          </a:p>
          <a:p>
            <a:pPr lvl="0" indent="0">
              <a:buNone/>
            </a:pPr>
            <a:r>
              <a:rPr>
                <a:latin typeface="Courier"/>
              </a:rPr>
              <a:t>[1] 6.406838</a:t>
            </a:r>
          </a:p>
          <a:p>
            <a:pPr lvl="0" indent="0" marL="0">
              <a:buNone/>
            </a:pPr>
            <a:r>
              <a:rPr b="1"/>
              <a:t>44 trees per side (88 total) unpaired, versus 7 trees paired.</a:t>
            </a:r>
            <a:r>
              <a:rPr/>
              <a:t> Nothing changed but the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precision, not just for power</a:t>
            </a:r>
          </a:p>
          <a:p>
            <a:pPr lvl="0" indent="0" marL="1270000">
              <a:buNone/>
            </a:pPr>
            <a:r>
              <a:rPr sz="2000"/>
              <a:t>W&amp;S §14.6 frames this as planning the </a:t>
            </a:r>
            <a:r>
              <a:rPr sz="2000" b="1"/>
              <a:t>width of your confidence interval</a:t>
            </a:r>
            <a:r>
              <a:rPr sz="2000"/>
              <a:t>. “How precise will my estimate be?” is often the more honest question than “will I get a star?”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Retrospective power, one more time</a:t>
            </a:r>
          </a:p>
          <a:p>
            <a:pPr lvl="0" indent="0" marL="1270000">
              <a:buNone/>
            </a:pPr>
            <a:r>
              <a:rPr sz="2000"/>
              <a:t>Computing power from the effect size you </a:t>
            </a:r>
            <a:r>
              <a:rPr sz="2000" i="1"/>
              <a:t>observed</a:t>
            </a:r>
            <a:r>
              <a:rPr sz="2000"/>
              <a:t> re-expresses your p-value and tells you nothing new. Use it to plan the next study. To argue </a:t>
            </a:r>
            <a:r>
              <a:rPr sz="2000" i="1"/>
              <a:t>for</a:t>
            </a:r>
            <a:r>
              <a:rPr sz="2000"/>
              <a:t> no effect, use an equivalence test or a CI that excludes anything meaningful.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From Design to Analysis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Design Chooses Your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Gotelli &amp; Ellison Ch. 7’s whole point, and it is also the rest of this course. </a:t>
            </a:r>
            <a:r>
              <a:rPr b="1"/>
              <a:t>Write the design down and the analysis is already decided: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continuous predictor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Several continuous predictors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Multiple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categorical factor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One-way ANOVA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crossed factors, or BACI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Two-way ANOVA + interaction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Subsamples inside units; clusters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Nested ANOVA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Blocks, repeated measures, split-plot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Counts, or presence/absence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 plus a continuous covariate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 12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cannot choose your analysis at the end</a:t>
            </a:r>
          </a:p>
          <a:p>
            <a:pPr lvl="0" indent="0" marL="1270000">
              <a:buNone/>
            </a:pPr>
            <a:r>
              <a:rPr sz="2000"/>
              <a:t>You chose it the day you decided what to measure and how to lay it out. Everything after that is bookkeeping.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32500" y="1295400"/>
            <a:ext cx="14732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 design has two jobs: </a:t>
            </a:r>
            <a:r>
              <a:rPr b="1"/>
              <a:t>kill bias</a:t>
            </a:r>
            <a:r>
              <a:rPr/>
              <a:t>, </a:t>
            </a:r>
            <a:r>
              <a:rPr b="1"/>
              <a:t>shrink sampling error</a:t>
            </a:r>
            <a:r>
              <a:rPr/>
              <a:t>. No test does either for you.</a:t>
            </a:r>
          </a:p>
          <a:p>
            <a:pPr lvl="0" indent="-342900" marL="342900">
              <a:buAutoNum type="arabicPeriod"/>
            </a:pPr>
            <a:r>
              <a:rPr b="1"/>
              <a:t>Bias</a:t>
            </a:r>
            <a:r>
              <a:rPr/>
              <a:t> → controls (usually more than one), randomization at both levels, blinding.</a:t>
            </a:r>
          </a:p>
          <a:p>
            <a:pPr lvl="0" indent="-342900" marL="342900">
              <a:buAutoNum type="arabicPeriod"/>
            </a:pPr>
            <a:r>
              <a:rPr b="1"/>
              <a:t>Sampling error</a:t>
            </a:r>
            <a:r>
              <a:rPr/>
              <a:t> → replication at the right scale, balance, blocking.</a:t>
            </a:r>
          </a:p>
          <a:p>
            <a:pPr lvl="0" indent="-342900" marL="342900">
              <a:buAutoNum type="arabicPeriod"/>
            </a:pPr>
            <a:r>
              <a:rPr b="1"/>
              <a:t>Natural experiments</a:t>
            </a:r>
            <a:r>
              <a:rPr/>
              <a:t> buy realism with causal ambiguity; manipulations buy inference with scale. Press or pulse, snapshot or trajectory — choose deliberately.</a:t>
            </a:r>
          </a:p>
          <a:p>
            <a:pPr lvl="0" indent="-342900" marL="342900">
              <a:buAutoNum type="arabicPeriod"/>
            </a:pPr>
            <a:r>
              <a:rPr b="1"/>
              <a:t>Replicate the thing your hypothesis is about.</a:t>
            </a:r>
            <a:r>
              <a:rPr/>
              <a:t> Pseudoreplication buys false precision.</a:t>
            </a:r>
          </a:p>
          <a:p>
            <a:pPr lvl="0" indent="-342900" marL="342900">
              <a:buAutoNum type="arabicPeriod"/>
            </a:pPr>
            <a:r>
              <a:rPr b="1"/>
              <a:t>Your design has already chosen your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sponge slide, if you remember nothing else</a:t>
            </a:r>
          </a:p>
          <a:p>
            <a:pPr lvl="0" indent="0" marL="1270000">
              <a:buNone/>
            </a:pPr>
            <a:r>
              <a:rPr sz="2000"/>
              <a:t>The inert foam grew roots almost as well as the living sponges. Without that sham control, the paper reports a sponge effect — correctly analysed, properly significant, and wrong.</a:t>
            </a:r>
          </a:p>
          <a:p>
            <a:pPr lvl="0" indent="0" marL="1270000">
              <a:buNone/>
            </a:pPr>
            <a:r>
              <a:rPr sz="2000"/>
              <a:t>Design is not the paperwork before the science. It </a:t>
            </a:r>
            <a:r>
              <a:rPr sz="2000" i="1"/>
              <a:t>is</a:t>
            </a:r>
            <a:r>
              <a:rPr sz="2000"/>
              <a:t> the science.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14 — Designing Experiments (§14.4 bias; §14.5 sampling error; §14.6 planning for precision; §14.7 observational studies), and Ch. 1 — Statistics and Samples.</a:t>
            </a:r>
          </a:p>
          <a:p>
            <a:pPr lvl="0"/>
            <a:r>
              <a:rPr b="1"/>
              <a:t>Gotelli &amp; Ellison</a:t>
            </a:r>
            <a:r>
              <a:rPr/>
              <a:t>, Ch. 6 — Designing Successful Field Studies, and Ch. 7 — A Bestiary of Experimental and Sampling Designs.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Ellison, A. M., Farnsworth, E. J., &amp; Twilley, R. R. (1996). Facultative mutualism between red mangroves and root-fouling sponges in Belizean mangal. </a:t>
            </a:r>
            <a:r>
              <a:rPr i="1"/>
              <a:t>Ecology</a:t>
            </a:r>
            <a:r>
              <a:rPr/>
              <a:t>, 77(8), 2431–2444.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Bias versus sampling error as the two jobs of a design: controls, randomization and blinding against bias; replication, balance and blocking against sampling error. Natural versus manipulative experiments, press and pulse designs, sampling layouts, BACI, and how each design maps onto the analysis we will run later.</dc:description>
  <dcterms:created xsi:type="dcterms:W3CDTF">2026-09-30T01:04:06Z</dcterms:created>
  <dcterms:modified xsi:type="dcterms:W3CDTF">2026-09-30T01:04:06Z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