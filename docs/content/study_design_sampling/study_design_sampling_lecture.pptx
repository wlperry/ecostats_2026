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7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Mann Whitney Wilcoxin Rank 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There is a paired Wilcoxin Sign test</a:t>
            </a:r>
          </a:p>
          <a:p>
            <a:pPr lvl="2"/>
            <a:r>
              <a:rPr/>
              <a:t>this does if it is a + 0 or - in the pair and uses that info to do the test… possible but not very powerful or widely used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8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cover: Chapter 1 in Whitlock and Schluter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</a:t>
            </a:r>
          </a:p>
          <a:p>
            <a:pPr lvl="1"/>
            <a:r>
              <a:rPr/>
              <a:t>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0700" y="1270000"/>
            <a:ext cx="3644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485900"/>
            <a:ext cx="40386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</a:t>
            </a:r>
          </a:p>
          <a:p>
            <a:pPr lvl="1"/>
            <a:r>
              <a:rPr/>
              <a:t>what are the problems with this data?</a:t>
            </a:r>
          </a:p>
          <a:p>
            <a:pPr lvl="0"/>
            <a:r>
              <a:rPr/>
              <a:t>Effect of factor X on variable Y?</a:t>
            </a:r>
          </a:p>
          <a:p>
            <a:pPr lvl="1"/>
            <a:r>
              <a:rPr/>
              <a:t>what should you be worried about and how to fix?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 (some parameter)?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33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-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 independence and correlated varaibles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type of experiment is this?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78600" y="660400"/>
            <a:ext cx="1866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predictor variable</a:t>
            </a:r>
          </a:p>
          <a:p>
            <a:pPr lvl="0"/>
            <a:r>
              <a:rPr/>
              <a:t>E.g., survey plots across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direction of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41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66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Experimenter directly manipulates predictor variable and measures response</a:t>
            </a:r>
          </a:p>
          <a:p>
            <a:pPr lvl="0" indent="0" marL="0">
              <a:buNone/>
            </a:pPr>
            <a:r>
              <a:rPr/>
              <a:t>Randomized, controlled trials: gold standard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small number of treatments;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varaibles</a:t>
            </a:r>
          </a:p>
          <a:p>
            <a:pPr lvl="0"/>
            <a:r>
              <a:rPr/>
              <a:t>Is the result due to X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Need estimate of variability for many statistical methods</a:t>
            </a:r>
          </a:p>
          <a:p>
            <a:pPr lvl="0" indent="0" marL="0">
              <a:buNone/>
            </a:pPr>
            <a:r>
              <a:rPr/>
              <a:t>Without appropriate replication: Is the difference due to manipulation or something else?</a:t>
            </a:r>
          </a:p>
          <a:p>
            <a:pPr lvl="0" indent="0" marL="0">
              <a:buNone/>
            </a:pPr>
            <a:r>
              <a:rPr/>
              <a:t>Replication must be on the appropriate scale: match scale of replication to population of interest, otherwise run into </a:t>
            </a:r>
            <a:r>
              <a:rPr b="1"/>
              <a:t>pseudoreplication</a:t>
            </a:r>
            <a:r>
              <a:rPr/>
              <a:t> (Hurlbert 1984 - </a:t>
            </a:r>
            <a:r>
              <a:rPr b="1"/>
              <a:t>Pseudoreplication and the Design of Ecological Field Experiments</a:t>
            </a:r>
            <a:r>
              <a:rPr/>
              <a:t>)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</a:t>
            </a:r>
          </a:p>
          <a:p>
            <a:pPr lvl="1"/>
            <a:r>
              <a:rPr/>
              <a:t>Replicate samples from burnt and unburnt parts of </a:t>
            </a:r>
            <a:r>
              <a:rPr i="1"/>
              <a:t>a single</a:t>
            </a:r>
            <a:r>
              <a:rPr/>
              <a:t> forest</a:t>
            </a:r>
          </a:p>
          <a:p>
            <a:pPr lvl="1"/>
            <a:r>
              <a:rPr/>
              <a:t>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</a:t>
            </a:r>
          </a:p>
          <a:p>
            <a:pPr lvl="1"/>
            <a:r>
              <a:rPr/>
              <a:t>2 aquaria (+Cu, control), 5 settling plates in each</a:t>
            </a:r>
          </a:p>
          <a:p>
            <a:pPr lvl="1"/>
            <a:r>
              <a:rPr/>
              <a:t>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</a:t>
            </a:r>
          </a:p>
          <a:p>
            <a:pPr lvl="1"/>
            <a:r>
              <a:rPr/>
              <a:t>10 water samples above discharge, 10 below</a:t>
            </a:r>
          </a:p>
          <a:p>
            <a:pPr lvl="1"/>
            <a:r>
              <a:rPr/>
              <a:t>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type I error rate</a:t>
            </a:r>
          </a:p>
          <a:p>
            <a:pPr lvl="0" indent="0" marL="0">
              <a:buNone/>
            </a:pPr>
            <a:r>
              <a:rPr/>
              <a:t>Replicates must be on scale appropriate to population (&amp;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if replication is impossible/difficult/expensive?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</a:t>
            </a:r>
          </a:p>
          <a:p>
            <a:pPr lvl="0"/>
            <a:r>
              <a:rPr/>
              <a:t>4 chambers (5, 10, 15, 20°C), 10 beakers in each</a:t>
            </a:r>
          </a:p>
          <a:p>
            <a:pPr lvl="0"/>
            <a:r>
              <a:rPr/>
              <a:t>Are beakers true replicates?</a:t>
            </a:r>
          </a:p>
          <a:p>
            <a:pPr lvl="0" indent="0" marL="0">
              <a:buNone/>
            </a:pPr>
            <a:r>
              <a:rPr/>
              <a:t>Possible solutions:</a:t>
            </a:r>
          </a:p>
          <a:p>
            <a:pPr lvl="0"/>
            <a:r>
              <a:rPr/>
              <a:t>Rerun the experiment a few times, changing temperature of chambers - block by time</a:t>
            </a:r>
          </a:p>
          <a:p>
            <a:pPr lvl="0"/>
            <a:r>
              <a:rPr/>
              <a:t>Try to account for all possible differences between chambers (light levels, humidity, contamination) - block by chamber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question: Is response due to manipulation/hypothesized mechanism or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no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control does not receive the substance under study</a:t>
            </a:r>
          </a:p>
          <a:p>
            <a:pPr lvl="0"/>
            <a:r>
              <a:rPr/>
              <a:t>Predator exclosures often produce “cage effects”</a:t>
            </a:r>
          </a:p>
          <a:p>
            <a:pPr lvl="0"/>
            <a:r>
              <a:rPr/>
              <a:t>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39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4: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4: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observations: assumption of many statistical methods</a:t>
            </a:r>
          </a:p>
          <a:p>
            <a:pPr lvl="0" indent="0" marL="0">
              <a:buNone/>
            </a:pPr>
            <a:r>
              <a:rPr/>
              <a:t>Events are independent if occurrence of one has no effect on occurrence of another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violation of independence</a:t>
            </a:r>
          </a:p>
          <a:p>
            <a:pPr lvl="0"/>
            <a:r>
              <a:rPr/>
              <a:t>Values of variables at certain place/time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to adjust for autocorrelation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variables:</a:t>
            </a:r>
          </a:p>
          <a:p>
            <a:pPr lvl="0"/>
            <a:r>
              <a:rPr/>
              <a:t>Attempts to equalize effects of confounders</a:t>
            </a:r>
          </a:p>
          <a:p>
            <a:pPr lvl="0" indent="0" marL="0">
              <a:buNone/>
            </a:pPr>
            <a:r>
              <a:rPr b="1"/>
              <a:t>Random sampling from population:</a:t>
            </a:r>
          </a:p>
          <a:p>
            <a:pPr lvl="0"/>
            <a:r>
              <a:rPr/>
              <a:t>Experimental units should represent random sample from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experiment are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19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in Field Studies -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equal chance of being selected</a:t>
            </a:r>
          </a:p>
          <a:p>
            <a:pPr lvl="0"/>
            <a:r>
              <a:rPr/>
              <a:t>Assign number to all possible units, select units using random number generator</a:t>
            </a:r>
          </a:p>
          <a:p>
            <a:pPr lvl="0"/>
            <a:r>
              <a:rPr/>
              <a:t>Often tricky in ecology; haphazard is common alternative</a:t>
            </a:r>
          </a:p>
          <a:p>
            <a:pPr lvl="0"/>
            <a:r>
              <a:rPr/>
              <a:t>Most population estimates and tests assume random sampling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Stratified designs: if there are distinct strata (groups) in population, may want to sample each independently</a:t>
            </a:r>
          </a:p>
          <a:p>
            <a:pPr lvl="0"/>
            <a:r>
              <a:rPr/>
              <a:t>Samples collected from each stratum randomly, n proportional to “size” of stratum</a:t>
            </a:r>
          </a:p>
          <a:p>
            <a:pPr lvl="0"/>
            <a:r>
              <a:rPr/>
              <a:t>Means and variances need to be estimated using different procedure; strata included in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focuses on sampling subunits nested in larger units</a:t>
            </a:r>
          </a:p>
          <a:p>
            <a:pPr lvl="0"/>
            <a:r>
              <a:rPr/>
              <a:t>Used when other designs impractical (e.g., due to cost)</a:t>
            </a:r>
          </a:p>
          <a:p>
            <a:pPr lvl="0"/>
            <a:r>
              <a:rPr/>
              <a:t>Mean calculation easy, modified procedure for variance</a:t>
            </a:r>
          </a:p>
          <a:p>
            <a:pPr lvl="0"/>
            <a:r>
              <a:rPr/>
              <a:t>Nested ANOVA is often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59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-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dispersed: “transect” sampling common in ecology</a:t>
            </a:r>
          </a:p>
          <a:p>
            <a:pPr lvl="0"/>
            <a:r>
              <a:rPr/>
              <a:t>Used to determine changes along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209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5: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5: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/>
            <a:r>
              <a:rPr sz="2000"/>
              <a:t>In groups of 3-4, design a sampling strategy to:</a:t>
            </a:r>
          </a:p>
          <a:p>
            <a:pPr lvl="1" indent="-342900" marL="6858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1" indent="-342900" marL="6858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1" indent="-342900" marL="6858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/>
            <a:r>
              <a:rPr sz="2000"/>
              <a:t>For each strategy, describe:</a:t>
            </a:r>
          </a:p>
          <a:p>
            <a:pPr lvl="1"/>
            <a:r>
              <a:rPr sz="2000"/>
              <a:t>How many samples you would take</a:t>
            </a:r>
          </a:p>
          <a:p>
            <a:pPr lvl="1"/>
            <a:r>
              <a:rPr sz="2000"/>
              <a:t>Where you would take them</a:t>
            </a:r>
          </a:p>
          <a:p>
            <a:pPr lvl="1"/>
            <a:r>
              <a:rPr sz="2000"/>
              <a:t>What additional variables you might measure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Power Analysis Wrap up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Power is an important aspect of experimental design:</a:t>
                </a:r>
              </a:p>
              <a:p>
                <a:pPr lvl="1"/>
                <a:r>
                  <a:rPr/>
                  <a:t>Low power → higher likelihood of type II error (1-β)</a:t>
                </a:r>
              </a:p>
              <a:p>
                <a:pPr lvl="1"/>
                <a:r>
                  <a:rPr/>
                  <a:t>A study’s power tells us how likely we are to see an effect if one really exists</a:t>
                </a:r>
              </a:p>
              <a:p>
                <a:pPr lvl="0"/>
                <a:r>
                  <a:rPr/>
                  <a:t>Can use power analysis:</a:t>
                </a:r>
              </a:p>
              <a:p>
                <a:pPr lvl="1"/>
                <a:r>
                  <a:rPr/>
                  <a:t>Before experiment (</a:t>
                </a:r>
                <a:r>
                  <a:rPr i="1"/>
                  <a:t>a priori</a:t>
                </a:r>
                <a:r>
                  <a:rPr/>
                  <a:t>): how many samples do we need?</a:t>
                </a:r>
              </a:p>
              <a:p>
                <a:pPr lvl="2"/>
                <a:r>
                  <a:rPr/>
                  <a:t>what effect size can we detect?</a:t>
                </a:r>
              </a:p>
              <a:p>
                <a:pPr lvl="1"/>
                <a:r>
                  <a:rPr/>
                  <a:t>After experiment (</a:t>
                </a:r>
                <a:r>
                  <a:rPr i="1"/>
                  <a:t>post hoc</a:t>
                </a:r>
                <a:r>
                  <a:rPr/>
                  <a:t>): was finding of no effect due to lack of effect or poor design?</a:t>
                </a:r>
              </a:p>
              <a:p>
                <a:pPr lvl="0"/>
                <a:r>
                  <a:rPr/>
                  <a:t>Power is a function of:</a:t>
                </a:r>
              </a:p>
              <a:p>
                <a:pPr lvl="1"/>
                <a:r>
                  <a:rPr/>
                  <a:t>ES - Effect size</a:t>
                </a:r>
              </a:p>
              <a:p>
                <a:pPr lvl="1"/>
                <a:r>
                  <a:rPr/>
                  <a:t>n - Sample size</a:t>
                </a:r>
              </a:p>
              <a:p>
                <a:pPr lvl="1"/>
                <a:r>
                  <a:rPr/>
                  <a:t>sigma - standard deviation</a:t>
                </a:r>
              </a:p>
              <a:p>
                <a:pPr lvl="1"/>
                <a:r>
                  <a:rPr/>
                  <a:t>α (significance level) - 0.05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t>α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</a:t>
            </a:r>
          </a:p>
          <a:p>
            <a:pPr lvl="0"/>
            <a:r>
              <a:rPr/>
              <a:t>Need to know: desired power, variability, significance level, effect size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particular design?</a:t>
            </a:r>
          </a:p>
          <a:p>
            <a:pPr lvl="0"/>
            <a:r>
              <a:rPr/>
              <a:t>Need to know: desired power, variability, significance level, n</a:t>
            </a:r>
          </a:p>
          <a:p>
            <a:pPr lvl="0"/>
            <a:r>
              <a:rPr/>
              <a:t>Cohen’s d - standardized measure of effect size used in statistical analysis, particularly when comparing two means</a:t>
            </a:r>
          </a:p>
          <a:p>
            <a:pPr lvl="1"/>
            <a:r>
              <a:rPr/>
              <a:t>0.2 = small effect</a:t>
            </a:r>
          </a:p>
          <a:p>
            <a:pPr lvl="1"/>
            <a:r>
              <a:rPr/>
              <a:t>0.5 = medium effect</a:t>
            </a:r>
          </a:p>
          <a:p>
            <a:pPr lvl="1"/>
            <a:r>
              <a:rPr/>
              <a:t>0.8 = large effect</a:t>
            </a:r>
          </a:p>
          <a:p>
            <a:pPr lvl="0"/>
            <a:r>
              <a:rPr/>
              <a:t>Helps determine the practical significance of research findings, as opposed to just statistical significance (p-values). A Cohen’s d of 0.8 means that the difference between groups is large enough to be substantial in practical terms - specifically, it indicates that the means differ by 0.8 standard deviations.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Priori Power Analysis Example</a:t>
            </a:r>
          </a:p>
          <a:p>
            <a:pPr lvl="1" indent="0" marL="342900">
              <a:buNone/>
            </a:pPr>
            <a:r>
              <a:rPr/>
              <a:t>How many samples do you need to find this difference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Imagine you did not reject null hypothesis - still worth publishing result?</a:t>
            </a:r>
          </a:p>
          <a:p>
            <a:pPr lvl="0"/>
            <a:r>
              <a:rPr/>
              <a:t>Is non-significant result due to low power (poor design) or actual no-effect situation?</a:t>
            </a:r>
          </a:p>
          <a:p>
            <a:pPr lvl="1"/>
            <a:r>
              <a:rPr/>
              <a:t>Have n and estimate of σ</a:t>
            </a:r>
          </a:p>
          <a:p>
            <a:pPr lvl="1"/>
            <a:r>
              <a:rPr/>
              <a:t>Need to define effect size that wanted to detect</a:t>
            </a:r>
          </a:p>
          <a:p>
            <a:pPr lvl="1"/>
            <a:r>
              <a:rPr/>
              <a:t>In return get estimate of experiment’s power</a:t>
            </a:r>
          </a:p>
          <a:p>
            <a:pPr lvl="0"/>
            <a:r>
              <a:rPr/>
              <a:t>Cohen’s d is calculated as: d = (Mean1 - Mean2) / SD_pooled Where SD_pooled is the pooled standard deviation of both groups.</a:t>
            </a:r>
          </a:p>
          <a:p>
            <a:pPr lvl="0"/>
            <a:r>
              <a:rPr/>
              <a:t>Can help convince reviewers that you are a good experimenter, but there really is no effect… please publish my non-significant finding!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achieved power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Analysis for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0.8333333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23.60467
              d = 0.8333333
      sig.level = 0.05
          power = 0.8
    alternative = two.sided
NOTE: n is number in *each* group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6: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Activity 6: Power Analysis for Pine Needle Experiment</a:t>
            </a:r>
          </a:p>
          <a:p>
            <a:pPr lvl="0" indent="0" marL="1270000">
              <a:buNone/>
            </a:pPr>
            <a:r>
              <a:rPr sz="2000"/>
              <a:t>Let’s design a study to compare needle lengths between exposed and sheltered pine trees: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- Categorical vs. continuous variables - Dependent vs. independent variables</a:t>
            </a:r>
          </a:p>
          <a:p>
            <a:pPr lvl="0"/>
            <a:r>
              <a:rPr/>
              <a:t>Nature of variables dictates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Cannot “fix”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324600" y="660400"/>
            <a:ext cx="2387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-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-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</a:p>
          <a:p>
            <a:pPr lvl="1"/>
            <a:r>
              <a:rPr/>
              <a:t>Replication at the right scale</a:t>
            </a:r>
          </a:p>
          <a:p>
            <a:pPr lvl="1"/>
            <a:r>
              <a:rPr/>
              <a:t>Proper randomization</a:t>
            </a:r>
          </a:p>
          <a:p>
            <a:pPr lvl="1"/>
            <a:r>
              <a:rPr/>
              <a:t>Appropriate controls</a:t>
            </a:r>
          </a:p>
          <a:p>
            <a:pPr lvl="1"/>
            <a:r>
              <a:rPr/>
              <a:t>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-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-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Correlation ≠ causation</a:t>
            </a:r>
          </a:p>
          <a:p>
            <a:pPr lvl="0"/>
            <a:r>
              <a:rPr/>
              <a:t>Beware of pseudoreplication</a:t>
            </a:r>
          </a:p>
          <a:p>
            <a:pPr lvl="0"/>
            <a:r>
              <a:rPr/>
              <a:t>Design before you collect data</a:t>
            </a:r>
          </a:p>
          <a:p>
            <a:pPr lvl="0"/>
            <a:r>
              <a:rPr/>
              <a:t>Consider practical constraints</a:t>
            </a:r>
          </a:p>
          <a:p>
            <a:pPr lvl="0"/>
            <a:r>
              <a:rPr/>
              <a:t>Report everything transparently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A primer of ecological statistics (2nd ed.). Sinauer Associates.</a:t>
            </a:r>
          </a:p>
          <a:p>
            <a:pPr lvl="0"/>
            <a:r>
              <a:rPr/>
              <a:t>Hurlbert, S. H. (1984). Pseudoreplication and the design of ecological field experiments. Ecological Monographs, 54(2), 187-211.</a:t>
            </a:r>
          </a:p>
          <a:p>
            <a:pPr lvl="0"/>
            <a:r>
              <a:rPr/>
              <a:t>Quinn, G. P., &amp; Keough, M. J. (2002). Experimental design and data analysis for biologists.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Methods in Ecology and Evolution, 1(1), 3-14.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Study Design &amp; Sampling</dc:title>
  <dc:creator>Bill Perry</dc:creator>
  <cp:keywords/>
  <dc:description>Principles of experimental design and sampling.</dc:description>
  <dcterms:created xsi:type="dcterms:W3CDTF">2026-08-19T22:19:13Z</dcterms:created>
  <dcterms:modified xsi:type="dcterms:W3CDTF">2026-08-19T22:19:13Z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9</vt:lpwstr>
  </property>
  <property fmtid="{D5CDD505-2E9C-101B-9397-08002B2CF9AE}" pid="12" name="resources">
    <vt:lpwstr/>
  </property>
  <property fmtid="{D5CDD505-2E9C-101B-9397-08002B2CF9AE}" pid="13" name="subtitle">
    <vt:lpwstr>Designing studies</vt:lpwstr>
  </property>
  <property fmtid="{D5CDD505-2E9C-101B-9397-08002B2CF9AE}" pid="14" name="toc-title">
    <vt:lpwstr>Table of contents</vt:lpwstr>
  </property>
  <property fmtid="{D5CDD505-2E9C-101B-9397-08002B2CF9AE}" pid="15" name="week">
    <vt:lpwstr>5</vt:lpwstr>
  </property>
</Properties>
</file>