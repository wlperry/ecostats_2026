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mnmas.org/about-us" TargetMode="Externa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Designing studies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Type I and Type II error, and the decision table</a:t>
            </a:r>
          </a:p>
          <a:p>
            <a:pPr lvl="0"/>
            <a:r>
              <a:rPr b="1"/>
              <a:t>Power</a:t>
            </a:r>
            <a:r>
              <a:rPr/>
              <a:t> — the chance of detecting an effect that is really there</a:t>
            </a:r>
          </a:p>
          <a:p>
            <a:pPr lvl="0"/>
            <a:r>
              <a:rPr i="1"/>
              <a:t>A priori</a:t>
            </a:r>
            <a:r>
              <a:rPr/>
              <a:t> power to plan a study, retrospective power to plan the </a:t>
            </a:r>
            <a:r>
              <a:rPr i="1"/>
              <a:t>next</a:t>
            </a:r>
            <a:r>
              <a:rPr/>
              <a:t> one</a:t>
            </a:r>
          </a:p>
          <a:p>
            <a:pPr lvl="0"/>
            <a:r>
              <a:rPr/>
              <a:t>Pairing our four trees took the study from needing 88 trees to needing 7</a:t>
            </a:r>
          </a:p>
          <a:p>
            <a:pPr lvl="0" indent="0" marL="1270000">
              <a:buNone/>
            </a:pPr>
            <a:r>
              <a:rPr sz="2000" b="1"/>
              <a:t>Note</a:t>
            </a:r>
          </a:p>
          <a:p>
            <a:pPr lvl="0" indent="0" marL="1270000">
              <a:buNone/>
            </a:pPr>
            <a:r>
              <a:rPr sz="2000" b="1"/>
              <a:t>✅ Key idea from last lecture</a:t>
            </a:r>
          </a:p>
          <a:p>
            <a:pPr lvl="0" indent="0" marL="1270000">
              <a:buNone/>
            </a:pPr>
            <a:r>
              <a:rPr sz="2000"/>
              <a:t>Power is a property of a </a:t>
            </a:r>
            <a:r>
              <a:rPr sz="2000" b="1"/>
              <a:t>design</a:t>
            </a:r>
            <a:r>
              <a:rPr sz="2000"/>
              <a:t>, not of a test. Last time we measured it. Today we build the thing being measured — and we do it before any data exist.</a:t>
            </a:r>
          </a:p>
        </p:txBody>
      </p:sp>
      <p:pic>
        <p:nvPicPr>
          <p:cNvPr descr="images/clipboard-3712542164.pn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handwritten field notebook page recording site data (site ID, time, depth, GPS coordinates, substrate notes) for three sampling stations, an example of real field-study record-keeping.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Overview</a:t>
            </a:r>
          </a:p>
        </p:txBody>
      </p:sp>
      <p:sp>
        <p:nvSpPr>
          <p:cNvPr id="3" name="Content Placeholder 2"/>
          <p:cNvSpPr>
            <a:spLocks noGrp="1"/>
          </p:cNvSpPr>
          <p:nvPr>
            <p:ph idx="1" sz="half"/>
          </p:nvPr>
        </p:nvSpPr>
        <p:spPr/>
        <p:txBody>
          <a:bodyPr/>
          <a:lstStyle/>
          <a:p>
            <a:pPr lvl="0" indent="0" marL="0">
              <a:buNone/>
            </a:pPr>
            <a:r>
              <a:rPr/>
              <a:t>One idea organizes the whole lecture:</a:t>
            </a:r>
          </a:p>
          <a:p>
            <a:pPr lvl="0" indent="0" marL="1270000">
              <a:buNone/>
            </a:pPr>
            <a:r>
              <a:rPr sz="2000"/>
              <a:t>A design has exactly </a:t>
            </a:r>
            <a:r>
              <a:rPr sz="2000" b="1"/>
              <a:t>two jobs</a:t>
            </a:r>
            <a:r>
              <a:rPr sz="2000"/>
              <a:t> — get rid of </a:t>
            </a:r>
            <a:r>
              <a:rPr sz="2000" b="1"/>
              <a:t>bias</a:t>
            </a:r>
            <a:r>
              <a:rPr sz="2000"/>
              <a:t>, and shrink </a:t>
            </a:r>
            <a:r>
              <a:rPr sz="2000" b="1"/>
              <a:t>sampling error</a:t>
            </a:r>
            <a:r>
              <a:rPr sz="2000"/>
              <a:t>. Every technique today does one or the other.</a:t>
            </a:r>
          </a:p>
          <a:p>
            <a:pPr lvl="0"/>
            <a:r>
              <a:rPr b="1"/>
              <a:t>Bias</a:t>
            </a:r>
            <a:r>
              <a:rPr/>
              <a:t> → controls, randomization, blinding</a:t>
            </a:r>
          </a:p>
          <a:p>
            <a:pPr lvl="0"/>
            <a:r>
              <a:rPr b="1"/>
              <a:t>Sampling error</a:t>
            </a:r>
            <a:r>
              <a:rPr/>
              <a:t> → replication, balance, blocking</a:t>
            </a:r>
          </a:p>
          <a:p>
            <a:pPr lvl="0"/>
            <a:r>
              <a:rPr/>
              <a:t>Then: sampling layouts in the field, and which analysis each design leads to</a:t>
            </a:r>
          </a:p>
          <a:p>
            <a:pPr lvl="0" indent="0" marL="1270000">
              <a:buNone/>
            </a:pPr>
            <a:r>
              <a:rPr sz="2000" b="1"/>
              <a:t>Warning</a:t>
            </a:r>
          </a:p>
          <a:p>
            <a:pPr lvl="0" indent="0" marL="1270000">
              <a:buNone/>
            </a:pPr>
            <a:r>
              <a:rPr sz="2000" b="1"/>
              <a:t>🗳️ Five times today, you make the call</a:t>
            </a:r>
          </a:p>
          <a:p>
            <a:pPr lvl="0" indent="0" marL="1270000">
              <a:buNone/>
            </a:pPr>
            <a:r>
              <a:rPr sz="2000"/>
              <a:t>Five slides are marked </a:t>
            </a:r>
            <a:r>
              <a:rPr sz="2000" b="1"/>
              <a:t>🗳️ DECIDE</a:t>
            </a:r>
            <a:r>
              <a:rPr sz="2000"/>
              <a:t>. Each one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a:p>
            <a:pPr lvl="0" indent="0" marL="1270000">
              <a:buNone/>
            </a:pPr>
            <a:r>
              <a:rPr sz="2000" b="1"/>
              <a:t>Note</a:t>
            </a:r>
          </a:p>
          <a:p>
            <a:pPr lvl="0" indent="0" marL="1270000">
              <a:buNone/>
            </a:pPr>
            <a:r>
              <a:rPr sz="2000" b="1"/>
              <a:t>📖 Reading</a:t>
            </a:r>
          </a:p>
          <a:p>
            <a:pPr lvl="0" indent="0" marL="1270000">
              <a:buNone/>
            </a:pPr>
            <a:r>
              <a:rPr sz="2000"/>
              <a:t>Whitlock &amp; Schluter, Ch. 14 — Designing Experiments (§14.4 is bias, §14.5 is sampling error) and Ch. 1 — Statistics and Samples. Gotelli &amp; Ellison, Ch. 6 — Designing Successful Field Studies, and Ch. 7 — A Bestiary of Experimental and Sampling Designs.</a:t>
            </a:r>
          </a:p>
        </p:txBody>
      </p:sp>
      <p:pic>
        <p:nvPicPr>
          <p:cNvPr descr="images/clipboard-1638932598.png" id="0" name="Picture 1"/>
          <p:cNvPicPr>
            <a:picLocks noGrp="1" noChangeAspect="1"/>
          </p:cNvPicPr>
          <p:nvPr/>
        </p:nvPicPr>
        <p:blipFill>
          <a:blip r:embed="rId2"/>
          <a:stretch>
            <a:fillRect/>
          </a:stretch>
        </p:blipFill>
        <p:spPr bwMode="auto">
          <a:xfrm>
            <a:off x="6121400" y="1651000"/>
            <a:ext cx="2781300" cy="1981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an experimental array of small tiles laid on a streambed, some darker with algal growth and others lighter/grazed clean, used in Lamberti and Resh’s (1983) study of caddisfly grazing effects on periphyton.</a:t>
            </a:r>
          </a:p>
        </p:txBody>
      </p:sp>
      <p:sp>
        <p:nvSpPr>
          <p:cNvPr id="4" name="Content Placeholder 3"/>
          <p:cNvSpPr>
            <a:spLocks noGrp="1"/>
          </p:cNvSpPr>
          <p:nvPr>
            <p:ph idx="2" sz="half"/>
          </p:nvPr>
        </p:nvSpPr>
        <p:spPr/>
        <p:txBody>
          <a:bodyPr/>
          <a:lstStyle/>
          <a:p>
            <a:pPr lvl="0" indent="0" marL="0">
              <a:buNone/>
            </a:pPr>
            <a:r>
              <a:rPr/>
              <a:t>Lamberti and Resh 1983</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Bias and Sampling Error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Ways an Estimate Goes Wrong</a:t>
            </a:r>
          </a:p>
        </p:txBody>
      </p:sp>
      <p:sp>
        <p:nvSpPr>
          <p:cNvPr id="3" name="Text Placeholder 2"/>
          <p:cNvSpPr>
            <a:spLocks noGrp="1"/>
          </p:cNvSpPr>
          <p:nvPr>
            <p:ph idx="1" type="body"/>
          </p:nvPr>
        </p:nvSpPr>
        <p:spPr/>
        <p:txBody>
          <a:bodyPr/>
          <a:lstStyle/>
          <a:p>
            <a:pPr lvl="0" indent="0" marL="0">
              <a:buNone/>
            </a:pPr>
            <a:r>
              <a:rPr/>
              <a:t>Your study produces an estimate. It can miss the truth two different ways:</a:t>
            </a:r>
          </a:p>
          <a:p>
            <a:pPr lvl="0"/>
            <a:r>
              <a:rPr b="1"/>
              <a:t>Bias</a:t>
            </a:r>
            <a:r>
              <a:rPr/>
              <a:t> — your estimate is centred on the </a:t>
            </a:r>
            <a:r>
              <a:rPr i="1"/>
              <a:t>wrong value</a:t>
            </a:r>
            <a:r>
              <a:rPr/>
              <a:t>. Collect more data and you converge, confidently, on the wrong answer.</a:t>
            </a:r>
          </a:p>
          <a:p>
            <a:pPr lvl="0"/>
            <a:r>
              <a:rPr b="1"/>
              <a:t>Sampling error</a:t>
            </a:r>
            <a:r>
              <a:rPr/>
              <a:t> — your estimate is centred on the </a:t>
            </a:r>
            <a:r>
              <a:rPr i="1"/>
              <a:t>right value</a:t>
            </a:r>
            <a:r>
              <a:rPr/>
              <a:t> but bounces around it. Collect more data and it tightens up.</a:t>
            </a:r>
          </a:p>
          <a:p>
            <a:pPr lvl="0" indent="0" marL="0">
              <a:buNone/>
            </a:pPr>
            <a:r>
              <a:rPr b="1"/>
              <a:t>This distinction is the whole lecture</a:t>
            </a:r>
            <a:r>
              <a:rPr/>
              <a:t>, because the two problems have completely different cures: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384300"/>
                <a:gridCol w="1295400"/>
                <a:gridCol w="1752600"/>
              </a:tblGrid>
              <a:tr h="0">
                <a:tc>
                  <a:txBody>
                    <a:bodyPr/>
                    <a:lstStyle/>
                    <a:p>
                      <a:pPr lvl="0" indent="0" marL="0">
                        <a:buNone/>
                      </a:pPr>
                      <a:r>
                        <a:rPr/>
                        <a:t>Problem</a:t>
                      </a:r>
                    </a:p>
                  </a:txBody>
                  <a:tcPr/>
                </a:tc>
                <a:tc>
                  <a:txBody>
                    <a:bodyPr/>
                    <a:lstStyle/>
                    <a:p>
                      <a:pPr lvl="0" indent="0" marL="0">
                        <a:buNone/>
                      </a:pPr>
                      <a:r>
                        <a:rPr/>
                        <a:t>Gets worse with</a:t>
                      </a:r>
                    </a:p>
                  </a:txBody>
                  <a:tcPr/>
                </a:tc>
                <a:tc>
                  <a:txBody>
                    <a:bodyPr/>
                    <a:lstStyle/>
                    <a:p>
                      <a:pPr lvl="0" indent="0" marL="0">
                        <a:buNone/>
                      </a:pPr>
                      <a:r>
                        <a:rPr/>
                        <a:t>Cured by</a:t>
                      </a:r>
                    </a:p>
                  </a:txBody>
                  <a:tcPr/>
                </a:tc>
              </a:tr>
              <a:tr h="0">
                <a:tc>
                  <a:txBody>
                    <a:bodyPr/>
                    <a:lstStyle/>
                    <a:p>
                      <a:pPr lvl="0" indent="0" marL="0">
                        <a:buNone/>
                      </a:pPr>
                      <a:r>
                        <a:rPr/>
                        <a:t>Bias</a:t>
                      </a:r>
                    </a:p>
                  </a:txBody>
                </a:tc>
                <a:tc>
                  <a:txBody>
                    <a:bodyPr/>
                    <a:lstStyle/>
                    <a:p>
                      <a:pPr lvl="0" indent="0" marL="0">
                        <a:buNone/>
                      </a:pPr>
                      <a:r>
                        <a:rPr/>
                        <a:t>nothing — more data does not help</a:t>
                      </a:r>
                    </a:p>
                  </a:txBody>
                </a:tc>
                <a:tc>
                  <a:txBody>
                    <a:bodyPr/>
                    <a:lstStyle/>
                    <a:p>
                      <a:pPr lvl="0" indent="0" marL="0">
                        <a:buNone/>
                      </a:pPr>
                      <a:r>
                        <a:rPr/>
                        <a:t>controls, randomization, blinding</a:t>
                      </a:r>
                    </a:p>
                  </a:txBody>
                </a:tc>
              </a:tr>
              <a:tr h="0">
                <a:tc>
                  <a:txBody>
                    <a:bodyPr/>
                    <a:lstStyle/>
                    <a:p>
                      <a:pPr lvl="0" indent="0" marL="0">
                        <a:buNone/>
                      </a:pPr>
                      <a:r>
                        <a:rPr/>
                        <a:t>Sampling error</a:t>
                      </a:r>
                    </a:p>
                  </a:txBody>
                </a:tc>
                <a:tc>
                  <a:txBody>
                    <a:bodyPr/>
                    <a:lstStyle/>
                    <a:p>
                      <a:pPr lvl="0" indent="0" marL="0">
                        <a:buNone/>
                      </a:pPr>
                      <a:r>
                        <a:rPr/>
                        <a:t>small n, high variance</a:t>
                      </a:r>
                    </a:p>
                  </a:txBody>
                </a:tc>
                <a:tc>
                  <a:txBody>
                    <a:bodyPr/>
                    <a:lstStyle/>
                    <a:p>
                      <a:pPr lvl="0" indent="0" marL="0">
                        <a:buNone/>
                      </a:pPr>
                      <a:r>
                        <a:rPr/>
                        <a:t>replication, balance, blocking</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this matters more than any test</a:t>
            </a:r>
          </a:p>
          <a:p>
            <a:pPr lvl="0" indent="0" marL="1270000">
              <a:buNone/>
            </a:pPr>
            <a:r>
              <a:rPr sz="2000"/>
              <a:t>A p-value describes sampling error only. </a:t>
            </a:r>
            <a:r>
              <a:rPr sz="2000" b="1"/>
              <a:t>No statistical test can detect bias in your own design.</a:t>
            </a:r>
            <a:r>
              <a:rPr sz="2000"/>
              <a:t> That is why design comes first.</a:t>
            </a:r>
          </a:p>
        </p:txBody>
      </p:sp>
      <p:pic>
        <p:nvPicPr>
          <p:cNvPr descr="images/clipboard-1454702014.png" id="0" name="Picture 1"/>
          <p:cNvPicPr>
            <a:picLocks noGrp="1" noChangeAspect="1"/>
          </p:cNvPicPr>
          <p:nvPr/>
        </p:nvPicPr>
        <p:blipFill>
          <a:blip r:embed="rId2"/>
          <a:stretch>
            <a:fillRect/>
          </a:stretch>
        </p:blipFill>
        <p:spPr bwMode="auto">
          <a:xfrm>
            <a:off x="5283200" y="1295400"/>
            <a:ext cx="29845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Diagram of a confounding variable Z with arrows pointing to both X and Y, illustrating that a third variable can drive an apparent relationship between the two variables of interest.</a:t>
            </a:r>
          </a:p>
        </p:txBody>
      </p:sp>
      <p:sp>
        <p:nvSpPr>
          <p:cNvPr id="6" name="Content Placeholder 5"/>
          <p:cNvSpPr>
            <a:spLocks noGrp="1"/>
          </p:cNvSpPr>
          <p:nvPr>
            <p:ph idx="4" sz="quarter"/>
          </p:nvPr>
        </p:nvSpPr>
        <p:spPr/>
        <p:txBody>
          <a:bodyPr/>
          <a:lstStyle/>
          <a:p>
            <a:pPr lvl="0" indent="0" marL="0">
              <a:buNone/>
            </a:pPr>
            <a:r>
              <a:rPr/>
              <a:t>A confounder is a bias machine: it moves the estimate off the truth, and it does not care how many samples you take.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Start From the Question</a:t>
            </a:r>
          </a:p>
        </p:txBody>
      </p:sp>
      <p:sp>
        <p:nvSpPr>
          <p:cNvPr id="3" name="Content Placeholder 2"/>
          <p:cNvSpPr>
            <a:spLocks noGrp="1"/>
          </p:cNvSpPr>
          <p:nvPr>
            <p:ph idx="1" sz="half"/>
          </p:nvPr>
        </p:nvSpPr>
        <p:spPr/>
        <p:txBody>
          <a:bodyPr/>
          <a:lstStyle/>
          <a:p>
            <a:pPr lvl="0" indent="0" marL="0">
              <a:buNone/>
            </a:pPr>
            <a:r>
              <a:rPr/>
              <a:t>Before either job, one question: </a:t>
            </a:r>
            <a:r>
              <a:rPr b="1"/>
              <a:t>what is your research question?</a:t>
            </a:r>
          </a:p>
          <a:p>
            <a:pPr lvl="0" indent="0" marL="0">
              <a:buNone/>
            </a:pPr>
            <a:r>
              <a:rPr/>
              <a:t>Gotelli &amp; Ellison’s four canonical forms:</a:t>
            </a:r>
          </a:p>
          <a:p>
            <a:pPr lvl="0"/>
            <a:r>
              <a:rPr/>
              <a:t>Spatial or temporal </a:t>
            </a:r>
            <a:r>
              <a:rPr b="1"/>
              <a:t>pattern</a:t>
            </a:r>
            <a:r>
              <a:rPr/>
              <a:t> in Y?</a:t>
            </a:r>
          </a:p>
          <a:p>
            <a:pPr lvl="0"/>
            <a:r>
              <a:rPr b="1"/>
              <a:t>Effect</a:t>
            </a:r>
            <a:r>
              <a:rPr/>
              <a:t> of factor X on Y?</a:t>
            </a:r>
          </a:p>
          <a:p>
            <a:pPr lvl="0"/>
            <a:r>
              <a:rPr/>
              <a:t>Are values of Y </a:t>
            </a:r>
            <a:r>
              <a:rPr b="1"/>
              <a:t>consistent with</a:t>
            </a:r>
            <a:r>
              <a:rPr/>
              <a:t> hypothesis H?</a:t>
            </a:r>
          </a:p>
          <a:p>
            <a:pPr lvl="0"/>
            <a:r>
              <a:rPr/>
              <a:t>What is the best </a:t>
            </a:r>
            <a:r>
              <a:rPr b="1"/>
              <a:t>estimate</a:t>
            </a:r>
            <a:r>
              <a:rPr/>
              <a:t> of parameter θ?</a:t>
            </a:r>
          </a:p>
          <a:p>
            <a:pPr lvl="0" indent="0" marL="0">
              <a:buNone/>
            </a:pPr>
            <a:r>
              <a:rPr/>
              <a:t>Each one implies a different design. “I will go measure some things and see what turns up” implies none of them.</a:t>
            </a:r>
          </a:p>
          <a:p>
            <a:pPr lvl="0" indent="0" marL="1270000">
              <a:buNone/>
            </a:pPr>
            <a:r>
              <a:rPr sz="2000" b="1"/>
              <a:t>Note</a:t>
            </a:r>
          </a:p>
          <a:p>
            <a:pPr lvl="0" indent="0" marL="1270000">
              <a:buNone/>
            </a:pPr>
            <a:r>
              <a:rPr sz="2000" b="1"/>
              <a:t>📖 Reference</a:t>
            </a:r>
          </a:p>
          <a:p>
            <a:pPr lvl="0" indent="0" marL="1270000">
              <a:buNone/>
            </a:pPr>
            <a:r>
              <a:rPr sz="2000"/>
              <a:t>Gotelli &amp; Ellison, Ch. 6 — Designing Successful Field Studies.</a:t>
            </a:r>
          </a:p>
        </p:txBody>
      </p:sp>
      <p:pic>
        <p:nvPicPr>
          <p:cNvPr descr="images/clipboard-1432414496.png" id="0" name="Picture 1"/>
          <p:cNvPicPr>
            <a:picLocks noGrp="1" noChangeAspect="1"/>
          </p:cNvPicPr>
          <p:nvPr/>
        </p:nvPicPr>
        <p:blipFill>
          <a:blip r:embed="rId2"/>
          <a:stretch>
            <a:fillRect/>
          </a:stretch>
        </p:blipFill>
        <p:spPr bwMode="auto">
          <a:xfrm>
            <a:off x="6121400" y="1384300"/>
            <a:ext cx="2781300" cy="25146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Close-up photo of a rock surface with a circular grazed patch (dark, cleared algae in the center) surrounded by a mosaic of ungrazed, algae-covered tiles, illustrating a herbivore grazing-scar pattern from a classic stream ecology study.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Causality and the Inference Gradient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Design Carries the Causal Claim</a:t>
            </a:r>
          </a:p>
        </p:txBody>
      </p:sp>
      <p:sp>
        <p:nvSpPr>
          <p:cNvPr id="3" name="Content Placeholder 2"/>
          <p:cNvSpPr>
            <a:spLocks noGrp="1"/>
          </p:cNvSpPr>
          <p:nvPr>
            <p:ph idx="1" sz="half"/>
          </p:nvPr>
        </p:nvSpPr>
        <p:spPr/>
        <p:txBody>
          <a:bodyPr/>
          <a:lstStyle/>
          <a:p>
            <a:pPr lvl="0" indent="0" marL="0">
              <a:buNone/>
            </a:pPr>
            <a:r>
              <a:rPr/>
              <a:t>Statistics has </a:t>
            </a:r>
            <a:r>
              <a:rPr b="1"/>
              <a:t>no test for causality</a:t>
            </a:r>
            <a:r>
              <a:rPr/>
              <a:t>. The design carries the causal claim; the analysis just reports numbers. Strength of inference runs on a gradient, and what moves you up it is control of confounding:</a:t>
            </a:r>
          </a:p>
          <a:p>
            <a:pPr lvl="0" indent="-342900" marL="342900">
              <a:buAutoNum type="arabicPeriod"/>
            </a:pPr>
            <a:r>
              <a:rPr/>
              <a:t>Observational field study — </a:t>
            </a:r>
            <a:r>
              <a:rPr b="1"/>
              <a:t>weak</a:t>
            </a:r>
          </a:p>
          <a:p>
            <a:pPr lvl="0" indent="-342900" marL="342900">
              <a:buAutoNum type="arabicPeriod"/>
            </a:pPr>
            <a:r>
              <a:rPr/>
              <a:t>Field study with measured covariates</a:t>
            </a:r>
          </a:p>
          <a:p>
            <a:pPr lvl="0" indent="-342900" marL="342900">
              <a:buAutoNum type="arabicPeriod"/>
            </a:pPr>
            <a:r>
              <a:rPr/>
              <a:t>Randomized, controlled experiment — </a:t>
            </a:r>
            <a:r>
              <a:rPr b="1"/>
              <a:t>strong</a:t>
            </a:r>
          </a:p>
          <a:p>
            <a:pPr lvl="0" indent="0" marL="0">
              <a:buNone/>
            </a:pPr>
            <a:r>
              <a:rPr b="1"/>
              <a:t>Our running example, all day:</a:t>
            </a:r>
            <a:r>
              <a:rPr/>
              <a:t> on small islands, does lizard predation control spider density?</a:t>
            </a:r>
          </a:p>
          <a:p>
            <a:pPr lvl="0" indent="0" marL="1270000">
              <a:buNone/>
            </a:pPr>
            <a:r>
              <a:rPr sz="2000" b="1"/>
              <a:t>Warning</a:t>
            </a:r>
          </a:p>
          <a:p>
            <a:pPr lvl="0" indent="0" marL="1270000">
              <a:buNone/>
            </a:pPr>
            <a:r>
              <a:rPr sz="2000" b="1"/>
              <a:t>⚠️ The same regression, three different claims</a:t>
            </a:r>
          </a:p>
          <a:p>
            <a:pPr lvl="0" indent="0" marL="1270000">
              <a:buNone/>
            </a:pPr>
            <a:r>
              <a:rPr sz="2000">
                <a:latin typeface="Courier"/>
              </a:rPr>
              <a:t>lm(spiders ~ lizards)</a:t>
            </a:r>
            <a:r>
              <a:rPr sz="2000"/>
              <a:t> returns the identical output at all three levels. What changes is what you are </a:t>
            </a:r>
            <a:r>
              <a:rPr sz="2000" i="1"/>
              <a:t>entitled to say</a:t>
            </a:r>
            <a:r>
              <a:rPr sz="2000"/>
              <a:t> about it.</a:t>
            </a:r>
          </a:p>
        </p:txBody>
      </p:sp>
      <p:pic>
        <p:nvPicPr>
          <p:cNvPr descr="images/clipboard-981938461.png" id="0" name="Picture 1"/>
          <p:cNvPicPr>
            <a:picLocks noGrp="1" noChangeAspect="1"/>
          </p:cNvPicPr>
          <p:nvPr/>
        </p:nvPicPr>
        <p:blipFill>
          <a:blip r:embed="rId2"/>
          <a:stretch>
            <a:fillRect/>
          </a:stretch>
        </p:blipFill>
        <p:spPr bwMode="auto">
          <a:xfrm>
            <a:off x="6121400" y="1079500"/>
            <a:ext cx="2781300" cy="3111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three study-design types (observational field study, covariate-controlled field study, randomized controlled experiment) stacked with a downward gradient arrow labeled ‘weak’ at top to ‘strong’ at bottom, showing the strength of causal inference increasing from observational studies to randomized experiments.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Natural and Manipulative Experiments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Natural Experiments</a:t>
            </a:r>
          </a:p>
        </p:txBody>
      </p:sp>
      <p:sp>
        <p:nvSpPr>
          <p:cNvPr id="3" name="Content Placeholder 2"/>
          <p:cNvSpPr>
            <a:spLocks noGrp="1"/>
          </p:cNvSpPr>
          <p:nvPr>
            <p:ph idx="1" sz="half"/>
          </p:nvPr>
        </p:nvSpPr>
        <p:spPr/>
        <p:txBody>
          <a:bodyPr/>
          <a:lstStyle/>
          <a:p>
            <a:pPr lvl="0" indent="0" marL="0">
              <a:buNone/>
            </a:pPr>
            <a:r>
              <a:rPr/>
              <a:t>Not experiments at all — you use </a:t>
            </a:r>
            <a:r>
              <a:rPr b="1"/>
              <a:t>natural variation</a:t>
            </a:r>
            <a:r>
              <a:rPr/>
              <a:t> in the predictor. Survey plots across an existing gradient of lizard density.</a:t>
            </a:r>
          </a:p>
          <a:p>
            <a:pPr lvl="0" indent="0" marL="0">
              <a:buNone/>
            </a:pPr>
            <a:r>
              <a:rPr b="1"/>
              <a:t>What you gain:</a:t>
            </a:r>
            <a:r>
              <a:rPr/>
              <a:t> real scale, real systems, long time spans, questions you could never manipulate.</a:t>
            </a:r>
          </a:p>
          <a:p>
            <a:pPr lvl="0" indent="0" marL="0">
              <a:buNone/>
            </a:pPr>
            <a:r>
              <a:rPr b="1"/>
              <a:t>What you give up:</a:t>
            </a:r>
          </a:p>
          <a:p>
            <a:pPr lvl="0"/>
            <a:r>
              <a:rPr/>
              <a:t>Direction of causation is not identified — lizards may eat spiders, or spiders may feed lizards</a:t>
            </a:r>
          </a:p>
          <a:p>
            <a:pPr lvl="0"/>
            <a:r>
              <a:rPr/>
              <a:t>Uncontrolled variables ride along with the predictor</a:t>
            </a:r>
          </a:p>
          <a:p>
            <a:pPr lvl="0" indent="0" marL="1270000">
              <a:buNone/>
            </a:pPr>
            <a:r>
              <a:rPr sz="2000" b="1"/>
              <a:t>Note</a:t>
            </a:r>
          </a:p>
          <a:p>
            <a:pPr lvl="0" indent="0" marL="1270000">
              <a:buNone/>
            </a:pPr>
            <a:r>
              <a:rPr sz="2000" b="1"/>
              <a:t>📖 Reference</a:t>
            </a:r>
          </a:p>
          <a:p>
            <a:pPr lvl="0" indent="0" marL="1270000">
              <a:buNone/>
            </a:pPr>
            <a:r>
              <a:rPr sz="2000"/>
              <a:t>Whitlock &amp; Schluter §14.7 — “What if you can’t do experiments?” — is exactly this problem, and covers </a:t>
            </a:r>
            <a:r>
              <a:rPr sz="2000" b="1"/>
              <a:t>matching</a:t>
            </a:r>
            <a:r>
              <a:rPr sz="2000"/>
              <a:t> and </a:t>
            </a:r>
            <a:r>
              <a:rPr sz="2000" b="1"/>
              <a:t>adjusting for covariates</a:t>
            </a:r>
            <a:r>
              <a:rPr sz="2000"/>
              <a:t> as the two partial fixes.</a:t>
            </a:r>
          </a:p>
        </p:txBody>
      </p:sp>
      <p:pic>
        <p:nvPicPr>
          <p:cNvPr descr="images/clipboard-194557558.png" id="0" name="Picture 1"/>
          <p:cNvPicPr>
            <a:picLocks noGrp="1" noChangeAspect="1"/>
          </p:cNvPicPr>
          <p:nvPr/>
        </p:nvPicPr>
        <p:blipFill>
          <a:blip r:embed="rId2"/>
          <a:stretch>
            <a:fillRect/>
          </a:stretch>
        </p:blipFill>
        <p:spPr bwMode="auto">
          <a:xfrm>
            <a:off x="6121400" y="1587500"/>
            <a:ext cx="2781300" cy="2120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spider density against lizard density across survey plots, showing a clear negative relationship, an example of a natural experiment using existing variation rather than manipulation.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the Reviewer</a:t>
            </a:r>
          </a:p>
        </p:txBody>
      </p:sp>
      <p:sp>
        <p:nvSpPr>
          <p:cNvPr id="3" name="Content Placeholder 2"/>
          <p:cNvSpPr>
            <a:spLocks noGrp="1"/>
          </p:cNvSpPr>
          <p:nvPr>
            <p:ph idx="1" sz="half"/>
          </p:nvPr>
        </p:nvSpPr>
        <p:spPr/>
        <p:txBody>
          <a:bodyPr/>
          <a:lstStyle/>
          <a:p>
            <a:pPr lvl="0" indent="0" marL="0">
              <a:buNone/>
            </a:pPr>
            <a:r>
              <a:rPr/>
              <a:t>A manuscript lands on your desk. The authors surveyed 40 island plots and report that </a:t>
            </a:r>
            <a:r>
              <a:rPr b="1"/>
              <a:t>spider density falls as lizard density rises</a:t>
            </a:r>
            <a:r>
              <a:rPr/>
              <a:t>. They did not measure moisture.</a:t>
            </a:r>
          </a:p>
          <a:p>
            <a:pPr lvl="0" indent="0" marL="0">
              <a:buNone/>
            </a:pPr>
            <a:r>
              <a:rPr/>
              <a:t>You know that </a:t>
            </a:r>
            <a:r>
              <a:rPr b="1"/>
              <a:t>moisture</a:t>
            </a:r>
            <a:r>
              <a:rPr/>
              <a:t> is related to both lizards and spiders on these islands.</a:t>
            </a:r>
          </a:p>
          <a:p>
            <a:pPr lvl="0" indent="0" marL="0">
              <a:buNone/>
            </a:pPr>
            <a:r>
              <a:rPr b="1"/>
              <a:t>Your review says the authors must:</a:t>
            </a:r>
          </a:p>
          <a:p>
            <a:pPr lvl="0" indent="0" marL="0">
              <a:buNone/>
            </a:pPr>
            <a:r>
              <a:rPr b="1"/>
              <a:t>(a)</a:t>
            </a:r>
            <a:r>
              <a:rPr/>
              <a:t> Control for moisture — it is a confounder, and failing to control for it invalidates the result</a:t>
            </a:r>
          </a:p>
          <a:p>
            <a:pPr lvl="0" indent="0" marL="0">
              <a:buNone/>
            </a:pPr>
            <a:r>
              <a:rPr b="1"/>
              <a:t>(b)</a:t>
            </a:r>
            <a:r>
              <a:rPr/>
              <a:t> Not control for moisture — doing so could erase the very effect they are measuring</a:t>
            </a:r>
          </a:p>
          <a:p>
            <a:pPr lvl="0" indent="0" marL="0">
              <a:buNone/>
            </a:pPr>
            <a:r>
              <a:rPr b="1"/>
              <a:t>(c)</a:t>
            </a:r>
            <a:r>
              <a:rPr/>
              <a:t> Nothing yet — you cannot tell which advice is right from the data alone</a:t>
            </a:r>
          </a:p>
          <a:p>
            <a:pPr lvl="0" indent="0" marL="0">
              <a:buNone/>
            </a:pPr>
            <a:r>
              <a:rPr b="1"/>
              <a:t>(d)</a:t>
            </a:r>
            <a:r>
              <a:rPr/>
              <a:t> Control for moisture </a:t>
            </a:r>
            <a:r>
              <a:rPr i="1"/>
              <a:t>and</a:t>
            </a:r>
            <a:r>
              <a:rPr/>
              <a:t> report the uncontrolled result, letting readers choose</a:t>
            </a:r>
          </a:p>
          <a:p>
            <a:pPr lvl="0" indent="0" marL="1270000">
              <a:buNone/>
            </a:pPr>
            <a:r>
              <a:rPr sz="2000" b="1"/>
              <a:t>Warning</a:t>
            </a:r>
          </a:p>
          <a:p>
            <a:pPr lvl="0" indent="0" marL="1270000">
              <a:buNone/>
            </a:pPr>
            <a:r>
              <a:rPr sz="2000" b="1"/>
              <a:t>✍️ Write your letter down, then vote.</a:t>
            </a:r>
          </a:p>
        </p:txBody>
      </p:sp>
      <p:pic>
        <p:nvPicPr>
          <p:cNvPr descr="images/clipboard-260157568.png" id="0" name="Picture 1"/>
          <p:cNvPicPr>
            <a:picLocks noGrp="1" noChangeAspect="1"/>
          </p:cNvPicPr>
          <p:nvPr/>
        </p:nvPicPr>
        <p:blipFill>
          <a:blip r:embed="rId2"/>
          <a:stretch>
            <a:fillRect/>
          </a:stretch>
        </p:blipFill>
        <p:spPr bwMode="auto">
          <a:xfrm>
            <a:off x="6680200" y="660400"/>
            <a:ext cx="16510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Three-part figure: (A) a scatterplot of spider density versus lizard density showing no relationship (null hypothesis), (B) a scatterplot showing spider density declining as lizard density increases (alternative hypothesis), and a photo below of a lizard eating a spider, illustrating a proposed predation mechanism.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Strengthening a Natural Experiment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 and this is the uncomfortable part of observational work.</a:t>
            </a:r>
          </a:p>
          <a:p>
            <a:pPr lvl="0" indent="0" marL="1270000">
              <a:buNone/>
            </a:pPr>
            <a:r>
              <a:rPr sz="2000"/>
              <a:t>If moisture drives lizards </a:t>
            </a:r>
            <a:r>
              <a:rPr sz="2000" i="1"/>
              <a:t>and</a:t>
            </a:r>
            <a:r>
              <a:rPr sz="2000"/>
              <a:t> spiders independently, it is a </a:t>
            </a:r>
            <a:r>
              <a:rPr sz="2000" b="1"/>
              <a:t>confounder</a:t>
            </a:r>
            <a:r>
              <a:rPr sz="2000"/>
              <a:t> and (a) is right. If moisture drives lizards, which then eat spiders, it is a </a:t>
            </a:r>
            <a:r>
              <a:rPr sz="2000" b="1"/>
              <a:t>mediator</a:t>
            </a:r>
            <a:r>
              <a:rPr sz="2000"/>
              <a:t> on the causal path — and controlling for it deletes the effect, so (b) is right.</a:t>
            </a:r>
          </a:p>
          <a:p>
            <a:pPr lvl="0" indent="0" marL="1270000">
              <a:buNone/>
            </a:pPr>
            <a:r>
              <a:rPr sz="2000" b="1"/>
              <a:t>The data cannot distinguish these two.</a:t>
            </a:r>
            <a:r>
              <a:rPr sz="2000"/>
              <a:t> The arrows come from the biology, not from the numbers. Anyone who tells you “always control for everything you measured” is wrong.</a:t>
            </a:r>
          </a:p>
          <a:p>
            <a:pPr lvl="0" indent="0" marL="0">
              <a:buNone/>
            </a:pPr>
            <a:r>
              <a:rPr/>
              <a:t>You cannot randomize, so you attack confounding directly:</a:t>
            </a:r>
          </a:p>
          <a:p>
            <a:pPr lvl="0"/>
            <a:r>
              <a:rPr b="1"/>
              <a:t>Reduce</a:t>
            </a:r>
            <a:r>
              <a:rPr/>
              <a:t> it — choose plots that are alike in everything except lizard density (this is </a:t>
            </a:r>
            <a:r>
              <a:rPr b="1"/>
              <a:t>matching</a:t>
            </a:r>
            <a:r>
              <a:rPr/>
              <a:t>)</a:t>
            </a:r>
          </a:p>
          <a:p>
            <a:pPr lvl="0"/>
            <a:r>
              <a:rPr b="1"/>
              <a:t>Adjust</a:t>
            </a:r>
            <a:r>
              <a:rPr/>
              <a:t> for it — measure the covariates and put them in the model</a:t>
            </a:r>
          </a:p>
          <a:p>
            <a:pPr lvl="0"/>
            <a:r>
              <a:rPr b="1"/>
              <a:t>Name</a:t>
            </a:r>
            <a:r>
              <a:rPr/>
              <a:t> it — you cannot adjust for a confounder you never wrote down</a:t>
            </a:r>
          </a:p>
          <a:p>
            <a:pPr lvl="0" indent="0" marL="0">
              <a:buNone/>
            </a:pPr>
            <a:r>
              <a:rPr/>
              <a:t>Know which one you have — the diagrams on the right are the whole distinction:</a:t>
            </a:r>
          </a:p>
          <a:p>
            <a:pPr lvl="0"/>
            <a:r>
              <a:rPr/>
              <a:t>A </a:t>
            </a:r>
            <a:r>
              <a:rPr b="1"/>
              <a:t>confounder</a:t>
            </a:r>
            <a:r>
              <a:rPr/>
              <a:t> drives both X and Y — adjust for it</a:t>
            </a:r>
          </a:p>
          <a:p>
            <a:pPr lvl="0"/>
            <a:r>
              <a:rPr/>
              <a:t>A </a:t>
            </a:r>
            <a:r>
              <a:rPr b="1"/>
              <a:t>mediator</a:t>
            </a:r>
            <a:r>
              <a:rPr/>
              <a:t> sits on the path X → M → Y — adjusting for it removes the effect you came to measure</a:t>
            </a:r>
          </a:p>
        </p:txBody>
      </p:sp>
      <p:pic>
        <p:nvPicPr>
          <p:cNvPr descr="images/clipboard-3939861261.png" id="0" name="Picture 1"/>
          <p:cNvPicPr>
            <a:picLocks noGrp="1" noChangeAspect="1"/>
          </p:cNvPicPr>
          <p:nvPr/>
        </p:nvPicPr>
        <p:blipFill>
          <a:blip r:embed="rId2"/>
          <a:stretch>
            <a:fillRect/>
          </a:stretch>
        </p:blipFill>
        <p:spPr bwMode="auto">
          <a:xfrm>
            <a:off x="6121400" y="812800"/>
            <a:ext cx="2781300" cy="3644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causal diagrams: a ‘confounder’ diagram where Moisture has arrows pointing to both Lizard density and Spider density (a third variable driving both), and a ‘mediator’ diagram where Moisture points to Lizard density which in turn points to Spider density (an indirect causal chain).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Manipulative Experiments</a:t>
            </a:r>
          </a:p>
        </p:txBody>
      </p:sp>
      <p:sp>
        <p:nvSpPr>
          <p:cNvPr id="3" name="Content Placeholder 2"/>
          <p:cNvSpPr>
            <a:spLocks noGrp="1"/>
          </p:cNvSpPr>
          <p:nvPr>
            <p:ph idx="1" sz="half"/>
          </p:nvPr>
        </p:nvSpPr>
        <p:spPr/>
        <p:txBody>
          <a:bodyPr/>
          <a:lstStyle/>
          <a:p>
            <a:pPr lvl="0" indent="0" marL="0">
              <a:buNone/>
            </a:pPr>
            <a:r>
              <a:rPr/>
              <a:t>You set the predictor yourself and measure the response. Randomized and controlled, this is the strongest design available.</a:t>
            </a:r>
          </a:p>
          <a:p>
            <a:pPr lvl="0" indent="0" marL="0">
              <a:buNone/>
            </a:pPr>
            <a:r>
              <a:rPr b="1"/>
              <a:t>What it costs you</a:t>
            </a:r>
            <a:r>
              <a:rPr/>
              <a:t> — Gotelli &amp; Ellison’s trade-offs:</a:t>
            </a:r>
          </a:p>
          <a:p>
            <a:pPr lvl="0"/>
            <a:r>
              <a:rPr b="1"/>
              <a:t>Scale for replication</a:t>
            </a:r>
            <a:r>
              <a:rPr/>
              <a:t> — replicable plots are small plots</a:t>
            </a:r>
          </a:p>
          <a:p>
            <a:pPr lvl="0"/>
            <a:r>
              <a:rPr b="1"/>
              <a:t>Organism for tractability</a:t>
            </a:r>
            <a:r>
              <a:rPr/>
              <a:t> — small, short-lived species</a:t>
            </a:r>
          </a:p>
          <a:p>
            <a:pPr lvl="0"/>
            <a:r>
              <a:rPr b="1"/>
              <a:t>Treatments for replication</a:t>
            </a:r>
            <a:r>
              <a:rPr/>
              <a:t> — every extra treatment level costs replicates</a:t>
            </a:r>
          </a:p>
          <a:p>
            <a:pPr lvl="0"/>
            <a:r>
              <a:rPr/>
              <a:t>Confounding does </a:t>
            </a:r>
            <a:r>
              <a:rPr b="1"/>
              <a:t>not</a:t>
            </a:r>
            <a:r>
              <a:rPr/>
              <a:t> disappear; you now own it</a:t>
            </a:r>
          </a:p>
        </p:txBody>
      </p:sp>
      <p:pic>
        <p:nvPicPr>
          <p:cNvPr descr="images/clipboard-1608622199.png" id="0" name="Picture 1"/>
          <p:cNvPicPr>
            <a:picLocks noGrp="1" noChangeAspect="1"/>
          </p:cNvPicPr>
          <p:nvPr/>
        </p:nvPicPr>
        <p:blipFill>
          <a:blip r:embed="rId2"/>
          <a:stretch>
            <a:fillRect/>
          </a:stretch>
        </p:blipFill>
        <p:spPr bwMode="auto">
          <a:xfrm>
            <a:off x="6121400" y="1765300"/>
            <a:ext cx="2781300" cy="17526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Aerial photo of a large grid of manipulated experimental field plots surrounded by forest, part of the Cedar Creek Ecosystem Science Reserve’s long-term biodiversity experiments.</a:t>
            </a:r>
          </a:p>
        </p:txBody>
      </p:sp>
      <p:sp>
        <p:nvSpPr>
          <p:cNvPr id="4" name="Content Placeholder 3"/>
          <p:cNvSpPr>
            <a:spLocks noGrp="1"/>
          </p:cNvSpPr>
          <p:nvPr>
            <p:ph idx="2" sz="half"/>
          </p:nvPr>
        </p:nvSpPr>
        <p:spPr/>
        <p:txBody>
          <a:bodyPr/>
          <a:lstStyle/>
          <a:p>
            <a:pPr lvl="0" indent="0" marL="0">
              <a:buNone/>
            </a:pPr>
            <a:r>
              <a:rPr>
                <a:hlinkClick r:id="rId3"/>
              </a:rPr>
              <a:t>Cedar Creek Ecosystem Science Reserve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Press, Pulse, Snapshot, Trajectory</a:t>
            </a:r>
          </a:p>
        </p:txBody>
      </p:sp>
      <p:sp>
        <p:nvSpPr>
          <p:cNvPr id="3" name="Content Placeholder 2"/>
          <p:cNvSpPr>
            <a:spLocks noGrp="1"/>
          </p:cNvSpPr>
          <p:nvPr>
            <p:ph idx="1" sz="half"/>
          </p:nvPr>
        </p:nvSpPr>
        <p:spPr/>
        <p:txBody>
          <a:bodyPr/>
          <a:lstStyle/>
          <a:p>
            <a:pPr lvl="0" indent="0" marL="0">
              <a:buNone/>
            </a:pPr>
            <a:r>
              <a:rPr/>
              <a:t>Gotelli &amp; Ellison’s two axes for manipulations — and they answer different questions:</a:t>
            </a:r>
          </a:p>
          <a:p>
            <a:pPr lvl="0"/>
            <a:r>
              <a:rPr b="1"/>
              <a:t>Pulse</a:t>
            </a:r>
            <a:r>
              <a:rPr/>
              <a:t> — apply the treatment once, then walk away. Measures </a:t>
            </a:r>
            <a:r>
              <a:rPr b="1"/>
              <a:t>recovery</a:t>
            </a:r>
            <a:r>
              <a:rPr/>
              <a:t>: how fast does the system bounce back?</a:t>
            </a:r>
          </a:p>
          <a:p>
            <a:pPr lvl="0"/>
            <a:r>
              <a:rPr b="1"/>
              <a:t>Press</a:t>
            </a:r>
            <a:r>
              <a:rPr/>
              <a:t> — maintain the treatment continuously. Measures the </a:t>
            </a:r>
            <a:r>
              <a:rPr b="1"/>
              <a:t>new equilibrium</a:t>
            </a:r>
            <a:r>
              <a:rPr/>
              <a:t> the system settles into.</a:t>
            </a:r>
          </a:p>
          <a:p>
            <a:pPr lvl="0" indent="0" marL="0">
              <a:buNone/>
            </a:pPr>
            <a:r>
              <a:rPr/>
              <a:t>And for sampling the response:</a:t>
            </a:r>
          </a:p>
          <a:p>
            <a:pPr lvl="0"/>
            <a:r>
              <a:rPr b="1"/>
              <a:t>Snapshot</a:t>
            </a:r>
            <a:r>
              <a:rPr/>
              <a:t> — measure once at the end. Cheap, and blind to everything in between.</a:t>
            </a:r>
          </a:p>
          <a:p>
            <a:pPr lvl="0"/>
            <a:r>
              <a:rPr b="1"/>
              <a:t>Trajectory</a:t>
            </a:r>
            <a:r>
              <a:rPr/>
              <a:t> — measure repeatedly through time. Expensive, and the only way to see dynamics.</a:t>
            </a:r>
          </a:p>
          <a:p>
            <a:pPr lvl="0" indent="0" marL="1270000">
              <a:buNone/>
            </a:pPr>
            <a:r>
              <a:rPr sz="2000" b="1"/>
              <a:t>Important</a:t>
            </a:r>
          </a:p>
          <a:p>
            <a:pPr lvl="0" indent="0" marL="1270000">
              <a:buNone/>
            </a:pPr>
            <a:r>
              <a:rPr sz="2000" b="1"/>
              <a:t>⚠️ A snapshot can hide a complete reversal</a:t>
            </a:r>
          </a:p>
          <a:p>
            <a:pPr lvl="0" indent="0" marL="1270000">
              <a:buNone/>
            </a:pPr>
            <a:r>
              <a:rPr sz="2000"/>
              <a:t>Many treatment effects change sign as a system responds. Measure once, at one time, and you get whichever answer that moment happened to hold.</a:t>
            </a:r>
          </a:p>
        </p:txBody>
      </p:sp>
      <p:pic>
        <p:nvPicPr>
          <p:cNvPr descr="images/clipboard-3600266009.png" id="0" name="Picture 1"/>
          <p:cNvPicPr>
            <a:picLocks noGrp="1" noChangeAspect="1"/>
          </p:cNvPicPr>
          <p:nvPr/>
        </p:nvPicPr>
        <p:blipFill>
          <a:blip r:embed="rId2"/>
          <a:stretch>
            <a:fillRect/>
          </a:stretch>
        </p:blipFill>
        <p:spPr bwMode="auto">
          <a:xfrm>
            <a:off x="6121400" y="1714500"/>
            <a:ext cx="2781300" cy="1854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Aerial photo of an outdoor research facility with about 20 large circular tanks (mesocosms) arranged in a grid on gravel, plus additional smaller tanks in the background, illustrating replicated temperature-controlled growth chambers.</a:t>
            </a:r>
          </a:p>
        </p:txBody>
      </p:sp>
      <p:sp>
        <p:nvSpPr>
          <p:cNvPr id="4" name="Content Placeholder 3"/>
          <p:cNvSpPr>
            <a:spLocks noGrp="1"/>
          </p:cNvSpPr>
          <p:nvPr>
            <p:ph idx="2" sz="half"/>
          </p:nvPr>
        </p:nvSpPr>
        <p:spPr/>
        <p:txBody>
          <a:bodyPr/>
          <a:lstStyle/>
          <a:p>
            <a:pPr lvl="0" indent="0" marL="0">
              <a:buNone/>
            </a:pPr>
            <a:r>
              <a:rPr/>
              <a:t>Mesocosms let you press a treatment </a:t>
            </a:r>
            <a:r>
              <a:rPr i="1"/>
              <a:t>and</a:t>
            </a:r>
            <a:r>
              <a:rPr/>
              <a:t> follow a trajectory — at the cost of scale.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Job One: Getting Rid of Bias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Controls — and Why One Is Usually Not Enough</a:t>
            </a:r>
          </a:p>
        </p:txBody>
      </p:sp>
      <p:sp>
        <p:nvSpPr>
          <p:cNvPr id="3" name="Content Placeholder 2"/>
          <p:cNvSpPr>
            <a:spLocks noGrp="1"/>
          </p:cNvSpPr>
          <p:nvPr>
            <p:ph idx="1" sz="half"/>
          </p:nvPr>
        </p:nvSpPr>
        <p:spPr/>
        <p:txBody>
          <a:bodyPr/>
          <a:lstStyle/>
          <a:p>
            <a:pPr lvl="0" indent="0" marL="0">
              <a:buNone/>
            </a:pPr>
            <a:r>
              <a:rPr/>
              <a:t>A control is a unit treated </a:t>
            </a:r>
            <a:r>
              <a:rPr b="1"/>
              <a:t>exactly</a:t>
            </a:r>
            <a:r>
              <a:rPr/>
              <a:t> like the manipulated units, except for the one thing under investigation.</a:t>
            </a:r>
          </a:p>
          <a:p>
            <a:pPr lvl="0" indent="0" marL="0">
              <a:buNone/>
            </a:pPr>
            <a:r>
              <a:rPr/>
              <a:t>That word </a:t>
            </a:r>
            <a:r>
              <a:rPr i="1"/>
              <a:t>exactly</a:t>
            </a:r>
            <a:r>
              <a:rPr/>
              <a:t> is where designs fail. Your manipulation almost always does something besides the thing you care about:</a:t>
            </a:r>
          </a:p>
          <a:p>
            <a:pPr lvl="0"/>
            <a:r>
              <a:rPr b="1"/>
              <a:t>Toxicology:</a:t>
            </a:r>
            <a:r>
              <a:rPr/>
              <a:t> controls get injected too — same needle, same handling, no toxin</a:t>
            </a:r>
          </a:p>
          <a:p>
            <a:pPr lvl="0"/>
            <a:r>
              <a:rPr b="1"/>
              <a:t>Predator exclosures:</a:t>
            </a:r>
            <a:r>
              <a:rPr/>
              <a:t> a cage changes flow, light and sediment. You need </a:t>
            </a:r>
            <a:r>
              <a:rPr i="1"/>
              <a:t>two</a:t>
            </a:r>
            <a:r>
              <a:rPr/>
              <a:t> controls — an open plot </a:t>
            </a:r>
            <a:r>
              <a:rPr b="1"/>
              <a:t>and</a:t>
            </a:r>
            <a:r>
              <a:rPr/>
              <a:t> a cage-with-holes</a:t>
            </a:r>
          </a:p>
          <a:p>
            <a:pPr lvl="0"/>
            <a:r>
              <a:rPr b="1"/>
              <a:t>Anything you attach, bury, or visit</a:t>
            </a:r>
            <a:r>
              <a:rPr/>
              <a:t> does something merely by being attached, buried or visited</a:t>
            </a:r>
          </a:p>
          <a:p>
            <a:pPr lvl="0" indent="0" marL="1270000">
              <a:buNone/>
            </a:pPr>
            <a:r>
              <a:rPr sz="2000" b="1"/>
              <a:t>Note</a:t>
            </a:r>
          </a:p>
          <a:p>
            <a:pPr lvl="0" indent="0" marL="1270000">
              <a:buNone/>
            </a:pPr>
            <a:r>
              <a:rPr sz="2000" b="1"/>
              <a:t>Vocabulary</a:t>
            </a:r>
          </a:p>
          <a:p>
            <a:pPr lvl="0" indent="0" marL="1270000">
              <a:buNone/>
            </a:pPr>
            <a:r>
              <a:rPr sz="2000"/>
              <a:t>The second kind is a </a:t>
            </a:r>
            <a:r>
              <a:rPr sz="2000" b="1"/>
              <a:t>procedural</a:t>
            </a:r>
            <a:r>
              <a:rPr sz="2000"/>
              <a:t> or </a:t>
            </a:r>
            <a:r>
              <a:rPr sz="2000" b="1"/>
              <a:t>sham</a:t>
            </a:r>
            <a:r>
              <a:rPr sz="2000"/>
              <a:t> control. Next slide: real data where forgetting it would have produced a completely wrong paper.</a:t>
            </a:r>
          </a:p>
        </p:txBody>
      </p:sp>
      <p:pic>
        <p:nvPicPr>
          <p:cNvPr descr="images/clipboard-3685049769.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underwater photos on a coral reef: (a) a PVC-pipe apparatus with bait attached near the coral, and (b)-(c) a mesh cage/exclosure structure being lowered over the setup, illustrating a predator-exclusion control used to separate manipulation effects from confounds like cage artifacts.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Sham Control Earns Its Keep — Sponges on Mangrove Roots</a:t>
            </a:r>
          </a:p>
        </p:txBody>
      </p:sp>
      <p:sp>
        <p:nvSpPr>
          <p:cNvPr id="3" name="Content Placeholder 2"/>
          <p:cNvSpPr>
            <a:spLocks noGrp="1"/>
          </p:cNvSpPr>
          <p:nvPr>
            <p:ph idx="1" sz="half"/>
          </p:nvPr>
        </p:nvSpPr>
        <p:spPr/>
        <p:txBody>
          <a:bodyPr/>
          <a:lstStyle/>
          <a:p>
            <a:pPr lvl="0" indent="0" marL="0">
              <a:buNone/>
            </a:pPr>
            <a:r>
              <a:rPr/>
              <a:t>Ellison, Farnsworth &amp; Twilley (1996) asked whether epibiont sponges promote mangrove root growth. Four treatments, </a:t>
            </a:r>
            <a:r>
              <a:rPr b="1"/>
              <a:t>14 roots each</a:t>
            </a:r>
            <a:r>
              <a:rPr/>
              <a:t>:</a:t>
            </a:r>
          </a:p>
          <a:p>
            <a:pPr lvl="0" indent="0">
              <a:buNone/>
            </a:pPr>
            <a:r>
              <a:rPr>
                <a:solidFill>
                  <a:srgbClr val="003B4F"/>
                </a:solidFill>
                <a:latin typeface="Courier"/>
              </a:rPr>
              <a:t>sponge_df &lt;- </a:t>
            </a:r>
            <a:r>
              <a:rPr>
                <a:solidFill>
                  <a:srgbClr val="4758AB"/>
                </a:solidFill>
                <a:latin typeface="Courier"/>
              </a:rPr>
              <a:t>read_csv</a:t>
            </a:r>
            <a:r>
              <a:rPr>
                <a:solidFill>
                  <a:srgbClr val="003B4F"/>
                </a:solidFill>
                <a:latin typeface="Courier"/>
              </a:rPr>
              <a:t>(</a:t>
            </a:r>
            <a:r>
              <a:rPr>
                <a:solidFill>
                  <a:srgbClr val="20794D"/>
                </a:solidFill>
                <a:latin typeface="Courier"/>
              </a:rPr>
              <a:t>"data/sponge_root_growth.csv"</a:t>
            </a:r>
            <a:r>
              <a:rPr>
                <a:solidFill>
                  <a:srgbClr val="003B4F"/>
                </a:solidFill>
                <a:latin typeface="Courier"/>
              </a:rPr>
              <a:t>)</a:t>
            </a:r>
            <a:b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(treatment)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(growth_mm_d))</a:t>
            </a:r>
          </a:p>
          <a:p>
            <a:pPr lvl="0" indent="0">
              <a:buNone/>
            </a:pPr>
            <a:r>
              <a:rPr>
                <a:latin typeface="Courier"/>
              </a:rPr>
              <a:t># A tibble: 4 × 7
  treatment     n  mean    sd    se ci_lower ci_upper
  &lt;chr&gt;     &lt;int&gt; &lt;dbl&gt; &lt;dbl&gt; &lt;dbl&gt;    &lt;dbl&gt;    &lt;dbl&gt;
1 Control      14 0.329 0.432 0.115   0.0801    0.578
2 Foam         14 0.712 0.393 0.105   0.485     0.939
3 Haliclona    14 0.765 0.348 0.093   0.564     0.966
4 Tedania      14 0.914 0.442 0.118   0.659     1.17 </a:t>
            </a:r>
          </a:p>
          <a:p>
            <a:pPr lvl="0"/>
            <a:r>
              <a:rPr>
                <a:latin typeface="Courier"/>
              </a:rPr>
              <a:t>Control</a:t>
            </a:r>
            <a:r>
              <a:rPr/>
              <a:t> — bare root</a:t>
            </a:r>
          </a:p>
          <a:p>
            <a:pPr lvl="0"/>
            <a:r>
              <a:rPr>
                <a:latin typeface="Courier"/>
              </a:rPr>
              <a:t>Foam</a:t>
            </a:r>
            <a:r>
              <a:rPr/>
              <a:t> — inert foam, the </a:t>
            </a:r>
            <a:r>
              <a:rPr b="1"/>
              <a:t>sham control</a:t>
            </a:r>
          </a:p>
          <a:p>
            <a:pPr lvl="0"/>
            <a:r>
              <a:rPr>
                <a:latin typeface="Courier"/>
              </a:rPr>
              <a:t>Haliclona</a:t>
            </a:r>
            <a:r>
              <a:rPr/>
              <a:t>, </a:t>
            </a:r>
            <a:r>
              <a:rPr>
                <a:latin typeface="Courier"/>
              </a:rPr>
              <a:t>Tedania</a:t>
            </a:r>
            <a:r>
              <a:rPr/>
              <a:t> — the two sponges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Read the means before you read any test.</a:t>
            </a:r>
          </a:p>
          <a:p>
            <a:pPr lvl="0" indent="0" marL="1270000">
              <a:buNone/>
            </a:pPr>
            <a:r>
              <a:rPr sz="2000"/>
              <a:t>Four numbers. Nothing else is on this slide on purpose.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Writing the Abstract</a:t>
            </a:r>
          </a:p>
        </p:txBody>
      </p:sp>
      <p:sp>
        <p:nvSpPr>
          <p:cNvPr id="3" name="Content Placeholder 2"/>
          <p:cNvSpPr>
            <a:spLocks noGrp="1"/>
          </p:cNvSpPr>
          <p:nvPr>
            <p:ph idx="1" sz="half"/>
          </p:nvPr>
        </p:nvSpPr>
        <p:spPr/>
        <p:txBody>
          <a:bodyPr/>
          <a:lstStyle/>
          <a:p>
            <a:pPr lvl="0" indent="0" marL="0">
              <a:buNone/>
            </a:pPr>
            <a:r>
              <a:rPr/>
              <a:t>Those four means are all the evidence you have. You now have to write the one sentence of the abstract that states what you found.</a:t>
            </a:r>
          </a:p>
          <a:p>
            <a:pPr lvl="0" indent="0" marL="0">
              <a:buNone/>
            </a:pPr>
            <a:r>
              <a:rPr b="1"/>
              <a:t>Which claim do these data support?</a:t>
            </a:r>
          </a:p>
          <a:p>
            <a:pPr lvl="0" indent="0" marL="0">
              <a:buNone/>
            </a:pPr>
            <a:r>
              <a:rPr b="1"/>
              <a:t>(a)</a:t>
            </a:r>
            <a:r>
              <a:rPr/>
              <a:t> Both sponge species increase mangrove root growth</a:t>
            </a:r>
          </a:p>
          <a:p>
            <a:pPr lvl="0" indent="0" marL="0">
              <a:buNone/>
            </a:pPr>
            <a:r>
              <a:rPr b="1"/>
              <a:t>(b)</a:t>
            </a:r>
            <a:r>
              <a:rPr/>
              <a:t> Only </a:t>
            </a:r>
            <a:r>
              <a:rPr i="1"/>
              <a:t>Tedania</a:t>
            </a:r>
            <a:r>
              <a:rPr/>
              <a:t> increases root growth; </a:t>
            </a:r>
            <a:r>
              <a:rPr i="1"/>
              <a:t>Haliclona</a:t>
            </a:r>
            <a:r>
              <a:rPr/>
              <a:t> does not</a:t>
            </a:r>
          </a:p>
          <a:p>
            <a:pPr lvl="0" indent="0" marL="0">
              <a:buNone/>
            </a:pPr>
            <a:r>
              <a:rPr b="1"/>
              <a:t>(c)</a:t>
            </a:r>
            <a:r>
              <a:rPr/>
              <a:t> We cannot tell whether the </a:t>
            </a:r>
            <a:r>
              <a:rPr b="1"/>
              <a:t>sponges</a:t>
            </a:r>
            <a:r>
              <a:rPr/>
              <a:t> do anything</a:t>
            </a:r>
          </a:p>
          <a:p>
            <a:pPr lvl="0" indent="0" marL="0">
              <a:buNone/>
            </a:pPr>
            <a:r>
              <a:rPr b="1"/>
              <a:t>(d)</a:t>
            </a:r>
            <a:r>
              <a:rPr/>
              <a:t> The sponges have no effect on root growth</a:t>
            </a:r>
          </a:p>
          <a:p>
            <a:pPr lvl="0" indent="0" marL="1270000">
              <a:buNone/>
            </a:pPr>
            <a:r>
              <a:rPr sz="2000" b="1"/>
              <a:t>Warning</a:t>
            </a:r>
          </a:p>
          <a:p>
            <a:pPr lvl="0" indent="0" marL="1270000">
              <a:buNone/>
            </a:pPr>
            <a:r>
              <a:rPr sz="2000" b="1"/>
              <a:t>✍️ Write your letter down before you look at the next slide.</a:t>
            </a:r>
          </a:p>
          <a:p>
            <a:pPr lvl="0" indent="0" marL="1270000">
              <a:buNone/>
            </a:pPr>
            <a:r>
              <a:rPr sz="2000"/>
              <a:t>Then argue it with your neighbour. Everyone in this room has enough information to get this right.</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Treatment</a:t>
                      </a:r>
                    </a:p>
                  </a:txBody>
                  <a:tcPr/>
                </a:tc>
                <a:tc>
                  <a:txBody>
                    <a:bodyPr/>
                    <a:lstStyle/>
                    <a:p>
                      <a:pPr lvl="0" indent="0" marL="0">
                        <a:buNone/>
                      </a:pPr>
                      <a:r>
                        <a:rPr/>
                        <a:t>Growth (mm/d)</a:t>
                      </a:r>
                    </a:p>
                  </a:txBody>
                  <a:tcPr/>
                </a:tc>
              </a:tr>
              <a:tr h="0">
                <a:tc>
                  <a:txBody>
                    <a:bodyPr/>
                    <a:lstStyle/>
                    <a:p>
                      <a:pPr lvl="0" indent="0" marL="0">
                        <a:buNone/>
                      </a:pPr>
                      <a:r>
                        <a:rPr>
                          <a:latin typeface="Courier"/>
                        </a:rPr>
                        <a:t>Control</a:t>
                      </a:r>
                    </a:p>
                  </a:txBody>
                </a:tc>
                <a:tc>
                  <a:txBody>
                    <a:bodyPr/>
                    <a:lstStyle/>
                    <a:p>
                      <a:pPr lvl="0" indent="0" marL="0">
                        <a:buNone/>
                      </a:pPr>
                      <a:r>
                        <a:rPr/>
                        <a:t>0.33</a:t>
                      </a:r>
                    </a:p>
                  </a:txBody>
                </a:tc>
              </a:tr>
              <a:tr h="0">
                <a:tc>
                  <a:txBody>
                    <a:bodyPr/>
                    <a:lstStyle/>
                    <a:p>
                      <a:pPr lvl="0" indent="0" marL="0">
                        <a:buNone/>
                      </a:pPr>
                      <a:r>
                        <a:rPr>
                          <a:latin typeface="Courier"/>
                        </a:rPr>
                        <a:t>Foam</a:t>
                      </a:r>
                    </a:p>
                  </a:txBody>
                </a:tc>
                <a:tc>
                  <a:txBody>
                    <a:bodyPr/>
                    <a:lstStyle/>
                    <a:p>
                      <a:pPr lvl="0" indent="0" marL="0">
                        <a:buNone/>
                      </a:pPr>
                      <a:r>
                        <a:rPr/>
                        <a:t>0.71</a:t>
                      </a:r>
                    </a:p>
                  </a:txBody>
                </a:tc>
              </a:tr>
              <a:tr h="0">
                <a:tc>
                  <a:txBody>
                    <a:bodyPr/>
                    <a:lstStyle/>
                    <a:p>
                      <a:pPr lvl="0" indent="0" marL="0">
                        <a:buNone/>
                      </a:pPr>
                      <a:r>
                        <a:rPr>
                          <a:latin typeface="Courier"/>
                        </a:rPr>
                        <a:t>Haliclona</a:t>
                      </a:r>
                    </a:p>
                  </a:txBody>
                </a:tc>
                <a:tc>
                  <a:txBody>
                    <a:bodyPr/>
                    <a:lstStyle/>
                    <a:p>
                      <a:pPr lvl="0" indent="0" marL="0">
                        <a:buNone/>
                      </a:pPr>
                      <a:r>
                        <a:rPr/>
                        <a:t>0.77</a:t>
                      </a:r>
                    </a:p>
                  </a:txBody>
                </a:tc>
              </a:tr>
              <a:tr h="0">
                <a:tc>
                  <a:txBody>
                    <a:bodyPr/>
                    <a:lstStyle/>
                    <a:p>
                      <a:pPr lvl="0" indent="0" marL="0">
                        <a:buNone/>
                      </a:pPr>
                      <a:r>
                        <a:rPr>
                          <a:latin typeface="Courier"/>
                        </a:rPr>
                        <a:t>Tedania</a:t>
                      </a:r>
                    </a:p>
                  </a:txBody>
                </a:tc>
                <a:tc>
                  <a:txBody>
                    <a:bodyPr/>
                    <a:lstStyle/>
                    <a:p>
                      <a:pPr lvl="0" indent="0" marL="0">
                        <a:buNone/>
                      </a:pPr>
                      <a:r>
                        <a:rPr/>
                        <a:t>0.91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Sponge Result, in Two Tests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Is there an artifact of having ANYTHING attached?</a:t>
            </a:r>
            <a:b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a:t>
            </a:r>
            <a:r>
              <a:rPr>
                <a:solidFill>
                  <a:srgbClr val="4758AB"/>
                </a:solidFill>
                <a:latin typeface="Courier"/>
              </a:rPr>
              <a:t>filter</a:t>
            </a:r>
            <a:r>
              <a:rPr>
                <a:solidFill>
                  <a:srgbClr val="003B4F"/>
                </a:solidFill>
                <a:latin typeface="Courier"/>
              </a:rPr>
              <a:t>(sponge_df,</a:t>
            </a:r>
            <a:br/>
            <a:r>
              <a:rPr>
                <a:solidFill>
                  <a:srgbClr val="003B4F"/>
                </a:solidFill>
                <a:latin typeface="Courier"/>
              </a:rPr>
              <a:t>                     treatment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"Foam"</a:t>
            </a:r>
            <a:r>
              <a:rPr>
                <a:solidFill>
                  <a:srgbClr val="003B4F"/>
                </a:solidFill>
                <a:latin typeface="Courier"/>
              </a:rPr>
              <a:t>)))</a:t>
            </a:r>
          </a:p>
          <a:p>
            <a:pPr lvl="0" indent="0">
              <a:buNone/>
            </a:pPr>
            <a:r>
              <a:rPr>
                <a:latin typeface="Courier"/>
              </a:rPr>
              <a:t>
    Welch Two Sample t-test
data:  growth_mm_d by treatment
t = -2.4537, df = 25.775, p-value = 0.02122
alternative hypothesis: true difference in means between group Control and group Foam is not equal to 0
95 percent confidence interval:
 -0.70372014 -0.06199415
sample estimates:
mean in group Control    mean in group Foam 
            0.3292857             0.7121429 </a:t>
            </a:r>
          </a:p>
          <a:p>
            <a:pPr lvl="0" indent="0">
              <a:buNone/>
            </a:pPr>
            <a:r>
              <a:rPr>
                <a:solidFill>
                  <a:srgbClr val="5E5E5E"/>
                </a:solidFill>
                <a:latin typeface="Courier"/>
              </a:rPr>
              <a:t># Do the living sponges beat the inert foam?</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kind =</a:t>
            </a:r>
            <a:r>
              <a:rPr>
                <a:solidFill>
                  <a:srgbClr val="003B4F"/>
                </a:solidFill>
                <a:latin typeface="Courier"/>
              </a:rPr>
              <a:t> </a:t>
            </a:r>
            <a:r>
              <a:rPr>
                <a:solidFill>
                  <a:srgbClr val="4758AB"/>
                </a:solidFill>
                <a:latin typeface="Courier"/>
              </a:rPr>
              <a:t>if_else</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20794D"/>
                </a:solidFill>
                <a:latin typeface="Courier"/>
              </a:rPr>
              <a:t>"sham"</a:t>
            </a:r>
            <a:r>
              <a:rPr>
                <a:solidFill>
                  <a:srgbClr val="003B4F"/>
                </a:solidFill>
                <a:latin typeface="Courier"/>
              </a:rPr>
              <a:t>, </a:t>
            </a:r>
            <a:r>
              <a:rPr>
                <a:solidFill>
                  <a:srgbClr val="20794D"/>
                </a:solidFill>
                <a:latin typeface="Courier"/>
              </a:rPr>
              <a:t>"sponge"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kind,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kind
t = -0.98461, df = 26.362, p-value = 0.3338
alternative hypothesis: true difference in means between group sham and group sponge is not equal to 0
95 percent confidence interval:
 -0.3923957  0.1381100
sample estimates:
  mean in group sham mean in group sponge 
           0.7121429            0.8392857 </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answer is (c).</a:t>
            </a:r>
            <a:r>
              <a:rPr sz="2000"/>
              <a:t> Most rooms vote (a).</a:t>
            </a:r>
          </a:p>
          <a:p>
            <a:pPr lvl="0"/>
            <a:r>
              <a:rPr sz="2000">
                <a:latin typeface="Courier"/>
              </a:rPr>
              <a:t>Control</a:t>
            </a:r>
            <a:r>
              <a:rPr sz="2000"/>
              <a:t> vs </a:t>
            </a:r>
            <a:r>
              <a:rPr sz="2000">
                <a:latin typeface="Courier"/>
              </a:rPr>
              <a:t>Foam</a:t>
            </a:r>
            <a:r>
              <a:rPr sz="2000"/>
              <a:t>: </a:t>
            </a:r>
            <a:r>
              <a:rPr sz="2000" b="1"/>
              <a:t>p = 0.021</a:t>
            </a:r>
            <a:r>
              <a:rPr sz="2000"/>
              <a:t> — a piece of </a:t>
            </a:r>
            <a:r>
              <a:rPr sz="2000" i="1"/>
              <a:t>inert plastic</a:t>
            </a:r>
            <a:r>
              <a:rPr sz="2000"/>
              <a:t> significantly increases root growth</a:t>
            </a:r>
          </a:p>
          <a:p>
            <a:pPr lvl="0"/>
            <a:r>
              <a:rPr sz="2000">
                <a:latin typeface="Courier"/>
              </a:rPr>
              <a:t>Foam</a:t>
            </a:r>
            <a:r>
              <a:rPr sz="2000"/>
              <a:t> vs sponges: </a:t>
            </a:r>
            <a:r>
              <a:rPr sz="2000" b="1"/>
              <a:t>p = 0.33</a:t>
            </a:r>
            <a:r>
              <a:rPr sz="2000"/>
              <a:t> — the living sponges add nothing detectable on top of that</a:t>
            </a:r>
          </a:p>
          <a:p>
            <a:pPr lvl="0" indent="0" marL="1270000">
              <a:buNone/>
            </a:pPr>
            <a:r>
              <a:rPr sz="2000"/>
              <a:t>The sponges sit higher than the bare control, so (a) feels obvious. But the right comparison is not against </a:t>
            </a:r>
            <a:r>
              <a:rPr sz="2000" i="1"/>
              <a:t>nothing</a:t>
            </a:r>
            <a:r>
              <a:rPr sz="2000"/>
              <a:t> — it is against </a:t>
            </a:r>
            <a:r>
              <a:rPr sz="2000" b="1"/>
              <a:t>an object that is not a sponge</a:t>
            </a:r>
            <a:r>
              <a:rPr sz="2000"/>
              <a:t>, and against that, the sponges do not measurably win.</a:t>
            </a:r>
          </a:p>
          <a:p>
            <a:pPr lvl="0" indent="0" marL="1270000">
              <a:buNone/>
            </a:pPr>
            <a:r>
              <a:rPr sz="2000" b="1"/>
              <a:t>Warning</a:t>
            </a:r>
          </a:p>
          <a:p>
            <a:pPr lvl="0" indent="0" marL="1270000">
              <a:buNone/>
            </a:pPr>
            <a:r>
              <a:rPr sz="2000" b="1"/>
              <a:t>⚠️ The paper you would have written without the foam</a:t>
            </a:r>
          </a:p>
          <a:p>
            <a:pPr lvl="0" indent="0" marL="1270000">
              <a:buNone/>
            </a:pPr>
            <a:r>
              <a:rPr sz="2000"/>
              <a:t>“Sponges promote mangrove root growth” — real p-value, clean figure, wrong conclusion. The effect is mostly </a:t>
            </a:r>
            <a:r>
              <a:rPr sz="2000" b="1"/>
              <a:t>having something attached to your root</a:t>
            </a:r>
            <a:r>
              <a:rPr sz="2000"/>
              <a:t>.</a:t>
            </a:r>
          </a:p>
          <a:p>
            <a:pPr lvl="0" indent="0" marL="1270000">
              <a:buNone/>
            </a:pPr>
            <a:r>
              <a:rPr sz="2000" b="1"/>
              <a:t>A sham control is what stands between a correct result and a confident wrong one.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Randomization</a:t>
            </a:r>
          </a:p>
        </p:txBody>
      </p:sp>
      <p:sp>
        <p:nvSpPr>
          <p:cNvPr id="3" name="Content Placeholder 2"/>
          <p:cNvSpPr>
            <a:spLocks noGrp="1"/>
          </p:cNvSpPr>
          <p:nvPr>
            <p:ph idx="1" sz="half"/>
          </p:nvPr>
        </p:nvSpPr>
        <p:spPr/>
        <p:txBody>
          <a:bodyPr/>
          <a:lstStyle/>
          <a:p>
            <a:pPr lvl="0" indent="0" marL="0">
              <a:buNone/>
            </a:pPr>
            <a:r>
              <a:rPr/>
              <a:t>Randomization is how you deconfound the variables you never thought of. It works at </a:t>
            </a:r>
            <a:r>
              <a:rPr b="1"/>
              <a:t>two</a:t>
            </a:r>
            <a:r>
              <a:rPr/>
              <a:t> levels, and both matter:</a:t>
            </a:r>
          </a:p>
          <a:p>
            <a:pPr lvl="0" indent="-342900" marL="342900">
              <a:buAutoNum type="arabicPeriod"/>
            </a:pPr>
            <a:r>
              <a:rPr b="1"/>
              <a:t>Selection</a:t>
            </a:r>
            <a:r>
              <a:rPr/>
              <a:t> — which units enter the study. Makes the sample represent the population.</a:t>
            </a:r>
          </a:p>
          <a:p>
            <a:pPr lvl="0" indent="-342900" marL="342900">
              <a:buAutoNum type="arabicPeriod"/>
            </a:pPr>
            <a:r>
              <a:rPr b="1"/>
              <a:t>Assignment</a:t>
            </a:r>
            <a:r>
              <a:rPr/>
              <a:t> — which unit gets which treatment. Makes the groups exchangeable </a:t>
            </a:r>
            <a:r>
              <a:rPr i="1"/>
              <a:t>before</a:t>
            </a:r>
            <a:r>
              <a:rPr/>
              <a:t> treatment.</a:t>
            </a:r>
          </a:p>
          <a:p>
            <a:pPr lvl="0" indent="0" marL="0">
              <a:buNone/>
            </a:pPr>
            <a:r>
              <a:rPr/>
              <a:t>Haphazard is not random. “Whichever tree I reached first” correlates with trail access, which correlates with light, soil and disturbance.</a:t>
            </a:r>
          </a:p>
          <a:p>
            <a:pPr lvl="0" indent="0">
              <a:buNone/>
            </a:pPr>
            <a:r>
              <a:rPr>
                <a:solidFill>
                  <a:srgbClr val="5E5E5E"/>
                </a:solidFill>
                <a:latin typeface="Courier"/>
              </a:rPr>
              <a:t># Selection: 10 trees from the 100 in the stand</a:t>
            </a:r>
            <a:br/>
            <a:r>
              <a:rPr>
                <a:solidFill>
                  <a:srgbClr val="003B4F"/>
                </a:solidFill>
                <a:latin typeface="Courier"/>
              </a:rPr>
              <a:t>selected &lt;- </a:t>
            </a:r>
            <a:r>
              <a:rPr>
                <a:solidFill>
                  <a:srgbClr val="4758AB"/>
                </a:solidFill>
                <a:latin typeface="Courier"/>
              </a:rPr>
              <a:t>sample</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10</a:t>
            </a:r>
            <a:r>
              <a:rPr>
                <a:solidFill>
                  <a:srgbClr val="003B4F"/>
                </a:solidFill>
                <a:latin typeface="Courier"/>
              </a:rPr>
              <a:t>)</a:t>
            </a:r>
            <a:br/>
            <a:br/>
            <a:r>
              <a:rPr>
                <a:solidFill>
                  <a:srgbClr val="5E5E5E"/>
                </a:solidFill>
                <a:latin typeface="Courier"/>
              </a:rPr>
              <a:t># Assignment: 5 to treatment, the rest to control</a:t>
            </a:r>
            <a:br/>
            <a:r>
              <a:rPr>
                <a:solidFill>
                  <a:srgbClr val="003B4F"/>
                </a:solidFill>
                <a:latin typeface="Courier"/>
              </a:rPr>
              <a:t>treated &lt;- </a:t>
            </a:r>
            <a:r>
              <a:rPr>
                <a:solidFill>
                  <a:srgbClr val="4758AB"/>
                </a:solidFill>
                <a:latin typeface="Courier"/>
              </a:rPr>
              <a:t>sample</a:t>
            </a:r>
            <a:r>
              <a:rPr>
                <a:solidFill>
                  <a:srgbClr val="003B4F"/>
                </a:solidFill>
                <a:latin typeface="Courier"/>
              </a:rPr>
              <a:t>(selected, </a:t>
            </a:r>
            <a:r>
              <a:rPr>
                <a:solidFill>
                  <a:srgbClr val="AD0000"/>
                </a:solidFill>
                <a:latin typeface="Courier"/>
              </a:rPr>
              <a:t>5</a:t>
            </a:r>
            <a:r>
              <a:rPr>
                <a:solidFill>
                  <a:srgbClr val="003B4F"/>
                </a:solidFill>
                <a:latin typeface="Courier"/>
              </a:rPr>
              <a:t>)</a:t>
            </a:r>
            <a:br/>
            <a:br/>
            <a:r>
              <a:rPr>
                <a:solidFill>
                  <a:srgbClr val="4758AB"/>
                </a:solidFill>
                <a:latin typeface="Courier"/>
              </a:rPr>
              <a:t>tibble</a:t>
            </a:r>
            <a:r>
              <a:rPr>
                <a:solidFill>
                  <a:srgbClr val="003B4F"/>
                </a:solidFill>
                <a:latin typeface="Courier"/>
              </a:rPr>
              <a:t>(</a:t>
            </a:r>
            <a:r>
              <a:rPr>
                <a:solidFill>
                  <a:srgbClr val="657422"/>
                </a:solidFill>
                <a:latin typeface="Courier"/>
              </a:rPr>
              <a:t>tree =</a:t>
            </a:r>
            <a:r>
              <a:rPr>
                <a:solidFill>
                  <a:srgbClr val="003B4F"/>
                </a:solidFill>
                <a:latin typeface="Courier"/>
              </a:rPr>
              <a:t> selected,</a:t>
            </a:r>
            <a:br/>
            <a:r>
              <a:rPr>
                <a:solidFill>
                  <a:srgbClr val="003B4F"/>
                </a:solidFill>
                <a:latin typeface="Courier"/>
              </a:rPr>
              <a:t>       </a:t>
            </a:r>
            <a:r>
              <a:rPr>
                <a:solidFill>
                  <a:srgbClr val="657422"/>
                </a:solidFill>
                <a:latin typeface="Courier"/>
              </a:rPr>
              <a:t>group =</a:t>
            </a:r>
            <a:r>
              <a:rPr>
                <a:solidFill>
                  <a:srgbClr val="003B4F"/>
                </a:solidFill>
                <a:latin typeface="Courier"/>
              </a:rPr>
              <a:t> </a:t>
            </a:r>
            <a:r>
              <a:rPr>
                <a:solidFill>
                  <a:srgbClr val="4758AB"/>
                </a:solidFill>
                <a:latin typeface="Courier"/>
              </a:rPr>
              <a:t>if_else</a:t>
            </a:r>
            <a:r>
              <a:rPr>
                <a:solidFill>
                  <a:srgbClr val="003B4F"/>
                </a:solidFill>
                <a:latin typeface="Courier"/>
              </a:rPr>
              <a:t>(tree </a:t>
            </a:r>
            <a:r>
              <a:rPr>
                <a:solidFill>
                  <a:srgbClr val="5E5E5E"/>
                </a:solidFill>
                <a:latin typeface="Courier"/>
              </a:rPr>
              <a:t>%in%</a:t>
            </a:r>
            <a:r>
              <a:rPr>
                <a:solidFill>
                  <a:srgbClr val="003B4F"/>
                </a:solidFill>
                <a:latin typeface="Courier"/>
              </a:rPr>
              <a:t> treated, </a:t>
            </a:r>
            <a:r>
              <a:rPr>
                <a:solidFill>
                  <a:srgbClr val="20794D"/>
                </a:solidFill>
                <a:latin typeface="Courier"/>
              </a:rPr>
              <a:t>"treatment"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(group)</a:t>
            </a:r>
          </a:p>
          <a:p>
            <a:pPr lvl="0" indent="0">
              <a:buNone/>
            </a:pPr>
            <a:r>
              <a:rPr>
                <a:latin typeface="Courier"/>
              </a:rPr>
              <a:t># A tibble: 10 × 2
    tree group    
   &lt;int&gt; &lt;chr&gt;    
 1    49 control  
 2   100 control  
 3    47 control  
 4    71 control  
 5    89 control  
 6    65 treatment
 7    25 treatment
 8    74 treatment
 9    18 treatment
10    24 treatment</a:t>
            </a:r>
          </a:p>
        </p:txBody>
      </p:sp>
      <p:pic>
        <p:nvPicPr>
          <p:cNvPr descr="images/clipboard-425378447.png" id="0" name="Picture 1"/>
          <p:cNvPicPr>
            <a:picLocks noGrp="1" noChangeAspect="1"/>
          </p:cNvPicPr>
          <p:nvPr/>
        </p:nvPicPr>
        <p:blipFill>
          <a:blip r:embed="rId2"/>
          <a:stretch>
            <a:fillRect/>
          </a:stretch>
        </p:blipFill>
        <p:spPr bwMode="auto">
          <a:xfrm>
            <a:off x="6121400" y="1765300"/>
            <a:ext cx="2781300" cy="17526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shoreline (land at bottom, water at top) with shaded squares labeled E (experimental) and unshaded squares labeled C (control) interspersed randomly across the plots, illustrating random assignment of units to treatment and control.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t>
            </a:r>
            <a:r>
              <a:rPr sz="2000" b="1">
                <a:latin typeface="Courier"/>
              </a:rPr>
              <a:t>set.seed()</a:t>
            </a:r>
            <a:r>
              <a:rPr sz="2000" b="1"/>
              <a:t> makes it reproducible, not less random</a:t>
            </a:r>
          </a:p>
          <a:p>
            <a:pPr lvl="0" indent="0" marL="1270000">
              <a:buNone/>
            </a:pPr>
            <a:r>
              <a:rPr sz="2000"/>
              <a:t>Record the seed and anyone can reconstruct exactly which trees you assigned where.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Blinding</a:t>
            </a:r>
          </a:p>
        </p:txBody>
      </p:sp>
      <p:sp>
        <p:nvSpPr>
          <p:cNvPr id="3" name="Content Placeholder 2"/>
          <p:cNvSpPr>
            <a:spLocks noGrp="1"/>
          </p:cNvSpPr>
          <p:nvPr>
            <p:ph idx="1" sz="half"/>
          </p:nvPr>
        </p:nvSpPr>
        <p:spPr/>
        <p:txBody>
          <a:bodyPr/>
          <a:lstStyle/>
          <a:p>
            <a:pPr lvl="0" indent="0" marL="0">
              <a:buNone/>
            </a:pPr>
            <a:r>
              <a:rPr/>
              <a:t>The measurer’s expectations leak into the measurements. This is a </a:t>
            </a:r>
            <a:r>
              <a:rPr b="1"/>
              <a:t>bias</a:t>
            </a:r>
            <a:r>
              <a:rPr/>
              <a:t>, so no amount of data fixes it.</a:t>
            </a:r>
          </a:p>
          <a:p>
            <a:pPr lvl="0"/>
            <a:r>
              <a:rPr b="1"/>
              <a:t>Single-blind</a:t>
            </a:r>
            <a:r>
              <a:rPr/>
              <a:t> — the subject does not know the treatment</a:t>
            </a:r>
          </a:p>
          <a:p>
            <a:pPr lvl="0"/>
            <a:r>
              <a:rPr b="1"/>
              <a:t>Double-blind</a:t>
            </a:r>
            <a:r>
              <a:rPr/>
              <a:t> — the person </a:t>
            </a:r>
            <a:r>
              <a:rPr i="1"/>
              <a:t>measuring</a:t>
            </a:r>
            <a:r>
              <a:rPr/>
              <a:t> does not know either</a:t>
            </a:r>
          </a:p>
          <a:p>
            <a:pPr lvl="0"/>
            <a:r>
              <a:rPr/>
              <a:t>A </a:t>
            </a:r>
            <a:r>
              <a:rPr b="1"/>
              <a:t>placebo</a:t>
            </a:r>
            <a:r>
              <a:rPr/>
              <a:t> is what makes subject-blinding possible at all</a:t>
            </a:r>
          </a:p>
          <a:p>
            <a:pPr lvl="0" indent="0" marL="0">
              <a:buNone/>
            </a:pPr>
            <a:r>
              <a:rPr/>
              <a:t>W&amp;S spend most of Ch. 14’s opening on this because medicine learned it the hard way. Ecology mostly has not.</a:t>
            </a:r>
          </a:p>
          <a:p>
            <a:pPr lvl="0" indent="0" marL="1270000">
              <a:buNone/>
            </a:pPr>
            <a:r>
              <a:rPr sz="2000" b="1"/>
              <a:t>Important</a:t>
            </a:r>
          </a:p>
          <a:p>
            <a:pPr lvl="0" indent="0" marL="1270000">
              <a:buNone/>
            </a:pPr>
            <a:r>
              <a:rPr sz="2000" b="1"/>
              <a:t>⚠️ This lands on our own study</a:t>
            </a:r>
          </a:p>
          <a:p>
            <a:pPr lvl="0" indent="0" marL="1270000">
              <a:buNone/>
            </a:pPr>
            <a:r>
              <a:rPr sz="2000"/>
              <a:t>You measured needles </a:t>
            </a:r>
            <a:r>
              <a:rPr sz="2000" b="1"/>
              <a:t>knowing</a:t>
            </a:r>
            <a:r>
              <a:rPr sz="2000"/>
              <a:t> which side of the tree they came from, and knowing the hypothesis. Nobody cheated. But “is this needle bent or straight, include it or not” is a judgement call, and judgement calls drift toward the expected answer.</a:t>
            </a:r>
          </a:p>
          <a:p>
            <a:pPr lvl="0" indent="0" marL="1270000">
              <a:buNone/>
            </a:pPr>
            <a:r>
              <a:rPr sz="2000"/>
              <a:t>The fix is cheap: someone relabels the envelopes, you measure blind to </a:t>
            </a:r>
            <a:r>
              <a:rPr sz="2000">
                <a:latin typeface="Courier"/>
              </a:rPr>
              <a:t>side</a:t>
            </a:r>
            <a:r>
              <a:rPr sz="2000"/>
              <a:t>.</a:t>
            </a:r>
          </a:p>
        </p:txBody>
      </p:sp>
      <p:pic>
        <p:nvPicPr>
          <p:cNvPr descr="images/clipboard-7335229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meme of a dog looking out a window with text joking that its barking is the reason the mail carrier always leaves unharmed (‘I have the power of barking to thank for that’), a lighthearted example of mistaking correlation/coincidence for causation.</a:t>
            </a:r>
          </a:p>
        </p:txBody>
      </p:sp>
      <p:sp>
        <p:nvSpPr>
          <p:cNvPr id="4" name="Content Placeholder 3"/>
          <p:cNvSpPr>
            <a:spLocks noGrp="1"/>
          </p:cNvSpPr>
          <p:nvPr>
            <p:ph idx="2" sz="half"/>
          </p:nvPr>
        </p:nvSpPr>
        <p:spPr/>
        <p:txBody>
          <a:bodyPr/>
          <a:lstStyle/>
          <a:p>
            <a:pPr lvl="0" indent="0" marL="0">
              <a:buNone/>
            </a:pPr>
            <a:r>
              <a:rPr/>
              <a:t>Expectation is a powerful thing.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Job Two: Shrinking Sampling Error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Replication — and at What Scale</a:t>
            </a:r>
          </a:p>
        </p:txBody>
      </p:sp>
      <p:sp>
        <p:nvSpPr>
          <p:cNvPr id="3" name="Content Placeholder 2"/>
          <p:cNvSpPr>
            <a:spLocks noGrp="1"/>
          </p:cNvSpPr>
          <p:nvPr>
            <p:ph idx="1" sz="half"/>
          </p:nvPr>
        </p:nvSpPr>
        <p:spPr/>
        <p:txBody>
          <a:bodyPr/>
          <a:lstStyle/>
          <a:p>
            <a:pPr lvl="0" indent="0" marL="0">
              <a:buNone/>
            </a:pPr>
            <a:r>
              <a:rPr/>
              <a:t>Replication does two jobs: it shrinks the standard error, and it is the </a:t>
            </a:r>
            <a:r>
              <a:rPr b="1"/>
              <a:t>only</a:t>
            </a:r>
            <a:r>
              <a:rPr/>
              <a:t> way to estimate variability at all.</a:t>
            </a:r>
          </a:p>
          <a:p>
            <a:pPr lvl="0" indent="0" marL="0">
              <a:buNone/>
            </a:pPr>
            <a:r>
              <a:rPr/>
              <a:t>The hard part is never </a:t>
            </a:r>
            <a:r>
              <a:rPr i="1"/>
              <a:t>how many</a:t>
            </a:r>
            <a:r>
              <a:rPr/>
              <a:t>. It is </a:t>
            </a:r>
            <a:r>
              <a:rPr b="1"/>
              <a:t>of what</a:t>
            </a:r>
            <a:r>
              <a:rPr/>
              <a:t>.</a:t>
            </a:r>
          </a:p>
          <a:p>
            <a:pPr lvl="0" indent="0" marL="1270000">
              <a:buNone/>
            </a:pPr>
            <a:r>
              <a:rPr sz="2000" b="1"/>
              <a:t>Warning</a:t>
            </a:r>
          </a:p>
          <a:p>
            <a:pPr lvl="0" indent="0" marL="1270000">
              <a:buNone/>
            </a:pPr>
            <a:r>
              <a:rPr sz="2000" b="1"/>
              <a:t>⚠️ The rule</a:t>
            </a:r>
          </a:p>
          <a:p>
            <a:pPr lvl="0" indent="0" marL="1270000">
              <a:buNone/>
            </a:pPr>
            <a:r>
              <a:rPr sz="2000"/>
              <a:t>Replicates must vary at the scale your </a:t>
            </a:r>
            <a:r>
              <a:rPr sz="2000" b="1"/>
              <a:t>hypothesis</a:t>
            </a:r>
            <a:r>
              <a:rPr sz="2000"/>
              <a:t> applies to. Anything finer is </a:t>
            </a:r>
            <a:r>
              <a:rPr sz="2000" b="1"/>
              <a:t>pseudoreplication</a:t>
            </a:r>
            <a:r>
              <a:rPr sz="2000"/>
              <a:t> (Hurlbert 1984): it shrinks your SE without adding information — a bias dressed as precision.</a:t>
            </a:r>
          </a:p>
          <a:p>
            <a:pPr lvl="0" indent="0" marL="0">
              <a:buNone/>
            </a:pPr>
            <a:r>
              <a:rPr/>
              <a:t>The next slide gives you three studies. Every one of them has been published in roughly this form.</a:t>
            </a:r>
          </a:p>
        </p:txBody>
      </p:sp>
      <p:pic>
        <p:nvPicPr>
          <p:cNvPr descr="images/clipboard-3427337242.png" id="0" name="Picture 1"/>
          <p:cNvPicPr>
            <a:picLocks noGrp="1" noChangeAspect="1"/>
          </p:cNvPicPr>
          <p:nvPr/>
        </p:nvPicPr>
        <p:blipFill>
          <a:blip r:embed="rId2"/>
          <a:stretch>
            <a:fillRect/>
          </a:stretch>
        </p:blipFill>
        <p:spPr bwMode="auto">
          <a:xfrm>
            <a:off x="6121400" y="990600"/>
            <a:ext cx="2781300" cy="3289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Map showing the burned area of the ‘Camp House Fire’ as an orange shape near Brimson, Minnesota, with roads and nearby towns labeled, illustrating a real forest-fire footprint for the burnt-versus-unburnt forest replication example.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Is </a:t>
            </a:r>
            <a:r>
              <a:rPr i="1"/>
              <a:t>n</a:t>
            </a:r>
            <a:r>
              <a:rPr/>
              <a:t>?</a:t>
            </a:r>
          </a:p>
        </p:txBody>
      </p:sp>
      <p:sp>
        <p:nvSpPr>
          <p:cNvPr id="3" name="Content Placeholder 2"/>
          <p:cNvSpPr>
            <a:spLocks noGrp="1"/>
          </p:cNvSpPr>
          <p:nvPr>
            <p:ph idx="1" sz="half"/>
          </p:nvPr>
        </p:nvSpPr>
        <p:spPr/>
        <p:txBody>
          <a:bodyPr/>
          <a:lstStyle/>
          <a:p>
            <a:pPr lvl="0" indent="0" marL="0">
              <a:buNone/>
            </a:pPr>
            <a:r>
              <a:rPr/>
              <a:t>Write down the </a:t>
            </a:r>
            <a:r>
              <a:rPr b="1"/>
              <a:t>true number of replicates per group</a:t>
            </a:r>
            <a:r>
              <a:rPr/>
              <a:t> for each study. Three numbers.</a:t>
            </a:r>
          </a:p>
          <a:p>
            <a:pPr lvl="0" indent="0" marL="0">
              <a:buNone/>
            </a:pPr>
            <a:r>
              <a:rPr b="1"/>
              <a:t>1. Fire and soil invertebrates.</a:t>
            </a:r>
            <a:r>
              <a:rPr/>
              <a:t> 20 soil cores from the burnt part of a forest, 20 from the unburnt part of </a:t>
            </a:r>
            <a:r>
              <a:rPr i="1"/>
              <a:t>the same forest</a:t>
            </a:r>
            <a:r>
              <a:rPr/>
              <a:t>. </a:t>
            </a:r>
            <a:r>
              <a:rPr b="1"/>
              <a:t>(a)</a:t>
            </a:r>
            <a:r>
              <a:rPr/>
              <a:t> 20 </a:t>
            </a:r>
            <a:r>
              <a:rPr b="1"/>
              <a:t>(b)</a:t>
            </a:r>
            <a:r>
              <a:rPr/>
              <a:t> 2 </a:t>
            </a:r>
            <a:r>
              <a:rPr b="1"/>
              <a:t>(c)</a:t>
            </a:r>
            <a:r>
              <a:rPr/>
              <a:t> 1</a:t>
            </a:r>
          </a:p>
          <a:p>
            <a:pPr lvl="0" indent="0" marL="0">
              <a:buNone/>
            </a:pPr>
            <a:r>
              <a:rPr b="1"/>
              <a:t>2. Copper and barnacle settlement.</a:t>
            </a:r>
            <a:r>
              <a:rPr/>
              <a:t> 2 aquaria — one with copper, one without. 5 settling plates in each. </a:t>
            </a:r>
            <a:r>
              <a:rPr b="1"/>
              <a:t>(a)</a:t>
            </a:r>
            <a:r>
              <a:rPr/>
              <a:t> 10 </a:t>
            </a:r>
            <a:r>
              <a:rPr b="1"/>
              <a:t>(b)</a:t>
            </a:r>
            <a:r>
              <a:rPr/>
              <a:t> 5 </a:t>
            </a:r>
            <a:r>
              <a:rPr b="1"/>
              <a:t>(c)</a:t>
            </a:r>
            <a:r>
              <a:rPr/>
              <a:t> 2 </a:t>
            </a:r>
            <a:r>
              <a:rPr b="1"/>
              <a:t>(d)</a:t>
            </a:r>
            <a:r>
              <a:rPr/>
              <a:t> 1</a:t>
            </a:r>
          </a:p>
          <a:p>
            <a:pPr lvl="0" indent="0" marL="0">
              <a:buNone/>
            </a:pPr>
            <a:r>
              <a:rPr b="1"/>
              <a:t>3. Sewage and water quality.</a:t>
            </a:r>
            <a:r>
              <a:rPr/>
              <a:t> 10 water samples collected above the outfall, 10 below it. </a:t>
            </a:r>
            <a:r>
              <a:rPr b="1"/>
              <a:t>(a)</a:t>
            </a:r>
            <a:r>
              <a:rPr/>
              <a:t> 20 </a:t>
            </a:r>
            <a:r>
              <a:rPr b="1"/>
              <a:t>(b)</a:t>
            </a:r>
            <a:r>
              <a:rPr/>
              <a:t> 10 </a:t>
            </a:r>
            <a:r>
              <a:rPr b="1"/>
              <a:t>(c)</a:t>
            </a:r>
            <a:r>
              <a:rPr/>
              <a:t> 1</a:t>
            </a:r>
          </a:p>
          <a:p>
            <a:pPr lvl="0" indent="0" marL="1270000">
              <a:buNone/>
            </a:pPr>
            <a:r>
              <a:rPr sz="2000" b="1"/>
              <a:t>Warning</a:t>
            </a:r>
          </a:p>
          <a:p>
            <a:pPr lvl="0" indent="0" marL="1270000">
              <a:buNone/>
            </a:pPr>
            <a:r>
              <a:rPr sz="2000" b="1"/>
              <a:t>✍️ Three letters, written down, before you vote.</a:t>
            </a:r>
          </a:p>
          <a:p>
            <a:pPr lvl="0" indent="0" marL="1270000">
              <a:buNone/>
            </a:pPr>
            <a:r>
              <a:rPr sz="2000"/>
              <a:t>Number 3 is the one to argue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 each time</a:t>
            </a:r>
          </a:p>
          <a:p>
            <a:pPr lvl="0" indent="0" marL="1270000">
              <a:buNone/>
            </a:pPr>
            <a:r>
              <a:rPr sz="2000" i="1"/>
              <a:t>“What is the smallest thing I could have independently assigned or independently chosen?”</a:t>
            </a:r>
          </a:p>
          <a:p>
            <a:pPr lvl="0" indent="0" marL="1270000">
              <a:buNone/>
            </a:pPr>
            <a:r>
              <a:rPr sz="2000"/>
              <a:t>Count those. Not the measurements.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a:t>
            </a:r>
            <a:r>
              <a:rPr i="1"/>
              <a:t>n</a:t>
            </a:r>
            <a:r>
              <a:rPr/>
              <a:t> Actually Was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1. Fire → (c) n = 1 per group.</a:t>
            </a:r>
            <a:r>
              <a:rPr sz="2000"/>
              <a:t> One burnt area, one unburnt area. The 20 cores describe </a:t>
            </a:r>
            <a:r>
              <a:rPr sz="2000" i="1"/>
              <a:t>that</a:t>
            </a:r>
            <a:r>
              <a:rPr sz="2000"/>
              <a:t> forest and support no claim about fire in general. To study fire you need </a:t>
            </a:r>
            <a:r>
              <a:rPr sz="2000" b="1"/>
              <a:t>several burnt and several unburnt forests</a:t>
            </a:r>
            <a:r>
              <a:rPr sz="2000"/>
              <a:t>.</a:t>
            </a:r>
          </a:p>
          <a:p>
            <a:pPr lvl="0" indent="0" marL="1270000">
              <a:buNone/>
            </a:pPr>
            <a:r>
              <a:rPr sz="2000" b="1"/>
              <a:t>2. Copper → (d) n = 1 per group.</a:t>
            </a:r>
            <a:r>
              <a:rPr sz="2000"/>
              <a:t> One aquarium per treatment. The 5 plates share water, temperature, and whatever went wrong in that tank. You need </a:t>
            </a:r>
            <a:r>
              <a:rPr sz="2000" b="1"/>
              <a:t>several aquaria per treatment</a:t>
            </a:r>
            <a:r>
              <a:rPr sz="2000"/>
              <a:t>.</a:t>
            </a:r>
          </a:p>
          <a:p>
            <a:pPr lvl="0" indent="0" marL="1270000">
              <a:buNone/>
            </a:pPr>
            <a:r>
              <a:rPr sz="2000" b="1"/>
              <a:t>3. Sewage → (c) n = 1 per group.</a:t>
            </a:r>
            <a:r>
              <a:rPr sz="2000"/>
              <a:t> This is the one that catches everybody. There is </a:t>
            </a:r>
            <a:r>
              <a:rPr sz="2000" b="1"/>
              <a:t>one</a:t>
            </a:r>
            <a:r>
              <a:rPr sz="2000"/>
              <a:t> upstream location and </a:t>
            </a:r>
            <a:r>
              <a:rPr sz="2000" b="1"/>
              <a:t>one</a:t>
            </a:r>
            <a:r>
              <a:rPr sz="2000"/>
              <a:t> downstream location. Ten samples from one place is ten measurements of one place.</a:t>
            </a:r>
          </a:p>
          <a:p>
            <a:pPr lvl="0" indent="0" marL="0">
              <a:buNone/>
            </a:pPr>
            <a:r>
              <a:rPr/>
              <a:t>In all three, the published version reported the bigger number — and a satisfyingly small p-value.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pseudoreplication does and does not do</a:t>
            </a:r>
          </a:p>
          <a:p>
            <a:pPr lvl="0" indent="0" marL="1270000">
              <a:buNone/>
            </a:pPr>
            <a:r>
              <a:rPr sz="2000"/>
              <a:t>It barely moves your </a:t>
            </a:r>
            <a:r>
              <a:rPr sz="2000" b="1"/>
              <a:t>means</a:t>
            </a:r>
            <a:r>
              <a:rPr sz="2000"/>
              <a:t>. It shrinks your </a:t>
            </a:r>
            <a:r>
              <a:rPr sz="2000" b="1"/>
              <a:t>standard error</a:t>
            </a:r>
            <a:r>
              <a:rPr sz="2000"/>
              <a:t>. So the estimate stays put while the uncertainty around it quietly collapses.</a:t>
            </a:r>
          </a:p>
          <a:p>
            <a:pPr lvl="0" indent="0" marL="1270000">
              <a:buNone/>
            </a:pPr>
            <a:r>
              <a:rPr sz="2000"/>
              <a:t>That is why it is so hard to catch by eye, and why no diagnostic plot will flag it. Only the design will.</a:t>
            </a:r>
          </a:p>
          <a:p>
            <a:pPr lvl="0" indent="0" marL="0">
              <a:buNone/>
            </a:pPr>
            <a:r>
              <a:rPr/>
              <a:t>You will do exactly this to a real dataset for homework — and get the opposite answer from the obvious one.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Already Fixed This Once</a:t>
            </a:r>
          </a:p>
        </p:txBody>
      </p:sp>
      <p:sp>
        <p:nvSpPr>
          <p:cNvPr id="3" name="Content Placeholder 2"/>
          <p:cNvSpPr>
            <a:spLocks noGrp="1"/>
          </p:cNvSpPr>
          <p:nvPr>
            <p:ph idx="1" sz="half"/>
          </p:nvPr>
        </p:nvSpPr>
        <p:spPr/>
        <p:txBody>
          <a:bodyPr/>
          <a:lstStyle/>
          <a:p>
            <a:pPr lvl="0" indent="0" marL="0">
              <a:buNone/>
            </a:pPr>
            <a:r>
              <a:rPr/>
              <a:t>Our own pine data has 64 rows and </a:t>
            </a:r>
            <a:r>
              <a:rPr b="1"/>
              <a:t>8 trees’ worth of sides</a:t>
            </a:r>
            <a:r>
              <a:rPr/>
              <a:t> — 4 trees, two sides each.</a:t>
            </a:r>
          </a:p>
          <a:p>
            <a:pPr lvl="0" indent="0" marL="0">
              <a:buNone/>
            </a:pPr>
            <a:r>
              <a:rPr/>
              <a:t>Every analysis we have run since Week 4 starts by averaging the 8 needles per side away:</a:t>
            </a:r>
          </a:p>
          <a:p>
            <a:pPr lvl="0" indent="0">
              <a:buNone/>
            </a:pPr>
            <a:r>
              <a:rPr>
                <a:solidFill>
                  <a:srgbClr val="003B4F"/>
                </a:solidFill>
                <a:latin typeface="Courier"/>
              </a:rPr>
              <a:t>p_df</a:t>
            </a:r>
          </a:p>
          <a:p>
            <a:pPr lvl="0" indent="0">
              <a:buNone/>
            </a:pPr>
            <a:r>
              <a:rPr>
                <a:latin typeface="Courier"/>
              </a:rPr>
              <a:t># A tibble: 8 × 3
  team       side  needle_length_mm
  &lt;chr&gt;      &lt;chr&gt;            &lt;dbl&gt;
1 botany     shady             16.1
2 botany     sunny             17.3
3 grace_jace shady             15.4
4 grace_jace sunny             15.5
5 one        shady             13.2
6 one        sunny             14.2
7 waterbugs  shady             11.7
8 waterbugs  sunny             13.8</a:t>
            </a:r>
          </a:p>
          <a:p>
            <a:pPr lvl="0" indent="0" marL="0">
              <a:buNone/>
            </a:pPr>
            <a:r>
              <a:rPr/>
              <a:t>That </a:t>
            </a:r>
            <a:r>
              <a:rPr>
                <a:latin typeface="Courier"/>
              </a:rPr>
              <a:t>group_by() %&gt;% summarise()</a:t>
            </a:r>
            <a:r>
              <a:rPr/>
              <a:t> is not data cleaning. It is the line where we choose the </a:t>
            </a:r>
            <a:r>
              <a:rPr b="1"/>
              <a:t>tree</a:t>
            </a:r>
            <a:r>
              <a:rPr/>
              <a:t> as the experimental unit, because the tree is what the hypothesis is about.</a:t>
            </a:r>
          </a:p>
        </p:txBody>
      </p:sp>
      <p:pic>
        <p:nvPicPr>
          <p:cNvPr descr="images/clipboard-1877860945.png" id="0" name="Picture 1"/>
          <p:cNvPicPr>
            <a:picLocks noGrp="1" noChangeAspect="1"/>
          </p:cNvPicPr>
          <p:nvPr/>
        </p:nvPicPr>
        <p:blipFill>
          <a:blip r:embed="rId2"/>
          <a:stretch>
            <a:fillRect/>
          </a:stretch>
        </p:blipFill>
        <p:spPr bwMode="auto">
          <a:xfrm>
            <a:off x="6121400" y="1714500"/>
            <a:ext cx="2781300" cy="1841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an aquarium tank with a fish, a labelled shelter, labelled prey items, and a labelled internal barrier — a single tank holding many measurable items, where the tank and not the item is the experimental unit.</a:t>
            </a:r>
          </a:p>
        </p:txBody>
      </p:sp>
      <p:sp>
        <p:nvSpPr>
          <p:cNvPr id="4" name="Content Placeholder 3"/>
          <p:cNvSpPr>
            <a:spLocks noGrp="1"/>
          </p:cNvSpPr>
          <p:nvPr>
            <p:ph idx="2" sz="half"/>
          </p:nvPr>
        </p:nvSpPr>
        <p:spPr/>
        <p:txBody>
          <a:bodyPr/>
          <a:lstStyle/>
          <a:p>
            <a:pPr lvl="0" indent="0" marL="0">
              <a:buNone/>
            </a:pPr>
            <a:r>
              <a:rPr/>
              <a:t>One tank, many measurements, </a:t>
            </a:r>
            <a:r>
              <a:rPr>
                <a:latin typeface="Courier"/>
              </a:rPr>
              <a:t>n = 1</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a:t>
            </a:r>
          </a:p>
        </p:txBody>
      </p:sp>
      <p:sp>
        <p:nvSpPr>
          <p:cNvPr id="3" name="Content Placeholder 2"/>
          <p:cNvSpPr>
            <a:spLocks noGrp="1"/>
          </p:cNvSpPr>
          <p:nvPr>
            <p:ph idx="1" sz="half"/>
          </p:nvPr>
        </p:nvSpPr>
        <p:spPr/>
        <p:txBody>
          <a:bodyPr/>
          <a:lstStyle/>
          <a:p>
            <a:pPr lvl="0" indent="0" marL="0">
              <a:buNone/>
            </a:pPr>
            <a:r>
              <a:rPr/>
              <a:t>For a fixed total effort, </a:t>
            </a:r>
            <a:r>
              <a:rPr b="1"/>
              <a:t>equal group sizes give the smallest standard error</a:t>
            </a:r>
            <a:r>
              <a:rPr/>
              <a:t> on the difference.</a:t>
            </a:r>
          </a:p>
          <a:p>
            <a:pPr lvl="0"/>
            <a:r>
              <a:rPr/>
              <a:t>10 and 10 beats 15 and 5, using the same 20 units</a:t>
            </a:r>
          </a:p>
          <a:p>
            <a:pPr lvl="0"/>
            <a:r>
              <a:rPr/>
              <a:t>Balance also makes the tests robust: unequal variances hurt far less when n is equal</a:t>
            </a:r>
          </a:p>
          <a:p>
            <a:pPr lvl="0"/>
            <a:r>
              <a:rPr/>
              <a:t>Unbalanced designs are harder to interpret in ANOVA — sums of squares stop being unique (we will hit this in Week 9)</a:t>
            </a:r>
          </a:p>
          <a:p>
            <a:pPr lvl="0" indent="0" marL="1270000">
              <a:buNone/>
            </a:pPr>
            <a:r>
              <a:rPr sz="2000" b="1"/>
              <a:t>Tip</a:t>
            </a:r>
          </a:p>
          <a:p>
            <a:pPr lvl="0" indent="0" marL="1270000">
              <a:buNone/>
            </a:pPr>
            <a:r>
              <a:rPr sz="2000" b="1"/>
              <a:t>🖐 When imbalance is not your fault</a:t>
            </a:r>
          </a:p>
          <a:p>
            <a:pPr lvl="0" indent="0" marL="1270000">
              <a:buNone/>
            </a:pPr>
            <a:r>
              <a:rPr sz="2000"/>
              <a:t>Mortality, lost plots and weather happen. Balance is a design goal, not a moral requirement — but </a:t>
            </a:r>
            <a:r>
              <a:rPr sz="2000" i="1"/>
              <a:t>plan</a:t>
            </a:r>
            <a:r>
              <a:rPr sz="2000"/>
              <a:t> for balance, and report what you actually ended up with.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§14.5 — reducing the influence of sampling error: replication, balance, blocking, and choosing extreme treatment levels.</a:t>
            </a:r>
          </a:p>
          <a:p>
            <a:pPr lvl="0" indent="0" marL="1270000">
              <a:buNone/>
            </a:pPr>
            <a:r>
              <a:rPr sz="2000" b="1"/>
              <a:t>Note</a:t>
            </a:r>
          </a:p>
          <a:p>
            <a:pPr lvl="0" indent="0" marL="1270000">
              <a:buNone/>
            </a:pPr>
            <a:r>
              <a:rPr sz="2000" b="1"/>
              <a:t>Extreme treatments</a:t>
            </a:r>
          </a:p>
          <a:p>
            <a:pPr lvl="0" indent="0" marL="1270000">
              <a:buNone/>
            </a:pPr>
            <a:r>
              <a:rPr sz="2000"/>
              <a:t>If you want to detect a dose response with few replicates, spread your doses wide. Four doses clustered near the middle waste your replicates on a range where nothing happens.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Independence, Blocking, and Our Paired Design</a:t>
            </a:r>
          </a:p>
        </p:txBody>
      </p:sp>
      <p:sp>
        <p:nvSpPr>
          <p:cNvPr id="3" name="Content Placeholder 2"/>
          <p:cNvSpPr>
            <a:spLocks noGrp="1"/>
          </p:cNvSpPr>
          <p:nvPr>
            <p:ph idx="1" sz="half"/>
          </p:nvPr>
        </p:nvSpPr>
        <p:spPr/>
        <p:txBody>
          <a:bodyPr/>
          <a:lstStyle/>
          <a:p>
            <a:pPr lvl="0" indent="0" marL="0">
              <a:buNone/>
            </a:pPr>
            <a:r>
              <a:rPr/>
              <a:t>Most tests assume observations are </a:t>
            </a:r>
            <a:r>
              <a:rPr b="1"/>
              <a:t>independent</a:t>
            </a:r>
            <a:r>
              <a:rPr/>
              <a:t> — knowing one tells you nothing about another. </a:t>
            </a:r>
            <a:r>
              <a:rPr b="1"/>
              <a:t>Autocorrelation</a:t>
            </a:r>
            <a:r>
              <a:rPr/>
              <a:t> is the standard violation: things near each other in space or time resemble each other. Samples 1 m apart are not two independent samples; consecutive days are not independent days; offspring of one mother are not independent of each other.</a:t>
            </a:r>
          </a:p>
          <a:p>
            <a:pPr lvl="0" indent="0" marL="0">
              <a:buNone/>
            </a:pPr>
            <a:r>
              <a:rPr/>
              <a:t>You have two options, and only two: </a:t>
            </a:r>
            <a:r>
              <a:rPr b="1"/>
              <a:t>space your samples beyond the correlation range</a:t>
            </a:r>
            <a:r>
              <a:rPr/>
              <a:t>, or </a:t>
            </a:r>
            <a:r>
              <a:rPr b="1"/>
              <a:t>model it</a:t>
            </a:r>
            <a:r>
              <a:rPr/>
              <a:t> (Week 10 onward).</a:t>
            </a:r>
          </a:p>
          <a:p>
            <a:pPr lvl="0" indent="0" marL="0">
              <a:buNone/>
            </a:pPr>
            <a:r>
              <a:rPr b="1"/>
              <a:t>Or — you stop fighting it and use it.</a:t>
            </a:r>
          </a:p>
          <a:p>
            <a:pPr lvl="0" indent="0" marL="0">
              <a:buNone/>
            </a:pPr>
            <a:r>
              <a:rPr b="1"/>
              <a:t>Blocking:</a:t>
            </a:r>
            <a:r>
              <a:rPr/>
              <a:t> group units into sets that are alike, then randomize treatments </a:t>
            </a:r>
            <a:r>
              <a:rPr i="1"/>
              <a:t>within</a:t>
            </a:r>
            <a:r>
              <a:rPr/>
              <a:t> each set. Variation among blocks leaves the comparison instead of contaminating it.</a:t>
            </a:r>
          </a:p>
          <a:p>
            <a:pPr lvl="0"/>
            <a:r>
              <a:rPr/>
              <a:t>Chambers differ? Run every temperature in every chamber — </a:t>
            </a:r>
            <a:r>
              <a:rPr b="1"/>
              <a:t>block by chamber</a:t>
            </a:r>
          </a:p>
          <a:p>
            <a:pPr lvl="0"/>
            <a:r>
              <a:rPr/>
              <a:t>Days differ? Run all treatments each day — </a:t>
            </a:r>
            <a:r>
              <a:rPr b="1"/>
              <a:t>block by time</a:t>
            </a:r>
          </a:p>
          <a:p>
            <a:pPr lvl="0"/>
            <a:r>
              <a:rPr/>
              <a:t>Ridiculously variable sites? Put all treatments at each site</a:t>
            </a:r>
          </a:p>
          <a:p>
            <a:pPr lvl="0" indent="0" marL="1270000">
              <a:buNone/>
            </a:pPr>
            <a:r>
              <a:rPr sz="2000" b="1"/>
              <a:t>Important</a:t>
            </a:r>
          </a:p>
          <a:p>
            <a:pPr lvl="0" indent="0" marL="1270000">
              <a:buNone/>
            </a:pPr>
            <a:r>
              <a:rPr sz="2000" b="1"/>
              <a:t>✅ A paired design is a block of size two</a:t>
            </a:r>
          </a:p>
          <a:p>
            <a:pPr lvl="0" indent="0" marL="1270000">
              <a:buNone/>
            </a:pPr>
            <a:r>
              <a:rPr sz="2000"/>
              <a:t>Two sides of the </a:t>
            </a:r>
            <a:r>
              <a:rPr sz="2000" i="1"/>
              <a:t>same tree</a:t>
            </a:r>
            <a:r>
              <a:rPr sz="2000"/>
              <a:t> share genotype, soil, age and history. Pairing removes all of it from the comparison. That is why 7 trees do the work of 88.</a:t>
            </a:r>
          </a:p>
          <a:p>
            <a:pPr lvl="0" indent="0" marL="1270000">
              <a:buNone/>
            </a:pPr>
            <a:r>
              <a:rPr sz="2000" b="1"/>
              <a:t>Non-independence you ignore costs you. Non-independence you plan for pays you.</a:t>
            </a:r>
            <a:r>
              <a:rPr sz="2000"/>
              <a:t> Blocking is how you get paid.</a:t>
            </a:r>
          </a:p>
          <a:p>
            <a:pPr lvl="0" indent="0" marL="0">
              <a:buNone/>
            </a:pPr>
            <a:r>
              <a:rPr/>
              <a:t>Blocked designs need blocked </a:t>
            </a:r>
            <a:r>
              <a:rPr i="1"/>
              <a:t>analyses</a:t>
            </a:r>
            <a:r>
              <a:rPr/>
              <a:t> — Week 9 and Week 10.</a:t>
            </a:r>
          </a:p>
        </p:txBody>
      </p:sp>
      <p:pic>
        <p:nvPicPr>
          <p:cNvPr descr="study_design_sampling_lecture_files/figure-pptx/study-design-sampling-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Sampling Layouts in the Field</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Simple Random and Stratified</a:t>
            </a:r>
          </a:p>
        </p:txBody>
      </p:sp>
      <p:sp>
        <p:nvSpPr>
          <p:cNvPr id="3" name="Content Placeholder 2"/>
          <p:cNvSpPr>
            <a:spLocks noGrp="1"/>
          </p:cNvSpPr>
          <p:nvPr>
            <p:ph idx="1" sz="half"/>
          </p:nvPr>
        </p:nvSpPr>
        <p:spPr/>
        <p:txBody>
          <a:bodyPr/>
          <a:lstStyle/>
          <a:p>
            <a:pPr lvl="0" indent="0" marL="0">
              <a:buNone/>
            </a:pPr>
            <a:r>
              <a:rPr b="1"/>
              <a:t>Simple random</a:t>
            </a:r>
            <a:r>
              <a:rPr/>
              <a:t> — every unit has an equal chance of selection. Number the units, draw with a random number generator.</a:t>
            </a:r>
          </a:p>
          <a:p>
            <a:pPr lvl="0"/>
            <a:r>
              <a:rPr/>
              <a:t>What nearly every test assumes you did</a:t>
            </a:r>
          </a:p>
          <a:p>
            <a:pPr lvl="0"/>
            <a:r>
              <a:rPr/>
              <a:t>Genuinely awkward in the field; </a:t>
            </a:r>
            <a:r>
              <a:rPr i="1"/>
              <a:t>haphazard</a:t>
            </a:r>
            <a:r>
              <a:rPr/>
              <a:t> is the common substitute, and it is not the same thing</a:t>
            </a:r>
          </a:p>
          <a:p>
            <a:pPr lvl="0" indent="0" marL="0">
              <a:buNone/>
            </a:pPr>
            <a:r>
              <a:rPr b="1"/>
              <a:t>Stratified</a:t>
            </a:r>
            <a:r>
              <a:rPr/>
              <a:t> — if the population has distinct strata, sample each one separately, with n proportional to stratum size.</a:t>
            </a:r>
          </a:p>
          <a:p>
            <a:pPr lvl="0"/>
            <a:r>
              <a:rPr b="1"/>
              <a:t>More precise than simple random</a:t>
            </a:r>
            <a:r>
              <a:rPr/>
              <a:t> when strata differ, because within-stratum variance is all that is left</a:t>
            </a:r>
          </a:p>
          <a:p>
            <a:pPr lvl="0"/>
            <a:r>
              <a:rPr/>
              <a:t>Strata must go </a:t>
            </a:r>
            <a:r>
              <a:rPr b="1"/>
              <a:t>into the model</a:t>
            </a:r>
            <a:r>
              <a:rPr/>
              <a:t>, not be ignored</a:t>
            </a:r>
          </a:p>
        </p:txBody>
      </p:sp>
      <p:pic>
        <p:nvPicPr>
          <p:cNvPr descr="images/clipboard-1715765919.png" id="0" name="Picture 1"/>
          <p:cNvPicPr>
            <a:picLocks noGrp="1" noChangeAspect="1"/>
          </p:cNvPicPr>
          <p:nvPr/>
        </p:nvPicPr>
        <p:blipFill>
          <a:blip r:embed="rId2"/>
          <a:stretch>
            <a:fillRect/>
          </a:stretch>
        </p:blipFill>
        <p:spPr bwMode="auto">
          <a:xfrm>
            <a:off x="6121400" y="1955800"/>
            <a:ext cx="2781300" cy="1384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blue lake with black squares scattered haphazardly throughout the water, illustrating simple random sampling where every point has an equal chance of being sampled.</a:t>
            </a:r>
          </a:p>
        </p:txBody>
      </p:sp>
      <p:sp>
        <p:nvSpPr>
          <p:cNvPr id="4" name="Content Placeholder 3"/>
          <p:cNvSpPr>
            <a:spLocks noGrp="1"/>
          </p:cNvSpPr>
          <p:nvPr>
            <p:ph idx="2" sz="half"/>
          </p:nvPr>
        </p:nvSpPr>
        <p:spPr/>
        <p:txBody>
          <a:bodyPr/>
          <a:lstStyle/>
          <a:p>
            <a:pPr lvl="0" indent="0" marL="0">
              <a:buNone/>
            </a:pPr>
            <a:r>
              <a:rPr/>
              <a:t>Simple random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Cluster and Systematic</a:t>
            </a:r>
          </a:p>
        </p:txBody>
      </p:sp>
      <p:sp>
        <p:nvSpPr>
          <p:cNvPr id="3" name="Content Placeholder 2"/>
          <p:cNvSpPr>
            <a:spLocks noGrp="1"/>
          </p:cNvSpPr>
          <p:nvPr>
            <p:ph idx="1" sz="half"/>
          </p:nvPr>
        </p:nvSpPr>
        <p:spPr/>
        <p:txBody>
          <a:bodyPr/>
          <a:lstStyle/>
          <a:p>
            <a:pPr lvl="0" indent="0" marL="0">
              <a:buNone/>
            </a:pPr>
            <a:r>
              <a:rPr b="1"/>
              <a:t>Cluster</a:t>
            </a:r>
            <a:r>
              <a:rPr/>
              <a:t> — sample subunits nested inside larger units. Used when travel or access makes anything else impossible.</a:t>
            </a:r>
          </a:p>
          <a:p>
            <a:pPr lvl="0"/>
            <a:r>
              <a:rPr/>
              <a:t>Cheap, and </a:t>
            </a:r>
            <a:r>
              <a:rPr b="1"/>
              <a:t>less</a:t>
            </a:r>
            <a:r>
              <a:rPr/>
              <a:t> precise than simple random for the same total n</a:t>
            </a:r>
          </a:p>
          <a:p>
            <a:pPr lvl="0"/>
            <a:r>
              <a:rPr/>
              <a:t>The clusters are your replicates → </a:t>
            </a:r>
            <a:r>
              <a:rPr b="1"/>
              <a:t>nested ANOVA</a:t>
            </a:r>
            <a:r>
              <a:rPr/>
              <a:t> (Week 9) or a mixed model (Week 10)</a:t>
            </a:r>
          </a:p>
          <a:p>
            <a:pPr lvl="0" indent="0" marL="0">
              <a:buNone/>
            </a:pPr>
            <a:r>
              <a:rPr b="1"/>
              <a:t>Systematic</a:t>
            </a:r>
            <a:r>
              <a:rPr/>
              <a:t> — units evenly spaced; the transect is the ecological classic.</a:t>
            </a:r>
          </a:p>
          <a:p>
            <a:pPr lvl="0"/>
            <a:r>
              <a:rPr/>
              <a:t>Ideal for describing change </a:t>
            </a:r>
            <a:r>
              <a:rPr b="1"/>
              <a:t>along a gradient</a:t>
            </a:r>
          </a:p>
          <a:p>
            <a:pPr lvl="0"/>
            <a:r>
              <a:rPr/>
              <a:t>One real risk: your spacing lines up with a periodicity in the system</a:t>
            </a:r>
          </a:p>
        </p:txBody>
      </p:sp>
      <p:pic>
        <p:nvPicPr>
          <p:cNvPr descr="images/clipboard-3497374488.png" id="0" name="Picture 1"/>
          <p:cNvPicPr>
            <a:picLocks noGrp="1" noChangeAspect="1"/>
          </p:cNvPicPr>
          <p:nvPr/>
        </p:nvPicPr>
        <p:blipFill>
          <a:blip r:embed="rId2"/>
          <a:stretch>
            <a:fillRect/>
          </a:stretch>
        </p:blipFill>
        <p:spPr bwMode="auto">
          <a:xfrm>
            <a:off x="6121400" y="1905000"/>
            <a:ext cx="2781300" cy="1473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lake with four red circles marking clusters, each containing three sample points, positioned around the shoreline, illustrating cluster sampling where whole groups near a location are sampled together.</a:t>
            </a:r>
          </a:p>
        </p:txBody>
      </p:sp>
      <p:sp>
        <p:nvSpPr>
          <p:cNvPr id="4" name="Content Placeholder 3"/>
          <p:cNvSpPr>
            <a:spLocks noGrp="1"/>
          </p:cNvSpPr>
          <p:nvPr>
            <p:ph idx="2" sz="half"/>
          </p:nvPr>
        </p:nvSpPr>
        <p:spPr/>
        <p:txBody>
          <a:bodyPr/>
          <a:lstStyle/>
          <a:p>
            <a:pPr lvl="0" indent="0" marL="0">
              <a:buNone/>
            </a:pPr>
            <a:r>
              <a:rPr/>
              <a:t>Cluster</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Where Do You Spend the Money?</a:t>
            </a:r>
          </a:p>
        </p:txBody>
      </p:sp>
      <p:sp>
        <p:nvSpPr>
          <p:cNvPr id="3" name="Content Placeholder 2"/>
          <p:cNvSpPr>
            <a:spLocks noGrp="1"/>
          </p:cNvSpPr>
          <p:nvPr>
            <p:ph idx="1" sz="half"/>
          </p:nvPr>
        </p:nvSpPr>
        <p:spPr/>
        <p:txBody>
          <a:bodyPr/>
          <a:lstStyle/>
          <a:p>
            <a:pPr lvl="0" indent="0" marL="0">
              <a:buNone/>
            </a:pPr>
            <a:r>
              <a:rPr/>
              <a:t>A published study compares a </a:t>
            </a:r>
            <a:r>
              <a:rPr b="1"/>
              <a:t>heavily visited</a:t>
            </a:r>
            <a:r>
              <a:rPr/>
              <a:t> tidepool beach with a </a:t>
            </a:r>
            <a:r>
              <a:rPr b="1"/>
              <a:t>restricted, no-access</a:t>
            </a:r>
            <a:r>
              <a:rPr/>
              <a:t> beach. Invertebrate densities are lower, and 78.2% of boulders are disturbed at the visited beach versus 1.8% at the restricted one. Sampled once, this year.</a:t>
            </a:r>
          </a:p>
          <a:p>
            <a:pPr lvl="0" indent="0" marL="0">
              <a:buNone/>
            </a:pPr>
            <a:r>
              <a:rPr/>
              <a:t>You inherit this project with funding for </a:t>
            </a:r>
            <a:r>
              <a:rPr b="1"/>
              <a:t>exactly one more sampling campaign</a:t>
            </a:r>
            <a:r>
              <a:rPr/>
              <a:t>. You want to claim that </a:t>
            </a:r>
            <a:r>
              <a:rPr i="1"/>
              <a:t>visitors</a:t>
            </a:r>
            <a:r>
              <a:rPr/>
              <a:t> reduce invertebrate density.</a:t>
            </a:r>
          </a:p>
          <a:p>
            <a:pPr lvl="0" indent="0" marL="0">
              <a:buNone/>
            </a:pPr>
            <a:r>
              <a:rPr b="1"/>
              <a:t>Where do you spend it?</a:t>
            </a:r>
          </a:p>
          <a:p>
            <a:pPr lvl="0" indent="0" marL="0">
              <a:buNone/>
            </a:pPr>
            <a:r>
              <a:rPr b="1"/>
              <a:t>(a)</a:t>
            </a:r>
            <a:r>
              <a:rPr/>
              <a:t> More quadrats at both beaches — tighten the estimates you already have</a:t>
            </a:r>
          </a:p>
          <a:p>
            <a:pPr lvl="0" indent="0" marL="0">
              <a:buNone/>
            </a:pPr>
            <a:r>
              <a:rPr b="1"/>
              <a:t>(b)</a:t>
            </a:r>
            <a:r>
              <a:rPr/>
              <a:t> Add a third, intermediate-use beach — get a gradient</a:t>
            </a:r>
          </a:p>
          <a:p>
            <a:pPr lvl="0" indent="0" marL="0">
              <a:buNone/>
            </a:pPr>
            <a:r>
              <a:rPr b="1"/>
              <a:t>(c)</a:t>
            </a:r>
            <a:r>
              <a:rPr/>
              <a:t> Re-sample both beaches next year — get a time series</a:t>
            </a:r>
          </a:p>
          <a:p>
            <a:pPr lvl="0" indent="0" marL="0">
              <a:buNone/>
            </a:pPr>
            <a:r>
              <a:rPr b="1"/>
              <a:t>(d)</a:t>
            </a:r>
            <a:r>
              <a:rPr/>
              <a:t> No campaign can rescue this claim</a:t>
            </a:r>
          </a:p>
          <a:p>
            <a:pPr lvl="0" indent="0" marL="1270000">
              <a:buNone/>
            </a:pPr>
            <a:r>
              <a:rPr sz="2000" b="1"/>
              <a:t>Warning</a:t>
            </a:r>
          </a:p>
          <a:p>
            <a:pPr lvl="0" indent="0" marL="1270000">
              <a:buNone/>
            </a:pPr>
            <a:r>
              <a:rPr sz="2000" b="1"/>
              <a:t>✍️ One letter. Write it down.</a:t>
            </a:r>
          </a:p>
        </p:txBody>
      </p:sp>
      <p:pic>
        <p:nvPicPr>
          <p:cNvPr descr="images/clipboard-2300334690.png" id="0" name="Picture 1"/>
          <p:cNvPicPr>
            <a:picLocks noGrp="1" noChangeAspect="1"/>
          </p:cNvPicPr>
          <p:nvPr/>
        </p:nvPicPr>
        <p:blipFill>
          <a:blip r:embed="rId2"/>
          <a:stretch>
            <a:fillRect/>
          </a:stretch>
        </p:blipFill>
        <p:spPr bwMode="auto">
          <a:xfrm>
            <a:off x="6121400" y="1600200"/>
            <a:ext cx="2781300" cy="2095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Published figure comparing a visited tidepool beach (people wading among the rocks) to a restricted no-access beach, each with bar charts of invertebrate density by species and pie charts showing 78.2% of boulders disturbed at the visited beach versus only 1.8% at the restricted beach.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BACI — When You Cannot Randomize an Impact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(d)</a:t>
            </a:r>
            <a:r>
              <a:rPr sz="2000"/>
              <a:t>, and it is meant to be unsatisfying.</a:t>
            </a:r>
          </a:p>
          <a:p>
            <a:pPr lvl="0" indent="0" marL="1270000">
              <a:buNone/>
            </a:pPr>
            <a:r>
              <a:rPr sz="2000"/>
              <a:t>The two beaches may </a:t>
            </a:r>
            <a:r>
              <a:rPr sz="2000" i="1"/>
              <a:t>always</a:t>
            </a:r>
            <a:r>
              <a:rPr sz="2000"/>
              <a:t> have differed — in exposure, substrate, or wave energy — which is very likely </a:t>
            </a:r>
            <a:r>
              <a:rPr sz="2000" i="1"/>
              <a:t>why</a:t>
            </a:r>
            <a:r>
              <a:rPr sz="2000"/>
              <a:t> one became popular and one became restricted. </a:t>
            </a:r>
            <a:r>
              <a:rPr sz="2000" b="1"/>
              <a:t>You cannot add a “before” retroactively.</a:t>
            </a:r>
            <a:r>
              <a:rPr sz="2000"/>
              <a:t> (a) buys precision on a biased estimate. (b) adds more sites confounded the same way. (c) is the closest to useful, and it still has no pre-impact baseline.</a:t>
            </a:r>
          </a:p>
          <a:p>
            <a:pPr lvl="0" indent="0" marL="0">
              <a:buNone/>
            </a:pPr>
            <a:r>
              <a:rPr b="1"/>
              <a:t>Before–After–Control–Impact</a:t>
            </a:r>
            <a:r>
              <a:rPr/>
              <a:t> is the design you needed:</a:t>
            </a:r>
          </a:p>
          <a:p>
            <a:pPr lvl="0"/>
            <a:r>
              <a:rPr/>
              <a:t>Measure </a:t>
            </a:r>
            <a:r>
              <a:rPr b="1"/>
              <a:t>before</a:t>
            </a:r>
            <a:r>
              <a:rPr/>
              <a:t> and </a:t>
            </a:r>
            <a:r>
              <a:rPr b="1"/>
              <a:t>after</a:t>
            </a:r>
            <a:r>
              <a:rPr/>
              <a:t>, at both an </a:t>
            </a:r>
            <a:r>
              <a:rPr b="1"/>
              <a:t>impact</a:t>
            </a:r>
            <a:r>
              <a:rPr/>
              <a:t> and a </a:t>
            </a:r>
            <a:r>
              <a:rPr b="1"/>
              <a:t>control</a:t>
            </a:r>
            <a:r>
              <a:rPr/>
              <a:t> site</a:t>
            </a:r>
          </a:p>
          <a:p>
            <a:pPr lvl="0"/>
            <a:r>
              <a:rPr/>
              <a:t>The evidence is the </a:t>
            </a:r>
            <a:r>
              <a:rPr b="1"/>
              <a:t>interaction</a:t>
            </a:r>
            <a:r>
              <a:rPr/>
              <a:t> — did impact-versus-control </a:t>
            </a:r>
            <a:r>
              <a:rPr i="1"/>
              <a:t>change</a:t>
            </a:r>
            <a:r>
              <a:rPr/>
              <a:t> from before to after?</a:t>
            </a:r>
          </a:p>
          <a:p>
            <a:pPr lvl="0"/>
            <a:r>
              <a:rPr/>
              <a:t>Before/after alone confounds impact with </a:t>
            </a:r>
            <a:r>
              <a:rPr b="1"/>
              <a:t>time</a:t>
            </a:r>
            <a:r>
              <a:rPr/>
              <a:t>. Control/impact alone confounds it with </a:t>
            </a:r>
            <a:r>
              <a:rPr b="1"/>
              <a:t>place</a:t>
            </a:r>
            <a:r>
              <a:rPr/>
              <a:t>. You need both.</a:t>
            </a:r>
          </a:p>
          <a:p>
            <a:pPr lvl="0" indent="0" marL="0">
              <a:buNone/>
            </a:pPr>
            <a:r>
              <a:rPr/>
              <a:t>BACI is a factorial design with an interaction → Week 9.</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Why this matters beyond tidepools</a:t>
            </a:r>
          </a:p>
          <a:p>
            <a:pPr lvl="0" indent="0" marL="1270000">
              <a:buNone/>
            </a:pPr>
            <a:r>
              <a:rPr sz="2000"/>
              <a:t>Nobody randomizes an oil spill, a dam, a clearcut or a hurricane. BACI is how environmental impact assessment is </a:t>
            </a:r>
            <a:r>
              <a:rPr sz="2000" i="1"/>
              <a:t>supposed</a:t>
            </a:r>
            <a:r>
              <a:rPr sz="2000"/>
              <a:t> to work — and the reason baseline monitoring has value long before anyone knows what will hit.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Sample Size Is a Design Decision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Big, Decided Before You Start</a:t>
            </a:r>
          </a:p>
        </p:txBody>
      </p:sp>
      <p:sp>
        <p:nvSpPr>
          <p:cNvPr id="3" name="Content Placeholder 2"/>
          <p:cNvSpPr>
            <a:spLocks noGrp="1"/>
          </p:cNvSpPr>
          <p:nvPr>
            <p:ph idx="1" sz="half"/>
          </p:nvPr>
        </p:nvSpPr>
        <p:spPr/>
        <p:txBody>
          <a:bodyPr/>
          <a:lstStyle/>
          <a:p>
            <a:pPr lvl="0" indent="0" marL="0">
              <a:buNone/>
            </a:pPr>
            <a:r>
              <a:rPr/>
              <a:t>We did the mechanics last lecture. The design point is the one worth keeping:</a:t>
            </a:r>
          </a:p>
          <a:p>
            <a:pPr lvl="0"/>
            <a:r>
              <a:rPr/>
              <a:t>Power rises with the </a:t>
            </a:r>
            <a:r>
              <a:rPr b="1"/>
              <a:t>effect size</a:t>
            </a:r>
            <a:r>
              <a:rPr/>
              <a:t>, with </a:t>
            </a:r>
            <a:r>
              <a:rPr b="1"/>
              <a:t>√n</a:t>
            </a:r>
            <a:r>
              <a:rPr/>
              <a:t>, and with </a:t>
            </a:r>
            <a:r>
              <a:rPr b="1"/>
              <a:t>α</a:t>
            </a:r>
            <a:r>
              <a:rPr/>
              <a:t> — and falls as </a:t>
            </a:r>
            <a:r>
              <a:rPr b="1"/>
              <a:t>σ</a:t>
            </a:r>
            <a:r>
              <a:rPr/>
              <a:t> rises</a:t>
            </a:r>
          </a:p>
          <a:p>
            <a:pPr lvl="0"/>
            <a:r>
              <a:rPr b="1"/>
              <a:t>Type II error is β. Power is 1 − β.</a:t>
            </a:r>
          </a:p>
          <a:p>
            <a:pPr lvl="0"/>
            <a:r>
              <a:rPr/>
              <a:t>Two ways to run it </a:t>
            </a:r>
            <a:r>
              <a:rPr i="1"/>
              <a:t>a priori</a:t>
            </a:r>
            <a:r>
              <a:rPr/>
              <a:t>: solve for the </a:t>
            </a:r>
            <a:r>
              <a:rPr b="1"/>
              <a:t>n</a:t>
            </a:r>
            <a:r>
              <a:rPr/>
              <a:t> you need, or for the </a:t>
            </a:r>
            <a:r>
              <a:rPr b="1"/>
              <a:t>effect size</a:t>
            </a:r>
            <a:r>
              <a:rPr/>
              <a:t> your affordable n could detect</a:t>
            </a:r>
          </a:p>
          <a:p>
            <a:pPr lvl="0" indent="0">
              <a:buNone/>
            </a:pPr>
            <a:r>
              <a:rPr>
                <a:solidFill>
                  <a:srgbClr val="5E5E5E"/>
                </a:solidFill>
                <a:latin typeface="Courier"/>
              </a:rPr>
              <a:t># Our pine pilot, unpaired vs paired — same trees, same needles</a:t>
            </a:r>
            <a:b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d_paired,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6.406838</a:t>
            </a:r>
          </a:p>
          <a:p>
            <a:pPr lvl="0" indent="0" marL="0">
              <a:buNone/>
            </a:pPr>
            <a:r>
              <a:rPr b="1"/>
              <a:t>44 trees per side (88 total) unpaired, versus 7 trees paired.</a:t>
            </a:r>
            <a:r>
              <a:rPr/>
              <a:t> Nothing changed but the design.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Plan for precision, not just for power</a:t>
            </a:r>
          </a:p>
          <a:p>
            <a:pPr lvl="0" indent="0" marL="1270000">
              <a:buNone/>
            </a:pPr>
            <a:r>
              <a:rPr sz="2000"/>
              <a:t>W&amp;S §14.6 frames this as planning the </a:t>
            </a:r>
            <a:r>
              <a:rPr sz="2000" b="1"/>
              <a:t>width of your confidence interval</a:t>
            </a:r>
            <a:r>
              <a:rPr sz="2000"/>
              <a:t>. “How precise will my estimate be?” is often the more honest question than “will I get a star?”</a:t>
            </a:r>
          </a:p>
          <a:p>
            <a:pPr lvl="0" indent="0" marL="1270000">
              <a:buNone/>
            </a:pPr>
            <a:r>
              <a:rPr sz="2000" b="1"/>
              <a:t>Important</a:t>
            </a:r>
          </a:p>
          <a:p>
            <a:pPr lvl="0" indent="0" marL="1270000">
              <a:buNone/>
            </a:pPr>
            <a:r>
              <a:rPr sz="2000" b="1"/>
              <a:t>⚠️ Retrospective power, one more time</a:t>
            </a:r>
          </a:p>
          <a:p>
            <a:pPr lvl="0" indent="0" marL="1270000">
              <a:buNone/>
            </a:pPr>
            <a:r>
              <a:rPr sz="2000"/>
              <a:t>Computing power from the effect size you </a:t>
            </a:r>
            <a:r>
              <a:rPr sz="2000" i="1"/>
              <a:t>observed</a:t>
            </a:r>
            <a:r>
              <a:rPr sz="2000"/>
              <a:t> re-expresses your p-value and tells you nothing new. Use it to plan the next study. To argue </a:t>
            </a:r>
            <a:r>
              <a:rPr sz="2000" i="1"/>
              <a:t>for</a:t>
            </a:r>
            <a:r>
              <a:rPr sz="2000"/>
              <a:t> no effect, use an equivalence test or a CI that excludes anything meaningful.</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From Design to Analysis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Match the Design to the Analysis</a:t>
            </a:r>
          </a:p>
        </p:txBody>
      </p:sp>
      <p:sp>
        <p:nvSpPr>
          <p:cNvPr id="3" name="Content Placeholder 2"/>
          <p:cNvSpPr>
            <a:spLocks noGrp="1"/>
          </p:cNvSpPr>
          <p:nvPr>
            <p:ph idx="1" sz="half"/>
          </p:nvPr>
        </p:nvSpPr>
        <p:spPr/>
        <p:txBody>
          <a:bodyPr/>
          <a:lstStyle/>
          <a:p>
            <a:pPr lvl="0" indent="0" marL="0">
              <a:buNone/>
            </a:pPr>
            <a:r>
              <a:rPr/>
              <a:t>With your neighbour. Five designs. For each, name the </a:t>
            </a:r>
            <a:r>
              <a:rPr b="1"/>
              <a:t>analysis</a:t>
            </a:r>
            <a:r>
              <a:rPr/>
              <a:t> — from the list on the right — that it forces you into. You have met all five.</a:t>
            </a:r>
          </a:p>
          <a:p>
            <a:pPr lvl="0" indent="0" marL="0">
              <a:buNone/>
            </a:pPr>
            <a:r>
              <a:rPr b="1"/>
              <a:t>1.</a:t>
            </a:r>
            <a:r>
              <a:rPr/>
              <a:t> Needle length measured on 40 trees, along with the light reaching each tree, in lux.</a:t>
            </a:r>
          </a:p>
          <a:p>
            <a:pPr lvl="0" indent="0" marL="0">
              <a:buNone/>
            </a:pPr>
            <a:r>
              <a:rPr b="1"/>
              <a:t>2.</a:t>
            </a:r>
            <a:r>
              <a:rPr/>
              <a:t> Sea urchin grazing measured on 4 patches inside each of 16 reefs.</a:t>
            </a:r>
          </a:p>
          <a:p>
            <a:pPr lvl="0" indent="0" marL="0">
              <a:buNone/>
            </a:pPr>
            <a:r>
              <a:rPr b="1"/>
              <a:t>3.</a:t>
            </a:r>
            <a:r>
              <a:rPr/>
              <a:t> Barnacle settlement at 2 copper levels × 2 temperatures, fully crossed.</a:t>
            </a:r>
          </a:p>
          <a:p>
            <a:pPr lvl="0" indent="0" marL="0">
              <a:buNone/>
            </a:pPr>
            <a:r>
              <a:rPr b="1"/>
              <a:t>4.</a:t>
            </a:r>
            <a:r>
              <a:rPr/>
              <a:t> Number of ant species per quadrat — counts, many of them zero.</a:t>
            </a:r>
          </a:p>
          <a:p>
            <a:pPr lvl="0" indent="0" marL="0">
              <a:buNone/>
            </a:pPr>
            <a:r>
              <a:rPr b="1"/>
              <a:t>5.</a:t>
            </a:r>
            <a:r>
              <a:rPr/>
              <a:t> Fish mass compared between two lakes, with body length also measured and known to matter.</a:t>
            </a:r>
          </a:p>
          <a:p>
            <a:pPr lvl="0" indent="0" marL="1270000">
              <a:buNone/>
            </a:pPr>
            <a:r>
              <a:rPr sz="2000" b="1"/>
              <a:t>Warning</a:t>
            </a:r>
          </a:p>
          <a:p>
            <a:pPr lvl="0" indent="0" marL="1270000">
              <a:buNone/>
            </a:pPr>
            <a:r>
              <a:rPr sz="2000" b="1"/>
              <a:t>✍️ Five answers, written down. Two minutes.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Pick from these</a:t>
            </a:r>
          </a:p>
          <a:p>
            <a:pPr lvl="0"/>
            <a:r>
              <a:rPr sz="2000"/>
              <a:t>Regression</a:t>
            </a:r>
          </a:p>
          <a:p>
            <a:pPr lvl="0"/>
            <a:r>
              <a:rPr sz="2000"/>
              <a:t>Multiple regression</a:t>
            </a:r>
          </a:p>
          <a:p>
            <a:pPr lvl="0"/>
            <a:r>
              <a:rPr sz="2000"/>
              <a:t>One-way ANOVA</a:t>
            </a:r>
          </a:p>
          <a:p>
            <a:pPr lvl="0"/>
            <a:r>
              <a:rPr sz="2000"/>
              <a:t>Two-way ANOVA with interaction</a:t>
            </a:r>
          </a:p>
          <a:p>
            <a:pPr lvl="0"/>
            <a:r>
              <a:rPr sz="2000"/>
              <a:t>Nested ANOVA</a:t>
            </a:r>
          </a:p>
          <a:p>
            <a:pPr lvl="0"/>
            <a:r>
              <a:rPr sz="2000"/>
              <a:t>Mixed model</a:t>
            </a:r>
          </a:p>
          <a:p>
            <a:pPr lvl="0"/>
            <a:r>
              <a:rPr sz="2000"/>
              <a:t>GLM</a:t>
            </a:r>
          </a:p>
          <a:p>
            <a:pPr lvl="0"/>
            <a:r>
              <a:rPr sz="2000"/>
              <a:t>ANCOVA</a:t>
            </a:r>
          </a:p>
          <a:p>
            <a:pPr lvl="0" indent="0" marL="1270000">
              <a:buNone/>
            </a:pPr>
            <a:r>
              <a:rPr sz="2000" b="1"/>
              <a:t>Tip</a:t>
            </a:r>
          </a:p>
          <a:p>
            <a:pPr lvl="0" indent="0" marL="1270000">
              <a:buNone/>
            </a:pPr>
            <a:r>
              <a:rPr sz="2000" b="1"/>
              <a:t>🖐 The tell</a:t>
            </a:r>
          </a:p>
          <a:p>
            <a:pPr lvl="0" indent="0" marL="1270000">
              <a:buNone/>
            </a:pPr>
            <a:r>
              <a:rPr sz="2000"/>
              <a:t>For each one, ask: </a:t>
            </a:r>
            <a:r>
              <a:rPr sz="2000" i="1"/>
              <a:t>how many predictors, what kind, and is anything nested inside anything else?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Design Chooses Your Analysis</a:t>
            </a:r>
          </a:p>
        </p:txBody>
      </p:sp>
      <p:sp>
        <p:nvSpPr>
          <p:cNvPr id="3" name="Text Placeholder 2"/>
          <p:cNvSpPr>
            <a:spLocks noGrp="1"/>
          </p:cNvSpPr>
          <p:nvPr>
            <p:ph idx="1" type="body"/>
          </p:nvPr>
        </p:nvSpPr>
        <p:spPr/>
        <p:txBody>
          <a:bodyPr/>
          <a:lstStyle/>
          <a:p>
            <a:pPr lvl="0" indent="0" marL="0">
              <a:buNone/>
            </a:pPr>
            <a:r>
              <a:rPr b="1"/>
              <a:t>Answers: 1</a:t>
            </a:r>
            <a:r>
              <a:rPr/>
              <a:t> regression · </a:t>
            </a:r>
            <a:r>
              <a:rPr b="1"/>
              <a:t>2</a:t>
            </a:r>
            <a:r>
              <a:rPr/>
              <a:t> nested ANOVA (or a mixed model) · </a:t>
            </a:r>
            <a:r>
              <a:rPr b="1"/>
              <a:t>3</a:t>
            </a:r>
            <a:r>
              <a:rPr/>
              <a:t> two-way ANOVA with interaction · </a:t>
            </a:r>
            <a:r>
              <a:rPr b="1"/>
              <a:t>4</a:t>
            </a:r>
            <a:r>
              <a:rPr/>
              <a:t> GLM · </a:t>
            </a:r>
            <a:r>
              <a:rPr b="1"/>
              <a:t>5</a:t>
            </a:r>
            <a:r>
              <a:rPr/>
              <a:t> ANCOVA.</a:t>
            </a:r>
          </a:p>
          <a:p>
            <a:pPr lvl="0" indent="0" marL="0">
              <a:buNone/>
            </a:pPr>
            <a:r>
              <a:rPr/>
              <a:t>This is Gotelli &amp; Ellison Ch. 7’s whole point, and it is also the rest of this course. </a:t>
            </a:r>
            <a:r>
              <a:rPr b="1"/>
              <a:t>Write the design down and the analysis is already decided: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Your design</a:t>
                      </a:r>
                    </a:p>
                  </a:txBody>
                  <a:tcPr/>
                </a:tc>
                <a:tc>
                  <a:txBody>
                    <a:bodyPr/>
                    <a:lstStyle/>
                    <a:p>
                      <a:pPr lvl="0" indent="0" marL="0">
                        <a:buNone/>
                      </a:pPr>
                      <a:r>
                        <a:rPr/>
                        <a:t>The analysis</a:t>
                      </a:r>
                    </a:p>
                  </a:txBody>
                  <a:tcPr/>
                </a:tc>
                <a:tc>
                  <a:txBody>
                    <a:bodyPr/>
                    <a:lstStyle/>
                    <a:p>
                      <a:pPr lvl="0" indent="0" marL="0">
                        <a:buNone/>
                      </a:pPr>
                      <a:r>
                        <a:rPr/>
                        <a:t>When</a:t>
                      </a:r>
                    </a:p>
                  </a:txBody>
                  <a:tcPr/>
                </a:tc>
              </a:tr>
              <a:tr h="0">
                <a:tc>
                  <a:txBody>
                    <a:bodyPr/>
                    <a:lstStyle/>
                    <a:p>
                      <a:pPr lvl="0" indent="0" marL="0">
                        <a:buNone/>
                      </a:pPr>
                      <a:r>
                        <a:rPr/>
                        <a:t>One continuous predictor</a:t>
                      </a:r>
                    </a:p>
                  </a:txBody>
                </a:tc>
                <a:tc>
                  <a:txBody>
                    <a:bodyPr/>
                    <a:lstStyle/>
                    <a:p>
                      <a:pPr lvl="0" indent="0" marL="0">
                        <a:buNone/>
                      </a:pPr>
                      <a:r>
                        <a:rPr/>
                        <a:t>Regression</a:t>
                      </a:r>
                    </a:p>
                  </a:txBody>
                </a:tc>
                <a:tc>
                  <a:txBody>
                    <a:bodyPr/>
                    <a:lstStyle/>
                    <a:p>
                      <a:pPr lvl="0" indent="0" marL="0">
                        <a:buNone/>
                      </a:pPr>
                      <a:r>
                        <a:rPr/>
                        <a:t>Week 6</a:t>
                      </a:r>
                    </a:p>
                  </a:txBody>
                </a:tc>
              </a:tr>
              <a:tr h="0">
                <a:tc>
                  <a:txBody>
                    <a:bodyPr/>
                    <a:lstStyle/>
                    <a:p>
                      <a:pPr lvl="0" indent="0" marL="0">
                        <a:buNone/>
                      </a:pPr>
                      <a:r>
                        <a:rPr/>
                        <a:t>Several continuous predictors</a:t>
                      </a:r>
                    </a:p>
                  </a:txBody>
                </a:tc>
                <a:tc>
                  <a:txBody>
                    <a:bodyPr/>
                    <a:lstStyle/>
                    <a:p>
                      <a:pPr lvl="0" indent="0" marL="0">
                        <a:buNone/>
                      </a:pPr>
                      <a:r>
                        <a:rPr/>
                        <a:t>Multiple regression</a:t>
                      </a:r>
                    </a:p>
                  </a:txBody>
                </a:tc>
                <a:tc>
                  <a:txBody>
                    <a:bodyPr/>
                    <a:lstStyle/>
                    <a:p>
                      <a:pPr lvl="0" indent="0" marL="0">
                        <a:buNone/>
                      </a:pPr>
                      <a:r>
                        <a:rPr/>
                        <a:t>Week 7</a:t>
                      </a:r>
                    </a:p>
                  </a:txBody>
                </a:tc>
              </a:tr>
              <a:tr h="0">
                <a:tc>
                  <a:txBody>
                    <a:bodyPr/>
                    <a:lstStyle/>
                    <a:p>
                      <a:pPr lvl="0" indent="0" marL="0">
                        <a:buNone/>
                      </a:pPr>
                      <a:r>
                        <a:rPr/>
                        <a:t>One categorical factor</a:t>
                      </a:r>
                    </a:p>
                  </a:txBody>
                </a:tc>
                <a:tc>
                  <a:txBody>
                    <a:bodyPr/>
                    <a:lstStyle/>
                    <a:p>
                      <a:pPr lvl="0" indent="0" marL="0">
                        <a:buNone/>
                      </a:pPr>
                      <a:r>
                        <a:rPr/>
                        <a:t>One-way ANOVA</a:t>
                      </a:r>
                    </a:p>
                  </a:txBody>
                </a:tc>
                <a:tc>
                  <a:txBody>
                    <a:bodyPr/>
                    <a:lstStyle/>
                    <a:p>
                      <a:pPr lvl="0" indent="0" marL="0">
                        <a:buNone/>
                      </a:pPr>
                      <a:r>
                        <a:rPr/>
                        <a:t>Week 8</a:t>
                      </a:r>
                    </a:p>
                  </a:txBody>
                </a:tc>
              </a:tr>
              <a:tr h="0">
                <a:tc>
                  <a:txBody>
                    <a:bodyPr/>
                    <a:lstStyle/>
                    <a:p>
                      <a:pPr lvl="0" indent="0" marL="0">
                        <a:buNone/>
                      </a:pPr>
                      <a:r>
                        <a:rPr/>
                        <a:t>Two crossed factors, or BACI</a:t>
                      </a:r>
                    </a:p>
                  </a:txBody>
                </a:tc>
                <a:tc>
                  <a:txBody>
                    <a:bodyPr/>
                    <a:lstStyle/>
                    <a:p>
                      <a:pPr lvl="0" indent="0" marL="0">
                        <a:buNone/>
                      </a:pPr>
                      <a:r>
                        <a:rPr/>
                        <a:t>Two-way ANOVA + interaction</a:t>
                      </a:r>
                    </a:p>
                  </a:txBody>
                </a:tc>
                <a:tc>
                  <a:txBody>
                    <a:bodyPr/>
                    <a:lstStyle/>
                    <a:p>
                      <a:pPr lvl="0" indent="0" marL="0">
                        <a:buNone/>
                      </a:pPr>
                      <a:r>
                        <a:rPr/>
                        <a:t>Week 9</a:t>
                      </a:r>
                    </a:p>
                  </a:txBody>
                </a:tc>
              </a:tr>
              <a:tr h="0">
                <a:tc>
                  <a:txBody>
                    <a:bodyPr/>
                    <a:lstStyle/>
                    <a:p>
                      <a:pPr lvl="0" indent="0" marL="0">
                        <a:buNone/>
                      </a:pPr>
                      <a:r>
                        <a:rPr/>
                        <a:t>Subsamples inside units; clusters</a:t>
                      </a:r>
                    </a:p>
                  </a:txBody>
                </a:tc>
                <a:tc>
                  <a:txBody>
                    <a:bodyPr/>
                    <a:lstStyle/>
                    <a:p>
                      <a:pPr lvl="0" indent="0" marL="0">
                        <a:buNone/>
                      </a:pPr>
                      <a:r>
                        <a:rPr/>
                        <a:t>Nested ANOVA</a:t>
                      </a:r>
                    </a:p>
                  </a:txBody>
                </a:tc>
                <a:tc>
                  <a:txBody>
                    <a:bodyPr/>
                    <a:lstStyle/>
                    <a:p>
                      <a:pPr lvl="0" indent="0" marL="0">
                        <a:buNone/>
                      </a:pPr>
                      <a:r>
                        <a:rPr/>
                        <a:t>Week 9</a:t>
                      </a:r>
                    </a:p>
                  </a:txBody>
                </a:tc>
              </a:tr>
              <a:tr h="0">
                <a:tc>
                  <a:txBody>
                    <a:bodyPr/>
                    <a:lstStyle/>
                    <a:p>
                      <a:pPr lvl="0" indent="0" marL="0">
                        <a:buNone/>
                      </a:pPr>
                      <a:r>
                        <a:rPr/>
                        <a:t>Blocks, repeated measures, split-plot</a:t>
                      </a:r>
                    </a:p>
                  </a:txBody>
                </a:tc>
                <a:tc>
                  <a:txBody>
                    <a:bodyPr/>
                    <a:lstStyle/>
                    <a:p>
                      <a:pPr lvl="0" indent="0" marL="0">
                        <a:buNone/>
                      </a:pPr>
                      <a:r>
                        <a:rPr/>
                        <a:t>Mixed model</a:t>
                      </a:r>
                    </a:p>
                  </a:txBody>
                </a:tc>
                <a:tc>
                  <a:txBody>
                    <a:bodyPr/>
                    <a:lstStyle/>
                    <a:p>
                      <a:pPr lvl="0" indent="0" marL="0">
                        <a:buNone/>
                      </a:pPr>
                      <a:r>
                        <a:rPr/>
                        <a:t>Week 10</a:t>
                      </a:r>
                    </a:p>
                  </a:txBody>
                </a:tc>
              </a:tr>
              <a:tr h="0">
                <a:tc>
                  <a:txBody>
                    <a:bodyPr/>
                    <a:lstStyle/>
                    <a:p>
                      <a:pPr lvl="0" indent="0" marL="0">
                        <a:buNone/>
                      </a:pPr>
                      <a:r>
                        <a:rPr/>
                        <a:t>Counts, or presence/absence</a:t>
                      </a:r>
                    </a:p>
                  </a:txBody>
                </a:tc>
                <a:tc>
                  <a:txBody>
                    <a:bodyPr/>
                    <a:lstStyle/>
                    <a:p>
                      <a:pPr lvl="0" indent="0" marL="0">
                        <a:buNone/>
                      </a:pPr>
                      <a:r>
                        <a:rPr/>
                        <a:t>GLM</a:t>
                      </a:r>
                    </a:p>
                  </a:txBody>
                </a:tc>
                <a:tc>
                  <a:txBody>
                    <a:bodyPr/>
                    <a:lstStyle/>
                    <a:p>
                      <a:pPr lvl="0" indent="0" marL="0">
                        <a:buNone/>
                      </a:pPr>
                      <a:r>
                        <a:rPr/>
                        <a:t>Week 11</a:t>
                      </a:r>
                    </a:p>
                  </a:txBody>
                </a:tc>
              </a:tr>
              <a:tr h="0">
                <a:tc>
                  <a:txBody>
                    <a:bodyPr/>
                    <a:lstStyle/>
                    <a:p>
                      <a:pPr lvl="0" indent="0" marL="0">
                        <a:buNone/>
                      </a:pPr>
                      <a:r>
                        <a:rPr/>
                        <a:t>Factor plus a continuous covariate</a:t>
                      </a:r>
                    </a:p>
                  </a:txBody>
                </a:tc>
                <a:tc>
                  <a:txBody>
                    <a:bodyPr/>
                    <a:lstStyle/>
                    <a:p>
                      <a:pPr lvl="0" indent="0" marL="0">
                        <a:buNone/>
                      </a:pPr>
                      <a:r>
                        <a:rPr/>
                        <a:t>ANCOVA</a:t>
                      </a:r>
                    </a:p>
                  </a:txBody>
                </a:tc>
                <a:tc>
                  <a:txBody>
                    <a:bodyPr/>
                    <a:lstStyle/>
                    <a:p>
                      <a:pPr lvl="0" indent="0" marL="0">
                        <a:buNone/>
                      </a:pPr>
                      <a:r>
                        <a:rPr/>
                        <a:t>Week 12</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You cannot choose your analysis at the end</a:t>
            </a:r>
          </a:p>
          <a:p>
            <a:pPr lvl="0" indent="0" marL="1270000">
              <a:buNone/>
            </a:pPr>
            <a:r>
              <a:rPr sz="2000"/>
              <a:t>You chose it the day you decided what to measure and how to lay it out. Everything after that is bookkeeping.</a:t>
            </a:r>
          </a:p>
        </p:txBody>
      </p:sp>
      <p:pic>
        <p:nvPicPr>
          <p:cNvPr descr="images/clipboard-3944907188.png" id="0" name="Picture 1"/>
          <p:cNvPicPr>
            <a:picLocks noGrp="1" noChangeAspect="1"/>
          </p:cNvPicPr>
          <p:nvPr/>
        </p:nvPicPr>
        <p:blipFill>
          <a:blip r:embed="rId2"/>
          <a:stretch>
            <a:fillRect/>
          </a:stretch>
        </p:blipFill>
        <p:spPr bwMode="auto">
          <a:xfrm>
            <a:off x="6032500" y="1295400"/>
            <a:ext cx="14732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Two stacked plots: statistical power rising with effect size and leveling off near 1.0, with a dashed line marking 80% power at an effect size around 23; and detectable effect size dropping steeply as the number of replicates increases, with a dashed line showing the same effect size achievable at about 23 replicates, illustrating the tradeoff between sample size and detectable effect size.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342900" marL="342900">
              <a:buAutoNum type="arabicPeriod"/>
            </a:pPr>
            <a:r>
              <a:rPr/>
              <a:t>A design has two jobs: </a:t>
            </a:r>
            <a:r>
              <a:rPr b="1"/>
              <a:t>kill bias</a:t>
            </a:r>
            <a:r>
              <a:rPr/>
              <a:t>, </a:t>
            </a:r>
            <a:r>
              <a:rPr b="1"/>
              <a:t>shrink sampling error</a:t>
            </a:r>
            <a:r>
              <a:rPr/>
              <a:t>. No test does either for you.</a:t>
            </a:r>
          </a:p>
          <a:p>
            <a:pPr lvl="0" indent="-342900" marL="342900">
              <a:buAutoNum type="arabicPeriod"/>
            </a:pPr>
            <a:r>
              <a:rPr b="1"/>
              <a:t>Bias</a:t>
            </a:r>
            <a:r>
              <a:rPr/>
              <a:t> → controls (usually more than one), randomization at both levels, blinding.</a:t>
            </a:r>
          </a:p>
          <a:p>
            <a:pPr lvl="0" indent="-342900" marL="342900">
              <a:buAutoNum type="arabicPeriod"/>
            </a:pPr>
            <a:r>
              <a:rPr b="1"/>
              <a:t>Sampling error</a:t>
            </a:r>
            <a:r>
              <a:rPr/>
              <a:t> → replication at the right scale, balance, blocking.</a:t>
            </a:r>
          </a:p>
          <a:p>
            <a:pPr lvl="0" indent="-342900" marL="342900">
              <a:buAutoNum type="arabicPeriod"/>
            </a:pPr>
            <a:r>
              <a:rPr b="1"/>
              <a:t>Natural experiments</a:t>
            </a:r>
            <a:r>
              <a:rPr/>
              <a:t> buy realism with causal ambiguity; manipulations buy inference with scale. Press or pulse, snapshot or trajectory — choose deliberately.</a:t>
            </a:r>
          </a:p>
          <a:p>
            <a:pPr lvl="0" indent="-342900" marL="342900">
              <a:buAutoNum type="arabicPeriod"/>
            </a:pPr>
            <a:r>
              <a:rPr b="1"/>
              <a:t>Replicate the thing your hypothesis is about.</a:t>
            </a:r>
            <a:r>
              <a:rPr/>
              <a:t> Pseudoreplication buys false precision.</a:t>
            </a:r>
          </a:p>
          <a:p>
            <a:pPr lvl="0" indent="-342900" marL="342900">
              <a:buAutoNum type="arabicPeriod"/>
            </a:pPr>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sponge slide, if you remember nothing else</a:t>
            </a:r>
          </a:p>
          <a:p>
            <a:pPr lvl="0" indent="0" marL="1270000">
              <a:buNone/>
            </a:pPr>
            <a:r>
              <a:rPr sz="2000"/>
              <a:t>The inert foam grew roots almost as well as the living sponges. Without that sham control, the paper reports a sponge effect — correctly analysed, properly significant, and wrong.</a:t>
            </a:r>
          </a:p>
          <a:p>
            <a:pPr lvl="0" indent="0" marL="1270000">
              <a:buNone/>
            </a:pPr>
            <a:r>
              <a:rPr sz="2000"/>
              <a:t>Design is not the paperwork before the science. It </a:t>
            </a:r>
            <a:r>
              <a:rPr sz="2000" i="1"/>
              <a:t>is</a:t>
            </a:r>
            <a:r>
              <a:rPr sz="2000"/>
              <a:t> the science.</a:t>
            </a:r>
          </a:p>
          <a:p>
            <a:pPr lvl="0" indent="0" marL="1270000">
              <a:buNone/>
            </a:pPr>
            <a:r>
              <a:rPr sz="2000" b="1"/>
              <a:t>Warning</a:t>
            </a:r>
          </a:p>
          <a:p>
            <a:pPr lvl="0" indent="0" marL="1270000">
              <a:buNone/>
            </a:pPr>
            <a:r>
              <a:rPr sz="2000" b="1"/>
              <a:t>🗳️ One last decision — on your way out</a:t>
            </a:r>
          </a:p>
          <a:p>
            <a:pPr lvl="0" indent="0" marL="1270000">
              <a:buNone/>
            </a:pPr>
            <a:r>
              <a:rPr sz="2000"/>
              <a:t>On a scrap of paper, unsigned:</a:t>
            </a:r>
          </a:p>
          <a:p>
            <a:pPr lvl="0" indent="0" marL="1270000">
              <a:buNone/>
            </a:pPr>
            <a:r>
              <a:rPr sz="2000" b="1"/>
              <a:t>What is the single biggest threat to the validity of our own pine needle study — and what one change would you make to next year’s collection?</a:t>
            </a:r>
          </a:p>
          <a:p>
            <a:pPr lvl="0" indent="0" marL="1270000">
              <a:buNone/>
            </a:pPr>
            <a:r>
              <a:rPr sz="2000"/>
              <a:t>One sentence each. Hand it to me at the door.</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14 — Designing Experiments (§14.4 bias; §14.5 sampling error; §14.6 planning for precision; §14.7 observational studies), and Ch. 1 — Statistics and Samples.</a:t>
            </a:r>
          </a:p>
          <a:p>
            <a:pPr lvl="0"/>
            <a:r>
              <a:rPr b="1"/>
              <a:t>Gotelli &amp; Ellison</a:t>
            </a:r>
            <a:r>
              <a:rPr/>
              <a:t>, Ch. 6 — Designing Successful Field Studies, and Ch. 7 — A Bestiary of Experimental and Sampling Designs.</a:t>
            </a:r>
          </a:p>
          <a:p>
            <a:pPr lvl="0"/>
            <a:r>
              <a:rPr/>
              <a:t>Hurlbert, S. H. (1984). Pseudoreplication and the design of ecological field experiments. </a:t>
            </a:r>
            <a:r>
              <a:rPr i="1"/>
              <a:t>Ecological Monographs</a:t>
            </a:r>
            <a:r>
              <a:rPr/>
              <a:t>, 54(2), 187–211.</a:t>
            </a:r>
          </a:p>
          <a:p>
            <a:pPr lvl="0"/>
            <a:r>
              <a:rPr/>
              <a:t>Ellison, A. M., Farnsworth, E. J., &amp; Twilley, R. R. (1996). Facultative mutualism between red mangroves and root-fouling sponges in Belizean mangal. </a:t>
            </a:r>
            <a:r>
              <a:rPr i="1"/>
              <a:t>Ecology</a:t>
            </a:r>
            <a:r>
              <a:rPr/>
              <a:t>, 77(8), 2431–2444.</a:t>
            </a:r>
          </a:p>
          <a:p>
            <a:pPr lvl="0"/>
            <a:r>
              <a:rPr/>
              <a:t>Quinn, G. P., &amp; Keough, M. J. (2002). </a:t>
            </a:r>
            <a:r>
              <a:rPr i="1"/>
              <a:t>Experimental Design and Data Analysis for Biologists</a:t>
            </a:r>
            <a:r>
              <a:rPr/>
              <a:t>. Cambridge University Press.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Study Design &amp; Sampling</dc:title>
  <dc:creator>Bill Perry</dc:creator>
  <cp:keywords/>
  <dc:description>Bias versus sampling error as the two jobs of a design: controls, randomization and blinding against bias; replication, balance and blocking against sampling error. Natural versus manipulative experiments, press and pulse designs, sampling layouts, BACI, and how each design maps onto the analysis we will run later.</dc:description>
  <dcterms:created xsi:type="dcterms:W3CDTF">2026-09-30T01:33:53Z</dcterms:created>
  <dcterms:modified xsi:type="dcterms:W3CDTF">2026-09-30T01:33:53Z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Designing studies</vt:lpwstr>
  </property>
  <property fmtid="{D5CDD505-2E9C-101B-9397-08002B2CF9AE}" pid="16" name="toc-title">
    <vt:lpwstr>Table of contents</vt:lpwstr>
  </property>
  <property fmtid="{D5CDD505-2E9C-101B-9397-08002B2CF9AE}" pid="17" name="week">
    <vt:lpwstr>5</vt:lpwstr>
  </property>
</Properties>
</file>