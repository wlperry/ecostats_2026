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 paired </a:t>
            </a:r>
            <a:r>
              <a:rPr b="1"/>
              <a:t>Wilcoxon signed-rank</a:t>
            </a:r>
            <a:r>
              <a:rPr/>
              <a:t> test — it ranks the </a:t>
            </a:r>
            <a:r>
              <a:rPr i="1"/>
              <a:t>sizes</a:t>
            </a:r>
            <a:r>
              <a:rPr/>
              <a:t> of the paired differences and then attaches their signs, so it uses more information than a plain sign test. It is the standard non-parametric partner to the paired t-test, and we ran it on our own four trees</a:t>
            </a:r>
          </a:p>
          <a:p>
            <a:pPr lvl="1"/>
            <a:r>
              <a:rPr/>
              <a:t>And we saw its limit: with 4 pairs it cannot return a p-value below 0.125, no matter how large the effect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Our own design, in these terms</a:t>
            </a:r>
          </a:p>
          <a:p>
            <a:pPr lvl="0" indent="0" marL="1270000">
              <a:buNone/>
            </a:pPr>
            <a:r>
              <a:rPr sz="2000"/>
              <a:t>Eight needles from one branch are </a:t>
            </a:r>
            <a:r>
              <a:rPr sz="2000" b="1"/>
              <a:t>not</a:t>
            </a:r>
            <a:r>
              <a:rPr sz="2000"/>
              <a:t> independent — they share a tree, a microclimate, a genotype. Two sides of the same tree </a:t>
            </a:r>
            <a:r>
              <a:rPr sz="2000" b="1"/>
              <a:t>are</a:t>
            </a:r>
            <a:r>
              <a:rPr sz="2000"/>
              <a:t> dependent on each other too, but deliberately so: that is a </a:t>
            </a:r>
            <a:r>
              <a:rPr sz="2000" b="1"/>
              <a:t>paired</a:t>
            </a:r>
            <a:r>
              <a:rPr sz="2000"/>
              <a:t> design, and pairing turns a violation of independence into an advantage.</a:t>
            </a:r>
          </a:p>
          <a:p>
            <a:pPr lvl="0" indent="0" marL="1270000">
              <a:buNone/>
            </a:pPr>
            <a:r>
              <a:rPr sz="2000"/>
              <a:t>Non-independence you ignore costs you. Non-independence you plan for pays you.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There are two things called “post hoc power” — one is useful, one is circular</a:t>
            </a:r>
          </a:p>
          <a:p>
            <a:pPr lvl="0" indent="0" marL="1270000">
              <a:buNone/>
            </a:pPr>
            <a:r>
              <a:rPr sz="2000" b="1"/>
              <a:t>Legitimate:</a:t>
            </a:r>
            <a:r>
              <a:rPr sz="2000"/>
              <a:t> “Given our n and σ, what power did we have to detect a difference </a:t>
            </a:r>
            <a:r>
              <a:rPr sz="2000" i="1"/>
              <a:t>we decided in advance</a:t>
            </a:r>
            <a:r>
              <a:rPr sz="2000"/>
              <a:t> was biologically meaningful?” That is a real answer about your design, and it is what the bullets on the left describe.</a:t>
            </a:r>
          </a:p>
          <a:p>
            <a:pPr lvl="0" indent="0" marL="1270000">
              <a:buNone/>
            </a:pPr>
            <a:r>
              <a:rPr sz="2000" b="1"/>
              <a:t>Invalid:</a:t>
            </a:r>
            <a:r>
              <a:rPr sz="2000"/>
              <a:t> computing power from the effect size you </a:t>
            </a:r>
            <a:r>
              <a:rPr sz="2000" i="1"/>
              <a:t>observed</a:t>
            </a:r>
            <a:r>
              <a:rPr sz="2000"/>
              <a:t>. Observed power is a direct mathematical re-expression of your p-value — a non-significant result </a:t>
            </a:r>
            <a:r>
              <a:rPr sz="2000" i="1"/>
              <a:t>always</a:t>
            </a:r>
            <a:r>
              <a:rPr sz="2000"/>
              <a:t> yields low observed power. Saying “our result was non-significant and our power was low” says the same thing twice, and is not evidence that there is no effect.</a:t>
            </a:r>
          </a:p>
          <a:p>
            <a:pPr lvl="0" indent="0" marL="1270000">
              <a:buNone/>
            </a:pPr>
            <a:r>
              <a:rPr sz="2000"/>
              <a:t>If you want to argue for no effect, use an </a:t>
            </a:r>
            <a:r>
              <a:rPr sz="2000" b="1"/>
              <a:t>equivalence test</a:t>
            </a:r>
            <a:r>
              <a:rPr sz="2000"/>
              <a:t> or report a confidence interval that excludes any meaningful difference.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 b="1"/>
              <a:t>We already have pilot data — our own.</a:t>
            </a:r>
            <a:r>
              <a:rPr sz="2000"/>
              <a:t> Four trees, both sides of each, from Week 1. That is exactly what a pilot study is </a:t>
            </a:r>
            <a:r>
              <a:rPr sz="2000" i="1"/>
              <a:t>for</a:t>
            </a:r>
            <a:r>
              <a:rPr sz="2000"/>
              <a:t>: it does not settle the question, it tells you how big the real study has to be.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Estimates from OUR four trees (see the Power lecture)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 &lt;- </a:t>
            </a:r>
            <a:r>
              <a:rPr>
                <a:solidFill>
                  <a:srgbClr val="AD0000"/>
                </a:solidFill>
                <a:latin typeface="Courier"/>
              </a:rPr>
              <a:t>14.12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sunny_mean  &lt;- </a:t>
            </a:r>
            <a:r>
              <a:rPr>
                <a:solidFill>
                  <a:srgbClr val="AD0000"/>
                </a:solidFill>
                <a:latin typeface="Courier"/>
              </a:rPr>
              <a:t>15.21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  &lt;- </a:t>
            </a:r>
            <a:r>
              <a:rPr>
                <a:solidFill>
                  <a:srgbClr val="AD0000"/>
                </a:solidFill>
                <a:latin typeface="Courier"/>
              </a:rPr>
              <a:t>1.81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(shady_mean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         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0.6022099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trees per side would a proper study need?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44.26649
              d = 0.6022099
      sig.level = 0.05
          power = 0.8
    alternative = two.sided
NOTE: n is number in *each* group</a:t>
            </a:r>
          </a:p>
          <a:p>
            <a:pPr lvl="0" indent="0" marL="1270000">
              <a:buNone/>
            </a:pPr>
            <a:r>
              <a:rPr sz="2000"/>
              <a:t>✏️ </a:t>
            </a:r>
            <a:r>
              <a:rPr sz="2000" b="1"/>
              <a:t>Your turn:</a:t>
            </a:r>
            <a:r>
              <a:rPr sz="2000"/>
              <a:t> Now re-run it as a </a:t>
            </a:r>
            <a:r>
              <a:rPr sz="2000" b="1"/>
              <a:t>paired</a:t>
            </a:r>
            <a:r>
              <a:rPr sz="2000"/>
              <a:t> design (</a:t>
            </a:r>
            <a:r>
              <a:rPr sz="2000">
                <a:latin typeface="Courier"/>
              </a:rPr>
              <a:t>type = "paired"</a:t>
            </a:r>
            <a:r>
              <a:rPr sz="2000"/>
              <a:t>) using the effect size for the </a:t>
            </a:r>
            <a:r>
              <a:rPr sz="2000" i="1"/>
              <a:t>differences</a:t>
            </a:r>
            <a:r>
              <a:rPr sz="2000"/>
              <a:t>, </a:t>
            </a:r>
            <a:r>
              <a:rPr sz="2000">
                <a:latin typeface="Courier"/>
              </a:rPr>
              <a:t>d = 1.36</a:t>
            </a:r>
            <a:r>
              <a:rPr sz="2000"/>
              <a:t>. How many trees does that need instead?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design decision, in one comparison</a:t>
            </a:r>
          </a:p>
          <a:p>
            <a:pPr lvl="0"/>
            <a:r>
              <a:rPr sz="2000"/>
              <a:t>Unpaired: </a:t>
            </a:r>
            <a:r>
              <a:rPr sz="2000" b="1"/>
              <a:t>44 trees per side</a:t>
            </a:r>
            <a:r>
              <a:rPr sz="2000"/>
              <a:t> = 88 trees</a:t>
            </a:r>
          </a:p>
          <a:p>
            <a:pPr lvl="0"/>
            <a:r>
              <a:rPr sz="2000"/>
              <a:t>Paired: </a:t>
            </a:r>
            <a:r>
              <a:rPr sz="2000" b="1"/>
              <a:t>7 trees</a:t>
            </a:r>
            <a:r>
              <a:rPr sz="2000"/>
              <a:t>, both sides of each</a:t>
            </a:r>
          </a:p>
          <a:p>
            <a:pPr lvl="0" indent="0" marL="1270000">
              <a:buNone/>
            </a:pPr>
            <a:r>
              <a:rPr sz="2000"/>
              <a:t>Same question, same measurement effort per tree, same α and power. The difference is entirely in </a:t>
            </a:r>
            <a:r>
              <a:rPr sz="2000" b="1"/>
              <a:t>how you decide to sample</a:t>
            </a:r>
            <a:r>
              <a:rPr sz="2000"/>
              <a:t> — which is what this whole lecture is about.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2026-09-21T17:12:58Z</dcterms:created>
  <dcterms:modified xsi:type="dcterms:W3CDTF">2026-09-21T17:12:58Z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Designing studies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