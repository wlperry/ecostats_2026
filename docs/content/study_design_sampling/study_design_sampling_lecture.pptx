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mnmas.org/about-us" TargetMode="Externa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What are the assumptions again, and how do you assess them?</a:t>
            </a:r>
          </a:p>
          <a:p>
            <a:pPr lvl="0"/>
            <a:r>
              <a:rPr/>
              <a:t>What to do when assumptions fail:</a:t>
            </a:r>
          </a:p>
          <a:p>
            <a:pPr lvl="1"/>
            <a:r>
              <a:rPr/>
              <a:t>Mann-Whitney Wilcoxon rank-sum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 paired </a:t>
            </a:r>
            <a:r>
              <a:rPr b="1"/>
              <a:t>Wilcoxon signed-rank</a:t>
            </a:r>
            <a:r>
              <a:rPr/>
              <a:t> test — it ranks the </a:t>
            </a:r>
            <a:r>
              <a:rPr i="1"/>
              <a:t>sizes</a:t>
            </a:r>
            <a:r>
              <a:rPr/>
              <a:t> of the paired differences and then attaches their signs, so it uses more information than a plain sign test. It is the standard non-parametric partner to the paired t-test, and we ran it on our own four trees</a:t>
            </a:r>
          </a:p>
          <a:p>
            <a:pPr lvl="1"/>
            <a:r>
              <a:rPr/>
              <a:t>And we saw its limit: with 4 pairs it cannot return a p-value below 0.125, no matter how large the effect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good test choice can’t rescue a badly designed study. Today is about the design decisions that come </a:t>
            </a:r>
            <a:r>
              <a:rPr sz="2000" i="1"/>
              <a:t>before</a:t>
            </a:r>
            <a:r>
              <a:rPr sz="2000"/>
              <a:t> you ever pick a test.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handwritten field notebook page recording site data (site ID, time, depth, GPS coordinates, substrate notes) for three sampling stations, an example of real field-study record-keeping.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 Chapter 1 in Whitlock and Schluter: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270000"/>
            <a:ext cx="30861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Close-up photo of a rock surface with a circular grazed patch (dark, cleared algae in the center) surrounded by a mosaic of ungrazed, algae-covered tiles, illustrating a herbivore grazing-scar pattern from a classic stream ecology study.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26000" y="1295400"/>
            <a:ext cx="3873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an experimental array of small tiles laid on a streambed, some darker with algal growth and others lighter/grazed clean, used in Lamberti and Resh’s (1983) study of caddisfly grazing effects on periphyton.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Study Design Fundamentals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 b="1"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 — what are the problems with this data?</a:t>
            </a:r>
          </a:p>
          <a:p>
            <a:pPr lvl="0"/>
            <a:r>
              <a:rPr/>
              <a:t>Effect of factor X on variable Y? — what should you be worried about, and how do you fix it?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6 — Designing Successful Field Studies.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figure comparing a visited tidepool beach (people wading among the rocks) to a restricted no-access beach, each with bar charts of invertebrate density by species and pie charts showing 78.2% of boulders disturbed at the visited beach versus only 1.8% at the restricted beach.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sort of experiment is this design, and what are the issues with it?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Causality in Ecology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79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three study-design types (observational field study, covariate-controlled field study, randomized controlled experiment) stacked with a downward gradient arrow labeled ‘weak’ at top to ‘strong’ at bottom, showing the strength of causal inference increasing from observational studies to randomized experiments.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Humorous meme of a dog looking out a window with text joking that its barking is the reason the mail carrier always leaves unharmed (‘I have the power of barking to thank for that’), a lighthearted example of mistaking correlation/coincidence for causation.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/>
            <a:r>
              <a:rPr/>
              <a:t>What type of experiment is this?</a:t>
            </a:r>
          </a:p>
          <a:p>
            <a:pPr lvl="0"/>
            <a:r>
              <a:rPr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51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Three-part figure: (A) a scatterplot of spider density versus lizard density showing no relationship (null hypothesis), (B) a scatterplot showing spider density declining as lizard density increases (alternative hypothesis), and a photo below of a lizard eating a spider, illustrating a proposed predation mechanism.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Natural vs. Manipulative Experiments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the predictor variable</a:t>
            </a:r>
          </a:p>
          <a:p>
            <a:pPr lvl="0"/>
            <a:r>
              <a:rPr/>
              <a:t>E.g., survey plots across a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the direction of the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Scatterplot of spider density against lizard density across survey plots, showing a clear negative relationship, an example of a natural experiment using existing variation rather than manipulation.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experiments.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causal diagrams: a ‘confounder’ diagram where Moisture has arrows pointing to both Lizard density and Spider density (a third variable driving both), and a ‘mediator’ diagram where Moisture points to Lizard density which in turn points to Spider density (an indirect causal chain).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experimenter directly manipulates the predictor variable and measures the response.</a:t>
            </a:r>
          </a:p>
          <a:p>
            <a:pPr lvl="0" indent="0" marL="0">
              <a:buNone/>
            </a:pPr>
            <a:r>
              <a:rPr/>
              <a:t>Randomized, controlled trials: the gold standard.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a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a small number of treatments; a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 large grid of manipulated experimental field plots surrounded by forest, part of the Cedar Creek Ecosystem Science Reserve’s long-term biodiversity experiments.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Cedar Creek Ecosystem Science Reserve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Experimental Design Principles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variables</a:t>
            </a:r>
            <a:r>
              <a:rPr/>
              <a:t>.</a:t>
            </a:r>
          </a:p>
          <a:p>
            <a:pPr lvl="0"/>
            <a:r>
              <a:rPr/>
              <a:t>Is the result due to X,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confounding variable Z with arrows pointing to both X and Y, illustrating that a third variable can drive an apparent relationship between the two variables of interest.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Many statistical methods need an estimate of that variability</a:t>
            </a:r>
          </a:p>
          <a:p>
            <a:pPr lvl="0" indent="0" marL="0">
              <a:buNone/>
            </a:pPr>
            <a:r>
              <a:rPr/>
              <a:t>Without appropriate replication: is the difference due to the manipulation, or something else?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Replication must be on the appropriate scale — match the scale of replication to the population of interest, or you’ll run into </a:t>
            </a:r>
            <a:r>
              <a:rPr sz="2000" b="1"/>
              <a:t>pseudoreplication</a:t>
            </a:r>
            <a:r>
              <a:rPr sz="2000"/>
              <a:t> (Hurlbert 1984, </a:t>
            </a:r>
            <a:r>
              <a:rPr sz="2000" i="1"/>
              <a:t>Pseudoreplication and the Design of Ecological Field Experiments</a:t>
            </a:r>
            <a:r>
              <a:rPr sz="2000"/>
              <a:t>).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51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tile-array photo repeated, shown here as an example of replicated experimental units on a streambed.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 — replicate samples from burnt and unburnt parts of </a:t>
            </a:r>
            <a:r>
              <a:rPr i="1"/>
              <a:t>a single</a:t>
            </a:r>
            <a:r>
              <a:rPr/>
              <a:t> forest. 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 — 2 aquaria (+Cu, control), 5 settling plates in each. 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 — 10 water samples above discharge, 10 below. 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90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Map showing the burned area of the ‘Camp House Fire’ as an orange shape near Brimson, Minnesota, with roads and nearby towns labeled, illustrating a real forest-fire footprint for the burnt-versus-unburnt forest replication example.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the Type I error rate</a:t>
            </a:r>
          </a:p>
          <a:p>
            <a:pPr lvl="0" indent="0" marL="0">
              <a:buNone/>
            </a:pPr>
            <a:r>
              <a:rPr/>
              <a:t>Replicates must be on a scale appropriate to the population (and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  <p:pic>
        <p:nvPicPr>
          <p:cNvPr descr="images/clipboard-187786094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an aquarium tank containing a fish, a shelter labeled (a), prey items labeled (b), and a barrier or structure labeled (c), used to illustrate the barnacle/copper-aquaria pseudoreplication example where settling plates within the same tank are not true replicates.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if replication is impossible, difficult, or 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 — 4 chambers (5, 10, 15, 20°C), 10 beakers in each. Are beakers true replicates?</a:t>
            </a:r>
          </a:p>
          <a:p>
            <a:pPr lvl="0" indent="0" marL="0">
              <a:buNone/>
            </a:pPr>
            <a:r>
              <a:rPr b="1"/>
              <a:t>Possible solutions:</a:t>
            </a:r>
          </a:p>
          <a:p>
            <a:pPr lvl="0"/>
            <a:r>
              <a:rPr/>
              <a:t>Rerun the experiment a few times, changing the temperature of chambers — block by time</a:t>
            </a:r>
          </a:p>
          <a:p>
            <a:pPr lvl="0"/>
            <a:r>
              <a:rPr/>
              <a:t>Try to account for all possible differences between chambers (light levels, humidity, contamination) — block by chamber</a:t>
            </a:r>
          </a:p>
        </p:txBody>
      </p:sp>
      <p:pic>
        <p:nvPicPr>
          <p:cNvPr descr="images/clipboard-360026600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an outdoor research facility with about 20 large circular tanks (mesocosms) arranged in a grid on gravel, plus additional smaller tanks in the background, illustrating replicated temperature-controlled growth chambers.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the response due to the manipulation/hypothesized mechanism, or an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for the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the control does not receive the substance under study</a:t>
            </a:r>
          </a:p>
          <a:p>
            <a:pPr lvl="0"/>
            <a:r>
              <a:rPr/>
              <a:t>Predator exclosures often produce “cage effects” — you 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85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underwater photos on a coral reef: (a) a PVC-pipe apparatus with bait attached near the coral, and (b)-(c) a mesh cage/exclosure structure being lowered over the setup, illustrating a predator-exclusion control used to separate manipulation effects from confounds like cage artifacts.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Activity: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drought,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growth,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 is an assumption of many statistical methods. Events are independent if the occurrence of one has no effect on the occurrence of another.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a violation of independence.</a:t>
            </a:r>
          </a:p>
          <a:p>
            <a:pPr lvl="0"/>
            <a:r>
              <a:rPr/>
              <a:t>Values of variables at a certain place/time are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exist to adjust for autocorrelation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Our own design, in these terms</a:t>
            </a:r>
          </a:p>
          <a:p>
            <a:pPr lvl="0" indent="0" marL="1270000">
              <a:buNone/>
            </a:pPr>
            <a:r>
              <a:rPr sz="2000"/>
              <a:t>Eight needles from one branch are </a:t>
            </a:r>
            <a:r>
              <a:rPr sz="2000" b="1"/>
              <a:t>not</a:t>
            </a:r>
            <a:r>
              <a:rPr sz="2000"/>
              <a:t> independent — they share a tree, a microclimate, a genotype. Two sides of the same tree </a:t>
            </a:r>
            <a:r>
              <a:rPr sz="2000" b="1"/>
              <a:t>are</a:t>
            </a:r>
            <a:r>
              <a:rPr sz="2000"/>
              <a:t> dependent on each other too, but deliberately so: that is a </a:t>
            </a:r>
            <a:r>
              <a:rPr sz="2000" b="1"/>
              <a:t>paired</a:t>
            </a:r>
            <a:r>
              <a:rPr sz="2000"/>
              <a:t> design, and pairing turns a violation of independence into an advantage.</a:t>
            </a:r>
          </a:p>
          <a:p>
            <a:pPr lvl="0" indent="0" marL="1270000">
              <a:buNone/>
            </a:pPr>
            <a:r>
              <a:rPr sz="2000"/>
              <a:t>Non-independence you ignore costs you. Non-independence you plan for pays you.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40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mother rat nursing a litter of newborn pups, illustrating the independence example: offspring from one mother are not independent replicates of each other.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 — it attempts to equalize the effects of confounders.</a:t>
            </a:r>
          </a:p>
          <a:p>
            <a:pPr lvl="0" indent="0" marL="0">
              <a:buNone/>
            </a:pPr>
            <a:r>
              <a:rPr b="1"/>
              <a:t>Random sampling from a population:</a:t>
            </a:r>
          </a:p>
          <a:p>
            <a:pPr lvl="0"/>
            <a:r>
              <a:rPr/>
              <a:t>Experimental units should represent a random sample from the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an experiment are a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shoreline (land at bottom, water at top) with shaded squares labeled E (experimental) and unshaded squares labeled C (control) interspersed randomly across the plots, illustrating random assignment of units to treatment and control.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an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the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Sampling Design in Field Studies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an equal chance of being selected</a:t>
            </a:r>
          </a:p>
          <a:p>
            <a:pPr lvl="0"/>
            <a:r>
              <a:rPr/>
              <a:t>Assign a number to all possible units, select units using a random number generator</a:t>
            </a:r>
          </a:p>
          <a:p>
            <a:pPr lvl="0"/>
            <a:r>
              <a:rPr/>
              <a:t>Often tricky in ecology; haphazard sampling is a common (imperfect) alternative</a:t>
            </a:r>
          </a:p>
          <a:p>
            <a:pPr lvl="0"/>
            <a:r>
              <a:rPr/>
              <a:t>Most population estimates and tests assume random sampling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7 — A Bestiary of Experimental and Sampling Designs, covers all four sampling designs on this and the following three slides.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blue lake with black squares scattered haphazardly throughout the water, illustrating simple random sampling where every point has an equal chance of being sampled.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the population, you may want to sample each independently.</a:t>
            </a:r>
          </a:p>
          <a:p>
            <a:pPr lvl="0"/>
            <a:r>
              <a:rPr/>
              <a:t>Samples collected from each stratum randomly, n proportional to the “size” of the stratum</a:t>
            </a:r>
          </a:p>
          <a:p>
            <a:pPr lvl="0"/>
            <a:r>
              <a:rPr/>
              <a:t>Means and variances need to be estimated using a different procedure; strata are included in the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divided into three concentric depth strata (shallow green, mid-depth light blue, deep dark blue), with sample points scattered within each stratum, illustrating stratified random sampling.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 on sampling subunits nested in larger units</a:t>
            </a:r>
          </a:p>
          <a:p>
            <a:pPr lvl="0"/>
            <a:r>
              <a:rPr/>
              <a:t>Used when other designs are impractical (e.g., due to cost)</a:t>
            </a:r>
          </a:p>
          <a:p>
            <a:pPr lvl="0"/>
            <a:r>
              <a:rPr/>
              <a:t>Mean calculation is easy; variance needs a modified procedure</a:t>
            </a:r>
          </a:p>
          <a:p>
            <a:pPr lvl="0"/>
            <a:r>
              <a:rPr/>
              <a:t>Nested ANOVA is often the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four red circles marking clusters, each containing three sample points, positioned around the shoreline, illustrating cluster sampling where whole groups near a location are sampled together.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 — “transect” sampling is common in ecology</a:t>
            </a:r>
          </a:p>
          <a:p>
            <a:pPr lvl="0"/>
            <a:r>
              <a:rPr/>
              <a:t>Used to determine changes along a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sample points evenly spaced in a grid-like pattern across the water, illustrating systematic sampling along a regular interval rather than at random locations.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Activity: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groups of 3–4,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Power Analysis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Power Analysis 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Power is an important aspect of experimental design:</a:t>
            </a:r>
          </a:p>
          <a:p>
            <a:pPr lvl="1"/>
            <a:r>
              <a:rPr/>
              <a:t>Low power → higher likelihood of Type II error (1 − β)</a:t>
            </a:r>
          </a:p>
          <a:p>
            <a:pPr lvl="1"/>
            <a:r>
              <a:rPr/>
              <a:t>A study’s power tells us how likely we are to see an effect if one really exists</a:t>
            </a:r>
          </a:p>
          <a:p>
            <a:pPr lvl="0"/>
            <a:r>
              <a:rPr/>
              <a:t>Power analysis can be used:</a:t>
            </a:r>
          </a:p>
          <a:p>
            <a:pPr lvl="1"/>
            <a:r>
              <a:rPr/>
              <a:t>Before the experiment (</a:t>
            </a:r>
            <a:r>
              <a:rPr i="1"/>
              <a:t>a priori</a:t>
            </a:r>
            <a:r>
              <a:rPr/>
              <a:t>): how many samples do we need? What effect size can we detect?</a:t>
            </a:r>
          </a:p>
          <a:p>
            <a:pPr lvl="1"/>
            <a:r>
              <a:rPr/>
              <a:t>After the experiment (</a:t>
            </a:r>
            <a:r>
              <a:rPr i="1"/>
              <a:t>post hoc</a:t>
            </a:r>
            <a:r>
              <a:rPr/>
              <a:t>): was a finding of no effect due to a lack of true effect, or poor design?</a:t>
            </a:r>
          </a:p>
          <a:p>
            <a:pPr lvl="0"/>
            <a:r>
              <a:rPr/>
              <a:t>Power is a function of: effect size (ES), sample size (n), standard deviation (σ), and α (typically 0.05)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14 — Designing Experiments, covers planning the sample size needed for a study.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 Need to know: desired power, variability, significance level, effect size.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a particular design? Need to know: desired power, variability, significance level, n.</a:t>
            </a:r>
          </a:p>
          <a:p>
            <a:pPr lvl="0" indent="0" marL="0">
              <a:buNone/>
            </a:pPr>
            <a:r>
              <a:rPr b="1"/>
              <a:t>Cohen’s d</a:t>
            </a:r>
            <a:r>
              <a:rPr/>
              <a:t> — a standardized measure of effect size, particularly for comparing two means:</a:t>
            </a:r>
          </a:p>
          <a:p>
            <a:pPr lvl="0"/>
            <a:r>
              <a:rPr/>
              <a:t>0.2 = small effect, 0.5 = medium effect, 0.8 = large effect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standardize?</a:t>
            </a:r>
          </a:p>
          <a:p>
            <a:pPr lvl="0" indent="0" marL="1270000">
              <a:buNone/>
            </a:pPr>
            <a:r>
              <a:rPr sz="2000"/>
              <a:t>Cohen’s d helps determine the </a:t>
            </a:r>
            <a:r>
              <a:rPr sz="2000" i="1"/>
              <a:t>practical</a:t>
            </a:r>
            <a:r>
              <a:rPr sz="2000"/>
              <a:t> significance of a finding, as opposed to just statistical significance (p-values). A Cohen’s d of 0.8 means the groups differ by 0.8 standard deviations — large enough to be substantial in practical terms.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samples do you need to find this difference?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pwr.t.test()</a:t>
            </a:r>
            <a:r>
              <a:rPr sz="2000"/>
              <a:t> solves for whichever argument you leave out — here, </a:t>
            </a:r>
            <a:r>
              <a:rPr sz="2000">
                <a:latin typeface="Courier"/>
              </a:rPr>
              <a:t>n</a:t>
            </a:r>
            <a:r>
              <a:rPr sz="2000"/>
              <a:t>. Leave out a different argument (e.g., </a:t>
            </a:r>
            <a:r>
              <a:rPr sz="2000">
                <a:latin typeface="Courier"/>
              </a:rPr>
              <a:t>power</a:t>
            </a:r>
            <a:r>
              <a:rPr sz="2000"/>
              <a:t>) and it solves for that instead.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Imagine you did not reject the null hypothesis — is the result still worth publishing?</a:t>
            </a:r>
          </a:p>
          <a:p>
            <a:pPr lvl="0"/>
            <a:r>
              <a:rPr/>
              <a:t>Is a non-significant result due to low power (poor design), or an actual no-effect situation?</a:t>
            </a:r>
          </a:p>
          <a:p>
            <a:pPr lvl="1"/>
            <a:r>
              <a:rPr/>
              <a:t>You have n and an estimate of σ</a:t>
            </a:r>
          </a:p>
          <a:p>
            <a:pPr lvl="1"/>
            <a:r>
              <a:rPr/>
              <a:t>You need to define the effect size you wanted to detect</a:t>
            </a:r>
          </a:p>
          <a:p>
            <a:pPr lvl="1"/>
            <a:r>
              <a:rPr/>
              <a:t>In return, you get an estimate of the experiment’s power</a:t>
            </a:r>
          </a:p>
          <a:p>
            <a:pPr lvl="0"/>
            <a:r>
              <a:rPr/>
              <a:t>Cohen’s d is calculated as: d = (Mean1 − Mean2) / SD_pooled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There are two things called “post hoc power” — one is useful, one is circular</a:t>
            </a:r>
          </a:p>
          <a:p>
            <a:pPr lvl="0" indent="0" marL="1270000">
              <a:buNone/>
            </a:pPr>
            <a:r>
              <a:rPr sz="2000" b="1"/>
              <a:t>Legitimate:</a:t>
            </a:r>
            <a:r>
              <a:rPr sz="2000"/>
              <a:t> “Given our n and σ, what power did we have to detect a difference </a:t>
            </a:r>
            <a:r>
              <a:rPr sz="2000" i="1"/>
              <a:t>we decided in advance</a:t>
            </a:r>
            <a:r>
              <a:rPr sz="2000"/>
              <a:t> was biologically meaningful?” That is a real answer about your design, and it is what the bullets on the left describe.</a:t>
            </a:r>
          </a:p>
          <a:p>
            <a:pPr lvl="0" indent="0" marL="1270000">
              <a:buNone/>
            </a:pPr>
            <a:r>
              <a:rPr sz="2000" b="1"/>
              <a:t>Invalid:</a:t>
            </a:r>
            <a:r>
              <a:rPr sz="2000"/>
              <a:t> computing power from the effect size you </a:t>
            </a:r>
            <a:r>
              <a:rPr sz="2000" i="1"/>
              <a:t>observed</a:t>
            </a:r>
            <a:r>
              <a:rPr sz="2000"/>
              <a:t>. Observed power is a direct mathematical re-expression of your p-value — a non-significant result </a:t>
            </a:r>
            <a:r>
              <a:rPr sz="2000" i="1"/>
              <a:t>always</a:t>
            </a:r>
            <a:r>
              <a:rPr sz="2000"/>
              <a:t> yields low observed power. Saying “our result was non-significant and our power was low” says the same thing twice, and is not evidence that there is no effect.</a:t>
            </a:r>
          </a:p>
          <a:p>
            <a:pPr lvl="0" indent="0" marL="1270000">
              <a:buNone/>
            </a:pPr>
            <a:r>
              <a:rPr sz="2000"/>
              <a:t>If you want to argue for no effect, use an </a:t>
            </a:r>
            <a:r>
              <a:rPr sz="2000" b="1"/>
              <a:t>equivalence test</a:t>
            </a:r>
            <a:r>
              <a:rPr sz="2000"/>
              <a:t> or report a confidence interval that excludes any meaningful difference.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Same function as </a:t>
            </a:r>
            <a:r>
              <a:rPr sz="2000" i="1"/>
              <a:t>a priori</a:t>
            </a:r>
            <a:r>
              <a:rPr sz="2000"/>
              <a:t> power analysis — </a:t>
            </a:r>
            <a:r>
              <a:rPr sz="2000">
                <a:latin typeface="Courier"/>
              </a:rPr>
              <a:t>pwr.t.test()</a:t>
            </a:r>
            <a:r>
              <a:rPr sz="2000"/>
              <a:t> — just with </a:t>
            </a:r>
            <a:r>
              <a:rPr sz="2000">
                <a:latin typeface="Courier"/>
              </a:rPr>
              <a:t>n</a:t>
            </a:r>
            <a:r>
              <a:rPr sz="2000"/>
              <a:t> supplied and </a:t>
            </a:r>
            <a:r>
              <a:rPr sz="2000">
                <a:latin typeface="Courier"/>
              </a:rPr>
              <a:t>power</a:t>
            </a:r>
            <a:r>
              <a:rPr sz="2000"/>
              <a:t> left out to solve for instead.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Analysis for a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  <a:r>
              <a:rPr sz="2000" b="1"/>
              <a:t>We already have pilot data — our own.</a:t>
            </a:r>
            <a:r>
              <a:rPr sz="2000"/>
              <a:t> Four trees, both sides of each, from Week 1. That is exactly what a pilot study is </a:t>
            </a:r>
            <a:r>
              <a:rPr sz="2000" i="1"/>
              <a:t>for</a:t>
            </a:r>
            <a:r>
              <a:rPr sz="2000"/>
              <a:t>: it does not settle the question, it tells you how big the real study has to be.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Estimates from OUR four trees (see the Power lecture)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  &lt;- </a:t>
            </a:r>
            <a:r>
              <a:rPr>
                <a:solidFill>
                  <a:srgbClr val="AD0000"/>
                </a:solidFill>
                <a:latin typeface="Courier"/>
              </a:rPr>
              <a:t>14.12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sunny_mean  &lt;- </a:t>
            </a:r>
            <a:r>
              <a:rPr>
                <a:solidFill>
                  <a:srgbClr val="AD0000"/>
                </a:solidFill>
                <a:latin typeface="Courier"/>
              </a:rPr>
              <a:t>15.21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  &lt;- </a:t>
            </a:r>
            <a:r>
              <a:rPr>
                <a:solidFill>
                  <a:srgbClr val="AD0000"/>
                </a:solidFill>
                <a:latin typeface="Courier"/>
              </a:rPr>
              <a:t>1.81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(shady_mean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         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0.6022099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trees per side would a proper study need?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44.26649
              d = 0.6022099
      sig.level = 0.05
          power = 0.8
    alternative = two.sided
NOTE: n is number in *each* group</a:t>
            </a:r>
          </a:p>
          <a:p>
            <a:pPr lvl="0" indent="0" marL="1270000">
              <a:buNone/>
            </a:pPr>
            <a:r>
              <a:rPr sz="2000"/>
              <a:t>✏️ </a:t>
            </a:r>
            <a:r>
              <a:rPr sz="2000" b="1"/>
              <a:t>Your turn:</a:t>
            </a:r>
            <a:r>
              <a:rPr sz="2000"/>
              <a:t> Now re-run it as a </a:t>
            </a:r>
            <a:r>
              <a:rPr sz="2000" b="1"/>
              <a:t>paired</a:t>
            </a:r>
            <a:r>
              <a:rPr sz="2000"/>
              <a:t> design (</a:t>
            </a:r>
            <a:r>
              <a:rPr sz="2000">
                <a:latin typeface="Courier"/>
              </a:rPr>
              <a:t>type = "paired"</a:t>
            </a:r>
            <a:r>
              <a:rPr sz="2000"/>
              <a:t>) using the effect size for the </a:t>
            </a:r>
            <a:r>
              <a:rPr sz="2000" i="1"/>
              <a:t>differences</a:t>
            </a:r>
            <a:r>
              <a:rPr sz="2000"/>
              <a:t>, </a:t>
            </a:r>
            <a:r>
              <a:rPr sz="2000">
                <a:latin typeface="Courier"/>
              </a:rPr>
              <a:t>d = 1.36</a:t>
            </a:r>
            <a:r>
              <a:rPr sz="2000"/>
              <a:t>. How many trees does that need instead?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design decision, in one comparison</a:t>
            </a:r>
          </a:p>
          <a:p>
            <a:pPr lvl="0"/>
            <a:r>
              <a:rPr sz="2000"/>
              <a:t>Unpaired: </a:t>
            </a:r>
            <a:r>
              <a:rPr sz="2000" b="1"/>
              <a:t>44 trees per side</a:t>
            </a:r>
            <a:r>
              <a:rPr sz="2000"/>
              <a:t> = 88 trees</a:t>
            </a:r>
          </a:p>
          <a:p>
            <a:pPr lvl="0"/>
            <a:r>
              <a:rPr sz="2000"/>
              <a:t>Paired: </a:t>
            </a:r>
            <a:r>
              <a:rPr sz="2000" b="1"/>
              <a:t>7 trees</a:t>
            </a:r>
            <a:r>
              <a:rPr sz="2000"/>
              <a:t>, both sides of each</a:t>
            </a:r>
          </a:p>
          <a:p>
            <a:pPr lvl="0" indent="0" marL="1270000">
              <a:buNone/>
            </a:pPr>
            <a:r>
              <a:rPr sz="2000"/>
              <a:t>Same question, same measurement effort per tree, same α and power. The difference is entirely in </a:t>
            </a:r>
            <a:r>
              <a:rPr sz="2000" b="1"/>
              <a:t>how you decide to sample</a:t>
            </a:r>
            <a:r>
              <a:rPr sz="2000"/>
              <a:t> — which is what this whole lecture is about.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Wrap-Up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categorical vs. continuous variables; dependent vs. independent variables</a:t>
            </a:r>
          </a:p>
          <a:p>
            <a:pPr lvl="0"/>
            <a:r>
              <a:rPr/>
              <a:t>The nature of your variables dictates the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You cannot “fix” a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51600" y="660400"/>
            <a:ext cx="2108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stacked plots: statistical power rising with effect size and leveling off near 1.0, with a dashed line marking 80% power at an effect size around 23; and detectable effect size dropping steeply as the number of replicates increases, with a dashed line showing the same effect size achievable at about 23 replicates, illustrating the tradeoff between sample size and detectable effect size.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—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—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  <a:r>
              <a:rPr/>
              <a:t> replication at the right scale, proper randomization, appropriate controls, 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—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—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Remember:</a:t>
            </a:r>
          </a:p>
          <a:p>
            <a:pPr lvl="0"/>
            <a:r>
              <a:rPr sz="2000"/>
              <a:t>Correlation ≠ causation</a:t>
            </a:r>
          </a:p>
          <a:p>
            <a:pPr lvl="0"/>
            <a:r>
              <a:rPr sz="2000"/>
              <a:t>Beware of pseudoreplication</a:t>
            </a:r>
          </a:p>
          <a:p>
            <a:pPr lvl="0"/>
            <a:r>
              <a:rPr sz="2000"/>
              <a:t>Design before you collect data</a:t>
            </a:r>
          </a:p>
          <a:p>
            <a:pPr lvl="0"/>
            <a:r>
              <a:rPr sz="2000"/>
              <a:t>Consider practical constraints</a:t>
            </a:r>
          </a:p>
          <a:p>
            <a:pPr lvl="0"/>
            <a:r>
              <a:rPr sz="2000"/>
              <a:t>Report everything transparently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</a:t>
            </a:r>
            <a:r>
              <a:rPr i="1"/>
              <a:t>A Primer of Ecological Statistics</a:t>
            </a:r>
            <a:r>
              <a:rPr/>
              <a:t> (2nd ed.). Sinauer Associates.</a:t>
            </a:r>
          </a:p>
          <a:p>
            <a:pPr lvl="0"/>
            <a:r>
              <a:rPr/>
              <a:t>Hurlbert, S. H. (1984). Pseudoreplication and the design of ecological field experiments. </a:t>
            </a:r>
            <a:r>
              <a:rPr i="1"/>
              <a:t>Ecological Monographs</a:t>
            </a:r>
            <a:r>
              <a:rPr/>
              <a:t>, 54(2), 187–211.</a:t>
            </a:r>
          </a:p>
          <a:p>
            <a:pPr lvl="0"/>
            <a:r>
              <a:rPr/>
              <a:t>Quinn, G. P., &amp; Keough, M. J. (2002). </a:t>
            </a:r>
            <a:r>
              <a:rPr i="1"/>
              <a:t>Experimental Design and Data Analysis for Biologists</a:t>
            </a:r>
            <a:r>
              <a:rPr/>
              <a:t>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</a:t>
            </a:r>
            <a:r>
              <a:rPr i="1"/>
              <a:t>Methods in Ecology and Evolution</a:t>
            </a:r>
            <a:r>
              <a:rPr/>
              <a:t>, 1(1), 3–14.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Study Design &amp; Sampling</dc:title>
  <dc:creator>Bill Perry</dc:creator>
  <cp:keywords/>
  <dc:description>Causality, natural vs. manipulative experiments, replication and pseudoreplication, controls, randomization, sampling designs, and a priori/post hoc power analysis.</dc:description>
  <dcterms:created xsi:type="dcterms:W3CDTF">2026-09-28T13:54:48Z</dcterms:created>
  <dcterms:modified xsi:type="dcterms:W3CDTF">2026-09-28T13:54:48Z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9</vt:lpwstr>
  </property>
  <property fmtid="{D5CDD505-2E9C-101B-9397-08002B2CF9AE}" pid="14" name="resources">
    <vt:lpwstr/>
  </property>
  <property fmtid="{D5CDD505-2E9C-101B-9397-08002B2CF9AE}" pid="15" name="subtitle">
    <vt:lpwstr>Designing studies</vt:lpwstr>
  </property>
  <property fmtid="{D5CDD505-2E9C-101B-9397-08002B2CF9AE}" pid="16" name="toc-title">
    <vt:lpwstr>Table of contents</vt:lpwstr>
  </property>
  <property fmtid="{D5CDD505-2E9C-101B-9397-08002B2CF9AE}" pid="17" name="week">
    <vt:lpwstr>5</vt:lpwstr>
  </property>
</Properties>
</file>