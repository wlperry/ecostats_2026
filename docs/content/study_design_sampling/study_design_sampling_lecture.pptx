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50" Type="http://schemas.openxmlformats.org/officeDocument/2006/relationships/viewProps" Target="viewProps.xml" /><Relationship Id="rId49" Type="http://schemas.openxmlformats.org/officeDocument/2006/relationships/presProps" Target="presProps.xml" /><Relationship Id="rId1" Type="http://schemas.openxmlformats.org/officeDocument/2006/relationships/slideMaster" Target="slideMasters/slideMaster1.xml" /><Relationship Id="rId52" Type="http://schemas.openxmlformats.org/officeDocument/2006/relationships/tableStyles" Target="tableStyles.xml" /><Relationship Id="rId5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9.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Study Design &amp; Sampling</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Designing studies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Where We Left Off</a:t>
            </a:r>
          </a:p>
        </p:txBody>
      </p:sp>
      <p:sp>
        <p:nvSpPr>
          <p:cNvPr id="3" name="Content Placeholder 2"/>
          <p:cNvSpPr>
            <a:spLocks noGrp="1"/>
          </p:cNvSpPr>
          <p:nvPr>
            <p:ph idx="1" sz="half"/>
          </p:nvPr>
        </p:nvSpPr>
        <p:spPr/>
        <p:txBody>
          <a:bodyPr/>
          <a:lstStyle/>
          <a:p>
            <a:pPr lvl="0" indent="0" marL="0">
              <a:buNone/>
            </a:pPr>
            <a:r>
              <a:rPr/>
              <a:t>Covered last time:</a:t>
            </a:r>
          </a:p>
          <a:p>
            <a:pPr lvl="0"/>
            <a:r>
              <a:rPr/>
              <a:t>Type I and Type II error, and the decision table</a:t>
            </a:r>
          </a:p>
          <a:p>
            <a:pPr lvl="0"/>
            <a:r>
              <a:rPr b="1"/>
              <a:t>Power</a:t>
            </a:r>
            <a:r>
              <a:rPr/>
              <a:t> — the chance of detecting an effect that is really there</a:t>
            </a:r>
          </a:p>
          <a:p>
            <a:pPr lvl="0"/>
            <a:r>
              <a:rPr i="1"/>
              <a:t>A priori</a:t>
            </a:r>
            <a:r>
              <a:rPr/>
              <a:t> power to plan a study, retrospective power to plan the </a:t>
            </a:r>
            <a:r>
              <a:rPr i="1"/>
              <a:t>next</a:t>
            </a:r>
            <a:r>
              <a:rPr/>
              <a:t> one</a:t>
            </a:r>
          </a:p>
          <a:p>
            <a:pPr lvl="0"/>
            <a:r>
              <a:rPr/>
              <a:t>Pairing our four trees took the study from needing 88 trees to needing 7</a:t>
            </a:r>
          </a:p>
          <a:p>
            <a:pPr lvl="0" indent="0" marL="1270000">
              <a:buNone/>
            </a:pPr>
            <a:r>
              <a:rPr sz="2000" b="1"/>
              <a:t>Note</a:t>
            </a:r>
          </a:p>
          <a:p>
            <a:pPr lvl="0" indent="0" marL="1270000">
              <a:buNone/>
            </a:pPr>
            <a:r>
              <a:rPr sz="2000" b="1"/>
              <a:t>✅ Key idea from last lecture</a:t>
            </a:r>
          </a:p>
          <a:p>
            <a:pPr lvl="0" indent="0" marL="1270000">
              <a:buNone/>
            </a:pPr>
            <a:r>
              <a:rPr sz="2000"/>
              <a:t>Power is a property of a </a:t>
            </a:r>
            <a:r>
              <a:rPr sz="2000" b="1"/>
              <a:t>design</a:t>
            </a:r>
            <a:r>
              <a:rPr sz="2000"/>
              <a:t>, not of a test. Last time we measured it. Today we build the thing being measured — and we do it before any data exist.</a:t>
            </a:r>
          </a:p>
        </p:txBody>
      </p:sp>
      <p:pic>
        <p:nvPicPr>
          <p:cNvPr descr="images/clipboard-3712542164.png" id="0" name="Picture 1"/>
          <p:cNvPicPr>
            <a:picLocks noGrp="1" noChangeAspect="1"/>
          </p:cNvPicPr>
          <p:nvPr/>
        </p:nvPicPr>
        <p:blipFill>
          <a:blip r:embed="rId2"/>
          <a:stretch>
            <a:fillRect/>
          </a:stretch>
        </p:blipFill>
        <p:spPr bwMode="auto">
          <a:xfrm>
            <a:off x="6121400" y="1041400"/>
            <a:ext cx="2781300" cy="37084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Today’s Overview</a:t>
            </a:r>
          </a:p>
        </p:txBody>
      </p:sp>
      <p:sp>
        <p:nvSpPr>
          <p:cNvPr id="3" name="Content Placeholder 2"/>
          <p:cNvSpPr>
            <a:spLocks noGrp="1"/>
          </p:cNvSpPr>
          <p:nvPr>
            <p:ph idx="1" sz="half"/>
          </p:nvPr>
        </p:nvSpPr>
        <p:spPr/>
        <p:txBody>
          <a:bodyPr/>
          <a:lstStyle/>
          <a:p>
            <a:pPr lvl="0" indent="0" marL="0">
              <a:buNone/>
            </a:pPr>
            <a:r>
              <a:rPr/>
              <a:t>One idea organizes the whole lecture:</a:t>
            </a:r>
          </a:p>
          <a:p>
            <a:pPr lvl="0" indent="0" marL="1270000">
              <a:buNone/>
            </a:pPr>
            <a:r>
              <a:rPr sz="2000"/>
              <a:t>A design has exactly </a:t>
            </a:r>
            <a:r>
              <a:rPr sz="2000" b="1"/>
              <a:t>two jobs</a:t>
            </a:r>
            <a:r>
              <a:rPr sz="2000"/>
              <a:t> — get rid of </a:t>
            </a:r>
            <a:r>
              <a:rPr sz="2000" b="1"/>
              <a:t>bias</a:t>
            </a:r>
            <a:r>
              <a:rPr sz="2000"/>
              <a:t>, and shrink </a:t>
            </a:r>
            <a:r>
              <a:rPr sz="2000" b="1"/>
              <a:t>sampling error</a:t>
            </a:r>
            <a:r>
              <a:rPr sz="2000"/>
              <a:t>. Every technique today does one or the other.</a:t>
            </a:r>
          </a:p>
          <a:p>
            <a:pPr lvl="0"/>
            <a:r>
              <a:rPr b="1"/>
              <a:t>Bias</a:t>
            </a:r>
            <a:r>
              <a:rPr/>
              <a:t> → controls, randomization, blinding</a:t>
            </a:r>
          </a:p>
          <a:p>
            <a:pPr lvl="0"/>
            <a:r>
              <a:rPr b="1"/>
              <a:t>Sampling error</a:t>
            </a:r>
            <a:r>
              <a:rPr/>
              <a:t> → replication, balance, blocking</a:t>
            </a:r>
          </a:p>
          <a:p>
            <a:pPr lvl="0"/>
            <a:r>
              <a:rPr/>
              <a:t>Then: sampling layouts in the field, and which analysis each design leads to</a:t>
            </a:r>
          </a:p>
          <a:p>
            <a:pPr lvl="0" indent="0" marL="1270000">
              <a:buNone/>
            </a:pPr>
            <a:r>
              <a:rPr sz="2000" b="1"/>
              <a:t>Note</a:t>
            </a:r>
          </a:p>
          <a:p>
            <a:pPr lvl="0" indent="0" marL="1270000">
              <a:buNone/>
            </a:pPr>
            <a:r>
              <a:rPr sz="2000" b="1"/>
              <a:t>📖 Reading</a:t>
            </a:r>
          </a:p>
          <a:p>
            <a:pPr lvl="0" indent="0" marL="1270000">
              <a:buNone/>
            </a:pPr>
            <a:r>
              <a:rPr sz="2000"/>
              <a:t>Whitlock &amp; Schluter, Ch. 14 — Designing Experiments (§14.4 is bias, §14.5 is sampling error) and Ch. 1 — Statistics and Samples. Gotelli &amp; Ellison, Ch. 6 — Designing Successful Field Studies, and Ch. 7 — A Bestiary of Experimental and Sampling Designs.</a:t>
            </a:r>
          </a:p>
        </p:txBody>
      </p:sp>
      <p:pic>
        <p:nvPicPr>
          <p:cNvPr descr="images/clipboard-1638932598.png" id="0" name="Picture 1"/>
          <p:cNvPicPr>
            <a:picLocks noGrp="1" noChangeAspect="1"/>
          </p:cNvPicPr>
          <p:nvPr/>
        </p:nvPicPr>
        <p:blipFill>
          <a:blip r:embed="rId2"/>
          <a:stretch>
            <a:fillRect/>
          </a:stretch>
        </p:blipFill>
        <p:spPr bwMode="auto">
          <a:xfrm>
            <a:off x="6121400" y="1905000"/>
            <a:ext cx="2781300" cy="19812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 How Today Works</a:t>
            </a:r>
          </a:p>
        </p:txBody>
      </p:sp>
      <p:sp>
        <p:nvSpPr>
          <p:cNvPr id="3" name="Content Placeholder 2"/>
          <p:cNvSpPr>
            <a:spLocks noGrp="1"/>
          </p:cNvSpPr>
          <p:nvPr>
            <p:ph idx="1"/>
          </p:nvPr>
        </p:nvSpPr>
        <p:spPr/>
        <p:txBody>
          <a:bodyPr/>
          <a:lstStyle/>
          <a:p>
            <a:pPr lvl="0" indent="0" marL="1270000">
              <a:buNone/>
            </a:pPr>
            <a:r>
              <a:rPr sz="2000" b="1"/>
              <a:t>Warning</a:t>
            </a:r>
          </a:p>
          <a:p>
            <a:pPr lvl="0" indent="0" marL="1270000">
              <a:buNone/>
            </a:pPr>
            <a:r>
              <a:rPr sz="2000" b="1"/>
              <a:t>🗳️ Five times today, you make the call</a:t>
            </a:r>
          </a:p>
          <a:p>
            <a:pPr lvl="0" indent="0" marL="1270000">
              <a:buNone/>
            </a:pPr>
            <a:r>
              <a:rPr sz="2000"/>
              <a:t>Five slides are marked </a:t>
            </a:r>
            <a:r>
              <a:rPr sz="2000" b="1"/>
              <a:t>🗳️ DECIDE</a:t>
            </a:r>
            <a:r>
              <a:rPr sz="2000"/>
              <a:t>. Each one asks a multiple-choice question and I will </a:t>
            </a:r>
            <a:r>
              <a:rPr sz="2000" i="1"/>
              <a:t>not</a:t>
            </a:r>
            <a:r>
              <a:rPr sz="2000"/>
              <a:t> tell you the answer on that slide.</a:t>
            </a:r>
          </a:p>
          <a:p>
            <a:pPr lvl="0" indent="0" marL="1270000">
              <a:buNone/>
            </a:pPr>
            <a:r>
              <a:rPr sz="2000" b="1"/>
              <a:t>How it works:</a:t>
            </a:r>
            <a:r>
              <a:rPr sz="2000"/>
              <a:t> write your letter down — actually write it — then hold up fingers 1–4. If the room splits, turn to the person next to you, argue for ninety seconds, and we vote again. Nothing here is graded. The point is that you commit before you find out.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Bias and Sampling Error</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Two Ways an Estimate Goes Wrong</a:t>
            </a:r>
          </a:p>
        </p:txBody>
      </p:sp>
      <p:sp>
        <p:nvSpPr>
          <p:cNvPr id="3" name="Content Placeholder 2"/>
          <p:cNvSpPr>
            <a:spLocks noGrp="1"/>
          </p:cNvSpPr>
          <p:nvPr>
            <p:ph idx="1" sz="half"/>
          </p:nvPr>
        </p:nvSpPr>
        <p:spPr/>
        <p:txBody>
          <a:bodyPr/>
          <a:lstStyle/>
          <a:p>
            <a:pPr lvl="0" indent="0" marL="0">
              <a:buNone/>
            </a:pPr>
            <a:r>
              <a:rPr/>
              <a:t>Your study produces an estimate. It can miss the truth two different ways:</a:t>
            </a:r>
          </a:p>
          <a:p>
            <a:pPr lvl="0"/>
            <a:r>
              <a:rPr b="1"/>
              <a:t>Bias</a:t>
            </a:r>
            <a:r>
              <a:rPr/>
              <a:t> — your estimate is centred on the </a:t>
            </a:r>
            <a:r>
              <a:rPr i="1"/>
              <a:t>wrong value</a:t>
            </a:r>
            <a:r>
              <a:rPr/>
              <a:t>. Collect more data and you converge, confidently, on the wrong answer.</a:t>
            </a:r>
          </a:p>
          <a:p>
            <a:pPr lvl="0"/>
            <a:r>
              <a:rPr b="1"/>
              <a:t>Sampling error</a:t>
            </a:r>
            <a:r>
              <a:rPr/>
              <a:t> — your estimate is centred on the </a:t>
            </a:r>
            <a:r>
              <a:rPr i="1"/>
              <a:t>right value</a:t>
            </a:r>
            <a:r>
              <a:rPr/>
              <a:t> but bounces around it. Collect more data and it tightens up.</a:t>
            </a:r>
          </a:p>
          <a:p>
            <a:pPr lvl="0" indent="0" marL="0">
              <a:buNone/>
            </a:pPr>
            <a:r>
              <a:rPr b="1"/>
              <a:t>This distinction is the whole lecture</a:t>
            </a:r>
            <a:r>
              <a:rPr/>
              <a:t>, because the two problems have completely different cures:</a:t>
            </a:r>
          </a:p>
          <a:p>
            <a:pPr lvl="0" indent="0" marL="1270000">
              <a:buNone/>
            </a:pPr>
            <a:r>
              <a:rPr sz="2000" b="1"/>
              <a:t>Important</a:t>
            </a:r>
          </a:p>
          <a:p>
            <a:pPr lvl="0" indent="0" marL="1270000">
              <a:buNone/>
            </a:pPr>
            <a:r>
              <a:rPr sz="2000" b="1"/>
              <a:t>⚠️ Why this matters more than any test</a:t>
            </a:r>
          </a:p>
          <a:p>
            <a:pPr lvl="0" indent="0" marL="1270000">
              <a:buNone/>
            </a:pPr>
            <a:r>
              <a:rPr sz="2000"/>
              <a:t>A p-value describes sampling error only. </a:t>
            </a:r>
            <a:r>
              <a:rPr sz="2000" b="1"/>
              <a:t>No statistical test can detect bias in your own design.</a:t>
            </a:r>
            <a:r>
              <a:rPr sz="2000"/>
              <a:t> That is why design comes first.</a:t>
            </a:r>
          </a:p>
        </p:txBody>
      </p:sp>
      <p:pic>
        <p:nvPicPr>
          <p:cNvPr descr="images/clipboard-1454702014.png" id="0" name="Picture 1"/>
          <p:cNvPicPr>
            <a:picLocks noGrp="1" noChangeAspect="1"/>
          </p:cNvPicPr>
          <p:nvPr/>
        </p:nvPicPr>
        <p:blipFill>
          <a:blip r:embed="rId2"/>
          <a:stretch>
            <a:fillRect/>
          </a:stretch>
        </p:blipFill>
        <p:spPr bwMode="auto">
          <a:xfrm>
            <a:off x="6121400" y="1600200"/>
            <a:ext cx="2781300" cy="25781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Start From the Question</a:t>
            </a:r>
          </a:p>
        </p:txBody>
      </p:sp>
      <p:sp>
        <p:nvSpPr>
          <p:cNvPr id="3" name="Content Placeholder 2"/>
          <p:cNvSpPr>
            <a:spLocks noGrp="1"/>
          </p:cNvSpPr>
          <p:nvPr>
            <p:ph idx="1" sz="half"/>
          </p:nvPr>
        </p:nvSpPr>
        <p:spPr/>
        <p:txBody>
          <a:bodyPr/>
          <a:lstStyle/>
          <a:p>
            <a:pPr lvl="0" indent="0" marL="0">
              <a:buNone/>
            </a:pPr>
            <a:r>
              <a:rPr/>
              <a:t>Before either job, one question: </a:t>
            </a:r>
            <a:r>
              <a:rPr b="1"/>
              <a:t>what is your research question?</a:t>
            </a:r>
          </a:p>
          <a:p>
            <a:pPr lvl="0" indent="0" marL="0">
              <a:buNone/>
            </a:pPr>
            <a:r>
              <a:rPr/>
              <a:t>Gotelli &amp; Ellison’s four canonical forms:</a:t>
            </a:r>
          </a:p>
          <a:p>
            <a:pPr lvl="0"/>
            <a:r>
              <a:rPr/>
              <a:t>Spatial or temporal </a:t>
            </a:r>
            <a:r>
              <a:rPr b="1"/>
              <a:t>pattern</a:t>
            </a:r>
            <a:r>
              <a:rPr/>
              <a:t> in Y?</a:t>
            </a:r>
          </a:p>
          <a:p>
            <a:pPr lvl="0"/>
            <a:r>
              <a:rPr b="1"/>
              <a:t>Effect</a:t>
            </a:r>
            <a:r>
              <a:rPr/>
              <a:t> of factor X on Y?</a:t>
            </a:r>
          </a:p>
          <a:p>
            <a:pPr lvl="0"/>
            <a:r>
              <a:rPr/>
              <a:t>Are values of Y </a:t>
            </a:r>
            <a:r>
              <a:rPr b="1"/>
              <a:t>consistent with</a:t>
            </a:r>
            <a:r>
              <a:rPr/>
              <a:t> hypothesis H?</a:t>
            </a:r>
          </a:p>
          <a:p>
            <a:pPr lvl="0"/>
            <a:r>
              <a:rPr/>
              <a:t>What is the best </a:t>
            </a:r>
            <a:r>
              <a:rPr b="1"/>
              <a:t>estimate</a:t>
            </a:r>
            <a:r>
              <a:rPr/>
              <a:t> of parameter θ?</a:t>
            </a:r>
          </a:p>
          <a:p>
            <a:pPr lvl="0" indent="0" marL="0">
              <a:buNone/>
            </a:pPr>
            <a:r>
              <a:rPr/>
              <a:t>Each one implies a different design. “I will go measure some things and see what turns up” implies none of them.</a:t>
            </a:r>
          </a:p>
          <a:p>
            <a:pPr lvl="0" indent="0" marL="1270000">
              <a:buNone/>
            </a:pPr>
            <a:r>
              <a:rPr sz="2000" b="1"/>
              <a:t>Note</a:t>
            </a:r>
          </a:p>
          <a:p>
            <a:pPr lvl="0" indent="0" marL="1270000">
              <a:buNone/>
            </a:pPr>
            <a:r>
              <a:rPr sz="2000" b="1"/>
              <a:t>📖 Reference</a:t>
            </a:r>
          </a:p>
          <a:p>
            <a:pPr lvl="0" indent="0" marL="1270000">
              <a:buNone/>
            </a:pPr>
            <a:r>
              <a:rPr sz="2000"/>
              <a:t>Gotelli &amp; Ellison, Ch. 6 — Designing Successful Field Studies.</a:t>
            </a:r>
          </a:p>
        </p:txBody>
      </p:sp>
      <p:pic>
        <p:nvPicPr>
          <p:cNvPr descr="images/clipboard-1432414496.png" id="0" name="Picture 1"/>
          <p:cNvPicPr>
            <a:picLocks noGrp="1" noChangeAspect="1"/>
          </p:cNvPicPr>
          <p:nvPr/>
        </p:nvPicPr>
        <p:blipFill>
          <a:blip r:embed="rId2"/>
          <a:stretch>
            <a:fillRect/>
          </a:stretch>
        </p:blipFill>
        <p:spPr bwMode="auto">
          <a:xfrm>
            <a:off x="6121400" y="1638300"/>
            <a:ext cx="2781300" cy="25146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Causality and the Inference Gradient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Design Carries the Causal Claim</a:t>
            </a:r>
          </a:p>
        </p:txBody>
      </p:sp>
      <p:sp>
        <p:nvSpPr>
          <p:cNvPr id="3" name="Content Placeholder 2"/>
          <p:cNvSpPr>
            <a:spLocks noGrp="1"/>
          </p:cNvSpPr>
          <p:nvPr>
            <p:ph idx="1" sz="half"/>
          </p:nvPr>
        </p:nvSpPr>
        <p:spPr/>
        <p:txBody>
          <a:bodyPr/>
          <a:lstStyle/>
          <a:p>
            <a:pPr lvl="0" indent="0" marL="0">
              <a:buNone/>
            </a:pPr>
            <a:r>
              <a:rPr/>
              <a:t>Statistics has </a:t>
            </a:r>
            <a:r>
              <a:rPr b="1"/>
              <a:t>no test for causality</a:t>
            </a:r>
            <a:r>
              <a:rPr/>
              <a:t>. The design carries the causal claim; the analysis just reports numbers. Strength of inference runs on a gradient, and what moves you up it is control of confounding:</a:t>
            </a:r>
          </a:p>
          <a:p>
            <a:pPr lvl="0" indent="-342900" marL="342900">
              <a:buAutoNum type="arabicPeriod"/>
            </a:pPr>
            <a:r>
              <a:rPr/>
              <a:t>Observational field study — </a:t>
            </a:r>
            <a:r>
              <a:rPr b="1"/>
              <a:t>weak</a:t>
            </a:r>
          </a:p>
          <a:p>
            <a:pPr lvl="0" indent="-342900" marL="342900">
              <a:buAutoNum type="arabicPeriod"/>
            </a:pPr>
            <a:r>
              <a:rPr/>
              <a:t>Field study with measured covariates</a:t>
            </a:r>
          </a:p>
          <a:p>
            <a:pPr lvl="0" indent="-342900" marL="342900">
              <a:buAutoNum type="arabicPeriod"/>
            </a:pPr>
            <a:r>
              <a:rPr/>
              <a:t>Randomized, controlled experiment — </a:t>
            </a:r>
            <a:r>
              <a:rPr b="1"/>
              <a:t>strong</a:t>
            </a:r>
          </a:p>
          <a:p>
            <a:pPr lvl="0" indent="0" marL="0">
              <a:buNone/>
            </a:pPr>
            <a:r>
              <a:rPr b="1"/>
              <a:t>Our running example, all day:</a:t>
            </a:r>
            <a:r>
              <a:rPr/>
              <a:t> on small islands, does lizard predation control spider density?</a:t>
            </a:r>
          </a:p>
          <a:p>
            <a:pPr lvl="0" indent="0" marL="1270000">
              <a:buNone/>
            </a:pPr>
            <a:r>
              <a:rPr sz="2000" b="1"/>
              <a:t>Warning</a:t>
            </a:r>
          </a:p>
          <a:p>
            <a:pPr lvl="0" indent="0" marL="1270000">
              <a:buNone/>
            </a:pPr>
            <a:r>
              <a:rPr sz="2000" b="1"/>
              <a:t>⚠️ The same regression, three different claims</a:t>
            </a:r>
          </a:p>
          <a:p>
            <a:pPr lvl="0" indent="0" marL="1270000">
              <a:buNone/>
            </a:pPr>
            <a:r>
              <a:rPr sz="2000">
                <a:latin typeface="Courier"/>
              </a:rPr>
              <a:t>lm(spiders ~ lizards)</a:t>
            </a:r>
            <a:r>
              <a:rPr sz="2000"/>
              <a:t> returns the identical output at all three levels. What changes is what you are </a:t>
            </a:r>
            <a:r>
              <a:rPr sz="2000" i="1"/>
              <a:t>entitled to say</a:t>
            </a:r>
            <a:r>
              <a:rPr sz="2000"/>
              <a:t> about it.</a:t>
            </a:r>
          </a:p>
        </p:txBody>
      </p:sp>
      <p:pic>
        <p:nvPicPr>
          <p:cNvPr descr="images/clipboard-981938461.png" id="0" name="Picture 1"/>
          <p:cNvPicPr>
            <a:picLocks noGrp="1" noChangeAspect="1"/>
          </p:cNvPicPr>
          <p:nvPr/>
        </p:nvPicPr>
        <p:blipFill>
          <a:blip r:embed="rId2"/>
          <a:stretch>
            <a:fillRect/>
          </a:stretch>
        </p:blipFill>
        <p:spPr bwMode="auto">
          <a:xfrm>
            <a:off x="6121400" y="1333500"/>
            <a:ext cx="2781300" cy="31115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Natural and Manipulative Experiments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Natural Experiments</a:t>
            </a:r>
          </a:p>
        </p:txBody>
      </p:sp>
      <p:sp>
        <p:nvSpPr>
          <p:cNvPr id="3" name="Content Placeholder 2"/>
          <p:cNvSpPr>
            <a:spLocks noGrp="1"/>
          </p:cNvSpPr>
          <p:nvPr>
            <p:ph idx="1" sz="half"/>
          </p:nvPr>
        </p:nvSpPr>
        <p:spPr/>
        <p:txBody>
          <a:bodyPr/>
          <a:lstStyle/>
          <a:p>
            <a:pPr lvl="0" indent="0" marL="0">
              <a:buNone/>
            </a:pPr>
            <a:r>
              <a:rPr/>
              <a:t>Not experiments at all — you use </a:t>
            </a:r>
            <a:r>
              <a:rPr b="1"/>
              <a:t>natural variation</a:t>
            </a:r>
            <a:r>
              <a:rPr/>
              <a:t> in the predictor. Survey plots across an existing gradient of lizard density.</a:t>
            </a:r>
          </a:p>
          <a:p>
            <a:pPr lvl="0" indent="0" marL="0">
              <a:buNone/>
            </a:pPr>
            <a:r>
              <a:rPr b="1"/>
              <a:t>What you gain:</a:t>
            </a:r>
            <a:r>
              <a:rPr/>
              <a:t> real scale, real systems, long time spans, questions you could never manipulate.</a:t>
            </a:r>
          </a:p>
          <a:p>
            <a:pPr lvl="0" indent="0" marL="0">
              <a:buNone/>
            </a:pPr>
            <a:r>
              <a:rPr b="1"/>
              <a:t>What you give up:</a:t>
            </a:r>
          </a:p>
          <a:p>
            <a:pPr lvl="0"/>
            <a:r>
              <a:rPr/>
              <a:t>Direction of causation is not identified — lizards may eat spiders, or spiders may feed lizards</a:t>
            </a:r>
          </a:p>
          <a:p>
            <a:pPr lvl="0"/>
            <a:r>
              <a:rPr/>
              <a:t>Uncontrolled variables ride along with the predictor</a:t>
            </a:r>
          </a:p>
          <a:p>
            <a:pPr lvl="0" indent="0" marL="1270000">
              <a:buNone/>
            </a:pPr>
            <a:r>
              <a:rPr sz="2000" b="1"/>
              <a:t>Note</a:t>
            </a:r>
          </a:p>
          <a:p>
            <a:pPr lvl="0" indent="0" marL="1270000">
              <a:buNone/>
            </a:pPr>
            <a:r>
              <a:rPr sz="2000" b="1"/>
              <a:t>📖 Reference</a:t>
            </a:r>
          </a:p>
          <a:p>
            <a:pPr lvl="0" indent="0" marL="1270000">
              <a:buNone/>
            </a:pPr>
            <a:r>
              <a:rPr sz="2000"/>
              <a:t>Whitlock &amp; Schluter §14.7 — “What if you can’t do experiments?” — is exactly this problem, and covers </a:t>
            </a:r>
            <a:r>
              <a:rPr sz="2000" b="1"/>
              <a:t>matching</a:t>
            </a:r>
            <a:r>
              <a:rPr sz="2000"/>
              <a:t> and </a:t>
            </a:r>
            <a:r>
              <a:rPr sz="2000" b="1"/>
              <a:t>adjusting for covariates</a:t>
            </a:r>
            <a:r>
              <a:rPr sz="2000"/>
              <a:t> as the two partial fixes.</a:t>
            </a:r>
          </a:p>
        </p:txBody>
      </p:sp>
      <p:pic>
        <p:nvPicPr>
          <p:cNvPr descr="images/clipboard-194557558.png" id="0" name="Picture 1"/>
          <p:cNvPicPr>
            <a:picLocks noGrp="1" noChangeAspect="1"/>
          </p:cNvPicPr>
          <p:nvPr/>
        </p:nvPicPr>
        <p:blipFill>
          <a:blip r:embed="rId2"/>
          <a:stretch>
            <a:fillRect/>
          </a:stretch>
        </p:blipFill>
        <p:spPr bwMode="auto">
          <a:xfrm>
            <a:off x="6121400" y="1841500"/>
            <a:ext cx="2781300" cy="212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You Are the Reviewer</a:t>
            </a:r>
          </a:p>
        </p:txBody>
      </p:sp>
      <p:sp>
        <p:nvSpPr>
          <p:cNvPr id="3" name="Content Placeholder 2"/>
          <p:cNvSpPr>
            <a:spLocks noGrp="1"/>
          </p:cNvSpPr>
          <p:nvPr>
            <p:ph idx="1" sz="half"/>
          </p:nvPr>
        </p:nvSpPr>
        <p:spPr/>
        <p:txBody>
          <a:bodyPr/>
          <a:lstStyle/>
          <a:p>
            <a:pPr lvl="0" indent="0" marL="0">
              <a:buNone/>
            </a:pPr>
            <a:r>
              <a:rPr/>
              <a:t>A manuscript lands on your desk. The authors surveyed 40 island plots and report that </a:t>
            </a:r>
            <a:r>
              <a:rPr b="1"/>
              <a:t>spider density falls as lizard density rises</a:t>
            </a:r>
            <a:r>
              <a:rPr/>
              <a:t>. They did not measure moisture.</a:t>
            </a:r>
          </a:p>
          <a:p>
            <a:pPr lvl="0" indent="0" marL="0">
              <a:buNone/>
            </a:pPr>
            <a:r>
              <a:rPr/>
              <a:t>You know that </a:t>
            </a:r>
            <a:r>
              <a:rPr b="1"/>
              <a:t>moisture</a:t>
            </a:r>
            <a:r>
              <a:rPr/>
              <a:t> is related to both lizards and spiders on these islands.</a:t>
            </a:r>
          </a:p>
          <a:p>
            <a:pPr lvl="0" indent="0" marL="0">
              <a:buNone/>
            </a:pPr>
            <a:r>
              <a:rPr b="1"/>
              <a:t>Your review says the authors must:</a:t>
            </a:r>
          </a:p>
          <a:p>
            <a:pPr lvl="0" indent="0" marL="0">
              <a:buNone/>
            </a:pPr>
            <a:r>
              <a:rPr b="1"/>
              <a:t>(a)</a:t>
            </a:r>
            <a:r>
              <a:rPr/>
              <a:t> Control for moisture — it is a confounder, and failing to control for it invalidates the result</a:t>
            </a:r>
          </a:p>
          <a:p>
            <a:pPr lvl="0" indent="0" marL="0">
              <a:buNone/>
            </a:pPr>
            <a:r>
              <a:rPr b="1"/>
              <a:t>(b)</a:t>
            </a:r>
            <a:r>
              <a:rPr/>
              <a:t> Not control for moisture — doing so could erase the very effect they are measuring</a:t>
            </a:r>
          </a:p>
          <a:p>
            <a:pPr lvl="0" indent="0" marL="0">
              <a:buNone/>
            </a:pPr>
            <a:r>
              <a:rPr b="1"/>
              <a:t>(c)</a:t>
            </a:r>
            <a:r>
              <a:rPr/>
              <a:t> Nothing yet — you cannot tell which advice is right from the data alone</a:t>
            </a:r>
          </a:p>
          <a:p>
            <a:pPr lvl="0" indent="0" marL="0">
              <a:buNone/>
            </a:pPr>
            <a:r>
              <a:rPr b="1"/>
              <a:t>(d)</a:t>
            </a:r>
            <a:r>
              <a:rPr/>
              <a:t> Control for moisture </a:t>
            </a:r>
            <a:r>
              <a:rPr i="1"/>
              <a:t>and</a:t>
            </a:r>
            <a:r>
              <a:rPr/>
              <a:t> report the uncontrolled result, letting readers choose</a:t>
            </a:r>
          </a:p>
          <a:p>
            <a:pPr lvl="0" indent="0" marL="1270000">
              <a:buNone/>
            </a:pPr>
            <a:r>
              <a:rPr sz="2000" b="1"/>
              <a:t>Warning</a:t>
            </a:r>
          </a:p>
          <a:p>
            <a:pPr lvl="0" indent="0" marL="1270000">
              <a:buNone/>
            </a:pPr>
            <a:r>
              <a:rPr sz="2000" b="1"/>
              <a:t>✍️ Write your letter down, then vote.</a:t>
            </a:r>
          </a:p>
        </p:txBody>
      </p:sp>
      <p:pic>
        <p:nvPicPr>
          <p:cNvPr descr="images/clipboard-260157568.png" id="0" name="Picture 1"/>
          <p:cNvPicPr>
            <a:picLocks noGrp="1" noChangeAspect="1"/>
          </p:cNvPicPr>
          <p:nvPr/>
        </p:nvPicPr>
        <p:blipFill>
          <a:blip r:embed="rId2"/>
          <a:stretch>
            <a:fillRect/>
          </a:stretch>
        </p:blipFill>
        <p:spPr bwMode="auto">
          <a:xfrm>
            <a:off x="6578600" y="660400"/>
            <a:ext cx="1866900" cy="44704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Answer · Confounder or Mediator?</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(c)</a:t>
            </a:r>
            <a:r>
              <a:rPr sz="2000"/>
              <a:t> — and this is the uncomfortable part of observational work.</a:t>
            </a:r>
          </a:p>
          <a:p>
            <a:pPr lvl="0" indent="0" marL="1270000">
              <a:buNone/>
            </a:pPr>
            <a:r>
              <a:rPr sz="2000"/>
              <a:t>If moisture drives lizards </a:t>
            </a:r>
            <a:r>
              <a:rPr sz="2000" i="1"/>
              <a:t>and</a:t>
            </a:r>
            <a:r>
              <a:rPr sz="2000"/>
              <a:t> spiders independently, it is a </a:t>
            </a:r>
            <a:r>
              <a:rPr sz="2000" b="1"/>
              <a:t>confounder</a:t>
            </a:r>
            <a:r>
              <a:rPr sz="2000"/>
              <a:t> and (a) is right. If moisture drives lizards, which then eat spiders, it is a </a:t>
            </a:r>
            <a:r>
              <a:rPr sz="2000" b="1"/>
              <a:t>mediator</a:t>
            </a:r>
            <a:r>
              <a:rPr sz="2000"/>
              <a:t> on the causal path — and controlling for it deletes the effect, so (b) is right.</a:t>
            </a:r>
          </a:p>
          <a:p>
            <a:pPr lvl="0" indent="0" marL="1270000">
              <a:buNone/>
            </a:pPr>
            <a:r>
              <a:rPr sz="2000" b="1"/>
              <a:t>The data cannot distinguish these two.</a:t>
            </a:r>
            <a:r>
              <a:rPr sz="2000"/>
              <a:t> The arrows come from the biology, not from the numbers. Anyone who tells you “always control for everything you measured” is wrong.</a:t>
            </a:r>
          </a:p>
        </p:txBody>
      </p:sp>
      <p:pic>
        <p:nvPicPr>
          <p:cNvPr descr="images/clipboard-3939861261.png" id="0" name="Picture 1"/>
          <p:cNvPicPr>
            <a:picLocks noGrp="1" noChangeAspect="1"/>
          </p:cNvPicPr>
          <p:nvPr/>
        </p:nvPicPr>
        <p:blipFill>
          <a:blip r:embed="rId2"/>
          <a:stretch>
            <a:fillRect/>
          </a:stretch>
        </p:blipFill>
        <p:spPr bwMode="auto">
          <a:xfrm>
            <a:off x="6121400" y="1066800"/>
            <a:ext cx="2781300" cy="3644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Strengthening a Natural Experiment</a:t>
            </a:r>
          </a:p>
        </p:txBody>
      </p:sp>
      <p:sp>
        <p:nvSpPr>
          <p:cNvPr id="3" name="Content Placeholder 2"/>
          <p:cNvSpPr>
            <a:spLocks noGrp="1"/>
          </p:cNvSpPr>
          <p:nvPr>
            <p:ph idx="1" sz="half"/>
          </p:nvPr>
        </p:nvSpPr>
        <p:spPr/>
        <p:txBody>
          <a:bodyPr/>
          <a:lstStyle/>
          <a:p>
            <a:pPr lvl="0" indent="0" marL="0">
              <a:buNone/>
            </a:pPr>
            <a:r>
              <a:rPr/>
              <a:t>You cannot randomize, so you attack confounding directly:</a:t>
            </a:r>
          </a:p>
          <a:p>
            <a:pPr lvl="0"/>
            <a:r>
              <a:rPr b="1"/>
              <a:t>Reduce</a:t>
            </a:r>
            <a:r>
              <a:rPr/>
              <a:t> it — choose plots that are alike in everything except lizard density (this is </a:t>
            </a:r>
            <a:r>
              <a:rPr b="1"/>
              <a:t>matching</a:t>
            </a:r>
            <a:r>
              <a:rPr/>
              <a:t>)</a:t>
            </a:r>
          </a:p>
          <a:p>
            <a:pPr lvl="0"/>
            <a:r>
              <a:rPr b="1"/>
              <a:t>Adjust</a:t>
            </a:r>
            <a:r>
              <a:rPr/>
              <a:t> for it — measure the covariates and put them in the model</a:t>
            </a:r>
          </a:p>
          <a:p>
            <a:pPr lvl="0"/>
            <a:r>
              <a:rPr b="1"/>
              <a:t>Name</a:t>
            </a:r>
            <a:r>
              <a:rPr/>
              <a:t> it — you cannot adjust for a confounder you never wrote down</a:t>
            </a:r>
          </a:p>
          <a:p>
            <a:pPr lvl="0" indent="0" marL="0">
              <a:buNone/>
            </a:pPr>
            <a:r>
              <a:rPr/>
              <a:t>Know which one you have — the diagrams on the right are the whole distinction:</a:t>
            </a:r>
          </a:p>
          <a:p>
            <a:pPr lvl="0"/>
            <a:r>
              <a:rPr/>
              <a:t>A </a:t>
            </a:r>
            <a:r>
              <a:rPr b="1"/>
              <a:t>confounder</a:t>
            </a:r>
            <a:r>
              <a:rPr/>
              <a:t> drives both X and Y — adjust for it</a:t>
            </a:r>
          </a:p>
          <a:p>
            <a:pPr lvl="0"/>
            <a:r>
              <a:rPr/>
              <a:t>A </a:t>
            </a:r>
            <a:r>
              <a:rPr b="1"/>
              <a:t>mediator</a:t>
            </a:r>
            <a:r>
              <a:rPr/>
              <a:t> sits on the path X → M → Y — adjusting for it removes the effect you came to measure</a:t>
            </a:r>
          </a:p>
        </p:txBody>
      </p:sp>
      <p:pic>
        <p:nvPicPr>
          <p:cNvPr descr="images/clipboard-3939861261.png" id="0" name="Picture 1"/>
          <p:cNvPicPr>
            <a:picLocks noGrp="1" noChangeAspect="1"/>
          </p:cNvPicPr>
          <p:nvPr/>
        </p:nvPicPr>
        <p:blipFill>
          <a:blip r:embed="rId2"/>
          <a:stretch>
            <a:fillRect/>
          </a:stretch>
        </p:blipFill>
        <p:spPr bwMode="auto">
          <a:xfrm>
            <a:off x="6121400" y="1066800"/>
            <a:ext cx="2781300" cy="3644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Manipulative Experiments</a:t>
            </a:r>
          </a:p>
        </p:txBody>
      </p:sp>
      <p:sp>
        <p:nvSpPr>
          <p:cNvPr id="3" name="Content Placeholder 2"/>
          <p:cNvSpPr>
            <a:spLocks noGrp="1"/>
          </p:cNvSpPr>
          <p:nvPr>
            <p:ph idx="1" sz="half"/>
          </p:nvPr>
        </p:nvSpPr>
        <p:spPr/>
        <p:txBody>
          <a:bodyPr/>
          <a:lstStyle/>
          <a:p>
            <a:pPr lvl="0" indent="0" marL="0">
              <a:buNone/>
            </a:pPr>
            <a:r>
              <a:rPr/>
              <a:t>You set the predictor yourself and measure the response. Randomized and controlled, this is the strongest design available.</a:t>
            </a:r>
          </a:p>
          <a:p>
            <a:pPr lvl="0" indent="0" marL="0">
              <a:buNone/>
            </a:pPr>
            <a:r>
              <a:rPr b="1"/>
              <a:t>What it costs you</a:t>
            </a:r>
            <a:r>
              <a:rPr/>
              <a:t> — Gotelli &amp; Ellison’s trade-offs:</a:t>
            </a:r>
          </a:p>
          <a:p>
            <a:pPr lvl="0"/>
            <a:r>
              <a:rPr b="1"/>
              <a:t>Scale for replication</a:t>
            </a:r>
            <a:r>
              <a:rPr/>
              <a:t> — replicable plots are small plots</a:t>
            </a:r>
          </a:p>
          <a:p>
            <a:pPr lvl="0"/>
            <a:r>
              <a:rPr b="1"/>
              <a:t>Organism for tractability</a:t>
            </a:r>
            <a:r>
              <a:rPr/>
              <a:t> — small, short-lived species</a:t>
            </a:r>
          </a:p>
          <a:p>
            <a:pPr lvl="0"/>
            <a:r>
              <a:rPr b="1"/>
              <a:t>Treatments for replication</a:t>
            </a:r>
            <a:r>
              <a:rPr/>
              <a:t> — every extra treatment level costs replicates</a:t>
            </a:r>
          </a:p>
          <a:p>
            <a:pPr lvl="0"/>
            <a:r>
              <a:rPr/>
              <a:t>Confounding does </a:t>
            </a:r>
            <a:r>
              <a:rPr b="1"/>
              <a:t>not</a:t>
            </a:r>
            <a:r>
              <a:rPr/>
              <a:t> disappear; you now own it</a:t>
            </a:r>
          </a:p>
        </p:txBody>
      </p:sp>
      <p:pic>
        <p:nvPicPr>
          <p:cNvPr descr="images/clipboard-1608622199.png" id="0" name="Picture 1"/>
          <p:cNvPicPr>
            <a:picLocks noGrp="1" noChangeAspect="1"/>
          </p:cNvPicPr>
          <p:nvPr/>
        </p:nvPicPr>
        <p:blipFill>
          <a:blip r:embed="rId2"/>
          <a:stretch>
            <a:fillRect/>
          </a:stretch>
        </p:blipFill>
        <p:spPr bwMode="auto">
          <a:xfrm>
            <a:off x="6121400" y="2019300"/>
            <a:ext cx="2781300" cy="17526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Press, Pulse, Snapshot, Trajectory</a:t>
            </a:r>
          </a:p>
        </p:txBody>
      </p:sp>
      <p:sp>
        <p:nvSpPr>
          <p:cNvPr id="3" name="Content Placeholder 2"/>
          <p:cNvSpPr>
            <a:spLocks noGrp="1"/>
          </p:cNvSpPr>
          <p:nvPr>
            <p:ph idx="1" sz="half"/>
          </p:nvPr>
        </p:nvSpPr>
        <p:spPr/>
        <p:txBody>
          <a:bodyPr/>
          <a:lstStyle/>
          <a:p>
            <a:pPr lvl="0" indent="0" marL="0">
              <a:buNone/>
            </a:pPr>
            <a:r>
              <a:rPr/>
              <a:t>Gotelli &amp; Ellison’s two axes for manipulations — and they answer different questions:</a:t>
            </a:r>
          </a:p>
          <a:p>
            <a:pPr lvl="0"/>
            <a:r>
              <a:rPr b="1"/>
              <a:t>Pulse</a:t>
            </a:r>
            <a:r>
              <a:rPr/>
              <a:t> — apply the treatment once, then walk away. Measures </a:t>
            </a:r>
            <a:r>
              <a:rPr b="1"/>
              <a:t>recovery</a:t>
            </a:r>
            <a:r>
              <a:rPr/>
              <a:t>: how fast does the system bounce back?</a:t>
            </a:r>
          </a:p>
          <a:p>
            <a:pPr lvl="0"/>
            <a:r>
              <a:rPr b="1"/>
              <a:t>Press</a:t>
            </a:r>
            <a:r>
              <a:rPr/>
              <a:t> — maintain the treatment continuously. Measures the </a:t>
            </a:r>
            <a:r>
              <a:rPr b="1"/>
              <a:t>new equilibrium</a:t>
            </a:r>
            <a:r>
              <a:rPr/>
              <a:t> the system settles into.</a:t>
            </a:r>
          </a:p>
          <a:p>
            <a:pPr lvl="0" indent="0" marL="0">
              <a:buNone/>
            </a:pPr>
            <a:r>
              <a:rPr/>
              <a:t>And for sampling the response:</a:t>
            </a:r>
          </a:p>
          <a:p>
            <a:pPr lvl="0"/>
            <a:r>
              <a:rPr b="1"/>
              <a:t>Snapshot</a:t>
            </a:r>
            <a:r>
              <a:rPr/>
              <a:t> — measure once at the end. Cheap, and blind to everything in between.</a:t>
            </a:r>
          </a:p>
          <a:p>
            <a:pPr lvl="0"/>
            <a:r>
              <a:rPr b="1"/>
              <a:t>Trajectory</a:t>
            </a:r>
            <a:r>
              <a:rPr/>
              <a:t> — measure repeatedly through time. Expensive, and the only way to see dynamics.</a:t>
            </a:r>
          </a:p>
        </p:txBody>
      </p:sp>
      <p:pic>
        <p:nvPicPr>
          <p:cNvPr descr="images/clipboard-3600266009.png" id="0" name="Picture 1"/>
          <p:cNvPicPr>
            <a:picLocks noGrp="1" noChangeAspect="1"/>
          </p:cNvPicPr>
          <p:nvPr/>
        </p:nvPicPr>
        <p:blipFill>
          <a:blip r:embed="rId2"/>
          <a:stretch>
            <a:fillRect/>
          </a:stretch>
        </p:blipFill>
        <p:spPr bwMode="auto">
          <a:xfrm>
            <a:off x="6121400" y="1968500"/>
            <a:ext cx="2781300" cy="18542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Job One: Getting Rid of Bias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Controls — and Why One Is Usually Not Enough</a:t>
            </a:r>
          </a:p>
        </p:txBody>
      </p:sp>
      <p:sp>
        <p:nvSpPr>
          <p:cNvPr id="3" name="Content Placeholder 2"/>
          <p:cNvSpPr>
            <a:spLocks noGrp="1"/>
          </p:cNvSpPr>
          <p:nvPr>
            <p:ph idx="1" sz="half"/>
          </p:nvPr>
        </p:nvSpPr>
        <p:spPr/>
        <p:txBody>
          <a:bodyPr/>
          <a:lstStyle/>
          <a:p>
            <a:pPr lvl="0" indent="0" marL="0">
              <a:buNone/>
            </a:pPr>
            <a:r>
              <a:rPr/>
              <a:t>A control is a unit treated </a:t>
            </a:r>
            <a:r>
              <a:rPr b="1"/>
              <a:t>exactly</a:t>
            </a:r>
            <a:r>
              <a:rPr/>
              <a:t> like the manipulated units, except for the one thing under investigation.</a:t>
            </a:r>
          </a:p>
          <a:p>
            <a:pPr lvl="0" indent="0" marL="0">
              <a:buNone/>
            </a:pPr>
            <a:r>
              <a:rPr/>
              <a:t>That word </a:t>
            </a:r>
            <a:r>
              <a:rPr i="1"/>
              <a:t>exactly</a:t>
            </a:r>
            <a:r>
              <a:rPr/>
              <a:t> is where designs fail. Your manipulation almost always does something besides the thing you care about:</a:t>
            </a:r>
          </a:p>
          <a:p>
            <a:pPr lvl="0"/>
            <a:r>
              <a:rPr b="1"/>
              <a:t>Toxicology:</a:t>
            </a:r>
            <a:r>
              <a:rPr/>
              <a:t> controls get injected too — same needle, same handling, no toxin</a:t>
            </a:r>
          </a:p>
          <a:p>
            <a:pPr lvl="0"/>
            <a:r>
              <a:rPr b="1"/>
              <a:t>Predator exclosures:</a:t>
            </a:r>
            <a:r>
              <a:rPr/>
              <a:t> a cage changes flow, light and sediment. You need </a:t>
            </a:r>
            <a:r>
              <a:rPr i="1"/>
              <a:t>two</a:t>
            </a:r>
            <a:r>
              <a:rPr/>
              <a:t> controls — an open plot </a:t>
            </a:r>
            <a:r>
              <a:rPr b="1"/>
              <a:t>and</a:t>
            </a:r>
            <a:r>
              <a:rPr/>
              <a:t> a cage-with-holes</a:t>
            </a:r>
          </a:p>
          <a:p>
            <a:pPr lvl="0"/>
            <a:r>
              <a:rPr b="1"/>
              <a:t>Anything you attach, bury, or visit</a:t>
            </a:r>
            <a:r>
              <a:rPr/>
              <a:t> does something merely by being attached, buried or visited</a:t>
            </a:r>
          </a:p>
          <a:p>
            <a:pPr lvl="0" indent="0" marL="1270000">
              <a:buNone/>
            </a:pPr>
            <a:r>
              <a:rPr sz="2000" b="1"/>
              <a:t>Note</a:t>
            </a:r>
          </a:p>
          <a:p>
            <a:pPr lvl="0" indent="0" marL="1270000">
              <a:buNone/>
            </a:pPr>
            <a:r>
              <a:rPr sz="2000" b="1"/>
              <a:t>Vocabulary</a:t>
            </a:r>
          </a:p>
          <a:p>
            <a:pPr lvl="0" indent="0" marL="1270000">
              <a:buNone/>
            </a:pPr>
            <a:r>
              <a:rPr sz="2000"/>
              <a:t>The second kind is a </a:t>
            </a:r>
            <a:r>
              <a:rPr sz="2000" b="1"/>
              <a:t>procedural</a:t>
            </a:r>
            <a:r>
              <a:rPr sz="2000"/>
              <a:t> or </a:t>
            </a:r>
            <a:r>
              <a:rPr sz="2000" b="1"/>
              <a:t>sham</a:t>
            </a:r>
            <a:r>
              <a:rPr sz="2000"/>
              <a:t> control. Next slide: real data where forgetting it would have produced a completely wrong paper.</a:t>
            </a:r>
          </a:p>
        </p:txBody>
      </p:sp>
      <p:pic>
        <p:nvPicPr>
          <p:cNvPr descr="images/clipboard-3685049769.png" id="0" name="Picture 1"/>
          <p:cNvPicPr>
            <a:picLocks noGrp="1" noChangeAspect="1"/>
          </p:cNvPicPr>
          <p:nvPr/>
        </p:nvPicPr>
        <p:blipFill>
          <a:blip r:embed="rId2"/>
          <a:stretch>
            <a:fillRect/>
          </a:stretch>
        </p:blipFill>
        <p:spPr bwMode="auto">
          <a:xfrm>
            <a:off x="6121400" y="1739900"/>
            <a:ext cx="2781300" cy="23114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 Sham Control Earns Its Keep — Sponges on Mangrove Roots</a:t>
            </a:r>
          </a:p>
        </p:txBody>
      </p:sp>
      <p:sp>
        <p:nvSpPr>
          <p:cNvPr id="3" name="Content Placeholder 2"/>
          <p:cNvSpPr>
            <a:spLocks noGrp="1"/>
          </p:cNvSpPr>
          <p:nvPr>
            <p:ph idx="1" sz="half"/>
          </p:nvPr>
        </p:nvSpPr>
        <p:spPr/>
        <p:txBody>
          <a:bodyPr/>
          <a:lstStyle/>
          <a:p>
            <a:pPr lvl="0" indent="0" marL="0">
              <a:buNone/>
            </a:pPr>
            <a:r>
              <a:rPr/>
              <a:t>Ellison, Farnsworth &amp; Twilley (1996) asked whether epibiont sponges promote mangrove root growth. Four treatments, </a:t>
            </a:r>
            <a:r>
              <a:rPr b="1"/>
              <a:t>14 roots each</a:t>
            </a:r>
            <a:r>
              <a:rPr/>
              <a:t>:</a:t>
            </a:r>
          </a:p>
          <a:p>
            <a:pPr lvl="0" indent="0">
              <a:buNone/>
            </a:pPr>
            <a:r>
              <a:rPr>
                <a:solidFill>
                  <a:srgbClr val="003B4F"/>
                </a:solidFill>
                <a:latin typeface="Courier"/>
              </a:rPr>
              <a:t>sponge_df &lt;- </a:t>
            </a:r>
            <a:r>
              <a:rPr>
                <a:solidFill>
                  <a:srgbClr val="4758AB"/>
                </a:solidFill>
                <a:latin typeface="Courier"/>
              </a:rPr>
              <a:t>read_csv</a:t>
            </a:r>
            <a:r>
              <a:rPr>
                <a:solidFill>
                  <a:srgbClr val="003B4F"/>
                </a:solidFill>
                <a:latin typeface="Courier"/>
              </a:rPr>
              <a:t>(</a:t>
            </a:r>
            <a:r>
              <a:rPr>
                <a:solidFill>
                  <a:srgbClr val="20794D"/>
                </a:solidFill>
                <a:latin typeface="Courier"/>
              </a:rPr>
              <a:t>"data/sponge_root_growth.csv"</a:t>
            </a:r>
            <a:r>
              <a:rPr>
                <a:solidFill>
                  <a:srgbClr val="003B4F"/>
                </a:solidFill>
                <a:latin typeface="Courier"/>
              </a:rPr>
              <a:t>)</a:t>
            </a:r>
            <a:br/>
            <a:br/>
            <a:r>
              <a:rPr>
                <a:solidFill>
                  <a:srgbClr val="003B4F"/>
                </a:solidFill>
                <a:latin typeface="Courier"/>
              </a:rPr>
              <a:t>sponge_df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(treatment) </a:t>
            </a:r>
            <a:r>
              <a:rPr>
                <a:solidFill>
                  <a:srgbClr val="5E5E5E"/>
                </a:solidFill>
                <a:latin typeface="Courier"/>
              </a:rPr>
              <a:t>%&gt;%</a:t>
            </a:r>
            <a:br/>
            <a:r>
              <a:rPr>
                <a:solidFill>
                  <a:srgbClr val="003B4F"/>
                </a:solidFill>
                <a:latin typeface="Courier"/>
              </a:rPr>
              <a:t>  </a:t>
            </a:r>
            <a:r>
              <a:rPr>
                <a:solidFill>
                  <a:srgbClr val="4758AB"/>
                </a:solidFill>
                <a:latin typeface="Courier"/>
              </a:rPr>
              <a:t>reframe</a:t>
            </a:r>
            <a:r>
              <a:rPr>
                <a:solidFill>
                  <a:srgbClr val="003B4F"/>
                </a:solidFill>
                <a:latin typeface="Courier"/>
              </a:rPr>
              <a:t>(</a:t>
            </a:r>
            <a:r>
              <a:rPr>
                <a:solidFill>
                  <a:srgbClr val="4758AB"/>
                </a:solidFill>
                <a:latin typeface="Courier"/>
              </a:rPr>
              <a:t>summary_stats</a:t>
            </a:r>
            <a:r>
              <a:rPr>
                <a:solidFill>
                  <a:srgbClr val="003B4F"/>
                </a:solidFill>
                <a:latin typeface="Courier"/>
              </a:rPr>
              <a:t>(growth_mm_d))</a:t>
            </a:r>
          </a:p>
          <a:p>
            <a:pPr lvl="0" indent="0">
              <a:buNone/>
            </a:pPr>
            <a:r>
              <a:rPr>
                <a:latin typeface="Courier"/>
              </a:rPr>
              <a:t># A tibble: 4 × 7
  treatment     n  mean    sd    se ci_lower ci_upper
  &lt;chr&gt;     &lt;int&gt; &lt;dbl&gt; &lt;dbl&gt; &lt;dbl&gt;    &lt;dbl&gt;    &lt;dbl&gt;
1 Control      14 0.329 0.432 0.115   0.0801    0.578
2 Foam         14 0.712 0.393 0.105   0.485     0.939
3 Haliclona    14 0.765 0.348 0.093   0.564     0.966
4 Tedania      14 0.914 0.442 0.118   0.659     1.17 </a:t>
            </a:r>
          </a:p>
          <a:p>
            <a:pPr lvl="0"/>
            <a:r>
              <a:rPr>
                <a:latin typeface="Courier"/>
              </a:rPr>
              <a:t>Control</a:t>
            </a:r>
            <a:r>
              <a:rPr/>
              <a:t> — bare root</a:t>
            </a:r>
          </a:p>
          <a:p>
            <a:pPr lvl="0"/>
            <a:r>
              <a:rPr>
                <a:latin typeface="Courier"/>
              </a:rPr>
              <a:t>Foam</a:t>
            </a:r>
            <a:r>
              <a:rPr/>
              <a:t> — inert foam, the </a:t>
            </a:r>
            <a:r>
              <a:rPr b="1"/>
              <a:t>sham control</a:t>
            </a:r>
          </a:p>
          <a:p>
            <a:pPr lvl="0"/>
            <a:r>
              <a:rPr>
                <a:latin typeface="Courier"/>
              </a:rPr>
              <a:t>Haliclona</a:t>
            </a:r>
            <a:r>
              <a:rPr/>
              <a:t>, </a:t>
            </a:r>
            <a:r>
              <a:rPr>
                <a:latin typeface="Courier"/>
              </a:rPr>
              <a:t>Tedania</a:t>
            </a:r>
            <a:r>
              <a:rPr/>
              <a:t> — the two sponges</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Read the means before you read any test.</a:t>
            </a:r>
          </a:p>
          <a:p>
            <a:pPr lvl="0" indent="0" marL="1270000">
              <a:buNone/>
            </a:pPr>
            <a:r>
              <a:rPr sz="2000"/>
              <a:t>Four numbers. Nothing else is on this slide on purpose.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You Are Writing the Abstract</a:t>
            </a:r>
          </a:p>
        </p:txBody>
      </p:sp>
      <p:sp>
        <p:nvSpPr>
          <p:cNvPr id="3" name="Content Placeholder 2"/>
          <p:cNvSpPr>
            <a:spLocks noGrp="1"/>
          </p:cNvSpPr>
          <p:nvPr>
            <p:ph idx="1" sz="half"/>
          </p:nvPr>
        </p:nvSpPr>
        <p:spPr/>
        <p:txBody>
          <a:bodyPr/>
          <a:lstStyle/>
          <a:p>
            <a:pPr lvl="0" indent="0" marL="0">
              <a:buNone/>
            </a:pPr>
            <a:r>
              <a:rPr/>
              <a:t>Those four means are all the evidence you have. You now have to write the one sentence of the abstract that states what you found.</a:t>
            </a:r>
          </a:p>
          <a:p>
            <a:pPr lvl="0" indent="0" marL="0">
              <a:buNone/>
            </a:pPr>
            <a:r>
              <a:rPr b="1"/>
              <a:t>Which claim do these data support?</a:t>
            </a:r>
          </a:p>
          <a:p>
            <a:pPr lvl="0" indent="0" marL="0">
              <a:buNone/>
            </a:pPr>
            <a:r>
              <a:rPr b="1"/>
              <a:t>(a)</a:t>
            </a:r>
            <a:r>
              <a:rPr/>
              <a:t> Both sponge species increase mangrove root growth</a:t>
            </a:r>
          </a:p>
          <a:p>
            <a:pPr lvl="0" indent="0" marL="0">
              <a:buNone/>
            </a:pPr>
            <a:r>
              <a:rPr b="1"/>
              <a:t>(b)</a:t>
            </a:r>
            <a:r>
              <a:rPr/>
              <a:t> Only </a:t>
            </a:r>
            <a:r>
              <a:rPr i="1"/>
              <a:t>Tedania</a:t>
            </a:r>
            <a:r>
              <a:rPr/>
              <a:t> increases root growth; </a:t>
            </a:r>
            <a:r>
              <a:rPr i="1"/>
              <a:t>Haliclona</a:t>
            </a:r>
            <a:r>
              <a:rPr/>
              <a:t> does not</a:t>
            </a:r>
          </a:p>
          <a:p>
            <a:pPr lvl="0" indent="0" marL="0">
              <a:buNone/>
            </a:pPr>
            <a:r>
              <a:rPr b="1"/>
              <a:t>(c)</a:t>
            </a:r>
            <a:r>
              <a:rPr/>
              <a:t> We cannot tell whether the </a:t>
            </a:r>
            <a:r>
              <a:rPr b="1"/>
              <a:t>sponges</a:t>
            </a:r>
            <a:r>
              <a:rPr/>
              <a:t> do anything</a:t>
            </a:r>
          </a:p>
          <a:p>
            <a:pPr lvl="0" indent="0" marL="0">
              <a:buNone/>
            </a:pPr>
            <a:r>
              <a:rPr b="1"/>
              <a:t>(d)</a:t>
            </a:r>
            <a:r>
              <a:rPr/>
              <a:t> The sponges have no effect on root growth</a:t>
            </a:r>
          </a:p>
          <a:p>
            <a:pPr lvl="0" indent="0" marL="1270000">
              <a:buNone/>
            </a:pPr>
            <a:r>
              <a:rPr sz="2000" b="1"/>
              <a:t>Warning</a:t>
            </a:r>
          </a:p>
          <a:p>
            <a:pPr lvl="0" indent="0" marL="1270000">
              <a:buNone/>
            </a:pPr>
            <a:r>
              <a:rPr sz="2000" b="1"/>
              <a:t>✍️ Write your letter down before you look at the next slide.</a:t>
            </a:r>
          </a:p>
          <a:p>
            <a:pPr lvl="0" indent="0" marL="1270000">
              <a:buNone/>
            </a:pPr>
            <a:r>
              <a:rPr sz="2000"/>
              <a:t>Then argue it with your neighbour. Everyone in this room has enough information to get this right.</a:t>
            </a:r>
          </a:p>
        </p:txBody>
      </p:sp>
      <p:graphicFrame>
        <p:nvGraphicFramePr>
          <p:cNvPr id="6" name="Content Placeholder 5"/>
          <p:cNvGraphicFramePr>
            <a:graphicFrameLocks noGrp="1"/>
          </p:cNvGraphicFramePr>
          <p:nvPr>
            <p:ph idx="1"/>
          </p:nvPr>
        </p:nvGraphicFramePr>
        <p:xfrm>
          <a:off x="6121400" y="660400"/>
          <a:ext cx="2781300" cy="4470400"/>
        </p:xfrm>
        <a:graphic>
          <a:graphicData uri="http://schemas.openxmlformats.org/drawingml/2006/table">
            <a:tbl>
              <a:tblPr firstRow="1" bandRow="1">
                <a:tableStyleId>{5C22544A-7EE6-4342-B048-85BDC9FD1C3A}</a:tableStyleId>
              </a:tblPr>
              <a:tblGrid>
                <a:gridCol w="1384300"/>
                <a:gridCol w="1384300"/>
              </a:tblGrid>
              <a:tr h="0">
                <a:tc>
                  <a:txBody>
                    <a:bodyPr/>
                    <a:lstStyle/>
                    <a:p>
                      <a:pPr lvl="0" indent="0" marL="0">
                        <a:buNone/>
                      </a:pPr>
                      <a:r>
                        <a:rPr/>
                        <a:t>Treatment</a:t>
                      </a:r>
                    </a:p>
                  </a:txBody>
                  <a:tcPr/>
                </a:tc>
                <a:tc>
                  <a:txBody>
                    <a:bodyPr/>
                    <a:lstStyle/>
                    <a:p>
                      <a:pPr lvl="0" indent="0" marL="0">
                        <a:buNone/>
                      </a:pPr>
                      <a:r>
                        <a:rPr/>
                        <a:t>Growth (mm/d)</a:t>
                      </a:r>
                    </a:p>
                  </a:txBody>
                  <a:tcPr/>
                </a:tc>
              </a:tr>
              <a:tr h="0">
                <a:tc>
                  <a:txBody>
                    <a:bodyPr/>
                    <a:lstStyle/>
                    <a:p>
                      <a:pPr lvl="0" indent="0" marL="0">
                        <a:buNone/>
                      </a:pPr>
                      <a:r>
                        <a:rPr>
                          <a:latin typeface="Courier"/>
                        </a:rPr>
                        <a:t>Control</a:t>
                      </a:r>
                    </a:p>
                  </a:txBody>
                </a:tc>
                <a:tc>
                  <a:txBody>
                    <a:bodyPr/>
                    <a:lstStyle/>
                    <a:p>
                      <a:pPr lvl="0" indent="0" marL="0">
                        <a:buNone/>
                      </a:pPr>
                      <a:r>
                        <a:rPr/>
                        <a:t>0.33</a:t>
                      </a:r>
                    </a:p>
                  </a:txBody>
                </a:tc>
              </a:tr>
              <a:tr h="0">
                <a:tc>
                  <a:txBody>
                    <a:bodyPr/>
                    <a:lstStyle/>
                    <a:p>
                      <a:pPr lvl="0" indent="0" marL="0">
                        <a:buNone/>
                      </a:pPr>
                      <a:r>
                        <a:rPr>
                          <a:latin typeface="Courier"/>
                        </a:rPr>
                        <a:t>Foam</a:t>
                      </a:r>
                    </a:p>
                  </a:txBody>
                </a:tc>
                <a:tc>
                  <a:txBody>
                    <a:bodyPr/>
                    <a:lstStyle/>
                    <a:p>
                      <a:pPr lvl="0" indent="0" marL="0">
                        <a:buNone/>
                      </a:pPr>
                      <a:r>
                        <a:rPr/>
                        <a:t>0.71</a:t>
                      </a:r>
                    </a:p>
                  </a:txBody>
                </a:tc>
              </a:tr>
              <a:tr h="0">
                <a:tc>
                  <a:txBody>
                    <a:bodyPr/>
                    <a:lstStyle/>
                    <a:p>
                      <a:pPr lvl="0" indent="0" marL="0">
                        <a:buNone/>
                      </a:pPr>
                      <a:r>
                        <a:rPr>
                          <a:latin typeface="Courier"/>
                        </a:rPr>
                        <a:t>Haliclona</a:t>
                      </a:r>
                    </a:p>
                  </a:txBody>
                </a:tc>
                <a:tc>
                  <a:txBody>
                    <a:bodyPr/>
                    <a:lstStyle/>
                    <a:p>
                      <a:pPr lvl="0" indent="0" marL="0">
                        <a:buNone/>
                      </a:pPr>
                      <a:r>
                        <a:rPr/>
                        <a:t>0.77</a:t>
                      </a:r>
                    </a:p>
                  </a:txBody>
                </a:tc>
              </a:tr>
              <a:tr h="0">
                <a:tc>
                  <a:txBody>
                    <a:bodyPr/>
                    <a:lstStyle/>
                    <a:p>
                      <a:pPr lvl="0" indent="0" marL="0">
                        <a:buNone/>
                      </a:pPr>
                      <a:r>
                        <a:rPr>
                          <a:latin typeface="Courier"/>
                        </a:rPr>
                        <a:t>Tedania</a:t>
                      </a:r>
                    </a:p>
                  </a:txBody>
                </a:tc>
                <a:tc>
                  <a:txBody>
                    <a:bodyPr/>
                    <a:lstStyle/>
                    <a:p>
                      <a:pPr lvl="0" indent="0" marL="0">
                        <a:buNone/>
                      </a:pPr>
                      <a:r>
                        <a:rPr/>
                        <a:t>0.91</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The Sponge Result, in Two Tests</a:t>
            </a:r>
          </a:p>
        </p:txBody>
      </p:sp>
      <p:sp>
        <p:nvSpPr>
          <p:cNvPr id="3" name="Content Placeholder 2"/>
          <p:cNvSpPr>
            <a:spLocks noGrp="1"/>
          </p:cNvSpPr>
          <p:nvPr>
            <p:ph idx="1"/>
          </p:nvPr>
        </p:nvSpPr>
        <p:spPr/>
        <p:txBody>
          <a:bodyPr/>
          <a:lstStyle/>
          <a:p>
            <a:pPr lvl="0" indent="0">
              <a:buNone/>
            </a:pPr>
            <a:r>
              <a:rPr>
                <a:solidFill>
                  <a:srgbClr val="5E5E5E"/>
                </a:solidFill>
                <a:latin typeface="Courier"/>
              </a:rPr>
              <a:t># Is there an artifact of having ANYTHING attached?</a:t>
            </a:r>
            <a:br/>
            <a:r>
              <a:rPr>
                <a:solidFill>
                  <a:srgbClr val="003B4F"/>
                </a:solidFill>
                <a:latin typeface="Courier"/>
              </a:rPr>
              <a:t>sponge_df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(treatment </a:t>
            </a:r>
            <a:r>
              <a:rPr>
                <a:solidFill>
                  <a:srgbClr val="5E5E5E"/>
                </a:solidFill>
                <a:latin typeface="Courier"/>
              </a:rPr>
              <a:t>%in%</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"Control"</a:t>
            </a:r>
            <a:r>
              <a:rPr>
                <a:solidFill>
                  <a:srgbClr val="003B4F"/>
                </a:solidFill>
                <a:latin typeface="Courier"/>
              </a:rPr>
              <a:t>, </a:t>
            </a:r>
            <a:r>
              <a:rPr>
                <a:solidFill>
                  <a:srgbClr val="20794D"/>
                </a:solidFill>
                <a:latin typeface="Courier"/>
              </a:rPr>
              <a:t>"Foam"</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t.test</a:t>
            </a:r>
            <a:r>
              <a:rPr>
                <a:solidFill>
                  <a:srgbClr val="003B4F"/>
                </a:solidFill>
                <a:latin typeface="Courier"/>
              </a:rPr>
              <a:t>(growth_mm_d </a:t>
            </a:r>
            <a:r>
              <a:rPr>
                <a:solidFill>
                  <a:srgbClr val="5E5E5E"/>
                </a:solidFill>
                <a:latin typeface="Courier"/>
              </a:rPr>
              <a:t>~</a:t>
            </a:r>
            <a:r>
              <a:rPr>
                <a:solidFill>
                  <a:srgbClr val="003B4F"/>
                </a:solidFill>
                <a:latin typeface="Courier"/>
              </a:rPr>
              <a:t> treatment, </a:t>
            </a:r>
            <a:r>
              <a:rPr>
                <a:solidFill>
                  <a:srgbClr val="657422"/>
                </a:solidFill>
                <a:latin typeface="Courier"/>
              </a:rPr>
              <a:t>data =</a:t>
            </a:r>
            <a:r>
              <a:rPr>
                <a:solidFill>
                  <a:srgbClr val="003B4F"/>
                </a:solidFill>
                <a:latin typeface="Courier"/>
              </a:rPr>
              <a:t> .)</a:t>
            </a:r>
          </a:p>
          <a:p>
            <a:pPr lvl="0" indent="0">
              <a:buNone/>
            </a:pPr>
            <a:r>
              <a:rPr>
                <a:latin typeface="Courier"/>
              </a:rPr>
              <a:t>
    Welch Two Sample t-test
data:  growth_mm_d by treatment
t = -2.4537, df = 25.775, p-value = 0.02122
alternative hypothesis: true difference in means between group Control and group Foam is not equal to 0
95 percent confidence interval:
 -0.70372014 -0.06199415
sample estimates:
mean in group Control    mean in group Foam 
            0.3292857             0.7121429 </a:t>
            </a:r>
          </a:p>
          <a:p>
            <a:pPr lvl="0" indent="0">
              <a:buNone/>
            </a:pPr>
            <a:r>
              <a:rPr>
                <a:solidFill>
                  <a:srgbClr val="5E5E5E"/>
                </a:solidFill>
                <a:latin typeface="Courier"/>
              </a:rPr>
              <a:t># Do the living sponges beat the inert foam?</a:t>
            </a:r>
            <a:br/>
            <a:r>
              <a:rPr>
                <a:solidFill>
                  <a:srgbClr val="003B4F"/>
                </a:solidFill>
                <a:latin typeface="Courier"/>
              </a:rPr>
              <a:t>sponge_df </a:t>
            </a:r>
            <a:r>
              <a:rPr>
                <a:solidFill>
                  <a:srgbClr val="5E5E5E"/>
                </a:solidFill>
                <a:latin typeface="Courier"/>
              </a:rPr>
              <a:t>%&gt;%</a:t>
            </a:r>
            <a:br/>
            <a:r>
              <a:rPr>
                <a:solidFill>
                  <a:srgbClr val="003B4F"/>
                </a:solidFill>
                <a:latin typeface="Courier"/>
              </a:rPr>
              <a:t>  </a:t>
            </a:r>
            <a:r>
              <a:rPr>
                <a:solidFill>
                  <a:srgbClr val="4758AB"/>
                </a:solidFill>
                <a:latin typeface="Courier"/>
              </a:rPr>
              <a:t>filter</a:t>
            </a:r>
            <a:r>
              <a:rPr>
                <a:solidFill>
                  <a:srgbClr val="003B4F"/>
                </a:solidFill>
                <a:latin typeface="Courier"/>
              </a:rPr>
              <a:t>(treatment </a:t>
            </a:r>
            <a:r>
              <a:rPr>
                <a:solidFill>
                  <a:srgbClr val="5E5E5E"/>
                </a:solidFill>
                <a:latin typeface="Courier"/>
              </a:rPr>
              <a:t>!=</a:t>
            </a:r>
            <a:r>
              <a:rPr>
                <a:solidFill>
                  <a:srgbClr val="003B4F"/>
                </a:solidFill>
                <a:latin typeface="Courier"/>
              </a:rPr>
              <a:t> </a:t>
            </a:r>
            <a:r>
              <a:rPr>
                <a:solidFill>
                  <a:srgbClr val="20794D"/>
                </a:solidFill>
                <a:latin typeface="Courier"/>
              </a:rPr>
              <a:t>"Control"</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kind =</a:t>
            </a:r>
            <a:r>
              <a:rPr>
                <a:solidFill>
                  <a:srgbClr val="003B4F"/>
                </a:solidFill>
                <a:latin typeface="Courier"/>
              </a:rPr>
              <a:t> </a:t>
            </a:r>
            <a:r>
              <a:rPr>
                <a:solidFill>
                  <a:srgbClr val="4758AB"/>
                </a:solidFill>
                <a:latin typeface="Courier"/>
              </a:rPr>
              <a:t>if_else</a:t>
            </a:r>
            <a:r>
              <a:rPr>
                <a:solidFill>
                  <a:srgbClr val="003B4F"/>
                </a:solidFill>
                <a:latin typeface="Courier"/>
              </a:rPr>
              <a:t>(treatment </a:t>
            </a:r>
            <a:r>
              <a:rPr>
                <a:solidFill>
                  <a:srgbClr val="5E5E5E"/>
                </a:solidFill>
                <a:latin typeface="Courier"/>
              </a:rPr>
              <a:t>==</a:t>
            </a:r>
            <a:r>
              <a:rPr>
                <a:solidFill>
                  <a:srgbClr val="003B4F"/>
                </a:solidFill>
                <a:latin typeface="Courier"/>
              </a:rPr>
              <a:t> </a:t>
            </a:r>
            <a:r>
              <a:rPr>
                <a:solidFill>
                  <a:srgbClr val="20794D"/>
                </a:solidFill>
                <a:latin typeface="Courier"/>
              </a:rPr>
              <a:t>"Foam"</a:t>
            </a:r>
            <a:r>
              <a:rPr>
                <a:solidFill>
                  <a:srgbClr val="003B4F"/>
                </a:solidFill>
                <a:latin typeface="Courier"/>
              </a:rPr>
              <a:t>, </a:t>
            </a:r>
            <a:r>
              <a:rPr>
                <a:solidFill>
                  <a:srgbClr val="20794D"/>
                </a:solidFill>
                <a:latin typeface="Courier"/>
              </a:rPr>
              <a:t>"sham"</a:t>
            </a:r>
            <a:r>
              <a:rPr>
                <a:solidFill>
                  <a:srgbClr val="003B4F"/>
                </a:solidFill>
                <a:latin typeface="Courier"/>
              </a:rPr>
              <a:t>, </a:t>
            </a:r>
            <a:r>
              <a:rPr>
                <a:solidFill>
                  <a:srgbClr val="20794D"/>
                </a:solidFill>
                <a:latin typeface="Courier"/>
              </a:rPr>
              <a:t>"sponge"</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t.test</a:t>
            </a:r>
            <a:r>
              <a:rPr>
                <a:solidFill>
                  <a:srgbClr val="003B4F"/>
                </a:solidFill>
                <a:latin typeface="Courier"/>
              </a:rPr>
              <a:t>(growth_mm_d </a:t>
            </a:r>
            <a:r>
              <a:rPr>
                <a:solidFill>
                  <a:srgbClr val="5E5E5E"/>
                </a:solidFill>
                <a:latin typeface="Courier"/>
              </a:rPr>
              <a:t>~</a:t>
            </a:r>
            <a:r>
              <a:rPr>
                <a:solidFill>
                  <a:srgbClr val="003B4F"/>
                </a:solidFill>
                <a:latin typeface="Courier"/>
              </a:rPr>
              <a:t> kind, </a:t>
            </a:r>
            <a:r>
              <a:rPr>
                <a:solidFill>
                  <a:srgbClr val="657422"/>
                </a:solidFill>
                <a:latin typeface="Courier"/>
              </a:rPr>
              <a:t>data =</a:t>
            </a:r>
            <a:r>
              <a:rPr>
                <a:solidFill>
                  <a:srgbClr val="003B4F"/>
                </a:solidFill>
                <a:latin typeface="Courier"/>
              </a:rPr>
              <a:t> .)</a:t>
            </a:r>
          </a:p>
          <a:p>
            <a:pPr lvl="0" indent="0">
              <a:buNone/>
            </a:pPr>
            <a:r>
              <a:rPr>
                <a:latin typeface="Courier"/>
              </a:rPr>
              <a:t>
    Welch Two Sample t-test
data:  growth_mm_d by kind
t = -0.98461, df = 26.362, p-value = 0.3338
alternative hypothesis: true difference in means between group sham and group sponge is not equal to 0
95 percent confidence interval:
 -0.3923957  0.1381100
sample estimates:
  mean in group sham mean in group sponge 
           0.7121429            0.8392857 </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What the Two Sponge Tests Show</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(c).</a:t>
            </a:r>
            <a:r>
              <a:rPr sz="2000"/>
              <a:t> Most rooms vote (a).</a:t>
            </a:r>
          </a:p>
          <a:p>
            <a:pPr lvl="0"/>
            <a:r>
              <a:rPr sz="2000">
                <a:latin typeface="Courier"/>
              </a:rPr>
              <a:t>Control</a:t>
            </a:r>
            <a:r>
              <a:rPr sz="2000"/>
              <a:t> vs </a:t>
            </a:r>
            <a:r>
              <a:rPr sz="2000">
                <a:latin typeface="Courier"/>
              </a:rPr>
              <a:t>Foam</a:t>
            </a:r>
            <a:r>
              <a:rPr sz="2000"/>
              <a:t>: </a:t>
            </a:r>
            <a:r>
              <a:rPr sz="2000" b="1"/>
              <a:t>p = 0.021</a:t>
            </a:r>
            <a:r>
              <a:rPr sz="2000"/>
              <a:t> — a piece of </a:t>
            </a:r>
            <a:r>
              <a:rPr sz="2000" i="1"/>
              <a:t>inert plastic</a:t>
            </a:r>
            <a:r>
              <a:rPr sz="2000"/>
              <a:t> significantly increases root growth</a:t>
            </a:r>
          </a:p>
          <a:p>
            <a:pPr lvl="0"/>
            <a:r>
              <a:rPr sz="2000">
                <a:latin typeface="Courier"/>
              </a:rPr>
              <a:t>Foam</a:t>
            </a:r>
            <a:r>
              <a:rPr sz="2000"/>
              <a:t> vs sponges: </a:t>
            </a:r>
            <a:r>
              <a:rPr sz="2000" b="1"/>
              <a:t>p = 0.33</a:t>
            </a:r>
            <a:r>
              <a:rPr sz="2000"/>
              <a:t> — the living sponges add nothing detectable on top of that</a:t>
            </a:r>
          </a:p>
          <a:p>
            <a:pPr lvl="0" indent="0" marL="1270000">
              <a:buNone/>
            </a:pPr>
            <a:r>
              <a:rPr sz="2000"/>
              <a:t>The sponges sit higher than the bare control, so (a) feels obvious. But the right comparison is not against </a:t>
            </a:r>
            <a:r>
              <a:rPr sz="2000" i="1"/>
              <a:t>nothing</a:t>
            </a:r>
            <a:r>
              <a:rPr sz="2000"/>
              <a:t> — it is against </a:t>
            </a:r>
            <a:r>
              <a:rPr sz="2000" b="1"/>
              <a:t>an object that is not a sponge</a:t>
            </a:r>
            <a:r>
              <a:rPr sz="2000"/>
              <a:t>, and against that, the sponges do not measurably win.</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The paper you would have written without the foam</a:t>
            </a:r>
          </a:p>
          <a:p>
            <a:pPr lvl="0" indent="0" marL="1270000">
              <a:buNone/>
            </a:pPr>
            <a:r>
              <a:rPr sz="2000"/>
              <a:t>“Sponges promote mangrove root growth” — real p-value, clean figure, wrong conclusion. The effect is mostly </a:t>
            </a:r>
            <a:r>
              <a:rPr sz="2000" b="1"/>
              <a:t>having something attached to your root</a:t>
            </a:r>
            <a:r>
              <a:rPr sz="2000"/>
              <a:t>.</a:t>
            </a:r>
          </a:p>
          <a:p>
            <a:pPr lvl="0" indent="0" marL="1270000">
              <a:buNone/>
            </a:pPr>
            <a:r>
              <a:rPr sz="2000" b="1"/>
              <a:t>A sham control is what stands between a correct result and a confident wrong one.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Randomization</a:t>
            </a:r>
          </a:p>
        </p:txBody>
      </p:sp>
      <p:sp>
        <p:nvSpPr>
          <p:cNvPr id="3" name="Content Placeholder 2"/>
          <p:cNvSpPr>
            <a:spLocks noGrp="1"/>
          </p:cNvSpPr>
          <p:nvPr>
            <p:ph idx="1" sz="half"/>
          </p:nvPr>
        </p:nvSpPr>
        <p:spPr/>
        <p:txBody>
          <a:bodyPr/>
          <a:lstStyle/>
          <a:p>
            <a:pPr lvl="0" indent="0" marL="0">
              <a:buNone/>
            </a:pPr>
            <a:r>
              <a:rPr/>
              <a:t>Randomization is how you deconfound the variables you never thought of. It works at </a:t>
            </a:r>
            <a:r>
              <a:rPr b="1"/>
              <a:t>two</a:t>
            </a:r>
            <a:r>
              <a:rPr/>
              <a:t> levels, and both matter:</a:t>
            </a:r>
          </a:p>
          <a:p>
            <a:pPr lvl="0" indent="-342900" marL="342900">
              <a:buAutoNum type="arabicPeriod"/>
            </a:pPr>
            <a:r>
              <a:rPr b="1"/>
              <a:t>Selection</a:t>
            </a:r>
            <a:r>
              <a:rPr/>
              <a:t> — which units enter the study. Makes the sample represent the population.</a:t>
            </a:r>
          </a:p>
          <a:p>
            <a:pPr lvl="0" indent="-342900" marL="342900">
              <a:buAutoNum type="arabicPeriod"/>
            </a:pPr>
            <a:r>
              <a:rPr b="1"/>
              <a:t>Assignment</a:t>
            </a:r>
            <a:r>
              <a:rPr/>
              <a:t> — which unit gets which treatment. Makes the groups exchangeable </a:t>
            </a:r>
            <a:r>
              <a:rPr i="1"/>
              <a:t>before</a:t>
            </a:r>
            <a:r>
              <a:rPr/>
              <a:t> treatment.</a:t>
            </a:r>
          </a:p>
          <a:p>
            <a:pPr lvl="0" indent="0" marL="0">
              <a:buNone/>
            </a:pPr>
            <a:r>
              <a:rPr/>
              <a:t>Haphazard is not random. “Whichever tree I reached first” correlates with trail access, which correlates with light, soil and disturbance.</a:t>
            </a:r>
          </a:p>
        </p:txBody>
      </p:sp>
      <p:pic>
        <p:nvPicPr>
          <p:cNvPr descr="images/clipboard-425378447.png" id="0" name="Picture 1"/>
          <p:cNvPicPr>
            <a:picLocks noGrp="1" noChangeAspect="1"/>
          </p:cNvPicPr>
          <p:nvPr/>
        </p:nvPicPr>
        <p:blipFill>
          <a:blip r:embed="rId2"/>
          <a:stretch>
            <a:fillRect/>
          </a:stretch>
        </p:blipFill>
        <p:spPr bwMode="auto">
          <a:xfrm>
            <a:off x="6121400" y="2019300"/>
            <a:ext cx="2781300" cy="1752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Randomizing Both Levels in R</a:t>
            </a:r>
          </a:p>
        </p:txBody>
      </p:sp>
      <p:sp>
        <p:nvSpPr>
          <p:cNvPr id="3" name="Content Placeholder 2"/>
          <p:cNvSpPr>
            <a:spLocks noGrp="1"/>
          </p:cNvSpPr>
          <p:nvPr>
            <p:ph idx="1" sz="half"/>
          </p:nvPr>
        </p:nvSpPr>
        <p:spPr/>
        <p:txBody>
          <a:bodyPr/>
          <a:lstStyle/>
          <a:p>
            <a:pPr lvl="0" indent="0">
              <a:buNone/>
            </a:pPr>
            <a:r>
              <a:rPr>
                <a:solidFill>
                  <a:srgbClr val="5E5E5E"/>
                </a:solidFill>
                <a:latin typeface="Courier"/>
              </a:rPr>
              <a:t># Selection: 10 trees from the 100 in the stand</a:t>
            </a:r>
            <a:br/>
            <a:r>
              <a:rPr>
                <a:solidFill>
                  <a:srgbClr val="003B4F"/>
                </a:solidFill>
                <a:latin typeface="Courier"/>
              </a:rPr>
              <a:t>selected &lt;- </a:t>
            </a:r>
            <a:r>
              <a:rPr>
                <a:solidFill>
                  <a:srgbClr val="4758AB"/>
                </a:solidFill>
                <a:latin typeface="Courier"/>
              </a:rPr>
              <a:t>sample</a:t>
            </a:r>
            <a:r>
              <a:rPr>
                <a:solidFill>
                  <a:srgbClr val="003B4F"/>
                </a:solidFill>
                <a:latin typeface="Courier"/>
              </a:rPr>
              <a:t>(</a:t>
            </a:r>
            <a:r>
              <a:rPr>
                <a:solidFill>
                  <a:srgbClr val="AD0000"/>
                </a:solidFill>
                <a:latin typeface="Courier"/>
              </a:rPr>
              <a:t>1</a:t>
            </a:r>
            <a:r>
              <a:rPr>
                <a:solidFill>
                  <a:srgbClr val="5E5E5E"/>
                </a:solidFill>
                <a:latin typeface="Courier"/>
              </a:rPr>
              <a:t>:</a:t>
            </a:r>
            <a:r>
              <a:rPr>
                <a:solidFill>
                  <a:srgbClr val="AD0000"/>
                </a:solidFill>
                <a:latin typeface="Courier"/>
              </a:rPr>
              <a:t>100</a:t>
            </a:r>
            <a:r>
              <a:rPr>
                <a:solidFill>
                  <a:srgbClr val="003B4F"/>
                </a:solidFill>
                <a:latin typeface="Courier"/>
              </a:rPr>
              <a:t>, </a:t>
            </a:r>
            <a:r>
              <a:rPr>
                <a:solidFill>
                  <a:srgbClr val="AD0000"/>
                </a:solidFill>
                <a:latin typeface="Courier"/>
              </a:rPr>
              <a:t>10</a:t>
            </a:r>
            <a:r>
              <a:rPr>
                <a:solidFill>
                  <a:srgbClr val="003B4F"/>
                </a:solidFill>
                <a:latin typeface="Courier"/>
              </a:rPr>
              <a:t>)</a:t>
            </a:r>
            <a:br/>
            <a:br/>
            <a:r>
              <a:rPr>
                <a:solidFill>
                  <a:srgbClr val="5E5E5E"/>
                </a:solidFill>
                <a:latin typeface="Courier"/>
              </a:rPr>
              <a:t># Assignment: 5 to treatment, the rest to control</a:t>
            </a:r>
            <a:br/>
            <a:r>
              <a:rPr>
                <a:solidFill>
                  <a:srgbClr val="003B4F"/>
                </a:solidFill>
                <a:latin typeface="Courier"/>
              </a:rPr>
              <a:t>treated &lt;- </a:t>
            </a:r>
            <a:r>
              <a:rPr>
                <a:solidFill>
                  <a:srgbClr val="4758AB"/>
                </a:solidFill>
                <a:latin typeface="Courier"/>
              </a:rPr>
              <a:t>sample</a:t>
            </a:r>
            <a:r>
              <a:rPr>
                <a:solidFill>
                  <a:srgbClr val="003B4F"/>
                </a:solidFill>
                <a:latin typeface="Courier"/>
              </a:rPr>
              <a:t>(selected, </a:t>
            </a:r>
            <a:r>
              <a:rPr>
                <a:solidFill>
                  <a:srgbClr val="AD0000"/>
                </a:solidFill>
                <a:latin typeface="Courier"/>
              </a:rPr>
              <a:t>5</a:t>
            </a:r>
            <a:r>
              <a:rPr>
                <a:solidFill>
                  <a:srgbClr val="003B4F"/>
                </a:solidFill>
                <a:latin typeface="Courier"/>
              </a:rPr>
              <a:t>)</a:t>
            </a:r>
            <a:br/>
            <a:br/>
            <a:r>
              <a:rPr>
                <a:solidFill>
                  <a:srgbClr val="4758AB"/>
                </a:solidFill>
                <a:latin typeface="Courier"/>
              </a:rPr>
              <a:t>tibble</a:t>
            </a:r>
            <a:r>
              <a:rPr>
                <a:solidFill>
                  <a:srgbClr val="003B4F"/>
                </a:solidFill>
                <a:latin typeface="Courier"/>
              </a:rPr>
              <a:t>(</a:t>
            </a:r>
            <a:r>
              <a:rPr>
                <a:solidFill>
                  <a:srgbClr val="657422"/>
                </a:solidFill>
                <a:latin typeface="Courier"/>
              </a:rPr>
              <a:t>tree =</a:t>
            </a:r>
            <a:r>
              <a:rPr>
                <a:solidFill>
                  <a:srgbClr val="003B4F"/>
                </a:solidFill>
                <a:latin typeface="Courier"/>
              </a:rPr>
              <a:t> selected,</a:t>
            </a:r>
            <a:br/>
            <a:r>
              <a:rPr>
                <a:solidFill>
                  <a:srgbClr val="003B4F"/>
                </a:solidFill>
                <a:latin typeface="Courier"/>
              </a:rPr>
              <a:t>       </a:t>
            </a:r>
            <a:r>
              <a:rPr>
                <a:solidFill>
                  <a:srgbClr val="657422"/>
                </a:solidFill>
                <a:latin typeface="Courier"/>
              </a:rPr>
              <a:t>group =</a:t>
            </a:r>
            <a:r>
              <a:rPr>
                <a:solidFill>
                  <a:srgbClr val="003B4F"/>
                </a:solidFill>
                <a:latin typeface="Courier"/>
              </a:rPr>
              <a:t> </a:t>
            </a:r>
            <a:r>
              <a:rPr>
                <a:solidFill>
                  <a:srgbClr val="4758AB"/>
                </a:solidFill>
                <a:latin typeface="Courier"/>
              </a:rPr>
              <a:t>if_else</a:t>
            </a:r>
            <a:r>
              <a:rPr>
                <a:solidFill>
                  <a:srgbClr val="003B4F"/>
                </a:solidFill>
                <a:latin typeface="Courier"/>
              </a:rPr>
              <a:t>(tree </a:t>
            </a:r>
            <a:r>
              <a:rPr>
                <a:solidFill>
                  <a:srgbClr val="5E5E5E"/>
                </a:solidFill>
                <a:latin typeface="Courier"/>
              </a:rPr>
              <a:t>%in%</a:t>
            </a:r>
            <a:r>
              <a:rPr>
                <a:solidFill>
                  <a:srgbClr val="003B4F"/>
                </a:solidFill>
                <a:latin typeface="Courier"/>
              </a:rPr>
              <a:t> treated, </a:t>
            </a:r>
            <a:r>
              <a:rPr>
                <a:solidFill>
                  <a:srgbClr val="20794D"/>
                </a:solidFill>
                <a:latin typeface="Courier"/>
              </a:rPr>
              <a:t>"treatment"</a:t>
            </a:r>
            <a:r>
              <a:rPr>
                <a:solidFill>
                  <a:srgbClr val="003B4F"/>
                </a:solidFill>
                <a:latin typeface="Courier"/>
              </a:rPr>
              <a:t>, </a:t>
            </a:r>
            <a:r>
              <a:rPr>
                <a:solidFill>
                  <a:srgbClr val="20794D"/>
                </a:solidFill>
                <a:latin typeface="Courier"/>
              </a:rPr>
              <a:t>"control"</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arrange</a:t>
            </a:r>
            <a:r>
              <a:rPr>
                <a:solidFill>
                  <a:srgbClr val="003B4F"/>
                </a:solidFill>
                <a:latin typeface="Courier"/>
              </a:rPr>
              <a:t>(group)</a:t>
            </a:r>
          </a:p>
          <a:p>
            <a:pPr lvl="0" indent="0">
              <a:buNone/>
            </a:pPr>
            <a:r>
              <a:rPr>
                <a:latin typeface="Courier"/>
              </a:rPr>
              <a:t># A tibble: 10 × 2
    tree group    
   &lt;int&gt; &lt;chr&gt;    
 1    49 control  
 2   100 control  
 3    47 control  
 4    71 control  
 5    89 control  
 6    65 treatment
 7    25 treatment
 8    74 treatment
 9    18 treatment
10    24 treatment</a:t>
            </a:r>
          </a:p>
        </p:txBody>
      </p:sp>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a:t>
            </a:r>
            <a:r>
              <a:rPr sz="2000" b="1">
                <a:latin typeface="Courier"/>
              </a:rPr>
              <a:t>set.seed()</a:t>
            </a:r>
            <a:r>
              <a:rPr sz="2000" b="1"/>
              <a:t> makes it reproducible, not less random</a:t>
            </a:r>
          </a:p>
          <a:p>
            <a:pPr lvl="0" indent="0" marL="1270000">
              <a:buNone/>
            </a:pPr>
            <a:r>
              <a:rPr sz="2000"/>
              <a:t>Record the seed and anyone can reconstruct exactly which trees you assigned where.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Blinding</a:t>
            </a:r>
          </a:p>
        </p:txBody>
      </p:sp>
      <p:sp>
        <p:nvSpPr>
          <p:cNvPr id="3" name="Content Placeholder 2"/>
          <p:cNvSpPr>
            <a:spLocks noGrp="1"/>
          </p:cNvSpPr>
          <p:nvPr>
            <p:ph idx="1" sz="half"/>
          </p:nvPr>
        </p:nvSpPr>
        <p:spPr/>
        <p:txBody>
          <a:bodyPr/>
          <a:lstStyle/>
          <a:p>
            <a:pPr lvl="0" indent="0" marL="0">
              <a:buNone/>
            </a:pPr>
            <a:r>
              <a:rPr/>
              <a:t>The measurer’s expectations leak into the measurements. This is a </a:t>
            </a:r>
            <a:r>
              <a:rPr b="1"/>
              <a:t>bias</a:t>
            </a:r>
            <a:r>
              <a:rPr/>
              <a:t>, so no amount of data fixes it.</a:t>
            </a:r>
          </a:p>
          <a:p>
            <a:pPr lvl="0"/>
            <a:r>
              <a:rPr b="1"/>
              <a:t>Single-blind</a:t>
            </a:r>
            <a:r>
              <a:rPr/>
              <a:t> — the subject does not know the treatment</a:t>
            </a:r>
          </a:p>
          <a:p>
            <a:pPr lvl="0"/>
            <a:r>
              <a:rPr b="1"/>
              <a:t>Double-blind</a:t>
            </a:r>
            <a:r>
              <a:rPr/>
              <a:t> — the person </a:t>
            </a:r>
            <a:r>
              <a:rPr i="1"/>
              <a:t>measuring</a:t>
            </a:r>
            <a:r>
              <a:rPr/>
              <a:t> does not know either</a:t>
            </a:r>
          </a:p>
          <a:p>
            <a:pPr lvl="0"/>
            <a:r>
              <a:rPr/>
              <a:t>A </a:t>
            </a:r>
            <a:r>
              <a:rPr b="1"/>
              <a:t>placebo</a:t>
            </a:r>
            <a:r>
              <a:rPr/>
              <a:t> is what makes subject-blinding possible at all</a:t>
            </a:r>
          </a:p>
          <a:p>
            <a:pPr lvl="0" indent="0" marL="0">
              <a:buNone/>
            </a:pPr>
            <a:r>
              <a:rPr/>
              <a:t>W&amp;S spend most of Ch. 14’s opening on this because medicine learned it the hard way. Ecology mostly has not.</a:t>
            </a:r>
          </a:p>
          <a:p>
            <a:pPr lvl="0" indent="0" marL="1270000">
              <a:buNone/>
            </a:pPr>
            <a:r>
              <a:rPr sz="2000" b="1"/>
              <a:t>Important</a:t>
            </a:r>
          </a:p>
          <a:p>
            <a:pPr lvl="0" indent="0" marL="1270000">
              <a:buNone/>
            </a:pPr>
            <a:r>
              <a:rPr sz="2000" b="1"/>
              <a:t>⚠️ This lands on our own study</a:t>
            </a:r>
          </a:p>
          <a:p>
            <a:pPr lvl="0" indent="0" marL="1270000">
              <a:buNone/>
            </a:pPr>
            <a:r>
              <a:rPr sz="2000"/>
              <a:t>You measured needles </a:t>
            </a:r>
            <a:r>
              <a:rPr sz="2000" b="1"/>
              <a:t>knowing</a:t>
            </a:r>
            <a:r>
              <a:rPr sz="2000"/>
              <a:t> which side of the tree they came from, and knowing the hypothesis. Nobody cheated. But “is this needle bent or straight, include it or not” is a judgement call, and judgement calls drift toward the expected answer.</a:t>
            </a:r>
          </a:p>
          <a:p>
            <a:pPr lvl="0" indent="0" marL="1270000">
              <a:buNone/>
            </a:pPr>
            <a:r>
              <a:rPr sz="2000"/>
              <a:t>The fix is cheap: someone relabels the envelopes, you measure blind to </a:t>
            </a:r>
            <a:r>
              <a:rPr sz="2000">
                <a:latin typeface="Courier"/>
              </a:rPr>
              <a:t>side</a:t>
            </a:r>
            <a:r>
              <a:rPr sz="2000"/>
              <a:t>.</a:t>
            </a:r>
          </a:p>
        </p:txBody>
      </p:sp>
      <p:pic>
        <p:nvPicPr>
          <p:cNvPr descr="images/paste-1.png" id="0" name="Picture 1"/>
          <p:cNvPicPr>
            <a:picLocks noGrp="1" noChangeAspect="1"/>
          </p:cNvPicPr>
          <p:nvPr/>
        </p:nvPicPr>
        <p:blipFill>
          <a:blip r:embed="rId2"/>
          <a:stretch>
            <a:fillRect/>
          </a:stretch>
        </p:blipFill>
        <p:spPr bwMode="auto">
          <a:xfrm>
            <a:off x="6121400" y="2171700"/>
            <a:ext cx="2781300" cy="14478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Job Two: Shrinking Sampling Error</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Replication — and at What Scale</a:t>
            </a:r>
          </a:p>
        </p:txBody>
      </p:sp>
      <p:sp>
        <p:nvSpPr>
          <p:cNvPr id="3" name="Content Placeholder 2"/>
          <p:cNvSpPr>
            <a:spLocks noGrp="1"/>
          </p:cNvSpPr>
          <p:nvPr>
            <p:ph idx="1" sz="half"/>
          </p:nvPr>
        </p:nvSpPr>
        <p:spPr/>
        <p:txBody>
          <a:bodyPr/>
          <a:lstStyle/>
          <a:p>
            <a:pPr lvl="0" indent="0" marL="0">
              <a:buNone/>
            </a:pPr>
            <a:r>
              <a:rPr/>
              <a:t>Replication does two jobs: it shrinks the standard error, and it is the </a:t>
            </a:r>
            <a:r>
              <a:rPr b="1"/>
              <a:t>only</a:t>
            </a:r>
            <a:r>
              <a:rPr/>
              <a:t> way to estimate variability at all.</a:t>
            </a:r>
          </a:p>
          <a:p>
            <a:pPr lvl="0" indent="0" marL="0">
              <a:buNone/>
            </a:pPr>
            <a:r>
              <a:rPr/>
              <a:t>The hard part is never </a:t>
            </a:r>
            <a:r>
              <a:rPr i="1"/>
              <a:t>how many</a:t>
            </a:r>
            <a:r>
              <a:rPr/>
              <a:t>. It is </a:t>
            </a:r>
            <a:r>
              <a:rPr b="1"/>
              <a:t>of what</a:t>
            </a:r>
            <a:r>
              <a:rPr/>
              <a:t>.</a:t>
            </a:r>
          </a:p>
          <a:p>
            <a:pPr lvl="0" indent="0" marL="1270000">
              <a:buNone/>
            </a:pPr>
            <a:r>
              <a:rPr sz="2000" b="1"/>
              <a:t>Warning</a:t>
            </a:r>
          </a:p>
          <a:p>
            <a:pPr lvl="0" indent="0" marL="1270000">
              <a:buNone/>
            </a:pPr>
            <a:r>
              <a:rPr sz="2000" b="1"/>
              <a:t>⚠️ The rule</a:t>
            </a:r>
          </a:p>
          <a:p>
            <a:pPr lvl="0" indent="0" marL="1270000">
              <a:buNone/>
            </a:pPr>
            <a:r>
              <a:rPr sz="2000"/>
              <a:t>Replicates must vary at the scale your </a:t>
            </a:r>
            <a:r>
              <a:rPr sz="2000" b="1"/>
              <a:t>hypothesis</a:t>
            </a:r>
            <a:r>
              <a:rPr sz="2000"/>
              <a:t> applies to. Anything finer is </a:t>
            </a:r>
            <a:r>
              <a:rPr sz="2000" b="1"/>
              <a:t>pseudoreplication</a:t>
            </a:r>
            <a:r>
              <a:rPr sz="2000"/>
              <a:t> (Hurlbert 1984): it shrinks your SE without adding information — a bias dressed as precision.</a:t>
            </a:r>
          </a:p>
          <a:p>
            <a:pPr lvl="0" indent="0" marL="0">
              <a:buNone/>
            </a:pPr>
            <a:r>
              <a:rPr/>
              <a:t>The next slide gives you three studies. Every one of them has been published in roughly this form.</a:t>
            </a:r>
          </a:p>
        </p:txBody>
      </p:sp>
      <p:pic>
        <p:nvPicPr>
          <p:cNvPr descr="images/clipboard-3427337242.png" id="0" name="Picture 1"/>
          <p:cNvPicPr>
            <a:picLocks noGrp="1" noChangeAspect="1"/>
          </p:cNvPicPr>
          <p:nvPr/>
        </p:nvPicPr>
        <p:blipFill>
          <a:blip r:embed="rId2"/>
          <a:stretch>
            <a:fillRect/>
          </a:stretch>
        </p:blipFill>
        <p:spPr bwMode="auto">
          <a:xfrm>
            <a:off x="6121400" y="1244600"/>
            <a:ext cx="2781300" cy="32893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What Is </a:t>
            </a:r>
            <a:r>
              <a:rPr i="1"/>
              <a:t>n</a:t>
            </a:r>
            <a:r>
              <a:rPr/>
              <a:t>?</a:t>
            </a:r>
          </a:p>
        </p:txBody>
      </p:sp>
      <p:sp>
        <p:nvSpPr>
          <p:cNvPr id="3" name="Content Placeholder 2"/>
          <p:cNvSpPr>
            <a:spLocks noGrp="1"/>
          </p:cNvSpPr>
          <p:nvPr>
            <p:ph idx="1" sz="half"/>
          </p:nvPr>
        </p:nvSpPr>
        <p:spPr/>
        <p:txBody>
          <a:bodyPr/>
          <a:lstStyle/>
          <a:p>
            <a:pPr lvl="0" indent="0" marL="0">
              <a:buNone/>
            </a:pPr>
            <a:r>
              <a:rPr/>
              <a:t>Write down the </a:t>
            </a:r>
            <a:r>
              <a:rPr b="1"/>
              <a:t>true number of replicates per group</a:t>
            </a:r>
            <a:r>
              <a:rPr/>
              <a:t> for each study. Three numbers.</a:t>
            </a:r>
          </a:p>
          <a:p>
            <a:pPr lvl="0" indent="0" marL="0">
              <a:buNone/>
            </a:pPr>
            <a:r>
              <a:rPr b="1"/>
              <a:t>1. Fire and soil invertebrates.</a:t>
            </a:r>
            <a:r>
              <a:rPr/>
              <a:t> 20 soil cores from the burnt part of a forest, 20 from the unburnt part of </a:t>
            </a:r>
            <a:r>
              <a:rPr i="1"/>
              <a:t>the same forest</a:t>
            </a:r>
            <a:r>
              <a:rPr/>
              <a:t>. </a:t>
            </a:r>
            <a:r>
              <a:rPr b="1"/>
              <a:t>(a)</a:t>
            </a:r>
            <a:r>
              <a:rPr/>
              <a:t> 20 </a:t>
            </a:r>
            <a:r>
              <a:rPr b="1"/>
              <a:t>(b)</a:t>
            </a:r>
            <a:r>
              <a:rPr/>
              <a:t> 2 </a:t>
            </a:r>
            <a:r>
              <a:rPr b="1"/>
              <a:t>(c)</a:t>
            </a:r>
            <a:r>
              <a:rPr/>
              <a:t> 1</a:t>
            </a:r>
          </a:p>
          <a:p>
            <a:pPr lvl="0" indent="0" marL="0">
              <a:buNone/>
            </a:pPr>
            <a:r>
              <a:rPr b="1"/>
              <a:t>2. Copper and barnacle settlement.</a:t>
            </a:r>
            <a:r>
              <a:rPr/>
              <a:t> 2 aquaria — one with copper, one without. 5 settling plates in each. </a:t>
            </a:r>
            <a:r>
              <a:rPr b="1"/>
              <a:t>(a)</a:t>
            </a:r>
            <a:r>
              <a:rPr/>
              <a:t> 10 </a:t>
            </a:r>
            <a:r>
              <a:rPr b="1"/>
              <a:t>(b)</a:t>
            </a:r>
            <a:r>
              <a:rPr/>
              <a:t> 5 </a:t>
            </a:r>
            <a:r>
              <a:rPr b="1"/>
              <a:t>(c)</a:t>
            </a:r>
            <a:r>
              <a:rPr/>
              <a:t> 2 </a:t>
            </a:r>
            <a:r>
              <a:rPr b="1"/>
              <a:t>(d)</a:t>
            </a:r>
            <a:r>
              <a:rPr/>
              <a:t> 1</a:t>
            </a:r>
          </a:p>
          <a:p>
            <a:pPr lvl="0" indent="0" marL="0">
              <a:buNone/>
            </a:pPr>
            <a:r>
              <a:rPr b="1"/>
              <a:t>3. Sewage and water quality.</a:t>
            </a:r>
            <a:r>
              <a:rPr/>
              <a:t> 10 water samples collected above the outfall, 10 below it. </a:t>
            </a:r>
            <a:r>
              <a:rPr b="1"/>
              <a:t>(a)</a:t>
            </a:r>
            <a:r>
              <a:rPr/>
              <a:t> 20 </a:t>
            </a:r>
            <a:r>
              <a:rPr b="1"/>
              <a:t>(b)</a:t>
            </a:r>
            <a:r>
              <a:rPr/>
              <a:t> 10 </a:t>
            </a:r>
            <a:r>
              <a:rPr b="1"/>
              <a:t>(c)</a:t>
            </a:r>
            <a:r>
              <a:rPr/>
              <a:t> 1</a:t>
            </a:r>
          </a:p>
          <a:p>
            <a:pPr lvl="0" indent="0" marL="1270000">
              <a:buNone/>
            </a:pPr>
            <a:r>
              <a:rPr sz="2000" b="1"/>
              <a:t>Warning</a:t>
            </a:r>
          </a:p>
          <a:p>
            <a:pPr lvl="0" indent="0" marL="1270000">
              <a:buNone/>
            </a:pPr>
            <a:r>
              <a:rPr sz="2000" b="1"/>
              <a:t>✍️ Three letters, written down, before you vote.</a:t>
            </a:r>
          </a:p>
          <a:p>
            <a:pPr lvl="0" indent="0" marL="1270000">
              <a:buNone/>
            </a:pPr>
            <a:r>
              <a:rPr sz="2000"/>
              <a:t>Number 3 is the one to argue about.</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The question to ask each time</a:t>
            </a:r>
          </a:p>
          <a:p>
            <a:pPr lvl="0" indent="0" marL="1270000">
              <a:buNone/>
            </a:pPr>
            <a:r>
              <a:rPr sz="2000" i="1"/>
              <a:t>“What is the smallest thing I could have independently assigned or independently chosen?”</a:t>
            </a:r>
          </a:p>
          <a:p>
            <a:pPr lvl="0" indent="0" marL="1270000">
              <a:buNone/>
            </a:pPr>
            <a:r>
              <a:rPr sz="2000"/>
              <a:t>Count those. Not the measurements.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a:t>
            </a:r>
            <a:r>
              <a:rPr i="1"/>
              <a:t>n</a:t>
            </a:r>
            <a:r>
              <a:rPr/>
              <a:t> Actually Was</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1. Fire → (c) n = 1 per group.</a:t>
            </a:r>
            <a:r>
              <a:rPr sz="2000"/>
              <a:t> One burnt area, one unburnt area. The 20 cores describe </a:t>
            </a:r>
            <a:r>
              <a:rPr sz="2000" i="1"/>
              <a:t>that</a:t>
            </a:r>
            <a:r>
              <a:rPr sz="2000"/>
              <a:t> forest and support no claim about fire in general. To study fire you need </a:t>
            </a:r>
            <a:r>
              <a:rPr sz="2000" b="1"/>
              <a:t>several burnt and several unburnt forests</a:t>
            </a:r>
            <a:r>
              <a:rPr sz="2000"/>
              <a:t>.</a:t>
            </a:r>
          </a:p>
          <a:p>
            <a:pPr lvl="0" indent="0" marL="1270000">
              <a:buNone/>
            </a:pPr>
            <a:r>
              <a:rPr sz="2000" b="1"/>
              <a:t>2. Copper → (d) n = 1 per group.</a:t>
            </a:r>
            <a:r>
              <a:rPr sz="2000"/>
              <a:t> One aquarium per treatment. The 5 plates share water, temperature, and whatever went wrong in that tank. You need </a:t>
            </a:r>
            <a:r>
              <a:rPr sz="2000" b="1"/>
              <a:t>several aquaria per treatment</a:t>
            </a:r>
            <a:r>
              <a:rPr sz="2000"/>
              <a:t>.</a:t>
            </a:r>
          </a:p>
          <a:p>
            <a:pPr lvl="0" indent="0" marL="1270000">
              <a:buNone/>
            </a:pPr>
            <a:r>
              <a:rPr sz="2000" b="1"/>
              <a:t>3. Sewage → (c) n = 1 per group.</a:t>
            </a:r>
            <a:r>
              <a:rPr sz="2000"/>
              <a:t> This is the one that catches everybody. There is </a:t>
            </a:r>
            <a:r>
              <a:rPr sz="2000" b="1"/>
              <a:t>one</a:t>
            </a:r>
            <a:r>
              <a:rPr sz="2000"/>
              <a:t> upstream location and </a:t>
            </a:r>
            <a:r>
              <a:rPr sz="2000" b="1"/>
              <a:t>one</a:t>
            </a:r>
            <a:r>
              <a:rPr sz="2000"/>
              <a:t> downstream location. Ten samples from one place is ten measurements of one place.</a:t>
            </a:r>
          </a:p>
          <a:p>
            <a:pPr lvl="0" indent="0" marL="0">
              <a:buNone/>
            </a:pPr>
            <a:r>
              <a:rPr/>
              <a:t>In all three, the published version reported the bigger number — and a satisfyingly small p-value.</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What pseudoreplication does and does not do</a:t>
            </a:r>
          </a:p>
          <a:p>
            <a:pPr lvl="0" indent="0" marL="1270000">
              <a:buNone/>
            </a:pPr>
            <a:r>
              <a:rPr sz="2000"/>
              <a:t>It barely moves your </a:t>
            </a:r>
            <a:r>
              <a:rPr sz="2000" b="1"/>
              <a:t>means</a:t>
            </a:r>
            <a:r>
              <a:rPr sz="2000"/>
              <a:t>. It shrinks your </a:t>
            </a:r>
            <a:r>
              <a:rPr sz="2000" b="1"/>
              <a:t>standard error</a:t>
            </a:r>
            <a:r>
              <a:rPr sz="2000"/>
              <a:t>. So the estimate stays put while the uncertainty around it quietly collapses.</a:t>
            </a:r>
          </a:p>
          <a:p>
            <a:pPr lvl="0" indent="0" marL="1270000">
              <a:buNone/>
            </a:pPr>
            <a:r>
              <a:rPr sz="2000"/>
              <a:t>That is why it is so hard to catch by eye, and why no diagnostic plot will flag it. Only the design will.</a:t>
            </a:r>
          </a:p>
          <a:p>
            <a:pPr lvl="0" indent="0" marL="0">
              <a:buNone/>
            </a:pPr>
            <a:r>
              <a:rPr/>
              <a:t>You will do exactly this to a real dataset for homework — and get the opposite answer from the obvious one.</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We Already Fixed This Once</a:t>
            </a:r>
          </a:p>
        </p:txBody>
      </p:sp>
      <p:sp>
        <p:nvSpPr>
          <p:cNvPr id="3" name="Content Placeholder 2"/>
          <p:cNvSpPr>
            <a:spLocks noGrp="1"/>
          </p:cNvSpPr>
          <p:nvPr>
            <p:ph idx="1" sz="half"/>
          </p:nvPr>
        </p:nvSpPr>
        <p:spPr/>
        <p:txBody>
          <a:bodyPr/>
          <a:lstStyle/>
          <a:p>
            <a:pPr lvl="0" indent="0" marL="0">
              <a:buNone/>
            </a:pPr>
            <a:r>
              <a:rPr/>
              <a:t>Our own pine data has 64 rows and </a:t>
            </a:r>
            <a:r>
              <a:rPr b="1"/>
              <a:t>8 trees’ worth of sides</a:t>
            </a:r>
            <a:r>
              <a:rPr/>
              <a:t> — 4 trees, two sides each.</a:t>
            </a:r>
          </a:p>
          <a:p>
            <a:pPr lvl="0" indent="0" marL="0">
              <a:buNone/>
            </a:pPr>
            <a:r>
              <a:rPr/>
              <a:t>Every analysis we have run since Week 4 starts by averaging the 8 needles per side away:</a:t>
            </a:r>
          </a:p>
          <a:p>
            <a:pPr lvl="0" indent="0">
              <a:buNone/>
            </a:pPr>
            <a:r>
              <a:rPr>
                <a:solidFill>
                  <a:srgbClr val="003B4F"/>
                </a:solidFill>
                <a:latin typeface="Courier"/>
              </a:rPr>
              <a:t>p_df</a:t>
            </a:r>
          </a:p>
          <a:p>
            <a:pPr lvl="0" indent="0">
              <a:buNone/>
            </a:pPr>
            <a:r>
              <a:rPr>
                <a:latin typeface="Courier"/>
              </a:rPr>
              <a:t># A tibble: 8 × 3
  team       side  needle_length_mm
  &lt;chr&gt;      &lt;chr&gt;            &lt;dbl&gt;
1 botany     shady             16.1
2 botany     sunny             17.3
3 grace_jace shady             15.4
4 grace_jace sunny             15.5
5 one        shady             13.2
6 one        sunny             14.2
7 waterbugs  shady             11.7
8 waterbugs  sunny             13.8</a:t>
            </a:r>
          </a:p>
          <a:p>
            <a:pPr lvl="0" indent="0" marL="0">
              <a:buNone/>
            </a:pPr>
            <a:r>
              <a:rPr/>
              <a:t>That </a:t>
            </a:r>
            <a:r>
              <a:rPr>
                <a:latin typeface="Courier"/>
              </a:rPr>
              <a:t>group_by() %&gt;% summarise()</a:t>
            </a:r>
            <a:r>
              <a:rPr/>
              <a:t> is not data cleaning. It is the line where we choose the </a:t>
            </a:r>
            <a:r>
              <a:rPr b="1"/>
              <a:t>tree</a:t>
            </a:r>
            <a:r>
              <a:rPr/>
              <a:t> as the experimental unit, because the tree is what the hypothesis is about.</a:t>
            </a:r>
          </a:p>
        </p:txBody>
      </p:sp>
      <p:pic>
        <p:nvPicPr>
          <p:cNvPr descr="images/clipboard-1877860945.png" id="0" name="Picture 1"/>
          <p:cNvPicPr>
            <a:picLocks noGrp="1" noChangeAspect="1"/>
          </p:cNvPicPr>
          <p:nvPr/>
        </p:nvPicPr>
        <p:blipFill>
          <a:blip r:embed="rId2"/>
          <a:stretch>
            <a:fillRect/>
          </a:stretch>
        </p:blipFill>
        <p:spPr bwMode="auto">
          <a:xfrm>
            <a:off x="6121400" y="1968500"/>
            <a:ext cx="2781300" cy="18415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Balance</a:t>
            </a:r>
          </a:p>
        </p:txBody>
      </p:sp>
      <p:sp>
        <p:nvSpPr>
          <p:cNvPr id="3" name="Content Placeholder 2"/>
          <p:cNvSpPr>
            <a:spLocks noGrp="1"/>
          </p:cNvSpPr>
          <p:nvPr>
            <p:ph idx="1" sz="half"/>
          </p:nvPr>
        </p:nvSpPr>
        <p:spPr/>
        <p:txBody>
          <a:bodyPr/>
          <a:lstStyle/>
          <a:p>
            <a:pPr lvl="0" indent="0" marL="0">
              <a:buNone/>
            </a:pPr>
            <a:r>
              <a:rPr/>
              <a:t>For a fixed total effort, </a:t>
            </a:r>
            <a:r>
              <a:rPr b="1"/>
              <a:t>equal group sizes give the smallest standard error</a:t>
            </a:r>
            <a:r>
              <a:rPr/>
              <a:t> on the difference.</a:t>
            </a:r>
          </a:p>
          <a:p>
            <a:pPr lvl="0"/>
            <a:r>
              <a:rPr/>
              <a:t>10 and 10 beats 15 and 5, using the same 20 units</a:t>
            </a:r>
          </a:p>
          <a:p>
            <a:pPr lvl="0"/>
            <a:r>
              <a:rPr/>
              <a:t>Balance also makes the tests robust: unequal variances hurt far less when n is equal</a:t>
            </a:r>
          </a:p>
          <a:p>
            <a:pPr lvl="0"/>
            <a:r>
              <a:rPr/>
              <a:t>Unbalanced designs are harder to interpret in ANOVA — sums of squares stop being unique (we will hit this in Week 9)</a:t>
            </a:r>
          </a:p>
          <a:p>
            <a:pPr lvl="0" indent="0" marL="1270000">
              <a:buNone/>
            </a:pPr>
            <a:r>
              <a:rPr sz="2000" b="1"/>
              <a:t>Tip</a:t>
            </a:r>
          </a:p>
          <a:p>
            <a:pPr lvl="0" indent="0" marL="1270000">
              <a:buNone/>
            </a:pPr>
            <a:r>
              <a:rPr sz="2000" b="1"/>
              <a:t>🖐 When imbalance is not your fault</a:t>
            </a:r>
          </a:p>
          <a:p>
            <a:pPr lvl="0" indent="0" marL="1270000">
              <a:buNone/>
            </a:pPr>
            <a:r>
              <a:rPr sz="2000"/>
              <a:t>Mortality, lost plots and weather happen. Balance is a design goal, not a moral requirement — but </a:t>
            </a:r>
            <a:r>
              <a:rPr sz="2000" i="1"/>
              <a:t>plan</a:t>
            </a:r>
            <a:r>
              <a:rPr sz="2000"/>
              <a:t> for balance, and report what you actually ended up with.</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Reference</a:t>
            </a:r>
          </a:p>
          <a:p>
            <a:pPr lvl="0" indent="0" marL="1270000">
              <a:buNone/>
            </a:pPr>
            <a:r>
              <a:rPr sz="2000"/>
              <a:t>Whitlock &amp; Schluter §14.5 — reducing the influence of sampling error: replication, balance, blocking, and choosing extreme treatment levels.</a:t>
            </a:r>
          </a:p>
          <a:p>
            <a:pPr lvl="0" indent="0" marL="1270000">
              <a:buNone/>
            </a:pPr>
            <a:r>
              <a:rPr sz="2000" b="1"/>
              <a:t>Note</a:t>
            </a:r>
          </a:p>
          <a:p>
            <a:pPr lvl="0" indent="0" marL="1270000">
              <a:buNone/>
            </a:pPr>
            <a:r>
              <a:rPr sz="2000" b="1"/>
              <a:t>Extreme treatments</a:t>
            </a:r>
          </a:p>
          <a:p>
            <a:pPr lvl="0" indent="0" marL="1270000">
              <a:buNone/>
            </a:pPr>
            <a:r>
              <a:rPr sz="2000"/>
              <a:t>If you want to detect a dose response with few replicates, spread your doses wide. Four doses clustered near the middle waste your replicates on a range where nothing happens.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Independence and Autocorrelation</a:t>
            </a:r>
          </a:p>
        </p:txBody>
      </p:sp>
      <p:sp>
        <p:nvSpPr>
          <p:cNvPr id="3" name="Content Placeholder 2"/>
          <p:cNvSpPr>
            <a:spLocks noGrp="1"/>
          </p:cNvSpPr>
          <p:nvPr>
            <p:ph idx="1"/>
          </p:nvPr>
        </p:nvSpPr>
        <p:spPr/>
        <p:txBody>
          <a:bodyPr/>
          <a:lstStyle/>
          <a:p>
            <a:pPr lvl="0" indent="0" marL="0">
              <a:buNone/>
            </a:pPr>
            <a:r>
              <a:rPr/>
              <a:t>Most tests assume observations are </a:t>
            </a:r>
            <a:r>
              <a:rPr b="1"/>
              <a:t>independent</a:t>
            </a:r>
            <a:r>
              <a:rPr/>
              <a:t> — knowing one tells you nothing about another. </a:t>
            </a:r>
            <a:r>
              <a:rPr b="1"/>
              <a:t>Autocorrelation</a:t>
            </a:r>
            <a:r>
              <a:rPr/>
              <a:t> is the standard violation: things near each other in space or time resemble each other. Samples 1 m apart are not two independent samples; consecutive days are not independent days; offspring of one mother are not independent of each other.</a:t>
            </a:r>
          </a:p>
          <a:p>
            <a:pPr lvl="0" indent="0" marL="0">
              <a:buNone/>
            </a:pPr>
            <a:r>
              <a:rPr/>
              <a:t>You have two options, and only two: </a:t>
            </a:r>
            <a:r>
              <a:rPr b="1"/>
              <a:t>space your samples beyond the correlation range</a:t>
            </a:r>
            <a:r>
              <a:rPr/>
              <a:t>, or </a:t>
            </a:r>
            <a:r>
              <a:rPr b="1"/>
              <a:t>model it</a:t>
            </a:r>
            <a:r>
              <a:rPr/>
              <a:t> (Week 10 onward).</a:t>
            </a:r>
          </a:p>
          <a:p>
            <a:pPr lvl="0" indent="0" marL="0">
              <a:buNone/>
            </a:pPr>
            <a:r>
              <a:rPr b="1"/>
              <a:t>Or — you stop fighting it and use it.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Blocking, and Our Paired Design</a:t>
            </a:r>
          </a:p>
        </p:txBody>
      </p:sp>
      <p:sp>
        <p:nvSpPr>
          <p:cNvPr id="3" name="Content Placeholder 2"/>
          <p:cNvSpPr>
            <a:spLocks noGrp="1"/>
          </p:cNvSpPr>
          <p:nvPr>
            <p:ph idx="1" sz="half"/>
          </p:nvPr>
        </p:nvSpPr>
        <p:spPr/>
        <p:txBody>
          <a:bodyPr/>
          <a:lstStyle/>
          <a:p>
            <a:pPr lvl="0" indent="0" marL="0">
              <a:buNone/>
            </a:pPr>
            <a:r>
              <a:rPr b="1"/>
              <a:t>Blocking:</a:t>
            </a:r>
            <a:r>
              <a:rPr/>
              <a:t> group units into sets that are alike, then randomize treatments </a:t>
            </a:r>
            <a:r>
              <a:rPr i="1"/>
              <a:t>within</a:t>
            </a:r>
            <a:r>
              <a:rPr/>
              <a:t> each set. Variation among blocks leaves the comparison instead of contaminating it.</a:t>
            </a:r>
          </a:p>
          <a:p>
            <a:pPr lvl="0"/>
            <a:r>
              <a:rPr/>
              <a:t>Chambers differ? Run every temperature in every chamber — </a:t>
            </a:r>
            <a:r>
              <a:rPr b="1"/>
              <a:t>block by chamber</a:t>
            </a:r>
          </a:p>
          <a:p>
            <a:pPr lvl="0"/>
            <a:r>
              <a:rPr/>
              <a:t>Days differ? Run all treatments each day — </a:t>
            </a:r>
            <a:r>
              <a:rPr b="1"/>
              <a:t>block by time</a:t>
            </a:r>
          </a:p>
          <a:p>
            <a:pPr lvl="0"/>
            <a:r>
              <a:rPr/>
              <a:t>Ridiculously variable sites? Put all treatments at each site</a:t>
            </a:r>
          </a:p>
          <a:p>
            <a:pPr lvl="0" indent="0" marL="1270000">
              <a:buNone/>
            </a:pPr>
            <a:r>
              <a:rPr sz="2000" b="1"/>
              <a:t>Important</a:t>
            </a:r>
          </a:p>
          <a:p>
            <a:pPr lvl="0" indent="0" marL="1270000">
              <a:buNone/>
            </a:pPr>
            <a:r>
              <a:rPr sz="2000" b="1"/>
              <a:t>✅ A paired design is a block of size two</a:t>
            </a:r>
          </a:p>
          <a:p>
            <a:pPr lvl="0" indent="0" marL="1270000">
              <a:buNone/>
            </a:pPr>
            <a:r>
              <a:rPr sz="2000"/>
              <a:t>Two sides of the </a:t>
            </a:r>
            <a:r>
              <a:rPr sz="2000" i="1"/>
              <a:t>same tree</a:t>
            </a:r>
            <a:r>
              <a:rPr sz="2000"/>
              <a:t> share genotype, soil, age and history. Pairing removes all of it from the comparison. That is why 7 trees do the work of 88.</a:t>
            </a:r>
          </a:p>
          <a:p>
            <a:pPr lvl="0" indent="0" marL="1270000">
              <a:buNone/>
            </a:pPr>
            <a:r>
              <a:rPr sz="2000" b="1"/>
              <a:t>Non-independence you ignore costs you. Non-independence you plan for pays you.</a:t>
            </a:r>
            <a:r>
              <a:rPr sz="2000"/>
              <a:t> Blocking is how you get paid.</a:t>
            </a:r>
          </a:p>
          <a:p>
            <a:pPr lvl="0" indent="0" marL="0">
              <a:buNone/>
            </a:pPr>
            <a:r>
              <a:rPr/>
              <a:t>Blocked designs need blocked </a:t>
            </a:r>
            <a:r>
              <a:rPr i="1"/>
              <a:t>analyses</a:t>
            </a:r>
            <a:r>
              <a:rPr/>
              <a:t> — Week 9 and Week 10.</a:t>
            </a:r>
          </a:p>
        </p:txBody>
      </p:sp>
      <p:pic>
        <p:nvPicPr>
          <p:cNvPr descr="study_design_sampling_lecture_files/figure-pptx/study-design-sampling-07-1.png" id="0" name="Picture 1"/>
          <p:cNvPicPr>
            <a:picLocks noGrp="1" noChangeAspect="1"/>
          </p:cNvPicPr>
          <p:nvPr/>
        </p:nvPicPr>
        <p:blipFill>
          <a:blip r:embed="rId2"/>
          <a:stretch>
            <a:fillRect/>
          </a:stretch>
        </p:blipFill>
        <p:spPr bwMode="auto">
          <a:xfrm>
            <a:off x="6121400" y="1663700"/>
            <a:ext cx="2781300" cy="24511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Sampling Layouts in the Field</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Simple Random and Stratified</a:t>
            </a:r>
          </a:p>
        </p:txBody>
      </p:sp>
      <p:sp>
        <p:nvSpPr>
          <p:cNvPr id="3" name="Content Placeholder 2"/>
          <p:cNvSpPr>
            <a:spLocks noGrp="1"/>
          </p:cNvSpPr>
          <p:nvPr>
            <p:ph idx="1" sz="half"/>
          </p:nvPr>
        </p:nvSpPr>
        <p:spPr/>
        <p:txBody>
          <a:bodyPr/>
          <a:lstStyle/>
          <a:p>
            <a:pPr lvl="0" indent="0" marL="0">
              <a:buNone/>
            </a:pPr>
            <a:r>
              <a:rPr b="1"/>
              <a:t>Simple random</a:t>
            </a:r>
            <a:r>
              <a:rPr/>
              <a:t> — every unit has an equal chance of selection. Number the units, draw with a random number generator.</a:t>
            </a:r>
          </a:p>
          <a:p>
            <a:pPr lvl="0"/>
            <a:r>
              <a:rPr/>
              <a:t>What nearly every test assumes you did</a:t>
            </a:r>
          </a:p>
          <a:p>
            <a:pPr lvl="0"/>
            <a:r>
              <a:rPr/>
              <a:t>Genuinely awkward in the field; </a:t>
            </a:r>
            <a:r>
              <a:rPr i="1"/>
              <a:t>haphazard</a:t>
            </a:r>
            <a:r>
              <a:rPr/>
              <a:t> is the common substitute, and it is not the same thing</a:t>
            </a:r>
          </a:p>
          <a:p>
            <a:pPr lvl="0" indent="0" marL="0">
              <a:buNone/>
            </a:pPr>
            <a:r>
              <a:rPr b="1"/>
              <a:t>Stratified</a:t>
            </a:r>
            <a:r>
              <a:rPr/>
              <a:t> — if the population has distinct strata, sample each one separately, with n proportional to stratum size.</a:t>
            </a:r>
          </a:p>
          <a:p>
            <a:pPr lvl="0"/>
            <a:r>
              <a:rPr b="1"/>
              <a:t>More precise than simple random</a:t>
            </a:r>
            <a:r>
              <a:rPr/>
              <a:t> when strata differ, because within-stratum variance is all that is left</a:t>
            </a:r>
          </a:p>
          <a:p>
            <a:pPr lvl="0"/>
            <a:r>
              <a:rPr/>
              <a:t>Strata must go </a:t>
            </a:r>
            <a:r>
              <a:rPr b="1"/>
              <a:t>into the model</a:t>
            </a:r>
            <a:r>
              <a:rPr/>
              <a:t>, not be ignored</a:t>
            </a:r>
          </a:p>
        </p:txBody>
      </p:sp>
      <p:pic>
        <p:nvPicPr>
          <p:cNvPr descr="images/clipboard-1715765919.png" id="0" name="Picture 1"/>
          <p:cNvPicPr>
            <a:picLocks noGrp="1" noChangeAspect="1"/>
          </p:cNvPicPr>
          <p:nvPr/>
        </p:nvPicPr>
        <p:blipFill>
          <a:blip r:embed="rId2"/>
          <a:stretch>
            <a:fillRect/>
          </a:stretch>
        </p:blipFill>
        <p:spPr bwMode="auto">
          <a:xfrm>
            <a:off x="6121400" y="2209800"/>
            <a:ext cx="2781300" cy="13843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Cluster and Systematic</a:t>
            </a:r>
          </a:p>
        </p:txBody>
      </p:sp>
      <p:sp>
        <p:nvSpPr>
          <p:cNvPr id="3" name="Content Placeholder 2"/>
          <p:cNvSpPr>
            <a:spLocks noGrp="1"/>
          </p:cNvSpPr>
          <p:nvPr>
            <p:ph idx="1" sz="half"/>
          </p:nvPr>
        </p:nvSpPr>
        <p:spPr/>
        <p:txBody>
          <a:bodyPr/>
          <a:lstStyle/>
          <a:p>
            <a:pPr lvl="0" indent="0" marL="0">
              <a:buNone/>
            </a:pPr>
            <a:r>
              <a:rPr b="1"/>
              <a:t>Cluster</a:t>
            </a:r>
            <a:r>
              <a:rPr/>
              <a:t> — sample subunits nested inside larger units. Used when travel or access makes anything else impossible.</a:t>
            </a:r>
          </a:p>
          <a:p>
            <a:pPr lvl="0"/>
            <a:r>
              <a:rPr/>
              <a:t>Cheap, and </a:t>
            </a:r>
            <a:r>
              <a:rPr b="1"/>
              <a:t>less</a:t>
            </a:r>
            <a:r>
              <a:rPr/>
              <a:t> precise than simple random for the same total n</a:t>
            </a:r>
          </a:p>
          <a:p>
            <a:pPr lvl="0"/>
            <a:r>
              <a:rPr/>
              <a:t>The clusters are your replicates → </a:t>
            </a:r>
            <a:r>
              <a:rPr b="1"/>
              <a:t>nested ANOVA</a:t>
            </a:r>
            <a:r>
              <a:rPr/>
              <a:t> (Week 9) or a mixed model (Week 10)</a:t>
            </a:r>
          </a:p>
          <a:p>
            <a:pPr lvl="0" indent="0" marL="0">
              <a:buNone/>
            </a:pPr>
            <a:r>
              <a:rPr b="1"/>
              <a:t>Systematic</a:t>
            </a:r>
            <a:r>
              <a:rPr/>
              <a:t> — units evenly spaced; the transect is the ecological classic.</a:t>
            </a:r>
          </a:p>
          <a:p>
            <a:pPr lvl="0"/>
            <a:r>
              <a:rPr/>
              <a:t>Ideal for describing change </a:t>
            </a:r>
            <a:r>
              <a:rPr b="1"/>
              <a:t>along a gradient</a:t>
            </a:r>
          </a:p>
          <a:p>
            <a:pPr lvl="0"/>
            <a:r>
              <a:rPr/>
              <a:t>One real risk: your spacing lines up with a periodicity in the system</a:t>
            </a:r>
          </a:p>
        </p:txBody>
      </p:sp>
      <p:pic>
        <p:nvPicPr>
          <p:cNvPr descr="images/clipboard-3497374488.png" id="0" name="Picture 1"/>
          <p:cNvPicPr>
            <a:picLocks noGrp="1" noChangeAspect="1"/>
          </p:cNvPicPr>
          <p:nvPr/>
        </p:nvPicPr>
        <p:blipFill>
          <a:blip r:embed="rId2"/>
          <a:stretch>
            <a:fillRect/>
          </a:stretch>
        </p:blipFill>
        <p:spPr bwMode="auto">
          <a:xfrm>
            <a:off x="6121400" y="2159000"/>
            <a:ext cx="2781300" cy="14732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Where Do You Spend the Money?</a:t>
            </a:r>
          </a:p>
        </p:txBody>
      </p:sp>
      <p:sp>
        <p:nvSpPr>
          <p:cNvPr id="3" name="Content Placeholder 2"/>
          <p:cNvSpPr>
            <a:spLocks noGrp="1"/>
          </p:cNvSpPr>
          <p:nvPr>
            <p:ph idx="1" sz="half"/>
          </p:nvPr>
        </p:nvSpPr>
        <p:spPr/>
        <p:txBody>
          <a:bodyPr/>
          <a:lstStyle/>
          <a:p>
            <a:pPr lvl="0" indent="0" marL="0">
              <a:buNone/>
            </a:pPr>
            <a:r>
              <a:rPr/>
              <a:t>A published study compares a </a:t>
            </a:r>
            <a:r>
              <a:rPr b="1"/>
              <a:t>heavily visited</a:t>
            </a:r>
            <a:r>
              <a:rPr/>
              <a:t> tidepool beach with a </a:t>
            </a:r>
            <a:r>
              <a:rPr b="1"/>
              <a:t>restricted, no-access</a:t>
            </a:r>
            <a:r>
              <a:rPr/>
              <a:t> beach. Invertebrate densities are lower, and 78.2% of boulders are disturbed at the visited beach versus 1.8% at the restricted one. Sampled once, this year.</a:t>
            </a:r>
          </a:p>
          <a:p>
            <a:pPr lvl="0" indent="0" marL="0">
              <a:buNone/>
            </a:pPr>
            <a:r>
              <a:rPr/>
              <a:t>You inherit this project with funding for </a:t>
            </a:r>
            <a:r>
              <a:rPr b="1"/>
              <a:t>exactly one more sampling campaign</a:t>
            </a:r>
            <a:r>
              <a:rPr/>
              <a:t>. You want to claim that </a:t>
            </a:r>
            <a:r>
              <a:rPr i="1"/>
              <a:t>visitors</a:t>
            </a:r>
            <a:r>
              <a:rPr/>
              <a:t> reduce invertebrate density.</a:t>
            </a:r>
          </a:p>
          <a:p>
            <a:pPr lvl="0" indent="0" marL="0">
              <a:buNone/>
            </a:pPr>
            <a:r>
              <a:rPr b="1"/>
              <a:t>Where do you spend it?</a:t>
            </a:r>
          </a:p>
          <a:p>
            <a:pPr lvl="0" indent="0" marL="0">
              <a:buNone/>
            </a:pPr>
            <a:r>
              <a:rPr b="1"/>
              <a:t>(a)</a:t>
            </a:r>
            <a:r>
              <a:rPr/>
              <a:t> More quadrats at both beaches — tighten the estimates you already have</a:t>
            </a:r>
          </a:p>
          <a:p>
            <a:pPr lvl="0" indent="0" marL="0">
              <a:buNone/>
            </a:pPr>
            <a:r>
              <a:rPr b="1"/>
              <a:t>(b)</a:t>
            </a:r>
            <a:r>
              <a:rPr/>
              <a:t> Add a third, intermediate-use beach — get a gradient</a:t>
            </a:r>
          </a:p>
          <a:p>
            <a:pPr lvl="0" indent="0" marL="0">
              <a:buNone/>
            </a:pPr>
            <a:r>
              <a:rPr b="1"/>
              <a:t>(c)</a:t>
            </a:r>
            <a:r>
              <a:rPr/>
              <a:t> Re-sample both beaches next year — get a time series</a:t>
            </a:r>
          </a:p>
          <a:p>
            <a:pPr lvl="0" indent="0" marL="0">
              <a:buNone/>
            </a:pPr>
            <a:r>
              <a:rPr b="1"/>
              <a:t>(d)</a:t>
            </a:r>
            <a:r>
              <a:rPr/>
              <a:t> No campaign can rescue this claim</a:t>
            </a:r>
          </a:p>
          <a:p>
            <a:pPr lvl="0" indent="0" marL="1270000">
              <a:buNone/>
            </a:pPr>
            <a:r>
              <a:rPr sz="2000" b="1"/>
              <a:t>Warning</a:t>
            </a:r>
          </a:p>
          <a:p>
            <a:pPr lvl="0" indent="0" marL="1270000">
              <a:buNone/>
            </a:pPr>
            <a:r>
              <a:rPr sz="2000" b="1"/>
              <a:t>✍️ One letter. Write it down.</a:t>
            </a:r>
          </a:p>
        </p:txBody>
      </p:sp>
      <p:pic>
        <p:nvPicPr>
          <p:cNvPr descr="images/clipboard-2300334690.png" id="0" name="Picture 1"/>
          <p:cNvPicPr>
            <a:picLocks noGrp="1" noChangeAspect="1"/>
          </p:cNvPicPr>
          <p:nvPr/>
        </p:nvPicPr>
        <p:blipFill>
          <a:blip r:embed="rId2"/>
          <a:stretch>
            <a:fillRect/>
          </a:stretch>
        </p:blipFill>
        <p:spPr bwMode="auto">
          <a:xfrm>
            <a:off x="6121400" y="1854200"/>
            <a:ext cx="2781300" cy="20955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BACI — When You Cannot Randomize an Impact</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(d)</a:t>
            </a:r>
            <a:r>
              <a:rPr sz="2000"/>
              <a:t>, and it is meant to be unsatisfying.</a:t>
            </a:r>
          </a:p>
          <a:p>
            <a:pPr lvl="0" indent="0" marL="1270000">
              <a:buNone/>
            </a:pPr>
            <a:r>
              <a:rPr sz="2000"/>
              <a:t>The two beaches may </a:t>
            </a:r>
            <a:r>
              <a:rPr sz="2000" i="1"/>
              <a:t>always</a:t>
            </a:r>
            <a:r>
              <a:rPr sz="2000"/>
              <a:t> have differed — in exposure, substrate, or wave energy — which is very likely </a:t>
            </a:r>
            <a:r>
              <a:rPr sz="2000" i="1"/>
              <a:t>why</a:t>
            </a:r>
            <a:r>
              <a:rPr sz="2000"/>
              <a:t> one became popular and one became restricted. </a:t>
            </a:r>
            <a:r>
              <a:rPr sz="2000" b="1"/>
              <a:t>You cannot add a “before” retroactively.</a:t>
            </a:r>
          </a:p>
          <a:p>
            <a:pPr lvl="0"/>
            <a:r>
              <a:rPr sz="2000" b="1"/>
              <a:t>(a)</a:t>
            </a:r>
            <a:r>
              <a:rPr sz="2000"/>
              <a:t> buys precision on a biased estimate</a:t>
            </a:r>
          </a:p>
          <a:p>
            <a:pPr lvl="0"/>
            <a:r>
              <a:rPr sz="2000" b="1"/>
              <a:t>(b)</a:t>
            </a:r>
            <a:r>
              <a:rPr sz="2000"/>
              <a:t> adds more sites confounded the same way</a:t>
            </a:r>
          </a:p>
          <a:p>
            <a:pPr lvl="0"/>
            <a:r>
              <a:rPr sz="2000" b="1"/>
              <a:t>(c)</a:t>
            </a:r>
            <a:r>
              <a:rPr sz="2000"/>
              <a:t> is the closest to useful, and it still has no pre-impact baseline</a:t>
            </a:r>
          </a:p>
          <a:p>
            <a:pPr lvl="0" indent="0" marL="0">
              <a:buNone/>
            </a:pPr>
            <a:r>
              <a:rPr b="1"/>
              <a:t>Before–After–Control–Impact</a:t>
            </a:r>
            <a:r>
              <a:rPr/>
              <a:t> is the design you needed:</a:t>
            </a:r>
          </a:p>
          <a:p>
            <a:pPr lvl="0"/>
            <a:r>
              <a:rPr/>
              <a:t>Measure </a:t>
            </a:r>
            <a:r>
              <a:rPr b="1"/>
              <a:t>before</a:t>
            </a:r>
            <a:r>
              <a:rPr/>
              <a:t> and </a:t>
            </a:r>
            <a:r>
              <a:rPr b="1"/>
              <a:t>after</a:t>
            </a:r>
            <a:r>
              <a:rPr/>
              <a:t>, at both an </a:t>
            </a:r>
            <a:r>
              <a:rPr b="1"/>
              <a:t>impact</a:t>
            </a:r>
            <a:r>
              <a:rPr/>
              <a:t> and a </a:t>
            </a:r>
            <a:r>
              <a:rPr b="1"/>
              <a:t>control</a:t>
            </a:r>
            <a:r>
              <a:rPr/>
              <a:t> site</a:t>
            </a:r>
          </a:p>
          <a:p>
            <a:pPr lvl="0"/>
            <a:r>
              <a:rPr/>
              <a:t>The evidence is the </a:t>
            </a:r>
            <a:r>
              <a:rPr b="1"/>
              <a:t>interaction</a:t>
            </a:r>
            <a:r>
              <a:rPr/>
              <a:t> — did impact-versus-control </a:t>
            </a:r>
            <a:r>
              <a:rPr i="1"/>
              <a:t>change</a:t>
            </a:r>
            <a:r>
              <a:rPr/>
              <a:t> from before to after?</a:t>
            </a:r>
          </a:p>
          <a:p>
            <a:pPr lvl="0"/>
            <a:r>
              <a:rPr/>
              <a:t>Before/after alone confounds impact with </a:t>
            </a:r>
            <a:r>
              <a:rPr b="1"/>
              <a:t>time</a:t>
            </a:r>
            <a:r>
              <a:rPr/>
              <a:t>. Control/impact alone confounds it with </a:t>
            </a:r>
            <a:r>
              <a:rPr b="1"/>
              <a:t>place</a:t>
            </a:r>
            <a:r>
              <a:rPr/>
              <a:t>. You need both.</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Why this matters beyond tidepools</a:t>
            </a:r>
          </a:p>
          <a:p>
            <a:pPr lvl="0" indent="0" marL="1270000">
              <a:buNone/>
            </a:pPr>
            <a:r>
              <a:rPr sz="2000"/>
              <a:t>Nobody randomizes an oil spill, a dam, a clearcut or a hurricane. BACI is how environmental impact assessment is </a:t>
            </a:r>
            <a:r>
              <a:rPr sz="2000" i="1"/>
              <a:t>supposed</a:t>
            </a:r>
            <a:r>
              <a:rPr sz="2000"/>
              <a:t> to work — and the reason baseline monitoring has value long before anyone knows what will hit.</a:t>
            </a:r>
          </a:p>
          <a:p>
            <a:pPr lvl="0" indent="0" marL="0">
              <a:buNone/>
            </a:pPr>
            <a:r>
              <a:rPr/>
              <a:t>BACI is a factorial design with an interaction → Week 9.</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Sample Size Is a Design Decision</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How Big, Decided Before You Start</a:t>
            </a:r>
          </a:p>
        </p:txBody>
      </p:sp>
      <p:sp>
        <p:nvSpPr>
          <p:cNvPr id="3" name="Content Placeholder 2"/>
          <p:cNvSpPr>
            <a:spLocks noGrp="1"/>
          </p:cNvSpPr>
          <p:nvPr>
            <p:ph idx="1" sz="half"/>
          </p:nvPr>
        </p:nvSpPr>
        <p:spPr/>
        <p:txBody>
          <a:bodyPr/>
          <a:lstStyle/>
          <a:p>
            <a:pPr lvl="0" indent="0" marL="0">
              <a:buNone/>
            </a:pPr>
            <a:r>
              <a:rPr/>
              <a:t>We did the mechanics last lecture. The design point is the one worth keeping:</a:t>
            </a:r>
          </a:p>
          <a:p>
            <a:pPr lvl="0"/>
            <a:r>
              <a:rPr/>
              <a:t>Power rises with the </a:t>
            </a:r>
            <a:r>
              <a:rPr b="1"/>
              <a:t>effect size</a:t>
            </a:r>
            <a:r>
              <a:rPr/>
              <a:t>, with </a:t>
            </a:r>
            <a:r>
              <a:rPr b="1"/>
              <a:t>√n</a:t>
            </a:r>
            <a:r>
              <a:rPr/>
              <a:t>, and with </a:t>
            </a:r>
            <a:r>
              <a:rPr b="1"/>
              <a:t>α</a:t>
            </a:r>
            <a:r>
              <a:rPr/>
              <a:t> — and falls as </a:t>
            </a:r>
            <a:r>
              <a:rPr b="1"/>
              <a:t>σ</a:t>
            </a:r>
            <a:r>
              <a:rPr/>
              <a:t> rises</a:t>
            </a:r>
          </a:p>
          <a:p>
            <a:pPr lvl="0"/>
            <a:r>
              <a:rPr b="1"/>
              <a:t>Type II error is β. Power is 1 − β.</a:t>
            </a:r>
          </a:p>
          <a:p>
            <a:pPr lvl="0"/>
            <a:r>
              <a:rPr/>
              <a:t>Two ways to run it </a:t>
            </a:r>
            <a:r>
              <a:rPr i="1"/>
              <a:t>a priori</a:t>
            </a:r>
            <a:r>
              <a:rPr/>
              <a:t>: solve for the </a:t>
            </a:r>
            <a:r>
              <a:rPr b="1"/>
              <a:t>n</a:t>
            </a:r>
            <a:r>
              <a:rPr/>
              <a:t> you need, or for the </a:t>
            </a:r>
            <a:r>
              <a:rPr b="1"/>
              <a:t>effect size</a:t>
            </a:r>
            <a:r>
              <a:rPr/>
              <a:t> your affordable n could detect</a:t>
            </a:r>
          </a:p>
          <a:p>
            <a:pPr lvl="0" indent="0">
              <a:buNone/>
            </a:pPr>
            <a:r>
              <a:rPr>
                <a:solidFill>
                  <a:srgbClr val="5E5E5E"/>
                </a:solidFill>
                <a:latin typeface="Courier"/>
              </a:rPr>
              <a:t># Our pine pilot, unpaired vs paired — same trees, same needles</a:t>
            </a:r>
            <a:br/>
            <a:r>
              <a:rPr>
                <a:solidFill>
                  <a:srgbClr val="4758AB"/>
                </a:solidFill>
                <a:latin typeface="Courier"/>
              </a:rPr>
              <a:t>pwr.t.test</a:t>
            </a:r>
            <a:r>
              <a:rPr>
                <a:solidFill>
                  <a:srgbClr val="003B4F"/>
                </a:solidFill>
                <a:latin typeface="Courier"/>
              </a:rPr>
              <a:t>(</a:t>
            </a:r>
            <a:r>
              <a:rPr>
                <a:solidFill>
                  <a:srgbClr val="657422"/>
                </a:solidFill>
                <a:latin typeface="Courier"/>
              </a:rPr>
              <a:t>d =</a:t>
            </a:r>
            <a:r>
              <a:rPr>
                <a:solidFill>
                  <a:srgbClr val="003B4F"/>
                </a:solidFill>
                <a:latin typeface="Courier"/>
              </a:rPr>
              <a:t> d_paired, </a:t>
            </a:r>
            <a:r>
              <a:rPr>
                <a:solidFill>
                  <a:srgbClr val="657422"/>
                </a:solidFill>
                <a:latin typeface="Courier"/>
              </a:rPr>
              <a:t>power =</a:t>
            </a:r>
            <a:r>
              <a:rPr>
                <a:solidFill>
                  <a:srgbClr val="003B4F"/>
                </a:solidFill>
                <a:latin typeface="Courier"/>
              </a:rPr>
              <a:t> </a:t>
            </a:r>
            <a:r>
              <a:rPr>
                <a:solidFill>
                  <a:srgbClr val="AD0000"/>
                </a:solidFill>
                <a:latin typeface="Courier"/>
              </a:rPr>
              <a:t>0.80</a:t>
            </a:r>
            <a:r>
              <a:rPr>
                <a:solidFill>
                  <a:srgbClr val="003B4F"/>
                </a:solidFill>
                <a:latin typeface="Courier"/>
              </a:rPr>
              <a:t>,</a:t>
            </a:r>
            <a:br/>
            <a:r>
              <a:rPr>
                <a:solidFill>
                  <a:srgbClr val="003B4F"/>
                </a:solidFill>
                <a:latin typeface="Courier"/>
              </a:rPr>
              <a:t>           </a:t>
            </a:r>
            <a:r>
              <a:rPr>
                <a:solidFill>
                  <a:srgbClr val="657422"/>
                </a:solidFill>
                <a:latin typeface="Courier"/>
              </a:rPr>
              <a:t>sig.level =</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20794D"/>
                </a:solidFill>
                <a:latin typeface="Courier"/>
              </a:rPr>
              <a:t>"paired"</a:t>
            </a:r>
            <a:r>
              <a:rPr>
                <a:solidFill>
                  <a:srgbClr val="003B4F"/>
                </a:solidFill>
                <a:latin typeface="Courier"/>
              </a:rPr>
              <a:t>)</a:t>
            </a:r>
            <a:r>
              <a:rPr>
                <a:solidFill>
                  <a:srgbClr val="5E5E5E"/>
                </a:solidFill>
                <a:latin typeface="Courier"/>
              </a:rPr>
              <a:t>$</a:t>
            </a:r>
            <a:r>
              <a:rPr>
                <a:solidFill>
                  <a:srgbClr val="003B4F"/>
                </a:solidFill>
                <a:latin typeface="Courier"/>
              </a:rPr>
              <a:t>n</a:t>
            </a:r>
          </a:p>
          <a:p>
            <a:pPr lvl="0" indent="0">
              <a:buNone/>
            </a:pPr>
            <a:r>
              <a:rPr>
                <a:latin typeface="Courier"/>
              </a:rPr>
              <a:t>[1] 6.406838</a:t>
            </a:r>
          </a:p>
          <a:p>
            <a:pPr lvl="0" indent="0" marL="0">
              <a:buNone/>
            </a:pPr>
            <a:r>
              <a:rPr b="1"/>
              <a:t>44 trees per side (88 total) unpaired, versus 7 trees paired.</a:t>
            </a:r>
            <a:r>
              <a:rPr/>
              <a:t> Nothing changed but the design.</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Plan for precision, not just for power</a:t>
            </a:r>
          </a:p>
          <a:p>
            <a:pPr lvl="0" indent="0" marL="1270000">
              <a:buNone/>
            </a:pPr>
            <a:r>
              <a:rPr sz="2000"/>
              <a:t>W&amp;S §14.6 frames this as planning the </a:t>
            </a:r>
            <a:r>
              <a:rPr sz="2000" b="1"/>
              <a:t>width of your confidence interval</a:t>
            </a:r>
            <a:r>
              <a:rPr sz="2000"/>
              <a:t>. “How precise will my estimate be?” is often the more honest question than “will I get a star?”</a:t>
            </a:r>
          </a:p>
          <a:p>
            <a:pPr lvl="0" indent="0" marL="1270000">
              <a:buNone/>
            </a:pPr>
            <a:r>
              <a:rPr sz="2000" b="1"/>
              <a:t>Important</a:t>
            </a:r>
          </a:p>
          <a:p>
            <a:pPr lvl="0" indent="0" marL="1270000">
              <a:buNone/>
            </a:pPr>
            <a:r>
              <a:rPr sz="2000" b="1"/>
              <a:t>⚠️ Retrospective power, one more time</a:t>
            </a:r>
          </a:p>
          <a:p>
            <a:pPr lvl="0" indent="0" marL="1270000">
              <a:buNone/>
            </a:pPr>
            <a:r>
              <a:rPr sz="2000"/>
              <a:t>Computing power from the effect size you </a:t>
            </a:r>
            <a:r>
              <a:rPr sz="2000" i="1"/>
              <a:t>observed</a:t>
            </a:r>
            <a:r>
              <a:rPr sz="2000"/>
              <a:t> re-expresses your p-value and tells you nothing new. Use it to plan the next study. To argue </a:t>
            </a:r>
            <a:r>
              <a:rPr sz="2000" i="1"/>
              <a:t>for</a:t>
            </a:r>
            <a:r>
              <a:rPr sz="2000"/>
              <a:t> no effect, use an equivalence test or a CI that excludes anything meaningful.</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Two Ways to Buy Power</a:t>
            </a:r>
          </a:p>
        </p:txBody>
      </p:sp>
      <p:pic>
        <p:nvPicPr>
          <p:cNvPr descr="images/clipboard-3944907188.png" id="0" name="Picture 1"/>
          <p:cNvPicPr>
            <a:picLocks noGrp="1" noChangeAspect="1"/>
          </p:cNvPicPr>
          <p:nvPr/>
        </p:nvPicPr>
        <p:blipFill>
          <a:blip r:embed="rId2"/>
          <a:stretch>
            <a:fillRect/>
          </a:stretch>
        </p:blipFill>
        <p:spPr bwMode="auto">
          <a:xfrm>
            <a:off x="1816100" y="660400"/>
            <a:ext cx="2387600" cy="44704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Same two levers, two views</a:t>
            </a:r>
          </a:p>
          <a:p>
            <a:pPr lvl="0" indent="0" marL="1270000">
              <a:buNone/>
            </a:pPr>
            <a:r>
              <a:rPr sz="2000"/>
              <a:t>Power climbs with the </a:t>
            </a:r>
            <a:r>
              <a:rPr sz="2000" b="1"/>
              <a:t>effect size</a:t>
            </a:r>
            <a:r>
              <a:rPr sz="2000"/>
              <a:t> you are chasing, and the </a:t>
            </a:r>
            <a:r>
              <a:rPr sz="2000" b="1"/>
              <a:t>detectable</a:t>
            </a:r>
            <a:r>
              <a:rPr sz="2000"/>
              <a:t> effect size falls as you add </a:t>
            </a:r>
            <a:r>
              <a:rPr sz="2000" b="1"/>
              <a:t>replicates</a:t>
            </a:r>
            <a:r>
              <a:rPr sz="2000"/>
              <a:t>. You choose one of them before the study; the other is then decided for you.</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8 · From Design to Analysis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Match the Design to the Analysis</a:t>
            </a:r>
          </a:p>
        </p:txBody>
      </p:sp>
      <p:sp>
        <p:nvSpPr>
          <p:cNvPr id="3" name="Content Placeholder 2"/>
          <p:cNvSpPr>
            <a:spLocks noGrp="1"/>
          </p:cNvSpPr>
          <p:nvPr>
            <p:ph idx="1" sz="half"/>
          </p:nvPr>
        </p:nvSpPr>
        <p:spPr/>
        <p:txBody>
          <a:bodyPr/>
          <a:lstStyle/>
          <a:p>
            <a:pPr lvl="0" indent="0" marL="0">
              <a:buNone/>
            </a:pPr>
            <a:r>
              <a:rPr/>
              <a:t>With your neighbour. Five designs. For each, name the </a:t>
            </a:r>
            <a:r>
              <a:rPr b="1"/>
              <a:t>analysis</a:t>
            </a:r>
            <a:r>
              <a:rPr/>
              <a:t> — from the list on the right — that it forces you into. You have met all five.</a:t>
            </a:r>
          </a:p>
          <a:p>
            <a:pPr lvl="0" indent="0" marL="0">
              <a:buNone/>
            </a:pPr>
            <a:r>
              <a:rPr b="1"/>
              <a:t>1.</a:t>
            </a:r>
            <a:r>
              <a:rPr/>
              <a:t> Needle length measured on 40 trees, along with the light reaching each tree, in lux.</a:t>
            </a:r>
          </a:p>
          <a:p>
            <a:pPr lvl="0" indent="0" marL="0">
              <a:buNone/>
            </a:pPr>
            <a:r>
              <a:rPr b="1"/>
              <a:t>2.</a:t>
            </a:r>
            <a:r>
              <a:rPr/>
              <a:t> Sea urchin grazing measured on 4 patches inside each of 16 reefs.</a:t>
            </a:r>
          </a:p>
          <a:p>
            <a:pPr lvl="0" indent="0" marL="0">
              <a:buNone/>
            </a:pPr>
            <a:r>
              <a:rPr b="1"/>
              <a:t>3.</a:t>
            </a:r>
            <a:r>
              <a:rPr/>
              <a:t> Barnacle settlement at 2 copper levels × 2 temperatures, fully crossed.</a:t>
            </a:r>
          </a:p>
          <a:p>
            <a:pPr lvl="0" indent="0" marL="0">
              <a:buNone/>
            </a:pPr>
            <a:r>
              <a:rPr b="1"/>
              <a:t>4.</a:t>
            </a:r>
            <a:r>
              <a:rPr/>
              <a:t> Number of ant species per quadrat — counts, many of them zero.</a:t>
            </a:r>
          </a:p>
          <a:p>
            <a:pPr lvl="0" indent="0" marL="0">
              <a:buNone/>
            </a:pPr>
            <a:r>
              <a:rPr b="1"/>
              <a:t>5.</a:t>
            </a:r>
            <a:r>
              <a:rPr/>
              <a:t> Fish mass compared between two lakes, with body length also measured and known to matter.</a:t>
            </a:r>
          </a:p>
          <a:p>
            <a:pPr lvl="0" indent="0" marL="1270000">
              <a:buNone/>
            </a:pPr>
            <a:r>
              <a:rPr sz="2000" b="1"/>
              <a:t>Tip</a:t>
            </a:r>
          </a:p>
          <a:p>
            <a:pPr lvl="0" indent="0" marL="1270000">
              <a:buNone/>
            </a:pPr>
            <a:r>
              <a:rPr sz="2000" b="1"/>
              <a:t>🖐 The tell</a:t>
            </a:r>
          </a:p>
          <a:p>
            <a:pPr lvl="0" indent="0" marL="1270000">
              <a:buNone/>
            </a:pPr>
            <a:r>
              <a:rPr sz="2000"/>
              <a:t>For each one, ask: </a:t>
            </a:r>
            <a:r>
              <a:rPr sz="2000" i="1"/>
              <a:t>how many predictors, what kind, and is anything nested inside anything else?</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Pick from these</a:t>
            </a:r>
          </a:p>
          <a:p>
            <a:pPr lvl="0"/>
            <a:r>
              <a:rPr sz="2000"/>
              <a:t>Regression</a:t>
            </a:r>
          </a:p>
          <a:p>
            <a:pPr lvl="0"/>
            <a:r>
              <a:rPr sz="2000"/>
              <a:t>Multiple regression</a:t>
            </a:r>
          </a:p>
          <a:p>
            <a:pPr lvl="0"/>
            <a:r>
              <a:rPr sz="2000"/>
              <a:t>One-way ANOVA</a:t>
            </a:r>
          </a:p>
          <a:p>
            <a:pPr lvl="0"/>
            <a:r>
              <a:rPr sz="2000"/>
              <a:t>Two-way ANOVA with interaction</a:t>
            </a:r>
          </a:p>
          <a:p>
            <a:pPr lvl="0"/>
            <a:r>
              <a:rPr sz="2000"/>
              <a:t>Nested ANOVA</a:t>
            </a:r>
          </a:p>
          <a:p>
            <a:pPr lvl="0"/>
            <a:r>
              <a:rPr sz="2000"/>
              <a:t>Mixed model</a:t>
            </a:r>
          </a:p>
          <a:p>
            <a:pPr lvl="0"/>
            <a:r>
              <a:rPr sz="2000"/>
              <a:t>GLM</a:t>
            </a:r>
          </a:p>
          <a:p>
            <a:pPr lvl="0"/>
            <a:r>
              <a:rPr sz="2000"/>
              <a:t>ANCOVA</a:t>
            </a:r>
          </a:p>
          <a:p>
            <a:pPr lvl="0" indent="0" marL="1270000">
              <a:buNone/>
            </a:pPr>
            <a:r>
              <a:rPr sz="2000" b="1"/>
              <a:t>Warning</a:t>
            </a:r>
          </a:p>
          <a:p>
            <a:pPr lvl="0" indent="0" marL="1270000">
              <a:buNone/>
            </a:pPr>
            <a:r>
              <a:rPr sz="2000" b="1"/>
              <a:t>✍️ Five answers, written down. Two minutes.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Your Design Chooses Your Analysis</a:t>
            </a:r>
          </a:p>
        </p:txBody>
      </p:sp>
      <p:sp>
        <p:nvSpPr>
          <p:cNvPr id="3" name="Content Placeholder 2"/>
          <p:cNvSpPr>
            <a:spLocks noGrp="1"/>
          </p:cNvSpPr>
          <p:nvPr>
            <p:ph idx="1"/>
          </p:nvPr>
        </p:nvSpPr>
        <p:spPr/>
        <p:txBody>
          <a:bodyPr/>
          <a:lstStyle/>
          <a:p>
            <a:pPr lvl="0" indent="0" marL="0">
              <a:buNone/>
            </a:pPr>
            <a:r>
              <a:rPr b="1"/>
              <a:t>Answers: 1</a:t>
            </a:r>
            <a:r>
              <a:rPr/>
              <a:t> regression · </a:t>
            </a:r>
            <a:r>
              <a:rPr b="1"/>
              <a:t>2</a:t>
            </a:r>
            <a:r>
              <a:rPr/>
              <a:t> nested ANOVA (or a mixed model) · </a:t>
            </a:r>
            <a:r>
              <a:rPr b="1"/>
              <a:t>3</a:t>
            </a:r>
            <a:r>
              <a:rPr/>
              <a:t> two-way ANOVA with interaction · </a:t>
            </a:r>
            <a:r>
              <a:rPr b="1"/>
              <a:t>4</a:t>
            </a:r>
            <a:r>
              <a:rPr/>
              <a:t> GLM · </a:t>
            </a:r>
            <a:r>
              <a:rPr b="1"/>
              <a:t>5</a:t>
            </a:r>
            <a:r>
              <a:rPr/>
              <a:t> ANCOVA.</a:t>
            </a:r>
          </a:p>
          <a:p>
            <a:pPr lvl="0" indent="0" marL="0">
              <a:buNone/>
            </a:pPr>
            <a:r>
              <a:rPr/>
              <a:t>This is Gotelli &amp; Ellison Ch. 7’s whole point, and it is also the rest of this course. </a:t>
            </a:r>
            <a:r>
              <a:rPr b="1"/>
              <a:t>Write the design down and the analysis is already decided:</a:t>
            </a:r>
          </a:p>
          <a:p>
            <a:pPr lvl="0" indent="0" marL="1270000">
              <a:buNone/>
            </a:pPr>
            <a:r>
              <a:rPr sz="2000" b="1"/>
              <a:t>Important</a:t>
            </a:r>
          </a:p>
          <a:p>
            <a:pPr lvl="0" indent="0" marL="1270000">
              <a:buNone/>
            </a:pPr>
            <a:r>
              <a:rPr sz="2000" b="1"/>
              <a:t>You cannot choose your analysis at the end</a:t>
            </a:r>
          </a:p>
          <a:p>
            <a:pPr lvl="0" indent="0" marL="1270000">
              <a:buNone/>
            </a:pPr>
            <a:r>
              <a:rPr sz="2000"/>
              <a:t>You chose it the day you decided what to measure and how to lay it out. Everything after that is bookkeeping.</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Summary</a:t>
            </a:r>
          </a:p>
        </p:txBody>
      </p:sp>
      <p:sp>
        <p:nvSpPr>
          <p:cNvPr id="3" name="Content Placeholder 2"/>
          <p:cNvSpPr>
            <a:spLocks noGrp="1"/>
          </p:cNvSpPr>
          <p:nvPr>
            <p:ph idx="1" sz="half"/>
          </p:nvPr>
        </p:nvSpPr>
        <p:spPr/>
        <p:txBody>
          <a:bodyPr/>
          <a:lstStyle/>
          <a:p>
            <a:pPr lvl="0" indent="-342900" marL="342900">
              <a:buAutoNum type="arabicPeriod"/>
            </a:pPr>
            <a:r>
              <a:rPr/>
              <a:t>A design has two jobs: </a:t>
            </a:r>
            <a:r>
              <a:rPr b="1"/>
              <a:t>kill bias</a:t>
            </a:r>
            <a:r>
              <a:rPr/>
              <a:t>, </a:t>
            </a:r>
            <a:r>
              <a:rPr b="1"/>
              <a:t>shrink sampling error</a:t>
            </a:r>
            <a:r>
              <a:rPr/>
              <a:t>. No test does either for you.</a:t>
            </a:r>
          </a:p>
          <a:p>
            <a:pPr lvl="0" indent="-342900" marL="342900">
              <a:buAutoNum type="arabicPeriod"/>
            </a:pPr>
            <a:r>
              <a:rPr b="1"/>
              <a:t>Bias</a:t>
            </a:r>
            <a:r>
              <a:rPr/>
              <a:t> → controls (usually more than one), randomization at both levels, blinding.</a:t>
            </a:r>
          </a:p>
          <a:p>
            <a:pPr lvl="0" indent="-342900" marL="342900">
              <a:buAutoNum type="arabicPeriod"/>
            </a:pPr>
            <a:r>
              <a:rPr b="1"/>
              <a:t>Sampling error</a:t>
            </a:r>
            <a:r>
              <a:rPr/>
              <a:t> → replication at the right scale, balance, blocking.</a:t>
            </a:r>
          </a:p>
          <a:p>
            <a:pPr lvl="0" indent="-342900" marL="342900">
              <a:buAutoNum type="arabicPeriod"/>
            </a:pPr>
            <a:r>
              <a:rPr b="1"/>
              <a:t>Natural experiments</a:t>
            </a:r>
            <a:r>
              <a:rPr/>
              <a:t> buy realism with causal ambiguity; manipulations buy inference with scale. Press or pulse, snapshot or trajectory — choose deliberately.</a:t>
            </a:r>
          </a:p>
          <a:p>
            <a:pPr lvl="0" indent="-342900" marL="342900">
              <a:buAutoNum type="arabicPeriod"/>
            </a:pPr>
            <a:r>
              <a:rPr b="1"/>
              <a:t>Replicate the thing your hypothesis is about.</a:t>
            </a:r>
            <a:r>
              <a:rPr/>
              <a:t> Pseudoreplication buys false precision.</a:t>
            </a:r>
          </a:p>
          <a:p>
            <a:pPr lvl="0" indent="-342900" marL="342900">
              <a:buAutoNum type="arabicPeriod"/>
            </a:pPr>
            <a:r>
              <a:rPr b="1"/>
              <a:t>Your design has already chosen your analysis.</a:t>
            </a:r>
          </a:p>
        </p:txBody>
      </p:sp>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The sponge slide, if you remember nothing else</a:t>
            </a:r>
          </a:p>
          <a:p>
            <a:pPr lvl="0" indent="0" marL="1270000">
              <a:buNone/>
            </a:pPr>
            <a:r>
              <a:rPr sz="2000"/>
              <a:t>The inert foam grew roots almost as well as the living sponges. Without that sham control, the paper reports a sponge effect — correctly analysed, properly significant, and wrong.</a:t>
            </a:r>
          </a:p>
          <a:p>
            <a:pPr lvl="0" indent="0" marL="1270000">
              <a:buNone/>
            </a:pPr>
            <a:r>
              <a:rPr sz="2000"/>
              <a:t>Design is not the paperwork before the science. It </a:t>
            </a:r>
            <a:r>
              <a:rPr sz="2000" i="1"/>
              <a:t>is</a:t>
            </a:r>
            <a:r>
              <a:rPr sz="2000"/>
              <a:t> the science.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 One Last Decision — On Your Way Out</a:t>
            </a:r>
          </a:p>
        </p:txBody>
      </p:sp>
      <p:sp>
        <p:nvSpPr>
          <p:cNvPr id="3" name="Content Placeholder 2"/>
          <p:cNvSpPr>
            <a:spLocks noGrp="1"/>
          </p:cNvSpPr>
          <p:nvPr>
            <p:ph idx="1"/>
          </p:nvPr>
        </p:nvSpPr>
        <p:spPr/>
        <p:txBody>
          <a:bodyPr/>
          <a:lstStyle/>
          <a:p>
            <a:pPr lvl="0" indent="0" marL="1270000">
              <a:buNone/>
            </a:pPr>
            <a:r>
              <a:rPr sz="2000" b="1"/>
              <a:t>Warning</a:t>
            </a:r>
          </a:p>
          <a:p>
            <a:pPr lvl="0" indent="0" marL="1270000">
              <a:buNone/>
            </a:pPr>
            <a:r>
              <a:rPr sz="2000" b="1"/>
              <a:t>🗳️ One last decision — on your way out</a:t>
            </a:r>
          </a:p>
          <a:p>
            <a:pPr lvl="0" indent="0" marL="1270000">
              <a:buNone/>
            </a:pPr>
            <a:r>
              <a:rPr sz="2000"/>
              <a:t>On a scrap of paper, unsigned:</a:t>
            </a:r>
          </a:p>
          <a:p>
            <a:pPr lvl="0" indent="0" marL="1270000">
              <a:buNone/>
            </a:pPr>
            <a:r>
              <a:rPr sz="2000" b="1"/>
              <a:t>What is the single biggest threat to the validity of our own pine needle study — and what one change would you make to next year’s collection?</a:t>
            </a:r>
          </a:p>
          <a:p>
            <a:pPr lvl="0" indent="0" marL="1270000">
              <a:buNone/>
            </a:pPr>
            <a:r>
              <a:rPr sz="2000"/>
              <a:t>One sentence each. Hand it to me at the door.</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Readings</a:t>
            </a:r>
          </a:p>
        </p:txBody>
      </p:sp>
      <p:sp>
        <p:nvSpPr>
          <p:cNvPr id="3" name="Content Placeholder 2"/>
          <p:cNvSpPr>
            <a:spLocks noGrp="1"/>
          </p:cNvSpPr>
          <p:nvPr>
            <p:ph idx="1"/>
          </p:nvPr>
        </p:nvSpPr>
        <p:spPr/>
        <p:txBody>
          <a:bodyPr/>
          <a:lstStyle/>
          <a:p>
            <a:pPr lvl="0"/>
            <a:r>
              <a:rPr b="1"/>
              <a:t>Whitlock &amp; Schluter</a:t>
            </a:r>
            <a:r>
              <a:rPr/>
              <a:t>, Ch. 14 — Designing Experiments (§14.4 bias; §14.5 sampling error; §14.6 planning for precision; §14.7 observational studies), and Ch. 1 — Statistics and Samples.</a:t>
            </a:r>
          </a:p>
          <a:p>
            <a:pPr lvl="0"/>
            <a:r>
              <a:rPr b="1"/>
              <a:t>Gotelli &amp; Ellison</a:t>
            </a:r>
            <a:r>
              <a:rPr/>
              <a:t>, Ch. 6 — Designing Successful Field Studies, and Ch. 7 — A Bestiary of Experimental and Sampling Designs.</a:t>
            </a:r>
          </a:p>
          <a:p>
            <a:pPr lvl="0"/>
            <a:r>
              <a:rPr/>
              <a:t>Hurlbert, S. H. (1984). Pseudoreplication and the design of ecological field experiments. </a:t>
            </a:r>
            <a:r>
              <a:rPr i="1"/>
              <a:t>Ecological Monographs</a:t>
            </a:r>
            <a:r>
              <a:rPr/>
              <a:t>, 54(2), 187–211.</a:t>
            </a:r>
          </a:p>
          <a:p>
            <a:pPr lvl="0"/>
            <a:r>
              <a:rPr/>
              <a:t>Ellison, A. M., Farnsworth, E. J., &amp; Twilley, R. R. (1996). Facultative mutualism between red mangroves and root-fouling sponges in Belizean mangal. </a:t>
            </a:r>
            <a:r>
              <a:rPr i="1"/>
              <a:t>Ecology</a:t>
            </a:r>
            <a:r>
              <a:rPr/>
              <a:t>, 77(8), 2431–2444.</a:t>
            </a:r>
          </a:p>
          <a:p>
            <a:pPr lvl="0"/>
            <a:r>
              <a:rPr/>
              <a:t>Quinn, G. P., &amp; Keough, M. J. (2002). </a:t>
            </a:r>
            <a:r>
              <a:rPr i="1"/>
              <a:t>Experimental Design and Data Analysis for Biologists</a:t>
            </a:r>
            <a:r>
              <a:rPr/>
              <a:t>. Cambridge University Press.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Study Design &amp; Sampling</dc:title>
  <dc:creator>Bill Perry</dc:creator>
  <cp:keywords/>
  <dc:description>Bias versus sampling error as the two jobs of a design: controls, randomization and blinding against bias; replication, balance and blocking against sampling error. Natural versus manipulative experiments, press and pulse designs, sampling layouts, BACI, and how each design maps onto the analysis we will run later.</dc:description>
  <dcterms:created xsi:type="dcterms:W3CDTF">2026-10-05T16:39:32Z</dcterms:created>
  <dcterms:modified xsi:type="dcterms:W3CDTF">2026-10-05T16:39:32Z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9</vt:lpwstr>
  </property>
  <property fmtid="{D5CDD505-2E9C-101B-9397-08002B2CF9AE}" pid="14" name="resources">
    <vt:lpwstr/>
  </property>
  <property fmtid="{D5CDD505-2E9C-101B-9397-08002B2CF9AE}" pid="15" name="subtitle">
    <vt:lpwstr>Designing studies</vt:lpwstr>
  </property>
  <property fmtid="{D5CDD505-2E9C-101B-9397-08002B2CF9AE}" pid="16" name="toc-title">
    <vt:lpwstr>Table of contents</vt:lpwstr>
  </property>
  <property fmtid="{D5CDD505-2E9C-101B-9397-08002B2CF9AE}" pid="17" name="week">
    <vt:lpwstr>5</vt:lpwstr>
  </property>
</Properties>
</file>