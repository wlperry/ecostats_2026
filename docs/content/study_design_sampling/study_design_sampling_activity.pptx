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 and sampling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8: Study Design and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activity demonstrates key concepts in experimental design using a made up fish example:</a:t>
            </a:r>
          </a:p>
          <a:p>
            <a:pPr lvl="0" indent="-342900" marL="342900">
              <a:buAutoNum type="arabicPeriod"/>
            </a:pPr>
            <a:r>
              <a:rPr b="1"/>
              <a:t>Formulating research questions</a:t>
            </a:r>
          </a:p>
          <a:p>
            <a:pPr lvl="0" indent="-342900" marL="342900">
              <a:buAutoNum type="arabicPeriod"/>
            </a:pPr>
            <a:r>
              <a:rPr b="1"/>
              <a:t>Understanding study designs</a:t>
            </a:r>
          </a:p>
          <a:p>
            <a:pPr lvl="0" indent="-342900" marL="342900">
              <a:buAutoNum type="arabicPeriod"/>
            </a:pPr>
            <a:r>
              <a:rPr b="1"/>
              <a:t>Recognizing proper replication vs. pseudoreplication</a:t>
            </a:r>
          </a:p>
          <a:p>
            <a:pPr lvl="0" indent="-342900" marL="342900">
              <a:buAutoNum type="arabicPeriod"/>
            </a:pPr>
            <a:r>
              <a:rPr b="1"/>
              <a:t>Conducting power analysis</a:t>
            </a:r>
            <a:r>
              <a:rPr/>
              <a:t> (before and after data collection)</a:t>
            </a:r>
          </a:p>
          <a:p>
            <a:pPr lvl="0" indent="-342900" marL="342900">
              <a:buAutoNum type="arabicPeriod"/>
            </a:pPr>
            <a:r>
              <a:rPr b="1"/>
              <a:t>Planning sampling strategies</a:t>
            </a:r>
          </a:p>
          <a:p>
            <a:pPr lvl="0" indent="0" marL="0">
              <a:buNone/>
            </a:pPr>
            <a:r>
              <a:rPr/>
              <a:t>We’ll study fish mass above and below waterfalls across multiple streams.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(pwr)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Main Question:</a:t>
            </a:r>
            <a:r>
              <a:rPr/>
              <a:t> Do waterfalls affect fish mass in stream ecosystems?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Fish below waterfalls are larger due to better feeding opportunities from nutrients and prey from the lake.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Study Design - Natural Experiment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sample fish above and below waterfalls in 6 different streams. This represents a “natural experiment” since we can’t manipulate waterfall presence.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fish data from streams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ADJUST THESE VARIABLES TO EXPLORE DIFFERENT SCENARIOS: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n_streams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Number of streams to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n_fish_per_site &lt;-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Number of fish per site (above/below)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waterfall_effect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Effect size: how much larger fish are below (in grams)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Stream characteristics (baseline means will be generated)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(n_streams,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Random baseline for each stream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"below"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n_streams),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fish_id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(n_streams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(stream_df,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"stream_id"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waterfall = stream baseline, below = baseline + effect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expected_mass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(position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stream_mean, stream_mean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waterfall_effect),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expected_mass,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(stream_id, position, fish_id, 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(f_df,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4
   stream_id position fish_id mass_g
       &lt;int&gt; &lt;chr&gt;      &lt;int&gt;  &lt;dbl&gt;
 1         1 above          1   90.6
 2         1 above          2  110. 
 3         1 above          3   90.7
 4         1 above          4  116. 
 5         1 above          5   91.1
 6         1 above          6  108. 
 7         1 below          7  134. 
 8         1 below          8   90.2
 9         1 below          9  104. 
10         1 below         10  105. 
11         1 below         11  114. 
12         1 below         12  103.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basic_plot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position))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 Relative to Waterfall"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basic_plot</a:t>
            </a:r>
          </a:p>
        </p:txBody>
      </p:sp>
      <p:pic>
        <p:nvPicPr>
          <p:cNvPr descr="study_design_sampling_activity_files/figure-pptx/bas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data by individual streams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stream_id,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(stream_id)))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stream_id)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</a:t>
            </a:r>
          </a:p>
        </p:txBody>
      </p:sp>
      <p:pic>
        <p:nvPicPr>
          <p:cNvPr descr="study_design_sampling_activity_files/figure-pptx/stream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Replication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the experimental unit here?</a:t>
            </a:r>
          </a:p>
          <a:p>
            <a:pPr lvl="0" indent="0" marL="1270000">
              <a:buNone/>
            </a:pPr>
            <a:r>
              <a:rPr sz="2000" b="1"/>
              <a:t>Activity 1: Identify the Experimental Unit</a:t>
            </a:r>
          </a:p>
          <a:p>
            <a:pPr lvl="0" indent="0" marL="1270000">
              <a:buNone/>
            </a:pPr>
            <a:r>
              <a:rPr sz="2000" b="1"/>
              <a:t>Question:</a:t>
            </a:r>
            <a:r>
              <a:rPr sz="2000"/>
              <a:t> In our fish study, what is the true experimental unit?</a:t>
            </a:r>
          </a:p>
          <a:p>
            <a:pPr lvl="0" indent="-342900" marL="342900">
              <a:buAutoNum type="alphaUcParenR"/>
            </a:pPr>
            <a:r>
              <a:rPr sz="2000"/>
              <a:t>Individual fish</a:t>
            </a:r>
          </a:p>
          <a:p>
            <a:pPr lvl="0" indent="-342900" marL="342900">
              <a:buAutoNum type="alphaUcParenR"/>
            </a:pPr>
            <a:r>
              <a:rPr sz="2000"/>
              <a:t>Stream locations (above/below pairs)</a:t>
            </a:r>
          </a:p>
          <a:p>
            <a:pPr lvl="0" indent="-342900" marL="342900">
              <a:buAutoNum type="alphaUcParenR"/>
            </a:pPr>
            <a:r>
              <a:rPr sz="2000"/>
              <a:t>Individual streams</a:t>
            </a:r>
          </a:p>
          <a:p>
            <a:pPr lvl="0" indent="-342900" marL="342900">
              <a:buAutoNum type="alphaUcParenR"/>
            </a:pPr>
            <a:r>
              <a:rPr sz="2000"/>
              <a:t>All fish combined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Pseudoreplication Example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WRONG analysis: treating all fish as independent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ignores that fish within streams may be similar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pseudo_test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position
t = -4.2726, df = 56.515, p-value = 7.488e-05
alternative hypothesis: true difference in means between group above and group below is not equal to 0
95 percent confidence interval:
 -24.308784  -8.792322
sample estimates:
mean in group above mean in group below 
           85.88446           102.43501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CORRECT analysis: average by stream first, then compare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stream_means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(stream_id, 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Reshape for paired analysis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stream_wide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mean_mass)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proper_test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below,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proper_test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stream_wide$below and stream_wide$above
t = 3.1164, df = 4, p-value = 0.03565
alternative hypothesis: true mean difference is not equal to 0
95 percent confidence interval:
  1.805299 31.295806
sample estimates:
mean difference 
       16.55055 </a:t>
            </a:r>
          </a:p>
          <a:p>
            <a:pPr lvl="0" indent="0" marL="0">
              <a:buNone/>
            </a:pPr>
            <a:r>
              <a:rPr/>
              <a:t>The proper analysis uses </a:t>
            </a:r>
            <a:r>
              <a:rPr b="1"/>
              <a:t>streams as replicates</a:t>
            </a:r>
            <a:r>
              <a:rPr/>
              <a:t> (n = 6), not individual fish (n = 36 per group).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Power Analysis - Planning Phase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how many streams we need to detect a meaningful difference. The effect size here is called Cohen’s D measures the difference between two group means in terms of standard deviations. It helps to understand the magnitude of a difference beyond statistical significance by expressing the distance between means as a standardized value. For example, a Cohen’s d of 0.2 is considered a small effect, 0.5 a moderate effect, and 0.8 a large effect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Expected values based on pilot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110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required sample size for 80%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7.171657
              d = 1.25
      sig.level = 0.05
          power = 0.8
    alternative = two.sided
NOTE: n is number of *pairs*</a:t>
            </a:r>
          </a:p>
          <a:p>
            <a:pPr lvl="0" indent="0" marL="0">
              <a:buNone/>
            </a:pPr>
            <a:r>
              <a:rPr/>
              <a:t>We need at least </a:t>
            </a:r>
            <a:r>
              <a:rPr>
                <a:latin typeface="Courier"/>
              </a:rPr>
              <a:t>7</a:t>
            </a:r>
            <a:r>
              <a:rPr/>
              <a:t> streams for 80% power.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Power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how power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power_curve_df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(power_curve_df,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Streams"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</a:t>
            </a:r>
          </a:p>
        </p:txBody>
      </p:sp>
      <p:pic>
        <p:nvPicPr>
          <p:cNvPr descr="study_design_sampling_activity_files/figure-pptx/power_curv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Power Exploration</a:t>
            </a:r>
          </a:p>
          <a:p>
            <a:pPr lvl="0" indent="0" marL="1270000">
              <a:buNone/>
            </a:pPr>
            <a:r>
              <a:rPr sz="2000"/>
              <a:t>Change the values below to see how power changes: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Experiment with different scenarios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What happens to required sample size if the effect is smaller (below_mean = 95)?</a:t>
            </a:r>
          </a:p>
          <a:p>
            <a:pPr lvl="0" indent="-342900" marL="342900">
              <a:buAutoNum type="arabicPeriod"/>
            </a:pPr>
            <a:r>
              <a:rPr sz="2000"/>
              <a:t>What if variation is higher (pooled_sd = 30)?</a:t>
            </a:r>
          </a:p>
          <a:p>
            <a:pPr lvl="0" indent="-342900" marL="342900">
              <a:buAutoNum type="arabicPeriod"/>
            </a:pPr>
            <a:r>
              <a:rPr sz="2000"/>
              <a:t>What if we want 90% power instead of 80%?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Post-Hoc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analyze the power we actually had with our 6 streams.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observed effect size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observed_above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observed_below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observed_below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observed_above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observed_effect &lt;- observed_diff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observed_sd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observed_effect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1.393684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power did we actually have?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actual_power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observed_effect,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actual_power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6
              d = 1.393684
      sig.level = 0.05
          power = 0.7778318
    alternative = two.sided
NOTE: n is number of *pairs*</a:t>
            </a:r>
          </a:p>
          <a:p>
            <a:pPr lvl="0" indent="0" marL="0">
              <a:buNone/>
            </a:pPr>
            <a:r>
              <a:rPr/>
              <a:t>With 6 streams, we had </a:t>
            </a:r>
            <a:r>
              <a:rPr>
                <a:latin typeface="Courier"/>
              </a:rPr>
              <a:t>100</a:t>
            </a:r>
            <a:r>
              <a:rPr/>
              <a:t>% power to detect the effect we observed.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7:</a:t>
            </a:r>
            <a:r>
              <a:rPr/>
              <a:t> Alternative Analysis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Unpaired t-test (ignoring pairing)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if we ignored the stream pairing?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(mean_mass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stream_means)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mean_mass by position
t = -2.7496, df = 7.0247, p-value = 0.02842
alternative hypothesis: true difference in means between group above and group below is not equal to 0
95 percent confidence interval:
 -30.773874  -2.327232
sample estimates:
mean in group above mean in group below 
           85.88446           102.43501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summary by position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n_fish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(n_fish)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n_fish mean_mass sd_mass se_mass
  &lt;chr&gt;     &lt;int&gt;     &lt;dbl&gt;   &lt;dbl&gt;   &lt;dbl&gt;
1 above        30      85.9    16.2    2.95
2 below        30     102.     13.7    2.51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 by stream (proper replication level)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stream_summary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(n_streams)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stream_summary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n_streams mean_mass sd_mass se_mass
  &lt;chr&gt;        &lt;int&gt;     &lt;dbl&gt;   &lt;dbl&gt;   &lt;dbl&gt;
1 above            5      85.9      NA      NA
2 below            5     102.       NA      NA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8:</a:t>
            </a:r>
            <a:r>
              <a:rPr/>
              <a:t> Design Your Own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Study Design Practice</a:t>
            </a:r>
          </a:p>
          <a:p>
            <a:pPr lvl="0" indent="0" marL="1270000">
              <a:buNone/>
            </a:pPr>
            <a:r>
              <a:rPr sz="2000" b="1"/>
              <a:t>Scenario:</a:t>
            </a:r>
            <a:r>
              <a:rPr sz="2000"/>
              <a:t> You want to study if fish size differs between fast and slow water areas.</a:t>
            </a:r>
          </a:p>
          <a:p>
            <a:pPr lvl="0" indent="0" marL="1270000">
              <a:buNone/>
            </a:pPr>
            <a:r>
              <a:rPr sz="2000" b="1"/>
              <a:t>Design Questions:</a:t>
            </a:r>
          </a:p>
          <a:p>
            <a:pPr lvl="0" indent="-342900" marL="342900">
              <a:buAutoNum type="arabicPeriod"/>
            </a:pPr>
            <a:r>
              <a:rPr sz="2000" b="1"/>
              <a:t>What is your experimental unit?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How many replicates do you need? Use these values:</a:t>
            </a:r>
          </a:p>
          <a:p>
            <a:pPr lvl="1"/>
            <a:r>
              <a:rPr sz="2000"/>
              <a:t>Fast water mean: 75g</a:t>
            </a:r>
          </a:p>
          <a:p>
            <a:pPr lvl="1"/>
            <a:r>
              <a:rPr sz="2000"/>
              <a:t>Slow water mean: 85g</a:t>
            </a:r>
            <a:br/>
          </a:p>
          <a:p>
            <a:pPr lvl="1"/>
            <a:r>
              <a:rPr sz="2000"/>
              <a:t>Standard deviation: 15g</a:t>
            </a:r>
          </a:p>
          <a:p>
            <a:pPr lvl="1"/>
            <a:r>
              <a:rPr sz="2000"/>
              <a:t>Desired power: 80%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your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fast_mean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slow_mean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sd_val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fast_mean)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sd_val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or "paired" if appropriate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-342900" marL="342900">
              <a:buAutoNum startAt="3" type="arabicPeriod"/>
            </a:pPr>
            <a:r>
              <a:rPr sz="2000" b="1"/>
              <a:t>What could cause pseudoreplication in this design?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startAt="3" type="arabicPeriod"/>
            </a:pPr>
            <a:r>
              <a:rPr sz="2000" b="1"/>
              <a:t>How would you avoid it?</a:t>
            </a:r>
            <a:r>
              <a:rPr sz="2000"/>
              <a:t> 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Points:</a:t>
            </a:r>
          </a:p>
          <a:p>
            <a:pPr lvl="0"/>
            <a:r>
              <a:rPr b="1"/>
              <a:t>Experimental unit</a:t>
            </a:r>
            <a:r>
              <a:rPr/>
              <a:t>: The thing that receives the treatment independently</a:t>
            </a:r>
          </a:p>
          <a:p>
            <a:pPr lvl="0"/>
            <a:r>
              <a:rPr b="1"/>
              <a:t>Replication</a:t>
            </a:r>
            <a:r>
              <a:rPr/>
              <a:t>: Must be at the level of the experimental unit</a:t>
            </a:r>
          </a:p>
          <a:p>
            <a:pPr lvl="0"/>
            <a:r>
              <a:rPr b="1"/>
              <a:t>Power analysis</a:t>
            </a:r>
            <a:r>
              <a:rPr/>
              <a:t>: Plan sample size before collecting data</a:t>
            </a:r>
          </a:p>
          <a:p>
            <a:pPr lvl="0"/>
            <a:r>
              <a:rPr b="1"/>
              <a:t>Paired vs unpaired</a:t>
            </a:r>
            <a:r>
              <a:rPr/>
              <a:t>: Paired tests are more powerful when appropriate</a:t>
            </a:r>
          </a:p>
          <a:p>
            <a:pPr lvl="0"/>
            <a:r>
              <a:rPr b="1"/>
              <a:t>Effect size</a:t>
            </a:r>
            <a:r>
              <a:rPr/>
              <a:t>: Larger effects need fewer samples to detect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Mistakes:</a:t>
            </a:r>
          </a:p>
          <a:p>
            <a:pPr lvl="0"/>
            <a:r>
              <a:rPr/>
              <a:t>Treating subsamples as independent replicates</a:t>
            </a:r>
          </a:p>
          <a:p>
            <a:pPr lvl="0"/>
            <a:r>
              <a:rPr/>
              <a:t>Analyzing data at the wrong level</a:t>
            </a:r>
          </a:p>
          <a:p>
            <a:pPr lvl="0"/>
            <a:r>
              <a:rPr/>
              <a:t>Collecting data before planning analysis</a:t>
            </a:r>
          </a:p>
          <a:p>
            <a:pPr lvl="0"/>
            <a:r>
              <a:rPr/>
              <a:t>Ignoring natural pairing in the design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Hands-on activity: experimental design and sampling.</dc:description>
  <dcterms:created xsi:type="dcterms:W3CDTF">2026-08-19T20:15:55Z</dcterms:created>
  <dcterms:modified xsi:type="dcterms:W3CDTF">2026-08-19T20:15:55Z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Design and sampling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