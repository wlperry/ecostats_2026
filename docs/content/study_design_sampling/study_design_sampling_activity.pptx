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5" Type="http://schemas.openxmlformats.org/officeDocument/2006/relationships/viewProps" Target="viewProps.xml" /><Relationship Id="rId14" Type="http://schemas.openxmlformats.org/officeDocument/2006/relationships/presProps" Target="presProps.xml" /><Relationship Id="rId1" Type="http://schemas.openxmlformats.org/officeDocument/2006/relationships/slideMaster" Target="slideMasters/slideMaster1.xml" /><Relationship Id="rId17" Type="http://schemas.openxmlformats.org/officeDocument/2006/relationships/tableStyles" Target="tableStyles.xml" /><Relationship Id="rId1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Activity: Study Design &amp; Sampling</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Design and sampling</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Worksheet: Study Design and Power Analysis</a:t>
            </a:r>
          </a:p>
        </p:txBody>
      </p:sp>
      <p:sp>
        <p:nvSpPr>
          <p:cNvPr id="3" name="Content Placeholder 2"/>
          <p:cNvSpPr>
            <a:spLocks noGrp="1"/>
          </p:cNvSpPr>
          <p:nvPr>
            <p:ph idx="1"/>
          </p:nvPr>
        </p:nvSpPr>
        <p:spPr/>
        <p:txBody>
          <a:bodyPr/>
          <a:lstStyle/>
          <a:p>
            <a:pPr lvl="0" indent="0" marL="0">
              <a:spcBef>
                <a:spcPts val="3000"/>
              </a:spcBef>
              <a:buNone/>
            </a:pPr>
            <a:r>
              <a:rPr sz="2000" b="1"/>
              <a:t>How to use this worksheet</a:t>
            </a:r>
          </a:p>
          <a:p>
            <a:pPr lvl="0" indent="0" marL="1270000">
              <a:buNone/>
            </a:pPr>
            <a:r>
              <a:rPr sz="2000"/>
              <a:t>Work through each part in order, at your own pace. Type every line of code yourself into a </a:t>
            </a:r>
            <a:r>
              <a:rPr sz="2000" b="1"/>
              <a:t>plain R script</a:t>
            </a:r>
            <a:r>
              <a:rPr sz="2000"/>
              <a:t> — do not copy-paste. Blocks marked </a:t>
            </a:r>
            <a:r>
              <a:rPr sz="2000" b="1"/>
              <a:t>▶ Run this</a:t>
            </a:r>
            <a:r>
              <a:rPr sz="2000"/>
              <a:t> are code you should type and execute. Blocks marked </a:t>
            </a:r>
            <a:r>
              <a:rPr sz="2000" b="1"/>
              <a:t>✏️ Your turn</a:t>
            </a:r>
            <a:r>
              <a:rPr sz="2000"/>
              <a:t> ask you to write, modify, or answer something. Boxes marked </a:t>
            </a:r>
            <a:r>
              <a:rPr sz="2000" b="1"/>
              <a:t>🚀 If you finish early</a:t>
            </a:r>
            <a:r>
              <a:rPr sz="2000"/>
              <a:t> are optional bonus material that goes a bit further than what we covered in lecture.</a:t>
            </a:r>
          </a:p>
          <a:p>
            <a:pPr lvl="0" indent="0" marL="1270000">
              <a:buNone/>
            </a:pPr>
            <a:r>
              <a:rPr sz="2000"/>
              <a:t>This worksheet uses a </a:t>
            </a:r>
            <a:r>
              <a:rPr sz="2000" i="1"/>
              <a:t>simulated</a:t>
            </a:r>
            <a:r>
              <a:rPr sz="2000"/>
              <a:t> fish dataset — we build the data ourselves in R, rather than loading a file — so you can see exactly what assumptions go into it. We’ll study fish mass above and below waterfalls across multiple streams, and use it to practice recognizing proper replication vs. pseudoreplication and running power analysis before and after data collection.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 · Setup and the Research Question</a:t>
            </a:r>
          </a:p>
        </p:txBody>
      </p:sp>
      <p:sp>
        <p:nvSpPr>
          <p:cNvPr id="3" name="Content Placeholder 2"/>
          <p:cNvSpPr>
            <a:spLocks noGrp="1"/>
          </p:cNvSpPr>
          <p:nvPr>
            <p:ph idx="1"/>
          </p:nvPr>
        </p:nvSpPr>
        <p:spPr/>
        <p:txBody>
          <a:bodyPr/>
          <a:lstStyle/>
          <a:p>
            <a:pPr lvl="0" indent="0" marL="0">
              <a:buNone/>
            </a:pPr>
            <a:r>
              <a:rPr b="1"/>
              <a:t>▶ Run this in your Script:</a:t>
            </a:r>
          </a:p>
          <a:p>
            <a:pPr lvl="0" indent="0">
              <a:buNone/>
            </a:pPr>
            <a:r>
              <a:rPr>
                <a:solidFill>
                  <a:srgbClr val="4758AB"/>
                </a:solidFill>
                <a:latin typeface="Courier"/>
              </a:rPr>
              <a:t>library</a:t>
            </a:r>
            <a:r>
              <a:rPr>
                <a:solidFill>
                  <a:srgbClr val="003B4F"/>
                </a:solidFill>
                <a:latin typeface="Courier"/>
              </a:rPr>
              <a:t>(tidyverse)</a:t>
            </a:r>
            <a:br/>
            <a:r>
              <a:rPr>
                <a:solidFill>
                  <a:srgbClr val="4758AB"/>
                </a:solidFill>
                <a:latin typeface="Courier"/>
              </a:rPr>
              <a:t>library</a:t>
            </a:r>
            <a:r>
              <a:rPr>
                <a:solidFill>
                  <a:srgbClr val="003B4F"/>
                </a:solidFill>
                <a:latin typeface="Courier"/>
              </a:rPr>
              <a:t>(pwr)</a:t>
            </a:r>
            <a:br/>
            <a:br/>
            <a:r>
              <a:rPr>
                <a:solidFill>
                  <a:srgbClr val="4758AB"/>
                </a:solidFill>
                <a:latin typeface="Courier"/>
              </a:rPr>
              <a:t>set.seed</a:t>
            </a:r>
            <a:r>
              <a:rPr>
                <a:solidFill>
                  <a:srgbClr val="003B4F"/>
                </a:solidFill>
                <a:latin typeface="Courier"/>
              </a:rPr>
              <a:t>(</a:t>
            </a:r>
            <a:r>
              <a:rPr>
                <a:solidFill>
                  <a:srgbClr val="AD0000"/>
                </a:solidFill>
                <a:latin typeface="Courier"/>
              </a:rPr>
              <a:t>42</a:t>
            </a:r>
            <a:r>
              <a:rPr>
                <a:solidFill>
                  <a:srgbClr val="003B4F"/>
                </a:solidFill>
                <a:latin typeface="Courier"/>
              </a:rPr>
              <a:t>)</a:t>
            </a:r>
          </a:p>
          <a:p>
            <a:pPr lvl="0" indent="0" marL="0">
              <a:buNone/>
            </a:pPr>
            <a:r>
              <a:rPr b="1"/>
              <a:t>Main Question:</a:t>
            </a:r>
            <a:r>
              <a:rPr/>
              <a:t> Do waterfalls affect fish mass in stream ecosystems?</a:t>
            </a:r>
          </a:p>
          <a:p>
            <a:pPr lvl="0" indent="0" marL="0">
              <a:buNone/>
            </a:pPr>
            <a:r>
              <a:rPr b="1"/>
              <a:t>Hypothesis:</a:t>
            </a:r>
            <a:r>
              <a:rPr/>
              <a:t> Fish below waterfalls are larger, due to better feeding opportunities from nutrients and prey coming down from the lake.</a:t>
            </a:r>
          </a:p>
          <a:p>
            <a:pPr lvl="0" indent="0" marL="0">
              <a:buNone/>
            </a:pPr>
            <a:r>
              <a:rPr/>
              <a:t>✏️ </a:t>
            </a:r>
            <a:r>
              <a:rPr b="1"/>
              <a:t>Your turn:</a:t>
            </a:r>
            <a:r>
              <a:rPr/>
              <a:t> Write this as a formal null and alternative hypothesis:</a:t>
            </a:r>
          </a:p>
          <a:p>
            <a:pPr lvl="0" indent="0">
              <a:buNone/>
            </a:pPr>
            <a:r>
              <a:rPr>
                <a:latin typeface="Courier"/>
              </a:rPr>
              <a:t>H0 = ________________________________________________________
Ha = ________________________________________________________</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2 · Study Design — a Natural Experiment</a:t>
            </a:r>
          </a:p>
        </p:txBody>
      </p:sp>
      <p:sp>
        <p:nvSpPr>
          <p:cNvPr id="3" name="Content Placeholder 2"/>
          <p:cNvSpPr>
            <a:spLocks noGrp="1"/>
          </p:cNvSpPr>
          <p:nvPr>
            <p:ph idx="1"/>
          </p:nvPr>
        </p:nvSpPr>
        <p:spPr/>
        <p:txBody>
          <a:bodyPr/>
          <a:lstStyle/>
          <a:p>
            <a:pPr lvl="0" indent="0" marL="0">
              <a:buNone/>
            </a:pPr>
            <a:r>
              <a:rPr/>
              <a:t>We’ll sample fish above and below waterfalls in several streams. This is a </a:t>
            </a:r>
            <a:r>
              <a:rPr b="1"/>
              <a:t>natural experiment</a:t>
            </a:r>
            <a:r>
              <a:rPr/>
              <a:t>, since we can’t manipulate whether a waterfall is present.</a:t>
            </a:r>
          </a:p>
          <a:p>
            <a:pPr lvl="0" indent="0" marL="0">
              <a:buNone/>
            </a:pPr>
            <a:r>
              <a:rPr b="1"/>
              <a:t>▶ Run this</a:t>
            </a:r>
            <a:r>
              <a:rPr/>
              <a:t> — simulate the data:</a:t>
            </a:r>
          </a:p>
          <a:p>
            <a:pPr lvl="0" indent="0">
              <a:buNone/>
            </a:pPr>
            <a:r>
              <a:rPr>
                <a:solidFill>
                  <a:srgbClr val="5E5E5E"/>
                </a:solidFill>
                <a:latin typeface="Courier"/>
              </a:rPr>
              <a:t># ADJUST THESE VARIABLES TO EXPLORE DIFFERENT SCENARIOS:</a:t>
            </a:r>
            <a:br/>
            <a:r>
              <a:rPr>
                <a:solidFill>
                  <a:srgbClr val="003B4F"/>
                </a:solidFill>
                <a:latin typeface="Courier"/>
              </a:rPr>
              <a:t>n_streams &lt;- </a:t>
            </a:r>
            <a:r>
              <a:rPr>
                <a:solidFill>
                  <a:srgbClr val="AD0000"/>
                </a:solidFill>
                <a:latin typeface="Courier"/>
              </a:rPr>
              <a:t>5</a:t>
            </a:r>
            <a:r>
              <a:rPr>
                <a:solidFill>
                  <a:srgbClr val="003B4F"/>
                </a:solidFill>
                <a:latin typeface="Courier"/>
              </a:rPr>
              <a:t>         </a:t>
            </a:r>
            <a:r>
              <a:rPr>
                <a:solidFill>
                  <a:srgbClr val="5E5E5E"/>
                </a:solidFill>
                <a:latin typeface="Courier"/>
              </a:rPr>
              <a:t># Number of streams to sample</a:t>
            </a:r>
            <a:br/>
            <a:r>
              <a:rPr>
                <a:solidFill>
                  <a:srgbClr val="003B4F"/>
                </a:solidFill>
                <a:latin typeface="Courier"/>
              </a:rPr>
              <a:t>n_fish_per_site &lt;- </a:t>
            </a:r>
            <a:r>
              <a:rPr>
                <a:solidFill>
                  <a:srgbClr val="AD0000"/>
                </a:solidFill>
                <a:latin typeface="Courier"/>
              </a:rPr>
              <a:t>6</a:t>
            </a:r>
            <a:r>
              <a:rPr>
                <a:solidFill>
                  <a:srgbClr val="003B4F"/>
                </a:solidFill>
                <a:latin typeface="Courier"/>
              </a:rPr>
              <a:t>   </a:t>
            </a:r>
            <a:r>
              <a:rPr>
                <a:solidFill>
                  <a:srgbClr val="5E5E5E"/>
                </a:solidFill>
                <a:latin typeface="Courier"/>
              </a:rPr>
              <a:t># Number of fish per site (above/below)</a:t>
            </a:r>
            <a:br/>
            <a:r>
              <a:rPr>
                <a:solidFill>
                  <a:srgbClr val="003B4F"/>
                </a:solidFill>
                <a:latin typeface="Courier"/>
              </a:rPr>
              <a:t>waterfall_effect &lt;- </a:t>
            </a:r>
            <a:r>
              <a:rPr>
                <a:solidFill>
                  <a:srgbClr val="AD0000"/>
                </a:solidFill>
                <a:latin typeface="Courier"/>
              </a:rPr>
              <a:t>15</a:t>
            </a:r>
            <a:r>
              <a:rPr>
                <a:solidFill>
                  <a:srgbClr val="003B4F"/>
                </a:solidFill>
                <a:latin typeface="Courier"/>
              </a:rPr>
              <a:t> </a:t>
            </a:r>
            <a:r>
              <a:rPr>
                <a:solidFill>
                  <a:srgbClr val="5E5E5E"/>
                </a:solidFill>
                <a:latin typeface="Courier"/>
              </a:rPr>
              <a:t># Effect size: how much larger fish are below (in grams)</a:t>
            </a:r>
            <a:br/>
            <a:br/>
            <a:r>
              <a:rPr>
                <a:solidFill>
                  <a:srgbClr val="003B4F"/>
                </a:solidFill>
                <a:latin typeface="Courier"/>
              </a:rPr>
              <a:t>stream_df &lt;- </a:t>
            </a:r>
            <a:r>
              <a:rPr>
                <a:solidFill>
                  <a:srgbClr val="4758AB"/>
                </a:solidFill>
                <a:latin typeface="Courier"/>
              </a:rPr>
              <a:t>tibble</a:t>
            </a:r>
            <a:r>
              <a:rPr>
                <a:solidFill>
                  <a:srgbClr val="003B4F"/>
                </a:solidFill>
                <a:latin typeface="Courier"/>
              </a:rPr>
              <a:t>(</a:t>
            </a:r>
            <a:br/>
            <a:r>
              <a:rPr>
                <a:solidFill>
                  <a:srgbClr val="003B4F"/>
                </a:solidFill>
                <a:latin typeface="Courier"/>
              </a:rPr>
              <a:t>  </a:t>
            </a:r>
            <a:r>
              <a:rPr>
                <a:solidFill>
                  <a:srgbClr val="657422"/>
                </a:solidFill>
                <a:latin typeface="Courier"/>
              </a:rPr>
              <a:t>stream_id =</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003B4F"/>
                </a:solidFill>
                <a:latin typeface="Courier"/>
              </a:rPr>
              <a:t>n_streams,</a:t>
            </a:r>
            <a:br/>
            <a:r>
              <a:rPr>
                <a:solidFill>
                  <a:srgbClr val="003B4F"/>
                </a:solidFill>
                <a:latin typeface="Courier"/>
              </a:rPr>
              <a:t>  </a:t>
            </a:r>
            <a:r>
              <a:rPr>
                <a:solidFill>
                  <a:srgbClr val="657422"/>
                </a:solidFill>
                <a:latin typeface="Courier"/>
              </a:rPr>
              <a:t>stream_mean =</a:t>
            </a:r>
            <a:r>
              <a:rPr>
                <a:solidFill>
                  <a:srgbClr val="003B4F"/>
                </a:solidFill>
                <a:latin typeface="Courier"/>
              </a:rPr>
              <a:t> </a:t>
            </a:r>
            <a:r>
              <a:rPr>
                <a:solidFill>
                  <a:srgbClr val="4758AB"/>
                </a:solidFill>
                <a:latin typeface="Courier"/>
              </a:rPr>
              <a:t>rnorm</a:t>
            </a:r>
            <a:r>
              <a:rPr>
                <a:solidFill>
                  <a:srgbClr val="003B4F"/>
                </a:solidFill>
                <a:latin typeface="Courier"/>
              </a:rPr>
              <a:t>(n_streams, </a:t>
            </a:r>
            <a:r>
              <a:rPr>
                <a:solidFill>
                  <a:srgbClr val="657422"/>
                </a:solidFill>
                <a:latin typeface="Courier"/>
              </a:rPr>
              <a:t>mean =</a:t>
            </a:r>
            <a:r>
              <a:rPr>
                <a:solidFill>
                  <a:srgbClr val="003B4F"/>
                </a:solidFill>
                <a:latin typeface="Courier"/>
              </a:rPr>
              <a:t> </a:t>
            </a:r>
            <a:r>
              <a:rPr>
                <a:solidFill>
                  <a:srgbClr val="AD0000"/>
                </a:solidFill>
                <a:latin typeface="Courier"/>
              </a:rPr>
              <a:t>85</a:t>
            </a:r>
            <a:r>
              <a:rPr>
                <a:solidFill>
                  <a:srgbClr val="003B4F"/>
                </a:solidFill>
                <a:latin typeface="Courier"/>
              </a:rPr>
              <a:t>, </a:t>
            </a:r>
            <a:r>
              <a:rPr>
                <a:solidFill>
                  <a:srgbClr val="657422"/>
                </a:solidFill>
                <a:latin typeface="Courier"/>
              </a:rPr>
              <a:t>sd =</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5E5E5E"/>
                </a:solidFill>
                <a:latin typeface="Courier"/>
              </a:rPr>
              <a:t># Random baseline for each stream</a:t>
            </a:r>
            <a:br/>
            <a:r>
              <a:rPr>
                <a:solidFill>
                  <a:srgbClr val="003B4F"/>
                </a:solidFill>
                <a:latin typeface="Courier"/>
              </a:rPr>
              <a:t>)</a:t>
            </a:r>
            <a:br/>
            <a:br/>
            <a:r>
              <a:rPr>
                <a:solidFill>
                  <a:srgbClr val="003B4F"/>
                </a:solidFill>
                <a:latin typeface="Courier"/>
              </a:rPr>
              <a:t>f_df &lt;- </a:t>
            </a:r>
            <a:r>
              <a:rPr>
                <a:solidFill>
                  <a:srgbClr val="4758AB"/>
                </a:solidFill>
                <a:latin typeface="Courier"/>
              </a:rPr>
              <a:t>tibble</a:t>
            </a:r>
            <a:r>
              <a:rPr>
                <a:solidFill>
                  <a:srgbClr val="003B4F"/>
                </a:solidFill>
                <a:latin typeface="Courier"/>
              </a:rPr>
              <a:t>(</a:t>
            </a:r>
            <a:br/>
            <a:r>
              <a:rPr>
                <a:solidFill>
                  <a:srgbClr val="003B4F"/>
                </a:solidFill>
                <a:latin typeface="Courier"/>
              </a:rPr>
              <a:t>  </a:t>
            </a:r>
            <a:r>
              <a:rPr>
                <a:solidFill>
                  <a:srgbClr val="657422"/>
                </a:solidFill>
                <a:latin typeface="Courier"/>
              </a:rPr>
              <a:t>stream_id =</a:t>
            </a:r>
            <a:r>
              <a:rPr>
                <a:solidFill>
                  <a:srgbClr val="003B4F"/>
                </a:solidFill>
                <a:latin typeface="Courier"/>
              </a:rPr>
              <a:t> </a:t>
            </a:r>
            <a:r>
              <a:rPr>
                <a:solidFill>
                  <a:srgbClr val="4758AB"/>
                </a:solidFill>
                <a:latin typeface="Courier"/>
              </a:rPr>
              <a:t>rep</a:t>
            </a:r>
            <a:r>
              <a:rPr>
                <a:solidFill>
                  <a:srgbClr val="003B4F"/>
                </a:solidFill>
                <a:latin typeface="Courier"/>
              </a:rPr>
              <a:t>(</a:t>
            </a:r>
            <a:r>
              <a:rPr>
                <a:solidFill>
                  <a:srgbClr val="AD0000"/>
                </a:solidFill>
                <a:latin typeface="Courier"/>
              </a:rPr>
              <a:t>1</a:t>
            </a:r>
            <a:r>
              <a:rPr>
                <a:solidFill>
                  <a:srgbClr val="5E5E5E"/>
                </a:solidFill>
                <a:latin typeface="Courier"/>
              </a:rPr>
              <a:t>:</a:t>
            </a:r>
            <a:r>
              <a:rPr>
                <a:solidFill>
                  <a:srgbClr val="003B4F"/>
                </a:solidFill>
                <a:latin typeface="Courier"/>
              </a:rPr>
              <a:t>n_streams, </a:t>
            </a:r>
            <a:r>
              <a:rPr>
                <a:solidFill>
                  <a:srgbClr val="657422"/>
                </a:solidFill>
                <a:latin typeface="Courier"/>
              </a:rPr>
              <a:t>each =</a:t>
            </a:r>
            <a:r>
              <a:rPr>
                <a:solidFill>
                  <a:srgbClr val="003B4F"/>
                </a:solidFill>
                <a:latin typeface="Courier"/>
              </a:rPr>
              <a:t> n_fish_per_site </a:t>
            </a:r>
            <a:r>
              <a:rPr>
                <a:solidFill>
                  <a:srgbClr val="5E5E5E"/>
                </a:solidFill>
                <a:latin typeface="Courier"/>
              </a:rPr>
              <a:t>*</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003B4F"/>
                </a:solidFill>
                <a:latin typeface="Courier"/>
              </a:rPr>
              <a:t>  </a:t>
            </a:r>
            <a:r>
              <a:rPr>
                <a:solidFill>
                  <a:srgbClr val="657422"/>
                </a:solidFill>
                <a:latin typeface="Courier"/>
              </a:rPr>
              <a:t>position =</a:t>
            </a:r>
            <a:r>
              <a:rPr>
                <a:solidFill>
                  <a:srgbClr val="003B4F"/>
                </a:solidFill>
                <a:latin typeface="Courier"/>
              </a:rPr>
              <a:t> </a:t>
            </a:r>
            <a:r>
              <a:rPr>
                <a:solidFill>
                  <a:srgbClr val="4758AB"/>
                </a:solidFill>
                <a:latin typeface="Courier"/>
              </a:rPr>
              <a:t>rep</a:t>
            </a:r>
            <a:r>
              <a:rPr>
                <a:solidFill>
                  <a:srgbClr val="003B4F"/>
                </a:solidFill>
                <a:latin typeface="Courier"/>
              </a:rPr>
              <a:t>(</a:t>
            </a:r>
            <a:r>
              <a:rPr>
                <a:solidFill>
                  <a:srgbClr val="4758AB"/>
                </a:solidFill>
                <a:latin typeface="Courier"/>
              </a:rPr>
              <a:t>c</a:t>
            </a:r>
            <a:r>
              <a:rPr>
                <a:solidFill>
                  <a:srgbClr val="003B4F"/>
                </a:solidFill>
                <a:latin typeface="Courier"/>
              </a:rPr>
              <a:t>(</a:t>
            </a:r>
            <a:r>
              <a:rPr>
                <a:solidFill>
                  <a:srgbClr val="20794D"/>
                </a:solidFill>
                <a:latin typeface="Courier"/>
              </a:rPr>
              <a:t>"above"</a:t>
            </a:r>
            <a:r>
              <a:rPr>
                <a:solidFill>
                  <a:srgbClr val="003B4F"/>
                </a:solidFill>
                <a:latin typeface="Courier"/>
              </a:rPr>
              <a:t>, </a:t>
            </a:r>
            <a:r>
              <a:rPr>
                <a:solidFill>
                  <a:srgbClr val="20794D"/>
                </a:solidFill>
                <a:latin typeface="Courier"/>
              </a:rPr>
              <a:t>"below"</a:t>
            </a:r>
            <a:r>
              <a:rPr>
                <a:solidFill>
                  <a:srgbClr val="003B4F"/>
                </a:solidFill>
                <a:latin typeface="Courier"/>
              </a:rPr>
              <a:t>), </a:t>
            </a:r>
            <a:r>
              <a:rPr>
                <a:solidFill>
                  <a:srgbClr val="657422"/>
                </a:solidFill>
                <a:latin typeface="Courier"/>
              </a:rPr>
              <a:t>each =</a:t>
            </a:r>
            <a:r>
              <a:rPr>
                <a:solidFill>
                  <a:srgbClr val="003B4F"/>
                </a:solidFill>
                <a:latin typeface="Courier"/>
              </a:rPr>
              <a:t> n_fish_per_site, </a:t>
            </a:r>
            <a:r>
              <a:rPr>
                <a:solidFill>
                  <a:srgbClr val="657422"/>
                </a:solidFill>
                <a:latin typeface="Courier"/>
              </a:rPr>
              <a:t>times =</a:t>
            </a:r>
            <a:r>
              <a:rPr>
                <a:solidFill>
                  <a:srgbClr val="003B4F"/>
                </a:solidFill>
                <a:latin typeface="Courier"/>
              </a:rPr>
              <a:t> n_streams),</a:t>
            </a:r>
            <a:br/>
            <a:r>
              <a:rPr>
                <a:solidFill>
                  <a:srgbClr val="003B4F"/>
                </a:solidFill>
                <a:latin typeface="Courier"/>
              </a:rPr>
              <a:t>  </a:t>
            </a:r>
            <a:r>
              <a:rPr>
                <a:solidFill>
                  <a:srgbClr val="657422"/>
                </a:solidFill>
                <a:latin typeface="Courier"/>
              </a:rPr>
              <a:t>fish_id =</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003B4F"/>
                </a:solidFill>
                <a:latin typeface="Courier"/>
              </a:rPr>
              <a:t>(n_streams </a:t>
            </a:r>
            <a:r>
              <a:rPr>
                <a:solidFill>
                  <a:srgbClr val="5E5E5E"/>
                </a:solidFill>
                <a:latin typeface="Courier"/>
              </a:rPr>
              <a:t>*</a:t>
            </a:r>
            <a:r>
              <a:rPr>
                <a:solidFill>
                  <a:srgbClr val="003B4F"/>
                </a:solidFill>
                <a:latin typeface="Courier"/>
              </a:rPr>
              <a:t> n_fish_per_site </a:t>
            </a:r>
            <a:r>
              <a:rPr>
                <a:solidFill>
                  <a:srgbClr val="5E5E5E"/>
                </a:solidFill>
                <a:latin typeface="Courier"/>
              </a:rPr>
              <a:t>*</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left_join</a:t>
            </a:r>
            <a:r>
              <a:rPr>
                <a:solidFill>
                  <a:srgbClr val="003B4F"/>
                </a:solidFill>
                <a:latin typeface="Courier"/>
              </a:rPr>
              <a:t>(stream_df, </a:t>
            </a:r>
            <a:r>
              <a:rPr>
                <a:solidFill>
                  <a:srgbClr val="657422"/>
                </a:solidFill>
                <a:latin typeface="Courier"/>
              </a:rPr>
              <a:t>by =</a:t>
            </a:r>
            <a:r>
              <a:rPr>
                <a:solidFill>
                  <a:srgbClr val="003B4F"/>
                </a:solidFill>
                <a:latin typeface="Courier"/>
              </a:rPr>
              <a:t> </a:t>
            </a:r>
            <a:r>
              <a:rPr>
                <a:solidFill>
                  <a:srgbClr val="20794D"/>
                </a:solidFill>
                <a:latin typeface="Courier"/>
              </a:rPr>
              <a:t>"stream_id"</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expected_mass =</a:t>
            </a:r>
            <a:r>
              <a:rPr>
                <a:solidFill>
                  <a:srgbClr val="003B4F"/>
                </a:solidFill>
                <a:latin typeface="Courier"/>
              </a:rPr>
              <a:t> </a:t>
            </a:r>
            <a:r>
              <a:rPr>
                <a:solidFill>
                  <a:srgbClr val="4758AB"/>
                </a:solidFill>
                <a:latin typeface="Courier"/>
              </a:rPr>
              <a:t>ifelse</a:t>
            </a:r>
            <a:r>
              <a:rPr>
                <a:solidFill>
                  <a:srgbClr val="003B4F"/>
                </a:solidFill>
                <a:latin typeface="Courier"/>
              </a:rPr>
              <a:t>(position </a:t>
            </a:r>
            <a:r>
              <a:rPr>
                <a:solidFill>
                  <a:srgbClr val="5E5E5E"/>
                </a:solidFill>
                <a:latin typeface="Courier"/>
              </a:rPr>
              <a:t>==</a:t>
            </a:r>
            <a:r>
              <a:rPr>
                <a:solidFill>
                  <a:srgbClr val="003B4F"/>
                </a:solidFill>
                <a:latin typeface="Courier"/>
              </a:rPr>
              <a:t> </a:t>
            </a:r>
            <a:r>
              <a:rPr>
                <a:solidFill>
                  <a:srgbClr val="20794D"/>
                </a:solidFill>
                <a:latin typeface="Courier"/>
              </a:rPr>
              <a:t>"above"</a:t>
            </a:r>
            <a:r>
              <a:rPr>
                <a:solidFill>
                  <a:srgbClr val="003B4F"/>
                </a:solidFill>
                <a:latin typeface="Courier"/>
              </a:rPr>
              <a:t>, stream_mean, stream_mean </a:t>
            </a:r>
            <a:r>
              <a:rPr>
                <a:solidFill>
                  <a:srgbClr val="5E5E5E"/>
                </a:solidFill>
                <a:latin typeface="Courier"/>
              </a:rPr>
              <a:t>+</a:t>
            </a:r>
            <a:r>
              <a:rPr>
                <a:solidFill>
                  <a:srgbClr val="003B4F"/>
                </a:solidFill>
                <a:latin typeface="Courier"/>
              </a:rPr>
              <a:t> waterfall_effect),</a:t>
            </a:r>
            <a:br/>
            <a:r>
              <a:rPr>
                <a:solidFill>
                  <a:srgbClr val="003B4F"/>
                </a:solidFill>
                <a:latin typeface="Courier"/>
              </a:rPr>
              <a:t>    </a:t>
            </a:r>
            <a:r>
              <a:rPr>
                <a:solidFill>
                  <a:srgbClr val="657422"/>
                </a:solidFill>
                <a:latin typeface="Courier"/>
              </a:rPr>
              <a:t>mass_g =</a:t>
            </a:r>
            <a:r>
              <a:rPr>
                <a:solidFill>
                  <a:srgbClr val="003B4F"/>
                </a:solidFill>
                <a:latin typeface="Courier"/>
              </a:rPr>
              <a:t> </a:t>
            </a:r>
            <a:r>
              <a:rPr>
                <a:solidFill>
                  <a:srgbClr val="4758AB"/>
                </a:solidFill>
                <a:latin typeface="Courier"/>
              </a:rPr>
              <a:t>rnorm</a:t>
            </a:r>
            <a:r>
              <a:rPr>
                <a:solidFill>
                  <a:srgbClr val="003B4F"/>
                </a:solidFill>
                <a:latin typeface="Courier"/>
              </a:rPr>
              <a:t>(</a:t>
            </a:r>
            <a:r>
              <a:rPr>
                <a:solidFill>
                  <a:srgbClr val="4758AB"/>
                </a:solidFill>
                <a:latin typeface="Courier"/>
              </a:rPr>
              <a:t>n</a:t>
            </a:r>
            <a:r>
              <a:rPr>
                <a:solidFill>
                  <a:srgbClr val="003B4F"/>
                </a:solidFill>
                <a:latin typeface="Courier"/>
              </a:rPr>
              <a:t>(), </a:t>
            </a:r>
            <a:r>
              <a:rPr>
                <a:solidFill>
                  <a:srgbClr val="657422"/>
                </a:solidFill>
                <a:latin typeface="Courier"/>
              </a:rPr>
              <a:t>mean =</a:t>
            </a:r>
            <a:r>
              <a:rPr>
                <a:solidFill>
                  <a:srgbClr val="003B4F"/>
                </a:solidFill>
                <a:latin typeface="Courier"/>
              </a:rPr>
              <a:t> expected_mass, </a:t>
            </a:r>
            <a:r>
              <a:rPr>
                <a:solidFill>
                  <a:srgbClr val="657422"/>
                </a:solidFill>
                <a:latin typeface="Courier"/>
              </a:rPr>
              <a:t>sd =</a:t>
            </a:r>
            <a:r>
              <a:rPr>
                <a:solidFill>
                  <a:srgbClr val="003B4F"/>
                </a:solidFill>
                <a:latin typeface="Courier"/>
              </a:rPr>
              <a:t> </a:t>
            </a:r>
            <a:r>
              <a:rPr>
                <a:solidFill>
                  <a:srgbClr val="AD0000"/>
                </a:solidFill>
                <a:latin typeface="Courier"/>
              </a:rPr>
              <a:t>12</a:t>
            </a:r>
            <a:r>
              <a:rPr>
                <a:solidFill>
                  <a:srgbClr val="003B4F"/>
                </a:solidFill>
                <a:latin typeface="Courier"/>
              </a:rPr>
              <a:t>)</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4758AB"/>
                </a:solidFill>
                <a:latin typeface="Courier"/>
              </a:rPr>
              <a:t>select</a:t>
            </a:r>
            <a:r>
              <a:rPr>
                <a:solidFill>
                  <a:srgbClr val="003B4F"/>
                </a:solidFill>
                <a:latin typeface="Courier"/>
              </a:rPr>
              <a:t>(stream_id, position, fish_id, mass_g)</a:t>
            </a:r>
            <a:br/>
            <a:br/>
            <a:r>
              <a:rPr>
                <a:solidFill>
                  <a:srgbClr val="4758AB"/>
                </a:solidFill>
                <a:latin typeface="Courier"/>
              </a:rPr>
              <a:t>head</a:t>
            </a:r>
            <a:r>
              <a:rPr>
                <a:solidFill>
                  <a:srgbClr val="003B4F"/>
                </a:solidFill>
                <a:latin typeface="Courier"/>
              </a:rPr>
              <a:t>(f_df, </a:t>
            </a:r>
            <a:r>
              <a:rPr>
                <a:solidFill>
                  <a:srgbClr val="AD0000"/>
                </a:solidFill>
                <a:latin typeface="Courier"/>
              </a:rPr>
              <a:t>12</a:t>
            </a:r>
            <a:r>
              <a:rPr>
                <a:solidFill>
                  <a:srgbClr val="003B4F"/>
                </a:solidFill>
                <a:latin typeface="Courier"/>
              </a:rPr>
              <a:t>)</a:t>
            </a:r>
          </a:p>
          <a:p>
            <a:pPr lvl="0" indent="0" marL="0">
              <a:buNone/>
            </a:pPr>
            <a:r>
              <a:rPr b="1"/>
              <a:t>▶ Run this</a:t>
            </a:r>
            <a:r>
              <a:rPr/>
              <a:t> — visualize the pooled data, then by stream:</a:t>
            </a:r>
          </a:p>
          <a:p>
            <a:pPr lvl="0" indent="0">
              <a:buNone/>
            </a:pPr>
            <a:r>
              <a:rPr>
                <a:solidFill>
                  <a:srgbClr val="003B4F"/>
                </a:solidFill>
                <a:latin typeface="Courier"/>
              </a:rPr>
              <a:t>basic_plot &lt;- f_df </a:t>
            </a:r>
            <a:r>
              <a:rPr>
                <a:solidFill>
                  <a:srgbClr val="5E5E5E"/>
                </a:solidFill>
                <a:latin typeface="Courier"/>
              </a:rPr>
              <a:t>%&gt;%</a:t>
            </a:r>
            <a:br/>
            <a:r>
              <a:rPr>
                <a:solidFill>
                  <a:srgbClr val="003B4F"/>
                </a:solidFill>
                <a:latin typeface="Courier"/>
              </a:rPr>
              <a:t>  </a:t>
            </a:r>
            <a:r>
              <a:rPr>
                <a:solidFill>
                  <a:srgbClr val="4758AB"/>
                </a:solidFill>
                <a:latin typeface="Courier"/>
              </a:rPr>
              <a:t>ggplot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position, </a:t>
            </a:r>
            <a:r>
              <a:rPr>
                <a:solidFill>
                  <a:srgbClr val="657422"/>
                </a:solidFill>
                <a:latin typeface="Courier"/>
              </a:rPr>
              <a:t>y =</a:t>
            </a:r>
            <a:r>
              <a:rPr>
                <a:solidFill>
                  <a:srgbClr val="003B4F"/>
                </a:solidFill>
                <a:latin typeface="Courier"/>
              </a:rPr>
              <a:t> mass_g, </a:t>
            </a:r>
            <a:r>
              <a:rPr>
                <a:solidFill>
                  <a:srgbClr val="657422"/>
                </a:solidFill>
                <a:latin typeface="Courier"/>
              </a:rPr>
              <a:t>fill =</a:t>
            </a:r>
            <a:r>
              <a:rPr>
                <a:solidFill>
                  <a:srgbClr val="003B4F"/>
                </a:solidFill>
                <a:latin typeface="Courier"/>
              </a:rPr>
              <a:t> position)) </a:t>
            </a:r>
            <a:r>
              <a:rPr>
                <a:solidFill>
                  <a:srgbClr val="5E5E5E"/>
                </a:solidFill>
                <a:latin typeface="Courier"/>
              </a:rPr>
              <a:t>+</a:t>
            </a:r>
            <a:br/>
            <a:r>
              <a:rPr>
                <a:solidFill>
                  <a:srgbClr val="003B4F"/>
                </a:solidFill>
                <a:latin typeface="Courier"/>
              </a:rPr>
              <a:t>  </a:t>
            </a:r>
            <a:r>
              <a:rPr>
                <a:solidFill>
                  <a:srgbClr val="4758AB"/>
                </a:solidFill>
                <a:latin typeface="Courier"/>
              </a:rPr>
              <a:t>geom_boxplot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geom_jitter</a:t>
            </a:r>
            <a:r>
              <a:rPr>
                <a:solidFill>
                  <a:srgbClr val="003B4F"/>
                </a:solidFill>
                <a:latin typeface="Courier"/>
              </a:rPr>
              <a:t>(</a:t>
            </a:r>
            <a:r>
              <a:rPr>
                <a:solidFill>
                  <a:srgbClr val="657422"/>
                </a:solidFill>
                <a:latin typeface="Courier"/>
              </a:rPr>
              <a:t>width =</a:t>
            </a:r>
            <a:r>
              <a:rPr>
                <a:solidFill>
                  <a:srgbClr val="003B4F"/>
                </a:solidFill>
                <a:latin typeface="Courier"/>
              </a:rPr>
              <a:t> </a:t>
            </a:r>
            <a:r>
              <a:rPr>
                <a:solidFill>
                  <a:srgbClr val="AD0000"/>
                </a:solidFill>
                <a:latin typeface="Courier"/>
              </a:rPr>
              <a:t>0.2</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0.6</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"Position Relative to Waterfall"</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"Fish Mass (g)"</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br/>
            <a:r>
              <a:rPr>
                <a:solidFill>
                  <a:srgbClr val="003B4F"/>
                </a:solidFill>
                <a:latin typeface="Courier"/>
              </a:rPr>
              <a:t>basic_plot</a:t>
            </a:r>
            <a:br/>
            <a:br/>
            <a:r>
              <a:rPr>
                <a:solidFill>
                  <a:srgbClr val="003B4F"/>
                </a:solidFill>
                <a:latin typeface="Courier"/>
              </a:rPr>
              <a:t>stream_plot &lt;- f_df </a:t>
            </a:r>
            <a:r>
              <a:rPr>
                <a:solidFill>
                  <a:srgbClr val="5E5E5E"/>
                </a:solidFill>
                <a:latin typeface="Courier"/>
              </a:rPr>
              <a:t>%&gt;%</a:t>
            </a:r>
            <a:br/>
            <a:r>
              <a:rPr>
                <a:solidFill>
                  <a:srgbClr val="003B4F"/>
                </a:solidFill>
                <a:latin typeface="Courier"/>
              </a:rPr>
              <a:t>  </a:t>
            </a:r>
            <a:r>
              <a:rPr>
                <a:solidFill>
                  <a:srgbClr val="4758AB"/>
                </a:solidFill>
                <a:latin typeface="Courier"/>
              </a:rPr>
              <a:t>ggplot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position, </a:t>
            </a:r>
            <a:r>
              <a:rPr>
                <a:solidFill>
                  <a:srgbClr val="657422"/>
                </a:solidFill>
                <a:latin typeface="Courier"/>
              </a:rPr>
              <a:t>y =</a:t>
            </a:r>
            <a:r>
              <a:rPr>
                <a:solidFill>
                  <a:srgbClr val="003B4F"/>
                </a:solidFill>
                <a:latin typeface="Courier"/>
              </a:rPr>
              <a:t> mass_g, </a:t>
            </a:r>
            <a:r>
              <a:rPr>
                <a:solidFill>
                  <a:srgbClr val="657422"/>
                </a:solidFill>
                <a:latin typeface="Courier"/>
              </a:rPr>
              <a:t>group =</a:t>
            </a:r>
            <a:r>
              <a:rPr>
                <a:solidFill>
                  <a:srgbClr val="003B4F"/>
                </a:solidFill>
                <a:latin typeface="Courier"/>
              </a:rPr>
              <a:t> stream_id, </a:t>
            </a:r>
            <a:r>
              <a:rPr>
                <a:solidFill>
                  <a:srgbClr val="657422"/>
                </a:solidFill>
                <a:latin typeface="Courier"/>
              </a:rPr>
              <a:t>color =</a:t>
            </a:r>
            <a:r>
              <a:rPr>
                <a:solidFill>
                  <a:srgbClr val="003B4F"/>
                </a:solidFill>
                <a:latin typeface="Courier"/>
              </a:rPr>
              <a:t> </a:t>
            </a:r>
            <a:r>
              <a:rPr>
                <a:solidFill>
                  <a:srgbClr val="4758AB"/>
                </a:solidFill>
                <a:latin typeface="Courier"/>
              </a:rPr>
              <a:t>as.factor</a:t>
            </a:r>
            <a:r>
              <a:rPr>
                <a:solidFill>
                  <a:srgbClr val="003B4F"/>
                </a:solidFill>
                <a:latin typeface="Courier"/>
              </a:rPr>
              <a:t>(stream_id))) </a:t>
            </a:r>
            <a:r>
              <a:rPr>
                <a:solidFill>
                  <a:srgbClr val="5E5E5E"/>
                </a:solidFill>
                <a:latin typeface="Courier"/>
              </a:rPr>
              <a:t>+</a:t>
            </a:r>
            <a:br/>
            <a:r>
              <a:rPr>
                <a:solidFill>
                  <a:srgbClr val="003B4F"/>
                </a:solidFill>
                <a:latin typeface="Courier"/>
              </a:rPr>
              <a:t>  </a:t>
            </a:r>
            <a:r>
              <a:rPr>
                <a:solidFill>
                  <a:srgbClr val="4758AB"/>
                </a:solidFill>
                <a:latin typeface="Courier"/>
              </a:rPr>
              <a:t>stat_summary</a:t>
            </a:r>
            <a:r>
              <a:rPr>
                <a:solidFill>
                  <a:srgbClr val="003B4F"/>
                </a:solidFill>
                <a:latin typeface="Courier"/>
              </a:rPr>
              <a:t>(</a:t>
            </a:r>
            <a:r>
              <a:rPr>
                <a:solidFill>
                  <a:srgbClr val="657422"/>
                </a:solidFill>
                <a:latin typeface="Courier"/>
              </a:rPr>
              <a:t>fun =</a:t>
            </a:r>
            <a:r>
              <a:rPr>
                <a:solidFill>
                  <a:srgbClr val="003B4F"/>
                </a:solidFill>
                <a:latin typeface="Courier"/>
              </a:rPr>
              <a:t> mean, </a:t>
            </a:r>
            <a:r>
              <a:rPr>
                <a:solidFill>
                  <a:srgbClr val="657422"/>
                </a:solidFill>
                <a:latin typeface="Courier"/>
              </a:rPr>
              <a:t>geom =</a:t>
            </a:r>
            <a:r>
              <a:rPr>
                <a:solidFill>
                  <a:srgbClr val="003B4F"/>
                </a:solidFill>
                <a:latin typeface="Courier"/>
              </a:rPr>
              <a:t> </a:t>
            </a:r>
            <a:r>
              <a:rPr>
                <a:solidFill>
                  <a:srgbClr val="20794D"/>
                </a:solidFill>
                <a:latin typeface="Courier"/>
              </a:rPr>
              <a:t>"point"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stat_summary</a:t>
            </a:r>
            <a:r>
              <a:rPr>
                <a:solidFill>
                  <a:srgbClr val="003B4F"/>
                </a:solidFill>
                <a:latin typeface="Courier"/>
              </a:rPr>
              <a:t>(</a:t>
            </a:r>
            <a:r>
              <a:rPr>
                <a:solidFill>
                  <a:srgbClr val="657422"/>
                </a:solidFill>
                <a:latin typeface="Courier"/>
              </a:rPr>
              <a:t>fun =</a:t>
            </a:r>
            <a:r>
              <a:rPr>
                <a:solidFill>
                  <a:srgbClr val="003B4F"/>
                </a:solidFill>
                <a:latin typeface="Courier"/>
              </a:rPr>
              <a:t> mean, </a:t>
            </a:r>
            <a:r>
              <a:rPr>
                <a:solidFill>
                  <a:srgbClr val="657422"/>
                </a:solidFill>
                <a:latin typeface="Courier"/>
              </a:rPr>
              <a:t>geom =</a:t>
            </a:r>
            <a:r>
              <a:rPr>
                <a:solidFill>
                  <a:srgbClr val="003B4F"/>
                </a:solidFill>
                <a:latin typeface="Courier"/>
              </a:rPr>
              <a:t> </a:t>
            </a:r>
            <a:r>
              <a:rPr>
                <a:solidFill>
                  <a:srgbClr val="20794D"/>
                </a:solidFill>
                <a:latin typeface="Courier"/>
              </a:rPr>
              <a:t>"line"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stat_summary</a:t>
            </a:r>
            <a:r>
              <a:rPr>
                <a:solidFill>
                  <a:srgbClr val="003B4F"/>
                </a:solidFill>
                <a:latin typeface="Courier"/>
              </a:rPr>
              <a:t>(</a:t>
            </a:r>
            <a:r>
              <a:rPr>
                <a:solidFill>
                  <a:srgbClr val="657422"/>
                </a:solidFill>
                <a:latin typeface="Courier"/>
              </a:rPr>
              <a:t>fun.data =</a:t>
            </a:r>
            <a:r>
              <a:rPr>
                <a:solidFill>
                  <a:srgbClr val="003B4F"/>
                </a:solidFill>
                <a:latin typeface="Courier"/>
              </a:rPr>
              <a:t> mean_se, </a:t>
            </a:r>
            <a:r>
              <a:rPr>
                <a:solidFill>
                  <a:srgbClr val="657422"/>
                </a:solidFill>
                <a:latin typeface="Courier"/>
              </a:rPr>
              <a:t>geom =</a:t>
            </a:r>
            <a:r>
              <a:rPr>
                <a:solidFill>
                  <a:srgbClr val="003B4F"/>
                </a:solidFill>
                <a:latin typeface="Courier"/>
              </a:rPr>
              <a:t> </a:t>
            </a:r>
            <a:r>
              <a:rPr>
                <a:solidFill>
                  <a:srgbClr val="20794D"/>
                </a:solidFill>
                <a:latin typeface="Courier"/>
              </a:rPr>
              <a:t>"errorbar"</a:t>
            </a:r>
            <a:r>
              <a:rPr>
                <a:solidFill>
                  <a:srgbClr val="003B4F"/>
                </a:solidFill>
                <a:latin typeface="Courier"/>
              </a:rPr>
              <a:t>, </a:t>
            </a:r>
            <a:r>
              <a:rPr>
                <a:solidFill>
                  <a:srgbClr val="657422"/>
                </a:solidFill>
                <a:latin typeface="Courier"/>
              </a:rPr>
              <a:t>width =</a:t>
            </a:r>
            <a:r>
              <a:rPr>
                <a:solidFill>
                  <a:srgbClr val="003B4F"/>
                </a:solidFill>
                <a:latin typeface="Courier"/>
              </a:rPr>
              <a:t> </a:t>
            </a:r>
            <a:r>
              <a:rPr>
                <a:solidFill>
                  <a:srgbClr val="AD0000"/>
                </a:solidFill>
                <a:latin typeface="Courier"/>
              </a:rPr>
              <a:t>0.1</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facet_wrap</a:t>
            </a:r>
            <a:r>
              <a:rPr>
                <a:solidFill>
                  <a:srgbClr val="003B4F"/>
                </a:solidFill>
                <a:latin typeface="Courier"/>
              </a:rPr>
              <a:t>(</a:t>
            </a:r>
            <a:r>
              <a:rPr>
                <a:solidFill>
                  <a:srgbClr val="5E5E5E"/>
                </a:solidFill>
                <a:latin typeface="Courier"/>
              </a:rPr>
              <a:t>~</a:t>
            </a:r>
            <a:r>
              <a:rPr>
                <a:solidFill>
                  <a:srgbClr val="003B4F"/>
                </a:solidFill>
                <a:latin typeface="Courier"/>
              </a:rPr>
              <a:t>stream_id)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"Position"</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"Fish Mass (g)"</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"Stream"</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br/>
            <a:r>
              <a:rPr>
                <a:solidFill>
                  <a:srgbClr val="003B4F"/>
                </a:solidFill>
                <a:latin typeface="Courier"/>
              </a:rPr>
              <a:t>stream_plot</a:t>
            </a:r>
          </a:p>
          <a:p>
            <a:pPr lvl="0" indent="0" marL="0">
              <a:buNone/>
            </a:pPr>
            <a:r>
              <a:rPr/>
              <a:t>✏️ </a:t>
            </a:r>
            <a:r>
              <a:rPr b="1"/>
              <a:t>Your turn:</a:t>
            </a:r>
            <a:r>
              <a:rPr/>
              <a:t> Looking at </a:t>
            </a:r>
            <a:r>
              <a:rPr>
                <a:latin typeface="Courier"/>
              </a:rPr>
              <a:t>stream_plot</a:t>
            </a:r>
            <a:r>
              <a:rPr/>
              <a:t>, does every stream show fish getting larger below the waterfall, or does the pattern vary stream to stream? </a:t>
            </a:r>
            <a:r>
              <a:rPr>
                <a:latin typeface="Courier"/>
              </a:rPr>
              <a:t>________________________</a:t>
            </a:r>
          </a:p>
          <a:p>
            <a:pPr lvl="0" indent="0" marL="1270000">
              <a:buNone/>
            </a:pPr>
            <a:r>
              <a:rPr sz="2000" b="1"/>
              <a:t>Tip</a:t>
            </a:r>
          </a:p>
          <a:p>
            <a:pPr lvl="0" indent="0" marL="1270000">
              <a:buNone/>
            </a:pPr>
            <a:r>
              <a:rPr sz="2000" b="1"/>
              <a:t>🚀 If you finish early:</a:t>
            </a:r>
            <a:r>
              <a:rPr sz="2000"/>
              <a:t> Change </a:t>
            </a:r>
            <a:r>
              <a:rPr sz="2000">
                <a:latin typeface="Courier"/>
              </a:rPr>
              <a:t>waterfall_effect</a:t>
            </a:r>
            <a:r>
              <a:rPr sz="2000"/>
              <a:t> to </a:t>
            </a:r>
            <a:r>
              <a:rPr sz="2000">
                <a:latin typeface="Courier"/>
              </a:rPr>
              <a:t>0</a:t>
            </a:r>
            <a:r>
              <a:rPr sz="2000"/>
              <a:t> and rerun the whole simulation. Does </a:t>
            </a:r>
            <a:r>
              <a:rPr sz="2000">
                <a:latin typeface="Courier"/>
              </a:rPr>
              <a:t>basic_plot</a:t>
            </a:r>
            <a:r>
              <a:rPr sz="2000"/>
              <a:t> still look like there’s a difference? This is what “no true effect” looks like in this simulated world.</a:t>
            </a:r>
          </a:p>
          <a:p>
            <a:pPr lvl="0" indent="0">
              <a:buNone/>
            </a:pPr>
            <a:r>
              <a:rPr>
                <a:solidFill>
                  <a:srgbClr val="5E5E5E"/>
                </a:solidFill>
                <a:latin typeface="Courier"/>
              </a:rPr>
              <a:t># Write your code here: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3 · Replication Issues</a:t>
            </a:r>
          </a:p>
        </p:txBody>
      </p:sp>
      <p:sp>
        <p:nvSpPr>
          <p:cNvPr id="3" name="Content Placeholder 2"/>
          <p:cNvSpPr>
            <a:spLocks noGrp="1"/>
          </p:cNvSpPr>
          <p:nvPr>
            <p:ph idx="1"/>
          </p:nvPr>
        </p:nvSpPr>
        <p:spPr/>
        <p:txBody>
          <a:bodyPr/>
          <a:lstStyle/>
          <a:p>
            <a:pPr lvl="0" indent="0" marL="0">
              <a:buNone/>
            </a:pPr>
            <a:r>
              <a:rPr b="1"/>
              <a:t>Question:</a:t>
            </a:r>
            <a:r>
              <a:rPr/>
              <a:t> In our fish study, what is the true experimental unit?</a:t>
            </a:r>
          </a:p>
          <a:p>
            <a:pPr lvl="0" indent="-342900" marL="342900">
              <a:buAutoNum type="alphaUcParenR"/>
            </a:pPr>
            <a:r>
              <a:rPr/>
              <a:t>Individual fish</a:t>
            </a:r>
          </a:p>
          <a:p>
            <a:pPr lvl="0" indent="-342900" marL="342900">
              <a:buAutoNum type="alphaUcParenR"/>
            </a:pPr>
            <a:r>
              <a:rPr/>
              <a:t>Stream locations (above/below pairs)</a:t>
            </a:r>
          </a:p>
          <a:p>
            <a:pPr lvl="0" indent="-342900" marL="342900">
              <a:buAutoNum type="alphaUcParenR"/>
            </a:pPr>
            <a:r>
              <a:rPr/>
              <a:t>Individual streams</a:t>
            </a:r>
          </a:p>
          <a:p>
            <a:pPr lvl="0" indent="-342900" marL="342900">
              <a:buAutoNum type="alphaUcParenR"/>
            </a:pPr>
            <a:r>
              <a:rPr/>
              <a:t>All fish combined</a:t>
            </a:r>
          </a:p>
          <a:p>
            <a:pPr lvl="0" indent="0" marL="0">
              <a:buNone/>
            </a:pPr>
            <a:r>
              <a:rPr/>
              <a:t>✏️ </a:t>
            </a:r>
            <a:r>
              <a:rPr b="1"/>
              <a:t>Your turn:</a:t>
            </a:r>
            <a:r>
              <a:rPr/>
              <a:t> Circle your answer above, then explain why in one sentence.</a:t>
            </a:r>
          </a:p>
          <a:p>
            <a:pPr lvl="0" indent="0">
              <a:buNone/>
            </a:pPr>
            <a:r>
              <a:rPr>
                <a:latin typeface="Courier"/>
              </a:rPr>
              <a:t>________________________________________________________</a:t>
            </a:r>
          </a:p>
          <a:p>
            <a:pPr lvl="0" indent="0" marL="0">
              <a:buNone/>
            </a:pPr>
            <a:r>
              <a:rPr b="1"/>
              <a:t>▶ Run this</a:t>
            </a:r>
            <a:r>
              <a:rPr/>
              <a:t> — the WRONG analysis, treating every fish as independent:</a:t>
            </a:r>
          </a:p>
          <a:p>
            <a:pPr lvl="0" indent="0">
              <a:buNone/>
            </a:pPr>
            <a:r>
              <a:rPr>
                <a:solidFill>
                  <a:srgbClr val="5E5E5E"/>
                </a:solidFill>
                <a:latin typeface="Courier"/>
              </a:rPr>
              <a:t># This ignores that fish within a stream may be similar</a:t>
            </a:r>
            <a:br/>
            <a:r>
              <a:rPr>
                <a:solidFill>
                  <a:srgbClr val="003B4F"/>
                </a:solidFill>
                <a:latin typeface="Courier"/>
              </a:rPr>
              <a:t>pseudo_test &lt;- </a:t>
            </a:r>
            <a:r>
              <a:rPr>
                <a:solidFill>
                  <a:srgbClr val="4758AB"/>
                </a:solidFill>
                <a:latin typeface="Courier"/>
              </a:rPr>
              <a:t>t.test</a:t>
            </a:r>
            <a:r>
              <a:rPr>
                <a:solidFill>
                  <a:srgbClr val="003B4F"/>
                </a:solidFill>
                <a:latin typeface="Courier"/>
              </a:rPr>
              <a:t>(mass_g </a:t>
            </a:r>
            <a:r>
              <a:rPr>
                <a:solidFill>
                  <a:srgbClr val="5E5E5E"/>
                </a:solidFill>
                <a:latin typeface="Courier"/>
              </a:rPr>
              <a:t>~</a:t>
            </a:r>
            <a:r>
              <a:rPr>
                <a:solidFill>
                  <a:srgbClr val="003B4F"/>
                </a:solidFill>
                <a:latin typeface="Courier"/>
              </a:rPr>
              <a:t> position, </a:t>
            </a:r>
            <a:r>
              <a:rPr>
                <a:solidFill>
                  <a:srgbClr val="657422"/>
                </a:solidFill>
                <a:latin typeface="Courier"/>
              </a:rPr>
              <a:t>data =</a:t>
            </a:r>
            <a:r>
              <a:rPr>
                <a:solidFill>
                  <a:srgbClr val="003B4F"/>
                </a:solidFill>
                <a:latin typeface="Courier"/>
              </a:rPr>
              <a:t> f_df)</a:t>
            </a:r>
            <a:br/>
            <a:r>
              <a:rPr>
                <a:solidFill>
                  <a:srgbClr val="003B4F"/>
                </a:solidFill>
                <a:latin typeface="Courier"/>
              </a:rPr>
              <a:t>pseudo_test</a:t>
            </a:r>
          </a:p>
          <a:p>
            <a:pPr lvl="0" indent="0" marL="0">
              <a:buNone/>
            </a:pPr>
            <a:r>
              <a:rPr b="1"/>
              <a:t>▶ Run this</a:t>
            </a:r>
            <a:r>
              <a:rPr/>
              <a:t> — the CORRECT analysis, averaging by stream first:</a:t>
            </a:r>
          </a:p>
          <a:p>
            <a:pPr lvl="0" indent="0">
              <a:buNone/>
            </a:pPr>
            <a:r>
              <a:rPr>
                <a:solidFill>
                  <a:srgbClr val="003B4F"/>
                </a:solidFill>
                <a:latin typeface="Courier"/>
              </a:rPr>
              <a:t>stream_means &lt;- f_df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(stream_id, position) </a:t>
            </a:r>
            <a:r>
              <a:rPr>
                <a:solidFill>
                  <a:srgbClr val="5E5E5E"/>
                </a:solidFill>
                <a:latin typeface="Courier"/>
              </a:rPr>
              <a:t>%&gt;%</a:t>
            </a:r>
            <a:br/>
            <a:r>
              <a:rPr>
                <a:solidFill>
                  <a:srgbClr val="003B4F"/>
                </a:solidFill>
                <a:latin typeface="Courier"/>
              </a:rPr>
              <a:t>  </a:t>
            </a:r>
            <a:r>
              <a:rPr>
                <a:solidFill>
                  <a:srgbClr val="4758AB"/>
                </a:solidFill>
                <a:latin typeface="Courier"/>
              </a:rPr>
              <a:t>summarize</a:t>
            </a:r>
            <a:r>
              <a:rPr>
                <a:solidFill>
                  <a:srgbClr val="003B4F"/>
                </a:solidFill>
                <a:latin typeface="Courier"/>
              </a:rPr>
              <a:t>(</a:t>
            </a:r>
            <a:r>
              <a:rPr>
                <a:solidFill>
                  <a:srgbClr val="657422"/>
                </a:solidFill>
                <a:latin typeface="Courier"/>
              </a:rPr>
              <a:t>mean_mass =</a:t>
            </a:r>
            <a:r>
              <a:rPr>
                <a:solidFill>
                  <a:srgbClr val="003B4F"/>
                </a:solidFill>
                <a:latin typeface="Courier"/>
              </a:rPr>
              <a:t> </a:t>
            </a:r>
            <a:r>
              <a:rPr>
                <a:solidFill>
                  <a:srgbClr val="4758AB"/>
                </a:solidFill>
                <a:latin typeface="Courier"/>
              </a:rPr>
              <a:t>mean</a:t>
            </a:r>
            <a:r>
              <a:rPr>
                <a:solidFill>
                  <a:srgbClr val="003B4F"/>
                </a:solidFill>
                <a:latin typeface="Courier"/>
              </a:rPr>
              <a:t>(mass_g), </a:t>
            </a:r>
            <a:r>
              <a:rPr>
                <a:solidFill>
                  <a:srgbClr val="657422"/>
                </a:solidFill>
                <a:latin typeface="Courier"/>
              </a:rPr>
              <a:t>.groups =</a:t>
            </a:r>
            <a:r>
              <a:rPr>
                <a:solidFill>
                  <a:srgbClr val="003B4F"/>
                </a:solidFill>
                <a:latin typeface="Courier"/>
              </a:rPr>
              <a:t> </a:t>
            </a:r>
            <a:r>
              <a:rPr>
                <a:solidFill>
                  <a:srgbClr val="20794D"/>
                </a:solidFill>
                <a:latin typeface="Courier"/>
              </a:rPr>
              <a:t>"drop"</a:t>
            </a:r>
            <a:r>
              <a:rPr>
                <a:solidFill>
                  <a:srgbClr val="003B4F"/>
                </a:solidFill>
                <a:latin typeface="Courier"/>
              </a:rPr>
              <a:t>)</a:t>
            </a:r>
            <a:br/>
            <a:br/>
            <a:r>
              <a:rPr>
                <a:solidFill>
                  <a:srgbClr val="003B4F"/>
                </a:solidFill>
                <a:latin typeface="Courier"/>
              </a:rPr>
              <a:t>stream_wide &lt;- stream_means </a:t>
            </a:r>
            <a:r>
              <a:rPr>
                <a:solidFill>
                  <a:srgbClr val="5E5E5E"/>
                </a:solidFill>
                <a:latin typeface="Courier"/>
              </a:rPr>
              <a:t>%&gt;%</a:t>
            </a:r>
            <a:br/>
            <a:r>
              <a:rPr>
                <a:solidFill>
                  <a:srgbClr val="003B4F"/>
                </a:solidFill>
                <a:latin typeface="Courier"/>
              </a:rPr>
              <a:t>  </a:t>
            </a:r>
            <a:r>
              <a:rPr>
                <a:solidFill>
                  <a:srgbClr val="4758AB"/>
                </a:solidFill>
                <a:latin typeface="Courier"/>
              </a:rPr>
              <a:t>pivot_wider</a:t>
            </a:r>
            <a:r>
              <a:rPr>
                <a:solidFill>
                  <a:srgbClr val="003B4F"/>
                </a:solidFill>
                <a:latin typeface="Courier"/>
              </a:rPr>
              <a:t>(</a:t>
            </a:r>
            <a:r>
              <a:rPr>
                <a:solidFill>
                  <a:srgbClr val="657422"/>
                </a:solidFill>
                <a:latin typeface="Courier"/>
              </a:rPr>
              <a:t>names_from =</a:t>
            </a:r>
            <a:r>
              <a:rPr>
                <a:solidFill>
                  <a:srgbClr val="003B4F"/>
                </a:solidFill>
                <a:latin typeface="Courier"/>
              </a:rPr>
              <a:t> position, </a:t>
            </a:r>
            <a:r>
              <a:rPr>
                <a:solidFill>
                  <a:srgbClr val="657422"/>
                </a:solidFill>
                <a:latin typeface="Courier"/>
              </a:rPr>
              <a:t>values_from =</a:t>
            </a:r>
            <a:r>
              <a:rPr>
                <a:solidFill>
                  <a:srgbClr val="003B4F"/>
                </a:solidFill>
                <a:latin typeface="Courier"/>
              </a:rPr>
              <a:t> mean_mass)</a:t>
            </a:r>
            <a:br/>
            <a:br/>
            <a:r>
              <a:rPr>
                <a:solidFill>
                  <a:srgbClr val="003B4F"/>
                </a:solidFill>
                <a:latin typeface="Courier"/>
              </a:rPr>
              <a:t>proper_test &lt;- </a:t>
            </a:r>
            <a:r>
              <a:rPr>
                <a:solidFill>
                  <a:srgbClr val="4758AB"/>
                </a:solidFill>
                <a:latin typeface="Courier"/>
              </a:rPr>
              <a:t>t.test</a:t>
            </a:r>
            <a:r>
              <a:rPr>
                <a:solidFill>
                  <a:srgbClr val="003B4F"/>
                </a:solidFill>
                <a:latin typeface="Courier"/>
              </a:rPr>
              <a:t>(stream_wide</a:t>
            </a:r>
            <a:r>
              <a:rPr>
                <a:solidFill>
                  <a:srgbClr val="5E5E5E"/>
                </a:solidFill>
                <a:latin typeface="Courier"/>
              </a:rPr>
              <a:t>$</a:t>
            </a:r>
            <a:r>
              <a:rPr>
                <a:solidFill>
                  <a:srgbClr val="003B4F"/>
                </a:solidFill>
                <a:latin typeface="Courier"/>
              </a:rPr>
              <a:t>below, stream_wide</a:t>
            </a:r>
            <a:r>
              <a:rPr>
                <a:solidFill>
                  <a:srgbClr val="5E5E5E"/>
                </a:solidFill>
                <a:latin typeface="Courier"/>
              </a:rPr>
              <a:t>$</a:t>
            </a:r>
            <a:r>
              <a:rPr>
                <a:solidFill>
                  <a:srgbClr val="003B4F"/>
                </a:solidFill>
                <a:latin typeface="Courier"/>
              </a:rPr>
              <a:t>above, </a:t>
            </a:r>
            <a:r>
              <a:rPr>
                <a:solidFill>
                  <a:srgbClr val="657422"/>
                </a:solidFill>
                <a:latin typeface="Courier"/>
              </a:rPr>
              <a:t>paired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proper_test</a:t>
            </a:r>
          </a:p>
          <a:p>
            <a:pPr lvl="0" indent="0" marL="0">
              <a:buNone/>
            </a:pPr>
            <a:r>
              <a:rPr/>
              <a:t>The proper analysis uses </a:t>
            </a:r>
            <a:r>
              <a:rPr b="1"/>
              <a:t>streams as replicates</a:t>
            </a:r>
            <a:r>
              <a:rPr/>
              <a:t> (n = 5, if you kept the default </a:t>
            </a:r>
            <a:r>
              <a:rPr>
                <a:latin typeface="Courier"/>
              </a:rPr>
              <a:t>n_streams</a:t>
            </a:r>
            <a:r>
              <a:rPr/>
              <a:t>), not individual fish (n = 36 per group).</a:t>
            </a:r>
          </a:p>
          <a:p>
            <a:pPr lvl="0" indent="0" marL="0">
              <a:buNone/>
            </a:pPr>
            <a:r>
              <a:rPr/>
              <a:t>✏️ </a:t>
            </a:r>
            <a:r>
              <a:rPr b="1"/>
              <a:t>Your turn:</a:t>
            </a:r>
            <a:r>
              <a:rPr/>
              <a:t> Compare the p-values from </a:t>
            </a:r>
            <a:r>
              <a:rPr>
                <a:latin typeface="Courier"/>
              </a:rPr>
              <a:t>pseudo_test</a:t>
            </a:r>
            <a:r>
              <a:rPr/>
              <a:t> and </a:t>
            </a:r>
            <a:r>
              <a:rPr>
                <a:latin typeface="Courier"/>
              </a:rPr>
              <a:t>proper_test</a:t>
            </a:r>
            <a:r>
              <a:rPr/>
              <a:t>. Which one is smaller? Why does pretending fish are independent make the result look more significant than it should? </a:t>
            </a:r>
            <a:r>
              <a:rPr>
                <a:latin typeface="Courier"/>
              </a:rPr>
              <a:t>________________________</a:t>
            </a:r>
          </a:p>
          <a:p>
            <a:pPr lvl="0" indent="0" marL="1270000">
              <a:buNone/>
            </a:pPr>
            <a:r>
              <a:rPr sz="2000" b="1"/>
              <a:t>Tip</a:t>
            </a:r>
          </a:p>
          <a:p>
            <a:pPr lvl="0" indent="0" marL="1270000">
              <a:buNone/>
            </a:pPr>
            <a:r>
              <a:rPr sz="2000" b="1"/>
              <a:t>🚀 If you finish early:</a:t>
            </a:r>
            <a:r>
              <a:rPr sz="2000"/>
              <a:t> Rerun Part 2’s simulation with </a:t>
            </a:r>
            <a:r>
              <a:rPr sz="2000">
                <a:latin typeface="Courier"/>
              </a:rPr>
              <a:t>n_fish_per_site &lt;- 50</a:t>
            </a:r>
            <a:r>
              <a:rPr sz="2000"/>
              <a:t> instead of 6 (keep everything else the same). Does </a:t>
            </a:r>
            <a:r>
              <a:rPr sz="2000">
                <a:latin typeface="Courier"/>
              </a:rPr>
              <a:t>pseudo_test</a:t>
            </a:r>
            <a:r>
              <a:rPr sz="2000"/>
              <a:t>’s p-value get even smaller, even though the true number of streams (and true replicates) hasn’t changed?</a:t>
            </a:r>
          </a:p>
          <a:p>
            <a:pPr lvl="0" indent="0">
              <a:buNone/>
            </a:pPr>
            <a:r>
              <a:rPr>
                <a:solidFill>
                  <a:srgbClr val="5E5E5E"/>
                </a:solidFill>
                <a:latin typeface="Courier"/>
              </a:rPr>
              <a:t># Write your code here: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4 · Power Analysis — Planning Phase</a:t>
            </a:r>
          </a:p>
        </p:txBody>
      </p:sp>
      <p:sp>
        <p:nvSpPr>
          <p:cNvPr id="3" name="Content Placeholder 2"/>
          <p:cNvSpPr>
            <a:spLocks noGrp="1"/>
          </p:cNvSpPr>
          <p:nvPr>
            <p:ph idx="1"/>
          </p:nvPr>
        </p:nvSpPr>
        <p:spPr/>
        <p:txBody>
          <a:bodyPr/>
          <a:lstStyle/>
          <a:p>
            <a:pPr lvl="0" indent="0" marL="0">
              <a:buNone/>
            </a:pPr>
            <a:r>
              <a:rPr/>
              <a:t>Cohen’s d measures the difference between two group means in standard deviations. It helps understand the magnitude of a difference beyond statistical significance. A Cohen’s d of 0.2 is a small effect, 0.5 a moderate effect, 0.8 a large effect.</a:t>
            </a:r>
          </a:p>
          <a:p>
            <a:pPr lvl="0" indent="0" marL="0">
              <a:buNone/>
            </a:pPr>
            <a:r>
              <a:rPr b="1"/>
              <a:t>▶ Run this</a:t>
            </a:r>
            <a:r>
              <a:rPr/>
              <a:t> — set expected values from pilot data, and compute the effect size:</a:t>
            </a:r>
          </a:p>
          <a:p>
            <a:pPr lvl="0" indent="0">
              <a:buNone/>
            </a:pPr>
            <a:r>
              <a:rPr>
                <a:solidFill>
                  <a:srgbClr val="003B4F"/>
                </a:solidFill>
                <a:latin typeface="Courier"/>
              </a:rPr>
              <a:t>above_mean &lt;- </a:t>
            </a:r>
            <a:r>
              <a:rPr>
                <a:solidFill>
                  <a:srgbClr val="AD0000"/>
                </a:solidFill>
                <a:latin typeface="Courier"/>
              </a:rPr>
              <a:t>85</a:t>
            </a:r>
            <a:br/>
            <a:r>
              <a:rPr>
                <a:solidFill>
                  <a:srgbClr val="003B4F"/>
                </a:solidFill>
                <a:latin typeface="Courier"/>
              </a:rPr>
              <a:t>below_mean &lt;- </a:t>
            </a:r>
            <a:r>
              <a:rPr>
                <a:solidFill>
                  <a:srgbClr val="AD0000"/>
                </a:solidFill>
                <a:latin typeface="Courier"/>
              </a:rPr>
              <a:t>110</a:t>
            </a:r>
            <a:br/>
            <a:r>
              <a:rPr>
                <a:solidFill>
                  <a:srgbClr val="003B4F"/>
                </a:solidFill>
                <a:latin typeface="Courier"/>
              </a:rPr>
              <a:t>pooled_sd &lt;- </a:t>
            </a:r>
            <a:r>
              <a:rPr>
                <a:solidFill>
                  <a:srgbClr val="AD0000"/>
                </a:solidFill>
                <a:latin typeface="Courier"/>
              </a:rPr>
              <a:t>20</a:t>
            </a:r>
            <a:br/>
            <a:br/>
            <a:r>
              <a:rPr>
                <a:solidFill>
                  <a:srgbClr val="003B4F"/>
                </a:solidFill>
                <a:latin typeface="Courier"/>
              </a:rPr>
              <a:t>effect_val &lt;- </a:t>
            </a:r>
            <a:r>
              <a:rPr>
                <a:solidFill>
                  <a:srgbClr val="4758AB"/>
                </a:solidFill>
                <a:latin typeface="Courier"/>
              </a:rPr>
              <a:t>abs</a:t>
            </a:r>
            <a:r>
              <a:rPr>
                <a:solidFill>
                  <a:srgbClr val="003B4F"/>
                </a:solidFill>
                <a:latin typeface="Courier"/>
              </a:rPr>
              <a:t>(below_mean </a:t>
            </a:r>
            <a:r>
              <a:rPr>
                <a:solidFill>
                  <a:srgbClr val="5E5E5E"/>
                </a:solidFill>
                <a:latin typeface="Courier"/>
              </a:rPr>
              <a:t>-</a:t>
            </a:r>
            <a:r>
              <a:rPr>
                <a:solidFill>
                  <a:srgbClr val="003B4F"/>
                </a:solidFill>
                <a:latin typeface="Courier"/>
              </a:rPr>
              <a:t> above_mean) </a:t>
            </a:r>
            <a:r>
              <a:rPr>
                <a:solidFill>
                  <a:srgbClr val="5E5E5E"/>
                </a:solidFill>
                <a:latin typeface="Courier"/>
              </a:rPr>
              <a:t>/</a:t>
            </a:r>
            <a:r>
              <a:rPr>
                <a:solidFill>
                  <a:srgbClr val="003B4F"/>
                </a:solidFill>
                <a:latin typeface="Courier"/>
              </a:rPr>
              <a:t> pooled_sd</a:t>
            </a:r>
            <a:br/>
            <a:r>
              <a:rPr>
                <a:solidFill>
                  <a:srgbClr val="003B4F"/>
                </a:solidFill>
                <a:latin typeface="Courier"/>
              </a:rPr>
              <a:t>effect_val</a:t>
            </a:r>
          </a:p>
          <a:p>
            <a:pPr lvl="0" indent="0" marL="0">
              <a:buNone/>
            </a:pPr>
            <a:r>
              <a:rPr b="1"/>
              <a:t>▶ Run this</a:t>
            </a:r>
            <a:r>
              <a:rPr/>
              <a:t> — required sample size for 80% power:</a:t>
            </a:r>
          </a:p>
          <a:p>
            <a:pPr lvl="0" indent="0">
              <a:buNone/>
            </a:pPr>
            <a:r>
              <a:rPr>
                <a:solidFill>
                  <a:srgbClr val="003B4F"/>
                </a:solidFill>
                <a:latin typeface="Courier"/>
              </a:rPr>
              <a:t>power_result &lt;- </a:t>
            </a:r>
            <a:r>
              <a:rPr>
                <a:solidFill>
                  <a:srgbClr val="4758AB"/>
                </a:solidFill>
                <a:latin typeface="Courier"/>
              </a:rPr>
              <a:t>pwr.t.test</a:t>
            </a:r>
            <a:r>
              <a:rPr>
                <a:solidFill>
                  <a:srgbClr val="003B4F"/>
                </a:solidFill>
                <a:latin typeface="Courier"/>
              </a:rPr>
              <a:t>(</a:t>
            </a:r>
            <a:br/>
            <a:r>
              <a:rPr>
                <a:solidFill>
                  <a:srgbClr val="003B4F"/>
                </a:solidFill>
                <a:latin typeface="Courier"/>
              </a:rPr>
              <a:t>  </a:t>
            </a:r>
            <a:r>
              <a:rPr>
                <a:solidFill>
                  <a:srgbClr val="657422"/>
                </a:solidFill>
                <a:latin typeface="Courier"/>
              </a:rPr>
              <a:t>d =</a:t>
            </a:r>
            <a:r>
              <a:rPr>
                <a:solidFill>
                  <a:srgbClr val="003B4F"/>
                </a:solidFill>
                <a:latin typeface="Courier"/>
              </a:rPr>
              <a:t> effect_val,</a:t>
            </a:r>
            <a:br/>
            <a:r>
              <a:rPr>
                <a:solidFill>
                  <a:srgbClr val="003B4F"/>
                </a:solidFill>
                <a:latin typeface="Courier"/>
              </a:rPr>
              <a:t>  </a:t>
            </a:r>
            <a:r>
              <a:rPr>
                <a:solidFill>
                  <a:srgbClr val="657422"/>
                </a:solidFill>
                <a:latin typeface="Courier"/>
              </a:rPr>
              <a:t>sig.level =</a:t>
            </a:r>
            <a:r>
              <a:rPr>
                <a:solidFill>
                  <a:srgbClr val="003B4F"/>
                </a:solidFill>
                <a:latin typeface="Courier"/>
              </a:rPr>
              <a:t> </a:t>
            </a:r>
            <a:r>
              <a:rPr>
                <a:solidFill>
                  <a:srgbClr val="AD0000"/>
                </a:solidFill>
                <a:latin typeface="Courier"/>
              </a:rPr>
              <a:t>0.05</a:t>
            </a:r>
            <a:r>
              <a:rPr>
                <a:solidFill>
                  <a:srgbClr val="003B4F"/>
                </a:solidFill>
                <a:latin typeface="Courier"/>
              </a:rPr>
              <a:t>,</a:t>
            </a:r>
            <a:br/>
            <a:r>
              <a:rPr>
                <a:solidFill>
                  <a:srgbClr val="003B4F"/>
                </a:solidFill>
                <a:latin typeface="Courier"/>
              </a:rPr>
              <a:t>  </a:t>
            </a:r>
            <a:r>
              <a:rPr>
                <a:solidFill>
                  <a:srgbClr val="657422"/>
                </a:solidFill>
                <a:latin typeface="Courier"/>
              </a:rPr>
              <a:t>power =</a:t>
            </a:r>
            <a:r>
              <a:rPr>
                <a:solidFill>
                  <a:srgbClr val="003B4F"/>
                </a:solidFill>
                <a:latin typeface="Courier"/>
              </a:rPr>
              <a:t> </a:t>
            </a:r>
            <a:r>
              <a:rPr>
                <a:solidFill>
                  <a:srgbClr val="AD0000"/>
                </a:solidFill>
                <a:latin typeface="Courier"/>
              </a:rPr>
              <a:t>0.8</a:t>
            </a:r>
            <a:r>
              <a:rPr>
                <a:solidFill>
                  <a:srgbClr val="003B4F"/>
                </a:solidFill>
                <a:latin typeface="Courier"/>
              </a:rPr>
              <a:t>,</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"paired"</a:t>
            </a:r>
            <a:br/>
            <a:r>
              <a:rPr>
                <a:solidFill>
                  <a:srgbClr val="003B4F"/>
                </a:solidFill>
                <a:latin typeface="Courier"/>
              </a:rPr>
              <a:t>)</a:t>
            </a:r>
            <a:br/>
            <a:r>
              <a:rPr>
                <a:solidFill>
                  <a:srgbClr val="003B4F"/>
                </a:solidFill>
                <a:latin typeface="Courier"/>
              </a:rPr>
              <a:t>power_result</a:t>
            </a:r>
          </a:p>
          <a:p>
            <a:pPr lvl="0" indent="0" marL="0">
              <a:buNone/>
            </a:pPr>
            <a:r>
              <a:rPr/>
              <a:t>✏️ </a:t>
            </a:r>
            <a:r>
              <a:rPr b="1"/>
              <a:t>Your turn:</a:t>
            </a:r>
            <a:r>
              <a:rPr/>
              <a:t> According to </a:t>
            </a:r>
            <a:r>
              <a:rPr>
                <a:latin typeface="Courier"/>
              </a:rPr>
              <a:t>power_result</a:t>
            </a:r>
            <a:r>
              <a:rPr/>
              <a:t>, how many streams do we need for 80% power? </a:t>
            </a:r>
            <a:r>
              <a:rPr>
                <a:latin typeface="Courier"/>
              </a:rPr>
              <a:t>________________________</a:t>
            </a:r>
          </a:p>
          <a:p>
            <a:pPr lvl="0" indent="0" marL="0">
              <a:buNone/>
            </a:pPr>
            <a:r>
              <a:rPr b="1"/>
              <a:t>▶ Run this</a:t>
            </a:r>
            <a:r>
              <a:rPr/>
              <a:t> — visualize the power curve:</a:t>
            </a:r>
          </a:p>
          <a:p>
            <a:pPr lvl="0" indent="0">
              <a:buNone/>
            </a:pPr>
            <a:r>
              <a:rPr>
                <a:solidFill>
                  <a:srgbClr val="003B4F"/>
                </a:solidFill>
                <a:latin typeface="Courier"/>
              </a:rPr>
              <a:t>power_curve_df &lt;- </a:t>
            </a:r>
            <a:r>
              <a:rPr>
                <a:solidFill>
                  <a:srgbClr val="4758AB"/>
                </a:solidFill>
                <a:latin typeface="Courier"/>
              </a:rPr>
              <a:t>tibble</a:t>
            </a:r>
            <a:r>
              <a:rPr>
                <a:solidFill>
                  <a:srgbClr val="003B4F"/>
                </a:solidFill>
                <a:latin typeface="Courier"/>
              </a:rPr>
              <a:t>(</a:t>
            </a:r>
            <a:r>
              <a:rPr>
                <a:solidFill>
                  <a:srgbClr val="657422"/>
                </a:solidFill>
                <a:latin typeface="Courier"/>
              </a:rPr>
              <a:t>streams =</a:t>
            </a:r>
            <a:r>
              <a:rPr>
                <a:solidFill>
                  <a:srgbClr val="003B4F"/>
                </a:solidFill>
                <a:latin typeface="Courier"/>
              </a:rPr>
              <a:t> </a:t>
            </a:r>
            <a:r>
              <a:rPr>
                <a:solidFill>
                  <a:srgbClr val="AD0000"/>
                </a:solidFill>
                <a:latin typeface="Courier"/>
              </a:rPr>
              <a:t>3</a:t>
            </a:r>
            <a:r>
              <a:rPr>
                <a:solidFill>
                  <a:srgbClr val="5E5E5E"/>
                </a:solidFill>
                <a:latin typeface="Courier"/>
              </a:rPr>
              <a:t>:</a:t>
            </a:r>
            <a:r>
              <a:rPr>
                <a:solidFill>
                  <a:srgbClr val="AD0000"/>
                </a:solidFill>
                <a:latin typeface="Courier"/>
              </a:rPr>
              <a:t>15</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rowwise</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power =</a:t>
            </a:r>
            <a:r>
              <a:rPr>
                <a:solidFill>
                  <a:srgbClr val="003B4F"/>
                </a:solidFill>
                <a:latin typeface="Courier"/>
              </a:rPr>
              <a:t> </a:t>
            </a:r>
            <a:r>
              <a:rPr>
                <a:solidFill>
                  <a:srgbClr val="4758AB"/>
                </a:solidFill>
                <a:latin typeface="Courier"/>
              </a:rPr>
              <a:t>pwr.t.test</a:t>
            </a:r>
            <a:r>
              <a:rPr>
                <a:solidFill>
                  <a:srgbClr val="003B4F"/>
                </a:solidFill>
                <a:latin typeface="Courier"/>
              </a:rPr>
              <a:t>(</a:t>
            </a:r>
            <a:r>
              <a:rPr>
                <a:solidFill>
                  <a:srgbClr val="657422"/>
                </a:solidFill>
                <a:latin typeface="Courier"/>
              </a:rPr>
              <a:t>n =</a:t>
            </a:r>
            <a:r>
              <a:rPr>
                <a:solidFill>
                  <a:srgbClr val="003B4F"/>
                </a:solidFill>
                <a:latin typeface="Courier"/>
              </a:rPr>
              <a:t> streams,</a:t>
            </a:r>
            <a:br/>
            <a:r>
              <a:rPr>
                <a:solidFill>
                  <a:srgbClr val="003B4F"/>
                </a:solidFill>
                <a:latin typeface="Courier"/>
              </a:rPr>
              <a:t>                            </a:t>
            </a:r>
            <a:r>
              <a:rPr>
                <a:solidFill>
                  <a:srgbClr val="657422"/>
                </a:solidFill>
                <a:latin typeface="Courier"/>
              </a:rPr>
              <a:t>d =</a:t>
            </a:r>
            <a:r>
              <a:rPr>
                <a:solidFill>
                  <a:srgbClr val="003B4F"/>
                </a:solidFill>
                <a:latin typeface="Courier"/>
              </a:rPr>
              <a:t> effect_val,</a:t>
            </a:r>
            <a:br/>
            <a:r>
              <a:rPr>
                <a:solidFill>
                  <a:srgbClr val="003B4F"/>
                </a:solidFill>
                <a:latin typeface="Courier"/>
              </a:rPr>
              <a:t>                            </a:t>
            </a:r>
            <a:r>
              <a:rPr>
                <a:solidFill>
                  <a:srgbClr val="657422"/>
                </a:solidFill>
                <a:latin typeface="Courier"/>
              </a:rPr>
              <a:t>sig.level =</a:t>
            </a:r>
            <a:r>
              <a:rPr>
                <a:solidFill>
                  <a:srgbClr val="003B4F"/>
                </a:solidFill>
                <a:latin typeface="Courier"/>
              </a:rPr>
              <a:t> </a:t>
            </a:r>
            <a:r>
              <a:rPr>
                <a:solidFill>
                  <a:srgbClr val="AD0000"/>
                </a:solidFill>
                <a:latin typeface="Courier"/>
              </a:rPr>
              <a:t>0.05</a:t>
            </a:r>
            <a:r>
              <a:rPr>
                <a:solidFill>
                  <a:srgbClr val="003B4F"/>
                </a:solidFill>
                <a:latin typeface="Courier"/>
              </a:rPr>
              <a:t>,</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"paired"</a:t>
            </a:r>
            <a:r>
              <a:rPr>
                <a:solidFill>
                  <a:srgbClr val="003B4F"/>
                </a:solidFill>
                <a:latin typeface="Courier"/>
              </a:rPr>
              <a:t>)</a:t>
            </a:r>
            <a:r>
              <a:rPr>
                <a:solidFill>
                  <a:srgbClr val="5E5E5E"/>
                </a:solidFill>
                <a:latin typeface="Courier"/>
              </a:rPr>
              <a:t>$</a:t>
            </a:r>
            <a:r>
              <a:rPr>
                <a:solidFill>
                  <a:srgbClr val="003B4F"/>
                </a:solidFill>
                <a:latin typeface="Courier"/>
              </a:rPr>
              <a:t>power) </a:t>
            </a:r>
            <a:r>
              <a:rPr>
                <a:solidFill>
                  <a:srgbClr val="5E5E5E"/>
                </a:solidFill>
                <a:latin typeface="Courier"/>
              </a:rPr>
              <a:t>%&gt;%</a:t>
            </a:r>
            <a:br/>
            <a:r>
              <a:rPr>
                <a:solidFill>
                  <a:srgbClr val="003B4F"/>
                </a:solidFill>
                <a:latin typeface="Courier"/>
              </a:rPr>
              <a:t>  </a:t>
            </a:r>
            <a:r>
              <a:rPr>
                <a:solidFill>
                  <a:srgbClr val="4758AB"/>
                </a:solidFill>
                <a:latin typeface="Courier"/>
              </a:rPr>
              <a:t>ungroup</a:t>
            </a:r>
            <a:r>
              <a:rPr>
                <a:solidFill>
                  <a:srgbClr val="003B4F"/>
                </a:solidFill>
                <a:latin typeface="Courier"/>
              </a:rPr>
              <a:t>()</a:t>
            </a:r>
            <a:br/>
            <a:br/>
            <a:r>
              <a:rPr>
                <a:solidFill>
                  <a:srgbClr val="003B4F"/>
                </a:solidFill>
                <a:latin typeface="Courier"/>
              </a:rPr>
              <a:t>curve_plot &lt;- </a:t>
            </a:r>
            <a:r>
              <a:rPr>
                <a:solidFill>
                  <a:srgbClr val="4758AB"/>
                </a:solidFill>
                <a:latin typeface="Courier"/>
              </a:rPr>
              <a:t>ggplot</a:t>
            </a:r>
            <a:r>
              <a:rPr>
                <a:solidFill>
                  <a:srgbClr val="003B4F"/>
                </a:solidFill>
                <a:latin typeface="Courier"/>
              </a:rPr>
              <a:t>(power_curve_df,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streams, </a:t>
            </a:r>
            <a:r>
              <a:rPr>
                <a:solidFill>
                  <a:srgbClr val="657422"/>
                </a:solidFill>
                <a:latin typeface="Courier"/>
              </a:rPr>
              <a:t>y =</a:t>
            </a:r>
            <a:r>
              <a:rPr>
                <a:solidFill>
                  <a:srgbClr val="003B4F"/>
                </a:solidFill>
                <a:latin typeface="Courier"/>
              </a:rPr>
              <a:t> power)) </a:t>
            </a:r>
            <a:r>
              <a:rPr>
                <a:solidFill>
                  <a:srgbClr val="5E5E5E"/>
                </a:solidFill>
                <a:latin typeface="Courier"/>
              </a:rPr>
              <a:t>+</a:t>
            </a:r>
            <a:br/>
            <a:r>
              <a:rPr>
                <a:solidFill>
                  <a:srgbClr val="003B4F"/>
                </a:solidFill>
                <a:latin typeface="Courier"/>
              </a:rPr>
              <a:t>  </a:t>
            </a:r>
            <a:r>
              <a:rPr>
                <a:solidFill>
                  <a:srgbClr val="4758AB"/>
                </a:solidFill>
                <a:latin typeface="Courier"/>
              </a:rPr>
              <a:t>geom_line</a:t>
            </a:r>
            <a:r>
              <a:rPr>
                <a:solidFill>
                  <a:srgbClr val="003B4F"/>
                </a:solidFill>
                <a:latin typeface="Courier"/>
              </a:rPr>
              <a:t>(</a:t>
            </a:r>
            <a:r>
              <a:rPr>
                <a:solidFill>
                  <a:srgbClr val="657422"/>
                </a:solidFill>
                <a:latin typeface="Courier"/>
              </a:rPr>
              <a:t>linewidth =</a:t>
            </a:r>
            <a:r>
              <a:rPr>
                <a:solidFill>
                  <a:srgbClr val="003B4F"/>
                </a:solidFill>
                <a:latin typeface="Courier"/>
              </a:rPr>
              <a:t> </a:t>
            </a:r>
            <a:r>
              <a:rPr>
                <a:solidFill>
                  <a:srgbClr val="AD0000"/>
                </a:solidFill>
                <a:latin typeface="Courier"/>
              </a:rPr>
              <a:t>1.2</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"blue"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geom_hline</a:t>
            </a:r>
            <a:r>
              <a:rPr>
                <a:solidFill>
                  <a:srgbClr val="003B4F"/>
                </a:solidFill>
                <a:latin typeface="Courier"/>
              </a:rPr>
              <a:t>(</a:t>
            </a:r>
            <a:r>
              <a:rPr>
                <a:solidFill>
                  <a:srgbClr val="657422"/>
                </a:solidFill>
                <a:latin typeface="Courier"/>
              </a:rPr>
              <a:t>yintercept =</a:t>
            </a:r>
            <a:r>
              <a:rPr>
                <a:solidFill>
                  <a:srgbClr val="003B4F"/>
                </a:solidFill>
                <a:latin typeface="Courier"/>
              </a:rPr>
              <a:t> </a:t>
            </a:r>
            <a:r>
              <a:rPr>
                <a:solidFill>
                  <a:srgbClr val="AD0000"/>
                </a:solidFill>
                <a:latin typeface="Courier"/>
              </a:rPr>
              <a:t>0.8</a:t>
            </a:r>
            <a:r>
              <a:rPr>
                <a:solidFill>
                  <a:srgbClr val="003B4F"/>
                </a:solidFill>
                <a:latin typeface="Courier"/>
              </a:rPr>
              <a:t>, </a:t>
            </a:r>
            <a:r>
              <a:rPr>
                <a:solidFill>
                  <a:srgbClr val="657422"/>
                </a:solidFill>
                <a:latin typeface="Courier"/>
              </a:rPr>
              <a:t>linetype =</a:t>
            </a:r>
            <a:r>
              <a:rPr>
                <a:solidFill>
                  <a:srgbClr val="003B4F"/>
                </a:solidFill>
                <a:latin typeface="Courier"/>
              </a:rPr>
              <a:t> </a:t>
            </a:r>
            <a:r>
              <a:rPr>
                <a:solidFill>
                  <a:srgbClr val="20794D"/>
                </a:solidFill>
                <a:latin typeface="Courier"/>
              </a:rPr>
              <a:t>"dashed"</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"red"</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geom_vline</a:t>
            </a:r>
            <a:r>
              <a:rPr>
                <a:solidFill>
                  <a:srgbClr val="003B4F"/>
                </a:solidFill>
                <a:latin typeface="Courier"/>
              </a:rPr>
              <a:t>(</a:t>
            </a:r>
            <a:r>
              <a:rPr>
                <a:solidFill>
                  <a:srgbClr val="657422"/>
                </a:solidFill>
                <a:latin typeface="Courier"/>
              </a:rPr>
              <a:t>xintercept =</a:t>
            </a:r>
            <a:r>
              <a:rPr>
                <a:solidFill>
                  <a:srgbClr val="003B4F"/>
                </a:solidFill>
                <a:latin typeface="Courier"/>
              </a:rPr>
              <a:t> </a:t>
            </a:r>
            <a:r>
              <a:rPr>
                <a:solidFill>
                  <a:srgbClr val="4758AB"/>
                </a:solidFill>
                <a:latin typeface="Courier"/>
              </a:rPr>
              <a:t>ceiling</a:t>
            </a:r>
            <a:r>
              <a:rPr>
                <a:solidFill>
                  <a:srgbClr val="003B4F"/>
                </a:solidFill>
                <a:latin typeface="Courier"/>
              </a:rPr>
              <a:t>(power_result</a:t>
            </a:r>
            <a:r>
              <a:rPr>
                <a:solidFill>
                  <a:srgbClr val="5E5E5E"/>
                </a:solidFill>
                <a:latin typeface="Courier"/>
              </a:rPr>
              <a:t>$</a:t>
            </a:r>
            <a:r>
              <a:rPr>
                <a:solidFill>
                  <a:srgbClr val="003B4F"/>
                </a:solidFill>
                <a:latin typeface="Courier"/>
              </a:rPr>
              <a:t>n), </a:t>
            </a:r>
            <a:r>
              <a:rPr>
                <a:solidFill>
                  <a:srgbClr val="657422"/>
                </a:solidFill>
                <a:latin typeface="Courier"/>
              </a:rPr>
              <a:t>linetype =</a:t>
            </a:r>
            <a:r>
              <a:rPr>
                <a:solidFill>
                  <a:srgbClr val="003B4F"/>
                </a:solidFill>
                <a:latin typeface="Courier"/>
              </a:rPr>
              <a:t> </a:t>
            </a:r>
            <a:r>
              <a:rPr>
                <a:solidFill>
                  <a:srgbClr val="20794D"/>
                </a:solidFill>
                <a:latin typeface="Courier"/>
              </a:rPr>
              <a:t>"dashed"</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"red"</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"Number of Streams"</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"Statistical Power"</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br/>
            <a:r>
              <a:rPr>
                <a:solidFill>
                  <a:srgbClr val="003B4F"/>
                </a:solidFill>
                <a:latin typeface="Courier"/>
              </a:rPr>
              <a:t>curve_plot</a:t>
            </a:r>
          </a:p>
          <a:p>
            <a:pPr lvl="0" indent="0" marL="0">
              <a:buNone/>
            </a:pPr>
            <a:r>
              <a:rPr/>
              <a:t>✏️ </a:t>
            </a:r>
            <a:r>
              <a:rPr b="1"/>
              <a:t>Your turn — experiment with different scenarios.</a:t>
            </a:r>
            <a:r>
              <a:rPr/>
              <a:t> Change the values below and rerun:</a:t>
            </a:r>
          </a:p>
          <a:p>
            <a:pPr lvl="0" indent="0">
              <a:buNone/>
            </a:pPr>
            <a:r>
              <a:rPr>
                <a:solidFill>
                  <a:srgbClr val="003B4F"/>
                </a:solidFill>
                <a:latin typeface="Courier"/>
              </a:rPr>
              <a:t>above_mean &lt;- </a:t>
            </a:r>
            <a:r>
              <a:rPr>
                <a:solidFill>
                  <a:srgbClr val="AD0000"/>
                </a:solidFill>
                <a:latin typeface="Courier"/>
              </a:rPr>
              <a:t>85</a:t>
            </a:r>
            <a:br/>
            <a:r>
              <a:rPr>
                <a:solidFill>
                  <a:srgbClr val="003B4F"/>
                </a:solidFill>
                <a:latin typeface="Courier"/>
              </a:rPr>
              <a:t>below_mean &lt;- </a:t>
            </a:r>
            <a:r>
              <a:rPr>
                <a:solidFill>
                  <a:srgbClr val="AD0000"/>
                </a:solidFill>
                <a:latin typeface="Courier"/>
              </a:rPr>
              <a:t>100</a:t>
            </a:r>
            <a:r>
              <a:rPr>
                <a:solidFill>
                  <a:srgbClr val="003B4F"/>
                </a:solidFill>
                <a:latin typeface="Courier"/>
              </a:rPr>
              <a:t>    </a:t>
            </a:r>
            <a:r>
              <a:rPr>
                <a:solidFill>
                  <a:srgbClr val="5E5E5E"/>
                </a:solidFill>
                <a:latin typeface="Courier"/>
              </a:rPr>
              <a:t># Try changing this</a:t>
            </a:r>
            <a:br/>
            <a:r>
              <a:rPr>
                <a:solidFill>
                  <a:srgbClr val="003B4F"/>
                </a:solidFill>
                <a:latin typeface="Courier"/>
              </a:rPr>
              <a:t>pooled_sd &lt;- </a:t>
            </a:r>
            <a:r>
              <a:rPr>
                <a:solidFill>
                  <a:srgbClr val="AD0000"/>
                </a:solidFill>
                <a:latin typeface="Courier"/>
              </a:rPr>
              <a:t>25</a:t>
            </a:r>
            <a:r>
              <a:rPr>
                <a:solidFill>
                  <a:srgbClr val="003B4F"/>
                </a:solidFill>
                <a:latin typeface="Courier"/>
              </a:rPr>
              <a:t>       </a:t>
            </a:r>
            <a:r>
              <a:rPr>
                <a:solidFill>
                  <a:srgbClr val="5E5E5E"/>
                </a:solidFill>
                <a:latin typeface="Courier"/>
              </a:rPr>
              <a:t># Try changing this</a:t>
            </a:r>
            <a:br/>
            <a:br/>
            <a:r>
              <a:rPr>
                <a:solidFill>
                  <a:srgbClr val="003B4F"/>
                </a:solidFill>
                <a:latin typeface="Courier"/>
              </a:rPr>
              <a:t>effect_val &lt;- </a:t>
            </a:r>
            <a:r>
              <a:rPr>
                <a:solidFill>
                  <a:srgbClr val="4758AB"/>
                </a:solidFill>
                <a:latin typeface="Courier"/>
              </a:rPr>
              <a:t>abs</a:t>
            </a:r>
            <a:r>
              <a:rPr>
                <a:solidFill>
                  <a:srgbClr val="003B4F"/>
                </a:solidFill>
                <a:latin typeface="Courier"/>
              </a:rPr>
              <a:t>(below_mean </a:t>
            </a:r>
            <a:r>
              <a:rPr>
                <a:solidFill>
                  <a:srgbClr val="5E5E5E"/>
                </a:solidFill>
                <a:latin typeface="Courier"/>
              </a:rPr>
              <a:t>-</a:t>
            </a:r>
            <a:r>
              <a:rPr>
                <a:solidFill>
                  <a:srgbClr val="003B4F"/>
                </a:solidFill>
                <a:latin typeface="Courier"/>
              </a:rPr>
              <a:t> above_mean) </a:t>
            </a:r>
            <a:r>
              <a:rPr>
                <a:solidFill>
                  <a:srgbClr val="5E5E5E"/>
                </a:solidFill>
                <a:latin typeface="Courier"/>
              </a:rPr>
              <a:t>/</a:t>
            </a:r>
            <a:r>
              <a:rPr>
                <a:solidFill>
                  <a:srgbClr val="003B4F"/>
                </a:solidFill>
                <a:latin typeface="Courier"/>
              </a:rPr>
              <a:t> pooled_sd</a:t>
            </a:r>
            <a:br/>
            <a:br/>
            <a:r>
              <a:rPr>
                <a:solidFill>
                  <a:srgbClr val="003B4F"/>
                </a:solidFill>
                <a:latin typeface="Courier"/>
              </a:rPr>
              <a:t>power_result &lt;- </a:t>
            </a:r>
            <a:r>
              <a:rPr>
                <a:solidFill>
                  <a:srgbClr val="4758AB"/>
                </a:solidFill>
                <a:latin typeface="Courier"/>
              </a:rPr>
              <a:t>pwr.t.test</a:t>
            </a:r>
            <a:r>
              <a:rPr>
                <a:solidFill>
                  <a:srgbClr val="003B4F"/>
                </a:solidFill>
                <a:latin typeface="Courier"/>
              </a:rPr>
              <a:t>(</a:t>
            </a:r>
            <a:br/>
            <a:r>
              <a:rPr>
                <a:solidFill>
                  <a:srgbClr val="003B4F"/>
                </a:solidFill>
                <a:latin typeface="Courier"/>
              </a:rPr>
              <a:t>  </a:t>
            </a:r>
            <a:r>
              <a:rPr>
                <a:solidFill>
                  <a:srgbClr val="657422"/>
                </a:solidFill>
                <a:latin typeface="Courier"/>
              </a:rPr>
              <a:t>d =</a:t>
            </a:r>
            <a:r>
              <a:rPr>
                <a:solidFill>
                  <a:srgbClr val="003B4F"/>
                </a:solidFill>
                <a:latin typeface="Courier"/>
              </a:rPr>
              <a:t> effect_val,</a:t>
            </a:r>
            <a:br/>
            <a:r>
              <a:rPr>
                <a:solidFill>
                  <a:srgbClr val="003B4F"/>
                </a:solidFill>
                <a:latin typeface="Courier"/>
              </a:rPr>
              <a:t>  </a:t>
            </a:r>
            <a:r>
              <a:rPr>
                <a:solidFill>
                  <a:srgbClr val="657422"/>
                </a:solidFill>
                <a:latin typeface="Courier"/>
              </a:rPr>
              <a:t>sig.level =</a:t>
            </a:r>
            <a:r>
              <a:rPr>
                <a:solidFill>
                  <a:srgbClr val="003B4F"/>
                </a:solidFill>
                <a:latin typeface="Courier"/>
              </a:rPr>
              <a:t> </a:t>
            </a:r>
            <a:r>
              <a:rPr>
                <a:solidFill>
                  <a:srgbClr val="AD0000"/>
                </a:solidFill>
                <a:latin typeface="Courier"/>
              </a:rPr>
              <a:t>0.05</a:t>
            </a:r>
            <a:r>
              <a:rPr>
                <a:solidFill>
                  <a:srgbClr val="003B4F"/>
                </a:solidFill>
                <a:latin typeface="Courier"/>
              </a:rPr>
              <a:t>,</a:t>
            </a:r>
            <a:br/>
            <a:r>
              <a:rPr>
                <a:solidFill>
                  <a:srgbClr val="003B4F"/>
                </a:solidFill>
                <a:latin typeface="Courier"/>
              </a:rPr>
              <a:t>  </a:t>
            </a:r>
            <a:r>
              <a:rPr>
                <a:solidFill>
                  <a:srgbClr val="657422"/>
                </a:solidFill>
                <a:latin typeface="Courier"/>
              </a:rPr>
              <a:t>power =</a:t>
            </a:r>
            <a:r>
              <a:rPr>
                <a:solidFill>
                  <a:srgbClr val="003B4F"/>
                </a:solidFill>
                <a:latin typeface="Courier"/>
              </a:rPr>
              <a:t> </a:t>
            </a:r>
            <a:r>
              <a:rPr>
                <a:solidFill>
                  <a:srgbClr val="AD0000"/>
                </a:solidFill>
                <a:latin typeface="Courier"/>
              </a:rPr>
              <a:t>0.8</a:t>
            </a:r>
            <a:r>
              <a:rPr>
                <a:solidFill>
                  <a:srgbClr val="003B4F"/>
                </a:solidFill>
                <a:latin typeface="Courier"/>
              </a:rPr>
              <a:t>,</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"paired"</a:t>
            </a:r>
            <a:br/>
            <a:r>
              <a:rPr>
                <a:solidFill>
                  <a:srgbClr val="003B4F"/>
                </a:solidFill>
                <a:latin typeface="Courier"/>
              </a:rPr>
              <a:t>)</a:t>
            </a:r>
            <a:br/>
            <a:r>
              <a:rPr>
                <a:solidFill>
                  <a:srgbClr val="003B4F"/>
                </a:solidFill>
                <a:latin typeface="Courier"/>
              </a:rPr>
              <a:t>power_result</a:t>
            </a:r>
          </a:p>
          <a:p>
            <a:pPr lvl="0" indent="-342900" marL="342900">
              <a:buAutoNum type="arabicPeriod"/>
            </a:pPr>
            <a:r>
              <a:rPr/>
              <a:t>What happens to the required sample size if the effect is smaller (</a:t>
            </a:r>
            <a:r>
              <a:rPr>
                <a:latin typeface="Courier"/>
              </a:rPr>
              <a:t>below_mean = 95</a:t>
            </a:r>
            <a:r>
              <a:rPr/>
              <a:t>)?</a:t>
            </a:r>
          </a:p>
          <a:p>
            <a:pPr lvl="0" indent="-342900" marL="342900">
              <a:buAutoNum type="arabicPeriod"/>
            </a:pPr>
            <a:r>
              <a:rPr/>
              <a:t>What if variation is higher (</a:t>
            </a:r>
            <a:r>
              <a:rPr>
                <a:latin typeface="Courier"/>
              </a:rPr>
              <a:t>pooled_sd = 30</a:t>
            </a:r>
            <a:r>
              <a:rPr/>
              <a:t>)?</a:t>
            </a:r>
          </a:p>
          <a:p>
            <a:pPr lvl="0" indent="-342900" marL="342900">
              <a:buAutoNum type="arabicPeriod"/>
            </a:pPr>
            <a:r>
              <a:rPr/>
              <a:t>What if we want 90% power instead of 80%?</a:t>
            </a:r>
          </a:p>
          <a:p>
            <a:pPr lvl="0" indent="0">
              <a:buNone/>
            </a:pPr>
            <a:r>
              <a:rPr>
                <a:latin typeface="Courier"/>
              </a:rPr>
              <a:t>________________________________________________________</a:t>
            </a:r>
          </a:p>
          <a:p>
            <a:pPr lvl="0" indent="0" marL="1270000">
              <a:buNone/>
            </a:pPr>
            <a:r>
              <a:rPr sz="2000" b="1"/>
              <a:t>Tip</a:t>
            </a:r>
          </a:p>
          <a:p>
            <a:pPr lvl="0" indent="0" marL="1270000">
              <a:buNone/>
            </a:pPr>
            <a:r>
              <a:rPr sz="2000" b="1"/>
              <a:t>🚀 If you finish early:</a:t>
            </a:r>
            <a:r>
              <a:rPr sz="2000"/>
              <a:t> Re-derive </a:t>
            </a:r>
            <a:r>
              <a:rPr sz="2000">
                <a:latin typeface="Courier"/>
              </a:rPr>
              <a:t>power_result</a:t>
            </a:r>
            <a:r>
              <a:rPr sz="2000"/>
              <a:t> using </a:t>
            </a:r>
            <a:r>
              <a:rPr sz="2000">
                <a:latin typeface="Courier"/>
              </a:rPr>
              <a:t>type = "two.sample"</a:t>
            </a:r>
            <a:r>
              <a:rPr sz="2000"/>
              <a:t> instead of </a:t>
            </a:r>
            <a:r>
              <a:rPr sz="2000">
                <a:latin typeface="Courier"/>
              </a:rPr>
              <a:t>"paired"</a:t>
            </a:r>
            <a:r>
              <a:rPr sz="2000"/>
              <a:t>, keeping the same effect size. Does the paired or unpaired design need fewer streams for 80% power? Does that match what lecture said about paired designs and power?</a:t>
            </a:r>
          </a:p>
          <a:p>
            <a:pPr lvl="0" indent="0">
              <a:buNone/>
            </a:pPr>
            <a:r>
              <a:rPr>
                <a:solidFill>
                  <a:srgbClr val="5E5E5E"/>
                </a:solidFill>
                <a:latin typeface="Courier"/>
              </a:rPr>
              <a:t># Write your code here: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5 · Post-Hoc Power Analysis</a:t>
            </a:r>
          </a:p>
        </p:txBody>
      </p:sp>
      <p:sp>
        <p:nvSpPr>
          <p:cNvPr id="3" name="Content Placeholder 2"/>
          <p:cNvSpPr>
            <a:spLocks noGrp="1"/>
          </p:cNvSpPr>
          <p:nvPr>
            <p:ph idx="1"/>
          </p:nvPr>
        </p:nvSpPr>
        <p:spPr/>
        <p:txBody>
          <a:bodyPr/>
          <a:lstStyle/>
          <a:p>
            <a:pPr lvl="0" indent="0" marL="0">
              <a:buNone/>
            </a:pPr>
            <a:r>
              <a:rPr/>
              <a:t>Now let’s analyze the power we actually had with our streams from Part 2.</a:t>
            </a:r>
          </a:p>
          <a:p>
            <a:pPr lvl="0" indent="0" marL="0">
              <a:buNone/>
            </a:pPr>
            <a:r>
              <a:rPr b="1"/>
              <a:t>▶ Run this:</a:t>
            </a:r>
          </a:p>
          <a:p>
            <a:pPr lvl="0" indent="0">
              <a:buNone/>
            </a:pPr>
            <a:r>
              <a:rPr>
                <a:solidFill>
                  <a:srgbClr val="003B4F"/>
                </a:solidFill>
                <a:latin typeface="Courier"/>
              </a:rPr>
              <a:t>observed_above &lt;- </a:t>
            </a:r>
            <a:r>
              <a:rPr>
                <a:solidFill>
                  <a:srgbClr val="4758AB"/>
                </a:solidFill>
                <a:latin typeface="Courier"/>
              </a:rPr>
              <a:t>mean</a:t>
            </a:r>
            <a:r>
              <a:rPr>
                <a:solidFill>
                  <a:srgbClr val="003B4F"/>
                </a:solidFill>
                <a:latin typeface="Courier"/>
              </a:rPr>
              <a:t>(stream_wide</a:t>
            </a:r>
            <a:r>
              <a:rPr>
                <a:solidFill>
                  <a:srgbClr val="5E5E5E"/>
                </a:solidFill>
                <a:latin typeface="Courier"/>
              </a:rPr>
              <a:t>$</a:t>
            </a:r>
            <a:r>
              <a:rPr>
                <a:solidFill>
                  <a:srgbClr val="003B4F"/>
                </a:solidFill>
                <a:latin typeface="Courier"/>
              </a:rPr>
              <a:t>above)</a:t>
            </a:r>
            <a:br/>
            <a:r>
              <a:rPr>
                <a:solidFill>
                  <a:srgbClr val="003B4F"/>
                </a:solidFill>
                <a:latin typeface="Courier"/>
              </a:rPr>
              <a:t>observed_below &lt;- </a:t>
            </a:r>
            <a:r>
              <a:rPr>
                <a:solidFill>
                  <a:srgbClr val="4758AB"/>
                </a:solidFill>
                <a:latin typeface="Courier"/>
              </a:rPr>
              <a:t>mean</a:t>
            </a:r>
            <a:r>
              <a:rPr>
                <a:solidFill>
                  <a:srgbClr val="003B4F"/>
                </a:solidFill>
                <a:latin typeface="Courier"/>
              </a:rPr>
              <a:t>(stream_wide</a:t>
            </a:r>
            <a:r>
              <a:rPr>
                <a:solidFill>
                  <a:srgbClr val="5E5E5E"/>
                </a:solidFill>
                <a:latin typeface="Courier"/>
              </a:rPr>
              <a:t>$</a:t>
            </a:r>
            <a:r>
              <a:rPr>
                <a:solidFill>
                  <a:srgbClr val="003B4F"/>
                </a:solidFill>
                <a:latin typeface="Courier"/>
              </a:rPr>
              <a:t>below)</a:t>
            </a:r>
            <a:br/>
            <a:r>
              <a:rPr>
                <a:solidFill>
                  <a:srgbClr val="003B4F"/>
                </a:solidFill>
                <a:latin typeface="Courier"/>
              </a:rPr>
              <a:t>observed_diff &lt;- observed_below </a:t>
            </a:r>
            <a:r>
              <a:rPr>
                <a:solidFill>
                  <a:srgbClr val="5E5E5E"/>
                </a:solidFill>
                <a:latin typeface="Courier"/>
              </a:rPr>
              <a:t>-</a:t>
            </a:r>
            <a:r>
              <a:rPr>
                <a:solidFill>
                  <a:srgbClr val="003B4F"/>
                </a:solidFill>
                <a:latin typeface="Courier"/>
              </a:rPr>
              <a:t> observed_above</a:t>
            </a:r>
            <a:br/>
            <a:r>
              <a:rPr>
                <a:solidFill>
                  <a:srgbClr val="003B4F"/>
                </a:solidFill>
                <a:latin typeface="Courier"/>
              </a:rPr>
              <a:t>observed_sd &lt;- </a:t>
            </a:r>
            <a:r>
              <a:rPr>
                <a:solidFill>
                  <a:srgbClr val="4758AB"/>
                </a:solidFill>
                <a:latin typeface="Courier"/>
              </a:rPr>
              <a:t>sd</a:t>
            </a:r>
            <a:r>
              <a:rPr>
                <a:solidFill>
                  <a:srgbClr val="003B4F"/>
                </a:solidFill>
                <a:latin typeface="Courier"/>
              </a:rPr>
              <a:t>(stream_wide</a:t>
            </a:r>
            <a:r>
              <a:rPr>
                <a:solidFill>
                  <a:srgbClr val="5E5E5E"/>
                </a:solidFill>
                <a:latin typeface="Courier"/>
              </a:rPr>
              <a:t>$</a:t>
            </a:r>
            <a:r>
              <a:rPr>
                <a:solidFill>
                  <a:srgbClr val="003B4F"/>
                </a:solidFill>
                <a:latin typeface="Courier"/>
              </a:rPr>
              <a:t>below </a:t>
            </a:r>
            <a:r>
              <a:rPr>
                <a:solidFill>
                  <a:srgbClr val="5E5E5E"/>
                </a:solidFill>
                <a:latin typeface="Courier"/>
              </a:rPr>
              <a:t>-</a:t>
            </a:r>
            <a:r>
              <a:rPr>
                <a:solidFill>
                  <a:srgbClr val="003B4F"/>
                </a:solidFill>
                <a:latin typeface="Courier"/>
              </a:rPr>
              <a:t> stream_wide</a:t>
            </a:r>
            <a:r>
              <a:rPr>
                <a:solidFill>
                  <a:srgbClr val="5E5E5E"/>
                </a:solidFill>
                <a:latin typeface="Courier"/>
              </a:rPr>
              <a:t>$</a:t>
            </a:r>
            <a:r>
              <a:rPr>
                <a:solidFill>
                  <a:srgbClr val="003B4F"/>
                </a:solidFill>
                <a:latin typeface="Courier"/>
              </a:rPr>
              <a:t>above)</a:t>
            </a:r>
            <a:br/>
            <a:br/>
            <a:r>
              <a:rPr>
                <a:solidFill>
                  <a:srgbClr val="003B4F"/>
                </a:solidFill>
                <a:latin typeface="Courier"/>
              </a:rPr>
              <a:t>observed_effect &lt;- observed_diff </a:t>
            </a:r>
            <a:r>
              <a:rPr>
                <a:solidFill>
                  <a:srgbClr val="5E5E5E"/>
                </a:solidFill>
                <a:latin typeface="Courier"/>
              </a:rPr>
              <a:t>/</a:t>
            </a:r>
            <a:r>
              <a:rPr>
                <a:solidFill>
                  <a:srgbClr val="003B4F"/>
                </a:solidFill>
                <a:latin typeface="Courier"/>
              </a:rPr>
              <a:t> observed_sd</a:t>
            </a:r>
            <a:br/>
            <a:r>
              <a:rPr>
                <a:solidFill>
                  <a:srgbClr val="003B4F"/>
                </a:solidFill>
                <a:latin typeface="Courier"/>
              </a:rPr>
              <a:t>observed_effect</a:t>
            </a:r>
          </a:p>
          <a:p>
            <a:pPr lvl="0" indent="0">
              <a:buNone/>
            </a:pPr>
            <a:r>
              <a:rPr>
                <a:solidFill>
                  <a:srgbClr val="003B4F"/>
                </a:solidFill>
                <a:latin typeface="Courier"/>
              </a:rPr>
              <a:t>actual_power &lt;- </a:t>
            </a:r>
            <a:r>
              <a:rPr>
                <a:solidFill>
                  <a:srgbClr val="4758AB"/>
                </a:solidFill>
                <a:latin typeface="Courier"/>
              </a:rPr>
              <a:t>pwr.t.test</a:t>
            </a:r>
            <a:r>
              <a:rPr>
                <a:solidFill>
                  <a:srgbClr val="003B4F"/>
                </a:solidFill>
                <a:latin typeface="Courier"/>
              </a:rPr>
              <a:t>(</a:t>
            </a:r>
            <a:br/>
            <a:r>
              <a:rPr>
                <a:solidFill>
                  <a:srgbClr val="003B4F"/>
                </a:solidFill>
                <a:latin typeface="Courier"/>
              </a:rPr>
              <a:t>  </a:t>
            </a:r>
            <a:r>
              <a:rPr>
                <a:solidFill>
                  <a:srgbClr val="657422"/>
                </a:solidFill>
                <a:latin typeface="Courier"/>
              </a:rPr>
              <a:t>n =</a:t>
            </a:r>
            <a:r>
              <a:rPr>
                <a:solidFill>
                  <a:srgbClr val="003B4F"/>
                </a:solidFill>
                <a:latin typeface="Courier"/>
              </a:rPr>
              <a:t> </a:t>
            </a:r>
            <a:r>
              <a:rPr>
                <a:solidFill>
                  <a:srgbClr val="AD0000"/>
                </a:solidFill>
                <a:latin typeface="Courier"/>
              </a:rPr>
              <a:t>6</a:t>
            </a:r>
            <a:r>
              <a:rPr>
                <a:solidFill>
                  <a:srgbClr val="003B4F"/>
                </a:solidFill>
                <a:latin typeface="Courier"/>
              </a:rPr>
              <a:t>,</a:t>
            </a:r>
            <a:br/>
            <a:r>
              <a:rPr>
                <a:solidFill>
                  <a:srgbClr val="003B4F"/>
                </a:solidFill>
                <a:latin typeface="Courier"/>
              </a:rPr>
              <a:t>  </a:t>
            </a:r>
            <a:r>
              <a:rPr>
                <a:solidFill>
                  <a:srgbClr val="657422"/>
                </a:solidFill>
                <a:latin typeface="Courier"/>
              </a:rPr>
              <a:t>d =</a:t>
            </a:r>
            <a:r>
              <a:rPr>
                <a:solidFill>
                  <a:srgbClr val="003B4F"/>
                </a:solidFill>
                <a:latin typeface="Courier"/>
              </a:rPr>
              <a:t> observed_effect,</a:t>
            </a:r>
            <a:br/>
            <a:r>
              <a:rPr>
                <a:solidFill>
                  <a:srgbClr val="003B4F"/>
                </a:solidFill>
                <a:latin typeface="Courier"/>
              </a:rPr>
              <a:t>  </a:t>
            </a:r>
            <a:r>
              <a:rPr>
                <a:solidFill>
                  <a:srgbClr val="657422"/>
                </a:solidFill>
                <a:latin typeface="Courier"/>
              </a:rPr>
              <a:t>sig.level =</a:t>
            </a:r>
            <a:r>
              <a:rPr>
                <a:solidFill>
                  <a:srgbClr val="003B4F"/>
                </a:solidFill>
                <a:latin typeface="Courier"/>
              </a:rPr>
              <a:t> </a:t>
            </a:r>
            <a:r>
              <a:rPr>
                <a:solidFill>
                  <a:srgbClr val="AD0000"/>
                </a:solidFill>
                <a:latin typeface="Courier"/>
              </a:rPr>
              <a:t>0.05</a:t>
            </a:r>
            <a:r>
              <a:rPr>
                <a:solidFill>
                  <a:srgbClr val="003B4F"/>
                </a:solidFill>
                <a:latin typeface="Courier"/>
              </a:rPr>
              <a:t>,</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"paired"</a:t>
            </a:r>
            <a:br/>
            <a:r>
              <a:rPr>
                <a:solidFill>
                  <a:srgbClr val="003B4F"/>
                </a:solidFill>
                <a:latin typeface="Courier"/>
              </a:rPr>
              <a:t>)</a:t>
            </a:r>
            <a:br/>
            <a:r>
              <a:rPr>
                <a:solidFill>
                  <a:srgbClr val="003B4F"/>
                </a:solidFill>
                <a:latin typeface="Courier"/>
              </a:rPr>
              <a:t>actual_power</a:t>
            </a:r>
          </a:p>
          <a:p>
            <a:pPr lvl="0" indent="0" marL="0">
              <a:buNone/>
            </a:pPr>
            <a:r>
              <a:rPr/>
              <a:t>✏️ </a:t>
            </a:r>
            <a:r>
              <a:rPr b="1"/>
              <a:t>Your turn:</a:t>
            </a:r>
            <a:r>
              <a:rPr/>
              <a:t> What was our actual power? Is it above or below the 80% “acceptable” threshold from lecture? </a:t>
            </a:r>
            <a:r>
              <a:rPr>
                <a:latin typeface="Courier"/>
              </a:rPr>
              <a:t>________________________</a:t>
            </a:r>
          </a:p>
          <a:p>
            <a:pPr lvl="0" indent="0" marL="1270000">
              <a:buNone/>
            </a:pPr>
            <a:r>
              <a:rPr sz="2000" b="1"/>
              <a:t>Tip</a:t>
            </a:r>
          </a:p>
          <a:p>
            <a:pPr lvl="0" indent="0" marL="1270000">
              <a:buNone/>
            </a:pPr>
            <a:r>
              <a:rPr sz="2000" b="1"/>
              <a:t>🚀 If you finish early:</a:t>
            </a:r>
            <a:r>
              <a:rPr sz="2000"/>
              <a:t> </a:t>
            </a:r>
            <a:r>
              <a:rPr sz="2000">
                <a:latin typeface="Courier"/>
              </a:rPr>
              <a:t>actual_power</a:t>
            </a:r>
            <a:r>
              <a:rPr sz="2000"/>
              <a:t> used </a:t>
            </a:r>
            <a:r>
              <a:rPr sz="2000">
                <a:latin typeface="Courier"/>
              </a:rPr>
              <a:t>n = 6</a:t>
            </a:r>
            <a:r>
              <a:rPr sz="2000"/>
              <a:t> hardcoded. Replace it with </a:t>
            </a:r>
            <a:r>
              <a:rPr sz="2000">
                <a:latin typeface="Courier"/>
              </a:rPr>
              <a:t>n = n_streams</a:t>
            </a:r>
            <a:r>
              <a:rPr sz="2000"/>
              <a:t> so it automatically matches whatever you set in Part 2. Rerun Part 2 with </a:t>
            </a:r>
            <a:r>
              <a:rPr sz="2000">
                <a:latin typeface="Courier"/>
              </a:rPr>
              <a:t>n_streams &lt;- 10</a:t>
            </a:r>
            <a:r>
              <a:rPr sz="2000"/>
              <a:t> and confirm </a:t>
            </a:r>
            <a:r>
              <a:rPr sz="2000">
                <a:latin typeface="Courier"/>
              </a:rPr>
              <a:t>actual_power</a:t>
            </a:r>
            <a:r>
              <a:rPr sz="2000"/>
              <a:t> updates accordingly.</a:t>
            </a:r>
          </a:p>
          <a:p>
            <a:pPr lvl="0" indent="0">
              <a:buNone/>
            </a:pPr>
            <a:r>
              <a:rPr>
                <a:solidFill>
                  <a:srgbClr val="5E5E5E"/>
                </a:solidFill>
                <a:latin typeface="Courier"/>
              </a:rPr>
              <a:t># Write your code here: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6 · Alternative Analysis Approaches</a:t>
            </a:r>
          </a:p>
        </p:txBody>
      </p:sp>
      <p:sp>
        <p:nvSpPr>
          <p:cNvPr id="3" name="Content Placeholder 2"/>
          <p:cNvSpPr>
            <a:spLocks noGrp="1"/>
          </p:cNvSpPr>
          <p:nvPr>
            <p:ph idx="1"/>
          </p:nvPr>
        </p:nvSpPr>
        <p:spPr/>
        <p:txBody>
          <a:bodyPr/>
          <a:lstStyle/>
          <a:p>
            <a:pPr lvl="0" indent="0" marL="0">
              <a:buNone/>
            </a:pPr>
            <a:r>
              <a:rPr b="1"/>
              <a:t>▶ Run this</a:t>
            </a:r>
            <a:r>
              <a:rPr/>
              <a:t> — what if we ignored the stream pairing?</a:t>
            </a:r>
          </a:p>
          <a:p>
            <a:pPr lvl="0" indent="0">
              <a:buNone/>
            </a:pPr>
            <a:r>
              <a:rPr>
                <a:solidFill>
                  <a:srgbClr val="003B4F"/>
                </a:solidFill>
                <a:latin typeface="Courier"/>
              </a:rPr>
              <a:t>unpaired_test &lt;- </a:t>
            </a:r>
            <a:r>
              <a:rPr>
                <a:solidFill>
                  <a:srgbClr val="4758AB"/>
                </a:solidFill>
                <a:latin typeface="Courier"/>
              </a:rPr>
              <a:t>t.test</a:t>
            </a:r>
            <a:r>
              <a:rPr>
                <a:solidFill>
                  <a:srgbClr val="003B4F"/>
                </a:solidFill>
                <a:latin typeface="Courier"/>
              </a:rPr>
              <a:t>(mean_mass </a:t>
            </a:r>
            <a:r>
              <a:rPr>
                <a:solidFill>
                  <a:srgbClr val="5E5E5E"/>
                </a:solidFill>
                <a:latin typeface="Courier"/>
              </a:rPr>
              <a:t>~</a:t>
            </a:r>
            <a:r>
              <a:rPr>
                <a:solidFill>
                  <a:srgbClr val="003B4F"/>
                </a:solidFill>
                <a:latin typeface="Courier"/>
              </a:rPr>
              <a:t> position, </a:t>
            </a:r>
            <a:r>
              <a:rPr>
                <a:solidFill>
                  <a:srgbClr val="657422"/>
                </a:solidFill>
                <a:latin typeface="Courier"/>
              </a:rPr>
              <a:t>data =</a:t>
            </a:r>
            <a:r>
              <a:rPr>
                <a:solidFill>
                  <a:srgbClr val="003B4F"/>
                </a:solidFill>
                <a:latin typeface="Courier"/>
              </a:rPr>
              <a:t> stream_means)</a:t>
            </a:r>
            <a:br/>
            <a:r>
              <a:rPr>
                <a:solidFill>
                  <a:srgbClr val="003B4F"/>
                </a:solidFill>
                <a:latin typeface="Courier"/>
              </a:rPr>
              <a:t>unpaired_test</a:t>
            </a:r>
          </a:p>
          <a:p>
            <a:pPr lvl="0" indent="0" marL="0">
              <a:buNone/>
            </a:pPr>
            <a:r>
              <a:rPr b="1"/>
              <a:t>▶ Run this</a:t>
            </a:r>
            <a:r>
              <a:rPr/>
              <a:t> — summary statistics at both levels:</a:t>
            </a:r>
          </a:p>
          <a:p>
            <a:pPr lvl="0" indent="0">
              <a:buNone/>
            </a:pPr>
            <a:r>
              <a:rPr>
                <a:solidFill>
                  <a:srgbClr val="5E5E5E"/>
                </a:solidFill>
                <a:latin typeface="Courier"/>
              </a:rPr>
              <a:t># By individual fish (the WRONG level of replication)</a:t>
            </a:r>
            <a:br/>
            <a:r>
              <a:rPr>
                <a:solidFill>
                  <a:srgbClr val="003B4F"/>
                </a:solidFill>
                <a:latin typeface="Courier"/>
              </a:rPr>
              <a:t>summary_df &lt;- f_df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(position) </a:t>
            </a:r>
            <a:r>
              <a:rPr>
                <a:solidFill>
                  <a:srgbClr val="5E5E5E"/>
                </a:solidFill>
                <a:latin typeface="Courier"/>
              </a:rPr>
              <a:t>%&gt;%</a:t>
            </a:r>
            <a:br/>
            <a:r>
              <a:rPr>
                <a:solidFill>
                  <a:srgbClr val="003B4F"/>
                </a:solidFill>
                <a:latin typeface="Courier"/>
              </a:rPr>
              <a:t>  </a:t>
            </a:r>
            <a:r>
              <a:rPr>
                <a:solidFill>
                  <a:srgbClr val="4758AB"/>
                </a:solidFill>
                <a:latin typeface="Courier"/>
              </a:rPr>
              <a:t>summarize</a:t>
            </a:r>
            <a:r>
              <a:rPr>
                <a:solidFill>
                  <a:srgbClr val="003B4F"/>
                </a:solidFill>
                <a:latin typeface="Courier"/>
              </a:rPr>
              <a:t>(</a:t>
            </a:r>
            <a:br/>
            <a:r>
              <a:rPr>
                <a:solidFill>
                  <a:srgbClr val="003B4F"/>
                </a:solidFill>
                <a:latin typeface="Courier"/>
              </a:rPr>
              <a:t>    </a:t>
            </a:r>
            <a:r>
              <a:rPr>
                <a:solidFill>
                  <a:srgbClr val="657422"/>
                </a:solidFill>
                <a:latin typeface="Courier"/>
              </a:rPr>
              <a:t>n_fish =</a:t>
            </a:r>
            <a:r>
              <a:rPr>
                <a:solidFill>
                  <a:srgbClr val="003B4F"/>
                </a:solidFill>
                <a:latin typeface="Courier"/>
              </a:rPr>
              <a:t> </a:t>
            </a:r>
            <a:r>
              <a:rPr>
                <a:solidFill>
                  <a:srgbClr val="4758AB"/>
                </a:solidFill>
                <a:latin typeface="Courier"/>
              </a:rPr>
              <a:t>n</a:t>
            </a:r>
            <a:r>
              <a:rPr>
                <a:solidFill>
                  <a:srgbClr val="003B4F"/>
                </a:solidFill>
                <a:latin typeface="Courier"/>
              </a:rPr>
              <a:t>(),</a:t>
            </a:r>
            <a:br/>
            <a:r>
              <a:rPr>
                <a:solidFill>
                  <a:srgbClr val="003B4F"/>
                </a:solidFill>
                <a:latin typeface="Courier"/>
              </a:rPr>
              <a:t>    </a:t>
            </a:r>
            <a:r>
              <a:rPr>
                <a:solidFill>
                  <a:srgbClr val="657422"/>
                </a:solidFill>
                <a:latin typeface="Courier"/>
              </a:rPr>
              <a:t>mean_mass =</a:t>
            </a:r>
            <a:r>
              <a:rPr>
                <a:solidFill>
                  <a:srgbClr val="003B4F"/>
                </a:solidFill>
                <a:latin typeface="Courier"/>
              </a:rPr>
              <a:t> </a:t>
            </a:r>
            <a:r>
              <a:rPr>
                <a:solidFill>
                  <a:srgbClr val="4758AB"/>
                </a:solidFill>
                <a:latin typeface="Courier"/>
              </a:rPr>
              <a:t>mean</a:t>
            </a:r>
            <a:r>
              <a:rPr>
                <a:solidFill>
                  <a:srgbClr val="003B4F"/>
                </a:solidFill>
                <a:latin typeface="Courier"/>
              </a:rPr>
              <a:t>(mass_g),</a:t>
            </a:r>
            <a:br/>
            <a:r>
              <a:rPr>
                <a:solidFill>
                  <a:srgbClr val="003B4F"/>
                </a:solidFill>
                <a:latin typeface="Courier"/>
              </a:rPr>
              <a:t>    </a:t>
            </a:r>
            <a:r>
              <a:rPr>
                <a:solidFill>
                  <a:srgbClr val="657422"/>
                </a:solidFill>
                <a:latin typeface="Courier"/>
              </a:rPr>
              <a:t>sd_mass =</a:t>
            </a:r>
            <a:r>
              <a:rPr>
                <a:solidFill>
                  <a:srgbClr val="003B4F"/>
                </a:solidFill>
                <a:latin typeface="Courier"/>
              </a:rPr>
              <a:t> </a:t>
            </a:r>
            <a:r>
              <a:rPr>
                <a:solidFill>
                  <a:srgbClr val="4758AB"/>
                </a:solidFill>
                <a:latin typeface="Courier"/>
              </a:rPr>
              <a:t>sd</a:t>
            </a:r>
            <a:r>
              <a:rPr>
                <a:solidFill>
                  <a:srgbClr val="003B4F"/>
                </a:solidFill>
                <a:latin typeface="Courier"/>
              </a:rPr>
              <a:t>(mass_g),</a:t>
            </a:r>
            <a:br/>
            <a:r>
              <a:rPr>
                <a:solidFill>
                  <a:srgbClr val="003B4F"/>
                </a:solidFill>
                <a:latin typeface="Courier"/>
              </a:rPr>
              <a:t>    </a:t>
            </a:r>
            <a:r>
              <a:rPr>
                <a:solidFill>
                  <a:srgbClr val="657422"/>
                </a:solidFill>
                <a:latin typeface="Courier"/>
              </a:rPr>
              <a:t>se_mass =</a:t>
            </a:r>
            <a:r>
              <a:rPr>
                <a:solidFill>
                  <a:srgbClr val="003B4F"/>
                </a:solidFill>
                <a:latin typeface="Courier"/>
              </a:rPr>
              <a:t> sd_mass </a:t>
            </a:r>
            <a:r>
              <a:rPr>
                <a:solidFill>
                  <a:srgbClr val="5E5E5E"/>
                </a:solidFill>
                <a:latin typeface="Courier"/>
              </a:rPr>
              <a:t>/</a:t>
            </a:r>
            <a:r>
              <a:rPr>
                <a:solidFill>
                  <a:srgbClr val="003B4F"/>
                </a:solidFill>
                <a:latin typeface="Courier"/>
              </a:rPr>
              <a:t> </a:t>
            </a:r>
            <a:r>
              <a:rPr>
                <a:solidFill>
                  <a:srgbClr val="4758AB"/>
                </a:solidFill>
                <a:latin typeface="Courier"/>
              </a:rPr>
              <a:t>sqrt</a:t>
            </a:r>
            <a:r>
              <a:rPr>
                <a:solidFill>
                  <a:srgbClr val="003B4F"/>
                </a:solidFill>
                <a:latin typeface="Courier"/>
              </a:rPr>
              <a:t>(n_fish)</a:t>
            </a:r>
            <a:br/>
            <a:r>
              <a:rPr>
                <a:solidFill>
                  <a:srgbClr val="003B4F"/>
                </a:solidFill>
                <a:latin typeface="Courier"/>
              </a:rPr>
              <a:t>  )</a:t>
            </a:r>
            <a:br/>
            <a:r>
              <a:rPr>
                <a:solidFill>
                  <a:srgbClr val="003B4F"/>
                </a:solidFill>
                <a:latin typeface="Courier"/>
              </a:rPr>
              <a:t>summary_df</a:t>
            </a:r>
            <a:br/>
            <a:br/>
            <a:r>
              <a:rPr>
                <a:solidFill>
                  <a:srgbClr val="5E5E5E"/>
                </a:solidFill>
                <a:latin typeface="Courier"/>
              </a:rPr>
              <a:t># By stream (the proper level of replication)</a:t>
            </a:r>
            <a:br/>
            <a:r>
              <a:rPr>
                <a:solidFill>
                  <a:srgbClr val="003B4F"/>
                </a:solidFill>
                <a:latin typeface="Courier"/>
              </a:rPr>
              <a:t>stream_summary &lt;- stream_means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(position) </a:t>
            </a:r>
            <a:r>
              <a:rPr>
                <a:solidFill>
                  <a:srgbClr val="5E5E5E"/>
                </a:solidFill>
                <a:latin typeface="Courier"/>
              </a:rPr>
              <a:t>%&gt;%</a:t>
            </a:r>
            <a:br/>
            <a:r>
              <a:rPr>
                <a:solidFill>
                  <a:srgbClr val="003B4F"/>
                </a:solidFill>
                <a:latin typeface="Courier"/>
              </a:rPr>
              <a:t>  </a:t>
            </a:r>
            <a:r>
              <a:rPr>
                <a:solidFill>
                  <a:srgbClr val="4758AB"/>
                </a:solidFill>
                <a:latin typeface="Courier"/>
              </a:rPr>
              <a:t>summarize</a:t>
            </a:r>
            <a:r>
              <a:rPr>
                <a:solidFill>
                  <a:srgbClr val="003B4F"/>
                </a:solidFill>
                <a:latin typeface="Courier"/>
              </a:rPr>
              <a:t>(</a:t>
            </a:r>
            <a:br/>
            <a:r>
              <a:rPr>
                <a:solidFill>
                  <a:srgbClr val="003B4F"/>
                </a:solidFill>
                <a:latin typeface="Courier"/>
              </a:rPr>
              <a:t>    </a:t>
            </a:r>
            <a:r>
              <a:rPr>
                <a:solidFill>
                  <a:srgbClr val="657422"/>
                </a:solidFill>
                <a:latin typeface="Courier"/>
              </a:rPr>
              <a:t>n_streams =</a:t>
            </a:r>
            <a:r>
              <a:rPr>
                <a:solidFill>
                  <a:srgbClr val="003B4F"/>
                </a:solidFill>
                <a:latin typeface="Courier"/>
              </a:rPr>
              <a:t> </a:t>
            </a:r>
            <a:r>
              <a:rPr>
                <a:solidFill>
                  <a:srgbClr val="4758AB"/>
                </a:solidFill>
                <a:latin typeface="Courier"/>
              </a:rPr>
              <a:t>n</a:t>
            </a:r>
            <a:r>
              <a:rPr>
                <a:solidFill>
                  <a:srgbClr val="003B4F"/>
                </a:solidFill>
                <a:latin typeface="Courier"/>
              </a:rPr>
              <a:t>(),</a:t>
            </a:r>
            <a:br/>
            <a:r>
              <a:rPr>
                <a:solidFill>
                  <a:srgbClr val="003B4F"/>
                </a:solidFill>
                <a:latin typeface="Courier"/>
              </a:rPr>
              <a:t>    </a:t>
            </a:r>
            <a:r>
              <a:rPr>
                <a:solidFill>
                  <a:srgbClr val="657422"/>
                </a:solidFill>
                <a:latin typeface="Courier"/>
              </a:rPr>
              <a:t>mean_mass =</a:t>
            </a:r>
            <a:r>
              <a:rPr>
                <a:solidFill>
                  <a:srgbClr val="003B4F"/>
                </a:solidFill>
                <a:latin typeface="Courier"/>
              </a:rPr>
              <a:t> </a:t>
            </a:r>
            <a:r>
              <a:rPr>
                <a:solidFill>
                  <a:srgbClr val="4758AB"/>
                </a:solidFill>
                <a:latin typeface="Courier"/>
              </a:rPr>
              <a:t>mean</a:t>
            </a:r>
            <a:r>
              <a:rPr>
                <a:solidFill>
                  <a:srgbClr val="003B4F"/>
                </a:solidFill>
                <a:latin typeface="Courier"/>
              </a:rPr>
              <a:t>(mean_mass),</a:t>
            </a:r>
            <a:br/>
            <a:r>
              <a:rPr>
                <a:solidFill>
                  <a:srgbClr val="003B4F"/>
                </a:solidFill>
                <a:latin typeface="Courier"/>
              </a:rPr>
              <a:t>    </a:t>
            </a:r>
            <a:r>
              <a:rPr>
                <a:solidFill>
                  <a:srgbClr val="657422"/>
                </a:solidFill>
                <a:latin typeface="Courier"/>
              </a:rPr>
              <a:t>sd_mass =</a:t>
            </a:r>
            <a:r>
              <a:rPr>
                <a:solidFill>
                  <a:srgbClr val="003B4F"/>
                </a:solidFill>
                <a:latin typeface="Courier"/>
              </a:rPr>
              <a:t> </a:t>
            </a:r>
            <a:r>
              <a:rPr>
                <a:solidFill>
                  <a:srgbClr val="4758AB"/>
                </a:solidFill>
                <a:latin typeface="Courier"/>
              </a:rPr>
              <a:t>sd</a:t>
            </a:r>
            <a:r>
              <a:rPr>
                <a:solidFill>
                  <a:srgbClr val="003B4F"/>
                </a:solidFill>
                <a:latin typeface="Courier"/>
              </a:rPr>
              <a:t>(mean_mass),</a:t>
            </a:r>
            <a:br/>
            <a:r>
              <a:rPr>
                <a:solidFill>
                  <a:srgbClr val="003B4F"/>
                </a:solidFill>
                <a:latin typeface="Courier"/>
              </a:rPr>
              <a:t>    </a:t>
            </a:r>
            <a:r>
              <a:rPr>
                <a:solidFill>
                  <a:srgbClr val="657422"/>
                </a:solidFill>
                <a:latin typeface="Courier"/>
              </a:rPr>
              <a:t>se_mass =</a:t>
            </a:r>
            <a:r>
              <a:rPr>
                <a:solidFill>
                  <a:srgbClr val="003B4F"/>
                </a:solidFill>
                <a:latin typeface="Courier"/>
              </a:rPr>
              <a:t> sd_mass </a:t>
            </a:r>
            <a:r>
              <a:rPr>
                <a:solidFill>
                  <a:srgbClr val="5E5E5E"/>
                </a:solidFill>
                <a:latin typeface="Courier"/>
              </a:rPr>
              <a:t>/</a:t>
            </a:r>
            <a:r>
              <a:rPr>
                <a:solidFill>
                  <a:srgbClr val="003B4F"/>
                </a:solidFill>
                <a:latin typeface="Courier"/>
              </a:rPr>
              <a:t> </a:t>
            </a:r>
            <a:r>
              <a:rPr>
                <a:solidFill>
                  <a:srgbClr val="4758AB"/>
                </a:solidFill>
                <a:latin typeface="Courier"/>
              </a:rPr>
              <a:t>sqrt</a:t>
            </a:r>
            <a:r>
              <a:rPr>
                <a:solidFill>
                  <a:srgbClr val="003B4F"/>
                </a:solidFill>
                <a:latin typeface="Courier"/>
              </a:rPr>
              <a:t>(n_streams)</a:t>
            </a:r>
            <a:br/>
            <a:r>
              <a:rPr>
                <a:solidFill>
                  <a:srgbClr val="003B4F"/>
                </a:solidFill>
                <a:latin typeface="Courier"/>
              </a:rPr>
              <a:t>  )</a:t>
            </a:r>
            <a:br/>
            <a:r>
              <a:rPr>
                <a:solidFill>
                  <a:srgbClr val="003B4F"/>
                </a:solidFill>
                <a:latin typeface="Courier"/>
              </a:rPr>
              <a:t>stream_summary</a:t>
            </a:r>
          </a:p>
          <a:p>
            <a:pPr lvl="0" indent="0" marL="0">
              <a:buNone/>
            </a:pPr>
            <a:r>
              <a:rPr/>
              <a:t>✏️ </a:t>
            </a:r>
            <a:r>
              <a:rPr b="1"/>
              <a:t>Your turn:</a:t>
            </a:r>
            <a:r>
              <a:rPr/>
              <a:t> Compare the </a:t>
            </a:r>
            <a:r>
              <a:rPr>
                <a:latin typeface="Courier"/>
              </a:rPr>
              <a:t>se_mass</a:t>
            </a:r>
            <a:r>
              <a:rPr/>
              <a:t> values in </a:t>
            </a:r>
            <a:r>
              <a:rPr>
                <a:latin typeface="Courier"/>
              </a:rPr>
              <a:t>summary_df</a:t>
            </a:r>
            <a:r>
              <a:rPr/>
              <a:t> (fish-level) vs. </a:t>
            </a:r>
            <a:r>
              <a:rPr>
                <a:latin typeface="Courier"/>
              </a:rPr>
              <a:t>stream_summary</a:t>
            </a:r>
            <a:r>
              <a:rPr/>
              <a:t> (stream-level). Which is smaller, and why does that make fish-level analysis look artificially more precise? </a:t>
            </a:r>
            <a:r>
              <a:rPr>
                <a:latin typeface="Courier"/>
              </a:rPr>
              <a:t>________________________</a:t>
            </a:r>
          </a:p>
          <a:p>
            <a:pPr lvl="0" indent="0" marL="1270000">
              <a:buNone/>
            </a:pPr>
            <a:r>
              <a:rPr sz="2000" b="1"/>
              <a:t>Tip</a:t>
            </a:r>
          </a:p>
          <a:p>
            <a:pPr lvl="0" indent="0" marL="1270000">
              <a:buNone/>
            </a:pPr>
            <a:r>
              <a:rPr sz="2000" b="1"/>
              <a:t>🚀 If you finish early:</a:t>
            </a:r>
            <a:r>
              <a:rPr sz="2000"/>
              <a:t> Compare the p-value of </a:t>
            </a:r>
            <a:r>
              <a:rPr sz="2000">
                <a:latin typeface="Courier"/>
              </a:rPr>
              <a:t>unpaired_test</a:t>
            </a:r>
            <a:r>
              <a:rPr sz="2000"/>
              <a:t> (Part 6) to </a:t>
            </a:r>
            <a:r>
              <a:rPr sz="2000">
                <a:latin typeface="Courier"/>
              </a:rPr>
              <a:t>proper_test</a:t>
            </a:r>
            <a:r>
              <a:rPr sz="2000"/>
              <a:t> (Part 3, which was paired). Which is more powerful for this same data — the paired or unpaired analysis at the stream level?</a:t>
            </a:r>
          </a:p>
          <a:p>
            <a:pPr lvl="0" indent="0">
              <a:buNone/>
            </a:pPr>
            <a:r>
              <a:rPr>
                <a:solidFill>
                  <a:srgbClr val="5E5E5E"/>
                </a:solidFill>
                <a:latin typeface="Courier"/>
              </a:rPr>
              <a:t># Write your code here: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7 · Design Your Own Study</a:t>
            </a:r>
          </a:p>
        </p:txBody>
      </p:sp>
      <p:sp>
        <p:nvSpPr>
          <p:cNvPr id="3" name="Content Placeholder 2"/>
          <p:cNvSpPr>
            <a:spLocks noGrp="1"/>
          </p:cNvSpPr>
          <p:nvPr>
            <p:ph idx="1"/>
          </p:nvPr>
        </p:nvSpPr>
        <p:spPr/>
        <p:txBody>
          <a:bodyPr/>
          <a:lstStyle/>
          <a:p>
            <a:pPr lvl="0" indent="0" marL="0">
              <a:buNone/>
            </a:pPr>
            <a:r>
              <a:rPr b="1"/>
              <a:t>Scenario:</a:t>
            </a:r>
            <a:r>
              <a:rPr/>
              <a:t> You want to study if fish size differs between fast and slow water areas.</a:t>
            </a:r>
          </a:p>
          <a:p>
            <a:pPr lvl="0" indent="0" marL="0">
              <a:buNone/>
            </a:pPr>
            <a:r>
              <a:rPr b="1"/>
              <a:t>Design questions:</a:t>
            </a:r>
          </a:p>
          <a:p>
            <a:pPr lvl="0" indent="-342900" marL="342900">
              <a:buAutoNum type="arabicPeriod"/>
            </a:pPr>
            <a:r>
              <a:rPr b="1"/>
              <a:t>What is your experimental unit?</a:t>
            </a:r>
          </a:p>
          <a:p>
            <a:pPr lvl="0" indent="0">
              <a:buNone/>
            </a:pPr>
            <a:r>
              <a:rPr>
                <a:latin typeface="Courier"/>
              </a:rPr>
              <a:t>________________________________________________________</a:t>
            </a:r>
          </a:p>
          <a:p>
            <a:pPr lvl="0" indent="-342900" marL="342900">
              <a:buAutoNum startAt="2" type="arabicPeriod"/>
            </a:pPr>
            <a:r>
              <a:rPr b="1"/>
              <a:t>How many replicates do you need?</a:t>
            </a:r>
            <a:r>
              <a:rPr/>
              <a:t> Use these values: fast water mean = 75g, slow water mean = 85g, standard deviation = 15g, desired power = 80%.</a:t>
            </a:r>
          </a:p>
          <a:p>
            <a:pPr lvl="0" indent="0">
              <a:buNone/>
            </a:pPr>
            <a:r>
              <a:rPr>
                <a:solidFill>
                  <a:srgbClr val="003B4F"/>
                </a:solidFill>
                <a:latin typeface="Courier"/>
              </a:rPr>
              <a:t>fast_mean &lt;- </a:t>
            </a:r>
            <a:r>
              <a:rPr>
                <a:solidFill>
                  <a:srgbClr val="AD0000"/>
                </a:solidFill>
                <a:latin typeface="Courier"/>
              </a:rPr>
              <a:t>75</a:t>
            </a:r>
            <a:br/>
            <a:r>
              <a:rPr>
                <a:solidFill>
                  <a:srgbClr val="003B4F"/>
                </a:solidFill>
                <a:latin typeface="Courier"/>
              </a:rPr>
              <a:t>slow_mean &lt;- </a:t>
            </a:r>
            <a:r>
              <a:rPr>
                <a:solidFill>
                  <a:srgbClr val="AD0000"/>
                </a:solidFill>
                <a:latin typeface="Courier"/>
              </a:rPr>
              <a:t>85</a:t>
            </a:r>
            <a:br/>
            <a:r>
              <a:rPr>
                <a:solidFill>
                  <a:srgbClr val="003B4F"/>
                </a:solidFill>
                <a:latin typeface="Courier"/>
              </a:rPr>
              <a:t>sd_val &lt;- </a:t>
            </a:r>
            <a:r>
              <a:rPr>
                <a:solidFill>
                  <a:srgbClr val="AD0000"/>
                </a:solidFill>
                <a:latin typeface="Courier"/>
              </a:rPr>
              <a:t>15</a:t>
            </a:r>
            <a:br/>
            <a:br/>
            <a:r>
              <a:rPr>
                <a:solidFill>
                  <a:srgbClr val="003B4F"/>
                </a:solidFill>
                <a:latin typeface="Courier"/>
              </a:rPr>
              <a:t>effect_size &lt;- </a:t>
            </a:r>
            <a:r>
              <a:rPr>
                <a:solidFill>
                  <a:srgbClr val="4758AB"/>
                </a:solidFill>
                <a:latin typeface="Courier"/>
              </a:rPr>
              <a:t>abs</a:t>
            </a:r>
            <a:r>
              <a:rPr>
                <a:solidFill>
                  <a:srgbClr val="003B4F"/>
                </a:solidFill>
                <a:latin typeface="Courier"/>
              </a:rPr>
              <a:t>(slow_mean </a:t>
            </a:r>
            <a:r>
              <a:rPr>
                <a:solidFill>
                  <a:srgbClr val="5E5E5E"/>
                </a:solidFill>
                <a:latin typeface="Courier"/>
              </a:rPr>
              <a:t>-</a:t>
            </a:r>
            <a:r>
              <a:rPr>
                <a:solidFill>
                  <a:srgbClr val="003B4F"/>
                </a:solidFill>
                <a:latin typeface="Courier"/>
              </a:rPr>
              <a:t> fast_mean) </a:t>
            </a:r>
            <a:r>
              <a:rPr>
                <a:solidFill>
                  <a:srgbClr val="5E5E5E"/>
                </a:solidFill>
                <a:latin typeface="Courier"/>
              </a:rPr>
              <a:t>/</a:t>
            </a:r>
            <a:r>
              <a:rPr>
                <a:solidFill>
                  <a:srgbClr val="003B4F"/>
                </a:solidFill>
                <a:latin typeface="Courier"/>
              </a:rPr>
              <a:t> sd_val</a:t>
            </a:r>
            <a:br/>
            <a:br/>
            <a:r>
              <a:rPr>
                <a:solidFill>
                  <a:srgbClr val="003B4F"/>
                </a:solidFill>
                <a:latin typeface="Courier"/>
              </a:rPr>
              <a:t>sample_result &lt;- </a:t>
            </a:r>
            <a:r>
              <a:rPr>
                <a:solidFill>
                  <a:srgbClr val="4758AB"/>
                </a:solidFill>
                <a:latin typeface="Courier"/>
              </a:rPr>
              <a:t>pwr.t.test</a:t>
            </a:r>
            <a:r>
              <a:rPr>
                <a:solidFill>
                  <a:srgbClr val="003B4F"/>
                </a:solidFill>
                <a:latin typeface="Courier"/>
              </a:rPr>
              <a:t>(</a:t>
            </a:r>
            <a:br/>
            <a:r>
              <a:rPr>
                <a:solidFill>
                  <a:srgbClr val="003B4F"/>
                </a:solidFill>
                <a:latin typeface="Courier"/>
              </a:rPr>
              <a:t>  </a:t>
            </a:r>
            <a:r>
              <a:rPr>
                <a:solidFill>
                  <a:srgbClr val="657422"/>
                </a:solidFill>
                <a:latin typeface="Courier"/>
              </a:rPr>
              <a:t>d =</a:t>
            </a:r>
            <a:r>
              <a:rPr>
                <a:solidFill>
                  <a:srgbClr val="003B4F"/>
                </a:solidFill>
                <a:latin typeface="Courier"/>
              </a:rPr>
              <a:t> effect_size,</a:t>
            </a:r>
            <a:br/>
            <a:r>
              <a:rPr>
                <a:solidFill>
                  <a:srgbClr val="003B4F"/>
                </a:solidFill>
                <a:latin typeface="Courier"/>
              </a:rPr>
              <a:t>  </a:t>
            </a:r>
            <a:r>
              <a:rPr>
                <a:solidFill>
                  <a:srgbClr val="657422"/>
                </a:solidFill>
                <a:latin typeface="Courier"/>
              </a:rPr>
              <a:t>sig.level =</a:t>
            </a:r>
            <a:r>
              <a:rPr>
                <a:solidFill>
                  <a:srgbClr val="003B4F"/>
                </a:solidFill>
                <a:latin typeface="Courier"/>
              </a:rPr>
              <a:t> </a:t>
            </a:r>
            <a:r>
              <a:rPr>
                <a:solidFill>
                  <a:srgbClr val="AD0000"/>
                </a:solidFill>
                <a:latin typeface="Courier"/>
              </a:rPr>
              <a:t>0.05</a:t>
            </a:r>
            <a:r>
              <a:rPr>
                <a:solidFill>
                  <a:srgbClr val="003B4F"/>
                </a:solidFill>
                <a:latin typeface="Courier"/>
              </a:rPr>
              <a:t>,</a:t>
            </a:r>
            <a:br/>
            <a:r>
              <a:rPr>
                <a:solidFill>
                  <a:srgbClr val="003B4F"/>
                </a:solidFill>
                <a:latin typeface="Courier"/>
              </a:rPr>
              <a:t>  </a:t>
            </a:r>
            <a:r>
              <a:rPr>
                <a:solidFill>
                  <a:srgbClr val="657422"/>
                </a:solidFill>
                <a:latin typeface="Courier"/>
              </a:rPr>
              <a:t>power =</a:t>
            </a:r>
            <a:r>
              <a:rPr>
                <a:solidFill>
                  <a:srgbClr val="003B4F"/>
                </a:solidFill>
                <a:latin typeface="Courier"/>
              </a:rPr>
              <a:t> </a:t>
            </a:r>
            <a:r>
              <a:rPr>
                <a:solidFill>
                  <a:srgbClr val="AD0000"/>
                </a:solidFill>
                <a:latin typeface="Courier"/>
              </a:rPr>
              <a:t>0.8</a:t>
            </a:r>
            <a:r>
              <a:rPr>
                <a:solidFill>
                  <a:srgbClr val="003B4F"/>
                </a:solidFill>
                <a:latin typeface="Courier"/>
              </a:rPr>
              <a:t>,</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"two.sample"</a:t>
            </a:r>
            <a:r>
              <a:rPr>
                <a:solidFill>
                  <a:srgbClr val="003B4F"/>
                </a:solidFill>
                <a:latin typeface="Courier"/>
              </a:rPr>
              <a:t>  </a:t>
            </a:r>
            <a:r>
              <a:rPr>
                <a:solidFill>
                  <a:srgbClr val="5E5E5E"/>
                </a:solidFill>
                <a:latin typeface="Courier"/>
              </a:rPr>
              <a:t># or "paired" if appropriate</a:t>
            </a:r>
            <a:br/>
            <a:r>
              <a:rPr>
                <a:solidFill>
                  <a:srgbClr val="003B4F"/>
                </a:solidFill>
                <a:latin typeface="Courier"/>
              </a:rPr>
              <a:t>)</a:t>
            </a:r>
            <a:br/>
            <a:r>
              <a:rPr>
                <a:solidFill>
                  <a:srgbClr val="003B4F"/>
                </a:solidFill>
                <a:latin typeface="Courier"/>
              </a:rPr>
              <a:t>sample_result</a:t>
            </a:r>
          </a:p>
          <a:p>
            <a:pPr lvl="0" indent="-342900" marL="342900">
              <a:buAutoNum startAt="3" type="arabicPeriod"/>
            </a:pPr>
            <a:r>
              <a:rPr b="1"/>
              <a:t>What could cause pseudoreplication in this design?</a:t>
            </a:r>
          </a:p>
          <a:p>
            <a:pPr lvl="0" indent="0">
              <a:buNone/>
            </a:pPr>
            <a:r>
              <a:rPr>
                <a:latin typeface="Courier"/>
              </a:rPr>
              <a:t>________________________________________________________</a:t>
            </a:r>
          </a:p>
          <a:p>
            <a:pPr lvl="0" indent="-342900" marL="342900">
              <a:buAutoNum startAt="4" type="arabicPeriod"/>
            </a:pPr>
            <a:r>
              <a:rPr b="1"/>
              <a:t>How would you avoid it?</a:t>
            </a:r>
          </a:p>
          <a:p>
            <a:pPr lvl="0" indent="0">
              <a:buNone/>
            </a:pPr>
            <a:r>
              <a:rPr>
                <a:latin typeface="Courier"/>
              </a:rPr>
              <a:t>________________________________________________________</a:t>
            </a:r>
          </a:p>
          <a:p>
            <a:pPr lvl="0" indent="0" marL="1270000">
              <a:buNone/>
            </a:pPr>
            <a:r>
              <a:rPr sz="2000" b="1"/>
              <a:t>Tip</a:t>
            </a:r>
          </a:p>
          <a:p>
            <a:pPr lvl="0" indent="0" marL="1270000">
              <a:buNone/>
            </a:pPr>
            <a:r>
              <a:rPr sz="2000" b="1"/>
              <a:t>🚀 If you finish early:</a:t>
            </a:r>
            <a:r>
              <a:rPr sz="2000"/>
              <a:t> If fast and slow water sites can be paired </a:t>
            </a:r>
            <a:r>
              <a:rPr sz="2000" i="1"/>
              <a:t>within</a:t>
            </a:r>
            <a:r>
              <a:rPr sz="2000"/>
              <a:t> the same stream (like above/below waterfall was), redo the calculation with </a:t>
            </a:r>
            <a:r>
              <a:rPr sz="2000">
                <a:latin typeface="Courier"/>
              </a:rPr>
              <a:t>type = "paired"</a:t>
            </a:r>
            <a:r>
              <a:rPr sz="2000"/>
              <a:t>. How many fewer replicates do you need?</a:t>
            </a:r>
          </a:p>
          <a:p>
            <a:pPr lvl="0" indent="0">
              <a:buNone/>
            </a:pPr>
            <a:r>
              <a:rPr>
                <a:solidFill>
                  <a:srgbClr val="5E5E5E"/>
                </a:solidFill>
                <a:latin typeface="Courier"/>
              </a:rPr>
              <a:t># Write your code here: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a:t>
            </a:r>
          </a:p>
        </p:txBody>
      </p:sp>
      <p:sp>
        <p:nvSpPr>
          <p:cNvPr id="3" name="Content Placeholder 2"/>
          <p:cNvSpPr>
            <a:spLocks noGrp="1"/>
          </p:cNvSpPr>
          <p:nvPr>
            <p:ph idx="1"/>
          </p:nvPr>
        </p:nvSpPr>
        <p:spPr/>
        <p:txBody>
          <a:bodyPr/>
          <a:lstStyle/>
          <a:p>
            <a:pPr lvl="0" indent="0" marL="0">
              <a:buNone/>
            </a:pPr>
            <a:r>
              <a:rPr b="1"/>
              <a:t>Key points:</a:t>
            </a:r>
          </a:p>
          <a:p>
            <a:pPr lvl="0"/>
            <a:r>
              <a:rPr b="1"/>
              <a:t>Experimental unit</a:t>
            </a:r>
            <a:r>
              <a:rPr/>
              <a:t> — the thing that receives the treatment independently</a:t>
            </a:r>
          </a:p>
          <a:p>
            <a:pPr lvl="0"/>
            <a:r>
              <a:rPr b="1"/>
              <a:t>Replication</a:t>
            </a:r>
            <a:r>
              <a:rPr/>
              <a:t> — must be at the level of the experimental unit</a:t>
            </a:r>
          </a:p>
          <a:p>
            <a:pPr lvl="0"/>
            <a:r>
              <a:rPr b="1"/>
              <a:t>Power analysis</a:t>
            </a:r>
            <a:r>
              <a:rPr/>
              <a:t> — plan sample size before collecting data</a:t>
            </a:r>
          </a:p>
          <a:p>
            <a:pPr lvl="0"/>
            <a:r>
              <a:rPr b="1"/>
              <a:t>Paired vs. unpaired</a:t>
            </a:r>
            <a:r>
              <a:rPr/>
              <a:t> — paired tests are more powerful when appropriate</a:t>
            </a:r>
          </a:p>
          <a:p>
            <a:pPr lvl="0"/>
            <a:r>
              <a:rPr b="1"/>
              <a:t>Effect size</a:t>
            </a:r>
            <a:r>
              <a:rPr/>
              <a:t> — larger effects need fewer samples to detect</a:t>
            </a:r>
          </a:p>
          <a:p>
            <a:pPr lvl="0" indent="0" marL="0">
              <a:buNone/>
            </a:pPr>
            <a:r>
              <a:rPr b="1"/>
              <a:t>Common mistakes:</a:t>
            </a:r>
          </a:p>
          <a:p>
            <a:pPr lvl="0"/>
            <a:r>
              <a:rPr/>
              <a:t>Treating subsamples as independent replicates</a:t>
            </a:r>
          </a:p>
          <a:p>
            <a:pPr lvl="0"/>
            <a:r>
              <a:rPr/>
              <a:t>Analyzing data at the wrong level</a:t>
            </a:r>
          </a:p>
          <a:p>
            <a:pPr lvl="0"/>
            <a:r>
              <a:rPr/>
              <a:t>Collecting data before planning the analysis</a:t>
            </a:r>
          </a:p>
          <a:p>
            <a:pPr lvl="0"/>
            <a:r>
              <a:rPr/>
              <a:t>Ignoring natural pairing in the design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and checkpoint</a:t>
            </a:r>
          </a:p>
        </p:txBody>
      </p:sp>
      <p:sp>
        <p:nvSpPr>
          <p:cNvPr id="3" name="Content Placeholder 2"/>
          <p:cNvSpPr>
            <a:spLocks noGrp="1"/>
          </p:cNvSpPr>
          <p:nvPr>
            <p:ph idx="1"/>
          </p:nvPr>
        </p:nvSpPr>
        <p:spPr/>
        <p:txBody>
          <a:bodyPr/>
          <a:lstStyle/>
          <a:p>
            <a:pPr lvl="0" indent="0" marL="0">
              <a:buNone/>
            </a:pPr>
            <a:r>
              <a:rPr/>
              <a:t>At this point you can:</a:t>
            </a:r>
          </a:p>
          <a:p>
            <a:pPr lvl="0"/>
            <a:r>
              <a:rPr/>
              <a:t>☐ Identify the true experimental unit in a nested/repeated-measures design</a:t>
            </a:r>
          </a:p>
          <a:p>
            <a:pPr lvl="0"/>
            <a:r>
              <a:rPr/>
              <a:t>☐ Recognize pseudoreplication and fix it by aggregating to the correct level</a:t>
            </a:r>
          </a:p>
          <a:p>
            <a:pPr lvl="0"/>
            <a:r>
              <a:rPr/>
              <a:t>☐ Run an </a:t>
            </a:r>
            <a:r>
              <a:rPr i="1"/>
              <a:t>a priori</a:t>
            </a:r>
            <a:r>
              <a:rPr/>
              <a:t> power analysis to plan sample size with </a:t>
            </a:r>
            <a:r>
              <a:rPr>
                <a:latin typeface="Courier"/>
              </a:rPr>
              <a:t>pwr.t.test()</a:t>
            </a:r>
          </a:p>
          <a:p>
            <a:pPr lvl="0"/>
            <a:r>
              <a:rPr/>
              <a:t>☐ Run a </a:t>
            </a:r>
            <a:r>
              <a:rPr i="1"/>
              <a:t>post hoc</a:t>
            </a:r>
            <a:r>
              <a:rPr/>
              <a:t> power analysis on completed data</a:t>
            </a:r>
          </a:p>
          <a:p>
            <a:pPr lvl="0"/>
            <a:r>
              <a:rPr/>
              <a:t>☐ Explain why a paired design is often more powerful than an unpaired one</a:t>
            </a:r>
          </a:p>
          <a:p>
            <a:pPr lvl="0" indent="0" marL="1270000">
              <a:buNone/>
            </a:pPr>
            <a:r>
              <a:rPr sz="2000" b="1"/>
              <a:t>Note</a:t>
            </a:r>
          </a:p>
          <a:p>
            <a:pPr lvl="0" indent="0" marL="1270000">
              <a:buNone/>
            </a:pPr>
            <a:r>
              <a:rPr sz="2000" b="1"/>
              <a:t>📤 What to turn in before next class</a:t>
            </a:r>
          </a:p>
          <a:p>
            <a:pPr lvl="0" indent="0" marL="1270000">
              <a:buNone/>
            </a:pPr>
            <a:r>
              <a:rPr sz="2000"/>
              <a:t>Upload both of these to the course management system:</a:t>
            </a:r>
          </a:p>
          <a:p>
            <a:pPr lvl="0" indent="-342900" marL="342900">
              <a:buAutoNum type="arabicPeriod"/>
            </a:pPr>
            <a:r>
              <a:rPr sz="2000"/>
              <a:t>Your code — the </a:t>
            </a:r>
            <a:r>
              <a:rPr sz="2000">
                <a:latin typeface="Courier"/>
              </a:rPr>
              <a:t>scripts/</a:t>
            </a:r>
            <a:r>
              <a:rPr sz="2000"/>
              <a:t> folder (or just </a:t>
            </a:r>
            <a:r>
              <a:rPr sz="2000">
                <a:latin typeface="Courier"/>
              </a:rPr>
              <a:t>09_study_design_sampling.R</a:t>
            </a:r>
            <a:r>
              <a:rPr sz="2000"/>
              <a:t>)</a:t>
            </a:r>
          </a:p>
          <a:p>
            <a:pPr lvl="0" indent="-342900" marL="342900">
              <a:buAutoNum type="arabicPeriod"/>
            </a:pPr>
            <a:r>
              <a:rPr sz="2000"/>
              <a:t>This worksheet, with your written answers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Getting unstuck</a:t>
            </a:r>
          </a:p>
        </p:txBody>
      </p:sp>
      <p:sp>
        <p:nvSpPr>
          <p:cNvPr id="3" name="Content Placeholder 2"/>
          <p:cNvSpPr>
            <a:spLocks noGrp="1"/>
          </p:cNvSpPr>
          <p:nvPr>
            <p:ph idx="1"/>
          </p:nvPr>
        </p:nvSpPr>
        <p:spPr/>
        <p:txBody>
          <a:bodyPr/>
          <a:lstStyle/>
          <a:p>
            <a:pPr lvl="0" indent="0" marL="0">
              <a:buNone/>
            </a:pPr>
            <a:r>
              <a:rPr/>
              <a:t>When code breaks — and it will, that is normal:</a:t>
            </a:r>
          </a:p>
          <a:p>
            <a:pPr lvl="0" indent="-342900" marL="342900">
              <a:buAutoNum type="arabicPeriod"/>
            </a:pPr>
            <a:r>
              <a:rPr b="1"/>
              <a:t>Read the error message out loud.</a:t>
            </a:r>
            <a:r>
              <a:rPr/>
              <a:t> R usually names the line and the problem.</a:t>
            </a:r>
          </a:p>
          <a:p>
            <a:pPr lvl="0" indent="-342900" marL="342900">
              <a:buAutoNum type="arabicPeriod"/>
            </a:pPr>
            <a:r>
              <a:rPr b="1"/>
              <a:t>Check the usual suspects:</a:t>
            </a:r>
            <a:r>
              <a:rPr/>
              <a:t> did you run </a:t>
            </a:r>
            <a:r>
              <a:rPr>
                <a:latin typeface="Courier"/>
              </a:rPr>
              <a:t>library(tidyverse)</a:t>
            </a:r>
            <a:r>
              <a:rPr/>
              <a:t> and </a:t>
            </a:r>
            <a:r>
              <a:rPr>
                <a:latin typeface="Courier"/>
              </a:rPr>
              <a:t>library(pwr)</a:t>
            </a:r>
            <a:r>
              <a:rPr/>
              <a:t>? Spelling? A missing </a:t>
            </a:r>
            <a:r>
              <a:rPr>
                <a:latin typeface="Courier"/>
              </a:rPr>
              <a:t>)</a:t>
            </a:r>
            <a:r>
              <a:rPr/>
              <a:t> or </a:t>
            </a:r>
            <a:r>
              <a:rPr>
                <a:latin typeface="Courier"/>
              </a:rPr>
              <a:t>%&gt;%</a:t>
            </a:r>
            <a:r>
              <a:rPr/>
              <a:t> at the </a:t>
            </a:r>
            <a:r>
              <a:rPr i="1"/>
              <a:t>start</a:t>
            </a:r>
            <a:r>
              <a:rPr/>
              <a:t> of a line?</a:t>
            </a:r>
          </a:p>
          <a:p>
            <a:pPr lvl="0" indent="-342900" marL="342900">
              <a:buAutoNum type="arabicPeriod"/>
            </a:pPr>
            <a:r>
              <a:rPr>
                <a:latin typeface="Courier"/>
              </a:rPr>
              <a:t>?function_name</a:t>
            </a:r>
            <a:r>
              <a:rPr/>
              <a:t> opens the built-in help page.</a:t>
            </a:r>
          </a:p>
          <a:p>
            <a:pPr lvl="0" indent="-342900" marL="342900">
              <a:buAutoNum type="arabicPeriod"/>
            </a:pPr>
            <a:r>
              <a:rPr b="1"/>
              <a:t>Bring the exact error</a:t>
            </a:r>
            <a:r>
              <a:rPr/>
              <a:t> (copy-paste it) to class or office hours.</a:t>
            </a:r>
          </a:p>
          <a:p>
            <a:pPr lvl="0" indent="0" marL="1270000">
              <a:buNone/>
            </a:pPr>
            <a:r>
              <a:rPr sz="2000"/>
              <a:t>💡 </a:t>
            </a:r>
            <a:r>
              <a:rPr sz="2000" b="1"/>
              <a:t>Key idea:</a:t>
            </a:r>
            <a:r>
              <a:rPr sz="2000"/>
              <a:t> Every working scientist googles error messages daily. Getting stuck is not failing — it is the job.</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Activity: Study Design &amp; Sampling</dc:title>
  <dc:creator>Bill Perry</dc:creator>
  <cp:keywords/>
  <dc:description>Hands-on activity: natural experiments, pseudoreplication, and a priori/post hoc power analysis on a simulated waterfall fish dataset.</dc:description>
  <dcterms:created xsi:type="dcterms:W3CDTF">2026-08-26T17:14:53Z</dcterms:created>
  <dcterms:modified xsi:type="dcterms:W3CDTF">2026-08-26T17:14:53Z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order">
    <vt:lpwstr>9</vt:lpwstr>
  </property>
  <property fmtid="{D5CDD505-2E9C-101B-9397-08002B2CF9AE}" pid="13" name="resources">
    <vt:lpwstr/>
  </property>
  <property fmtid="{D5CDD505-2E9C-101B-9397-08002B2CF9AE}" pid="14" name="subtitle">
    <vt:lpwstr>Design and sampling</vt:lpwstr>
  </property>
  <property fmtid="{D5CDD505-2E9C-101B-9397-08002B2CF9AE}" pid="15" name="toc-title">
    <vt:lpwstr>Table of contents</vt:lpwstr>
  </property>
  <property fmtid="{D5CDD505-2E9C-101B-9397-08002B2CF9AE}" pid="16" name="week">
    <vt:lpwstr>5</vt:lpwstr>
  </property>
</Properties>
</file>