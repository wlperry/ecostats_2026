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jpg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lake_trout.csv" TargetMode="External" /><Relationship Id="rId4" Type="http://schemas.openxmlformats.org/officeDocument/2006/relationships/hyperlink" Target="data/sage_brush_crickets_feeding_mating.csv" TargetMode="External" /><Relationship Id="rId5" Type="http://schemas.openxmlformats.org/officeDocument/2006/relationships/hyperlink" Target="themes_functions/r_themes_and_functions.R" TargetMode="External" /><Relationship Id="rId6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how to tell whether they do — and what to do when they don’t.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trap we’re walking into first</a:t>
            </a:r>
          </a:p>
          <a:p>
            <a:pPr lvl="0" indent="0" marL="1270000">
              <a:buNone/>
            </a:pPr>
            <a:r>
              <a:rPr sz="2000"/>
              <a:t>It is tempting to treat non-parametric tests as the “safe” option you can always fall back on. We are going to start by showing why that instinct is wrong.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runs in two halves, and the order matters:</a:t>
            </a:r>
          </a:p>
          <a:p>
            <a:pPr lvl="0" indent="-342900" marL="342900">
              <a:buAutoNum type="arabicPeriod"/>
            </a:pPr>
            <a:r>
              <a:rPr b="1"/>
              <a:t>Our own pine needles first.</a:t>
            </a:r>
            <a:r>
              <a:rPr/>
              <a:t> We check the assumptions on the data </a:t>
            </a:r>
            <a:r>
              <a:rPr i="1"/>
              <a:t>you</a:t>
            </a:r>
            <a:r>
              <a:rPr/>
              <a:t> collected, find that they hold, measure </a:t>
            </a:r>
            <a:r>
              <a:rPr b="1"/>
              <a:t>how big</a:t>
            </a:r>
            <a:r>
              <a:rPr/>
              <a:t> the effect actually was with Cohen’s d, and then run the non-parametric tests anyway — to see exactly what they cost.</a:t>
            </a:r>
          </a:p>
          <a:p>
            <a:pPr lvl="0" indent="-342900" marL="342900">
              <a:buAutoNum type="arabicPeriod"/>
            </a:pPr>
            <a:r>
              <a:rPr b="1"/>
              <a:t>Then the lake trout.</a:t>
            </a:r>
            <a:r>
              <a:rPr/>
              <a:t> A dataset where the assumptions are genuinely, badly broken — which is where robust tests, rank-based tests, and permutation tests earn their keep.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question behind today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 i="1"/>
              <a:t>“which test is safest?”</a:t>
            </a:r>
            <a:r>
              <a:rPr sz="2000"/>
              <a:t> but </a:t>
            </a:r>
            <a:r>
              <a:rPr sz="2000" i="1"/>
              <a:t>“which test does this data deserve?”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146300"/>
            <a:ext cx="27813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in the second half of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Start With Our Own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pine needles, where we left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   </a:t>
            </a:r>
            <a:r>
              <a:rPr>
                <a:solidFill>
                  <a:srgbClr val="5E5E5E"/>
                </a:solidFill>
                <a:latin typeface="Courier"/>
              </a:rPr>
              <a:t># cohens_d()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  <a:r>
              <a:rPr/>
              <a:t> </a:t>
            </a:r>
            <a:r>
              <a:rPr>
                <a:hlinkClick r:id="rId3"/>
              </a:rPr>
              <a:t>📥 Lake trout data</a:t>
            </a:r>
            <a:r>
              <a:rPr/>
              <a:t> </a:t>
            </a:r>
            <a:r>
              <a:rPr>
                <a:hlinkClick r:id="rId4"/>
              </a:rPr>
              <a:t>📥 Sagebrush cricket data</a:t>
            </a:r>
          </a:p>
          <a:p>
            <a:pPr lvl="0" indent="0" marL="0">
              <a:buNone/>
            </a:pPr>
            <a:r>
              <a:rPr>
                <a:hlinkClick r:id="rId5"/>
              </a:rPr>
              <a:t>📥 Tools script</a:t>
            </a:r>
            <a:r>
              <a:rPr/>
              <a:t> </a:t>
            </a:r>
            <a:r>
              <a:rPr>
                <a:hlinkClick r:id="rId6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  <a:p>
            <a:pPr lvl="0" indent="0" marL="1270000">
              <a:buNone/>
            </a:pPr>
            <a:r>
              <a:rPr sz="2000"/>
              <a:t>Last week these four trees gave us: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our assumptions actually hold?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we run anything — do you expect needle length to be normally distributed with equal variance on the two sides of a tree? Commit to an answer.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reaching for anything non-parametric, we have to establish that we </a:t>
            </a:r>
            <a:r>
              <a:rPr i="1"/>
              <a:t>need</a:t>
            </a:r>
            <a:r>
              <a:rPr/>
              <a:t> it. Same two checks as last week.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normality, one side at a time -- all 32 needles per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"sunny"]
W = 0.96105, p-value = 0.2934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"shady"]
W = 0.98213, p-value = 0.8586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variance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2e-04 0.9887
      62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Everything passes</a:t>
            </a:r>
          </a:p>
          <a:p>
            <a:pPr lvl="0" indent="0" marL="1270000">
              <a:buNone/>
            </a:pPr>
            <a:r>
              <a:rPr sz="2000"/>
              <a:t>Remember the direction of these tests: </a:t>
            </a:r>
            <a:r>
              <a:rPr sz="2000" b="1"/>
              <a:t>H₀ is that the assumption holds.</a:t>
            </a:r>
            <a:r>
              <a:rPr sz="2000"/>
              <a:t> A large p means we have no evidence against it.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nothing wrong with this data.</a:t>
            </a:r>
            <a:r>
              <a:rPr sz="2000"/>
              <a:t> The paired t-test we ran last week was entitled to every bit of its p = 0.072.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So why are we here?</a:t>
            </a:r>
          </a:p>
          <a:p>
            <a:pPr lvl="0" indent="0" marL="1270000">
              <a:buNone/>
            </a:pPr>
            <a:r>
              <a:rPr sz="2000"/>
              <a:t>Because “my data are fine” is a conclusion you have to </a:t>
            </a:r>
            <a:r>
              <a:rPr sz="2000" i="1"/>
              <a:t>earn</a:t>
            </a:r>
            <a:r>
              <a:rPr sz="2000"/>
              <a:t>, not assume — and because plenty of students would have reached for a rank test anyway, thinking it was the cautious choice. Let’s find out what that caution would have cost.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Effect Size — How Big, Not Just Whether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Our paired t-test gave </a:t>
                </a:r>
                <a:r>
                  <a:rPr b="1"/>
                  <a:t>p = 0.072</a:t>
                </a:r>
                <a:r>
                  <a:rPr/>
                  <a:t>. The usual reflex is to call that “not significant” and stop.</a:t>
                </a:r>
              </a:p>
              <a:p>
                <a:pPr lvl="0" indent="0" marL="0">
                  <a:buNone/>
                </a:pPr>
                <a:r>
                  <a:rPr/>
                  <a:t>But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 never told us the one thing a reader actually wants to know: </a:t>
                </a:r>
                <a:r>
                  <a:rPr b="1"/>
                  <a:t>how much shorter are shady needles?</a:t>
                </a:r>
                <a:r>
                  <a:rPr/>
                  <a:t> A p-value answers </a:t>
                </a:r>
                <a:r>
                  <a:rPr i="1"/>
                  <a:t>“could this be noise?”</a:t>
                </a:r>
                <a:r>
                  <a:rPr/>
                  <a:t> — not </a:t>
                </a:r>
                <a:r>
                  <a:rPr i="1"/>
                  <a:t>“does this matter?”</a:t>
                </a:r>
              </a:p>
              <a:p>
                <a:pPr lvl="0" indent="0" marL="0">
                  <a:buNone/>
                </a:pPr>
                <a:r>
                  <a:rPr b="1"/>
                  <a:t>Cohen’s d</a:t>
                </a:r>
                <a:r>
                  <a:rPr/>
                  <a:t> answers the second question. It is the difference between the groups expressed in </a:t>
                </a:r>
                <a:r>
                  <a:rPr b="1"/>
                  <a:t>standard deviations</a:t>
                </a:r>
                <a:r>
                  <a:rPr/>
                  <a:t>, so it has no units and can be compared across studies: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paired</a:t>
                </a:r>
                <a:r>
                  <a:rPr/>
                  <a:t> design the difference is the paired difference, and </a:t>
                </a:r>
                <a:r>
                  <a:rPr>
                    <a:latin typeface="Courier"/>
                  </a:rPr>
                  <a:t>s</a:t>
                </a:r>
                <a:r>
                  <a:rPr/>
                  <a:t> is the standard deviation </a:t>
                </a:r>
                <a:r>
                  <a:rPr i="1"/>
                  <a:t>of those differences</a:t>
                </a:r>
                <a:r>
                  <a:rPr/>
                  <a:t>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diffs &lt;-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sunny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Cohen's d, by hand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-1.361371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the formula out loud</a:t>
            </a:r>
          </a:p>
          <a:p>
            <a:pPr lvl="0" indent="0" marL="1270000">
              <a:buNone/>
            </a:pPr>
            <a:r>
              <a:rPr sz="2000"/>
              <a:t>“The shady side averaged </a:t>
            </a:r>
            <a:r>
              <a:rPr sz="2000" b="1"/>
              <a:t>1.36 standard deviations</a:t>
            </a:r>
            <a:r>
              <a:rPr sz="2000"/>
              <a:t> below the sunny side.”</a:t>
            </a:r>
          </a:p>
          <a:p>
            <a:pPr lvl="0" indent="0" marL="1270000">
              <a:buNone/>
            </a:pPr>
            <a:r>
              <a:rPr sz="2000"/>
              <a:t>That sentence stands on its own. It does not depend on how many trees we sampled, and it would mean the same thing to someone measuring a different pine species in a different forest.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Cohen’s rough conventions</a:t>
            </a:r>
          </a:p>
          <a:p>
            <a:pPr lvl="0" indent="0" marL="1270000">
              <a:buNone/>
            </a:pPr>
            <a:r>
              <a:rPr sz="2000"/>
              <a:t>Ours is </a:t>
            </a:r>
            <a:r>
              <a:rPr sz="2000" b="1"/>
              <a:t>1.36</a:t>
            </a:r>
            <a:r>
              <a:rPr sz="2000"/>
              <a:t>. These are rules of thumb, not laws — what counts as “large” is a question about pine trees, not about statistics.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Report It — What d Tells Us That p Could Not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Here is the relationship that explains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×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AD0000"/>
                    </a:solidFill>
                    <a:latin typeface="Courier"/>
                  </a:rPr>
                  <a:t>2.7227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4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our t statistic, over root n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1.36135</a:t>
                </a:r>
              </a:p>
              <a:p>
                <a:pPr lvl="0" indent="0" marL="0">
                  <a:buNone/>
                </a:pPr>
                <a:r>
                  <a:rPr b="1"/>
                  <a:t>The t-statistic is the effect size multiplied by the square root of your sample size.</a:t>
                </a:r>
                <a:r>
                  <a:rPr/>
                  <a:t> So a p-value confounds two completely different things: </a:t>
                </a:r>
                <a:r>
                  <a:rPr i="1"/>
                  <a:t>how big the effect is</a:t>
                </a:r>
                <a:r>
                  <a:rPr/>
                  <a:t>, and </a:t>
                </a:r>
                <a:r>
                  <a:rPr i="1"/>
                  <a:t>how hard you looked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huge</a:t>
                </a:r>
                <a:r>
                  <a:rPr/>
                  <a:t> effect with n = 4 → large p. That is us.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trivial</a:t>
                </a:r>
                <a:r>
                  <a:rPr/>
                  <a:t> effect with n = 10,000 → tiny p, and no biological meaning at all.</a:t>
                </a:r>
              </a:p>
              <a:p>
                <a:pPr lvl="0" indent="0" marL="0">
                  <a:buNone/>
                </a:pPr>
                <a:r>
                  <a:rPr/>
                  <a:t>Effect size separates them. That is why journals, and every reporting guideline written in the last twenty years, ask for it alongside the p-value.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cohens_d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Cohen's d |        95% CI
-------------------------
-1.36     | [-2.74, 0.10]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Look at that confidence interval: [-2.74, 0.10]</a:t>
            </a:r>
          </a:p>
          <a:p>
            <a:pPr lvl="0" indent="0" marL="1270000">
              <a:buNone/>
            </a:pPr>
            <a:r>
              <a:rPr sz="2000" i="1"/>
              <a:t>This</a:t>
            </a:r>
            <a:r>
              <a:rPr sz="2000"/>
              <a:t> is the honest summary of our four trees: the effect is </a:t>
            </a:r>
            <a:r>
              <a:rPr sz="2000" b="1"/>
              <a:t>probably large and probably negative</a:t>
            </a:r>
            <a:r>
              <a:rPr sz="2000"/>
              <a:t>, but with n = 4 we cannot rule out zero.</a:t>
            </a:r>
          </a:p>
          <a:p>
            <a:pPr lvl="0" indent="0" marL="1270000">
              <a:buNone/>
            </a:pPr>
            <a:r>
              <a:rPr sz="2000"/>
              <a:t>Notice that the CI crossing zero is the same fact as p &gt; 0.05 — but it says it far more usefully. “No significant difference” sounds like </a:t>
            </a:r>
            <a:r>
              <a:rPr sz="2000" i="1"/>
              <a:t>we found nothing</a:t>
            </a:r>
            <a:r>
              <a:rPr sz="2000"/>
              <a:t>. “d = -1.36, CI [-2.74, 0.10]” says </a:t>
            </a:r>
            <a:r>
              <a:rPr sz="2000" i="1"/>
              <a:t>we found a large effect we could not pin down</a:t>
            </a:r>
            <a:r>
              <a:rPr sz="2000"/>
              <a:t>, which is a completely different message to a reader, and the correct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goes next</a:t>
            </a:r>
          </a:p>
          <a:p>
            <a:pPr lvl="0" indent="0" marL="1270000">
              <a:buNone/>
            </a:pPr>
            <a:r>
              <a:rPr sz="2000"/>
              <a:t>Effect size is the input to a </a:t>
            </a:r>
            <a:r>
              <a:rPr sz="2000" b="1"/>
              <a:t>power analysis</a:t>
            </a:r>
            <a:r>
              <a:rPr sz="2000"/>
              <a:t> — given d, how many trees would we have needed? That is next week’s lecture.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Ranks,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non-parametric test today works the same way: </a:t>
            </a:r>
            <a:r>
              <a:rPr b="1"/>
              <a:t>throw away the measurements, keep only their order.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rank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(rank)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team       side  needle_length_mm  rank
  &lt;chr&gt;      &lt;chr&gt;            &lt;dbl&gt; &lt;dbl&gt;
1 waterbugs  shady             11.7     1
2 one        shady             13.2     2
3 waterbugs  sunny             13.8     3
4 one        sunny             14.2     4
5 grace_jace shady             15.4     5
6 grace_jace sunny             15.5     6
7 botany     shady             16.1     7
8 botany     sunny             17.3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just happened</a:t>
            </a:r>
          </a:p>
          <a:p>
            <a:pPr lvl="0" indent="0" marL="1270000">
              <a:buNone/>
            </a:pPr>
            <a:r>
              <a:rPr sz="2000"/>
              <a:t>The shortest tree-side average became rank 1, the longest rank 8. A needle that was 4 mm longer than its neighbour and one that was 0.1 mm longer are now </a:t>
            </a:r>
            <a:r>
              <a:rPr sz="2000" b="1"/>
              <a:t>exactly one rank apart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trade. You become immune to outliers and to any weird distribution — and in exchange you give up the magnitudes.</a:t>
            </a:r>
          </a:p>
          <a:p>
            <a:pPr lvl="0" indent="0" marL="1270000">
              <a:buNone/>
            </a:pPr>
            <a:r>
              <a:rPr sz="2000"/>
              <a:t>A rank-based test then asks: </a:t>
            </a:r>
            <a:r>
              <a:rPr sz="2000" i="1"/>
              <a:t>are the ranks of one group systematically higher than the other’s?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Watch for the statistic</a:t>
            </a:r>
          </a:p>
          <a:p>
            <a:pPr lvl="0" indent="0" marL="1270000">
              <a:buNone/>
            </a:pPr>
            <a:r>
              <a:rPr sz="2000"/>
              <a:t>Rank tests report </a:t>
            </a:r>
            <a:r>
              <a:rPr sz="2000" b="1">
                <a:latin typeface="Courier"/>
              </a:rPr>
              <a:t>W</a:t>
            </a:r>
            <a:r>
              <a:rPr sz="2000"/>
              <a:t> (Mann-Whitney) or </a:t>
            </a:r>
            <a:r>
              <a:rPr sz="2000" b="1">
                <a:latin typeface="Courier"/>
              </a:rPr>
              <a:t>V</a:t>
            </a:r>
            <a:r>
              <a:rPr sz="2000"/>
              <a:t> (signed-rank), never </a:t>
            </a:r>
            <a:r>
              <a:rPr sz="2000">
                <a:latin typeface="Courier"/>
              </a:rPr>
              <a:t>t</a:t>
            </a:r>
            <a:r>
              <a:rPr sz="2000"/>
              <a:t>. If you see a </a:t>
            </a:r>
            <a:r>
              <a:rPr sz="2000">
                <a:latin typeface="Courier"/>
              </a:rPr>
              <a:t>W</a:t>
            </a:r>
            <a:r>
              <a:rPr sz="2000"/>
              <a:t>, you are reading rank-based output.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just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Where we go next</a:t>
            </a:r>
          </a:p>
          <a:p>
            <a:pPr lvl="0" indent="0" marL="1270000">
              <a:buNone/>
            </a:pPr>
            <a:r>
              <a:rPr sz="2000"/>
              <a:t>We have now seen what these tests cost. What we have </a:t>
            </a:r>
            <a:r>
              <a:rPr sz="2000" b="1"/>
              <a:t>not</a:t>
            </a:r>
            <a:r>
              <a:rPr sz="2000"/>
              <a:t> seen is what they buy you — because nothing about the pine data was broken.</a:t>
            </a:r>
          </a:p>
          <a:p>
            <a:pPr lvl="0" indent="0" marL="1270000">
              <a:buNone/>
            </a:pPr>
            <a:r>
              <a:rPr sz="2000"/>
              <a:t>For that we need a dataset that is a genuine mess.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 Dataset Where the Assumptions Really Do Fail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lake trout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from here on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</a:t>
            </a:r>
          </a:p>
          <a:p>
            <a:pPr lvl="0" indent="0" marL="1270000">
              <a:buNone/>
            </a:pPr>
            <a:r>
              <a:rPr sz="2000"/>
              <a:t>That imbalance is the rest of the lecture. Where the pine data was clean, this is everything that can go wrong at once.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Assumptions of Parametric Tests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When Assumptions Fail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Why 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isn’t a trick you try at random — it fixes a specific shape of problem:</a:t>
            </a:r>
          </a:p>
          <a:p>
            <a:pPr lvl="0"/>
            <a:r>
              <a:rPr/>
              <a:t>Right-skewed data (a long tail of large values)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Effects that are </a:t>
            </a:r>
            <a:r>
              <a:rPr b="1"/>
              <a:t>multiplicative</a:t>
            </a:r>
            <a:r>
              <a:rPr/>
              <a:t> rather than additive (doubling a value, not adding a fixed amount)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Ratio-scale ecological measurements — mass, concentration, population size, area — are almost always multiplicative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mechanism, in one line</a:t>
            </a:r>
          </a:p>
          <a:p>
            <a:pPr lvl="0" indent="0" marL="1270000">
              <a:buNone/>
            </a:pPr>
            <a:r>
              <a:rPr sz="2000"/>
              <a:t>A trout that is twice as heavy as another isn’t “500 g more” — it’s “2×.” Log turns that multiplicative relationship into an additive one, which is what a t-test’s equal-spread assumption expects. It compresses the right tail: 100 g → 1000 g and 1000 g → 10,000 g become the </a:t>
            </a:r>
            <a:r>
              <a:rPr sz="2000" i="1"/>
              <a:t>same</a:t>
            </a:r>
            <a:r>
              <a:rPr sz="2000"/>
              <a:t> distance, one log unit.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Beyond 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 the one you will reach for most in ecology, but match the transform to the shape of the problem: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when…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log10(x)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right-skewed, multiplicative, ratio-scale data (mass, concentration, abundance)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sqrt(x)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moderate right skew (Poisson-like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asin(sqrt(x))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proportions or percentages bounded 0–1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1/x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rates, or extreme right skew that log doesn’t fix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Box-Cox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obvious transform works — let the data pick the power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None of these are guaranteed to work.</a:t>
            </a:r>
            <a:r>
              <a:rPr/>
              <a:t> You check afterward, every time — that’s Part 5 of the worksheet, and it’s the whole point of the take-home.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sqrt_box_plot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sqrt_box_plot</a:t>
            </a:r>
          </a:p>
        </p:txBody>
      </p:sp>
      <p:pic>
        <p:nvPicPr>
          <p:cNvPr descr="nonparametric_t_tests_lecture_files/figure-pptx/nonparametric-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113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sqrt()</a:t>
            </a:r>
            <a:r>
              <a:rPr/>
              <a:t> narrows the spread less than </a:t>
            </a:r>
            <a:r>
              <a:rPr>
                <a:latin typeface="Courier"/>
              </a:rPr>
              <a:t>log10()</a:t>
            </a:r>
            <a:r>
              <a:rPr/>
              <a:t> did here — this skew behaves more like a multiplicative effect than a count.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Transformation Can Fix One Problem, Not the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 11.77 0.0006784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Compare that to the Levene’s result on raw </a:t>
            </a:r>
            <a:r>
              <a:rPr>
                <a:latin typeface="Courier"/>
              </a:rPr>
              <a:t>mass_g</a:t>
            </a:r>
            <a:r>
              <a:rPr/>
              <a:t> a few slides back — both fail. </a:t>
            </a:r>
            <a:r>
              <a:rPr b="1"/>
              <a:t>Normality improved with the log transform. Equal variance did not.</a:t>
            </a:r>
            <a:r>
              <a:rPr/>
              <a:t> Checking a transformation is not one pass/fail box — you re-test </a:t>
            </a:r>
            <a:r>
              <a:rPr i="1"/>
              <a:t>every</a:t>
            </a:r>
            <a:r>
              <a:rPr/>
              <a:t> assumption, separately, on the transformed variable.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is the take-home’s whole trap</a:t>
            </a:r>
          </a:p>
          <a:p>
            <a:pPr lvl="0" indent="0" marL="1270000">
              <a:buNone/>
            </a:pPr>
            <a:r>
              <a:rPr sz="2000"/>
              <a:t>The sagebrush cricket data works the same way: a transformation can help one assumption without rescuing the other. There is no single “correct” test hiding in the data — there’s a </a:t>
            </a:r>
            <a:r>
              <a:rPr sz="2000" b="1"/>
              <a:t>best-justified</a:t>
            </a:r>
            <a:r>
              <a:rPr sz="2000"/>
              <a:t> one. Check every assumption on the raw data, then again on any transformed version, before you decide.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Welch’s T-Test — a One-Slide Refresher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Rank-Based Tests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 — now on data that needs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tests you ran on the pine needles in Part 1 — ranks instead of measurements, no assumption about the distribution.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difference from Part 1</a:t>
            </a:r>
          </a:p>
          <a:p>
            <a:pPr lvl="0" indent="0" marL="1270000">
              <a:buNone/>
            </a:pPr>
            <a:r>
              <a:rPr sz="2000"/>
              <a:t>On the pine needles the rank test was a </a:t>
            </a:r>
            <a:r>
              <a:rPr sz="2000" b="1"/>
              <a:t>cost</a:t>
            </a:r>
            <a:r>
              <a:rPr sz="2000"/>
              <a:t> — we gave up power on data that was already well behaved.</a:t>
            </a:r>
          </a:p>
          <a:p>
            <a:pPr lvl="0" indent="0" marL="1270000">
              <a:buNone/>
            </a:pPr>
            <a:r>
              <a:rPr sz="2000"/>
              <a:t>Here, NE 12 mass is non-normal at p &lt; 2.2 × 10⁻¹⁶ and full of outliers. There is nothing to give up. </a:t>
            </a:r>
            <a:r>
              <a:rPr sz="2000" b="1"/>
              <a:t>This</a:t>
            </a:r>
            <a:r>
              <a:rPr sz="2000"/>
              <a:t> is the case the test was built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W</a:t>
            </a:r>
            <a:r>
              <a:rPr sz="2000" b="1"/>
              <a:t> again, and no “exact” this time</a:t>
            </a:r>
          </a:p>
          <a:p>
            <a:pPr lvl="0" indent="0" marL="1270000">
              <a:buNone/>
            </a:pPr>
            <a:r>
              <a:rPr sz="2000"/>
              <a:t>The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rank-based output, as in Part 1.</a:t>
            </a:r>
          </a:p>
          <a:p>
            <a:pPr lvl="0" indent="0" marL="1270000">
              <a:buNone/>
            </a:pPr>
            <a:r>
              <a:rPr sz="2000"/>
              <a:t>But notice what R </a:t>
            </a:r>
            <a:r>
              <a:rPr sz="2000" i="1"/>
              <a:t>doesn’t</a:t>
            </a:r>
            <a:r>
              <a:rPr sz="2000"/>
              <a:t> say: with 332 fish and plenty of tied masses it cannot enumerate every arrangement, so this is the </a:t>
            </a:r>
            <a:r>
              <a:rPr sz="2000" b="1"/>
              <a:t>normal approximation</a:t>
            </a:r>
            <a:r>
              <a:rPr sz="2000"/>
              <a:t>, not an exact test. At this sample size that is fine — the floor problem that crippled our four trees does not exist here.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Permutation Tests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report an effect size next to your p-value.</a:t>
            </a:r>
          </a:p>
          <a:p>
            <a:pPr lvl="0"/>
            <a:r>
              <a:rPr b="1"/>
              <a:t>Cohen’s d</a:t>
            </a:r>
            <a:r>
              <a:rPr/>
              <a:t> = the difference between groups, in standard deviations — unitless, and comparable across studies</a:t>
            </a:r>
          </a:p>
          <a:p>
            <a:pPr lvl="0"/>
            <a:r>
              <a:rPr b="1"/>
              <a:t>t = d × √n</a:t>
            </a:r>
            <a:r>
              <a:rPr/>
              <a:t>, so a p-value confounds </a:t>
            </a:r>
            <a:r>
              <a:rPr i="1"/>
              <a:t>how big the effect is</a:t>
            </a:r>
            <a:r>
              <a:rPr/>
              <a:t> with </a:t>
            </a:r>
            <a:r>
              <a:rPr i="1"/>
              <a:t>how hard you looked</a:t>
            </a:r>
          </a:p>
          <a:p>
            <a:pPr lvl="0"/>
            <a:r>
              <a:rPr/>
              <a:t>A </a:t>
            </a:r>
            <a:r>
              <a:rPr b="1"/>
              <a:t>confidence interval on d</a:t>
            </a:r>
            <a:r>
              <a:rPr/>
              <a:t> says what a bare “n.s.” never can: whether you found nothing, or found something you could not pin down</a:t>
            </a:r>
          </a:p>
          <a:p>
            <a:pPr lvl="0"/>
            <a:r>
              <a:rPr/>
              <a:t>Effect size is also the input to a power analysis — next week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On our four trees</a:t>
            </a:r>
          </a:p>
          <a:p>
            <a:pPr lvl="0" indent="0" marL="1270000">
              <a:buNone/>
            </a:pPr>
            <a:r>
              <a:rPr sz="2000"/>
              <a:t>Paired </a:t>
            </a:r>
            <a:r>
              <a:rPr sz="2000" b="1"/>
              <a:t>d = −1.36</a:t>
            </a:r>
            <a:r>
              <a:rPr sz="2000"/>
              <a:t>, CI [−2.74, 0.10], p = 0.072. A large effect, imprecisely measured. Reporting only “p = 0.072, n.s.” would have thrown that away.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 a results sentence</a:t>
            </a:r>
          </a:p>
          <a:p>
            <a:pPr lvl="0" indent="0" marL="1270000">
              <a:buNone/>
            </a:pPr>
            <a:r>
              <a:rPr sz="2000"/>
              <a:t>Needles on the shady side were 1.09 mm shorter than on the sunny side (paired </a:t>
            </a:r>
            <a:r>
              <a:rPr sz="2000" i="1"/>
              <a:t>t</a:t>
            </a:r>
            <a:r>
              <a:rPr sz="2000"/>
              <a:t>₃ = −2.72, </a:t>
            </a:r>
            <a:r>
              <a:rPr sz="2000" i="1"/>
              <a:t>p</a:t>
            </a:r>
            <a:r>
              <a:rPr sz="2000"/>
              <a:t> = 0.072, </a:t>
            </a:r>
            <a:r>
              <a:rPr sz="2000" i="1"/>
              <a:t>d</a:t>
            </a:r>
            <a:r>
              <a:rPr sz="2000"/>
              <a:t> = −1.36, 95% CI [−2.74, 0.10]).</a:t>
            </a:r>
          </a:p>
          <a:p>
            <a:pPr lvl="0" indent="0" marL="1270000">
              <a:buNone/>
            </a:pPr>
            <a:r>
              <a:rPr sz="2000"/>
              <a:t>Every number there does work the others cannot.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5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Looking Ahead — The 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 of the worksheet (sagebrush crickets, due before Study Design &amp; Sampling) hands you a new dataset and asks </a:t>
            </a:r>
            <a:r>
              <a:rPr b="1"/>
              <a:t>you</a:t>
            </a:r>
            <a:r>
              <a:rPr/>
              <a:t> to run the whole decision process from today: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on the raw data</a:t>
            </a:r>
          </a:p>
          <a:p>
            <a:pPr lvl="0" indent="-342900" marL="342900">
              <a:buAutoNum type="arabicPeriod"/>
            </a:pPr>
            <a:r>
              <a:rPr/>
              <a:t>Try a transformation if the raw data doesn’t pass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</a:t>
            </a:r>
            <a:r>
              <a:rPr b="1"/>
              <a:t>again</a:t>
            </a:r>
            <a:r>
              <a:rPr/>
              <a:t>, on the transformed data — don’t assume it worked</a:t>
            </a:r>
          </a:p>
          <a:p>
            <a:pPr lvl="0" indent="-342900" marL="342900">
              <a:buAutoNum type="arabicPeriod"/>
            </a:pPr>
            <a:r>
              <a:rPr/>
              <a:t>Pick a test, justify the pick, and report it properly</a:t>
            </a:r>
          </a:p>
          <a:p>
            <a:pPr lvl="0" indent="0" marL="0">
              <a:buNone/>
            </a:pPr>
            <a:r>
              <a:rPr/>
              <a:t>There is no lecture slide that tells you the answer this time.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Remember from today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log10()</a:t>
            </a:r>
            <a:r>
              <a:rPr sz="2000"/>
              <a:t> fixed normality for the lake trout but </a:t>
            </a:r>
            <a:r>
              <a:rPr sz="2000" b="1"/>
              <a:t>not</a:t>
            </a:r>
            <a:r>
              <a:rPr sz="2000"/>
              <a:t> equal variance. Expect the crickets to behave similarly — a transformation earning partial credit is a completely normal outcome, not a sign you did something wrong.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Rank-based tests on our own pine needle data — where the assumptions hold and the tests cost us power — then lake trout mass, where the assumptions genuinely fail and robust, rank-based, and permutation tests earn their keep.</dc:description>
  <dcterms:created xsi:type="dcterms:W3CDTF">2026-10-19T15:52:32Z</dcterms:created>
  <dcterms:modified xsi:type="dcterms:W3CDTF">2026-10-19T15:52:32Z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