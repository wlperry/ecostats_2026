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g" ContentType="image/jpeg"/>
  <Default Extension="png" ContentType="image/png"/>
  <Override PartName="/docProps/app.xml" ContentType="application/vnd.openxmlformats-officedocument.extended-propertie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CC31"/>
    <a:srgbClr val="7012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726"/>
  </p:normalViewPr>
  <p:slideViewPr>
    <p:cSldViewPr snapToGrid="0" snapToObjects="1">
      <p:cViewPr varScale="1">
        <p:scale>
          <a:sx d="100" n="165"/>
          <a:sy d="100" n="165"/>
        </p:scale>
        <p:origin x="560" y="176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slide" Target="slides/slide33.xml" /><Relationship Id="rId35" Type="http://schemas.openxmlformats.org/officeDocument/2006/relationships/slide" Target="slides/slide34.xml" /><Relationship Id="rId36" Type="http://schemas.openxmlformats.org/officeDocument/2006/relationships/slide" Target="slides/slide35.xml" /><Relationship Id="rId37" Type="http://schemas.openxmlformats.org/officeDocument/2006/relationships/slide" Target="slides/slide36.xml" /><Relationship Id="rId38" Type="http://schemas.openxmlformats.org/officeDocument/2006/relationships/slide" Target="slides/slide37.xml" /><Relationship Id="rId39" Type="http://schemas.openxmlformats.org/officeDocument/2006/relationships/slide" Target="slides/slide38.xml" /><Relationship Id="rId40" Type="http://schemas.openxmlformats.org/officeDocument/2006/relationships/slide" Target="slides/slide39.xml" /><Relationship Id="rId41" Type="http://schemas.openxmlformats.org/officeDocument/2006/relationships/slide" Target="slides/slide40.xml" /><Relationship Id="rId42" Type="http://schemas.openxmlformats.org/officeDocument/2006/relationships/slide" Target="slides/slide41.xml" /><Relationship Id="rId43" Type="http://schemas.openxmlformats.org/officeDocument/2006/relationships/slide" Target="slides/slide42.xml" /><Relationship Id="rId44" Type="http://schemas.openxmlformats.org/officeDocument/2006/relationships/slide" Target="slides/slide43.xml" /><Relationship Id="rId45" Type="http://schemas.openxmlformats.org/officeDocument/2006/relationships/slide" Target="slides/slide44.xml" /><Relationship Id="rId46" Type="http://schemas.openxmlformats.org/officeDocument/2006/relationships/slide" Target="slides/slide45.xml" /><Relationship Id="rId47" Type="http://schemas.openxmlformats.org/officeDocument/2006/relationships/slide" Target="slides/slide46.xml" /><Relationship Id="rId48" Type="http://schemas.openxmlformats.org/officeDocument/2006/relationships/slide" Target="slides/slide47.xml" /><Relationship Id="rId49" Type="http://schemas.openxmlformats.org/officeDocument/2006/relationships/slide" Target="slides/slide48.xml" /><Relationship Id="rId51" Type="http://schemas.openxmlformats.org/officeDocument/2006/relationships/viewProps" Target="viewProps.xml" /><Relationship Id="rId50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53" Type="http://schemas.openxmlformats.org/officeDocument/2006/relationships/tableStyles" Target="tableStyles.xml" /><Relationship Id="rId52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5722" y="565689"/>
            <a:ext cx="6400800" cy="131445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>
            <a:normAutofit/>
          </a:bodyPr>
          <a:lstStyle>
            <a:lvl1pPr algn="l"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14605"/>
            <a:ext cx="9089756" cy="3914289"/>
          </a:xfrm>
        </p:spPr>
        <p:txBody>
          <a:bodyPr>
            <a:normAutofit/>
          </a:bodyPr>
          <a:lstStyle>
            <a:lvl1pPr marL="230188" indent="-230188">
              <a:tabLst/>
              <a:defRPr sz="1800"/>
            </a:lvl1pPr>
            <a:lvl2pPr marL="514350" indent="-284163">
              <a:spcBef>
                <a:spcPts val="0"/>
              </a:spcBef>
              <a:tabLst/>
              <a:defRPr sz="1600"/>
            </a:lvl2pPr>
            <a:lvl3pPr marL="692150" indent="-177800">
              <a:spcBef>
                <a:spcPts val="0"/>
              </a:spcBef>
              <a:tabLst/>
              <a:defRPr sz="1400"/>
            </a:lvl3pPr>
            <a:lvl4pPr marL="914400" indent="-222250">
              <a:spcBef>
                <a:spcPts val="0"/>
              </a:spcBef>
              <a:tabLst/>
              <a:defRPr sz="1400"/>
            </a:lvl4pPr>
            <a:lvl5pPr marL="1146175" indent="-231775">
              <a:spcBef>
                <a:spcPts val="0"/>
              </a:spcBef>
              <a:tabLst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21556"/>
          </a:xfrm>
        </p:spPr>
        <p:txBody>
          <a:bodyPr anchor="t">
            <a:normAutofit/>
          </a:bodyPr>
          <a:lstStyle>
            <a:lvl1pPr algn="l">
              <a:defRPr sz="24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41649"/>
            <a:ext cx="7772400" cy="1125140"/>
          </a:xfrm>
        </p:spPr>
        <p:txBody>
          <a:bodyPr anchor="b">
            <a:normAutofit/>
          </a:bodyPr>
          <a:lstStyle>
            <a:lvl1pPr marL="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>
            <a:lvl1pPr algn="l">
              <a:defRPr b="0">
                <a:solidFill>
                  <a:srgbClr val="FDCC3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040" y="662663"/>
            <a:ext cx="6010759" cy="4480837"/>
          </a:xfrm>
        </p:spPr>
        <p:txBody>
          <a:bodyPr>
            <a:normAutofit/>
          </a:bodyPr>
          <a:lstStyle>
            <a:lvl1pPr marL="230188" indent="-230188">
              <a:tabLst/>
              <a:defRPr sz="1800"/>
            </a:lvl1pPr>
            <a:lvl2pPr marL="460375" indent="-230188">
              <a:tabLst/>
              <a:defRPr sz="1600"/>
            </a:lvl2pPr>
            <a:lvl3pPr marL="630238" indent="-169863">
              <a:tabLst/>
              <a:defRPr sz="1400"/>
            </a:lvl3pPr>
            <a:lvl4pPr marL="914400" indent="-284163">
              <a:tabLst/>
              <a:defRPr sz="1400"/>
            </a:lvl4pPr>
            <a:lvl5pPr marL="1146175" indent="-231775">
              <a:tabLst/>
              <a:defRPr sz="14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9580" y="662664"/>
            <a:ext cx="2790986" cy="4480836"/>
          </a:xfrm>
        </p:spPr>
        <p:txBody>
          <a:bodyPr>
            <a:normAutofit/>
          </a:bodyPr>
          <a:lstStyle>
            <a:lvl1pPr marL="342900" indent="-342900"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5937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6125" indent="-285750"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5987" indent="-285750"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00150" indent="-285750"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marL="230188" lvl="0" indent="-230188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Click to edit Master text styles</a:t>
            </a:r>
          </a:p>
          <a:p>
            <a:pPr marL="460375" lvl="1" indent="-230188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Second level</a:t>
            </a:r>
          </a:p>
          <a:p>
            <a:pPr marL="630238" lvl="2" indent="-169863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Third level</a:t>
            </a:r>
          </a:p>
          <a:p>
            <a:pPr marL="914400" lvl="3" indent="-284163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Fourth level</a:t>
            </a:r>
          </a:p>
          <a:p>
            <a:pPr marL="1146175" lvl="4" indent="-231775" algn="l" defTabSz="342900" rtl="0" eaLnBrk="1" latinLnBrk="0" hangingPunct="1">
              <a:spcBef>
                <a:spcPct val="20000"/>
              </a:spcBef>
              <a:buFont typeface="Arial"/>
              <a:buChar char="»"/>
              <a:tabLst/>
            </a:pPr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201" y="802623"/>
            <a:ext cx="4435799" cy="479822"/>
          </a:xfrm>
        </p:spPr>
        <p:txBody>
          <a:bodyPr anchor="b">
            <a:normAutofit/>
          </a:bodyPr>
          <a:lstStyle>
            <a:lvl1pPr marL="0" indent="0">
              <a:buNone/>
              <a:defRPr sz="16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6201" y="1282444"/>
            <a:ext cx="4435799" cy="3305054"/>
          </a:xfrm>
        </p:spPr>
        <p:txBody>
          <a:bodyPr/>
          <a:lstStyle>
            <a:lvl1pPr>
              <a:defRPr sz="16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3514" y="823389"/>
            <a:ext cx="4041775" cy="479822"/>
          </a:xfrm>
        </p:spPr>
        <p:txBody>
          <a:bodyPr anchor="b">
            <a:normAutofit/>
          </a:bodyPr>
          <a:lstStyle>
            <a:lvl1pPr marL="0" indent="0">
              <a:buNone/>
              <a:defRPr sz="16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3514" y="1303210"/>
            <a:ext cx="4041775" cy="3284288"/>
          </a:xfrm>
        </p:spPr>
        <p:txBody>
          <a:bodyPr/>
          <a:lstStyle>
            <a:lvl1pPr>
              <a:defRPr sz="16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 anchor="t" anchorCtr="0">
            <a:normAutofit/>
          </a:bodyPr>
          <a:lstStyle>
            <a:lvl1pPr algn="l">
              <a:defRPr sz="24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60804"/>
            <a:ext cx="5238426" cy="38064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0" y="960803"/>
            <a:ext cx="3541363" cy="3518297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7490" y="102393"/>
            <a:ext cx="8934774" cy="582780"/>
          </a:xfrm>
          <a:prstGeom prst="rect">
            <a:avLst/>
          </a:prstGeom>
          <a:solidFill>
            <a:srgbClr val="70121D"/>
          </a:solidFill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77489" y="781696"/>
            <a:ext cx="8934773" cy="3914289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42900" eaLnBrk="1" hangingPunct="1" latinLnBrk="0" rtl="0">
        <a:spcBef>
          <a:spcPct val="0"/>
        </a:spcBef>
        <a:buNone/>
        <a:defRPr kern="1200" sz="2800">
          <a:solidFill>
            <a:srgbClr val="FDCC3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ts val="0"/>
        </a:spcBef>
        <a:buFont typeface="Arial"/>
        <a:buChar char="•"/>
        <a:defRPr b="0"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ts val="0"/>
        </a:spcBef>
        <a:buFont typeface="Arial"/>
        <a:buChar char="–"/>
        <a:defRPr kern="1200" sz="16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ts val="0"/>
        </a:spcBef>
        <a:buFont typeface="Arial"/>
        <a:buChar char="•"/>
        <a:defRPr kern="1200" sz="16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ts val="0"/>
        </a:spcBef>
        <a:buFont typeface="Arial"/>
        <a:buChar char="–"/>
        <a:defRPr kern="1200" sz="16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ts val="0"/>
        </a:spcBef>
        <a:buFont typeface="Arial"/>
        <a:buChar char="»"/>
        <a:defRPr kern="1200" sz="16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.jpg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3" Type="http://schemas.openxmlformats.org/officeDocument/2006/relationships/image" Target="../media/image2.jpg" /><Relationship Id="rId2" Type="http://schemas.openxmlformats.org/officeDocument/2006/relationships/image" Target="../media/image1.jpg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hyperlink" Target="data/pine_data.csv" TargetMode="External" /><Relationship Id="rId3" Type="http://schemas.openxmlformats.org/officeDocument/2006/relationships/hyperlink" Target="data/lake_trout.csv" TargetMode="External" /><Relationship Id="rId4" Type="http://schemas.openxmlformats.org/officeDocument/2006/relationships/hyperlink" Target="data/sage_brush_crickets_feeding_mating.csv" TargetMode="External" /><Relationship Id="rId5" Type="http://schemas.openxmlformats.org/officeDocument/2006/relationships/hyperlink" Target="themes_functions/r_themes_and_functions.R" TargetMode="External" /><Relationship Id="rId6" Type="http://schemas.openxmlformats.org/officeDocument/2006/relationships/hyperlink" Target="data/07_nonparametric_t_tests.R" TargetMode="Externa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hyperlink" Target="data/lake_trout.csv" TargetMode="Externa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3.png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4.png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5.png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6.png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image" Target="../media/image7.png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8.png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9.png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0.png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4" Type="http://schemas.openxmlformats.org/officeDocument/2006/relationships/hyperlink" Target="https://www.elsblog.org/the_empirical_legal_studi/2006/08/variable_transf.html" TargetMode="External" /><Relationship Id="rId3" Type="http://schemas.openxmlformats.org/officeDocument/2006/relationships/image" Target="../media/image12.jpg" /><Relationship Id="rId2" Type="http://schemas.openxmlformats.org/officeDocument/2006/relationships/image" Target="../media/image11.png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image" Target="../media/image13.png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3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3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4.png" /></Relationships>
</file>

<file path=ppt/slides/_rels/slide39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hyperlink" Target="https://www.jwilber.me/permutationtest/" TargetMode="External" /></Relationships>
</file>

<file path=ppt/slides/_rels/slide40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4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4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4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4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4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47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4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Lecture: Non-Parametric T-Tests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255722" y="565689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Rank-based tests</a:t>
            </a:r>
            <a:br/>
            <a:br/>
            <a:r>
              <a:rPr/>
              <a:t>Bill Perry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Where We Left Off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brief review:</a:t>
            </a:r>
          </a:p>
          <a:p>
            <a:pPr lvl="0"/>
            <a:r>
              <a:rPr/>
              <a:t>Hypotheses</a:t>
            </a:r>
          </a:p>
          <a:p>
            <a:pPr lvl="0"/>
            <a:r>
              <a:rPr/>
              <a:t>One- and two-sided t-tests</a:t>
            </a:r>
          </a:p>
          <a:p>
            <a:pPr lvl="0"/>
            <a:r>
              <a:rPr/>
              <a:t>One-sample, two-sample, and </a:t>
            </a:r>
            <a:r>
              <a:rPr b="1"/>
              <a:t>paired</a:t>
            </a:r>
            <a:r>
              <a:rPr/>
              <a:t> t-tests — and how much more the paired test got out of the same four trees</a:t>
            </a:r>
          </a:p>
          <a:p>
            <a:pPr lvl="0"/>
            <a:r>
              <a:rPr b="1"/>
              <a:t>Assumptions of parametric tests</a:t>
            </a:r>
          </a:p>
          <a:p>
            <a:pPr lvl="0"/>
            <a:r>
              <a:rPr/>
              <a:t>What next — when assumptions fail!</a:t>
            </a:r>
          </a:p>
          <a:p>
            <a:pPr lvl="1"/>
            <a:r>
              <a:rPr/>
              <a:t>we will always cover parametric tests first</a:t>
            </a:r>
          </a:p>
          <a:p>
            <a:pPr lvl="1"/>
            <a:r>
              <a:rPr/>
              <a:t>then non-parametric approaches</a:t>
            </a:r>
          </a:p>
          <a:p>
            <a:pPr lvl="1"/>
            <a:r>
              <a:rPr/>
              <a:t>later, other approaches use the appropriate underlying distribution when it isn’t normal, but Poisson or other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✅ Key idea from last lecture</a:t>
            </a:r>
          </a:p>
          <a:p>
            <a:pPr lvl="0" indent="0" marL="1270000">
              <a:buNone/>
            </a:pPr>
            <a:r>
              <a:rPr sz="2000"/>
              <a:t>A t-test’s p-value is only trustworthy if its assumptions hold. Today is about how to tell whether they do — and what to do when they don’t.</a:t>
            </a:r>
          </a:p>
        </p:txBody>
      </p:sp>
      <p:pic>
        <p:nvPicPr>
          <p:cNvPr descr="images/pine_needles.jp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787400"/>
            <a:ext cx="2781300" cy="3708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6121400" y="4622800"/>
            <a:ext cx="27813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Photo comparing needle length and bundle count across six pine species (Pinus ponderosa, nigra, resinosa, strobus, sylvestris, banksiana).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Warning</a:t>
            </a:r>
          </a:p>
          <a:p>
            <a:pPr lvl="0" indent="0" marL="1270000">
              <a:buNone/>
            </a:pPr>
            <a:r>
              <a:rPr sz="2000" b="1"/>
              <a:t>⚠️ The trap we’re walking into first</a:t>
            </a:r>
          </a:p>
          <a:p>
            <a:pPr lvl="0" indent="0" marL="1270000">
              <a:buNone/>
            </a:pPr>
            <a:r>
              <a:rPr sz="2000"/>
              <a:t>It is tempting to treat non-parametric tests as the “safe” option you can always fall back on. We are going to start by showing why that instinct is wrong.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Today’s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Today runs in two halves, and the order matters:</a:t>
            </a:r>
          </a:p>
          <a:p>
            <a:pPr lvl="0" indent="-342900" marL="342900">
              <a:buAutoNum type="arabicPeriod"/>
            </a:pPr>
            <a:r>
              <a:rPr b="1"/>
              <a:t>Our own pine needles first.</a:t>
            </a:r>
            <a:r>
              <a:rPr/>
              <a:t> We check the assumptions on the data </a:t>
            </a:r>
            <a:r>
              <a:rPr i="1"/>
              <a:t>you</a:t>
            </a:r>
            <a:r>
              <a:rPr/>
              <a:t> collected, find that they hold, measure </a:t>
            </a:r>
            <a:r>
              <a:rPr b="1"/>
              <a:t>how big</a:t>
            </a:r>
            <a:r>
              <a:rPr/>
              <a:t> the effect actually was with Cohen’s d, and then run the non-parametric tests anyway — to see exactly what they cost.</a:t>
            </a:r>
          </a:p>
          <a:p>
            <a:pPr lvl="0" indent="-342900" marL="342900">
              <a:buAutoNum type="arabicPeriod"/>
            </a:pPr>
            <a:r>
              <a:rPr b="1"/>
              <a:t>Then the lake trout.</a:t>
            </a:r>
            <a:r>
              <a:rPr/>
              <a:t> A dataset where the assumptions are genuinely, badly broken — which is where robust tests, rank-based tests, and permutation tests earn their keep.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✅ The question behind today</a:t>
            </a:r>
          </a:p>
          <a:p>
            <a:pPr lvl="0" indent="0" marL="1270000">
              <a:buNone/>
            </a:pPr>
            <a:r>
              <a:rPr sz="2000"/>
              <a:t>Not </a:t>
            </a:r>
            <a:r>
              <a:rPr sz="2000" i="1"/>
              <a:t>“which test is safest?”</a:t>
            </a:r>
            <a:r>
              <a:rPr sz="2000"/>
              <a:t> but </a:t>
            </a:r>
            <a:r>
              <a:rPr sz="2000" i="1"/>
              <a:t>“which test does this data deserve?”</a:t>
            </a:r>
          </a:p>
        </p:txBody>
      </p:sp>
      <p:pic>
        <p:nvPicPr>
          <p:cNvPr descr="images/pine_needles.jp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787400"/>
            <a:ext cx="2781300" cy="3708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6121400" y="4622800"/>
            <a:ext cx="27813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Photo comparing needle length and bundle count across six pine species (Pinus ponderosa, nigra, resinosa, strobus, sylvestris, banksiana).</a:t>
            </a:r>
          </a:p>
        </p:txBody>
      </p:sp>
      <p:pic>
        <p:nvPicPr>
          <p:cNvPr descr="images/lake_trout.jp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6121400" y="2146300"/>
            <a:ext cx="2781300" cy="990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6121400" y="4622800"/>
            <a:ext cx="27813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Illustration of a lake trout in profile, showing its mottled brown-and-cream coloring and forked tail, the species whose weight and length data are used in the second half of this lecture.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1 · Start With Our Own Data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Our pine needles, where we left them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library</a:t>
            </a:r>
            <a:r>
              <a:rPr>
                <a:solidFill>
                  <a:srgbClr val="003B4F"/>
                </a:solidFill>
                <a:latin typeface="Courier"/>
              </a:rPr>
              <a:t>(tidyverse)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library</a:t>
            </a:r>
            <a:r>
              <a:rPr>
                <a:solidFill>
                  <a:srgbClr val="003B4F"/>
                </a:solidFill>
                <a:latin typeface="Courier"/>
              </a:rPr>
              <a:t>(janitor)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library</a:t>
            </a:r>
            <a:r>
              <a:rPr>
                <a:solidFill>
                  <a:srgbClr val="003B4F"/>
                </a:solidFill>
                <a:latin typeface="Courier"/>
              </a:rPr>
              <a:t>(car)          </a:t>
            </a:r>
            <a:r>
              <a:rPr>
                <a:solidFill>
                  <a:srgbClr val="5E5E5E"/>
                </a:solidFill>
                <a:latin typeface="Courier"/>
              </a:rPr>
              <a:t># leveneTest()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library</a:t>
            </a:r>
            <a:r>
              <a:rPr>
                <a:solidFill>
                  <a:srgbClr val="003B4F"/>
                </a:solidFill>
                <a:latin typeface="Courier"/>
              </a:rPr>
              <a:t>(patchwork)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library</a:t>
            </a:r>
            <a:r>
              <a:rPr>
                <a:solidFill>
                  <a:srgbClr val="003B4F"/>
                </a:solidFill>
                <a:latin typeface="Courier"/>
              </a:rPr>
              <a:t>(perm)         </a:t>
            </a:r>
            <a:r>
              <a:rPr>
                <a:solidFill>
                  <a:srgbClr val="5E5E5E"/>
                </a:solidFill>
                <a:latin typeface="Courier"/>
              </a:rPr>
              <a:t># permutation tests</a:t>
            </a:r>
            <a:br/>
            <a:r>
              <a:rPr>
                <a:solidFill>
                  <a:srgbClr val="4758AB"/>
                </a:solidFill>
                <a:latin typeface="Courier"/>
              </a:rPr>
              <a:t>library</a:t>
            </a:r>
            <a:r>
              <a:rPr>
                <a:solidFill>
                  <a:srgbClr val="003B4F"/>
                </a:solidFill>
                <a:latin typeface="Courier"/>
              </a:rPr>
              <a:t>(effectsize)   </a:t>
            </a:r>
            <a:r>
              <a:rPr>
                <a:solidFill>
                  <a:srgbClr val="5E5E5E"/>
                </a:solidFill>
                <a:latin typeface="Courier"/>
              </a:rPr>
              <a:t># cohens_d()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source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"themes_functions/r_themes_and_functions.R"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pine_df &lt;- </a:t>
            </a:r>
            <a:r>
              <a:rPr>
                <a:solidFill>
                  <a:srgbClr val="4758AB"/>
                </a:solidFill>
                <a:latin typeface="Courier"/>
              </a:rPr>
              <a:t>read_csv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"data/pine_data.csv"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same two-stage summary as last week: one value per tree per side</a:t>
            </a:r>
            <a:br/>
            <a:r>
              <a:rPr>
                <a:solidFill>
                  <a:srgbClr val="003B4F"/>
                </a:solidFill>
                <a:latin typeface="Courier"/>
              </a:rPr>
              <a:t>p_df &lt;- pine_df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group_by</a:t>
            </a:r>
            <a:r>
              <a:rPr>
                <a:solidFill>
                  <a:srgbClr val="003B4F"/>
                </a:solidFill>
                <a:latin typeface="Courier"/>
              </a:rPr>
              <a:t>(team, side)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summarise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needle_length_mm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mean</a:t>
            </a:r>
            <a:r>
              <a:rPr>
                <a:solidFill>
                  <a:srgbClr val="003B4F"/>
                </a:solidFill>
                <a:latin typeface="Courier"/>
              </a:rPr>
              <a:t>(needle_length_mm, </a:t>
            </a:r>
            <a:r>
              <a:rPr>
                <a:solidFill>
                  <a:srgbClr val="657422"/>
                </a:solidFill>
                <a:latin typeface="Courier"/>
              </a:rPr>
              <a:t>na.rm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</a:t>
            </a:r>
            <a:r>
              <a:rPr>
                <a:solidFill>
                  <a:srgbClr val="657422"/>
                </a:solidFill>
                <a:latin typeface="Courier"/>
              </a:rPr>
              <a:t>.groups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"drop"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p_wide_df &lt;- p_df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pivot_wider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names_from =</a:t>
            </a:r>
            <a:r>
              <a:rPr>
                <a:solidFill>
                  <a:srgbClr val="003B4F"/>
                </a:solidFill>
                <a:latin typeface="Courier"/>
              </a:rPr>
              <a:t> side, </a:t>
            </a:r>
            <a:r>
              <a:rPr>
                <a:solidFill>
                  <a:srgbClr val="657422"/>
                </a:solidFill>
                <a:latin typeface="Courier"/>
              </a:rPr>
              <a:t>values_from =</a:t>
            </a:r>
            <a:r>
              <a:rPr>
                <a:solidFill>
                  <a:srgbClr val="003B4F"/>
                </a:solidFill>
                <a:latin typeface="Courier"/>
              </a:rPr>
              <a:t> needle_length_mm)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p_wide_df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4 × 3
  team       shady sunny
  &lt;chr&gt;      &lt;dbl&gt; &lt;dbl&gt;
1 botany      16.1  17.3
2 grace_jace  15.4  15.5
3 one         13.2  14.2
4 waterbugs   11.7  13.8</a:t>
            </a:r>
          </a:p>
          <a:p>
            <a:pPr lvl="0" indent="0" marL="0">
              <a:buNone/>
            </a:pPr>
            <a:r>
              <a:rPr>
                <a:hlinkClick r:id="rId2"/>
              </a:rPr>
              <a:t>📥 Pine needle data</a:t>
            </a:r>
            <a:r>
              <a:rPr/>
              <a:t> </a:t>
            </a:r>
            <a:r>
              <a:rPr>
                <a:hlinkClick r:id="rId3"/>
              </a:rPr>
              <a:t>📥 Lake trout data</a:t>
            </a:r>
            <a:r>
              <a:rPr/>
              <a:t> </a:t>
            </a:r>
            <a:r>
              <a:rPr>
                <a:hlinkClick r:id="rId4"/>
              </a:rPr>
              <a:t>📥 Sagebrush cricket data</a:t>
            </a:r>
          </a:p>
          <a:p>
            <a:pPr lvl="0" indent="0" marL="0">
              <a:buNone/>
            </a:pPr>
            <a:r>
              <a:rPr>
                <a:hlinkClick r:id="rId5"/>
              </a:rPr>
              <a:t>📥 Tools script</a:t>
            </a:r>
            <a:r>
              <a:rPr/>
              <a:t> </a:t>
            </a:r>
            <a:r>
              <a:rPr>
                <a:hlinkClick r:id="rId6"/>
              </a:rPr>
              <a:t>📥 Script skeleton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✅ Reminder</a:t>
            </a:r>
          </a:p>
          <a:p>
            <a:pPr lvl="0" indent="0" marL="1270000">
              <a:buNone/>
            </a:pPr>
            <a:r>
              <a:rPr sz="2000"/>
              <a:t>4 teams, 4 trees, both sides of each tree. The data are </a:t>
            </a:r>
            <a:r>
              <a:rPr sz="2000" b="1"/>
              <a:t>paired</a:t>
            </a:r>
            <a:r>
              <a:rPr sz="2000"/>
              <a:t> by design.</a:t>
            </a:r>
          </a:p>
          <a:p>
            <a:pPr lvl="0" indent="0" marL="1270000">
              <a:buNone/>
            </a:pPr>
            <a:r>
              <a:rPr sz="2000"/>
              <a:t>Last week these four trees gave us: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✅ Same two tools as last week</a:t>
            </a:r>
          </a:p>
          <a:p>
            <a:pPr lvl="0" indent="0" marL="1270000">
              <a:buNone/>
            </a:pPr>
            <a:r>
              <a:rPr sz="2000">
                <a:latin typeface="Courier"/>
              </a:rPr>
              <a:t>source()</a:t>
            </a:r>
            <a:r>
              <a:rPr sz="2000"/>
              <a:t> gives you </a:t>
            </a:r>
            <a:r>
              <a:rPr sz="2000">
                <a:latin typeface="Courier"/>
              </a:rPr>
              <a:t>theme_regular()</a:t>
            </a:r>
            <a:r>
              <a:rPr sz="2000"/>
              <a:t> and </a:t>
            </a:r>
            <a:r>
              <a:rPr sz="2000">
                <a:latin typeface="Courier"/>
              </a:rPr>
              <a:t>summary_stats()</a:t>
            </a:r>
            <a:r>
              <a:rPr sz="2000"/>
              <a:t> again. Nothing new to learn.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Do our assumptions actually hold?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🔮 Predict first:</a:t>
            </a:r>
            <a:r>
              <a:rPr sz="2000"/>
              <a:t> Before we run anything — do you expect needle length to be normally distributed with equal variance on the two sides of a tree? Commit to an answer.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Before reaching for anything non-parametric, we have to establish that we </a:t>
            </a:r>
            <a:r>
              <a:rPr i="1"/>
              <a:t>need</a:t>
            </a:r>
            <a:r>
              <a:rPr/>
              <a:t> it. Same two checks as last week.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normality, one side at a time -- all 32 needles per side</a:t>
            </a:r>
            <a:br/>
            <a:r>
              <a:rPr>
                <a:solidFill>
                  <a:srgbClr val="4758AB"/>
                </a:solidFill>
                <a:latin typeface="Courier"/>
              </a:rPr>
              <a:t>shapiro.test</a:t>
            </a:r>
            <a:r>
              <a:rPr>
                <a:solidFill>
                  <a:srgbClr val="003B4F"/>
                </a:solidFill>
                <a:latin typeface="Courier"/>
              </a:rPr>
              <a:t>(pine_df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needle_length_mm[pine_df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side </a:t>
            </a:r>
            <a:r>
              <a:rPr>
                <a:solidFill>
                  <a:srgbClr val="5E5E5E"/>
                </a:solidFill>
                <a:latin typeface="Courier"/>
              </a:rPr>
              <a:t>==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"sunny"</a:t>
            </a:r>
            <a:r>
              <a:rPr>
                <a:solidFill>
                  <a:srgbClr val="003B4F"/>
                </a:solidFill>
                <a:latin typeface="Courier"/>
              </a:rPr>
              <a:t>])</a:t>
            </a:r>
          </a:p>
          <a:p>
            <a:pPr lvl="0" indent="0">
              <a:buNone/>
            </a:pPr>
            <a:r>
              <a:rPr>
                <a:latin typeface="Courier"/>
              </a:rPr>
              <a:t>
    Shapiro-Wilk normality test
data:  pine_df$needle_length_mm[pine_df$side == "sunny"]
W = 0.96105, p-value = 0.2934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shapiro.test</a:t>
            </a:r>
            <a:r>
              <a:rPr>
                <a:solidFill>
                  <a:srgbClr val="003B4F"/>
                </a:solidFill>
                <a:latin typeface="Courier"/>
              </a:rPr>
              <a:t>(pine_df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needle_length_mm[pine_df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side </a:t>
            </a:r>
            <a:r>
              <a:rPr>
                <a:solidFill>
                  <a:srgbClr val="5E5E5E"/>
                </a:solidFill>
                <a:latin typeface="Courier"/>
              </a:rPr>
              <a:t>==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"shady"</a:t>
            </a:r>
            <a:r>
              <a:rPr>
                <a:solidFill>
                  <a:srgbClr val="003B4F"/>
                </a:solidFill>
                <a:latin typeface="Courier"/>
              </a:rPr>
              <a:t>])</a:t>
            </a:r>
          </a:p>
          <a:p>
            <a:pPr lvl="0" indent="0">
              <a:buNone/>
            </a:pPr>
            <a:r>
              <a:rPr>
                <a:latin typeface="Courier"/>
              </a:rPr>
              <a:t>
    Shapiro-Wilk normality test
data:  pine_df$needle_length_mm[pine_df$side == "shady"]
W = 0.98213, p-value = 0.8586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equal variance</a:t>
            </a:r>
            <a:br/>
            <a:r>
              <a:rPr>
                <a:solidFill>
                  <a:srgbClr val="4758AB"/>
                </a:solidFill>
                <a:latin typeface="Courier"/>
              </a:rPr>
              <a:t>leveneTest</a:t>
            </a:r>
            <a:r>
              <a:rPr>
                <a:solidFill>
                  <a:srgbClr val="003B4F"/>
                </a:solidFill>
                <a:latin typeface="Courier"/>
              </a:rPr>
              <a:t>(needle_length_mm </a:t>
            </a:r>
            <a:r>
              <a:rPr>
                <a:solidFill>
                  <a:srgbClr val="5E5E5E"/>
                </a:solidFill>
                <a:latin typeface="Courier"/>
              </a:rPr>
              <a:t>~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factor</a:t>
            </a:r>
            <a:r>
              <a:rPr>
                <a:solidFill>
                  <a:srgbClr val="003B4F"/>
                </a:solidFill>
                <a:latin typeface="Courier"/>
              </a:rPr>
              <a:t>(side), </a:t>
            </a:r>
            <a:r>
              <a:rPr>
                <a:solidFill>
                  <a:srgbClr val="657422"/>
                </a:solidFill>
                <a:latin typeface="Courier"/>
              </a:rPr>
              <a:t>data =</a:t>
            </a:r>
            <a:r>
              <a:rPr>
                <a:solidFill>
                  <a:srgbClr val="003B4F"/>
                </a:solidFill>
                <a:latin typeface="Courier"/>
              </a:rPr>
              <a:t> pine_df)</a:t>
            </a:r>
          </a:p>
          <a:p>
            <a:pPr lvl="0" indent="0">
              <a:buNone/>
            </a:pPr>
            <a:r>
              <a:rPr>
                <a:latin typeface="Courier"/>
              </a:rPr>
              <a:t>Levene's Test for Homogeneity of Variance (center = median)
      Df F value Pr(&gt;F)
group  1   2e-04 0.9887
      62               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Important</a:t>
            </a:r>
          </a:p>
          <a:p>
            <a:pPr lvl="0" indent="0" marL="1270000">
              <a:buNone/>
            </a:pPr>
            <a:r>
              <a:rPr sz="2000" b="1"/>
              <a:t>⚠️ Everything passes</a:t>
            </a:r>
          </a:p>
          <a:p>
            <a:pPr lvl="0" indent="0" marL="1270000">
              <a:buNone/>
            </a:pPr>
            <a:r>
              <a:rPr sz="2000"/>
              <a:t>Remember the direction of these tests: </a:t>
            </a:r>
            <a:r>
              <a:rPr sz="2000" b="1"/>
              <a:t>H₀ is that the assumption holds.</a:t>
            </a:r>
            <a:r>
              <a:rPr sz="2000"/>
              <a:t> A large p means we have no evidence against it.</a:t>
            </a:r>
          </a:p>
          <a:p>
            <a:pPr lvl="0" indent="0" marL="1270000">
              <a:buNone/>
            </a:pPr>
            <a:r>
              <a:rPr sz="2000"/>
              <a:t>There is </a:t>
            </a:r>
            <a:r>
              <a:rPr sz="2000" b="1"/>
              <a:t>nothing wrong with this data.</a:t>
            </a:r>
            <a:r>
              <a:rPr sz="2000"/>
              <a:t> The paired t-test we ran last week was entitled to every bit of its p = 0.072.</a:t>
            </a:r>
          </a:p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 b="1"/>
              <a:t>🖐 So why are we here?</a:t>
            </a:r>
          </a:p>
          <a:p>
            <a:pPr lvl="0" indent="0" marL="1270000">
              <a:buNone/>
            </a:pPr>
            <a:r>
              <a:rPr sz="2000"/>
              <a:t>Because “my data are fine” is a conclusion you have to </a:t>
            </a:r>
            <a:r>
              <a:rPr sz="2000" i="1"/>
              <a:t>earn</a:t>
            </a:r>
            <a:r>
              <a:rPr sz="2000"/>
              <a:t>, not assume — and because plenty of students would have reached for a rank test anyway, thinking it was the cautious choice. Let’s find out what that caution would have cost.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Effect Size — How Big, Not Just Whether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 sz="half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Our paired t-test gave </a:t>
                </a:r>
                <a:r>
                  <a:rPr b="1"/>
                  <a:t>p = 0.072</a:t>
                </a:r>
                <a:r>
                  <a:rPr/>
                  <a:t>. The usual reflex is to call that “not significant” and stop.</a:t>
                </a:r>
              </a:p>
              <a:p>
                <a:pPr lvl="0" indent="0" marL="0">
                  <a:buNone/>
                </a:pPr>
                <a:r>
                  <a:rPr/>
                  <a:t>But </a:t>
                </a:r>
                <a:r>
                  <a:rPr>
                    <a:latin typeface="Courier"/>
                  </a:rPr>
                  <a:t>p</a:t>
                </a:r>
                <a:r>
                  <a:rPr/>
                  <a:t> never told us the one thing a reader actually wants to know: </a:t>
                </a:r>
                <a:r>
                  <a:rPr b="1"/>
                  <a:t>how much shorter are shady needles?</a:t>
                </a:r>
                <a:r>
                  <a:rPr/>
                  <a:t> A p-value answers </a:t>
                </a:r>
                <a:r>
                  <a:rPr i="1"/>
                  <a:t>“could this be noise?”</a:t>
                </a:r>
                <a:r>
                  <a:rPr/>
                  <a:t> — not </a:t>
                </a:r>
                <a:r>
                  <a:rPr i="1"/>
                  <a:t>“does this matter?”</a:t>
                </a:r>
              </a:p>
              <a:p>
                <a:pPr lvl="0" indent="0" marL="0">
                  <a:buNone/>
                </a:pPr>
                <a:r>
                  <a:rPr b="1"/>
                  <a:t>Cohen’s d</a:t>
                </a:r>
                <a:r>
                  <a:rPr/>
                  <a:t> answers the second question. It is the difference between the groups expressed in </a:t>
                </a:r>
                <a:r>
                  <a:rPr b="1"/>
                  <a:t>standard deviations</a:t>
                </a:r>
                <a:r>
                  <a:rPr/>
                  <a:t>, so it has no units and can be compared across studies: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d</m:t>
                      </m:r>
                      <m:r>
                        <m:rPr>
                          <m:sty m:val="p"/>
                        </m:rPr>
                        <m:t>=</m:t>
                      </m:r>
                      <m:f>
                        <m:fPr>
                          <m:type m:val="bar"/>
                        </m:fPr>
                        <m:num>
                          <m:sSub>
                            <m:e>
                              <m:acc>
                                <m:accPr>
                                  <m:chr m:val="‾"/>
                                </m:accPr>
                                <m:e>
                                  <m:r>
                                    <m:t>x</m:t>
                                  </m:r>
                                </m:e>
                              </m:acc>
                            </m:e>
                            <m:sub>
                              <m:r>
                                <m:t>1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m:t>−</m:t>
                          </m:r>
                          <m:sSub>
                            <m:e>
                              <m:acc>
                                <m:accPr>
                                  <m:chr m:val="‾"/>
                                </m:accPr>
                                <m:e>
                                  <m:r>
                                    <m:t>x</m:t>
                                  </m:r>
                                </m:e>
                              </m:acc>
                            </m:e>
                            <m:sub>
                              <m:r>
                                <m:t>2</m:t>
                              </m:r>
                            </m:sub>
                          </m:sSub>
                        </m:num>
                        <m:den>
                          <m:r>
                            <m:t>s</m:t>
                          </m:r>
                        </m:den>
                      </m:f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For a </a:t>
                </a:r>
                <a:r>
                  <a:rPr b="1"/>
                  <a:t>paired</a:t>
                </a:r>
                <a:r>
                  <a:rPr/>
                  <a:t> design the difference is the paired difference, and </a:t>
                </a:r>
                <a:r>
                  <a:rPr>
                    <a:latin typeface="Courier"/>
                  </a:rPr>
                  <a:t>s</a:t>
                </a:r>
                <a:r>
                  <a:rPr/>
                  <a:t> is the standard deviation </a:t>
                </a:r>
                <a:r>
                  <a:rPr i="1"/>
                  <a:t>of those differences</a:t>
                </a:r>
                <a:r>
                  <a:rPr/>
                  <a:t>:</a:t>
                </a:r>
              </a:p>
              <a:p>
                <a:pPr lvl="0" indent="0">
                  <a:buNone/>
                </a:pPr>
                <a:r>
                  <a:rPr>
                    <a:solidFill>
                      <a:srgbClr val="003B4F"/>
                    </a:solidFill>
                    <a:latin typeface="Courier"/>
                  </a:rPr>
                  <a:t>diffs &lt;- p_wide_df</a:t>
                </a:r>
                <a:r>
                  <a:rPr>
                    <a:solidFill>
                      <a:srgbClr val="5E5E5E"/>
                    </a:solidFill>
                    <a:latin typeface="Courier"/>
                  </a:rPr>
                  <a:t>$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shady </a:t>
                </a:r>
                <a:r>
                  <a:rPr>
                    <a:solidFill>
                      <a:srgbClr val="5E5E5E"/>
                    </a:solidFill>
                    <a:latin typeface="Courier"/>
                  </a:rPr>
                  <a:t>-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 p_wide_df</a:t>
                </a:r>
                <a:r>
                  <a:rPr>
                    <a:solidFill>
                      <a:srgbClr val="5E5E5E"/>
                    </a:solidFill>
                    <a:latin typeface="Courier"/>
                  </a:rPr>
                  <a:t>$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sunny</a:t>
                </a:r>
                <a:br/>
                <a:br/>
                <a:r>
                  <a:rPr>
                    <a:solidFill>
                      <a:srgbClr val="4758AB"/>
                    </a:solidFill>
                    <a:latin typeface="Courier"/>
                  </a:rPr>
                  <a:t>mean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(diffs) </a:t>
                </a:r>
                <a:r>
                  <a:rPr>
                    <a:solidFill>
                      <a:srgbClr val="5E5E5E"/>
                    </a:solidFill>
                    <a:latin typeface="Courier"/>
                  </a:rPr>
                  <a:t>/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 </a:t>
                </a:r>
                <a:r>
                  <a:rPr>
                    <a:solidFill>
                      <a:srgbClr val="4758AB"/>
                    </a:solidFill>
                    <a:latin typeface="Courier"/>
                  </a:rPr>
                  <a:t>sd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(diffs)     </a:t>
                </a:r>
                <a:r>
                  <a:rPr>
                    <a:solidFill>
                      <a:srgbClr val="5E5E5E"/>
                    </a:solidFill>
                    <a:latin typeface="Courier"/>
                  </a:rPr>
                  <a:t># Cohen's d, by hand</a:t>
                </a:r>
              </a:p>
              <a:p>
                <a:pPr lvl="0" indent="0">
                  <a:buNone/>
                </a:pPr>
                <a:r>
                  <a:rPr>
                    <a:latin typeface="Courier"/>
                  </a:rPr>
                  <a:t>[1] -1.361371</a:t>
                </a:r>
              </a:p>
            </p:txBody>
          </p:sp>
        </mc:Choice>
      </mc:AlternateContent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✅ Read the formula out loud</a:t>
            </a:r>
          </a:p>
          <a:p>
            <a:pPr lvl="0" indent="0" marL="1270000">
              <a:buNone/>
            </a:pPr>
            <a:r>
              <a:rPr sz="2000"/>
              <a:t>“The shady side averaged </a:t>
            </a:r>
            <a:r>
              <a:rPr sz="2000" b="1"/>
              <a:t>1.36 standard deviations</a:t>
            </a:r>
            <a:r>
              <a:rPr sz="2000"/>
              <a:t> below the sunny side.”</a:t>
            </a:r>
          </a:p>
          <a:p>
            <a:pPr lvl="0" indent="0" marL="1270000">
              <a:buNone/>
            </a:pPr>
            <a:r>
              <a:rPr sz="2000"/>
              <a:t>That sentence stands on its own. It does not depend on how many trees we sampled, and it would mean the same thing to someone measuring a different pine species in a different forest.</a:t>
            </a:r>
          </a:p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 b="1"/>
              <a:t>🖐 Cohen’s rough conventions</a:t>
            </a:r>
          </a:p>
          <a:p>
            <a:pPr lvl="0" indent="0" marL="1270000">
              <a:buNone/>
            </a:pPr>
            <a:r>
              <a:rPr sz="2000"/>
              <a:t>Ours is </a:t>
            </a:r>
            <a:r>
              <a:rPr sz="2000" b="1"/>
              <a:t>1.36</a:t>
            </a:r>
            <a:r>
              <a:rPr sz="2000"/>
              <a:t>. These are rules of thumb, not laws — what counts as “large” is a question about pine trees, not about statistics.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Why We Report It — What d Tells Us That p Could Not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 sz="half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Here is the relationship that explains everything: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t</m:t>
                      </m:r>
                      <m:r>
                        <m:rPr>
                          <m:sty m:val="p"/>
                        </m:rPr>
                        <m:t>=</m:t>
                      </m:r>
                      <m:r>
                        <m:t>d</m:t>
                      </m:r>
                      <m:r>
                        <m:rPr>
                          <m:sty m:val="p"/>
                        </m:rPr>
                        <m:t>×</m:t>
                      </m:r>
                      <m:rad>
                        <m:radPr>
                          <m:degHide m:val="on"/>
                        </m:radPr>
                        <m:deg/>
                        <m:e>
                          <m:r>
                            <m:t>n</m:t>
                          </m:r>
                        </m:e>
                      </m:rad>
                    </m:oMath>
                  </m:oMathPara>
                </a14:m>
              </a:p>
              <a:p>
                <a:pPr lvl="0" indent="0">
                  <a:buNone/>
                </a:pPr>
                <a:r>
                  <a:rPr>
                    <a:solidFill>
                      <a:srgbClr val="AD0000"/>
                    </a:solidFill>
                    <a:latin typeface="Courier"/>
                  </a:rPr>
                  <a:t>2.7227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 </a:t>
                </a:r>
                <a:r>
                  <a:rPr>
                    <a:solidFill>
                      <a:srgbClr val="5E5E5E"/>
                    </a:solidFill>
                    <a:latin typeface="Courier"/>
                  </a:rPr>
                  <a:t>/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 </a:t>
                </a:r>
                <a:r>
                  <a:rPr>
                    <a:solidFill>
                      <a:srgbClr val="4758AB"/>
                    </a:solidFill>
                    <a:latin typeface="Courier"/>
                  </a:rPr>
                  <a:t>sqrt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(</a:t>
                </a:r>
                <a:r>
                  <a:rPr>
                    <a:solidFill>
                      <a:srgbClr val="AD0000"/>
                    </a:solidFill>
                    <a:latin typeface="Courier"/>
                  </a:rPr>
                  <a:t>4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)      </a:t>
                </a:r>
                <a:r>
                  <a:rPr>
                    <a:solidFill>
                      <a:srgbClr val="5E5E5E"/>
                    </a:solidFill>
                    <a:latin typeface="Courier"/>
                  </a:rPr>
                  <a:t># our t statistic, over root n</a:t>
                </a:r>
              </a:p>
              <a:p>
                <a:pPr lvl="0" indent="0">
                  <a:buNone/>
                </a:pPr>
                <a:r>
                  <a:rPr>
                    <a:latin typeface="Courier"/>
                  </a:rPr>
                  <a:t>[1] 1.36135</a:t>
                </a:r>
              </a:p>
              <a:p>
                <a:pPr lvl="0" indent="0" marL="0">
                  <a:buNone/>
                </a:pPr>
                <a:r>
                  <a:rPr b="1"/>
                  <a:t>The t-statistic is the effect size multiplied by the square root of your sample size.</a:t>
                </a:r>
                <a:r>
                  <a:rPr/>
                  <a:t> So a p-value confounds two completely different things: </a:t>
                </a:r>
                <a:r>
                  <a:rPr i="1"/>
                  <a:t>how big the effect is</a:t>
                </a:r>
                <a:r>
                  <a:rPr/>
                  <a:t>, and </a:t>
                </a:r>
                <a:r>
                  <a:rPr i="1"/>
                  <a:t>how hard you looked</a:t>
                </a:r>
                <a:r>
                  <a:rPr/>
                  <a:t>.</a:t>
                </a:r>
              </a:p>
              <a:p>
                <a:pPr lvl="0"/>
                <a:r>
                  <a:rPr/>
                  <a:t>A </a:t>
                </a:r>
                <a:r>
                  <a:rPr b="1"/>
                  <a:t>huge</a:t>
                </a:r>
                <a:r>
                  <a:rPr/>
                  <a:t> effect with n = 4 → large p. That is us.</a:t>
                </a:r>
              </a:p>
              <a:p>
                <a:pPr lvl="0"/>
                <a:r>
                  <a:rPr/>
                  <a:t>A </a:t>
                </a:r>
                <a:r>
                  <a:rPr b="1"/>
                  <a:t>trivial</a:t>
                </a:r>
                <a:r>
                  <a:rPr/>
                  <a:t> effect with n = 10,000 → tiny p, and no biological meaning at all.</a:t>
                </a:r>
              </a:p>
              <a:p>
                <a:pPr lvl="0" indent="0" marL="0">
                  <a:buNone/>
                </a:pPr>
                <a:r>
                  <a:rPr/>
                  <a:t>Effect size separates them. That is why journals, and every reporting guideline written in the last twenty years, ask for it alongside the p-value.</a:t>
                </a:r>
              </a:p>
            </p:txBody>
          </p:sp>
        </mc:Choice>
      </mc:AlternateContent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library</a:t>
            </a:r>
            <a:r>
              <a:rPr>
                <a:solidFill>
                  <a:srgbClr val="003B4F"/>
                </a:solidFill>
                <a:latin typeface="Courier"/>
              </a:rPr>
              <a:t>(effectsize)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cohens_d</a:t>
            </a:r>
            <a:r>
              <a:rPr>
                <a:solidFill>
                  <a:srgbClr val="003B4F"/>
                </a:solidFill>
                <a:latin typeface="Courier"/>
              </a:rPr>
              <a:t>(p_wide_df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shady,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p_wide_df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sunny,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</a:t>
            </a:r>
            <a:r>
              <a:rPr>
                <a:solidFill>
                  <a:srgbClr val="657422"/>
                </a:solidFill>
                <a:latin typeface="Courier"/>
              </a:rPr>
              <a:t>paired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Cohen's d |        95% CI
-------------------------
-1.36     | [-2.74, 0.10]</a:t>
            </a:r>
          </a:p>
          <a:p>
            <a:pPr lvl="0" indent="0" marL="1270000">
              <a:buNone/>
            </a:pPr>
            <a:r>
              <a:rPr sz="2000" b="1"/>
              <a:t>Important</a:t>
            </a:r>
          </a:p>
          <a:p>
            <a:pPr lvl="0" indent="0" marL="1270000">
              <a:buNone/>
            </a:pPr>
            <a:r>
              <a:rPr sz="2000" b="1"/>
              <a:t>⚠️ Look at that confidence interval: [-2.74, 0.10]</a:t>
            </a:r>
          </a:p>
          <a:p>
            <a:pPr lvl="0" indent="0" marL="1270000">
              <a:buNone/>
            </a:pPr>
            <a:r>
              <a:rPr sz="2000" i="1"/>
              <a:t>This</a:t>
            </a:r>
            <a:r>
              <a:rPr sz="2000"/>
              <a:t> is the honest summary of our four trees: the effect is </a:t>
            </a:r>
            <a:r>
              <a:rPr sz="2000" b="1"/>
              <a:t>probably large and probably negative</a:t>
            </a:r>
            <a:r>
              <a:rPr sz="2000"/>
              <a:t>, but with n = 4 we cannot rule out zero.</a:t>
            </a:r>
          </a:p>
          <a:p>
            <a:pPr lvl="0" indent="0" marL="1270000">
              <a:buNone/>
            </a:pPr>
            <a:r>
              <a:rPr sz="2000"/>
              <a:t>Notice that the CI crossing zero is the same fact as p &gt; 0.05 — but it says it far more usefully. “No significant difference” sounds like </a:t>
            </a:r>
            <a:r>
              <a:rPr sz="2000" i="1"/>
              <a:t>we found nothing</a:t>
            </a:r>
            <a:r>
              <a:rPr sz="2000"/>
              <a:t>. “d = -1.36, CI [-2.74, 0.10]” says </a:t>
            </a:r>
            <a:r>
              <a:rPr sz="2000" i="1"/>
              <a:t>we found a large effect we could not pin down</a:t>
            </a:r>
            <a:r>
              <a:rPr sz="2000"/>
              <a:t>, which is a completely different message to a reader, and the correct one.</a:t>
            </a:r>
          </a:p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 b="1"/>
              <a:t>🖐 Where this goes next</a:t>
            </a:r>
          </a:p>
          <a:p>
            <a:pPr lvl="0" indent="0" marL="1270000">
              <a:buNone/>
            </a:pPr>
            <a:r>
              <a:rPr sz="2000"/>
              <a:t>Effect size is the input to a </a:t>
            </a:r>
            <a:r>
              <a:rPr sz="2000" b="1"/>
              <a:t>power analysis</a:t>
            </a:r>
            <a:r>
              <a:rPr sz="2000"/>
              <a:t> — given d, how many trees would we have needed? That is next week’s lecture.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Ranks, in one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Every non-parametric test today works the same way: </a:t>
            </a:r>
            <a:r>
              <a:rPr b="1"/>
              <a:t>throw away the measurements, keep only their order.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p_df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mutate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rank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rank</a:t>
            </a:r>
            <a:r>
              <a:rPr>
                <a:solidFill>
                  <a:srgbClr val="003B4F"/>
                </a:solidFill>
                <a:latin typeface="Courier"/>
              </a:rPr>
              <a:t>(needle_length_mm))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arrange</a:t>
            </a:r>
            <a:r>
              <a:rPr>
                <a:solidFill>
                  <a:srgbClr val="003B4F"/>
                </a:solidFill>
                <a:latin typeface="Courier"/>
              </a:rPr>
              <a:t>(rank)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8 × 4
  team       side  needle_length_mm  rank
  &lt;chr&gt;      &lt;chr&gt;            &lt;dbl&gt; &lt;dbl&gt;
1 waterbugs  shady             11.7     1
2 one        shady             13.2     2
3 waterbugs  sunny             13.8     3
4 one        sunny             14.2     4
5 grace_jace shady             15.4     5
6 grace_jace sunny             15.5     6
7 botany     shady             16.1     7
8 botany     sunny             17.3     8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✅ What just happened</a:t>
            </a:r>
          </a:p>
          <a:p>
            <a:pPr lvl="0" indent="0" marL="1270000">
              <a:buNone/>
            </a:pPr>
            <a:r>
              <a:rPr sz="2000"/>
              <a:t>The shortest tree-side average became rank 1, the longest rank 8. A needle that was 4 mm longer than its neighbour and one that was 0.1 mm longer are now </a:t>
            </a:r>
            <a:r>
              <a:rPr sz="2000" b="1"/>
              <a:t>exactly one rank apart</a:t>
            </a:r>
            <a:r>
              <a:rPr sz="2000"/>
              <a:t>.</a:t>
            </a:r>
          </a:p>
          <a:p>
            <a:pPr lvl="0" indent="0" marL="1270000">
              <a:buNone/>
            </a:pPr>
            <a:r>
              <a:rPr sz="2000"/>
              <a:t>That is the whole trade. You become immune to outliers and to any weird distribution — and in exchange you give up the magnitudes.</a:t>
            </a:r>
          </a:p>
          <a:p>
            <a:pPr lvl="0" indent="0" marL="1270000">
              <a:buNone/>
            </a:pPr>
            <a:r>
              <a:rPr sz="2000"/>
              <a:t>A rank-based test then asks: </a:t>
            </a:r>
            <a:r>
              <a:rPr sz="2000" i="1"/>
              <a:t>are the ranks of one group systematically higher than the other’s?</a:t>
            </a:r>
          </a:p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 b="1"/>
              <a:t>🖐 Watch for the statistic</a:t>
            </a:r>
          </a:p>
          <a:p>
            <a:pPr lvl="0" indent="0" marL="1270000">
              <a:buNone/>
            </a:pPr>
            <a:r>
              <a:rPr sz="2000"/>
              <a:t>Rank tests report </a:t>
            </a:r>
            <a:r>
              <a:rPr sz="2000" b="1">
                <a:latin typeface="Courier"/>
              </a:rPr>
              <a:t>W</a:t>
            </a:r>
            <a:r>
              <a:rPr sz="2000"/>
              <a:t> (Mann-Whitney) or </a:t>
            </a:r>
            <a:r>
              <a:rPr sz="2000" b="1">
                <a:latin typeface="Courier"/>
              </a:rPr>
              <a:t>V</a:t>
            </a:r>
            <a:r>
              <a:rPr sz="2000"/>
              <a:t> (signed-rank), never </a:t>
            </a:r>
            <a:r>
              <a:rPr sz="2000">
                <a:latin typeface="Courier"/>
              </a:rPr>
              <a:t>t</a:t>
            </a:r>
            <a:r>
              <a:rPr sz="2000"/>
              <a:t>. If you see a </a:t>
            </a:r>
            <a:r>
              <a:rPr sz="2000">
                <a:latin typeface="Courier"/>
              </a:rPr>
              <a:t>W</a:t>
            </a:r>
            <a:r>
              <a:rPr sz="2000"/>
              <a:t>, you are reading rank-based output.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Running both rank-based tests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Unpaired: Mann-Whitney U  (the t-test's two-sample partner)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wilcox.test</a:t>
            </a:r>
            <a:r>
              <a:rPr>
                <a:solidFill>
                  <a:srgbClr val="003B4F"/>
                </a:solidFill>
                <a:latin typeface="Courier"/>
              </a:rPr>
              <a:t>(needle_length_mm </a:t>
            </a:r>
            <a:r>
              <a:rPr>
                <a:solidFill>
                  <a:srgbClr val="5E5E5E"/>
                </a:solidFill>
                <a:latin typeface="Courier"/>
              </a:rPr>
              <a:t>~</a:t>
            </a:r>
            <a:r>
              <a:rPr>
                <a:solidFill>
                  <a:srgbClr val="003B4F"/>
                </a:solidFill>
                <a:latin typeface="Courier"/>
              </a:rPr>
              <a:t> side, </a:t>
            </a:r>
            <a:r>
              <a:rPr>
                <a:solidFill>
                  <a:srgbClr val="657422"/>
                </a:solidFill>
                <a:latin typeface="Courier"/>
              </a:rPr>
              <a:t>data =</a:t>
            </a:r>
            <a:r>
              <a:rPr>
                <a:solidFill>
                  <a:srgbClr val="003B4F"/>
                </a:solidFill>
                <a:latin typeface="Courier"/>
              </a:rPr>
              <a:t> p_df)</a:t>
            </a:r>
          </a:p>
          <a:p>
            <a:pPr lvl="0" indent="0">
              <a:buNone/>
            </a:pPr>
            <a:r>
              <a:rPr>
                <a:latin typeface="Courier"/>
              </a:rPr>
              <a:t>
    Wilcoxon rank sum exact test
data:  needle_length_mm by side
W = 5, p-value = 0.4857
alternative hypothesis: true location shift is not equal to 0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Paired: Wilcoxon signed-rank  (the paired t-test's partner)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wilcox.test</a:t>
            </a:r>
            <a:r>
              <a:rPr>
                <a:solidFill>
                  <a:srgbClr val="003B4F"/>
                </a:solidFill>
                <a:latin typeface="Courier"/>
              </a:rPr>
              <a:t>(p_wide_df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shady, p_wide_df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sunny, </a:t>
            </a:r>
            <a:r>
              <a:rPr>
                <a:solidFill>
                  <a:srgbClr val="657422"/>
                </a:solidFill>
                <a:latin typeface="Courier"/>
              </a:rPr>
              <a:t>paired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
    Wilcoxon signed rank exact test
data:  p_wide_df$shady and p_wide_df$sunny
V = 0, p-value = 0.125
alternative hypothesis: true location shift is not equal to 0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 b="1"/>
              <a:t>🖐 Notice </a:t>
            </a:r>
            <a:r>
              <a:rPr sz="2000" b="1">
                <a:latin typeface="Courier"/>
              </a:rPr>
              <a:t>V = 0</a:t>
            </a:r>
          </a:p>
          <a:p>
            <a:pPr lvl="0" indent="0" marL="1270000">
              <a:buNone/>
            </a:pPr>
            <a:r>
              <a:rPr sz="2000"/>
              <a:t>The signed-rank statistic is </a:t>
            </a:r>
            <a:r>
              <a:rPr sz="2000" b="1"/>
              <a:t>zero</a:t>
            </a:r>
            <a:r>
              <a:rPr sz="2000"/>
              <a:t> — meaning </a:t>
            </a:r>
            <a:r>
              <a:rPr sz="2000" i="1"/>
              <a:t>every single tree</a:t>
            </a:r>
            <a:r>
              <a:rPr sz="2000"/>
              <a:t> moved in the same direction. There is no arrangement of these four trees that would look more consistent.</a:t>
            </a:r>
          </a:p>
          <a:p>
            <a:pPr lvl="0" indent="0" marL="1270000">
              <a:buNone/>
            </a:pPr>
            <a:r>
              <a:rPr sz="2000"/>
              <a:t>Notice too that R says </a:t>
            </a:r>
            <a:r>
              <a:rPr sz="2000" b="1"/>
              <a:t>“exact test”</a:t>
            </a:r>
            <a:r>
              <a:rPr sz="2000"/>
              <a:t> for both. With no tied values it enumerates every possible arrangement rather than approximating. Hold on to that word — the next slide explains why it matters.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Same answer, less power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0" y="660400"/>
          <a:ext cx="6007100" cy="447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6600"/>
                <a:gridCol w="2006600"/>
                <a:gridCol w="20066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Comparison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Parametric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Non-parametric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Unpaired (2 groups)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t-test </a:t>
                      </a:r>
                      <a:r>
                        <a:rPr b="1"/>
                        <a:t>p = 0.425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Mann-Whitney </a:t>
                      </a:r>
                      <a:r>
                        <a:rPr b="1"/>
                        <a:t>p = 0.486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Paired (4 trees)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paired t </a:t>
                      </a:r>
                      <a:r>
                        <a:rPr b="1"/>
                        <a:t>p = 0.072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signed-rank </a:t>
                      </a:r>
                      <a:r>
                        <a:rPr b="1"/>
                        <a:t>p = 0.125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Important</a:t>
            </a:r>
          </a:p>
          <a:p>
            <a:pPr lvl="0" indent="0" marL="1270000">
              <a:buNone/>
            </a:pPr>
            <a:r>
              <a:rPr sz="2000" b="1"/>
              <a:t>⚠️ At n = 4, the signed-rank test hits a wall</a:t>
            </a:r>
          </a:p>
          <a:p>
            <a:pPr lvl="0" indent="0" marL="1270000">
              <a:buNone/>
            </a:pPr>
            <a:r>
              <a:rPr sz="2000"/>
              <a:t>With 4 pairs there are only 2⁴ = </a:t>
            </a:r>
            <a:r>
              <a:rPr sz="2000" b="1"/>
              <a:t>16</a:t>
            </a:r>
            <a:r>
              <a:rPr sz="2000"/>
              <a:t> possible arrangements of plus and minus signs. The most extreme possible result — all four the same way, which is exactly what we got — has a two-sided p of 2/16 = </a:t>
            </a:r>
            <a:r>
              <a:rPr sz="2000" b="1"/>
              <a:t>0.125</a:t>
            </a:r>
            <a:r>
              <a:rPr sz="2000"/>
              <a:t>.</a:t>
            </a:r>
          </a:p>
          <a:p>
            <a:pPr lvl="0" indent="0" marL="1270000">
              <a:buNone/>
            </a:pPr>
            <a:r>
              <a:rPr sz="2000"/>
              <a:t>So with four trees, a Wilcoxon signed-rank test </a:t>
            </a:r>
            <a:r>
              <a:rPr sz="2000" b="1"/>
              <a:t>can never return a p-value below 0.125</a:t>
            </a:r>
            <a:r>
              <a:rPr sz="2000"/>
              <a:t>, no matter how enormous the effect.</a:t>
            </a:r>
          </a:p>
          <a:p>
            <a:pPr lvl="0" indent="0">
              <a:buNone/>
            </a:pP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5E5E5E"/>
                </a:solidFill>
                <a:latin typeface="Courier"/>
              </a:rPr>
              <a:t>/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5E5E5E"/>
                </a:solidFill>
                <a:latin typeface="Courier"/>
              </a:rPr>
              <a:t>^</a:t>
            </a:r>
            <a:r>
              <a:rPr>
                <a:solidFill>
                  <a:srgbClr val="AD0000"/>
                </a:solidFill>
                <a:latin typeface="Courier"/>
              </a:rPr>
              <a:t>4</a:t>
            </a:r>
            <a:r>
              <a:rPr>
                <a:solidFill>
                  <a:srgbClr val="003B4F"/>
                </a:solidFill>
                <a:latin typeface="Courier"/>
              </a:rPr>
              <a:t>     </a:t>
            </a:r>
            <a:r>
              <a:rPr>
                <a:solidFill>
                  <a:srgbClr val="5E5E5E"/>
                </a:solidFill>
                <a:latin typeface="Courier"/>
              </a:rPr>
              <a:t># smallest possible two-sided p, 4 pairs</a:t>
            </a:r>
          </a:p>
          <a:p>
            <a:pPr lvl="0" indent="0">
              <a:buNone/>
            </a:pPr>
            <a:r>
              <a:rPr sz="2000">
                <a:latin typeface="Courier"/>
              </a:rPr>
              <a:t>[1] 0.125</a:t>
            </a:r>
          </a:p>
          <a:p>
            <a:pPr lvl="0" indent="0" marL="1270000">
              <a:buNone/>
            </a:pPr>
            <a:r>
              <a:rPr sz="2000"/>
              <a:t>The test did not fail to find our effect. It was </a:t>
            </a:r>
            <a:r>
              <a:rPr sz="2000" b="1"/>
              <a:t>arithmetically incapable</a:t>
            </a:r>
            <a:r>
              <a:rPr sz="2000"/>
              <a:t> of declaring it significant.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What that means in practice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Non-parametric tests are the right call when normality is genuinely broken and cannot be fixed</a:t>
            </a:r>
          </a:p>
          <a:p>
            <a:pPr lvl="0"/>
            <a:r>
              <a:rPr/>
              <a:t>But they are </a:t>
            </a:r>
            <a:r>
              <a:rPr b="1"/>
              <a:t>not free</a:t>
            </a:r>
            <a:r>
              <a:rPr/>
              <a:t>, and they are </a:t>
            </a:r>
            <a:r>
              <a:rPr b="1"/>
              <a:t>not a safe default</a:t>
            </a:r>
          </a:p>
          <a:p>
            <a:pPr lvl="0"/>
            <a:r>
              <a:rPr/>
              <a:t>At small n they can be so blunt that no result could ever reach significance — check the floor </a:t>
            </a:r>
            <a:r>
              <a:rPr b="1"/>
              <a:t>before</a:t>
            </a:r>
            <a:r>
              <a:rPr/>
              <a:t> you run one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✅ Key idea</a:t>
            </a:r>
          </a:p>
          <a:p>
            <a:pPr lvl="0" indent="0" marL="1270000">
              <a:buNone/>
            </a:pPr>
            <a:r>
              <a:rPr sz="2000"/>
              <a:t>Choose the test that matches your data’s distribution, not the one that feels safest. For our four trees, the </a:t>
            </a:r>
            <a:r>
              <a:rPr sz="2000" i="1"/>
              <a:t>parametric</a:t>
            </a:r>
            <a:r>
              <a:rPr sz="2000"/>
              <a:t> paired t-test — whose assumptions we just checked and could not reject — is the more honest and more informative choice.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 b="1"/>
              <a:t>🖐 Try it yourself</a:t>
            </a:r>
          </a:p>
          <a:p>
            <a:pPr lvl="0" indent="0" marL="1270000">
              <a:buNone/>
            </a:pPr>
            <a:r>
              <a:rPr sz="2000"/>
              <a:t>How many pairs would you need before a signed-rank test could reach p &lt; 0.05?</a:t>
            </a:r>
          </a:p>
          <a:p>
            <a:pPr lvl="0" indent="0">
              <a:buNone/>
            </a:pP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5E5E5E"/>
                </a:solidFill>
                <a:latin typeface="Courier"/>
              </a:rPr>
              <a:t>/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5E5E5E"/>
                </a:solidFill>
                <a:latin typeface="Courier"/>
              </a:rPr>
              <a:t>^</a:t>
            </a:r>
            <a:r>
              <a:rPr>
                <a:solidFill>
                  <a:srgbClr val="AD0000"/>
                </a:solidFill>
                <a:latin typeface="Courier"/>
              </a:rPr>
              <a:t>5</a:t>
            </a:r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5E5E5E"/>
                </a:solidFill>
                <a:latin typeface="Courier"/>
              </a:rPr>
              <a:t># 5 pairs</a:t>
            </a:r>
            <a:br/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5E5E5E"/>
                </a:solidFill>
                <a:latin typeface="Courier"/>
              </a:rPr>
              <a:t>/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5E5E5E"/>
                </a:solidFill>
                <a:latin typeface="Courier"/>
              </a:rPr>
              <a:t>^</a:t>
            </a:r>
            <a:r>
              <a:rPr>
                <a:solidFill>
                  <a:srgbClr val="AD0000"/>
                </a:solidFill>
                <a:latin typeface="Courier"/>
              </a:rPr>
              <a:t>6</a:t>
            </a:r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5E5E5E"/>
                </a:solidFill>
                <a:latin typeface="Courier"/>
              </a:rPr>
              <a:t># 6 pairs</a:t>
            </a:r>
          </a:p>
          <a:p>
            <a:pPr lvl="0" indent="0" marL="1270000">
              <a:buNone/>
            </a:pPr>
            <a:r>
              <a:rPr sz="2000" b="1"/>
              <a:t>Warning</a:t>
            </a:r>
          </a:p>
          <a:p>
            <a:pPr lvl="0" indent="0" marL="1270000">
              <a:buNone/>
            </a:pPr>
            <a:r>
              <a:rPr sz="2000" b="1"/>
              <a:t>⚠️ Where we go next</a:t>
            </a:r>
          </a:p>
          <a:p>
            <a:pPr lvl="0" indent="0" marL="1270000">
              <a:buNone/>
            </a:pPr>
            <a:r>
              <a:rPr sz="2000"/>
              <a:t>We have now seen what these tests cost. What we have </a:t>
            </a:r>
            <a:r>
              <a:rPr sz="2000" b="1"/>
              <a:t>not</a:t>
            </a:r>
            <a:r>
              <a:rPr sz="2000"/>
              <a:t> seen is what they buy you — because nothing about the pine data was broken.</a:t>
            </a:r>
          </a:p>
          <a:p>
            <a:pPr lvl="0" indent="0" marL="1270000">
              <a:buNone/>
            </a:pPr>
            <a:r>
              <a:rPr sz="2000"/>
              <a:t>For that we need a dataset that is a genuine mess.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2 · A Dataset Where the Assumptions Really Do Fail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Meet the lake trout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lt_df &lt;- </a:t>
            </a:r>
            <a:r>
              <a:rPr>
                <a:solidFill>
                  <a:srgbClr val="4758AB"/>
                </a:solidFill>
                <a:latin typeface="Courier"/>
              </a:rPr>
              <a:t>read_csv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"data/lake_trout.csv"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lt_df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group_by</a:t>
            </a:r>
            <a:r>
              <a:rPr>
                <a:solidFill>
                  <a:srgbClr val="003B4F"/>
                </a:solidFill>
                <a:latin typeface="Courier"/>
              </a:rPr>
              <a:t>(lake)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reframe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summary_stats</a:t>
            </a:r>
            <a:r>
              <a:rPr>
                <a:solidFill>
                  <a:srgbClr val="003B4F"/>
                </a:solidFill>
                <a:latin typeface="Courier"/>
              </a:rPr>
              <a:t>(mass_g))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6 × 7
  lake            n  mean    sd    se ci_lower ci_upper
  &lt;chr&gt;       &lt;int&gt; &lt;dbl&gt; &lt;dbl&gt; &lt;dbl&gt;    &lt;dbl&gt;    &lt;dbl&gt;
1 I8             91  857.  727.  76.2     705.    1008.
2 Island Lake    10 3165  1617. 511.     2008.    4322.
3 N 01          674  659.  395.  15.2     629.     689.
4 NE 12         322  534.  520.  29.0     477.     591.
5 NE 14         139  848.  508.  43.1     763.     933.
6 Toolik        249  518.  373.  23.6     471.     564.</a:t>
            </a:r>
          </a:p>
          <a:p>
            <a:pPr lvl="0" indent="0" marL="0">
              <a:buNone/>
            </a:pPr>
            <a:r>
              <a:rPr>
                <a:hlinkClick r:id="rId2"/>
              </a:rPr>
              <a:t>📥 Lake trout data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 b="1"/>
              <a:t>🖐 Notice the design</a:t>
            </a:r>
          </a:p>
          <a:p>
            <a:pPr lvl="0" indent="0" marL="1270000">
              <a:buNone/>
            </a:pPr>
            <a:r>
              <a:rPr sz="2000"/>
              <a:t>Six lakes of trout: </a:t>
            </a:r>
            <a:r>
              <a:rPr sz="2000">
                <a:latin typeface="Courier"/>
              </a:rPr>
              <a:t>sampling_site</a:t>
            </a:r>
            <a:r>
              <a:rPr sz="2000"/>
              <a:t>, </a:t>
            </a:r>
            <a:r>
              <a:rPr sz="2000">
                <a:latin typeface="Courier"/>
              </a:rPr>
              <a:t>species</a:t>
            </a:r>
            <a:r>
              <a:rPr sz="2000"/>
              <a:t>, </a:t>
            </a:r>
            <a:r>
              <a:rPr sz="2000">
                <a:latin typeface="Courier"/>
              </a:rPr>
              <a:t>length_mm</a:t>
            </a:r>
            <a:r>
              <a:rPr sz="2000"/>
              <a:t>, </a:t>
            </a:r>
            <a:r>
              <a:rPr sz="2000">
                <a:latin typeface="Courier"/>
              </a:rPr>
              <a:t>mass_g</a:t>
            </a:r>
            <a:r>
              <a:rPr sz="2000"/>
              <a:t>, </a:t>
            </a:r>
            <a:r>
              <a:rPr sz="2000">
                <a:latin typeface="Courier"/>
              </a:rPr>
              <a:t>lake</a:t>
            </a:r>
            <a:r>
              <a:rPr sz="2000"/>
              <a:t>.</a:t>
            </a:r>
          </a:p>
          <a:p>
            <a:pPr lvl="0" indent="0" marL="1270000">
              <a:buNone/>
            </a:pPr>
            <a:r>
              <a:rPr sz="2000" b="1"/>
              <a:t>Everything from here on uses </a:t>
            </a:r>
            <a:r>
              <a:rPr sz="2000" b="1">
                <a:latin typeface="Courier"/>
              </a:rPr>
              <a:t>mass_g</a:t>
            </a:r>
            <a:r>
              <a:rPr sz="2000" b="1"/>
              <a:t>.</a:t>
            </a:r>
            <a:r>
              <a:rPr sz="2000"/>
              <a:t> Look hard at the </a:t>
            </a:r>
            <a:r>
              <a:rPr sz="2000">
                <a:latin typeface="Courier"/>
              </a:rPr>
              <a:t>n</a:t>
            </a:r>
            <a:r>
              <a:rPr sz="2000"/>
              <a:t> and </a:t>
            </a:r>
            <a:r>
              <a:rPr sz="2000">
                <a:latin typeface="Courier"/>
              </a:rPr>
              <a:t>sd</a:t>
            </a:r>
            <a:r>
              <a:rPr sz="2000"/>
              <a:t> columns for </a:t>
            </a:r>
            <a:r>
              <a:rPr sz="2000" b="1"/>
              <a:t>NE 12</a:t>
            </a:r>
            <a:r>
              <a:rPr sz="2000"/>
              <a:t> and </a:t>
            </a:r>
            <a:r>
              <a:rPr sz="2000" b="1"/>
              <a:t>Island Lake</a:t>
            </a:r>
            <a:r>
              <a:rPr sz="2000"/>
              <a:t> — 322 fish against 10, and very different spreads.</a:t>
            </a:r>
          </a:p>
          <a:p>
            <a:pPr lvl="0" indent="0" marL="1270000">
              <a:buNone/>
            </a:pPr>
            <a:r>
              <a:rPr sz="2000"/>
              <a:t>That imbalance is the rest of the lecture. Where the pine data was clean, this is everything that can go wrong at once.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3 · Assumptions of Parametric Tests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Parametric vs. Non-Parametric Tests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T-tests are </a:t>
            </a:r>
            <a:r>
              <a:rPr b="1"/>
              <a:t>parametric</a:t>
            </a:r>
            <a:r>
              <a:rPr/>
              <a:t> tests.</a:t>
            </a:r>
          </a:p>
          <a:p>
            <a:pPr lvl="0"/>
            <a:r>
              <a:rPr b="1"/>
              <a:t>Parametric tests:</a:t>
            </a:r>
          </a:p>
          <a:p>
            <a:pPr lvl="1"/>
            <a:r>
              <a:rPr/>
              <a:t>specify/assume the probability distribution the parameters came from</a:t>
            </a:r>
          </a:p>
          <a:p>
            <a:pPr lvl="1"/>
            <a:r>
              <a:rPr/>
              <a:t>basic assumptions of parametric t-tests: random sampling, normality, equal variance (or Welch’s t-test), no outliers</a:t>
            </a:r>
          </a:p>
          <a:p>
            <a:pPr lvl="0"/>
            <a:r>
              <a:rPr b="1"/>
              <a:t>Non-parametric tests:</a:t>
            </a:r>
            <a:r>
              <a:rPr/>
              <a:t> no assumption about the probability distribution/normality</a:t>
            </a:r>
          </a:p>
          <a:p>
            <a:pPr lvl="1"/>
            <a:r>
              <a:rPr/>
              <a:t>Mukasa et al. 2021, DOI: 10.4236/ojbm.2021.93081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📖 Reference</a:t>
            </a:r>
          </a:p>
          <a:p>
            <a:pPr lvl="0" indent="0" marL="1270000">
              <a:buNone/>
            </a:pPr>
            <a:r>
              <a:rPr sz="2000"/>
              <a:t>Whitlock &amp; Schluter, </a:t>
            </a:r>
            <a:r>
              <a:rPr sz="2000" i="1"/>
              <a:t>Analysis of Biological Data</a:t>
            </a:r>
            <a:r>
              <a:rPr sz="2000"/>
              <a:t>, Ch. 13 — Handling Violations of Assumptions, is the core reference for this whole lecture.</a:t>
            </a:r>
          </a:p>
        </p:txBody>
      </p:sp>
      <p:pic>
        <p:nvPicPr>
          <p:cNvPr descr="images/clipboard-2948249782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1727200"/>
            <a:ext cx="2781300" cy="1816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6121400" y="4622800"/>
            <a:ext cx="27813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Flowchart of hypothesis tests branching into parametric and nonparametric tests, each split into one-sample and two-sample (independent vs. paired) tests, listing specific tests under each branch (e.g., t test and z test under parametric one-sample; Mann-Whitney and Wilcoxon under nonparametric two-sample).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Assumptions of Parametric Tests —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If a parametric test’s assumptions are violated, the test becomes unreliable</a:t>
            </a:r>
          </a:p>
          <a:p>
            <a:pPr lvl="0"/>
            <a:r>
              <a:rPr/>
              <a:t>This is because the test statistic may no longer follow the distribution it’s supposed to</a:t>
            </a:r>
          </a:p>
          <a:p>
            <a:pPr lvl="0"/>
            <a:r>
              <a:rPr/>
              <a:t>Most parametric tests are robust to mild/moderate violations of normality</a:t>
            </a:r>
          </a:p>
        </p:txBody>
      </p:sp>
      <p:pic>
        <p:nvPicPr>
          <p:cNvPr descr="images/clipboard-286482702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1244600"/>
            <a:ext cx="2781300" cy="2781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6121400" y="4622800"/>
            <a:ext cx="27813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Three probability density curves for a right-skewed distribution family at different sigma values (0.25, 0.5, 1) with mu = 0, showing how larger sigma produces a flatter, more spread-out, and less peaked skewed curve.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Assumptions — Random Sampling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Basic assumptions of parametric t-tests: random sampling, normality, equal variance, no outliers.</a:t>
            </a:r>
          </a:p>
          <a:p>
            <a:pPr lvl="0" indent="0" marL="0">
              <a:buNone/>
            </a:pPr>
            <a:r>
              <a:rPr b="1"/>
              <a:t>Random sampling:</a:t>
            </a:r>
          </a:p>
          <a:p>
            <a:pPr lvl="0"/>
            <a:r>
              <a:rPr/>
              <a:t>samples are randomly collected from populations; part of experimental design</a:t>
            </a:r>
          </a:p>
          <a:p>
            <a:pPr lvl="0"/>
            <a:r>
              <a:rPr/>
              <a:t>necessary for sample → population inference</a:t>
            </a:r>
          </a:p>
        </p:txBody>
      </p:sp>
      <p:pic>
        <p:nvPicPr>
          <p:cNvPr descr="images/clipboard-2526616735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863600"/>
            <a:ext cx="2781300" cy="3568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6121400" y="4622800"/>
            <a:ext cx="27813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Diagram of a large circle labeled ‘population’ full of dots, with orange arrows showing a subset being drawn down into a small circle labeled ‘sample’, illustrating random sampling from a population.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Assumptions — Normality 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🔮 Predict first:</a:t>
            </a:r>
            <a:r>
              <a:rPr sz="2000"/>
              <a:t> We’re about to look at histogram, dotplot, boxplot, and QQ-plot views of the </a:t>
            </a:r>
            <a:r>
              <a:rPr sz="2000" i="1"/>
              <a:t>same</a:t>
            </a:r>
            <a:r>
              <a:rPr sz="2000"/>
              <a:t> NE 12 mass data. Which of the four do you expect to be most convincing about normality?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Let’s test normality for one lake — </a:t>
            </a:r>
            <a:r>
              <a:rPr b="1">
                <a:latin typeface="Courier"/>
              </a:rPr>
              <a:t>NE 12</a:t>
            </a:r>
            <a:r>
              <a:rPr/>
              <a:t> — as if we were going to run a one-sample t-test. We need a new data frame with only NE 12 data, called </a:t>
            </a:r>
            <a:r>
              <a:rPr>
                <a:latin typeface="Courier"/>
              </a:rPr>
              <a:t>ne12_data</a:t>
            </a:r>
            <a:r>
              <a:rPr/>
              <a:t>.</a:t>
            </a:r>
          </a:p>
          <a:p>
            <a:pPr lvl="0" indent="0" marL="0">
              <a:buNone/>
            </a:pPr>
            <a:r>
              <a:rPr b="1"/>
              <a:t>Normality:</a:t>
            </a:r>
            <a:r>
              <a:rPr/>
              <a:t> samples from a normally distributed population</a:t>
            </a:r>
          </a:p>
          <a:p>
            <a:pPr lvl="0"/>
            <a:r>
              <a:rPr/>
              <a:t>Graphical tests: histograms, dotplots, boxplots, </a:t>
            </a:r>
            <a:r>
              <a:rPr b="1"/>
              <a:t>QQ-plots</a:t>
            </a:r>
          </a:p>
          <a:p>
            <a:pPr lvl="0"/>
            <a:r>
              <a:rPr/>
              <a:t>“Formal” tests: </a:t>
            </a:r>
            <a:r>
              <a:rPr b="1"/>
              <a:t>Shapiro-Wilk test</a:t>
            </a:r>
            <a:r>
              <a:rPr/>
              <a:t> — sometimes not useful</a:t>
            </a:r>
          </a:p>
        </p:txBody>
      </p:sp>
      <p:pic>
        <p:nvPicPr>
          <p:cNvPr descr="nonparametric_t_tests_lecture_files/figure-pptx/nonparametric-t-tests-03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1638300"/>
            <a:ext cx="2781300" cy="2501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Shapiro-Wilk Test for Normality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H₀ is that the data ARE normally distributed</a:t>
            </a:r>
            <a:r>
              <a:rPr/>
              <a:t> — so a </a:t>
            </a:r>
            <a:r>
              <a:rPr i="1"/>
              <a:t>small</a:t>
            </a:r>
            <a:r>
              <a:rPr/>
              <a:t> p-value rejects normality.</a:t>
            </a:r>
          </a:p>
          <a:p>
            <a:pPr lvl="0"/>
            <a:r>
              <a:rPr/>
              <a:t>Graphical tests: histograms, dotplots, boxplots, </a:t>
            </a:r>
            <a:r>
              <a:rPr b="1"/>
              <a:t>QQ-plots</a:t>
            </a:r>
          </a:p>
          <a:p>
            <a:pPr lvl="0"/>
            <a:r>
              <a:rPr/>
              <a:t>“Formal” tests: </a:t>
            </a:r>
            <a:r>
              <a:rPr b="1"/>
              <a:t>Shapiro-Wilk</a:t>
            </a:r>
            <a:r>
              <a:rPr/>
              <a:t> — sometimes not useful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shapiro.test</a:t>
            </a:r>
            <a:r>
              <a:rPr>
                <a:solidFill>
                  <a:srgbClr val="003B4F"/>
                </a:solidFill>
                <a:latin typeface="Courier"/>
              </a:rPr>
              <a:t>(ne12_data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mass_g)</a:t>
            </a:r>
          </a:p>
          <a:p>
            <a:pPr lvl="0" indent="0">
              <a:buNone/>
            </a:pPr>
            <a:r>
              <a:rPr>
                <a:latin typeface="Courier"/>
              </a:rPr>
              <a:t>
    Shapiro-Wilk normality test
data:  ne12_data$mass_g
W = 0.85148, p-value &lt; 2.2e-16</a:t>
            </a:r>
          </a:p>
          <a:p>
            <a:pPr lvl="0" indent="0" marL="1270000">
              <a:buNone/>
            </a:pPr>
            <a:r>
              <a:rPr sz="2000" b="1"/>
              <a:t>Warning</a:t>
            </a:r>
          </a:p>
          <a:p>
            <a:pPr lvl="0" indent="0" marL="1270000">
              <a:buNone/>
            </a:pPr>
            <a:r>
              <a:rPr sz="2000" b="1"/>
              <a:t>⚠️ p prints as </a:t>
            </a:r>
            <a:r>
              <a:rPr sz="2000" b="1">
                <a:latin typeface="Courier"/>
              </a:rPr>
              <a:t>&lt; 2.2e-16</a:t>
            </a:r>
          </a:p>
          <a:p>
            <a:pPr lvl="0" indent="0" marL="1270000">
              <a:buNone/>
            </a:pPr>
            <a:r>
              <a:rPr sz="2000"/>
              <a:t>That is R telling you the p-value is smaller than it will bother to print. Not a borderline call — NE 12 mass is </a:t>
            </a:r>
            <a:r>
              <a:rPr sz="2000" b="1"/>
              <a:t>strongly</a:t>
            </a:r>
            <a:r>
              <a:rPr sz="2000"/>
              <a:t> non-normal, exactly as the histogram and QQ-plot showed. This is the case the rest of the lecture is for.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Testing the Equal Variance Assumption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Equal variance:</a:t>
            </a:r>
            <a:r>
              <a:rPr/>
              <a:t> samples are from populations with a similar degree of variability.</a:t>
            </a:r>
          </a:p>
          <a:p>
            <a:pPr lvl="0" indent="0" marL="0">
              <a:buNone/>
            </a:pPr>
            <a:r>
              <a:rPr/>
              <a:t>Equal variance is about </a:t>
            </a:r>
            <a:r>
              <a:rPr b="1"/>
              <a:t>two groups</a:t>
            </a:r>
            <a:r>
              <a:rPr/>
              <a:t>, so here we bring in the comparison we will use for the rest of the lecture: </a:t>
            </a:r>
            <a:r>
              <a:rPr b="1"/>
              <a:t>NE 12 vs. Island Lake</a:t>
            </a:r>
            <a:r>
              <a:rPr/>
              <a:t>.</a:t>
            </a:r>
          </a:p>
          <a:p>
            <a:pPr lvl="0"/>
            <a:r>
              <a:rPr/>
              <a:t>Graphical test: boxplots</a:t>
            </a:r>
          </a:p>
          <a:p>
            <a:pPr lvl="0"/>
            <a:r>
              <a:rPr/>
              <a:t>Formal test: </a:t>
            </a:r>
            <a:r>
              <a:rPr b="1"/>
              <a:t>Levene’s test</a:t>
            </a:r>
            <a:r>
              <a:rPr/>
              <a:t> — H₀ is “the variances are equal,” so you </a:t>
            </a:r>
            <a:r>
              <a:rPr i="1"/>
              <a:t>want</a:t>
            </a:r>
            <a:r>
              <a:rPr/>
              <a:t> p &gt; 0.05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isl_ne12_df &lt;- lt_df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filter</a:t>
            </a:r>
            <a:r>
              <a:rPr>
                <a:solidFill>
                  <a:srgbClr val="003B4F"/>
                </a:solidFill>
                <a:latin typeface="Courier"/>
              </a:rPr>
              <a:t>(lake </a:t>
            </a:r>
            <a:r>
              <a:rPr>
                <a:solidFill>
                  <a:srgbClr val="5E5E5E"/>
                </a:solidFill>
                <a:latin typeface="Courier"/>
              </a:rPr>
              <a:t>%in%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"NE 12"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"Island Lake"</a:t>
            </a:r>
            <a:r>
              <a:rPr>
                <a:solidFill>
                  <a:srgbClr val="003B4F"/>
                </a:solidFill>
                <a:latin typeface="Courier"/>
              </a:rPr>
              <a:t>))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filter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5E5E5E"/>
                </a:solidFill>
                <a:latin typeface="Courier"/>
              </a:rPr>
              <a:t>!</a:t>
            </a:r>
            <a:r>
              <a:rPr>
                <a:solidFill>
                  <a:srgbClr val="4758AB"/>
                </a:solidFill>
                <a:latin typeface="Courier"/>
              </a:rPr>
              <a:t>is.na</a:t>
            </a:r>
            <a:r>
              <a:rPr>
                <a:solidFill>
                  <a:srgbClr val="003B4F"/>
                </a:solidFill>
                <a:latin typeface="Courier"/>
              </a:rPr>
              <a:t>(mass_g))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isl_ne12_df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(lake, mass_g))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geom_boxplot</a:t>
            </a:r>
            <a:r>
              <a:rPr>
                <a:solidFill>
                  <a:srgbClr val="003B4F"/>
                </a:solidFill>
                <a:latin typeface="Courier"/>
              </a:rPr>
              <a:t>()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theme_regular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base_size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10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</p:txBody>
      </p:sp>
      <p:pic>
        <p:nvPicPr>
          <p:cNvPr descr="nonparametric_t_tests_lecture_files/figure-pptx/nonparametric-t-tests-05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749800" y="1422400"/>
            <a:ext cx="4038600" cy="3022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6" name="Content Placeholder 5"/>
          <p:cNvSpPr>
            <a:spLocks noGrp="1"/>
          </p:cNvSpPr>
          <p:nvPr>
            <p:ph idx="4" sz="quarter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leveneTest</a:t>
            </a:r>
            <a:r>
              <a:rPr>
                <a:solidFill>
                  <a:srgbClr val="003B4F"/>
                </a:solidFill>
                <a:latin typeface="Courier"/>
              </a:rPr>
              <a:t>(mass_g </a:t>
            </a:r>
            <a:r>
              <a:rPr>
                <a:solidFill>
                  <a:srgbClr val="5E5E5E"/>
                </a:solidFill>
                <a:latin typeface="Courier"/>
              </a:rPr>
              <a:t>~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factor</a:t>
            </a:r>
            <a:r>
              <a:rPr>
                <a:solidFill>
                  <a:srgbClr val="003B4F"/>
                </a:solidFill>
                <a:latin typeface="Courier"/>
              </a:rPr>
              <a:t>(lake), </a:t>
            </a:r>
            <a:r>
              <a:rPr>
                <a:solidFill>
                  <a:srgbClr val="657422"/>
                </a:solidFill>
                <a:latin typeface="Courier"/>
              </a:rPr>
              <a:t>data =</a:t>
            </a:r>
            <a:r>
              <a:rPr>
                <a:solidFill>
                  <a:srgbClr val="003B4F"/>
                </a:solidFill>
                <a:latin typeface="Courier"/>
              </a:rPr>
              <a:t> isl_ne12_df)</a:t>
            </a:r>
          </a:p>
          <a:p>
            <a:pPr lvl="0" indent="0">
              <a:buNone/>
            </a:pPr>
            <a:r>
              <a:rPr>
                <a:latin typeface="Courier"/>
              </a:rPr>
              <a:t>Levene's Test for Homogeneity of Variance (center = median)
       Df F value    Pr(&gt;F)    
group   1  25.997 5.775e-07 ***
      330                      
---
Signif. codes:  0 '***' 0.001 '**' 0.01 '*' 0.05 '.' 0.1 ' ' 1</a:t>
            </a:r>
          </a:p>
          <a:p>
            <a:pPr lvl="0" indent="0" marL="0">
              <a:buNone/>
            </a:pPr>
            <a:r>
              <a:rPr b="1"/>
              <a:t>p is far below 0.05 — the variances are not equal.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Testing for Outliers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No outliers:</a:t>
            </a:r>
            <a:r>
              <a:rPr/>
              <a:t> no “extreme” values very different from the rest of the sample.</a:t>
            </a:r>
          </a:p>
          <a:p>
            <a:pPr lvl="0"/>
            <a:r>
              <a:rPr/>
              <a:t>Graphical tests: boxplots, histograms</a:t>
            </a:r>
          </a:p>
          <a:p>
            <a:pPr lvl="0"/>
            <a:r>
              <a:rPr/>
              <a:t>“Formal tests”: Grubbs’ test — no one really does this</a:t>
            </a:r>
          </a:p>
        </p:txBody>
      </p:sp>
      <p:pic>
        <p:nvPicPr>
          <p:cNvPr descr="nonparametric_t_tests_lecture_files/figure-pptx/nonparametric-t-tests-07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1676400"/>
            <a:ext cx="2781300" cy="2438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4 · When Assumptions Fail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Alternative Tests When Assumptions Fail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if t-test assumptions fail? Alternative tests, with more relaxed assumptions, are available. In which case would you use each?</a:t>
            </a:r>
          </a:p>
          <a:p>
            <a:pPr lvl="0"/>
            <a:r>
              <a:rPr b="1"/>
              <a:t>Welch’s t-test:</a:t>
            </a:r>
            <a:r>
              <a:rPr/>
              <a:t> </a:t>
            </a:r>
            <a:r>
              <a:rPr i="1"/>
              <a:t>distribution normal but variance unequal</a:t>
            </a:r>
          </a:p>
          <a:p>
            <a:pPr lvl="0"/>
            <a:r>
              <a:rPr b="1"/>
              <a:t>Mann-Whitney-Wilcoxon test:</a:t>
            </a:r>
            <a:r>
              <a:rPr/>
              <a:t> </a:t>
            </a:r>
            <a:r>
              <a:rPr i="1"/>
              <a:t>distribution not normal and/or outliers present (but both groups should still have similar distributions and ~equal variance)</a:t>
            </a:r>
          </a:p>
          <a:p>
            <a:pPr lvl="0"/>
            <a:r>
              <a:rPr b="1"/>
              <a:t>Permutation test for two samples:</a:t>
            </a:r>
            <a:r>
              <a:rPr/>
              <a:t> </a:t>
            </a:r>
            <a:r>
              <a:rPr i="1"/>
              <a:t>distribution not normal (but both groups should still have similar distributions and ~equal variance)</a:t>
            </a:r>
          </a:p>
        </p:txBody>
      </p:sp>
      <p:pic>
        <p:nvPicPr>
          <p:cNvPr descr="nonparametric_t_tests_lecture_files/figure-pptx/nonparametric-t-tests-08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1155700"/>
            <a:ext cx="2781300" cy="3479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Understanding QQ-Plots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QQ-plots:</a:t>
            </a:r>
            <a:r>
              <a:rPr/>
              <a:t> a tool for assessing normality.</a:t>
            </a:r>
          </a:p>
          <a:p>
            <a:pPr lvl="0"/>
            <a:r>
              <a:rPr/>
              <a:t>On x: theoretical quantiles from a standard normal distribution</a:t>
            </a:r>
          </a:p>
          <a:p>
            <a:pPr lvl="0"/>
            <a:r>
              <a:rPr/>
              <a:t>On y: ordered sample values</a:t>
            </a:r>
          </a:p>
          <a:p>
            <a:pPr lvl="0"/>
            <a:r>
              <a:rPr/>
              <a:t>Deviation from normal can be detected as deviation from a straight line</a:t>
            </a:r>
          </a:p>
        </p:txBody>
      </p:sp>
      <p:pic>
        <p:nvPicPr>
          <p:cNvPr descr="nonparametric_t_tests_lecture_files/figure-pptx/nonparametric-t-tests-09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1752600"/>
            <a:ext cx="2781300" cy="2286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Data Transformations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 some cases, data can be mathematically “transformed” to meet the assumptions of parametric tests. This usually involves:</a:t>
            </a:r>
          </a:p>
          <a:p>
            <a:pPr lvl="0"/>
            <a:r>
              <a:rPr/>
              <a:t>log₁₀ transformations</a:t>
            </a:r>
          </a:p>
          <a:p>
            <a:pPr lvl="0"/>
            <a:r>
              <a:rPr/>
              <a:t>square root transformations</a:t>
            </a:r>
          </a:p>
          <a:p>
            <a:pPr lvl="0"/>
            <a:r>
              <a:rPr/>
              <a:t>and many others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log_box_plot &lt;- isl_ne12_df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(lake, </a:t>
            </a:r>
            <a:r>
              <a:rPr>
                <a:solidFill>
                  <a:srgbClr val="4758AB"/>
                </a:solidFill>
                <a:latin typeface="Courier"/>
              </a:rPr>
              <a:t>log10</a:t>
            </a:r>
            <a:r>
              <a:rPr>
                <a:solidFill>
                  <a:srgbClr val="003B4F"/>
                </a:solidFill>
                <a:latin typeface="Courier"/>
              </a:rPr>
              <a:t>(mass_g)))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geom_boxplot</a:t>
            </a:r>
            <a:r>
              <a:rPr>
                <a:solidFill>
                  <a:srgbClr val="003B4F"/>
                </a:solidFill>
                <a:latin typeface="Courier"/>
              </a:rPr>
              <a:t>()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theme_regular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base_size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9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ne12_island_box_plot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r>
              <a:rPr>
                <a:solidFill>
                  <a:srgbClr val="003B4F"/>
                </a:solidFill>
                <a:latin typeface="Courier"/>
              </a:rPr>
              <a:t> log_box_plot</a:t>
            </a:r>
          </a:p>
        </p:txBody>
      </p:sp>
      <p:pic>
        <p:nvPicPr>
          <p:cNvPr descr="nonparametric_t_tests_lecture_files/figure-pptx/nonparametric-t-tests-10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27000" y="1358900"/>
            <a:ext cx="4432300" cy="3124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log scale pulls the two spreads much closer together — but it does </a:t>
            </a:r>
            <a:r>
              <a:rPr b="1"/>
              <a:t>not</a:t>
            </a:r>
            <a:r>
              <a:rPr/>
              <a:t> fix them completely. Levene’s test on </a:t>
            </a:r>
            <a:r>
              <a:rPr>
                <a:latin typeface="Courier"/>
              </a:rPr>
              <a:t>log10(mass_g)</a:t>
            </a:r>
            <a:r>
              <a:rPr/>
              <a:t> is still significant.</a:t>
            </a:r>
          </a:p>
        </p:txBody>
      </p:sp>
      <p:pic>
        <p:nvPicPr>
          <p:cNvPr descr="images/transformations_2%20jpg.jp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5727700" y="1295400"/>
            <a:ext cx="2082800" cy="2768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4749800" y="4064000"/>
            <a:ext cx="4038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Reference chart of six common data transformations (square root, logarithm, inverse, and their ‘reflect and’ variants for left-skewed data), each shown as a small curve with its transformation formula, used to pick a transformation that matches a variable’s skew shape.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4" sz="quarter"/>
          </p:nvPr>
        </p:nvSpPr>
        <p:spPr/>
        <p:txBody>
          <a:bodyPr/>
          <a:lstStyle/>
          <a:p>
            <a:pPr lvl="0" indent="0" marL="0">
              <a:buNone/>
            </a:pPr>
            <a:r>
              <a:rPr>
                <a:hlinkClick r:id="rId4"/>
              </a:rPr>
              <a:t>source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Data Transformations — Why Log?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Log isn’t a trick you try at random — it fixes a specific shape of problem:</a:t>
            </a:r>
          </a:p>
          <a:p>
            <a:pPr lvl="0"/>
            <a:r>
              <a:rPr/>
              <a:t>Right-skewed data (a long tail of large values) → </a:t>
            </a:r>
            <a:r>
              <a:rPr>
                <a:latin typeface="Courier"/>
              </a:rPr>
              <a:t>log10(x)</a:t>
            </a:r>
          </a:p>
          <a:p>
            <a:pPr lvl="0"/>
            <a:r>
              <a:rPr/>
              <a:t>Effects that are </a:t>
            </a:r>
            <a:r>
              <a:rPr b="1"/>
              <a:t>multiplicative</a:t>
            </a:r>
            <a:r>
              <a:rPr/>
              <a:t> rather than additive (doubling a value, not adding a fixed amount) → </a:t>
            </a:r>
            <a:r>
              <a:rPr>
                <a:latin typeface="Courier"/>
              </a:rPr>
              <a:t>log10(x)</a:t>
            </a:r>
          </a:p>
          <a:p>
            <a:pPr lvl="0"/>
            <a:r>
              <a:rPr/>
              <a:t>Ratio-scale ecological measurements — mass, concentration, population size, area — are almost always multiplicative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✅ The mechanism, in one line</a:t>
            </a:r>
          </a:p>
          <a:p>
            <a:pPr lvl="0" indent="0" marL="1270000">
              <a:buNone/>
            </a:pPr>
            <a:r>
              <a:rPr sz="2000"/>
              <a:t>A trout that is twice as heavy as another isn’t “500 g more” — it’s “2×.” Log turns that multiplicative relationship into an additive one, which is what a t-test’s equal-spread assumption expects. It compresses the right tail: 100 g → 1000 g and 1000 g → 10,000 g become the </a:t>
            </a:r>
            <a:r>
              <a:rPr sz="2000" i="1"/>
              <a:t>same</a:t>
            </a:r>
            <a:r>
              <a:rPr sz="2000"/>
              <a:t> distance, one log unit.</a:t>
            </a:r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Data Transformations — Beyond Log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Log is the one you will reach for most in ecology, but match the transform to the shape of the problem: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127000" y="1270000"/>
          <a:ext cx="4432300" cy="330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9800"/>
                <a:gridCol w="2209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Transformation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Use when…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log10(x)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right-skewed, multiplicative, ratio-scale data (mass, concentration, abundance)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sqrt(x)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count data, moderate right skew (Poisson-like variance)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asin(sqrt(x))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proportions or percentages bounded 0–1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1/x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rates, or extreme right skew that log doesn’t fix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Box-Cox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 obvious transform works — let the data pick the power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None of these are guaranteed to work.</a:t>
            </a:r>
            <a:r>
              <a:rPr/>
              <a:t> You check afterward, every time — that’s Part 5 of the worksheet, and it’s the whole point of the take-home.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sqrt_box_plot &lt;- isl_ne12_df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(lake, </a:t>
            </a:r>
            <a:r>
              <a:rPr>
                <a:solidFill>
                  <a:srgbClr val="4758AB"/>
                </a:solidFill>
                <a:latin typeface="Courier"/>
              </a:rPr>
              <a:t>sqrt</a:t>
            </a:r>
            <a:r>
              <a:rPr>
                <a:solidFill>
                  <a:srgbClr val="003B4F"/>
                </a:solidFill>
                <a:latin typeface="Courier"/>
              </a:rPr>
              <a:t>(mass_g)))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geom_boxplot</a:t>
            </a:r>
            <a:r>
              <a:rPr>
                <a:solidFill>
                  <a:srgbClr val="003B4F"/>
                </a:solidFill>
                <a:latin typeface="Courier"/>
              </a:rPr>
              <a:t>()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theme_regular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base_size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9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log_box_plot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r>
              <a:rPr>
                <a:solidFill>
                  <a:srgbClr val="003B4F"/>
                </a:solidFill>
                <a:latin typeface="Courier"/>
              </a:rPr>
              <a:t> sqrt_box_plot</a:t>
            </a:r>
          </a:p>
        </p:txBody>
      </p:sp>
      <p:pic>
        <p:nvPicPr>
          <p:cNvPr descr="nonparametric_t_tests_lecture_files/figure-pptx/nonparametric-t-tests-28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749800" y="1511300"/>
            <a:ext cx="4038600" cy="2844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6" name="Content Placeholder 5"/>
          <p:cNvSpPr>
            <a:spLocks noGrp="1"/>
          </p:cNvSpPr>
          <p:nvPr>
            <p:ph idx="4" sz="quarter"/>
          </p:nvPr>
        </p:nvSpPr>
        <p:spPr/>
        <p:txBody>
          <a:bodyPr/>
          <a:lstStyle/>
          <a:p>
            <a:pPr lvl="0" indent="0" marL="0">
              <a:buNone/>
            </a:pPr>
            <a:r>
              <a:rPr>
                <a:latin typeface="Courier"/>
              </a:rPr>
              <a:t>sqrt()</a:t>
            </a:r>
            <a:r>
              <a:rPr/>
              <a:t> narrows the spread less than </a:t>
            </a:r>
            <a:r>
              <a:rPr>
                <a:latin typeface="Courier"/>
              </a:rPr>
              <a:t>log10()</a:t>
            </a:r>
            <a:r>
              <a:rPr/>
              <a:t> did here — this skew behaves more like a multiplicative effect than a count.</a:t>
            </a:r>
          </a:p>
        </p:txBody>
      </p:sp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A Transformation Can Fix One Problem, Not the Other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leveneTest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log10</a:t>
            </a:r>
            <a:r>
              <a:rPr>
                <a:solidFill>
                  <a:srgbClr val="003B4F"/>
                </a:solidFill>
                <a:latin typeface="Courier"/>
              </a:rPr>
              <a:t>(mass_g) </a:t>
            </a:r>
            <a:r>
              <a:rPr>
                <a:solidFill>
                  <a:srgbClr val="5E5E5E"/>
                </a:solidFill>
                <a:latin typeface="Courier"/>
              </a:rPr>
              <a:t>~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factor</a:t>
            </a:r>
            <a:r>
              <a:rPr>
                <a:solidFill>
                  <a:srgbClr val="003B4F"/>
                </a:solidFill>
                <a:latin typeface="Courier"/>
              </a:rPr>
              <a:t>(lake), </a:t>
            </a:r>
            <a:r>
              <a:rPr>
                <a:solidFill>
                  <a:srgbClr val="657422"/>
                </a:solidFill>
                <a:latin typeface="Courier"/>
              </a:rPr>
              <a:t>data =</a:t>
            </a:r>
            <a:r>
              <a:rPr>
                <a:solidFill>
                  <a:srgbClr val="003B4F"/>
                </a:solidFill>
                <a:latin typeface="Courier"/>
              </a:rPr>
              <a:t> isl_ne12_df)</a:t>
            </a:r>
          </a:p>
          <a:p>
            <a:pPr lvl="0" indent="0">
              <a:buNone/>
            </a:pPr>
            <a:r>
              <a:rPr>
                <a:latin typeface="Courier"/>
              </a:rPr>
              <a:t>Levene's Test for Homogeneity of Variance (center = median)
       Df F value    Pr(&gt;F)    
group   1   11.77 0.0006784 ***
      330                      
---
Signif. codes:  0 '***' 0.001 '**' 0.01 '*' 0.05 '.' 0.1 ' ' 1</a:t>
            </a:r>
          </a:p>
          <a:p>
            <a:pPr lvl="0" indent="0" marL="0">
              <a:buNone/>
            </a:pPr>
            <a:r>
              <a:rPr/>
              <a:t>Compare that to the Levene’s result on raw </a:t>
            </a:r>
            <a:r>
              <a:rPr>
                <a:latin typeface="Courier"/>
              </a:rPr>
              <a:t>mass_g</a:t>
            </a:r>
            <a:r>
              <a:rPr/>
              <a:t> a few slides back — both fail. </a:t>
            </a:r>
            <a:r>
              <a:rPr b="1"/>
              <a:t>Normality improved with the log transform. Equal variance did not.</a:t>
            </a:r>
            <a:r>
              <a:rPr/>
              <a:t> Checking a transformation is not one pass/fail box — you re-test </a:t>
            </a:r>
            <a:r>
              <a:rPr i="1"/>
              <a:t>every</a:t>
            </a:r>
            <a:r>
              <a:rPr/>
              <a:t> assumption, separately, on the transformed variable.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Important</a:t>
            </a:r>
          </a:p>
          <a:p>
            <a:pPr lvl="0" indent="0" marL="1270000">
              <a:buNone/>
            </a:pPr>
            <a:r>
              <a:rPr sz="2000" b="1"/>
              <a:t>⚠️ This is the take-home’s whole trap</a:t>
            </a:r>
          </a:p>
          <a:p>
            <a:pPr lvl="0" indent="0" marL="1270000">
              <a:buNone/>
            </a:pPr>
            <a:r>
              <a:rPr sz="2000"/>
              <a:t>The sagebrush cricket data works the same way: a transformation can help one assumption without rescuing the other. There is no single “correct” test hiding in the data — there’s a </a:t>
            </a:r>
            <a:r>
              <a:rPr sz="2000" b="1"/>
              <a:t>best-justified</a:t>
            </a:r>
            <a:r>
              <a:rPr sz="2000"/>
              <a:t> one. Check every assumption on the raw data, then again on any transformed version, before you decide.</a:t>
            </a:r>
          </a:p>
        </p:txBody>
      </p:sp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5 · Welch’s T-Test — a One-Slide Refresher</a:t>
            </a:r>
          </a:p>
        </p:txBody>
      </p:sp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Welch’s t-Test — why it exists, in one number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You met Welch’s last week: </a:t>
            </a:r>
            <a:r>
              <a:rPr b="1"/>
              <a:t>same t-statistic idea, separate variance estimates, fractional degrees of freedom.</a:t>
            </a:r>
            <a:r>
              <a:rPr/>
              <a:t> Nothing new to learn. What is new is </a:t>
            </a:r>
            <a:r>
              <a:rPr i="1"/>
              <a:t>this dataset</a:t>
            </a:r>
            <a:r>
              <a:rPr/>
              <a:t>, which shows you why it matters.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Student's -- assumes equal variances</a:t>
            </a:r>
            <a:br/>
            <a:r>
              <a:rPr>
                <a:solidFill>
                  <a:srgbClr val="4758AB"/>
                </a:solidFill>
                <a:latin typeface="Courier"/>
              </a:rPr>
              <a:t>t.test</a:t>
            </a:r>
            <a:r>
              <a:rPr>
                <a:solidFill>
                  <a:srgbClr val="003B4F"/>
                </a:solidFill>
                <a:latin typeface="Courier"/>
              </a:rPr>
              <a:t>(mass_g </a:t>
            </a:r>
            <a:r>
              <a:rPr>
                <a:solidFill>
                  <a:srgbClr val="5E5E5E"/>
                </a:solidFill>
                <a:latin typeface="Courier"/>
              </a:rPr>
              <a:t>~</a:t>
            </a:r>
            <a:r>
              <a:rPr>
                <a:solidFill>
                  <a:srgbClr val="003B4F"/>
                </a:solidFill>
                <a:latin typeface="Courier"/>
              </a:rPr>
              <a:t> lake, </a:t>
            </a:r>
            <a:r>
              <a:rPr>
                <a:solidFill>
                  <a:srgbClr val="657422"/>
                </a:solidFill>
                <a:latin typeface="Courier"/>
              </a:rPr>
              <a:t>data =</a:t>
            </a:r>
            <a:r>
              <a:rPr>
                <a:solidFill>
                  <a:srgbClr val="003B4F"/>
                </a:solidFill>
                <a:latin typeface="Courier"/>
              </a:rPr>
              <a:t> isl_ne12_df, </a:t>
            </a:r>
            <a:r>
              <a:rPr>
                <a:solidFill>
                  <a:srgbClr val="657422"/>
                </a:solidFill>
                <a:latin typeface="Courier"/>
              </a:rPr>
              <a:t>var.equal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
    Two Sample t-test
data:  mass_g by lake
t = 14.181, df = 330, p-value &lt; 2.2e-16
alternative hypothesis: true difference in means between group Island Lake and group NE 12 is not equal to 0
95 percent confidence interval:
 2266.304 2996.360
sample estimates:
mean in group Island Lake       mean in group NE 12 
                3165.0000                  533.6677 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Welch's -- does not</a:t>
            </a:r>
            <a:br/>
            <a:r>
              <a:rPr>
                <a:solidFill>
                  <a:srgbClr val="4758AB"/>
                </a:solidFill>
                <a:latin typeface="Courier"/>
              </a:rPr>
              <a:t>t.test</a:t>
            </a:r>
            <a:r>
              <a:rPr>
                <a:solidFill>
                  <a:srgbClr val="003B4F"/>
                </a:solidFill>
                <a:latin typeface="Courier"/>
              </a:rPr>
              <a:t>(mass_g </a:t>
            </a:r>
            <a:r>
              <a:rPr>
                <a:solidFill>
                  <a:srgbClr val="5E5E5E"/>
                </a:solidFill>
                <a:latin typeface="Courier"/>
              </a:rPr>
              <a:t>~</a:t>
            </a:r>
            <a:r>
              <a:rPr>
                <a:solidFill>
                  <a:srgbClr val="003B4F"/>
                </a:solidFill>
                <a:latin typeface="Courier"/>
              </a:rPr>
              <a:t> lake, </a:t>
            </a:r>
            <a:r>
              <a:rPr>
                <a:solidFill>
                  <a:srgbClr val="657422"/>
                </a:solidFill>
                <a:latin typeface="Courier"/>
              </a:rPr>
              <a:t>data =</a:t>
            </a:r>
            <a:r>
              <a:rPr>
                <a:solidFill>
                  <a:srgbClr val="003B4F"/>
                </a:solidFill>
                <a:latin typeface="Courier"/>
              </a:rPr>
              <a:t> isl_ne12_df, </a:t>
            </a:r>
            <a:r>
              <a:rPr>
                <a:solidFill>
                  <a:srgbClr val="657422"/>
                </a:solidFill>
                <a:latin typeface="Courier"/>
              </a:rPr>
              <a:t>var.equal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FALSE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
    Welch Two Sample t-test
data:  mass_g by lake
t = 5.1368, df = 9.0578, p-value = 0.0006016
alternative hypothesis: true difference in means between group Island Lake and group NE 12 is not equal to 0
95 percent confidence interval:
 1473.676 3788.989
sample estimates:
mean in group Island Lake       mean in group NE 12 
                3165.0000                  533.6677 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Important</a:t>
            </a:r>
          </a:p>
          <a:p>
            <a:pPr lvl="0" indent="0" marL="1270000">
              <a:buNone/>
            </a:pPr>
            <a:r>
              <a:rPr sz="2000" b="1"/>
              <a:t>⚠️ Same data. Same means. Sixty orders of magnitude apart.</a:t>
            </a:r>
          </a:p>
          <a:p>
            <a:pPr lvl="0" indent="0" marL="1270000">
              <a:buNone/>
            </a:pPr>
            <a:r>
              <a:rPr sz="2000"/>
              <a:t>(R only prints </a:t>
            </a:r>
            <a:r>
              <a:rPr sz="2000">
                <a:latin typeface="Courier"/>
              </a:rPr>
              <a:t>&lt; 2.2e-16</a:t>
            </a:r>
            <a:r>
              <a:rPr sz="2000"/>
              <a:t> for the first one — that is the smallest number it will show you. The true value is 5.7 × 10⁻³⁶.)</a:t>
            </a:r>
          </a:p>
          <a:p>
            <a:pPr lvl="0" indent="0" marL="1270000">
              <a:buNone/>
            </a:pPr>
            <a:r>
              <a:rPr sz="2000"/>
              <a:t>Look at the </a:t>
            </a:r>
            <a:r>
              <a:rPr sz="2000" b="1"/>
              <a:t>df</a:t>
            </a:r>
            <a:r>
              <a:rPr sz="2000"/>
              <a:t>. Student’s pooled 322 Island-sized fish with 10 NE 12-sized ones and claimed </a:t>
            </a:r>
            <a:r>
              <a:rPr sz="2000" b="1"/>
              <a:t>330 degrees of freedom</a:t>
            </a:r>
            <a:r>
              <a:rPr sz="2000"/>
              <a:t>. Welch’s looked at the same data and said: you really only have about </a:t>
            </a:r>
            <a:r>
              <a:rPr sz="2000" b="1"/>
              <a:t>9</a:t>
            </a:r>
            <a:r>
              <a:rPr sz="2000"/>
              <a:t>.</a:t>
            </a:r>
          </a:p>
          <a:p>
            <a:pPr lvl="0" indent="0" marL="1270000">
              <a:buNone/>
            </a:pPr>
            <a:r>
              <a:rPr sz="2000"/>
              <a:t>Both still reject H₀ — but Student’s was never entitled to that much confidence. With n = 322 vs 10 and Levene’s p ≈ 6 × 10⁻⁷, the pooled variance is meaningless.</a:t>
            </a:r>
          </a:p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 b="1"/>
              <a:t>🖐 The rule</a:t>
            </a:r>
          </a:p>
          <a:p>
            <a:pPr lvl="0" indent="0" marL="1270000">
              <a:buNone/>
            </a:pPr>
            <a:r>
              <a:rPr sz="2000"/>
              <a:t>Unequal n </a:t>
            </a:r>
            <a:r>
              <a:rPr sz="2000" b="1"/>
              <a:t>and</a:t>
            </a:r>
            <a:r>
              <a:rPr sz="2000"/>
              <a:t> unequal variance is exactly the combination Welch’s was built for. When in doubt, </a:t>
            </a:r>
            <a:r>
              <a:rPr sz="2000">
                <a:latin typeface="Courier"/>
              </a:rPr>
              <a:t>var.equal = FALSE</a:t>
            </a:r>
            <a:r>
              <a:rPr sz="2000"/>
              <a:t> is the safer default — it costs you almost nothing when variances really are equal.</a:t>
            </a:r>
          </a:p>
        </p:txBody>
      </p:sp>
    </p:spTree>
  </p:cSld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6 · Rank-Based Tests</a:t>
            </a:r>
          </a:p>
        </p:txBody>
      </p:sp>
    </p:spTree>
  </p:cSld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Rank-Based Tests — now on data that needs them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Same two tests you ran on the pine needles in Part 1 — ranks instead of measurements, no assumption about the distribution.</a:t>
            </a:r>
          </a:p>
          <a:p>
            <a:pPr lvl="0"/>
            <a:r>
              <a:rPr/>
              <a:t>Ranks of data: observations are assigned ranks; sums (and signs, for paired tests) of ranks for groups are compared</a:t>
            </a:r>
          </a:p>
          <a:p>
            <a:pPr lvl="0"/>
            <a:r>
              <a:rPr b="1"/>
              <a:t>Mann-Whitney U test</a:t>
            </a:r>
            <a:r>
              <a:rPr/>
              <a:t> — common alternative to the independent-samples t-test</a:t>
            </a:r>
          </a:p>
          <a:p>
            <a:pPr lvl="0"/>
            <a:r>
              <a:rPr b="1"/>
              <a:t>Wilcoxon signed-rank test</a:t>
            </a:r>
            <a:r>
              <a:rPr/>
              <a:t> — alternative to the paired t-test</a:t>
            </a:r>
          </a:p>
          <a:p>
            <a:pPr lvl="0"/>
            <a:r>
              <a:rPr/>
              <a:t>Assumptions: similar distributions for groups, equal variance</a:t>
            </a:r>
          </a:p>
          <a:p>
            <a:pPr lvl="0"/>
            <a:r>
              <a:rPr/>
              <a:t>Less power than parametric tests</a:t>
            </a:r>
          </a:p>
          <a:p>
            <a:pPr lvl="0"/>
            <a:r>
              <a:rPr/>
              <a:t>Best when normality can’t be met by transformation (weird distribution) or there are large outliers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✅ The difference from Part 1</a:t>
            </a:r>
          </a:p>
          <a:p>
            <a:pPr lvl="0" indent="0" marL="1270000">
              <a:buNone/>
            </a:pPr>
            <a:r>
              <a:rPr sz="2000"/>
              <a:t>On the pine needles the rank test was a </a:t>
            </a:r>
            <a:r>
              <a:rPr sz="2000" b="1"/>
              <a:t>cost</a:t>
            </a:r>
            <a:r>
              <a:rPr sz="2000"/>
              <a:t> — we gave up power on data that was already well behaved.</a:t>
            </a:r>
          </a:p>
          <a:p>
            <a:pPr lvl="0" indent="0" marL="1270000">
              <a:buNone/>
            </a:pPr>
            <a:r>
              <a:rPr sz="2000"/>
              <a:t>Here, NE 12 mass is non-normal at p &lt; 2.2 × 10⁻¹⁶ and full of outliers. There is nothing to give up. </a:t>
            </a:r>
            <a:r>
              <a:rPr sz="2000" b="1"/>
              <a:t>This</a:t>
            </a:r>
            <a:r>
              <a:rPr sz="2000"/>
              <a:t> is the case the test was built for.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📖 Reference</a:t>
            </a:r>
          </a:p>
          <a:p>
            <a:pPr lvl="0" indent="0" marL="1270000">
              <a:buNone/>
            </a:pPr>
            <a:r>
              <a:rPr sz="2000"/>
              <a:t>Whitlock &amp; Schluter, Ch. 13, covers the Mann-Whitney U test and Wilcoxon signed-rank test as the standard rank-based alternatives.</a:t>
            </a:r>
          </a:p>
        </p:txBody>
      </p:sp>
    </p:spTree>
  </p:cSld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Mann-Whitney U Test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wilcox_test_result &lt;- </a:t>
            </a:r>
            <a:r>
              <a:rPr>
                <a:solidFill>
                  <a:srgbClr val="4758AB"/>
                </a:solidFill>
                <a:latin typeface="Courier"/>
              </a:rPr>
              <a:t>wilcox.test</a:t>
            </a:r>
            <a:r>
              <a:rPr>
                <a:solidFill>
                  <a:srgbClr val="003B4F"/>
                </a:solidFill>
                <a:latin typeface="Courier"/>
              </a:rPr>
              <a:t>(mass_g </a:t>
            </a:r>
            <a:r>
              <a:rPr>
                <a:solidFill>
                  <a:srgbClr val="5E5E5E"/>
                </a:solidFill>
                <a:latin typeface="Courier"/>
              </a:rPr>
              <a:t>~</a:t>
            </a:r>
            <a:r>
              <a:rPr>
                <a:solidFill>
                  <a:srgbClr val="003B4F"/>
                </a:solidFill>
                <a:latin typeface="Courier"/>
              </a:rPr>
              <a:t> lake, </a:t>
            </a:r>
            <a:r>
              <a:rPr>
                <a:solidFill>
                  <a:srgbClr val="657422"/>
                </a:solidFill>
                <a:latin typeface="Courier"/>
              </a:rPr>
              <a:t>data =</a:t>
            </a:r>
            <a:r>
              <a:rPr>
                <a:solidFill>
                  <a:srgbClr val="003B4F"/>
                </a:solidFill>
                <a:latin typeface="Courier"/>
              </a:rPr>
              <a:t> isl_ne12_df)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wilcox_test_result</a:t>
            </a:r>
          </a:p>
          <a:p>
            <a:pPr lvl="0" indent="0">
              <a:buNone/>
            </a:pPr>
            <a:r>
              <a:rPr>
                <a:latin typeface="Courier"/>
              </a:rPr>
              <a:t>
    Wilcoxon rank sum test with continuity correction
data:  mass_g by lake
W = 3205.5, p-value = 9.506e-08
alternative hypothesis: true location shift is not equal to 0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 b="1"/>
              <a:t>🖐 </a:t>
            </a:r>
            <a:r>
              <a:rPr sz="2000" b="1">
                <a:latin typeface="Courier"/>
              </a:rPr>
              <a:t>W</a:t>
            </a:r>
            <a:r>
              <a:rPr sz="2000" b="1"/>
              <a:t> again, and no “exact” this time</a:t>
            </a:r>
          </a:p>
          <a:p>
            <a:pPr lvl="0" indent="0" marL="1270000">
              <a:buNone/>
            </a:pPr>
            <a:r>
              <a:rPr sz="2000"/>
              <a:t>The statistic is </a:t>
            </a:r>
            <a:r>
              <a:rPr sz="2000">
                <a:latin typeface="Courier"/>
              </a:rPr>
              <a:t>W</a:t>
            </a:r>
            <a:r>
              <a:rPr sz="2000"/>
              <a:t>, not </a:t>
            </a:r>
            <a:r>
              <a:rPr sz="2000">
                <a:latin typeface="Courier"/>
              </a:rPr>
              <a:t>t</a:t>
            </a:r>
            <a:r>
              <a:rPr sz="2000"/>
              <a:t> — rank-based output, as in Part 1.</a:t>
            </a:r>
          </a:p>
          <a:p>
            <a:pPr lvl="0" indent="0" marL="1270000">
              <a:buNone/>
            </a:pPr>
            <a:r>
              <a:rPr sz="2000"/>
              <a:t>But notice what R </a:t>
            </a:r>
            <a:r>
              <a:rPr sz="2000" i="1"/>
              <a:t>doesn’t</a:t>
            </a:r>
            <a:r>
              <a:rPr sz="2000"/>
              <a:t> say: with 332 fish and plenty of tied masses it cannot enumerate every arrangement, so this is the </a:t>
            </a:r>
            <a:r>
              <a:rPr sz="2000" b="1"/>
              <a:t>normal approximation</a:t>
            </a:r>
            <a:r>
              <a:rPr sz="2000"/>
              <a:t>, not an exact test. At this sample size that is fine — the floor problem that crippled our four trees does not exist here.</a:t>
            </a:r>
          </a:p>
        </p:txBody>
      </p:sp>
    </p:spTree>
  </p:cSld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7 · Permutation Tests</a:t>
            </a:r>
          </a:p>
        </p:txBody>
      </p:sp>
    </p:spTree>
  </p:cSld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Permutation Tests — Concept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Permutation tests are based on resampling: reshuffling the original data</a:t>
            </a:r>
          </a:p>
          <a:p>
            <a:pPr lvl="0"/>
            <a:r>
              <a:rPr/>
              <a:t>Resampling allows parameter estimation when the distribution is unknown, including SEs and CIs of statistics (means, medians)</a:t>
            </a:r>
          </a:p>
          <a:p>
            <a:pPr lvl="0"/>
            <a:r>
              <a:rPr/>
              <a:t>A common approach is the bootstrap: resample with replacement many times, recalculate sample stats</a:t>
            </a:r>
          </a:p>
          <a:p>
            <a:pPr lvl="0"/>
            <a:r>
              <a:rPr/>
              <a:t>We use the </a:t>
            </a:r>
            <a:r>
              <a:rPr>
                <a:latin typeface="Courier"/>
              </a:rPr>
              <a:t>perm</a:t>
            </a:r>
            <a:r>
              <a:rPr/>
              <a:t> package</a:t>
            </a:r>
          </a:p>
          <a:p>
            <a:pPr lvl="0"/>
            <a:r>
              <a:rPr/>
              <a:t>H₀: µ_A = µ_B, Hₐ: µ_A ≠ µ_B</a:t>
            </a:r>
          </a:p>
          <a:p>
            <a:pPr lvl="0"/>
            <a:r>
              <a:rPr/>
              <a:t>Calculates the difference Δ in means between two groups</a:t>
            </a:r>
          </a:p>
        </p:txBody>
      </p:sp>
      <p:pic>
        <p:nvPicPr>
          <p:cNvPr descr="nonparametric_t_tests_lecture_files/figure-pptx/nonparametric-t-tests-18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1676400"/>
            <a:ext cx="2781300" cy="2438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Permutation Tests — 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Randomly reshuffle observations between groups (keeping n₍NE 12₎ = 322 and n₍Island₎ = 10), calculate Δ</a:t>
            </a:r>
          </a:p>
          <a:p>
            <a:pPr lvl="0"/>
            <a:r>
              <a:rPr/>
              <a:t>Repeat &gt; 1,000 times</a:t>
            </a:r>
          </a:p>
          <a:p>
            <a:pPr lvl="0"/>
            <a:r>
              <a:rPr/>
              <a:t>Record the proportion of the differences in means as extreme as (or more extreme than) observed</a:t>
            </a:r>
          </a:p>
          <a:p>
            <a:pPr lvl="0"/>
            <a:r>
              <a:rPr/>
              <a:t>This is equivalent to a p-value, and can be used in the “traditional” hypothesis-testing framework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 b="1"/>
              <a:t>🖐 For a graphical explanation</a:t>
            </a:r>
          </a:p>
          <a:p>
            <a:pPr lvl="0" indent="0" marL="1270000">
              <a:buNone/>
            </a:pPr>
            <a:r>
              <a:rPr sz="2000">
                <a:hlinkClick r:id="rId2"/>
              </a:rPr>
              <a:t>jwilber.me/permutationtest</a:t>
            </a:r>
          </a:p>
        </p:txBody>
      </p:sp>
    </p:spTree>
  </p:cSld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Permutation Test 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 R, using the </a:t>
            </a:r>
            <a:r>
              <a:rPr>
                <a:latin typeface="Courier"/>
              </a:rPr>
              <a:t>perm</a:t>
            </a:r>
            <a:r>
              <a:rPr/>
              <a:t> package. Assumptions: both groups have a similar distribution; equal variance.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library</a:t>
            </a:r>
            <a:r>
              <a:rPr>
                <a:solidFill>
                  <a:srgbClr val="003B4F"/>
                </a:solidFill>
                <a:latin typeface="Courier"/>
              </a:rPr>
              <a:t>(perm)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Balance the design: take 10 NE 12 fish, keep all of Island Lake</a:t>
            </a:r>
            <a:br/>
            <a:r>
              <a:rPr>
                <a:solidFill>
                  <a:srgbClr val="4758AB"/>
                </a:solidFill>
                <a:latin typeface="Courier"/>
              </a:rPr>
              <a:t>set.seed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123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perm_df &lt;- </a:t>
            </a:r>
            <a:r>
              <a:rPr>
                <a:solidFill>
                  <a:srgbClr val="4758AB"/>
                </a:solidFill>
                <a:latin typeface="Courier"/>
              </a:rPr>
              <a:t>bind_rows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isl_ne12_df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4758AB"/>
                </a:solidFill>
                <a:latin typeface="Courier"/>
              </a:rPr>
              <a:t>filter</a:t>
            </a:r>
            <a:r>
              <a:rPr>
                <a:solidFill>
                  <a:srgbClr val="003B4F"/>
                </a:solidFill>
                <a:latin typeface="Courier"/>
              </a:rPr>
              <a:t>(lake </a:t>
            </a:r>
            <a:r>
              <a:rPr>
                <a:solidFill>
                  <a:srgbClr val="5E5E5E"/>
                </a:solidFill>
                <a:latin typeface="Courier"/>
              </a:rPr>
              <a:t>==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"NE 12"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4758AB"/>
                </a:solidFill>
                <a:latin typeface="Courier"/>
              </a:rPr>
              <a:t>slice_sample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10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isl_ne12_df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4758AB"/>
                </a:solidFill>
                <a:latin typeface="Courier"/>
              </a:rPr>
              <a:t>filter</a:t>
            </a:r>
            <a:r>
              <a:rPr>
                <a:solidFill>
                  <a:srgbClr val="003B4F"/>
                </a:solidFill>
                <a:latin typeface="Courier"/>
              </a:rPr>
              <a:t>(lake </a:t>
            </a:r>
            <a:r>
              <a:rPr>
                <a:solidFill>
                  <a:srgbClr val="5E5E5E"/>
                </a:solidFill>
                <a:latin typeface="Courier"/>
              </a:rPr>
              <a:t>==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"Island Lake"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The difference the test is about</a:t>
            </a:r>
            <a:br/>
            <a:r>
              <a:rPr>
                <a:solidFill>
                  <a:srgbClr val="003B4F"/>
                </a:solidFill>
                <a:latin typeface="Courier"/>
              </a:rPr>
              <a:t>perm_df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group_by</a:t>
            </a:r>
            <a:r>
              <a:rPr>
                <a:solidFill>
                  <a:srgbClr val="003B4F"/>
                </a:solidFill>
                <a:latin typeface="Courier"/>
              </a:rPr>
              <a:t>(lake)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reframe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summary_stats</a:t>
            </a:r>
            <a:r>
              <a:rPr>
                <a:solidFill>
                  <a:srgbClr val="003B4F"/>
                </a:solidFill>
                <a:latin typeface="Courier"/>
              </a:rPr>
              <a:t>(mass_g))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2 × 7
  lake            n  mean    sd    se ci_lower ci_upper
  &lt;chr&gt;       &lt;int&gt; &lt;dbl&gt; &lt;dbl&gt; &lt;dbl&gt;    &lt;dbl&gt;    &lt;dbl&gt;
1 Island Lake    10 3165  1617.  511.    2008.    4322.
2 NE 12          10  645.  538.  170.     260.    1030.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permTS</a:t>
            </a:r>
            <a:r>
              <a:rPr>
                <a:solidFill>
                  <a:srgbClr val="003B4F"/>
                </a:solidFill>
                <a:latin typeface="Courier"/>
              </a:rPr>
              <a:t>(mass_g </a:t>
            </a:r>
            <a:r>
              <a:rPr>
                <a:solidFill>
                  <a:srgbClr val="5E5E5E"/>
                </a:solidFill>
                <a:latin typeface="Courier"/>
              </a:rPr>
              <a:t>~</a:t>
            </a:r>
            <a:r>
              <a:rPr>
                <a:solidFill>
                  <a:srgbClr val="003B4F"/>
                </a:solidFill>
                <a:latin typeface="Courier"/>
              </a:rPr>
              <a:t> lake,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</a:t>
            </a:r>
            <a:r>
              <a:rPr>
                <a:solidFill>
                  <a:srgbClr val="657422"/>
                </a:solidFill>
                <a:latin typeface="Courier"/>
              </a:rPr>
              <a:t>data =</a:t>
            </a:r>
            <a:r>
              <a:rPr>
                <a:solidFill>
                  <a:srgbClr val="003B4F"/>
                </a:solidFill>
                <a:latin typeface="Courier"/>
              </a:rPr>
              <a:t> perm_df,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</a:t>
            </a:r>
            <a:r>
              <a:rPr>
                <a:solidFill>
                  <a:srgbClr val="657422"/>
                </a:solidFill>
                <a:latin typeface="Courier"/>
              </a:rPr>
              <a:t>alternative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"two.sided"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</a:t>
            </a:r>
            <a:r>
              <a:rPr>
                <a:solidFill>
                  <a:srgbClr val="657422"/>
                </a:solidFill>
                <a:latin typeface="Courier"/>
              </a:rPr>
              <a:t>method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"exact.mc"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</a:t>
            </a:r>
            <a:r>
              <a:rPr>
                <a:solidFill>
                  <a:srgbClr val="657422"/>
                </a:solidFill>
                <a:latin typeface="Courier"/>
              </a:rPr>
              <a:t>control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permControl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nmc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10000</a:t>
            </a:r>
            <a:r>
              <a:rPr>
                <a:solidFill>
                  <a:srgbClr val="003B4F"/>
                </a:solidFill>
                <a:latin typeface="Courier"/>
              </a:rPr>
              <a:t>))</a:t>
            </a:r>
          </a:p>
          <a:p>
            <a:pPr lvl="0" indent="0">
              <a:buNone/>
            </a:pPr>
            <a:r>
              <a:rPr>
                <a:latin typeface="Courier"/>
              </a:rPr>
              <a:t>
    Exact Permutation Test Estimated by Monte Carlo
data:  mass_g by lake
p-value = 2e-04
alternative hypothesis: true mean lake=Island Lake - mean lake=NE 12 is not equal to 0
sample estimates:
mean lake=Island Lake - mean lake=NE 12 
                                 2519.9 
p-value estimated from 10000 Monte Carlo replications
99 percent confidence interval on p-value:
 0.000000000 0.001059383 </a:t>
            </a:r>
          </a:p>
        </p:txBody>
      </p:sp>
    </p:spTree>
  </p:cSld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8 · Summary</a:t>
            </a:r>
          </a:p>
        </p:txBody>
      </p:sp>
    </p:spTree>
  </p:cSld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Summary — Testing Assumptions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Key assumptions:</a:t>
            </a:r>
          </a:p>
          <a:p>
            <a:pPr lvl="0"/>
            <a:r>
              <a:rPr b="1"/>
              <a:t>Random sampling</a:t>
            </a:r>
            <a:r>
              <a:rPr/>
              <a:t> — samples are randomly collected from populations</a:t>
            </a:r>
          </a:p>
          <a:p>
            <a:pPr lvl="0"/>
            <a:r>
              <a:rPr b="1"/>
              <a:t>Normality</a:t>
            </a:r>
            <a:r>
              <a:rPr/>
              <a:t> — data follows a normal distribution</a:t>
            </a:r>
          </a:p>
          <a:p>
            <a:pPr lvl="0"/>
            <a:r>
              <a:rPr b="1"/>
              <a:t>Equal variance</a:t>
            </a:r>
            <a:r>
              <a:rPr/>
              <a:t> — samples come from populations with similar variability</a:t>
            </a:r>
          </a:p>
          <a:p>
            <a:pPr lvl="0"/>
            <a:r>
              <a:rPr b="1"/>
              <a:t>No outliers</a:t>
            </a:r>
            <a:r>
              <a:rPr/>
              <a:t> — no extreme values that can skew results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Assessing assumptions</a:t>
            </a:r>
          </a:p>
          <a:p>
            <a:pPr lvl="0"/>
            <a:r>
              <a:rPr sz="2000"/>
              <a:t>Key to do </a:t>
            </a:r>
            <a:r>
              <a:rPr sz="2000" i="1"/>
              <a:t>every time</a:t>
            </a:r>
          </a:p>
          <a:p>
            <a:pPr lvl="0"/>
            <a:r>
              <a:rPr sz="2000"/>
              <a:t>Should be acknowledged in the manuscript</a:t>
            </a:r>
          </a:p>
        </p:txBody>
      </p:sp>
    </p:spTree>
  </p:cSld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Summary — Effect Size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Always report an effect size next to your p-value.</a:t>
            </a:r>
          </a:p>
          <a:p>
            <a:pPr lvl="0"/>
            <a:r>
              <a:rPr b="1"/>
              <a:t>Cohen’s d</a:t>
            </a:r>
            <a:r>
              <a:rPr/>
              <a:t> = the difference between groups, in standard deviations — unitless, and comparable across studies</a:t>
            </a:r>
          </a:p>
          <a:p>
            <a:pPr lvl="0"/>
            <a:r>
              <a:rPr b="1"/>
              <a:t>t = d × √n</a:t>
            </a:r>
            <a:r>
              <a:rPr/>
              <a:t>, so a p-value confounds </a:t>
            </a:r>
            <a:r>
              <a:rPr i="1"/>
              <a:t>how big the effect is</a:t>
            </a:r>
            <a:r>
              <a:rPr/>
              <a:t> with </a:t>
            </a:r>
            <a:r>
              <a:rPr i="1"/>
              <a:t>how hard you looked</a:t>
            </a:r>
          </a:p>
          <a:p>
            <a:pPr lvl="0"/>
            <a:r>
              <a:rPr/>
              <a:t>A </a:t>
            </a:r>
            <a:r>
              <a:rPr b="1"/>
              <a:t>confidence interval on d</a:t>
            </a:r>
            <a:r>
              <a:rPr/>
              <a:t> says what a bare “n.s.” never can: whether you found nothing, or found something you could not pin down</a:t>
            </a:r>
          </a:p>
          <a:p>
            <a:pPr lvl="0"/>
            <a:r>
              <a:rPr/>
              <a:t>Effect size is also the input to a power analysis — next week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✅ On our four trees</a:t>
            </a:r>
          </a:p>
          <a:p>
            <a:pPr lvl="0" indent="0" marL="1270000">
              <a:buNone/>
            </a:pPr>
            <a:r>
              <a:rPr sz="2000"/>
              <a:t>Paired </a:t>
            </a:r>
            <a:r>
              <a:rPr sz="2000" b="1"/>
              <a:t>d = −1.36</a:t>
            </a:r>
            <a:r>
              <a:rPr sz="2000"/>
              <a:t>, CI [−2.74, 0.10], p = 0.072. A large effect, imprecisely measured. Reporting only “p = 0.072, n.s.” would have thrown that away.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 b="1"/>
              <a:t>🖐 In a results sentence</a:t>
            </a:r>
          </a:p>
          <a:p>
            <a:pPr lvl="0" indent="0" marL="1270000">
              <a:buNone/>
            </a:pPr>
            <a:r>
              <a:rPr sz="2000"/>
              <a:t>Needles on the shady side were 1.09 mm shorter than on the sunny side (paired </a:t>
            </a:r>
            <a:r>
              <a:rPr sz="2000" i="1"/>
              <a:t>t</a:t>
            </a:r>
            <a:r>
              <a:rPr sz="2000"/>
              <a:t>₃ = −2.72, </a:t>
            </a:r>
            <a:r>
              <a:rPr sz="2000" i="1"/>
              <a:t>p</a:t>
            </a:r>
            <a:r>
              <a:rPr sz="2000"/>
              <a:t> = 0.072, </a:t>
            </a:r>
            <a:r>
              <a:rPr sz="2000" i="1"/>
              <a:t>d</a:t>
            </a:r>
            <a:r>
              <a:rPr sz="2000"/>
              <a:t> = −1.36, 95% CI [−2.74, 0.10]).</a:t>
            </a:r>
          </a:p>
          <a:p>
            <a:pPr lvl="0" indent="0" marL="1270000">
              <a:buNone/>
            </a:pPr>
            <a:r>
              <a:rPr sz="2000"/>
              <a:t>Every number there does work the others cannot.</a:t>
            </a:r>
          </a:p>
        </p:txBody>
      </p:sp>
    </p:spTree>
  </p:cSld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Summary — Data Transformations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When assumptions aren’t met, transformations may help normalize data:</a:t>
            </a:r>
          </a:p>
          <a:p>
            <a:pPr lvl="0"/>
            <a:r>
              <a:rPr b="1"/>
              <a:t>Log transformation:</a:t>
            </a:r>
            <a:r>
              <a:rPr/>
              <a:t> </a:t>
            </a:r>
            <a:r>
              <a:rPr>
                <a:latin typeface="Courier"/>
              </a:rPr>
              <a:t>log10(x)</a:t>
            </a:r>
            <a:r>
              <a:rPr/>
              <a:t> — useful for right-skewed data, multiplicative effects</a:t>
            </a:r>
          </a:p>
          <a:p>
            <a:pPr lvl="0"/>
            <a:r>
              <a:rPr b="1"/>
              <a:t>Square root:</a:t>
            </a:r>
            <a:r>
              <a:rPr/>
              <a:t> </a:t>
            </a:r>
            <a:r>
              <a:rPr>
                <a:latin typeface="Courier"/>
              </a:rPr>
              <a:t>sqrt(x)</a:t>
            </a:r>
            <a:r>
              <a:rPr/>
              <a:t> — useful for count data, moderately right-skewed distributions</a:t>
            </a:r>
          </a:p>
          <a:p>
            <a:pPr lvl="0"/>
            <a:r>
              <a:rPr b="1"/>
              <a:t>Box-Cox:</a:t>
            </a:r>
            <a:r>
              <a:rPr/>
              <a:t> a more flexible family of power transformations</a:t>
            </a:r>
          </a:p>
          <a:p>
            <a:pPr lvl="0"/>
            <a:r>
              <a:rPr/>
              <a:t>More specialized transformations exist, especially for percentages or proportions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 b="1"/>
              <a:t>🖐 Recall</a:t>
            </a:r>
          </a:p>
          <a:p>
            <a:pPr lvl="0" indent="0" marL="1270000">
              <a:buNone/>
            </a:pPr>
            <a:r>
              <a:rPr sz="2000"/>
              <a:t>We saw </a:t>
            </a:r>
            <a:r>
              <a:rPr sz="2000">
                <a:latin typeface="Courier"/>
              </a:rPr>
              <a:t>log10()</a:t>
            </a:r>
            <a:r>
              <a:rPr sz="2000"/>
              <a:t> shrink the gap between the NE 12 and Island Lake boxplots earlier — that’s the transformation working.</a:t>
            </a:r>
          </a:p>
        </p:txBody>
      </p:sp>
    </p:spTree>
  </p:cSld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Summary — Parametric Test Options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1. Standard t-test</a:t>
            </a:r>
          </a:p>
          <a:p>
            <a:pPr lvl="0" indent="0" marL="0">
              <a:buNone/>
            </a:pPr>
            <a:r>
              <a:rPr/>
              <a:t>Strengths:</a:t>
            </a:r>
          </a:p>
          <a:p>
            <a:pPr lvl="0"/>
            <a:r>
              <a:rPr/>
              <a:t>High statistical power when assumptions are met</a:t>
            </a:r>
          </a:p>
          <a:p>
            <a:pPr lvl="0"/>
            <a:r>
              <a:rPr/>
              <a:t>Well understood and widely accepted</a:t>
            </a:r>
          </a:p>
          <a:p>
            <a:pPr lvl="0" indent="0" marL="0">
              <a:buNone/>
            </a:pPr>
            <a:r>
              <a:rPr/>
              <a:t>Weaknesses:</a:t>
            </a:r>
          </a:p>
          <a:p>
            <a:pPr lvl="0"/>
            <a:r>
              <a:rPr/>
              <a:t>Sensitive to violations of normality, equal variance</a:t>
            </a:r>
          </a:p>
          <a:p>
            <a:pPr lvl="0"/>
            <a:r>
              <a:rPr/>
              <a:t>Heavily influenced by outliers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2. Welch’s t-test</a:t>
            </a:r>
          </a:p>
          <a:p>
            <a:pPr lvl="0" indent="0" marL="0">
              <a:buNone/>
            </a:pPr>
            <a:r>
              <a:rPr/>
              <a:t>Covered in full in the </a:t>
            </a:r>
            <a:r>
              <a:rPr b="1"/>
              <a:t>T-Tests</a:t>
            </a:r>
            <a:r>
              <a:rPr/>
              <a:t> lecture; the one-slide refresher in Part 5 is all we needed today.</a:t>
            </a:r>
          </a:p>
          <a:p>
            <a:pPr lvl="0"/>
            <a:r>
              <a:rPr/>
              <a:t>Robust to unequal variances </a:t>
            </a:r>
            <a:r>
              <a:rPr b="1"/>
              <a:t>and</a:t>
            </a:r>
            <a:r>
              <a:rPr/>
              <a:t> unequal n — which is exactly our NE 12 vs. Island Lake case</a:t>
            </a:r>
          </a:p>
          <a:p>
            <a:pPr lvl="0"/>
            <a:r>
              <a:rPr/>
              <a:t>Still </a:t>
            </a:r>
            <a:r>
              <a:rPr b="1"/>
              <a:t>parametric</a:t>
            </a:r>
            <a:r>
              <a:rPr/>
              <a:t>: it fixes the variance assumption, not the normality one</a:t>
            </a:r>
          </a:p>
          <a:p>
            <a:pPr lvl="0"/>
            <a:r>
              <a:rPr/>
              <a:t>Costs almost nothing when variances really are equal, so it is a safe default</a:t>
            </a:r>
          </a:p>
          <a:p>
            <a:pPr lvl="0"/>
            <a:r>
              <a:rPr/>
              <a:t>On these data it moved df from </a:t>
            </a:r>
            <a:r>
              <a:rPr b="1"/>
              <a:t>330 to 9.06</a:t>
            </a:r>
            <a:r>
              <a:rPr/>
              <a:t> — that is the whole story</a:t>
            </a:r>
          </a:p>
        </p:txBody>
      </p:sp>
    </p:spTree>
  </p:cSld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Summary — Non-Parametric Options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3. Mann-Whitney-Wilcoxon test</a:t>
            </a:r>
          </a:p>
          <a:p>
            <a:pPr lvl="0" indent="0" marL="0">
              <a:buNone/>
            </a:pPr>
            <a:r>
              <a:rPr/>
              <a:t>Strengths:</a:t>
            </a:r>
          </a:p>
          <a:p>
            <a:pPr lvl="0"/>
            <a:r>
              <a:rPr/>
              <a:t>Non-parametric: doesn’t assume normal distribution</a:t>
            </a:r>
          </a:p>
          <a:p>
            <a:pPr lvl="0"/>
            <a:r>
              <a:rPr/>
              <a:t>Robust against outliers</a:t>
            </a:r>
          </a:p>
          <a:p>
            <a:pPr lvl="0"/>
            <a:r>
              <a:rPr/>
              <a:t>Works with ordinal data</a:t>
            </a:r>
          </a:p>
          <a:p>
            <a:pPr lvl="0" indent="0" marL="0">
              <a:buNone/>
            </a:pPr>
            <a:r>
              <a:rPr/>
              <a:t>Weaknesses:</a:t>
            </a:r>
          </a:p>
          <a:p>
            <a:pPr lvl="0"/>
            <a:r>
              <a:rPr/>
              <a:t>Less statistical power than parametric tests</a:t>
            </a:r>
          </a:p>
          <a:p>
            <a:pPr lvl="0"/>
            <a:r>
              <a:rPr/>
              <a:t>Still assumes similar distributions and approximately equal variance</a:t>
            </a:r>
          </a:p>
          <a:p>
            <a:pPr lvl="0"/>
            <a:r>
              <a:rPr/>
              <a:t>Tests median differences rather than mean differences</a:t>
            </a:r>
          </a:p>
          <a:p>
            <a:pPr lvl="0"/>
            <a:r>
              <a:rPr b="1"/>
              <a:t>At small n there is a hard floor on the p-value</a:t>
            </a:r>
            <a:r>
              <a:rPr/>
              <a:t> — with 4 pairs a signed-rank test cannot go below 0.125 (see Part 1)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4. Permutation tests</a:t>
            </a:r>
          </a:p>
          <a:p>
            <a:pPr lvl="0" indent="0" marL="0">
              <a:buNone/>
            </a:pPr>
            <a:r>
              <a:rPr/>
              <a:t>Strengths:</a:t>
            </a:r>
          </a:p>
          <a:p>
            <a:pPr lvl="0"/>
            <a:r>
              <a:rPr/>
              <a:t>Distribution-free: doesn’t assume a specific distribution</a:t>
            </a:r>
          </a:p>
          <a:p>
            <a:pPr lvl="0"/>
            <a:r>
              <a:rPr/>
              <a:t>Can be applied to many types of test statistics</a:t>
            </a:r>
          </a:p>
          <a:p>
            <a:pPr lvl="0"/>
            <a:r>
              <a:rPr/>
              <a:t>Valid at small n — the p-value is exact, not an approximation</a:t>
            </a:r>
          </a:p>
          <a:p>
            <a:pPr lvl="0"/>
            <a:r>
              <a:rPr/>
              <a:t>Directly estimates p-values through resampling</a:t>
            </a:r>
          </a:p>
          <a:p>
            <a:pPr lvl="0" indent="0" marL="0">
              <a:buNone/>
            </a:pPr>
            <a:r>
              <a:rPr/>
              <a:t>Weaknesses:</a:t>
            </a:r>
          </a:p>
          <a:p>
            <a:pPr lvl="0"/>
            <a:r>
              <a:rPr/>
              <a:t>Computationally intensive</a:t>
            </a:r>
          </a:p>
          <a:p>
            <a:pPr lvl="0"/>
            <a:r>
              <a:rPr/>
              <a:t>Assumes exchangeability under the null hypothesis</a:t>
            </a:r>
          </a:p>
          <a:p>
            <a:pPr lvl="0"/>
            <a:r>
              <a:rPr/>
              <a:t>Requires similar distributions and equal variance</a:t>
            </a:r>
          </a:p>
          <a:p>
            <a:pPr lvl="0"/>
            <a:r>
              <a:rPr b="1"/>
              <a:t>Hits the same small-n floor as the rank tests</a:t>
            </a:r>
            <a:r>
              <a:rPr/>
              <a:t> — being exact is not the same as being powerful, because there are only so many ways to rearrange 8 numbers</a:t>
            </a:r>
          </a:p>
        </p:txBody>
      </p:sp>
    </p:spTree>
  </p:cSld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Key Takeaway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Statistical tests have different strengths and assumptions. The choice should be guided by your data’s characteristics, not just convenience.</a:t>
            </a:r>
          </a:p>
          <a:p>
            <a:pPr lvl="0" indent="0" marL="0">
              <a:buNone/>
            </a:pPr>
            <a:r>
              <a:rPr b="1"/>
              <a:t>Always visualize your data before deciding on the appropriate test.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✅ Key idea</a:t>
            </a:r>
          </a:p>
          <a:p>
            <a:pPr lvl="0" indent="0" marL="1270000">
              <a:buNone/>
            </a:pPr>
            <a:r>
              <a:rPr sz="2000"/>
              <a:t>Standard t-test → Welch’s → Mann-Whitney/Permutation isn’t a strict ladder of “better” tests — each answers a slightly different question (means vs. medians) under different assumptions. Pick based on what your data actually looks like.</a:t>
            </a:r>
          </a:p>
        </p:txBody>
      </p:sp>
    </p:spTree>
  </p:cSld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Looking Ahead — The Take-Home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Part 8 of the worksheet (sagebrush crickets, due before Study Design &amp; Sampling) hands you a new dataset and asks </a:t>
            </a:r>
            <a:r>
              <a:rPr b="1"/>
              <a:t>you</a:t>
            </a:r>
            <a:r>
              <a:rPr/>
              <a:t> to run the whole decision process from today:</a:t>
            </a:r>
          </a:p>
          <a:p>
            <a:pPr lvl="0" indent="-342900" marL="342900">
              <a:buAutoNum type="arabicPeriod"/>
            </a:pPr>
            <a:r>
              <a:rPr/>
              <a:t>Check normality and equal variance on the raw data</a:t>
            </a:r>
          </a:p>
          <a:p>
            <a:pPr lvl="0" indent="-342900" marL="342900">
              <a:buAutoNum type="arabicPeriod"/>
            </a:pPr>
            <a:r>
              <a:rPr/>
              <a:t>Try a transformation if the raw data doesn’t pass</a:t>
            </a:r>
          </a:p>
          <a:p>
            <a:pPr lvl="0" indent="-342900" marL="342900">
              <a:buAutoNum type="arabicPeriod"/>
            </a:pPr>
            <a:r>
              <a:rPr/>
              <a:t>Check normality and equal variance </a:t>
            </a:r>
            <a:r>
              <a:rPr b="1"/>
              <a:t>again</a:t>
            </a:r>
            <a:r>
              <a:rPr/>
              <a:t>, on the transformed data — don’t assume it worked</a:t>
            </a:r>
          </a:p>
          <a:p>
            <a:pPr lvl="0" indent="-342900" marL="342900">
              <a:buAutoNum type="arabicPeriod"/>
            </a:pPr>
            <a:r>
              <a:rPr/>
              <a:t>Pick a test, justify the pick, and report it properly</a:t>
            </a:r>
          </a:p>
          <a:p>
            <a:pPr lvl="0" indent="0" marL="0">
              <a:buNone/>
            </a:pPr>
            <a:r>
              <a:rPr/>
              <a:t>There is no lecture slide that tells you the answer this time.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 b="1"/>
              <a:t>🖐 Remember from today</a:t>
            </a:r>
          </a:p>
          <a:p>
            <a:pPr lvl="0" indent="0" marL="1270000">
              <a:buNone/>
            </a:pPr>
            <a:r>
              <a:rPr sz="2000">
                <a:latin typeface="Courier"/>
              </a:rPr>
              <a:t>log10()</a:t>
            </a:r>
            <a:r>
              <a:rPr sz="2000"/>
              <a:t> fixed normality for the lake trout but </a:t>
            </a:r>
            <a:r>
              <a:rPr sz="2000" b="1"/>
              <a:t>not</a:t>
            </a:r>
            <a:r>
              <a:rPr sz="2000"/>
              <a:t> equal variance. Expect the crickets to behave similarly — a transformation earning partial credit is a completely normal outcome, not a sign you did something wrong.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46</Words>
  <Application>Microsoft Macintosh PowerPoint</Application>
  <PresentationFormat>On-screen Show (16:9)</PresentationFormat>
  <Paragraphs>14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Lecture: Non-Parametric T-Tests</dc:title>
  <dc:creator>Bill Perry</dc:creator>
  <cp:keywords/>
  <dc:description>Rank-based tests on our own pine needle data — where the assumptions hold and the tests cost us power — then lake trout mass, where the assumptions genuinely fail and robust, rank-based, and permutation tests earn their keep.</dc:description>
  <dcterms:created xsi:type="dcterms:W3CDTF">2026-10-19T18:24:15Z</dcterms:created>
  <dcterms:modified xsi:type="dcterms:W3CDTF">2026-10-19T18:24:15Z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categories">
    <vt:lpwstr/>
  </property>
  <property fmtid="{D5CDD505-2E9C-101B-9397-08002B2CF9AE}" pid="6" name="execute">
    <vt:lpwstr/>
  </property>
  <property fmtid="{D5CDD505-2E9C-101B-9397-08002B2CF9AE}" pid="7" name="format">
    <vt:lpwstr/>
  </property>
  <property fmtid="{D5CDD505-2E9C-101B-9397-08002B2CF9AE}" pid="8" name="header-includes">
    <vt:lpwstr/>
  </property>
  <property fmtid="{D5CDD505-2E9C-101B-9397-08002B2CF9AE}" pid="9" name="include-after">
    <vt:lpwstr/>
  </property>
  <property fmtid="{D5CDD505-2E9C-101B-9397-08002B2CF9AE}" pid="10" name="include-before">
    <vt:lpwstr/>
  </property>
  <property fmtid="{D5CDD505-2E9C-101B-9397-08002B2CF9AE}" pid="11" name="knitr">
    <vt:lpwstr/>
  </property>
  <property fmtid="{D5CDD505-2E9C-101B-9397-08002B2CF9AE}" pid="12" name="labels">
    <vt:lpwstr/>
  </property>
  <property fmtid="{D5CDD505-2E9C-101B-9397-08002B2CF9AE}" pid="13" name="order">
    <vt:lpwstr>7</vt:lpwstr>
  </property>
  <property fmtid="{D5CDD505-2E9C-101B-9397-08002B2CF9AE}" pid="14" name="resources">
    <vt:lpwstr/>
  </property>
  <property fmtid="{D5CDD505-2E9C-101B-9397-08002B2CF9AE}" pid="15" name="subtitle">
    <vt:lpwstr>Rank-based tests</vt:lpwstr>
  </property>
  <property fmtid="{D5CDD505-2E9C-101B-9397-08002B2CF9AE}" pid="16" name="toc-title">
    <vt:lpwstr>Table of contents</vt:lpwstr>
  </property>
  <property fmtid="{D5CDD505-2E9C-101B-9397-08002B2CF9AE}" pid="17" name="week">
    <vt:lpwstr>4</vt:lpwstr>
  </property>
</Properties>
</file>