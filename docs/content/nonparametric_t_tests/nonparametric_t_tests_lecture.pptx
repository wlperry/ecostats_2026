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One-sample, two-sample, and </a:t>
            </a:r>
            <a:r>
              <a:rPr b="1"/>
              <a:t>paired</a:t>
            </a:r>
            <a:r>
              <a:rPr/>
              <a:t> t-tests — and how much more the paired test got out of the same four trees</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nonparametric-t-tests-0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nonparametric-t-tests-0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nonparametric-t-tests-0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nonparametric-t-tests-0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nonparametric-t-tests-0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nonparametric-t-tests-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5b · Back to Our Pine Needles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question, the non-parametric way</a:t>
            </a:r>
          </a:p>
        </p:txBody>
      </p:sp>
      <p:sp>
        <p:nvSpPr>
          <p:cNvPr id="3" name="Content Placeholder 2"/>
          <p:cNvSpPr>
            <a:spLocks noGrp="1"/>
          </p:cNvSpPr>
          <p:nvPr>
            <p:ph idx="1" sz="half"/>
          </p:nvPr>
        </p:nvSpPr>
        <p:spPr/>
        <p:txBody>
          <a:bodyPr/>
          <a:lstStyle/>
          <a:p>
            <a:pPr lvl="0" indent="0" marL="0">
              <a:buNone/>
            </a:pPr>
            <a:r>
              <a:rPr/>
              <a:t>Last week we tested our own needle data two ways. Let’s run the rank-based versions of </a:t>
            </a:r>
            <a:r>
              <a:rPr b="1"/>
              <a:t>exactly the same two comparisons</a:t>
            </a:r>
            <a:r>
              <a:rPr/>
              <a:t> and see what changes.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same two-stage summary as last week: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p_wide_df</a:t>
            </a:r>
          </a:p>
          <a:p>
            <a:pPr lvl="0" indent="0">
              <a:buNone/>
            </a:pPr>
            <a:r>
              <a:rPr>
                <a:latin typeface="Courier"/>
              </a:rPr>
              <a:t># A tibble: 4 × 3
  team       shady sunny
  &lt;chr&gt;      &lt;dbl&gt; &lt;dbl&gt;
1 botany      16.1  17.3
2 grace_jace  15.4  15.5
3 one         13.2  14.2
4 waterbugs   11.7  13.8</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Reminder</a:t>
            </a:r>
          </a:p>
          <a:p>
            <a:pPr lvl="0" indent="0" marL="1270000">
              <a:buNone/>
            </a:pPr>
            <a:r>
              <a:rPr sz="2000"/>
              <a:t>4 teams, 4 trees, both sides of each tree. The data are </a:t>
            </a:r>
            <a:r>
              <a:rPr sz="2000" b="1"/>
              <a:t>paired</a:t>
            </a:r>
            <a:r>
              <a:rPr sz="2000"/>
              <a:t> by design.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Running both rank-based tests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Unpaired: Mann-Whitney U  (the t-test's two-sample partner)</a:t>
            </a:r>
            <a:br/>
            <a:r>
              <a:rPr>
                <a:solidFill>
                  <a:srgbClr val="4758AB"/>
                </a:solidFill>
                <a:latin typeface="Courier"/>
              </a:rPr>
              <a:t>wilcox.test</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p>
          <a:p>
            <a:pPr lvl="0" indent="0">
              <a:buNone/>
            </a:pPr>
            <a:r>
              <a:rPr>
                <a:latin typeface="Courier"/>
              </a:rPr>
              <a:t>
    Wilcoxon rank sum exact test
data:  needle_length_mm by side
W = 5, p-value = 0.4857
alternative hypothesis: true location shift is not equal to 0</a:t>
            </a:r>
          </a:p>
          <a:p>
            <a:pPr lvl="0" indent="0">
              <a:buNone/>
            </a:pPr>
            <a:r>
              <a:rPr>
                <a:solidFill>
                  <a:srgbClr val="5E5E5E"/>
                </a:solidFill>
                <a:latin typeface="Courier"/>
              </a:rPr>
              <a:t># Paired: Wilcoxon signed-rank  (the paired t-test's partner)</a:t>
            </a:r>
            <a:br/>
            <a:r>
              <a:rPr>
                <a:solidFill>
                  <a:srgbClr val="4758AB"/>
                </a:solidFill>
                <a:latin typeface="Courier"/>
              </a:rPr>
              <a:t>wilcox.test</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
    Wilcoxon signed rank exact test
data:  p_wide_df$shady and p_wide_df$sunny
V = 0, p-value = 0.125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 </a:t>
            </a:r>
            <a:r>
              <a:rPr sz="2000" b="1">
                <a:latin typeface="Courier"/>
              </a:rPr>
              <a:t>V = 0</a:t>
            </a:r>
          </a:p>
          <a:p>
            <a:pPr lvl="0" indent="0" marL="1270000">
              <a:buNone/>
            </a:pPr>
            <a:r>
              <a:rPr sz="2000"/>
              <a:t>The signed-rank statistic is </a:t>
            </a:r>
            <a:r>
              <a:rPr sz="2000" b="1"/>
              <a:t>zero</a:t>
            </a:r>
            <a:r>
              <a:rPr sz="2000"/>
              <a:t> — meaning </a:t>
            </a:r>
            <a:r>
              <a:rPr sz="2000" i="1"/>
              <a:t>every single tree</a:t>
            </a:r>
            <a:r>
              <a:rPr sz="2000"/>
              <a:t> moved in the same direction. There is no arrangement of these four trees that would look more consistent.</a:t>
            </a:r>
          </a:p>
          <a:p>
            <a:pPr lvl="0" indent="0" marL="1270000">
              <a:buNone/>
            </a:pPr>
            <a:r>
              <a:rPr sz="2000"/>
              <a:t>Notice too that R says </a:t>
            </a:r>
            <a:r>
              <a:rPr sz="2000" b="1"/>
              <a:t>“exact test”</a:t>
            </a:r>
            <a:r>
              <a:rPr sz="2000"/>
              <a:t> for both. With no tied values it enumerates every possible arrangement rather than approximating. Hold on to that word — the next slide explains why it matters.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answer, less power</a:t>
            </a:r>
          </a:p>
        </p:txBody>
      </p:sp>
      <p:graphicFrame>
        <p:nvGraphicFramePr>
          <p:cNvPr id="6" name="Content Placeholder 5"/>
          <p:cNvGraphicFramePr>
            <a:graphicFrameLocks noGrp="1"/>
          </p:cNvGraphicFramePr>
          <p:nvPr>
            <p:ph idx="1"/>
          </p:nvPr>
        </p:nvGraphicFramePr>
        <p:xfrm>
          <a:off x="0" y="660400"/>
          <a:ext cx="6007100" cy="4470400"/>
        </p:xfrm>
        <a:graphic>
          <a:graphicData uri="http://schemas.openxmlformats.org/drawingml/2006/table">
            <a:tbl>
              <a:tblPr firstRow="1" bandRow="1">
                <a:tableStyleId>{5C22544A-7EE6-4342-B048-85BDC9FD1C3A}</a:tableStyleId>
              </a:tblPr>
              <a:tblGrid>
                <a:gridCol w="2006600"/>
                <a:gridCol w="2006600"/>
                <a:gridCol w="2006600"/>
              </a:tblGrid>
              <a:tr h="0">
                <a:tc>
                  <a:txBody>
                    <a:bodyPr/>
                    <a:lstStyle/>
                    <a:p>
                      <a:pPr lvl="0" indent="0" marL="0">
                        <a:buNone/>
                      </a:pPr>
                      <a:r>
                        <a:rPr/>
                        <a:t>Comparison</a:t>
                      </a:r>
                    </a:p>
                  </a:txBody>
                  <a:tcPr/>
                </a:tc>
                <a:tc>
                  <a:txBody>
                    <a:bodyPr/>
                    <a:lstStyle/>
                    <a:p>
                      <a:pPr lvl="0" indent="0" marL="0">
                        <a:buNone/>
                      </a:pPr>
                      <a:r>
                        <a:rPr/>
                        <a:t>Parametric</a:t>
                      </a:r>
                    </a:p>
                  </a:txBody>
                  <a:tcPr/>
                </a:tc>
                <a:tc>
                  <a:txBody>
                    <a:bodyPr/>
                    <a:lstStyle/>
                    <a:p>
                      <a:pPr lvl="0" indent="0" marL="0">
                        <a:buNone/>
                      </a:pPr>
                      <a:r>
                        <a:rPr/>
                        <a:t>Non-parametric</a:t>
                      </a:r>
                    </a:p>
                  </a:txBody>
                  <a:tcPr/>
                </a:tc>
              </a:tr>
              <a:tr h="0">
                <a:tc>
                  <a:txBody>
                    <a:bodyPr/>
                    <a:lstStyle/>
                    <a:p>
                      <a:pPr lvl="0" indent="0" marL="0">
                        <a:buNone/>
                      </a:pPr>
                      <a:r>
                        <a:rPr/>
                        <a:t>Unpaired (2 groups)</a:t>
                      </a:r>
                    </a:p>
                  </a:txBody>
                </a:tc>
                <a:tc>
                  <a:txBody>
                    <a:bodyPr/>
                    <a:lstStyle/>
                    <a:p>
                      <a:pPr lvl="0" indent="0" marL="0">
                        <a:buNone/>
                      </a:pPr>
                      <a:r>
                        <a:rPr/>
                        <a:t>t-test </a:t>
                      </a:r>
                      <a:r>
                        <a:rPr b="1"/>
                        <a:t>p = 0.425</a:t>
                      </a:r>
                    </a:p>
                  </a:txBody>
                </a:tc>
                <a:tc>
                  <a:txBody>
                    <a:bodyPr/>
                    <a:lstStyle/>
                    <a:p>
                      <a:pPr lvl="0" indent="0" marL="0">
                        <a:buNone/>
                      </a:pPr>
                      <a:r>
                        <a:rPr/>
                        <a:t>Mann-Whitney </a:t>
                      </a:r>
                      <a:r>
                        <a:rPr b="1"/>
                        <a:t>p = 0.486</a:t>
                      </a:r>
                    </a:p>
                  </a:txBody>
                </a:tc>
              </a:tr>
              <a:tr h="0">
                <a:tc>
                  <a:txBody>
                    <a:bodyPr/>
                    <a:lstStyle/>
                    <a:p>
                      <a:pPr lvl="0" indent="0" marL="0">
                        <a:buNone/>
                      </a:pPr>
                      <a:r>
                        <a:rPr/>
                        <a:t>Paired (4 trees)</a:t>
                      </a:r>
                    </a:p>
                  </a:txBody>
                </a:tc>
                <a:tc>
                  <a:txBody>
                    <a:bodyPr/>
                    <a:lstStyle/>
                    <a:p>
                      <a:pPr lvl="0" indent="0" marL="0">
                        <a:buNone/>
                      </a:pPr>
                      <a:r>
                        <a:rPr/>
                        <a:t>paired t </a:t>
                      </a:r>
                      <a:r>
                        <a:rPr b="1"/>
                        <a:t>p = 0.072</a:t>
                      </a:r>
                    </a:p>
                  </a:txBody>
                </a:tc>
                <a:tc>
                  <a:txBody>
                    <a:bodyPr/>
                    <a:lstStyle/>
                    <a:p>
                      <a:pPr lvl="0" indent="0" marL="0">
                        <a:buNone/>
                      </a:pPr>
                      <a:r>
                        <a:rPr/>
                        <a:t>signed-rank </a:t>
                      </a:r>
                      <a:r>
                        <a:rPr b="1"/>
                        <a:t>p = 0.125</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At n = 4, the signed-rank test hits a wall</a:t>
            </a:r>
          </a:p>
          <a:p>
            <a:pPr lvl="0" indent="0" marL="1270000">
              <a:buNone/>
            </a:pPr>
            <a:r>
              <a:rPr sz="2000"/>
              <a:t>With 4 pairs there are only 2⁴ = </a:t>
            </a:r>
            <a:r>
              <a:rPr sz="2000" b="1"/>
              <a:t>16</a:t>
            </a:r>
            <a:r>
              <a:rPr sz="2000"/>
              <a:t> possible arrangements of plus and minus signs. The most extreme possible result — all four the same way, which is exactly what we got — has a two-sided p of 2/16 = </a:t>
            </a:r>
            <a:r>
              <a:rPr sz="2000" b="1"/>
              <a:t>0.125</a:t>
            </a:r>
            <a:r>
              <a:rPr sz="2000"/>
              <a:t>.</a:t>
            </a:r>
          </a:p>
          <a:p>
            <a:pPr lvl="0" indent="0" marL="1270000">
              <a:buNone/>
            </a:pPr>
            <a:r>
              <a:rPr sz="2000"/>
              <a:t>So with four trees, a Wilcoxon signed-rank test </a:t>
            </a:r>
            <a:r>
              <a:rPr sz="2000" b="1"/>
              <a:t>can never return a p-value below 0.125</a:t>
            </a:r>
            <a:r>
              <a:rPr sz="2000"/>
              <a:t>, no matter how enormous the effect.</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 smallest possible two-sided p, 4 pairs</a:t>
            </a:r>
          </a:p>
          <a:p>
            <a:pPr lvl="0" indent="0">
              <a:buNone/>
            </a:pPr>
            <a:r>
              <a:rPr sz="2000">
                <a:latin typeface="Courier"/>
              </a:rPr>
              <a:t>[1] 0.125</a:t>
            </a:r>
          </a:p>
          <a:p>
            <a:pPr lvl="0" indent="0" marL="1270000">
              <a:buNone/>
            </a:pPr>
            <a:r>
              <a:rPr sz="2000"/>
              <a:t>The test did not fail to find our effect. It was </a:t>
            </a:r>
            <a:r>
              <a:rPr sz="2000" b="1"/>
              <a:t>arithmetically incapable</a:t>
            </a:r>
            <a:r>
              <a:rPr sz="2000"/>
              <a:t> of declaring it significant.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that means in practice</a:t>
            </a:r>
          </a:p>
        </p:txBody>
      </p:sp>
      <p:sp>
        <p:nvSpPr>
          <p:cNvPr id="3" name="Content Placeholder 2"/>
          <p:cNvSpPr>
            <a:spLocks noGrp="1"/>
          </p:cNvSpPr>
          <p:nvPr>
            <p:ph idx="1" sz="half"/>
          </p:nvPr>
        </p:nvSpPr>
        <p:spPr/>
        <p:txBody>
          <a:bodyPr/>
          <a:lstStyle/>
          <a:p>
            <a:pPr lvl="0"/>
            <a:r>
              <a:rPr/>
              <a:t>Non-parametric tests are the right call when normality is genuinely broken and cannot be fixed</a:t>
            </a:r>
          </a:p>
          <a:p>
            <a:pPr lvl="0"/>
            <a:r>
              <a:rPr/>
              <a:t>But they are </a:t>
            </a:r>
            <a:r>
              <a:rPr b="1"/>
              <a:t>not free</a:t>
            </a:r>
            <a:r>
              <a:rPr/>
              <a:t>, and they are </a:t>
            </a:r>
            <a:r>
              <a:rPr b="1"/>
              <a:t>not a safe default</a:t>
            </a:r>
          </a:p>
          <a:p>
            <a:pPr lvl="0"/>
            <a:r>
              <a:rPr/>
              <a:t>At small n they can be so blunt that no result could ever reach significance — check the floor </a:t>
            </a:r>
            <a:r>
              <a:rPr b="1"/>
              <a:t>before</a:t>
            </a:r>
            <a:r>
              <a:rPr/>
              <a:t> you run one</a:t>
            </a:r>
          </a:p>
          <a:p>
            <a:pPr lvl="0" indent="0" marL="1270000">
              <a:buNone/>
            </a:pPr>
            <a:r>
              <a:rPr sz="2000" b="1"/>
              <a:t>Note</a:t>
            </a:r>
          </a:p>
          <a:p>
            <a:pPr lvl="0" indent="0" marL="1270000">
              <a:buNone/>
            </a:pPr>
            <a:r>
              <a:rPr sz="2000" b="1"/>
              <a:t>✅ Key idea</a:t>
            </a:r>
          </a:p>
          <a:p>
            <a:pPr lvl="0" indent="0" marL="1270000">
              <a:buNone/>
            </a:pPr>
            <a:r>
              <a:rPr sz="2000"/>
              <a:t>Choose the test that matches your data’s distribution, not the one that feels safest. For our four trees, the </a:t>
            </a:r>
            <a:r>
              <a:rPr sz="2000" i="1"/>
              <a:t>parametric</a:t>
            </a:r>
            <a:r>
              <a:rPr sz="2000"/>
              <a:t> paired t-test — whose assumptions we checked and could not reject — is the more honest and more informative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How many pairs would you need before a signed-rank test could reach p &lt; 0.05?</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 5 pairs</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5E5E5E"/>
                </a:solidFill>
                <a:latin typeface="Courier"/>
              </a:rPr>
              <a:t># 6 pairs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nonparametric-t-tests-1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5E5E5E"/>
                </a:solidFill>
                <a:latin typeface="Courier"/>
              </a:rPr>
              <a:t># Balance the design: take 25 NE 12 fish, keep all of Island Lake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perm_df &lt;- </a:t>
            </a:r>
            <a:r>
              <a:rPr>
                <a:solidFill>
                  <a:srgbClr val="4758AB"/>
                </a:solidFill>
                <a:latin typeface="Courier"/>
              </a:rPr>
              <a:t>bind_rows</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The difference the test is about</a:t>
            </a:r>
            <a:br/>
            <a:r>
              <a:rPr>
                <a:solidFill>
                  <a:srgbClr val="003B4F"/>
                </a:solidFill>
                <a:latin typeface="Courier"/>
              </a:rPr>
              <a:t>perm_df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mean_mm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 A tibble: 2 × 3
  lake            n mean_mm
  &lt;chr&gt;       &lt;int&gt;   &lt;dbl&gt;
1 Island Lake    10    698.
2 NE 12          25    365.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(length_mm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perm_df,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length_mm by lake
p-value = 2e-04
alternative hypothesis: true mean lake=Island Lake - mean lake=NE 12 is not equal to 0
sample estimates:
mean lake=Island Lake - mean lake=NE 12 
                                 333.08 
p-value estimated from 10000 Monte Carlo replications
99 percent confidence interval on p-value:
 0.000000000 0.001059383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a:p>
            <a:pPr lvl="0"/>
            <a:r>
              <a:rPr b="1"/>
              <a:t>At small n there is a hard floor on the p-value</a:t>
            </a:r>
            <a:r>
              <a:rPr/>
              <a:t> — with 4 pairs a signed-rank test cannot go below 0.125 (see Part 5b)</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Valid at small n — the p-value is exact, not an approximation</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a:p>
            <a:pPr lvl="0"/>
            <a:r>
              <a:rPr b="1"/>
              <a:t>Hits the same small-n floor as the rank tests</a:t>
            </a:r>
            <a:r>
              <a:rPr/>
              <a:t> — being exact is not the same as being powerful, because there are only so many ways to rearrange 8 numbers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2026-09-15T02:07:44Z</dcterms:created>
  <dcterms:modified xsi:type="dcterms:W3CDTF">2026-09-15T02:07:44Z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