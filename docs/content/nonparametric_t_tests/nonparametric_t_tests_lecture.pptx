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elsblog.org/the_empirical_legal_studi/2006/08/variable_transf.html" TargetMode="Externa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Power — what it is and why we talk about it</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1955800"/>
            <a:ext cx="4038600" cy="14478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Illustration of a lake trout in profile, showing its mottled brown-and-cream coloring and forked tail, the species whose weight and length data are used throughout this lecture.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7272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Flowchart of hypothesis tests branching into parametric and nonparametric tests, each split into one-sample and two-sample (independent vs. paired) tests, listing specific tests under each branch (e.g., t test and z test under parametric one-sample; Mann-Whitney and Wilcoxon under nonparametric two-sample).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probability density curves for a right-skewed distribution family at different sigma values (0.25, 0.5, 1) with mu = 0, showing how larger sigma produces a flatter, more spread-out, and less peaked skewed curve.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863600"/>
            <a:ext cx="2781300" cy="356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orange arrows showing a subset being drawn down into a small circle labeled ‘sample’, illustrating random sampling from a population.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unnamed-chunk-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unnamed-chunk-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unnamed-chunk-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unnamed-chunk-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unnamed-chunk-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Reference chart of six common data transformations (square root, logarithm, inverse, and their ‘reflect and’ variants for left-skewed data), each shown as a small curve with its transformation formula, used to pick a transformation that matches a variable’s skew shape.</a:t>
            </a:r>
          </a:p>
        </p:txBody>
      </p:sp>
      <p:sp>
        <p:nvSpPr>
          <p:cNvPr id="4" name="Content Placeholder 3"/>
          <p:cNvSpPr>
            <a:spLocks noGrp="1"/>
          </p:cNvSpPr>
          <p:nvPr>
            <p:ph idx="2" sz="half"/>
          </p:nvPr>
        </p:nvSpPr>
        <p:spPr/>
        <p:txBody>
          <a:bodyPr/>
          <a:lstStyle/>
          <a:p>
            <a:pPr lvl="0" indent="0" marL="0">
              <a:buNone/>
            </a:pPr>
            <a:r>
              <a:rPr>
                <a:hlinkClick r:id="rId3"/>
              </a:rPr>
              <a:t>source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unnamed-chunk-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unnamed-chunk-13-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003B4F"/>
                </a:solidFill>
                <a:latin typeface="Courier"/>
              </a:rPr>
              <a:t>ne12_perm_data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5E5E5E"/>
                </a:solidFill>
                <a:latin typeface="Courier"/>
              </a:rPr>
              <a:t># Randomly sample exactly 25 observations from NE 12</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ne12_perm_data &lt;- </a:t>
            </a:r>
            <a:r>
              <a:rPr>
                <a:solidFill>
                  <a:srgbClr val="4758AB"/>
                </a:solidFill>
                <a:latin typeface="Courier"/>
              </a:rPr>
              <a:t>sample</a:t>
            </a:r>
            <a:r>
              <a:rPr>
                <a:solidFill>
                  <a:srgbClr val="003B4F"/>
                </a:solidFill>
                <a:latin typeface="Courier"/>
              </a:rPr>
              <a:t>(ne12_perm_data, </a:t>
            </a:r>
            <a:r>
              <a:rPr>
                <a:solidFill>
                  <a:srgbClr val="657422"/>
                </a:solidFill>
                <a:latin typeface="Courier"/>
              </a:rPr>
              <a:t>size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replace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island_perm_data &lt;-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(length_mm)</a:t>
            </a:r>
            <a:br/>
            <a:br/>
            <a:r>
              <a:rPr>
                <a:solidFill>
                  <a:srgbClr val="003B4F"/>
                </a:solidFill>
                <a:latin typeface="Courier"/>
              </a:rPr>
              <a:t>observed_diff &lt;- </a:t>
            </a:r>
            <a:r>
              <a:rPr>
                <a:solidFill>
                  <a:srgbClr val="4758AB"/>
                </a:solidFill>
                <a:latin typeface="Courier"/>
              </a:rPr>
              <a:t>mean</a:t>
            </a:r>
            <a:r>
              <a:rPr>
                <a:solidFill>
                  <a:srgbClr val="003B4F"/>
                </a:solidFill>
                <a:latin typeface="Courier"/>
              </a:rPr>
              <a:t>(ne12_perm_data,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(island_perm_data,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(ne12_perm_data, island_perm_data,</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GROUP 1 and GROUP 2
p-value = 2e-04
alternative hypothesis: true mean GROUP 1 - mean GROUP 2 is not equal to 0
sample estimates:
mean GROUP 1 - mean GROUP 2 
                    -333.08 
p-value estimated from 10000 Monte Carlo replications
99 percent confidence interval on p-value:
 0.000000000 0.001059383 </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Handles small sample sizes well</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2026-09-01T20:21:13Z</dcterms:created>
  <dcterms:modified xsi:type="dcterms:W3CDTF">2026-09-01T20:21:13Z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7</vt:lpwstr>
  </property>
  <property fmtid="{D5CDD505-2E9C-101B-9397-08002B2CF9AE}" pid="14" name="resources">
    <vt:lpwstr/>
  </property>
  <property fmtid="{D5CDD505-2E9C-101B-9397-08002B2CF9AE}" pid="15" name="subtitle">
    <vt:lpwstr>Rank-based tests</vt:lpwstr>
  </property>
  <property fmtid="{D5CDD505-2E9C-101B-9397-08002B2CF9AE}" pid="16" name="toc-title">
    <vt:lpwstr>Table of contents</vt:lpwstr>
  </property>
  <property fmtid="{D5CDD505-2E9C-101B-9397-08002B2CF9AE}" pid="17" name="week">
    <vt:lpwstr>4</vt:lpwstr>
  </property>
</Properties>
</file>