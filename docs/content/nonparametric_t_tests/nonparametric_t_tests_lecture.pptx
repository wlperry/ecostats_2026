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1" Type="http://schemas.openxmlformats.org/officeDocument/2006/relationships/viewProps" Target="viewProps.xml" /><Relationship Id="rId5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3" Type="http://schemas.openxmlformats.org/officeDocument/2006/relationships/tableStyles" Target="tableStyles.xml" /><Relationship Id="rId5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jpg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lake_trout.csv" TargetMode="External" /><Relationship Id="rId4" Type="http://schemas.openxmlformats.org/officeDocument/2006/relationships/hyperlink" Target="data/sage_brush_crickets_feeding_mating.csv" TargetMode="External" /><Relationship Id="rId5" Type="http://schemas.openxmlformats.org/officeDocument/2006/relationships/hyperlink" Target="themes_functions/r_themes_and_functions.R" TargetMode="External" /><Relationship Id="rId6" Type="http://schemas.openxmlformats.org/officeDocument/2006/relationships/hyperlink" Target="data/07_nonparametric_t_tests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lake_trout.csv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4" Type="http://schemas.openxmlformats.org/officeDocument/2006/relationships/hyperlink" Target="https://www.elsblog.org/the_empirical_legal_studi/2006/08/variable_transf.html" TargetMode="External" /><Relationship Id="rId3" Type="http://schemas.openxmlformats.org/officeDocument/2006/relationships/image" Target="../media/image12.jpg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Non-Parametric T-Tests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review:</a:t>
            </a:r>
          </a:p>
          <a:p>
            <a:pPr lvl="0"/>
            <a:r>
              <a:rPr/>
              <a:t>Hypotheses</a:t>
            </a:r>
          </a:p>
          <a:p>
            <a:pPr lvl="0"/>
            <a:r>
              <a:rPr/>
              <a:t>One- and two-sided t-tests</a:t>
            </a:r>
          </a:p>
          <a:p>
            <a:pPr lvl="0"/>
            <a:r>
              <a:rPr/>
              <a:t>One-sample, two-sample, and </a:t>
            </a:r>
            <a:r>
              <a:rPr b="1"/>
              <a:t>paired</a:t>
            </a:r>
            <a:r>
              <a:rPr/>
              <a:t> t-tests — and how much more the paired test got out of the same four trees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 first</a:t>
            </a:r>
          </a:p>
          <a:p>
            <a:pPr lvl="1"/>
            <a:r>
              <a:rPr/>
              <a:t>then non-parametric approaches</a:t>
            </a:r>
          </a:p>
          <a:p>
            <a:pPr lvl="1"/>
            <a:r>
              <a:rPr/>
              <a:t>later, other approaches use the appropriate underlying distribution when it isn’t normal, but Poisson or other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t-test’s p-value is only trustworthy if its assumptions hold. Today is about how to tell whether they do — and what to do when they don’t.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trap we’re walking into first</a:t>
            </a:r>
          </a:p>
          <a:p>
            <a:pPr lvl="0" indent="0" marL="1270000">
              <a:buNone/>
            </a:pPr>
            <a:r>
              <a:rPr sz="2000"/>
              <a:t>It is tempting to treat non-parametric tests as the “safe” option you can always fall back on. We are going to start by showing why that instinct is wrong.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runs in two halves, and the order matters:</a:t>
            </a:r>
          </a:p>
          <a:p>
            <a:pPr lvl="0" indent="-342900" marL="342900">
              <a:buAutoNum type="arabicPeriod"/>
            </a:pPr>
            <a:r>
              <a:rPr b="1"/>
              <a:t>Our own pine needles first.</a:t>
            </a:r>
            <a:r>
              <a:rPr/>
              <a:t> We check the assumptions on the data </a:t>
            </a:r>
            <a:r>
              <a:rPr i="1"/>
              <a:t>you</a:t>
            </a:r>
            <a:r>
              <a:rPr/>
              <a:t> collected, find that they hold, measure </a:t>
            </a:r>
            <a:r>
              <a:rPr b="1"/>
              <a:t>how big</a:t>
            </a:r>
            <a:r>
              <a:rPr/>
              <a:t> the effect actually was with Cohen’s d, and then run the non-parametric tests anyway — to see exactly what they cost.</a:t>
            </a:r>
          </a:p>
          <a:p>
            <a:pPr lvl="0" indent="-342900" marL="342900">
              <a:buAutoNum type="arabicPeriod"/>
            </a:pPr>
            <a:r>
              <a:rPr b="1"/>
              <a:t>Then the lake trout.</a:t>
            </a:r>
            <a:r>
              <a:rPr/>
              <a:t> A dataset where the assumptions are genuinely, badly broken — which is where robust tests, rank-based tests, and permutation tests earn their keep.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question behind today</a:t>
            </a:r>
          </a:p>
          <a:p>
            <a:pPr lvl="0" indent="0" marL="1270000">
              <a:buNone/>
            </a:pPr>
            <a:r>
              <a:rPr sz="2000"/>
              <a:t>Not </a:t>
            </a:r>
            <a:r>
              <a:rPr sz="2000" i="1"/>
              <a:t>“which test is safest?”</a:t>
            </a:r>
            <a:r>
              <a:rPr sz="2000"/>
              <a:t> but </a:t>
            </a:r>
            <a:r>
              <a:rPr sz="2000" i="1"/>
              <a:t>“which test does this data deserve?”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comparing needle length and bundle count across six pine species (Pinus ponderosa, nigra, resinosa, strobus, sylvestris, banksiana).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146300"/>
            <a:ext cx="2781300" cy="99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Illustration of a lake trout in profile, showing its mottled brown-and-cream coloring and forked tail, the species whose weight and length data are used in the second half of this lecture.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Start With Our Own Data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pine needles, where we left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leveneTest()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        </a:t>
            </a:r>
            <a:r>
              <a:rPr>
                <a:solidFill>
                  <a:srgbClr val="5E5E5E"/>
                </a:solidFill>
                <a:latin typeface="Courier"/>
              </a:rPr>
              <a:t># permutation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   </a:t>
            </a:r>
            <a:r>
              <a:rPr>
                <a:solidFill>
                  <a:srgbClr val="5E5E5E"/>
                </a:solidFill>
                <a:latin typeface="Courier"/>
              </a:rPr>
              <a:t># cohens_d()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two-stage summary as last week: one value per tree per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p_wide_df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team       shady sunny
  &lt;chr&gt;      &lt;dbl&gt; &lt;dbl&gt;
1 botany      16.1  17.3
2 grace_jace  15.4  15.5
3 one         13.2  14.2
4 waterbugs   11.7  13.8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Pine needle data</a:t>
            </a:r>
            <a:r>
              <a:rPr/>
              <a:t> </a:t>
            </a:r>
            <a:r>
              <a:rPr>
                <a:hlinkClick r:id="rId3"/>
              </a:rPr>
              <a:t>📥 Lake trout data</a:t>
            </a:r>
            <a:r>
              <a:rPr/>
              <a:t> </a:t>
            </a:r>
            <a:r>
              <a:rPr>
                <a:hlinkClick r:id="rId4"/>
              </a:rPr>
              <a:t>📥 Sagebrush cricket data</a:t>
            </a:r>
          </a:p>
          <a:p>
            <a:pPr lvl="0" indent="0" marL="0">
              <a:buNone/>
            </a:pPr>
            <a:r>
              <a:rPr>
                <a:hlinkClick r:id="rId5"/>
              </a:rPr>
              <a:t>📥 Tools script</a:t>
            </a:r>
            <a:r>
              <a:rPr/>
              <a:t> </a:t>
            </a:r>
            <a:r>
              <a:rPr>
                <a:hlinkClick r:id="rId6"/>
              </a:rPr>
              <a:t>📥 Script skeleton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Reminder</a:t>
            </a:r>
          </a:p>
          <a:p>
            <a:pPr lvl="0" indent="0" marL="1270000">
              <a:buNone/>
            </a:pPr>
            <a:r>
              <a:rPr sz="2000"/>
              <a:t>4 teams, 4 trees, both sides of each tree. The data are </a:t>
            </a:r>
            <a:r>
              <a:rPr sz="2000" b="1"/>
              <a:t>paired</a:t>
            </a:r>
            <a:r>
              <a:rPr sz="2000"/>
              <a:t> by design.</a:t>
            </a:r>
          </a:p>
          <a:p>
            <a:pPr lvl="0" indent="0" marL="1270000">
              <a:buNone/>
            </a:pPr>
            <a:r>
              <a:rPr sz="2000"/>
              <a:t>Last week these four trees gave us: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Same two tools as last week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gives you </a:t>
            </a:r>
            <a:r>
              <a:rPr sz="2000">
                <a:latin typeface="Courier"/>
              </a:rPr>
              <a:t>theme_regular()</a:t>
            </a:r>
            <a:r>
              <a:rPr sz="2000"/>
              <a:t> and </a:t>
            </a:r>
            <a:r>
              <a:rPr sz="2000">
                <a:latin typeface="Courier"/>
              </a:rPr>
              <a:t>summary_stats()</a:t>
            </a:r>
            <a:r>
              <a:rPr sz="2000"/>
              <a:t> again. Nothing new to learn.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our assumptions actually hold?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we run anything — do you expect needle length to be normally distributed with equal variance on the two sides of a tree? Commit to an answer.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reaching for anything non-parametric, we have to establish that we </a:t>
            </a:r>
            <a:r>
              <a:rPr i="1"/>
              <a:t>need</a:t>
            </a:r>
            <a:r>
              <a:rPr/>
              <a:t> it. Same two checks as last week.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normality, one side at a time -- all 32 needles per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"sunny"]
W = 0.96105, p-value = 0.2934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needle_length_mm[pine_df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pine_df$needle_length_mm[pine_df$side == "shady"]
W = 0.98213, p-value = 0.8586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equal variance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2e-04 0.9887
      62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Everything passes</a:t>
            </a:r>
          </a:p>
          <a:p>
            <a:pPr lvl="0" indent="0" marL="1270000">
              <a:buNone/>
            </a:pPr>
            <a:r>
              <a:rPr sz="2000"/>
              <a:t>Remember the direction of these tests: </a:t>
            </a:r>
            <a:r>
              <a:rPr sz="2000" b="1"/>
              <a:t>H₀ is that the assumption holds.</a:t>
            </a:r>
            <a:r>
              <a:rPr sz="2000"/>
              <a:t> A large p means we have no evidence against it.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nothing wrong with this data.</a:t>
            </a:r>
            <a:r>
              <a:rPr sz="2000"/>
              <a:t> The paired t-test we ran last week was entitled to every bit of its p = 0.072.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So why are we here?</a:t>
            </a:r>
          </a:p>
          <a:p>
            <a:pPr lvl="0" indent="0" marL="1270000">
              <a:buNone/>
            </a:pPr>
            <a:r>
              <a:rPr sz="2000"/>
              <a:t>Because “my data are fine” is a conclusion you have to </a:t>
            </a:r>
            <a:r>
              <a:rPr sz="2000" i="1"/>
              <a:t>earn</a:t>
            </a:r>
            <a:r>
              <a:rPr sz="2000"/>
              <a:t>, not assume — and because plenty of students would have reached for a rank test anyway, thinking it was the cautious choice. Let’s find out what that caution would have cost.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Effect Size — How Big, Not Just Whether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Our paired t-test gave </a:t>
                </a:r>
                <a:r>
                  <a:rPr b="1"/>
                  <a:t>p = 0.072</a:t>
                </a:r>
                <a:r>
                  <a:rPr/>
                  <a:t>. The usual reflex is to call that “not significant” and stop.</a:t>
                </a:r>
              </a:p>
              <a:p>
                <a:pPr lvl="0" indent="0" marL="0">
                  <a:buNone/>
                </a:pPr>
                <a:r>
                  <a:rPr/>
                  <a:t>But </a:t>
                </a:r>
                <a:r>
                  <a:rPr>
                    <a:latin typeface="Courier"/>
                  </a:rPr>
                  <a:t>p</a:t>
                </a:r>
                <a:r>
                  <a:rPr/>
                  <a:t> never told us the one thing a reader actually wants to know: </a:t>
                </a:r>
                <a:r>
                  <a:rPr b="1"/>
                  <a:t>how much shorter are shady needles?</a:t>
                </a:r>
                <a:r>
                  <a:rPr/>
                  <a:t> A p-value answers </a:t>
                </a:r>
                <a:r>
                  <a:rPr i="1"/>
                  <a:t>“could this be noise?”</a:t>
                </a:r>
                <a:r>
                  <a:rPr/>
                  <a:t> — not </a:t>
                </a:r>
                <a:r>
                  <a:rPr i="1"/>
                  <a:t>“does this matter?”</a:t>
                </a:r>
              </a:p>
              <a:p>
                <a:pPr lvl="0" indent="0" marL="0">
                  <a:buNone/>
                </a:pPr>
                <a:r>
                  <a:rPr b="1"/>
                  <a:t>Cohen’s d</a:t>
                </a:r>
                <a:r>
                  <a:rPr/>
                  <a:t> answers the second question. It is the difference between the groups expressed in </a:t>
                </a:r>
                <a:r>
                  <a:rPr b="1"/>
                  <a:t>standard deviations</a:t>
                </a:r>
                <a:r>
                  <a:rPr/>
                  <a:t>, so it has no units and can be compared across studies: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d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</a:t>
                </a:r>
                <a:r>
                  <a:rPr b="1"/>
                  <a:t>paired</a:t>
                </a:r>
                <a:r>
                  <a:rPr/>
                  <a:t> design the difference is the paired difference, and </a:t>
                </a:r>
                <a:r>
                  <a:rPr>
                    <a:latin typeface="Courier"/>
                  </a:rPr>
                  <a:t>s</a:t>
                </a:r>
                <a:r>
                  <a:rPr/>
                  <a:t> is the standard deviation </a:t>
                </a:r>
                <a:r>
                  <a:rPr i="1"/>
                  <a:t>of those differences</a:t>
                </a:r>
                <a:r>
                  <a:rPr/>
                  <a:t>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diffs &lt;-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p_wide_df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sunny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(diffs)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Cohen's d, by hand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-1.361371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the formula out loud</a:t>
            </a:r>
          </a:p>
          <a:p>
            <a:pPr lvl="0" indent="0" marL="1270000">
              <a:buNone/>
            </a:pPr>
            <a:r>
              <a:rPr sz="2000"/>
              <a:t>“The shady side averaged </a:t>
            </a:r>
            <a:r>
              <a:rPr sz="2000" b="1"/>
              <a:t>1.36 standard deviations</a:t>
            </a:r>
            <a:r>
              <a:rPr sz="2000"/>
              <a:t> below the sunny side.”</a:t>
            </a:r>
          </a:p>
          <a:p>
            <a:pPr lvl="0" indent="0" marL="1270000">
              <a:buNone/>
            </a:pPr>
            <a:r>
              <a:rPr sz="2000"/>
              <a:t>That sentence stands on its own. It does not depend on how many trees we sampled, and it would mean the same thing to someone measuring a different pine species in a different forest.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Cohen’s rough conventions</a:t>
            </a:r>
          </a:p>
          <a:p>
            <a:pPr lvl="0" indent="0" marL="1270000">
              <a:buNone/>
            </a:pPr>
            <a:r>
              <a:rPr sz="2000"/>
              <a:t>Ours is </a:t>
            </a:r>
            <a:r>
              <a:rPr sz="2000" b="1"/>
              <a:t>1.36</a:t>
            </a:r>
            <a:r>
              <a:rPr sz="2000"/>
              <a:t>. These are rules of thumb, not laws — what counts as “large” is a question about pine trees, not about statistics.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Report It — What d Tells Us That p Could Not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Here is the relationship that explains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×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</m:e>
                      </m:rad>
                    </m:oMath>
                  </m:oMathPara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AD0000"/>
                    </a:solidFill>
                    <a:latin typeface="Courier"/>
                  </a:rPr>
                  <a:t>2.7227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4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our t statistic, over root n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1.36135</a:t>
                </a:r>
              </a:p>
              <a:p>
                <a:pPr lvl="0" indent="0" marL="0">
                  <a:buNone/>
                </a:pPr>
                <a:r>
                  <a:rPr b="1"/>
                  <a:t>The t-statistic is the effect size multiplied by the square root of your sample size.</a:t>
                </a:r>
                <a:r>
                  <a:rPr/>
                  <a:t> So a p-value confounds two completely different things: </a:t>
                </a:r>
                <a:r>
                  <a:rPr i="1"/>
                  <a:t>how big the effect is</a:t>
                </a:r>
                <a:r>
                  <a:rPr/>
                  <a:t>, and </a:t>
                </a:r>
                <a:r>
                  <a:rPr i="1"/>
                  <a:t>how hard you looked</a:t>
                </a:r>
                <a:r>
                  <a:rPr/>
                  <a:t>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huge</a:t>
                </a:r>
                <a:r>
                  <a:rPr/>
                  <a:t> effect with n = 4 → large p. That is us.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trivial</a:t>
                </a:r>
                <a:r>
                  <a:rPr/>
                  <a:t> effect with n = 10,000 → tiny p, and no biological meaning at all.</a:t>
                </a:r>
              </a:p>
              <a:p>
                <a:pPr lvl="0" indent="0" marL="0">
                  <a:buNone/>
                </a:pPr>
                <a:r>
                  <a:rPr/>
                  <a:t>Effect size separates them. That is why journals, and every reporting guideline written in the last twenty years, ask for it alongside the p-value.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(effectsize)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cohens_d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Cohen's d |        95% CI
-------------------------
-1.36     | [-2.74, 0.10]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Look at that confidence interval: [-2.74, 0.10]</a:t>
            </a:r>
          </a:p>
          <a:p>
            <a:pPr lvl="0" indent="0" marL="1270000">
              <a:buNone/>
            </a:pPr>
            <a:r>
              <a:rPr sz="2000" i="1"/>
              <a:t>This</a:t>
            </a:r>
            <a:r>
              <a:rPr sz="2000"/>
              <a:t> is the honest summary of our four trees: the effect is </a:t>
            </a:r>
            <a:r>
              <a:rPr sz="2000" b="1"/>
              <a:t>probably large and probably negative</a:t>
            </a:r>
            <a:r>
              <a:rPr sz="2000"/>
              <a:t>, but with n = 4 we cannot rule out zero.</a:t>
            </a:r>
          </a:p>
          <a:p>
            <a:pPr lvl="0" indent="0" marL="1270000">
              <a:buNone/>
            </a:pPr>
            <a:r>
              <a:rPr sz="2000"/>
              <a:t>Notice that the CI crossing zero is the same fact as p &gt; 0.05 — but it says it far more usefully. “No significant difference” sounds like </a:t>
            </a:r>
            <a:r>
              <a:rPr sz="2000" i="1"/>
              <a:t>we found nothing</a:t>
            </a:r>
            <a:r>
              <a:rPr sz="2000"/>
              <a:t>. “d = -1.36, CI [-2.74, 0.10]” says </a:t>
            </a:r>
            <a:r>
              <a:rPr sz="2000" i="1"/>
              <a:t>we found a large effect we could not pin down</a:t>
            </a:r>
            <a:r>
              <a:rPr sz="2000"/>
              <a:t>, which is a completely different message to a reader, and the correct one.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Where this goes next</a:t>
            </a:r>
          </a:p>
          <a:p>
            <a:pPr lvl="0" indent="0" marL="1270000">
              <a:buNone/>
            </a:pPr>
            <a:r>
              <a:rPr sz="2000"/>
              <a:t>Effect size is the input to a </a:t>
            </a:r>
            <a:r>
              <a:rPr sz="2000" b="1"/>
              <a:t>power analysis</a:t>
            </a:r>
            <a:r>
              <a:rPr sz="2000"/>
              <a:t> — given d, how many trees would we have needed? That is next week’s lecture.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Ranks, in one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non-parametric test today works the same way: </a:t>
            </a:r>
            <a:r>
              <a:rPr b="1"/>
              <a:t>throw away the measurements, keep only their order.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rank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(rank)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4
  team       side  needle_length_mm  rank
  &lt;chr&gt;      &lt;chr&gt;            &lt;dbl&gt; &lt;dbl&gt;
1 waterbugs  shady             11.7     1
2 one        shady             13.2     2
3 waterbugs  sunny             13.8     3
4 one        sunny             14.2     4
5 grace_jace shady             15.4     5
6 grace_jace sunny             15.5     6
7 botany     shady             16.1     7
8 botany     sunny             17.3     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just happened</a:t>
            </a:r>
          </a:p>
          <a:p>
            <a:pPr lvl="0" indent="0" marL="1270000">
              <a:buNone/>
            </a:pPr>
            <a:r>
              <a:rPr sz="2000"/>
              <a:t>The shortest tree-side average became rank 1, the longest rank 8. A needle that was 4 mm longer than its neighbour and one that was 0.1 mm longer are now </a:t>
            </a:r>
            <a:r>
              <a:rPr sz="2000" b="1"/>
              <a:t>exactly one rank apart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trade. You become immune to outliers and to any weird distribution — and in exchange you give up the magnitudes.</a:t>
            </a:r>
          </a:p>
          <a:p>
            <a:pPr lvl="0" indent="0" marL="1270000">
              <a:buNone/>
            </a:pPr>
            <a:r>
              <a:rPr sz="2000"/>
              <a:t>A rank-based test then asks: </a:t>
            </a:r>
            <a:r>
              <a:rPr sz="2000" i="1"/>
              <a:t>are the ranks of one group systematically higher than the other’s?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Watch for the statistic</a:t>
            </a:r>
          </a:p>
          <a:p>
            <a:pPr lvl="0" indent="0" marL="1270000">
              <a:buNone/>
            </a:pPr>
            <a:r>
              <a:rPr sz="2000"/>
              <a:t>Rank tests report </a:t>
            </a:r>
            <a:r>
              <a:rPr sz="2000" b="1">
                <a:latin typeface="Courier"/>
              </a:rPr>
              <a:t>W</a:t>
            </a:r>
            <a:r>
              <a:rPr sz="2000"/>
              <a:t> (Mann-Whitney) or </a:t>
            </a:r>
            <a:r>
              <a:rPr sz="2000" b="1">
                <a:latin typeface="Courier"/>
              </a:rPr>
              <a:t>V</a:t>
            </a:r>
            <a:r>
              <a:rPr sz="2000"/>
              <a:t> (signed-rank), never </a:t>
            </a:r>
            <a:r>
              <a:rPr sz="2000">
                <a:latin typeface="Courier"/>
              </a:rPr>
              <a:t>t</a:t>
            </a:r>
            <a:r>
              <a:rPr sz="2000"/>
              <a:t>. If you see a </a:t>
            </a:r>
            <a:r>
              <a:rPr sz="2000">
                <a:latin typeface="Courier"/>
              </a:rPr>
              <a:t>W</a:t>
            </a:r>
            <a:r>
              <a:rPr sz="2000"/>
              <a:t>, you are reading rank-based output.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both 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Unpaired: Mann-Whitney U  (the t-test's two-sample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exact test
data:  needle_length_mm by side
W = 5, p-value = 0.4857
alternative hypothesis: true location shift is not equal to 0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Paired: Wilcoxon signed-rank  (the paired t-test's partner)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signed rank exact test
data:  p_wide_df$shady and p_wide_df$sunny
V = 0, p-value = 0.125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V = 0</a:t>
            </a:r>
          </a:p>
          <a:p>
            <a:pPr lvl="0" indent="0" marL="1270000">
              <a:buNone/>
            </a:pPr>
            <a:r>
              <a:rPr sz="2000"/>
              <a:t>The signed-rank statistic is </a:t>
            </a:r>
            <a:r>
              <a:rPr sz="2000" b="1"/>
              <a:t>zero</a:t>
            </a:r>
            <a:r>
              <a:rPr sz="2000"/>
              <a:t> — meaning </a:t>
            </a:r>
            <a:r>
              <a:rPr sz="2000" i="1"/>
              <a:t>every single tree</a:t>
            </a:r>
            <a:r>
              <a:rPr sz="2000"/>
              <a:t> moved in the same direction. There is no arrangement of these four trees that would look more consistent.</a:t>
            </a:r>
          </a:p>
          <a:p>
            <a:pPr lvl="0" indent="0" marL="1270000">
              <a:buNone/>
            </a:pPr>
            <a:r>
              <a:rPr sz="2000"/>
              <a:t>Notice too that R says </a:t>
            </a:r>
            <a:r>
              <a:rPr sz="2000" b="1"/>
              <a:t>“exact test”</a:t>
            </a:r>
            <a:r>
              <a:rPr sz="2000"/>
              <a:t> for both. With no tied values it enumerates every possible arrangement rather than approximating. Hold on to that word — the next slide explains why it matters.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answer, less power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60071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Parametric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Non-parametric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Unpaired (2 groups)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 </a:t>
                      </a:r>
                      <a:r>
                        <a:rPr b="1"/>
                        <a:t>p = 0.425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Mann-Whitney </a:t>
                      </a:r>
                      <a:r>
                        <a:rPr b="1"/>
                        <a:t>p = 0.486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(4 trees)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 t </a:t>
                      </a:r>
                      <a:r>
                        <a:rPr b="1"/>
                        <a:t>p = 0.072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signed-rank </a:t>
                      </a:r>
                      <a:r>
                        <a:rPr b="1"/>
                        <a:t>p = 0.125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At n = 4, the signed-rank test hits a wall</a:t>
            </a:r>
          </a:p>
          <a:p>
            <a:pPr lvl="0" indent="0" marL="1270000">
              <a:buNone/>
            </a:pPr>
            <a:r>
              <a:rPr sz="2000"/>
              <a:t>With 4 pairs there are only 2⁴ = </a:t>
            </a:r>
            <a:r>
              <a:rPr sz="2000" b="1"/>
              <a:t>16</a:t>
            </a:r>
            <a:r>
              <a:rPr sz="2000"/>
              <a:t> possible arrangements of plus and minus signs. The most extreme possible result — all four the same way, which is exactly what we got — has a two-sided p of 2/16 = </a:t>
            </a:r>
            <a:r>
              <a:rPr sz="2000" b="1"/>
              <a:t>0.125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So with four trees, a Wilcoxon signed-rank test </a:t>
            </a:r>
            <a:r>
              <a:rPr sz="2000" b="1"/>
              <a:t>can never return a p-value below 0.125</a:t>
            </a:r>
            <a:r>
              <a:rPr sz="2000"/>
              <a:t>, no matter how enormous the effect.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# smallest possible two-sided p, 4 pairs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0.125</a:t>
            </a:r>
          </a:p>
          <a:p>
            <a:pPr lvl="0" indent="0" marL="1270000">
              <a:buNone/>
            </a:pPr>
            <a:r>
              <a:rPr sz="2000"/>
              <a:t>The test did not fail to find our effect. It was </a:t>
            </a:r>
            <a:r>
              <a:rPr sz="2000" b="1"/>
              <a:t>arithmetically incapable</a:t>
            </a:r>
            <a:r>
              <a:rPr sz="2000"/>
              <a:t> of declaring it significant.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that means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Non-parametric tests are the right call when normality is genuinely broken and cannot be fixed</a:t>
            </a:r>
          </a:p>
          <a:p>
            <a:pPr lvl="0"/>
            <a:r>
              <a:rPr/>
              <a:t>But they are </a:t>
            </a:r>
            <a:r>
              <a:rPr b="1"/>
              <a:t>not free</a:t>
            </a:r>
            <a:r>
              <a:rPr/>
              <a:t>, and they are </a:t>
            </a:r>
            <a:r>
              <a:rPr b="1"/>
              <a:t>not a safe default</a:t>
            </a:r>
          </a:p>
          <a:p>
            <a:pPr lvl="0"/>
            <a:r>
              <a:rPr/>
              <a:t>At small n they can be so blunt that no result could ever reach significance — check the floor </a:t>
            </a:r>
            <a:r>
              <a:rPr b="1"/>
              <a:t>before</a:t>
            </a:r>
            <a:r>
              <a:rPr/>
              <a:t> you run one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Choose the test that matches your data’s distribution, not the one that feels safest. For our four trees, the </a:t>
            </a:r>
            <a:r>
              <a:rPr sz="2000" i="1"/>
              <a:t>parametric</a:t>
            </a:r>
            <a:r>
              <a:rPr sz="2000"/>
              <a:t> paired t-test — whose assumptions we just checked and could not reject — is the more honest and more informative choice.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How many pairs would you need before a signed-rank test could reach p &lt; 0.05?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5 pairs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6 pairs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Where we go next</a:t>
            </a:r>
          </a:p>
          <a:p>
            <a:pPr lvl="0" indent="0" marL="1270000">
              <a:buNone/>
            </a:pPr>
            <a:r>
              <a:rPr sz="2000"/>
              <a:t>We have now seen what these tests cost. What we have </a:t>
            </a:r>
            <a:r>
              <a:rPr sz="2000" b="1"/>
              <a:t>not</a:t>
            </a:r>
            <a:r>
              <a:rPr sz="2000"/>
              <a:t> seen is what they buy you — because nothing about the pine data was broken.</a:t>
            </a:r>
          </a:p>
          <a:p>
            <a:pPr lvl="0" indent="0" marL="1270000">
              <a:buNone/>
            </a:pPr>
            <a:r>
              <a:rPr sz="2000"/>
              <a:t>For that we need a dataset that is a genuine mess.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 Dataset Where the Assumptions Really Do Fail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lake trout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lake            n  mean    sd    se ci_lower ci_upper
  &lt;chr&gt;       &lt;int&gt; &lt;dbl&gt; &lt;dbl&gt; &lt;dbl&gt;    &lt;dbl&gt;    &lt;dbl&gt;
1 I8             91  857.  727.  76.2     705.    1008.
2 Island Lake    10 3165  1617. 511.     2008.    4322.
3 N 01          674  659.  395.  15.2     629.     689.
4 NE 12         322  534.  520.  29.0     477.     591.
5 NE 14         139  848.  508.  43.1     763.     933.
6 Toolik        249  518.  373.  23.6     471.     564.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Lake trout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the design</a:t>
            </a:r>
          </a:p>
          <a:p>
            <a:pPr lvl="0" indent="0" marL="1270000">
              <a:buNone/>
            </a:pPr>
            <a:r>
              <a:rPr sz="2000"/>
              <a:t>Six lakes of trout: </a:t>
            </a:r>
            <a:r>
              <a:rPr sz="2000">
                <a:latin typeface="Courier"/>
              </a:rPr>
              <a:t>sampling_site</a:t>
            </a:r>
            <a:r>
              <a:rPr sz="2000"/>
              <a:t>, </a:t>
            </a:r>
            <a:r>
              <a:rPr sz="2000">
                <a:latin typeface="Courier"/>
              </a:rPr>
              <a:t>species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, </a:t>
            </a:r>
            <a:r>
              <a:rPr sz="2000">
                <a:latin typeface="Courier"/>
              </a:rPr>
              <a:t>mass_g</a:t>
            </a:r>
            <a:r>
              <a:rPr sz="2000"/>
              <a:t>, </a:t>
            </a:r>
            <a:r>
              <a:rPr sz="2000">
                <a:latin typeface="Courier"/>
              </a:rPr>
              <a:t>lake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Everything from here on uses </a:t>
            </a:r>
            <a:r>
              <a:rPr sz="2000" b="1">
                <a:latin typeface="Courier"/>
              </a:rPr>
              <a:t>mass_g</a:t>
            </a:r>
            <a:r>
              <a:rPr sz="2000" b="1"/>
              <a:t>.</a:t>
            </a:r>
            <a:r>
              <a:rPr sz="2000"/>
              <a:t> Look hard at the </a:t>
            </a:r>
            <a:r>
              <a:rPr sz="2000">
                <a:latin typeface="Courier"/>
              </a:rPr>
              <a:t>n</a:t>
            </a:r>
            <a:r>
              <a:rPr sz="2000"/>
              <a:t> and </a:t>
            </a:r>
            <a:r>
              <a:rPr sz="2000">
                <a:latin typeface="Courier"/>
              </a:rPr>
              <a:t>sd</a:t>
            </a:r>
            <a:r>
              <a:rPr sz="2000"/>
              <a:t> columns for </a:t>
            </a:r>
            <a:r>
              <a:rPr sz="2000" b="1"/>
              <a:t>NE 12</a:t>
            </a:r>
            <a:r>
              <a:rPr sz="2000"/>
              <a:t> and </a:t>
            </a:r>
            <a:r>
              <a:rPr sz="2000" b="1"/>
              <a:t>Island Lake</a:t>
            </a:r>
            <a:r>
              <a:rPr sz="2000"/>
              <a:t> — 322 fish against 10, and very different spreads.</a:t>
            </a:r>
          </a:p>
          <a:p>
            <a:pPr lvl="0" indent="0" marL="1270000">
              <a:buNone/>
            </a:pPr>
            <a:r>
              <a:rPr sz="2000"/>
              <a:t>That imbalance is the rest of the lecture. Where the pine data was clean, this is everything that can go wrong at once.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Assumptions of Parametric Tests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vs. 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tests.</a:t>
            </a:r>
          </a:p>
          <a:p>
            <a:pPr lvl="0"/>
            <a:r>
              <a:rPr b="1"/>
              <a:t>Parametric tests:</a:t>
            </a:r>
          </a:p>
          <a:p>
            <a:pPr lvl="1"/>
            <a:r>
              <a:rPr/>
              <a:t>specify/assume the probability distribution the parameters came from</a:t>
            </a:r>
          </a:p>
          <a:p>
            <a:pPr lvl="1"/>
            <a:r>
              <a:rPr/>
              <a:t>basic assumptions of parametric t-tests: random sampling, normality, equal variance (or Welch’s t-test), no outliers</a:t>
            </a:r>
          </a:p>
          <a:p>
            <a:pPr lvl="0"/>
            <a:r>
              <a:rPr b="1"/>
              <a:t>Non-parametric tests:</a:t>
            </a:r>
            <a:r>
              <a:rPr/>
              <a:t> no assumption about the probability distribution/normality</a:t>
            </a:r>
          </a:p>
          <a:p>
            <a:pPr lvl="1"/>
            <a:r>
              <a:rPr/>
              <a:t>Mukasa et al. 2021, DOI: 10.4236/ojbm.2021.93081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13 — Handling Violations of Assumptions, is the core reference for this whole lecture.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27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Flowchart of hypothesis tests branching into parametric and nonparametric tests, each split into one-sample and two-sample (independent vs. paired) tests, listing specific tests under each branch (e.g., t test and z test under parametric one-sample; Mann-Whitney and Wilcoxon under nonparametric two-sample).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 parametric test’s assumptions are violated, the test becomes unreliable</a:t>
            </a:r>
          </a:p>
          <a:p>
            <a:pPr lvl="0"/>
            <a:r>
              <a:rPr/>
              <a:t>This is because the test statistic may no longer follow the distribution it’s supposed to</a:t>
            </a:r>
          </a:p>
          <a:p>
            <a:pPr lvl="0"/>
            <a:r>
              <a:rPr/>
              <a:t>Most parametric tests are robust to mild/moderate violations of normality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probability density curves for a right-skewed distribution family at different sigma values (0.25, 0.5, 1) with mu = 0, showing how larger sigma produces a flatter, more spread-out, and less peaked skewed curve.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—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 random sampling, normality, equal variance, no outliers.</a:t>
            </a:r>
          </a:p>
          <a:p>
            <a:pPr lvl="0" indent="0" marL="0">
              <a:buNone/>
            </a:pPr>
            <a:r>
              <a:rPr b="1"/>
              <a:t>Random sampling:</a:t>
            </a:r>
          </a:p>
          <a:p>
            <a:pPr lvl="0"/>
            <a:r>
              <a:rPr/>
              <a:t>samples are randomly collected from populations; part of experimental design</a:t>
            </a:r>
          </a:p>
          <a:p>
            <a:pPr lvl="0"/>
            <a:r>
              <a:rPr/>
              <a:t>necessary for sample →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63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full of dots, with orange arrows showing a subset being drawn down into a small circle labeled ‘sample’, illustrating random sampling from a population.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—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look at histogram, dotplot, boxplot, and QQ-plot views of the </a:t>
            </a:r>
            <a:r>
              <a:rPr sz="2000" i="1"/>
              <a:t>same</a:t>
            </a:r>
            <a:r>
              <a:rPr sz="2000"/>
              <a:t> NE 12 mass data. Which of the four do you expect to be most convincing about normality?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test normality for one lake — </a:t>
            </a:r>
            <a:r>
              <a:rPr b="1">
                <a:latin typeface="Courier"/>
              </a:rPr>
              <a:t>NE 12</a:t>
            </a:r>
            <a:r>
              <a:rPr/>
              <a:t> — as if we were going to run a one-sample t-test. We need a new data frame with only NE 12 data, called </a:t>
            </a:r>
            <a:r>
              <a:rPr>
                <a:latin typeface="Courier"/>
              </a:rPr>
              <a:t>ne12_data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Normality:</a:t>
            </a:r>
            <a:r>
              <a:rPr/>
              <a:t> samples from a normally distributed population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— sometimes not useful</a:t>
            </a:r>
          </a:p>
        </p:txBody>
      </p:sp>
      <p:pic>
        <p:nvPicPr>
          <p:cNvPr descr="nonparametric_t_tests_lecture_files/figure-pptx/nonparametric-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38300"/>
            <a:ext cx="27813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 is that the data ARE normally distributed</a:t>
            </a:r>
            <a:r>
              <a:rPr/>
              <a:t> — so a </a:t>
            </a:r>
            <a:r>
              <a:rPr i="1"/>
              <a:t>small</a:t>
            </a:r>
            <a:r>
              <a:rPr/>
              <a:t> p-value rejects normality.</a:t>
            </a:r>
          </a:p>
          <a:p>
            <a:pPr lvl="0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0"/>
            <a:r>
              <a:rPr/>
              <a:t>“Formal” tests: </a:t>
            </a:r>
            <a:r>
              <a:rPr b="1"/>
              <a:t>Shapiro-Wilk</a:t>
            </a:r>
            <a:r>
              <a:rPr/>
              <a:t> — sometimes not useful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p prints as </a:t>
            </a:r>
            <a:r>
              <a:rPr sz="2000" b="1">
                <a:latin typeface="Courier"/>
              </a:rPr>
              <a:t>&lt; 2.2e-16</a:t>
            </a:r>
          </a:p>
          <a:p>
            <a:pPr lvl="0" indent="0" marL="1270000">
              <a:buNone/>
            </a:pPr>
            <a:r>
              <a:rPr sz="2000"/>
              <a:t>That is R telling you the p-value is smaller than it will bother to print. Not a borderline call — NE 12 mass is </a:t>
            </a:r>
            <a:r>
              <a:rPr sz="2000" b="1"/>
              <a:t>strongly</a:t>
            </a:r>
            <a:r>
              <a:rPr sz="2000"/>
              <a:t> non-normal, exactly as the histogram and QQ-plot showed. This is the case the rest of the lecture is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(ne12_data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ne12_data$mass_g
W = 0.85148, p-value &lt; 2.2e-16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the Equal Variance Assumption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Equal variance:</a:t>
            </a:r>
            <a:r>
              <a:rPr/>
              <a:t> samples are from populations with a similar degree of variability.</a:t>
            </a:r>
          </a:p>
          <a:p>
            <a:pPr lvl="0" indent="0" marL="0">
              <a:buNone/>
            </a:pPr>
            <a:r>
              <a:rPr/>
              <a:t>Equal variance is about </a:t>
            </a:r>
            <a:r>
              <a:rPr b="1"/>
              <a:t>two groups</a:t>
            </a:r>
            <a:r>
              <a:rPr/>
              <a:t>, so here we bring in the comparison we will use for the rest of the lecture: </a:t>
            </a:r>
            <a:r>
              <a:rPr b="1"/>
              <a:t>NE 12 vs. Island Lake</a:t>
            </a:r>
            <a:r>
              <a:rPr/>
              <a:t>.</a:t>
            </a:r>
          </a:p>
          <a:p>
            <a:pPr lvl="0"/>
            <a:r>
              <a:rPr/>
              <a:t>Graphical test: boxplots</a:t>
            </a:r>
          </a:p>
          <a:p>
            <a:pPr lvl="0"/>
            <a:r>
              <a:rPr/>
              <a:t>Formal test: </a:t>
            </a:r>
            <a:r>
              <a:rPr b="1"/>
              <a:t>Levene’s test</a:t>
            </a:r>
            <a:r>
              <a:rPr/>
              <a:t> — H₀ is “the variances are equal,” so you </a:t>
            </a:r>
            <a:r>
              <a:rPr i="1"/>
              <a:t>want</a:t>
            </a:r>
            <a:r>
              <a:rPr/>
              <a:t> p &gt; 0.05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isl_ne12_df &lt;- 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mass_g))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nonparametric_t_tests_lecture_files/figure-pptx/nonparametric-t-tes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4224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25.997 5.775e-07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 b="1"/>
              <a:t>p is far below 0.05 — the variances are not equal.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outliers:</a:t>
            </a:r>
            <a:r>
              <a:rPr/>
              <a:t> no “extreme” values very different from the rest of the sample.</a:t>
            </a:r>
          </a:p>
          <a:p>
            <a:pPr lvl="0"/>
            <a:r>
              <a:rPr/>
              <a:t>Graphical tests: boxplots, histograms</a:t>
            </a:r>
          </a:p>
          <a:p>
            <a:pPr lvl="0"/>
            <a:r>
              <a:rPr/>
              <a:t>“Formal tests”: Grubbs’ test — no one really does this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Outliers are a problem for non-parametric tests as well — switching to a rank-based test doesn’t make an outlier stop mattering.</a:t>
            </a:r>
          </a:p>
        </p:txBody>
      </p:sp>
      <p:pic>
        <p:nvPicPr>
          <p:cNvPr descr="nonparametric_t_tests_lecture_files/figure-pptx/nonparametric-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When Assumptions Fail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t-test assumptions fail? Alternative tests, with more relaxed assumptions, are available. In which case would you use each?</a:t>
            </a:r>
          </a:p>
          <a:p>
            <a:pPr lvl="0"/>
            <a:r>
              <a:rPr b="1"/>
              <a:t>Welch’s t-test:</a:t>
            </a:r>
            <a:r>
              <a:rPr/>
              <a:t> </a:t>
            </a:r>
            <a:r>
              <a:rPr i="1"/>
              <a:t>distribution normal but variance unequal</a:t>
            </a:r>
          </a:p>
          <a:p>
            <a:pPr lvl="0"/>
            <a:r>
              <a:rPr b="1"/>
              <a:t>Mann-Whitney-Wilcoxon test:</a:t>
            </a:r>
            <a:r>
              <a:rPr/>
              <a:t> </a:t>
            </a:r>
            <a:r>
              <a:rPr i="1"/>
              <a:t>distribution not normal and/or outliers present (but both groups should still have similar distributions and ~equal variance)</a:t>
            </a:r>
          </a:p>
          <a:p>
            <a:pPr lvl="0"/>
            <a:r>
              <a:rPr b="1"/>
              <a:t>Permutation test for two samples:</a:t>
            </a:r>
            <a:r>
              <a:rPr/>
              <a:t> </a:t>
            </a:r>
            <a:r>
              <a:rPr i="1"/>
              <a:t>distribution not normal (but both groups should still have similar distributions and ~equal variance)</a:t>
            </a:r>
          </a:p>
        </p:txBody>
      </p:sp>
      <p:pic>
        <p:nvPicPr>
          <p:cNvPr descr="nonparametric_t_tests_lecture_files/figure-pptx/nonparametric-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QQ-plots:</a:t>
            </a:r>
            <a:r>
              <a:rPr/>
              <a:t> a tool for assessing normality.</a:t>
            </a:r>
          </a:p>
          <a:p>
            <a:pPr lvl="0"/>
            <a:r>
              <a:rPr/>
              <a:t>On x: theoretical quantiles from a standard normal distribution</a:t>
            </a:r>
          </a:p>
          <a:p>
            <a:pPr lvl="0"/>
            <a:r>
              <a:rPr/>
              <a:t>On y: ordered sample values</a:t>
            </a:r>
          </a:p>
          <a:p>
            <a:pPr lvl="0"/>
            <a:r>
              <a:rPr/>
              <a:t>Deviation from normal can be detected as deviation from a straight line</a:t>
            </a:r>
          </a:p>
        </p:txBody>
      </p:sp>
      <p:pic>
        <p:nvPicPr>
          <p:cNvPr descr="nonparametric_t_tests_lecture_files/figure-pptx/nonparametric-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86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some cases, data can be mathematically “transformed” to meet the assumptions of parametric tests. This usually involves:</a:t>
            </a:r>
          </a:p>
          <a:p>
            <a:pPr lvl="0"/>
            <a:r>
              <a:rPr/>
              <a:t>log₁₀ transformations</a:t>
            </a:r>
          </a:p>
          <a:p>
            <a:pPr lvl="0"/>
            <a:r>
              <a:rPr/>
              <a:t>square root transformations</a:t>
            </a:r>
          </a:p>
          <a:p>
            <a:pPr lvl="0"/>
            <a:r>
              <a:rPr/>
              <a:t>and many others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log_box_plot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ne12_island_box_plot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log_box_plot</a:t>
            </a:r>
          </a:p>
        </p:txBody>
      </p:sp>
      <p:pic>
        <p:nvPicPr>
          <p:cNvPr descr="nonparametric_t_tests_lecture_files/figure-pptx/nonparametric-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58900"/>
            <a:ext cx="4432300" cy="312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log scale pulls the two spreads much closer together — but it does </a:t>
            </a:r>
            <a:r>
              <a:rPr b="1"/>
              <a:t>not</a:t>
            </a:r>
            <a:r>
              <a:rPr/>
              <a:t> fix them completely. Levene’s test on </a:t>
            </a:r>
            <a:r>
              <a:rPr>
                <a:latin typeface="Courier"/>
              </a:rPr>
              <a:t>log10(mass_g)</a:t>
            </a:r>
            <a:r>
              <a:rPr/>
              <a:t> is still significant.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727700" y="1295400"/>
            <a:ext cx="20828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Reference chart of six common data transformations (square root, logarithm, inverse, and their ‘reflect and’ variants for left-skewed data), each shown as a small curve with its transformation formula, used to pick a transformation that matches a variable’s skew shape.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4"/>
              </a:rPr>
              <a:t>source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Why Log?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isn’t a trick you try at random — it fixes a specific shape of problem:</a:t>
            </a:r>
          </a:p>
          <a:p>
            <a:pPr lvl="0"/>
            <a:r>
              <a:rPr/>
              <a:t>Right-skewed data (a long tail of large values)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Effects that are </a:t>
            </a:r>
            <a:r>
              <a:rPr b="1"/>
              <a:t>multiplicative</a:t>
            </a:r>
            <a:r>
              <a:rPr/>
              <a:t> rather than additive (doubling a value, not adding a fixed amount) → </a:t>
            </a:r>
            <a:r>
              <a:rPr>
                <a:latin typeface="Courier"/>
              </a:rPr>
              <a:t>log10(x)</a:t>
            </a:r>
          </a:p>
          <a:p>
            <a:pPr lvl="0"/>
            <a:r>
              <a:rPr/>
              <a:t>Ratio-scale ecological measurements — mass, concentration, population size, area — are almost always multiplicative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mechanism, in one line</a:t>
            </a:r>
          </a:p>
          <a:p>
            <a:pPr lvl="0" indent="0" marL="1270000">
              <a:buNone/>
            </a:pPr>
            <a:r>
              <a:rPr sz="2000"/>
              <a:t>A trout that is twice as heavy as another isn’t “500 g more” — it’s “2×.” Log turns that multiplicative relationship into an additive one, which is what a t-test’s equal-spread assumption expects. It compresses the right tail: 100 g → 1000 g and 1000 g → 10,000 g become the </a:t>
            </a:r>
            <a:r>
              <a:rPr sz="2000" i="1"/>
              <a:t>same</a:t>
            </a:r>
            <a:r>
              <a:rPr sz="2000"/>
              <a:t> distance, one log unit.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 — Beyond 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 is the one you will reach for most in ecology, but match the transform to the shape of the problem: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when…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log10(x)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right-skewed, multiplicative, ratio-scale data (mass, concentration, abundance)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sqrt(x)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moderate right skew (Poisson-like variance)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asin(sqrt(x))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proportions or percentages bounded 0–1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1/x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rates, or extreme right skew that log doesn’t fix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Box-Cox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obvious transform works — let the data pick the power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None of these are guaranteed to work.</a:t>
            </a:r>
            <a:r>
              <a:rPr/>
              <a:t> You check afterward, every time — that’s Part 5 of the worksheet, and it’s the whole point of the take-home.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sqrt_box_plot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(lake,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(mass_g)))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log_box_plot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sqrt_box_plot</a:t>
            </a:r>
          </a:p>
        </p:txBody>
      </p:sp>
      <p:pic>
        <p:nvPicPr>
          <p:cNvPr descr="nonparametric_t_tests_lecture_files/figure-pptx/nonparametric-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113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sqrt()</a:t>
            </a:r>
            <a:r>
              <a:rPr/>
              <a:t> narrows the spread less than </a:t>
            </a:r>
            <a:r>
              <a:rPr>
                <a:latin typeface="Courier"/>
              </a:rPr>
              <a:t>log10()</a:t>
            </a:r>
            <a:r>
              <a:rPr/>
              <a:t> did here — this skew behaves more like a multiplicative effect than a count.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Transformation Can Fix One Problem, Not the Other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log10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(lake),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 Pr(&gt;F)    
group   1   11.77 0.0006784 ***
      330                      
---
Signif. codes:  0 '***' 0.001 '**' 0.01 '*' 0.05 '.' 0.1 ' ' 1</a:t>
            </a:r>
          </a:p>
          <a:p>
            <a:pPr lvl="0" indent="0" marL="0">
              <a:buNone/>
            </a:pPr>
            <a:r>
              <a:rPr/>
              <a:t>Compare that to the Levene’s result on raw </a:t>
            </a:r>
            <a:r>
              <a:rPr>
                <a:latin typeface="Courier"/>
              </a:rPr>
              <a:t>mass_g</a:t>
            </a:r>
            <a:r>
              <a:rPr/>
              <a:t> a few slides back — both fail. </a:t>
            </a:r>
            <a:r>
              <a:rPr b="1"/>
              <a:t>Normality improved with the log transform. Equal variance did not.</a:t>
            </a:r>
            <a:r>
              <a:rPr/>
              <a:t> Checking a transformation is not one pass/fail box — you re-test </a:t>
            </a:r>
            <a:r>
              <a:rPr i="1"/>
              <a:t>every</a:t>
            </a:r>
            <a:r>
              <a:rPr/>
              <a:t> assumption, separately, on the transformed variable.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This is the take-home’s whole trap</a:t>
            </a:r>
          </a:p>
          <a:p>
            <a:pPr lvl="0" indent="0" marL="1270000">
              <a:buNone/>
            </a:pPr>
            <a:r>
              <a:rPr sz="2000"/>
              <a:t>The sagebrush cricket data works the same way: a transformation can help one assumption without rescuing the other. There is no single “correct” test hiding in the data — there’s a </a:t>
            </a:r>
            <a:r>
              <a:rPr sz="2000" b="1"/>
              <a:t>best-justified</a:t>
            </a:r>
            <a:r>
              <a:rPr sz="2000"/>
              <a:t> one. Check every assumption on the raw data, then again on any transformed version, before you decide.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Welch’s T-Test — a One-Slide Refresher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Welch’s t-Test — why it exists, in one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met Welch’s last week: </a:t>
            </a:r>
            <a:r>
              <a:rPr b="1"/>
              <a:t>same t-statistic idea, separate variance estimates, fractional degrees of freedom.</a:t>
            </a:r>
            <a:r>
              <a:rPr/>
              <a:t> Nothing new to learn. What is new is </a:t>
            </a:r>
            <a:r>
              <a:rPr i="1"/>
              <a:t>this dataset</a:t>
            </a:r>
            <a:r>
              <a:rPr/>
              <a:t>, which shows you why it matters.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Student's -- assumes equal variances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-- does not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Same data. Same means. Sixty orders of magnitude apart.</a:t>
            </a:r>
          </a:p>
          <a:p>
            <a:pPr lvl="0" indent="0" marL="1270000">
              <a:buNone/>
            </a:pPr>
            <a:r>
              <a:rPr sz="2000"/>
              <a:t>(R only prints </a:t>
            </a:r>
            <a:r>
              <a:rPr sz="2000">
                <a:latin typeface="Courier"/>
              </a:rPr>
              <a:t>&lt; 2.2e-16</a:t>
            </a:r>
            <a:r>
              <a:rPr sz="2000"/>
              <a:t> for the first one — that is the smallest number it will show you. The true value is 5.7 × 10⁻³⁶.)</a:t>
            </a:r>
          </a:p>
          <a:p>
            <a:pPr lvl="0" indent="0" marL="1270000">
              <a:buNone/>
            </a:pPr>
            <a:r>
              <a:rPr sz="2000"/>
              <a:t>Look at the </a:t>
            </a:r>
            <a:r>
              <a:rPr sz="2000" b="1"/>
              <a:t>df</a:t>
            </a:r>
            <a:r>
              <a:rPr sz="2000"/>
              <a:t>. Student’s pooled 322 Island-sized fish with 10 NE 12-sized ones and claimed </a:t>
            </a:r>
            <a:r>
              <a:rPr sz="2000" b="1"/>
              <a:t>330 degrees of freedom</a:t>
            </a:r>
            <a:r>
              <a:rPr sz="2000"/>
              <a:t>. Welch’s looked at the same data and said: you really only have about </a:t>
            </a:r>
            <a:r>
              <a:rPr sz="2000" b="1"/>
              <a:t>9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Both still reject H₀ — but Student’s was never entitled to that much confidence. With n = 322 vs 10 and Levene’s p ≈ 6 × 10⁻⁷, the pooled variance is meaningless.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Unequal n </a:t>
            </a:r>
            <a:r>
              <a:rPr sz="2000" b="1"/>
              <a:t>and</a:t>
            </a:r>
            <a:r>
              <a:rPr sz="2000"/>
              <a:t> unequal variance is exactly the combination Welch’s was built for. When in doubt, </a:t>
            </a:r>
            <a:r>
              <a:rPr sz="2000">
                <a:latin typeface="Courier"/>
              </a:rPr>
              <a:t>var.equal = FALSE</a:t>
            </a:r>
            <a:r>
              <a:rPr sz="2000"/>
              <a:t> is the safer default — it costs you almost nothing when variances really are equal.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Rank-Based Tests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Rank-Based Tests — now on data that needs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two tests you ran on the pine needles in Part 1 — ranks instead of measurements, no assumption about the distribution.</a:t>
            </a:r>
          </a:p>
          <a:p>
            <a:pPr lvl="0"/>
            <a:r>
              <a:rPr/>
              <a:t>Ranks of data: observations are assigned ranks; sums (and signs, for paired tests) of ranks for groups are compared</a:t>
            </a:r>
          </a:p>
          <a:p>
            <a:pPr lvl="0"/>
            <a:r>
              <a:rPr b="1"/>
              <a:t>Mann-Whitney U test</a:t>
            </a:r>
            <a:r>
              <a:rPr/>
              <a:t> — common alternative to the independent-samples t-test</a:t>
            </a:r>
          </a:p>
          <a:p>
            <a:pPr lvl="0"/>
            <a:r>
              <a:rPr b="1"/>
              <a:t>Wilcoxon signed-rank test</a:t>
            </a:r>
            <a:r>
              <a:rPr/>
              <a:t> — alternative to the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can’t be met by transformation (weird distribution) or there are large outliers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difference from Part 1</a:t>
            </a:r>
          </a:p>
          <a:p>
            <a:pPr lvl="0" indent="0" marL="1270000">
              <a:buNone/>
            </a:pPr>
            <a:r>
              <a:rPr sz="2000"/>
              <a:t>On the pine needles the rank test was a </a:t>
            </a:r>
            <a:r>
              <a:rPr sz="2000" b="1"/>
              <a:t>cost</a:t>
            </a:r>
            <a:r>
              <a:rPr sz="2000"/>
              <a:t> — we gave up power on data that was already well behaved.</a:t>
            </a:r>
          </a:p>
          <a:p>
            <a:pPr lvl="0" indent="0" marL="1270000">
              <a:buNone/>
            </a:pPr>
            <a:r>
              <a:rPr sz="2000"/>
              <a:t>Here, NE 12 mass is non-normal at p &lt; 2.2 × 10⁻¹⁶ and full of outliers. There is nothing to give up. </a:t>
            </a:r>
            <a:r>
              <a:rPr sz="2000" b="1"/>
              <a:t>This</a:t>
            </a:r>
            <a:r>
              <a:rPr sz="2000"/>
              <a:t> is the case the test was built for.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13, covers the Mann-Whitney U test and Wilcoxon signed-rank test as the standard rank-based alternatives.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wilcox_test_result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isl_ne12_df)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wilcox_test_result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</a:t>
            </a:r>
            <a:r>
              <a:rPr sz="2000" b="1">
                <a:latin typeface="Courier"/>
              </a:rPr>
              <a:t>W</a:t>
            </a:r>
            <a:r>
              <a:rPr sz="2000" b="1"/>
              <a:t> again, and no “exact” this time</a:t>
            </a:r>
          </a:p>
          <a:p>
            <a:pPr lvl="0" indent="0" marL="1270000">
              <a:buNone/>
            </a:pPr>
            <a:r>
              <a:rPr sz="2000"/>
              <a:t>The statistic is </a:t>
            </a:r>
            <a:r>
              <a:rPr sz="2000">
                <a:latin typeface="Courier"/>
              </a:rPr>
              <a:t>W</a:t>
            </a:r>
            <a:r>
              <a:rPr sz="2000"/>
              <a:t>, not </a:t>
            </a:r>
            <a:r>
              <a:rPr sz="2000">
                <a:latin typeface="Courier"/>
              </a:rPr>
              <a:t>t</a:t>
            </a:r>
            <a:r>
              <a:rPr sz="2000"/>
              <a:t> — rank-based output, as in Part 1.</a:t>
            </a:r>
          </a:p>
          <a:p>
            <a:pPr lvl="0" indent="0" marL="1270000">
              <a:buNone/>
            </a:pPr>
            <a:r>
              <a:rPr sz="2000"/>
              <a:t>But notice what R </a:t>
            </a:r>
            <a:r>
              <a:rPr sz="2000" i="1"/>
              <a:t>doesn’t</a:t>
            </a:r>
            <a:r>
              <a:rPr sz="2000"/>
              <a:t> say: with 332 fish and plenty of tied masses it cannot enumerate every arrangement, so this is the </a:t>
            </a:r>
            <a:r>
              <a:rPr sz="2000" b="1"/>
              <a:t>normal approximation</a:t>
            </a:r>
            <a:r>
              <a:rPr sz="2000"/>
              <a:t>, not an exact test. At this sample size that is fine — the floor problem that crippled our four trees does not exist here.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Permutation Tests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are based on resampling: reshuffling the original data</a:t>
            </a:r>
          </a:p>
          <a:p>
            <a:pPr lvl="0"/>
            <a:r>
              <a:rPr/>
              <a:t>Resampling allows parameter estimation when the distribution is unknown, including SEs and CIs of statistics (means, medians)</a:t>
            </a:r>
          </a:p>
          <a:p>
            <a:pPr lvl="0"/>
            <a:r>
              <a:rPr/>
              <a:t>A common approach is the bootstrap: resample with replacement many times, recalculate sample stats</a:t>
            </a:r>
          </a:p>
          <a:p>
            <a:pPr lvl="0"/>
            <a:r>
              <a:rPr/>
              <a:t>We 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H₀: µ_A = µ_B, Hₐ: µ_A ≠ µ_B</a:t>
            </a:r>
          </a:p>
          <a:p>
            <a:pPr lvl="0"/>
            <a:r>
              <a:rPr/>
              <a:t>Calculates the difference Δ in means between two groups</a:t>
            </a:r>
          </a:p>
        </p:txBody>
      </p:sp>
      <p:pic>
        <p:nvPicPr>
          <p:cNvPr descr="nonparametric_t_tests_lecture_files/figure-pptx/nonparametric-t-tests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76400"/>
            <a:ext cx="27813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—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n₍NE 12₎ = 322 and n₍Island₎ = 10), calculate Δ</a:t>
            </a:r>
          </a:p>
          <a:p>
            <a:pPr lvl="0"/>
            <a:r>
              <a:rPr/>
              <a:t>Repeat &gt; 1,000 times</a:t>
            </a:r>
          </a:p>
          <a:p>
            <a:pPr lvl="0"/>
            <a:r>
              <a:rPr/>
              <a:t>Record the proportion of the differences in means as extreme as (or more extreme than) observed</a:t>
            </a:r>
          </a:p>
          <a:p>
            <a:pPr lvl="0"/>
            <a:r>
              <a:rPr/>
              <a:t>This is equivalent to a p-value, and can be used in the “traditional” hypothesis-testing framework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For a graphical explanation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jwilber.me/permutationtest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R, using the </a:t>
            </a:r>
            <a:r>
              <a:rPr>
                <a:latin typeface="Courier"/>
              </a:rPr>
              <a:t>perm</a:t>
            </a:r>
            <a:r>
              <a:rPr/>
              <a:t> package. Assumptions: both groups have a similar distribution; equal variance.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Balance the design: take 10 NE 12 fish, keep all of Island Lake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&lt;- </a:t>
            </a:r>
            <a:r>
              <a:rPr>
                <a:solidFill>
                  <a:srgbClr val="4758AB"/>
                </a:solidFill>
                <a:latin typeface="Courier"/>
              </a:rPr>
              <a:t>bind_rows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difference the test is about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          n  mean    sd    se ci_lower ci_upper
  &lt;chr&gt;       &lt;int&gt; &lt;dbl&gt; &lt;dbl&gt; &lt;dbl&gt;    &lt;dbl&gt;    &lt;dbl&gt;
1 Island Lake    10 3165  1617.  511.    2008.    4322.
2 NE 12          10  645.  538.  170.     260.    1030.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perm_df,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mass_g by lake
p-value = 2e-04
alternative hypothesis: true mean lake=Island Lake - mean lake=NE 12 is not equal to 0
sample estimates:
mean lake=Island Lake - mean lake=NE 12 
                                 2519.9 
p-value estimated from 10000 Monte Carlo replications
99 percent confidence interval on p-value:
 0.000000000 0.001059383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Summary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assumptions:</a:t>
            </a:r>
          </a:p>
          <a:p>
            <a:pPr lvl="0"/>
            <a:r>
              <a:rPr b="1"/>
              <a:t>Random sampling</a:t>
            </a:r>
            <a:r>
              <a:rPr/>
              <a:t> —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 —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 —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 — no extreme values that can skew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Assessing assumptions</a:t>
            </a:r>
          </a:p>
          <a:p>
            <a:pPr lvl="0"/>
            <a:r>
              <a:rPr sz="2000"/>
              <a:t>Key to do </a:t>
            </a:r>
            <a:r>
              <a:rPr sz="2000" i="1"/>
              <a:t>every time</a:t>
            </a:r>
          </a:p>
          <a:p>
            <a:pPr lvl="0"/>
            <a:r>
              <a:rPr sz="2000"/>
              <a:t>Should be acknowledged in the manuscript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report an effect size next to your p-value.</a:t>
            </a:r>
          </a:p>
          <a:p>
            <a:pPr lvl="0"/>
            <a:r>
              <a:rPr b="1"/>
              <a:t>Cohen’s d</a:t>
            </a:r>
            <a:r>
              <a:rPr/>
              <a:t> = the difference between groups, in standard deviations — unitless, and comparable across studies</a:t>
            </a:r>
          </a:p>
          <a:p>
            <a:pPr lvl="0"/>
            <a:r>
              <a:rPr b="1"/>
              <a:t>t = d × √n</a:t>
            </a:r>
            <a:r>
              <a:rPr/>
              <a:t>, so a p-value confounds </a:t>
            </a:r>
            <a:r>
              <a:rPr i="1"/>
              <a:t>how big the effect is</a:t>
            </a:r>
            <a:r>
              <a:rPr/>
              <a:t> with </a:t>
            </a:r>
            <a:r>
              <a:rPr i="1"/>
              <a:t>how hard you looked</a:t>
            </a:r>
          </a:p>
          <a:p>
            <a:pPr lvl="0"/>
            <a:r>
              <a:rPr/>
              <a:t>A </a:t>
            </a:r>
            <a:r>
              <a:rPr b="1"/>
              <a:t>confidence interval on d</a:t>
            </a:r>
            <a:r>
              <a:rPr/>
              <a:t> says what a bare “n.s.” never can: whether you found nothing, or found something you could not pin down</a:t>
            </a:r>
          </a:p>
          <a:p>
            <a:pPr lvl="0"/>
            <a:r>
              <a:rPr/>
              <a:t>Effect size is also the input to a power analysis — next week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On our four trees</a:t>
            </a:r>
          </a:p>
          <a:p>
            <a:pPr lvl="0" indent="0" marL="1270000">
              <a:buNone/>
            </a:pPr>
            <a:r>
              <a:rPr sz="2000"/>
              <a:t>Paired </a:t>
            </a:r>
            <a:r>
              <a:rPr sz="2000" b="1"/>
              <a:t>d = −1.36</a:t>
            </a:r>
            <a:r>
              <a:rPr sz="2000"/>
              <a:t>, CI [−2.74, 0.10], p = 0.072. A large effect, imprecisely measured. Reporting only “p = 0.072, n.s.” would have thrown that away.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 a results sentence</a:t>
            </a:r>
          </a:p>
          <a:p>
            <a:pPr lvl="0" indent="0" marL="1270000">
              <a:buNone/>
            </a:pPr>
            <a:r>
              <a:rPr sz="2000"/>
              <a:t>Needles on the shady side were 1.09 mm shorter than on the sunny side (paired </a:t>
            </a:r>
            <a:r>
              <a:rPr sz="2000" i="1"/>
              <a:t>t</a:t>
            </a:r>
            <a:r>
              <a:rPr sz="2000"/>
              <a:t>₃ = −2.72, </a:t>
            </a:r>
            <a:r>
              <a:rPr sz="2000" i="1"/>
              <a:t>p</a:t>
            </a:r>
            <a:r>
              <a:rPr sz="2000"/>
              <a:t> = 0.072, </a:t>
            </a:r>
            <a:r>
              <a:rPr sz="2000" i="1"/>
              <a:t>d</a:t>
            </a:r>
            <a:r>
              <a:rPr sz="2000"/>
              <a:t> = −1.36, 95% CI [−2.74, 0.10]).</a:t>
            </a:r>
          </a:p>
          <a:p>
            <a:pPr lvl="0" indent="0" marL="1270000">
              <a:buNone/>
            </a:pPr>
            <a:r>
              <a:rPr sz="2000"/>
              <a:t>Every number there does work the others cannot.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transformation:</a:t>
            </a:r>
            <a:r>
              <a:rPr/>
              <a:t> </a:t>
            </a:r>
            <a:r>
              <a:rPr>
                <a:latin typeface="Courier"/>
              </a:rPr>
              <a:t>log10(x)</a:t>
            </a:r>
            <a:r>
              <a:rPr/>
              <a:t> — useful for right-skewed data, multiplicative effects</a:t>
            </a:r>
          </a:p>
          <a:p>
            <a:pPr lvl="0"/>
            <a:r>
              <a:rPr b="1"/>
              <a:t>Square root:</a:t>
            </a:r>
            <a:r>
              <a:rPr/>
              <a:t> </a:t>
            </a:r>
            <a:r>
              <a:rPr>
                <a:latin typeface="Courier"/>
              </a:rPr>
              <a:t>sqrt(x)</a:t>
            </a:r>
            <a:r>
              <a:rPr/>
              <a:t> — useful for count data, moderately right-skewed distributions</a:t>
            </a:r>
          </a:p>
          <a:p>
            <a:pPr lvl="0"/>
            <a:r>
              <a:rPr b="1"/>
              <a:t>Box-Cox:</a:t>
            </a:r>
            <a:r>
              <a:rPr/>
              <a:t> a more flexible family of power transformations</a:t>
            </a:r>
          </a:p>
          <a:p>
            <a:pPr lvl="0"/>
            <a:r>
              <a:rPr/>
              <a:t>More specialized transformations exist, especially for percentages or proportions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Recall</a:t>
            </a:r>
          </a:p>
          <a:p>
            <a:pPr lvl="0" indent="0" marL="1270000">
              <a:buNone/>
            </a:pPr>
            <a:r>
              <a:rPr sz="2000"/>
              <a:t>We saw </a:t>
            </a:r>
            <a:r>
              <a:rPr sz="2000">
                <a:latin typeface="Courier"/>
              </a:rPr>
              <a:t>log10()</a:t>
            </a:r>
            <a:r>
              <a:rPr sz="2000"/>
              <a:t> shrink the gap between the NE 12 and Island Lake boxplots earlier — that’s the transformation working.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1. Standard t-test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High statistical power when assumptions are met</a:t>
            </a:r>
          </a:p>
          <a:p>
            <a:pPr lvl="0"/>
            <a:r>
              <a:rPr/>
              <a:t>Well understood and widely accepted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Sensitive to violations of normality, equal variance</a:t>
            </a:r>
          </a:p>
          <a:p>
            <a:pPr lvl="0"/>
            <a:r>
              <a:rPr/>
              <a:t>Heavily influenced by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2. Welch’s t-test</a:t>
            </a:r>
          </a:p>
          <a:p>
            <a:pPr lvl="0" indent="0" marL="0">
              <a:buNone/>
            </a:pPr>
            <a:r>
              <a:rPr/>
              <a:t>Covered in full in the </a:t>
            </a:r>
            <a:r>
              <a:rPr b="1"/>
              <a:t>T-Tests</a:t>
            </a:r>
            <a:r>
              <a:rPr/>
              <a:t> lecture; the one-slide refresher in Part 5 is all we needed today.</a:t>
            </a:r>
          </a:p>
          <a:p>
            <a:pPr lvl="0"/>
            <a:r>
              <a:rPr/>
              <a:t>Robust to unequal variances </a:t>
            </a:r>
            <a:r>
              <a:rPr b="1"/>
              <a:t>and</a:t>
            </a:r>
            <a:r>
              <a:rPr/>
              <a:t> unequal n — which is exactly our NE 12 vs. Island Lake case</a:t>
            </a:r>
          </a:p>
          <a:p>
            <a:pPr lvl="0"/>
            <a:r>
              <a:rPr/>
              <a:t>Still </a:t>
            </a:r>
            <a:r>
              <a:rPr b="1"/>
              <a:t>parametric</a:t>
            </a:r>
            <a:r>
              <a:rPr/>
              <a:t>: it fixes the variance assumption, not the normality one</a:t>
            </a:r>
          </a:p>
          <a:p>
            <a:pPr lvl="0"/>
            <a:r>
              <a:rPr/>
              <a:t>Costs almost nothing when variances really are equal, so it is a safe default</a:t>
            </a:r>
          </a:p>
          <a:p>
            <a:pPr lvl="0"/>
            <a:r>
              <a:rPr/>
              <a:t>On these data it moved df from </a:t>
            </a:r>
            <a:r>
              <a:rPr b="1"/>
              <a:t>330 to 9.06</a:t>
            </a:r>
            <a:r>
              <a:rPr/>
              <a:t> — that is the whole story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3. Mann-Whitney-Wilcoxon test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Non-parametric: doesn’t assume normal distribution</a:t>
            </a:r>
          </a:p>
          <a:p>
            <a:pPr lvl="0"/>
            <a:r>
              <a:rPr/>
              <a:t>Robust against outliers</a:t>
            </a:r>
          </a:p>
          <a:p>
            <a:pPr lvl="0"/>
            <a:r>
              <a:rPr/>
              <a:t>Works with ordinal data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Less statistical power than parametric tests</a:t>
            </a:r>
          </a:p>
          <a:p>
            <a:pPr lvl="0"/>
            <a:r>
              <a:rPr/>
              <a:t>Still assumes similar distributions and approximately equal variance</a:t>
            </a:r>
          </a:p>
          <a:p>
            <a:pPr lvl="0"/>
            <a:r>
              <a:rPr/>
              <a:t>Tests median differences rather than mean differences</a:t>
            </a:r>
          </a:p>
          <a:p>
            <a:pPr lvl="0"/>
            <a:r>
              <a:rPr b="1"/>
              <a:t>At small n there is a hard floor on the p-value</a:t>
            </a:r>
            <a:r>
              <a:rPr/>
              <a:t> — with 4 pairs a signed-rank test cannot go below 0.125 (see Part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4. Permutation tests</a:t>
            </a:r>
          </a:p>
          <a:p>
            <a:pPr lvl="0" indent="0" marL="0">
              <a:buNone/>
            </a:pPr>
            <a:r>
              <a:rPr/>
              <a:t>Strengths:</a:t>
            </a:r>
          </a:p>
          <a:p>
            <a:pPr lvl="0"/>
            <a:r>
              <a:rPr/>
              <a:t>Distribution-free: doesn’t assume a specific distribution</a:t>
            </a:r>
          </a:p>
          <a:p>
            <a:pPr lvl="0"/>
            <a:r>
              <a:rPr/>
              <a:t>Can be applied to many types of test statistics</a:t>
            </a:r>
          </a:p>
          <a:p>
            <a:pPr lvl="0"/>
            <a:r>
              <a:rPr/>
              <a:t>Valid at small n — the p-value is exact, not an approximation</a:t>
            </a:r>
          </a:p>
          <a:p>
            <a:pPr lvl="0"/>
            <a:r>
              <a:rPr/>
              <a:t>Directly estimates p-values through resampling</a:t>
            </a:r>
          </a:p>
          <a:p>
            <a:pPr lvl="0" indent="0" marL="0">
              <a:buNone/>
            </a:pPr>
            <a:r>
              <a:rPr/>
              <a:t>Weaknesses:</a:t>
            </a:r>
          </a:p>
          <a:p>
            <a:pPr lvl="0"/>
            <a:r>
              <a:rPr/>
              <a:t>Computationally intensive</a:t>
            </a:r>
          </a:p>
          <a:p>
            <a:pPr lvl="0"/>
            <a:r>
              <a:rPr/>
              <a:t>Assumes exchangeability under the null hypothesis</a:t>
            </a:r>
          </a:p>
          <a:p>
            <a:pPr lvl="0"/>
            <a:r>
              <a:rPr/>
              <a:t>Requires similar distributions and equal variance</a:t>
            </a:r>
          </a:p>
          <a:p>
            <a:pPr lvl="0"/>
            <a:r>
              <a:rPr b="1"/>
              <a:t>Hits the same small-n floor as the rank tests</a:t>
            </a:r>
            <a:r>
              <a:rPr/>
              <a:t> — being exact is not the same as being powerful, because there are only so many ways to rearrange 8 numbers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data’s characteristics, not just convenience.</a:t>
            </a:r>
          </a:p>
          <a:p>
            <a:pPr lvl="0" indent="0" marL="0">
              <a:buNone/>
            </a:pPr>
            <a:r>
              <a:rPr b="1"/>
              <a:t>Always visualize your data before deciding on the appropriate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Standard t-test → Welch’s → Mann-Whitney/Permutation isn’t a strict ladder of “better” tests — each answers a slightly different question (means vs. medians) under different assumptions. Pick based on what your data actually looks like.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Looking Ahead — The 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8 of the worksheet (sagebrush crickets, due before Study Design &amp; Sampling) hands you a new dataset and asks </a:t>
            </a:r>
            <a:r>
              <a:rPr b="1"/>
              <a:t>you</a:t>
            </a:r>
            <a:r>
              <a:rPr/>
              <a:t> to run the whole decision process from today: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on the raw data</a:t>
            </a:r>
          </a:p>
          <a:p>
            <a:pPr lvl="0" indent="-342900" marL="342900">
              <a:buAutoNum type="arabicPeriod"/>
            </a:pPr>
            <a:r>
              <a:rPr/>
              <a:t>Try a transformation if the raw data doesn’t pass</a:t>
            </a:r>
          </a:p>
          <a:p>
            <a:pPr lvl="0" indent="-342900" marL="342900">
              <a:buAutoNum type="arabicPeriod"/>
            </a:pPr>
            <a:r>
              <a:rPr/>
              <a:t>Check normality and equal variance </a:t>
            </a:r>
            <a:r>
              <a:rPr b="1"/>
              <a:t>again</a:t>
            </a:r>
            <a:r>
              <a:rPr/>
              <a:t>, on the transformed data — don’t assume it worked</a:t>
            </a:r>
          </a:p>
          <a:p>
            <a:pPr lvl="0" indent="-342900" marL="342900">
              <a:buAutoNum type="arabicPeriod"/>
            </a:pPr>
            <a:r>
              <a:rPr/>
              <a:t>Pick a test, justify the pick, and report it properly</a:t>
            </a:r>
          </a:p>
          <a:p>
            <a:pPr lvl="0" indent="0" marL="0">
              <a:buNone/>
            </a:pPr>
            <a:r>
              <a:rPr/>
              <a:t>There is no lecture slide that tells you the answer this time.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Remember from today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log10()</a:t>
            </a:r>
            <a:r>
              <a:rPr sz="2000"/>
              <a:t> fixed normality for the lake trout but </a:t>
            </a:r>
            <a:r>
              <a:rPr sz="2000" b="1"/>
              <a:t>not</a:t>
            </a:r>
            <a:r>
              <a:rPr sz="2000"/>
              <a:t> equal variance. Expect the crickets to behave similarly — a transformation earning partial credit is a completely normal outcome, not a sign you did something wrong.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Non-Parametric T-Tests</dc:title>
  <dc:creator>Bill Perry</dc:creator>
  <cp:keywords/>
  <dc:description>Rank-based tests on our own pine needle data — where the assumptions hold and the tests cost us power — then lake trout mass, where the assumptions genuinely fail and robust, rank-based, and permutation tests earn their keep.</dc:description>
  <dcterms:created xsi:type="dcterms:W3CDTF">2026-09-23T17:39:37Z</dcterms:created>
  <dcterms:modified xsi:type="dcterms:W3CDTF">2026-09-23T17:39:37Z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Rank-based tests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