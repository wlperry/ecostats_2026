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Power — what it is and why we talk about it</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unnamed-chunk-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unnamed-chunk-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unnamed-chunk-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unnamed-chunk-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unnamed-chunk-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unnamed-chunk-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unnamed-chunk-13-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003B4F"/>
                </a:solidFill>
                <a:latin typeface="Courier"/>
              </a:rPr>
              <a:t>ne12_perm_data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5E5E5E"/>
                </a:solidFill>
                <a:latin typeface="Courier"/>
              </a:rPr>
              <a:t># Randomly sample exactly 25 observations from NE 12</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ne12_perm_data &lt;- </a:t>
            </a:r>
            <a:r>
              <a:rPr>
                <a:solidFill>
                  <a:srgbClr val="4758AB"/>
                </a:solidFill>
                <a:latin typeface="Courier"/>
              </a:rPr>
              <a:t>sample</a:t>
            </a:r>
            <a:r>
              <a:rPr>
                <a:solidFill>
                  <a:srgbClr val="003B4F"/>
                </a:solidFill>
                <a:latin typeface="Courier"/>
              </a:rPr>
              <a:t>(ne12_perm_data,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replace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island_perm_data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003B4F"/>
                </a:solidFill>
                <a:latin typeface="Courier"/>
              </a:rPr>
              <a:t>observed_diff &lt;- </a:t>
            </a:r>
            <a:r>
              <a:rPr>
                <a:solidFill>
                  <a:srgbClr val="4758AB"/>
                </a:solidFill>
                <a:latin typeface="Courier"/>
              </a:rPr>
              <a:t>mean</a:t>
            </a:r>
            <a:r>
              <a:rPr>
                <a:solidFill>
                  <a:srgbClr val="003B4F"/>
                </a:solidFill>
                <a:latin typeface="Courier"/>
              </a:rPr>
              <a:t>(ne12_perm_data,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(island_perm_data,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(ne12_perm_data, island_perm_data,</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GROUP 1 and GROUP 2
p-value = 2e-04
alternative hypothesis: true mean GROUP 1 - mean GROUP 2 is not equal to 0
sample estimates:
mean GROUP 1 - mean GROUP 2 
                    -333.08 
p-value estimated from 10000 Monte Carlo replications
99 percent confidence interval on p-value:
 0.000000000 0.001059383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Handles small sample sizes well</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2026-08-26T17:14:06Z</dcterms:created>
  <dcterms:modified xsi:type="dcterms:W3CDTF">2026-08-26T17:14:06Z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7</vt:lpwstr>
  </property>
  <property fmtid="{D5CDD505-2E9C-101B-9397-08002B2CF9AE}" pid="12" name="resources">
    <vt:lpwstr/>
  </property>
  <property fmtid="{D5CDD505-2E9C-101B-9397-08002B2CF9AE}" pid="13" name="subtitle">
    <vt:lpwstr>Rank-based tests</vt:lpwstr>
  </property>
  <property fmtid="{D5CDD505-2E9C-101B-9397-08002B2CF9AE}" pid="14" name="toc-title">
    <vt:lpwstr>Table of contents</vt:lpwstr>
  </property>
  <property fmtid="{D5CDD505-2E9C-101B-9397-08002B2CF9AE}" pid="15" name="week">
    <vt:lpwstr>4</vt:lpwstr>
  </property>
</Properties>
</file>