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CC31"/>
    <a:srgbClr val="70121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726"/>
  </p:normalViewPr>
  <p:slideViewPr>
    <p:cSldViewPr snapToGrid="0" snapToObjects="1">
      <p:cViewPr varScale="1">
        <p:scale>
          <a:sx d="100" n="165"/>
          <a:sy d="100" n="165"/>
        </p:scale>
        <p:origin x="560" y="176"/>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4" Type="http://schemas.openxmlformats.org/officeDocument/2006/relationships/viewProps" Target="viewProps.xml" /><Relationship Id="rId13" Type="http://schemas.openxmlformats.org/officeDocument/2006/relationships/presProps" Target="presProps.xml" /><Relationship Id="rId1" Type="http://schemas.openxmlformats.org/officeDocument/2006/relationships/slideMaster" Target="slideMasters/slideMaster1.xml" /><Relationship Id="rId16" Type="http://schemas.openxmlformats.org/officeDocument/2006/relationships/tableStyles" Target="tableStyles.xml" /><Relationship Id="rId15"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normAutofit/>
          </a:bodyPr>
          <a:lstStyle>
            <a:lvl1pPr>
              <a:defRPr sz="2400"/>
            </a:lvl1pPr>
          </a:lstStyle>
          <a:p>
            <a:r>
              <a:rPr lang="en-US" dirty="0"/>
              <a:t>Click to edit Master title style</a:t>
            </a:r>
          </a:p>
        </p:txBody>
      </p:sp>
      <p:sp>
        <p:nvSpPr>
          <p:cNvPr id="3" name="Subtitle 2"/>
          <p:cNvSpPr>
            <a:spLocks noGrp="1"/>
          </p:cNvSpPr>
          <p:nvPr>
            <p:ph type="subTitle" idx="1"/>
          </p:nvPr>
        </p:nvSpPr>
        <p:spPr>
          <a:xfrm>
            <a:off x="255722" y="565689"/>
            <a:ext cx="6400800" cy="1314450"/>
          </a:xfrm>
        </p:spPr>
        <p:txBody>
          <a:bodyPr>
            <a:normAutofit/>
          </a:bodyPr>
          <a:lstStyle>
            <a:lvl1pPr marL="0" indent="0" algn="ctr">
              <a:buNone/>
              <a:defRPr sz="2000">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normAutofit/>
          </a:bodyPr>
          <a:lstStyle>
            <a:lvl1pPr algn="l">
              <a:defRPr sz="2400"/>
            </a:lvl1pPr>
          </a:lstStyle>
          <a:p>
            <a:r>
              <a:rPr lang="en-US" dirty="0"/>
              <a:t>Click to edit Master title style</a:t>
            </a:r>
          </a:p>
        </p:txBody>
      </p:sp>
      <p:sp>
        <p:nvSpPr>
          <p:cNvPr id="3" name="Content Placeholder 2"/>
          <p:cNvSpPr>
            <a:spLocks noGrp="1"/>
          </p:cNvSpPr>
          <p:nvPr>
            <p:ph idx="1"/>
          </p:nvPr>
        </p:nvSpPr>
        <p:spPr>
          <a:xfrm>
            <a:off x="0" y="614605"/>
            <a:ext cx="9089756" cy="3914289"/>
          </a:xfrm>
        </p:spPr>
        <p:txBody>
          <a:bodyPr>
            <a:normAutofit/>
          </a:bodyPr>
          <a:lstStyle>
            <a:lvl1pPr marL="230188" indent="-230188">
              <a:tabLst/>
              <a:defRPr sz="1800"/>
            </a:lvl1pPr>
            <a:lvl2pPr marL="514350" indent="-284163">
              <a:spcBef>
                <a:spcPts val="0"/>
              </a:spcBef>
              <a:tabLst/>
              <a:defRPr sz="1600"/>
            </a:lvl2pPr>
            <a:lvl3pPr marL="692150" indent="-177800">
              <a:spcBef>
                <a:spcPts val="0"/>
              </a:spcBef>
              <a:tabLst/>
              <a:defRPr sz="1400"/>
            </a:lvl3pPr>
            <a:lvl4pPr marL="914400" indent="-222250">
              <a:spcBef>
                <a:spcPts val="0"/>
              </a:spcBef>
              <a:tabLst/>
              <a:defRPr sz="1400"/>
            </a:lvl4pPr>
            <a:lvl5pPr marL="1146175" indent="-231775">
              <a:spcBef>
                <a:spcPts val="0"/>
              </a:spcBef>
              <a:tabLst/>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21556"/>
          </a:xfrm>
        </p:spPr>
        <p:txBody>
          <a:bodyPr anchor="t">
            <a:normAutofit/>
          </a:bodyPr>
          <a:lstStyle>
            <a:lvl1pPr algn="l">
              <a:defRPr sz="2400" b="1" cap="all"/>
            </a:lvl1pPr>
          </a:lstStyle>
          <a:p>
            <a:r>
              <a:rPr lang="en-US" dirty="0"/>
              <a:t>Click to edit Master title style</a:t>
            </a:r>
          </a:p>
        </p:txBody>
      </p:sp>
      <p:sp>
        <p:nvSpPr>
          <p:cNvPr id="3" name="Text Placeholder 2"/>
          <p:cNvSpPr>
            <a:spLocks noGrp="1"/>
          </p:cNvSpPr>
          <p:nvPr>
            <p:ph type="body" idx="1"/>
          </p:nvPr>
        </p:nvSpPr>
        <p:spPr>
          <a:xfrm>
            <a:off x="457200" y="1141649"/>
            <a:ext cx="7772400" cy="1125140"/>
          </a:xfrm>
        </p:spPr>
        <p:txBody>
          <a:bodyPr anchor="b">
            <a:normAutofit/>
          </a:bodyPr>
          <a:lstStyle>
            <a:lvl1pPr marL="0" indent="0">
              <a:buNone/>
              <a:defRPr sz="16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lvl1pPr algn="l">
              <a:defRPr b="0">
                <a:solidFill>
                  <a:srgbClr val="FDCC31"/>
                </a:solidFill>
              </a:defRPr>
            </a:lvl1pPr>
          </a:lstStyle>
          <a:p>
            <a:r>
              <a:rPr lang="en-US" dirty="0"/>
              <a:t>Click to edit Master title style</a:t>
            </a:r>
          </a:p>
        </p:txBody>
      </p:sp>
      <p:sp>
        <p:nvSpPr>
          <p:cNvPr id="3" name="Content Placeholder 2"/>
          <p:cNvSpPr>
            <a:spLocks noGrp="1"/>
          </p:cNvSpPr>
          <p:nvPr>
            <p:ph sz="half" idx="1"/>
          </p:nvPr>
        </p:nvSpPr>
        <p:spPr>
          <a:xfrm>
            <a:off x="9040" y="662663"/>
            <a:ext cx="6010759" cy="4480837"/>
          </a:xfrm>
        </p:spPr>
        <p:txBody>
          <a:bodyPr>
            <a:normAutofit/>
          </a:bodyPr>
          <a:lstStyle>
            <a:lvl1pPr marL="230188" indent="-230188">
              <a:tabLst/>
              <a:defRPr sz="1800"/>
            </a:lvl1pPr>
            <a:lvl2pPr marL="460375" indent="-230188">
              <a:tabLst/>
              <a:defRPr sz="1600"/>
            </a:lvl2pPr>
            <a:lvl3pPr marL="630238" indent="-169863">
              <a:tabLst/>
              <a:defRPr sz="1400"/>
            </a:lvl3pPr>
            <a:lvl4pPr marL="914400" indent="-284163">
              <a:tabLst/>
              <a:defRPr sz="1400"/>
            </a:lvl4pPr>
            <a:lvl5pPr marL="1146175" indent="-231775">
              <a:tabLst/>
              <a:defRPr sz="1400"/>
            </a:lvl5pPr>
            <a:lvl6pPr>
              <a:defRPr sz="1350"/>
            </a:lvl6pPr>
            <a:lvl7pPr>
              <a:defRPr sz="1350"/>
            </a:lvl7pPr>
            <a:lvl8pPr>
              <a:defRPr sz="1350"/>
            </a:lvl8pPr>
            <a:lvl9pPr>
              <a:defRPr sz="135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29580" y="662664"/>
            <a:ext cx="2790986" cy="4480836"/>
          </a:xfrm>
        </p:spPr>
        <p:txBody>
          <a:bodyPr>
            <a:normAutofit/>
          </a:bodyPr>
          <a:lstStyle>
            <a:lvl1pPr marL="342900" indent="-342900">
              <a:defRPr lang="en-US" sz="1800" kern="1200" dirty="0">
                <a:solidFill>
                  <a:schemeClr val="tx1"/>
                </a:solidFill>
                <a:latin typeface="+mn-lt"/>
                <a:ea typeface="+mn-ea"/>
                <a:cs typeface="+mn-cs"/>
              </a:defRPr>
            </a:lvl1pPr>
            <a:lvl2pPr marL="515937" indent="-285750">
              <a:defRPr lang="en-US" sz="1600" kern="1200" dirty="0">
                <a:solidFill>
                  <a:schemeClr val="tx1"/>
                </a:solidFill>
                <a:latin typeface="+mn-lt"/>
                <a:ea typeface="+mn-ea"/>
                <a:cs typeface="+mn-cs"/>
              </a:defRPr>
            </a:lvl2pPr>
            <a:lvl3pPr marL="746125" indent="-285750">
              <a:defRPr lang="en-US" sz="1400" kern="1200" dirty="0">
                <a:solidFill>
                  <a:schemeClr val="tx1"/>
                </a:solidFill>
                <a:latin typeface="+mn-lt"/>
                <a:ea typeface="+mn-ea"/>
                <a:cs typeface="+mn-cs"/>
              </a:defRPr>
            </a:lvl3pPr>
            <a:lvl4pPr marL="915987" indent="-285750">
              <a:defRPr lang="en-US" sz="1400" kern="1200" dirty="0">
                <a:solidFill>
                  <a:schemeClr val="tx1"/>
                </a:solidFill>
                <a:latin typeface="+mn-lt"/>
                <a:ea typeface="+mn-ea"/>
                <a:cs typeface="+mn-cs"/>
              </a:defRPr>
            </a:lvl4pPr>
            <a:lvl5pPr marL="1200150" indent="-285750">
              <a:defRPr lang="en-US" sz="1400" kern="1200" dirty="0">
                <a:solidFill>
                  <a:schemeClr val="tx1"/>
                </a:solidFill>
                <a:latin typeface="+mn-lt"/>
                <a:ea typeface="+mn-ea"/>
                <a:cs typeface="+mn-cs"/>
              </a:defRPr>
            </a:lvl5pPr>
            <a:lvl6pPr>
              <a:defRPr sz="1350"/>
            </a:lvl6pPr>
            <a:lvl7pPr>
              <a:defRPr sz="1350"/>
            </a:lvl7pPr>
            <a:lvl8pPr>
              <a:defRPr sz="1350"/>
            </a:lvl8pPr>
            <a:lvl9pPr>
              <a:defRPr sz="1350"/>
            </a:lvl9pPr>
          </a:lstStyle>
          <a:p>
            <a:pPr marL="230188" lvl="0" indent="-230188" algn="l" defTabSz="342900" rtl="0" eaLnBrk="1" latinLnBrk="0" hangingPunct="1">
              <a:spcBef>
                <a:spcPct val="20000"/>
              </a:spcBef>
              <a:buFont typeface="Arial"/>
              <a:buChar char="•"/>
              <a:tabLst/>
            </a:pPr>
            <a:r>
              <a:rPr lang="en-US" dirty="0"/>
              <a:t>Click to edit Master text styles</a:t>
            </a:r>
          </a:p>
          <a:p>
            <a:pPr marL="460375" lvl="1" indent="-230188" algn="l" defTabSz="342900" rtl="0" eaLnBrk="1" latinLnBrk="0" hangingPunct="1">
              <a:spcBef>
                <a:spcPct val="20000"/>
              </a:spcBef>
              <a:buFont typeface="Arial"/>
              <a:buChar char="–"/>
              <a:tabLst/>
            </a:pPr>
            <a:r>
              <a:rPr lang="en-US" dirty="0"/>
              <a:t>Second level</a:t>
            </a:r>
          </a:p>
          <a:p>
            <a:pPr marL="630238" lvl="2" indent="-169863" algn="l" defTabSz="342900" rtl="0" eaLnBrk="1" latinLnBrk="0" hangingPunct="1">
              <a:spcBef>
                <a:spcPct val="20000"/>
              </a:spcBef>
              <a:buFont typeface="Arial"/>
              <a:buChar char="•"/>
              <a:tabLst/>
            </a:pPr>
            <a:r>
              <a:rPr lang="en-US" dirty="0"/>
              <a:t>Third level</a:t>
            </a:r>
          </a:p>
          <a:p>
            <a:pPr marL="914400" lvl="3" indent="-284163" algn="l" defTabSz="342900" rtl="0" eaLnBrk="1" latinLnBrk="0" hangingPunct="1">
              <a:spcBef>
                <a:spcPct val="20000"/>
              </a:spcBef>
              <a:buFont typeface="Arial"/>
              <a:buChar char="–"/>
              <a:tabLst/>
            </a:pPr>
            <a:r>
              <a:rPr lang="en-US" dirty="0"/>
              <a:t>Fourth level</a:t>
            </a:r>
          </a:p>
          <a:p>
            <a:pPr marL="1146175" lvl="4" indent="-231775" algn="l" defTabSz="342900" rtl="0" eaLnBrk="1" latinLnBrk="0" hangingPunct="1">
              <a:spcBef>
                <a:spcPct val="20000"/>
              </a:spcBef>
              <a:buFont typeface="Arial"/>
              <a:buChar char="»"/>
              <a:tabLst/>
            </a:pPr>
            <a:r>
              <a:rPr lang="en-US" dirty="0"/>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normAutofit/>
          </a:bodyPr>
          <a:lstStyle>
            <a:lvl1pPr algn="l">
              <a:defRPr sz="2800"/>
            </a:lvl1pPr>
          </a:lstStyle>
          <a:p>
            <a:r>
              <a:rPr lang="en-US" dirty="0"/>
              <a:t>Click to edit Master title style</a:t>
            </a:r>
          </a:p>
        </p:txBody>
      </p:sp>
      <p:sp>
        <p:nvSpPr>
          <p:cNvPr id="3" name="Text Placeholder 2"/>
          <p:cNvSpPr>
            <a:spLocks noGrp="1"/>
          </p:cNvSpPr>
          <p:nvPr>
            <p:ph type="body" idx="1"/>
          </p:nvPr>
        </p:nvSpPr>
        <p:spPr>
          <a:xfrm>
            <a:off x="136201" y="802623"/>
            <a:ext cx="4435799"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4" name="Content Placeholder 3"/>
          <p:cNvSpPr>
            <a:spLocks noGrp="1"/>
          </p:cNvSpPr>
          <p:nvPr>
            <p:ph sz="half" idx="2"/>
          </p:nvPr>
        </p:nvSpPr>
        <p:spPr>
          <a:xfrm>
            <a:off x="136201" y="1282444"/>
            <a:ext cx="4435799" cy="3305054"/>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753514" y="823389"/>
            <a:ext cx="4041775"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753514" y="1303210"/>
            <a:ext cx="4041775" cy="3284288"/>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3/24/25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3/24/25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3/24/25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nchor="t" anchorCtr="0">
            <a:normAutofit/>
          </a:bodyPr>
          <a:lstStyle>
            <a:lvl1pPr algn="l">
              <a:defRPr sz="2400" b="1"/>
            </a:lvl1pPr>
          </a:lstStyle>
          <a:p>
            <a:r>
              <a:rPr lang="en-US"/>
              <a:t>Click to edit Master title style</a:t>
            </a:r>
          </a:p>
        </p:txBody>
      </p:sp>
      <p:sp>
        <p:nvSpPr>
          <p:cNvPr id="3" name="Content Placeholder 2"/>
          <p:cNvSpPr>
            <a:spLocks noGrp="1"/>
          </p:cNvSpPr>
          <p:nvPr>
            <p:ph idx="1"/>
          </p:nvPr>
        </p:nvSpPr>
        <p:spPr>
          <a:xfrm>
            <a:off x="3657600" y="960804"/>
            <a:ext cx="5238426" cy="3806460"/>
          </a:xfrm>
        </p:spPr>
        <p:txBody>
          <a:bodyPr>
            <a:normAutofit/>
          </a:bodyPr>
          <a:lstStyle>
            <a:lvl1pPr>
              <a:defRPr sz="1800"/>
            </a:lvl1pPr>
            <a:lvl2pPr>
              <a:defRPr sz="1600"/>
            </a:lvl2pPr>
            <a:lvl3pPr>
              <a:defRPr sz="1600"/>
            </a:lvl3pPr>
            <a:lvl4pPr>
              <a:defRPr sz="1600"/>
            </a:lvl4pPr>
            <a:lvl5pPr>
              <a:defRPr sz="1600"/>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0" y="960803"/>
            <a:ext cx="3541363" cy="3518297"/>
          </a:xfrm>
        </p:spPr>
        <p:txBody>
          <a:bodyPr>
            <a:normAutofit/>
          </a:bodyPr>
          <a:lstStyle>
            <a:lvl1pPr marL="0" indent="0">
              <a:buNone/>
              <a:defRPr sz="16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7490" y="102393"/>
            <a:ext cx="8934774" cy="582780"/>
          </a:xfrm>
          <a:prstGeom prst="rect">
            <a:avLst/>
          </a:prstGeom>
          <a:solidFill>
            <a:srgbClr val="70121D"/>
          </a:solidFill>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77489" y="781696"/>
            <a:ext cx="8934773" cy="3914289"/>
          </a:xfrm>
          <a:prstGeom prst="rect">
            <a:avLst/>
          </a:prstGeom>
        </p:spPr>
        <p:txBody>
          <a:bodyPr bIns="45720" lIns="91440" rIns="91440" rtlCol="0" tIns="45720" vert="horz">
            <a:normAutofit/>
          </a:body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3/24/25</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342900" eaLnBrk="1" hangingPunct="1" latinLnBrk="0" rtl="0">
        <a:spcBef>
          <a:spcPct val="0"/>
        </a:spcBef>
        <a:buNone/>
        <a:defRPr kern="1200" sz="2800">
          <a:solidFill>
            <a:srgbClr val="FDCC31"/>
          </a:solidFill>
          <a:latin typeface="+mj-lt"/>
          <a:ea typeface="+mj-ea"/>
          <a:cs typeface="+mj-cs"/>
        </a:defRPr>
      </a:lvl1pPr>
    </p:titleStyle>
    <p:bodyStyle>
      <a:lvl1pPr algn="l" defTabSz="342900" eaLnBrk="1" hangingPunct="1" indent="-342900" latinLnBrk="0" marL="342900" rtl="0">
        <a:spcBef>
          <a:spcPts val="0"/>
        </a:spcBef>
        <a:buFont typeface="Arial"/>
        <a:buChar char="•"/>
        <a:defRPr b="0" kern="1200" sz="1800">
          <a:solidFill>
            <a:schemeClr val="tx1"/>
          </a:solidFill>
          <a:latin typeface="+mn-lt"/>
          <a:ea typeface="+mn-ea"/>
          <a:cs typeface="+mn-cs"/>
        </a:defRPr>
      </a:lvl1pPr>
      <a:lvl2pPr algn="l" defTabSz="342900" eaLnBrk="1" hangingPunct="1" indent="-342900" latinLnBrk="0" marL="685800" rtl="0">
        <a:spcBef>
          <a:spcPts val="0"/>
        </a:spcBef>
        <a:buFont typeface="Arial"/>
        <a:buChar char="–"/>
        <a:defRPr kern="1200" sz="1600">
          <a:solidFill>
            <a:schemeClr val="tx1"/>
          </a:solidFill>
          <a:latin typeface="+mn-lt"/>
          <a:ea typeface="+mn-ea"/>
          <a:cs typeface="+mn-cs"/>
        </a:defRPr>
      </a:lvl2pPr>
      <a:lvl3pPr algn="l" defTabSz="342900" eaLnBrk="1" hangingPunct="1" indent="-342900" latinLnBrk="0" marL="1028700" rtl="0">
        <a:spcBef>
          <a:spcPts val="0"/>
        </a:spcBef>
        <a:buFont typeface="Arial"/>
        <a:buChar char="•"/>
        <a:defRPr kern="1200" sz="1600">
          <a:solidFill>
            <a:schemeClr val="tx1"/>
          </a:solidFill>
          <a:latin typeface="+mn-lt"/>
          <a:ea typeface="+mn-ea"/>
          <a:cs typeface="+mn-cs"/>
        </a:defRPr>
      </a:lvl3pPr>
      <a:lvl4pPr algn="l" defTabSz="342900" eaLnBrk="1" hangingPunct="1" indent="-342900" latinLnBrk="0" marL="1371600" rtl="0">
        <a:spcBef>
          <a:spcPts val="0"/>
        </a:spcBef>
        <a:buFont typeface="Arial"/>
        <a:buChar char="–"/>
        <a:defRPr kern="1200" sz="1600">
          <a:solidFill>
            <a:schemeClr val="tx1"/>
          </a:solidFill>
          <a:latin typeface="+mn-lt"/>
          <a:ea typeface="+mn-ea"/>
          <a:cs typeface="+mn-cs"/>
        </a:defRPr>
      </a:lvl4pPr>
      <a:lvl5pPr algn="l" defTabSz="342900" eaLnBrk="1" hangingPunct="1" indent="-342900" latinLnBrk="0" marL="1714500" rtl="0">
        <a:spcBef>
          <a:spcPts val="0"/>
        </a:spcBef>
        <a:buFont typeface="Arial"/>
        <a:buChar char="»"/>
        <a:defRPr kern="1200" sz="16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lstStyle/>
          <a:p>
            <a:pPr lvl="0" indent="0" marL="0">
              <a:buNone/>
            </a:pPr>
            <a:r>
              <a:rPr/>
              <a:t>Activity: Non-Parametric T-Tests</a:t>
            </a:r>
          </a:p>
        </p:txBody>
      </p:sp>
      <p:sp>
        <p:nvSpPr>
          <p:cNvPr id="3" name="Subtitle 2"/>
          <p:cNvSpPr>
            <a:spLocks noGrp="1"/>
          </p:cNvSpPr>
          <p:nvPr>
            <p:ph idx="1" type="subTitle"/>
          </p:nvPr>
        </p:nvSpPr>
        <p:spPr>
          <a:xfrm>
            <a:off x="255722" y="565689"/>
            <a:ext cx="6400800" cy="1314450"/>
          </a:xfrm>
        </p:spPr>
        <p:txBody>
          <a:bodyPr/>
          <a:lstStyle/>
          <a:p>
            <a:pPr lvl="0" indent="0" marL="0">
              <a:buNone/>
            </a:pPr>
            <a:r>
              <a:rPr/>
              <a:t>Rank-based tests</a:t>
            </a:r>
            <a:br/>
            <a:br/>
            <a:r>
              <a:rPr/>
              <a:t>Bill Perry</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Worksheet: Non-Parametric T-Tests</a:t>
            </a:r>
          </a:p>
        </p:txBody>
      </p:sp>
      <p:sp>
        <p:nvSpPr>
          <p:cNvPr id="3" name="Content Placeholder 2"/>
          <p:cNvSpPr>
            <a:spLocks noGrp="1"/>
          </p:cNvSpPr>
          <p:nvPr>
            <p:ph idx="1"/>
          </p:nvPr>
        </p:nvSpPr>
        <p:spPr/>
        <p:txBody>
          <a:bodyPr/>
          <a:lstStyle/>
          <a:p>
            <a:pPr lvl="0" indent="0" marL="0">
              <a:spcBef>
                <a:spcPts val="3000"/>
              </a:spcBef>
              <a:buNone/>
            </a:pPr>
            <a:r>
              <a:rPr sz="2000" b="1"/>
              <a:t>How to use this worksheet</a:t>
            </a:r>
          </a:p>
          <a:p>
            <a:pPr lvl="0" indent="0" marL="1270000">
              <a:buNone/>
            </a:pPr>
            <a:r>
              <a:rPr sz="2000"/>
              <a:t>Work through each part in order, at your own pace. Type every line of code yourself into a </a:t>
            </a:r>
            <a:r>
              <a:rPr sz="2000" b="1"/>
              <a:t>plain R script</a:t>
            </a:r>
            <a:r>
              <a:rPr sz="2000"/>
              <a:t> — do not copy-paste. Blocks marked </a:t>
            </a:r>
            <a:r>
              <a:rPr sz="2000" b="1"/>
              <a:t>▶ Run this</a:t>
            </a:r>
            <a:r>
              <a:rPr sz="2000"/>
              <a:t> are code you should type and execute. Blocks marked </a:t>
            </a:r>
            <a:r>
              <a:rPr sz="2000" b="1"/>
              <a:t>✏️ Your turn</a:t>
            </a:r>
            <a:r>
              <a:rPr sz="2000"/>
              <a:t> ask you to write, modify, or answer something. Boxes marked </a:t>
            </a:r>
            <a:r>
              <a:rPr sz="2000" b="1"/>
              <a:t>🚀 If you finish early</a:t>
            </a:r>
            <a:r>
              <a:rPr sz="2000"/>
              <a:t> are optional bonus material that goes a bit further than what we covered in lecture.</a:t>
            </a:r>
          </a:p>
          <a:p>
            <a:pPr lvl="0" indent="0" marL="1270000">
              <a:buNone/>
            </a:pPr>
            <a:r>
              <a:rPr sz="2000"/>
              <a:t>This worksheet demonstrates statistical analysis of lake trout mass data from Island Lake and NE 12, focusing on: testing assumptions for parametric tests, transforming data when assumptions aren’t met, running several different tests (standard t-test, log-transformed t-test, Welch’s t-test, Mann-Whitney Wilcoxon, permutation test), and interpreting/reporting results properly.</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1 · Setup and the Single-Sample Question</a:t>
            </a:r>
          </a:p>
        </p:txBody>
      </p:sp>
      <p:sp>
        <p:nvSpPr>
          <p:cNvPr id="3" name="Content Placeholder 2"/>
          <p:cNvSpPr>
            <a:spLocks noGrp="1"/>
          </p:cNvSpPr>
          <p:nvPr>
            <p:ph idx="1"/>
          </p:nvPr>
        </p:nvSpPr>
        <p:spPr/>
        <p:txBody>
          <a:bodyPr/>
          <a:lstStyle/>
          <a:p>
            <a:pPr lvl="0" indent="0" marL="0">
              <a:buNone/>
            </a:pPr>
            <a:r>
              <a:rPr/>
              <a:t>Last time we covered assumptions of parametric tests, α and β errors, power, and mean ± SE plots. Let’s start by exploring only lake NE 12, as if doing a single-sample t-test, then compare NE 12 to Island Lake.</a:t>
            </a:r>
          </a:p>
          <a:p>
            <a:pPr lvl="0" indent="0" marL="0">
              <a:buNone/>
            </a:pPr>
            <a:r>
              <a:rPr/>
              <a:t>We want to test if the mass of lake trout in NE 12 differs from a mean of 500g.</a:t>
            </a:r>
          </a:p>
          <a:p>
            <a:pPr lvl="0" indent="0" marL="0">
              <a:buNone/>
            </a:pPr>
            <a:r>
              <a:rPr/>
              <a:t>✏️ </a:t>
            </a:r>
            <a:r>
              <a:rPr b="1"/>
              <a:t>Your turn:</a:t>
            </a:r>
            <a:r>
              <a:rPr/>
              <a:t> Write out the hypotheses:</a:t>
            </a:r>
          </a:p>
          <a:p>
            <a:pPr lvl="0" indent="0">
              <a:buNone/>
            </a:pPr>
            <a:r>
              <a:rPr>
                <a:latin typeface="Courier"/>
              </a:rPr>
              <a:t>H0: mu = _____ (the mean mass of lake trout in NE 12 is _____ g)
H1: mu ≠ _____ (the mean mass of lake trout in NE 12 is not _____ g)</a:t>
            </a:r>
          </a:p>
          <a:p>
            <a:pPr lvl="0" indent="0" marL="0">
              <a:buNone/>
            </a:pPr>
            <a:r>
              <a:rPr b="1"/>
              <a:t>▶ Run this in your Script:</a:t>
            </a:r>
          </a:p>
          <a:p>
            <a:pPr lvl="0" indent="0">
              <a:buNone/>
            </a:pPr>
            <a:r>
              <a:rPr>
                <a:solidFill>
                  <a:srgbClr val="4758AB"/>
                </a:solidFill>
                <a:latin typeface="Courier"/>
              </a:rPr>
              <a:t>library</a:t>
            </a:r>
            <a:r>
              <a:rPr>
                <a:solidFill>
                  <a:srgbClr val="003B4F"/>
                </a:solidFill>
                <a:latin typeface="Courier"/>
              </a:rPr>
              <a:t>(tidyverse)  </a:t>
            </a:r>
            <a:r>
              <a:rPr>
                <a:solidFill>
                  <a:srgbClr val="5E5E5E"/>
                </a:solidFill>
                <a:latin typeface="Courier"/>
              </a:rPr>
              <a:t># For data manipulation and visualization</a:t>
            </a:r>
            <a:br/>
            <a:r>
              <a:rPr>
                <a:solidFill>
                  <a:srgbClr val="4758AB"/>
                </a:solidFill>
                <a:latin typeface="Courier"/>
              </a:rPr>
              <a:t>library</a:t>
            </a:r>
            <a:r>
              <a:rPr>
                <a:solidFill>
                  <a:srgbClr val="003B4F"/>
                </a:solidFill>
                <a:latin typeface="Courier"/>
              </a:rPr>
              <a:t>(car)         </a:t>
            </a:r>
            <a:r>
              <a:rPr>
                <a:solidFill>
                  <a:srgbClr val="5E5E5E"/>
                </a:solidFill>
                <a:latin typeface="Courier"/>
              </a:rPr>
              <a:t># For statistical tests</a:t>
            </a:r>
            <a:br/>
            <a:r>
              <a:rPr>
                <a:solidFill>
                  <a:srgbClr val="4758AB"/>
                </a:solidFill>
                <a:latin typeface="Courier"/>
              </a:rPr>
              <a:t>library</a:t>
            </a:r>
            <a:r>
              <a:rPr>
                <a:solidFill>
                  <a:srgbClr val="003B4F"/>
                </a:solidFill>
                <a:latin typeface="Courier"/>
              </a:rPr>
              <a:t>(patchwork)   </a:t>
            </a:r>
            <a:r>
              <a:rPr>
                <a:solidFill>
                  <a:srgbClr val="5E5E5E"/>
                </a:solidFill>
                <a:latin typeface="Courier"/>
              </a:rPr>
              <a:t># For combining plots</a:t>
            </a:r>
            <a:br/>
            <a:r>
              <a:rPr>
                <a:solidFill>
                  <a:srgbClr val="4758AB"/>
                </a:solidFill>
                <a:latin typeface="Courier"/>
              </a:rPr>
              <a:t>library</a:t>
            </a:r>
            <a:r>
              <a:rPr>
                <a:solidFill>
                  <a:srgbClr val="003B4F"/>
                </a:solidFill>
                <a:latin typeface="Courier"/>
              </a:rPr>
              <a:t>(perm)         </a:t>
            </a:r>
            <a:r>
              <a:rPr>
                <a:solidFill>
                  <a:srgbClr val="5E5E5E"/>
                </a:solidFill>
                <a:latin typeface="Courier"/>
              </a:rPr>
              <a:t># For permutation tests</a:t>
            </a:r>
            <a:br/>
            <a:br/>
            <a:r>
              <a:rPr>
                <a:solidFill>
                  <a:srgbClr val="003B4F"/>
                </a:solidFill>
                <a:latin typeface="Courier"/>
              </a:rPr>
              <a:t>lt_df &lt;- </a:t>
            </a:r>
            <a:r>
              <a:rPr>
                <a:solidFill>
                  <a:srgbClr val="4758AB"/>
                </a:solidFill>
                <a:latin typeface="Courier"/>
              </a:rPr>
              <a:t>read_csv</a:t>
            </a:r>
            <a:r>
              <a:rPr>
                <a:solidFill>
                  <a:srgbClr val="003B4F"/>
                </a:solidFill>
                <a:latin typeface="Courier"/>
              </a:rPr>
              <a:t>(</a:t>
            </a:r>
            <a:r>
              <a:rPr>
                <a:solidFill>
                  <a:srgbClr val="20794D"/>
                </a:solidFill>
                <a:latin typeface="Courier"/>
              </a:rPr>
              <a:t>"data/lake_trout.csv"</a:t>
            </a:r>
            <a:r>
              <a:rPr>
                <a:solidFill>
                  <a:srgbClr val="003B4F"/>
                </a:solidFill>
                <a:latin typeface="Courier"/>
              </a:rPr>
              <a:t>)</a:t>
            </a:r>
            <a:br/>
            <a:r>
              <a:rPr>
                <a:solidFill>
                  <a:srgbClr val="4758AB"/>
                </a:solidFill>
                <a:latin typeface="Courier"/>
              </a:rPr>
              <a:t>head</a:t>
            </a:r>
            <a:r>
              <a:rPr>
                <a:solidFill>
                  <a:srgbClr val="003B4F"/>
                </a:solidFill>
                <a:latin typeface="Courier"/>
              </a:rPr>
              <a:t>(lt_df)</a:t>
            </a:r>
          </a:p>
          <a:p>
            <a:pPr lvl="0" indent="0" marL="0">
              <a:buNone/>
            </a:pPr>
            <a:r>
              <a:rPr/>
              <a:t>✏️ </a:t>
            </a:r>
            <a:r>
              <a:rPr b="1"/>
              <a:t>Your turn:</a:t>
            </a:r>
            <a:r>
              <a:rPr/>
              <a:t> How many lakes are in this dataset? </a:t>
            </a:r>
            <a:r>
              <a:rPr>
                <a:latin typeface="Courier"/>
              </a:rPr>
              <a:t>________________________</a:t>
            </a:r>
          </a:p>
          <a:p>
            <a:pPr lvl="0" indent="0" marL="0">
              <a:buNone/>
            </a:pPr>
            <a:r>
              <a:rPr b="1"/>
              <a:t>▶ Run this</a:t>
            </a:r>
            <a:r>
              <a:rPr/>
              <a:t> — calculate the mode (R has no built-in </a:t>
            </a:r>
            <a:r>
              <a:rPr>
                <a:latin typeface="Courier"/>
              </a:rPr>
              <a:t>mode()</a:t>
            </a:r>
            <a:r>
              <a:rPr/>
              <a:t> for this):</a:t>
            </a:r>
          </a:p>
          <a:p>
            <a:pPr lvl="0" indent="0">
              <a:buNone/>
            </a:pPr>
            <a:r>
              <a:rPr>
                <a:solidFill>
                  <a:srgbClr val="003B4F"/>
                </a:solidFill>
                <a:latin typeface="Courier"/>
              </a:rPr>
              <a:t>lt_df </a:t>
            </a:r>
            <a:r>
              <a:rPr>
                <a:solidFill>
                  <a:srgbClr val="5E5E5E"/>
                </a:solidFill>
                <a:latin typeface="Courier"/>
              </a:rPr>
              <a:t>%&gt;%</a:t>
            </a:r>
            <a:br/>
            <a:r>
              <a:rPr>
                <a:solidFill>
                  <a:srgbClr val="003B4F"/>
                </a:solidFill>
                <a:latin typeface="Courier"/>
              </a:rPr>
              <a:t>  </a:t>
            </a:r>
            <a:r>
              <a:rPr>
                <a:solidFill>
                  <a:srgbClr val="4758AB"/>
                </a:solidFill>
                <a:latin typeface="Courier"/>
              </a:rPr>
              <a:t>filter</a:t>
            </a:r>
            <a:r>
              <a:rPr>
                <a:solidFill>
                  <a:srgbClr val="003B4F"/>
                </a:solidFill>
                <a:latin typeface="Courier"/>
              </a:rPr>
              <a:t>(</a:t>
            </a:r>
            <a:r>
              <a:rPr>
                <a:solidFill>
                  <a:srgbClr val="5E5E5E"/>
                </a:solidFill>
                <a:latin typeface="Courier"/>
              </a:rPr>
              <a:t>!</a:t>
            </a:r>
            <a:r>
              <a:rPr>
                <a:solidFill>
                  <a:srgbClr val="4758AB"/>
                </a:solidFill>
                <a:latin typeface="Courier"/>
              </a:rPr>
              <a:t>is.na</a:t>
            </a:r>
            <a:r>
              <a:rPr>
                <a:solidFill>
                  <a:srgbClr val="003B4F"/>
                </a:solidFill>
                <a:latin typeface="Courier"/>
              </a:rPr>
              <a:t>(mass_g)) </a:t>
            </a:r>
            <a:r>
              <a:rPr>
                <a:solidFill>
                  <a:srgbClr val="5E5E5E"/>
                </a:solidFill>
                <a:latin typeface="Courier"/>
              </a:rPr>
              <a:t>%&gt;%</a:t>
            </a:r>
            <a:br/>
            <a:r>
              <a:rPr>
                <a:solidFill>
                  <a:srgbClr val="003B4F"/>
                </a:solidFill>
                <a:latin typeface="Courier"/>
              </a:rPr>
              <a:t>  </a:t>
            </a:r>
            <a:r>
              <a:rPr>
                <a:solidFill>
                  <a:srgbClr val="4758AB"/>
                </a:solidFill>
                <a:latin typeface="Courier"/>
              </a:rPr>
              <a:t>group_by</a:t>
            </a:r>
            <a:r>
              <a:rPr>
                <a:solidFill>
                  <a:srgbClr val="003B4F"/>
                </a:solidFill>
                <a:latin typeface="Courier"/>
              </a:rPr>
              <a:t>(lake, mass_g) </a:t>
            </a:r>
            <a:r>
              <a:rPr>
                <a:solidFill>
                  <a:srgbClr val="5E5E5E"/>
                </a:solidFill>
                <a:latin typeface="Courier"/>
              </a:rPr>
              <a:t>%&gt;%</a:t>
            </a:r>
            <a:br/>
            <a:r>
              <a:rPr>
                <a:solidFill>
                  <a:srgbClr val="003B4F"/>
                </a:solidFill>
                <a:latin typeface="Courier"/>
              </a:rPr>
              <a:t>  </a:t>
            </a:r>
            <a:r>
              <a:rPr>
                <a:solidFill>
                  <a:srgbClr val="4758AB"/>
                </a:solidFill>
                <a:latin typeface="Courier"/>
              </a:rPr>
              <a:t>summarise</a:t>
            </a:r>
            <a:r>
              <a:rPr>
                <a:solidFill>
                  <a:srgbClr val="003B4F"/>
                </a:solidFill>
                <a:latin typeface="Courier"/>
              </a:rPr>
              <a:t>(</a:t>
            </a:r>
            <a:r>
              <a:rPr>
                <a:solidFill>
                  <a:srgbClr val="657422"/>
                </a:solidFill>
                <a:latin typeface="Courier"/>
              </a:rPr>
              <a:t>count =</a:t>
            </a:r>
            <a:r>
              <a:rPr>
                <a:solidFill>
                  <a:srgbClr val="003B4F"/>
                </a:solidFill>
                <a:latin typeface="Courier"/>
              </a:rPr>
              <a:t> </a:t>
            </a:r>
            <a:r>
              <a:rPr>
                <a:solidFill>
                  <a:srgbClr val="4758AB"/>
                </a:solidFill>
                <a:latin typeface="Courier"/>
              </a:rPr>
              <a:t>n</a:t>
            </a:r>
            <a:r>
              <a:rPr>
                <a:solidFill>
                  <a:srgbClr val="003B4F"/>
                </a:solidFill>
                <a:latin typeface="Courier"/>
              </a:rPr>
              <a:t>(), </a:t>
            </a:r>
            <a:r>
              <a:rPr>
                <a:solidFill>
                  <a:srgbClr val="657422"/>
                </a:solidFill>
                <a:latin typeface="Courier"/>
              </a:rPr>
              <a:t>.groups =</a:t>
            </a:r>
            <a:r>
              <a:rPr>
                <a:solidFill>
                  <a:srgbClr val="003B4F"/>
                </a:solidFill>
                <a:latin typeface="Courier"/>
              </a:rPr>
              <a:t> </a:t>
            </a:r>
            <a:r>
              <a:rPr>
                <a:solidFill>
                  <a:srgbClr val="20794D"/>
                </a:solidFill>
                <a:latin typeface="Courier"/>
              </a:rPr>
              <a:t>"drop_last"</a:t>
            </a:r>
            <a:r>
              <a:rPr>
                <a:solidFill>
                  <a:srgbClr val="003B4F"/>
                </a:solidFill>
                <a:latin typeface="Courier"/>
              </a:rPr>
              <a:t>) </a:t>
            </a:r>
            <a:r>
              <a:rPr>
                <a:solidFill>
                  <a:srgbClr val="5E5E5E"/>
                </a:solidFill>
                <a:latin typeface="Courier"/>
              </a:rPr>
              <a:t>%&gt;%</a:t>
            </a:r>
            <a:br/>
            <a:r>
              <a:rPr>
                <a:solidFill>
                  <a:srgbClr val="003B4F"/>
                </a:solidFill>
                <a:latin typeface="Courier"/>
              </a:rPr>
              <a:t>  </a:t>
            </a:r>
            <a:r>
              <a:rPr>
                <a:solidFill>
                  <a:srgbClr val="4758AB"/>
                </a:solidFill>
                <a:latin typeface="Courier"/>
              </a:rPr>
              <a:t>arrange</a:t>
            </a:r>
            <a:r>
              <a:rPr>
                <a:solidFill>
                  <a:srgbClr val="003B4F"/>
                </a:solidFill>
                <a:latin typeface="Courier"/>
              </a:rPr>
              <a:t>(</a:t>
            </a:r>
            <a:r>
              <a:rPr>
                <a:solidFill>
                  <a:srgbClr val="4758AB"/>
                </a:solidFill>
                <a:latin typeface="Courier"/>
              </a:rPr>
              <a:t>desc</a:t>
            </a:r>
            <a:r>
              <a:rPr>
                <a:solidFill>
                  <a:srgbClr val="003B4F"/>
                </a:solidFill>
                <a:latin typeface="Courier"/>
              </a:rPr>
              <a:t>(count)) </a:t>
            </a:r>
            <a:r>
              <a:rPr>
                <a:solidFill>
                  <a:srgbClr val="5E5E5E"/>
                </a:solidFill>
                <a:latin typeface="Courier"/>
              </a:rPr>
              <a:t>%&gt;%</a:t>
            </a:r>
            <a:br/>
            <a:r>
              <a:rPr>
                <a:solidFill>
                  <a:srgbClr val="003B4F"/>
                </a:solidFill>
                <a:latin typeface="Courier"/>
              </a:rPr>
              <a:t>  </a:t>
            </a:r>
            <a:r>
              <a:rPr>
                <a:solidFill>
                  <a:srgbClr val="4758AB"/>
                </a:solidFill>
                <a:latin typeface="Courier"/>
              </a:rPr>
              <a:t>slice</a:t>
            </a:r>
            <a:r>
              <a:rPr>
                <a:solidFill>
                  <a:srgbClr val="003B4F"/>
                </a:solidFill>
                <a:latin typeface="Courier"/>
              </a:rPr>
              <a:t>(</a:t>
            </a:r>
            <a:r>
              <a:rPr>
                <a:solidFill>
                  <a:srgbClr val="AD0000"/>
                </a:solidFill>
                <a:latin typeface="Courier"/>
              </a:rPr>
              <a:t>1</a:t>
            </a:r>
            <a:r>
              <a:rPr>
                <a:solidFill>
                  <a:srgbClr val="003B4F"/>
                </a:solidFill>
                <a:latin typeface="Courier"/>
              </a:rPr>
              <a:t>) </a:t>
            </a:r>
            <a:r>
              <a:rPr>
                <a:solidFill>
                  <a:srgbClr val="5E5E5E"/>
                </a:solidFill>
                <a:latin typeface="Courier"/>
              </a:rPr>
              <a:t>%&gt;%</a:t>
            </a:r>
            <a:br/>
            <a:r>
              <a:rPr>
                <a:solidFill>
                  <a:srgbClr val="003B4F"/>
                </a:solidFill>
                <a:latin typeface="Courier"/>
              </a:rPr>
              <a:t>  </a:t>
            </a:r>
            <a:r>
              <a:rPr>
                <a:solidFill>
                  <a:srgbClr val="4758AB"/>
                </a:solidFill>
                <a:latin typeface="Courier"/>
              </a:rPr>
              <a:t>select</a:t>
            </a:r>
            <a:r>
              <a:rPr>
                <a:solidFill>
                  <a:srgbClr val="003B4F"/>
                </a:solidFill>
                <a:latin typeface="Courier"/>
              </a:rPr>
              <a:t>(</a:t>
            </a:r>
            <a:r>
              <a:rPr>
                <a:solidFill>
                  <a:srgbClr val="5E5E5E"/>
                </a:solidFill>
                <a:latin typeface="Courier"/>
              </a:rPr>
              <a:t>-</a:t>
            </a:r>
            <a:r>
              <a:rPr>
                <a:solidFill>
                  <a:srgbClr val="003B4F"/>
                </a:solidFill>
                <a:latin typeface="Courier"/>
              </a:rPr>
              <a:t>count) </a:t>
            </a:r>
            <a:r>
              <a:rPr>
                <a:solidFill>
                  <a:srgbClr val="5E5E5E"/>
                </a:solidFill>
                <a:latin typeface="Courier"/>
              </a:rPr>
              <a:t>%&gt;%</a:t>
            </a:r>
            <a:br/>
            <a:r>
              <a:rPr>
                <a:solidFill>
                  <a:srgbClr val="003B4F"/>
                </a:solidFill>
                <a:latin typeface="Courier"/>
              </a:rPr>
              <a:t>  </a:t>
            </a:r>
            <a:r>
              <a:rPr>
                <a:solidFill>
                  <a:srgbClr val="4758AB"/>
                </a:solidFill>
                <a:latin typeface="Courier"/>
              </a:rPr>
              <a:t>rename</a:t>
            </a:r>
            <a:r>
              <a:rPr>
                <a:solidFill>
                  <a:srgbClr val="003B4F"/>
                </a:solidFill>
                <a:latin typeface="Courier"/>
              </a:rPr>
              <a:t>(</a:t>
            </a:r>
            <a:r>
              <a:rPr>
                <a:solidFill>
                  <a:srgbClr val="657422"/>
                </a:solidFill>
                <a:latin typeface="Courier"/>
              </a:rPr>
              <a:t>mode_mass =</a:t>
            </a:r>
            <a:r>
              <a:rPr>
                <a:solidFill>
                  <a:srgbClr val="003B4F"/>
                </a:solidFill>
                <a:latin typeface="Courier"/>
              </a:rPr>
              <a:t> mass_g)</a:t>
            </a:r>
          </a:p>
          <a:p>
            <a:pPr lvl="0" indent="0" marL="0">
              <a:buNone/>
            </a:pPr>
            <a:r>
              <a:rPr b="1"/>
              <a:t>▶ Run this</a:t>
            </a:r>
            <a:r>
              <a:rPr/>
              <a:t> — create a data frame with just NE 12:</a:t>
            </a:r>
          </a:p>
          <a:p>
            <a:pPr lvl="0" indent="0">
              <a:buNone/>
            </a:pPr>
            <a:r>
              <a:rPr>
                <a:solidFill>
                  <a:srgbClr val="003B4F"/>
                </a:solidFill>
                <a:latin typeface="Courier"/>
              </a:rPr>
              <a:t>ne12_df &lt;- lt_df </a:t>
            </a:r>
            <a:r>
              <a:rPr>
                <a:solidFill>
                  <a:srgbClr val="5E5E5E"/>
                </a:solidFill>
                <a:latin typeface="Courier"/>
              </a:rPr>
              <a:t>%&gt;%</a:t>
            </a:r>
            <a:br/>
            <a:r>
              <a:rPr>
                <a:solidFill>
                  <a:srgbClr val="003B4F"/>
                </a:solidFill>
                <a:latin typeface="Courier"/>
              </a:rPr>
              <a:t>  </a:t>
            </a:r>
            <a:r>
              <a:rPr>
                <a:solidFill>
                  <a:srgbClr val="4758AB"/>
                </a:solidFill>
                <a:latin typeface="Courier"/>
              </a:rPr>
              <a:t>filter</a:t>
            </a:r>
            <a:r>
              <a:rPr>
                <a:solidFill>
                  <a:srgbClr val="003B4F"/>
                </a:solidFill>
                <a:latin typeface="Courier"/>
              </a:rPr>
              <a:t>(lake </a:t>
            </a:r>
            <a:r>
              <a:rPr>
                <a:solidFill>
                  <a:srgbClr val="5E5E5E"/>
                </a:solidFill>
                <a:latin typeface="Courier"/>
              </a:rPr>
              <a:t>==</a:t>
            </a:r>
            <a:r>
              <a:rPr>
                <a:solidFill>
                  <a:srgbClr val="003B4F"/>
                </a:solidFill>
                <a:latin typeface="Courier"/>
              </a:rPr>
              <a:t> </a:t>
            </a:r>
            <a:r>
              <a:rPr>
                <a:solidFill>
                  <a:srgbClr val="20794D"/>
                </a:solidFill>
                <a:latin typeface="Courier"/>
              </a:rPr>
              <a:t>"NE 12"</a:t>
            </a:r>
            <a:r>
              <a:rPr>
                <a:solidFill>
                  <a:srgbClr val="003B4F"/>
                </a:solidFill>
                <a:latin typeface="Courier"/>
              </a:rPr>
              <a:t>) </a:t>
            </a:r>
            <a:r>
              <a:rPr>
                <a:solidFill>
                  <a:srgbClr val="5E5E5E"/>
                </a:solidFill>
                <a:latin typeface="Courier"/>
              </a:rPr>
              <a:t>%&gt;%</a:t>
            </a:r>
            <a:br/>
            <a:r>
              <a:rPr>
                <a:solidFill>
                  <a:srgbClr val="003B4F"/>
                </a:solidFill>
                <a:latin typeface="Courier"/>
              </a:rPr>
              <a:t>  </a:t>
            </a:r>
            <a:r>
              <a:rPr>
                <a:solidFill>
                  <a:srgbClr val="4758AB"/>
                </a:solidFill>
                <a:latin typeface="Courier"/>
              </a:rPr>
              <a:t>filter</a:t>
            </a:r>
            <a:r>
              <a:rPr>
                <a:solidFill>
                  <a:srgbClr val="003B4F"/>
                </a:solidFill>
                <a:latin typeface="Courier"/>
              </a:rPr>
              <a:t>(</a:t>
            </a:r>
            <a:r>
              <a:rPr>
                <a:solidFill>
                  <a:srgbClr val="5E5E5E"/>
                </a:solidFill>
                <a:latin typeface="Courier"/>
              </a:rPr>
              <a:t>!</a:t>
            </a:r>
            <a:r>
              <a:rPr>
                <a:solidFill>
                  <a:srgbClr val="4758AB"/>
                </a:solidFill>
                <a:latin typeface="Courier"/>
              </a:rPr>
              <a:t>is.na</a:t>
            </a:r>
            <a:r>
              <a:rPr>
                <a:solidFill>
                  <a:srgbClr val="003B4F"/>
                </a:solidFill>
                <a:latin typeface="Courier"/>
              </a:rPr>
              <a:t>(mass_g))  </a:t>
            </a:r>
            <a:r>
              <a:rPr>
                <a:solidFill>
                  <a:srgbClr val="5E5E5E"/>
                </a:solidFill>
                <a:latin typeface="Courier"/>
              </a:rPr>
              <a:t># Remove any NA values</a:t>
            </a:r>
          </a:p>
          <a:p>
            <a:pPr lvl="0" indent="0" marL="1270000">
              <a:buNone/>
            </a:pPr>
            <a:r>
              <a:rPr sz="2000" b="1"/>
              <a:t>Tip</a:t>
            </a:r>
          </a:p>
          <a:p>
            <a:pPr lvl="0" indent="0" marL="1270000">
              <a:buNone/>
            </a:pPr>
            <a:r>
              <a:rPr sz="2000" b="1"/>
              <a:t>🚀 If you finish early:</a:t>
            </a:r>
            <a:r>
              <a:rPr sz="2000"/>
              <a:t> Compute the mean, SD, n, and SE for </a:t>
            </a:r>
            <a:r>
              <a:rPr sz="2000">
                <a:latin typeface="Courier"/>
              </a:rPr>
              <a:t>length_mm</a:t>
            </a:r>
            <a:r>
              <a:rPr sz="2000"/>
              <a:t> across </a:t>
            </a:r>
            <a:r>
              <a:rPr sz="2000" i="1"/>
              <a:t>all</a:t>
            </a:r>
            <a:r>
              <a:rPr sz="2000"/>
              <a:t> lakes at once with </a:t>
            </a:r>
            <a:r>
              <a:rPr sz="2000">
                <a:latin typeface="Courier"/>
              </a:rPr>
              <a:t>group_by(lake) %&gt;% summarize(...)</a:t>
            </a:r>
            <a:r>
              <a:rPr sz="2000"/>
              <a:t>.</a:t>
            </a:r>
          </a:p>
          <a:p>
            <a:pPr lvl="0" indent="0">
              <a:buNone/>
            </a:pPr>
            <a:r>
              <a:rPr>
                <a:solidFill>
                  <a:srgbClr val="5E5E5E"/>
                </a:solidFill>
                <a:latin typeface="Courier"/>
              </a:rPr>
              <a:t># Write your code here:</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2 · Testing Assumptions on NE 12</a:t>
            </a:r>
          </a:p>
        </p:txBody>
      </p:sp>
      <p:sp>
        <p:nvSpPr>
          <p:cNvPr id="3" name="Content Placeholder 2"/>
          <p:cNvSpPr>
            <a:spLocks noGrp="1"/>
          </p:cNvSpPr>
          <p:nvPr>
            <p:ph idx="1"/>
          </p:nvPr>
        </p:nvSpPr>
        <p:spPr/>
        <p:txBody>
          <a:bodyPr/>
          <a:lstStyle/>
          <a:p>
            <a:pPr lvl="0" indent="0" marL="0">
              <a:buNone/>
            </a:pPr>
            <a:r>
              <a:rPr/>
              <a:t>Before conducting our t-test, we need to verify our data meets the necessary assumptions. Methods to test normality: visual (QQ plots, histograms) and statistical (Shapiro-Wilk test).</a:t>
            </a:r>
          </a:p>
          <a:p>
            <a:pPr lvl="0" indent="0" marL="0">
              <a:buNone/>
            </a:pPr>
            <a:r>
              <a:rPr b="1"/>
              <a:t>▶ Run this</a:t>
            </a:r>
            <a:r>
              <a:rPr/>
              <a:t> — histogram:</a:t>
            </a:r>
          </a:p>
          <a:p>
            <a:pPr lvl="0" indent="0">
              <a:buNone/>
            </a:pPr>
            <a:r>
              <a:rPr>
                <a:solidFill>
                  <a:srgbClr val="003B4F"/>
                </a:solidFill>
                <a:latin typeface="Courier"/>
              </a:rPr>
              <a:t>ne12_histo_plot &lt;- </a:t>
            </a:r>
            <a:r>
              <a:rPr>
                <a:solidFill>
                  <a:srgbClr val="4758AB"/>
                </a:solidFill>
                <a:latin typeface="Courier"/>
              </a:rPr>
              <a:t>ggplot</a:t>
            </a:r>
            <a:r>
              <a:rPr>
                <a:solidFill>
                  <a:srgbClr val="003B4F"/>
                </a:solidFill>
                <a:latin typeface="Courier"/>
              </a:rPr>
              <a:t>(ne12_df, </a:t>
            </a:r>
            <a:r>
              <a:rPr>
                <a:solidFill>
                  <a:srgbClr val="4758AB"/>
                </a:solidFill>
                <a:latin typeface="Courier"/>
              </a:rPr>
              <a:t>aes</a:t>
            </a:r>
            <a:r>
              <a:rPr>
                <a:solidFill>
                  <a:srgbClr val="003B4F"/>
                </a:solidFill>
                <a:latin typeface="Courier"/>
              </a:rPr>
              <a:t>(</a:t>
            </a:r>
            <a:r>
              <a:rPr>
                <a:solidFill>
                  <a:srgbClr val="657422"/>
                </a:solidFill>
                <a:latin typeface="Courier"/>
              </a:rPr>
              <a:t>x =</a:t>
            </a:r>
            <a:r>
              <a:rPr>
                <a:solidFill>
                  <a:srgbClr val="003B4F"/>
                </a:solidFill>
                <a:latin typeface="Courier"/>
              </a:rPr>
              <a:t> mass_g)) </a:t>
            </a:r>
            <a:r>
              <a:rPr>
                <a:solidFill>
                  <a:srgbClr val="5E5E5E"/>
                </a:solidFill>
                <a:latin typeface="Courier"/>
              </a:rPr>
              <a:t>+</a:t>
            </a:r>
            <a:br/>
            <a:r>
              <a:rPr>
                <a:solidFill>
                  <a:srgbClr val="003B4F"/>
                </a:solidFill>
                <a:latin typeface="Courier"/>
              </a:rPr>
              <a:t>  </a:t>
            </a:r>
            <a:r>
              <a:rPr>
                <a:solidFill>
                  <a:srgbClr val="4758AB"/>
                </a:solidFill>
                <a:latin typeface="Courier"/>
              </a:rPr>
              <a:t>geom_histogram</a:t>
            </a:r>
            <a:r>
              <a:rPr>
                <a:solidFill>
                  <a:srgbClr val="003B4F"/>
                </a:solidFill>
                <a:latin typeface="Courier"/>
              </a:rPr>
              <a:t>(</a:t>
            </a:r>
            <a:r>
              <a:rPr>
                <a:solidFill>
                  <a:srgbClr val="657422"/>
                </a:solidFill>
                <a:latin typeface="Courier"/>
              </a:rPr>
              <a:t>binwidth =</a:t>
            </a:r>
            <a:r>
              <a:rPr>
                <a:solidFill>
                  <a:srgbClr val="003B4F"/>
                </a:solidFill>
                <a:latin typeface="Courier"/>
              </a:rPr>
              <a:t> </a:t>
            </a:r>
            <a:r>
              <a:rPr>
                <a:solidFill>
                  <a:srgbClr val="AD0000"/>
                </a:solidFill>
                <a:latin typeface="Courier"/>
              </a:rPr>
              <a:t>200</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labs</a:t>
            </a:r>
            <a:r>
              <a:rPr>
                <a:solidFill>
                  <a:srgbClr val="003B4F"/>
                </a:solidFill>
                <a:latin typeface="Courier"/>
              </a:rPr>
              <a:t>(</a:t>
            </a:r>
            <a:r>
              <a:rPr>
                <a:solidFill>
                  <a:srgbClr val="657422"/>
                </a:solidFill>
                <a:latin typeface="Courier"/>
              </a:rPr>
              <a:t>x =</a:t>
            </a:r>
            <a:r>
              <a:rPr>
                <a:solidFill>
                  <a:srgbClr val="003B4F"/>
                </a:solidFill>
                <a:latin typeface="Courier"/>
              </a:rPr>
              <a:t> </a:t>
            </a:r>
            <a:r>
              <a:rPr>
                <a:solidFill>
                  <a:srgbClr val="20794D"/>
                </a:solidFill>
                <a:latin typeface="Courier"/>
              </a:rPr>
              <a:t>"mass (g)"</a:t>
            </a:r>
            <a:r>
              <a:rPr>
                <a:solidFill>
                  <a:srgbClr val="003B4F"/>
                </a:solidFill>
                <a:latin typeface="Courier"/>
              </a:rPr>
              <a:t>, </a:t>
            </a:r>
            <a:r>
              <a:rPr>
                <a:solidFill>
                  <a:srgbClr val="657422"/>
                </a:solidFill>
                <a:latin typeface="Courier"/>
              </a:rPr>
              <a:t>y =</a:t>
            </a:r>
            <a:r>
              <a:rPr>
                <a:solidFill>
                  <a:srgbClr val="003B4F"/>
                </a:solidFill>
                <a:latin typeface="Courier"/>
              </a:rPr>
              <a:t> </a:t>
            </a:r>
            <a:r>
              <a:rPr>
                <a:solidFill>
                  <a:srgbClr val="20794D"/>
                </a:solidFill>
                <a:latin typeface="Courier"/>
              </a:rPr>
              <a:t>"Frequency"</a:t>
            </a:r>
            <a:r>
              <a:rPr>
                <a:solidFill>
                  <a:srgbClr val="003B4F"/>
                </a:solidFill>
                <a:latin typeface="Courier"/>
              </a:rPr>
              <a:t>)</a:t>
            </a:r>
            <a:br/>
            <a:r>
              <a:rPr>
                <a:solidFill>
                  <a:srgbClr val="003B4F"/>
                </a:solidFill>
                <a:latin typeface="Courier"/>
              </a:rPr>
              <a:t>ne12_histo_plot</a:t>
            </a:r>
          </a:p>
          <a:p>
            <a:pPr lvl="0" indent="0" marL="0">
              <a:buNone/>
            </a:pPr>
            <a:r>
              <a:rPr b="1"/>
              <a:t>▶ Run this</a:t>
            </a:r>
            <a:r>
              <a:rPr/>
              <a:t> — dotplot, boxplot, and QQ plot:</a:t>
            </a:r>
          </a:p>
          <a:p>
            <a:pPr lvl="0" indent="0">
              <a:buNone/>
            </a:pPr>
            <a:r>
              <a:rPr>
                <a:solidFill>
                  <a:srgbClr val="003B4F"/>
                </a:solidFill>
                <a:latin typeface="Courier"/>
              </a:rPr>
              <a:t>ne12_dot_plot &lt;- </a:t>
            </a:r>
            <a:r>
              <a:rPr>
                <a:solidFill>
                  <a:srgbClr val="4758AB"/>
                </a:solidFill>
                <a:latin typeface="Courier"/>
              </a:rPr>
              <a:t>ggplot</a:t>
            </a:r>
            <a:r>
              <a:rPr>
                <a:solidFill>
                  <a:srgbClr val="003B4F"/>
                </a:solidFill>
                <a:latin typeface="Courier"/>
              </a:rPr>
              <a:t>(ne12_df, </a:t>
            </a:r>
            <a:r>
              <a:rPr>
                <a:solidFill>
                  <a:srgbClr val="4758AB"/>
                </a:solidFill>
                <a:latin typeface="Courier"/>
              </a:rPr>
              <a:t>aes</a:t>
            </a:r>
            <a:r>
              <a:rPr>
                <a:solidFill>
                  <a:srgbClr val="003B4F"/>
                </a:solidFill>
                <a:latin typeface="Courier"/>
              </a:rPr>
              <a:t>(</a:t>
            </a:r>
            <a:r>
              <a:rPr>
                <a:solidFill>
                  <a:srgbClr val="657422"/>
                </a:solidFill>
                <a:latin typeface="Courier"/>
              </a:rPr>
              <a:t>x =</a:t>
            </a:r>
            <a:r>
              <a:rPr>
                <a:solidFill>
                  <a:srgbClr val="003B4F"/>
                </a:solidFill>
                <a:latin typeface="Courier"/>
              </a:rPr>
              <a:t> mass_g, </a:t>
            </a:r>
            <a:r>
              <a:rPr>
                <a:solidFill>
                  <a:srgbClr val="657422"/>
                </a:solidFill>
                <a:latin typeface="Courier"/>
              </a:rPr>
              <a:t>y =</a:t>
            </a:r>
            <a:r>
              <a:rPr>
                <a:solidFill>
                  <a:srgbClr val="003B4F"/>
                </a:solidFill>
                <a:latin typeface="Courier"/>
              </a:rPr>
              <a:t> </a:t>
            </a:r>
            <a:r>
              <a:rPr>
                <a:solidFill>
                  <a:srgbClr val="20794D"/>
                </a:solidFill>
                <a:latin typeface="Courier"/>
              </a:rPr>
              <a:t>""</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geom_dotplot</a:t>
            </a:r>
            <a:r>
              <a:rPr>
                <a:solidFill>
                  <a:srgbClr val="003B4F"/>
                </a:solidFill>
                <a:latin typeface="Courier"/>
              </a:rPr>
              <a:t>(</a:t>
            </a:r>
            <a:r>
              <a:rPr>
                <a:solidFill>
                  <a:srgbClr val="657422"/>
                </a:solidFill>
                <a:latin typeface="Courier"/>
              </a:rPr>
              <a:t>binwidth =</a:t>
            </a:r>
            <a:r>
              <a:rPr>
                <a:solidFill>
                  <a:srgbClr val="003B4F"/>
                </a:solidFill>
                <a:latin typeface="Courier"/>
              </a:rPr>
              <a:t> </a:t>
            </a:r>
            <a:r>
              <a:rPr>
                <a:solidFill>
                  <a:srgbClr val="AD0000"/>
                </a:solidFill>
                <a:latin typeface="Courier"/>
              </a:rPr>
              <a:t>60</a:t>
            </a:r>
            <a:r>
              <a:rPr>
                <a:solidFill>
                  <a:srgbClr val="003B4F"/>
                </a:solidFill>
                <a:latin typeface="Courier"/>
              </a:rPr>
              <a:t>, </a:t>
            </a:r>
            <a:r>
              <a:rPr>
                <a:solidFill>
                  <a:srgbClr val="657422"/>
                </a:solidFill>
                <a:latin typeface="Courier"/>
              </a:rPr>
              <a:t>stackdir =</a:t>
            </a:r>
            <a:r>
              <a:rPr>
                <a:solidFill>
                  <a:srgbClr val="003B4F"/>
                </a:solidFill>
                <a:latin typeface="Courier"/>
              </a:rPr>
              <a:t> </a:t>
            </a:r>
            <a:r>
              <a:rPr>
                <a:solidFill>
                  <a:srgbClr val="20794D"/>
                </a:solidFill>
                <a:latin typeface="Courier"/>
              </a:rPr>
              <a:t>"center"</a:t>
            </a:r>
            <a:r>
              <a:rPr>
                <a:solidFill>
                  <a:srgbClr val="003B4F"/>
                </a:solidFill>
                <a:latin typeface="Courier"/>
              </a:rPr>
              <a:t>, </a:t>
            </a:r>
            <a:r>
              <a:rPr>
                <a:solidFill>
                  <a:srgbClr val="657422"/>
                </a:solidFill>
                <a:latin typeface="Courier"/>
              </a:rPr>
              <a:t>fill =</a:t>
            </a:r>
            <a:r>
              <a:rPr>
                <a:solidFill>
                  <a:srgbClr val="003B4F"/>
                </a:solidFill>
                <a:latin typeface="Courier"/>
              </a:rPr>
              <a:t> </a:t>
            </a:r>
            <a:r>
              <a:rPr>
                <a:solidFill>
                  <a:srgbClr val="20794D"/>
                </a:solidFill>
                <a:latin typeface="Courier"/>
              </a:rPr>
              <a:t>"darkblue"</a:t>
            </a:r>
            <a:r>
              <a:rPr>
                <a:solidFill>
                  <a:srgbClr val="003B4F"/>
                </a:solidFill>
                <a:latin typeface="Courier"/>
              </a:rPr>
              <a:t>, </a:t>
            </a:r>
            <a:r>
              <a:rPr>
                <a:solidFill>
                  <a:srgbClr val="657422"/>
                </a:solidFill>
                <a:latin typeface="Courier"/>
              </a:rPr>
              <a:t>dotsize =</a:t>
            </a:r>
            <a:r>
              <a:rPr>
                <a:solidFill>
                  <a:srgbClr val="003B4F"/>
                </a:solidFill>
                <a:latin typeface="Courier"/>
              </a:rPr>
              <a:t> </a:t>
            </a:r>
            <a:r>
              <a:rPr>
                <a:solidFill>
                  <a:srgbClr val="AD0000"/>
                </a:solidFill>
                <a:latin typeface="Courier"/>
              </a:rPr>
              <a:t>0.5</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labs</a:t>
            </a:r>
            <a:r>
              <a:rPr>
                <a:solidFill>
                  <a:srgbClr val="003B4F"/>
                </a:solidFill>
                <a:latin typeface="Courier"/>
              </a:rPr>
              <a:t>(</a:t>
            </a:r>
            <a:r>
              <a:rPr>
                <a:solidFill>
                  <a:srgbClr val="657422"/>
                </a:solidFill>
                <a:latin typeface="Courier"/>
              </a:rPr>
              <a:t>title =</a:t>
            </a:r>
            <a:r>
              <a:rPr>
                <a:solidFill>
                  <a:srgbClr val="003B4F"/>
                </a:solidFill>
                <a:latin typeface="Courier"/>
              </a:rPr>
              <a:t> </a:t>
            </a:r>
            <a:r>
              <a:rPr>
                <a:solidFill>
                  <a:srgbClr val="20794D"/>
                </a:solidFill>
                <a:latin typeface="Courier"/>
              </a:rPr>
              <a:t>"Dotplot"</a:t>
            </a:r>
            <a:r>
              <a:rPr>
                <a:solidFill>
                  <a:srgbClr val="003B4F"/>
                </a:solidFill>
                <a:latin typeface="Courier"/>
              </a:rPr>
              <a:t>, </a:t>
            </a:r>
            <a:r>
              <a:rPr>
                <a:solidFill>
                  <a:srgbClr val="657422"/>
                </a:solidFill>
                <a:latin typeface="Courier"/>
              </a:rPr>
              <a:t>x =</a:t>
            </a:r>
            <a:r>
              <a:rPr>
                <a:solidFill>
                  <a:srgbClr val="003B4F"/>
                </a:solidFill>
                <a:latin typeface="Courier"/>
              </a:rPr>
              <a:t> </a:t>
            </a:r>
            <a:r>
              <a:rPr>
                <a:solidFill>
                  <a:srgbClr val="20794D"/>
                </a:solidFill>
                <a:latin typeface="Courier"/>
              </a:rPr>
              <a:t>"Mass (g)"</a:t>
            </a:r>
            <a:r>
              <a:rPr>
                <a:solidFill>
                  <a:srgbClr val="003B4F"/>
                </a:solidFill>
                <a:latin typeface="Courier"/>
              </a:rPr>
              <a:t>, </a:t>
            </a:r>
            <a:r>
              <a:rPr>
                <a:solidFill>
                  <a:srgbClr val="657422"/>
                </a:solidFill>
                <a:latin typeface="Courier"/>
              </a:rPr>
              <a:t>y =</a:t>
            </a:r>
            <a:r>
              <a:rPr>
                <a:solidFill>
                  <a:srgbClr val="003B4F"/>
                </a:solidFill>
                <a:latin typeface="Courier"/>
              </a:rPr>
              <a:t> </a:t>
            </a:r>
            <a:r>
              <a:rPr>
                <a:solidFill>
                  <a:srgbClr val="20794D"/>
                </a:solidFill>
                <a:latin typeface="Courier"/>
              </a:rPr>
              <a:t>""</a:t>
            </a:r>
            <a:r>
              <a:rPr>
                <a:solidFill>
                  <a:srgbClr val="003B4F"/>
                </a:solidFill>
                <a:latin typeface="Courier"/>
              </a:rPr>
              <a:t>)</a:t>
            </a:r>
            <a:br/>
            <a:r>
              <a:rPr>
                <a:solidFill>
                  <a:srgbClr val="003B4F"/>
                </a:solidFill>
                <a:latin typeface="Courier"/>
              </a:rPr>
              <a:t>ne12_dot_plot</a:t>
            </a:r>
            <a:br/>
            <a:br/>
            <a:r>
              <a:rPr>
                <a:solidFill>
                  <a:srgbClr val="003B4F"/>
                </a:solidFill>
                <a:latin typeface="Courier"/>
              </a:rPr>
              <a:t>ne12_box_plot &lt;- </a:t>
            </a:r>
            <a:r>
              <a:rPr>
                <a:solidFill>
                  <a:srgbClr val="4758AB"/>
                </a:solidFill>
                <a:latin typeface="Courier"/>
              </a:rPr>
              <a:t>ggplot</a:t>
            </a:r>
            <a:r>
              <a:rPr>
                <a:solidFill>
                  <a:srgbClr val="003B4F"/>
                </a:solidFill>
                <a:latin typeface="Courier"/>
              </a:rPr>
              <a:t>(ne12_df, </a:t>
            </a:r>
            <a:r>
              <a:rPr>
                <a:solidFill>
                  <a:srgbClr val="4758AB"/>
                </a:solidFill>
                <a:latin typeface="Courier"/>
              </a:rPr>
              <a:t>aes</a:t>
            </a:r>
            <a:r>
              <a:rPr>
                <a:solidFill>
                  <a:srgbClr val="003B4F"/>
                </a:solidFill>
                <a:latin typeface="Courier"/>
              </a:rPr>
              <a:t>(</a:t>
            </a:r>
            <a:r>
              <a:rPr>
                <a:solidFill>
                  <a:srgbClr val="657422"/>
                </a:solidFill>
                <a:latin typeface="Courier"/>
              </a:rPr>
              <a:t>y =</a:t>
            </a:r>
            <a:r>
              <a:rPr>
                <a:solidFill>
                  <a:srgbClr val="003B4F"/>
                </a:solidFill>
                <a:latin typeface="Courier"/>
              </a:rPr>
              <a:t> mass_g)) </a:t>
            </a:r>
            <a:r>
              <a:rPr>
                <a:solidFill>
                  <a:srgbClr val="5E5E5E"/>
                </a:solidFill>
                <a:latin typeface="Courier"/>
              </a:rPr>
              <a:t>+</a:t>
            </a:r>
            <a:br/>
            <a:r>
              <a:rPr>
                <a:solidFill>
                  <a:srgbClr val="003B4F"/>
                </a:solidFill>
                <a:latin typeface="Courier"/>
              </a:rPr>
              <a:t>  </a:t>
            </a:r>
            <a:r>
              <a:rPr>
                <a:solidFill>
                  <a:srgbClr val="4758AB"/>
                </a:solidFill>
                <a:latin typeface="Courier"/>
              </a:rPr>
              <a:t>geom_boxplot</a:t>
            </a:r>
            <a:r>
              <a:rPr>
                <a:solidFill>
                  <a:srgbClr val="003B4F"/>
                </a:solidFill>
                <a:latin typeface="Courier"/>
              </a:rPr>
              <a:t>(</a:t>
            </a:r>
            <a:r>
              <a:rPr>
                <a:solidFill>
                  <a:srgbClr val="657422"/>
                </a:solidFill>
                <a:latin typeface="Courier"/>
              </a:rPr>
              <a:t>fill =</a:t>
            </a:r>
            <a:r>
              <a:rPr>
                <a:solidFill>
                  <a:srgbClr val="003B4F"/>
                </a:solidFill>
                <a:latin typeface="Courier"/>
              </a:rPr>
              <a:t> </a:t>
            </a:r>
            <a:r>
              <a:rPr>
                <a:solidFill>
                  <a:srgbClr val="20794D"/>
                </a:solidFill>
                <a:latin typeface="Courier"/>
              </a:rPr>
              <a:t>"darkblue"</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labs</a:t>
            </a:r>
            <a:r>
              <a:rPr>
                <a:solidFill>
                  <a:srgbClr val="003B4F"/>
                </a:solidFill>
                <a:latin typeface="Courier"/>
              </a:rPr>
              <a:t>(</a:t>
            </a:r>
            <a:r>
              <a:rPr>
                <a:solidFill>
                  <a:srgbClr val="657422"/>
                </a:solidFill>
                <a:latin typeface="Courier"/>
              </a:rPr>
              <a:t>y =</a:t>
            </a:r>
            <a:r>
              <a:rPr>
                <a:solidFill>
                  <a:srgbClr val="003B4F"/>
                </a:solidFill>
                <a:latin typeface="Courier"/>
              </a:rPr>
              <a:t> </a:t>
            </a:r>
            <a:r>
              <a:rPr>
                <a:solidFill>
                  <a:srgbClr val="20794D"/>
                </a:solidFill>
                <a:latin typeface="Courier"/>
              </a:rPr>
              <a:t>"Mass (g)"</a:t>
            </a:r>
            <a:r>
              <a:rPr>
                <a:solidFill>
                  <a:srgbClr val="003B4F"/>
                </a:solidFill>
                <a:latin typeface="Courier"/>
              </a:rPr>
              <a:t>, </a:t>
            </a:r>
            <a:r>
              <a:rPr>
                <a:solidFill>
                  <a:srgbClr val="657422"/>
                </a:solidFill>
                <a:latin typeface="Courier"/>
              </a:rPr>
              <a:t>x =</a:t>
            </a:r>
            <a:r>
              <a:rPr>
                <a:solidFill>
                  <a:srgbClr val="003B4F"/>
                </a:solidFill>
                <a:latin typeface="Courier"/>
              </a:rPr>
              <a:t> </a:t>
            </a:r>
            <a:r>
              <a:rPr>
                <a:solidFill>
                  <a:srgbClr val="20794D"/>
                </a:solidFill>
                <a:latin typeface="Courier"/>
              </a:rPr>
              <a:t>""</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coord_flip</a:t>
            </a:r>
            <a:r>
              <a:rPr>
                <a:solidFill>
                  <a:srgbClr val="003B4F"/>
                </a:solidFill>
                <a:latin typeface="Courier"/>
              </a:rPr>
              <a:t>()</a:t>
            </a:r>
            <a:br/>
            <a:r>
              <a:rPr>
                <a:solidFill>
                  <a:srgbClr val="003B4F"/>
                </a:solidFill>
                <a:latin typeface="Courier"/>
              </a:rPr>
              <a:t>ne12_box_plot</a:t>
            </a:r>
            <a:br/>
            <a:br/>
            <a:r>
              <a:rPr>
                <a:solidFill>
                  <a:srgbClr val="003B4F"/>
                </a:solidFill>
                <a:latin typeface="Courier"/>
              </a:rPr>
              <a:t>ne12_qq_plot &lt;- </a:t>
            </a:r>
            <a:r>
              <a:rPr>
                <a:solidFill>
                  <a:srgbClr val="4758AB"/>
                </a:solidFill>
                <a:latin typeface="Courier"/>
              </a:rPr>
              <a:t>ggplot</a:t>
            </a:r>
            <a:r>
              <a:rPr>
                <a:solidFill>
                  <a:srgbClr val="003B4F"/>
                </a:solidFill>
                <a:latin typeface="Courier"/>
              </a:rPr>
              <a:t>(ne12_df, </a:t>
            </a:r>
            <a:r>
              <a:rPr>
                <a:solidFill>
                  <a:srgbClr val="4758AB"/>
                </a:solidFill>
                <a:latin typeface="Courier"/>
              </a:rPr>
              <a:t>aes</a:t>
            </a:r>
            <a:r>
              <a:rPr>
                <a:solidFill>
                  <a:srgbClr val="003B4F"/>
                </a:solidFill>
                <a:latin typeface="Courier"/>
              </a:rPr>
              <a:t>(</a:t>
            </a:r>
            <a:r>
              <a:rPr>
                <a:solidFill>
                  <a:srgbClr val="657422"/>
                </a:solidFill>
                <a:latin typeface="Courier"/>
              </a:rPr>
              <a:t>sample =</a:t>
            </a:r>
            <a:r>
              <a:rPr>
                <a:solidFill>
                  <a:srgbClr val="003B4F"/>
                </a:solidFill>
                <a:latin typeface="Courier"/>
              </a:rPr>
              <a:t> mass_g)) </a:t>
            </a:r>
            <a:r>
              <a:rPr>
                <a:solidFill>
                  <a:srgbClr val="5E5E5E"/>
                </a:solidFill>
                <a:latin typeface="Courier"/>
              </a:rPr>
              <a:t>+</a:t>
            </a:r>
            <a:br/>
            <a:r>
              <a:rPr>
                <a:solidFill>
                  <a:srgbClr val="003B4F"/>
                </a:solidFill>
                <a:latin typeface="Courier"/>
              </a:rPr>
              <a:t>  </a:t>
            </a:r>
            <a:r>
              <a:rPr>
                <a:solidFill>
                  <a:srgbClr val="4758AB"/>
                </a:solidFill>
                <a:latin typeface="Courier"/>
              </a:rPr>
              <a:t>stat_qq</a:t>
            </a:r>
            <a:r>
              <a:rPr>
                <a:solidFill>
                  <a:srgbClr val="003B4F"/>
                </a:solidFill>
                <a:latin typeface="Courier"/>
              </a:rPr>
              <a:t>(</a:t>
            </a:r>
            <a:r>
              <a:rPr>
                <a:solidFill>
                  <a:srgbClr val="657422"/>
                </a:solidFill>
                <a:latin typeface="Courier"/>
              </a:rPr>
              <a:t>color =</a:t>
            </a:r>
            <a:r>
              <a:rPr>
                <a:solidFill>
                  <a:srgbClr val="003B4F"/>
                </a:solidFill>
                <a:latin typeface="Courier"/>
              </a:rPr>
              <a:t> </a:t>
            </a:r>
            <a:r>
              <a:rPr>
                <a:solidFill>
                  <a:srgbClr val="20794D"/>
                </a:solidFill>
                <a:latin typeface="Courier"/>
              </a:rPr>
              <a:t>"darkblue"</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stat_qq_line</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labs</a:t>
            </a:r>
            <a:r>
              <a:rPr>
                <a:solidFill>
                  <a:srgbClr val="003B4F"/>
                </a:solidFill>
                <a:latin typeface="Courier"/>
              </a:rPr>
              <a:t>(</a:t>
            </a:r>
            <a:r>
              <a:rPr>
                <a:solidFill>
                  <a:srgbClr val="657422"/>
                </a:solidFill>
                <a:latin typeface="Courier"/>
              </a:rPr>
              <a:t>title =</a:t>
            </a:r>
            <a:r>
              <a:rPr>
                <a:solidFill>
                  <a:srgbClr val="003B4F"/>
                </a:solidFill>
                <a:latin typeface="Courier"/>
              </a:rPr>
              <a:t> </a:t>
            </a:r>
            <a:r>
              <a:rPr>
                <a:solidFill>
                  <a:srgbClr val="20794D"/>
                </a:solidFill>
                <a:latin typeface="Courier"/>
              </a:rPr>
              <a:t>"QQ Plot"</a:t>
            </a:r>
            <a:r>
              <a:rPr>
                <a:solidFill>
                  <a:srgbClr val="003B4F"/>
                </a:solidFill>
                <a:latin typeface="Courier"/>
              </a:rPr>
              <a:t>, </a:t>
            </a:r>
            <a:r>
              <a:rPr>
                <a:solidFill>
                  <a:srgbClr val="657422"/>
                </a:solidFill>
                <a:latin typeface="Courier"/>
              </a:rPr>
              <a:t>x =</a:t>
            </a:r>
            <a:r>
              <a:rPr>
                <a:solidFill>
                  <a:srgbClr val="003B4F"/>
                </a:solidFill>
                <a:latin typeface="Courier"/>
              </a:rPr>
              <a:t> </a:t>
            </a:r>
            <a:r>
              <a:rPr>
                <a:solidFill>
                  <a:srgbClr val="20794D"/>
                </a:solidFill>
                <a:latin typeface="Courier"/>
              </a:rPr>
              <a:t>"Theoretical Quantiles"</a:t>
            </a:r>
            <a:r>
              <a:rPr>
                <a:solidFill>
                  <a:srgbClr val="003B4F"/>
                </a:solidFill>
                <a:latin typeface="Courier"/>
              </a:rPr>
              <a:t>, </a:t>
            </a:r>
            <a:r>
              <a:rPr>
                <a:solidFill>
                  <a:srgbClr val="657422"/>
                </a:solidFill>
                <a:latin typeface="Courier"/>
              </a:rPr>
              <a:t>y =</a:t>
            </a:r>
            <a:r>
              <a:rPr>
                <a:solidFill>
                  <a:srgbClr val="003B4F"/>
                </a:solidFill>
                <a:latin typeface="Courier"/>
              </a:rPr>
              <a:t> </a:t>
            </a:r>
            <a:r>
              <a:rPr>
                <a:solidFill>
                  <a:srgbClr val="20794D"/>
                </a:solidFill>
                <a:latin typeface="Courier"/>
              </a:rPr>
              <a:t>"Sample Quantiles"</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theme_minimal</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theme</a:t>
            </a:r>
            <a:r>
              <a:rPr>
                <a:solidFill>
                  <a:srgbClr val="003B4F"/>
                </a:solidFill>
                <a:latin typeface="Courier"/>
              </a:rPr>
              <a:t>(</a:t>
            </a:r>
            <a:r>
              <a:rPr>
                <a:solidFill>
                  <a:srgbClr val="657422"/>
                </a:solidFill>
                <a:latin typeface="Courier"/>
              </a:rPr>
              <a:t>plot.title =</a:t>
            </a:r>
            <a:r>
              <a:rPr>
                <a:solidFill>
                  <a:srgbClr val="003B4F"/>
                </a:solidFill>
                <a:latin typeface="Courier"/>
              </a:rPr>
              <a:t> </a:t>
            </a:r>
            <a:r>
              <a:rPr>
                <a:solidFill>
                  <a:srgbClr val="4758AB"/>
                </a:solidFill>
                <a:latin typeface="Courier"/>
              </a:rPr>
              <a:t>element_text</a:t>
            </a:r>
            <a:r>
              <a:rPr>
                <a:solidFill>
                  <a:srgbClr val="003B4F"/>
                </a:solidFill>
                <a:latin typeface="Courier"/>
              </a:rPr>
              <a:t>(</a:t>
            </a:r>
            <a:r>
              <a:rPr>
                <a:solidFill>
                  <a:srgbClr val="657422"/>
                </a:solidFill>
                <a:latin typeface="Courier"/>
              </a:rPr>
              <a:t>hjust =</a:t>
            </a:r>
            <a:r>
              <a:rPr>
                <a:solidFill>
                  <a:srgbClr val="003B4F"/>
                </a:solidFill>
                <a:latin typeface="Courier"/>
              </a:rPr>
              <a:t> </a:t>
            </a:r>
            <a:r>
              <a:rPr>
                <a:solidFill>
                  <a:srgbClr val="AD0000"/>
                </a:solidFill>
                <a:latin typeface="Courier"/>
              </a:rPr>
              <a:t>0.5</a:t>
            </a:r>
            <a:r>
              <a:rPr>
                <a:solidFill>
                  <a:srgbClr val="003B4F"/>
                </a:solidFill>
                <a:latin typeface="Courier"/>
              </a:rPr>
              <a:t>))</a:t>
            </a:r>
            <a:br/>
            <a:r>
              <a:rPr>
                <a:solidFill>
                  <a:srgbClr val="003B4F"/>
                </a:solidFill>
                <a:latin typeface="Courier"/>
              </a:rPr>
              <a:t>ne12_qq_plot</a:t>
            </a:r>
          </a:p>
          <a:p>
            <a:pPr lvl="0" indent="0" marL="0">
              <a:buNone/>
            </a:pPr>
            <a:r>
              <a:rPr b="1"/>
              <a:t>▶ Run this</a:t>
            </a:r>
            <a:r>
              <a:rPr/>
              <a:t> — combine all four with patchwork:</a:t>
            </a:r>
          </a:p>
          <a:p>
            <a:pPr lvl="0" indent="0">
              <a:buNone/>
            </a:pPr>
            <a:r>
              <a:rPr>
                <a:solidFill>
                  <a:srgbClr val="003B4F"/>
                </a:solidFill>
                <a:latin typeface="Courier"/>
              </a:rPr>
              <a:t>combined_stats_plot &lt;- (ne12_histo_plot </a:t>
            </a:r>
            <a:r>
              <a:rPr>
                <a:solidFill>
                  <a:srgbClr val="5E5E5E"/>
                </a:solidFill>
                <a:latin typeface="Courier"/>
              </a:rPr>
              <a:t>+</a:t>
            </a:r>
            <a:r>
              <a:rPr>
                <a:solidFill>
                  <a:srgbClr val="003B4F"/>
                </a:solidFill>
                <a:latin typeface="Courier"/>
              </a:rPr>
              <a:t> ne12_dot_plot) </a:t>
            </a:r>
            <a:r>
              <a:rPr>
                <a:solidFill>
                  <a:srgbClr val="5E5E5E"/>
                </a:solidFill>
                <a:latin typeface="Courier"/>
              </a:rPr>
              <a:t>/</a:t>
            </a:r>
            <a:r>
              <a:rPr>
                <a:solidFill>
                  <a:srgbClr val="003B4F"/>
                </a:solidFill>
                <a:latin typeface="Courier"/>
              </a:rPr>
              <a:t> (ne12_box_plot </a:t>
            </a:r>
            <a:r>
              <a:rPr>
                <a:solidFill>
                  <a:srgbClr val="5E5E5E"/>
                </a:solidFill>
                <a:latin typeface="Courier"/>
              </a:rPr>
              <a:t>+</a:t>
            </a:r>
            <a:r>
              <a:rPr>
                <a:solidFill>
                  <a:srgbClr val="003B4F"/>
                </a:solidFill>
                <a:latin typeface="Courier"/>
              </a:rPr>
              <a:t> ne12_qq_plot) </a:t>
            </a:r>
            <a:r>
              <a:rPr>
                <a:solidFill>
                  <a:srgbClr val="5E5E5E"/>
                </a:solidFill>
                <a:latin typeface="Courier"/>
              </a:rPr>
              <a:t>+</a:t>
            </a:r>
            <a:br/>
            <a:r>
              <a:rPr>
                <a:solidFill>
                  <a:srgbClr val="003B4F"/>
                </a:solidFill>
                <a:latin typeface="Courier"/>
              </a:rPr>
              <a:t>  </a:t>
            </a:r>
            <a:r>
              <a:rPr>
                <a:solidFill>
                  <a:srgbClr val="4758AB"/>
                </a:solidFill>
                <a:latin typeface="Courier"/>
              </a:rPr>
              <a:t>plot_annotation</a:t>
            </a:r>
            <a:r>
              <a:rPr>
                <a:solidFill>
                  <a:srgbClr val="003B4F"/>
                </a:solidFill>
                <a:latin typeface="Courier"/>
              </a:rPr>
              <a:t>(</a:t>
            </a:r>
            <a:br/>
            <a:r>
              <a:rPr>
                <a:solidFill>
                  <a:srgbClr val="003B4F"/>
                </a:solidFill>
                <a:latin typeface="Courier"/>
              </a:rPr>
              <a:t>    </a:t>
            </a:r>
            <a:r>
              <a:rPr>
                <a:solidFill>
                  <a:srgbClr val="657422"/>
                </a:solidFill>
                <a:latin typeface="Courier"/>
              </a:rPr>
              <a:t>theme =</a:t>
            </a:r>
            <a:r>
              <a:rPr>
                <a:solidFill>
                  <a:srgbClr val="003B4F"/>
                </a:solidFill>
                <a:latin typeface="Courier"/>
              </a:rPr>
              <a:t> </a:t>
            </a:r>
            <a:r>
              <a:rPr>
                <a:solidFill>
                  <a:srgbClr val="4758AB"/>
                </a:solidFill>
                <a:latin typeface="Courier"/>
              </a:rPr>
              <a:t>theme</a:t>
            </a:r>
            <a:r>
              <a:rPr>
                <a:solidFill>
                  <a:srgbClr val="003B4F"/>
                </a:solidFill>
                <a:latin typeface="Courier"/>
              </a:rPr>
              <a:t>(</a:t>
            </a:r>
            <a:r>
              <a:rPr>
                <a:solidFill>
                  <a:srgbClr val="657422"/>
                </a:solidFill>
                <a:latin typeface="Courier"/>
              </a:rPr>
              <a:t>plot.title =</a:t>
            </a:r>
            <a:r>
              <a:rPr>
                <a:solidFill>
                  <a:srgbClr val="003B4F"/>
                </a:solidFill>
                <a:latin typeface="Courier"/>
              </a:rPr>
              <a:t> </a:t>
            </a:r>
            <a:r>
              <a:rPr>
                <a:solidFill>
                  <a:srgbClr val="4758AB"/>
                </a:solidFill>
                <a:latin typeface="Courier"/>
              </a:rPr>
              <a:t>element_text</a:t>
            </a:r>
            <a:r>
              <a:rPr>
                <a:solidFill>
                  <a:srgbClr val="003B4F"/>
                </a:solidFill>
                <a:latin typeface="Courier"/>
              </a:rPr>
              <a:t>(</a:t>
            </a:r>
            <a:r>
              <a:rPr>
                <a:solidFill>
                  <a:srgbClr val="657422"/>
                </a:solidFill>
                <a:latin typeface="Courier"/>
              </a:rPr>
              <a:t>hjust =</a:t>
            </a:r>
            <a:r>
              <a:rPr>
                <a:solidFill>
                  <a:srgbClr val="003B4F"/>
                </a:solidFill>
                <a:latin typeface="Courier"/>
              </a:rPr>
              <a:t> </a:t>
            </a:r>
            <a:r>
              <a:rPr>
                <a:solidFill>
                  <a:srgbClr val="AD0000"/>
                </a:solidFill>
                <a:latin typeface="Courier"/>
              </a:rPr>
              <a:t>0.5</a:t>
            </a:r>
            <a:r>
              <a:rPr>
                <a:solidFill>
                  <a:srgbClr val="003B4F"/>
                </a:solidFill>
                <a:latin typeface="Courier"/>
              </a:rPr>
              <a:t>),</a:t>
            </a:r>
            <a:br/>
            <a:r>
              <a:rPr>
                <a:solidFill>
                  <a:srgbClr val="003B4F"/>
                </a:solidFill>
                <a:latin typeface="Courier"/>
              </a:rPr>
              <a:t>                  </a:t>
            </a:r>
            <a:r>
              <a:rPr>
                <a:solidFill>
                  <a:srgbClr val="657422"/>
                </a:solidFill>
                <a:latin typeface="Courier"/>
              </a:rPr>
              <a:t>plot.subtitle =</a:t>
            </a:r>
            <a:r>
              <a:rPr>
                <a:solidFill>
                  <a:srgbClr val="003B4F"/>
                </a:solidFill>
                <a:latin typeface="Courier"/>
              </a:rPr>
              <a:t> </a:t>
            </a:r>
            <a:r>
              <a:rPr>
                <a:solidFill>
                  <a:srgbClr val="4758AB"/>
                </a:solidFill>
                <a:latin typeface="Courier"/>
              </a:rPr>
              <a:t>element_text</a:t>
            </a:r>
            <a:r>
              <a:rPr>
                <a:solidFill>
                  <a:srgbClr val="003B4F"/>
                </a:solidFill>
                <a:latin typeface="Courier"/>
              </a:rPr>
              <a:t>(</a:t>
            </a:r>
            <a:r>
              <a:rPr>
                <a:solidFill>
                  <a:srgbClr val="657422"/>
                </a:solidFill>
                <a:latin typeface="Courier"/>
              </a:rPr>
              <a:t>hjust =</a:t>
            </a:r>
            <a:r>
              <a:rPr>
                <a:solidFill>
                  <a:srgbClr val="003B4F"/>
                </a:solidFill>
                <a:latin typeface="Courier"/>
              </a:rPr>
              <a:t> </a:t>
            </a:r>
            <a:r>
              <a:rPr>
                <a:solidFill>
                  <a:srgbClr val="AD0000"/>
                </a:solidFill>
                <a:latin typeface="Courier"/>
              </a:rPr>
              <a:t>0.5</a:t>
            </a:r>
            <a:r>
              <a:rPr>
                <a:solidFill>
                  <a:srgbClr val="003B4F"/>
                </a:solidFill>
                <a:latin typeface="Courier"/>
              </a:rPr>
              <a:t>))</a:t>
            </a:r>
            <a:br/>
            <a:r>
              <a:rPr>
                <a:solidFill>
                  <a:srgbClr val="003B4F"/>
                </a:solidFill>
                <a:latin typeface="Courier"/>
              </a:rPr>
              <a:t>  )</a:t>
            </a:r>
            <a:br/>
            <a:r>
              <a:rPr>
                <a:solidFill>
                  <a:srgbClr val="003B4F"/>
                </a:solidFill>
                <a:latin typeface="Courier"/>
              </a:rPr>
              <a:t>combined_stats_plot</a:t>
            </a:r>
          </a:p>
          <a:p>
            <a:pPr lvl="0" indent="0" marL="0">
              <a:buNone/>
            </a:pPr>
            <a:r>
              <a:rPr b="1"/>
              <a:t>▶ Run this</a:t>
            </a:r>
            <a:r>
              <a:rPr/>
              <a:t> — the formal test (note: really you want to do this on residuals, but here we test the raw values directly):</a:t>
            </a:r>
          </a:p>
          <a:p>
            <a:pPr lvl="0" indent="0">
              <a:buNone/>
            </a:pPr>
            <a:r>
              <a:rPr>
                <a:solidFill>
                  <a:srgbClr val="003B4F"/>
                </a:solidFill>
                <a:latin typeface="Courier"/>
              </a:rPr>
              <a:t>shapiro_test &lt;- </a:t>
            </a:r>
            <a:r>
              <a:rPr>
                <a:solidFill>
                  <a:srgbClr val="4758AB"/>
                </a:solidFill>
                <a:latin typeface="Courier"/>
              </a:rPr>
              <a:t>shapiro.test</a:t>
            </a:r>
            <a:r>
              <a:rPr>
                <a:solidFill>
                  <a:srgbClr val="003B4F"/>
                </a:solidFill>
                <a:latin typeface="Courier"/>
              </a:rPr>
              <a:t>(ne12_df</a:t>
            </a:r>
            <a:r>
              <a:rPr>
                <a:solidFill>
                  <a:srgbClr val="5E5E5E"/>
                </a:solidFill>
                <a:latin typeface="Courier"/>
              </a:rPr>
              <a:t>$</a:t>
            </a:r>
            <a:r>
              <a:rPr>
                <a:solidFill>
                  <a:srgbClr val="003B4F"/>
                </a:solidFill>
                <a:latin typeface="Courier"/>
              </a:rPr>
              <a:t>mass_g)</a:t>
            </a:r>
            <a:br/>
            <a:r>
              <a:rPr>
                <a:solidFill>
                  <a:srgbClr val="4758AB"/>
                </a:solidFill>
                <a:latin typeface="Courier"/>
              </a:rPr>
              <a:t>print</a:t>
            </a:r>
            <a:r>
              <a:rPr>
                <a:solidFill>
                  <a:srgbClr val="003B4F"/>
                </a:solidFill>
                <a:latin typeface="Courier"/>
              </a:rPr>
              <a:t>(shapiro_test)</a:t>
            </a:r>
          </a:p>
          <a:p>
            <a:pPr lvl="0" indent="0" marL="0">
              <a:buNone/>
            </a:pPr>
            <a:r>
              <a:rPr/>
              <a:t>✏️ </a:t>
            </a:r>
            <a:r>
              <a:rPr b="1"/>
              <a:t>Your turn:</a:t>
            </a:r>
            <a:r>
              <a:rPr/>
              <a:t> Does the QQ plot agree with the Shapiro-Wilk result? Is NE 12’s mass normally distributed? </a:t>
            </a:r>
            <a:r>
              <a:rPr>
                <a:latin typeface="Courier"/>
              </a:rPr>
              <a:t>________________________</a:t>
            </a:r>
          </a:p>
          <a:p>
            <a:pPr lvl="0" indent="0" marL="1270000">
              <a:buNone/>
            </a:pPr>
            <a:r>
              <a:rPr sz="2000" b="1"/>
              <a:t>Tip</a:t>
            </a:r>
          </a:p>
          <a:p>
            <a:pPr lvl="0" indent="0" marL="1270000">
              <a:buNone/>
            </a:pPr>
            <a:r>
              <a:rPr sz="2000" b="1"/>
              <a:t>🚀 If you finish early:</a:t>
            </a:r>
            <a:r>
              <a:rPr sz="2000"/>
              <a:t> Rerun the Shapiro-Wilk test on </a:t>
            </a:r>
            <a:r>
              <a:rPr sz="2000">
                <a:latin typeface="Courier"/>
              </a:rPr>
              <a:t>length_mm</a:t>
            </a:r>
            <a:r>
              <a:rPr sz="2000"/>
              <a:t> instead of </a:t>
            </a:r>
            <a:r>
              <a:rPr sz="2000">
                <a:latin typeface="Courier"/>
              </a:rPr>
              <a:t>mass_g</a:t>
            </a:r>
            <a:r>
              <a:rPr sz="2000"/>
              <a:t> for NE 12. Does normality hold for both variables?</a:t>
            </a:r>
          </a:p>
          <a:p>
            <a:pPr lvl="0" indent="0">
              <a:buNone/>
            </a:pPr>
            <a:r>
              <a:rPr>
                <a:solidFill>
                  <a:srgbClr val="5E5E5E"/>
                </a:solidFill>
                <a:latin typeface="Courier"/>
              </a:rPr>
              <a:t># Write your code here: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3 · Comparing Two Lakes — NE 12 vs. Island Lake</a:t>
            </a:r>
          </a:p>
        </p:txBody>
      </p:sp>
      <p:sp>
        <p:nvSpPr>
          <p:cNvPr id="3" name="Content Placeholder 2"/>
          <p:cNvSpPr>
            <a:spLocks noGrp="1"/>
          </p:cNvSpPr>
          <p:nvPr>
            <p:ph idx="1"/>
          </p:nvPr>
        </p:nvSpPr>
        <p:spPr/>
        <p:txBody>
          <a:bodyPr/>
          <a:lstStyle/>
          <a:p>
            <a:pPr lvl="0" indent="0" marL="0">
              <a:buNone/>
            </a:pPr>
            <a:r>
              <a:rPr/>
              <a:t>Now that we’ve shown NE 12’s mass fails (or passes) normality, let’s explore a comparison of NE 12 and Island Lake </a:t>
            </a:r>
            <a:r>
              <a:rPr>
                <a:latin typeface="Courier"/>
              </a:rPr>
              <a:t>mass_g</a:t>
            </a:r>
            <a:r>
              <a:rPr/>
              <a:t>.</a:t>
            </a:r>
          </a:p>
          <a:p>
            <a:pPr lvl="0" indent="0" marL="0">
              <a:buNone/>
            </a:pPr>
            <a:r>
              <a:rPr b="1"/>
              <a:t>▶ Run this</a:t>
            </a:r>
            <a:r>
              <a:rPr/>
              <a:t> — build the two-lake data frame:</a:t>
            </a:r>
          </a:p>
          <a:p>
            <a:pPr lvl="0" indent="0">
              <a:buNone/>
            </a:pPr>
            <a:r>
              <a:rPr>
                <a:solidFill>
                  <a:srgbClr val="003B4F"/>
                </a:solidFill>
                <a:latin typeface="Courier"/>
              </a:rPr>
              <a:t>in_df &lt;- lt_df </a:t>
            </a:r>
            <a:r>
              <a:rPr>
                <a:solidFill>
                  <a:srgbClr val="5E5E5E"/>
                </a:solidFill>
                <a:latin typeface="Courier"/>
              </a:rPr>
              <a:t>%&gt;%</a:t>
            </a:r>
            <a:br/>
            <a:r>
              <a:rPr>
                <a:solidFill>
                  <a:srgbClr val="003B4F"/>
                </a:solidFill>
                <a:latin typeface="Courier"/>
              </a:rPr>
              <a:t>  </a:t>
            </a:r>
            <a:r>
              <a:rPr>
                <a:solidFill>
                  <a:srgbClr val="4758AB"/>
                </a:solidFill>
                <a:latin typeface="Courier"/>
              </a:rPr>
              <a:t>filter</a:t>
            </a:r>
            <a:r>
              <a:rPr>
                <a:solidFill>
                  <a:srgbClr val="003B4F"/>
                </a:solidFill>
                <a:latin typeface="Courier"/>
              </a:rPr>
              <a:t>(lake </a:t>
            </a:r>
            <a:r>
              <a:rPr>
                <a:solidFill>
                  <a:srgbClr val="5E5E5E"/>
                </a:solidFill>
                <a:latin typeface="Courier"/>
              </a:rPr>
              <a:t>%in%</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20794D"/>
                </a:solidFill>
                <a:latin typeface="Courier"/>
              </a:rPr>
              <a:t>"NE 12"</a:t>
            </a:r>
            <a:r>
              <a:rPr>
                <a:solidFill>
                  <a:srgbClr val="003B4F"/>
                </a:solidFill>
                <a:latin typeface="Courier"/>
              </a:rPr>
              <a:t>, </a:t>
            </a:r>
            <a:r>
              <a:rPr>
                <a:solidFill>
                  <a:srgbClr val="20794D"/>
                </a:solidFill>
                <a:latin typeface="Courier"/>
              </a:rPr>
              <a:t>"Island Lake"</a:t>
            </a:r>
            <a:r>
              <a:rPr>
                <a:solidFill>
                  <a:srgbClr val="003B4F"/>
                </a:solidFill>
                <a:latin typeface="Courier"/>
              </a:rPr>
              <a:t>)) </a:t>
            </a:r>
            <a:r>
              <a:rPr>
                <a:solidFill>
                  <a:srgbClr val="5E5E5E"/>
                </a:solidFill>
                <a:latin typeface="Courier"/>
              </a:rPr>
              <a:t>%&gt;%</a:t>
            </a:r>
            <a:br/>
            <a:r>
              <a:rPr>
                <a:solidFill>
                  <a:srgbClr val="003B4F"/>
                </a:solidFill>
                <a:latin typeface="Courier"/>
              </a:rPr>
              <a:t>  </a:t>
            </a:r>
            <a:r>
              <a:rPr>
                <a:solidFill>
                  <a:srgbClr val="4758AB"/>
                </a:solidFill>
                <a:latin typeface="Courier"/>
              </a:rPr>
              <a:t>filter</a:t>
            </a:r>
            <a:r>
              <a:rPr>
                <a:solidFill>
                  <a:srgbClr val="003B4F"/>
                </a:solidFill>
                <a:latin typeface="Courier"/>
              </a:rPr>
              <a:t>(</a:t>
            </a:r>
            <a:r>
              <a:rPr>
                <a:solidFill>
                  <a:srgbClr val="5E5E5E"/>
                </a:solidFill>
                <a:latin typeface="Courier"/>
              </a:rPr>
              <a:t>!</a:t>
            </a:r>
            <a:r>
              <a:rPr>
                <a:solidFill>
                  <a:srgbClr val="4758AB"/>
                </a:solidFill>
                <a:latin typeface="Courier"/>
              </a:rPr>
              <a:t>is.na</a:t>
            </a:r>
            <a:r>
              <a:rPr>
                <a:solidFill>
                  <a:srgbClr val="003B4F"/>
                </a:solidFill>
                <a:latin typeface="Courier"/>
              </a:rPr>
              <a:t>(mass_g))</a:t>
            </a:r>
            <a:br/>
            <a:r>
              <a:rPr>
                <a:solidFill>
                  <a:srgbClr val="4758AB"/>
                </a:solidFill>
                <a:latin typeface="Courier"/>
              </a:rPr>
              <a:t>head</a:t>
            </a:r>
            <a:r>
              <a:rPr>
                <a:solidFill>
                  <a:srgbClr val="003B4F"/>
                </a:solidFill>
                <a:latin typeface="Courier"/>
              </a:rPr>
              <a:t>(in_df)</a:t>
            </a:r>
          </a:p>
          <a:p>
            <a:pPr lvl="0" indent="0" marL="0">
              <a:buNone/>
            </a:pPr>
            <a:r>
              <a:rPr b="1"/>
              <a:t>▶ Run this</a:t>
            </a:r>
            <a:r>
              <a:rPr/>
              <a:t> — summary stats by lake:</a:t>
            </a:r>
          </a:p>
          <a:p>
            <a:pPr lvl="0" indent="0">
              <a:buNone/>
            </a:pPr>
            <a:r>
              <a:rPr>
                <a:solidFill>
                  <a:srgbClr val="003B4F"/>
                </a:solidFill>
                <a:latin typeface="Courier"/>
              </a:rPr>
              <a:t>summary_by_lake &lt;- in_df </a:t>
            </a:r>
            <a:r>
              <a:rPr>
                <a:solidFill>
                  <a:srgbClr val="5E5E5E"/>
                </a:solidFill>
                <a:latin typeface="Courier"/>
              </a:rPr>
              <a:t>%&gt;%</a:t>
            </a:r>
            <a:br/>
            <a:r>
              <a:rPr>
                <a:solidFill>
                  <a:srgbClr val="003B4F"/>
                </a:solidFill>
                <a:latin typeface="Courier"/>
              </a:rPr>
              <a:t>  </a:t>
            </a:r>
            <a:r>
              <a:rPr>
                <a:solidFill>
                  <a:srgbClr val="4758AB"/>
                </a:solidFill>
                <a:latin typeface="Courier"/>
              </a:rPr>
              <a:t>group_by</a:t>
            </a:r>
            <a:r>
              <a:rPr>
                <a:solidFill>
                  <a:srgbClr val="003B4F"/>
                </a:solidFill>
                <a:latin typeface="Courier"/>
              </a:rPr>
              <a:t>(lake) </a:t>
            </a:r>
            <a:r>
              <a:rPr>
                <a:solidFill>
                  <a:srgbClr val="5E5E5E"/>
                </a:solidFill>
                <a:latin typeface="Courier"/>
              </a:rPr>
              <a:t>%&gt;%</a:t>
            </a:r>
            <a:br/>
            <a:r>
              <a:rPr>
                <a:solidFill>
                  <a:srgbClr val="003B4F"/>
                </a:solidFill>
                <a:latin typeface="Courier"/>
              </a:rPr>
              <a:t>  </a:t>
            </a:r>
            <a:r>
              <a:rPr>
                <a:solidFill>
                  <a:srgbClr val="4758AB"/>
                </a:solidFill>
                <a:latin typeface="Courier"/>
              </a:rPr>
              <a:t>summarise</a:t>
            </a:r>
            <a:r>
              <a:rPr>
                <a:solidFill>
                  <a:srgbClr val="003B4F"/>
                </a:solidFill>
                <a:latin typeface="Courier"/>
              </a:rPr>
              <a:t>(</a:t>
            </a:r>
            <a:br/>
            <a:r>
              <a:rPr>
                <a:solidFill>
                  <a:srgbClr val="003B4F"/>
                </a:solidFill>
                <a:latin typeface="Courier"/>
              </a:rPr>
              <a:t>    </a:t>
            </a:r>
            <a:r>
              <a:rPr>
                <a:solidFill>
                  <a:srgbClr val="657422"/>
                </a:solidFill>
                <a:latin typeface="Courier"/>
              </a:rPr>
              <a:t>n =</a:t>
            </a:r>
            <a:r>
              <a:rPr>
                <a:solidFill>
                  <a:srgbClr val="003B4F"/>
                </a:solidFill>
                <a:latin typeface="Courier"/>
              </a:rPr>
              <a:t> </a:t>
            </a:r>
            <a:r>
              <a:rPr>
                <a:solidFill>
                  <a:srgbClr val="4758AB"/>
                </a:solidFill>
                <a:latin typeface="Courier"/>
              </a:rPr>
              <a:t>n</a:t>
            </a:r>
            <a:r>
              <a:rPr>
                <a:solidFill>
                  <a:srgbClr val="003B4F"/>
                </a:solidFill>
                <a:latin typeface="Courier"/>
              </a:rPr>
              <a:t>(),</a:t>
            </a:r>
            <a:br/>
            <a:r>
              <a:rPr>
                <a:solidFill>
                  <a:srgbClr val="003B4F"/>
                </a:solidFill>
                <a:latin typeface="Courier"/>
              </a:rPr>
              <a:t>    </a:t>
            </a:r>
            <a:r>
              <a:rPr>
                <a:solidFill>
                  <a:srgbClr val="657422"/>
                </a:solidFill>
                <a:latin typeface="Courier"/>
              </a:rPr>
              <a:t>mean_mass =</a:t>
            </a:r>
            <a:r>
              <a:rPr>
                <a:solidFill>
                  <a:srgbClr val="003B4F"/>
                </a:solidFill>
                <a:latin typeface="Courier"/>
              </a:rPr>
              <a:t> </a:t>
            </a:r>
            <a:r>
              <a:rPr>
                <a:solidFill>
                  <a:srgbClr val="4758AB"/>
                </a:solidFill>
                <a:latin typeface="Courier"/>
              </a:rPr>
              <a:t>mean</a:t>
            </a:r>
            <a:r>
              <a:rPr>
                <a:solidFill>
                  <a:srgbClr val="003B4F"/>
                </a:solidFill>
                <a:latin typeface="Courier"/>
              </a:rPr>
              <a:t>(mass_g),</a:t>
            </a:r>
            <a:br/>
            <a:r>
              <a:rPr>
                <a:solidFill>
                  <a:srgbClr val="003B4F"/>
                </a:solidFill>
                <a:latin typeface="Courier"/>
              </a:rPr>
              <a:t>    </a:t>
            </a:r>
            <a:r>
              <a:rPr>
                <a:solidFill>
                  <a:srgbClr val="657422"/>
                </a:solidFill>
                <a:latin typeface="Courier"/>
              </a:rPr>
              <a:t>sd_mass =</a:t>
            </a:r>
            <a:r>
              <a:rPr>
                <a:solidFill>
                  <a:srgbClr val="003B4F"/>
                </a:solidFill>
                <a:latin typeface="Courier"/>
              </a:rPr>
              <a:t> </a:t>
            </a:r>
            <a:r>
              <a:rPr>
                <a:solidFill>
                  <a:srgbClr val="4758AB"/>
                </a:solidFill>
                <a:latin typeface="Courier"/>
              </a:rPr>
              <a:t>sd</a:t>
            </a:r>
            <a:r>
              <a:rPr>
                <a:solidFill>
                  <a:srgbClr val="003B4F"/>
                </a:solidFill>
                <a:latin typeface="Courier"/>
              </a:rPr>
              <a:t>(mass_g),</a:t>
            </a:r>
            <a:br/>
            <a:r>
              <a:rPr>
                <a:solidFill>
                  <a:srgbClr val="003B4F"/>
                </a:solidFill>
                <a:latin typeface="Courier"/>
              </a:rPr>
              <a:t>    </a:t>
            </a:r>
            <a:r>
              <a:rPr>
                <a:solidFill>
                  <a:srgbClr val="657422"/>
                </a:solidFill>
                <a:latin typeface="Courier"/>
              </a:rPr>
              <a:t>se_mass =</a:t>
            </a:r>
            <a:r>
              <a:rPr>
                <a:solidFill>
                  <a:srgbClr val="003B4F"/>
                </a:solidFill>
                <a:latin typeface="Courier"/>
              </a:rPr>
              <a:t> sd_mass </a:t>
            </a:r>
            <a:r>
              <a:rPr>
                <a:solidFill>
                  <a:srgbClr val="5E5E5E"/>
                </a:solidFill>
                <a:latin typeface="Courier"/>
              </a:rPr>
              <a:t>/</a:t>
            </a:r>
            <a:r>
              <a:rPr>
                <a:solidFill>
                  <a:srgbClr val="003B4F"/>
                </a:solidFill>
                <a:latin typeface="Courier"/>
              </a:rPr>
              <a:t> </a:t>
            </a:r>
            <a:r>
              <a:rPr>
                <a:solidFill>
                  <a:srgbClr val="4758AB"/>
                </a:solidFill>
                <a:latin typeface="Courier"/>
              </a:rPr>
              <a:t>sqrt</a:t>
            </a:r>
            <a:r>
              <a:rPr>
                <a:solidFill>
                  <a:srgbClr val="003B4F"/>
                </a:solidFill>
                <a:latin typeface="Courier"/>
              </a:rPr>
              <a:t>(n),</a:t>
            </a:r>
            <a:br/>
            <a:r>
              <a:rPr>
                <a:solidFill>
                  <a:srgbClr val="003B4F"/>
                </a:solidFill>
                <a:latin typeface="Courier"/>
              </a:rPr>
              <a:t>    </a:t>
            </a:r>
            <a:r>
              <a:rPr>
                <a:solidFill>
                  <a:srgbClr val="657422"/>
                </a:solidFill>
                <a:latin typeface="Courier"/>
              </a:rPr>
              <a:t>min_mass =</a:t>
            </a:r>
            <a:r>
              <a:rPr>
                <a:solidFill>
                  <a:srgbClr val="003B4F"/>
                </a:solidFill>
                <a:latin typeface="Courier"/>
              </a:rPr>
              <a:t> </a:t>
            </a:r>
            <a:r>
              <a:rPr>
                <a:solidFill>
                  <a:srgbClr val="4758AB"/>
                </a:solidFill>
                <a:latin typeface="Courier"/>
              </a:rPr>
              <a:t>min</a:t>
            </a:r>
            <a:r>
              <a:rPr>
                <a:solidFill>
                  <a:srgbClr val="003B4F"/>
                </a:solidFill>
                <a:latin typeface="Courier"/>
              </a:rPr>
              <a:t>(mass_g),</a:t>
            </a:r>
            <a:br/>
            <a:r>
              <a:rPr>
                <a:solidFill>
                  <a:srgbClr val="003B4F"/>
                </a:solidFill>
                <a:latin typeface="Courier"/>
              </a:rPr>
              <a:t>    </a:t>
            </a:r>
            <a:r>
              <a:rPr>
                <a:solidFill>
                  <a:srgbClr val="657422"/>
                </a:solidFill>
                <a:latin typeface="Courier"/>
              </a:rPr>
              <a:t>max_mass =</a:t>
            </a:r>
            <a:r>
              <a:rPr>
                <a:solidFill>
                  <a:srgbClr val="003B4F"/>
                </a:solidFill>
                <a:latin typeface="Courier"/>
              </a:rPr>
              <a:t> </a:t>
            </a:r>
            <a:r>
              <a:rPr>
                <a:solidFill>
                  <a:srgbClr val="4758AB"/>
                </a:solidFill>
                <a:latin typeface="Courier"/>
              </a:rPr>
              <a:t>max</a:t>
            </a:r>
            <a:r>
              <a:rPr>
                <a:solidFill>
                  <a:srgbClr val="003B4F"/>
                </a:solidFill>
                <a:latin typeface="Courier"/>
              </a:rPr>
              <a:t>(mass_g)</a:t>
            </a:r>
            <a:br/>
            <a:r>
              <a:rPr>
                <a:solidFill>
                  <a:srgbClr val="003B4F"/>
                </a:solidFill>
                <a:latin typeface="Courier"/>
              </a:rPr>
              <a:t>  )</a:t>
            </a:r>
            <a:br/>
            <a:r>
              <a:rPr>
                <a:solidFill>
                  <a:srgbClr val="003B4F"/>
                </a:solidFill>
                <a:latin typeface="Courier"/>
              </a:rPr>
              <a:t>summary_by_lake</a:t>
            </a:r>
          </a:p>
          <a:p>
            <a:pPr lvl="0" indent="0" marL="0">
              <a:buNone/>
            </a:pPr>
            <a:r>
              <a:rPr b="1"/>
              <a:t>▶ Run this</a:t>
            </a:r>
            <a:r>
              <a:rPr/>
              <a:t> — histograms by lake:</a:t>
            </a:r>
          </a:p>
          <a:p>
            <a:pPr lvl="0" indent="0">
              <a:buNone/>
            </a:pPr>
            <a:r>
              <a:rPr>
                <a:solidFill>
                  <a:srgbClr val="003B4F"/>
                </a:solidFill>
                <a:latin typeface="Courier"/>
              </a:rPr>
              <a:t>hist_plot &lt;- in_df </a:t>
            </a:r>
            <a:r>
              <a:rPr>
                <a:solidFill>
                  <a:srgbClr val="5E5E5E"/>
                </a:solidFill>
                <a:latin typeface="Courier"/>
              </a:rPr>
              <a:t>%&gt;%</a:t>
            </a:r>
            <a:br/>
            <a:r>
              <a:rPr>
                <a:solidFill>
                  <a:srgbClr val="003B4F"/>
                </a:solidFill>
                <a:latin typeface="Courier"/>
              </a:rPr>
              <a:t>  </a:t>
            </a:r>
            <a:r>
              <a:rPr>
                <a:solidFill>
                  <a:srgbClr val="4758AB"/>
                </a:solidFill>
                <a:latin typeface="Courier"/>
              </a:rPr>
              <a:t>ggplot</a:t>
            </a:r>
            <a:r>
              <a:rPr>
                <a:solidFill>
                  <a:srgbClr val="003B4F"/>
                </a:solidFill>
                <a:latin typeface="Courier"/>
              </a:rPr>
              <a:t>(</a:t>
            </a:r>
            <a:r>
              <a:rPr>
                <a:solidFill>
                  <a:srgbClr val="4758AB"/>
                </a:solidFill>
                <a:latin typeface="Courier"/>
              </a:rPr>
              <a:t>aes</a:t>
            </a:r>
            <a:r>
              <a:rPr>
                <a:solidFill>
                  <a:srgbClr val="003B4F"/>
                </a:solidFill>
                <a:latin typeface="Courier"/>
              </a:rPr>
              <a:t>(</a:t>
            </a:r>
            <a:r>
              <a:rPr>
                <a:solidFill>
                  <a:srgbClr val="657422"/>
                </a:solidFill>
                <a:latin typeface="Courier"/>
              </a:rPr>
              <a:t>x =</a:t>
            </a:r>
            <a:r>
              <a:rPr>
                <a:solidFill>
                  <a:srgbClr val="003B4F"/>
                </a:solidFill>
                <a:latin typeface="Courier"/>
              </a:rPr>
              <a:t> mass_g, </a:t>
            </a:r>
            <a:r>
              <a:rPr>
                <a:solidFill>
                  <a:srgbClr val="657422"/>
                </a:solidFill>
                <a:latin typeface="Courier"/>
              </a:rPr>
              <a:t>fill =</a:t>
            </a:r>
            <a:r>
              <a:rPr>
                <a:solidFill>
                  <a:srgbClr val="003B4F"/>
                </a:solidFill>
                <a:latin typeface="Courier"/>
              </a:rPr>
              <a:t> lake)) </a:t>
            </a:r>
            <a:r>
              <a:rPr>
                <a:solidFill>
                  <a:srgbClr val="5E5E5E"/>
                </a:solidFill>
                <a:latin typeface="Courier"/>
              </a:rPr>
              <a:t>+</a:t>
            </a:r>
            <a:br/>
            <a:r>
              <a:rPr>
                <a:solidFill>
                  <a:srgbClr val="003B4F"/>
                </a:solidFill>
                <a:latin typeface="Courier"/>
              </a:rPr>
              <a:t>  </a:t>
            </a:r>
            <a:r>
              <a:rPr>
                <a:solidFill>
                  <a:srgbClr val="4758AB"/>
                </a:solidFill>
                <a:latin typeface="Courier"/>
              </a:rPr>
              <a:t>geom_histogram</a:t>
            </a:r>
            <a:r>
              <a:rPr>
                <a:solidFill>
                  <a:srgbClr val="003B4F"/>
                </a:solidFill>
                <a:latin typeface="Courier"/>
              </a:rPr>
              <a:t>(</a:t>
            </a:r>
            <a:r>
              <a:rPr>
                <a:solidFill>
                  <a:srgbClr val="657422"/>
                </a:solidFill>
                <a:latin typeface="Courier"/>
              </a:rPr>
              <a:t>bins =</a:t>
            </a:r>
            <a:r>
              <a:rPr>
                <a:solidFill>
                  <a:srgbClr val="003B4F"/>
                </a:solidFill>
                <a:latin typeface="Courier"/>
              </a:rPr>
              <a:t> </a:t>
            </a:r>
            <a:r>
              <a:rPr>
                <a:solidFill>
                  <a:srgbClr val="AD0000"/>
                </a:solidFill>
                <a:latin typeface="Courier"/>
              </a:rPr>
              <a:t>20</a:t>
            </a:r>
            <a:r>
              <a:rPr>
                <a:solidFill>
                  <a:srgbClr val="003B4F"/>
                </a:solidFill>
                <a:latin typeface="Courier"/>
              </a:rPr>
              <a:t>, </a:t>
            </a:r>
            <a:r>
              <a:rPr>
                <a:solidFill>
                  <a:srgbClr val="657422"/>
                </a:solidFill>
                <a:latin typeface="Courier"/>
              </a:rPr>
              <a:t>alpha =</a:t>
            </a:r>
            <a:r>
              <a:rPr>
                <a:solidFill>
                  <a:srgbClr val="003B4F"/>
                </a:solidFill>
                <a:latin typeface="Courier"/>
              </a:rPr>
              <a:t> </a:t>
            </a:r>
            <a:r>
              <a:rPr>
                <a:solidFill>
                  <a:srgbClr val="AD0000"/>
                </a:solidFill>
                <a:latin typeface="Courier"/>
              </a:rPr>
              <a:t>0.7</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labs</a:t>
            </a:r>
            <a:r>
              <a:rPr>
                <a:solidFill>
                  <a:srgbClr val="003B4F"/>
                </a:solidFill>
                <a:latin typeface="Courier"/>
              </a:rPr>
              <a:t>(</a:t>
            </a:r>
            <a:r>
              <a:rPr>
                <a:solidFill>
                  <a:srgbClr val="657422"/>
                </a:solidFill>
                <a:latin typeface="Courier"/>
              </a:rPr>
              <a:t>x =</a:t>
            </a:r>
            <a:r>
              <a:rPr>
                <a:solidFill>
                  <a:srgbClr val="003B4F"/>
                </a:solidFill>
                <a:latin typeface="Courier"/>
              </a:rPr>
              <a:t> </a:t>
            </a:r>
            <a:r>
              <a:rPr>
                <a:solidFill>
                  <a:srgbClr val="20794D"/>
                </a:solidFill>
                <a:latin typeface="Courier"/>
              </a:rPr>
              <a:t>"Mass (g)"</a:t>
            </a:r>
            <a:r>
              <a:rPr>
                <a:solidFill>
                  <a:srgbClr val="003B4F"/>
                </a:solidFill>
                <a:latin typeface="Courier"/>
              </a:rPr>
              <a:t>, </a:t>
            </a:r>
            <a:r>
              <a:rPr>
                <a:solidFill>
                  <a:srgbClr val="657422"/>
                </a:solidFill>
                <a:latin typeface="Courier"/>
              </a:rPr>
              <a:t>y =</a:t>
            </a:r>
            <a:r>
              <a:rPr>
                <a:solidFill>
                  <a:srgbClr val="003B4F"/>
                </a:solidFill>
                <a:latin typeface="Courier"/>
              </a:rPr>
              <a:t> </a:t>
            </a:r>
            <a:r>
              <a:rPr>
                <a:solidFill>
                  <a:srgbClr val="20794D"/>
                </a:solidFill>
                <a:latin typeface="Courier"/>
              </a:rPr>
              <a:t>"Count"</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theme_minimal</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facet_wrap</a:t>
            </a:r>
            <a:r>
              <a:rPr>
                <a:solidFill>
                  <a:srgbClr val="003B4F"/>
                </a:solidFill>
                <a:latin typeface="Courier"/>
              </a:rPr>
              <a:t>(</a:t>
            </a:r>
            <a:r>
              <a:rPr>
                <a:solidFill>
                  <a:srgbClr val="5E5E5E"/>
                </a:solidFill>
                <a:latin typeface="Courier"/>
              </a:rPr>
              <a:t>~</a:t>
            </a:r>
            <a:r>
              <a:rPr>
                <a:solidFill>
                  <a:srgbClr val="003B4F"/>
                </a:solidFill>
                <a:latin typeface="Courier"/>
              </a:rPr>
              <a:t>lake, </a:t>
            </a:r>
            <a:r>
              <a:rPr>
                <a:solidFill>
                  <a:srgbClr val="657422"/>
                </a:solidFill>
                <a:latin typeface="Courier"/>
              </a:rPr>
              <a:t>scales =</a:t>
            </a:r>
            <a:r>
              <a:rPr>
                <a:solidFill>
                  <a:srgbClr val="003B4F"/>
                </a:solidFill>
                <a:latin typeface="Courier"/>
              </a:rPr>
              <a:t> </a:t>
            </a:r>
            <a:r>
              <a:rPr>
                <a:solidFill>
                  <a:srgbClr val="20794D"/>
                </a:solidFill>
                <a:latin typeface="Courier"/>
              </a:rPr>
              <a:t>"free_y"</a:t>
            </a:r>
            <a:r>
              <a:rPr>
                <a:solidFill>
                  <a:srgbClr val="003B4F"/>
                </a:solidFill>
                <a:latin typeface="Courier"/>
              </a:rPr>
              <a:t>)</a:t>
            </a:r>
            <a:br/>
            <a:r>
              <a:rPr>
                <a:solidFill>
                  <a:srgbClr val="003B4F"/>
                </a:solidFill>
                <a:latin typeface="Courier"/>
              </a:rPr>
              <a:t>hist_plot</a:t>
            </a:r>
          </a:p>
          <a:p>
            <a:pPr lvl="0" indent="0" marL="0">
              <a:buNone/>
            </a:pPr>
            <a:r>
              <a:rPr b="1"/>
              <a:t>▶ Run this</a:t>
            </a:r>
            <a:r>
              <a:rPr/>
              <a:t> — QQ plots by lake (in a QQ plot, points that follow the line indicate normally distributed data; deviations suggest non-normality):</a:t>
            </a:r>
          </a:p>
          <a:p>
            <a:pPr lvl="0" indent="0">
              <a:buNone/>
            </a:pPr>
            <a:r>
              <a:rPr>
                <a:solidFill>
                  <a:srgbClr val="003B4F"/>
                </a:solidFill>
                <a:latin typeface="Courier"/>
              </a:rPr>
              <a:t>qq_plot &lt;- in_df </a:t>
            </a:r>
            <a:r>
              <a:rPr>
                <a:solidFill>
                  <a:srgbClr val="5E5E5E"/>
                </a:solidFill>
                <a:latin typeface="Courier"/>
              </a:rPr>
              <a:t>%&gt;%</a:t>
            </a:r>
            <a:br/>
            <a:r>
              <a:rPr>
                <a:solidFill>
                  <a:srgbClr val="003B4F"/>
                </a:solidFill>
                <a:latin typeface="Courier"/>
              </a:rPr>
              <a:t>  </a:t>
            </a:r>
            <a:r>
              <a:rPr>
                <a:solidFill>
                  <a:srgbClr val="4758AB"/>
                </a:solidFill>
                <a:latin typeface="Courier"/>
              </a:rPr>
              <a:t>ggplot</a:t>
            </a:r>
            <a:r>
              <a:rPr>
                <a:solidFill>
                  <a:srgbClr val="003B4F"/>
                </a:solidFill>
                <a:latin typeface="Courier"/>
              </a:rPr>
              <a:t>(</a:t>
            </a:r>
            <a:r>
              <a:rPr>
                <a:solidFill>
                  <a:srgbClr val="4758AB"/>
                </a:solidFill>
                <a:latin typeface="Courier"/>
              </a:rPr>
              <a:t>aes</a:t>
            </a:r>
            <a:r>
              <a:rPr>
                <a:solidFill>
                  <a:srgbClr val="003B4F"/>
                </a:solidFill>
                <a:latin typeface="Courier"/>
              </a:rPr>
              <a:t>(</a:t>
            </a:r>
            <a:r>
              <a:rPr>
                <a:solidFill>
                  <a:srgbClr val="657422"/>
                </a:solidFill>
                <a:latin typeface="Courier"/>
              </a:rPr>
              <a:t>sample =</a:t>
            </a:r>
            <a:r>
              <a:rPr>
                <a:solidFill>
                  <a:srgbClr val="003B4F"/>
                </a:solidFill>
                <a:latin typeface="Courier"/>
              </a:rPr>
              <a:t> mass_g, </a:t>
            </a:r>
            <a:r>
              <a:rPr>
                <a:solidFill>
                  <a:srgbClr val="657422"/>
                </a:solidFill>
                <a:latin typeface="Courier"/>
              </a:rPr>
              <a:t>color =</a:t>
            </a:r>
            <a:r>
              <a:rPr>
                <a:solidFill>
                  <a:srgbClr val="003B4F"/>
                </a:solidFill>
                <a:latin typeface="Courier"/>
              </a:rPr>
              <a:t> lake)) </a:t>
            </a:r>
            <a:r>
              <a:rPr>
                <a:solidFill>
                  <a:srgbClr val="5E5E5E"/>
                </a:solidFill>
                <a:latin typeface="Courier"/>
              </a:rPr>
              <a:t>+</a:t>
            </a:r>
            <a:br/>
            <a:r>
              <a:rPr>
                <a:solidFill>
                  <a:srgbClr val="003B4F"/>
                </a:solidFill>
                <a:latin typeface="Courier"/>
              </a:rPr>
              <a:t>  </a:t>
            </a:r>
            <a:r>
              <a:rPr>
                <a:solidFill>
                  <a:srgbClr val="4758AB"/>
                </a:solidFill>
                <a:latin typeface="Courier"/>
              </a:rPr>
              <a:t>stat_qq</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stat_qq_line</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labs</a:t>
            </a:r>
            <a:r>
              <a:rPr>
                <a:solidFill>
                  <a:srgbClr val="003B4F"/>
                </a:solidFill>
                <a:latin typeface="Courier"/>
              </a:rPr>
              <a:t>(</a:t>
            </a:r>
            <a:r>
              <a:rPr>
                <a:solidFill>
                  <a:srgbClr val="657422"/>
                </a:solidFill>
                <a:latin typeface="Courier"/>
              </a:rPr>
              <a:t>title =</a:t>
            </a:r>
            <a:r>
              <a:rPr>
                <a:solidFill>
                  <a:srgbClr val="003B4F"/>
                </a:solidFill>
                <a:latin typeface="Courier"/>
              </a:rPr>
              <a:t> </a:t>
            </a:r>
            <a:r>
              <a:rPr>
                <a:solidFill>
                  <a:srgbClr val="20794D"/>
                </a:solidFill>
                <a:latin typeface="Courier"/>
              </a:rPr>
              <a:t>"QQ Plot for Normality Check"</a:t>
            </a:r>
            <a:r>
              <a:rPr>
                <a:solidFill>
                  <a:srgbClr val="003B4F"/>
                </a:solidFill>
                <a:latin typeface="Courier"/>
              </a:rPr>
              <a:t>,</a:t>
            </a:r>
            <a:br/>
            <a:r>
              <a:rPr>
                <a:solidFill>
                  <a:srgbClr val="003B4F"/>
                </a:solidFill>
                <a:latin typeface="Courier"/>
              </a:rPr>
              <a:t>       </a:t>
            </a:r>
            <a:r>
              <a:rPr>
                <a:solidFill>
                  <a:srgbClr val="657422"/>
                </a:solidFill>
                <a:latin typeface="Courier"/>
              </a:rPr>
              <a:t>x =</a:t>
            </a:r>
            <a:r>
              <a:rPr>
                <a:solidFill>
                  <a:srgbClr val="003B4F"/>
                </a:solidFill>
                <a:latin typeface="Courier"/>
              </a:rPr>
              <a:t> </a:t>
            </a:r>
            <a:r>
              <a:rPr>
                <a:solidFill>
                  <a:srgbClr val="20794D"/>
                </a:solidFill>
                <a:latin typeface="Courier"/>
              </a:rPr>
              <a:t>"Theoretical Quantiles"</a:t>
            </a:r>
            <a:r>
              <a:rPr>
                <a:solidFill>
                  <a:srgbClr val="003B4F"/>
                </a:solidFill>
                <a:latin typeface="Courier"/>
              </a:rPr>
              <a:t>, </a:t>
            </a:r>
            <a:r>
              <a:rPr>
                <a:solidFill>
                  <a:srgbClr val="657422"/>
                </a:solidFill>
                <a:latin typeface="Courier"/>
              </a:rPr>
              <a:t>y =</a:t>
            </a:r>
            <a:r>
              <a:rPr>
                <a:solidFill>
                  <a:srgbClr val="003B4F"/>
                </a:solidFill>
                <a:latin typeface="Courier"/>
              </a:rPr>
              <a:t> </a:t>
            </a:r>
            <a:r>
              <a:rPr>
                <a:solidFill>
                  <a:srgbClr val="20794D"/>
                </a:solidFill>
                <a:latin typeface="Courier"/>
              </a:rPr>
              <a:t>"Sample Quantiles"</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theme_minimal</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facet_wrap</a:t>
            </a:r>
            <a:r>
              <a:rPr>
                <a:solidFill>
                  <a:srgbClr val="003B4F"/>
                </a:solidFill>
                <a:latin typeface="Courier"/>
              </a:rPr>
              <a:t>(</a:t>
            </a:r>
            <a:r>
              <a:rPr>
                <a:solidFill>
                  <a:srgbClr val="5E5E5E"/>
                </a:solidFill>
                <a:latin typeface="Courier"/>
              </a:rPr>
              <a:t>~</a:t>
            </a:r>
            <a:r>
              <a:rPr>
                <a:solidFill>
                  <a:srgbClr val="003B4F"/>
                </a:solidFill>
                <a:latin typeface="Courier"/>
              </a:rPr>
              <a:t>lake)</a:t>
            </a:r>
            <a:br/>
            <a:r>
              <a:rPr>
                <a:solidFill>
                  <a:srgbClr val="003B4F"/>
                </a:solidFill>
                <a:latin typeface="Courier"/>
              </a:rPr>
              <a:t>qq_plot</a:t>
            </a:r>
          </a:p>
          <a:p>
            <a:pPr lvl="0" indent="0" marL="0">
              <a:buNone/>
            </a:pPr>
            <a:r>
              <a:rPr b="1"/>
              <a:t>▶ Run this</a:t>
            </a:r>
            <a:r>
              <a:rPr/>
              <a:t> — the formal test, done for each lake separately (note: Island Lake can look non-normal in the QQ plot but come out close to normal in the Shapiro-Wilk test):</a:t>
            </a:r>
          </a:p>
          <a:p>
            <a:pPr lvl="0" indent="0">
              <a:buNone/>
            </a:pPr>
            <a:r>
              <a:rPr>
                <a:solidFill>
                  <a:srgbClr val="003B4F"/>
                </a:solidFill>
                <a:latin typeface="Courier"/>
              </a:rPr>
              <a:t>normality_results &lt;- in_df </a:t>
            </a:r>
            <a:r>
              <a:rPr>
                <a:solidFill>
                  <a:srgbClr val="5E5E5E"/>
                </a:solidFill>
                <a:latin typeface="Courier"/>
              </a:rPr>
              <a:t>%&gt;%</a:t>
            </a:r>
            <a:br/>
            <a:r>
              <a:rPr>
                <a:solidFill>
                  <a:srgbClr val="003B4F"/>
                </a:solidFill>
                <a:latin typeface="Courier"/>
              </a:rPr>
              <a:t>  </a:t>
            </a:r>
            <a:r>
              <a:rPr>
                <a:solidFill>
                  <a:srgbClr val="4758AB"/>
                </a:solidFill>
                <a:latin typeface="Courier"/>
              </a:rPr>
              <a:t>group_by</a:t>
            </a:r>
            <a:r>
              <a:rPr>
                <a:solidFill>
                  <a:srgbClr val="003B4F"/>
                </a:solidFill>
                <a:latin typeface="Courier"/>
              </a:rPr>
              <a:t>(lake) </a:t>
            </a:r>
            <a:r>
              <a:rPr>
                <a:solidFill>
                  <a:srgbClr val="5E5E5E"/>
                </a:solidFill>
                <a:latin typeface="Courier"/>
              </a:rPr>
              <a:t>%&gt;%</a:t>
            </a:r>
            <a:br/>
            <a:r>
              <a:rPr>
                <a:solidFill>
                  <a:srgbClr val="003B4F"/>
                </a:solidFill>
                <a:latin typeface="Courier"/>
              </a:rPr>
              <a:t>  </a:t>
            </a:r>
            <a:r>
              <a:rPr>
                <a:solidFill>
                  <a:srgbClr val="4758AB"/>
                </a:solidFill>
                <a:latin typeface="Courier"/>
              </a:rPr>
              <a:t>summarize</a:t>
            </a:r>
            <a:r>
              <a:rPr>
                <a:solidFill>
                  <a:srgbClr val="003B4F"/>
                </a:solidFill>
                <a:latin typeface="Courier"/>
              </a:rPr>
              <a:t>(</a:t>
            </a:r>
            <a:br/>
            <a:r>
              <a:rPr>
                <a:solidFill>
                  <a:srgbClr val="003B4F"/>
                </a:solidFill>
                <a:latin typeface="Courier"/>
              </a:rPr>
              <a:t>    </a:t>
            </a:r>
            <a:r>
              <a:rPr>
                <a:solidFill>
                  <a:srgbClr val="657422"/>
                </a:solidFill>
                <a:latin typeface="Courier"/>
              </a:rPr>
              <a:t>shapiro_stat =</a:t>
            </a:r>
            <a:r>
              <a:rPr>
                <a:solidFill>
                  <a:srgbClr val="003B4F"/>
                </a:solidFill>
                <a:latin typeface="Courier"/>
              </a:rPr>
              <a:t> </a:t>
            </a:r>
            <a:r>
              <a:rPr>
                <a:solidFill>
                  <a:srgbClr val="4758AB"/>
                </a:solidFill>
                <a:latin typeface="Courier"/>
              </a:rPr>
              <a:t>shapiro.test</a:t>
            </a:r>
            <a:r>
              <a:rPr>
                <a:solidFill>
                  <a:srgbClr val="003B4F"/>
                </a:solidFill>
                <a:latin typeface="Courier"/>
              </a:rPr>
              <a:t>(mass_g)</a:t>
            </a:r>
            <a:r>
              <a:rPr>
                <a:solidFill>
                  <a:srgbClr val="5E5E5E"/>
                </a:solidFill>
                <a:latin typeface="Courier"/>
              </a:rPr>
              <a:t>$</a:t>
            </a:r>
            <a:r>
              <a:rPr>
                <a:solidFill>
                  <a:srgbClr val="003B4F"/>
                </a:solidFill>
                <a:latin typeface="Courier"/>
              </a:rPr>
              <a:t>statistic,</a:t>
            </a:r>
            <a:br/>
            <a:r>
              <a:rPr>
                <a:solidFill>
                  <a:srgbClr val="003B4F"/>
                </a:solidFill>
                <a:latin typeface="Courier"/>
              </a:rPr>
              <a:t>    </a:t>
            </a:r>
            <a:r>
              <a:rPr>
                <a:solidFill>
                  <a:srgbClr val="657422"/>
                </a:solidFill>
                <a:latin typeface="Courier"/>
              </a:rPr>
              <a:t>shapiro_p_value =</a:t>
            </a:r>
            <a:r>
              <a:rPr>
                <a:solidFill>
                  <a:srgbClr val="003B4F"/>
                </a:solidFill>
                <a:latin typeface="Courier"/>
              </a:rPr>
              <a:t> </a:t>
            </a:r>
            <a:r>
              <a:rPr>
                <a:solidFill>
                  <a:srgbClr val="4758AB"/>
                </a:solidFill>
                <a:latin typeface="Courier"/>
              </a:rPr>
              <a:t>shapiro.test</a:t>
            </a:r>
            <a:r>
              <a:rPr>
                <a:solidFill>
                  <a:srgbClr val="003B4F"/>
                </a:solidFill>
                <a:latin typeface="Courier"/>
              </a:rPr>
              <a:t>(mass_g)</a:t>
            </a:r>
            <a:r>
              <a:rPr>
                <a:solidFill>
                  <a:srgbClr val="5E5E5E"/>
                </a:solidFill>
                <a:latin typeface="Courier"/>
              </a:rPr>
              <a:t>$</a:t>
            </a:r>
            <a:r>
              <a:rPr>
                <a:solidFill>
                  <a:srgbClr val="003B4F"/>
                </a:solidFill>
                <a:latin typeface="Courier"/>
              </a:rPr>
              <a:t>p.value,</a:t>
            </a:r>
            <a:br/>
            <a:r>
              <a:rPr>
                <a:solidFill>
                  <a:srgbClr val="003B4F"/>
                </a:solidFill>
                <a:latin typeface="Courier"/>
              </a:rPr>
              <a:t>    </a:t>
            </a:r>
            <a:r>
              <a:rPr>
                <a:solidFill>
                  <a:srgbClr val="657422"/>
                </a:solidFill>
                <a:latin typeface="Courier"/>
              </a:rPr>
              <a:t>normal_distribution =</a:t>
            </a:r>
            <a:r>
              <a:rPr>
                <a:solidFill>
                  <a:srgbClr val="003B4F"/>
                </a:solidFill>
                <a:latin typeface="Courier"/>
              </a:rPr>
              <a:t> </a:t>
            </a:r>
            <a:r>
              <a:rPr>
                <a:solidFill>
                  <a:srgbClr val="4758AB"/>
                </a:solidFill>
                <a:latin typeface="Courier"/>
              </a:rPr>
              <a:t>if_else</a:t>
            </a:r>
            <a:r>
              <a:rPr>
                <a:solidFill>
                  <a:srgbClr val="003B4F"/>
                </a:solidFill>
                <a:latin typeface="Courier"/>
              </a:rPr>
              <a:t>(shapiro_p_value </a:t>
            </a:r>
            <a:r>
              <a:rPr>
                <a:solidFill>
                  <a:srgbClr val="5E5E5E"/>
                </a:solidFill>
                <a:latin typeface="Courier"/>
              </a:rPr>
              <a:t>&gt;</a:t>
            </a:r>
            <a:r>
              <a:rPr>
                <a:solidFill>
                  <a:srgbClr val="003B4F"/>
                </a:solidFill>
                <a:latin typeface="Courier"/>
              </a:rPr>
              <a:t> </a:t>
            </a:r>
            <a:r>
              <a:rPr>
                <a:solidFill>
                  <a:srgbClr val="AD0000"/>
                </a:solidFill>
                <a:latin typeface="Courier"/>
              </a:rPr>
              <a:t>0.05</a:t>
            </a:r>
            <a:r>
              <a:rPr>
                <a:solidFill>
                  <a:srgbClr val="003B4F"/>
                </a:solidFill>
                <a:latin typeface="Courier"/>
              </a:rPr>
              <a:t>, </a:t>
            </a:r>
            <a:r>
              <a:rPr>
                <a:solidFill>
                  <a:srgbClr val="20794D"/>
                </a:solidFill>
                <a:latin typeface="Courier"/>
              </a:rPr>
              <a:t>"Normal"</a:t>
            </a:r>
            <a:r>
              <a:rPr>
                <a:solidFill>
                  <a:srgbClr val="003B4F"/>
                </a:solidFill>
                <a:latin typeface="Courier"/>
              </a:rPr>
              <a:t>, </a:t>
            </a:r>
            <a:r>
              <a:rPr>
                <a:solidFill>
                  <a:srgbClr val="20794D"/>
                </a:solidFill>
                <a:latin typeface="Courier"/>
              </a:rPr>
              <a:t>"Non-normal"</a:t>
            </a:r>
            <a:r>
              <a:rPr>
                <a:solidFill>
                  <a:srgbClr val="003B4F"/>
                </a:solidFill>
                <a:latin typeface="Courier"/>
              </a:rPr>
              <a:t>)</a:t>
            </a:r>
            <a:br/>
            <a:r>
              <a:rPr>
                <a:solidFill>
                  <a:srgbClr val="003B4F"/>
                </a:solidFill>
                <a:latin typeface="Courier"/>
              </a:rPr>
              <a:t>  )</a:t>
            </a:r>
            <a:br/>
            <a:r>
              <a:rPr>
                <a:solidFill>
                  <a:srgbClr val="4758AB"/>
                </a:solidFill>
                <a:latin typeface="Courier"/>
              </a:rPr>
              <a:t>print</a:t>
            </a:r>
            <a:r>
              <a:rPr>
                <a:solidFill>
                  <a:srgbClr val="003B4F"/>
                </a:solidFill>
                <a:latin typeface="Courier"/>
              </a:rPr>
              <a:t>(normality_results)</a:t>
            </a:r>
          </a:p>
          <a:p>
            <a:pPr lvl="0" indent="0" marL="0">
              <a:buNone/>
            </a:pPr>
            <a:r>
              <a:rPr b="1"/>
              <a:t>▶ Run this</a:t>
            </a:r>
            <a:r>
              <a:rPr/>
              <a:t> — Levene’s test for equal variances (H₀: variances are equal across groups; we want this </a:t>
            </a:r>
            <a:r>
              <a:rPr b="1"/>
              <a:t>non-significant</a:t>
            </a:r>
            <a:r>
              <a:rPr/>
              <a:t>):</a:t>
            </a:r>
          </a:p>
          <a:p>
            <a:pPr lvl="0" indent="0">
              <a:buNone/>
            </a:pPr>
            <a:r>
              <a:rPr>
                <a:solidFill>
                  <a:srgbClr val="003B4F"/>
                </a:solidFill>
                <a:latin typeface="Courier"/>
              </a:rPr>
              <a:t>levene_result &lt;- </a:t>
            </a:r>
            <a:r>
              <a:rPr>
                <a:solidFill>
                  <a:srgbClr val="4758AB"/>
                </a:solidFill>
                <a:latin typeface="Courier"/>
              </a:rPr>
              <a:t>leveneTest</a:t>
            </a:r>
            <a:r>
              <a:rPr>
                <a:solidFill>
                  <a:srgbClr val="003B4F"/>
                </a:solidFill>
                <a:latin typeface="Courier"/>
              </a:rPr>
              <a:t>(mass_g </a:t>
            </a:r>
            <a:r>
              <a:rPr>
                <a:solidFill>
                  <a:srgbClr val="5E5E5E"/>
                </a:solidFill>
                <a:latin typeface="Courier"/>
              </a:rPr>
              <a:t>~</a:t>
            </a:r>
            <a:r>
              <a:rPr>
                <a:solidFill>
                  <a:srgbClr val="003B4F"/>
                </a:solidFill>
                <a:latin typeface="Courier"/>
              </a:rPr>
              <a:t> lake, </a:t>
            </a:r>
            <a:r>
              <a:rPr>
                <a:solidFill>
                  <a:srgbClr val="657422"/>
                </a:solidFill>
                <a:latin typeface="Courier"/>
              </a:rPr>
              <a:t>data =</a:t>
            </a:r>
            <a:r>
              <a:rPr>
                <a:solidFill>
                  <a:srgbClr val="003B4F"/>
                </a:solidFill>
                <a:latin typeface="Courier"/>
              </a:rPr>
              <a:t> in_df)</a:t>
            </a:r>
            <a:br/>
            <a:r>
              <a:rPr>
                <a:solidFill>
                  <a:srgbClr val="4758AB"/>
                </a:solidFill>
                <a:latin typeface="Courier"/>
              </a:rPr>
              <a:t>print</a:t>
            </a:r>
            <a:r>
              <a:rPr>
                <a:solidFill>
                  <a:srgbClr val="003B4F"/>
                </a:solidFill>
                <a:latin typeface="Courier"/>
              </a:rPr>
              <a:t>(levene_result)</a:t>
            </a:r>
          </a:p>
          <a:p>
            <a:pPr lvl="0" indent="0" marL="0">
              <a:buNone/>
            </a:pPr>
            <a:r>
              <a:rPr/>
              <a:t>✏️ </a:t>
            </a:r>
            <a:r>
              <a:rPr b="1"/>
              <a:t>Your turn:</a:t>
            </a:r>
            <a:r>
              <a:rPr/>
              <a:t> Based on your normality and Levene’s test results, do these two lakes meet the assumptions for a standard t-test? </a:t>
            </a:r>
            <a:r>
              <a:rPr>
                <a:latin typeface="Courier"/>
              </a:rPr>
              <a:t>________________________</a:t>
            </a:r>
          </a:p>
          <a:p>
            <a:pPr lvl="0" indent="0" marL="1270000">
              <a:buNone/>
            </a:pPr>
            <a:r>
              <a:rPr sz="2000" b="1"/>
              <a:t>Tip</a:t>
            </a:r>
          </a:p>
          <a:p>
            <a:pPr lvl="0" indent="0" marL="1270000">
              <a:buNone/>
            </a:pPr>
            <a:r>
              <a:rPr sz="2000" b="1"/>
              <a:t>🚀 If you finish early:</a:t>
            </a:r>
            <a:r>
              <a:rPr sz="2000"/>
              <a:t> Rerun the Levene’s test on </a:t>
            </a:r>
            <a:r>
              <a:rPr sz="2000">
                <a:latin typeface="Courier"/>
              </a:rPr>
              <a:t>length_mm ~ lake</a:t>
            </a:r>
            <a:r>
              <a:rPr sz="2000"/>
              <a:t> instead of </a:t>
            </a:r>
            <a:r>
              <a:rPr sz="2000">
                <a:latin typeface="Courier"/>
              </a:rPr>
              <a:t>mass_g ~ lake</a:t>
            </a:r>
            <a:r>
              <a:rPr sz="2000"/>
              <a:t>. Same conclusion?</a:t>
            </a:r>
          </a:p>
          <a:p>
            <a:pPr lvl="0" indent="0">
              <a:buNone/>
            </a:pPr>
            <a:r>
              <a:rPr>
                <a:solidFill>
                  <a:srgbClr val="5E5E5E"/>
                </a:solidFill>
                <a:latin typeface="Courier"/>
              </a:rPr>
              <a:t># Write your code here:</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4 · Data Transformations</a:t>
            </a:r>
          </a:p>
        </p:txBody>
      </p:sp>
      <p:sp>
        <p:nvSpPr>
          <p:cNvPr id="3" name="Content Placeholder 2"/>
          <p:cNvSpPr>
            <a:spLocks noGrp="1"/>
          </p:cNvSpPr>
          <p:nvPr>
            <p:ph idx="1"/>
          </p:nvPr>
        </p:nvSpPr>
        <p:spPr/>
        <p:txBody>
          <a:bodyPr/>
          <a:lstStyle/>
          <a:p>
            <a:pPr lvl="0" indent="0" marL="0">
              <a:buNone/>
            </a:pPr>
            <a:r>
              <a:rPr/>
              <a:t>A log₁₀ transformation commonly helps right-skewed data like this pass the normality assumption.</a:t>
            </a:r>
          </a:p>
          <a:p>
            <a:pPr lvl="0" indent="0" marL="0">
              <a:buNone/>
            </a:pPr>
            <a:r>
              <a:rPr b="1"/>
              <a:t>▶ Run this:</a:t>
            </a:r>
          </a:p>
          <a:p>
            <a:pPr lvl="0" indent="0">
              <a:buNone/>
            </a:pPr>
            <a:r>
              <a:rPr>
                <a:solidFill>
                  <a:srgbClr val="003B4F"/>
                </a:solidFill>
                <a:latin typeface="Courier"/>
              </a:rPr>
              <a:t>in_df &lt;- in_df </a:t>
            </a:r>
            <a:r>
              <a:rPr>
                <a:solidFill>
                  <a:srgbClr val="5E5E5E"/>
                </a:solidFill>
                <a:latin typeface="Courier"/>
              </a:rPr>
              <a:t>%&gt;%</a:t>
            </a:r>
            <a:br/>
            <a:r>
              <a:rPr>
                <a:solidFill>
                  <a:srgbClr val="003B4F"/>
                </a:solidFill>
                <a:latin typeface="Courier"/>
              </a:rPr>
              <a:t>  </a:t>
            </a:r>
            <a:r>
              <a:rPr>
                <a:solidFill>
                  <a:srgbClr val="4758AB"/>
                </a:solidFill>
                <a:latin typeface="Courier"/>
              </a:rPr>
              <a:t>mutate</a:t>
            </a:r>
            <a:r>
              <a:rPr>
                <a:solidFill>
                  <a:srgbClr val="003B4F"/>
                </a:solidFill>
                <a:latin typeface="Courier"/>
              </a:rPr>
              <a:t>(</a:t>
            </a:r>
            <a:r>
              <a:rPr>
                <a:solidFill>
                  <a:srgbClr val="657422"/>
                </a:solidFill>
                <a:latin typeface="Courier"/>
              </a:rPr>
              <a:t>log_mass =</a:t>
            </a:r>
            <a:r>
              <a:rPr>
                <a:solidFill>
                  <a:srgbClr val="003B4F"/>
                </a:solidFill>
                <a:latin typeface="Courier"/>
              </a:rPr>
              <a:t> </a:t>
            </a:r>
            <a:r>
              <a:rPr>
                <a:solidFill>
                  <a:srgbClr val="4758AB"/>
                </a:solidFill>
                <a:latin typeface="Courier"/>
              </a:rPr>
              <a:t>log10</a:t>
            </a:r>
            <a:r>
              <a:rPr>
                <a:solidFill>
                  <a:srgbClr val="003B4F"/>
                </a:solidFill>
                <a:latin typeface="Courier"/>
              </a:rPr>
              <a:t>(mass_g))</a:t>
            </a:r>
            <a:br/>
            <a:r>
              <a:rPr>
                <a:solidFill>
                  <a:srgbClr val="4758AB"/>
                </a:solidFill>
                <a:latin typeface="Courier"/>
              </a:rPr>
              <a:t>head</a:t>
            </a:r>
            <a:r>
              <a:rPr>
                <a:solidFill>
                  <a:srgbClr val="003B4F"/>
                </a:solidFill>
                <a:latin typeface="Courier"/>
              </a:rPr>
              <a:t>(in_df)</a:t>
            </a:r>
          </a:p>
          <a:p>
            <a:pPr lvl="0" indent="0" marL="0">
              <a:buNone/>
            </a:pPr>
            <a:r>
              <a:rPr b="1"/>
              <a:t>▶ Run this</a:t>
            </a:r>
            <a:r>
              <a:rPr/>
              <a:t> — check if it worked, with a histogram:</a:t>
            </a:r>
          </a:p>
          <a:p>
            <a:pPr lvl="0" indent="0">
              <a:buNone/>
            </a:pPr>
            <a:r>
              <a:rPr>
                <a:solidFill>
                  <a:srgbClr val="003B4F"/>
                </a:solidFill>
                <a:latin typeface="Courier"/>
              </a:rPr>
              <a:t>log_hist_plot &lt;- in_df </a:t>
            </a:r>
            <a:r>
              <a:rPr>
                <a:solidFill>
                  <a:srgbClr val="5E5E5E"/>
                </a:solidFill>
                <a:latin typeface="Courier"/>
              </a:rPr>
              <a:t>%&gt;%</a:t>
            </a:r>
            <a:br/>
            <a:r>
              <a:rPr>
                <a:solidFill>
                  <a:srgbClr val="003B4F"/>
                </a:solidFill>
                <a:latin typeface="Courier"/>
              </a:rPr>
              <a:t>  </a:t>
            </a:r>
            <a:r>
              <a:rPr>
                <a:solidFill>
                  <a:srgbClr val="4758AB"/>
                </a:solidFill>
                <a:latin typeface="Courier"/>
              </a:rPr>
              <a:t>ggplot</a:t>
            </a:r>
            <a:r>
              <a:rPr>
                <a:solidFill>
                  <a:srgbClr val="003B4F"/>
                </a:solidFill>
                <a:latin typeface="Courier"/>
              </a:rPr>
              <a:t>(</a:t>
            </a:r>
            <a:r>
              <a:rPr>
                <a:solidFill>
                  <a:srgbClr val="4758AB"/>
                </a:solidFill>
                <a:latin typeface="Courier"/>
              </a:rPr>
              <a:t>aes</a:t>
            </a:r>
            <a:r>
              <a:rPr>
                <a:solidFill>
                  <a:srgbClr val="003B4F"/>
                </a:solidFill>
                <a:latin typeface="Courier"/>
              </a:rPr>
              <a:t>(</a:t>
            </a:r>
            <a:r>
              <a:rPr>
                <a:solidFill>
                  <a:srgbClr val="657422"/>
                </a:solidFill>
                <a:latin typeface="Courier"/>
              </a:rPr>
              <a:t>x =</a:t>
            </a:r>
            <a:r>
              <a:rPr>
                <a:solidFill>
                  <a:srgbClr val="003B4F"/>
                </a:solidFill>
                <a:latin typeface="Courier"/>
              </a:rPr>
              <a:t> log_mass, </a:t>
            </a:r>
            <a:r>
              <a:rPr>
                <a:solidFill>
                  <a:srgbClr val="657422"/>
                </a:solidFill>
                <a:latin typeface="Courier"/>
              </a:rPr>
              <a:t>fill =</a:t>
            </a:r>
            <a:r>
              <a:rPr>
                <a:solidFill>
                  <a:srgbClr val="003B4F"/>
                </a:solidFill>
                <a:latin typeface="Courier"/>
              </a:rPr>
              <a:t> lake)) </a:t>
            </a:r>
            <a:r>
              <a:rPr>
                <a:solidFill>
                  <a:srgbClr val="5E5E5E"/>
                </a:solidFill>
                <a:latin typeface="Courier"/>
              </a:rPr>
              <a:t>+</a:t>
            </a:r>
            <a:br/>
            <a:r>
              <a:rPr>
                <a:solidFill>
                  <a:srgbClr val="003B4F"/>
                </a:solidFill>
                <a:latin typeface="Courier"/>
              </a:rPr>
              <a:t>  </a:t>
            </a:r>
            <a:r>
              <a:rPr>
                <a:solidFill>
                  <a:srgbClr val="4758AB"/>
                </a:solidFill>
                <a:latin typeface="Courier"/>
              </a:rPr>
              <a:t>geom_histogram</a:t>
            </a:r>
            <a:r>
              <a:rPr>
                <a:solidFill>
                  <a:srgbClr val="003B4F"/>
                </a:solidFill>
                <a:latin typeface="Courier"/>
              </a:rPr>
              <a:t>(</a:t>
            </a:r>
            <a:r>
              <a:rPr>
                <a:solidFill>
                  <a:srgbClr val="657422"/>
                </a:solidFill>
                <a:latin typeface="Courier"/>
              </a:rPr>
              <a:t>bins =</a:t>
            </a:r>
            <a:r>
              <a:rPr>
                <a:solidFill>
                  <a:srgbClr val="003B4F"/>
                </a:solidFill>
                <a:latin typeface="Courier"/>
              </a:rPr>
              <a:t> </a:t>
            </a:r>
            <a:r>
              <a:rPr>
                <a:solidFill>
                  <a:srgbClr val="AD0000"/>
                </a:solidFill>
                <a:latin typeface="Courier"/>
              </a:rPr>
              <a:t>20</a:t>
            </a:r>
            <a:r>
              <a:rPr>
                <a:solidFill>
                  <a:srgbClr val="003B4F"/>
                </a:solidFill>
                <a:latin typeface="Courier"/>
              </a:rPr>
              <a:t>, </a:t>
            </a:r>
            <a:r>
              <a:rPr>
                <a:solidFill>
                  <a:srgbClr val="657422"/>
                </a:solidFill>
                <a:latin typeface="Courier"/>
              </a:rPr>
              <a:t>alpha =</a:t>
            </a:r>
            <a:r>
              <a:rPr>
                <a:solidFill>
                  <a:srgbClr val="003B4F"/>
                </a:solidFill>
                <a:latin typeface="Courier"/>
              </a:rPr>
              <a:t> </a:t>
            </a:r>
            <a:r>
              <a:rPr>
                <a:solidFill>
                  <a:srgbClr val="AD0000"/>
                </a:solidFill>
                <a:latin typeface="Courier"/>
              </a:rPr>
              <a:t>0.7</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labs</a:t>
            </a:r>
            <a:r>
              <a:rPr>
                <a:solidFill>
                  <a:srgbClr val="003B4F"/>
                </a:solidFill>
                <a:latin typeface="Courier"/>
              </a:rPr>
              <a:t>(</a:t>
            </a:r>
            <a:r>
              <a:rPr>
                <a:solidFill>
                  <a:srgbClr val="657422"/>
                </a:solidFill>
                <a:latin typeface="Courier"/>
              </a:rPr>
              <a:t>title =</a:t>
            </a:r>
            <a:r>
              <a:rPr>
                <a:solidFill>
                  <a:srgbClr val="003B4F"/>
                </a:solidFill>
                <a:latin typeface="Courier"/>
              </a:rPr>
              <a:t> </a:t>
            </a:r>
            <a:r>
              <a:rPr>
                <a:solidFill>
                  <a:srgbClr val="20794D"/>
                </a:solidFill>
                <a:latin typeface="Courier"/>
              </a:rPr>
              <a:t>"Distribution of Log-Transformed Lake Trout Mass"</a:t>
            </a:r>
            <a:r>
              <a:rPr>
                <a:solidFill>
                  <a:srgbClr val="003B4F"/>
                </a:solidFill>
                <a:latin typeface="Courier"/>
              </a:rPr>
              <a:t>,</a:t>
            </a:r>
            <a:br/>
            <a:r>
              <a:rPr>
                <a:solidFill>
                  <a:srgbClr val="003B4F"/>
                </a:solidFill>
                <a:latin typeface="Courier"/>
              </a:rPr>
              <a:t>       </a:t>
            </a:r>
            <a:r>
              <a:rPr>
                <a:solidFill>
                  <a:srgbClr val="657422"/>
                </a:solidFill>
                <a:latin typeface="Courier"/>
              </a:rPr>
              <a:t>x =</a:t>
            </a:r>
            <a:r>
              <a:rPr>
                <a:solidFill>
                  <a:srgbClr val="003B4F"/>
                </a:solidFill>
                <a:latin typeface="Courier"/>
              </a:rPr>
              <a:t> </a:t>
            </a:r>
            <a:r>
              <a:rPr>
                <a:solidFill>
                  <a:srgbClr val="20794D"/>
                </a:solidFill>
                <a:latin typeface="Courier"/>
              </a:rPr>
              <a:t>"Log10 Mass"</a:t>
            </a:r>
            <a:r>
              <a:rPr>
                <a:solidFill>
                  <a:srgbClr val="003B4F"/>
                </a:solidFill>
                <a:latin typeface="Courier"/>
              </a:rPr>
              <a:t>, </a:t>
            </a:r>
            <a:r>
              <a:rPr>
                <a:solidFill>
                  <a:srgbClr val="657422"/>
                </a:solidFill>
                <a:latin typeface="Courier"/>
              </a:rPr>
              <a:t>y =</a:t>
            </a:r>
            <a:r>
              <a:rPr>
                <a:solidFill>
                  <a:srgbClr val="003B4F"/>
                </a:solidFill>
                <a:latin typeface="Courier"/>
              </a:rPr>
              <a:t> </a:t>
            </a:r>
            <a:r>
              <a:rPr>
                <a:solidFill>
                  <a:srgbClr val="20794D"/>
                </a:solidFill>
                <a:latin typeface="Courier"/>
              </a:rPr>
              <a:t>"Count"</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theme_minimal</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facet_wrap</a:t>
            </a:r>
            <a:r>
              <a:rPr>
                <a:solidFill>
                  <a:srgbClr val="003B4F"/>
                </a:solidFill>
                <a:latin typeface="Courier"/>
              </a:rPr>
              <a:t>(</a:t>
            </a:r>
            <a:r>
              <a:rPr>
                <a:solidFill>
                  <a:srgbClr val="5E5E5E"/>
                </a:solidFill>
                <a:latin typeface="Courier"/>
              </a:rPr>
              <a:t>~</a:t>
            </a:r>
            <a:r>
              <a:rPr>
                <a:solidFill>
                  <a:srgbClr val="003B4F"/>
                </a:solidFill>
                <a:latin typeface="Courier"/>
              </a:rPr>
              <a:t>lake, </a:t>
            </a:r>
            <a:r>
              <a:rPr>
                <a:solidFill>
                  <a:srgbClr val="657422"/>
                </a:solidFill>
                <a:latin typeface="Courier"/>
              </a:rPr>
              <a:t>scales =</a:t>
            </a:r>
            <a:r>
              <a:rPr>
                <a:solidFill>
                  <a:srgbClr val="003B4F"/>
                </a:solidFill>
                <a:latin typeface="Courier"/>
              </a:rPr>
              <a:t> </a:t>
            </a:r>
            <a:r>
              <a:rPr>
                <a:solidFill>
                  <a:srgbClr val="20794D"/>
                </a:solidFill>
                <a:latin typeface="Courier"/>
              </a:rPr>
              <a:t>"free_y"</a:t>
            </a:r>
            <a:r>
              <a:rPr>
                <a:solidFill>
                  <a:srgbClr val="003B4F"/>
                </a:solidFill>
                <a:latin typeface="Courier"/>
              </a:rPr>
              <a:t>)</a:t>
            </a:r>
            <a:br/>
            <a:r>
              <a:rPr>
                <a:solidFill>
                  <a:srgbClr val="003B4F"/>
                </a:solidFill>
                <a:latin typeface="Courier"/>
              </a:rPr>
              <a:t>log_hist_plot</a:t>
            </a:r>
          </a:p>
          <a:p>
            <a:pPr lvl="0" indent="0" marL="0">
              <a:buNone/>
            </a:pPr>
            <a:r>
              <a:rPr b="1"/>
              <a:t>▶ Run this</a:t>
            </a:r>
            <a:r>
              <a:rPr/>
              <a:t> — a QQ plot of the transformed data (we’ll skip Shapiro-Wilk for a moment):</a:t>
            </a:r>
          </a:p>
          <a:p>
            <a:pPr lvl="0" indent="0">
              <a:buNone/>
            </a:pPr>
            <a:r>
              <a:rPr>
                <a:solidFill>
                  <a:srgbClr val="003B4F"/>
                </a:solidFill>
                <a:latin typeface="Courier"/>
              </a:rPr>
              <a:t>log_qq_plot &lt;- in_df </a:t>
            </a:r>
            <a:r>
              <a:rPr>
                <a:solidFill>
                  <a:srgbClr val="5E5E5E"/>
                </a:solidFill>
                <a:latin typeface="Courier"/>
              </a:rPr>
              <a:t>%&gt;%</a:t>
            </a:r>
            <a:br/>
            <a:r>
              <a:rPr>
                <a:solidFill>
                  <a:srgbClr val="003B4F"/>
                </a:solidFill>
                <a:latin typeface="Courier"/>
              </a:rPr>
              <a:t>  </a:t>
            </a:r>
            <a:r>
              <a:rPr>
                <a:solidFill>
                  <a:srgbClr val="4758AB"/>
                </a:solidFill>
                <a:latin typeface="Courier"/>
              </a:rPr>
              <a:t>ggplot</a:t>
            </a:r>
            <a:r>
              <a:rPr>
                <a:solidFill>
                  <a:srgbClr val="003B4F"/>
                </a:solidFill>
                <a:latin typeface="Courier"/>
              </a:rPr>
              <a:t>(</a:t>
            </a:r>
            <a:r>
              <a:rPr>
                <a:solidFill>
                  <a:srgbClr val="4758AB"/>
                </a:solidFill>
                <a:latin typeface="Courier"/>
              </a:rPr>
              <a:t>aes</a:t>
            </a:r>
            <a:r>
              <a:rPr>
                <a:solidFill>
                  <a:srgbClr val="003B4F"/>
                </a:solidFill>
                <a:latin typeface="Courier"/>
              </a:rPr>
              <a:t>(</a:t>
            </a:r>
            <a:r>
              <a:rPr>
                <a:solidFill>
                  <a:srgbClr val="657422"/>
                </a:solidFill>
                <a:latin typeface="Courier"/>
              </a:rPr>
              <a:t>sample =</a:t>
            </a:r>
            <a:r>
              <a:rPr>
                <a:solidFill>
                  <a:srgbClr val="003B4F"/>
                </a:solidFill>
                <a:latin typeface="Courier"/>
              </a:rPr>
              <a:t> log_mass, </a:t>
            </a:r>
            <a:r>
              <a:rPr>
                <a:solidFill>
                  <a:srgbClr val="657422"/>
                </a:solidFill>
                <a:latin typeface="Courier"/>
              </a:rPr>
              <a:t>color =</a:t>
            </a:r>
            <a:r>
              <a:rPr>
                <a:solidFill>
                  <a:srgbClr val="003B4F"/>
                </a:solidFill>
                <a:latin typeface="Courier"/>
              </a:rPr>
              <a:t> lake)) </a:t>
            </a:r>
            <a:r>
              <a:rPr>
                <a:solidFill>
                  <a:srgbClr val="5E5E5E"/>
                </a:solidFill>
                <a:latin typeface="Courier"/>
              </a:rPr>
              <a:t>+</a:t>
            </a:r>
            <a:br/>
            <a:r>
              <a:rPr>
                <a:solidFill>
                  <a:srgbClr val="003B4F"/>
                </a:solidFill>
                <a:latin typeface="Courier"/>
              </a:rPr>
              <a:t>  </a:t>
            </a:r>
            <a:r>
              <a:rPr>
                <a:solidFill>
                  <a:srgbClr val="4758AB"/>
                </a:solidFill>
                <a:latin typeface="Courier"/>
              </a:rPr>
              <a:t>stat_qq</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stat_qq_line</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labs</a:t>
            </a:r>
            <a:r>
              <a:rPr>
                <a:solidFill>
                  <a:srgbClr val="003B4F"/>
                </a:solidFill>
                <a:latin typeface="Courier"/>
              </a:rPr>
              <a:t>(</a:t>
            </a:r>
            <a:r>
              <a:rPr>
                <a:solidFill>
                  <a:srgbClr val="657422"/>
                </a:solidFill>
                <a:latin typeface="Courier"/>
              </a:rPr>
              <a:t>title =</a:t>
            </a:r>
            <a:r>
              <a:rPr>
                <a:solidFill>
                  <a:srgbClr val="003B4F"/>
                </a:solidFill>
                <a:latin typeface="Courier"/>
              </a:rPr>
              <a:t> </a:t>
            </a:r>
            <a:r>
              <a:rPr>
                <a:solidFill>
                  <a:srgbClr val="20794D"/>
                </a:solidFill>
                <a:latin typeface="Courier"/>
              </a:rPr>
              <a:t>"QQ Plot for Log-Transformed Data"</a:t>
            </a:r>
            <a:r>
              <a:rPr>
                <a:solidFill>
                  <a:srgbClr val="003B4F"/>
                </a:solidFill>
                <a:latin typeface="Courier"/>
              </a:rPr>
              <a:t>,</a:t>
            </a:r>
            <a:br/>
            <a:r>
              <a:rPr>
                <a:solidFill>
                  <a:srgbClr val="003B4F"/>
                </a:solidFill>
                <a:latin typeface="Courier"/>
              </a:rPr>
              <a:t>       </a:t>
            </a:r>
            <a:r>
              <a:rPr>
                <a:solidFill>
                  <a:srgbClr val="657422"/>
                </a:solidFill>
                <a:latin typeface="Courier"/>
              </a:rPr>
              <a:t>x =</a:t>
            </a:r>
            <a:r>
              <a:rPr>
                <a:solidFill>
                  <a:srgbClr val="003B4F"/>
                </a:solidFill>
                <a:latin typeface="Courier"/>
              </a:rPr>
              <a:t> </a:t>
            </a:r>
            <a:r>
              <a:rPr>
                <a:solidFill>
                  <a:srgbClr val="20794D"/>
                </a:solidFill>
                <a:latin typeface="Courier"/>
              </a:rPr>
              <a:t>"Theoretical Quantiles"</a:t>
            </a:r>
            <a:r>
              <a:rPr>
                <a:solidFill>
                  <a:srgbClr val="003B4F"/>
                </a:solidFill>
                <a:latin typeface="Courier"/>
              </a:rPr>
              <a:t>, </a:t>
            </a:r>
            <a:r>
              <a:rPr>
                <a:solidFill>
                  <a:srgbClr val="657422"/>
                </a:solidFill>
                <a:latin typeface="Courier"/>
              </a:rPr>
              <a:t>y =</a:t>
            </a:r>
            <a:r>
              <a:rPr>
                <a:solidFill>
                  <a:srgbClr val="003B4F"/>
                </a:solidFill>
                <a:latin typeface="Courier"/>
              </a:rPr>
              <a:t> </a:t>
            </a:r>
            <a:r>
              <a:rPr>
                <a:solidFill>
                  <a:srgbClr val="20794D"/>
                </a:solidFill>
                <a:latin typeface="Courier"/>
              </a:rPr>
              <a:t>"Sample Quantiles"</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theme_minimal</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facet_wrap</a:t>
            </a:r>
            <a:r>
              <a:rPr>
                <a:solidFill>
                  <a:srgbClr val="003B4F"/>
                </a:solidFill>
                <a:latin typeface="Courier"/>
              </a:rPr>
              <a:t>(</a:t>
            </a:r>
            <a:r>
              <a:rPr>
                <a:solidFill>
                  <a:srgbClr val="5E5E5E"/>
                </a:solidFill>
                <a:latin typeface="Courier"/>
              </a:rPr>
              <a:t>~</a:t>
            </a:r>
            <a:r>
              <a:rPr>
                <a:solidFill>
                  <a:srgbClr val="003B4F"/>
                </a:solidFill>
                <a:latin typeface="Courier"/>
              </a:rPr>
              <a:t>lake)</a:t>
            </a:r>
            <a:br/>
            <a:r>
              <a:rPr>
                <a:solidFill>
                  <a:srgbClr val="003B4F"/>
                </a:solidFill>
                <a:latin typeface="Courier"/>
              </a:rPr>
              <a:t>log_qq_plot</a:t>
            </a:r>
          </a:p>
          <a:p>
            <a:pPr lvl="0" indent="0" marL="0">
              <a:buNone/>
            </a:pPr>
            <a:r>
              <a:rPr b="1"/>
              <a:t>▶ Run this</a:t>
            </a:r>
            <a:r>
              <a:rPr/>
              <a:t> — now the formal tests on the transformed data:</a:t>
            </a:r>
          </a:p>
          <a:p>
            <a:pPr lvl="0" indent="0">
              <a:buNone/>
            </a:pPr>
            <a:r>
              <a:rPr>
                <a:solidFill>
                  <a:srgbClr val="003B4F"/>
                </a:solidFill>
                <a:latin typeface="Courier"/>
              </a:rPr>
              <a:t>log_normality_results &lt;- in_df </a:t>
            </a:r>
            <a:r>
              <a:rPr>
                <a:solidFill>
                  <a:srgbClr val="5E5E5E"/>
                </a:solidFill>
                <a:latin typeface="Courier"/>
              </a:rPr>
              <a:t>%&gt;%</a:t>
            </a:r>
            <a:br/>
            <a:r>
              <a:rPr>
                <a:solidFill>
                  <a:srgbClr val="003B4F"/>
                </a:solidFill>
                <a:latin typeface="Courier"/>
              </a:rPr>
              <a:t>  </a:t>
            </a:r>
            <a:r>
              <a:rPr>
                <a:solidFill>
                  <a:srgbClr val="4758AB"/>
                </a:solidFill>
                <a:latin typeface="Courier"/>
              </a:rPr>
              <a:t>group_by</a:t>
            </a:r>
            <a:r>
              <a:rPr>
                <a:solidFill>
                  <a:srgbClr val="003B4F"/>
                </a:solidFill>
                <a:latin typeface="Courier"/>
              </a:rPr>
              <a:t>(lake) </a:t>
            </a:r>
            <a:r>
              <a:rPr>
                <a:solidFill>
                  <a:srgbClr val="5E5E5E"/>
                </a:solidFill>
                <a:latin typeface="Courier"/>
              </a:rPr>
              <a:t>%&gt;%</a:t>
            </a:r>
            <a:br/>
            <a:r>
              <a:rPr>
                <a:solidFill>
                  <a:srgbClr val="003B4F"/>
                </a:solidFill>
                <a:latin typeface="Courier"/>
              </a:rPr>
              <a:t>  </a:t>
            </a:r>
            <a:r>
              <a:rPr>
                <a:solidFill>
                  <a:srgbClr val="4758AB"/>
                </a:solidFill>
                <a:latin typeface="Courier"/>
              </a:rPr>
              <a:t>summarize</a:t>
            </a:r>
            <a:r>
              <a:rPr>
                <a:solidFill>
                  <a:srgbClr val="003B4F"/>
                </a:solidFill>
                <a:latin typeface="Courier"/>
              </a:rPr>
              <a:t>(</a:t>
            </a:r>
            <a:br/>
            <a:r>
              <a:rPr>
                <a:solidFill>
                  <a:srgbClr val="003B4F"/>
                </a:solidFill>
                <a:latin typeface="Courier"/>
              </a:rPr>
              <a:t>    </a:t>
            </a:r>
            <a:r>
              <a:rPr>
                <a:solidFill>
                  <a:srgbClr val="657422"/>
                </a:solidFill>
                <a:latin typeface="Courier"/>
              </a:rPr>
              <a:t>shapiro_stat =</a:t>
            </a:r>
            <a:r>
              <a:rPr>
                <a:solidFill>
                  <a:srgbClr val="003B4F"/>
                </a:solidFill>
                <a:latin typeface="Courier"/>
              </a:rPr>
              <a:t> </a:t>
            </a:r>
            <a:r>
              <a:rPr>
                <a:solidFill>
                  <a:srgbClr val="4758AB"/>
                </a:solidFill>
                <a:latin typeface="Courier"/>
              </a:rPr>
              <a:t>shapiro.test</a:t>
            </a:r>
            <a:r>
              <a:rPr>
                <a:solidFill>
                  <a:srgbClr val="003B4F"/>
                </a:solidFill>
                <a:latin typeface="Courier"/>
              </a:rPr>
              <a:t>(</a:t>
            </a:r>
            <a:r>
              <a:rPr>
                <a:solidFill>
                  <a:srgbClr val="4758AB"/>
                </a:solidFill>
                <a:latin typeface="Courier"/>
              </a:rPr>
              <a:t>log10</a:t>
            </a:r>
            <a:r>
              <a:rPr>
                <a:solidFill>
                  <a:srgbClr val="003B4F"/>
                </a:solidFill>
                <a:latin typeface="Courier"/>
              </a:rPr>
              <a:t>(mass_g))</a:t>
            </a:r>
            <a:r>
              <a:rPr>
                <a:solidFill>
                  <a:srgbClr val="5E5E5E"/>
                </a:solidFill>
                <a:latin typeface="Courier"/>
              </a:rPr>
              <a:t>$</a:t>
            </a:r>
            <a:r>
              <a:rPr>
                <a:solidFill>
                  <a:srgbClr val="003B4F"/>
                </a:solidFill>
                <a:latin typeface="Courier"/>
              </a:rPr>
              <a:t>statistic,</a:t>
            </a:r>
            <a:br/>
            <a:r>
              <a:rPr>
                <a:solidFill>
                  <a:srgbClr val="003B4F"/>
                </a:solidFill>
                <a:latin typeface="Courier"/>
              </a:rPr>
              <a:t>    </a:t>
            </a:r>
            <a:r>
              <a:rPr>
                <a:solidFill>
                  <a:srgbClr val="657422"/>
                </a:solidFill>
                <a:latin typeface="Courier"/>
              </a:rPr>
              <a:t>shapiro_p_value =</a:t>
            </a:r>
            <a:r>
              <a:rPr>
                <a:solidFill>
                  <a:srgbClr val="003B4F"/>
                </a:solidFill>
                <a:latin typeface="Courier"/>
              </a:rPr>
              <a:t> </a:t>
            </a:r>
            <a:r>
              <a:rPr>
                <a:solidFill>
                  <a:srgbClr val="4758AB"/>
                </a:solidFill>
                <a:latin typeface="Courier"/>
              </a:rPr>
              <a:t>shapiro.test</a:t>
            </a:r>
            <a:r>
              <a:rPr>
                <a:solidFill>
                  <a:srgbClr val="003B4F"/>
                </a:solidFill>
                <a:latin typeface="Courier"/>
              </a:rPr>
              <a:t>(</a:t>
            </a:r>
            <a:r>
              <a:rPr>
                <a:solidFill>
                  <a:srgbClr val="4758AB"/>
                </a:solidFill>
                <a:latin typeface="Courier"/>
              </a:rPr>
              <a:t>log10</a:t>
            </a:r>
            <a:r>
              <a:rPr>
                <a:solidFill>
                  <a:srgbClr val="003B4F"/>
                </a:solidFill>
                <a:latin typeface="Courier"/>
              </a:rPr>
              <a:t>(mass_g))</a:t>
            </a:r>
            <a:r>
              <a:rPr>
                <a:solidFill>
                  <a:srgbClr val="5E5E5E"/>
                </a:solidFill>
                <a:latin typeface="Courier"/>
              </a:rPr>
              <a:t>$</a:t>
            </a:r>
            <a:r>
              <a:rPr>
                <a:solidFill>
                  <a:srgbClr val="003B4F"/>
                </a:solidFill>
                <a:latin typeface="Courier"/>
              </a:rPr>
              <a:t>p.value,</a:t>
            </a:r>
            <a:br/>
            <a:r>
              <a:rPr>
                <a:solidFill>
                  <a:srgbClr val="003B4F"/>
                </a:solidFill>
                <a:latin typeface="Courier"/>
              </a:rPr>
              <a:t>    </a:t>
            </a:r>
            <a:r>
              <a:rPr>
                <a:solidFill>
                  <a:srgbClr val="657422"/>
                </a:solidFill>
                <a:latin typeface="Courier"/>
              </a:rPr>
              <a:t>normal_distribution =</a:t>
            </a:r>
            <a:r>
              <a:rPr>
                <a:solidFill>
                  <a:srgbClr val="003B4F"/>
                </a:solidFill>
                <a:latin typeface="Courier"/>
              </a:rPr>
              <a:t> </a:t>
            </a:r>
            <a:r>
              <a:rPr>
                <a:solidFill>
                  <a:srgbClr val="4758AB"/>
                </a:solidFill>
                <a:latin typeface="Courier"/>
              </a:rPr>
              <a:t>if_else</a:t>
            </a:r>
            <a:r>
              <a:rPr>
                <a:solidFill>
                  <a:srgbClr val="003B4F"/>
                </a:solidFill>
                <a:latin typeface="Courier"/>
              </a:rPr>
              <a:t>(shapiro_p_value </a:t>
            </a:r>
            <a:r>
              <a:rPr>
                <a:solidFill>
                  <a:srgbClr val="5E5E5E"/>
                </a:solidFill>
                <a:latin typeface="Courier"/>
              </a:rPr>
              <a:t>&gt;</a:t>
            </a:r>
            <a:r>
              <a:rPr>
                <a:solidFill>
                  <a:srgbClr val="003B4F"/>
                </a:solidFill>
                <a:latin typeface="Courier"/>
              </a:rPr>
              <a:t> </a:t>
            </a:r>
            <a:r>
              <a:rPr>
                <a:solidFill>
                  <a:srgbClr val="AD0000"/>
                </a:solidFill>
                <a:latin typeface="Courier"/>
              </a:rPr>
              <a:t>0.05</a:t>
            </a:r>
            <a:r>
              <a:rPr>
                <a:solidFill>
                  <a:srgbClr val="003B4F"/>
                </a:solidFill>
                <a:latin typeface="Courier"/>
              </a:rPr>
              <a:t>, </a:t>
            </a:r>
            <a:r>
              <a:rPr>
                <a:solidFill>
                  <a:srgbClr val="20794D"/>
                </a:solidFill>
                <a:latin typeface="Courier"/>
              </a:rPr>
              <a:t>"Normal"</a:t>
            </a:r>
            <a:r>
              <a:rPr>
                <a:solidFill>
                  <a:srgbClr val="003B4F"/>
                </a:solidFill>
                <a:latin typeface="Courier"/>
              </a:rPr>
              <a:t>, </a:t>
            </a:r>
            <a:r>
              <a:rPr>
                <a:solidFill>
                  <a:srgbClr val="20794D"/>
                </a:solidFill>
                <a:latin typeface="Courier"/>
              </a:rPr>
              <a:t>"Non-normal"</a:t>
            </a:r>
            <a:r>
              <a:rPr>
                <a:solidFill>
                  <a:srgbClr val="003B4F"/>
                </a:solidFill>
                <a:latin typeface="Courier"/>
              </a:rPr>
              <a:t>)</a:t>
            </a:r>
            <a:br/>
            <a:r>
              <a:rPr>
                <a:solidFill>
                  <a:srgbClr val="003B4F"/>
                </a:solidFill>
                <a:latin typeface="Courier"/>
              </a:rPr>
              <a:t>  )</a:t>
            </a:r>
            <a:br/>
            <a:r>
              <a:rPr>
                <a:solidFill>
                  <a:srgbClr val="4758AB"/>
                </a:solidFill>
                <a:latin typeface="Courier"/>
              </a:rPr>
              <a:t>print</a:t>
            </a:r>
            <a:r>
              <a:rPr>
                <a:solidFill>
                  <a:srgbClr val="003B4F"/>
                </a:solidFill>
                <a:latin typeface="Courier"/>
              </a:rPr>
              <a:t>(log_normality_results)</a:t>
            </a:r>
            <a:br/>
            <a:br/>
            <a:r>
              <a:rPr>
                <a:solidFill>
                  <a:srgbClr val="003B4F"/>
                </a:solidFill>
                <a:latin typeface="Courier"/>
              </a:rPr>
              <a:t>levene_log_result &lt;- </a:t>
            </a:r>
            <a:r>
              <a:rPr>
                <a:solidFill>
                  <a:srgbClr val="4758AB"/>
                </a:solidFill>
                <a:latin typeface="Courier"/>
              </a:rPr>
              <a:t>leveneTest</a:t>
            </a:r>
            <a:r>
              <a:rPr>
                <a:solidFill>
                  <a:srgbClr val="003B4F"/>
                </a:solidFill>
                <a:latin typeface="Courier"/>
              </a:rPr>
              <a:t>(log_mass </a:t>
            </a:r>
            <a:r>
              <a:rPr>
                <a:solidFill>
                  <a:srgbClr val="5E5E5E"/>
                </a:solidFill>
                <a:latin typeface="Courier"/>
              </a:rPr>
              <a:t>~</a:t>
            </a:r>
            <a:r>
              <a:rPr>
                <a:solidFill>
                  <a:srgbClr val="003B4F"/>
                </a:solidFill>
                <a:latin typeface="Courier"/>
              </a:rPr>
              <a:t> lake, </a:t>
            </a:r>
            <a:r>
              <a:rPr>
                <a:solidFill>
                  <a:srgbClr val="657422"/>
                </a:solidFill>
                <a:latin typeface="Courier"/>
              </a:rPr>
              <a:t>data =</a:t>
            </a:r>
            <a:r>
              <a:rPr>
                <a:solidFill>
                  <a:srgbClr val="003B4F"/>
                </a:solidFill>
                <a:latin typeface="Courier"/>
              </a:rPr>
              <a:t> in_df)</a:t>
            </a:r>
            <a:br/>
            <a:r>
              <a:rPr>
                <a:solidFill>
                  <a:srgbClr val="4758AB"/>
                </a:solidFill>
                <a:latin typeface="Courier"/>
              </a:rPr>
              <a:t>print</a:t>
            </a:r>
            <a:r>
              <a:rPr>
                <a:solidFill>
                  <a:srgbClr val="003B4F"/>
                </a:solidFill>
                <a:latin typeface="Courier"/>
              </a:rPr>
              <a:t>(levene_log_result)</a:t>
            </a:r>
          </a:p>
          <a:p>
            <a:pPr lvl="0" indent="0" marL="0">
              <a:buNone/>
            </a:pPr>
            <a:r>
              <a:rPr/>
              <a:t>✏️ </a:t>
            </a:r>
            <a:r>
              <a:rPr b="1"/>
              <a:t>Your turn:</a:t>
            </a:r>
            <a:r>
              <a:rPr/>
              <a:t> Did the log transformation fix normality, equal variance, both, or neither? </a:t>
            </a:r>
            <a:r>
              <a:rPr>
                <a:latin typeface="Courier"/>
              </a:rPr>
              <a:t>________________________</a:t>
            </a:r>
          </a:p>
          <a:p>
            <a:pPr lvl="0" indent="0" marL="1270000">
              <a:buNone/>
            </a:pPr>
            <a:r>
              <a:rPr sz="2000" b="1"/>
              <a:t>Tip</a:t>
            </a:r>
          </a:p>
          <a:p>
            <a:pPr lvl="0" indent="0" marL="1270000">
              <a:buNone/>
            </a:pPr>
            <a:r>
              <a:rPr sz="2000" b="1"/>
              <a:t>🚀 If you finish early:</a:t>
            </a:r>
            <a:r>
              <a:rPr sz="2000"/>
              <a:t> Try a square-root transformation (</a:t>
            </a:r>
            <a:r>
              <a:rPr sz="2000">
                <a:latin typeface="Courier"/>
              </a:rPr>
              <a:t>sqrt(mass_g)</a:t>
            </a:r>
            <a:r>
              <a:rPr sz="2000"/>
              <a:t>) instead of log₁₀. Build a histogram and rerun the Shapiro-Wilk test — does it do better or worse than the log transform?</a:t>
            </a:r>
          </a:p>
          <a:p>
            <a:pPr lvl="0" indent="0">
              <a:buNone/>
            </a:pPr>
            <a:r>
              <a:rPr>
                <a:solidFill>
                  <a:srgbClr val="5E5E5E"/>
                </a:solidFill>
                <a:latin typeface="Courier"/>
              </a:rPr>
              <a:t># Write your code here:</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5 · Running the Tests</a:t>
            </a:r>
          </a:p>
        </p:txBody>
      </p:sp>
      <p:sp>
        <p:nvSpPr>
          <p:cNvPr id="3" name="Content Placeholder 2"/>
          <p:cNvSpPr>
            <a:spLocks noGrp="1"/>
          </p:cNvSpPr>
          <p:nvPr>
            <p:ph idx="1"/>
          </p:nvPr>
        </p:nvSpPr>
        <p:spPr/>
        <p:txBody>
          <a:bodyPr/>
          <a:lstStyle/>
          <a:p>
            <a:pPr lvl="0" indent="0" marL="0">
              <a:buNone/>
            </a:pPr>
            <a:r>
              <a:rPr/>
              <a:t>Even if the transformation doesn’t fully fix things, let’s run the full set of tests so we can compare them side by side.</a:t>
            </a:r>
          </a:p>
          <a:p>
            <a:pPr lvl="0" indent="0" marL="0">
              <a:buNone/>
            </a:pPr>
            <a:r>
              <a:rPr b="1"/>
              <a:t>▶ Run this</a:t>
            </a:r>
            <a:r>
              <a:rPr/>
              <a:t> — standard two-sample t-test on the raw data:</a:t>
            </a:r>
          </a:p>
          <a:p>
            <a:pPr lvl="0" indent="0">
              <a:buNone/>
            </a:pPr>
            <a:r>
              <a:rPr>
                <a:solidFill>
                  <a:srgbClr val="003B4F"/>
                </a:solidFill>
                <a:latin typeface="Courier"/>
              </a:rPr>
              <a:t>t_test_result &lt;- </a:t>
            </a:r>
            <a:r>
              <a:rPr>
                <a:solidFill>
                  <a:srgbClr val="4758AB"/>
                </a:solidFill>
                <a:latin typeface="Courier"/>
              </a:rPr>
              <a:t>t.test</a:t>
            </a:r>
            <a:r>
              <a:rPr>
                <a:solidFill>
                  <a:srgbClr val="003B4F"/>
                </a:solidFill>
                <a:latin typeface="Courier"/>
              </a:rPr>
              <a:t>(</a:t>
            </a:r>
            <a:br/>
            <a:r>
              <a:rPr>
                <a:solidFill>
                  <a:srgbClr val="003B4F"/>
                </a:solidFill>
                <a:latin typeface="Courier"/>
              </a:rPr>
              <a:t>  mass_g </a:t>
            </a:r>
            <a:r>
              <a:rPr>
                <a:solidFill>
                  <a:srgbClr val="5E5E5E"/>
                </a:solidFill>
                <a:latin typeface="Courier"/>
              </a:rPr>
              <a:t>~</a:t>
            </a:r>
            <a:r>
              <a:rPr>
                <a:solidFill>
                  <a:srgbClr val="003B4F"/>
                </a:solidFill>
                <a:latin typeface="Courier"/>
              </a:rPr>
              <a:t> lake,</a:t>
            </a:r>
            <a:br/>
            <a:r>
              <a:rPr>
                <a:solidFill>
                  <a:srgbClr val="003B4F"/>
                </a:solidFill>
                <a:latin typeface="Courier"/>
              </a:rPr>
              <a:t>  </a:t>
            </a:r>
            <a:r>
              <a:rPr>
                <a:solidFill>
                  <a:srgbClr val="657422"/>
                </a:solidFill>
                <a:latin typeface="Courier"/>
              </a:rPr>
              <a:t>data =</a:t>
            </a:r>
            <a:r>
              <a:rPr>
                <a:solidFill>
                  <a:srgbClr val="003B4F"/>
                </a:solidFill>
                <a:latin typeface="Courier"/>
              </a:rPr>
              <a:t> in_df,</a:t>
            </a:r>
            <a:br/>
            <a:r>
              <a:rPr>
                <a:solidFill>
                  <a:srgbClr val="003B4F"/>
                </a:solidFill>
                <a:latin typeface="Courier"/>
              </a:rPr>
              <a:t>  </a:t>
            </a:r>
            <a:r>
              <a:rPr>
                <a:solidFill>
                  <a:srgbClr val="657422"/>
                </a:solidFill>
                <a:latin typeface="Courier"/>
              </a:rPr>
              <a:t>var.equal =</a:t>
            </a:r>
            <a:r>
              <a:rPr>
                <a:solidFill>
                  <a:srgbClr val="003B4F"/>
                </a:solidFill>
                <a:latin typeface="Courier"/>
              </a:rPr>
              <a:t> </a:t>
            </a:r>
            <a:r>
              <a:rPr>
                <a:solidFill>
                  <a:srgbClr val="8F5902"/>
                </a:solidFill>
                <a:latin typeface="Courier"/>
              </a:rPr>
              <a:t>TRUE</a:t>
            </a:r>
            <a:r>
              <a:rPr>
                <a:solidFill>
                  <a:srgbClr val="003B4F"/>
                </a:solidFill>
                <a:latin typeface="Courier"/>
              </a:rPr>
              <a:t>,</a:t>
            </a:r>
            <a:br/>
            <a:r>
              <a:rPr>
                <a:solidFill>
                  <a:srgbClr val="003B4F"/>
                </a:solidFill>
                <a:latin typeface="Courier"/>
              </a:rPr>
              <a:t>  </a:t>
            </a:r>
            <a:r>
              <a:rPr>
                <a:solidFill>
                  <a:srgbClr val="657422"/>
                </a:solidFill>
                <a:latin typeface="Courier"/>
              </a:rPr>
              <a:t>alternative =</a:t>
            </a:r>
            <a:r>
              <a:rPr>
                <a:solidFill>
                  <a:srgbClr val="003B4F"/>
                </a:solidFill>
                <a:latin typeface="Courier"/>
              </a:rPr>
              <a:t> </a:t>
            </a:r>
            <a:r>
              <a:rPr>
                <a:solidFill>
                  <a:srgbClr val="20794D"/>
                </a:solidFill>
                <a:latin typeface="Courier"/>
              </a:rPr>
              <a:t>"two.sided"</a:t>
            </a:r>
            <a:br/>
            <a:r>
              <a:rPr>
                <a:solidFill>
                  <a:srgbClr val="003B4F"/>
                </a:solidFill>
                <a:latin typeface="Courier"/>
              </a:rPr>
              <a:t>)</a:t>
            </a:r>
            <a:br/>
            <a:r>
              <a:rPr>
                <a:solidFill>
                  <a:srgbClr val="4758AB"/>
                </a:solidFill>
                <a:latin typeface="Courier"/>
              </a:rPr>
              <a:t>print</a:t>
            </a:r>
            <a:r>
              <a:rPr>
                <a:solidFill>
                  <a:srgbClr val="003B4F"/>
                </a:solidFill>
                <a:latin typeface="Courier"/>
              </a:rPr>
              <a:t>(t_test_result)</a:t>
            </a:r>
          </a:p>
          <a:p>
            <a:pPr lvl="0" indent="0" marL="0">
              <a:buNone/>
            </a:pPr>
            <a:r>
              <a:rPr b="1"/>
              <a:t>▶ Run this</a:t>
            </a:r>
            <a:r>
              <a:rPr/>
              <a:t> — the same t-test on the log-transformed data:</a:t>
            </a:r>
          </a:p>
          <a:p>
            <a:pPr lvl="0" indent="0">
              <a:buNone/>
            </a:pPr>
            <a:r>
              <a:rPr>
                <a:solidFill>
                  <a:srgbClr val="003B4F"/>
                </a:solidFill>
                <a:latin typeface="Courier"/>
              </a:rPr>
              <a:t>log_t_test_result &lt;- </a:t>
            </a:r>
            <a:r>
              <a:rPr>
                <a:solidFill>
                  <a:srgbClr val="4758AB"/>
                </a:solidFill>
                <a:latin typeface="Courier"/>
              </a:rPr>
              <a:t>t.test</a:t>
            </a:r>
            <a:r>
              <a:rPr>
                <a:solidFill>
                  <a:srgbClr val="003B4F"/>
                </a:solidFill>
                <a:latin typeface="Courier"/>
              </a:rPr>
              <a:t>(</a:t>
            </a:r>
            <a:br/>
            <a:r>
              <a:rPr>
                <a:solidFill>
                  <a:srgbClr val="003B4F"/>
                </a:solidFill>
                <a:latin typeface="Courier"/>
              </a:rPr>
              <a:t>  log_mass </a:t>
            </a:r>
            <a:r>
              <a:rPr>
                <a:solidFill>
                  <a:srgbClr val="5E5E5E"/>
                </a:solidFill>
                <a:latin typeface="Courier"/>
              </a:rPr>
              <a:t>~</a:t>
            </a:r>
            <a:r>
              <a:rPr>
                <a:solidFill>
                  <a:srgbClr val="003B4F"/>
                </a:solidFill>
                <a:latin typeface="Courier"/>
              </a:rPr>
              <a:t> lake,</a:t>
            </a:r>
            <a:br/>
            <a:r>
              <a:rPr>
                <a:solidFill>
                  <a:srgbClr val="003B4F"/>
                </a:solidFill>
                <a:latin typeface="Courier"/>
              </a:rPr>
              <a:t>  </a:t>
            </a:r>
            <a:r>
              <a:rPr>
                <a:solidFill>
                  <a:srgbClr val="657422"/>
                </a:solidFill>
                <a:latin typeface="Courier"/>
              </a:rPr>
              <a:t>data =</a:t>
            </a:r>
            <a:r>
              <a:rPr>
                <a:solidFill>
                  <a:srgbClr val="003B4F"/>
                </a:solidFill>
                <a:latin typeface="Courier"/>
              </a:rPr>
              <a:t> in_df,</a:t>
            </a:r>
            <a:br/>
            <a:r>
              <a:rPr>
                <a:solidFill>
                  <a:srgbClr val="003B4F"/>
                </a:solidFill>
                <a:latin typeface="Courier"/>
              </a:rPr>
              <a:t>  </a:t>
            </a:r>
            <a:r>
              <a:rPr>
                <a:solidFill>
                  <a:srgbClr val="657422"/>
                </a:solidFill>
                <a:latin typeface="Courier"/>
              </a:rPr>
              <a:t>var.equal =</a:t>
            </a:r>
            <a:r>
              <a:rPr>
                <a:solidFill>
                  <a:srgbClr val="003B4F"/>
                </a:solidFill>
                <a:latin typeface="Courier"/>
              </a:rPr>
              <a:t> </a:t>
            </a:r>
            <a:r>
              <a:rPr>
                <a:solidFill>
                  <a:srgbClr val="8F5902"/>
                </a:solidFill>
                <a:latin typeface="Courier"/>
              </a:rPr>
              <a:t>TRUE</a:t>
            </a:r>
            <a:r>
              <a:rPr>
                <a:solidFill>
                  <a:srgbClr val="003B4F"/>
                </a:solidFill>
                <a:latin typeface="Courier"/>
              </a:rPr>
              <a:t>,</a:t>
            </a:r>
            <a:br/>
            <a:r>
              <a:rPr>
                <a:solidFill>
                  <a:srgbClr val="003B4F"/>
                </a:solidFill>
                <a:latin typeface="Courier"/>
              </a:rPr>
              <a:t>  </a:t>
            </a:r>
            <a:r>
              <a:rPr>
                <a:solidFill>
                  <a:srgbClr val="657422"/>
                </a:solidFill>
                <a:latin typeface="Courier"/>
              </a:rPr>
              <a:t>alternative =</a:t>
            </a:r>
            <a:r>
              <a:rPr>
                <a:solidFill>
                  <a:srgbClr val="003B4F"/>
                </a:solidFill>
                <a:latin typeface="Courier"/>
              </a:rPr>
              <a:t> </a:t>
            </a:r>
            <a:r>
              <a:rPr>
                <a:solidFill>
                  <a:srgbClr val="20794D"/>
                </a:solidFill>
                <a:latin typeface="Courier"/>
              </a:rPr>
              <a:t>"two.sided"</a:t>
            </a:r>
            <a:br/>
            <a:r>
              <a:rPr>
                <a:solidFill>
                  <a:srgbClr val="003B4F"/>
                </a:solidFill>
                <a:latin typeface="Courier"/>
              </a:rPr>
              <a:t>)</a:t>
            </a:r>
            <a:br/>
            <a:r>
              <a:rPr>
                <a:solidFill>
                  <a:srgbClr val="4758AB"/>
                </a:solidFill>
                <a:latin typeface="Courier"/>
              </a:rPr>
              <a:t>print</a:t>
            </a:r>
            <a:r>
              <a:rPr>
                <a:solidFill>
                  <a:srgbClr val="003B4F"/>
                </a:solidFill>
                <a:latin typeface="Courier"/>
              </a:rPr>
              <a:t>(log_t_test_result)</a:t>
            </a:r>
          </a:p>
          <a:p>
            <a:pPr lvl="0" indent="0" marL="1270000">
              <a:buNone/>
            </a:pPr>
            <a:r>
              <a:rPr sz="2000" b="1"/>
              <a:t>Note</a:t>
            </a:r>
          </a:p>
          <a:p>
            <a:pPr lvl="0" indent="0" marL="1270000">
              <a:buNone/>
            </a:pPr>
            <a:r>
              <a:rPr sz="2000" b="1"/>
              <a:t>When analyzing log-transformed data:</a:t>
            </a:r>
          </a:p>
          <a:p>
            <a:pPr lvl="0" indent="-342900" marL="342900">
              <a:buAutoNum type="arabicPeriod"/>
            </a:pPr>
            <a:r>
              <a:rPr sz="2000"/>
              <a:t>The mean of log-transformed data, back-transformed, gives the </a:t>
            </a:r>
            <a:r>
              <a:rPr sz="2000" i="1"/>
              <a:t>geometric mean</a:t>
            </a:r>
            <a:r>
              <a:rPr sz="2000"/>
              <a:t> (not the arithmetic mean).</a:t>
            </a:r>
          </a:p>
          <a:p>
            <a:pPr lvl="0" indent="-342900" marL="342900">
              <a:buAutoNum type="arabicPeriod"/>
            </a:pPr>
            <a:r>
              <a:rPr sz="2000"/>
              <a:t>The back-transformed confidence intervals represent the CI for the geometric mean, and must be calculated carefully.</a:t>
            </a:r>
          </a:p>
          <a:p>
            <a:pPr lvl="0" indent="-342900" marL="342900">
              <a:buAutoNum type="arabicPeriod"/>
            </a:pPr>
            <a:r>
              <a:rPr sz="2000"/>
              <a:t>Report results like: “The geometric mean mass of lake trout in NE 12 was X g (95% CI: Y–Z).”</a:t>
            </a:r>
          </a:p>
          <a:p>
            <a:pPr lvl="0" indent="-342900" marL="342900">
              <a:buAutoNum type="arabicPeriod"/>
            </a:pPr>
            <a:r>
              <a:rPr sz="2000"/>
              <a:t>You can’t just take </a:t>
            </a:r>
            <a:r>
              <a:rPr sz="2000">
                <a:latin typeface="Courier"/>
              </a:rPr>
              <a:t>10^SE</a:t>
            </a:r>
            <a:r>
              <a:rPr sz="2000"/>
              <a:t> to get the standard error — instead, back-transform </a:t>
            </a:r>
            <a:r>
              <a:rPr sz="2000">
                <a:latin typeface="Courier"/>
              </a:rPr>
              <a:t>mean - se</a:t>
            </a:r>
            <a:r>
              <a:rPr sz="2000"/>
              <a:t> and </a:t>
            </a:r>
            <a:r>
              <a:rPr sz="2000">
                <a:latin typeface="Courier"/>
              </a:rPr>
              <a:t>mean + se</a:t>
            </a:r>
            <a:r>
              <a:rPr sz="2000"/>
              <a:t> separately.</a:t>
            </a:r>
          </a:p>
          <a:p>
            <a:pPr lvl="0" indent="0" marL="0">
              <a:buNone/>
            </a:pPr>
            <a:r>
              <a:rPr b="1"/>
              <a:t>▶ Run this</a:t>
            </a:r>
            <a:r>
              <a:rPr/>
              <a:t> — back-transform to the geometric mean:</a:t>
            </a:r>
          </a:p>
          <a:p>
            <a:pPr lvl="0" indent="0">
              <a:buNone/>
            </a:pPr>
            <a:r>
              <a:rPr>
                <a:solidFill>
                  <a:srgbClr val="003B4F"/>
                </a:solidFill>
                <a:latin typeface="Courier"/>
              </a:rPr>
              <a:t>back_transformed &lt;- in_df </a:t>
            </a:r>
            <a:r>
              <a:rPr>
                <a:solidFill>
                  <a:srgbClr val="5E5E5E"/>
                </a:solidFill>
                <a:latin typeface="Courier"/>
              </a:rPr>
              <a:t>%&gt;%</a:t>
            </a:r>
            <a:br/>
            <a:r>
              <a:rPr>
                <a:solidFill>
                  <a:srgbClr val="003B4F"/>
                </a:solidFill>
                <a:latin typeface="Courier"/>
              </a:rPr>
              <a:t>  </a:t>
            </a:r>
            <a:r>
              <a:rPr>
                <a:solidFill>
                  <a:srgbClr val="4758AB"/>
                </a:solidFill>
                <a:latin typeface="Courier"/>
              </a:rPr>
              <a:t>group_by</a:t>
            </a:r>
            <a:r>
              <a:rPr>
                <a:solidFill>
                  <a:srgbClr val="003B4F"/>
                </a:solidFill>
                <a:latin typeface="Courier"/>
              </a:rPr>
              <a:t>(lake) </a:t>
            </a:r>
            <a:r>
              <a:rPr>
                <a:solidFill>
                  <a:srgbClr val="5E5E5E"/>
                </a:solidFill>
                <a:latin typeface="Courier"/>
              </a:rPr>
              <a:t>%&gt;%</a:t>
            </a:r>
            <a:br/>
            <a:r>
              <a:rPr>
                <a:solidFill>
                  <a:srgbClr val="003B4F"/>
                </a:solidFill>
                <a:latin typeface="Courier"/>
              </a:rPr>
              <a:t>  </a:t>
            </a:r>
            <a:r>
              <a:rPr>
                <a:solidFill>
                  <a:srgbClr val="4758AB"/>
                </a:solidFill>
                <a:latin typeface="Courier"/>
              </a:rPr>
              <a:t>summarise</a:t>
            </a:r>
            <a:r>
              <a:rPr>
                <a:solidFill>
                  <a:srgbClr val="003B4F"/>
                </a:solidFill>
                <a:latin typeface="Courier"/>
              </a:rPr>
              <a:t>(</a:t>
            </a:r>
            <a:br/>
            <a:r>
              <a:rPr>
                <a:solidFill>
                  <a:srgbClr val="003B4F"/>
                </a:solidFill>
                <a:latin typeface="Courier"/>
              </a:rPr>
              <a:t>    </a:t>
            </a:r>
            <a:r>
              <a:rPr>
                <a:solidFill>
                  <a:srgbClr val="657422"/>
                </a:solidFill>
                <a:latin typeface="Courier"/>
              </a:rPr>
              <a:t>n =</a:t>
            </a:r>
            <a:r>
              <a:rPr>
                <a:solidFill>
                  <a:srgbClr val="003B4F"/>
                </a:solidFill>
                <a:latin typeface="Courier"/>
              </a:rPr>
              <a:t> </a:t>
            </a:r>
            <a:r>
              <a:rPr>
                <a:solidFill>
                  <a:srgbClr val="4758AB"/>
                </a:solidFill>
                <a:latin typeface="Courier"/>
              </a:rPr>
              <a:t>n</a:t>
            </a:r>
            <a:r>
              <a:rPr>
                <a:solidFill>
                  <a:srgbClr val="003B4F"/>
                </a:solidFill>
                <a:latin typeface="Courier"/>
              </a:rPr>
              <a:t>(),</a:t>
            </a:r>
            <a:br/>
            <a:r>
              <a:rPr>
                <a:solidFill>
                  <a:srgbClr val="003B4F"/>
                </a:solidFill>
                <a:latin typeface="Courier"/>
              </a:rPr>
              <a:t>    </a:t>
            </a:r>
            <a:r>
              <a:rPr>
                <a:solidFill>
                  <a:srgbClr val="657422"/>
                </a:solidFill>
                <a:latin typeface="Courier"/>
              </a:rPr>
              <a:t>mean_log =</a:t>
            </a:r>
            <a:r>
              <a:rPr>
                <a:solidFill>
                  <a:srgbClr val="003B4F"/>
                </a:solidFill>
                <a:latin typeface="Courier"/>
              </a:rPr>
              <a:t> </a:t>
            </a:r>
            <a:r>
              <a:rPr>
                <a:solidFill>
                  <a:srgbClr val="4758AB"/>
                </a:solidFill>
                <a:latin typeface="Courier"/>
              </a:rPr>
              <a:t>mean</a:t>
            </a:r>
            <a:r>
              <a:rPr>
                <a:solidFill>
                  <a:srgbClr val="003B4F"/>
                </a:solidFill>
                <a:latin typeface="Courier"/>
              </a:rPr>
              <a:t>(log_mass),</a:t>
            </a:r>
            <a:br/>
            <a:r>
              <a:rPr>
                <a:solidFill>
                  <a:srgbClr val="003B4F"/>
                </a:solidFill>
                <a:latin typeface="Courier"/>
              </a:rPr>
              <a:t>    </a:t>
            </a:r>
            <a:r>
              <a:rPr>
                <a:solidFill>
                  <a:srgbClr val="657422"/>
                </a:solidFill>
                <a:latin typeface="Courier"/>
              </a:rPr>
              <a:t>sd_log =</a:t>
            </a:r>
            <a:r>
              <a:rPr>
                <a:solidFill>
                  <a:srgbClr val="003B4F"/>
                </a:solidFill>
                <a:latin typeface="Courier"/>
              </a:rPr>
              <a:t> </a:t>
            </a:r>
            <a:r>
              <a:rPr>
                <a:solidFill>
                  <a:srgbClr val="4758AB"/>
                </a:solidFill>
                <a:latin typeface="Courier"/>
              </a:rPr>
              <a:t>sd</a:t>
            </a:r>
            <a:r>
              <a:rPr>
                <a:solidFill>
                  <a:srgbClr val="003B4F"/>
                </a:solidFill>
                <a:latin typeface="Courier"/>
              </a:rPr>
              <a:t>(log_mass),</a:t>
            </a:r>
            <a:br/>
            <a:r>
              <a:rPr>
                <a:solidFill>
                  <a:srgbClr val="003B4F"/>
                </a:solidFill>
                <a:latin typeface="Courier"/>
              </a:rPr>
              <a:t>    </a:t>
            </a:r>
            <a:r>
              <a:rPr>
                <a:solidFill>
                  <a:srgbClr val="657422"/>
                </a:solidFill>
                <a:latin typeface="Courier"/>
              </a:rPr>
              <a:t>se_log =</a:t>
            </a:r>
            <a:r>
              <a:rPr>
                <a:solidFill>
                  <a:srgbClr val="003B4F"/>
                </a:solidFill>
                <a:latin typeface="Courier"/>
              </a:rPr>
              <a:t> sd_log </a:t>
            </a:r>
            <a:r>
              <a:rPr>
                <a:solidFill>
                  <a:srgbClr val="5E5E5E"/>
                </a:solidFill>
                <a:latin typeface="Courier"/>
              </a:rPr>
              <a:t>/</a:t>
            </a:r>
            <a:r>
              <a:rPr>
                <a:solidFill>
                  <a:srgbClr val="003B4F"/>
                </a:solidFill>
                <a:latin typeface="Courier"/>
              </a:rPr>
              <a:t> </a:t>
            </a:r>
            <a:r>
              <a:rPr>
                <a:solidFill>
                  <a:srgbClr val="4758AB"/>
                </a:solidFill>
                <a:latin typeface="Courier"/>
              </a:rPr>
              <a:t>sqrt</a:t>
            </a:r>
            <a:r>
              <a:rPr>
                <a:solidFill>
                  <a:srgbClr val="003B4F"/>
                </a:solidFill>
                <a:latin typeface="Courier"/>
              </a:rPr>
              <a:t>(n),</a:t>
            </a:r>
            <a:br/>
            <a:r>
              <a:rPr>
                <a:solidFill>
                  <a:srgbClr val="003B4F"/>
                </a:solidFill>
                <a:latin typeface="Courier"/>
              </a:rPr>
              <a:t>    </a:t>
            </a:r>
            <a:r>
              <a:rPr>
                <a:solidFill>
                  <a:srgbClr val="657422"/>
                </a:solidFill>
                <a:latin typeface="Courier"/>
              </a:rPr>
              <a:t>geometric_mean =</a:t>
            </a:r>
            <a:r>
              <a:rPr>
                <a:solidFill>
                  <a:srgbClr val="003B4F"/>
                </a:solidFill>
                <a:latin typeface="Courier"/>
              </a:rPr>
              <a:t> </a:t>
            </a:r>
            <a:r>
              <a:rPr>
                <a:solidFill>
                  <a:srgbClr val="AD0000"/>
                </a:solidFill>
                <a:latin typeface="Courier"/>
              </a:rPr>
              <a:t>10</a:t>
            </a:r>
            <a:r>
              <a:rPr>
                <a:solidFill>
                  <a:srgbClr val="5E5E5E"/>
                </a:solidFill>
                <a:latin typeface="Courier"/>
              </a:rPr>
              <a:t>^</a:t>
            </a:r>
            <a:r>
              <a:rPr>
                <a:solidFill>
                  <a:srgbClr val="003B4F"/>
                </a:solidFill>
                <a:latin typeface="Courier"/>
              </a:rPr>
              <a:t>mean_log,</a:t>
            </a:r>
            <a:br/>
            <a:r>
              <a:rPr>
                <a:solidFill>
                  <a:srgbClr val="003B4F"/>
                </a:solidFill>
                <a:latin typeface="Courier"/>
              </a:rPr>
              <a:t>    </a:t>
            </a:r>
            <a:r>
              <a:rPr>
                <a:solidFill>
                  <a:srgbClr val="657422"/>
                </a:solidFill>
                <a:latin typeface="Courier"/>
              </a:rPr>
              <a:t>lower_se =</a:t>
            </a:r>
            <a:r>
              <a:rPr>
                <a:solidFill>
                  <a:srgbClr val="003B4F"/>
                </a:solidFill>
                <a:latin typeface="Courier"/>
              </a:rPr>
              <a:t> </a:t>
            </a:r>
            <a:r>
              <a:rPr>
                <a:solidFill>
                  <a:srgbClr val="AD0000"/>
                </a:solidFill>
                <a:latin typeface="Courier"/>
              </a:rPr>
              <a:t>10</a:t>
            </a:r>
            <a:r>
              <a:rPr>
                <a:solidFill>
                  <a:srgbClr val="5E5E5E"/>
                </a:solidFill>
                <a:latin typeface="Courier"/>
              </a:rPr>
              <a:t>^</a:t>
            </a:r>
            <a:r>
              <a:rPr>
                <a:solidFill>
                  <a:srgbClr val="003B4F"/>
                </a:solidFill>
                <a:latin typeface="Courier"/>
              </a:rPr>
              <a:t>(mean_log </a:t>
            </a:r>
            <a:r>
              <a:rPr>
                <a:solidFill>
                  <a:srgbClr val="5E5E5E"/>
                </a:solidFill>
                <a:latin typeface="Courier"/>
              </a:rPr>
              <a:t>-</a:t>
            </a:r>
            <a:r>
              <a:rPr>
                <a:solidFill>
                  <a:srgbClr val="003B4F"/>
                </a:solidFill>
                <a:latin typeface="Courier"/>
              </a:rPr>
              <a:t> se_log),</a:t>
            </a:r>
            <a:br/>
            <a:r>
              <a:rPr>
                <a:solidFill>
                  <a:srgbClr val="003B4F"/>
                </a:solidFill>
                <a:latin typeface="Courier"/>
              </a:rPr>
              <a:t>    </a:t>
            </a:r>
            <a:r>
              <a:rPr>
                <a:solidFill>
                  <a:srgbClr val="657422"/>
                </a:solidFill>
                <a:latin typeface="Courier"/>
              </a:rPr>
              <a:t>upper_se =</a:t>
            </a:r>
            <a:r>
              <a:rPr>
                <a:solidFill>
                  <a:srgbClr val="003B4F"/>
                </a:solidFill>
                <a:latin typeface="Courier"/>
              </a:rPr>
              <a:t> </a:t>
            </a:r>
            <a:r>
              <a:rPr>
                <a:solidFill>
                  <a:srgbClr val="AD0000"/>
                </a:solidFill>
                <a:latin typeface="Courier"/>
              </a:rPr>
              <a:t>10</a:t>
            </a:r>
            <a:r>
              <a:rPr>
                <a:solidFill>
                  <a:srgbClr val="5E5E5E"/>
                </a:solidFill>
                <a:latin typeface="Courier"/>
              </a:rPr>
              <a:t>^</a:t>
            </a:r>
            <a:r>
              <a:rPr>
                <a:solidFill>
                  <a:srgbClr val="003B4F"/>
                </a:solidFill>
                <a:latin typeface="Courier"/>
              </a:rPr>
              <a:t>(mean_log </a:t>
            </a:r>
            <a:r>
              <a:rPr>
                <a:solidFill>
                  <a:srgbClr val="5E5E5E"/>
                </a:solidFill>
                <a:latin typeface="Courier"/>
              </a:rPr>
              <a:t>+</a:t>
            </a:r>
            <a:r>
              <a:rPr>
                <a:solidFill>
                  <a:srgbClr val="003B4F"/>
                </a:solidFill>
                <a:latin typeface="Courier"/>
              </a:rPr>
              <a:t> se_log),</a:t>
            </a:r>
            <a:br/>
            <a:r>
              <a:rPr>
                <a:solidFill>
                  <a:srgbClr val="003B4F"/>
                </a:solidFill>
                <a:latin typeface="Courier"/>
              </a:rPr>
              <a:t>    </a:t>
            </a:r>
            <a:r>
              <a:rPr>
                <a:solidFill>
                  <a:srgbClr val="657422"/>
                </a:solidFill>
                <a:latin typeface="Courier"/>
              </a:rPr>
              <a:t>arithmetic_mean =</a:t>
            </a:r>
            <a:r>
              <a:rPr>
                <a:solidFill>
                  <a:srgbClr val="003B4F"/>
                </a:solidFill>
                <a:latin typeface="Courier"/>
              </a:rPr>
              <a:t> </a:t>
            </a:r>
            <a:r>
              <a:rPr>
                <a:solidFill>
                  <a:srgbClr val="4758AB"/>
                </a:solidFill>
                <a:latin typeface="Courier"/>
              </a:rPr>
              <a:t>mean</a:t>
            </a:r>
            <a:r>
              <a:rPr>
                <a:solidFill>
                  <a:srgbClr val="003B4F"/>
                </a:solidFill>
                <a:latin typeface="Courier"/>
              </a:rPr>
              <a:t>(mass_g)</a:t>
            </a:r>
            <a:br/>
            <a:r>
              <a:rPr>
                <a:solidFill>
                  <a:srgbClr val="003B4F"/>
                </a:solidFill>
                <a:latin typeface="Courier"/>
              </a:rPr>
              <a:t>  )</a:t>
            </a:r>
            <a:br/>
            <a:br/>
            <a:r>
              <a:rPr>
                <a:solidFill>
                  <a:srgbClr val="003B4F"/>
                </a:solidFill>
                <a:latin typeface="Courier"/>
              </a:rPr>
              <a:t>back_transformed </a:t>
            </a:r>
            <a:r>
              <a:rPr>
                <a:solidFill>
                  <a:srgbClr val="5E5E5E"/>
                </a:solidFill>
                <a:latin typeface="Courier"/>
              </a:rPr>
              <a:t>%&gt;%</a:t>
            </a:r>
            <a:br/>
            <a:r>
              <a:rPr>
                <a:solidFill>
                  <a:srgbClr val="003B4F"/>
                </a:solidFill>
                <a:latin typeface="Courier"/>
              </a:rPr>
              <a:t>  </a:t>
            </a:r>
            <a:r>
              <a:rPr>
                <a:solidFill>
                  <a:srgbClr val="4758AB"/>
                </a:solidFill>
                <a:latin typeface="Courier"/>
              </a:rPr>
              <a:t>select</a:t>
            </a:r>
            <a:r>
              <a:rPr>
                <a:solidFill>
                  <a:srgbClr val="003B4F"/>
                </a:solidFill>
                <a:latin typeface="Courier"/>
              </a:rPr>
              <a:t>(lake, mean_log, geometric_mean, arithmetic_mean)</a:t>
            </a:r>
          </a:p>
          <a:p>
            <a:pPr lvl="0" indent="0" marL="0">
              <a:buNone/>
            </a:pPr>
            <a:r>
              <a:rPr b="1"/>
              <a:t>▶ Run this</a:t>
            </a:r>
            <a:r>
              <a:rPr/>
              <a:t> — plot the back-transformed geometric means (note the error bars are not symmetrical!):</a:t>
            </a:r>
          </a:p>
          <a:p>
            <a:pPr lvl="0" indent="0">
              <a:buNone/>
            </a:pPr>
            <a:r>
              <a:rPr>
                <a:solidFill>
                  <a:srgbClr val="003B4F"/>
                </a:solidFill>
                <a:latin typeface="Courier"/>
              </a:rPr>
              <a:t>geo_mean_plot &lt;- back_transformed </a:t>
            </a:r>
            <a:r>
              <a:rPr>
                <a:solidFill>
                  <a:srgbClr val="5E5E5E"/>
                </a:solidFill>
                <a:latin typeface="Courier"/>
              </a:rPr>
              <a:t>%&gt;%</a:t>
            </a:r>
            <a:br/>
            <a:r>
              <a:rPr>
                <a:solidFill>
                  <a:srgbClr val="003B4F"/>
                </a:solidFill>
                <a:latin typeface="Courier"/>
              </a:rPr>
              <a:t>  </a:t>
            </a:r>
            <a:r>
              <a:rPr>
                <a:solidFill>
                  <a:srgbClr val="4758AB"/>
                </a:solidFill>
                <a:latin typeface="Courier"/>
              </a:rPr>
              <a:t>ggplot</a:t>
            </a:r>
            <a:r>
              <a:rPr>
                <a:solidFill>
                  <a:srgbClr val="003B4F"/>
                </a:solidFill>
                <a:latin typeface="Courier"/>
              </a:rPr>
              <a:t>(</a:t>
            </a:r>
            <a:r>
              <a:rPr>
                <a:solidFill>
                  <a:srgbClr val="4758AB"/>
                </a:solidFill>
                <a:latin typeface="Courier"/>
              </a:rPr>
              <a:t>aes</a:t>
            </a:r>
            <a:r>
              <a:rPr>
                <a:solidFill>
                  <a:srgbClr val="003B4F"/>
                </a:solidFill>
                <a:latin typeface="Courier"/>
              </a:rPr>
              <a:t>(</a:t>
            </a:r>
            <a:r>
              <a:rPr>
                <a:solidFill>
                  <a:srgbClr val="657422"/>
                </a:solidFill>
                <a:latin typeface="Courier"/>
              </a:rPr>
              <a:t>x =</a:t>
            </a:r>
            <a:r>
              <a:rPr>
                <a:solidFill>
                  <a:srgbClr val="003B4F"/>
                </a:solidFill>
                <a:latin typeface="Courier"/>
              </a:rPr>
              <a:t> lake, </a:t>
            </a:r>
            <a:r>
              <a:rPr>
                <a:solidFill>
                  <a:srgbClr val="657422"/>
                </a:solidFill>
                <a:latin typeface="Courier"/>
              </a:rPr>
              <a:t>y =</a:t>
            </a:r>
            <a:r>
              <a:rPr>
                <a:solidFill>
                  <a:srgbClr val="003B4F"/>
                </a:solidFill>
                <a:latin typeface="Courier"/>
              </a:rPr>
              <a:t> geometric_mean, </a:t>
            </a:r>
            <a:r>
              <a:rPr>
                <a:solidFill>
                  <a:srgbClr val="657422"/>
                </a:solidFill>
                <a:latin typeface="Courier"/>
              </a:rPr>
              <a:t>fill =</a:t>
            </a:r>
            <a:r>
              <a:rPr>
                <a:solidFill>
                  <a:srgbClr val="003B4F"/>
                </a:solidFill>
                <a:latin typeface="Courier"/>
              </a:rPr>
              <a:t> lake)) </a:t>
            </a:r>
            <a:r>
              <a:rPr>
                <a:solidFill>
                  <a:srgbClr val="5E5E5E"/>
                </a:solidFill>
                <a:latin typeface="Courier"/>
              </a:rPr>
              <a:t>+</a:t>
            </a:r>
            <a:br/>
            <a:r>
              <a:rPr>
                <a:solidFill>
                  <a:srgbClr val="003B4F"/>
                </a:solidFill>
                <a:latin typeface="Courier"/>
              </a:rPr>
              <a:t>  </a:t>
            </a:r>
            <a:r>
              <a:rPr>
                <a:solidFill>
                  <a:srgbClr val="4758AB"/>
                </a:solidFill>
                <a:latin typeface="Courier"/>
              </a:rPr>
              <a:t>geom_bar</a:t>
            </a:r>
            <a:r>
              <a:rPr>
                <a:solidFill>
                  <a:srgbClr val="003B4F"/>
                </a:solidFill>
                <a:latin typeface="Courier"/>
              </a:rPr>
              <a:t>(</a:t>
            </a:r>
            <a:r>
              <a:rPr>
                <a:solidFill>
                  <a:srgbClr val="657422"/>
                </a:solidFill>
                <a:latin typeface="Courier"/>
              </a:rPr>
              <a:t>stat =</a:t>
            </a:r>
            <a:r>
              <a:rPr>
                <a:solidFill>
                  <a:srgbClr val="003B4F"/>
                </a:solidFill>
                <a:latin typeface="Courier"/>
              </a:rPr>
              <a:t> </a:t>
            </a:r>
            <a:r>
              <a:rPr>
                <a:solidFill>
                  <a:srgbClr val="20794D"/>
                </a:solidFill>
                <a:latin typeface="Courier"/>
              </a:rPr>
              <a:t>"identity"</a:t>
            </a:r>
            <a:r>
              <a:rPr>
                <a:solidFill>
                  <a:srgbClr val="003B4F"/>
                </a:solidFill>
                <a:latin typeface="Courier"/>
              </a:rPr>
              <a:t>, </a:t>
            </a:r>
            <a:r>
              <a:rPr>
                <a:solidFill>
                  <a:srgbClr val="657422"/>
                </a:solidFill>
                <a:latin typeface="Courier"/>
              </a:rPr>
              <a:t>width =</a:t>
            </a:r>
            <a:r>
              <a:rPr>
                <a:solidFill>
                  <a:srgbClr val="003B4F"/>
                </a:solidFill>
                <a:latin typeface="Courier"/>
              </a:rPr>
              <a:t> </a:t>
            </a:r>
            <a:r>
              <a:rPr>
                <a:solidFill>
                  <a:srgbClr val="AD0000"/>
                </a:solidFill>
                <a:latin typeface="Courier"/>
              </a:rPr>
              <a:t>0.5</a:t>
            </a:r>
            <a:r>
              <a:rPr>
                <a:solidFill>
                  <a:srgbClr val="003B4F"/>
                </a:solidFill>
                <a:latin typeface="Courier"/>
              </a:rPr>
              <a:t>, </a:t>
            </a:r>
            <a:r>
              <a:rPr>
                <a:solidFill>
                  <a:srgbClr val="657422"/>
                </a:solidFill>
                <a:latin typeface="Courier"/>
              </a:rPr>
              <a:t>alpha =</a:t>
            </a:r>
            <a:r>
              <a:rPr>
                <a:solidFill>
                  <a:srgbClr val="003B4F"/>
                </a:solidFill>
                <a:latin typeface="Courier"/>
              </a:rPr>
              <a:t> </a:t>
            </a:r>
            <a:r>
              <a:rPr>
                <a:solidFill>
                  <a:srgbClr val="AD0000"/>
                </a:solidFill>
                <a:latin typeface="Courier"/>
              </a:rPr>
              <a:t>0.7</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geom_errorbar</a:t>
            </a:r>
            <a:r>
              <a:rPr>
                <a:solidFill>
                  <a:srgbClr val="003B4F"/>
                </a:solidFill>
                <a:latin typeface="Courier"/>
              </a:rPr>
              <a:t>(</a:t>
            </a:r>
            <a:r>
              <a:rPr>
                <a:solidFill>
                  <a:srgbClr val="4758AB"/>
                </a:solidFill>
                <a:latin typeface="Courier"/>
              </a:rPr>
              <a:t>aes</a:t>
            </a:r>
            <a:r>
              <a:rPr>
                <a:solidFill>
                  <a:srgbClr val="003B4F"/>
                </a:solidFill>
                <a:latin typeface="Courier"/>
              </a:rPr>
              <a:t>(</a:t>
            </a:r>
            <a:r>
              <a:rPr>
                <a:solidFill>
                  <a:srgbClr val="657422"/>
                </a:solidFill>
                <a:latin typeface="Courier"/>
              </a:rPr>
              <a:t>ymin =</a:t>
            </a:r>
            <a:r>
              <a:rPr>
                <a:solidFill>
                  <a:srgbClr val="003B4F"/>
                </a:solidFill>
                <a:latin typeface="Courier"/>
              </a:rPr>
              <a:t> lower_se, </a:t>
            </a:r>
            <a:r>
              <a:rPr>
                <a:solidFill>
                  <a:srgbClr val="657422"/>
                </a:solidFill>
                <a:latin typeface="Courier"/>
              </a:rPr>
              <a:t>ymax =</a:t>
            </a:r>
            <a:r>
              <a:rPr>
                <a:solidFill>
                  <a:srgbClr val="003B4F"/>
                </a:solidFill>
                <a:latin typeface="Courier"/>
              </a:rPr>
              <a:t> upper_se), </a:t>
            </a:r>
            <a:r>
              <a:rPr>
                <a:solidFill>
                  <a:srgbClr val="657422"/>
                </a:solidFill>
                <a:latin typeface="Courier"/>
              </a:rPr>
              <a:t>width =</a:t>
            </a:r>
            <a:r>
              <a:rPr>
                <a:solidFill>
                  <a:srgbClr val="003B4F"/>
                </a:solidFill>
                <a:latin typeface="Courier"/>
              </a:rPr>
              <a:t> </a:t>
            </a:r>
            <a:r>
              <a:rPr>
                <a:solidFill>
                  <a:srgbClr val="AD0000"/>
                </a:solidFill>
                <a:latin typeface="Courier"/>
              </a:rPr>
              <a:t>0.2</a:t>
            </a:r>
            <a:r>
              <a:rPr>
                <a:solidFill>
                  <a:srgbClr val="003B4F"/>
                </a:solidFill>
                <a:latin typeface="Courier"/>
              </a:rPr>
              <a:t>, </a:t>
            </a:r>
            <a:r>
              <a:rPr>
                <a:solidFill>
                  <a:srgbClr val="657422"/>
                </a:solidFill>
                <a:latin typeface="Courier"/>
              </a:rPr>
              <a:t>linewidth =</a:t>
            </a:r>
            <a:r>
              <a:rPr>
                <a:solidFill>
                  <a:srgbClr val="003B4F"/>
                </a:solidFill>
                <a:latin typeface="Courier"/>
              </a:rPr>
              <a:t> </a:t>
            </a:r>
            <a:r>
              <a:rPr>
                <a:solidFill>
                  <a:srgbClr val="AD0000"/>
                </a:solidFill>
                <a:latin typeface="Courier"/>
              </a:rPr>
              <a:t>1</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labs</a:t>
            </a:r>
            <a:r>
              <a:rPr>
                <a:solidFill>
                  <a:srgbClr val="003B4F"/>
                </a:solidFill>
                <a:latin typeface="Courier"/>
              </a:rPr>
              <a:t>(</a:t>
            </a:r>
            <a:r>
              <a:rPr>
                <a:solidFill>
                  <a:srgbClr val="657422"/>
                </a:solidFill>
                <a:latin typeface="Courier"/>
              </a:rPr>
              <a:t>title =</a:t>
            </a:r>
            <a:r>
              <a:rPr>
                <a:solidFill>
                  <a:srgbClr val="003B4F"/>
                </a:solidFill>
                <a:latin typeface="Courier"/>
              </a:rPr>
              <a:t> </a:t>
            </a:r>
            <a:r>
              <a:rPr>
                <a:solidFill>
                  <a:srgbClr val="20794D"/>
                </a:solidFill>
                <a:latin typeface="Courier"/>
              </a:rPr>
              <a:t>"Geometric Mean Lake Trout Mass with Standard Error"</a:t>
            </a:r>
            <a:r>
              <a:rPr>
                <a:solidFill>
                  <a:srgbClr val="003B4F"/>
                </a:solidFill>
                <a:latin typeface="Courier"/>
              </a:rPr>
              <a:t>,</a:t>
            </a:r>
            <a:br/>
            <a:r>
              <a:rPr>
                <a:solidFill>
                  <a:srgbClr val="003B4F"/>
                </a:solidFill>
                <a:latin typeface="Courier"/>
              </a:rPr>
              <a:t>       </a:t>
            </a:r>
            <a:r>
              <a:rPr>
                <a:solidFill>
                  <a:srgbClr val="657422"/>
                </a:solidFill>
                <a:latin typeface="Courier"/>
              </a:rPr>
              <a:t>subtitle =</a:t>
            </a:r>
            <a:r>
              <a:rPr>
                <a:solidFill>
                  <a:srgbClr val="003B4F"/>
                </a:solidFill>
                <a:latin typeface="Courier"/>
              </a:rPr>
              <a:t> </a:t>
            </a:r>
            <a:r>
              <a:rPr>
                <a:solidFill>
                  <a:srgbClr val="20794D"/>
                </a:solidFill>
                <a:latin typeface="Courier"/>
              </a:rPr>
              <a:t>"Back-transformed from log10 scale"</a:t>
            </a:r>
            <a:r>
              <a:rPr>
                <a:solidFill>
                  <a:srgbClr val="003B4F"/>
                </a:solidFill>
                <a:latin typeface="Courier"/>
              </a:rPr>
              <a:t>,</a:t>
            </a:r>
            <a:br/>
            <a:r>
              <a:rPr>
                <a:solidFill>
                  <a:srgbClr val="003B4F"/>
                </a:solidFill>
                <a:latin typeface="Courier"/>
              </a:rPr>
              <a:t>       </a:t>
            </a:r>
            <a:r>
              <a:rPr>
                <a:solidFill>
                  <a:srgbClr val="657422"/>
                </a:solidFill>
                <a:latin typeface="Courier"/>
              </a:rPr>
              <a:t>x =</a:t>
            </a:r>
            <a:r>
              <a:rPr>
                <a:solidFill>
                  <a:srgbClr val="003B4F"/>
                </a:solidFill>
                <a:latin typeface="Courier"/>
              </a:rPr>
              <a:t> </a:t>
            </a:r>
            <a:r>
              <a:rPr>
                <a:solidFill>
                  <a:srgbClr val="20794D"/>
                </a:solidFill>
                <a:latin typeface="Courier"/>
              </a:rPr>
              <a:t>"Lake"</a:t>
            </a:r>
            <a:r>
              <a:rPr>
                <a:solidFill>
                  <a:srgbClr val="003B4F"/>
                </a:solidFill>
                <a:latin typeface="Courier"/>
              </a:rPr>
              <a:t>, </a:t>
            </a:r>
            <a:r>
              <a:rPr>
                <a:solidFill>
                  <a:srgbClr val="657422"/>
                </a:solidFill>
                <a:latin typeface="Courier"/>
              </a:rPr>
              <a:t>y =</a:t>
            </a:r>
            <a:r>
              <a:rPr>
                <a:solidFill>
                  <a:srgbClr val="003B4F"/>
                </a:solidFill>
                <a:latin typeface="Courier"/>
              </a:rPr>
              <a:t> </a:t>
            </a:r>
            <a:r>
              <a:rPr>
                <a:solidFill>
                  <a:srgbClr val="20794D"/>
                </a:solidFill>
                <a:latin typeface="Courier"/>
              </a:rPr>
              <a:t>"Geometric Mean Mass (g)"</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theme_minimal</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theme</a:t>
            </a:r>
            <a:r>
              <a:rPr>
                <a:solidFill>
                  <a:srgbClr val="003B4F"/>
                </a:solidFill>
                <a:latin typeface="Courier"/>
              </a:rPr>
              <a:t>(</a:t>
            </a:r>
            <a:r>
              <a:rPr>
                <a:solidFill>
                  <a:srgbClr val="657422"/>
                </a:solidFill>
                <a:latin typeface="Courier"/>
              </a:rPr>
              <a:t>legend.position =</a:t>
            </a:r>
            <a:r>
              <a:rPr>
                <a:solidFill>
                  <a:srgbClr val="003B4F"/>
                </a:solidFill>
                <a:latin typeface="Courier"/>
              </a:rPr>
              <a:t> </a:t>
            </a:r>
            <a:r>
              <a:rPr>
                <a:solidFill>
                  <a:srgbClr val="20794D"/>
                </a:solidFill>
                <a:latin typeface="Courier"/>
              </a:rPr>
              <a:t>"none"</a:t>
            </a:r>
            <a:r>
              <a:rPr>
                <a:solidFill>
                  <a:srgbClr val="003B4F"/>
                </a:solidFill>
                <a:latin typeface="Courier"/>
              </a:rPr>
              <a:t>)</a:t>
            </a:r>
            <a:br/>
            <a:r>
              <a:rPr>
                <a:solidFill>
                  <a:srgbClr val="003B4F"/>
                </a:solidFill>
                <a:latin typeface="Courier"/>
              </a:rPr>
              <a:t>geo_mean_plot</a:t>
            </a:r>
          </a:p>
          <a:p>
            <a:pPr lvl="0" indent="0" marL="0">
              <a:buNone/>
            </a:pPr>
            <a:r>
              <a:rPr b="1"/>
              <a:t>▶ Run this</a:t>
            </a:r>
            <a:r>
              <a:rPr/>
              <a:t> — Welch’s t-test (doesn’t assume equal variances):</a:t>
            </a:r>
          </a:p>
          <a:p>
            <a:pPr lvl="0" indent="0">
              <a:buNone/>
            </a:pPr>
            <a:r>
              <a:rPr>
                <a:solidFill>
                  <a:srgbClr val="003B4F"/>
                </a:solidFill>
                <a:latin typeface="Courier"/>
              </a:rPr>
              <a:t>welch_test_result &lt;- </a:t>
            </a:r>
            <a:r>
              <a:rPr>
                <a:solidFill>
                  <a:srgbClr val="4758AB"/>
                </a:solidFill>
                <a:latin typeface="Courier"/>
              </a:rPr>
              <a:t>t.test</a:t>
            </a:r>
            <a:r>
              <a:rPr>
                <a:solidFill>
                  <a:srgbClr val="003B4F"/>
                </a:solidFill>
                <a:latin typeface="Courier"/>
              </a:rPr>
              <a:t>(</a:t>
            </a:r>
            <a:br/>
            <a:r>
              <a:rPr>
                <a:solidFill>
                  <a:srgbClr val="003B4F"/>
                </a:solidFill>
                <a:latin typeface="Courier"/>
              </a:rPr>
              <a:t>  mass_g </a:t>
            </a:r>
            <a:r>
              <a:rPr>
                <a:solidFill>
                  <a:srgbClr val="5E5E5E"/>
                </a:solidFill>
                <a:latin typeface="Courier"/>
              </a:rPr>
              <a:t>~</a:t>
            </a:r>
            <a:r>
              <a:rPr>
                <a:solidFill>
                  <a:srgbClr val="003B4F"/>
                </a:solidFill>
                <a:latin typeface="Courier"/>
              </a:rPr>
              <a:t> lake,</a:t>
            </a:r>
            <a:br/>
            <a:r>
              <a:rPr>
                <a:solidFill>
                  <a:srgbClr val="003B4F"/>
                </a:solidFill>
                <a:latin typeface="Courier"/>
              </a:rPr>
              <a:t>  </a:t>
            </a:r>
            <a:r>
              <a:rPr>
                <a:solidFill>
                  <a:srgbClr val="657422"/>
                </a:solidFill>
                <a:latin typeface="Courier"/>
              </a:rPr>
              <a:t>data =</a:t>
            </a:r>
            <a:r>
              <a:rPr>
                <a:solidFill>
                  <a:srgbClr val="003B4F"/>
                </a:solidFill>
                <a:latin typeface="Courier"/>
              </a:rPr>
              <a:t> in_df,</a:t>
            </a:r>
            <a:br/>
            <a:r>
              <a:rPr>
                <a:solidFill>
                  <a:srgbClr val="003B4F"/>
                </a:solidFill>
                <a:latin typeface="Courier"/>
              </a:rPr>
              <a:t>  </a:t>
            </a:r>
            <a:r>
              <a:rPr>
                <a:solidFill>
                  <a:srgbClr val="657422"/>
                </a:solidFill>
                <a:latin typeface="Courier"/>
              </a:rPr>
              <a:t>var.equal =</a:t>
            </a:r>
            <a:r>
              <a:rPr>
                <a:solidFill>
                  <a:srgbClr val="003B4F"/>
                </a:solidFill>
                <a:latin typeface="Courier"/>
              </a:rPr>
              <a:t> </a:t>
            </a:r>
            <a:r>
              <a:rPr>
                <a:solidFill>
                  <a:srgbClr val="8F5902"/>
                </a:solidFill>
                <a:latin typeface="Courier"/>
              </a:rPr>
              <a:t>FALSE</a:t>
            </a:r>
            <a:r>
              <a:rPr>
                <a:solidFill>
                  <a:srgbClr val="003B4F"/>
                </a:solidFill>
                <a:latin typeface="Courier"/>
              </a:rPr>
              <a:t>,</a:t>
            </a:r>
            <a:br/>
            <a:r>
              <a:rPr>
                <a:solidFill>
                  <a:srgbClr val="003B4F"/>
                </a:solidFill>
                <a:latin typeface="Courier"/>
              </a:rPr>
              <a:t>  </a:t>
            </a:r>
            <a:r>
              <a:rPr>
                <a:solidFill>
                  <a:srgbClr val="657422"/>
                </a:solidFill>
                <a:latin typeface="Courier"/>
              </a:rPr>
              <a:t>alternative =</a:t>
            </a:r>
            <a:r>
              <a:rPr>
                <a:solidFill>
                  <a:srgbClr val="003B4F"/>
                </a:solidFill>
                <a:latin typeface="Courier"/>
              </a:rPr>
              <a:t> </a:t>
            </a:r>
            <a:r>
              <a:rPr>
                <a:solidFill>
                  <a:srgbClr val="20794D"/>
                </a:solidFill>
                <a:latin typeface="Courier"/>
              </a:rPr>
              <a:t>"two.sided"</a:t>
            </a:r>
            <a:br/>
            <a:r>
              <a:rPr>
                <a:solidFill>
                  <a:srgbClr val="003B4F"/>
                </a:solidFill>
                <a:latin typeface="Courier"/>
              </a:rPr>
              <a:t>)</a:t>
            </a:r>
            <a:br/>
            <a:r>
              <a:rPr>
                <a:solidFill>
                  <a:srgbClr val="4758AB"/>
                </a:solidFill>
                <a:latin typeface="Courier"/>
              </a:rPr>
              <a:t>print</a:t>
            </a:r>
            <a:r>
              <a:rPr>
                <a:solidFill>
                  <a:srgbClr val="003B4F"/>
                </a:solidFill>
                <a:latin typeface="Courier"/>
              </a:rPr>
              <a:t>(welch_test_result)</a:t>
            </a:r>
          </a:p>
          <a:p>
            <a:pPr lvl="0" indent="0" marL="1270000">
              <a:buNone/>
            </a:pPr>
            <a:r>
              <a:rPr sz="2000"/>
              <a:t>💡 Welch’s t-test is preferred when group variances are unequal (per Levene’s test), sample sizes differ between groups, or you just want a more robust default.</a:t>
            </a:r>
          </a:p>
          <a:p>
            <a:pPr lvl="0" indent="0" marL="0">
              <a:buNone/>
            </a:pPr>
            <a:r>
              <a:rPr b="1"/>
              <a:t>▶ Run this</a:t>
            </a:r>
            <a:r>
              <a:rPr/>
              <a:t> — the Mann-Whitney Wilcoxon test (non-parametric):</a:t>
            </a:r>
          </a:p>
          <a:p>
            <a:pPr lvl="0" indent="0">
              <a:buNone/>
            </a:pPr>
            <a:r>
              <a:rPr>
                <a:solidFill>
                  <a:srgbClr val="003B4F"/>
                </a:solidFill>
                <a:latin typeface="Courier"/>
              </a:rPr>
              <a:t>wilcox_test_result &lt;- </a:t>
            </a:r>
            <a:r>
              <a:rPr>
                <a:solidFill>
                  <a:srgbClr val="4758AB"/>
                </a:solidFill>
                <a:latin typeface="Courier"/>
              </a:rPr>
              <a:t>wilcox.test</a:t>
            </a:r>
            <a:r>
              <a:rPr>
                <a:solidFill>
                  <a:srgbClr val="003B4F"/>
                </a:solidFill>
                <a:latin typeface="Courier"/>
              </a:rPr>
              <a:t>(</a:t>
            </a:r>
            <a:br/>
            <a:r>
              <a:rPr>
                <a:solidFill>
                  <a:srgbClr val="003B4F"/>
                </a:solidFill>
                <a:latin typeface="Courier"/>
              </a:rPr>
              <a:t>  mass_g </a:t>
            </a:r>
            <a:r>
              <a:rPr>
                <a:solidFill>
                  <a:srgbClr val="5E5E5E"/>
                </a:solidFill>
                <a:latin typeface="Courier"/>
              </a:rPr>
              <a:t>~</a:t>
            </a:r>
            <a:r>
              <a:rPr>
                <a:solidFill>
                  <a:srgbClr val="003B4F"/>
                </a:solidFill>
                <a:latin typeface="Courier"/>
              </a:rPr>
              <a:t> lake,</a:t>
            </a:r>
            <a:br/>
            <a:r>
              <a:rPr>
                <a:solidFill>
                  <a:srgbClr val="003B4F"/>
                </a:solidFill>
                <a:latin typeface="Courier"/>
              </a:rPr>
              <a:t>  </a:t>
            </a:r>
            <a:r>
              <a:rPr>
                <a:solidFill>
                  <a:srgbClr val="657422"/>
                </a:solidFill>
                <a:latin typeface="Courier"/>
              </a:rPr>
              <a:t>data =</a:t>
            </a:r>
            <a:r>
              <a:rPr>
                <a:solidFill>
                  <a:srgbClr val="003B4F"/>
                </a:solidFill>
                <a:latin typeface="Courier"/>
              </a:rPr>
              <a:t> in_df,</a:t>
            </a:r>
            <a:br/>
            <a:r>
              <a:rPr>
                <a:solidFill>
                  <a:srgbClr val="003B4F"/>
                </a:solidFill>
                <a:latin typeface="Courier"/>
              </a:rPr>
              <a:t>  </a:t>
            </a:r>
            <a:r>
              <a:rPr>
                <a:solidFill>
                  <a:srgbClr val="657422"/>
                </a:solidFill>
                <a:latin typeface="Courier"/>
              </a:rPr>
              <a:t>alternative =</a:t>
            </a:r>
            <a:r>
              <a:rPr>
                <a:solidFill>
                  <a:srgbClr val="003B4F"/>
                </a:solidFill>
                <a:latin typeface="Courier"/>
              </a:rPr>
              <a:t> </a:t>
            </a:r>
            <a:r>
              <a:rPr>
                <a:solidFill>
                  <a:srgbClr val="20794D"/>
                </a:solidFill>
                <a:latin typeface="Courier"/>
              </a:rPr>
              <a:t>"two.sided"</a:t>
            </a:r>
            <a:br/>
            <a:r>
              <a:rPr>
                <a:solidFill>
                  <a:srgbClr val="003B4F"/>
                </a:solidFill>
                <a:latin typeface="Courier"/>
              </a:rPr>
              <a:t>)</a:t>
            </a:r>
            <a:br/>
            <a:r>
              <a:rPr>
                <a:solidFill>
                  <a:srgbClr val="4758AB"/>
                </a:solidFill>
                <a:latin typeface="Courier"/>
              </a:rPr>
              <a:t>print</a:t>
            </a:r>
            <a:r>
              <a:rPr>
                <a:solidFill>
                  <a:srgbClr val="003B4F"/>
                </a:solidFill>
                <a:latin typeface="Courier"/>
              </a:rPr>
              <a:t>(wilcox_test_result)</a:t>
            </a:r>
          </a:p>
          <a:p>
            <a:pPr lvl="0" indent="0" marL="1270000">
              <a:buNone/>
            </a:pPr>
            <a:r>
              <a:rPr sz="2000"/>
              <a:t>💡 Mann-Whitney is preferred when data isn’t normal even after transformation, you’re comparing medians rather than means, or outliers might distort a t-test — it compares ranks, not raw values.</a:t>
            </a:r>
          </a:p>
          <a:p>
            <a:pPr lvl="0" indent="0" marL="0">
              <a:buNone/>
            </a:pPr>
            <a:r>
              <a:rPr b="1"/>
              <a:t>▶ Run this</a:t>
            </a:r>
            <a:r>
              <a:rPr/>
              <a:t> — a permutation test (balance the sample sizes first):</a:t>
            </a:r>
          </a:p>
          <a:p>
            <a:pPr lvl="0" indent="0">
              <a:buNone/>
            </a:pPr>
            <a:r>
              <a:rPr>
                <a:solidFill>
                  <a:srgbClr val="4758AB"/>
                </a:solidFill>
                <a:latin typeface="Courier"/>
              </a:rPr>
              <a:t>set.seed</a:t>
            </a:r>
            <a:r>
              <a:rPr>
                <a:solidFill>
                  <a:srgbClr val="003B4F"/>
                </a:solidFill>
                <a:latin typeface="Courier"/>
              </a:rPr>
              <a:t>(</a:t>
            </a:r>
            <a:r>
              <a:rPr>
                <a:solidFill>
                  <a:srgbClr val="AD0000"/>
                </a:solidFill>
                <a:latin typeface="Courier"/>
              </a:rPr>
              <a:t>123</a:t>
            </a:r>
            <a:r>
              <a:rPr>
                <a:solidFill>
                  <a:srgbClr val="003B4F"/>
                </a:solidFill>
                <a:latin typeface="Courier"/>
              </a:rPr>
              <a:t>)  </a:t>
            </a:r>
            <a:r>
              <a:rPr>
                <a:solidFill>
                  <a:srgbClr val="5E5E5E"/>
                </a:solidFill>
                <a:latin typeface="Courier"/>
              </a:rPr>
              <a:t># For reproducibility</a:t>
            </a:r>
            <a:br/>
            <a:br/>
            <a:r>
              <a:rPr>
                <a:solidFill>
                  <a:srgbClr val="003B4F"/>
                </a:solidFill>
                <a:latin typeface="Courier"/>
              </a:rPr>
              <a:t>island_size &lt;- </a:t>
            </a:r>
            <a:r>
              <a:rPr>
                <a:solidFill>
                  <a:srgbClr val="4758AB"/>
                </a:solidFill>
                <a:latin typeface="Courier"/>
              </a:rPr>
              <a:t>sum</a:t>
            </a:r>
            <a:r>
              <a:rPr>
                <a:solidFill>
                  <a:srgbClr val="003B4F"/>
                </a:solidFill>
                <a:latin typeface="Courier"/>
              </a:rPr>
              <a:t>(in_df</a:t>
            </a:r>
            <a:r>
              <a:rPr>
                <a:solidFill>
                  <a:srgbClr val="5E5E5E"/>
                </a:solidFill>
                <a:latin typeface="Courier"/>
              </a:rPr>
              <a:t>$</a:t>
            </a:r>
            <a:r>
              <a:rPr>
                <a:solidFill>
                  <a:srgbClr val="003B4F"/>
                </a:solidFill>
                <a:latin typeface="Courier"/>
              </a:rPr>
              <a:t>lake </a:t>
            </a:r>
            <a:r>
              <a:rPr>
                <a:solidFill>
                  <a:srgbClr val="5E5E5E"/>
                </a:solidFill>
                <a:latin typeface="Courier"/>
              </a:rPr>
              <a:t>==</a:t>
            </a:r>
            <a:r>
              <a:rPr>
                <a:solidFill>
                  <a:srgbClr val="003B4F"/>
                </a:solidFill>
                <a:latin typeface="Courier"/>
              </a:rPr>
              <a:t> </a:t>
            </a:r>
            <a:r>
              <a:rPr>
                <a:solidFill>
                  <a:srgbClr val="20794D"/>
                </a:solidFill>
                <a:latin typeface="Courier"/>
              </a:rPr>
              <a:t>"Island Lake"</a:t>
            </a:r>
            <a:r>
              <a:rPr>
                <a:solidFill>
                  <a:srgbClr val="003B4F"/>
                </a:solidFill>
                <a:latin typeface="Courier"/>
              </a:rPr>
              <a:t>)</a:t>
            </a:r>
            <a:br/>
            <a:br/>
            <a:r>
              <a:rPr>
                <a:solidFill>
                  <a:srgbClr val="003B4F"/>
                </a:solidFill>
                <a:latin typeface="Courier"/>
              </a:rPr>
              <a:t>ne12_sample &lt;- in_df </a:t>
            </a:r>
            <a:r>
              <a:rPr>
                <a:solidFill>
                  <a:srgbClr val="5E5E5E"/>
                </a:solidFill>
                <a:latin typeface="Courier"/>
              </a:rPr>
              <a:t>%&gt;%</a:t>
            </a:r>
            <a:br/>
            <a:r>
              <a:rPr>
                <a:solidFill>
                  <a:srgbClr val="003B4F"/>
                </a:solidFill>
                <a:latin typeface="Courier"/>
              </a:rPr>
              <a:t>  </a:t>
            </a:r>
            <a:r>
              <a:rPr>
                <a:solidFill>
                  <a:srgbClr val="4758AB"/>
                </a:solidFill>
                <a:latin typeface="Courier"/>
              </a:rPr>
              <a:t>filter</a:t>
            </a:r>
            <a:r>
              <a:rPr>
                <a:solidFill>
                  <a:srgbClr val="003B4F"/>
                </a:solidFill>
                <a:latin typeface="Courier"/>
              </a:rPr>
              <a:t>(lake </a:t>
            </a:r>
            <a:r>
              <a:rPr>
                <a:solidFill>
                  <a:srgbClr val="5E5E5E"/>
                </a:solidFill>
                <a:latin typeface="Courier"/>
              </a:rPr>
              <a:t>==</a:t>
            </a:r>
            <a:r>
              <a:rPr>
                <a:solidFill>
                  <a:srgbClr val="003B4F"/>
                </a:solidFill>
                <a:latin typeface="Courier"/>
              </a:rPr>
              <a:t> </a:t>
            </a:r>
            <a:r>
              <a:rPr>
                <a:solidFill>
                  <a:srgbClr val="20794D"/>
                </a:solidFill>
                <a:latin typeface="Courier"/>
              </a:rPr>
              <a:t>"NE 12"</a:t>
            </a:r>
            <a:r>
              <a:rPr>
                <a:solidFill>
                  <a:srgbClr val="003B4F"/>
                </a:solidFill>
                <a:latin typeface="Courier"/>
              </a:rPr>
              <a:t>) </a:t>
            </a:r>
            <a:r>
              <a:rPr>
                <a:solidFill>
                  <a:srgbClr val="5E5E5E"/>
                </a:solidFill>
                <a:latin typeface="Courier"/>
              </a:rPr>
              <a:t>%&gt;%</a:t>
            </a:r>
            <a:br/>
            <a:r>
              <a:rPr>
                <a:solidFill>
                  <a:srgbClr val="003B4F"/>
                </a:solidFill>
                <a:latin typeface="Courier"/>
              </a:rPr>
              <a:t>  </a:t>
            </a:r>
            <a:r>
              <a:rPr>
                <a:solidFill>
                  <a:srgbClr val="4758AB"/>
                </a:solidFill>
                <a:latin typeface="Courier"/>
              </a:rPr>
              <a:t>slice_sample</a:t>
            </a:r>
            <a:r>
              <a:rPr>
                <a:solidFill>
                  <a:srgbClr val="003B4F"/>
                </a:solidFill>
                <a:latin typeface="Courier"/>
              </a:rPr>
              <a:t>(</a:t>
            </a:r>
            <a:r>
              <a:rPr>
                <a:solidFill>
                  <a:srgbClr val="657422"/>
                </a:solidFill>
                <a:latin typeface="Courier"/>
              </a:rPr>
              <a:t>n =</a:t>
            </a:r>
            <a:r>
              <a:rPr>
                <a:solidFill>
                  <a:srgbClr val="003B4F"/>
                </a:solidFill>
                <a:latin typeface="Courier"/>
              </a:rPr>
              <a:t> island_size)</a:t>
            </a:r>
            <a:br/>
            <a:br/>
            <a:r>
              <a:rPr>
                <a:solidFill>
                  <a:srgbClr val="003B4F"/>
                </a:solidFill>
                <a:latin typeface="Courier"/>
              </a:rPr>
              <a:t>balanced_df &lt;- </a:t>
            </a:r>
            <a:r>
              <a:rPr>
                <a:solidFill>
                  <a:srgbClr val="4758AB"/>
                </a:solidFill>
                <a:latin typeface="Courier"/>
              </a:rPr>
              <a:t>bind_rows</a:t>
            </a:r>
            <a:r>
              <a:rPr>
                <a:solidFill>
                  <a:srgbClr val="003B4F"/>
                </a:solidFill>
                <a:latin typeface="Courier"/>
              </a:rPr>
              <a:t>(</a:t>
            </a:r>
            <a:br/>
            <a:r>
              <a:rPr>
                <a:solidFill>
                  <a:srgbClr val="003B4F"/>
                </a:solidFill>
                <a:latin typeface="Courier"/>
              </a:rPr>
              <a:t>  ne12_sample,</a:t>
            </a:r>
            <a:br/>
            <a:r>
              <a:rPr>
                <a:solidFill>
                  <a:srgbClr val="003B4F"/>
                </a:solidFill>
                <a:latin typeface="Courier"/>
              </a:rPr>
              <a:t>  in_df </a:t>
            </a:r>
            <a:r>
              <a:rPr>
                <a:solidFill>
                  <a:srgbClr val="5E5E5E"/>
                </a:solidFill>
                <a:latin typeface="Courier"/>
              </a:rPr>
              <a:t>%&gt;%</a:t>
            </a:r>
            <a:r>
              <a:rPr>
                <a:solidFill>
                  <a:srgbClr val="003B4F"/>
                </a:solidFill>
                <a:latin typeface="Courier"/>
              </a:rPr>
              <a:t> </a:t>
            </a:r>
            <a:r>
              <a:rPr>
                <a:solidFill>
                  <a:srgbClr val="4758AB"/>
                </a:solidFill>
                <a:latin typeface="Courier"/>
              </a:rPr>
              <a:t>filter</a:t>
            </a:r>
            <a:r>
              <a:rPr>
                <a:solidFill>
                  <a:srgbClr val="003B4F"/>
                </a:solidFill>
                <a:latin typeface="Courier"/>
              </a:rPr>
              <a:t>(lake </a:t>
            </a:r>
            <a:r>
              <a:rPr>
                <a:solidFill>
                  <a:srgbClr val="5E5E5E"/>
                </a:solidFill>
                <a:latin typeface="Courier"/>
              </a:rPr>
              <a:t>==</a:t>
            </a:r>
            <a:r>
              <a:rPr>
                <a:solidFill>
                  <a:srgbClr val="003B4F"/>
                </a:solidFill>
                <a:latin typeface="Courier"/>
              </a:rPr>
              <a:t> </a:t>
            </a:r>
            <a:r>
              <a:rPr>
                <a:solidFill>
                  <a:srgbClr val="20794D"/>
                </a:solidFill>
                <a:latin typeface="Courier"/>
              </a:rPr>
              <a:t>"Island Lake"</a:t>
            </a:r>
            <a:r>
              <a:rPr>
                <a:solidFill>
                  <a:srgbClr val="003B4F"/>
                </a:solidFill>
                <a:latin typeface="Courier"/>
              </a:rPr>
              <a:t>)</a:t>
            </a:r>
            <a:br/>
            <a:r>
              <a:rPr>
                <a:solidFill>
                  <a:srgbClr val="003B4F"/>
                </a:solidFill>
                <a:latin typeface="Courier"/>
              </a:rPr>
              <a:t>)</a:t>
            </a:r>
            <a:br/>
            <a:br/>
            <a:r>
              <a:rPr>
                <a:solidFill>
                  <a:srgbClr val="003B4F"/>
                </a:solidFill>
                <a:latin typeface="Courier"/>
              </a:rPr>
              <a:t>ne12_mass   &lt;- balanced_df </a:t>
            </a:r>
            <a:r>
              <a:rPr>
                <a:solidFill>
                  <a:srgbClr val="5E5E5E"/>
                </a:solidFill>
                <a:latin typeface="Courier"/>
              </a:rPr>
              <a:t>%&gt;%</a:t>
            </a:r>
            <a:r>
              <a:rPr>
                <a:solidFill>
                  <a:srgbClr val="003B4F"/>
                </a:solidFill>
                <a:latin typeface="Courier"/>
              </a:rPr>
              <a:t> </a:t>
            </a:r>
            <a:r>
              <a:rPr>
                <a:solidFill>
                  <a:srgbClr val="4758AB"/>
                </a:solidFill>
                <a:latin typeface="Courier"/>
              </a:rPr>
              <a:t>filter</a:t>
            </a:r>
            <a:r>
              <a:rPr>
                <a:solidFill>
                  <a:srgbClr val="003B4F"/>
                </a:solidFill>
                <a:latin typeface="Courier"/>
              </a:rPr>
              <a:t>(lake </a:t>
            </a:r>
            <a:r>
              <a:rPr>
                <a:solidFill>
                  <a:srgbClr val="5E5E5E"/>
                </a:solidFill>
                <a:latin typeface="Courier"/>
              </a:rPr>
              <a:t>==</a:t>
            </a:r>
            <a:r>
              <a:rPr>
                <a:solidFill>
                  <a:srgbClr val="003B4F"/>
                </a:solidFill>
                <a:latin typeface="Courier"/>
              </a:rPr>
              <a:t> </a:t>
            </a:r>
            <a:r>
              <a:rPr>
                <a:solidFill>
                  <a:srgbClr val="20794D"/>
                </a:solidFill>
                <a:latin typeface="Courier"/>
              </a:rPr>
              <a:t>"NE 12"</a:t>
            </a:r>
            <a:r>
              <a:rPr>
                <a:solidFill>
                  <a:srgbClr val="003B4F"/>
                </a:solidFill>
                <a:latin typeface="Courier"/>
              </a:rPr>
              <a:t>) </a:t>
            </a:r>
            <a:r>
              <a:rPr>
                <a:solidFill>
                  <a:srgbClr val="5E5E5E"/>
                </a:solidFill>
                <a:latin typeface="Courier"/>
              </a:rPr>
              <a:t>%&gt;%</a:t>
            </a:r>
            <a:r>
              <a:rPr>
                <a:solidFill>
                  <a:srgbClr val="003B4F"/>
                </a:solidFill>
                <a:latin typeface="Courier"/>
              </a:rPr>
              <a:t> </a:t>
            </a:r>
            <a:r>
              <a:rPr>
                <a:solidFill>
                  <a:srgbClr val="4758AB"/>
                </a:solidFill>
                <a:latin typeface="Courier"/>
              </a:rPr>
              <a:t>pull</a:t>
            </a:r>
            <a:r>
              <a:rPr>
                <a:solidFill>
                  <a:srgbClr val="003B4F"/>
                </a:solidFill>
                <a:latin typeface="Courier"/>
              </a:rPr>
              <a:t>(mass_g)</a:t>
            </a:r>
            <a:br/>
            <a:r>
              <a:rPr>
                <a:solidFill>
                  <a:srgbClr val="003B4F"/>
                </a:solidFill>
                <a:latin typeface="Courier"/>
              </a:rPr>
              <a:t>island_mass &lt;- balanced_df </a:t>
            </a:r>
            <a:r>
              <a:rPr>
                <a:solidFill>
                  <a:srgbClr val="5E5E5E"/>
                </a:solidFill>
                <a:latin typeface="Courier"/>
              </a:rPr>
              <a:t>%&gt;%</a:t>
            </a:r>
            <a:r>
              <a:rPr>
                <a:solidFill>
                  <a:srgbClr val="003B4F"/>
                </a:solidFill>
                <a:latin typeface="Courier"/>
              </a:rPr>
              <a:t> </a:t>
            </a:r>
            <a:r>
              <a:rPr>
                <a:solidFill>
                  <a:srgbClr val="4758AB"/>
                </a:solidFill>
                <a:latin typeface="Courier"/>
              </a:rPr>
              <a:t>filter</a:t>
            </a:r>
            <a:r>
              <a:rPr>
                <a:solidFill>
                  <a:srgbClr val="003B4F"/>
                </a:solidFill>
                <a:latin typeface="Courier"/>
              </a:rPr>
              <a:t>(lake </a:t>
            </a:r>
            <a:r>
              <a:rPr>
                <a:solidFill>
                  <a:srgbClr val="5E5E5E"/>
                </a:solidFill>
                <a:latin typeface="Courier"/>
              </a:rPr>
              <a:t>==</a:t>
            </a:r>
            <a:r>
              <a:rPr>
                <a:solidFill>
                  <a:srgbClr val="003B4F"/>
                </a:solidFill>
                <a:latin typeface="Courier"/>
              </a:rPr>
              <a:t> </a:t>
            </a:r>
            <a:r>
              <a:rPr>
                <a:solidFill>
                  <a:srgbClr val="20794D"/>
                </a:solidFill>
                <a:latin typeface="Courier"/>
              </a:rPr>
              <a:t>"Island Lake"</a:t>
            </a:r>
            <a:r>
              <a:rPr>
                <a:solidFill>
                  <a:srgbClr val="003B4F"/>
                </a:solidFill>
                <a:latin typeface="Courier"/>
              </a:rPr>
              <a:t>) </a:t>
            </a:r>
            <a:r>
              <a:rPr>
                <a:solidFill>
                  <a:srgbClr val="5E5E5E"/>
                </a:solidFill>
                <a:latin typeface="Courier"/>
              </a:rPr>
              <a:t>%&gt;%</a:t>
            </a:r>
            <a:r>
              <a:rPr>
                <a:solidFill>
                  <a:srgbClr val="003B4F"/>
                </a:solidFill>
                <a:latin typeface="Courier"/>
              </a:rPr>
              <a:t> </a:t>
            </a:r>
            <a:r>
              <a:rPr>
                <a:solidFill>
                  <a:srgbClr val="4758AB"/>
                </a:solidFill>
                <a:latin typeface="Courier"/>
              </a:rPr>
              <a:t>pull</a:t>
            </a:r>
            <a:r>
              <a:rPr>
                <a:solidFill>
                  <a:srgbClr val="003B4F"/>
                </a:solidFill>
                <a:latin typeface="Courier"/>
              </a:rPr>
              <a:t>(mass_g)</a:t>
            </a:r>
            <a:br/>
            <a:br/>
            <a:r>
              <a:rPr>
                <a:solidFill>
                  <a:srgbClr val="003B4F"/>
                </a:solidFill>
                <a:latin typeface="Courier"/>
              </a:rPr>
              <a:t>perm_test_result &lt;- </a:t>
            </a:r>
            <a:r>
              <a:rPr>
                <a:solidFill>
                  <a:srgbClr val="4758AB"/>
                </a:solidFill>
                <a:latin typeface="Courier"/>
              </a:rPr>
              <a:t>permTS</a:t>
            </a:r>
            <a:r>
              <a:rPr>
                <a:solidFill>
                  <a:srgbClr val="003B4F"/>
                </a:solidFill>
                <a:latin typeface="Courier"/>
              </a:rPr>
              <a:t>(</a:t>
            </a:r>
            <a:br/>
            <a:r>
              <a:rPr>
                <a:solidFill>
                  <a:srgbClr val="003B4F"/>
                </a:solidFill>
                <a:latin typeface="Courier"/>
              </a:rPr>
              <a:t>  </a:t>
            </a:r>
            <a:r>
              <a:rPr>
                <a:solidFill>
                  <a:srgbClr val="657422"/>
                </a:solidFill>
                <a:latin typeface="Courier"/>
              </a:rPr>
              <a:t>x =</a:t>
            </a:r>
            <a:r>
              <a:rPr>
                <a:solidFill>
                  <a:srgbClr val="003B4F"/>
                </a:solidFill>
                <a:latin typeface="Courier"/>
              </a:rPr>
              <a:t> ne12_mass,</a:t>
            </a:r>
            <a:br/>
            <a:r>
              <a:rPr>
                <a:solidFill>
                  <a:srgbClr val="003B4F"/>
                </a:solidFill>
                <a:latin typeface="Courier"/>
              </a:rPr>
              <a:t>  </a:t>
            </a:r>
            <a:r>
              <a:rPr>
                <a:solidFill>
                  <a:srgbClr val="657422"/>
                </a:solidFill>
                <a:latin typeface="Courier"/>
              </a:rPr>
              <a:t>y =</a:t>
            </a:r>
            <a:r>
              <a:rPr>
                <a:solidFill>
                  <a:srgbClr val="003B4F"/>
                </a:solidFill>
                <a:latin typeface="Courier"/>
              </a:rPr>
              <a:t> island_mass,</a:t>
            </a:r>
            <a:br/>
            <a:r>
              <a:rPr>
                <a:solidFill>
                  <a:srgbClr val="003B4F"/>
                </a:solidFill>
                <a:latin typeface="Courier"/>
              </a:rPr>
              <a:t>  </a:t>
            </a:r>
            <a:r>
              <a:rPr>
                <a:solidFill>
                  <a:srgbClr val="657422"/>
                </a:solidFill>
                <a:latin typeface="Courier"/>
              </a:rPr>
              <a:t>alternative =</a:t>
            </a:r>
            <a:r>
              <a:rPr>
                <a:solidFill>
                  <a:srgbClr val="003B4F"/>
                </a:solidFill>
                <a:latin typeface="Courier"/>
              </a:rPr>
              <a:t> </a:t>
            </a:r>
            <a:r>
              <a:rPr>
                <a:solidFill>
                  <a:srgbClr val="20794D"/>
                </a:solidFill>
                <a:latin typeface="Courier"/>
              </a:rPr>
              <a:t>"two.sided"</a:t>
            </a:r>
            <a:r>
              <a:rPr>
                <a:solidFill>
                  <a:srgbClr val="003B4F"/>
                </a:solidFill>
                <a:latin typeface="Courier"/>
              </a:rPr>
              <a:t>,</a:t>
            </a:r>
            <a:br/>
            <a:r>
              <a:rPr>
                <a:solidFill>
                  <a:srgbClr val="003B4F"/>
                </a:solidFill>
                <a:latin typeface="Courier"/>
              </a:rPr>
              <a:t>  </a:t>
            </a:r>
            <a:r>
              <a:rPr>
                <a:solidFill>
                  <a:srgbClr val="657422"/>
                </a:solidFill>
                <a:latin typeface="Courier"/>
              </a:rPr>
              <a:t>method =</a:t>
            </a:r>
            <a:r>
              <a:rPr>
                <a:solidFill>
                  <a:srgbClr val="003B4F"/>
                </a:solidFill>
                <a:latin typeface="Courier"/>
              </a:rPr>
              <a:t> </a:t>
            </a:r>
            <a:r>
              <a:rPr>
                <a:solidFill>
                  <a:srgbClr val="20794D"/>
                </a:solidFill>
                <a:latin typeface="Courier"/>
              </a:rPr>
              <a:t>"exact.mc"</a:t>
            </a:r>
            <a:r>
              <a:rPr>
                <a:solidFill>
                  <a:srgbClr val="003B4F"/>
                </a:solidFill>
                <a:latin typeface="Courier"/>
              </a:rPr>
              <a:t>,</a:t>
            </a:r>
            <a:br/>
            <a:r>
              <a:rPr>
                <a:solidFill>
                  <a:srgbClr val="003B4F"/>
                </a:solidFill>
                <a:latin typeface="Courier"/>
              </a:rPr>
              <a:t>  </a:t>
            </a:r>
            <a:r>
              <a:rPr>
                <a:solidFill>
                  <a:srgbClr val="657422"/>
                </a:solidFill>
                <a:latin typeface="Courier"/>
              </a:rPr>
              <a:t>control =</a:t>
            </a:r>
            <a:r>
              <a:rPr>
                <a:solidFill>
                  <a:srgbClr val="003B4F"/>
                </a:solidFill>
                <a:latin typeface="Courier"/>
              </a:rPr>
              <a:t> </a:t>
            </a:r>
            <a:r>
              <a:rPr>
                <a:solidFill>
                  <a:srgbClr val="4758AB"/>
                </a:solidFill>
                <a:latin typeface="Courier"/>
              </a:rPr>
              <a:t>permControl</a:t>
            </a:r>
            <a:r>
              <a:rPr>
                <a:solidFill>
                  <a:srgbClr val="003B4F"/>
                </a:solidFill>
                <a:latin typeface="Courier"/>
              </a:rPr>
              <a:t>(</a:t>
            </a:r>
            <a:r>
              <a:rPr>
                <a:solidFill>
                  <a:srgbClr val="657422"/>
                </a:solidFill>
                <a:latin typeface="Courier"/>
              </a:rPr>
              <a:t>nmc =</a:t>
            </a:r>
            <a:r>
              <a:rPr>
                <a:solidFill>
                  <a:srgbClr val="003B4F"/>
                </a:solidFill>
                <a:latin typeface="Courier"/>
              </a:rPr>
              <a:t> </a:t>
            </a:r>
            <a:r>
              <a:rPr>
                <a:solidFill>
                  <a:srgbClr val="AD0000"/>
                </a:solidFill>
                <a:latin typeface="Courier"/>
              </a:rPr>
              <a:t>10000</a:t>
            </a:r>
            <a:r>
              <a:rPr>
                <a:solidFill>
                  <a:srgbClr val="003B4F"/>
                </a:solidFill>
                <a:latin typeface="Courier"/>
              </a:rPr>
              <a:t>)</a:t>
            </a:r>
            <a:br/>
            <a:r>
              <a:rPr>
                <a:solidFill>
                  <a:srgbClr val="003B4F"/>
                </a:solidFill>
                <a:latin typeface="Courier"/>
              </a:rPr>
              <a:t>)</a:t>
            </a:r>
            <a:br/>
            <a:r>
              <a:rPr>
                <a:solidFill>
                  <a:srgbClr val="4758AB"/>
                </a:solidFill>
                <a:latin typeface="Courier"/>
              </a:rPr>
              <a:t>print</a:t>
            </a:r>
            <a:r>
              <a:rPr>
                <a:solidFill>
                  <a:srgbClr val="003B4F"/>
                </a:solidFill>
                <a:latin typeface="Courier"/>
              </a:rPr>
              <a:t>(perm_test_result)</a:t>
            </a:r>
          </a:p>
          <a:p>
            <a:pPr lvl="0" indent="0" marL="1270000">
              <a:buNone/>
            </a:pPr>
            <a:r>
              <a:rPr sz="2000"/>
              <a:t>💡 Permutation tests are useful for small samples, data that doesn’t meet parametric assumptions, or when you want a test that makes minimal distributional assumptions — and they can test statistics other than the mean.</a:t>
            </a:r>
          </a:p>
          <a:p>
            <a:pPr lvl="0" indent="0" marL="1270000">
              <a:buNone/>
            </a:pPr>
            <a:r>
              <a:rPr sz="2000" b="1"/>
              <a:t>Tip</a:t>
            </a:r>
          </a:p>
          <a:p>
            <a:pPr lvl="0" indent="0" marL="1270000">
              <a:buNone/>
            </a:pPr>
            <a:r>
              <a:rPr sz="2000" b="1"/>
              <a:t>🚀 If you finish early:</a:t>
            </a:r>
            <a:r>
              <a:rPr sz="2000"/>
              <a:t> Rerun the permutation test with </a:t>
            </a:r>
            <a:r>
              <a:rPr sz="2000">
                <a:latin typeface="Courier"/>
              </a:rPr>
              <a:t>nmc = 1000</a:t>
            </a:r>
            <a:r>
              <a:rPr sz="2000"/>
              <a:t> instead of </a:t>
            </a:r>
            <a:r>
              <a:rPr sz="2000">
                <a:latin typeface="Courier"/>
              </a:rPr>
              <a:t>10000</a:t>
            </a:r>
            <a:r>
              <a:rPr sz="2000"/>
              <a:t>. Does the p-value change meaningfully? What’s the tradeoff of using fewer Monte Carlo replications?</a:t>
            </a:r>
          </a:p>
          <a:p>
            <a:pPr lvl="0" indent="0">
              <a:buNone/>
            </a:pPr>
            <a:r>
              <a:rPr>
                <a:solidFill>
                  <a:srgbClr val="5E5E5E"/>
                </a:solidFill>
                <a:latin typeface="Courier"/>
              </a:rPr>
              <a:t># Write your code here:</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6 · Comparing All Results</a:t>
            </a:r>
          </a:p>
        </p:txBody>
      </p:sp>
      <p:sp>
        <p:nvSpPr>
          <p:cNvPr id="3" name="Content Placeholder 2"/>
          <p:cNvSpPr>
            <a:spLocks noGrp="1"/>
          </p:cNvSpPr>
          <p:nvPr>
            <p:ph idx="1"/>
          </p:nvPr>
        </p:nvSpPr>
        <p:spPr/>
        <p:txBody>
          <a:bodyPr/>
          <a:lstStyle/>
          <a:p>
            <a:pPr lvl="0" indent="0" marL="0">
              <a:buNone/>
            </a:pPr>
            <a:r>
              <a:rPr b="1"/>
              <a:t>▶ Run this</a:t>
            </a:r>
            <a:r>
              <a:rPr/>
              <a:t> — build a comparison table:</a:t>
            </a:r>
          </a:p>
          <a:p>
            <a:pPr lvl="0" indent="0">
              <a:buNone/>
            </a:pPr>
            <a:r>
              <a:rPr>
                <a:solidFill>
                  <a:srgbClr val="003B4F"/>
                </a:solidFill>
                <a:latin typeface="Courier"/>
              </a:rPr>
              <a:t>test_results &lt;- </a:t>
            </a:r>
            <a:r>
              <a:rPr>
                <a:solidFill>
                  <a:srgbClr val="4758AB"/>
                </a:solidFill>
                <a:latin typeface="Courier"/>
              </a:rPr>
              <a:t>data.frame</a:t>
            </a:r>
            <a:r>
              <a:rPr>
                <a:solidFill>
                  <a:srgbClr val="003B4F"/>
                </a:solidFill>
                <a:latin typeface="Courier"/>
              </a:rPr>
              <a:t>(</a:t>
            </a:r>
            <a:br/>
            <a:r>
              <a:rPr>
                <a:solidFill>
                  <a:srgbClr val="003B4F"/>
                </a:solidFill>
                <a:latin typeface="Courier"/>
              </a:rPr>
              <a:t>  </a:t>
            </a:r>
            <a:r>
              <a:rPr>
                <a:solidFill>
                  <a:srgbClr val="657422"/>
                </a:solidFill>
                <a:latin typeface="Courier"/>
              </a:rPr>
              <a:t>Test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20794D"/>
                </a:solidFill>
                <a:latin typeface="Courier"/>
              </a:rPr>
              <a:t>"Standard t-test"</a:t>
            </a:r>
            <a:r>
              <a:rPr>
                <a:solidFill>
                  <a:srgbClr val="003B4F"/>
                </a:solidFill>
                <a:latin typeface="Courier"/>
              </a:rPr>
              <a:t>,</a:t>
            </a:r>
            <a:br/>
            <a:r>
              <a:rPr>
                <a:solidFill>
                  <a:srgbClr val="003B4F"/>
                </a:solidFill>
                <a:latin typeface="Courier"/>
              </a:rPr>
              <a:t>           </a:t>
            </a:r>
            <a:r>
              <a:rPr>
                <a:solidFill>
                  <a:srgbClr val="20794D"/>
                </a:solidFill>
                <a:latin typeface="Courier"/>
              </a:rPr>
              <a:t>"Log-transformed t-test"</a:t>
            </a:r>
            <a:r>
              <a:rPr>
                <a:solidFill>
                  <a:srgbClr val="003B4F"/>
                </a:solidFill>
                <a:latin typeface="Courier"/>
              </a:rPr>
              <a:t>,</a:t>
            </a:r>
            <a:br/>
            <a:r>
              <a:rPr>
                <a:solidFill>
                  <a:srgbClr val="003B4F"/>
                </a:solidFill>
                <a:latin typeface="Courier"/>
              </a:rPr>
              <a:t>           </a:t>
            </a:r>
            <a:r>
              <a:rPr>
                <a:solidFill>
                  <a:srgbClr val="20794D"/>
                </a:solidFill>
                <a:latin typeface="Courier"/>
              </a:rPr>
              <a:t>"Welch's t-test"</a:t>
            </a:r>
            <a:r>
              <a:rPr>
                <a:solidFill>
                  <a:srgbClr val="003B4F"/>
                </a:solidFill>
                <a:latin typeface="Courier"/>
              </a:rPr>
              <a:t>,</a:t>
            </a:r>
            <a:br/>
            <a:r>
              <a:rPr>
                <a:solidFill>
                  <a:srgbClr val="003B4F"/>
                </a:solidFill>
                <a:latin typeface="Courier"/>
              </a:rPr>
              <a:t>           </a:t>
            </a:r>
            <a:r>
              <a:rPr>
                <a:solidFill>
                  <a:srgbClr val="20794D"/>
                </a:solidFill>
                <a:latin typeface="Courier"/>
              </a:rPr>
              <a:t>"Mann-Whitney Wilcoxon test"</a:t>
            </a:r>
            <a:r>
              <a:rPr>
                <a:solidFill>
                  <a:srgbClr val="003B4F"/>
                </a:solidFill>
                <a:latin typeface="Courier"/>
              </a:rPr>
              <a:t>),</a:t>
            </a:r>
            <a:br/>
            <a:r>
              <a:rPr>
                <a:solidFill>
                  <a:srgbClr val="003B4F"/>
                </a:solidFill>
                <a:latin typeface="Courier"/>
              </a:rPr>
              <a:t>  </a:t>
            </a:r>
            <a:r>
              <a:rPr>
                <a:solidFill>
                  <a:srgbClr val="657422"/>
                </a:solidFill>
                <a:latin typeface="Courier"/>
              </a:rPr>
              <a:t>Statistic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4758AB"/>
                </a:solidFill>
                <a:latin typeface="Courier"/>
              </a:rPr>
              <a:t>paste</a:t>
            </a:r>
            <a:r>
              <a:rPr>
                <a:solidFill>
                  <a:srgbClr val="003B4F"/>
                </a:solidFill>
                <a:latin typeface="Courier"/>
              </a:rPr>
              <a:t>(</a:t>
            </a:r>
            <a:r>
              <a:rPr>
                <a:solidFill>
                  <a:srgbClr val="20794D"/>
                </a:solidFill>
                <a:latin typeface="Courier"/>
              </a:rPr>
              <a:t>"t ="</a:t>
            </a:r>
            <a:r>
              <a:rPr>
                <a:solidFill>
                  <a:srgbClr val="003B4F"/>
                </a:solidFill>
                <a:latin typeface="Courier"/>
              </a:rPr>
              <a:t>, </a:t>
            </a:r>
            <a:r>
              <a:rPr>
                <a:solidFill>
                  <a:srgbClr val="4758AB"/>
                </a:solidFill>
                <a:latin typeface="Courier"/>
              </a:rPr>
              <a:t>round</a:t>
            </a:r>
            <a:r>
              <a:rPr>
                <a:solidFill>
                  <a:srgbClr val="003B4F"/>
                </a:solidFill>
                <a:latin typeface="Courier"/>
              </a:rPr>
              <a:t>(t_test_result</a:t>
            </a:r>
            <a:r>
              <a:rPr>
                <a:solidFill>
                  <a:srgbClr val="5E5E5E"/>
                </a:solidFill>
                <a:latin typeface="Courier"/>
              </a:rPr>
              <a:t>$</a:t>
            </a:r>
            <a:r>
              <a:rPr>
                <a:solidFill>
                  <a:srgbClr val="003B4F"/>
                </a:solidFill>
                <a:latin typeface="Courier"/>
              </a:rPr>
              <a:t>statistic, </a:t>
            </a:r>
            <a:r>
              <a:rPr>
                <a:solidFill>
                  <a:srgbClr val="AD0000"/>
                </a:solidFill>
                <a:latin typeface="Courier"/>
              </a:rPr>
              <a:t>2</a:t>
            </a:r>
            <a:r>
              <a:rPr>
                <a:solidFill>
                  <a:srgbClr val="003B4F"/>
                </a:solidFill>
                <a:latin typeface="Courier"/>
              </a:rPr>
              <a:t>)),</a:t>
            </a:r>
            <a:br/>
            <a:r>
              <a:rPr>
                <a:solidFill>
                  <a:srgbClr val="003B4F"/>
                </a:solidFill>
                <a:latin typeface="Courier"/>
              </a:rPr>
              <a:t>               </a:t>
            </a:r>
            <a:r>
              <a:rPr>
                <a:solidFill>
                  <a:srgbClr val="4758AB"/>
                </a:solidFill>
                <a:latin typeface="Courier"/>
              </a:rPr>
              <a:t>paste</a:t>
            </a:r>
            <a:r>
              <a:rPr>
                <a:solidFill>
                  <a:srgbClr val="003B4F"/>
                </a:solidFill>
                <a:latin typeface="Courier"/>
              </a:rPr>
              <a:t>(</a:t>
            </a:r>
            <a:r>
              <a:rPr>
                <a:solidFill>
                  <a:srgbClr val="20794D"/>
                </a:solidFill>
                <a:latin typeface="Courier"/>
              </a:rPr>
              <a:t>"t ="</a:t>
            </a:r>
            <a:r>
              <a:rPr>
                <a:solidFill>
                  <a:srgbClr val="003B4F"/>
                </a:solidFill>
                <a:latin typeface="Courier"/>
              </a:rPr>
              <a:t>, </a:t>
            </a:r>
            <a:r>
              <a:rPr>
                <a:solidFill>
                  <a:srgbClr val="4758AB"/>
                </a:solidFill>
                <a:latin typeface="Courier"/>
              </a:rPr>
              <a:t>round</a:t>
            </a:r>
            <a:r>
              <a:rPr>
                <a:solidFill>
                  <a:srgbClr val="003B4F"/>
                </a:solidFill>
                <a:latin typeface="Courier"/>
              </a:rPr>
              <a:t>(log_t_test_result</a:t>
            </a:r>
            <a:r>
              <a:rPr>
                <a:solidFill>
                  <a:srgbClr val="5E5E5E"/>
                </a:solidFill>
                <a:latin typeface="Courier"/>
              </a:rPr>
              <a:t>$</a:t>
            </a:r>
            <a:r>
              <a:rPr>
                <a:solidFill>
                  <a:srgbClr val="003B4F"/>
                </a:solidFill>
                <a:latin typeface="Courier"/>
              </a:rPr>
              <a:t>statistic, </a:t>
            </a:r>
            <a:r>
              <a:rPr>
                <a:solidFill>
                  <a:srgbClr val="AD0000"/>
                </a:solidFill>
                <a:latin typeface="Courier"/>
              </a:rPr>
              <a:t>2</a:t>
            </a:r>
            <a:r>
              <a:rPr>
                <a:solidFill>
                  <a:srgbClr val="003B4F"/>
                </a:solidFill>
                <a:latin typeface="Courier"/>
              </a:rPr>
              <a:t>)),</a:t>
            </a:r>
            <a:br/>
            <a:r>
              <a:rPr>
                <a:solidFill>
                  <a:srgbClr val="003B4F"/>
                </a:solidFill>
                <a:latin typeface="Courier"/>
              </a:rPr>
              <a:t>               </a:t>
            </a:r>
            <a:r>
              <a:rPr>
                <a:solidFill>
                  <a:srgbClr val="4758AB"/>
                </a:solidFill>
                <a:latin typeface="Courier"/>
              </a:rPr>
              <a:t>paste</a:t>
            </a:r>
            <a:r>
              <a:rPr>
                <a:solidFill>
                  <a:srgbClr val="003B4F"/>
                </a:solidFill>
                <a:latin typeface="Courier"/>
              </a:rPr>
              <a:t>(</a:t>
            </a:r>
            <a:r>
              <a:rPr>
                <a:solidFill>
                  <a:srgbClr val="20794D"/>
                </a:solidFill>
                <a:latin typeface="Courier"/>
              </a:rPr>
              <a:t>"t ="</a:t>
            </a:r>
            <a:r>
              <a:rPr>
                <a:solidFill>
                  <a:srgbClr val="003B4F"/>
                </a:solidFill>
                <a:latin typeface="Courier"/>
              </a:rPr>
              <a:t>, </a:t>
            </a:r>
            <a:r>
              <a:rPr>
                <a:solidFill>
                  <a:srgbClr val="4758AB"/>
                </a:solidFill>
                <a:latin typeface="Courier"/>
              </a:rPr>
              <a:t>round</a:t>
            </a:r>
            <a:r>
              <a:rPr>
                <a:solidFill>
                  <a:srgbClr val="003B4F"/>
                </a:solidFill>
                <a:latin typeface="Courier"/>
              </a:rPr>
              <a:t>(welch_test_result</a:t>
            </a:r>
            <a:r>
              <a:rPr>
                <a:solidFill>
                  <a:srgbClr val="5E5E5E"/>
                </a:solidFill>
                <a:latin typeface="Courier"/>
              </a:rPr>
              <a:t>$</a:t>
            </a:r>
            <a:r>
              <a:rPr>
                <a:solidFill>
                  <a:srgbClr val="003B4F"/>
                </a:solidFill>
                <a:latin typeface="Courier"/>
              </a:rPr>
              <a:t>statistic, </a:t>
            </a:r>
            <a:r>
              <a:rPr>
                <a:solidFill>
                  <a:srgbClr val="AD0000"/>
                </a:solidFill>
                <a:latin typeface="Courier"/>
              </a:rPr>
              <a:t>2</a:t>
            </a:r>
            <a:r>
              <a:rPr>
                <a:solidFill>
                  <a:srgbClr val="003B4F"/>
                </a:solidFill>
                <a:latin typeface="Courier"/>
              </a:rPr>
              <a:t>)),</a:t>
            </a:r>
            <a:br/>
            <a:r>
              <a:rPr>
                <a:solidFill>
                  <a:srgbClr val="003B4F"/>
                </a:solidFill>
                <a:latin typeface="Courier"/>
              </a:rPr>
              <a:t>               </a:t>
            </a:r>
            <a:r>
              <a:rPr>
                <a:solidFill>
                  <a:srgbClr val="4758AB"/>
                </a:solidFill>
                <a:latin typeface="Courier"/>
              </a:rPr>
              <a:t>paste</a:t>
            </a:r>
            <a:r>
              <a:rPr>
                <a:solidFill>
                  <a:srgbClr val="003B4F"/>
                </a:solidFill>
                <a:latin typeface="Courier"/>
              </a:rPr>
              <a:t>(</a:t>
            </a:r>
            <a:r>
              <a:rPr>
                <a:solidFill>
                  <a:srgbClr val="20794D"/>
                </a:solidFill>
                <a:latin typeface="Courier"/>
              </a:rPr>
              <a:t>"W ="</a:t>
            </a:r>
            <a:r>
              <a:rPr>
                <a:solidFill>
                  <a:srgbClr val="003B4F"/>
                </a:solidFill>
                <a:latin typeface="Courier"/>
              </a:rPr>
              <a:t>, wilcox_test_result</a:t>
            </a:r>
            <a:r>
              <a:rPr>
                <a:solidFill>
                  <a:srgbClr val="5E5E5E"/>
                </a:solidFill>
                <a:latin typeface="Courier"/>
              </a:rPr>
              <a:t>$</a:t>
            </a:r>
            <a:r>
              <a:rPr>
                <a:solidFill>
                  <a:srgbClr val="003B4F"/>
                </a:solidFill>
                <a:latin typeface="Courier"/>
              </a:rPr>
              <a:t>statistic)),</a:t>
            </a:r>
            <a:br/>
            <a:r>
              <a:rPr>
                <a:solidFill>
                  <a:srgbClr val="003B4F"/>
                </a:solidFill>
                <a:latin typeface="Courier"/>
              </a:rPr>
              <a:t>  </a:t>
            </a:r>
            <a:r>
              <a:rPr>
                <a:solidFill>
                  <a:srgbClr val="657422"/>
                </a:solidFill>
                <a:latin typeface="Courier"/>
              </a:rPr>
              <a:t>p_value =</a:t>
            </a:r>
            <a:r>
              <a:rPr>
                <a:solidFill>
                  <a:srgbClr val="003B4F"/>
                </a:solidFill>
                <a:latin typeface="Courier"/>
              </a:rPr>
              <a:t> </a:t>
            </a:r>
            <a:r>
              <a:rPr>
                <a:solidFill>
                  <a:srgbClr val="4758AB"/>
                </a:solidFill>
                <a:latin typeface="Courier"/>
              </a:rPr>
              <a:t>c</a:t>
            </a:r>
            <a:r>
              <a:rPr>
                <a:solidFill>
                  <a:srgbClr val="003B4F"/>
                </a:solidFill>
                <a:latin typeface="Courier"/>
              </a:rPr>
              <a:t>(t_test_result</a:t>
            </a:r>
            <a:r>
              <a:rPr>
                <a:solidFill>
                  <a:srgbClr val="5E5E5E"/>
                </a:solidFill>
                <a:latin typeface="Courier"/>
              </a:rPr>
              <a:t>$</a:t>
            </a:r>
            <a:r>
              <a:rPr>
                <a:solidFill>
                  <a:srgbClr val="003B4F"/>
                </a:solidFill>
                <a:latin typeface="Courier"/>
              </a:rPr>
              <a:t>p.value,</a:t>
            </a:r>
            <a:br/>
            <a:r>
              <a:rPr>
                <a:solidFill>
                  <a:srgbClr val="003B4F"/>
                </a:solidFill>
                <a:latin typeface="Courier"/>
              </a:rPr>
              <a:t>             log_t_test_result</a:t>
            </a:r>
            <a:r>
              <a:rPr>
                <a:solidFill>
                  <a:srgbClr val="5E5E5E"/>
                </a:solidFill>
                <a:latin typeface="Courier"/>
              </a:rPr>
              <a:t>$</a:t>
            </a:r>
            <a:r>
              <a:rPr>
                <a:solidFill>
                  <a:srgbClr val="003B4F"/>
                </a:solidFill>
                <a:latin typeface="Courier"/>
              </a:rPr>
              <a:t>p.value,</a:t>
            </a:r>
            <a:br/>
            <a:r>
              <a:rPr>
                <a:solidFill>
                  <a:srgbClr val="003B4F"/>
                </a:solidFill>
                <a:latin typeface="Courier"/>
              </a:rPr>
              <a:t>             welch_test_result</a:t>
            </a:r>
            <a:r>
              <a:rPr>
                <a:solidFill>
                  <a:srgbClr val="5E5E5E"/>
                </a:solidFill>
                <a:latin typeface="Courier"/>
              </a:rPr>
              <a:t>$</a:t>
            </a:r>
            <a:r>
              <a:rPr>
                <a:solidFill>
                  <a:srgbClr val="003B4F"/>
                </a:solidFill>
                <a:latin typeface="Courier"/>
              </a:rPr>
              <a:t>p.value,</a:t>
            </a:r>
            <a:br/>
            <a:r>
              <a:rPr>
                <a:solidFill>
                  <a:srgbClr val="003B4F"/>
                </a:solidFill>
                <a:latin typeface="Courier"/>
              </a:rPr>
              <a:t>             wilcox_test_result</a:t>
            </a:r>
            <a:r>
              <a:rPr>
                <a:solidFill>
                  <a:srgbClr val="5E5E5E"/>
                </a:solidFill>
                <a:latin typeface="Courier"/>
              </a:rPr>
              <a:t>$</a:t>
            </a:r>
            <a:r>
              <a:rPr>
                <a:solidFill>
                  <a:srgbClr val="003B4F"/>
                </a:solidFill>
                <a:latin typeface="Courier"/>
              </a:rPr>
              <a:t>p.value),</a:t>
            </a:r>
            <a:br/>
            <a:r>
              <a:rPr>
                <a:solidFill>
                  <a:srgbClr val="003B4F"/>
                </a:solidFill>
                <a:latin typeface="Courier"/>
              </a:rPr>
              <a:t>  </a:t>
            </a:r>
            <a:r>
              <a:rPr>
                <a:solidFill>
                  <a:srgbClr val="657422"/>
                </a:solidFill>
                <a:latin typeface="Courier"/>
              </a:rPr>
              <a:t>Significant =</a:t>
            </a:r>
            <a:r>
              <a:rPr>
                <a:solidFill>
                  <a:srgbClr val="003B4F"/>
                </a:solidFill>
                <a:latin typeface="Courier"/>
              </a:rPr>
              <a:t> </a:t>
            </a:r>
            <a:r>
              <a:rPr>
                <a:solidFill>
                  <a:srgbClr val="4758AB"/>
                </a:solidFill>
                <a:latin typeface="Courier"/>
              </a:rPr>
              <a:t>c</a:t>
            </a:r>
            <a:r>
              <a:rPr>
                <a:solidFill>
                  <a:srgbClr val="003B4F"/>
                </a:solidFill>
                <a:latin typeface="Courier"/>
              </a:rPr>
              <a:t>(t_test_result</a:t>
            </a:r>
            <a:r>
              <a:rPr>
                <a:solidFill>
                  <a:srgbClr val="5E5E5E"/>
                </a:solidFill>
                <a:latin typeface="Courier"/>
              </a:rPr>
              <a:t>$</a:t>
            </a:r>
            <a:r>
              <a:rPr>
                <a:solidFill>
                  <a:srgbClr val="003B4F"/>
                </a:solidFill>
                <a:latin typeface="Courier"/>
              </a:rPr>
              <a:t>p.value </a:t>
            </a:r>
            <a:r>
              <a:rPr>
                <a:solidFill>
                  <a:srgbClr val="5E5E5E"/>
                </a:solidFill>
                <a:latin typeface="Courier"/>
              </a:rPr>
              <a:t>&lt;</a:t>
            </a:r>
            <a:r>
              <a:rPr>
                <a:solidFill>
                  <a:srgbClr val="003B4F"/>
                </a:solidFill>
                <a:latin typeface="Courier"/>
              </a:rPr>
              <a:t> </a:t>
            </a:r>
            <a:r>
              <a:rPr>
                <a:solidFill>
                  <a:srgbClr val="AD0000"/>
                </a:solidFill>
                <a:latin typeface="Courier"/>
              </a:rPr>
              <a:t>0.05</a:t>
            </a:r>
            <a:r>
              <a:rPr>
                <a:solidFill>
                  <a:srgbClr val="003B4F"/>
                </a:solidFill>
                <a:latin typeface="Courier"/>
              </a:rPr>
              <a:t>,</a:t>
            </a:r>
            <a:br/>
            <a:r>
              <a:rPr>
                <a:solidFill>
                  <a:srgbClr val="003B4F"/>
                </a:solidFill>
                <a:latin typeface="Courier"/>
              </a:rPr>
              <a:t>                 log_t_test_result</a:t>
            </a:r>
            <a:r>
              <a:rPr>
                <a:solidFill>
                  <a:srgbClr val="5E5E5E"/>
                </a:solidFill>
                <a:latin typeface="Courier"/>
              </a:rPr>
              <a:t>$</a:t>
            </a:r>
            <a:r>
              <a:rPr>
                <a:solidFill>
                  <a:srgbClr val="003B4F"/>
                </a:solidFill>
                <a:latin typeface="Courier"/>
              </a:rPr>
              <a:t>p.value </a:t>
            </a:r>
            <a:r>
              <a:rPr>
                <a:solidFill>
                  <a:srgbClr val="5E5E5E"/>
                </a:solidFill>
                <a:latin typeface="Courier"/>
              </a:rPr>
              <a:t>&lt;</a:t>
            </a:r>
            <a:r>
              <a:rPr>
                <a:solidFill>
                  <a:srgbClr val="003B4F"/>
                </a:solidFill>
                <a:latin typeface="Courier"/>
              </a:rPr>
              <a:t> </a:t>
            </a:r>
            <a:r>
              <a:rPr>
                <a:solidFill>
                  <a:srgbClr val="AD0000"/>
                </a:solidFill>
                <a:latin typeface="Courier"/>
              </a:rPr>
              <a:t>0.05</a:t>
            </a:r>
            <a:r>
              <a:rPr>
                <a:solidFill>
                  <a:srgbClr val="003B4F"/>
                </a:solidFill>
                <a:latin typeface="Courier"/>
              </a:rPr>
              <a:t>,</a:t>
            </a:r>
            <a:br/>
            <a:r>
              <a:rPr>
                <a:solidFill>
                  <a:srgbClr val="003B4F"/>
                </a:solidFill>
                <a:latin typeface="Courier"/>
              </a:rPr>
              <a:t>                 welch_test_result</a:t>
            </a:r>
            <a:r>
              <a:rPr>
                <a:solidFill>
                  <a:srgbClr val="5E5E5E"/>
                </a:solidFill>
                <a:latin typeface="Courier"/>
              </a:rPr>
              <a:t>$</a:t>
            </a:r>
            <a:r>
              <a:rPr>
                <a:solidFill>
                  <a:srgbClr val="003B4F"/>
                </a:solidFill>
                <a:latin typeface="Courier"/>
              </a:rPr>
              <a:t>p.value </a:t>
            </a:r>
            <a:r>
              <a:rPr>
                <a:solidFill>
                  <a:srgbClr val="5E5E5E"/>
                </a:solidFill>
                <a:latin typeface="Courier"/>
              </a:rPr>
              <a:t>&lt;</a:t>
            </a:r>
            <a:r>
              <a:rPr>
                <a:solidFill>
                  <a:srgbClr val="003B4F"/>
                </a:solidFill>
                <a:latin typeface="Courier"/>
              </a:rPr>
              <a:t> </a:t>
            </a:r>
            <a:r>
              <a:rPr>
                <a:solidFill>
                  <a:srgbClr val="AD0000"/>
                </a:solidFill>
                <a:latin typeface="Courier"/>
              </a:rPr>
              <a:t>0.05</a:t>
            </a:r>
            <a:r>
              <a:rPr>
                <a:solidFill>
                  <a:srgbClr val="003B4F"/>
                </a:solidFill>
                <a:latin typeface="Courier"/>
              </a:rPr>
              <a:t>,</a:t>
            </a:r>
            <a:br/>
            <a:r>
              <a:rPr>
                <a:solidFill>
                  <a:srgbClr val="003B4F"/>
                </a:solidFill>
                <a:latin typeface="Courier"/>
              </a:rPr>
              <a:t>                 wilcox_test_result</a:t>
            </a:r>
            <a:r>
              <a:rPr>
                <a:solidFill>
                  <a:srgbClr val="5E5E5E"/>
                </a:solidFill>
                <a:latin typeface="Courier"/>
              </a:rPr>
              <a:t>$</a:t>
            </a:r>
            <a:r>
              <a:rPr>
                <a:solidFill>
                  <a:srgbClr val="003B4F"/>
                </a:solidFill>
                <a:latin typeface="Courier"/>
              </a:rPr>
              <a:t>p.value </a:t>
            </a:r>
            <a:r>
              <a:rPr>
                <a:solidFill>
                  <a:srgbClr val="5E5E5E"/>
                </a:solidFill>
                <a:latin typeface="Courier"/>
              </a:rPr>
              <a:t>&lt;</a:t>
            </a:r>
            <a:r>
              <a:rPr>
                <a:solidFill>
                  <a:srgbClr val="003B4F"/>
                </a:solidFill>
                <a:latin typeface="Courier"/>
              </a:rPr>
              <a:t> </a:t>
            </a:r>
            <a:r>
              <a:rPr>
                <a:solidFill>
                  <a:srgbClr val="AD0000"/>
                </a:solidFill>
                <a:latin typeface="Courier"/>
              </a:rPr>
              <a:t>0.05</a:t>
            </a:r>
            <a:r>
              <a:rPr>
                <a:solidFill>
                  <a:srgbClr val="003B4F"/>
                </a:solidFill>
                <a:latin typeface="Courier"/>
              </a:rPr>
              <a:t>)</a:t>
            </a:r>
            <a:br/>
            <a:r>
              <a:rPr>
                <a:solidFill>
                  <a:srgbClr val="003B4F"/>
                </a:solidFill>
                <a:latin typeface="Courier"/>
              </a:rPr>
              <a:t>)</a:t>
            </a:r>
            <a:br/>
            <a:r>
              <a:rPr>
                <a:solidFill>
                  <a:srgbClr val="003B4F"/>
                </a:solidFill>
                <a:latin typeface="Courier"/>
              </a:rPr>
              <a:t>test_results</a:t>
            </a:r>
          </a:p>
          <a:p>
            <a:pPr lvl="0" indent="0" marL="0">
              <a:buNone/>
            </a:pPr>
            <a:r>
              <a:rPr b="1"/>
              <a:t>▶ Run this</a:t>
            </a:r>
            <a:r>
              <a:rPr/>
              <a:t> — visualize the raw comparison:</a:t>
            </a:r>
          </a:p>
          <a:p>
            <a:pPr lvl="0" indent="0">
              <a:buNone/>
            </a:pPr>
            <a:r>
              <a:rPr>
                <a:solidFill>
                  <a:srgbClr val="003B4F"/>
                </a:solidFill>
                <a:latin typeface="Courier"/>
              </a:rPr>
              <a:t>combined_plot &lt;- in_df </a:t>
            </a:r>
            <a:r>
              <a:rPr>
                <a:solidFill>
                  <a:srgbClr val="5E5E5E"/>
                </a:solidFill>
                <a:latin typeface="Courier"/>
              </a:rPr>
              <a:t>%&gt;%</a:t>
            </a:r>
            <a:br/>
            <a:r>
              <a:rPr>
                <a:solidFill>
                  <a:srgbClr val="003B4F"/>
                </a:solidFill>
                <a:latin typeface="Courier"/>
              </a:rPr>
              <a:t>  </a:t>
            </a:r>
            <a:r>
              <a:rPr>
                <a:solidFill>
                  <a:srgbClr val="4758AB"/>
                </a:solidFill>
                <a:latin typeface="Courier"/>
              </a:rPr>
              <a:t>ggplot</a:t>
            </a:r>
            <a:r>
              <a:rPr>
                <a:solidFill>
                  <a:srgbClr val="003B4F"/>
                </a:solidFill>
                <a:latin typeface="Courier"/>
              </a:rPr>
              <a:t>(</a:t>
            </a:r>
            <a:r>
              <a:rPr>
                <a:solidFill>
                  <a:srgbClr val="4758AB"/>
                </a:solidFill>
                <a:latin typeface="Courier"/>
              </a:rPr>
              <a:t>aes</a:t>
            </a:r>
            <a:r>
              <a:rPr>
                <a:solidFill>
                  <a:srgbClr val="003B4F"/>
                </a:solidFill>
                <a:latin typeface="Courier"/>
              </a:rPr>
              <a:t>(</a:t>
            </a:r>
            <a:r>
              <a:rPr>
                <a:solidFill>
                  <a:srgbClr val="657422"/>
                </a:solidFill>
                <a:latin typeface="Courier"/>
              </a:rPr>
              <a:t>x =</a:t>
            </a:r>
            <a:r>
              <a:rPr>
                <a:solidFill>
                  <a:srgbClr val="003B4F"/>
                </a:solidFill>
                <a:latin typeface="Courier"/>
              </a:rPr>
              <a:t> lake, </a:t>
            </a:r>
            <a:r>
              <a:rPr>
                <a:solidFill>
                  <a:srgbClr val="657422"/>
                </a:solidFill>
                <a:latin typeface="Courier"/>
              </a:rPr>
              <a:t>y =</a:t>
            </a:r>
            <a:r>
              <a:rPr>
                <a:solidFill>
                  <a:srgbClr val="003B4F"/>
                </a:solidFill>
                <a:latin typeface="Courier"/>
              </a:rPr>
              <a:t> mass_g, </a:t>
            </a:r>
            <a:r>
              <a:rPr>
                <a:solidFill>
                  <a:srgbClr val="657422"/>
                </a:solidFill>
                <a:latin typeface="Courier"/>
              </a:rPr>
              <a:t>fill =</a:t>
            </a:r>
            <a:r>
              <a:rPr>
                <a:solidFill>
                  <a:srgbClr val="003B4F"/>
                </a:solidFill>
                <a:latin typeface="Courier"/>
              </a:rPr>
              <a:t> lake)) </a:t>
            </a:r>
            <a:r>
              <a:rPr>
                <a:solidFill>
                  <a:srgbClr val="5E5E5E"/>
                </a:solidFill>
                <a:latin typeface="Courier"/>
              </a:rPr>
              <a:t>+</a:t>
            </a:r>
            <a:br/>
            <a:r>
              <a:rPr>
                <a:solidFill>
                  <a:srgbClr val="003B4F"/>
                </a:solidFill>
                <a:latin typeface="Courier"/>
              </a:rPr>
              <a:t>  </a:t>
            </a:r>
            <a:r>
              <a:rPr>
                <a:solidFill>
                  <a:srgbClr val="4758AB"/>
                </a:solidFill>
                <a:latin typeface="Courier"/>
              </a:rPr>
              <a:t>geom_boxplot</a:t>
            </a:r>
            <a:r>
              <a:rPr>
                <a:solidFill>
                  <a:srgbClr val="003B4F"/>
                </a:solidFill>
                <a:latin typeface="Courier"/>
              </a:rPr>
              <a:t>(</a:t>
            </a:r>
            <a:r>
              <a:rPr>
                <a:solidFill>
                  <a:srgbClr val="657422"/>
                </a:solidFill>
                <a:latin typeface="Courier"/>
              </a:rPr>
              <a:t>alpha =</a:t>
            </a:r>
            <a:r>
              <a:rPr>
                <a:solidFill>
                  <a:srgbClr val="003B4F"/>
                </a:solidFill>
                <a:latin typeface="Courier"/>
              </a:rPr>
              <a:t> </a:t>
            </a:r>
            <a:r>
              <a:rPr>
                <a:solidFill>
                  <a:srgbClr val="AD0000"/>
                </a:solidFill>
                <a:latin typeface="Courier"/>
              </a:rPr>
              <a:t>0.7</a:t>
            </a:r>
            <a:r>
              <a:rPr>
                <a:solidFill>
                  <a:srgbClr val="003B4F"/>
                </a:solidFill>
                <a:latin typeface="Courier"/>
              </a:rPr>
              <a:t>, </a:t>
            </a:r>
            <a:r>
              <a:rPr>
                <a:solidFill>
                  <a:srgbClr val="657422"/>
                </a:solidFill>
                <a:latin typeface="Courier"/>
              </a:rPr>
              <a:t>outlier.shape =</a:t>
            </a:r>
            <a:r>
              <a:rPr>
                <a:solidFill>
                  <a:srgbClr val="003B4F"/>
                </a:solidFill>
                <a:latin typeface="Courier"/>
              </a:rPr>
              <a:t> </a:t>
            </a:r>
            <a:r>
              <a:rPr>
                <a:solidFill>
                  <a:srgbClr val="8F5902"/>
                </a:solidFill>
                <a:latin typeface="Courier"/>
              </a:rPr>
              <a:t>NA</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geom_jitter</a:t>
            </a:r>
            <a:r>
              <a:rPr>
                <a:solidFill>
                  <a:srgbClr val="003B4F"/>
                </a:solidFill>
                <a:latin typeface="Courier"/>
              </a:rPr>
              <a:t>(</a:t>
            </a:r>
            <a:r>
              <a:rPr>
                <a:solidFill>
                  <a:srgbClr val="657422"/>
                </a:solidFill>
                <a:latin typeface="Courier"/>
              </a:rPr>
              <a:t>width =</a:t>
            </a:r>
            <a:r>
              <a:rPr>
                <a:solidFill>
                  <a:srgbClr val="003B4F"/>
                </a:solidFill>
                <a:latin typeface="Courier"/>
              </a:rPr>
              <a:t> </a:t>
            </a:r>
            <a:r>
              <a:rPr>
                <a:solidFill>
                  <a:srgbClr val="AD0000"/>
                </a:solidFill>
                <a:latin typeface="Courier"/>
              </a:rPr>
              <a:t>0.2</a:t>
            </a:r>
            <a:r>
              <a:rPr>
                <a:solidFill>
                  <a:srgbClr val="003B4F"/>
                </a:solidFill>
                <a:latin typeface="Courier"/>
              </a:rPr>
              <a:t>, </a:t>
            </a:r>
            <a:r>
              <a:rPr>
                <a:solidFill>
                  <a:srgbClr val="657422"/>
                </a:solidFill>
                <a:latin typeface="Courier"/>
              </a:rPr>
              <a:t>alpha =</a:t>
            </a:r>
            <a:r>
              <a:rPr>
                <a:solidFill>
                  <a:srgbClr val="003B4F"/>
                </a:solidFill>
                <a:latin typeface="Courier"/>
              </a:rPr>
              <a:t> </a:t>
            </a:r>
            <a:r>
              <a:rPr>
                <a:solidFill>
                  <a:srgbClr val="AD0000"/>
                </a:solidFill>
                <a:latin typeface="Courier"/>
              </a:rPr>
              <a:t>0.5</a:t>
            </a:r>
            <a:r>
              <a:rPr>
                <a:solidFill>
                  <a:srgbClr val="003B4F"/>
                </a:solidFill>
                <a:latin typeface="Courier"/>
              </a:rPr>
              <a:t>, </a:t>
            </a:r>
            <a:r>
              <a:rPr>
                <a:solidFill>
                  <a:srgbClr val="657422"/>
                </a:solidFill>
                <a:latin typeface="Courier"/>
              </a:rPr>
              <a:t>size =</a:t>
            </a:r>
            <a:r>
              <a:rPr>
                <a:solidFill>
                  <a:srgbClr val="003B4F"/>
                </a:solidFill>
                <a:latin typeface="Courier"/>
              </a:rPr>
              <a:t> </a:t>
            </a:r>
            <a:r>
              <a:rPr>
                <a:solidFill>
                  <a:srgbClr val="AD0000"/>
                </a:solidFill>
                <a:latin typeface="Courier"/>
              </a:rPr>
              <a:t>2</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labs</a:t>
            </a:r>
            <a:r>
              <a:rPr>
                <a:solidFill>
                  <a:srgbClr val="003B4F"/>
                </a:solidFill>
                <a:latin typeface="Courier"/>
              </a:rPr>
              <a:t>(</a:t>
            </a:r>
            <a:r>
              <a:rPr>
                <a:solidFill>
                  <a:srgbClr val="657422"/>
                </a:solidFill>
                <a:latin typeface="Courier"/>
              </a:rPr>
              <a:t>x =</a:t>
            </a:r>
            <a:r>
              <a:rPr>
                <a:solidFill>
                  <a:srgbClr val="003B4F"/>
                </a:solidFill>
                <a:latin typeface="Courier"/>
              </a:rPr>
              <a:t> </a:t>
            </a:r>
            <a:r>
              <a:rPr>
                <a:solidFill>
                  <a:srgbClr val="20794D"/>
                </a:solidFill>
                <a:latin typeface="Courier"/>
              </a:rPr>
              <a:t>"Lake"</a:t>
            </a:r>
            <a:r>
              <a:rPr>
                <a:solidFill>
                  <a:srgbClr val="003B4F"/>
                </a:solidFill>
                <a:latin typeface="Courier"/>
              </a:rPr>
              <a:t>, </a:t>
            </a:r>
            <a:r>
              <a:rPr>
                <a:solidFill>
                  <a:srgbClr val="657422"/>
                </a:solidFill>
                <a:latin typeface="Courier"/>
              </a:rPr>
              <a:t>y =</a:t>
            </a:r>
            <a:r>
              <a:rPr>
                <a:solidFill>
                  <a:srgbClr val="003B4F"/>
                </a:solidFill>
                <a:latin typeface="Courier"/>
              </a:rPr>
              <a:t> </a:t>
            </a:r>
            <a:r>
              <a:rPr>
                <a:solidFill>
                  <a:srgbClr val="20794D"/>
                </a:solidFill>
                <a:latin typeface="Courier"/>
              </a:rPr>
              <a:t>"Mass (g)"</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theme_minimal</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theme</a:t>
            </a:r>
            <a:r>
              <a:rPr>
                <a:solidFill>
                  <a:srgbClr val="003B4F"/>
                </a:solidFill>
                <a:latin typeface="Courier"/>
              </a:rPr>
              <a:t>(</a:t>
            </a:r>
            <a:r>
              <a:rPr>
                <a:solidFill>
                  <a:srgbClr val="657422"/>
                </a:solidFill>
                <a:latin typeface="Courier"/>
              </a:rPr>
              <a:t>legend.position =</a:t>
            </a:r>
            <a:r>
              <a:rPr>
                <a:solidFill>
                  <a:srgbClr val="003B4F"/>
                </a:solidFill>
                <a:latin typeface="Courier"/>
              </a:rPr>
              <a:t> </a:t>
            </a:r>
            <a:r>
              <a:rPr>
                <a:solidFill>
                  <a:srgbClr val="20794D"/>
                </a:solidFill>
                <a:latin typeface="Courier"/>
              </a:rPr>
              <a:t>"none"</a:t>
            </a:r>
            <a:r>
              <a:rPr>
                <a:solidFill>
                  <a:srgbClr val="003B4F"/>
                </a:solidFill>
                <a:latin typeface="Courier"/>
              </a:rPr>
              <a:t>)</a:t>
            </a:r>
            <a:br/>
            <a:r>
              <a:rPr>
                <a:solidFill>
                  <a:srgbClr val="003B4F"/>
                </a:solidFill>
                <a:latin typeface="Courier"/>
              </a:rPr>
              <a:t>combined_plot</a:t>
            </a:r>
          </a:p>
          <a:p>
            <a:pPr lvl="0" indent="0" marL="0">
              <a:buNone/>
            </a:pPr>
            <a:r>
              <a:rPr/>
              <a:t>✏️ </a:t>
            </a:r>
            <a:r>
              <a:rPr b="1"/>
              <a:t>Your turn:</a:t>
            </a:r>
            <a:r>
              <a:rPr/>
              <a:t> Do all four tests agree on whether the difference is significant? If any disagree, what does that tell you about how sensitive the conclusion is to test choice? </a:t>
            </a:r>
            <a:r>
              <a:rPr>
                <a:latin typeface="Courier"/>
              </a:rPr>
              <a:t>________________________</a:t>
            </a:r>
          </a:p>
          <a:p>
            <a:pPr lvl="0" indent="0" marL="0">
              <a:buNone/>
            </a:pPr>
            <a:r>
              <a:rPr/>
              <a:t>When reporting results, include:</a:t>
            </a:r>
          </a:p>
          <a:p>
            <a:pPr lvl="0"/>
            <a:r>
              <a:rPr b="1"/>
              <a:t>Standard t-test:</a:t>
            </a:r>
            <a:r>
              <a:rPr/>
              <a:t> “Lake trout from NE 12 had significantly different mass (M = [mean], SD = [SD]) compared to Island Lake (M = [mean], SD = [SD]), t([df]) = [t-value], p = [p-value].”</a:t>
            </a:r>
          </a:p>
          <a:p>
            <a:pPr lvl="0"/>
            <a:r>
              <a:rPr b="1"/>
              <a:t>Log-transformed t-test:</a:t>
            </a:r>
            <a:r>
              <a:rPr/>
              <a:t> “After log transformation to meet normality assumptions, lake trout from NE 12 had significantly different mass (geometric mean = [value], 95% CI [lower–upper]) compared to Island Lake (geometric mean = [value], 95% CI [lower–upper]), t([df]) = [t-value], p = [p-value].”</a:t>
            </a:r>
          </a:p>
          <a:p>
            <a:pPr lvl="0"/>
            <a:r>
              <a:rPr b="1"/>
              <a:t>Welch’s t-test:</a:t>
            </a:r>
            <a:r>
              <a:rPr/>
              <a:t> “Assuming unequal variances, lake trout from NE 12 had significantly different mass (M = [mean], SD = [SD]) compared to Island Lake (M = [mean], SD = [SD]), Welch’s t([df]) = [t-value], p = [p-value].”</a:t>
            </a:r>
          </a:p>
          <a:p>
            <a:pPr lvl="0"/>
            <a:r>
              <a:rPr b="1"/>
              <a:t>Mann-Whitney Wilcoxon test:</a:t>
            </a:r>
            <a:r>
              <a:rPr/>
              <a:t> “Lake trout mass differed significantly between NE 12 (Mdn = [median]) and Island Lake (Mdn = [median]), W = [W-value], p = [p-value].”</a:t>
            </a:r>
          </a:p>
          <a:p>
            <a:pPr lvl="0"/>
            <a:r>
              <a:rPr b="1"/>
              <a:t>Permutation test:</a:t>
            </a:r>
            <a:r>
              <a:rPr/>
              <a:t> “Permutation testing (10,000 iterations) revealed significant differences in lake trout mass between NE 12 and Island Lake, p = [p-value].”</a:t>
            </a:r>
          </a:p>
          <a:p>
            <a:pPr lvl="0" indent="0" marL="0">
              <a:buNone/>
            </a:pPr>
            <a:r>
              <a:rPr/>
              <a:t>✏️ </a:t>
            </a:r>
            <a:r>
              <a:rPr b="1"/>
              <a:t>Your turn:</a:t>
            </a:r>
            <a:r>
              <a:rPr/>
              <a:t> Write the standard t-test and Mann-Whitney reporting sentences using your own numbers from Parts 5–6.</a:t>
            </a:r>
          </a:p>
          <a:p>
            <a:pPr lvl="0" indent="0">
              <a:buNone/>
            </a:pPr>
            <a:r>
              <a:rPr>
                <a:latin typeface="Courier"/>
              </a:rPr>
              <a:t>________________________________________________________
________________________________________________________</a:t>
            </a:r>
          </a:p>
          <a:p>
            <a:pPr lvl="0" indent="0" marL="1270000">
              <a:buNone/>
            </a:pPr>
            <a:r>
              <a:rPr sz="2000" b="1"/>
              <a:t>Tip</a:t>
            </a:r>
          </a:p>
          <a:p>
            <a:pPr lvl="0" indent="0" marL="1270000">
              <a:buNone/>
            </a:pPr>
            <a:r>
              <a:rPr sz="2000" b="1"/>
              <a:t>🚀 If you finish early:</a:t>
            </a:r>
            <a:r>
              <a:rPr sz="2000"/>
              <a:t> Add the permutation test’s p-value as a fifth row to </a:t>
            </a:r>
            <a:r>
              <a:rPr sz="2000">
                <a:latin typeface="Courier"/>
              </a:rPr>
              <a:t>test_results</a:t>
            </a:r>
            <a:r>
              <a:rPr sz="2000"/>
              <a:t>. (Hint: </a:t>
            </a:r>
            <a:r>
              <a:rPr sz="2000">
                <a:latin typeface="Courier"/>
              </a:rPr>
              <a:t>perm_test_result$p.value</a:t>
            </a:r>
            <a:r>
              <a:rPr sz="2000"/>
              <a:t>.)</a:t>
            </a:r>
          </a:p>
          <a:p>
            <a:pPr lvl="0" indent="0">
              <a:buNone/>
            </a:pPr>
            <a:r>
              <a:rPr>
                <a:solidFill>
                  <a:srgbClr val="5E5E5E"/>
                </a:solidFill>
                <a:latin typeface="Courier"/>
              </a:rPr>
              <a:t># Write your code here:</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Conclusion</a:t>
            </a:r>
          </a:p>
        </p:txBody>
      </p:sp>
      <p:sp>
        <p:nvSpPr>
          <p:cNvPr id="3" name="Content Placeholder 2"/>
          <p:cNvSpPr>
            <a:spLocks noGrp="1"/>
          </p:cNvSpPr>
          <p:nvPr>
            <p:ph idx="1"/>
          </p:nvPr>
        </p:nvSpPr>
        <p:spPr/>
        <p:txBody>
          <a:bodyPr/>
          <a:lstStyle/>
          <a:p>
            <a:pPr lvl="0" indent="0" marL="0">
              <a:buNone/>
            </a:pPr>
            <a:r>
              <a:rPr/>
              <a:t>This analysis demonstrates several approaches to comparing mass between lake trout populations. The choice of statistical test depends on whether your data meets the assumptions of parametric tests. When assumptions are violated:</a:t>
            </a:r>
          </a:p>
          <a:p>
            <a:pPr lvl="0" indent="-342900" marL="342900">
              <a:buAutoNum type="arabicPeriod"/>
            </a:pPr>
            <a:r>
              <a:rPr/>
              <a:t>Try transforming the data (e.g., log transformation)</a:t>
            </a:r>
          </a:p>
          <a:p>
            <a:pPr lvl="0" indent="-342900" marL="342900">
              <a:buAutoNum type="arabicPeriod"/>
            </a:pPr>
            <a:r>
              <a:rPr/>
              <a:t>Use Welch’s t-test if variances are unequal</a:t>
            </a:r>
          </a:p>
          <a:p>
            <a:pPr lvl="0" indent="-342900" marL="342900">
              <a:buAutoNum type="arabicPeriod"/>
            </a:pPr>
            <a:r>
              <a:rPr/>
              <a:t>Use non-parametric tests (Mann-Whitney or permutation tests) if data remains non-normal</a:t>
            </a:r>
          </a:p>
          <a:p>
            <a:pPr lvl="0" indent="0" marL="0">
              <a:buNone/>
            </a:pPr>
            <a:r>
              <a:rPr/>
              <a:t>All methods have strengths and limitations, and consistency of results across methods can strengthen your conclusions.</a:t>
            </a:r>
          </a:p>
          <a:p>
            <a:pPr lvl="0" indent="0" marL="1270000">
              <a:buNone/>
            </a:pPr>
            <a:r>
              <a:rPr sz="2000" b="1"/>
              <a:t>Note</a:t>
            </a:r>
          </a:p>
          <a:p>
            <a:pPr lvl="0" indent="0" marL="1270000">
              <a:buNone/>
            </a:pPr>
            <a:r>
              <a:rPr sz="2000" b="1"/>
              <a:t>When to use each test</a:t>
            </a:r>
          </a:p>
          <a:p>
            <a:pPr lvl="0"/>
            <a:r>
              <a:rPr sz="2000" b="1"/>
              <a:t>Standard t-test:</a:t>
            </a:r>
            <a:r>
              <a:rPr sz="2000"/>
              <a:t> data is normally distributed with equal variances</a:t>
            </a:r>
          </a:p>
          <a:p>
            <a:pPr lvl="0"/>
            <a:r>
              <a:rPr sz="2000" b="1"/>
              <a:t>Log-transformed t-test:</a:t>
            </a:r>
            <a:r>
              <a:rPr sz="2000"/>
              <a:t> raw data is skewed but log-transformation achieves normality</a:t>
            </a:r>
          </a:p>
          <a:p>
            <a:pPr lvl="0"/>
            <a:r>
              <a:rPr sz="2000" b="1"/>
              <a:t>Welch’s t-test:</a:t>
            </a:r>
            <a:r>
              <a:rPr sz="2000"/>
              <a:t> variances are unequal</a:t>
            </a:r>
          </a:p>
          <a:p>
            <a:pPr lvl="0"/>
            <a:r>
              <a:rPr sz="2000" b="1"/>
              <a:t>Mann-Whitney Wilcoxon test:</a:t>
            </a:r>
            <a:r>
              <a:rPr sz="2000"/>
              <a:t> data is not normal and cannot be transformed to normality</a:t>
            </a:r>
          </a:p>
          <a:p>
            <a:pPr lvl="0"/>
            <a:r>
              <a:rPr sz="2000" b="1"/>
              <a:t>Permutation test:</a:t>
            </a:r>
            <a:r>
              <a:rPr sz="2000"/>
              <a:t> sample sizes are small, or assumptions cannot be met</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Review and checkpoint</a:t>
            </a:r>
          </a:p>
        </p:txBody>
      </p:sp>
      <p:sp>
        <p:nvSpPr>
          <p:cNvPr id="3" name="Content Placeholder 2"/>
          <p:cNvSpPr>
            <a:spLocks noGrp="1"/>
          </p:cNvSpPr>
          <p:nvPr>
            <p:ph idx="1"/>
          </p:nvPr>
        </p:nvSpPr>
        <p:spPr/>
        <p:txBody>
          <a:bodyPr/>
          <a:lstStyle/>
          <a:p>
            <a:pPr lvl="0" indent="0" marL="0">
              <a:buNone/>
            </a:pPr>
            <a:r>
              <a:rPr/>
              <a:t>At this point you can:</a:t>
            </a:r>
          </a:p>
          <a:p>
            <a:pPr lvl="0"/>
            <a:r>
              <a:rPr/>
              <a:t>☐ Test normality with histograms, QQ plots, and the Shapiro-Wilk test</a:t>
            </a:r>
          </a:p>
          <a:p>
            <a:pPr lvl="0"/>
            <a:r>
              <a:rPr/>
              <a:t>☐ Test equal variance with Levene’s test</a:t>
            </a:r>
          </a:p>
          <a:p>
            <a:pPr lvl="0"/>
            <a:r>
              <a:rPr/>
              <a:t>☐ Apply and evaluate a log transformation, including back-transforming to a geometric mean</a:t>
            </a:r>
          </a:p>
          <a:p>
            <a:pPr lvl="0"/>
            <a:r>
              <a:rPr/>
              <a:t>☐ Run and interpret a standard t-test, Welch’s t-test, Mann-Whitney Wilcoxon test, and permutation test</a:t>
            </a:r>
          </a:p>
          <a:p>
            <a:pPr lvl="0"/>
            <a:r>
              <a:rPr/>
              <a:t>☐ Compare results across test types and explain when to reach for each one</a:t>
            </a:r>
          </a:p>
          <a:p>
            <a:pPr lvl="0" indent="0" marL="1270000">
              <a:buNone/>
            </a:pPr>
            <a:r>
              <a:rPr sz="2000" b="1"/>
              <a:t>Note</a:t>
            </a:r>
          </a:p>
          <a:p>
            <a:pPr lvl="0" indent="0" marL="1270000">
              <a:buNone/>
            </a:pPr>
            <a:r>
              <a:rPr sz="2000" b="1"/>
              <a:t>📤 What to turn in before next class</a:t>
            </a:r>
          </a:p>
          <a:p>
            <a:pPr lvl="0" indent="0" marL="1270000">
              <a:buNone/>
            </a:pPr>
            <a:r>
              <a:rPr sz="2000"/>
              <a:t>Upload both of these to the course management system:</a:t>
            </a:r>
          </a:p>
          <a:p>
            <a:pPr lvl="0" indent="-342900" marL="342900">
              <a:buAutoNum type="arabicPeriod"/>
            </a:pPr>
            <a:r>
              <a:rPr sz="2000"/>
              <a:t>Your code — the </a:t>
            </a:r>
            <a:r>
              <a:rPr sz="2000">
                <a:latin typeface="Courier"/>
              </a:rPr>
              <a:t>scripts/</a:t>
            </a:r>
            <a:r>
              <a:rPr sz="2000"/>
              <a:t> folder (or just </a:t>
            </a:r>
            <a:r>
              <a:rPr sz="2000">
                <a:latin typeface="Courier"/>
              </a:rPr>
              <a:t>08_nonparametric_t_tests.R</a:t>
            </a:r>
            <a:r>
              <a:rPr sz="2000"/>
              <a:t>)</a:t>
            </a:r>
          </a:p>
          <a:p>
            <a:pPr lvl="0" indent="-342900" marL="342900">
              <a:buAutoNum type="arabicPeriod"/>
            </a:pPr>
            <a:r>
              <a:rPr sz="2000"/>
              <a:t>This worksheet, with your written answers</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Getting unstuck</a:t>
            </a:r>
          </a:p>
        </p:txBody>
      </p:sp>
      <p:sp>
        <p:nvSpPr>
          <p:cNvPr id="3" name="Content Placeholder 2"/>
          <p:cNvSpPr>
            <a:spLocks noGrp="1"/>
          </p:cNvSpPr>
          <p:nvPr>
            <p:ph idx="1"/>
          </p:nvPr>
        </p:nvSpPr>
        <p:spPr/>
        <p:txBody>
          <a:bodyPr/>
          <a:lstStyle/>
          <a:p>
            <a:pPr lvl="0" indent="0" marL="0">
              <a:buNone/>
            </a:pPr>
            <a:r>
              <a:rPr/>
              <a:t>When code breaks — and it will, that is normal:</a:t>
            </a:r>
          </a:p>
          <a:p>
            <a:pPr lvl="0" indent="-342900" marL="342900">
              <a:buAutoNum type="arabicPeriod"/>
            </a:pPr>
            <a:r>
              <a:rPr b="1"/>
              <a:t>Read the error message out loud.</a:t>
            </a:r>
            <a:r>
              <a:rPr/>
              <a:t> R usually names the line and the problem.</a:t>
            </a:r>
          </a:p>
          <a:p>
            <a:pPr lvl="0" indent="-342900" marL="342900">
              <a:buAutoNum type="arabicPeriod"/>
            </a:pPr>
            <a:r>
              <a:rPr b="1"/>
              <a:t>Check the usual suspects:</a:t>
            </a:r>
            <a:r>
              <a:rPr/>
              <a:t> did you run </a:t>
            </a:r>
            <a:r>
              <a:rPr>
                <a:latin typeface="Courier"/>
              </a:rPr>
              <a:t>library(tidyverse)</a:t>
            </a:r>
            <a:r>
              <a:rPr/>
              <a:t>, </a:t>
            </a:r>
            <a:r>
              <a:rPr>
                <a:latin typeface="Courier"/>
              </a:rPr>
              <a:t>library(car)</a:t>
            </a:r>
            <a:r>
              <a:rPr/>
              <a:t>, </a:t>
            </a:r>
            <a:r>
              <a:rPr>
                <a:latin typeface="Courier"/>
              </a:rPr>
              <a:t>library(patchwork)</a:t>
            </a:r>
            <a:r>
              <a:rPr/>
              <a:t>, and </a:t>
            </a:r>
            <a:r>
              <a:rPr>
                <a:latin typeface="Courier"/>
              </a:rPr>
              <a:t>library(perm)</a:t>
            </a:r>
            <a:r>
              <a:rPr/>
              <a:t>? Spelling? A missing </a:t>
            </a:r>
            <a:r>
              <a:rPr>
                <a:latin typeface="Courier"/>
              </a:rPr>
              <a:t>)</a:t>
            </a:r>
            <a:r>
              <a:rPr/>
              <a:t> or </a:t>
            </a:r>
            <a:r>
              <a:rPr>
                <a:latin typeface="Courier"/>
              </a:rPr>
              <a:t>%&gt;%</a:t>
            </a:r>
            <a:r>
              <a:rPr/>
              <a:t> at the </a:t>
            </a:r>
            <a:r>
              <a:rPr i="1"/>
              <a:t>start</a:t>
            </a:r>
            <a:r>
              <a:rPr/>
              <a:t> of a line?</a:t>
            </a:r>
          </a:p>
          <a:p>
            <a:pPr lvl="0" indent="-342900" marL="342900">
              <a:buAutoNum type="arabicPeriod"/>
            </a:pPr>
            <a:r>
              <a:rPr>
                <a:latin typeface="Courier"/>
              </a:rPr>
              <a:t>?function_name</a:t>
            </a:r>
            <a:r>
              <a:rPr/>
              <a:t> opens the built-in help page.</a:t>
            </a:r>
          </a:p>
          <a:p>
            <a:pPr lvl="0" indent="-342900" marL="342900">
              <a:buAutoNum type="arabicPeriod"/>
            </a:pPr>
            <a:r>
              <a:rPr b="1"/>
              <a:t>Bring the exact error</a:t>
            </a:r>
            <a:r>
              <a:rPr/>
              <a:t> (copy-paste it) to class or office hours.</a:t>
            </a:r>
          </a:p>
          <a:p>
            <a:pPr lvl="0" indent="0" marL="1270000">
              <a:buNone/>
            </a:pPr>
            <a:r>
              <a:rPr sz="2000"/>
              <a:t>💡 </a:t>
            </a:r>
            <a:r>
              <a:rPr sz="2000" b="1"/>
              <a:t>Key idea:</a:t>
            </a:r>
            <a:r>
              <a:rPr sz="2000"/>
              <a:t> Every working scientist googles error messages daily. Getting stuck is not failing — it is the job.</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46</Words>
  <Application>Microsoft Macintosh PowerPoint</Application>
  <PresentationFormat>On-screen Show (16:9)</PresentationFormat>
  <Paragraphs>14</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Activity: Non-Parametric T-Tests</dc:title>
  <dc:creator>Bill Perry</dc:creator>
  <cp:keywords/>
  <dc:description>Hands-on activity: testing assumptions, data transformations, Welch’s t-test, Mann-Whitney, and permutation tests on the lake trout dataset.</dc:description>
  <dcterms:created xsi:type="dcterms:W3CDTF">2026-08-25T18:56:07Z</dcterms:created>
  <dcterms:modified xsi:type="dcterms:W3CDTF">2026-08-25T18:56:07Z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editor">
    <vt:lpwstr>visual</vt:lpwstr>
  </property>
  <property fmtid="{D5CDD505-2E9C-101B-9397-08002B2CF9AE}" pid="6" name="execute">
    <vt:lpwstr/>
  </property>
  <property fmtid="{D5CDD505-2E9C-101B-9397-08002B2CF9AE}" pid="7" name="format">
    <vt:lpwstr/>
  </property>
  <property fmtid="{D5CDD505-2E9C-101B-9397-08002B2CF9AE}" pid="8" name="header-includes">
    <vt:lpwstr/>
  </property>
  <property fmtid="{D5CDD505-2E9C-101B-9397-08002B2CF9AE}" pid="9" name="include-after">
    <vt:lpwstr/>
  </property>
  <property fmtid="{D5CDD505-2E9C-101B-9397-08002B2CF9AE}" pid="10" name="include-before">
    <vt:lpwstr/>
  </property>
  <property fmtid="{D5CDD505-2E9C-101B-9397-08002B2CF9AE}" pid="11" name="labels">
    <vt:lpwstr/>
  </property>
  <property fmtid="{D5CDD505-2E9C-101B-9397-08002B2CF9AE}" pid="12" name="order">
    <vt:lpwstr>8</vt:lpwstr>
  </property>
  <property fmtid="{D5CDD505-2E9C-101B-9397-08002B2CF9AE}" pid="13" name="resources">
    <vt:lpwstr/>
  </property>
  <property fmtid="{D5CDD505-2E9C-101B-9397-08002B2CF9AE}" pid="14" name="subtitle">
    <vt:lpwstr>Rank-based tests</vt:lpwstr>
  </property>
  <property fmtid="{D5CDD505-2E9C-101B-9397-08002B2CF9AE}" pid="15" name="toc-title">
    <vt:lpwstr>Table of contents</vt:lpwstr>
  </property>
  <property fmtid="{D5CDD505-2E9C-101B-9397-08002B2CF9AE}" pid="16" name="week">
    <vt:lpwstr>4</vt:lpwstr>
  </property>
</Properties>
</file>