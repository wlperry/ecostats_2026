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Non-Parametric T-Tests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demonstrates statistical analysis of lake trout mass data from Island Lake and NE 12, focusing on: testing assumptions for parametric tests, transforming data when assumptions aren’t met, running several different tests (standard t-test, log-transformed t-test, Welch’s t-test, Mann-Whitney Wilcoxon, permutation test), and interpreting/reporting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Single-Sample Question</a:t>
            </a:r>
          </a:p>
        </p:txBody>
      </p:sp>
      <p:sp>
        <p:nvSpPr>
          <p:cNvPr id="3" name="Content Placeholder 2"/>
          <p:cNvSpPr>
            <a:spLocks noGrp="1"/>
          </p:cNvSpPr>
          <p:nvPr>
            <p:ph idx="1"/>
          </p:nvPr>
        </p:nvSpPr>
        <p:spPr/>
        <p:txBody>
          <a:bodyPr/>
          <a:lstStyle/>
          <a:p>
            <a:pPr lvl="0" indent="0" marL="0">
              <a:buNone/>
            </a:pPr>
            <a:r>
              <a:rPr/>
              <a:t>Last time we covered assumptions of parametric tests, α and β errors, power, and mean ± SE plots. Let’s start by exploring only lake NE 12, as if doing a single-sample t-test, then compare NE 12 to Island Lake.</a:t>
            </a:r>
          </a:p>
          <a:p>
            <a:pPr lvl="0" indent="0" marL="0">
              <a:buNone/>
            </a:pPr>
            <a:r>
              <a:rPr/>
              <a:t>We want to test if the mass of lake trout in NE 12 differs from a mean of 500g.</a:t>
            </a:r>
          </a:p>
          <a:p>
            <a:pPr lvl="0" indent="0" marL="0">
              <a:buNone/>
            </a:pPr>
            <a:r>
              <a:rPr/>
              <a:t>✏️ </a:t>
            </a:r>
            <a:r>
              <a:rPr b="1"/>
              <a:t>Your turn:</a:t>
            </a:r>
            <a:r>
              <a:rPr/>
              <a:t> Write out the hypotheses:</a:t>
            </a:r>
          </a:p>
          <a:p>
            <a:pPr lvl="0" indent="0">
              <a:buNone/>
            </a:pPr>
            <a:r>
              <a:rPr>
                <a:latin typeface="Courier"/>
              </a:rPr>
              <a:t>H0: mu = _____ (the mean mass of lake trout in NE 12 is _____ g)
H1: mu ≠ _____ (the mean mass of lake trout in NE 12 is not _____ g)</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b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marL="0">
              <a:buNone/>
            </a:pPr>
            <a:r>
              <a:rPr/>
              <a:t>✏️ </a:t>
            </a:r>
            <a:r>
              <a:rPr b="1"/>
              <a:t>Your turn:</a:t>
            </a:r>
            <a:r>
              <a:rPr/>
              <a:t> How many lakes are in this dataset? </a:t>
            </a:r>
            <a:r>
              <a:rPr>
                <a:latin typeface="Courier"/>
              </a:rPr>
              <a:t>________________________</a:t>
            </a:r>
          </a:p>
          <a:p>
            <a:pPr lvl="0" indent="0" marL="0">
              <a:buNone/>
            </a:pPr>
            <a:r>
              <a:rPr b="1"/>
              <a:t>▶ Run this</a:t>
            </a:r>
            <a:r>
              <a:rPr/>
              <a:t> — calculate the mode (R has no built-in </a:t>
            </a:r>
            <a:r>
              <a:rPr>
                <a:latin typeface="Courier"/>
              </a:rPr>
              <a:t>mode()</a:t>
            </a:r>
            <a:r>
              <a:rPr/>
              <a:t> for this):</a:t>
            </a:r>
          </a:p>
          <a:p>
            <a:pPr lvl="0" indent="0">
              <a:buNone/>
            </a:pP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marL="0">
              <a:buNone/>
            </a:pPr>
            <a:r>
              <a:rPr b="1"/>
              <a:t>▶ Run this</a:t>
            </a:r>
            <a:r>
              <a:rPr/>
              <a:t> — create a data frame with just NE 12:</a:t>
            </a:r>
          </a:p>
          <a:p>
            <a:pPr lvl="0" indent="0">
              <a:buNone/>
            </a:pPr>
            <a:r>
              <a:rPr>
                <a:solidFill>
                  <a:srgbClr val="003B4F"/>
                </a:solidFill>
                <a:latin typeface="Courier"/>
              </a:rPr>
              <a:t>ne12_df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a:p>
            <a:pPr lvl="0" indent="0" marL="1270000">
              <a:buNone/>
            </a:pPr>
            <a:r>
              <a:rPr sz="2000" b="1"/>
              <a:t>Tip</a:t>
            </a:r>
          </a:p>
          <a:p>
            <a:pPr lvl="0" indent="0" marL="1270000">
              <a:buNone/>
            </a:pPr>
            <a:r>
              <a:rPr sz="2000" b="1"/>
              <a:t>🚀 If you finish early:</a:t>
            </a:r>
            <a:r>
              <a:rPr sz="2000"/>
              <a:t> Compute the mean, SD, n, and SE for </a:t>
            </a:r>
            <a:r>
              <a:rPr sz="2000">
                <a:latin typeface="Courier"/>
              </a:rPr>
              <a:t>length_mm</a:t>
            </a:r>
            <a:r>
              <a:rPr sz="2000"/>
              <a:t> across </a:t>
            </a:r>
            <a:r>
              <a:rPr sz="2000" i="1"/>
              <a:t>all</a:t>
            </a:r>
            <a:r>
              <a:rPr sz="2000"/>
              <a:t> lakes at once with </a:t>
            </a:r>
            <a:r>
              <a:rPr sz="2000">
                <a:latin typeface="Courier"/>
              </a:rPr>
              <a:t>group_by(lake) %&gt;% summarize(...)</a:t>
            </a:r>
            <a:r>
              <a:rPr sz="2000"/>
              <a:t>.</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Testing Assumptions on NE 12</a:t>
            </a:r>
          </a:p>
        </p:txBody>
      </p:sp>
      <p:sp>
        <p:nvSpPr>
          <p:cNvPr id="3" name="Content Placeholder 2"/>
          <p:cNvSpPr>
            <a:spLocks noGrp="1"/>
          </p:cNvSpPr>
          <p:nvPr>
            <p:ph idx="1"/>
          </p:nvPr>
        </p:nvSpPr>
        <p:spPr/>
        <p:txBody>
          <a:bodyPr/>
          <a:lstStyle/>
          <a:p>
            <a:pPr lvl="0" indent="0" marL="0">
              <a:buNone/>
            </a:pPr>
            <a:r>
              <a:rPr/>
              <a:t>Before conducting our t-test, we need to verify our data meets the necessary assumptions. Methods to test normality: visual (QQ plots, histograms) and statistical (Shapiro-Wilk test).</a:t>
            </a:r>
          </a:p>
          <a:p>
            <a:pPr lvl="0" indent="0" marL="0">
              <a:buNone/>
            </a:pPr>
            <a:r>
              <a:rPr b="1"/>
              <a:t>▶ Run this</a:t>
            </a:r>
            <a:r>
              <a:rPr/>
              <a:t> — histogram:</a:t>
            </a:r>
          </a:p>
          <a:p>
            <a:pPr lvl="0" indent="0">
              <a:buNone/>
            </a:pP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a:t>
            </a:r>
            <a:br/>
            <a:r>
              <a:rPr>
                <a:solidFill>
                  <a:srgbClr val="003B4F"/>
                </a:solidFill>
                <a:latin typeface="Courier"/>
              </a:rPr>
              <a:t>ne12_histo_plot</a:t>
            </a:r>
          </a:p>
          <a:p>
            <a:pPr lvl="0" indent="0" marL="0">
              <a:buNone/>
            </a:pPr>
            <a:r>
              <a:rPr b="1"/>
              <a:t>▶ Run this</a:t>
            </a:r>
            <a:r>
              <a:rPr/>
              <a:t> — dotplot, boxplot, and QQ plot:</a:t>
            </a:r>
          </a:p>
          <a:p>
            <a:pPr lvl="0" indent="0">
              <a:buNone/>
            </a:pP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ne12_dot_plot</a:t>
            </a:r>
            <a:b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br/>
            <a:b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a:p>
            <a:pPr lvl="0" indent="0" marL="0">
              <a:buNone/>
            </a:pPr>
            <a:r>
              <a:rPr b="1"/>
              <a:t>▶ Run this</a:t>
            </a:r>
            <a:r>
              <a:rPr/>
              <a:t> — combine all four with patchwork:</a:t>
            </a:r>
          </a:p>
          <a:p>
            <a:pPr lvl="0" indent="0">
              <a:buNone/>
            </a:pP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r>
              <a:rPr>
                <a:solidFill>
                  <a:srgbClr val="003B4F"/>
                </a:solidFill>
                <a:latin typeface="Courier"/>
              </a:rPr>
              <a:t>combined_stats_plot</a:t>
            </a:r>
          </a:p>
          <a:p>
            <a:pPr lvl="0" indent="0" marL="0">
              <a:buNone/>
            </a:pPr>
            <a:r>
              <a:rPr b="1"/>
              <a:t>▶ Run this</a:t>
            </a:r>
            <a:r>
              <a:rPr/>
              <a:t> — the formal test (note: really you want to do this on residuals, but here we test the raw values directly):</a:t>
            </a:r>
          </a:p>
          <a:p>
            <a:pPr lvl="0" indent="0">
              <a:buNone/>
            </a:pP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marL="0">
              <a:buNone/>
            </a:pPr>
            <a:r>
              <a:rPr/>
              <a:t>✏️ </a:t>
            </a:r>
            <a:r>
              <a:rPr b="1"/>
              <a:t>Your turn:</a:t>
            </a:r>
            <a:r>
              <a:rPr/>
              <a:t> Does the QQ plot agree with the Shapiro-Wilk result? Is NE 12’s mass normally distributed? </a:t>
            </a:r>
            <a:r>
              <a:rPr>
                <a:latin typeface="Courier"/>
              </a:rPr>
              <a:t>________________________</a:t>
            </a:r>
          </a:p>
          <a:p>
            <a:pPr lvl="0" indent="0" marL="1270000">
              <a:buNone/>
            </a:pPr>
            <a:r>
              <a:rPr sz="2000" b="1"/>
              <a:t>Tip</a:t>
            </a:r>
          </a:p>
          <a:p>
            <a:pPr lvl="0" indent="0" marL="1270000">
              <a:buNone/>
            </a:pPr>
            <a:r>
              <a:rPr sz="2000" b="1"/>
              <a:t>🚀 If you finish early:</a:t>
            </a:r>
            <a:r>
              <a:rPr sz="2000"/>
              <a:t> Rerun the Shapiro-Wilk test on </a:t>
            </a:r>
            <a:r>
              <a:rPr sz="2000">
                <a:latin typeface="Courier"/>
              </a:rPr>
              <a:t>length_mm</a:t>
            </a:r>
            <a:r>
              <a:rPr sz="2000"/>
              <a:t> instead of </a:t>
            </a:r>
            <a:r>
              <a:rPr sz="2000">
                <a:latin typeface="Courier"/>
              </a:rPr>
              <a:t>mass_g</a:t>
            </a:r>
            <a:r>
              <a:rPr sz="2000"/>
              <a:t> for NE 12. Does normality hold for both variables?</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Comparing Two Lakes — NE 12 vs. Island Lake</a:t>
            </a:r>
          </a:p>
        </p:txBody>
      </p:sp>
      <p:sp>
        <p:nvSpPr>
          <p:cNvPr id="3" name="Content Placeholder 2"/>
          <p:cNvSpPr>
            <a:spLocks noGrp="1"/>
          </p:cNvSpPr>
          <p:nvPr>
            <p:ph idx="1"/>
          </p:nvPr>
        </p:nvSpPr>
        <p:spPr/>
        <p:txBody>
          <a:bodyPr/>
          <a:lstStyle/>
          <a:p>
            <a:pPr lvl="0" indent="0" marL="0">
              <a:buNone/>
            </a:pPr>
            <a:r>
              <a:rPr/>
              <a:t>Now that we’ve shown NE 12’s mass fails (or passes) normality, let’s explore a comparison of NE 12 and Island Lake </a:t>
            </a:r>
            <a:r>
              <a:rPr>
                <a:latin typeface="Courier"/>
              </a:rPr>
              <a:t>mass_g</a:t>
            </a:r>
            <a:r>
              <a:rPr/>
              <a:t>.</a:t>
            </a:r>
          </a:p>
          <a:p>
            <a:pPr lvl="0" indent="0" marL="0">
              <a:buNone/>
            </a:pPr>
            <a:r>
              <a:rPr b="1"/>
              <a:t>▶ Run this</a:t>
            </a:r>
            <a:r>
              <a:rPr/>
              <a:t> — build the two-lake data frame:</a:t>
            </a:r>
          </a:p>
          <a:p>
            <a:pPr lvl="0" indent="0">
              <a:buNone/>
            </a:pPr>
            <a:r>
              <a:rPr>
                <a:solidFill>
                  <a:srgbClr val="003B4F"/>
                </a:solidFill>
                <a:latin typeface="Courier"/>
              </a:rPr>
              <a:t>in_df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summary stats by lake:</a:t>
            </a:r>
          </a:p>
          <a:p>
            <a:pPr lvl="0" indent="0">
              <a:buNone/>
            </a:pP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a:t>
            </a:r>
            <a:br/>
            <a:r>
              <a:rPr>
                <a:solidFill>
                  <a:srgbClr val="003B4F"/>
                </a:solidFill>
                <a:latin typeface="Courier"/>
              </a:rPr>
              <a:t>  )</a:t>
            </a:r>
            <a:br/>
            <a:r>
              <a:rPr>
                <a:solidFill>
                  <a:srgbClr val="003B4F"/>
                </a:solidFill>
                <a:latin typeface="Courier"/>
              </a:rPr>
              <a:t>summary_by_lake</a:t>
            </a:r>
          </a:p>
          <a:p>
            <a:pPr lvl="0" indent="0" marL="0">
              <a:buNone/>
            </a:pPr>
            <a:r>
              <a:rPr b="1"/>
              <a:t>▶ Run this</a:t>
            </a:r>
            <a:r>
              <a:rPr/>
              <a:t> — histograms by lake:</a:t>
            </a:r>
          </a:p>
          <a:p>
            <a:pPr lvl="0" indent="0">
              <a:buNone/>
            </a:pPr>
            <a:r>
              <a:rPr>
                <a:solidFill>
                  <a:srgbClr val="003B4F"/>
                </a:solidFill>
                <a:latin typeface="Courier"/>
              </a:rPr>
              <a:t>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hist_plot</a:t>
            </a:r>
          </a:p>
          <a:p>
            <a:pPr lvl="0" indent="0" marL="0">
              <a:buNone/>
            </a:pPr>
            <a:r>
              <a:rPr b="1"/>
              <a:t>▶ Run this</a:t>
            </a:r>
            <a:r>
              <a:rPr/>
              <a:t> — QQ plots by lake (in a QQ plot, points that follow the line indicate normally distributed data; deviations suggest non-normality):</a:t>
            </a:r>
          </a:p>
          <a:p>
            <a:pPr lvl="0" indent="0">
              <a:buNone/>
            </a:pPr>
            <a:r>
              <a:rPr>
                <a:solidFill>
                  <a:srgbClr val="003B4F"/>
                </a:solidFill>
                <a:latin typeface="Courier"/>
              </a:rPr>
              <a:t>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qq_plot</a:t>
            </a:r>
          </a:p>
          <a:p>
            <a:pPr lvl="0" indent="0" marL="0">
              <a:buNone/>
            </a:pPr>
            <a:r>
              <a:rPr b="1"/>
              <a:t>▶ Run this</a:t>
            </a:r>
            <a:r>
              <a:rPr/>
              <a:t> — the formal test, done for each lake separately (note: Island Lake can look non-normal in the QQ plot but come out close to normal in the Shapiro-Wilk test):</a:t>
            </a:r>
          </a:p>
          <a:p>
            <a:pPr lvl="0" indent="0">
              <a:buNone/>
            </a:pP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(normality_results)</a:t>
            </a:r>
          </a:p>
          <a:p>
            <a:pPr lvl="0" indent="0" marL="0">
              <a:buNone/>
            </a:pPr>
            <a:r>
              <a:rPr b="1"/>
              <a:t>▶ Run this</a:t>
            </a:r>
            <a:r>
              <a:rPr/>
              <a:t> — Levene’s test for equal variances (H₀: variances are equal across groups; we want this </a:t>
            </a:r>
            <a:r>
              <a:rPr b="1"/>
              <a:t>non-significant</a:t>
            </a:r>
            <a:r>
              <a:rPr/>
              <a:t>):</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(levene_result)</a:t>
            </a:r>
          </a:p>
          <a:p>
            <a:pPr lvl="0" indent="0" marL="0">
              <a:buNone/>
            </a:pPr>
            <a:r>
              <a:rPr/>
              <a:t>✏️ </a:t>
            </a:r>
            <a:r>
              <a:rPr b="1"/>
              <a:t>Your turn:</a:t>
            </a:r>
            <a:r>
              <a:rPr/>
              <a:t> Based on your normality and Levene’s test results, do these two lakes meet the assumptions for a standard t-test? </a:t>
            </a:r>
            <a:r>
              <a:rPr>
                <a:latin typeface="Courier"/>
              </a:rPr>
              <a:t>________________________</a:t>
            </a:r>
          </a:p>
          <a:p>
            <a:pPr lvl="0" indent="0" marL="1270000">
              <a:buNone/>
            </a:pPr>
            <a:r>
              <a:rPr sz="2000" b="1"/>
              <a:t>Tip</a:t>
            </a:r>
          </a:p>
          <a:p>
            <a:pPr lvl="0" indent="0" marL="1270000">
              <a:buNone/>
            </a:pPr>
            <a:r>
              <a:rPr sz="2000" b="1"/>
              <a:t>🚀 If you finish early:</a:t>
            </a:r>
            <a:r>
              <a:rPr sz="2000"/>
              <a:t> Rerun the Levene’s test on </a:t>
            </a:r>
            <a:r>
              <a:rPr sz="2000">
                <a:latin typeface="Courier"/>
              </a:rPr>
              <a:t>length_mm ~ lake</a:t>
            </a:r>
            <a:r>
              <a:rPr sz="2000"/>
              <a:t> instead of </a:t>
            </a:r>
            <a:r>
              <a:rPr sz="2000">
                <a:latin typeface="Courier"/>
              </a:rPr>
              <a:t>mass_g ~ lake</a:t>
            </a:r>
            <a:r>
              <a:rPr sz="2000"/>
              <a:t>. Same conclusion?</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Data Transformations</a:t>
            </a:r>
          </a:p>
        </p:txBody>
      </p:sp>
      <p:sp>
        <p:nvSpPr>
          <p:cNvPr id="3" name="Content Placeholder 2"/>
          <p:cNvSpPr>
            <a:spLocks noGrp="1"/>
          </p:cNvSpPr>
          <p:nvPr>
            <p:ph idx="1"/>
          </p:nvPr>
        </p:nvSpPr>
        <p:spPr/>
        <p:txBody>
          <a:bodyPr/>
          <a:lstStyle/>
          <a:p>
            <a:pPr lvl="0" indent="0" marL="0">
              <a:buNone/>
            </a:pPr>
            <a:r>
              <a:rPr/>
              <a:t>A log₁₀ transformation commonly helps right-skewed data like this pass the normality assumption.</a:t>
            </a:r>
          </a:p>
          <a:p>
            <a:pPr lvl="0" indent="0" marL="0">
              <a:buNone/>
            </a:pPr>
            <a:r>
              <a:rPr b="1"/>
              <a:t>▶ Run this:</a:t>
            </a:r>
          </a:p>
          <a:p>
            <a:pPr lvl="0" indent="0">
              <a:buNone/>
            </a:pP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check if it worked, with a histogram:</a:t>
            </a:r>
          </a:p>
          <a:p>
            <a:pPr lvl="0" indent="0">
              <a:buNone/>
            </a:pPr>
            <a:r>
              <a:rPr>
                <a:solidFill>
                  <a:srgbClr val="003B4F"/>
                </a:solidFill>
                <a:latin typeface="Courier"/>
              </a:rPr>
              <a:t>log_hist_plot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log_hist_plot</a:t>
            </a:r>
          </a:p>
          <a:p>
            <a:pPr lvl="0" indent="0" marL="0">
              <a:buNone/>
            </a:pPr>
            <a:r>
              <a:rPr b="1"/>
              <a:t>▶ Run this</a:t>
            </a:r>
            <a:r>
              <a:rPr/>
              <a:t> — a QQ plot of the transformed data (we’ll skip Shapiro-Wilk for a moment):</a:t>
            </a:r>
          </a:p>
          <a:p>
            <a:pPr lvl="0" indent="0">
              <a:buNone/>
            </a:pPr>
            <a:r>
              <a:rPr>
                <a:solidFill>
                  <a:srgbClr val="003B4F"/>
                </a:solidFill>
                <a:latin typeface="Courier"/>
              </a:rPr>
              <a:t>log_qq_plot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log_qq_plot</a:t>
            </a:r>
          </a:p>
          <a:p>
            <a:pPr lvl="0" indent="0" marL="0">
              <a:buNone/>
            </a:pPr>
            <a:r>
              <a:rPr b="1"/>
              <a:t>▶ Run this</a:t>
            </a:r>
            <a:r>
              <a:rPr/>
              <a:t> — now the formal tests on the transformed data:</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(log_normality_results)</a:t>
            </a:r>
            <a:b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(levene_log_result)</a:t>
            </a:r>
          </a:p>
          <a:p>
            <a:pPr lvl="0" indent="0" marL="0">
              <a:buNone/>
            </a:pPr>
            <a:r>
              <a:rPr/>
              <a:t>✏️ </a:t>
            </a:r>
            <a:r>
              <a:rPr b="1"/>
              <a:t>Your turn:</a:t>
            </a:r>
            <a:r>
              <a:rPr/>
              <a:t> Did the log transformation fix normality, equal variance, both, or neither?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transformation (</a:t>
            </a:r>
            <a:r>
              <a:rPr sz="2000">
                <a:latin typeface="Courier"/>
              </a:rPr>
              <a:t>sqrt(mass_g)</a:t>
            </a:r>
            <a:r>
              <a:rPr sz="2000"/>
              <a:t>) instead of log₁₀. Build a histogram and rerun the Shapiro-Wilk test — does it do better or worse than the log transform?</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Running the Tests</a:t>
            </a:r>
          </a:p>
        </p:txBody>
      </p:sp>
      <p:sp>
        <p:nvSpPr>
          <p:cNvPr id="3" name="Content Placeholder 2"/>
          <p:cNvSpPr>
            <a:spLocks noGrp="1"/>
          </p:cNvSpPr>
          <p:nvPr>
            <p:ph idx="1"/>
          </p:nvPr>
        </p:nvSpPr>
        <p:spPr/>
        <p:txBody>
          <a:bodyPr/>
          <a:lstStyle/>
          <a:p>
            <a:pPr lvl="0" indent="0" marL="0">
              <a:buNone/>
            </a:pPr>
            <a:r>
              <a:rPr/>
              <a:t>Even if the transformation doesn’t fully fix things, let’s run the full set of tests so we can compare them side by side.</a:t>
            </a:r>
          </a:p>
          <a:p>
            <a:pPr lvl="0" indent="0" marL="0">
              <a:buNone/>
            </a:pPr>
            <a:r>
              <a:rPr b="1"/>
              <a:t>▶ Run this</a:t>
            </a:r>
            <a:r>
              <a:rPr/>
              <a:t> — standard two-sample t-test on the raw data:</a:t>
            </a:r>
          </a:p>
          <a:p>
            <a:pPr lvl="0" indent="0">
              <a:buNone/>
            </a:pP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p>
          <a:p>
            <a:pPr lvl="0" indent="0" marL="0">
              <a:buNone/>
            </a:pPr>
            <a:r>
              <a:rPr b="1"/>
              <a:t>▶ Run this</a:t>
            </a:r>
            <a:r>
              <a:rPr/>
              <a:t> — the same t-test on the log-transformed data:</a:t>
            </a:r>
          </a:p>
          <a:p>
            <a:pPr lvl="0" indent="0">
              <a:buNone/>
            </a:pP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(log_t_test_result)</a:t>
            </a:r>
          </a:p>
          <a:p>
            <a:pPr lvl="0" indent="0" marL="1270000">
              <a:buNone/>
            </a:pPr>
            <a:r>
              <a:rPr sz="2000" b="1"/>
              <a:t>Note</a:t>
            </a:r>
          </a:p>
          <a:p>
            <a:pPr lvl="0" indent="0" marL="1270000">
              <a:buNone/>
            </a:pPr>
            <a:r>
              <a:rPr sz="2000" b="1"/>
              <a:t>When analyzing log-transformed data:</a:t>
            </a:r>
          </a:p>
          <a:p>
            <a:pPr lvl="0" indent="-342900" marL="342900">
              <a:buAutoNum type="arabicPeriod"/>
            </a:pPr>
            <a:r>
              <a:rPr sz="2000"/>
              <a:t>The mean of log-transformed data, back-transformed, gives the </a:t>
            </a:r>
            <a:r>
              <a:rPr sz="2000" i="1"/>
              <a:t>geometric mean</a:t>
            </a:r>
            <a:r>
              <a:rPr sz="2000"/>
              <a:t> (not the arithmetic mean).</a:t>
            </a:r>
          </a:p>
          <a:p>
            <a:pPr lvl="0" indent="-342900" marL="342900">
              <a:buAutoNum type="arabicPeriod"/>
            </a:pPr>
            <a:r>
              <a:rPr sz="2000"/>
              <a:t>The back-transformed confidence intervals represent the CI for the geometric mean, and must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You can’t just take </a:t>
            </a:r>
            <a:r>
              <a:rPr sz="2000">
                <a:latin typeface="Courier"/>
              </a:rPr>
              <a:t>10^SE</a:t>
            </a:r>
            <a:r>
              <a:rPr sz="2000"/>
              <a:t> to get the standard error — instead, back-transform </a:t>
            </a:r>
            <a:r>
              <a:rPr sz="2000">
                <a:latin typeface="Courier"/>
              </a:rPr>
              <a:t>mean - se</a:t>
            </a:r>
            <a:r>
              <a:rPr sz="2000"/>
              <a:t> and </a:t>
            </a:r>
            <a:r>
              <a:rPr sz="2000">
                <a:latin typeface="Courier"/>
              </a:rPr>
              <a:t>mean + se</a:t>
            </a:r>
            <a:r>
              <a:rPr sz="2000"/>
              <a:t> separately.</a:t>
            </a:r>
          </a:p>
          <a:p>
            <a:pPr lvl="0" indent="0" marL="0">
              <a:buNone/>
            </a:pPr>
            <a:r>
              <a:rPr b="1"/>
              <a:t>▶ Run this</a:t>
            </a:r>
            <a:r>
              <a:rPr/>
              <a:t> — back-transform to the geometric mean:</a:t>
            </a:r>
          </a:p>
          <a:p>
            <a:pPr lvl="0" indent="0">
              <a:buNone/>
            </a:pP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003B4F"/>
                </a:solidFill>
                <a:latin typeface="Courier"/>
              </a:rPr>
              <a:t>back_transformed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marL="0">
              <a:buNone/>
            </a:pPr>
            <a:r>
              <a:rPr b="1"/>
              <a:t>▶ Run this</a:t>
            </a:r>
            <a:r>
              <a:rPr/>
              <a:t> — plot the back-transformed geometric means (note the error bars are not symmetrical!):</a:t>
            </a:r>
          </a:p>
          <a:p>
            <a:pPr lvl="0" indent="0">
              <a:buNone/>
            </a:pPr>
            <a:r>
              <a:rPr>
                <a:solidFill>
                  <a:srgbClr val="003B4F"/>
                </a:solidFill>
                <a:latin typeface="Courier"/>
              </a:rPr>
              <a:t>geo_mean_plot &lt;- back_transformed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geo_mean_plot</a:t>
            </a:r>
          </a:p>
          <a:p>
            <a:pPr lvl="0" indent="0" marL="0">
              <a:buNone/>
            </a:pPr>
            <a:r>
              <a:rPr b="1"/>
              <a:t>▶ Run this</a:t>
            </a:r>
            <a:r>
              <a:rPr/>
              <a:t> — Welch’s t-test (doesn’t assume equal variances):</a:t>
            </a:r>
          </a:p>
          <a:p>
            <a:pPr lvl="0" indent="0">
              <a:buNone/>
            </a:pP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1270000">
              <a:buNone/>
            </a:pPr>
            <a:r>
              <a:rPr sz="2000"/>
              <a:t>💡 Welch’s t-test is preferred when group variances are unequal (per Levene’s test), sample sizes differ between groups, or you just want a more robust default.</a:t>
            </a:r>
          </a:p>
          <a:p>
            <a:pPr lvl="0" indent="0" marL="0">
              <a:buNone/>
            </a:pPr>
            <a:r>
              <a:rPr b="1"/>
              <a:t>▶ Run this</a:t>
            </a:r>
            <a:r>
              <a:rPr/>
              <a:t> — the Mann-Whitney Wilcoxon test (non-parametric):</a:t>
            </a:r>
          </a:p>
          <a:p>
            <a:pPr lvl="0" indent="0">
              <a:buNone/>
            </a:pP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(wilcox_test_result)</a:t>
            </a:r>
          </a:p>
          <a:p>
            <a:pPr lvl="0" indent="0" marL="1270000">
              <a:buNone/>
            </a:pPr>
            <a:r>
              <a:rPr sz="2000"/>
              <a:t>💡 Mann-Whitney is preferred when data isn’t normal even after transformation, you’re comparing medians rather than means, or outliers might distort a t-test — it compares ranks, not raw values.</a:t>
            </a:r>
          </a:p>
          <a:p>
            <a:pPr lvl="0" indent="0" marL="0">
              <a:buNone/>
            </a:pPr>
            <a:r>
              <a:rPr b="1"/>
              <a:t>▶ Run this</a:t>
            </a:r>
            <a:r>
              <a:rPr/>
              <a:t> — a permutation test (balance the sample sizes first):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003B4F"/>
                </a:solidFill>
                <a:latin typeface="Courier"/>
              </a:rPr>
              <a:t>ne12_mass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r>
              <a:rPr>
                <a:solidFill>
                  <a:srgbClr val="003B4F"/>
                </a:solidFill>
                <a:latin typeface="Courier"/>
              </a:rPr>
              <a:t>island_mass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(perm_test_result)</a:t>
            </a:r>
          </a:p>
          <a:p>
            <a:pPr lvl="0" indent="0" marL="1270000">
              <a:buNone/>
            </a:pPr>
            <a:r>
              <a:rPr sz="2000"/>
              <a:t>💡 Permutation tests are useful for small samples, data that doesn’t meet parametric assumptions, or when you want a test that makes minimal distributional assumptions — and they can test statistics other than the mean.</a:t>
            </a:r>
          </a:p>
          <a:p>
            <a:pPr lvl="0" indent="0" marL="1270000">
              <a:buNone/>
            </a:pPr>
            <a:r>
              <a:rPr sz="2000" b="1"/>
              <a:t>Tip</a:t>
            </a:r>
          </a:p>
          <a:p>
            <a:pPr lvl="0" indent="0" marL="1270000">
              <a:buNone/>
            </a:pPr>
            <a:r>
              <a:rPr sz="2000" b="1"/>
              <a:t>🚀 If you finish early:</a:t>
            </a:r>
            <a:r>
              <a:rPr sz="2000"/>
              <a:t> Rerun the permutation test with </a:t>
            </a:r>
            <a:r>
              <a:rPr sz="2000">
                <a:latin typeface="Courier"/>
              </a:rPr>
              <a:t>nmc = 1000</a:t>
            </a:r>
            <a:r>
              <a:rPr sz="2000"/>
              <a:t> instead of </a:t>
            </a:r>
            <a:r>
              <a:rPr sz="2000">
                <a:latin typeface="Courier"/>
              </a:rPr>
              <a:t>10000</a:t>
            </a:r>
            <a:r>
              <a:rPr sz="2000"/>
              <a:t>. Does the p-value change meaningfully? What’s the tradeoff of using fewer Monte Carlo replications?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Comparing All Results</a:t>
            </a:r>
          </a:p>
        </p:txBody>
      </p:sp>
      <p:sp>
        <p:nvSpPr>
          <p:cNvPr id="3" name="Content Placeholder 2"/>
          <p:cNvSpPr>
            <a:spLocks noGrp="1"/>
          </p:cNvSpPr>
          <p:nvPr>
            <p:ph idx="1"/>
          </p:nvPr>
        </p:nvSpPr>
        <p:spPr/>
        <p:txBody>
          <a:bodyPr/>
          <a:lstStyle/>
          <a:p>
            <a:pPr lvl="0" indent="0" marL="0">
              <a:buNone/>
            </a:pPr>
            <a:r>
              <a:rPr b="1"/>
              <a:t>▶ Run this</a:t>
            </a:r>
            <a:r>
              <a:rPr/>
              <a:t> — build a comparison table:</a:t>
            </a:r>
          </a:p>
          <a:p>
            <a:pPr lvl="0" indent="0">
              <a:buNone/>
            </a:pP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a:t>
            </a:r>
            <a:br/>
            <a:r>
              <a:rPr>
                <a:solidFill>
                  <a:srgbClr val="003B4F"/>
                </a:solidFill>
                <a:latin typeface="Courier"/>
              </a:rPr>
              <a:t>           </a:t>
            </a:r>
            <a:r>
              <a:rPr>
                <a:solidFill>
                  <a:srgbClr val="20794D"/>
                </a:solidFill>
                <a:latin typeface="Courier"/>
              </a:rPr>
              <a:t>"Welch's t-test"</a:t>
            </a:r>
            <a:r>
              <a:rPr>
                <a:solidFill>
                  <a:srgbClr val="003B4F"/>
                </a:solidFill>
                <a:latin typeface="Courier"/>
              </a:rPr>
              <a:t>,</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r>
              <a:rPr>
                <a:solidFill>
                  <a:srgbClr val="003B4F"/>
                </a:solidFill>
                <a:latin typeface="Courier"/>
              </a:rPr>
              <a:t>test_results</a:t>
            </a:r>
          </a:p>
          <a:p>
            <a:pPr lvl="0" indent="0" marL="0">
              <a:buNone/>
            </a:pPr>
            <a:r>
              <a:rPr b="1"/>
              <a:t>▶ Run this</a:t>
            </a:r>
            <a:r>
              <a:rPr/>
              <a:t> — visualize the raw comparison:</a:t>
            </a:r>
          </a:p>
          <a:p>
            <a:pPr lvl="0" indent="0">
              <a:buNone/>
            </a:pP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combined_plot</a:t>
            </a:r>
          </a:p>
          <a:p>
            <a:pPr lvl="0" indent="0" marL="0">
              <a:buNone/>
            </a:pPr>
            <a:r>
              <a:rPr/>
              <a:t>✏️ </a:t>
            </a:r>
            <a:r>
              <a:rPr b="1"/>
              <a:t>Your turn:</a:t>
            </a:r>
            <a:r>
              <a:rPr/>
              <a:t> Do all four tests agree on whether the difference is significant? If any disagree, what does that tell you about how sensitive the conclusion is to test choice? </a:t>
            </a:r>
            <a:r>
              <a:rPr>
                <a:latin typeface="Courier"/>
              </a:rPr>
              <a:t>________________________</a:t>
            </a:r>
          </a:p>
          <a:p>
            <a:pPr lvl="0" indent="0" marL="0">
              <a:buNone/>
            </a:pPr>
            <a:r>
              <a:rPr/>
              <a:t>When reporting results, include:</a:t>
            </a:r>
          </a:p>
          <a:p>
            <a:pPr lvl="0"/>
            <a:r>
              <a:rPr b="1"/>
              <a:t>Standard t-test:</a:t>
            </a:r>
            <a:r>
              <a:rPr/>
              <a:t> “Lake trout from NE 12 had significantly different mass (M = [mean], SD = [SD]) compared to Island Lake (M = [mean], SD = [SD]), t([df]) = [t-value], p = [p-value].”</a:t>
            </a:r>
          </a:p>
          <a:p>
            <a:pPr lvl="0"/>
            <a:r>
              <a:rPr b="1"/>
              <a:t>Log-transformed t-test:</a:t>
            </a:r>
            <a:r>
              <a:rPr/>
              <a:t> “After log transformation to meet normality assumptions, lake trout from NE 12 had significantly different mass (geometric mean = [value], 95% CI [lower–upper]) compared to Island Lake (geometric mean = [value], 95% CI [lower–upper]), t([df]) = [t-value], p = [p-value].”</a:t>
            </a:r>
          </a:p>
          <a:p>
            <a:pPr lvl="0"/>
            <a:r>
              <a:rPr b="1"/>
              <a:t>Welch’s t-test:</a:t>
            </a:r>
            <a:r>
              <a:rPr/>
              <a:t> “Assuming unequal variances, lake trout from NE 12 had significantly different mass (M = [mean], SD = [SD]) compared to Island Lake (M = [mean], SD = [SD]), Welch’s t([df]) = [t-value], p = [p-value].”</a:t>
            </a:r>
          </a:p>
          <a:p>
            <a:pPr lvl="0"/>
            <a:r>
              <a:rPr b="1"/>
              <a:t>Mann-Whitney Wilcoxon test:</a:t>
            </a:r>
            <a:r>
              <a:rPr/>
              <a:t> “Lake trout mass differed significantly between NE 12 (Mdn = [median]) and Island Lake (Mdn = [median]), W = [W-value], p = [p-value].”</a:t>
            </a:r>
          </a:p>
          <a:p>
            <a:pPr lvl="0"/>
            <a:r>
              <a:rPr b="1"/>
              <a:t>Permutation test:</a:t>
            </a:r>
            <a:r>
              <a:rPr/>
              <a:t> “Permutation testing (10,000 iterations) revealed significant differences in lake trout mass between NE 12 and Island Lake, p = [p-value].”</a:t>
            </a:r>
          </a:p>
          <a:p>
            <a:pPr lvl="0" indent="0" marL="0">
              <a:buNone/>
            </a:pPr>
            <a:r>
              <a:rPr/>
              <a:t>✏️ </a:t>
            </a:r>
            <a:r>
              <a:rPr b="1"/>
              <a:t>Your turn:</a:t>
            </a:r>
            <a:r>
              <a:rPr/>
              <a:t> Write the standard t-test and Mann-Whitney reporting sentences using your own numbers from Parts 5–6.</a:t>
            </a:r>
          </a:p>
          <a:p>
            <a:pPr lvl="0" indent="0">
              <a:buNone/>
            </a:pPr>
            <a:r>
              <a:rPr>
                <a:latin typeface="Courier"/>
              </a:rPr>
              <a:t>________________________________________________________
________________________________________________________</a:t>
            </a:r>
          </a:p>
          <a:p>
            <a:pPr lvl="0" indent="0" marL="1270000">
              <a:buNone/>
            </a:pPr>
            <a:r>
              <a:rPr sz="2000" b="1"/>
              <a:t>Tip</a:t>
            </a:r>
          </a:p>
          <a:p>
            <a:pPr lvl="0" indent="0" marL="1270000">
              <a:buNone/>
            </a:pPr>
            <a:r>
              <a:rPr sz="2000" b="1"/>
              <a:t>🚀 If you finish early:</a:t>
            </a:r>
            <a:r>
              <a:rPr sz="2000"/>
              <a:t> Add the permutation test’s p-value as a fifth row to </a:t>
            </a:r>
            <a:r>
              <a:rPr sz="2000">
                <a:latin typeface="Courier"/>
              </a:rPr>
              <a:t>test_results</a:t>
            </a:r>
            <a:r>
              <a:rPr sz="2000"/>
              <a:t>. (Hint: </a:t>
            </a:r>
            <a:r>
              <a:rPr sz="2000">
                <a:latin typeface="Courier"/>
              </a:rPr>
              <a:t>perm_test_result$p.value</a:t>
            </a:r>
            <a:r>
              <a:rPr sz="2000"/>
              <a:t>.)</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strengths and limitations, and consistency of results across methods can strengthen your conclusions.</a:t>
            </a:r>
          </a:p>
          <a:p>
            <a:pPr lvl="0" indent="0" marL="1270000">
              <a:buNone/>
            </a:pPr>
            <a:r>
              <a:rPr sz="2000" b="1"/>
              <a:t>Note</a:t>
            </a:r>
          </a:p>
          <a:p>
            <a:pPr lvl="0" indent="0" marL="1270000">
              <a:buNone/>
            </a:pPr>
            <a:r>
              <a:rPr sz="2000" b="1"/>
              <a:t>When to use each test</a:t>
            </a:r>
          </a:p>
          <a:p>
            <a:pPr lvl="0"/>
            <a:r>
              <a:rPr sz="2000" b="1"/>
              <a:t>Standard t-test:</a:t>
            </a:r>
            <a:r>
              <a:rPr sz="2000"/>
              <a:t> data is normally distributed with equal variances</a:t>
            </a:r>
          </a:p>
          <a:p>
            <a:pPr lvl="0"/>
            <a:r>
              <a:rPr sz="2000" b="1"/>
              <a:t>Log-transformed t-test:</a:t>
            </a:r>
            <a:r>
              <a:rPr sz="2000"/>
              <a:t> raw data is skewed but log-transformation achieves normality</a:t>
            </a:r>
          </a:p>
          <a:p>
            <a:pPr lvl="0"/>
            <a:r>
              <a:rPr sz="2000" b="1"/>
              <a:t>Welch’s t-test:</a:t>
            </a:r>
            <a:r>
              <a:rPr sz="2000"/>
              <a:t> variances are unequal</a:t>
            </a:r>
          </a:p>
          <a:p>
            <a:pPr lvl="0"/>
            <a:r>
              <a:rPr sz="2000" b="1"/>
              <a:t>Mann-Whitney Wilcoxon test:</a:t>
            </a:r>
            <a:r>
              <a:rPr sz="2000"/>
              <a:t> data is not normal and cannot be transformed to normality</a:t>
            </a:r>
          </a:p>
          <a:p>
            <a:pPr lvl="0"/>
            <a:r>
              <a:rPr sz="2000" b="1"/>
              <a:t>Permutation test:</a:t>
            </a:r>
            <a:r>
              <a:rPr sz="2000"/>
              <a:t> sample sizes are small, or assumptions cannot be met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Test normality with histograms, QQ plots, and the Shapiro-Wilk test</a:t>
            </a:r>
          </a:p>
          <a:p>
            <a:pPr lvl="0"/>
            <a:r>
              <a:rPr/>
              <a:t>☐ Test equal variance with Levene’s test</a:t>
            </a:r>
          </a:p>
          <a:p>
            <a:pPr lvl="0"/>
            <a:r>
              <a:rPr/>
              <a:t>☐ Apply and evaluate a log transformation, including back-transforming to a geometric mean</a:t>
            </a:r>
          </a:p>
          <a:p>
            <a:pPr lvl="0"/>
            <a:r>
              <a:rPr/>
              <a:t>☐ Run and interpret a standard t-test, Welch’s t-test, Mann-Whitney Wilcoxon test, and permutation test</a:t>
            </a:r>
          </a:p>
          <a:p>
            <a:pPr lvl="0"/>
            <a:r>
              <a:rPr/>
              <a:t>☐ Compare results across test types and explain when to reach for each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08_nonparametric_t_tests.R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library(patchwork)</a:t>
            </a:r>
            <a:r>
              <a:rPr/>
              <a:t>, and </a:t>
            </a:r>
            <a:r>
              <a:rPr>
                <a:latin typeface="Courier"/>
              </a:rPr>
              <a:t>library(perm)</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Non-Parametric T-Tests</dc:title>
  <dc:creator>Bill Perry</dc:creator>
  <cp:keywords/>
  <dc:description>Hands-on activity: testing assumptions, data transformations, Welch’s t-test, Mann-Whitney, and permutation tests on the lake trout dataset.</dc:description>
  <dcterms:created xsi:type="dcterms:W3CDTF">2026-08-21T18:42:16Z</dcterms:created>
  <dcterms:modified xsi:type="dcterms:W3CDTF">2026-08-21T18:42:16Z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