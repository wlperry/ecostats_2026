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 class activity 7:</a:t>
            </a:r>
          </a:p>
        </p:txBody>
      </p:sp>
      <p:sp>
        <p:nvSpPr>
          <p:cNvPr id="3" name="Content Placeholder 2"/>
          <p:cNvSpPr>
            <a:spLocks noGrp="1"/>
          </p:cNvSpPr>
          <p:nvPr>
            <p:ph idx="1"/>
          </p:nvPr>
        </p:nvSpPr>
        <p:spPr/>
        <p:txBody>
          <a:bodyPr/>
          <a:lstStyle/>
          <a:p>
            <a:pPr lvl="0" indent="0" marL="0">
              <a:spcBef>
                <a:spcPts val="3000"/>
              </a:spcBef>
              <a:buNone/>
            </a:pPr>
            <a:r>
              <a:rPr b="1"/>
              <a:t>Introduction</a:t>
            </a:r>
          </a:p>
          <a:p>
            <a:pPr lvl="0" indent="0" marL="0">
              <a:buNone/>
            </a:pPr>
            <a:r>
              <a:rPr/>
              <a:t>This document demonstrates statistical analysis of lake trout mass data from Island Lake and NE 12, focusing on:</a:t>
            </a:r>
          </a:p>
          <a:p>
            <a:pPr lvl="0" indent="-342900" marL="342900">
              <a:buAutoNum type="arabicPeriod"/>
            </a:pPr>
            <a:r>
              <a:rPr/>
              <a:t>Testing assumptions for parametric tests</a:t>
            </a:r>
          </a:p>
          <a:p>
            <a:pPr lvl="0" indent="-342900" marL="342900">
              <a:buAutoNum type="arabicPeriod"/>
            </a:pPr>
            <a:r>
              <a:rPr/>
              <a:t>Transforming data when assumptions aren’t met</a:t>
            </a:r>
          </a:p>
          <a:p>
            <a:pPr lvl="0" indent="-342900" marL="342900">
              <a:buAutoNum type="arabicPeriod"/>
            </a:pPr>
            <a:r>
              <a:rPr/>
              <a:t>Running different types of tests:</a:t>
            </a:r>
          </a:p>
          <a:p>
            <a:pPr lvl="1"/>
            <a:r>
              <a:rPr/>
              <a:t>Standard t-test</a:t>
            </a:r>
          </a:p>
          <a:p>
            <a:pPr lvl="1"/>
            <a:r>
              <a:rPr/>
              <a:t>Log-transformed t-test</a:t>
            </a:r>
          </a:p>
          <a:p>
            <a:pPr lvl="1"/>
            <a:r>
              <a:rPr/>
              <a:t>Welch’s t-test</a:t>
            </a:r>
          </a:p>
          <a:p>
            <a:pPr lvl="1"/>
            <a:r>
              <a:rPr/>
              <a:t>Mann-Whitney Wilcoxon test</a:t>
            </a:r>
          </a:p>
          <a:p>
            <a:pPr lvl="1"/>
            <a:r>
              <a:rPr/>
              <a:t>Permutation test</a:t>
            </a:r>
          </a:p>
          <a:p>
            <a:pPr lvl="0" indent="-342900" marL="342900">
              <a:buAutoNum type="arabicPeriod"/>
            </a:pPr>
            <a:r>
              <a:rPr/>
              <a:t>Interpreting and 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did we do last time in activity 6?</a:t>
            </a:r>
          </a:p>
        </p:txBody>
      </p:sp>
      <p:sp>
        <p:nvSpPr>
          <p:cNvPr id="3" name="Content Placeholder 2"/>
          <p:cNvSpPr>
            <a:spLocks noGrp="1"/>
          </p:cNvSpPr>
          <p:nvPr>
            <p:ph idx="1"/>
          </p:nvPr>
        </p:nvSpPr>
        <p:spPr/>
        <p:txBody>
          <a:bodyPr/>
          <a:lstStyle/>
          <a:p>
            <a:pPr lvl="0"/>
            <a:r>
              <a:rPr b="1"/>
              <a:t>Assumptions of parametric tests</a:t>
            </a:r>
          </a:p>
          <a:p>
            <a:pPr lvl="0"/>
            <a:r>
              <a:rPr/>
              <a:t>alpha and beta errors</a:t>
            </a:r>
          </a:p>
          <a:p>
            <a:pPr lvl="0"/>
            <a:r>
              <a:rPr/>
              <a:t>power</a:t>
            </a:r>
          </a:p>
          <a:p>
            <a:pPr lvl="0"/>
            <a:r>
              <a:rPr/>
              <a:t>making plots of mean and standard error</a:t>
            </a:r>
          </a:p>
          <a:p>
            <a:pPr lvl="0" indent="0" marL="0">
              <a:buNone/>
            </a:pPr>
            <a:r>
              <a:rPr/>
              <a:t>Lets start by exploring only lake NE 12 as if you were doing a single sample T test.</a:t>
            </a:r>
            <a:br/>
            <a:r>
              <a:rPr/>
              <a:t>We will test the assumptions and then do the a T Test on NE 12 compared to Island Lake.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Single Sample T-Test</a:t>
            </a:r>
          </a:p>
        </p:txBody>
      </p:sp>
      <p:sp>
        <p:nvSpPr>
          <p:cNvPr id="3" name="Content Placeholder 2"/>
          <p:cNvSpPr>
            <a:spLocks noGrp="1"/>
          </p:cNvSpPr>
          <p:nvPr>
            <p:ph idx="1" sz="half"/>
          </p:nvPr>
        </p:nvSpPr>
        <p:spPr/>
        <p:txBody>
          <a:bodyPr/>
          <a:lstStyle/>
          <a:p>
            <a:pPr lvl="0" indent="0" marL="0">
              <a:buNone/>
            </a:pPr>
            <a:r>
              <a:rPr/>
              <a:t>We want to test if the mass of lake trout differ in NE 12 from a mean of 500g.</a:t>
            </a:r>
          </a:p>
          <a:p>
            <a:pPr lvl="0" indent="0" marL="0">
              <a:buNone/>
            </a:pPr>
            <a:r>
              <a:rPr b="1"/>
              <a:t>Activity: Define hypotheses and identify assumptions</a:t>
            </a:r>
          </a:p>
          <a:p>
            <a:pPr lvl="0"/>
            <a:r>
              <a:rPr/>
              <a:t>H₀: μ = 500 (The mean mass of lake trout in NE12 is 500 g)</a:t>
            </a:r>
          </a:p>
          <a:p>
            <a:pPr lvl="0"/>
            <a:r>
              <a:rPr/>
              <a:t>H₁: μ ≠ 500 (The mean mass of lake trout in NE12 is not 500 g)</a:t>
            </a:r>
          </a:p>
        </p:txBody>
      </p:sp>
      <p:sp>
        <p:nvSpPr>
          <p:cNvPr id="4" name="Content Placeholder 3"/>
          <p:cNvSpPr>
            <a:spLocks noGrp="1"/>
          </p:cNvSpPr>
          <p:nvPr>
            <p:ph idx="2" sz="half"/>
          </p:nvPr>
        </p:nvSpPr>
        <p:spPr/>
        <p:txBody>
          <a:bodyPr/>
          <a:lstStyle/>
          <a:p>
            <a:pPr lvl="0" indent="0" marL="0">
              <a:spcBef>
                <a:spcPts val="3000"/>
              </a:spcBef>
              <a:buNone/>
            </a:pPr>
            <a:r>
              <a:rPr b="1"/>
              <a:t>Assumptions for t-test:</a:t>
            </a:r>
          </a:p>
          <a:p>
            <a:pPr lvl="0" indent="-342900" marL="342900">
              <a:buAutoNum type="arabicPeriod"/>
            </a:pPr>
            <a:r>
              <a:rPr/>
              <a:t>Data is normally distributed</a:t>
            </a:r>
          </a:p>
          <a:p>
            <a:pPr lvl="0" indent="-342900" marL="342900">
              <a:buAutoNum type="arabicPeriod"/>
            </a:pPr>
            <a:r>
              <a:rPr/>
              <a:t>Observations are independent</a:t>
            </a:r>
          </a:p>
          <a:p>
            <a:pPr lvl="0" indent="-342900" marL="342900">
              <a:buAutoNum type="arabicPeriod"/>
            </a:pPr>
            <a:r>
              <a:rPr/>
              <a:t>No significant outliers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Load Data and Test Assumptions</a:t>
            </a:r>
          </a:p>
        </p:txBody>
      </p:sp>
      <p:sp>
        <p:nvSpPr>
          <p:cNvPr id="3" name="Content Placeholder 2"/>
          <p:cNvSpPr>
            <a:spLocks noGrp="1"/>
          </p:cNvSpPr>
          <p:nvPr>
            <p:ph idx="1"/>
          </p:nvPr>
        </p:nvSpPr>
        <p:spPr/>
        <p:txBody>
          <a:bodyPr/>
          <a:lstStyle/>
          <a:p>
            <a:pPr lvl="0" indent="0" marL="0">
              <a:buNone/>
            </a:pPr>
            <a:r>
              <a:rPr/>
              <a:t>First we need to load the data for all the lakes and we can look at what we have…</a:t>
            </a:r>
          </a:p>
          <a:p>
            <a:pPr lvl="0" indent="0" marL="0">
              <a:buNone/>
            </a:pPr>
            <a:r>
              <a:rPr/>
              <a:t>How may lakes are there?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Install packages if needed (uncomment if necessary)</a:t>
            </a:r>
            <a:br/>
            <a:r>
              <a:rPr>
                <a:solidFill>
                  <a:srgbClr val="5E5E5E"/>
                </a:solidFill>
                <a:latin typeface="Courier"/>
              </a:rPr>
              <a:t># install.packages("readr")</a:t>
            </a:r>
            <a:br/>
            <a:r>
              <a:rPr>
                <a:solidFill>
                  <a:srgbClr val="5E5E5E"/>
                </a:solidFill>
                <a:latin typeface="Courier"/>
              </a:rPr>
              <a:t># install.packages("tidyverse")</a:t>
            </a:r>
            <a:br/>
            <a:r>
              <a:rPr>
                <a:solidFill>
                  <a:srgbClr val="5E5E5E"/>
                </a:solidFill>
                <a:latin typeface="Courier"/>
              </a:rPr>
              <a:t># install.packages("car")</a:t>
            </a:r>
            <a:br/>
            <a:r>
              <a:rPr>
                <a:solidFill>
                  <a:srgbClr val="5E5E5E"/>
                </a:solidFill>
                <a:latin typeface="Courier"/>
              </a:rPr>
              <a:t># install.packages("here")</a:t>
            </a:r>
            <a:br/>
            <a:b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latin typeface="Courier"/>
              </a:rPr>
              <a:t>── Attaching core tidyverse packages ──────────────────────── tidyverse 2.0.0 ──
✔ dplyr     1.2.1     ✔ readr     2.2.0
✔ forcats   1.0.1     ✔ stringr   1.6.0
✔ ggplot2   4.0.3     ✔ tibble    3.3.1
✔ lubridate 1.9.5     ✔ tidyr     1.3.2
✔ purrr     1.2.2     
── Conflicts ────────────────────────────────────────── tidyverse_conflicts() ──
✖ dplyr::filter() masks stats::filter()
✖ dplyr::lag()    masks stats::lag()
ℹ Use the conflicted package (&lt;http://conflicted.r-lib.org/&gt;) to force all conflicts to become errors</a:t>
            </a:r>
          </a:p>
          <a:p>
            <a:pPr lvl="0" indent="0">
              <a:buNone/>
            </a:pP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p>
          <a:p>
            <a:pPr lvl="0" indent="0">
              <a:buNone/>
            </a:pPr>
            <a:r>
              <a:rPr>
                <a:latin typeface="Courier"/>
              </a:rPr>
              <a:t>Loading required package: carData
Attaching package: 'car'
The following object is masked from 'package:dplyr':
    recode
The following object is masked from 'package:purrr':
    some</a:t>
            </a:r>
          </a:p>
          <a:p>
            <a:pPr lvl="0" indent="0">
              <a:buNone/>
            </a:pP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pine needle data</a:t>
            </a:r>
            <a:br/>
            <a:r>
              <a:rPr>
                <a:solidFill>
                  <a:srgbClr val="5E5E5E"/>
                </a:solidFill>
                <a:latin typeface="Courier"/>
              </a:rPr>
              <a:t># Use here() function to specify the path</a:t>
            </a:r>
            <a:br/>
            <a:r>
              <a:rPr>
                <a:solidFill>
                  <a:srgbClr val="5E5E5E"/>
                </a:solidFill>
                <a:latin typeface="Courier"/>
              </a:rPr>
              <a:t># Read in the lake trout data</a:t>
            </a: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p>
          <a:p>
            <a:pPr lvl="0" indent="0">
              <a:buNone/>
            </a:pPr>
            <a:r>
              <a:rPr>
                <a:latin typeface="Courier"/>
              </a:rPr>
              <a:t>Rows: 1502 Columns: 5
── Column specification ────────────────────────────────────────────────────────
Delimiter: ","
chr (3): sampling_site, species, lake
dbl (2): length_mm, mass_g
ℹ Use `spec()` to retrieve the full column specification for this data.
ℹ Specify the column types or set `show_col_types = FALSE` to quiet this message.</a:t>
            </a:r>
          </a:p>
          <a:p>
            <a:pPr lvl="0" indent="0">
              <a:buNone/>
            </a:pPr>
            <a:r>
              <a:rPr>
                <a:solidFill>
                  <a:srgbClr val="5E5E5E"/>
                </a:solidFill>
                <a:latin typeface="Courier"/>
              </a:rPr>
              <a:t># Examine the first few rows</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Exploratory Data Analysis</a:t>
            </a:r>
          </a:p>
        </p:txBody>
      </p:sp>
      <p:sp>
        <p:nvSpPr>
          <p:cNvPr id="3" name="Content Placeholder 2"/>
          <p:cNvSpPr>
            <a:spLocks noGrp="1"/>
          </p:cNvSpPr>
          <p:nvPr>
            <p:ph idx="1"/>
          </p:nvPr>
        </p:nvSpPr>
        <p:spPr/>
        <p:txBody>
          <a:bodyPr/>
          <a:lstStyle/>
          <a:p>
            <a:pPr lvl="0" indent="0" marL="0">
              <a:buNone/>
            </a:pPr>
            <a:r>
              <a:rPr/>
              <a:t>Before conducting hypothesis tests, we should always explore our data to understand its characteristics.</a:t>
            </a:r>
          </a:p>
          <a:p>
            <a:pPr lvl="0" indent="0" marL="0">
              <a:buNone/>
            </a:pPr>
            <a:r>
              <a:rPr/>
              <a:t>Let’s calculate summary statistics and create visualizations.</a:t>
            </a:r>
          </a:p>
          <a:p>
            <a:pPr lvl="0" indent="0" marL="0">
              <a:buNone/>
            </a:pPr>
            <a:r>
              <a:rPr b="1"/>
              <a:t>Activity: Calculate basic summary statistics for lake trout mass</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Calculate summary statistics for lake trout mass</a:t>
            </a:r>
            <a:br/>
            <a:r>
              <a:rPr>
                <a:solidFill>
                  <a:srgbClr val="5E5E5E"/>
                </a:solidFill>
                <a:latin typeface="Courier"/>
              </a:rPr>
              <a:t># Hint: Use summarize() function to calculate mean, sd, n, etc.</a:t>
            </a:r>
            <a:br/>
            <a:br/>
            <a:r>
              <a:rPr>
                <a:solidFill>
                  <a:srgbClr val="5E5E5E"/>
                </a:solidFill>
                <a:latin typeface="Courier"/>
              </a:rPr>
              <a:t># Create a summary table for all lake trout</a:t>
            </a:r>
            <a:br/>
            <a:r>
              <a:rPr>
                <a:solidFill>
                  <a:srgbClr val="003B4F"/>
                </a:solidFill>
                <a:latin typeface="Courier"/>
              </a:rPr>
              <a:t>df_summary &lt;- lt_df </a:t>
            </a:r>
            <a:r>
              <a:rPr>
                <a:solidFill>
                  <a:srgbClr val="5E5E5E"/>
                </a:solidFill>
                <a:latin typeface="Courier"/>
              </a:rPr>
              <a:t>%&gt;%</a:t>
            </a:r>
            <a:br/>
            <a:r>
              <a:rPr>
                <a:solidFill>
                  <a:srgbClr val="003B4F"/>
                </a:solidFill>
                <a:latin typeface="Courier"/>
              </a:rPr>
              <a:t>  </a:t>
            </a:r>
            <a:r>
              <a:rPr>
                <a:solidFill>
                  <a:srgbClr val="5E5E5E"/>
                </a:solidFill>
                <a:latin typeface="Courier"/>
              </a:rPr>
              <a:t># group_by(lake) %&gt;% </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br/>
            <a:br/>
            <a:r>
              <a:rPr>
                <a:solidFill>
                  <a:srgbClr val="4758AB"/>
                </a:solidFill>
                <a:latin typeface="Courier"/>
              </a:rPr>
              <a:t>print</a:t>
            </a:r>
            <a:r>
              <a:rPr>
                <a:solidFill>
                  <a:srgbClr val="003B4F"/>
                </a:solidFill>
                <a:latin typeface="Courier"/>
              </a:rPr>
              <a:t>(df_summary)</a:t>
            </a:r>
          </a:p>
          <a:p>
            <a:pPr lvl="0" indent="0">
              <a:buNone/>
            </a:pPr>
            <a:r>
              <a:rPr>
                <a:latin typeface="Courier"/>
              </a:rPr>
              <a:t># A tibble: 1 × 4
  mean_length sd_length     n se_length
        &lt;dbl&gt;     &lt;dbl&gt; &lt;int&gt;     &lt;dbl&gt;
1        393.      108.  1454      2.83</a:t>
            </a:r>
          </a:p>
          <a:p>
            <a:pPr lvl="0" indent="0">
              <a:buNone/>
            </a:pPr>
            <a:r>
              <a:rPr>
                <a:solidFill>
                  <a:srgbClr val="5E5E5E"/>
                </a:solidFill>
                <a:latin typeface="Courier"/>
              </a:rPr>
              <a:t># Now calculate summary statistics by lake</a:t>
            </a:r>
            <a:br/>
            <a:r>
              <a:rPr>
                <a:solidFill>
                  <a:srgbClr val="5E5E5E"/>
                </a:solidFill>
                <a:latin typeface="Courier"/>
              </a:rPr>
              <a:t>#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Calculating Mode if you wanted to</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 had accdentally asked you to do mode in HW2 - wiht out telling you how... </a:t>
            </a:r>
            <a:br/>
            <a:r>
              <a:rPr>
                <a:solidFill>
                  <a:srgbClr val="5E5E5E"/>
                </a:solidFill>
                <a:latin typeface="Courier"/>
              </a:rPr>
              <a:t>#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Create a New dataframe of lake NE12 only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add your code here</a:t>
            </a:r>
            <a:br/>
            <a:r>
              <a:rPr>
                <a:solidFill>
                  <a:srgbClr val="003B4F"/>
                </a:solidFill>
                <a:latin typeface="Courier"/>
              </a:rPr>
              <a:t>ne12_df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Testing Assumptions</a:t>
            </a:r>
          </a:p>
        </p:txBody>
      </p:sp>
      <p:sp>
        <p:nvSpPr>
          <p:cNvPr id="3" name="Content Placeholder 2"/>
          <p:cNvSpPr>
            <a:spLocks noGrp="1"/>
          </p:cNvSpPr>
          <p:nvPr>
            <p:ph idx="1" sz="half"/>
          </p:nvPr>
        </p:nvSpPr>
        <p:spPr/>
        <p:txBody>
          <a:bodyPr/>
          <a:lstStyle/>
          <a:p>
            <a:pPr lvl="0" indent="0" marL="0">
              <a:buNone/>
            </a:pPr>
            <a:r>
              <a:rPr/>
              <a:t>Before conducting our t-test, we need to verify that our data meets the necessary assumptions.</a:t>
            </a:r>
          </a:p>
          <a:p>
            <a:pPr lvl="0" indent="0" marL="0">
              <a:buNone/>
            </a:pPr>
            <a:r>
              <a:rPr b="1"/>
              <a:t>Activity: Test the normality assumption</a:t>
            </a:r>
          </a:p>
        </p:txBody>
      </p:sp>
      <p:sp>
        <p:nvSpPr>
          <p:cNvPr id="4" name="Content Placeholder 3"/>
          <p:cNvSpPr>
            <a:spLocks noGrp="1"/>
          </p:cNvSpPr>
          <p:nvPr>
            <p:ph idx="2" sz="half"/>
          </p:nvPr>
        </p:nvSpPr>
        <p:spPr/>
        <p:txBody>
          <a:bodyPr/>
          <a:lstStyle/>
          <a:p>
            <a:pPr lvl="0" indent="0" marL="0">
              <a:buNone/>
            </a:pPr>
            <a:r>
              <a:rPr/>
              <a:t>Methods to test normality:</a:t>
            </a:r>
          </a:p>
          <a:p>
            <a:pPr lvl="0"/>
            <a:r>
              <a:rPr/>
              <a:t>Visual methods:</a:t>
            </a:r>
          </a:p>
          <a:p>
            <a:pPr lvl="1"/>
            <a:r>
              <a:rPr/>
              <a:t>QQ plots or histograms</a:t>
            </a:r>
            <a:br/>
          </a:p>
          <a:p>
            <a:pPr lvl="1"/>
            <a:r>
              <a:rPr/>
              <a:t>Statistical tests: Shapiro</a:t>
            </a:r>
            <a:br/>
          </a:p>
          <a:p>
            <a:pPr lvl="1"/>
            <a:r>
              <a:rPr/>
              <a:t>Wilk test</a:t>
            </a:r>
            <a:b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Visualizing the assumptions and data</a:t>
            </a:r>
          </a:p>
        </p:txBody>
      </p:sp>
      <p:sp>
        <p:nvSpPr>
          <p:cNvPr id="3" name="Content Placeholder 2"/>
          <p:cNvSpPr>
            <a:spLocks noGrp="1"/>
          </p:cNvSpPr>
          <p:nvPr>
            <p:ph idx="1" sz="half"/>
          </p:nvPr>
        </p:nvSpPr>
        <p:spPr/>
        <p:txBody>
          <a:bodyPr/>
          <a:lstStyle/>
          <a:p>
            <a:pPr lvl="0" indent="0" marL="0">
              <a:buNone/>
            </a:pPr>
            <a:r>
              <a:rPr b="1"/>
              <a:t>Activity: Create visualizations of lake trout mass</a:t>
            </a:r>
          </a:p>
          <a:p>
            <a:pPr lvl="0" indent="0" marL="0">
              <a:buNone/>
            </a:pPr>
            <a:r>
              <a:rPr/>
              <a:t>Create a histogram and a boxplot to visualize the distribution of lake trout massvalues.</a:t>
            </a:r>
          </a:p>
        </p:txBody>
      </p:sp>
      <p:sp>
        <p:nvSpPr>
          <p:cNvPr id="4" name="Content Placeholder 3"/>
          <p:cNvSpPr>
            <a:spLocks noGrp="1"/>
          </p:cNvSpPr>
          <p:nvPr>
            <p:ph idx="2" sz="half"/>
          </p:nvPr>
        </p:nvSpPr>
        <p:spPr/>
        <p:txBody>
          <a:bodyPr/>
          <a:lstStyle/>
          <a:p>
            <a:pPr lvl="0" indent="0" marL="0">
              <a:buNone/>
            </a:pPr>
            <a:r>
              <a:rPr/>
              <a:t>Effective data visualization helps us understand:</a:t>
            </a:r>
          </a:p>
          <a:p>
            <a:pPr lvl="0"/>
            <a:r>
              <a:rPr/>
              <a:t>The central tendency</a:t>
            </a:r>
          </a:p>
          <a:p>
            <a:pPr lvl="0"/>
            <a:r>
              <a:rPr/>
              <a:t>The spread of the data</a:t>
            </a:r>
          </a:p>
          <a:p>
            <a:pPr lvl="0"/>
            <a:r>
              <a:rPr/>
              <a:t>Potential outliers</a:t>
            </a:r>
          </a:p>
          <a:p>
            <a:pPr lvl="0"/>
            <a:r>
              <a:rPr/>
              <a:t>Shape of distribution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Your Task</a:t>
            </a:r>
          </a:p>
        </p:txBody>
      </p:sp>
      <p:sp>
        <p:nvSpPr>
          <p:cNvPr id="4" name="Text Placeholder 3"/>
          <p:cNvSpPr>
            <a:spLocks noGrp="1"/>
          </p:cNvSpPr>
          <p:nvPr>
            <p:ph idx="2" sz="half" type="body"/>
          </p:nvPr>
        </p:nvSpPr>
        <p:spPr/>
        <p:txBody>
          <a:bodyPr/>
          <a:lstStyle/>
          <a:p>
            <a:pPr lvl="0" indent="0" marL="0">
              <a:spcBef>
                <a:spcPts val="3000"/>
              </a:spcBef>
              <a:buNone/>
            </a:pPr>
            <a:r>
              <a:rPr b="1"/>
              <a:t>Histogram for NE 12</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Create a histogram of lake trout mass</a:t>
            </a:r>
            <a:br/>
            <a:r>
              <a:rPr>
                <a:solidFill>
                  <a:srgbClr val="5E5E5E"/>
                </a:solidFill>
                <a:latin typeface="Courier"/>
              </a:rPr>
              <a:t># Hint: Use ggplot() and geom_histogram()</a:t>
            </a:r>
            <a:br/>
            <a:br/>
            <a:r>
              <a:rPr>
                <a:solidFill>
                  <a:srgbClr val="5E5E5E"/>
                </a:solidFill>
                <a:latin typeface="Courier"/>
              </a:rPr>
              <a:t># Histogram of all lake trout weights</a:t>
            </a:r>
            <a:b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 </a:t>
            </a:r>
            <a:br/>
            <a:r>
              <a:rPr>
                <a:solidFill>
                  <a:srgbClr val="003B4F"/>
                </a:solidFill>
                <a:latin typeface="Courier"/>
              </a:rPr>
              <a:t>ne12_histo_plot</a:t>
            </a:r>
          </a:p>
        </p:txBody>
      </p:sp>
      <p:pic>
        <p:nvPicPr>
          <p:cNvPr descr="nonparametric_t_tests_activity_files/figure-pptx/visualize-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how can you make a dataframe only for lake NE 12 </a:t>
            </a:r>
            <a:br/>
            <a:r>
              <a:rPr>
                <a:solidFill>
                  <a:srgbClr val="5E5E5E"/>
                </a:solidFill>
                <a:latin typeface="Courier"/>
              </a:rPr>
              <a:t># and</a:t>
            </a:r>
            <a:br/>
            <a:r>
              <a:rPr>
                <a:solidFill>
                  <a:srgbClr val="5E5E5E"/>
                </a:solidFill>
                <a:latin typeface="Courier"/>
              </a:rPr>
              <a:t># make a histogram for lake NE 12 </a:t>
            </a:r>
            <a:br/>
            <a:r>
              <a:rPr>
                <a:solidFill>
                  <a:srgbClr val="5E5E5E"/>
                </a:solidFill>
                <a:latin typeface="Courier"/>
              </a:rPr>
              <a:t># Note we need the dataframe to make life a bit easier</a:t>
            </a:r>
          </a:p>
          <a:p>
            <a:pPr lvl="0" indent="0" marL="0">
              <a:spcBef>
                <a:spcPts val="3000"/>
              </a:spcBef>
              <a:buNone/>
            </a:pPr>
            <a:r>
              <a:rPr b="1"/>
              <a:t>Dot Plot for NE 12</a:t>
            </a:r>
          </a:p>
          <a:p>
            <a:pPr lvl="0" indent="0">
              <a:buNone/>
            </a:pPr>
            <a:r>
              <a:rPr>
                <a:solidFill>
                  <a:srgbClr val="5E5E5E"/>
                </a:solidFill>
                <a:latin typeface="Courier"/>
              </a:rPr>
              <a:t># 2. Dotplot</a:t>
            </a:r>
            <a:b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br/>
            <a:r>
              <a:rPr>
                <a:solidFill>
                  <a:srgbClr val="003B4F"/>
                </a:solidFill>
                <a:latin typeface="Courier"/>
              </a:rPr>
              <a:t>ne12_dot_plot</a:t>
            </a:r>
          </a:p>
        </p:txBody>
      </p:sp>
      <p:pic>
        <p:nvPicPr>
          <p:cNvPr descr="nonparametric_t_tests_activity_files/figure-pptx/unnamed-chunk-3-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Box Plot for NE 12</a:t>
            </a:r>
          </a:p>
          <a:p>
            <a:pPr lvl="0" indent="0">
              <a:buNone/>
            </a:pPr>
            <a:r>
              <a:rPr>
                <a:solidFill>
                  <a:srgbClr val="5E5E5E"/>
                </a:solidFill>
                <a:latin typeface="Courier"/>
              </a:rPr>
              <a:t># 3. Boxplot</a:t>
            </a: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p>
        </p:txBody>
      </p:sp>
      <p:pic>
        <p:nvPicPr>
          <p:cNvPr descr="nonparametric_t_tests_activity_files/figure-pptx/unnamed-chunk-4-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QQ PLOT NE 12</a:t>
            </a:r>
          </a:p>
          <a:p>
            <a:pPr lvl="0" indent="0">
              <a:buNone/>
            </a:pP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p:txBody>
      </p:sp>
      <p:pic>
        <p:nvPicPr>
          <p:cNvPr descr="nonparametric_t_tests_activity_files/figure-pptx/unnamed-chunk-5-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Use Patchwork to combine the plots</a:t>
            </a:r>
          </a:p>
          <a:p>
            <a:pPr lvl="0" indent="0">
              <a:buNone/>
            </a:pPr>
            <a:r>
              <a:rPr>
                <a:solidFill>
                  <a:srgbClr val="5E5E5E"/>
                </a:solidFill>
                <a:latin typeface="Courier"/>
              </a:rPr>
              <a:t># Combine all plots using patchwork</a:t>
            </a:r>
            <a:b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br/>
            <a:r>
              <a:rPr>
                <a:solidFill>
                  <a:srgbClr val="5E5E5E"/>
                </a:solidFill>
                <a:latin typeface="Courier"/>
              </a:rPr>
              <a:t># Display the combined plot</a:t>
            </a:r>
            <a:br/>
            <a:r>
              <a:rPr>
                <a:solidFill>
                  <a:srgbClr val="003B4F"/>
                </a:solidFill>
                <a:latin typeface="Courier"/>
              </a:rPr>
              <a:t>combined_stats_plot</a:t>
            </a:r>
          </a:p>
        </p:txBody>
      </p:sp>
      <p:pic>
        <p:nvPicPr>
          <p:cNvPr descr="nonparametric_t_tests_activity_files/figure-pptx/unnamed-chunk-6-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Shapiro-Wilk’s Test</a:t>
            </a:r>
          </a:p>
          <a:p>
            <a:pPr lvl="0" indent="0" marL="0">
              <a:buNone/>
            </a:pPr>
            <a:r>
              <a:rPr/>
              <a:t>Really want to do this on residuals</a:t>
            </a:r>
          </a:p>
          <a:p>
            <a:pPr lvl="0" indent="0">
              <a:buNone/>
            </a:pPr>
            <a:r>
              <a:rPr>
                <a:solidFill>
                  <a:srgbClr val="5E5E5E"/>
                </a:solidFill>
                <a:latin typeface="Courier"/>
              </a:rPr>
              <a:t># Shapiro-Wilk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ne12_df$mass_g
W = 0.85148, p-value &lt; 2.2e-16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that we have shown how mass of lake NE 12 fails what do we do next?</a:t>
            </a:r>
          </a:p>
        </p:txBody>
      </p:sp>
      <p:sp>
        <p:nvSpPr>
          <p:cNvPr id="3" name="Content Placeholder 2"/>
          <p:cNvSpPr>
            <a:spLocks noGrp="1"/>
          </p:cNvSpPr>
          <p:nvPr>
            <p:ph idx="1"/>
          </p:nvPr>
        </p:nvSpPr>
        <p:spPr/>
        <p:txBody>
          <a:bodyPr/>
          <a:lstStyle/>
          <a:p>
            <a:pPr lvl="0" indent="0" marL="0">
              <a:buNone/>
            </a:pPr>
            <a:r>
              <a:rPr/>
              <a:t>Lets explore a comparison of NE 12 and Island Lake mass_g</a:t>
            </a:r>
          </a:p>
          <a:p>
            <a:pPr lvl="0" indent="0" marL="1270000">
              <a:buNone/>
            </a:pPr>
            <a:r>
              <a:rPr sz="2000" b="1"/>
              <a:t>Exercise: Create a dataframe from </a:t>
            </a:r>
            <a:r>
              <a:rPr sz="2000" b="1">
                <a:latin typeface="Courier"/>
              </a:rPr>
              <a:t>Island Lake</a:t>
            </a:r>
            <a:r>
              <a:rPr sz="2000" b="1"/>
              <a:t> and </a:t>
            </a:r>
            <a:r>
              <a:rPr sz="2000" b="1">
                <a:latin typeface="Courier"/>
              </a:rPr>
              <a:t>NE 12</a:t>
            </a:r>
          </a:p>
          <a:p>
            <a:pPr lvl="0" indent="0">
              <a:buNone/>
            </a:pPr>
            <a:r>
              <a:rPr>
                <a:solidFill>
                  <a:srgbClr val="5E5E5E"/>
                </a:solidFill>
                <a:latin typeface="Courier"/>
              </a:rPr>
              <a:t># Create a dataframe with just Island Lake and NE 12 lakes</a:t>
            </a:r>
            <a:br/>
            <a:r>
              <a:rPr>
                <a:solidFill>
                  <a:srgbClr val="5E5E5E"/>
                </a:solidFill>
                <a:latin typeface="Courier"/>
              </a:rPr>
              <a:t># Filter out any NA values for mass</a:t>
            </a:r>
            <a:br/>
            <a:r>
              <a:rPr>
                <a:solidFill>
                  <a:srgbClr val="003B4F"/>
                </a:solidFill>
                <a:latin typeface="Courier"/>
              </a:rPr>
              <a:t>in_df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5
  sampling_site species    length_mm mass_g lake       
  &lt;chr&gt;         &lt;chr&gt;          &lt;dbl&gt;  &lt;dbl&gt; &lt;chr&gt;      
1 Island Lake   lake trout       640   2600 Island Lake
2 Island Lake   lake trout       650   2350 Island Lake
3 Island Lake   lake trout       585   2200 Island Lake
4 Island Lake   lake trout       720   3950 Island Lake
5 Island Lake   lake trout       880   6800 Island Lake
6 Island Lake   lake trout       830   3200 Island Lake</a:t>
            </a:r>
          </a:p>
          <a:p>
            <a:pPr lvl="0" indent="0" marL="1270000">
              <a:buNone/>
            </a:pPr>
            <a:r>
              <a:rPr sz="2000" b="1"/>
              <a:t>Get summary stats for lake trout mass in NE12 and Island lakes</a:t>
            </a:r>
          </a:p>
          <a:p>
            <a:pPr lvl="0" indent="0" marL="0">
              <a:spcBef>
                <a:spcPts val="3000"/>
              </a:spcBef>
              <a:buNone/>
            </a:pPr>
            <a:r>
              <a:rPr sz="2000" b="1"/>
              <a:t>Get a summary of the data by lake</a:t>
            </a:r>
          </a:p>
          <a:p>
            <a:pPr lvl="0" indent="0">
              <a:buNone/>
            </a:pPr>
            <a:r>
              <a:rPr>
                <a:solidFill>
                  <a:srgbClr val="5E5E5E"/>
                </a:solidFill>
                <a:latin typeface="Courier"/>
              </a:rPr>
              <a:t># Get a summary of the data by lake</a:t>
            </a:r>
            <a:b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5E5E5E"/>
                </a:solidFill>
                <a:latin typeface="Courier"/>
              </a:rPr>
              <a:t># Count of observations</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5E5E5E"/>
                </a:solidFill>
                <a:latin typeface="Courier"/>
              </a:rPr>
              <a:t># Mean 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5E5E5E"/>
                </a:solidFill>
                <a:latin typeface="Courier"/>
              </a:rPr>
              <a:t># Standard deviation</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5E5E5E"/>
                </a:solidFill>
                <a:latin typeface="Courier"/>
              </a:rPr>
              <a:t># Standard error</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         </a:t>
            </a:r>
            <a:r>
              <a:rPr>
                <a:solidFill>
                  <a:srgbClr val="5E5E5E"/>
                </a:solidFill>
                <a:latin typeface="Courier"/>
              </a:rPr>
              <a:t># Minimum mass</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          </a:t>
            </a:r>
            <a:r>
              <a:rPr>
                <a:solidFill>
                  <a:srgbClr val="5E5E5E"/>
                </a:solidFill>
                <a:latin typeface="Courier"/>
              </a:rPr>
              <a:t># Maximum mass</a:t>
            </a:r>
            <a:br/>
            <a:r>
              <a:rPr>
                <a:solidFill>
                  <a:srgbClr val="003B4F"/>
                </a:solidFill>
                <a:latin typeface="Courier"/>
              </a:rPr>
              <a:t>  )</a:t>
            </a:r>
            <a:br/>
            <a:br/>
            <a:r>
              <a:rPr>
                <a:solidFill>
                  <a:srgbClr val="5E5E5E"/>
                </a:solidFill>
                <a:latin typeface="Courier"/>
              </a:rPr>
              <a:t># View the summary</a:t>
            </a:r>
            <a:br/>
            <a:r>
              <a:rPr>
                <a:solidFill>
                  <a:srgbClr val="003B4F"/>
                </a:solidFill>
                <a:latin typeface="Courier"/>
              </a:rPr>
              <a:t>summary_by_lake</a:t>
            </a:r>
          </a:p>
          <a:p>
            <a:pPr lvl="0" indent="0">
              <a:buNone/>
            </a:pPr>
            <a:r>
              <a:rPr sz="2000">
                <a:latin typeface="Courier"/>
              </a:rPr>
              <a:t># A tibble: 2 × 7
  lake            n mean_mass sd_mass se_mass min_mass max_mass
  &lt;chr&gt;       &lt;int&gt;     &lt;dbl&gt;   &lt;dbl&gt;   &lt;dbl&gt;    &lt;dbl&gt;    &lt;dbl&gt;
1 Island Lake    10     3165    1617.   511.      1650     6800
2 NE 12         322      534.    520.    29.0        9     2320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Visualize data by lake</a:t>
            </a:r>
          </a:p>
        </p:txBody>
      </p:sp>
      <p:sp>
        <p:nvSpPr>
          <p:cNvPr id="3" name="Content Placeholder 2"/>
          <p:cNvSpPr>
            <a:spLocks noGrp="1"/>
          </p:cNvSpPr>
          <p:nvPr>
            <p:ph idx="1"/>
          </p:nvPr>
        </p:nvSpPr>
        <p:spPr/>
        <p:txBody>
          <a:bodyPr/>
          <a:lstStyle/>
          <a:p>
            <a:pPr lvl="0" indent="0" marL="1270000">
              <a:buNone/>
            </a:pPr>
            <a:r>
              <a:rPr sz="2000" b="1"/>
              <a:t>Make a histogram of both Island and NE 12 lakes</a:t>
            </a:r>
          </a:p>
          <a:p>
            <a:pPr lvl="0" indent="0">
              <a:buNone/>
            </a:pPr>
            <a:r>
              <a:rPr>
                <a:solidFill>
                  <a:srgbClr val="5E5E5E"/>
                </a:solidFill>
                <a:latin typeface="Courier"/>
              </a:rPr>
              <a:t># Create histograms to visualize the distribution</a:t>
            </a:r>
            <a:br/>
            <a:r>
              <a:rPr>
                <a:solidFill>
                  <a:srgbClr val="003B4F"/>
                </a:solidFill>
                <a:latin typeface="Courier"/>
              </a:rPr>
              <a:t>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  </a:t>
            </a:r>
            <a:r>
              <a:rPr>
                <a:solidFill>
                  <a:srgbClr val="5E5E5E"/>
                </a:solidFill>
                <a:latin typeface="Courier"/>
              </a:rPr>
              <a:t># Separate plots with different y-scales</a:t>
            </a:r>
            <a:br/>
            <a:br/>
            <a:r>
              <a:rPr>
                <a:solidFill>
                  <a:srgbClr val="5E5E5E"/>
                </a:solidFill>
                <a:latin typeface="Courier"/>
              </a:rPr>
              <a:t># Show the histogram</a:t>
            </a:r>
            <a:br/>
            <a:r>
              <a:rPr>
                <a:solidFill>
                  <a:srgbClr val="003B4F"/>
                </a:solidFill>
                <a:latin typeface="Courier"/>
              </a:rPr>
              <a:t>hist_plot</a:t>
            </a:r>
          </a:p>
          <a:p>
            <a:pPr lvl="0" indent="0" marL="1270000">
              <a:buNone/>
            </a:pPr>
          </a:p>
          <a:p>
            <a:pPr lvl="0" indent="0" marL="0">
              <a:spcBef>
                <a:spcPts val="3000"/>
              </a:spcBef>
              <a:buNone/>
            </a:pPr>
            <a:r>
              <a:rPr b="1"/>
              <a:t>Practice for later if you choose</a:t>
            </a:r>
          </a:p>
          <a:p>
            <a:pPr lvl="0" indent="0" marL="0">
              <a:spcBef>
                <a:spcPts val="3000"/>
              </a:spcBef>
              <a:buNone/>
            </a:pPr>
            <a:r>
              <a:rPr b="1"/>
              <a:t>Informal Normality test - often better</a:t>
            </a:r>
          </a:p>
          <a:p>
            <a:pPr lvl="0" indent="0" marL="0">
              <a:spcBef>
                <a:spcPts val="3000"/>
              </a:spcBef>
              <a:buNone/>
            </a:pPr>
            <a:r>
              <a:rPr b="1"/>
              <a:t>QQ PLOT FOR BOTH LAKES</a:t>
            </a:r>
          </a:p>
          <a:p>
            <a:pPr lvl="0" indent="0" marL="1270000">
              <a:buNone/>
            </a:pPr>
            <a:r>
              <a:rPr sz="2000" b="1"/>
              <a:t>Exercise: check normality</a:t>
            </a:r>
          </a:p>
          <a:p>
            <a:pPr lvl="0" indent="0" marL="1270000">
              <a:buNone/>
            </a:pPr>
            <a:r>
              <a:rPr sz="2000"/>
              <a:t>Always do a qq plot</a:t>
            </a:r>
          </a:p>
          <a:p>
            <a:pPr lvl="0" indent="0" marL="1270000">
              <a:buNone/>
            </a:pPr>
            <a:r>
              <a:rPr sz="2000"/>
              <a:t>In a QQ plot, points that follow the line indicate data that follows a normal distribution. Deviations from the line suggest non-normality.</a:t>
            </a:r>
          </a:p>
          <a:p>
            <a:pPr lvl="0" indent="0">
              <a:buNone/>
            </a:pPr>
            <a:r>
              <a:rPr>
                <a:solidFill>
                  <a:srgbClr val="5E5E5E"/>
                </a:solidFill>
                <a:latin typeface="Courier"/>
              </a:rPr>
              <a:t># Create QQ plots for each lake to check normality</a:t>
            </a:r>
            <a:br/>
            <a:r>
              <a:rPr>
                <a:solidFill>
                  <a:srgbClr val="003B4F"/>
                </a:solidFill>
                <a:latin typeface="Courier"/>
              </a:rPr>
              <a:t>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5E5E5E"/>
                </a:solidFill>
                <a:latin typeface="Courier"/>
              </a:rPr>
              <a:t># Create separate plots for each lake</a:t>
            </a:r>
            <a:br/>
            <a:br/>
            <a:r>
              <a:rPr>
                <a:solidFill>
                  <a:srgbClr val="5E5E5E"/>
                </a:solidFill>
                <a:latin typeface="Courier"/>
              </a:rPr>
              <a:t># Show the QQ plot</a:t>
            </a:r>
            <a:br/>
            <a:r>
              <a:rPr>
                <a:solidFill>
                  <a:srgbClr val="003B4F"/>
                </a:solidFill>
                <a:latin typeface="Courier"/>
              </a:rPr>
              <a:t>qq_plot</a:t>
            </a:r>
          </a:p>
          <a:p>
            <a:pPr lvl="0" indent="0" marL="1270000">
              <a:buNone/>
            </a:pPr>
          </a:p>
          <a:p>
            <a:pPr lvl="0" indent="0" marL="0">
              <a:spcBef>
                <a:spcPts val="3000"/>
              </a:spcBef>
              <a:buNone/>
            </a:pPr>
            <a:r>
              <a:rPr b="1"/>
              <a:t>Formal normality test</a:t>
            </a:r>
          </a:p>
          <a:p>
            <a:pPr lvl="0" indent="0" marL="1270000">
              <a:buNone/>
            </a:pPr>
            <a:r>
              <a:rPr sz="2000" b="1"/>
              <a:t>Exercise: do a Shapiro-Wilk Test</a:t>
            </a:r>
          </a:p>
          <a:p>
            <a:pPr lvl="0" indent="0" marL="1270000">
              <a:buNone/>
            </a:pPr>
            <a:r>
              <a:rPr sz="2000"/>
              <a:t>We can do a formal test for a p value</a:t>
            </a:r>
          </a:p>
          <a:p>
            <a:pPr lvl="0" indent="0" marL="1270000">
              <a:buNone/>
            </a:pPr>
            <a:r>
              <a:rPr sz="2000"/>
              <a:t>Note island looks non normal in the qqplot but its really close with the Shapiro-Wilk test…</a:t>
            </a:r>
          </a:p>
          <a:p>
            <a:pPr lvl="0" indent="0">
              <a:buNone/>
            </a:pPr>
            <a:r>
              <a:rPr>
                <a:solidFill>
                  <a:srgbClr val="5E5E5E"/>
                </a:solidFill>
                <a:latin typeface="Courier"/>
              </a:rPr>
              <a:t># Formal test for normality: Shapiro-Wilk test</a:t>
            </a:r>
            <a:br/>
            <a:r>
              <a:rPr>
                <a:solidFill>
                  <a:srgbClr val="5E5E5E"/>
                </a:solidFill>
                <a:latin typeface="Courier"/>
              </a:rPr>
              <a:t># We'll do this for each lake separately</a:t>
            </a:r>
            <a:br/>
            <a:b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(normality_results)</a:t>
            </a:r>
          </a:p>
          <a:p>
            <a:pPr lvl="0" indent="0">
              <a:buNone/>
            </a:pPr>
            <a:r>
              <a:rPr sz="2000">
                <a:latin typeface="Courier"/>
              </a:rPr>
              <a:t># A tibble: 2 × 4
  lake        shapiro_stat shapiro_p_value normal_distribution
  &lt;chr&gt;              &lt;dbl&gt;           &lt;dbl&gt; &lt;chr&gt;              
1 Island Lake        0.841        4.54e- 2 Non-normal         
2 NE 12              0.851        5.94e-17 Non-normal         </a:t>
            </a:r>
          </a:p>
          <a:p>
            <a:pPr lvl="0" indent="0" marL="0">
              <a:spcBef>
                <a:spcPts val="3000"/>
              </a:spcBef>
              <a:buNone/>
            </a:pPr>
            <a:r>
              <a:rPr b="1"/>
              <a:t>Equality of variance test - Levene’s Test</a:t>
            </a:r>
          </a:p>
          <a:p>
            <a:pPr lvl="0" indent="0" marL="1270000">
              <a:buNone/>
            </a:pPr>
            <a:r>
              <a:rPr sz="2000" b="1"/>
              <a:t>Exercise: test for equal variances</a:t>
            </a:r>
          </a:p>
          <a:p>
            <a:pPr lvl="0" indent="0" marL="1270000">
              <a:buNone/>
            </a:pPr>
            <a:r>
              <a:rPr sz="2000"/>
              <a:t>Again we want the P value not significant</a:t>
            </a:r>
          </a:p>
          <a:p>
            <a:pPr lvl="0" indent="0" marL="1270000">
              <a:buNone/>
            </a:pPr>
            <a:r>
              <a:rPr sz="2000"/>
              <a:t>The Levene’s test has the following null hypothesis: - H₀: The variances are equal across groups - H₁: The variances are not equal across groups</a:t>
            </a:r>
          </a:p>
          <a:p>
            <a:pPr lvl="0" indent="0" marL="1270000">
              <a:buNone/>
            </a:pPr>
            <a:r>
              <a:rPr sz="2000"/>
              <a:t>If the p-value is less than 0.05, we reject the null hypothesis and conclude the variances are not equal.</a:t>
            </a:r>
          </a:p>
          <a:p>
            <a:pPr lvl="0" indent="0">
              <a:buNone/>
            </a:pPr>
            <a:r>
              <a:rPr>
                <a:solidFill>
                  <a:srgbClr val="5E5E5E"/>
                </a:solidFill>
                <a:latin typeface="Courier"/>
              </a:rPr>
              <a:t># Formal test for equal variances: Levene's test</a:t>
            </a:r>
            <a:b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(levene_result)</a:t>
            </a:r>
          </a:p>
          <a:p>
            <a:pPr lvl="0" indent="0">
              <a:buNone/>
            </a:pPr>
            <a:r>
              <a:rPr sz="2000">
                <a:latin typeface="Courier"/>
              </a:rPr>
              <a:t>Levene's Test for Homogeneity of Variance (center = median)
       Df F value    Pr(&gt;F)    
group   1  25.997 5.775e-07 ***
      330                      
---
Signif. codes:  0 '***' 0.001 '**' 0.01 '*' 0.05 '.' 0.1 ' ' 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Transformations</a:t>
            </a:r>
          </a:p>
        </p:txBody>
      </p:sp>
      <p:sp>
        <p:nvSpPr>
          <p:cNvPr id="3" name="Content Placeholder 2"/>
          <p:cNvSpPr>
            <a:spLocks noGrp="1"/>
          </p:cNvSpPr>
          <p:nvPr>
            <p:ph idx="1"/>
          </p:nvPr>
        </p:nvSpPr>
        <p:spPr/>
        <p:txBody>
          <a:bodyPr/>
          <a:lstStyle/>
          <a:p>
            <a:pPr lvl="0" indent="0" marL="0">
              <a:buNone/>
            </a:pPr>
            <a:r>
              <a:rPr/>
              <a:t>Commonly a log10 transformation works well.</a:t>
            </a:r>
          </a:p>
          <a:p>
            <a:pPr lvl="0" indent="0" marL="1270000">
              <a:buNone/>
            </a:pPr>
            <a:r>
              <a:rPr sz="2000" b="1"/>
              <a:t>Exercise: do a log transformation of Log 10</a:t>
            </a:r>
          </a:p>
          <a:p>
            <a:pPr lvl="0" indent="0" marL="1270000">
              <a:buNone/>
            </a:pPr>
            <a:r>
              <a:rPr sz="2000"/>
              <a:t>We could also look at the difference in means… some cool code here</a:t>
            </a:r>
          </a:p>
          <a:p>
            <a:pPr lvl="0" indent="0">
              <a:buNone/>
            </a:pPr>
            <a:r>
              <a:rPr>
                <a:solidFill>
                  <a:srgbClr val="5E5E5E"/>
                </a:solidFill>
                <a:latin typeface="Courier"/>
              </a:rPr>
              <a:t># Add log-transformed mass variable to our dataset</a:t>
            </a:r>
            <a:b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  </a:t>
            </a:r>
            <a:r>
              <a:rPr>
                <a:solidFill>
                  <a:srgbClr val="5E5E5E"/>
                </a:solidFill>
                <a:latin typeface="Courier"/>
              </a:rPr>
              <a:t># Create log10 transformed mass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6
  sampling_site species    length_mm mass_g lake        log_mass
  &lt;chr&gt;         &lt;chr&gt;          &lt;dbl&gt;  &lt;dbl&gt; &lt;chr&gt;          &lt;dbl&gt;
1 Island Lake   lake trout       640   2600 Island Lake     3.41
2 Island Lake   lake trout       650   2350 Island Lake     3.37
3 Island Lake   lake trout       585   2200 Island Lake     3.34
4 Island Lake   lake trout       720   3950 Island Lake     3.60
5 Island Lake   lake trout       880   6800 Island Lake     3.83
6 Island Lake   lake trout       830   3200 Island Lake     3.51</a:t>
            </a:r>
          </a:p>
          <a:p>
            <a:pPr lvl="0" indent="0" marL="0">
              <a:spcBef>
                <a:spcPts val="3000"/>
              </a:spcBef>
              <a:buNone/>
            </a:pPr>
            <a:r>
              <a:rPr b="1"/>
              <a:t>Now look at histograms of logged data</a:t>
            </a:r>
          </a:p>
          <a:p>
            <a:pPr lvl="0" indent="0" marL="1270000">
              <a:buNone/>
            </a:pPr>
            <a:r>
              <a:rPr sz="2000" b="1"/>
              <a:t>Exercise: histogram of transformed data</a:t>
            </a:r>
          </a:p>
          <a:p>
            <a:pPr lvl="0" indent="0" marL="1270000">
              <a:buNone/>
            </a:pPr>
            <a:r>
              <a:rPr sz="2000"/>
              <a:t>We need to see if it worked</a:t>
            </a:r>
          </a:p>
          <a:p>
            <a:pPr lvl="0" indent="0">
              <a:buNone/>
            </a:pPr>
            <a:r>
              <a:rPr>
                <a:solidFill>
                  <a:srgbClr val="5E5E5E"/>
                </a:solidFill>
                <a:latin typeface="Courier"/>
              </a:rPr>
              <a:t># Create histograms of log-transformed data</a:t>
            </a:r>
            <a:br/>
            <a:r>
              <a:rPr>
                <a:solidFill>
                  <a:srgbClr val="003B4F"/>
                </a:solidFill>
                <a:latin typeface="Courier"/>
              </a:rPr>
              <a:t>log_hist_plot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br/>
            <a:r>
              <a:rPr>
                <a:solidFill>
                  <a:srgbClr val="5E5E5E"/>
                </a:solidFill>
                <a:latin typeface="Courier"/>
              </a:rPr>
              <a:t># Show the log-transformed histogram</a:t>
            </a:r>
            <a:br/>
            <a:r>
              <a:rPr>
                <a:solidFill>
                  <a:srgbClr val="003B4F"/>
                </a:solidFill>
                <a:latin typeface="Courier"/>
              </a:rPr>
              <a:t>log_hist_plot</a:t>
            </a:r>
          </a:p>
          <a:p>
            <a:pPr lvl="0" indent="0" marL="1270000">
              <a:buNone/>
            </a:pPr>
          </a:p>
          <a:p>
            <a:pPr lvl="0" indent="0" marL="0">
              <a:spcBef>
                <a:spcPts val="3000"/>
              </a:spcBef>
              <a:buNone/>
            </a:pPr>
            <a:r>
              <a:rPr b="1"/>
              <a:t>Now a qqplot - we will skip Shapiro-Wilk this time ; )</a:t>
            </a:r>
          </a:p>
          <a:p>
            <a:pPr lvl="0" indent="0" marL="1270000">
              <a:buNone/>
            </a:pPr>
            <a:r>
              <a:rPr sz="2000" b="1"/>
              <a:t>Exercise: do a qqplot of transformed data</a:t>
            </a:r>
          </a:p>
          <a:p>
            <a:pPr lvl="0" indent="0" marL="1270000">
              <a:buNone/>
            </a:pPr>
            <a:r>
              <a:rPr sz="2000"/>
              <a:t>We could also look at the difference in means… some cool code here</a:t>
            </a:r>
          </a:p>
          <a:p>
            <a:pPr lvl="0" indent="0">
              <a:buNone/>
            </a:pPr>
            <a:r>
              <a:rPr>
                <a:solidFill>
                  <a:srgbClr val="5E5E5E"/>
                </a:solidFill>
                <a:latin typeface="Courier"/>
              </a:rPr>
              <a:t># QQ plot for log-transformed data</a:t>
            </a:r>
            <a:br/>
            <a:r>
              <a:rPr>
                <a:solidFill>
                  <a:srgbClr val="003B4F"/>
                </a:solidFill>
                <a:latin typeface="Courier"/>
              </a:rPr>
              <a:t>log_qq_plot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br/>
            <a:r>
              <a:rPr>
                <a:solidFill>
                  <a:srgbClr val="5E5E5E"/>
                </a:solidFill>
                <a:latin typeface="Courier"/>
              </a:rPr>
              <a:t># Show the log QQ plot</a:t>
            </a:r>
            <a:br/>
            <a:r>
              <a:rPr>
                <a:solidFill>
                  <a:srgbClr val="003B4F"/>
                </a:solidFill>
                <a:latin typeface="Courier"/>
              </a:rPr>
              <a:t>log_qq_plot</a:t>
            </a:r>
          </a:p>
          <a:p>
            <a:pPr lvl="0" indent="0" marL="1270000">
              <a:buNone/>
            </a:pPr>
          </a:p>
          <a:p>
            <a:pPr lvl="0" indent="0" marL="1270000">
              <a:buNone/>
            </a:pPr>
            <a:r>
              <a:rPr sz="2000" b="1"/>
              <a:t>Exercise: Shapiro-Wilk test</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(log_normality_results)</a:t>
            </a:r>
          </a:p>
          <a:p>
            <a:pPr lvl="0" indent="0">
              <a:buNone/>
            </a:pPr>
            <a:r>
              <a:rPr sz="2000">
                <a:latin typeface="Courier"/>
              </a:rPr>
              <a:t># A tibble: 2 × 4
  lake        shapiro_stat shapiro_p_value normal_distribution
  &lt;chr&gt;              &lt;dbl&gt;           &lt;dbl&gt; &lt;chr&gt;              
1 Island Lake        0.934    0.488        Normal             
2 NE 12              0.954    0.0000000158 Non-normal         </a:t>
            </a:r>
          </a:p>
          <a:p>
            <a:pPr lvl="0" indent="0" marL="1270000">
              <a:buNone/>
            </a:pPr>
            <a:r>
              <a:rPr sz="2000" b="1"/>
              <a:t>Exercise: Levene’s test</a:t>
            </a:r>
          </a:p>
          <a:p>
            <a:pPr lvl="0" indent="0">
              <a:buNone/>
            </a:pPr>
            <a:r>
              <a:rPr>
                <a:solidFill>
                  <a:srgbClr val="5E5E5E"/>
                </a:solidFill>
                <a:latin typeface="Courier"/>
              </a:rPr>
              <a:t># Check for equal variances in log-transformed data</a:t>
            </a: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(levene_log_result)</a:t>
            </a:r>
          </a:p>
          <a:p>
            <a:pPr lvl="0" indent="0">
              <a:buNone/>
            </a:pPr>
            <a:r>
              <a:rPr sz="2000">
                <a:latin typeface="Courier"/>
              </a:rPr>
              <a:t>Levene's Test for Homogeneity of Variance (center = median)
       Df F value    Pr(&gt;F)    
group   1   11.77 0.0006784 ***
      330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 fails! What next</a:t>
            </a:r>
          </a:p>
        </p:txBody>
      </p:sp>
      <p:sp>
        <p:nvSpPr>
          <p:cNvPr id="3" name="Content Placeholder 2"/>
          <p:cNvSpPr>
            <a:spLocks noGrp="1"/>
          </p:cNvSpPr>
          <p:nvPr>
            <p:ph idx="1"/>
          </p:nvPr>
        </p:nvSpPr>
        <p:spPr/>
        <p:txBody>
          <a:bodyPr/>
          <a:lstStyle/>
          <a:p>
            <a:pPr lvl="0" indent="0" marL="0">
              <a:spcBef>
                <a:spcPts val="3000"/>
              </a:spcBef>
              <a:buNone/>
            </a:pPr>
            <a:r>
              <a:rPr b="1"/>
              <a:t>For grins lets do the Two Sample T Test anyway</a:t>
            </a:r>
          </a:p>
          <a:p>
            <a:pPr lvl="0" indent="0" marL="1270000">
              <a:buNone/>
            </a:pPr>
            <a:r>
              <a:rPr sz="2000" b="1"/>
              <a:t>Exercise: Two sample T Test on regular data</a:t>
            </a:r>
          </a:p>
          <a:p>
            <a:pPr lvl="0" indent="0" marL="1270000">
              <a:buNone/>
            </a:pPr>
            <a:r>
              <a:rPr sz="2000"/>
              <a:t>Try a t test</a:t>
            </a:r>
          </a:p>
          <a:p>
            <a:pPr lvl="0" indent="0">
              <a:buNone/>
            </a:pPr>
            <a:r>
              <a:rPr>
                <a:solidFill>
                  <a:srgbClr val="5E5E5E"/>
                </a:solidFill>
                <a:latin typeface="Courier"/>
              </a:rPr>
              <a:t># Run a standard two-sample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(t_test_result)</a:t>
            </a:r>
          </a:p>
          <a:p>
            <a:pPr lvl="0" indent="0">
              <a:buNone/>
            </a:pPr>
            <a:r>
              <a:rPr sz="2000">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marL="1270000">
              <a:buNone/>
            </a:pPr>
            <a:r>
              <a:rPr sz="2000" b="1"/>
              <a:t>Exercise: Two sample T Test on transformed data</a:t>
            </a:r>
          </a:p>
          <a:p>
            <a:pPr lvl="0" indent="0" marL="1270000">
              <a:buNone/>
            </a:pPr>
            <a:r>
              <a:rPr sz="2000"/>
              <a:t>Try a t test</a:t>
            </a:r>
          </a:p>
          <a:p>
            <a:pPr lvl="0" indent="0">
              <a:buNone/>
            </a:pPr>
            <a:r>
              <a:rPr>
                <a:solidFill>
                  <a:srgbClr val="5E5E5E"/>
                </a:solidFill>
                <a:latin typeface="Courier"/>
              </a:rPr>
              <a:t># Run a t-test on log-transformed data</a:t>
            </a:r>
            <a:b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(log_t_test_result)</a:t>
            </a:r>
          </a:p>
          <a:p>
            <a:pPr lvl="0" indent="0">
              <a:buNone/>
            </a:pPr>
            <a:r>
              <a:rPr sz="2000">
                <a:latin typeface="Courier"/>
              </a:rPr>
              <a:t>
    Two Sample t-test
data:  log_mass by lake
t = 5.8192, df = 330, p-value = 1.4e-08
alternative hypothesis: true difference in means between group Island Lake and group NE 12 is not equal to 0
95 percent confidence interval:
 0.6614902 1.3371216
sample estimates:
mean in group Island Lake       mean in group NE 12 
                 3.457554                  2.458248 </a:t>
            </a:r>
          </a:p>
          <a:p>
            <a:pPr lvl="0" indent="0" marL="1270000">
              <a:buNone/>
            </a:pPr>
            <a:r>
              <a:rPr sz="2000" b="1"/>
              <a:t>Exercise: Looking at results of log10 data</a:t>
            </a:r>
          </a:p>
          <a:p>
            <a:pPr lvl="0" indent="0" marL="1270000">
              <a:buNone/>
            </a:pPr>
            <a:r>
              <a:rPr sz="2000"/>
              <a:t>When analyzing log-transformed data:</a:t>
            </a:r>
          </a:p>
          <a:p>
            <a:pPr lvl="0" indent="-342900" marL="342900">
              <a:buAutoNum type="arabicPeriod"/>
            </a:pPr>
            <a:r>
              <a:rPr sz="2000"/>
              <a:t>The mean of log-transformed data, when back-transformed, gives the geometric mean (not the arithmetic mean)</a:t>
            </a:r>
          </a:p>
          <a:p>
            <a:pPr lvl="0" indent="-342900" marL="342900">
              <a:buAutoNum type="arabicPeriod"/>
            </a:pPr>
            <a:r>
              <a:rPr sz="2000"/>
              <a:t>The back-transformed confidence intervals represent the confidence interval for the geometric mean and have to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Note you can’t take the 10^SE to get the standard errors but rather you need to get the mean - se and the mean + se and then back transform…</a:t>
            </a:r>
          </a:p>
          <a:p>
            <a:pPr lvl="0" indent="0">
              <a:buNone/>
            </a:pPr>
            <a:r>
              <a:rPr>
                <a:solidFill>
                  <a:srgbClr val="5E5E5E"/>
                </a:solidFill>
                <a:latin typeface="Courier"/>
              </a:rPr>
              <a:t># Calculate back-transformed means and confidence intervals</a:t>
            </a:r>
            <a:br/>
            <a:r>
              <a:rPr>
                <a:solidFill>
                  <a:srgbClr val="5E5E5E"/>
                </a:solidFill>
                <a:latin typeface="Courier"/>
              </a:rPr>
              <a:t># This converts log values back to original scale</a:t>
            </a:r>
            <a:b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5E5E5E"/>
                </a:solidFill>
                <a:latin typeface="Courier"/>
              </a:rPr>
              <a:t># Back-transform mean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5E5E5E"/>
                </a:solidFill>
                <a:latin typeface="Courier"/>
              </a:rPr>
              <a:t># Back transform SE</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5E5E5E"/>
                </a:solidFill>
                <a:latin typeface="Courier"/>
              </a:rPr>
              <a:t># Show back-transformed results</a:t>
            </a:r>
            <a:br/>
            <a:r>
              <a:rPr>
                <a:solidFill>
                  <a:srgbClr val="003B4F"/>
                </a:solidFill>
                <a:latin typeface="Courier"/>
              </a:rPr>
              <a:t>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a:buNone/>
            </a:pPr>
            <a:r>
              <a:rPr sz="2000">
                <a:latin typeface="Courier"/>
              </a:rPr>
              <a:t># A tibble: 2 × 4
  lake        mean_log geometric_mean arithmetic_mean
  &lt;chr&gt;          &lt;dbl&gt;          &lt;dbl&gt;           &lt;dbl&gt;
1 Island Lake     3.46          2868.           3165 
2 NE 12           2.46           287.            534.</a:t>
            </a:r>
          </a:p>
          <a:p>
            <a:pPr lvl="0" indent="0" marL="0">
              <a:spcBef>
                <a:spcPts val="3000"/>
              </a:spcBef>
              <a:buNone/>
            </a:pPr>
            <a:r>
              <a:rPr b="1"/>
              <a:t>Now plot the back transformed data</a:t>
            </a:r>
          </a:p>
          <a:p>
            <a:pPr lvl="0" indent="0" marL="0">
              <a:buNone/>
            </a:pPr>
            <a:r>
              <a:rPr/>
              <a:t>In some cases the error bars are not symmetrical</a:t>
            </a:r>
          </a:p>
          <a:p>
            <a:pPr lvl="0" indent="0" marL="1270000">
              <a:buNone/>
            </a:pPr>
            <a:r>
              <a:rPr sz="2000" b="1"/>
              <a:t>Exercise:</a:t>
            </a:r>
          </a:p>
          <a:p>
            <a:pPr lvl="0" indent="0" marL="1270000">
              <a:buNone/>
            </a:pPr>
            <a:r>
              <a:rPr sz="2000"/>
              <a:t>Try</a:t>
            </a:r>
          </a:p>
          <a:p>
            <a:pPr lvl="0" indent="0">
              <a:buNone/>
            </a:pPr>
            <a:r>
              <a:rPr>
                <a:solidFill>
                  <a:srgbClr val="5E5E5E"/>
                </a:solidFill>
                <a:latin typeface="Courier"/>
              </a:rPr>
              <a:t># Create a plot showing geometric means with SE bars</a:t>
            </a:r>
            <a:br/>
            <a:r>
              <a:rPr>
                <a:solidFill>
                  <a:srgbClr val="003B4F"/>
                </a:solidFill>
                <a:latin typeface="Courier"/>
              </a:rPr>
              <a:t>geo_mean_plot &lt;- 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5E5E5E"/>
                </a:solidFill>
                <a:latin typeface="Courier"/>
              </a:rPr>
              <a:t># Add bars for geometric means</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for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labels and title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Use a clean theme</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Remove legend (since we already have lake on x-axis)</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br/>
            <a:br/>
            <a:r>
              <a:rPr>
                <a:solidFill>
                  <a:srgbClr val="5E5E5E"/>
                </a:solidFill>
                <a:latin typeface="Courier"/>
              </a:rPr>
              <a:t># Display the plot</a:t>
            </a:r>
            <a:br/>
            <a:r>
              <a:rPr>
                <a:solidFill>
                  <a:srgbClr val="003B4F"/>
                </a:solidFill>
                <a:latin typeface="Courier"/>
              </a:rPr>
              <a:t>geo_mean_plot</a:t>
            </a:r>
          </a:p>
          <a:p>
            <a:pPr lvl="0" indent="0" marL="1270000">
              <a:buNone/>
            </a:pPr>
          </a:p>
          <a:p>
            <a:pPr lvl="0" indent="0" marL="0">
              <a:spcBef>
                <a:spcPts val="3000"/>
              </a:spcBef>
              <a:buNone/>
            </a:pPr>
            <a:r>
              <a:rPr b="1"/>
              <a:t>3. Welch’s t-test</a:t>
            </a:r>
          </a:p>
          <a:p>
            <a:pPr lvl="0" indent="0">
              <a:buNone/>
            </a:pPr>
            <a:r>
              <a:rPr>
                <a:solidFill>
                  <a:srgbClr val="5E5E5E"/>
                </a:solidFill>
                <a:latin typeface="Courier"/>
              </a:rPr>
              <a:t># Run Welch's t-test (doesn't assume equal variances)</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 Does NOT assume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(welch_test_result)</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a:p>
            <a:pPr lvl="0" indent="0" marL="1270000">
              <a:buNone/>
            </a:pPr>
            <a:r>
              <a:rPr sz="2000" b="1"/>
              <a:t>When to Use Welch’s t-test</a:t>
            </a:r>
          </a:p>
          <a:p>
            <a:pPr lvl="0" indent="0" marL="1270000">
              <a:buNone/>
            </a:pPr>
            <a:r>
              <a:rPr sz="2000"/>
              <a:t>Welch’s t-test is preferred when:</a:t>
            </a:r>
          </a:p>
          <a:p>
            <a:pPr lvl="0"/>
            <a:r>
              <a:rPr sz="2000"/>
              <a:t>- Group variances are unequal (as indicated by Levene’s test)</a:t>
            </a:r>
          </a:p>
          <a:p>
            <a:pPr lvl="0"/>
            <a:r>
              <a:rPr sz="2000"/>
              <a:t>- Sample sizes are different between groups</a:t>
            </a:r>
          </a:p>
          <a:p>
            <a:pPr lvl="0"/>
            <a:r>
              <a:rPr sz="2000"/>
              <a:t>- It’s more robust than the standard t-test in many situations</a:t>
            </a:r>
          </a:p>
          <a:p>
            <a:pPr lvl="0" indent="0" marL="0">
              <a:spcBef>
                <a:spcPts val="3000"/>
              </a:spcBef>
              <a:buNone/>
            </a:pPr>
            <a:r>
              <a:rPr b="1"/>
              <a:t>4. Mann-Whitney Wilcoxon test</a:t>
            </a:r>
          </a:p>
          <a:p>
            <a:pPr lvl="0" indent="0">
              <a:buNone/>
            </a:pPr>
            <a:r>
              <a:rPr>
                <a:solidFill>
                  <a:srgbClr val="5E5E5E"/>
                </a:solidFill>
                <a:latin typeface="Courier"/>
              </a:rPr>
              <a:t># Run Mann-Whitney U test (non-parametric alternative to t-test)</a:t>
            </a:r>
            <a:b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(wilcox_test_result)</a:t>
            </a:r>
          </a:p>
          <a:p>
            <a:pPr lvl="0" indent="0">
              <a:buNone/>
            </a:pPr>
            <a:r>
              <a:rPr>
                <a:latin typeface="Courier"/>
              </a:rPr>
              <a:t>
    Wilcoxon rank sum test with continuity correction
data:  mass_g by lake
W = 3205.5, p-value = 9.506e-08
alternative hypothesis: true location shift is not equal to 0</a:t>
            </a:r>
          </a:p>
          <a:p>
            <a:pPr lvl="0" indent="0" marL="1270000">
              <a:buNone/>
            </a:pPr>
            <a:r>
              <a:rPr sz="2000" b="1"/>
              <a:t>When to Use Mann-Whitney Wilcoxon Test</a:t>
            </a:r>
          </a:p>
          <a:p>
            <a:pPr lvl="0" indent="0" marL="1270000">
              <a:buNone/>
            </a:pPr>
            <a:r>
              <a:rPr sz="2000"/>
              <a:t>This non-parametric test is preferred when:</a:t>
            </a:r>
          </a:p>
          <a:p>
            <a:pPr lvl="0"/>
            <a:r>
              <a:rPr sz="2000"/>
              <a:t>- Data is not normally distributed (even after transformation)</a:t>
            </a:r>
          </a:p>
          <a:p>
            <a:pPr lvl="0"/>
            <a:r>
              <a:rPr sz="2000"/>
              <a:t>- Comparing medians rather than means</a:t>
            </a:r>
          </a:p>
          <a:p>
            <a:pPr lvl="0"/>
            <a:r>
              <a:rPr sz="2000"/>
              <a:t>- Data contains outliers that might affect a t-test</a:t>
            </a:r>
          </a:p>
          <a:p>
            <a:pPr lvl="0"/>
            <a:r>
              <a:rPr sz="2000"/>
              <a:t>- It compares the ranks of the values rather than the actual values</a:t>
            </a:r>
          </a:p>
          <a:p>
            <a:pPr lvl="0" indent="0" marL="0">
              <a:spcBef>
                <a:spcPts val="3000"/>
              </a:spcBef>
              <a:buNone/>
            </a:pPr>
            <a:r>
              <a:rPr b="1"/>
              <a:t>5. Permutation test</a:t>
            </a:r>
          </a:p>
          <a:p>
            <a:pPr lvl="0" indent="0">
              <a:buNone/>
            </a:pPr>
            <a:r>
              <a:rPr>
                <a:solidFill>
                  <a:srgbClr val="5E5E5E"/>
                </a:solidFill>
                <a:latin typeface="Courier"/>
              </a:rPr>
              <a:t># First, let's make sure we have balanced samples</a:t>
            </a:r>
            <a:br/>
            <a:r>
              <a:rPr>
                <a:solidFill>
                  <a:srgbClr val="5E5E5E"/>
                </a:solidFill>
                <a:latin typeface="Courier"/>
              </a:rPr>
              <a:t># We'll select a random subset from NE 12 to match Island Lake size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5E5E5E"/>
                </a:solidFill>
                <a:latin typeface="Courier"/>
              </a:rPr>
              <a:t># Get the smaller sample size</a:t>
            </a: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5E5E5E"/>
                </a:solidFill>
                <a:latin typeface="Courier"/>
              </a:rPr>
              <a:t># Randomly sample from NE 12 to match Island Lake size</a:t>
            </a: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5E5E5E"/>
                </a:solidFill>
                <a:latin typeface="Courier"/>
              </a:rPr>
              <a:t># Combine with Island Lake data</a:t>
            </a: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Extract mass data by lake</a:t>
            </a:r>
            <a:br/>
            <a:r>
              <a:rPr>
                <a:solidFill>
                  <a:srgbClr val="003B4F"/>
                </a:solidFill>
                <a:latin typeface="Courier"/>
              </a:rPr>
              <a:t>ne12_mass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island_mass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5E5E5E"/>
                </a:solidFill>
                <a:latin typeface="Courier"/>
              </a:rPr>
              <a:t># Run permutation test</a:t>
            </a: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  </a:t>
            </a:r>
            <a:r>
              <a:rPr>
                <a:solidFill>
                  <a:srgbClr val="5E5E5E"/>
                </a:solidFill>
                <a:latin typeface="Courier"/>
              </a:rPr>
              <a:t># Monte Carlo method for large samples</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  </a:t>
            </a:r>
            <a:r>
              <a:rPr>
                <a:solidFill>
                  <a:srgbClr val="5E5E5E"/>
                </a:solidFill>
                <a:latin typeface="Courier"/>
              </a:rPr>
              <a:t># Number of Monte Carlo replications</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(perm_test_result)</a:t>
            </a:r>
          </a:p>
          <a:p>
            <a:pPr lvl="0" indent="0">
              <a:buNone/>
            </a:pPr>
            <a:r>
              <a:rPr>
                <a:latin typeface="Courier"/>
              </a:rPr>
              <a:t>
    Exact Permutation Test Estimated by Monte Carlo
data:  ne12_mass and GROUP 2
p-value = 2e-04
alternative hypothesis: true mean ne12_mass - mean GROUP 2 is not equal to 0
sample estimates:
mean ne12_mass - mean GROUP 2 
                      -2519.9 
p-value estimated from 10000 Monte Carlo replications
99 percent confidence interval on p-value:
 0.000000000 0.001059383 </a:t>
            </a:r>
          </a:p>
          <a:p>
            <a:pPr lvl="0" indent="0" marL="1270000">
              <a:buNone/>
            </a:pPr>
            <a:r>
              <a:rPr sz="2000" b="1"/>
              <a:t>When to Use Permutation Tests</a:t>
            </a:r>
          </a:p>
          <a:p>
            <a:pPr lvl="0" indent="0" marL="1270000">
              <a:buNone/>
            </a:pPr>
            <a:r>
              <a:rPr sz="2000"/>
              <a:t>Permutation tests are useful when:</a:t>
            </a:r>
          </a:p>
          <a:p>
            <a:pPr lvl="0"/>
            <a:r>
              <a:rPr sz="2000"/>
              <a:t>- Sample sizes are small</a:t>
            </a:r>
          </a:p>
          <a:p>
            <a:pPr lvl="0"/>
            <a:r>
              <a:rPr sz="2000"/>
              <a:t>- Data doesn’t meet the assumptions for parametric tests</a:t>
            </a:r>
          </a:p>
          <a:p>
            <a:pPr lvl="0"/>
            <a:r>
              <a:rPr sz="2000"/>
              <a:t>- You want a robust test that makes minimal assumptions about the data</a:t>
            </a:r>
          </a:p>
          <a:p>
            <a:pPr lvl="0"/>
            <a:r>
              <a:rPr sz="2000"/>
              <a:t>- They can test any statistic, not just means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lets compare all of the results</a:t>
            </a:r>
          </a:p>
        </p:txBody>
      </p:sp>
      <p:sp>
        <p:nvSpPr>
          <p:cNvPr id="3" name="Content Placeholder 2"/>
          <p:cNvSpPr>
            <a:spLocks noGrp="1"/>
          </p:cNvSpPr>
          <p:nvPr>
            <p:ph idx="1"/>
          </p:nvPr>
        </p:nvSpPr>
        <p:spPr/>
        <p:txBody>
          <a:bodyPr/>
          <a:lstStyle/>
          <a:p>
            <a:pPr lvl="0" indent="0" marL="0">
              <a:buNone/>
            </a:pPr>
            <a:r>
              <a:rPr/>
              <a:t>Let’s compare the results from all tests:</a:t>
            </a:r>
          </a:p>
          <a:p>
            <a:pPr lvl="0" indent="0">
              <a:buNone/>
            </a:pPr>
            <a:r>
              <a:rPr>
                <a:solidFill>
                  <a:srgbClr val="5E5E5E"/>
                </a:solidFill>
                <a:latin typeface="Courier"/>
              </a:rPr>
              <a:t># Create a summary table of test statistics and p-values</a:t>
            </a:r>
            <a:b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 </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 </a:t>
            </a:r>
            <a:br/>
            <a:r>
              <a:rPr>
                <a:solidFill>
                  <a:srgbClr val="003B4F"/>
                </a:solidFill>
                <a:latin typeface="Courier"/>
              </a:rPr>
              <a:t>           </a:t>
            </a:r>
            <a:r>
              <a:rPr>
                <a:solidFill>
                  <a:srgbClr val="20794D"/>
                </a:solidFill>
                <a:latin typeface="Courier"/>
              </a:rPr>
              <a:t>"Welch's t-test"</a:t>
            </a:r>
            <a:r>
              <a:rPr>
                <a:solidFill>
                  <a:srgbClr val="003B4F"/>
                </a:solidFill>
                <a:latin typeface="Courier"/>
              </a:rPr>
              <a:t>, </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br/>
            <a:r>
              <a:rPr>
                <a:solidFill>
                  <a:srgbClr val="5E5E5E"/>
                </a:solidFill>
                <a:latin typeface="Courier"/>
              </a:rPr>
              <a:t># Display the results</a:t>
            </a:r>
            <a:br/>
            <a:r>
              <a:rPr>
                <a:solidFill>
                  <a:srgbClr val="003B4F"/>
                </a:solidFill>
                <a:latin typeface="Courier"/>
              </a:rPr>
              <a:t>test_results</a:t>
            </a:r>
          </a:p>
          <a:p>
            <a:pPr lvl="0" indent="0">
              <a:buNone/>
            </a:pPr>
            <a:r>
              <a:rPr>
                <a:latin typeface="Courier"/>
              </a:rPr>
              <a:t>                        Test  Statistic      p_value Significant
1            Standard t-test  t = 14.18 5.667524e-36        TRUE
2     Log-transformed t-test   t = 5.82 1.399864e-08        TRUE
3             Welch's t-test   t = 5.14 6.016186e-04        TRUE
4 Mann-Whitney Wilcoxon test W = 3205.5 9.506478e-08        TRUE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Results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combined visualization</a:t>
            </a:r>
            <a:b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Hide outliers as we'll plot points</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individual points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r>
              <a:rPr>
                <a:solidFill>
                  <a:srgbClr val="5E5E5E"/>
                </a:solidFill>
                <a:latin typeface="Courier"/>
              </a:rPr>
              <a:t># Remove redundant legend</a:t>
            </a:r>
            <a:br/>
            <a:br/>
            <a:r>
              <a:rPr>
                <a:solidFill>
                  <a:srgbClr val="5E5E5E"/>
                </a:solidFill>
                <a:latin typeface="Courier"/>
              </a:rPr>
              <a:t># Show the plot</a:t>
            </a:r>
            <a:br/>
            <a:r>
              <a:rPr>
                <a:solidFill>
                  <a:srgbClr val="003B4F"/>
                </a:solidFill>
                <a:latin typeface="Courier"/>
              </a:rPr>
              <a:t>combined_plot</a:t>
            </a:r>
          </a:p>
        </p:txBody>
      </p:sp>
      <p:pic>
        <p:nvPicPr>
          <p:cNvPr descr="nonparametric_t_tests_activity_files/figure-pptx/unnamed-chunk-27-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When reporting results from statistical tests, include:</a:t>
            </a:r>
          </a:p>
          <a:p>
            <a:pPr lvl="0" indent="0" marL="0">
              <a:spcBef>
                <a:spcPts val="3000"/>
              </a:spcBef>
              <a:buNone/>
            </a:pPr>
            <a:r>
              <a:rPr b="1"/>
              <a:t>For Standard t-test:</a:t>
            </a:r>
          </a:p>
          <a:p>
            <a:pPr lvl="0" indent="0">
              <a:buNone/>
            </a:pPr>
            <a:r>
              <a:rPr>
                <a:latin typeface="Courier"/>
              </a:rPr>
              <a:t>Lake trout from NE 12 had significantly different mass (M = [mean], SD = [SD]) compared to Island Lake (M = [mean], SD = [SD]), t([df]) = [t-value], p = [p-value].</a:t>
            </a:r>
          </a:p>
          <a:p>
            <a:pPr lvl="0" indent="0" marL="0">
              <a:spcBef>
                <a:spcPts val="3000"/>
              </a:spcBef>
              <a:buNone/>
            </a:pPr>
            <a:r>
              <a:rPr b="1"/>
              <a:t>For Log-transformed t-test:</a:t>
            </a:r>
          </a:p>
          <a:p>
            <a:pPr lvl="0" indent="0">
              <a:buNone/>
            </a:pPr>
            <a:r>
              <a:rPr>
                <a:latin typeface="Courier"/>
              </a:rPr>
              <a:t>After log transformation to meet normality assumptions, lake trout from NE 12 had significantly different mass (geometric mean = [value], 95% CI [lower-upper]) compared to Island Lake (geometric mean = [value], 95% CI [lower-upper]), t([df]) = [t-value], p = [p-value].</a:t>
            </a:r>
          </a:p>
          <a:p>
            <a:pPr lvl="0" indent="0" marL="0">
              <a:spcBef>
                <a:spcPts val="3000"/>
              </a:spcBef>
              <a:buNone/>
            </a:pPr>
            <a:r>
              <a:rPr b="1"/>
              <a:t>For Welch’s t-test:</a:t>
            </a:r>
          </a:p>
          <a:p>
            <a:pPr lvl="0" indent="0">
              <a:buNone/>
            </a:pPr>
            <a:r>
              <a:rPr>
                <a:latin typeface="Courier"/>
              </a:rPr>
              <a:t>Assuming unequal variances, lake trout from NE 12 had significantly different mass (M = [mean], SD = [SD]) compared to Island Lake (M = [mean], SD = [SD]), Welch's t([df]) = [t-value], p = [p-value].</a:t>
            </a:r>
          </a:p>
          <a:p>
            <a:pPr lvl="0" indent="0" marL="0">
              <a:spcBef>
                <a:spcPts val="3000"/>
              </a:spcBef>
              <a:buNone/>
            </a:pPr>
            <a:r>
              <a:rPr b="1"/>
              <a:t>For Mann-Whitney Wilcoxon test:</a:t>
            </a:r>
          </a:p>
          <a:p>
            <a:pPr lvl="0" indent="0">
              <a:buNone/>
            </a:pPr>
            <a:r>
              <a:rPr>
                <a:latin typeface="Courier"/>
              </a:rPr>
              <a:t>Lake trout mass differed significantly between NE 12 (Mdn = [median]) and Island Lake (Mdn = [median]), W = [W-value], p = [p-value].</a:t>
            </a:r>
          </a:p>
          <a:p>
            <a:pPr lvl="0" indent="0" marL="0">
              <a:spcBef>
                <a:spcPts val="3000"/>
              </a:spcBef>
              <a:buNone/>
            </a:pPr>
            <a:r>
              <a:rPr b="1"/>
              <a:t>For Permutation test:</a:t>
            </a:r>
          </a:p>
          <a:p>
            <a:pPr lvl="0" indent="0">
              <a:buNone/>
            </a:pPr>
            <a:r>
              <a:rPr>
                <a:latin typeface="Courier"/>
              </a:rPr>
              <a:t>Permutation testing (10,000 iterations) revealed significant differences in lake trout mass between NE 12 and Island Lake, p = [p-value].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their strengths and limitations, and the consistency of results across methods can strengthen your conclusions.</a:t>
            </a:r>
          </a:p>
          <a:p>
            <a:pPr lvl="0" indent="0" marL="1270000">
              <a:buNone/>
            </a:pPr>
            <a:r>
              <a:rPr sz="2000" b="1"/>
              <a:t>When to Use Each Test</a:t>
            </a:r>
          </a:p>
          <a:p>
            <a:pPr lvl="0"/>
            <a:r>
              <a:rPr sz="2000" b="1"/>
              <a:t>Standard t-test</a:t>
            </a:r>
            <a:r>
              <a:rPr sz="2000"/>
              <a:t>: When data is normally distributed with equal variances</a:t>
            </a:r>
          </a:p>
          <a:p>
            <a:pPr lvl="0"/>
            <a:r>
              <a:rPr sz="2000" b="1"/>
              <a:t>Log-transformed t-test</a:t>
            </a:r>
            <a:r>
              <a:rPr sz="2000"/>
              <a:t>: When raw data is skewed but log-transformation achieves normality</a:t>
            </a:r>
          </a:p>
          <a:p>
            <a:pPr lvl="0"/>
            <a:r>
              <a:rPr sz="2000" b="1"/>
              <a:t>Welch’s t-test</a:t>
            </a:r>
            <a:r>
              <a:rPr sz="2000"/>
              <a:t>: When variances are unequal</a:t>
            </a:r>
          </a:p>
          <a:p>
            <a:pPr lvl="0"/>
            <a:r>
              <a:rPr sz="2000" b="1"/>
              <a:t>Mann-Whitney Wilcoxon test</a:t>
            </a:r>
            <a:r>
              <a:rPr sz="2000"/>
              <a:t>: When data is not normal and cannot be transformed to normality</a:t>
            </a:r>
          </a:p>
          <a:p>
            <a:pPr lvl="0"/>
            <a:r>
              <a:rPr sz="2000" b="1"/>
              <a:t>Permutation test</a:t>
            </a:r>
            <a:r>
              <a:rPr sz="2000"/>
              <a:t>: When sample sizes are small or assumptions cannot be met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Non-Parametric T-Tests</dc:title>
  <dc:creator>Bill Perry</dc:creator>
  <cp:keywords/>
  <dc:description>Hands-on activity: rank-based alternatives to t-tests.</dc:description>
  <dcterms:created xsi:type="dcterms:W3CDTF">2026-07-06T00:58:38Z</dcterms:created>
  <dcterms:modified xsi:type="dcterms:W3CDTF">2026-07-06T00:58:38Z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