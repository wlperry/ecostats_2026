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Non-Parametric T-Tests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Rank-based tests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 class activity 7:</a:t>
            </a:r>
          </a:p>
        </p:txBody>
      </p:sp>
      <p:sp>
        <p:nvSpPr>
          <p:cNvPr id="3" name="Content Placeholder 2"/>
          <p:cNvSpPr>
            <a:spLocks noGrp="1"/>
          </p:cNvSpPr>
          <p:nvPr>
            <p:ph idx="1"/>
          </p:nvPr>
        </p:nvSpPr>
        <p:spPr/>
        <p:txBody>
          <a:bodyPr/>
          <a:lstStyle/>
          <a:p>
            <a:pPr lvl="0" indent="0" marL="0">
              <a:spcBef>
                <a:spcPts val="3000"/>
              </a:spcBef>
              <a:buNone/>
            </a:pPr>
            <a:r>
              <a:rPr b="1"/>
              <a:t>Introduction</a:t>
            </a:r>
          </a:p>
          <a:p>
            <a:pPr lvl="0" indent="0" marL="0">
              <a:buNone/>
            </a:pPr>
            <a:r>
              <a:rPr/>
              <a:t>This document demonstrates statistical analysis of lake trout mass data from Island Lake and NE 12, focusing on:</a:t>
            </a:r>
          </a:p>
          <a:p>
            <a:pPr lvl="0" indent="-342900" marL="342900">
              <a:buAutoNum type="arabicPeriod"/>
            </a:pPr>
            <a:r>
              <a:rPr/>
              <a:t>Testing assumptions for parametric tests</a:t>
            </a:r>
          </a:p>
          <a:p>
            <a:pPr lvl="0" indent="-342900" marL="342900">
              <a:buAutoNum type="arabicPeriod"/>
            </a:pPr>
            <a:r>
              <a:rPr/>
              <a:t>Transforming data when assumptions aren’t met</a:t>
            </a:r>
          </a:p>
          <a:p>
            <a:pPr lvl="0" indent="-342900" marL="342900">
              <a:buAutoNum type="arabicPeriod"/>
            </a:pPr>
            <a:r>
              <a:rPr/>
              <a:t>Running different types of tests:</a:t>
            </a:r>
          </a:p>
          <a:p>
            <a:pPr lvl="1"/>
            <a:r>
              <a:rPr/>
              <a:t>Standard t-test</a:t>
            </a:r>
          </a:p>
          <a:p>
            <a:pPr lvl="1"/>
            <a:r>
              <a:rPr/>
              <a:t>Log-transformed t-test</a:t>
            </a:r>
          </a:p>
          <a:p>
            <a:pPr lvl="1"/>
            <a:r>
              <a:rPr/>
              <a:t>Welch’s t-test</a:t>
            </a:r>
          </a:p>
          <a:p>
            <a:pPr lvl="1"/>
            <a:r>
              <a:rPr/>
              <a:t>Mann-Whitney Wilcoxon test</a:t>
            </a:r>
          </a:p>
          <a:p>
            <a:pPr lvl="1"/>
            <a:r>
              <a:rPr/>
              <a:t>Permutation test</a:t>
            </a:r>
          </a:p>
          <a:p>
            <a:pPr lvl="0" indent="-342900" marL="342900">
              <a:buAutoNum type="arabicPeriod"/>
            </a:pPr>
            <a:r>
              <a:rPr/>
              <a:t>Interpreting and reporting results properly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did we do last time in activity 6?</a:t>
            </a:r>
          </a:p>
        </p:txBody>
      </p:sp>
      <p:sp>
        <p:nvSpPr>
          <p:cNvPr id="3" name="Content Placeholder 2"/>
          <p:cNvSpPr>
            <a:spLocks noGrp="1"/>
          </p:cNvSpPr>
          <p:nvPr>
            <p:ph idx="1"/>
          </p:nvPr>
        </p:nvSpPr>
        <p:spPr/>
        <p:txBody>
          <a:bodyPr/>
          <a:lstStyle/>
          <a:p>
            <a:pPr lvl="0"/>
            <a:r>
              <a:rPr b="1"/>
              <a:t>Assumptions of parametric tests</a:t>
            </a:r>
          </a:p>
          <a:p>
            <a:pPr lvl="0"/>
            <a:r>
              <a:rPr/>
              <a:t>alpha and beta errors</a:t>
            </a:r>
          </a:p>
          <a:p>
            <a:pPr lvl="0"/>
            <a:r>
              <a:rPr/>
              <a:t>power</a:t>
            </a:r>
          </a:p>
          <a:p>
            <a:pPr lvl="0"/>
            <a:r>
              <a:rPr/>
              <a:t>making plots of mean and standard error</a:t>
            </a:r>
          </a:p>
          <a:p>
            <a:pPr lvl="0" indent="0" marL="0">
              <a:buNone/>
            </a:pPr>
            <a:r>
              <a:rPr/>
              <a:t>Lets start by exploring only lake NE 12 as if you were doing a single sample T test.</a:t>
            </a:r>
            <a:br/>
            <a:r>
              <a:rPr/>
              <a:t>We will test the assumptions and then do the a T Test on NE 12 compared to Island Lake.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Single Sample T-Test</a:t>
            </a:r>
          </a:p>
        </p:txBody>
      </p:sp>
      <p:sp>
        <p:nvSpPr>
          <p:cNvPr id="3" name="Content Placeholder 2"/>
          <p:cNvSpPr>
            <a:spLocks noGrp="1"/>
          </p:cNvSpPr>
          <p:nvPr>
            <p:ph idx="1" sz="half"/>
          </p:nvPr>
        </p:nvSpPr>
        <p:spPr/>
        <p:txBody>
          <a:bodyPr/>
          <a:lstStyle/>
          <a:p>
            <a:pPr lvl="0" indent="0" marL="0">
              <a:buNone/>
            </a:pPr>
            <a:r>
              <a:rPr/>
              <a:t>We want to test if the mass of lake trout differ in NE 12 from a mean of 500g.</a:t>
            </a:r>
          </a:p>
          <a:p>
            <a:pPr lvl="0" indent="0" marL="0">
              <a:buNone/>
            </a:pPr>
            <a:r>
              <a:rPr b="1"/>
              <a:t>Activity: Define hypotheses and identify assumptions</a:t>
            </a:r>
          </a:p>
          <a:p>
            <a:pPr lvl="0"/>
            <a:r>
              <a:rPr/>
              <a:t>H₀: μ = 500 (The mean mass of lake trout in NE12 is 500 g)</a:t>
            </a:r>
          </a:p>
          <a:p>
            <a:pPr lvl="0"/>
            <a:r>
              <a:rPr/>
              <a:t>H₁: μ ≠ 500 (The mean mass of lake trout in NE12 is not 500 g)</a:t>
            </a:r>
          </a:p>
        </p:txBody>
      </p:sp>
      <p:sp>
        <p:nvSpPr>
          <p:cNvPr id="4" name="Content Placeholder 3"/>
          <p:cNvSpPr>
            <a:spLocks noGrp="1"/>
          </p:cNvSpPr>
          <p:nvPr>
            <p:ph idx="2" sz="half"/>
          </p:nvPr>
        </p:nvSpPr>
        <p:spPr/>
        <p:txBody>
          <a:bodyPr/>
          <a:lstStyle/>
          <a:p>
            <a:pPr lvl="0" indent="0" marL="0">
              <a:spcBef>
                <a:spcPts val="3000"/>
              </a:spcBef>
              <a:buNone/>
            </a:pPr>
            <a:r>
              <a:rPr b="1"/>
              <a:t>Assumptions for t-test:</a:t>
            </a:r>
          </a:p>
          <a:p>
            <a:pPr lvl="0" indent="-342900" marL="342900">
              <a:buAutoNum type="arabicPeriod"/>
            </a:pPr>
            <a:r>
              <a:rPr/>
              <a:t>Data is normally distributed</a:t>
            </a:r>
          </a:p>
          <a:p>
            <a:pPr lvl="0" indent="-342900" marL="342900">
              <a:buAutoNum type="arabicPeriod"/>
            </a:pPr>
            <a:r>
              <a:rPr/>
              <a:t>Observations are independent</a:t>
            </a:r>
          </a:p>
          <a:p>
            <a:pPr lvl="0" indent="-342900" marL="342900">
              <a:buAutoNum type="arabicPeriod"/>
            </a:pPr>
            <a:r>
              <a:rPr/>
              <a:t>No significant outliers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Load Data and Test Assumptions</a:t>
            </a:r>
          </a:p>
        </p:txBody>
      </p:sp>
      <p:sp>
        <p:nvSpPr>
          <p:cNvPr id="3" name="Content Placeholder 2"/>
          <p:cNvSpPr>
            <a:spLocks noGrp="1"/>
          </p:cNvSpPr>
          <p:nvPr>
            <p:ph idx="1"/>
          </p:nvPr>
        </p:nvSpPr>
        <p:spPr/>
        <p:txBody>
          <a:bodyPr/>
          <a:lstStyle/>
          <a:p>
            <a:pPr lvl="0" indent="0" marL="0">
              <a:buNone/>
            </a:pPr>
            <a:r>
              <a:rPr/>
              <a:t>First we need to load the data for all the lakes and we can look at what we have…</a:t>
            </a:r>
          </a:p>
          <a:p>
            <a:pPr lvl="0" indent="0" marL="0">
              <a:buNone/>
            </a:pPr>
            <a:r>
              <a:rPr/>
              <a:t>How may lakes are there?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a:buNone/>
            </a:pPr>
            <a:r>
              <a:rPr>
                <a:solidFill>
                  <a:srgbClr val="5E5E5E"/>
                </a:solidFill>
                <a:latin typeface="Courier"/>
              </a:rPr>
              <a:t># Install packages if needed (uncomment if necessary)</a:t>
            </a:r>
            <a:br/>
            <a:r>
              <a:rPr>
                <a:solidFill>
                  <a:srgbClr val="5E5E5E"/>
                </a:solidFill>
                <a:latin typeface="Courier"/>
              </a:rPr>
              <a:t># install.packages("readr")</a:t>
            </a:r>
            <a:br/>
            <a:r>
              <a:rPr>
                <a:solidFill>
                  <a:srgbClr val="5E5E5E"/>
                </a:solidFill>
                <a:latin typeface="Courier"/>
              </a:rPr>
              <a:t># install.packages("tidyverse")</a:t>
            </a:r>
            <a:br/>
            <a:r>
              <a:rPr>
                <a:solidFill>
                  <a:srgbClr val="5E5E5E"/>
                </a:solidFill>
                <a:latin typeface="Courier"/>
              </a:rPr>
              <a:t># install.packages("car")</a:t>
            </a:r>
            <a:br/>
            <a:r>
              <a:rPr>
                <a:solidFill>
                  <a:srgbClr val="5E5E5E"/>
                </a:solidFill>
                <a:latin typeface="Courier"/>
              </a:rPr>
              <a:t># install.packages("here")</a:t>
            </a:r>
            <a:br/>
            <a:b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  </a:t>
            </a:r>
            <a:r>
              <a:rPr>
                <a:solidFill>
                  <a:srgbClr val="5E5E5E"/>
                </a:solidFill>
                <a:latin typeface="Courier"/>
              </a:rPr>
              <a:t># For data manipulation and visualization</a:t>
            </a:r>
          </a:p>
          <a:p>
            <a:pPr lvl="0" indent="0">
              <a:buNone/>
            </a:pPr>
            <a:r>
              <a:rPr>
                <a:latin typeface="Courier"/>
              </a:rPr>
              <a:t>── Attaching core tidyverse packages ──────────────────────── tidyverse 2.0.0 ──
✔ dplyr     1.2.1     ✔ readr     2.2.0
✔ forcats   1.0.1     ✔ stringr   1.6.0
✔ ggplot2   4.0.3     ✔ tibble    3.3.1
✔ lubridate 1.9.5     ✔ tidyr     1.3.2
✔ purrr     1.2.2     
── Conflicts ────────────────────────────────────────── tidyverse_conflicts() ──
✖ dplyr::filter() masks stats::filter()
✖ dplyr::lag()    masks stats::lag()
ℹ Use the conflicted package (&lt;http://conflicted.r-lib.org/&gt;) to force all conflicts to become errors</a:t>
            </a:r>
          </a:p>
          <a:p>
            <a:pPr lvl="0" indent="0">
              <a:buNone/>
            </a:pPr>
            <a:r>
              <a:rPr>
                <a:solidFill>
                  <a:srgbClr val="4758AB"/>
                </a:solidFill>
                <a:latin typeface="Courier"/>
              </a:rPr>
              <a:t>library</a:t>
            </a:r>
            <a:r>
              <a:rPr>
                <a:solidFill>
                  <a:srgbClr val="003B4F"/>
                </a:solidFill>
                <a:latin typeface="Courier"/>
              </a:rPr>
              <a:t>(car)        </a:t>
            </a:r>
            <a:r>
              <a:rPr>
                <a:solidFill>
                  <a:srgbClr val="5E5E5E"/>
                </a:solidFill>
                <a:latin typeface="Courier"/>
              </a:rPr>
              <a:t># For statistical tests</a:t>
            </a:r>
          </a:p>
          <a:p>
            <a:pPr lvl="0" indent="0">
              <a:buNone/>
            </a:pPr>
            <a:r>
              <a:rPr>
                <a:latin typeface="Courier"/>
              </a:rPr>
              <a:t>Loading required package: carData
Attaching package: 'car'
The following object is masked from 'package:dplyr':
    recode
The following object is masked from 'package:purrr':
    some</a:t>
            </a:r>
          </a:p>
          <a:p>
            <a:pPr lvl="0" indent="0">
              <a:buNone/>
            </a:pP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r>
              <a:rPr>
                <a:solidFill>
                  <a:srgbClr val="4758AB"/>
                </a:solidFill>
                <a:latin typeface="Courier"/>
              </a:rPr>
              <a:t>library</a:t>
            </a:r>
            <a:r>
              <a:rPr>
                <a:solidFill>
                  <a:srgbClr val="003B4F"/>
                </a:solidFill>
                <a:latin typeface="Courier"/>
              </a:rPr>
              <a:t>(perm)       </a:t>
            </a:r>
            <a:r>
              <a:rPr>
                <a:solidFill>
                  <a:srgbClr val="5E5E5E"/>
                </a:solidFill>
                <a:latin typeface="Courier"/>
              </a:rPr>
              <a:t># For permutation tests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pine needle data</a:t>
            </a:r>
            <a:br/>
            <a:r>
              <a:rPr>
                <a:solidFill>
                  <a:srgbClr val="5E5E5E"/>
                </a:solidFill>
                <a:latin typeface="Courier"/>
              </a:rPr>
              <a:t># Use here() function to specify the path</a:t>
            </a:r>
            <a:br/>
            <a:r>
              <a:rPr>
                <a:solidFill>
                  <a:srgbClr val="5E5E5E"/>
                </a:solidFill>
                <a:latin typeface="Courier"/>
              </a:rPr>
              <a:t># Read in the lake trout data</a:t>
            </a:r>
            <a:br/>
            <a:r>
              <a:rPr>
                <a:solidFill>
                  <a:srgbClr val="003B4F"/>
                </a:solidFill>
                <a:latin typeface="Courier"/>
              </a:rPr>
              <a:t>lt_df &lt;- </a:t>
            </a:r>
            <a:r>
              <a:rPr>
                <a:solidFill>
                  <a:srgbClr val="4758AB"/>
                </a:solidFill>
                <a:latin typeface="Courier"/>
              </a:rPr>
              <a:t>read_csv</a:t>
            </a:r>
            <a:r>
              <a:rPr>
                <a:solidFill>
                  <a:srgbClr val="003B4F"/>
                </a:solidFill>
                <a:latin typeface="Courier"/>
              </a:rPr>
              <a:t>(</a:t>
            </a:r>
            <a:r>
              <a:rPr>
                <a:solidFill>
                  <a:srgbClr val="20794D"/>
                </a:solidFill>
                <a:latin typeface="Courier"/>
              </a:rPr>
              <a:t>"data/lake_trout.csv"</a:t>
            </a:r>
            <a:r>
              <a:rPr>
                <a:solidFill>
                  <a:srgbClr val="003B4F"/>
                </a:solidFill>
                <a:latin typeface="Courier"/>
              </a:rPr>
              <a:t>)</a:t>
            </a:r>
          </a:p>
          <a:p>
            <a:pPr lvl="0" indent="0">
              <a:buNone/>
            </a:pPr>
            <a:r>
              <a:rPr>
                <a:latin typeface="Courier"/>
              </a:rPr>
              <a:t>Rows: 1502 Columns: 5
── Column specification ────────────────────────────────────────────────────────
Delimiter: ","
chr (3): sampling_site, species, lake
dbl (2): length_mm, mass_g
ℹ Use `spec()` to retrieve the full column specification for this data.
ℹ Specify the column types or set `show_col_types = FALSE` to quiet this message.</a:t>
            </a:r>
          </a:p>
          <a:p>
            <a:pPr lvl="0" indent="0">
              <a:buNone/>
            </a:pPr>
            <a:r>
              <a:rPr>
                <a:solidFill>
                  <a:srgbClr val="5E5E5E"/>
                </a:solidFill>
                <a:latin typeface="Courier"/>
              </a:rPr>
              <a:t># Examine the first few rows</a:t>
            </a:r>
            <a:br/>
            <a:r>
              <a:rPr>
                <a:solidFill>
                  <a:srgbClr val="4758AB"/>
                </a:solidFill>
                <a:latin typeface="Courier"/>
              </a:rPr>
              <a:t>head</a:t>
            </a:r>
            <a:r>
              <a:rPr>
                <a:solidFill>
                  <a:srgbClr val="003B4F"/>
                </a:solidFill>
                <a:latin typeface="Courier"/>
              </a:rPr>
              <a:t>(lt_df)</a:t>
            </a:r>
          </a:p>
          <a:p>
            <a:pPr lvl="0" indent="0">
              <a:buNone/>
            </a:pPr>
            <a:r>
              <a:rPr>
                <a:latin typeface="Courier"/>
              </a:rPr>
              <a:t># A tibble: 6 × 5
  sampling_site species    length_mm mass_g lake 
  &lt;chr&gt;         &lt;chr&gt;          &lt;dbl&gt;  &lt;dbl&gt; &lt;chr&gt;
1 I8            lake trout       515   1400 I8   
2 I8            lake trout       468   1100 I8   
3 I8            lake trout       527   1550 I8   
4 I8            lake trout       525   1350 I8   
5 I8            lake trout       517   1300 I8   
6 I8            lake trout       607   2100 I8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Part 1:</a:t>
            </a:r>
            <a:r>
              <a:rPr/>
              <a:t> Exploratory Data Analysis</a:t>
            </a:r>
          </a:p>
        </p:txBody>
      </p:sp>
      <p:sp>
        <p:nvSpPr>
          <p:cNvPr id="3" name="Content Placeholder 2"/>
          <p:cNvSpPr>
            <a:spLocks noGrp="1"/>
          </p:cNvSpPr>
          <p:nvPr>
            <p:ph idx="1"/>
          </p:nvPr>
        </p:nvSpPr>
        <p:spPr/>
        <p:txBody>
          <a:bodyPr/>
          <a:lstStyle/>
          <a:p>
            <a:pPr lvl="0" indent="0" marL="0">
              <a:buNone/>
            </a:pPr>
            <a:r>
              <a:rPr/>
              <a:t>Before conducting hypothesis tests, we should always explore our data to understand its characteristics.</a:t>
            </a:r>
          </a:p>
          <a:p>
            <a:pPr lvl="0" indent="0" marL="0">
              <a:buNone/>
            </a:pPr>
            <a:r>
              <a:rPr/>
              <a:t>Let’s calculate summary statistics and create visualizations.</a:t>
            </a:r>
          </a:p>
          <a:p>
            <a:pPr lvl="0" indent="0" marL="0">
              <a:buNone/>
            </a:pPr>
            <a:r>
              <a:rPr b="1"/>
              <a:t>Activity: Calculate basic summary statistics for lake trout mass</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Calculate summary statistics for lake trout mass</a:t>
            </a:r>
            <a:br/>
            <a:r>
              <a:rPr>
                <a:solidFill>
                  <a:srgbClr val="5E5E5E"/>
                </a:solidFill>
                <a:latin typeface="Courier"/>
              </a:rPr>
              <a:t># Hint: Use summarize() function to calculate mean, sd, n, etc.</a:t>
            </a:r>
            <a:br/>
            <a:br/>
            <a:r>
              <a:rPr>
                <a:solidFill>
                  <a:srgbClr val="5E5E5E"/>
                </a:solidFill>
                <a:latin typeface="Courier"/>
              </a:rPr>
              <a:t># Create a summary table for all lake trout</a:t>
            </a:r>
            <a:br/>
            <a:r>
              <a:rPr>
                <a:solidFill>
                  <a:srgbClr val="003B4F"/>
                </a:solidFill>
                <a:latin typeface="Courier"/>
              </a:rPr>
              <a:t>df_summary &lt;- lt_df </a:t>
            </a:r>
            <a:r>
              <a:rPr>
                <a:solidFill>
                  <a:srgbClr val="5E5E5E"/>
                </a:solidFill>
                <a:latin typeface="Courier"/>
              </a:rPr>
              <a:t>%&gt;%</a:t>
            </a:r>
            <a:br/>
            <a:r>
              <a:rPr>
                <a:solidFill>
                  <a:srgbClr val="003B4F"/>
                </a:solidFill>
                <a:latin typeface="Courier"/>
              </a:rPr>
              <a:t>  </a:t>
            </a:r>
            <a:r>
              <a:rPr>
                <a:solidFill>
                  <a:srgbClr val="5E5E5E"/>
                </a:solidFill>
                <a:latin typeface="Courier"/>
              </a:rPr>
              <a:t># group_by(lake) %&gt;% </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br/>
            <a:br/>
            <a:r>
              <a:rPr>
                <a:solidFill>
                  <a:srgbClr val="4758AB"/>
                </a:solidFill>
                <a:latin typeface="Courier"/>
              </a:rPr>
              <a:t>print</a:t>
            </a:r>
            <a:r>
              <a:rPr>
                <a:solidFill>
                  <a:srgbClr val="003B4F"/>
                </a:solidFill>
                <a:latin typeface="Courier"/>
              </a:rPr>
              <a:t>(df_summary)</a:t>
            </a:r>
          </a:p>
          <a:p>
            <a:pPr lvl="0" indent="0">
              <a:buNone/>
            </a:pPr>
            <a:r>
              <a:rPr>
                <a:latin typeface="Courier"/>
              </a:rPr>
              <a:t># A tibble: 1 × 4
  mean_length sd_length     n se_length
        &lt;dbl&gt;     &lt;dbl&gt; &lt;int&gt;     &lt;dbl&gt;
1        393.      108.  1454      2.83</a:t>
            </a:r>
          </a:p>
          <a:p>
            <a:pPr lvl="0" indent="0">
              <a:buNone/>
            </a:pPr>
            <a:r>
              <a:rPr>
                <a:solidFill>
                  <a:srgbClr val="5E5E5E"/>
                </a:solidFill>
                <a:latin typeface="Courier"/>
              </a:rPr>
              <a:t># Now calculate summary statistics by lake</a:t>
            </a:r>
            <a:br/>
            <a:r>
              <a:rPr>
                <a:solidFill>
                  <a:srgbClr val="5E5E5E"/>
                </a:solidFill>
                <a:latin typeface="Courier"/>
              </a:rPr>
              <a:t>#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Calculating Mode if you wanted to</a:t>
            </a:r>
          </a:p>
        </p:txBody>
      </p:sp>
      <p:sp>
        <p:nvSpPr>
          <p:cNvPr id="3" name="Content Placeholder 2"/>
          <p:cNvSpPr>
            <a:spLocks noGrp="1"/>
          </p:cNvSpPr>
          <p:nvPr>
            <p:ph idx="1"/>
          </p:nvPr>
        </p:nvSpPr>
        <p:spPr/>
        <p:txBody>
          <a:bodyPr/>
          <a:lstStyle/>
          <a:p>
            <a:pPr lvl="0" indent="0">
              <a:buNone/>
            </a:pPr>
            <a:r>
              <a:rPr>
                <a:solidFill>
                  <a:srgbClr val="5E5E5E"/>
                </a:solidFill>
                <a:latin typeface="Courier"/>
              </a:rPr>
              <a:t># I had accdentally asked you to do mode in HW2 - wiht out telling you how... </a:t>
            </a:r>
            <a:br/>
            <a:r>
              <a:rPr>
                <a:solidFill>
                  <a:srgbClr val="5E5E5E"/>
                </a:solidFill>
                <a:latin typeface="Courier"/>
              </a:rPr>
              <a:t># here is one approach</a:t>
            </a:r>
            <a:br/>
            <a:r>
              <a:rPr>
                <a:solidFill>
                  <a:srgbClr val="003B4F"/>
                </a:solidFill>
                <a:latin typeface="Courier"/>
              </a:rPr>
              <a:t>lt_df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mass_g)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count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"drop_last"</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arrange</a:t>
            </a:r>
            <a:r>
              <a:rPr>
                <a:solidFill>
                  <a:srgbClr val="003B4F"/>
                </a:solidFill>
                <a:latin typeface="Courier"/>
              </a:rPr>
              <a:t>(</a:t>
            </a:r>
            <a:r>
              <a:rPr>
                <a:solidFill>
                  <a:srgbClr val="4758AB"/>
                </a:solidFill>
                <a:latin typeface="Courier"/>
              </a:rPr>
              <a:t>desc</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slice</a:t>
            </a:r>
            <a:r>
              <a:rPr>
                <a:solidFill>
                  <a:srgbClr val="003B4F"/>
                </a:solidFill>
                <a:latin typeface="Courier"/>
              </a:rPr>
              <a:t>(</a:t>
            </a:r>
            <a:r>
              <a:rPr>
                <a:solidFill>
                  <a:srgbClr val="AD0000"/>
                </a:solidFill>
                <a:latin typeface="Courier"/>
              </a:rPr>
              <a:t>1</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a:t>
            </a:r>
            <a:r>
              <a:rPr>
                <a:solidFill>
                  <a:srgbClr val="5E5E5E"/>
                </a:solidFill>
                <a:latin typeface="Courier"/>
              </a:rPr>
              <a:t>-</a:t>
            </a:r>
            <a:r>
              <a:rPr>
                <a:solidFill>
                  <a:srgbClr val="003B4F"/>
                </a:solidFill>
                <a:latin typeface="Courier"/>
              </a:rPr>
              <a:t>count) </a:t>
            </a:r>
            <a:r>
              <a:rPr>
                <a:solidFill>
                  <a:srgbClr val="5E5E5E"/>
                </a:solidFill>
                <a:latin typeface="Courier"/>
              </a:rPr>
              <a:t>%&gt;%</a:t>
            </a:r>
            <a:br/>
            <a:r>
              <a:rPr>
                <a:solidFill>
                  <a:srgbClr val="003B4F"/>
                </a:solidFill>
                <a:latin typeface="Courier"/>
              </a:rPr>
              <a:t>  </a:t>
            </a:r>
            <a:r>
              <a:rPr>
                <a:solidFill>
                  <a:srgbClr val="4758AB"/>
                </a:solidFill>
                <a:latin typeface="Courier"/>
              </a:rPr>
              <a:t>rename</a:t>
            </a:r>
            <a:r>
              <a:rPr>
                <a:solidFill>
                  <a:srgbClr val="003B4F"/>
                </a:solidFill>
                <a:latin typeface="Courier"/>
              </a:rPr>
              <a:t>(</a:t>
            </a:r>
            <a:r>
              <a:rPr>
                <a:solidFill>
                  <a:srgbClr val="657422"/>
                </a:solidFill>
                <a:latin typeface="Courier"/>
              </a:rPr>
              <a:t>mode_mass =</a:t>
            </a:r>
            <a:r>
              <a:rPr>
                <a:solidFill>
                  <a:srgbClr val="003B4F"/>
                </a:solidFill>
                <a:latin typeface="Courier"/>
              </a:rPr>
              <a:t> mass_g)</a:t>
            </a:r>
          </a:p>
          <a:p>
            <a:pPr lvl="0" indent="0">
              <a:buNone/>
            </a:pPr>
            <a:r>
              <a:rPr>
                <a:latin typeface="Courier"/>
              </a:rPr>
              <a:t># A tibble: 6 × 2
# Groups:   lake [6]
  lake        mode_mass
  &lt;chr&gt;           &lt;dbl&gt;
1 I8               1000
2 Island Lake      2200
3 N 01             1000
4 NE 12              90
5 NE 14            1150
6 Toolik            340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Create a New dataframe of lake NE12 only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add your code here</a:t>
            </a:r>
            <a:br/>
            <a:r>
              <a:rPr>
                <a:solidFill>
                  <a:srgbClr val="003B4F"/>
                </a:solidFill>
                <a:latin typeface="Courier"/>
              </a:rPr>
              <a:t>ne12_df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r>
              <a:rPr>
                <a:solidFill>
                  <a:srgbClr val="5E5E5E"/>
                </a:solidFill>
                <a:latin typeface="Courier"/>
              </a:rPr>
              <a:t># Remove any NA values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Testing Assumptions</a:t>
            </a:r>
          </a:p>
        </p:txBody>
      </p:sp>
      <p:sp>
        <p:nvSpPr>
          <p:cNvPr id="3" name="Content Placeholder 2"/>
          <p:cNvSpPr>
            <a:spLocks noGrp="1"/>
          </p:cNvSpPr>
          <p:nvPr>
            <p:ph idx="1" sz="half"/>
          </p:nvPr>
        </p:nvSpPr>
        <p:spPr/>
        <p:txBody>
          <a:bodyPr/>
          <a:lstStyle/>
          <a:p>
            <a:pPr lvl="0" indent="0" marL="0">
              <a:buNone/>
            </a:pPr>
            <a:r>
              <a:rPr/>
              <a:t>Before conducting our t-test, we need to verify that our data meets the necessary assumptions.</a:t>
            </a:r>
          </a:p>
          <a:p>
            <a:pPr lvl="0" indent="0" marL="0">
              <a:buNone/>
            </a:pPr>
            <a:r>
              <a:rPr b="1"/>
              <a:t>Activity: Test the normality assumption</a:t>
            </a:r>
          </a:p>
        </p:txBody>
      </p:sp>
      <p:sp>
        <p:nvSpPr>
          <p:cNvPr id="4" name="Content Placeholder 3"/>
          <p:cNvSpPr>
            <a:spLocks noGrp="1"/>
          </p:cNvSpPr>
          <p:nvPr>
            <p:ph idx="2" sz="half"/>
          </p:nvPr>
        </p:nvSpPr>
        <p:spPr/>
        <p:txBody>
          <a:bodyPr/>
          <a:lstStyle/>
          <a:p>
            <a:pPr lvl="0" indent="0" marL="0">
              <a:buNone/>
            </a:pPr>
            <a:r>
              <a:rPr/>
              <a:t>Methods to test normality:</a:t>
            </a:r>
          </a:p>
          <a:p>
            <a:pPr lvl="0"/>
            <a:r>
              <a:rPr/>
              <a:t>Visual methods:</a:t>
            </a:r>
          </a:p>
          <a:p>
            <a:pPr lvl="1"/>
            <a:r>
              <a:rPr/>
              <a:t>QQ plots or histograms</a:t>
            </a:r>
            <a:br/>
          </a:p>
          <a:p>
            <a:pPr lvl="1"/>
            <a:r>
              <a:rPr/>
              <a:t>Statistical tests: Shapiro</a:t>
            </a:r>
            <a:br/>
          </a:p>
          <a:p>
            <a:pPr lvl="1"/>
            <a:r>
              <a:rPr/>
              <a:t>Wilk test</a:t>
            </a:r>
            <a:b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Part 1:</a:t>
            </a:r>
            <a:r>
              <a:rPr/>
              <a:t> Visualizing the assumptions and data</a:t>
            </a:r>
          </a:p>
        </p:txBody>
      </p:sp>
      <p:sp>
        <p:nvSpPr>
          <p:cNvPr id="3" name="Content Placeholder 2"/>
          <p:cNvSpPr>
            <a:spLocks noGrp="1"/>
          </p:cNvSpPr>
          <p:nvPr>
            <p:ph idx="1" sz="half"/>
          </p:nvPr>
        </p:nvSpPr>
        <p:spPr/>
        <p:txBody>
          <a:bodyPr/>
          <a:lstStyle/>
          <a:p>
            <a:pPr lvl="0" indent="0" marL="0">
              <a:buNone/>
            </a:pPr>
            <a:r>
              <a:rPr b="1"/>
              <a:t>Activity: Create visualizations of lake trout mass</a:t>
            </a:r>
          </a:p>
          <a:p>
            <a:pPr lvl="0" indent="0" marL="0">
              <a:buNone/>
            </a:pPr>
            <a:r>
              <a:rPr/>
              <a:t>Create a histogram and a boxplot to visualize the distribution of lake trout massvalues.</a:t>
            </a:r>
          </a:p>
        </p:txBody>
      </p:sp>
      <p:sp>
        <p:nvSpPr>
          <p:cNvPr id="4" name="Content Placeholder 3"/>
          <p:cNvSpPr>
            <a:spLocks noGrp="1"/>
          </p:cNvSpPr>
          <p:nvPr>
            <p:ph idx="2" sz="half"/>
          </p:nvPr>
        </p:nvSpPr>
        <p:spPr/>
        <p:txBody>
          <a:bodyPr/>
          <a:lstStyle/>
          <a:p>
            <a:pPr lvl="0" indent="0" marL="0">
              <a:buNone/>
            </a:pPr>
            <a:r>
              <a:rPr/>
              <a:t>Effective data visualization helps us understand:</a:t>
            </a:r>
          </a:p>
          <a:p>
            <a:pPr lvl="0"/>
            <a:r>
              <a:rPr/>
              <a:t>The central tendency</a:t>
            </a:r>
          </a:p>
          <a:p>
            <a:pPr lvl="0"/>
            <a:r>
              <a:rPr/>
              <a:t>The spread of the data</a:t>
            </a:r>
          </a:p>
          <a:p>
            <a:pPr lvl="0"/>
            <a:r>
              <a:rPr/>
              <a:t>Potential outliers</a:t>
            </a:r>
          </a:p>
          <a:p>
            <a:pPr lvl="0"/>
            <a:r>
              <a:rPr/>
              <a:t>Shape of distribution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Your Task</a:t>
            </a:r>
          </a:p>
        </p:txBody>
      </p:sp>
      <p:sp>
        <p:nvSpPr>
          <p:cNvPr id="4" name="Text Placeholder 3"/>
          <p:cNvSpPr>
            <a:spLocks noGrp="1"/>
          </p:cNvSpPr>
          <p:nvPr>
            <p:ph idx="2" sz="half" type="body"/>
          </p:nvPr>
        </p:nvSpPr>
        <p:spPr/>
        <p:txBody>
          <a:bodyPr/>
          <a:lstStyle/>
          <a:p>
            <a:pPr lvl="0" indent="0" marL="0">
              <a:spcBef>
                <a:spcPts val="3000"/>
              </a:spcBef>
              <a:buNone/>
            </a:pPr>
            <a:r>
              <a:rPr b="1"/>
              <a:t>Histogram for NE 12</a:t>
            </a:r>
          </a:p>
          <a:p>
            <a:pPr lvl="0" indent="0">
              <a:buNone/>
            </a:pPr>
            <a:r>
              <a:rPr>
                <a:solidFill>
                  <a:srgbClr val="5E5E5E"/>
                </a:solidFill>
                <a:latin typeface="Courier"/>
              </a:rPr>
              <a:t># YOUR </a:t>
            </a:r>
            <a:r>
              <a:rPr>
                <a:solidFill>
                  <a:srgbClr val="AD0000"/>
                </a:solidFill>
                <a:latin typeface="Courier"/>
              </a:rPr>
              <a:t>TASK</a:t>
            </a:r>
            <a:r>
              <a:rPr>
                <a:solidFill>
                  <a:srgbClr val="5E5E5E"/>
                </a:solidFill>
                <a:latin typeface="Courier"/>
              </a:rPr>
              <a:t>: Create a histogram of lake trout mass</a:t>
            </a:r>
            <a:br/>
            <a:r>
              <a:rPr>
                <a:solidFill>
                  <a:srgbClr val="5E5E5E"/>
                </a:solidFill>
                <a:latin typeface="Courier"/>
              </a:rPr>
              <a:t># Hint: Use ggplot() and geom_histogram()</a:t>
            </a:r>
            <a:br/>
            <a:br/>
            <a:r>
              <a:rPr>
                <a:solidFill>
                  <a:srgbClr val="5E5E5E"/>
                </a:solidFill>
                <a:latin typeface="Courier"/>
              </a:rPr>
              <a:t># Histogram of all lake trout weights</a:t>
            </a:r>
            <a:br/>
            <a:r>
              <a:rPr>
                <a:solidFill>
                  <a:srgbClr val="003B4F"/>
                </a:solidFill>
                <a:latin typeface="Courier"/>
              </a:rPr>
              <a:t>ne12_histo_plot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200</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"Frequency"</a:t>
            </a:r>
            <a:r>
              <a:rPr>
                <a:solidFill>
                  <a:srgbClr val="003B4F"/>
                </a:solidFill>
                <a:latin typeface="Courier"/>
              </a:rPr>
              <a:t>) </a:t>
            </a:r>
            <a:br/>
            <a:r>
              <a:rPr>
                <a:solidFill>
                  <a:srgbClr val="003B4F"/>
                </a:solidFill>
                <a:latin typeface="Courier"/>
              </a:rPr>
              <a:t>ne12_histo_plot</a:t>
            </a:r>
          </a:p>
        </p:txBody>
      </p:sp>
      <p:pic>
        <p:nvPicPr>
          <p:cNvPr descr="nonparametric_t_tests_activity_files/figure-pptx/visualize-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how can you make a dataframe only for lake NE 12 </a:t>
            </a:r>
            <a:br/>
            <a:r>
              <a:rPr>
                <a:solidFill>
                  <a:srgbClr val="5E5E5E"/>
                </a:solidFill>
                <a:latin typeface="Courier"/>
              </a:rPr>
              <a:t># and</a:t>
            </a:r>
            <a:br/>
            <a:r>
              <a:rPr>
                <a:solidFill>
                  <a:srgbClr val="5E5E5E"/>
                </a:solidFill>
                <a:latin typeface="Courier"/>
              </a:rPr>
              <a:t># make a histogram for lake NE 12 </a:t>
            </a:r>
            <a:br/>
            <a:r>
              <a:rPr>
                <a:solidFill>
                  <a:srgbClr val="5E5E5E"/>
                </a:solidFill>
                <a:latin typeface="Courier"/>
              </a:rPr>
              <a:t># Note we need the dataframe to make life a bit easier</a:t>
            </a:r>
          </a:p>
          <a:p>
            <a:pPr lvl="0" indent="0" marL="0">
              <a:spcBef>
                <a:spcPts val="3000"/>
              </a:spcBef>
              <a:buNone/>
            </a:pPr>
            <a:r>
              <a:rPr b="1"/>
              <a:t>Dot Plot for NE 12</a:t>
            </a:r>
          </a:p>
          <a:p>
            <a:pPr lvl="0" indent="0">
              <a:buNone/>
            </a:pPr>
            <a:r>
              <a:rPr>
                <a:solidFill>
                  <a:srgbClr val="5E5E5E"/>
                </a:solidFill>
                <a:latin typeface="Courier"/>
              </a:rPr>
              <a:t># 2. Dotplot</a:t>
            </a:r>
            <a:br/>
            <a:r>
              <a:rPr>
                <a:solidFill>
                  <a:srgbClr val="003B4F"/>
                </a:solidFill>
                <a:latin typeface="Courier"/>
              </a:rPr>
              <a:t>ne12_dot_plot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geom_dotplot</a:t>
            </a:r>
            <a:r>
              <a:rPr>
                <a:solidFill>
                  <a:srgbClr val="003B4F"/>
                </a:solidFill>
                <a:latin typeface="Courier"/>
              </a:rPr>
              <a:t>(</a:t>
            </a:r>
            <a:r>
              <a:rPr>
                <a:solidFill>
                  <a:srgbClr val="657422"/>
                </a:solidFill>
                <a:latin typeface="Courier"/>
              </a:rPr>
              <a:t>binwidth =</a:t>
            </a:r>
            <a:r>
              <a:rPr>
                <a:solidFill>
                  <a:srgbClr val="003B4F"/>
                </a:solidFill>
                <a:latin typeface="Courier"/>
              </a:rPr>
              <a:t> </a:t>
            </a:r>
            <a:r>
              <a:rPr>
                <a:solidFill>
                  <a:srgbClr val="AD0000"/>
                </a:solidFill>
                <a:latin typeface="Courier"/>
              </a:rPr>
              <a:t>60</a:t>
            </a:r>
            <a:r>
              <a:rPr>
                <a:solidFill>
                  <a:srgbClr val="003B4F"/>
                </a:solidFill>
                <a:latin typeface="Courier"/>
              </a:rPr>
              <a:t>, </a:t>
            </a:r>
            <a:r>
              <a:rPr>
                <a:solidFill>
                  <a:srgbClr val="657422"/>
                </a:solidFill>
                <a:latin typeface="Courier"/>
              </a:rPr>
              <a:t>stackdir =</a:t>
            </a:r>
            <a:r>
              <a:rPr>
                <a:solidFill>
                  <a:srgbClr val="003B4F"/>
                </a:solidFill>
                <a:latin typeface="Courier"/>
              </a:rPr>
              <a:t> </a:t>
            </a:r>
            <a:r>
              <a:rPr>
                <a:solidFill>
                  <a:srgbClr val="20794D"/>
                </a:solidFill>
                <a:latin typeface="Courier"/>
              </a:rPr>
              <a:t>"center"</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dotsize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"Dotplot"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a:t>
            </a:r>
            <a:r>
              <a:rPr>
                <a:solidFill>
                  <a:srgbClr val="003B4F"/>
                </a:solidFill>
                <a:latin typeface="Courier"/>
              </a:rPr>
              <a:t>) </a:t>
            </a:r>
            <a:br/>
            <a:r>
              <a:rPr>
                <a:solidFill>
                  <a:srgbClr val="003B4F"/>
                </a:solidFill>
                <a:latin typeface="Courier"/>
              </a:rPr>
              <a:t>ne12_dot_plot</a:t>
            </a:r>
          </a:p>
        </p:txBody>
      </p:sp>
      <p:pic>
        <p:nvPicPr>
          <p:cNvPr descr="nonparametric_t_tests_activity_files/figure-pptx/unnamed-chunk-3-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Box Plot for NE 12</a:t>
            </a:r>
          </a:p>
          <a:p>
            <a:pPr lvl="0" indent="0">
              <a:buNone/>
            </a:pPr>
            <a:r>
              <a:rPr>
                <a:solidFill>
                  <a:srgbClr val="5E5E5E"/>
                </a:solidFill>
                <a:latin typeface="Courier"/>
              </a:rPr>
              <a:t># 3. Boxplot</a:t>
            </a:r>
            <a:br/>
            <a:r>
              <a:rPr>
                <a:solidFill>
                  <a:srgbClr val="003B4F"/>
                </a:solidFill>
                <a:latin typeface="Courier"/>
              </a:rPr>
              <a:t>ne12_box_plot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y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coord_flip</a:t>
            </a:r>
            <a:r>
              <a:rPr>
                <a:solidFill>
                  <a:srgbClr val="003B4F"/>
                </a:solidFill>
                <a:latin typeface="Courier"/>
              </a:rPr>
              <a:t>()</a:t>
            </a:r>
            <a:br/>
            <a:r>
              <a:rPr>
                <a:solidFill>
                  <a:srgbClr val="003B4F"/>
                </a:solidFill>
                <a:latin typeface="Courier"/>
              </a:rPr>
              <a:t>ne12_box_plot</a:t>
            </a:r>
          </a:p>
        </p:txBody>
      </p:sp>
      <p:pic>
        <p:nvPicPr>
          <p:cNvPr descr="nonparametric_t_tests_activity_files/figure-pptx/unnamed-chunk-4-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QQ PLOT NE 12</a:t>
            </a:r>
          </a:p>
          <a:p>
            <a:pPr lvl="0" indent="0">
              <a:buNone/>
            </a:pPr>
            <a:r>
              <a:rPr>
                <a:solidFill>
                  <a:srgbClr val="003B4F"/>
                </a:solidFill>
                <a:latin typeface="Courier"/>
              </a:rPr>
              <a:t>ne12_qq_plot &lt;- </a:t>
            </a:r>
            <a:r>
              <a:rPr>
                <a:solidFill>
                  <a:srgbClr val="4758AB"/>
                </a:solidFill>
                <a:latin typeface="Courier"/>
              </a:rPr>
              <a:t>ggplot</a:t>
            </a:r>
            <a:r>
              <a:rPr>
                <a:solidFill>
                  <a:srgbClr val="003B4F"/>
                </a:solidFill>
                <a:latin typeface="Courier"/>
              </a:rPr>
              <a:t>(ne12_df,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a:t>
            </a:r>
            <a:r>
              <a:rPr>
                <a:solidFill>
                  <a:srgbClr val="657422"/>
                </a:solidFill>
                <a:latin typeface="Courier"/>
              </a:rPr>
              <a:t>color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a:t>
            </a: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ne12_qq_plot</a:t>
            </a:r>
          </a:p>
        </p:txBody>
      </p:sp>
      <p:pic>
        <p:nvPicPr>
          <p:cNvPr descr="nonparametric_t_tests_activity_files/figure-pptx/unnamed-chunk-5-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Use Patchwork to combine the plots</a:t>
            </a:r>
          </a:p>
          <a:p>
            <a:pPr lvl="0" indent="0">
              <a:buNone/>
            </a:pPr>
            <a:r>
              <a:rPr>
                <a:solidFill>
                  <a:srgbClr val="5E5E5E"/>
                </a:solidFill>
                <a:latin typeface="Courier"/>
              </a:rPr>
              <a:t># Combine all plots using patchwork</a:t>
            </a:r>
            <a:br/>
            <a:r>
              <a:rPr>
                <a:solidFill>
                  <a:srgbClr val="003B4F"/>
                </a:solidFill>
                <a:latin typeface="Courier"/>
              </a:rPr>
              <a:t>combined_stats_plot &lt;- (ne12_histo_plot </a:t>
            </a:r>
            <a:r>
              <a:rPr>
                <a:solidFill>
                  <a:srgbClr val="5E5E5E"/>
                </a:solidFill>
                <a:latin typeface="Courier"/>
              </a:rPr>
              <a:t>+</a:t>
            </a:r>
            <a:r>
              <a:rPr>
                <a:solidFill>
                  <a:srgbClr val="003B4F"/>
                </a:solidFill>
                <a:latin typeface="Courier"/>
              </a:rPr>
              <a:t> ne12_dot_plot) </a:t>
            </a:r>
            <a:r>
              <a:rPr>
                <a:solidFill>
                  <a:srgbClr val="5E5E5E"/>
                </a:solidFill>
                <a:latin typeface="Courier"/>
              </a:rPr>
              <a:t>/</a:t>
            </a:r>
            <a:r>
              <a:rPr>
                <a:solidFill>
                  <a:srgbClr val="003B4F"/>
                </a:solidFill>
                <a:latin typeface="Courier"/>
              </a:rPr>
              <a:t> (ne12_box_plot </a:t>
            </a:r>
            <a:r>
              <a:rPr>
                <a:solidFill>
                  <a:srgbClr val="5E5E5E"/>
                </a:solidFill>
                <a:latin typeface="Courier"/>
              </a:rPr>
              <a:t>+</a:t>
            </a:r>
            <a:r>
              <a:rPr>
                <a:solidFill>
                  <a:srgbClr val="003B4F"/>
                </a:solidFill>
                <a:latin typeface="Courier"/>
              </a:rPr>
              <a:t> ne12_qq_plot) </a:t>
            </a:r>
            <a:r>
              <a:rPr>
                <a:solidFill>
                  <a:srgbClr val="5E5E5E"/>
                </a:solidFill>
                <a:latin typeface="Courier"/>
              </a:rPr>
              <a:t>+</a:t>
            </a:r>
            <a:br/>
            <a:r>
              <a:rPr>
                <a:solidFill>
                  <a:srgbClr val="003B4F"/>
                </a:solidFill>
                <a:latin typeface="Courier"/>
              </a:rPr>
              <a:t>  </a:t>
            </a:r>
            <a:r>
              <a:rPr>
                <a:solidFill>
                  <a:srgbClr val="4758AB"/>
                </a:solidFill>
                <a:latin typeface="Courier"/>
              </a:rPr>
              <a:t>plot_annotation</a:t>
            </a:r>
            <a:r>
              <a:rPr>
                <a:solidFill>
                  <a:srgbClr val="003B4F"/>
                </a:solidFill>
                <a:latin typeface="Courier"/>
              </a:rPr>
              <a:t>(</a:t>
            </a:r>
            <a:br/>
            <a:r>
              <a:rPr>
                <a:solidFill>
                  <a:srgbClr val="003B4F"/>
                </a:solidFill>
                <a:latin typeface="Courier"/>
              </a:rPr>
              <a:t>    </a:t>
            </a:r>
            <a:r>
              <a:rPr>
                <a:solidFill>
                  <a:srgbClr val="657422"/>
                </a:solidFill>
                <a:latin typeface="Courier"/>
              </a:rPr>
              <a:t>theme =</a:t>
            </a: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plot.title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657422"/>
                </a:solidFill>
                <a:latin typeface="Courier"/>
              </a:rPr>
              <a:t>plot.subtitle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hjust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br/>
            <a:br/>
            <a:r>
              <a:rPr>
                <a:solidFill>
                  <a:srgbClr val="5E5E5E"/>
                </a:solidFill>
                <a:latin typeface="Courier"/>
              </a:rPr>
              <a:t># Display the combined plot</a:t>
            </a:r>
            <a:br/>
            <a:r>
              <a:rPr>
                <a:solidFill>
                  <a:srgbClr val="003B4F"/>
                </a:solidFill>
                <a:latin typeface="Courier"/>
              </a:rPr>
              <a:t>combined_stats_plot</a:t>
            </a:r>
          </a:p>
        </p:txBody>
      </p:sp>
      <p:pic>
        <p:nvPicPr>
          <p:cNvPr descr="nonparametric_t_tests_activity_files/figure-pptx/unnamed-chunk-6-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Shapiro-Wilk’s Test</a:t>
            </a:r>
          </a:p>
          <a:p>
            <a:pPr lvl="0" indent="0" marL="0">
              <a:buNone/>
            </a:pPr>
            <a:r>
              <a:rPr/>
              <a:t>Really want to do this on residuals</a:t>
            </a:r>
          </a:p>
          <a:p>
            <a:pPr lvl="0" indent="0">
              <a:buNone/>
            </a:pPr>
            <a:r>
              <a:rPr>
                <a:solidFill>
                  <a:srgbClr val="5E5E5E"/>
                </a:solidFill>
                <a:latin typeface="Courier"/>
              </a:rPr>
              <a:t># Shapiro-Wilk test</a:t>
            </a:r>
            <a:br/>
            <a:r>
              <a:rPr>
                <a:solidFill>
                  <a:srgbClr val="003B4F"/>
                </a:solidFill>
                <a:latin typeface="Courier"/>
              </a:rPr>
              <a:t>shapiro_test &lt;- </a:t>
            </a:r>
            <a:r>
              <a:rPr>
                <a:solidFill>
                  <a:srgbClr val="4758AB"/>
                </a:solidFill>
                <a:latin typeface="Courier"/>
              </a:rPr>
              <a:t>shapiro.test</a:t>
            </a:r>
            <a:r>
              <a:rPr>
                <a:solidFill>
                  <a:srgbClr val="003B4F"/>
                </a:solidFill>
                <a:latin typeface="Courier"/>
              </a:rPr>
              <a:t>(ne12_df</a:t>
            </a:r>
            <a:r>
              <a:rPr>
                <a:solidFill>
                  <a:srgbClr val="5E5E5E"/>
                </a:solidFill>
                <a:latin typeface="Courier"/>
              </a:rPr>
              <a:t>$</a:t>
            </a:r>
            <a:r>
              <a:rPr>
                <a:solidFill>
                  <a:srgbClr val="003B4F"/>
                </a:solidFill>
                <a:latin typeface="Courier"/>
              </a:rPr>
              <a:t>mass_g)</a:t>
            </a:r>
            <a:br/>
            <a:r>
              <a:rPr>
                <a:solidFill>
                  <a:srgbClr val="4758AB"/>
                </a:solidFill>
                <a:latin typeface="Courier"/>
              </a:rPr>
              <a:t>print</a:t>
            </a:r>
            <a:r>
              <a:rPr>
                <a:solidFill>
                  <a:srgbClr val="003B4F"/>
                </a:solidFill>
                <a:latin typeface="Courier"/>
              </a:rPr>
              <a:t>(shapiro_test)</a:t>
            </a:r>
          </a:p>
          <a:p>
            <a:pPr lvl="0" indent="0">
              <a:buNone/>
            </a:pPr>
            <a:r>
              <a:rPr>
                <a:latin typeface="Courier"/>
              </a:rPr>
              <a:t>
    Shapiro-Wilk normality test
data:  ne12_df$mass_g
W = 0.85148, p-value &lt; 2.2e-16</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that we have shown how mass of lake NE 12 fails what do we do next?</a:t>
            </a:r>
          </a:p>
        </p:txBody>
      </p:sp>
      <p:sp>
        <p:nvSpPr>
          <p:cNvPr id="3" name="Content Placeholder 2"/>
          <p:cNvSpPr>
            <a:spLocks noGrp="1"/>
          </p:cNvSpPr>
          <p:nvPr>
            <p:ph idx="1"/>
          </p:nvPr>
        </p:nvSpPr>
        <p:spPr/>
        <p:txBody>
          <a:bodyPr/>
          <a:lstStyle/>
          <a:p>
            <a:pPr lvl="0" indent="0" marL="0">
              <a:buNone/>
            </a:pPr>
            <a:r>
              <a:rPr/>
              <a:t>Lets explore a comparison of NE 12 and Island Lake mass_g</a:t>
            </a:r>
          </a:p>
          <a:p>
            <a:pPr lvl="0" indent="0" marL="1270000">
              <a:buNone/>
            </a:pPr>
            <a:r>
              <a:rPr sz="2000" b="1"/>
              <a:t>Exercise: Create a dataframe from </a:t>
            </a:r>
            <a:r>
              <a:rPr sz="2000" b="1">
                <a:latin typeface="Courier"/>
              </a:rPr>
              <a:t>Island Lake</a:t>
            </a:r>
            <a:r>
              <a:rPr sz="2000" b="1"/>
              <a:t> and </a:t>
            </a:r>
            <a:r>
              <a:rPr sz="2000" b="1">
                <a:latin typeface="Courier"/>
              </a:rPr>
              <a:t>NE 12</a:t>
            </a:r>
          </a:p>
          <a:p>
            <a:pPr lvl="0" indent="0">
              <a:buNone/>
            </a:pPr>
            <a:r>
              <a:rPr>
                <a:solidFill>
                  <a:srgbClr val="5E5E5E"/>
                </a:solidFill>
                <a:latin typeface="Courier"/>
              </a:rPr>
              <a:t># Create a dataframe with just Island Lake and NE 12 lakes</a:t>
            </a:r>
            <a:br/>
            <a:r>
              <a:rPr>
                <a:solidFill>
                  <a:srgbClr val="5E5E5E"/>
                </a:solidFill>
                <a:latin typeface="Courier"/>
              </a:rPr>
              <a:t># Filter out any NA values for mass</a:t>
            </a:r>
            <a:br/>
            <a:r>
              <a:rPr>
                <a:solidFill>
                  <a:srgbClr val="003B4F"/>
                </a:solidFill>
                <a:latin typeface="Courier"/>
              </a:rPr>
              <a:t>in_df &lt;- lt_df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"NE 12"</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  </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5
  sampling_site species    length_mm mass_g lake       
  &lt;chr&gt;         &lt;chr&gt;          &lt;dbl&gt;  &lt;dbl&gt; &lt;chr&gt;      
1 Island Lake   lake trout       640   2600 Island Lake
2 Island Lake   lake trout       650   2350 Island Lake
3 Island Lake   lake trout       585   2200 Island Lake
4 Island Lake   lake trout       720   3950 Island Lake
5 Island Lake   lake trout       880   6800 Island Lake
6 Island Lake   lake trout       830   3200 Island Lake</a:t>
            </a:r>
          </a:p>
          <a:p>
            <a:pPr lvl="0" indent="0" marL="1270000">
              <a:buNone/>
            </a:pPr>
            <a:r>
              <a:rPr sz="2000" b="1"/>
              <a:t>Get summary stats for lake trout mass in NE12 and Island lakes</a:t>
            </a:r>
          </a:p>
          <a:p>
            <a:pPr lvl="0" indent="0" marL="0">
              <a:spcBef>
                <a:spcPts val="3000"/>
              </a:spcBef>
              <a:buNone/>
            </a:pPr>
            <a:r>
              <a:rPr sz="2000" b="1"/>
              <a:t>Get a summary of the data by lake</a:t>
            </a:r>
          </a:p>
          <a:p>
            <a:pPr lvl="0" indent="0">
              <a:buNone/>
            </a:pPr>
            <a:r>
              <a:rPr>
                <a:solidFill>
                  <a:srgbClr val="5E5E5E"/>
                </a:solidFill>
                <a:latin typeface="Courier"/>
              </a:rPr>
              <a:t># Get a summary of the data by lake</a:t>
            </a:r>
            <a:br/>
            <a:r>
              <a:rPr>
                <a:solidFill>
                  <a:srgbClr val="003B4F"/>
                </a:solidFill>
                <a:latin typeface="Courier"/>
              </a:rPr>
              <a:t>summary_by_lake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                        </a:t>
            </a:r>
            <a:r>
              <a:rPr>
                <a:solidFill>
                  <a:srgbClr val="5E5E5E"/>
                </a:solidFill>
                <a:latin typeface="Courier"/>
              </a:rPr>
              <a:t># Count of observations</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5E5E5E"/>
                </a:solidFill>
                <a:latin typeface="Courier"/>
              </a:rPr>
              <a:t># Mean 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           </a:t>
            </a:r>
            <a:r>
              <a:rPr>
                <a:solidFill>
                  <a:srgbClr val="5E5E5E"/>
                </a:solidFill>
                <a:latin typeface="Courier"/>
              </a:rPr>
              <a:t># Standard deviation</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    </a:t>
            </a:r>
            <a:r>
              <a:rPr>
                <a:solidFill>
                  <a:srgbClr val="5E5E5E"/>
                </a:solidFill>
                <a:latin typeface="Courier"/>
              </a:rPr>
              <a:t># Standard error</a:t>
            </a:r>
            <a:br/>
            <a:r>
              <a:rPr>
                <a:solidFill>
                  <a:srgbClr val="003B4F"/>
                </a:solidFill>
                <a:latin typeface="Courier"/>
              </a:rPr>
              <a:t>    </a:t>
            </a:r>
            <a:r>
              <a:rPr>
                <a:solidFill>
                  <a:srgbClr val="657422"/>
                </a:solidFill>
                <a:latin typeface="Courier"/>
              </a:rPr>
              <a:t>min_mass =</a:t>
            </a:r>
            <a:r>
              <a:rPr>
                <a:solidFill>
                  <a:srgbClr val="003B4F"/>
                </a:solidFill>
                <a:latin typeface="Courier"/>
              </a:rPr>
              <a:t> </a:t>
            </a:r>
            <a:r>
              <a:rPr>
                <a:solidFill>
                  <a:srgbClr val="4758AB"/>
                </a:solidFill>
                <a:latin typeface="Courier"/>
              </a:rPr>
              <a:t>min</a:t>
            </a:r>
            <a:r>
              <a:rPr>
                <a:solidFill>
                  <a:srgbClr val="003B4F"/>
                </a:solidFill>
                <a:latin typeface="Courier"/>
              </a:rPr>
              <a:t>(mass_g),         </a:t>
            </a:r>
            <a:r>
              <a:rPr>
                <a:solidFill>
                  <a:srgbClr val="5E5E5E"/>
                </a:solidFill>
                <a:latin typeface="Courier"/>
              </a:rPr>
              <a:t># Minimum mass</a:t>
            </a:r>
            <a:br/>
            <a:r>
              <a:rPr>
                <a:solidFill>
                  <a:srgbClr val="003B4F"/>
                </a:solidFill>
                <a:latin typeface="Courier"/>
              </a:rPr>
              <a:t>    </a:t>
            </a:r>
            <a:r>
              <a:rPr>
                <a:solidFill>
                  <a:srgbClr val="657422"/>
                </a:solidFill>
                <a:latin typeface="Courier"/>
              </a:rPr>
              <a:t>max_mass =</a:t>
            </a:r>
            <a:r>
              <a:rPr>
                <a:solidFill>
                  <a:srgbClr val="003B4F"/>
                </a:solidFill>
                <a:latin typeface="Courier"/>
              </a:rPr>
              <a:t> </a:t>
            </a:r>
            <a:r>
              <a:rPr>
                <a:solidFill>
                  <a:srgbClr val="4758AB"/>
                </a:solidFill>
                <a:latin typeface="Courier"/>
              </a:rPr>
              <a:t>max</a:t>
            </a:r>
            <a:r>
              <a:rPr>
                <a:solidFill>
                  <a:srgbClr val="003B4F"/>
                </a:solidFill>
                <a:latin typeface="Courier"/>
              </a:rPr>
              <a:t>(mass_g)          </a:t>
            </a:r>
            <a:r>
              <a:rPr>
                <a:solidFill>
                  <a:srgbClr val="5E5E5E"/>
                </a:solidFill>
                <a:latin typeface="Courier"/>
              </a:rPr>
              <a:t># Maximum mass</a:t>
            </a:r>
            <a:br/>
            <a:r>
              <a:rPr>
                <a:solidFill>
                  <a:srgbClr val="003B4F"/>
                </a:solidFill>
                <a:latin typeface="Courier"/>
              </a:rPr>
              <a:t>  )</a:t>
            </a:r>
            <a:br/>
            <a:br/>
            <a:r>
              <a:rPr>
                <a:solidFill>
                  <a:srgbClr val="5E5E5E"/>
                </a:solidFill>
                <a:latin typeface="Courier"/>
              </a:rPr>
              <a:t># View the summary</a:t>
            </a:r>
            <a:br/>
            <a:r>
              <a:rPr>
                <a:solidFill>
                  <a:srgbClr val="003B4F"/>
                </a:solidFill>
                <a:latin typeface="Courier"/>
              </a:rPr>
              <a:t>summary_by_lake</a:t>
            </a:r>
          </a:p>
          <a:p>
            <a:pPr lvl="0" indent="0">
              <a:buNone/>
            </a:pPr>
            <a:r>
              <a:rPr sz="2000">
                <a:latin typeface="Courier"/>
              </a:rPr>
              <a:t># A tibble: 2 × 7
  lake            n mean_mass sd_mass se_mass min_mass max_mass
  &lt;chr&gt;       &lt;int&gt;     &lt;dbl&gt;   &lt;dbl&gt;   &lt;dbl&gt;    &lt;dbl&gt;    &lt;dbl&gt;
1 Island Lake    10     3165    1617.   511.      1650     6800
2 NE 12         322      534.    520.    29.0        9     2320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Visualize data by lake</a:t>
            </a:r>
          </a:p>
        </p:txBody>
      </p:sp>
      <p:sp>
        <p:nvSpPr>
          <p:cNvPr id="3" name="Content Placeholder 2"/>
          <p:cNvSpPr>
            <a:spLocks noGrp="1"/>
          </p:cNvSpPr>
          <p:nvPr>
            <p:ph idx="1"/>
          </p:nvPr>
        </p:nvSpPr>
        <p:spPr/>
        <p:txBody>
          <a:bodyPr/>
          <a:lstStyle/>
          <a:p>
            <a:pPr lvl="0" indent="0" marL="1270000">
              <a:buNone/>
            </a:pPr>
            <a:r>
              <a:rPr sz="2000" b="1"/>
              <a:t>Make a histogram of both Island and NE 12 lakes</a:t>
            </a:r>
          </a:p>
          <a:p>
            <a:pPr lvl="0" indent="0">
              <a:buNone/>
            </a:pPr>
            <a:r>
              <a:rPr>
                <a:solidFill>
                  <a:srgbClr val="5E5E5E"/>
                </a:solidFill>
                <a:latin typeface="Courier"/>
              </a:rPr>
              <a:t># Create histograms to visualize the distribution</a:t>
            </a:r>
            <a:br/>
            <a:r>
              <a:rPr>
                <a:solidFill>
                  <a:srgbClr val="003B4F"/>
                </a:solidFill>
                <a:latin typeface="Courier"/>
              </a:rPr>
              <a:t>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"Mass (g)"</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  </a:t>
            </a:r>
            <a:r>
              <a:rPr>
                <a:solidFill>
                  <a:srgbClr val="5E5E5E"/>
                </a:solidFill>
                <a:latin typeface="Courier"/>
              </a:rPr>
              <a:t># Separate plots with different y-scales</a:t>
            </a:r>
            <a:br/>
            <a:br/>
            <a:r>
              <a:rPr>
                <a:solidFill>
                  <a:srgbClr val="5E5E5E"/>
                </a:solidFill>
                <a:latin typeface="Courier"/>
              </a:rPr>
              <a:t># Show the histogram</a:t>
            </a:r>
            <a:br/>
            <a:r>
              <a:rPr>
                <a:solidFill>
                  <a:srgbClr val="003B4F"/>
                </a:solidFill>
                <a:latin typeface="Courier"/>
              </a:rPr>
              <a:t>hist_plot</a:t>
            </a:r>
          </a:p>
          <a:p>
            <a:pPr lvl="0" indent="0" marL="1270000">
              <a:buNone/>
            </a:pPr>
          </a:p>
          <a:p>
            <a:pPr lvl="0" indent="0" marL="0">
              <a:spcBef>
                <a:spcPts val="3000"/>
              </a:spcBef>
              <a:buNone/>
            </a:pPr>
            <a:r>
              <a:rPr b="1"/>
              <a:t>Practice for later if you choose</a:t>
            </a:r>
          </a:p>
          <a:p>
            <a:pPr lvl="0" indent="0" marL="0">
              <a:spcBef>
                <a:spcPts val="3000"/>
              </a:spcBef>
              <a:buNone/>
            </a:pPr>
            <a:r>
              <a:rPr b="1"/>
              <a:t>Informal Normality test - often better</a:t>
            </a:r>
          </a:p>
          <a:p>
            <a:pPr lvl="0" indent="0" marL="0">
              <a:spcBef>
                <a:spcPts val="3000"/>
              </a:spcBef>
              <a:buNone/>
            </a:pPr>
            <a:r>
              <a:rPr b="1"/>
              <a:t>QQ PLOT FOR BOTH LAKES</a:t>
            </a:r>
          </a:p>
          <a:p>
            <a:pPr lvl="0" indent="0" marL="1270000">
              <a:buNone/>
            </a:pPr>
            <a:r>
              <a:rPr sz="2000" b="1"/>
              <a:t>Exercise: check normality</a:t>
            </a:r>
          </a:p>
          <a:p>
            <a:pPr lvl="0" indent="0" marL="1270000">
              <a:buNone/>
            </a:pPr>
            <a:r>
              <a:rPr sz="2000"/>
              <a:t>Always do a qq plot</a:t>
            </a:r>
          </a:p>
          <a:p>
            <a:pPr lvl="0" indent="0" marL="1270000">
              <a:buNone/>
            </a:pPr>
            <a:r>
              <a:rPr sz="2000"/>
              <a:t>In a QQ plot, points that follow the line indicate data that follows a normal distribution. Deviations from the line suggest non-normality.</a:t>
            </a:r>
          </a:p>
          <a:p>
            <a:pPr lvl="0" indent="0">
              <a:buNone/>
            </a:pPr>
            <a:r>
              <a:rPr>
                <a:solidFill>
                  <a:srgbClr val="5E5E5E"/>
                </a:solidFill>
                <a:latin typeface="Courier"/>
              </a:rPr>
              <a:t># Create QQ plots for each lake to check normality</a:t>
            </a:r>
            <a:br/>
            <a:r>
              <a:rPr>
                <a:solidFill>
                  <a:srgbClr val="003B4F"/>
                </a:solidFill>
                <a:latin typeface="Courier"/>
              </a:rPr>
              <a:t>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mass_g,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Normality Check"</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5E5E5E"/>
                </a:solidFill>
                <a:latin typeface="Courier"/>
              </a:rPr>
              <a:t># Create separate plots for each lake</a:t>
            </a:r>
            <a:br/>
            <a:br/>
            <a:r>
              <a:rPr>
                <a:solidFill>
                  <a:srgbClr val="5E5E5E"/>
                </a:solidFill>
                <a:latin typeface="Courier"/>
              </a:rPr>
              <a:t># Show the QQ plot</a:t>
            </a:r>
            <a:br/>
            <a:r>
              <a:rPr>
                <a:solidFill>
                  <a:srgbClr val="003B4F"/>
                </a:solidFill>
                <a:latin typeface="Courier"/>
              </a:rPr>
              <a:t>qq_plot</a:t>
            </a:r>
          </a:p>
          <a:p>
            <a:pPr lvl="0" indent="0" marL="1270000">
              <a:buNone/>
            </a:pPr>
          </a:p>
          <a:p>
            <a:pPr lvl="0" indent="0" marL="0">
              <a:spcBef>
                <a:spcPts val="3000"/>
              </a:spcBef>
              <a:buNone/>
            </a:pPr>
            <a:r>
              <a:rPr b="1"/>
              <a:t>Formal normality test</a:t>
            </a:r>
          </a:p>
          <a:p>
            <a:pPr lvl="0" indent="0" marL="1270000">
              <a:buNone/>
            </a:pPr>
            <a:r>
              <a:rPr sz="2000" b="1"/>
              <a:t>Exercise: do a Shapiro-Wilk Test</a:t>
            </a:r>
          </a:p>
          <a:p>
            <a:pPr lvl="0" indent="0" marL="1270000">
              <a:buNone/>
            </a:pPr>
            <a:r>
              <a:rPr sz="2000"/>
              <a:t>We can do a formal test for a p value</a:t>
            </a:r>
          </a:p>
          <a:p>
            <a:pPr lvl="0" indent="0" marL="1270000">
              <a:buNone/>
            </a:pPr>
            <a:r>
              <a:rPr sz="2000"/>
              <a:t>Note island looks non normal in the qqplot but its really close with the Shapiro-Wilk test…</a:t>
            </a:r>
          </a:p>
          <a:p>
            <a:pPr lvl="0" indent="0">
              <a:buNone/>
            </a:pPr>
            <a:r>
              <a:rPr>
                <a:solidFill>
                  <a:srgbClr val="5E5E5E"/>
                </a:solidFill>
                <a:latin typeface="Courier"/>
              </a:rPr>
              <a:t># Formal test for normality: Shapiro-Wilk test</a:t>
            </a:r>
            <a:br/>
            <a:r>
              <a:rPr>
                <a:solidFill>
                  <a:srgbClr val="5E5E5E"/>
                </a:solidFill>
                <a:latin typeface="Courier"/>
              </a:rPr>
              <a:t># We'll do this for each lake separately</a:t>
            </a:r>
            <a:br/>
            <a:br/>
            <a:r>
              <a:rPr>
                <a:solidFill>
                  <a:srgbClr val="003B4F"/>
                </a:solidFill>
                <a:latin typeface="Courier"/>
              </a:rPr>
              <a:t>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(normality_results)</a:t>
            </a:r>
          </a:p>
          <a:p>
            <a:pPr lvl="0" indent="0">
              <a:buNone/>
            </a:pPr>
            <a:r>
              <a:rPr sz="2000">
                <a:latin typeface="Courier"/>
              </a:rPr>
              <a:t># A tibble: 2 × 4
  lake        shapiro_stat shapiro_p_value normal_distribution
  &lt;chr&gt;              &lt;dbl&gt;           &lt;dbl&gt; &lt;chr&gt;              
1 Island Lake        0.841        4.54e- 2 Non-normal         
2 NE 12              0.851        5.94e-17 Non-normal         </a:t>
            </a:r>
          </a:p>
          <a:p>
            <a:pPr lvl="0" indent="0" marL="0">
              <a:spcBef>
                <a:spcPts val="3000"/>
              </a:spcBef>
              <a:buNone/>
            </a:pPr>
            <a:r>
              <a:rPr b="1"/>
              <a:t>Equality of variance test - Levene’s Test</a:t>
            </a:r>
          </a:p>
          <a:p>
            <a:pPr lvl="0" indent="0" marL="1270000">
              <a:buNone/>
            </a:pPr>
            <a:r>
              <a:rPr sz="2000" b="1"/>
              <a:t>Exercise: test for equal variances</a:t>
            </a:r>
          </a:p>
          <a:p>
            <a:pPr lvl="0" indent="0" marL="1270000">
              <a:buNone/>
            </a:pPr>
            <a:r>
              <a:rPr sz="2000"/>
              <a:t>Again we want the P value not significant</a:t>
            </a:r>
          </a:p>
          <a:p>
            <a:pPr lvl="0" indent="0" marL="1270000">
              <a:buNone/>
            </a:pPr>
            <a:r>
              <a:rPr sz="2000"/>
              <a:t>The Levene’s test has the following null hypothesis: - H₀: The variances are equal across groups - H₁: The variances are not equal across groups</a:t>
            </a:r>
          </a:p>
          <a:p>
            <a:pPr lvl="0" indent="0" marL="1270000">
              <a:buNone/>
            </a:pPr>
            <a:r>
              <a:rPr sz="2000"/>
              <a:t>If the p-value is less than 0.05, we reject the null hypothesis and conclude the variances are not equal.</a:t>
            </a:r>
          </a:p>
          <a:p>
            <a:pPr lvl="0" indent="0">
              <a:buNone/>
            </a:pPr>
            <a:r>
              <a:rPr>
                <a:solidFill>
                  <a:srgbClr val="5E5E5E"/>
                </a:solidFill>
                <a:latin typeface="Courier"/>
              </a:rPr>
              <a:t># Formal test for equal variances: Levene's test</a:t>
            </a:r>
            <a:br/>
            <a:r>
              <a:rPr>
                <a:solidFill>
                  <a:srgbClr val="003B4F"/>
                </a:solidFill>
                <a:latin typeface="Courier"/>
              </a:rPr>
              <a:t>levene_result &lt;- </a:t>
            </a:r>
            <a:r>
              <a:rPr>
                <a:solidFill>
                  <a:srgbClr val="4758AB"/>
                </a:solidFill>
                <a:latin typeface="Courier"/>
              </a:rPr>
              <a:t>leveneTest</a:t>
            </a:r>
            <a:r>
              <a:rPr>
                <a:solidFill>
                  <a:srgbClr val="003B4F"/>
                </a:solidFill>
                <a:latin typeface="Courier"/>
              </a:rPr>
              <a:t>(mass_g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(levene_result)</a:t>
            </a:r>
          </a:p>
          <a:p>
            <a:pPr lvl="0" indent="0">
              <a:buNone/>
            </a:pPr>
            <a:r>
              <a:rPr sz="2000">
                <a:latin typeface="Courier"/>
              </a:rPr>
              <a:t>Levene's Test for Homogeneity of Variance (center = median)
       Df F value    Pr(&gt;F)    
group   1  25.997 5.775e-07 ***
      330                      
---
Signif. codes:  0 '***' 0.001 '**' 0.01 '*' 0.05 '.' 0.1 ' ' 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Transformations</a:t>
            </a:r>
          </a:p>
        </p:txBody>
      </p:sp>
      <p:sp>
        <p:nvSpPr>
          <p:cNvPr id="3" name="Content Placeholder 2"/>
          <p:cNvSpPr>
            <a:spLocks noGrp="1"/>
          </p:cNvSpPr>
          <p:nvPr>
            <p:ph idx="1"/>
          </p:nvPr>
        </p:nvSpPr>
        <p:spPr/>
        <p:txBody>
          <a:bodyPr/>
          <a:lstStyle/>
          <a:p>
            <a:pPr lvl="0" indent="0" marL="0">
              <a:buNone/>
            </a:pPr>
            <a:r>
              <a:rPr/>
              <a:t>Commonly a log10 transformation works well.</a:t>
            </a:r>
          </a:p>
          <a:p>
            <a:pPr lvl="0" indent="0" marL="1270000">
              <a:buNone/>
            </a:pPr>
            <a:r>
              <a:rPr sz="2000" b="1"/>
              <a:t>Exercise: do a log transformation of Log 10</a:t>
            </a:r>
          </a:p>
          <a:p>
            <a:pPr lvl="0" indent="0" marL="1270000">
              <a:buNone/>
            </a:pPr>
            <a:r>
              <a:rPr sz="2000"/>
              <a:t>We could also look at the difference in means… some cool code here</a:t>
            </a:r>
          </a:p>
          <a:p>
            <a:pPr lvl="0" indent="0">
              <a:buNone/>
            </a:pPr>
            <a:r>
              <a:rPr>
                <a:solidFill>
                  <a:srgbClr val="5E5E5E"/>
                </a:solidFill>
                <a:latin typeface="Courier"/>
              </a:rPr>
              <a:t># Add log-transformed mass variable to our dataset</a:t>
            </a:r>
            <a:br/>
            <a:r>
              <a:rPr>
                <a:solidFill>
                  <a:srgbClr val="003B4F"/>
                </a:solidFill>
                <a:latin typeface="Courier"/>
              </a:rPr>
              <a:t>in_df &lt;- in_df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log_mass =</a:t>
            </a:r>
            <a:r>
              <a:rPr>
                <a:solidFill>
                  <a:srgbClr val="003B4F"/>
                </a:solidFill>
                <a:latin typeface="Courier"/>
              </a:rPr>
              <a:t> </a:t>
            </a:r>
            <a:r>
              <a:rPr>
                <a:solidFill>
                  <a:srgbClr val="4758AB"/>
                </a:solidFill>
                <a:latin typeface="Courier"/>
              </a:rPr>
              <a:t>log10</a:t>
            </a:r>
            <a:r>
              <a:rPr>
                <a:solidFill>
                  <a:srgbClr val="003B4F"/>
                </a:solidFill>
                <a:latin typeface="Courier"/>
              </a:rPr>
              <a:t>(mass_g))  </a:t>
            </a:r>
            <a:r>
              <a:rPr>
                <a:solidFill>
                  <a:srgbClr val="5E5E5E"/>
                </a:solidFill>
                <a:latin typeface="Courier"/>
              </a:rPr>
              <a:t># Create log10 transformed mass</a:t>
            </a:r>
            <a:br/>
            <a:r>
              <a:rPr>
                <a:solidFill>
                  <a:srgbClr val="4758AB"/>
                </a:solidFill>
                <a:latin typeface="Courier"/>
              </a:rPr>
              <a:t>head</a:t>
            </a:r>
            <a:r>
              <a:rPr>
                <a:solidFill>
                  <a:srgbClr val="003B4F"/>
                </a:solidFill>
                <a:latin typeface="Courier"/>
              </a:rPr>
              <a:t>(in_df)</a:t>
            </a:r>
          </a:p>
          <a:p>
            <a:pPr lvl="0" indent="0">
              <a:buNone/>
            </a:pPr>
            <a:r>
              <a:rPr sz="2000">
                <a:latin typeface="Courier"/>
              </a:rPr>
              <a:t># A tibble: 6 × 6
  sampling_site species    length_mm mass_g lake        log_mass
  &lt;chr&gt;         &lt;chr&gt;          &lt;dbl&gt;  &lt;dbl&gt; &lt;chr&gt;          &lt;dbl&gt;
1 Island Lake   lake trout       640   2600 Island Lake     3.41
2 Island Lake   lake trout       650   2350 Island Lake     3.37
3 Island Lake   lake trout       585   2200 Island Lake     3.34
4 Island Lake   lake trout       720   3950 Island Lake     3.60
5 Island Lake   lake trout       880   6800 Island Lake     3.83
6 Island Lake   lake trout       830   3200 Island Lake     3.51</a:t>
            </a:r>
          </a:p>
          <a:p>
            <a:pPr lvl="0" indent="0" marL="0">
              <a:spcBef>
                <a:spcPts val="3000"/>
              </a:spcBef>
              <a:buNone/>
            </a:pPr>
            <a:r>
              <a:rPr b="1"/>
              <a:t>Now look at histograms of logged data</a:t>
            </a:r>
          </a:p>
          <a:p>
            <a:pPr lvl="0" indent="0" marL="1270000">
              <a:buNone/>
            </a:pPr>
            <a:r>
              <a:rPr sz="2000" b="1"/>
              <a:t>Exercise: histogram of transformed data</a:t>
            </a:r>
          </a:p>
          <a:p>
            <a:pPr lvl="0" indent="0" marL="1270000">
              <a:buNone/>
            </a:pPr>
            <a:r>
              <a:rPr sz="2000"/>
              <a:t>We need to see if it worked</a:t>
            </a:r>
          </a:p>
          <a:p>
            <a:pPr lvl="0" indent="0">
              <a:buNone/>
            </a:pPr>
            <a:r>
              <a:rPr>
                <a:solidFill>
                  <a:srgbClr val="5E5E5E"/>
                </a:solidFill>
                <a:latin typeface="Courier"/>
              </a:rPr>
              <a:t># Create histograms of log-transformed data</a:t>
            </a:r>
            <a:br/>
            <a:r>
              <a:rPr>
                <a:solidFill>
                  <a:srgbClr val="003B4F"/>
                </a:solidFill>
                <a:latin typeface="Courier"/>
              </a:rPr>
              <a:t>log_hist_plot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log_mass,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"Distribution of Log-Transformed Lake Trout Mass"</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"Log10 Mass"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 </a:t>
            </a:r>
            <a:r>
              <a:rPr>
                <a:solidFill>
                  <a:srgbClr val="657422"/>
                </a:solidFill>
                <a:latin typeface="Courier"/>
              </a:rPr>
              <a:t>scales =</a:t>
            </a:r>
            <a:r>
              <a:rPr>
                <a:solidFill>
                  <a:srgbClr val="003B4F"/>
                </a:solidFill>
                <a:latin typeface="Courier"/>
              </a:rPr>
              <a:t> </a:t>
            </a:r>
            <a:r>
              <a:rPr>
                <a:solidFill>
                  <a:srgbClr val="20794D"/>
                </a:solidFill>
                <a:latin typeface="Courier"/>
              </a:rPr>
              <a:t>"free_y"</a:t>
            </a:r>
            <a:r>
              <a:rPr>
                <a:solidFill>
                  <a:srgbClr val="003B4F"/>
                </a:solidFill>
                <a:latin typeface="Courier"/>
              </a:rPr>
              <a:t>)</a:t>
            </a:r>
            <a:br/>
            <a:br/>
            <a:r>
              <a:rPr>
                <a:solidFill>
                  <a:srgbClr val="5E5E5E"/>
                </a:solidFill>
                <a:latin typeface="Courier"/>
              </a:rPr>
              <a:t># Show the log-transformed histogram</a:t>
            </a:r>
            <a:br/>
            <a:r>
              <a:rPr>
                <a:solidFill>
                  <a:srgbClr val="003B4F"/>
                </a:solidFill>
                <a:latin typeface="Courier"/>
              </a:rPr>
              <a:t>log_hist_plot</a:t>
            </a:r>
          </a:p>
          <a:p>
            <a:pPr lvl="0" indent="0" marL="1270000">
              <a:buNone/>
            </a:pPr>
          </a:p>
          <a:p>
            <a:pPr lvl="0" indent="0" marL="0">
              <a:spcBef>
                <a:spcPts val="3000"/>
              </a:spcBef>
              <a:buNone/>
            </a:pPr>
            <a:r>
              <a:rPr b="1"/>
              <a:t>Now a qqplot - we will skip Shapiro-Wilk this time ; )</a:t>
            </a:r>
          </a:p>
          <a:p>
            <a:pPr lvl="0" indent="0" marL="1270000">
              <a:buNone/>
            </a:pPr>
            <a:r>
              <a:rPr sz="2000" b="1"/>
              <a:t>Exercise: do a qqplot of transformed data</a:t>
            </a:r>
          </a:p>
          <a:p>
            <a:pPr lvl="0" indent="0" marL="1270000">
              <a:buNone/>
            </a:pPr>
            <a:r>
              <a:rPr sz="2000"/>
              <a:t>We could also look at the difference in means… some cool code here</a:t>
            </a:r>
          </a:p>
          <a:p>
            <a:pPr lvl="0" indent="0">
              <a:buNone/>
            </a:pPr>
            <a:r>
              <a:rPr>
                <a:solidFill>
                  <a:srgbClr val="5E5E5E"/>
                </a:solidFill>
                <a:latin typeface="Courier"/>
              </a:rPr>
              <a:t># QQ plot for log-transformed data</a:t>
            </a:r>
            <a:br/>
            <a:r>
              <a:rPr>
                <a:solidFill>
                  <a:srgbClr val="003B4F"/>
                </a:solidFill>
                <a:latin typeface="Courier"/>
              </a:rPr>
              <a:t>log_qq_plot &lt;- in_df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log_mass, </a:t>
            </a:r>
            <a:r>
              <a:rPr>
                <a:solidFill>
                  <a:srgbClr val="657422"/>
                </a:solidFill>
                <a:latin typeface="Courier"/>
              </a:rPr>
              <a:t>color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for Log-Transformed Data"</a:t>
            </a:r>
            <a:r>
              <a:rPr>
                <a:solidFill>
                  <a:srgbClr val="003B4F"/>
                </a:solidFill>
                <a:latin typeface="Courier"/>
              </a:rPr>
              <a:t>, </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 </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lake)</a:t>
            </a:r>
            <a:br/>
            <a:br/>
            <a:r>
              <a:rPr>
                <a:solidFill>
                  <a:srgbClr val="5E5E5E"/>
                </a:solidFill>
                <a:latin typeface="Courier"/>
              </a:rPr>
              <a:t># Show the log QQ plot</a:t>
            </a:r>
            <a:br/>
            <a:r>
              <a:rPr>
                <a:solidFill>
                  <a:srgbClr val="003B4F"/>
                </a:solidFill>
                <a:latin typeface="Courier"/>
              </a:rPr>
              <a:t>log_qq_plot</a:t>
            </a:r>
          </a:p>
          <a:p>
            <a:pPr lvl="0" indent="0" marL="1270000">
              <a:buNone/>
            </a:pPr>
          </a:p>
          <a:p>
            <a:pPr lvl="0" indent="0" marL="1270000">
              <a:buNone/>
            </a:pPr>
            <a:r>
              <a:rPr sz="2000" b="1"/>
              <a:t>Exercise: Shapiro-Wilk test</a:t>
            </a:r>
          </a:p>
          <a:p>
            <a:pPr lvl="0" indent="0">
              <a:buNone/>
            </a:pPr>
            <a:r>
              <a:rPr>
                <a:solidFill>
                  <a:srgbClr val="003B4F"/>
                </a:solidFill>
                <a:latin typeface="Courier"/>
              </a:rPr>
              <a:t>log_normality_results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shapiro_stat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shapiro_p_value =</a:t>
            </a:r>
            <a:r>
              <a:rPr>
                <a:solidFill>
                  <a:srgbClr val="003B4F"/>
                </a:solidFill>
                <a:latin typeface="Courier"/>
              </a:rPr>
              <a:t> </a:t>
            </a:r>
            <a:r>
              <a:rPr>
                <a:solidFill>
                  <a:srgbClr val="4758AB"/>
                </a:solidFill>
                <a:latin typeface="Courier"/>
              </a:rPr>
              <a:t>shapiro.test</a:t>
            </a:r>
            <a:r>
              <a:rPr>
                <a:solidFill>
                  <a:srgbClr val="003B4F"/>
                </a:solidFill>
                <a:latin typeface="Courier"/>
              </a:rPr>
              <a:t>(</a:t>
            </a:r>
            <a:r>
              <a:rPr>
                <a:solidFill>
                  <a:srgbClr val="4758AB"/>
                </a:solidFill>
                <a:latin typeface="Courier"/>
              </a:rPr>
              <a:t>log10</a:t>
            </a:r>
            <a:r>
              <a:rPr>
                <a:solidFill>
                  <a:srgbClr val="003B4F"/>
                </a:solidFill>
                <a:latin typeface="Courier"/>
              </a:rPr>
              <a:t>(mass_g))</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normal_distribution =</a:t>
            </a:r>
            <a:r>
              <a:rPr>
                <a:solidFill>
                  <a:srgbClr val="003B4F"/>
                </a:solidFill>
                <a:latin typeface="Courier"/>
              </a:rPr>
              <a:t> </a:t>
            </a:r>
            <a:r>
              <a:rPr>
                <a:solidFill>
                  <a:srgbClr val="4758AB"/>
                </a:solidFill>
                <a:latin typeface="Courier"/>
              </a:rPr>
              <a:t>if_else</a:t>
            </a:r>
            <a:r>
              <a:rPr>
                <a:solidFill>
                  <a:srgbClr val="003B4F"/>
                </a:solidFill>
                <a:latin typeface="Courier"/>
              </a:rPr>
              <a:t>(shapiro_p_value </a:t>
            </a:r>
            <a:r>
              <a:rPr>
                <a:solidFill>
                  <a:srgbClr val="5E5E5E"/>
                </a:solidFill>
                <a:latin typeface="Courier"/>
              </a:rPr>
              <a:t>&gt;</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20794D"/>
                </a:solidFill>
                <a:latin typeface="Courier"/>
              </a:rPr>
              <a:t>"Normal"</a:t>
            </a:r>
            <a:r>
              <a:rPr>
                <a:solidFill>
                  <a:srgbClr val="003B4F"/>
                </a:solidFill>
                <a:latin typeface="Courier"/>
              </a:rPr>
              <a:t>, </a:t>
            </a:r>
            <a:r>
              <a:rPr>
                <a:solidFill>
                  <a:srgbClr val="20794D"/>
                </a:solidFill>
                <a:latin typeface="Courier"/>
              </a:rPr>
              <a:t>"Non-normal"</a:t>
            </a:r>
            <a:r>
              <a:rPr>
                <a:solidFill>
                  <a:srgbClr val="003B4F"/>
                </a:solidFill>
                <a:latin typeface="Courier"/>
              </a:rPr>
              <a:t>)</a:t>
            </a:r>
            <a:br/>
            <a:r>
              <a:rPr>
                <a:solidFill>
                  <a:srgbClr val="003B4F"/>
                </a:solidFill>
                <a:latin typeface="Courier"/>
              </a:rPr>
              <a:t>    </a:t>
            </a:r>
            <a:r>
              <a:rPr>
                <a:solidFill>
                  <a:srgbClr val="5E5E5E"/>
                </a:solidFill>
                <a:latin typeface="Courier"/>
              </a:rPr>
              <a:t># above wwe are using an ifelse test which is a great oneliner</a:t>
            </a:r>
            <a:br/>
            <a:r>
              <a:rPr>
                <a:solidFill>
                  <a:srgbClr val="003B4F"/>
                </a:solidFill>
                <a:latin typeface="Courier"/>
              </a:rPr>
              <a:t>  )</a:t>
            </a:r>
            <a:br/>
            <a:br/>
            <a:r>
              <a:rPr>
                <a:solidFill>
                  <a:srgbClr val="5E5E5E"/>
                </a:solidFill>
                <a:latin typeface="Courier"/>
              </a:rPr>
              <a:t># Print the results</a:t>
            </a:r>
            <a:br/>
            <a:r>
              <a:rPr>
                <a:solidFill>
                  <a:srgbClr val="4758AB"/>
                </a:solidFill>
                <a:latin typeface="Courier"/>
              </a:rPr>
              <a:t>print</a:t>
            </a:r>
            <a:r>
              <a:rPr>
                <a:solidFill>
                  <a:srgbClr val="003B4F"/>
                </a:solidFill>
                <a:latin typeface="Courier"/>
              </a:rPr>
              <a:t>(log_normality_results)</a:t>
            </a:r>
          </a:p>
          <a:p>
            <a:pPr lvl="0" indent="0">
              <a:buNone/>
            </a:pPr>
            <a:r>
              <a:rPr sz="2000">
                <a:latin typeface="Courier"/>
              </a:rPr>
              <a:t># A tibble: 2 × 4
  lake        shapiro_stat shapiro_p_value normal_distribution
  &lt;chr&gt;              &lt;dbl&gt;           &lt;dbl&gt; &lt;chr&gt;              
1 Island Lake        0.934    0.488        Normal             
2 NE 12              0.954    0.0000000158 Non-normal         </a:t>
            </a:r>
          </a:p>
          <a:p>
            <a:pPr lvl="0" indent="0" marL="1270000">
              <a:buNone/>
            </a:pPr>
            <a:r>
              <a:rPr sz="2000" b="1"/>
              <a:t>Exercise: Levene’s test</a:t>
            </a:r>
          </a:p>
          <a:p>
            <a:pPr lvl="0" indent="0">
              <a:buNone/>
            </a:pPr>
            <a:r>
              <a:rPr>
                <a:solidFill>
                  <a:srgbClr val="5E5E5E"/>
                </a:solidFill>
                <a:latin typeface="Courier"/>
              </a:rPr>
              <a:t># Check for equal variances in log-transformed data</a:t>
            </a:r>
            <a:br/>
            <a:r>
              <a:rPr>
                <a:solidFill>
                  <a:srgbClr val="003B4F"/>
                </a:solidFill>
                <a:latin typeface="Courier"/>
              </a:rPr>
              <a:t>levene_log_result &lt;- </a:t>
            </a:r>
            <a:r>
              <a:rPr>
                <a:solidFill>
                  <a:srgbClr val="4758AB"/>
                </a:solidFill>
                <a:latin typeface="Courier"/>
              </a:rPr>
              <a:t>leveneTest</a:t>
            </a:r>
            <a:r>
              <a:rPr>
                <a:solidFill>
                  <a:srgbClr val="003B4F"/>
                </a:solidFill>
                <a:latin typeface="Courier"/>
              </a:rPr>
              <a:t>(log_mass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in_df)</a:t>
            </a:r>
          </a:p>
          <a:p>
            <a:pPr lvl="0" indent="0">
              <a:buNone/>
            </a:pPr>
            <a:r>
              <a:rPr sz="2000">
                <a:latin typeface="Courier"/>
              </a:rPr>
              <a:t>Warning in leveneTest.default(y = y, group = group, ...): group coerced to
factor.</a:t>
            </a:r>
          </a:p>
          <a:p>
            <a:pPr lvl="0" indent="0">
              <a:buNone/>
            </a:pPr>
            <a:r>
              <a:rPr>
                <a:solidFill>
                  <a:srgbClr val="4758AB"/>
                </a:solidFill>
                <a:latin typeface="Courier"/>
              </a:rPr>
              <a:t>print</a:t>
            </a:r>
            <a:r>
              <a:rPr>
                <a:solidFill>
                  <a:srgbClr val="003B4F"/>
                </a:solidFill>
                <a:latin typeface="Courier"/>
              </a:rPr>
              <a:t>(levene_log_result)</a:t>
            </a:r>
          </a:p>
          <a:p>
            <a:pPr lvl="0" indent="0">
              <a:buNone/>
            </a:pPr>
            <a:r>
              <a:rPr sz="2000">
                <a:latin typeface="Courier"/>
              </a:rPr>
              <a:t>Levene's Test for Homogeneity of Variance (center = median)
       Df F value    Pr(&gt;F)    
group   1   11.77 0.0006784 ***
      330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Transformation fails! What next</a:t>
            </a:r>
          </a:p>
        </p:txBody>
      </p:sp>
      <p:sp>
        <p:nvSpPr>
          <p:cNvPr id="3" name="Content Placeholder 2"/>
          <p:cNvSpPr>
            <a:spLocks noGrp="1"/>
          </p:cNvSpPr>
          <p:nvPr>
            <p:ph idx="1"/>
          </p:nvPr>
        </p:nvSpPr>
        <p:spPr/>
        <p:txBody>
          <a:bodyPr/>
          <a:lstStyle/>
          <a:p>
            <a:pPr lvl="0" indent="0" marL="0">
              <a:spcBef>
                <a:spcPts val="3000"/>
              </a:spcBef>
              <a:buNone/>
            </a:pPr>
            <a:r>
              <a:rPr b="1"/>
              <a:t>For grins lets do the Two Sample T Test anyway</a:t>
            </a:r>
          </a:p>
          <a:p>
            <a:pPr lvl="0" indent="0" marL="1270000">
              <a:buNone/>
            </a:pPr>
            <a:r>
              <a:rPr sz="2000" b="1"/>
              <a:t>Exercise: Two sample T Test on regular data</a:t>
            </a:r>
          </a:p>
          <a:p>
            <a:pPr lvl="0" indent="0" marL="1270000">
              <a:buNone/>
            </a:pPr>
            <a:r>
              <a:rPr sz="2000"/>
              <a:t>Try a t test</a:t>
            </a:r>
          </a:p>
          <a:p>
            <a:pPr lvl="0" indent="0">
              <a:buNone/>
            </a:pPr>
            <a:r>
              <a:rPr>
                <a:solidFill>
                  <a:srgbClr val="5E5E5E"/>
                </a:solidFill>
                <a:latin typeface="Courier"/>
              </a:rPr>
              <a:t># Run a standard two-sample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(t_test_result)</a:t>
            </a:r>
          </a:p>
          <a:p>
            <a:pPr lvl="0" indent="0">
              <a:buNone/>
            </a:pPr>
            <a:r>
              <a:rPr sz="2000">
                <a:latin typeface="Courier"/>
              </a:rPr>
              <a:t>
    Two Sample t-test
data:  mass_g by lake
t = 14.181, df = 330, p-value &lt; 2.2e-16
alternative hypothesis: true difference in means between group Island Lake and group NE 12 is not equal to 0
95 percent confidence interval:
 2266.304 2996.360
sample estimates:
mean in group Island Lake       mean in group NE 12 
                3165.0000                  533.6677 </a:t>
            </a:r>
          </a:p>
          <a:p>
            <a:pPr lvl="0" indent="0" marL="1270000">
              <a:buNone/>
            </a:pPr>
            <a:r>
              <a:rPr sz="2000" b="1"/>
              <a:t>Exercise: Two sample T Test on transformed data</a:t>
            </a:r>
          </a:p>
          <a:p>
            <a:pPr lvl="0" indent="0" marL="1270000">
              <a:buNone/>
            </a:pPr>
            <a:r>
              <a:rPr sz="2000"/>
              <a:t>Try a t test</a:t>
            </a:r>
          </a:p>
          <a:p>
            <a:pPr lvl="0" indent="0">
              <a:buNone/>
            </a:pPr>
            <a:r>
              <a:rPr>
                <a:solidFill>
                  <a:srgbClr val="5E5E5E"/>
                </a:solidFill>
                <a:latin typeface="Courier"/>
              </a:rPr>
              <a:t># Run a t-test on log-transformed data</a:t>
            </a:r>
            <a:br/>
            <a:r>
              <a:rPr>
                <a:solidFill>
                  <a:srgbClr val="003B4F"/>
                </a:solidFill>
                <a:latin typeface="Courier"/>
              </a:rPr>
              <a:t>log_t_test_result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log_mass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 Assumes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(log_t_test_result)</a:t>
            </a:r>
          </a:p>
          <a:p>
            <a:pPr lvl="0" indent="0">
              <a:buNone/>
            </a:pPr>
            <a:r>
              <a:rPr sz="2000">
                <a:latin typeface="Courier"/>
              </a:rPr>
              <a:t>
    Two Sample t-test
data:  log_mass by lake
t = 5.8192, df = 330, p-value = 1.4e-08
alternative hypothesis: true difference in means between group Island Lake and group NE 12 is not equal to 0
95 percent confidence interval:
 0.6614902 1.3371216
sample estimates:
mean in group Island Lake       mean in group NE 12 
                 3.457554                  2.458248 </a:t>
            </a:r>
          </a:p>
          <a:p>
            <a:pPr lvl="0" indent="0" marL="1270000">
              <a:buNone/>
            </a:pPr>
            <a:r>
              <a:rPr sz="2000" b="1"/>
              <a:t>Exercise: Looking at results of log10 data</a:t>
            </a:r>
          </a:p>
          <a:p>
            <a:pPr lvl="0" indent="0" marL="1270000">
              <a:buNone/>
            </a:pPr>
            <a:r>
              <a:rPr sz="2000"/>
              <a:t>When analyzing log-transformed data:</a:t>
            </a:r>
          </a:p>
          <a:p>
            <a:pPr lvl="0" indent="-342900" marL="342900">
              <a:buAutoNum type="arabicPeriod"/>
            </a:pPr>
            <a:r>
              <a:rPr sz="2000"/>
              <a:t>The mean of log-transformed data, when back-transformed, gives the geometric mean (not the arithmetic mean)</a:t>
            </a:r>
          </a:p>
          <a:p>
            <a:pPr lvl="0" indent="-342900" marL="342900">
              <a:buAutoNum type="arabicPeriod"/>
            </a:pPr>
            <a:r>
              <a:rPr sz="2000"/>
              <a:t>The back-transformed confidence intervals represent the confidence interval for the geometric mean and have to be calculated carefully</a:t>
            </a:r>
          </a:p>
          <a:p>
            <a:pPr lvl="0" indent="-342900" marL="342900">
              <a:buAutoNum type="arabicPeriod"/>
            </a:pPr>
            <a:r>
              <a:rPr sz="2000"/>
              <a:t>Report results like: “The geometric mean mass of lake trout in NE 12 was X g (95% CI: Y-Z)”</a:t>
            </a:r>
          </a:p>
          <a:p>
            <a:pPr lvl="0" indent="-342900" marL="342900">
              <a:buAutoNum type="arabicPeriod"/>
            </a:pPr>
            <a:r>
              <a:rPr sz="2000"/>
              <a:t>Note you can’t take the 10^SE to get the standard errors but rather you need to get the mean - se and the mean + se and then back transform…</a:t>
            </a:r>
          </a:p>
          <a:p>
            <a:pPr lvl="0" indent="0">
              <a:buNone/>
            </a:pPr>
            <a:r>
              <a:rPr>
                <a:solidFill>
                  <a:srgbClr val="5E5E5E"/>
                </a:solidFill>
                <a:latin typeface="Courier"/>
              </a:rPr>
              <a:t># Calculate back-transformed means and confidence intervals</a:t>
            </a:r>
            <a:br/>
            <a:r>
              <a:rPr>
                <a:solidFill>
                  <a:srgbClr val="5E5E5E"/>
                </a:solidFill>
                <a:latin typeface="Courier"/>
              </a:rPr>
              <a:t># This converts log values back to original scale</a:t>
            </a:r>
            <a:br/>
            <a:r>
              <a:rPr>
                <a:solidFill>
                  <a:srgbClr val="003B4F"/>
                </a:solidFill>
                <a:latin typeface="Courier"/>
              </a:rPr>
              <a:t>back_transformed &lt;- in_df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mean_log =</a:t>
            </a:r>
            <a:r>
              <a:rPr>
                <a:solidFill>
                  <a:srgbClr val="003B4F"/>
                </a:solidFill>
                <a:latin typeface="Courier"/>
              </a:rPr>
              <a:t> </a:t>
            </a:r>
            <a:r>
              <a:rPr>
                <a:solidFill>
                  <a:srgbClr val="4758AB"/>
                </a:solidFill>
                <a:latin typeface="Courier"/>
              </a:rPr>
              <a:t>mean</a:t>
            </a:r>
            <a:r>
              <a:rPr>
                <a:solidFill>
                  <a:srgbClr val="003B4F"/>
                </a:solidFill>
                <a:latin typeface="Courier"/>
              </a:rPr>
              <a:t>(log_mass),</a:t>
            </a:r>
            <a:br/>
            <a:r>
              <a:rPr>
                <a:solidFill>
                  <a:srgbClr val="003B4F"/>
                </a:solidFill>
                <a:latin typeface="Courier"/>
              </a:rPr>
              <a:t>    </a:t>
            </a:r>
            <a:r>
              <a:rPr>
                <a:solidFill>
                  <a:srgbClr val="657422"/>
                </a:solidFill>
                <a:latin typeface="Courier"/>
              </a:rPr>
              <a:t>sd_log =</a:t>
            </a:r>
            <a:r>
              <a:rPr>
                <a:solidFill>
                  <a:srgbClr val="003B4F"/>
                </a:solidFill>
                <a:latin typeface="Courier"/>
              </a:rPr>
              <a:t> </a:t>
            </a:r>
            <a:r>
              <a:rPr>
                <a:solidFill>
                  <a:srgbClr val="4758AB"/>
                </a:solidFill>
                <a:latin typeface="Courier"/>
              </a:rPr>
              <a:t>sd</a:t>
            </a:r>
            <a:r>
              <a:rPr>
                <a:solidFill>
                  <a:srgbClr val="003B4F"/>
                </a:solidFill>
                <a:latin typeface="Courier"/>
              </a:rPr>
              <a:t>(log_mass),</a:t>
            </a:r>
            <a:br/>
            <a:r>
              <a:rPr>
                <a:solidFill>
                  <a:srgbClr val="003B4F"/>
                </a:solidFill>
                <a:latin typeface="Courier"/>
              </a:rPr>
              <a:t>    </a:t>
            </a:r>
            <a:r>
              <a:rPr>
                <a:solidFill>
                  <a:srgbClr val="657422"/>
                </a:solidFill>
                <a:latin typeface="Courier"/>
              </a:rPr>
              <a:t>se_log =</a:t>
            </a:r>
            <a:r>
              <a:rPr>
                <a:solidFill>
                  <a:srgbClr val="003B4F"/>
                </a:solidFill>
                <a:latin typeface="Courier"/>
              </a:rPr>
              <a:t> sd_log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a:t>
            </a:r>
            <a:br/>
            <a:r>
              <a:rPr>
                <a:solidFill>
                  <a:srgbClr val="003B4F"/>
                </a:solidFill>
                <a:latin typeface="Courier"/>
              </a:rPr>
              <a:t>    </a:t>
            </a:r>
            <a:r>
              <a:rPr>
                <a:solidFill>
                  <a:srgbClr val="5E5E5E"/>
                </a:solidFill>
                <a:latin typeface="Courier"/>
              </a:rPr>
              <a:t># Back-transform mean</a:t>
            </a:r>
            <a:br/>
            <a:r>
              <a:rPr>
                <a:solidFill>
                  <a:srgbClr val="003B4F"/>
                </a:solidFill>
                <a:latin typeface="Courier"/>
              </a:rPr>
              <a:t>    </a:t>
            </a:r>
            <a:r>
              <a:rPr>
                <a:solidFill>
                  <a:srgbClr val="657422"/>
                </a:solidFill>
                <a:latin typeface="Courier"/>
              </a:rPr>
              <a:t>geometric_mean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a:t>
            </a:r>
            <a:br/>
            <a:r>
              <a:rPr>
                <a:solidFill>
                  <a:srgbClr val="003B4F"/>
                </a:solidFill>
                <a:latin typeface="Courier"/>
              </a:rPr>
              <a:t>    </a:t>
            </a:r>
            <a:r>
              <a:rPr>
                <a:solidFill>
                  <a:srgbClr val="5E5E5E"/>
                </a:solidFill>
                <a:latin typeface="Courier"/>
              </a:rPr>
              <a:t># Back transform SE</a:t>
            </a:r>
            <a:br/>
            <a:r>
              <a:rPr>
                <a:solidFill>
                  <a:srgbClr val="003B4F"/>
                </a:solidFill>
                <a:latin typeface="Courier"/>
              </a:rPr>
              <a:t>     </a:t>
            </a:r>
            <a:r>
              <a:rPr>
                <a:solidFill>
                  <a:srgbClr val="657422"/>
                </a:solidFill>
                <a:latin typeface="Courier"/>
              </a:rPr>
              <a:t>lower_se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se_log),</a:t>
            </a:r>
            <a:br/>
            <a:r>
              <a:rPr>
                <a:solidFill>
                  <a:srgbClr val="003B4F"/>
                </a:solidFill>
                <a:latin typeface="Courier"/>
              </a:rPr>
              <a:t>    </a:t>
            </a:r>
            <a:r>
              <a:rPr>
                <a:solidFill>
                  <a:srgbClr val="657422"/>
                </a:solidFill>
                <a:latin typeface="Courier"/>
              </a:rPr>
              <a:t>upper_se =</a:t>
            </a:r>
            <a:r>
              <a:rPr>
                <a:solidFill>
                  <a:srgbClr val="003B4F"/>
                </a:solidFill>
                <a:latin typeface="Courier"/>
              </a:rPr>
              <a:t> </a:t>
            </a:r>
            <a:r>
              <a:rPr>
                <a:solidFill>
                  <a:srgbClr val="AD0000"/>
                </a:solidFill>
                <a:latin typeface="Courier"/>
              </a:rPr>
              <a:t>10</a:t>
            </a:r>
            <a:r>
              <a:rPr>
                <a:solidFill>
                  <a:srgbClr val="5E5E5E"/>
                </a:solidFill>
                <a:latin typeface="Courier"/>
              </a:rPr>
              <a:t>^</a:t>
            </a:r>
            <a:r>
              <a:rPr>
                <a:solidFill>
                  <a:srgbClr val="003B4F"/>
                </a:solidFill>
                <a:latin typeface="Courier"/>
              </a:rPr>
              <a:t>(mean_log </a:t>
            </a:r>
            <a:r>
              <a:rPr>
                <a:solidFill>
                  <a:srgbClr val="5E5E5E"/>
                </a:solidFill>
                <a:latin typeface="Courier"/>
              </a:rPr>
              <a:t>+</a:t>
            </a:r>
            <a:r>
              <a:rPr>
                <a:solidFill>
                  <a:srgbClr val="003B4F"/>
                </a:solidFill>
                <a:latin typeface="Courier"/>
              </a:rPr>
              <a:t> se_log),</a:t>
            </a:r>
            <a:br/>
            <a:r>
              <a:rPr>
                <a:solidFill>
                  <a:srgbClr val="003B4F"/>
                </a:solidFill>
                <a:latin typeface="Courier"/>
              </a:rPr>
              <a:t>    </a:t>
            </a:r>
            <a:r>
              <a:rPr>
                <a:solidFill>
                  <a:srgbClr val="657422"/>
                </a:solidFill>
                <a:latin typeface="Courier"/>
              </a:rPr>
              <a:t>arithmetic_mean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br/>
            <a:br/>
            <a:r>
              <a:rPr>
                <a:solidFill>
                  <a:srgbClr val="5E5E5E"/>
                </a:solidFill>
                <a:latin typeface="Courier"/>
              </a:rPr>
              <a:t># Show back-transformed results</a:t>
            </a:r>
            <a:br/>
            <a:r>
              <a:rPr>
                <a:solidFill>
                  <a:srgbClr val="003B4F"/>
                </a:solidFill>
                <a:latin typeface="Courier"/>
              </a:rPr>
              <a:t>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select</a:t>
            </a:r>
            <a:r>
              <a:rPr>
                <a:solidFill>
                  <a:srgbClr val="003B4F"/>
                </a:solidFill>
                <a:latin typeface="Courier"/>
              </a:rPr>
              <a:t>(lake, mean_log, geometric_mean, arithmetic_mean)</a:t>
            </a:r>
          </a:p>
          <a:p>
            <a:pPr lvl="0" indent="0">
              <a:buNone/>
            </a:pPr>
            <a:r>
              <a:rPr sz="2000">
                <a:latin typeface="Courier"/>
              </a:rPr>
              <a:t># A tibble: 2 × 4
  lake        mean_log geometric_mean arithmetic_mean
  &lt;chr&gt;          &lt;dbl&gt;          &lt;dbl&gt;           &lt;dbl&gt;
1 Island Lake     3.46          2868.           3165 
2 NE 12           2.46           287.            534.</a:t>
            </a:r>
          </a:p>
          <a:p>
            <a:pPr lvl="0" indent="0" marL="0">
              <a:spcBef>
                <a:spcPts val="3000"/>
              </a:spcBef>
              <a:buNone/>
            </a:pPr>
            <a:r>
              <a:rPr b="1"/>
              <a:t>Now plot the back transformed data</a:t>
            </a:r>
          </a:p>
          <a:p>
            <a:pPr lvl="0" indent="0" marL="0">
              <a:buNone/>
            </a:pPr>
            <a:r>
              <a:rPr/>
              <a:t>In some cases the error bars are not symmetrical</a:t>
            </a:r>
          </a:p>
          <a:p>
            <a:pPr lvl="0" indent="0" marL="1270000">
              <a:buNone/>
            </a:pPr>
            <a:r>
              <a:rPr sz="2000" b="1"/>
              <a:t>Exercise:</a:t>
            </a:r>
          </a:p>
          <a:p>
            <a:pPr lvl="0" indent="0" marL="1270000">
              <a:buNone/>
            </a:pPr>
            <a:r>
              <a:rPr sz="2000"/>
              <a:t>Try</a:t>
            </a:r>
          </a:p>
          <a:p>
            <a:pPr lvl="0" indent="0">
              <a:buNone/>
            </a:pPr>
            <a:r>
              <a:rPr>
                <a:solidFill>
                  <a:srgbClr val="5E5E5E"/>
                </a:solidFill>
                <a:latin typeface="Courier"/>
              </a:rPr>
              <a:t># Create a plot showing geometric means with SE bars</a:t>
            </a:r>
            <a:br/>
            <a:r>
              <a:rPr>
                <a:solidFill>
                  <a:srgbClr val="003B4F"/>
                </a:solidFill>
                <a:latin typeface="Courier"/>
              </a:rPr>
              <a:t>geo_mean_plot &lt;- back_transformed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geometric_mean,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5E5E5E"/>
                </a:solidFill>
                <a:latin typeface="Courier"/>
              </a:rPr>
              <a:t># Add bars for geometric means</a:t>
            </a:r>
            <a:br/>
            <a:r>
              <a:rPr>
                <a:solidFill>
                  <a:srgbClr val="003B4F"/>
                </a:solidFill>
                <a:latin typeface="Courier"/>
              </a:rPr>
              <a:t>  </a:t>
            </a:r>
            <a:r>
              <a:rPr>
                <a:solidFill>
                  <a:srgbClr val="4758AB"/>
                </a:solidFill>
                <a:latin typeface="Courier"/>
              </a:rPr>
              <a:t>geom_bar</a:t>
            </a:r>
            <a:r>
              <a:rPr>
                <a:solidFill>
                  <a:srgbClr val="003B4F"/>
                </a:solidFill>
                <a:latin typeface="Courier"/>
              </a:rPr>
              <a:t>(</a:t>
            </a:r>
            <a:r>
              <a:rPr>
                <a:solidFill>
                  <a:srgbClr val="657422"/>
                </a:solidFill>
                <a:latin typeface="Courier"/>
              </a:rPr>
              <a:t>stat =</a:t>
            </a:r>
            <a:r>
              <a:rPr>
                <a:solidFill>
                  <a:srgbClr val="003B4F"/>
                </a:solidFill>
                <a:latin typeface="Courier"/>
              </a:rPr>
              <a:t> </a:t>
            </a:r>
            <a:r>
              <a:rPr>
                <a:solidFill>
                  <a:srgbClr val="20794D"/>
                </a:solidFill>
                <a:latin typeface="Courier"/>
              </a:rPr>
              <a:t>"identity"</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for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lower_se, </a:t>
            </a:r>
            <a:r>
              <a:rPr>
                <a:solidFill>
                  <a:srgbClr val="657422"/>
                </a:solidFill>
                <a:latin typeface="Courier"/>
              </a:rPr>
              <a:t>ymax =</a:t>
            </a:r>
            <a:r>
              <a:rPr>
                <a:solidFill>
                  <a:srgbClr val="003B4F"/>
                </a:solidFill>
                <a:latin typeface="Courier"/>
              </a:rPr>
              <a:t> upper_se),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labels and title</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"Geometric Mean Lake Trout Mass with Standard Error"</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"Back-transformed from log10 scale"</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"Geometric Mean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Use a clean theme</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Remove legend (since we already have lake on x-axis)</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br/>
            <a:br/>
            <a:r>
              <a:rPr>
                <a:solidFill>
                  <a:srgbClr val="5E5E5E"/>
                </a:solidFill>
                <a:latin typeface="Courier"/>
              </a:rPr>
              <a:t># Display the plot</a:t>
            </a:r>
            <a:br/>
            <a:r>
              <a:rPr>
                <a:solidFill>
                  <a:srgbClr val="003B4F"/>
                </a:solidFill>
                <a:latin typeface="Courier"/>
              </a:rPr>
              <a:t>geo_mean_plot</a:t>
            </a:r>
          </a:p>
          <a:p>
            <a:pPr lvl="0" indent="0" marL="1270000">
              <a:buNone/>
            </a:pPr>
          </a:p>
          <a:p>
            <a:pPr lvl="0" indent="0" marL="0">
              <a:spcBef>
                <a:spcPts val="3000"/>
              </a:spcBef>
              <a:buNone/>
            </a:pPr>
            <a:r>
              <a:rPr b="1"/>
              <a:t>3. Welch’s t-test</a:t>
            </a:r>
          </a:p>
          <a:p>
            <a:pPr lvl="0" indent="0">
              <a:buNone/>
            </a:pPr>
            <a:r>
              <a:rPr>
                <a:solidFill>
                  <a:srgbClr val="5E5E5E"/>
                </a:solidFill>
                <a:latin typeface="Courier"/>
              </a:rPr>
              <a:t># Run Welch's t-test (doesn't assume equal variances)</a:t>
            </a:r>
            <a:br/>
            <a:r>
              <a:rPr>
                <a:solidFill>
                  <a:srgbClr val="003B4F"/>
                </a:solidFill>
                <a:latin typeface="Courier"/>
              </a:rPr>
              <a:t>welch_test_result &lt;- </a:t>
            </a:r>
            <a:r>
              <a:rPr>
                <a:solidFill>
                  <a:srgbClr val="4758AB"/>
                </a:solidFill>
                <a:latin typeface="Courier"/>
              </a:rPr>
              <a:t>t.test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var.equal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 Does NOT assume equal variances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(welch_test_result)</a:t>
            </a:r>
          </a:p>
          <a:p>
            <a:pPr lvl="0" indent="0">
              <a:buNone/>
            </a:pPr>
            <a:r>
              <a:rPr>
                <a:latin typeface="Courier"/>
              </a:rPr>
              <a:t>
    Welch Two Sample t-test
data:  mass_g by lake
t = 5.1368, df = 9.0578, p-value = 0.0006016
alternative hypothesis: true difference in means between group Island Lake and group NE 12 is not equal to 0
95 percent confidence interval:
 1473.676 3788.989
sample estimates:
mean in group Island Lake       mean in group NE 12 
                3165.0000                  533.6677 </a:t>
            </a:r>
          </a:p>
          <a:p>
            <a:pPr lvl="0" indent="0" marL="1270000">
              <a:buNone/>
            </a:pPr>
            <a:r>
              <a:rPr sz="2000" b="1"/>
              <a:t>When to Use Welch’s t-test</a:t>
            </a:r>
          </a:p>
          <a:p>
            <a:pPr lvl="0" indent="0" marL="1270000">
              <a:buNone/>
            </a:pPr>
            <a:r>
              <a:rPr sz="2000"/>
              <a:t>Welch’s t-test is preferred when:</a:t>
            </a:r>
          </a:p>
          <a:p>
            <a:pPr lvl="0"/>
            <a:r>
              <a:rPr sz="2000"/>
              <a:t>- Group variances are unequal (as indicated by Levene’s test)</a:t>
            </a:r>
          </a:p>
          <a:p>
            <a:pPr lvl="0"/>
            <a:r>
              <a:rPr sz="2000"/>
              <a:t>- Sample sizes are different between groups</a:t>
            </a:r>
          </a:p>
          <a:p>
            <a:pPr lvl="0"/>
            <a:r>
              <a:rPr sz="2000"/>
              <a:t>- It’s more robust than the standard t-test in many situations</a:t>
            </a:r>
          </a:p>
          <a:p>
            <a:pPr lvl="0" indent="0" marL="0">
              <a:spcBef>
                <a:spcPts val="3000"/>
              </a:spcBef>
              <a:buNone/>
            </a:pPr>
            <a:r>
              <a:rPr b="1"/>
              <a:t>4. Mann-Whitney Wilcoxon test</a:t>
            </a:r>
          </a:p>
          <a:p>
            <a:pPr lvl="0" indent="0">
              <a:buNone/>
            </a:pPr>
            <a:r>
              <a:rPr>
                <a:solidFill>
                  <a:srgbClr val="5E5E5E"/>
                </a:solidFill>
                <a:latin typeface="Courier"/>
              </a:rPr>
              <a:t># Run Mann-Whitney U test (non-parametric alternative to t-test)</a:t>
            </a:r>
            <a:br/>
            <a:r>
              <a:rPr>
                <a:solidFill>
                  <a:srgbClr val="003B4F"/>
                </a:solidFill>
                <a:latin typeface="Courier"/>
              </a:rPr>
              <a:t>wilcox_test_result &lt;- </a:t>
            </a:r>
            <a:r>
              <a:rPr>
                <a:solidFill>
                  <a:srgbClr val="4758AB"/>
                </a:solidFill>
                <a:latin typeface="Courier"/>
              </a:rPr>
              <a:t>wilcox.test</a:t>
            </a:r>
            <a:r>
              <a:rPr>
                <a:solidFill>
                  <a:srgbClr val="003B4F"/>
                </a:solidFill>
                <a:latin typeface="Courier"/>
              </a:rPr>
              <a:t>(</a:t>
            </a:r>
            <a:br/>
            <a:r>
              <a:rPr>
                <a:solidFill>
                  <a:srgbClr val="003B4F"/>
                </a:solidFill>
                <a:latin typeface="Courier"/>
              </a:rPr>
              <a:t>  mass_g </a:t>
            </a:r>
            <a:r>
              <a:rPr>
                <a:solidFill>
                  <a:srgbClr val="5E5E5E"/>
                </a:solidFill>
                <a:latin typeface="Courier"/>
              </a:rPr>
              <a:t>~</a:t>
            </a:r>
            <a:r>
              <a:rPr>
                <a:solidFill>
                  <a:srgbClr val="003B4F"/>
                </a:solidFill>
                <a:latin typeface="Courier"/>
              </a:rPr>
              <a:t> lake, </a:t>
            </a:r>
            <a:br/>
            <a:r>
              <a:rPr>
                <a:solidFill>
                  <a:srgbClr val="003B4F"/>
                </a:solidFill>
                <a:latin typeface="Courier"/>
              </a:rPr>
              <a:t>  </a:t>
            </a:r>
            <a:r>
              <a:rPr>
                <a:solidFill>
                  <a:srgbClr val="657422"/>
                </a:solidFill>
                <a:latin typeface="Courier"/>
              </a:rPr>
              <a:t>data =</a:t>
            </a:r>
            <a:r>
              <a:rPr>
                <a:solidFill>
                  <a:srgbClr val="003B4F"/>
                </a:solidFill>
                <a:latin typeface="Courier"/>
              </a:rPr>
              <a:t> in_df,</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(wilcox_test_result)</a:t>
            </a:r>
          </a:p>
          <a:p>
            <a:pPr lvl="0" indent="0">
              <a:buNone/>
            </a:pPr>
            <a:r>
              <a:rPr>
                <a:latin typeface="Courier"/>
              </a:rPr>
              <a:t>
    Wilcoxon rank sum test with continuity correction
data:  mass_g by lake
W = 3205.5, p-value = 9.506e-08
alternative hypothesis: true location shift is not equal to 0</a:t>
            </a:r>
          </a:p>
          <a:p>
            <a:pPr lvl="0" indent="0" marL="1270000">
              <a:buNone/>
            </a:pPr>
            <a:r>
              <a:rPr sz="2000" b="1"/>
              <a:t>When to Use Mann-Whitney Wilcoxon Test</a:t>
            </a:r>
          </a:p>
          <a:p>
            <a:pPr lvl="0" indent="0" marL="1270000">
              <a:buNone/>
            </a:pPr>
            <a:r>
              <a:rPr sz="2000"/>
              <a:t>This non-parametric test is preferred when:</a:t>
            </a:r>
          </a:p>
          <a:p>
            <a:pPr lvl="0"/>
            <a:r>
              <a:rPr sz="2000"/>
              <a:t>- Data is not normally distributed (even after transformation)</a:t>
            </a:r>
          </a:p>
          <a:p>
            <a:pPr lvl="0"/>
            <a:r>
              <a:rPr sz="2000"/>
              <a:t>- Comparing medians rather than means</a:t>
            </a:r>
          </a:p>
          <a:p>
            <a:pPr lvl="0"/>
            <a:r>
              <a:rPr sz="2000"/>
              <a:t>- Data contains outliers that might affect a t-test</a:t>
            </a:r>
          </a:p>
          <a:p>
            <a:pPr lvl="0"/>
            <a:r>
              <a:rPr sz="2000"/>
              <a:t>- It compares the ranks of the values rather than the actual values</a:t>
            </a:r>
          </a:p>
          <a:p>
            <a:pPr lvl="0" indent="0" marL="0">
              <a:spcBef>
                <a:spcPts val="3000"/>
              </a:spcBef>
              <a:buNone/>
            </a:pPr>
            <a:r>
              <a:rPr b="1"/>
              <a:t>5. Permutation test</a:t>
            </a:r>
          </a:p>
          <a:p>
            <a:pPr lvl="0" indent="0">
              <a:buNone/>
            </a:pPr>
            <a:r>
              <a:rPr>
                <a:solidFill>
                  <a:srgbClr val="5E5E5E"/>
                </a:solidFill>
                <a:latin typeface="Courier"/>
              </a:rPr>
              <a:t># First, let's make sure we have balanced samples</a:t>
            </a:r>
            <a:br/>
            <a:r>
              <a:rPr>
                <a:solidFill>
                  <a:srgbClr val="5E5E5E"/>
                </a:solidFill>
                <a:latin typeface="Courier"/>
              </a:rPr>
              <a:t># We'll select a random subset from NE 12 to match Island Lake size</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  </a:t>
            </a:r>
            <a:r>
              <a:rPr>
                <a:solidFill>
                  <a:srgbClr val="5E5E5E"/>
                </a:solidFill>
                <a:latin typeface="Courier"/>
              </a:rPr>
              <a:t># For reproducibility</a:t>
            </a:r>
            <a:br/>
            <a:br/>
            <a:r>
              <a:rPr>
                <a:solidFill>
                  <a:srgbClr val="5E5E5E"/>
                </a:solidFill>
                <a:latin typeface="Courier"/>
              </a:rPr>
              <a:t># Get the smaller sample size</a:t>
            </a:r>
            <a:br/>
            <a:r>
              <a:rPr>
                <a:solidFill>
                  <a:srgbClr val="003B4F"/>
                </a:solidFill>
                <a:latin typeface="Courier"/>
              </a:rPr>
              <a:t>island_size &lt;- </a:t>
            </a:r>
            <a:r>
              <a:rPr>
                <a:solidFill>
                  <a:srgbClr val="4758AB"/>
                </a:solidFill>
                <a:latin typeface="Courier"/>
              </a:rPr>
              <a:t>sum</a:t>
            </a:r>
            <a:r>
              <a:rPr>
                <a:solidFill>
                  <a:srgbClr val="003B4F"/>
                </a:solidFill>
                <a:latin typeface="Courier"/>
              </a:rPr>
              <a:t>(in_df</a:t>
            </a:r>
            <a:r>
              <a:rPr>
                <a:solidFill>
                  <a:srgbClr val="5E5E5E"/>
                </a:solidFill>
                <a:latin typeface="Courier"/>
              </a:rPr>
              <a:t>$</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br/>
            <a:r>
              <a:rPr>
                <a:solidFill>
                  <a:srgbClr val="5E5E5E"/>
                </a:solidFill>
                <a:latin typeface="Courier"/>
              </a:rPr>
              <a:t># Randomly sample from NE 12 to match Island Lake size</a:t>
            </a:r>
            <a:br/>
            <a:r>
              <a:rPr>
                <a:solidFill>
                  <a:srgbClr val="003B4F"/>
                </a:solidFill>
                <a:latin typeface="Courier"/>
              </a:rPr>
              <a:t>ne12_sample &lt;- in_df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island_size)</a:t>
            </a:r>
            <a:br/>
            <a:br/>
            <a:r>
              <a:rPr>
                <a:solidFill>
                  <a:srgbClr val="5E5E5E"/>
                </a:solidFill>
                <a:latin typeface="Courier"/>
              </a:rPr>
              <a:t># Combine with Island Lake data</a:t>
            </a:r>
            <a:br/>
            <a:r>
              <a:rPr>
                <a:solidFill>
                  <a:srgbClr val="003B4F"/>
                </a:solidFill>
                <a:latin typeface="Courier"/>
              </a:rPr>
              <a:t>balanced_df &lt;- </a:t>
            </a:r>
            <a:r>
              <a:rPr>
                <a:solidFill>
                  <a:srgbClr val="4758AB"/>
                </a:solidFill>
                <a:latin typeface="Courier"/>
              </a:rPr>
              <a:t>bind_rows</a:t>
            </a:r>
            <a:r>
              <a:rPr>
                <a:solidFill>
                  <a:srgbClr val="003B4F"/>
                </a:solidFill>
                <a:latin typeface="Courier"/>
              </a:rPr>
              <a:t>(</a:t>
            </a:r>
            <a:br/>
            <a:r>
              <a:rPr>
                <a:solidFill>
                  <a:srgbClr val="003B4F"/>
                </a:solidFill>
                <a:latin typeface="Courier"/>
              </a:rPr>
              <a:t>  ne12_sample,</a:t>
            </a:r>
            <a:br/>
            <a:r>
              <a:rPr>
                <a:solidFill>
                  <a:srgbClr val="003B4F"/>
                </a:solidFill>
                <a:latin typeface="Courier"/>
              </a:rPr>
              <a:t>  in_df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a:t>
            </a:r>
            <a:br/>
            <a:r>
              <a:rPr>
                <a:solidFill>
                  <a:srgbClr val="003B4F"/>
                </a:solidFill>
                <a:latin typeface="Courier"/>
              </a:rPr>
              <a:t>)</a:t>
            </a:r>
            <a:br/>
            <a:br/>
            <a:r>
              <a:rPr>
                <a:solidFill>
                  <a:srgbClr val="5E5E5E"/>
                </a:solidFill>
                <a:latin typeface="Courier"/>
              </a:rPr>
              <a:t># Extract mass data by lake</a:t>
            </a:r>
            <a:br/>
            <a:r>
              <a:rPr>
                <a:solidFill>
                  <a:srgbClr val="003B4F"/>
                </a:solidFill>
                <a:latin typeface="Courier"/>
              </a:rPr>
              <a:t>ne12_mass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"NE 12"</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003B4F"/>
                </a:solidFill>
                <a:latin typeface="Courier"/>
              </a:rPr>
              <a:t>island_mass &lt;- balanced_df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"Island Lake"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pull</a:t>
            </a:r>
            <a:r>
              <a:rPr>
                <a:solidFill>
                  <a:srgbClr val="003B4F"/>
                </a:solidFill>
                <a:latin typeface="Courier"/>
              </a:rPr>
              <a:t>(mass_g)</a:t>
            </a:r>
            <a:br/>
            <a:br/>
            <a:r>
              <a:rPr>
                <a:solidFill>
                  <a:srgbClr val="5E5E5E"/>
                </a:solidFill>
                <a:latin typeface="Courier"/>
              </a:rPr>
              <a:t># Run permutation test</a:t>
            </a:r>
            <a:br/>
            <a:r>
              <a:rPr>
                <a:solidFill>
                  <a:srgbClr val="003B4F"/>
                </a:solidFill>
                <a:latin typeface="Courier"/>
              </a:rPr>
              <a:t>perm_test_result &lt;- </a:t>
            </a:r>
            <a:r>
              <a:rPr>
                <a:solidFill>
                  <a:srgbClr val="4758AB"/>
                </a:solidFill>
                <a:latin typeface="Courier"/>
              </a:rPr>
              <a:t>permTS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ne12_mass,</a:t>
            </a:r>
            <a:br/>
            <a:r>
              <a:rPr>
                <a:solidFill>
                  <a:srgbClr val="003B4F"/>
                </a:solidFill>
                <a:latin typeface="Courier"/>
              </a:rPr>
              <a:t>  </a:t>
            </a:r>
            <a:r>
              <a:rPr>
                <a:solidFill>
                  <a:srgbClr val="657422"/>
                </a:solidFill>
                <a:latin typeface="Courier"/>
              </a:rPr>
              <a:t>y =</a:t>
            </a:r>
            <a:r>
              <a:rPr>
                <a:solidFill>
                  <a:srgbClr val="003B4F"/>
                </a:solidFill>
                <a:latin typeface="Courier"/>
              </a:rPr>
              <a:t> island_mass,</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"exact.mc"</a:t>
            </a:r>
            <a:r>
              <a:rPr>
                <a:solidFill>
                  <a:srgbClr val="003B4F"/>
                </a:solidFill>
                <a:latin typeface="Courier"/>
              </a:rPr>
              <a:t>,  </a:t>
            </a:r>
            <a:r>
              <a:rPr>
                <a:solidFill>
                  <a:srgbClr val="5E5E5E"/>
                </a:solidFill>
                <a:latin typeface="Courier"/>
              </a:rPr>
              <a:t># Monte Carlo method for large samples</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permControl</a:t>
            </a:r>
            <a:r>
              <a:rPr>
                <a:solidFill>
                  <a:srgbClr val="003B4F"/>
                </a:solidFill>
                <a:latin typeface="Courier"/>
              </a:rPr>
              <a:t>(</a:t>
            </a:r>
            <a:r>
              <a:rPr>
                <a:solidFill>
                  <a:srgbClr val="657422"/>
                </a:solidFill>
                <a:latin typeface="Courier"/>
              </a:rPr>
              <a:t>nmc =</a:t>
            </a:r>
            <a:r>
              <a:rPr>
                <a:solidFill>
                  <a:srgbClr val="003B4F"/>
                </a:solidFill>
                <a:latin typeface="Courier"/>
              </a:rPr>
              <a:t> </a:t>
            </a:r>
            <a:r>
              <a:rPr>
                <a:solidFill>
                  <a:srgbClr val="AD0000"/>
                </a:solidFill>
                <a:latin typeface="Courier"/>
              </a:rPr>
              <a:t>10000</a:t>
            </a:r>
            <a:r>
              <a:rPr>
                <a:solidFill>
                  <a:srgbClr val="003B4F"/>
                </a:solidFill>
                <a:latin typeface="Courier"/>
              </a:rPr>
              <a:t>)  </a:t>
            </a:r>
            <a:r>
              <a:rPr>
                <a:solidFill>
                  <a:srgbClr val="5E5E5E"/>
                </a:solidFill>
                <a:latin typeface="Courier"/>
              </a:rPr>
              <a:t># Number of Monte Carlo replications</a:t>
            </a:r>
            <a:br/>
            <a:r>
              <a:rPr>
                <a:solidFill>
                  <a:srgbClr val="003B4F"/>
                </a:solidFill>
                <a:latin typeface="Courier"/>
              </a:rPr>
              <a:t>)</a:t>
            </a:r>
            <a:br/>
            <a:br/>
            <a:r>
              <a:rPr>
                <a:solidFill>
                  <a:srgbClr val="5E5E5E"/>
                </a:solidFill>
                <a:latin typeface="Courier"/>
              </a:rPr>
              <a:t># Show the results</a:t>
            </a:r>
            <a:br/>
            <a:r>
              <a:rPr>
                <a:solidFill>
                  <a:srgbClr val="4758AB"/>
                </a:solidFill>
                <a:latin typeface="Courier"/>
              </a:rPr>
              <a:t>print</a:t>
            </a:r>
            <a:r>
              <a:rPr>
                <a:solidFill>
                  <a:srgbClr val="003B4F"/>
                </a:solidFill>
                <a:latin typeface="Courier"/>
              </a:rPr>
              <a:t>(perm_test_result)</a:t>
            </a:r>
          </a:p>
          <a:p>
            <a:pPr lvl="0" indent="0">
              <a:buNone/>
            </a:pPr>
            <a:r>
              <a:rPr>
                <a:latin typeface="Courier"/>
              </a:rPr>
              <a:t>
    Exact Permutation Test Estimated by Monte Carlo
data:  ne12_mass and GROUP 2
p-value = 2e-04
alternative hypothesis: true mean ne12_mass - mean GROUP 2 is not equal to 0
sample estimates:
mean ne12_mass - mean GROUP 2 
                      -2519.9 
p-value estimated from 10000 Monte Carlo replications
99 percent confidence interval on p-value:
 0.000000000 0.001059383 </a:t>
            </a:r>
          </a:p>
          <a:p>
            <a:pPr lvl="0" indent="0" marL="1270000">
              <a:buNone/>
            </a:pPr>
            <a:r>
              <a:rPr sz="2000" b="1"/>
              <a:t>When to Use Permutation Tests</a:t>
            </a:r>
          </a:p>
          <a:p>
            <a:pPr lvl="0" indent="0" marL="1270000">
              <a:buNone/>
            </a:pPr>
            <a:r>
              <a:rPr sz="2000"/>
              <a:t>Permutation tests are useful when:</a:t>
            </a:r>
          </a:p>
          <a:p>
            <a:pPr lvl="0"/>
            <a:r>
              <a:rPr sz="2000"/>
              <a:t>- Sample sizes are small</a:t>
            </a:r>
          </a:p>
          <a:p>
            <a:pPr lvl="0"/>
            <a:r>
              <a:rPr sz="2000"/>
              <a:t>- Data doesn’t meet the assumptions for parametric tests</a:t>
            </a:r>
          </a:p>
          <a:p>
            <a:pPr lvl="0"/>
            <a:r>
              <a:rPr sz="2000"/>
              <a:t>- You want a robust test that makes minimal assumptions about the data</a:t>
            </a:r>
          </a:p>
          <a:p>
            <a:pPr lvl="0"/>
            <a:r>
              <a:rPr sz="2000"/>
              <a:t>- They can test any statistic, not just means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Now lets compare all of the results</a:t>
            </a:r>
          </a:p>
        </p:txBody>
      </p:sp>
      <p:sp>
        <p:nvSpPr>
          <p:cNvPr id="3" name="Content Placeholder 2"/>
          <p:cNvSpPr>
            <a:spLocks noGrp="1"/>
          </p:cNvSpPr>
          <p:nvPr>
            <p:ph idx="1"/>
          </p:nvPr>
        </p:nvSpPr>
        <p:spPr/>
        <p:txBody>
          <a:bodyPr/>
          <a:lstStyle/>
          <a:p>
            <a:pPr lvl="0" indent="0" marL="0">
              <a:buNone/>
            </a:pPr>
            <a:r>
              <a:rPr/>
              <a:t>Let’s compare the results from all tests:</a:t>
            </a:r>
          </a:p>
          <a:p>
            <a:pPr lvl="0" indent="0">
              <a:buNone/>
            </a:pPr>
            <a:r>
              <a:rPr>
                <a:solidFill>
                  <a:srgbClr val="5E5E5E"/>
                </a:solidFill>
                <a:latin typeface="Courier"/>
              </a:rPr>
              <a:t># Create a summary table of test statistics and p-values</a:t>
            </a:r>
            <a:br/>
            <a:r>
              <a:rPr>
                <a:solidFill>
                  <a:srgbClr val="003B4F"/>
                </a:solidFill>
                <a:latin typeface="Courier"/>
              </a:rPr>
              <a:t>test_results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"Standard t-test"</a:t>
            </a:r>
            <a:r>
              <a:rPr>
                <a:solidFill>
                  <a:srgbClr val="003B4F"/>
                </a:solidFill>
                <a:latin typeface="Courier"/>
              </a:rPr>
              <a:t>, </a:t>
            </a:r>
            <a:br/>
            <a:r>
              <a:rPr>
                <a:solidFill>
                  <a:srgbClr val="003B4F"/>
                </a:solidFill>
                <a:latin typeface="Courier"/>
              </a:rPr>
              <a:t>           </a:t>
            </a:r>
            <a:r>
              <a:rPr>
                <a:solidFill>
                  <a:srgbClr val="20794D"/>
                </a:solidFill>
                <a:latin typeface="Courier"/>
              </a:rPr>
              <a:t>"Log-transformed t-test"</a:t>
            </a:r>
            <a:r>
              <a:rPr>
                <a:solidFill>
                  <a:srgbClr val="003B4F"/>
                </a:solidFill>
                <a:latin typeface="Courier"/>
              </a:rPr>
              <a:t>, </a:t>
            </a:r>
            <a:br/>
            <a:r>
              <a:rPr>
                <a:solidFill>
                  <a:srgbClr val="003B4F"/>
                </a:solidFill>
                <a:latin typeface="Courier"/>
              </a:rPr>
              <a:t>           </a:t>
            </a:r>
            <a:r>
              <a:rPr>
                <a:solidFill>
                  <a:srgbClr val="20794D"/>
                </a:solidFill>
                <a:latin typeface="Courier"/>
              </a:rPr>
              <a:t>"Welch's t-test"</a:t>
            </a:r>
            <a:r>
              <a:rPr>
                <a:solidFill>
                  <a:srgbClr val="003B4F"/>
                </a:solidFill>
                <a:latin typeface="Courier"/>
              </a:rPr>
              <a:t>, </a:t>
            </a:r>
            <a:br/>
            <a:r>
              <a:rPr>
                <a:solidFill>
                  <a:srgbClr val="003B4F"/>
                </a:solidFill>
                <a:latin typeface="Courier"/>
              </a:rPr>
              <a:t>           </a:t>
            </a:r>
            <a:r>
              <a:rPr>
                <a:solidFill>
                  <a:srgbClr val="20794D"/>
                </a:solidFill>
                <a:latin typeface="Courier"/>
              </a:rPr>
              <a:t>"Mann-Whitney Wilcoxon test"</a:t>
            </a:r>
            <a:r>
              <a:rPr>
                <a:solidFill>
                  <a:srgbClr val="003B4F"/>
                </a:solidFill>
                <a:latin typeface="Courier"/>
              </a:rPr>
              <a:t>),</a:t>
            </a:r>
            <a:br/>
            <a:r>
              <a:rPr>
                <a:solidFill>
                  <a:srgbClr val="003B4F"/>
                </a:solidFill>
                <a:latin typeface="Courier"/>
              </a:rPr>
              <a:t>  </a:t>
            </a:r>
            <a:r>
              <a:rPr>
                <a:solidFill>
                  <a:srgbClr val="657422"/>
                </a:solidFill>
                <a:latin typeface="Courier"/>
              </a:rPr>
              <a:t>Statistic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(log_t_test_result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"t ="</a:t>
            </a:r>
            <a:r>
              <a:rPr>
                <a:solidFill>
                  <a:srgbClr val="003B4F"/>
                </a:solidFill>
                <a:latin typeface="Courier"/>
              </a:rPr>
              <a:t>, </a:t>
            </a:r>
            <a:r>
              <a:rPr>
                <a:solidFill>
                  <a:srgbClr val="4758AB"/>
                </a:solidFill>
                <a:latin typeface="Courier"/>
              </a:rPr>
              <a:t>round</a:t>
            </a:r>
            <a:r>
              <a:rPr>
                <a:solidFill>
                  <a:srgbClr val="003B4F"/>
                </a:solidFill>
                <a:latin typeface="Courier"/>
              </a:rPr>
              <a:t>(welch_test_result</a:t>
            </a:r>
            <a:r>
              <a:rPr>
                <a:solidFill>
                  <a:srgbClr val="5E5E5E"/>
                </a:solidFill>
                <a:latin typeface="Courier"/>
              </a:rPr>
              <a:t>$</a:t>
            </a:r>
            <a:r>
              <a:rPr>
                <a:solidFill>
                  <a:srgbClr val="003B4F"/>
                </a:solidFill>
                <a:latin typeface="Courier"/>
              </a:rPr>
              <a:t>statistic,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4758AB"/>
                </a:solidFill>
                <a:latin typeface="Courier"/>
              </a:rPr>
              <a:t>paste</a:t>
            </a:r>
            <a:r>
              <a:rPr>
                <a:solidFill>
                  <a:srgbClr val="003B4F"/>
                </a:solidFill>
                <a:latin typeface="Courier"/>
              </a:rPr>
              <a:t>(</a:t>
            </a:r>
            <a:r>
              <a:rPr>
                <a:solidFill>
                  <a:srgbClr val="20794D"/>
                </a:solidFill>
                <a:latin typeface="Courier"/>
              </a:rPr>
              <a:t>"W ="</a:t>
            </a:r>
            <a:r>
              <a:rPr>
                <a:solidFill>
                  <a:srgbClr val="003B4F"/>
                </a:solidFill>
                <a:latin typeface="Courier"/>
              </a:rPr>
              <a:t>, wilcox_test_result</a:t>
            </a:r>
            <a:r>
              <a:rPr>
                <a:solidFill>
                  <a:srgbClr val="5E5E5E"/>
                </a:solidFill>
                <a:latin typeface="Courier"/>
              </a:rPr>
              <a:t>$</a:t>
            </a:r>
            <a:r>
              <a:rPr>
                <a:solidFill>
                  <a:srgbClr val="003B4F"/>
                </a:solidFill>
                <a:latin typeface="Courier"/>
              </a:rPr>
              <a:t>statistic)),</a:t>
            </a:r>
            <a:br/>
            <a:r>
              <a:rPr>
                <a:solidFill>
                  <a:srgbClr val="003B4F"/>
                </a:solidFill>
                <a:latin typeface="Courier"/>
              </a:rPr>
              <a:t>  </a:t>
            </a:r>
            <a:r>
              <a:rPr>
                <a:solidFill>
                  <a:srgbClr val="657422"/>
                </a:solidFill>
                <a:latin typeface="Courier"/>
              </a:rPr>
              <a:t>p_value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a:t>
            </a:r>
            <a:br/>
            <a:r>
              <a:rPr>
                <a:solidFill>
                  <a:srgbClr val="003B4F"/>
                </a:solidFill>
                <a:latin typeface="Courier"/>
              </a:rPr>
              <a:t>  </a:t>
            </a:r>
            <a:r>
              <a:rPr>
                <a:solidFill>
                  <a:srgbClr val="657422"/>
                </a:solidFill>
                <a:latin typeface="Courier"/>
              </a:rPr>
              <a:t>Significant =</a:t>
            </a:r>
            <a:r>
              <a:rPr>
                <a:solidFill>
                  <a:srgbClr val="003B4F"/>
                </a:solidFill>
                <a:latin typeface="Courier"/>
              </a:rPr>
              <a:t> </a:t>
            </a:r>
            <a:r>
              <a:rPr>
                <a:solidFill>
                  <a:srgbClr val="4758AB"/>
                </a:solidFill>
                <a:latin typeface="Courier"/>
              </a:rPr>
              <a:t>c</a:t>
            </a:r>
            <a:r>
              <a:rPr>
                <a:solidFill>
                  <a:srgbClr val="003B4F"/>
                </a:solidFill>
                <a:latin typeface="Courier"/>
              </a:rPr>
              <a:t>(t_test_result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log_t_test_result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welch_test_result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wilcox_test_result</a:t>
            </a:r>
            <a:r>
              <a:rPr>
                <a:solidFill>
                  <a:srgbClr val="5E5E5E"/>
                </a:solidFill>
                <a:latin typeface="Courier"/>
              </a:rPr>
              <a:t>$</a:t>
            </a:r>
            <a:r>
              <a:rPr>
                <a:solidFill>
                  <a:srgbClr val="003B4F"/>
                </a:solidFill>
                <a:latin typeface="Courier"/>
              </a:rPr>
              <a:t>p.value </a:t>
            </a:r>
            <a:r>
              <a:rPr>
                <a:solidFill>
                  <a:srgbClr val="5E5E5E"/>
                </a:solidFill>
                <a:latin typeface="Courier"/>
              </a:rPr>
              <a:t>&lt;</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a:t>
            </a:r>
            <a:br/>
            <a:br/>
            <a:r>
              <a:rPr>
                <a:solidFill>
                  <a:srgbClr val="5E5E5E"/>
                </a:solidFill>
                <a:latin typeface="Courier"/>
              </a:rPr>
              <a:t># Display the results</a:t>
            </a:r>
            <a:br/>
            <a:r>
              <a:rPr>
                <a:solidFill>
                  <a:srgbClr val="003B4F"/>
                </a:solidFill>
                <a:latin typeface="Courier"/>
              </a:rPr>
              <a:t>test_results</a:t>
            </a:r>
          </a:p>
          <a:p>
            <a:pPr lvl="0" indent="0">
              <a:buNone/>
            </a:pPr>
            <a:r>
              <a:rPr>
                <a:latin typeface="Courier"/>
              </a:rPr>
              <a:t>                        Test  Statistic      p_value Significant
1            Standard t-test  t = 14.18 5.667524e-36        TRUE
2     Log-transformed t-test   t = 5.82 1.399864e-08        TRUE
3             Welch's t-test   t = 5.14 6.016186e-04        TRUE
4 Mann-Whitney Wilcoxon test W = 3205.5 9.506478e-08        TRUE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Results</a:t>
            </a:r>
          </a:p>
        </p:txBody>
      </p:sp>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combined visualization</a:t>
            </a:r>
            <a:br/>
            <a:r>
              <a:rPr>
                <a:solidFill>
                  <a:srgbClr val="003B4F"/>
                </a:solidFill>
                <a:latin typeface="Courier"/>
              </a:rPr>
              <a:t>combined_plot &lt;- in_df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lake,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lake))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alpha =</a:t>
            </a:r>
            <a:r>
              <a:rPr>
                <a:solidFill>
                  <a:srgbClr val="003B4F"/>
                </a:solidFill>
                <a:latin typeface="Courier"/>
              </a:rPr>
              <a:t> </a:t>
            </a:r>
            <a:r>
              <a:rPr>
                <a:solidFill>
                  <a:srgbClr val="AD0000"/>
                </a:solidFill>
                <a:latin typeface="Courier"/>
              </a:rPr>
              <a:t>0.7</a:t>
            </a:r>
            <a:r>
              <a:rPr>
                <a:solidFill>
                  <a:srgbClr val="003B4F"/>
                </a:solidFill>
                <a:latin typeface="Courier"/>
              </a:rPr>
              <a:t>, </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Hide outliers as we'll plot points</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0.5</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5E5E5E"/>
                </a:solidFill>
                <a:latin typeface="Courier"/>
              </a:rPr>
              <a:t># Add individual points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"Lake"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"none"</a:t>
            </a:r>
            <a:r>
              <a:rPr>
                <a:solidFill>
                  <a:srgbClr val="003B4F"/>
                </a:solidFill>
                <a:latin typeface="Courier"/>
              </a:rPr>
              <a:t>)  </a:t>
            </a:r>
            <a:r>
              <a:rPr>
                <a:solidFill>
                  <a:srgbClr val="5E5E5E"/>
                </a:solidFill>
                <a:latin typeface="Courier"/>
              </a:rPr>
              <a:t># Remove redundant legend</a:t>
            </a:r>
            <a:br/>
            <a:br/>
            <a:r>
              <a:rPr>
                <a:solidFill>
                  <a:srgbClr val="5E5E5E"/>
                </a:solidFill>
                <a:latin typeface="Courier"/>
              </a:rPr>
              <a:t># Show the plot</a:t>
            </a:r>
            <a:br/>
            <a:r>
              <a:rPr>
                <a:solidFill>
                  <a:srgbClr val="003B4F"/>
                </a:solidFill>
                <a:latin typeface="Courier"/>
              </a:rPr>
              <a:t>combined_plot</a:t>
            </a:r>
          </a:p>
        </p:txBody>
      </p:sp>
      <p:pic>
        <p:nvPicPr>
          <p:cNvPr descr="nonparametric_t_tests_activity_files/figure-pptx/unnamed-chunk-27-1.png" id="0" name="Picture 1"/>
          <p:cNvPicPr>
            <a:picLocks noGrp="1" noChangeAspect="1"/>
          </p:cNvPicPr>
          <p:nvPr/>
        </p:nvPicPr>
        <p:blipFill>
          <a:blip r:embed="rId2"/>
          <a:stretch>
            <a:fillRect/>
          </a:stretch>
        </p:blipFill>
        <p:spPr bwMode="auto">
          <a:xfrm>
            <a:off x="3898900" y="952500"/>
            <a:ext cx="4749800" cy="3797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When reporting results from statistical tests, include:</a:t>
            </a:r>
          </a:p>
          <a:p>
            <a:pPr lvl="0" indent="0" marL="0">
              <a:spcBef>
                <a:spcPts val="3000"/>
              </a:spcBef>
              <a:buNone/>
            </a:pPr>
            <a:r>
              <a:rPr b="1"/>
              <a:t>For Standard t-test:</a:t>
            </a:r>
          </a:p>
          <a:p>
            <a:pPr lvl="0" indent="0">
              <a:buNone/>
            </a:pPr>
            <a:r>
              <a:rPr>
                <a:latin typeface="Courier"/>
              </a:rPr>
              <a:t>Lake trout from NE 12 had significantly different mass (M = [mean], SD = [SD]) compared to Island Lake (M = [mean], SD = [SD]), t([df]) = [t-value], p = [p-value].</a:t>
            </a:r>
          </a:p>
          <a:p>
            <a:pPr lvl="0" indent="0" marL="0">
              <a:spcBef>
                <a:spcPts val="3000"/>
              </a:spcBef>
              <a:buNone/>
            </a:pPr>
            <a:r>
              <a:rPr b="1"/>
              <a:t>For Log-transformed t-test:</a:t>
            </a:r>
          </a:p>
          <a:p>
            <a:pPr lvl="0" indent="0">
              <a:buNone/>
            </a:pPr>
            <a:r>
              <a:rPr>
                <a:latin typeface="Courier"/>
              </a:rPr>
              <a:t>After log transformation to meet normality assumptions, lake trout from NE 12 had significantly different mass (geometric mean = [value], 95% CI [lower-upper]) compared to Island Lake (geometric mean = [value], 95% CI [lower-upper]), t([df]) = [t-value], p = [p-value].</a:t>
            </a:r>
          </a:p>
          <a:p>
            <a:pPr lvl="0" indent="0" marL="0">
              <a:spcBef>
                <a:spcPts val="3000"/>
              </a:spcBef>
              <a:buNone/>
            </a:pPr>
            <a:r>
              <a:rPr b="1"/>
              <a:t>For Welch’s t-test:</a:t>
            </a:r>
          </a:p>
          <a:p>
            <a:pPr lvl="0" indent="0">
              <a:buNone/>
            </a:pPr>
            <a:r>
              <a:rPr>
                <a:latin typeface="Courier"/>
              </a:rPr>
              <a:t>Assuming unequal variances, lake trout from NE 12 had significantly different mass (M = [mean], SD = [SD]) compared to Island Lake (M = [mean], SD = [SD]), Welch's t([df]) = [t-value], p = [p-value].</a:t>
            </a:r>
          </a:p>
          <a:p>
            <a:pPr lvl="0" indent="0" marL="0">
              <a:spcBef>
                <a:spcPts val="3000"/>
              </a:spcBef>
              <a:buNone/>
            </a:pPr>
            <a:r>
              <a:rPr b="1"/>
              <a:t>For Mann-Whitney Wilcoxon test:</a:t>
            </a:r>
          </a:p>
          <a:p>
            <a:pPr lvl="0" indent="0">
              <a:buNone/>
            </a:pPr>
            <a:r>
              <a:rPr>
                <a:latin typeface="Courier"/>
              </a:rPr>
              <a:t>Lake trout mass differed significantly between NE 12 (Mdn = [median]) and Island Lake (Mdn = [median]), W = [W-value], p = [p-value].</a:t>
            </a:r>
          </a:p>
          <a:p>
            <a:pPr lvl="0" indent="0" marL="0">
              <a:spcBef>
                <a:spcPts val="3000"/>
              </a:spcBef>
              <a:buNone/>
            </a:pPr>
            <a:r>
              <a:rPr b="1"/>
              <a:t>For Permutation test:</a:t>
            </a:r>
          </a:p>
          <a:p>
            <a:pPr lvl="0" indent="0">
              <a:buNone/>
            </a:pPr>
            <a:r>
              <a:rPr>
                <a:latin typeface="Courier"/>
              </a:rPr>
              <a:t>Permutation testing (10,000 iterations) revealed significant differences in lake trout mass between NE 12 and Island Lake, p = [p-value].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Conclusion</a:t>
            </a:r>
          </a:p>
        </p:txBody>
      </p:sp>
      <p:sp>
        <p:nvSpPr>
          <p:cNvPr id="3" name="Content Placeholder 2"/>
          <p:cNvSpPr>
            <a:spLocks noGrp="1"/>
          </p:cNvSpPr>
          <p:nvPr>
            <p:ph idx="1"/>
          </p:nvPr>
        </p:nvSpPr>
        <p:spPr/>
        <p:txBody>
          <a:bodyPr/>
          <a:lstStyle/>
          <a:p>
            <a:pPr lvl="0" indent="0" marL="0">
              <a:buNone/>
            </a:pPr>
            <a:r>
              <a:rPr/>
              <a:t>This analysis demonstrates several approaches to comparing mass between lake trout populations. The choice of statistical test depends on whether your data meets the assumptions of parametric tests. When assumptions are violated:</a:t>
            </a:r>
          </a:p>
          <a:p>
            <a:pPr lvl="0" indent="-342900" marL="342900">
              <a:buAutoNum type="arabicPeriod"/>
            </a:pPr>
            <a:r>
              <a:rPr/>
              <a:t>Try transforming the data (e.g., log transformation)</a:t>
            </a:r>
          </a:p>
          <a:p>
            <a:pPr lvl="0" indent="-342900" marL="342900">
              <a:buAutoNum type="arabicPeriod"/>
            </a:pPr>
            <a:r>
              <a:rPr/>
              <a:t>Use Welch’s t-test if variances are unequal</a:t>
            </a:r>
          </a:p>
          <a:p>
            <a:pPr lvl="0" indent="-342900" marL="342900">
              <a:buAutoNum type="arabicPeriod"/>
            </a:pPr>
            <a:r>
              <a:rPr/>
              <a:t>Use non-parametric tests (Mann-Whitney or permutation tests) if data remains non-normal</a:t>
            </a:r>
          </a:p>
          <a:p>
            <a:pPr lvl="0" indent="0" marL="0">
              <a:buNone/>
            </a:pPr>
            <a:r>
              <a:rPr/>
              <a:t>All methods have their strengths and limitations, and the consistency of results across methods can strengthen your conclusions.</a:t>
            </a:r>
          </a:p>
          <a:p>
            <a:pPr lvl="0" indent="0" marL="1270000">
              <a:buNone/>
            </a:pPr>
            <a:r>
              <a:rPr sz="2000" b="1"/>
              <a:t>When to Use Each Test</a:t>
            </a:r>
          </a:p>
          <a:p>
            <a:pPr lvl="0"/>
            <a:r>
              <a:rPr sz="2000" b="1"/>
              <a:t>Standard t-test</a:t>
            </a:r>
            <a:r>
              <a:rPr sz="2000"/>
              <a:t>: When data is normally distributed with equal variances</a:t>
            </a:r>
          </a:p>
          <a:p>
            <a:pPr lvl="0"/>
            <a:r>
              <a:rPr sz="2000" b="1"/>
              <a:t>Log-transformed t-test</a:t>
            </a:r>
            <a:r>
              <a:rPr sz="2000"/>
              <a:t>: When raw data is skewed but log-transformation achieves normality</a:t>
            </a:r>
          </a:p>
          <a:p>
            <a:pPr lvl="0"/>
            <a:r>
              <a:rPr sz="2000" b="1"/>
              <a:t>Welch’s t-test</a:t>
            </a:r>
            <a:r>
              <a:rPr sz="2000"/>
              <a:t>: When variances are unequal</a:t>
            </a:r>
          </a:p>
          <a:p>
            <a:pPr lvl="0"/>
            <a:r>
              <a:rPr sz="2000" b="1"/>
              <a:t>Mann-Whitney Wilcoxon test</a:t>
            </a:r>
            <a:r>
              <a:rPr sz="2000"/>
              <a:t>: When data is not normal and cannot be transformed to normality</a:t>
            </a:r>
          </a:p>
          <a:p>
            <a:pPr lvl="0"/>
            <a:r>
              <a:rPr sz="2000" b="1"/>
              <a:t>Permutation test</a:t>
            </a:r>
            <a:r>
              <a:rPr sz="2000"/>
              <a:t>: When sample sizes are small or assumptions cannot be met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Non-Parametric T-Tests</dc:title>
  <dc:creator>Bill Perry</dc:creator>
  <cp:keywords/>
  <dc:description>Hands-on activity: rank-based alternatives to t-tests.</dc:description>
  <dcterms:created xsi:type="dcterms:W3CDTF">2026-08-20T19:18:16Z</dcterms:created>
  <dcterms:modified xsi:type="dcterms:W3CDTF">2026-08-20T19:18:16Z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8</vt:lpwstr>
  </property>
  <property fmtid="{D5CDD505-2E9C-101B-9397-08002B2CF9AE}" pid="13" name="resources">
    <vt:lpwstr/>
  </property>
  <property fmtid="{D5CDD505-2E9C-101B-9397-08002B2CF9AE}" pid="14" name="subtitle">
    <vt:lpwstr>Rank-based tests</vt:lpwstr>
  </property>
  <property fmtid="{D5CDD505-2E9C-101B-9397-08002B2CF9AE}" pid="15" name="toc-title">
    <vt:lpwstr>Table of contents</vt:lpwstr>
  </property>
  <property fmtid="{D5CDD505-2E9C-101B-9397-08002B2CF9AE}" pid="16" name="week">
    <vt:lpwstr>4</vt:lpwstr>
  </property>
</Properties>
</file>