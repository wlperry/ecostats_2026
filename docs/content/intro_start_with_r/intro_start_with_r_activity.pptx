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— Start with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started in 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 class activity 1: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Objectives and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you identify inductive or deductive reasoning?</a:t>
            </a:r>
          </a:p>
          <a:p>
            <a:pPr lvl="0"/>
            <a:r>
              <a:rPr/>
              <a:t>How do you formulate a question?</a:t>
            </a:r>
          </a:p>
          <a:p>
            <a:pPr lvl="0"/>
            <a:r>
              <a:rPr/>
              <a:t>Can you develop a prediction?</a:t>
            </a:r>
          </a:p>
          <a:p>
            <a:pPr lvl="0"/>
            <a:r>
              <a:rPr/>
              <a:t>What are hypotheses - Null and Alternate?</a:t>
            </a:r>
          </a:p>
          <a:p>
            <a:pPr lvl="0"/>
            <a:r>
              <a:rPr/>
              <a:t>What are dependent and independent variables?</a:t>
            </a:r>
          </a:p>
          <a:p>
            <a:pPr lvl="0"/>
            <a:r>
              <a:rPr/>
              <a:t>What is a replicate and how do we sample?</a:t>
            </a:r>
          </a:p>
          <a:p>
            <a:pPr lvl="0"/>
            <a:r>
              <a:rPr/>
              <a:t>How do we organize data?</a:t>
            </a:r>
          </a:p>
          <a:p>
            <a:pPr lvl="0"/>
            <a:r>
              <a:rPr/>
              <a:t>How do we graph the data we gather?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Schedule: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Head to the field outside of Swenson and go to pine stand</a:t>
            </a:r>
          </a:p>
          <a:p>
            <a:pPr lvl="0"/>
            <a:r>
              <a:rPr/>
              <a:t>Discuss approaches to science and how to make observations</a:t>
            </a:r>
          </a:p>
          <a:p>
            <a:pPr lvl="1"/>
            <a:r>
              <a:rPr/>
              <a:t>Point out the North versus South side of a pine tree and how weather might affect the needled dimensions</a:t>
            </a:r>
          </a:p>
          <a:p>
            <a:pPr lvl="0"/>
            <a:r>
              <a:rPr/>
              <a:t>Return to laboratory and measure pine needles</a:t>
            </a:r>
          </a:p>
          <a:p>
            <a:pPr lvl="0"/>
            <a:r>
              <a:rPr/>
              <a:t>Organize data</a:t>
            </a:r>
          </a:p>
          <a:p>
            <a:pPr lvl="0"/>
            <a:r>
              <a:rPr/>
              <a:t>Make graphs to see what data looks like visually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Inductive reasoning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you were a person that sees the world through an inductive reasoning approach what would you do right now with the conifers and the effect of sun?</a:t>
            </a:r>
          </a:p>
          <a:p>
            <a:pPr lvl="0"/>
            <a:r>
              <a:rPr/>
              <a:t>Answer</a:t>
            </a:r>
          </a:p>
          <a:p>
            <a:pPr lvl="1"/>
            <a:r>
              <a:rPr/>
              <a:t>start measuring needles around the tree</a:t>
            </a:r>
          </a:p>
          <a:p>
            <a:pPr lvl="2"/>
            <a:r>
              <a:rPr/>
              <a:t>make a generalization about needles as affected by weather or wind or sun</a:t>
            </a:r>
          </a:p>
          <a:p>
            <a:pPr lvl="0"/>
            <a:r>
              <a:rPr/>
              <a:t>make a generalization about the species of pine trees and needle lengths as a response to the treatment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Deductive reasoning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you were a person that sees the world through a deductive reasoning approach what would you do right now?</a:t>
            </a:r>
          </a:p>
          <a:p>
            <a:pPr lvl="0"/>
            <a:r>
              <a:rPr/>
              <a:t>Answer</a:t>
            </a:r>
          </a:p>
          <a:p>
            <a:pPr lvl="1"/>
            <a:r>
              <a:rPr/>
              <a:t>note that there seems to be differences in pine needles on the different sides of trees</a:t>
            </a:r>
          </a:p>
          <a:p>
            <a:pPr lvl="1"/>
            <a:r>
              <a:rPr/>
              <a:t>make generalization that weather or sun affects pine needle length</a:t>
            </a:r>
          </a:p>
          <a:p>
            <a:pPr lvl="1"/>
            <a:r>
              <a:rPr/>
              <a:t>start measuring pine needles</a:t>
            </a:r>
          </a:p>
          <a:p>
            <a:pPr lvl="1"/>
            <a:r>
              <a:rPr/>
              <a:t>test if the pattern exists or not</a:t>
            </a:r>
          </a:p>
          <a:p>
            <a:pPr lvl="0"/>
            <a:r>
              <a:rPr/>
              <a:t>Then maybe test trees in sheltered versus sheltered areas or shaded and sunny areas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pine needle length vary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windward or sunny side of trees differ from the leeward or shady side of trees</a:t>
            </a:r>
          </a:p>
          <a:p>
            <a:pPr lvl="0"/>
            <a:r>
              <a:rPr/>
              <a:t>what might we expect if there is and effect of the treatment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 effect of sun or wind</a:t>
            </a:r>
          </a:p>
          <a:p>
            <a:pPr lvl="0"/>
            <a:r>
              <a:rPr/>
              <a:t>Then there would be no difference in needle length</a:t>
            </a:r>
          </a:p>
          <a:p>
            <a:pPr lvl="0"/>
            <a:r>
              <a:rPr/>
              <a:t>This is called the Null Hypothesis and is denoted Ho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There is a difference in needle length</a:t>
            </a:r>
          </a:p>
          <a:p>
            <a:pPr lvl="0"/>
            <a:r>
              <a:rPr/>
              <a:t>Could be shorter or longer - no specific pattern</a:t>
            </a:r>
          </a:p>
          <a:p>
            <a:pPr lvl="0"/>
            <a:r>
              <a:rPr/>
              <a:t>Then we reject the idea above that there is no effect of the treatment</a:t>
            </a:r>
          </a:p>
          <a:p>
            <a:pPr lvl="0"/>
            <a:r>
              <a:rPr/>
              <a:t>Accept the idea that there is a difference</a:t>
            </a:r>
          </a:p>
          <a:p>
            <a:pPr lvl="0"/>
            <a:r>
              <a:rPr/>
              <a:t>This is called the Alternate Hypothesis or Ha</a:t>
            </a:r>
          </a:p>
          <a:p>
            <a:pPr lvl="0"/>
            <a:r>
              <a:rPr/>
              <a:t>Note – we do not say if it is shorter or longer – this then becomes a </a:t>
            </a:r>
            <a:r>
              <a:rPr b="1"/>
              <a:t>prediction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would we collect data to test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Can we collect needles from one tree tree and do the test?</a:t>
            </a:r>
          </a:p>
          <a:p>
            <a:pPr lvl="0"/>
            <a:r>
              <a:rPr/>
              <a:t>NO – this is because this tree might have short needles — bad joke hidden…</a:t>
            </a:r>
          </a:p>
          <a:p>
            <a:pPr lvl="0"/>
            <a:r>
              <a:rPr/>
              <a:t>This is called </a:t>
            </a:r>
            <a:r>
              <a:rPr b="1"/>
              <a:t>pseudoreplication see Hurlbert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 have to collect needles from many trees</a:t>
            </a:r>
          </a:p>
          <a:p>
            <a:pPr lvl="0"/>
            <a:r>
              <a:rPr/>
              <a:t>The trees are the unit of replication here</a:t>
            </a:r>
          </a:p>
          <a:p>
            <a:pPr lvl="0"/>
            <a:r>
              <a:rPr/>
              <a:t>We can collect needles from the same tree and take the average of them and use that as a single replicate for each side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 also need to be sure our sample is randomly selected</a:t>
            </a:r>
          </a:p>
          <a:p>
            <a:pPr lvl="0"/>
            <a:r>
              <a:rPr/>
              <a:t>why do we need to randomize sampling?</a:t>
            </a:r>
          </a:p>
          <a:p>
            <a:pPr lvl="0"/>
            <a:r>
              <a:rPr/>
              <a:t>how can we randomize our sampling?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are the different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are working with variables</a:t>
            </a:r>
          </a:p>
          <a:p>
            <a:pPr lvl="1"/>
            <a:r>
              <a:rPr/>
              <a:t>north south east or west</a:t>
            </a:r>
          </a:p>
          <a:p>
            <a:pPr lvl="1"/>
            <a:r>
              <a:rPr/>
              <a:t>lee and windward sides</a:t>
            </a:r>
          </a:p>
          <a:p>
            <a:pPr lvl="1"/>
            <a:r>
              <a:rPr/>
              <a:t>sunny or shady</a:t>
            </a:r>
          </a:p>
          <a:p>
            <a:pPr lvl="1"/>
            <a:r>
              <a:rPr/>
              <a:t>species</a:t>
            </a:r>
          </a:p>
          <a:p>
            <a:pPr lvl="1"/>
            <a:r>
              <a:rPr/>
              <a:t>pine needle length</a:t>
            </a:r>
          </a:p>
          <a:p>
            <a:pPr lvl="0"/>
            <a:r>
              <a:rPr/>
              <a:t>what is a dependent variable?</a:t>
            </a:r>
          </a:p>
          <a:p>
            <a:pPr lvl="0"/>
            <a:r>
              <a:rPr/>
              <a:t>what is an independent variable?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 each group go out and collect needles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 branch or 20 needles from the sunny or windward side</a:t>
            </a:r>
          </a:p>
          <a:p>
            <a:pPr lvl="0"/>
            <a:r>
              <a:rPr/>
              <a:t>1 branch or 20 needles from the shady or leeward side</a:t>
            </a:r>
          </a:p>
          <a:p>
            <a:pPr lvl="0"/>
            <a:r>
              <a:rPr/>
              <a:t>Note that you need to collect them the same way and get the very base of the needle…</a:t>
            </a:r>
          </a:p>
          <a:p>
            <a:pPr lvl="0"/>
            <a:r>
              <a:rPr/>
              <a:t>We will also use the inner 3 inches from the base of the branch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done gather back here and we will head back to the laboratory.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 in the laboratory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 before we begin – what are the steps we need to decide?</a:t>
            </a:r>
          </a:p>
          <a:p>
            <a:pPr lvl="0" indent="0" marL="0">
              <a:buNone/>
            </a:pPr>
            <a:r>
              <a:rPr/>
              <a:t>Note - setting up how you work with data and what you call each variable will save you TONS of time later on. This is called controlled vocabulary</a:t>
            </a:r>
          </a:p>
          <a:p>
            <a:pPr lvl="0" indent="-342900" marL="342900">
              <a:buAutoNum type="arabicPeriod"/>
            </a:pPr>
            <a:r>
              <a:rPr/>
              <a:t>How we measure these using calipers?</a:t>
            </a:r>
          </a:p>
          <a:p>
            <a:pPr lvl="1" indent="-342900" marL="685800">
              <a:buAutoNum type="alphaLcPeriod"/>
            </a:pPr>
            <a:r>
              <a:rPr/>
              <a:t>Are there any things we need to pay attention to?</a:t>
            </a:r>
          </a:p>
          <a:p>
            <a:pPr lvl="0" indent="-342900" marL="342900">
              <a:buAutoNum type="arabicPeriod"/>
            </a:pPr>
            <a:r>
              <a:rPr/>
              <a:t>What are the variables we have identified?</a:t>
            </a:r>
          </a:p>
          <a:p>
            <a:pPr lvl="1" indent="-342900" marL="685800">
              <a:buAutoNum type="alphaLcPeriod"/>
            </a:pPr>
            <a:r>
              <a:rPr b="1"/>
              <a:t>Note: is Date the same thing as date?</a:t>
            </a:r>
          </a:p>
          <a:p>
            <a:pPr lvl="1" indent="-342900" marL="685800">
              <a:buAutoNum type="alphaLcPeriod"/>
            </a:pPr>
            <a:r>
              <a:rPr/>
              <a:t>date</a:t>
            </a:r>
          </a:p>
          <a:p>
            <a:pPr lvl="1" indent="-342900" marL="685800">
              <a:buAutoNum type="alphaLcPeriod"/>
            </a:pPr>
            <a:r>
              <a:rPr/>
              <a:t>group</a:t>
            </a:r>
          </a:p>
          <a:p>
            <a:pPr lvl="1" indent="-342900" marL="685800">
              <a:buAutoNum type="alphaLcPeriod"/>
            </a:pPr>
            <a:r>
              <a:rPr/>
              <a:t>n_s – north or south or even the degrees</a:t>
            </a:r>
          </a:p>
          <a:p>
            <a:pPr lvl="1" indent="-342900" marL="685800">
              <a:buAutoNum type="alphaLcPeriod"/>
            </a:pPr>
            <a:r>
              <a:rPr/>
              <a:t>wind or sun - windward or leeward as it may change</a:t>
            </a:r>
          </a:p>
          <a:p>
            <a:pPr lvl="1" indent="-342900" marL="685800">
              <a:buAutoNum type="alphaLcPeriod"/>
            </a:pPr>
            <a:r>
              <a:rPr/>
              <a:t>tree_no – group # may work</a:t>
            </a:r>
          </a:p>
          <a:p>
            <a:pPr lvl="1" indent="-342900" marL="685800">
              <a:buAutoNum type="alphaLcPeriod"/>
            </a:pPr>
            <a:r>
              <a:rPr/>
              <a:t>Pine needle length – what do we call it?</a:t>
            </a:r>
          </a:p>
          <a:p>
            <a:pPr lvl="2" indent="-342900" marL="1028700">
              <a:buAutoNum type="romanLcPeriod"/>
            </a:pPr>
            <a:r>
              <a:rPr/>
              <a:t>What is the name we use?</a:t>
            </a:r>
          </a:p>
          <a:p>
            <a:pPr lvl="2" indent="-342900" marL="1028700">
              <a:buAutoNum type="romanLcPeriod"/>
            </a:pPr>
            <a:r>
              <a:rPr/>
              <a:t>What are the units?</a:t>
            </a:r>
          </a:p>
          <a:p>
            <a:pPr lvl="2" indent="-342900" marL="1028700">
              <a:buAutoNum type="romanLcPeriod"/>
            </a:pPr>
            <a:r>
              <a:rPr/>
              <a:t>Can we name the variable for both?</a:t>
            </a:r>
          </a:p>
          <a:p>
            <a:pPr lvl="0" indent="-342900" marL="342900">
              <a:buAutoNum type="arabicPeriod"/>
            </a:pPr>
            <a:r>
              <a:rPr/>
              <a:t>What is meta data?</a:t>
            </a:r>
          </a:p>
          <a:p>
            <a:pPr lvl="1" indent="-342900" marL="685800">
              <a:buAutoNum type="alphaLcPeriod"/>
            </a:pPr>
            <a:r>
              <a:rPr/>
              <a:t>List of variables, description, units, possible values</a:t>
            </a:r>
          </a:p>
          <a:p>
            <a:pPr lvl="1" indent="-342900" marL="685800">
              <a:buAutoNum type="alphaLcPeriod"/>
            </a:pPr>
            <a:r>
              <a:rPr/>
              <a:t>Saved as an associated text file</a:t>
            </a:r>
          </a:p>
          <a:p>
            <a:pPr lvl="0" indent="-342900" marL="342900">
              <a:buAutoNum type="arabicPeriod"/>
            </a:pPr>
            <a:r>
              <a:rPr/>
              <a:t>OK so take the measures and re-code in the shared Google spreadsheet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 last thing – Lets Estimate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Select 3 pine needles and number 1, 2, 3 and put at the front of the room</a:t>
            </a:r>
          </a:p>
          <a:p>
            <a:pPr lvl="0"/>
            <a:r>
              <a:rPr/>
              <a:t>Each person needs to measure the 3 needles and record on paper</a:t>
            </a:r>
          </a:p>
          <a:p>
            <a:pPr lvl="0"/>
            <a:r>
              <a:rPr/>
              <a:t>Enter name</a:t>
            </a:r>
          </a:p>
          <a:p>
            <a:pPr lvl="0"/>
            <a:r>
              <a:rPr/>
              <a:t>Enter pine needle number</a:t>
            </a:r>
          </a:p>
          <a:p>
            <a:pPr lvl="0"/>
            <a:r>
              <a:rPr/>
              <a:t>Enter the length as mm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done each person can export the shared google drive as a CSV or comma delimited file and as an XLSX or excel file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Now Lets Open R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Download the compressed file pine_needles.zip</a:t>
            </a:r>
          </a:p>
          <a:p>
            <a:pPr lvl="0" indent="-342900" marL="342900">
              <a:buAutoNum type="arabicPeriod"/>
            </a:pPr>
            <a:r>
              <a:rPr/>
              <a:t>Unzip this file in both windows and mac as it wont work</a:t>
            </a:r>
          </a:p>
          <a:p>
            <a:pPr lvl="0" indent="-342900" marL="342900">
              <a:buAutoNum type="arabicPeriod"/>
            </a:pPr>
            <a:r>
              <a:rPr/>
              <a:t>Open the folder and look at what is in there</a:t>
            </a:r>
          </a:p>
          <a:p>
            <a:pPr lvl="0" indent="-342900" marL="342900">
              <a:buAutoNum type="arabicPeriod"/>
            </a:pPr>
            <a:r>
              <a:rPr/>
              <a:t>Copy the files you have entered data into the data sub-directory with the same names as you see…</a:t>
            </a:r>
          </a:p>
          <a:p>
            <a:pPr lvl="0" indent="-342900" marL="342900">
              <a:buAutoNum type="arabicPeriod"/>
            </a:pPr>
            <a:r>
              <a:rPr/>
              <a:t>Then open RStudio</a:t>
            </a:r>
          </a:p>
          <a:p>
            <a:pPr lvl="0" indent="-342900" marL="342900">
              <a:buAutoNum type="arabicPeriod"/>
            </a:pPr>
            <a:r>
              <a:rPr/>
              <a:t>The window will look below – what is all this stuff…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RStudio</a:t>
            </a:r>
          </a:p>
        </p:txBody>
      </p:sp>
      <p:pic>
        <p:nvPicPr>
          <p:cNvPr descr="images/rstudi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609600"/>
            <a:ext cx="60071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Important parts of the screen</a:t>
            </a:r>
          </a:p>
          <a:p>
            <a:pPr lvl="0"/>
            <a:r>
              <a:rPr/>
              <a:t>Console – this is really R running and R studio is the interface</a:t>
            </a:r>
          </a:p>
          <a:p>
            <a:pPr lvl="0"/>
            <a:r>
              <a:rPr/>
              <a:t>Terminal – this is the back end of your computer without windows</a:t>
            </a:r>
          </a:p>
          <a:p>
            <a:pPr lvl="0"/>
            <a:r>
              <a:rPr/>
              <a:t>Environment – this is where things in memory are stored like</a:t>
            </a:r>
          </a:p>
          <a:p>
            <a:pPr lvl="1"/>
            <a:r>
              <a:rPr/>
              <a:t>Dataframes</a:t>
            </a:r>
          </a:p>
          <a:p>
            <a:pPr lvl="1"/>
            <a:r>
              <a:rPr/>
              <a:t>Graphs Files – these are the files that are available… this now is your home directory Plots – the plots you create</a:t>
            </a:r>
          </a:p>
          <a:p>
            <a:pPr lvl="0"/>
            <a:r>
              <a:rPr/>
              <a:t>Help – some form of help for you</a:t>
            </a:r>
          </a:p>
          <a:p>
            <a:pPr lvl="0" indent="0" marL="0">
              <a:buNone/>
            </a:pPr>
            <a:r>
              <a:rPr/>
              <a:t>More later - In the files you will see folders and you can click on them to see what is in there…</a:t>
            </a:r>
          </a:p>
          <a:p>
            <a:pPr lvl="0" indent="0" marL="0">
              <a:buNone/>
            </a:pPr>
            <a:r>
              <a:rPr b="1"/>
              <a:t>you can also click the dots next to the green arrow to go back up a level</a:t>
            </a:r>
            <a:r>
              <a:rPr/>
              <a:t> 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Now lets open the project that I created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click </a:t>
            </a:r>
            <a:r>
              <a:rPr>
                <a:latin typeface="Courier"/>
              </a:rPr>
              <a:t>file</a:t>
            </a:r>
            <a:r>
              <a:rPr/>
              <a:t> - </a:t>
            </a:r>
            <a:r>
              <a:rPr>
                <a:latin typeface="Courier"/>
              </a:rPr>
              <a:t>open project</a:t>
            </a:r>
            <a:r>
              <a:rPr/>
              <a:t> and select the </a:t>
            </a:r>
            <a:r>
              <a:rPr>
                <a:latin typeface="Courier"/>
              </a:rPr>
              <a:t>01_homework.Rproj</a:t>
            </a:r>
            <a:r>
              <a:rPr/>
              <a:t> file</a:t>
            </a:r>
          </a:p>
          <a:p>
            <a:pPr lvl="0" indent="-342900" marL="342900">
              <a:buAutoNum type="arabicPeriod"/>
            </a:pPr>
            <a:r>
              <a:rPr/>
              <a:t>your screen will now change as RStudio knows where home is</a:t>
            </a:r>
          </a:p>
        </p:txBody>
      </p:sp>
      <p:pic>
        <p:nvPicPr>
          <p:cNvPr descr="images/clipboard-38669675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59200" y="952500"/>
            <a:ext cx="50165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Note that in the upper right you will see </a:t>
            </a:r>
            <a:r>
              <a:rPr>
                <a:latin typeface="Courier"/>
              </a:rPr>
              <a:t>01_homework</a:t>
            </a:r>
            <a:r>
              <a:rPr/>
              <a:t> so you know you are in the right spot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RStudio work with R - </a:t>
            </a:r>
            <a:r>
              <a:rPr>
                <a:latin typeface="Courier"/>
              </a:rPr>
              <a:t>&lt;-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need to cover a bit of syntax in 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 the console</a:t>
            </a:r>
          </a:p>
          <a:p>
            <a:pPr lvl="0"/>
            <a:r>
              <a:rPr/>
              <a:t>r is case sensitive so X is different than x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&lt;-</a:t>
            </a:r>
            <a:r>
              <a:rPr/>
              <a:t> is the assignment operator</a:t>
            </a:r>
          </a:p>
          <a:p>
            <a:pPr lvl="0"/>
            <a:r>
              <a:rPr/>
              <a:t>it stores whatever is on the right in a name that you have on the right</a:t>
            </a:r>
          </a:p>
          <a:p>
            <a:pPr lvl="0"/>
            <a:r>
              <a:rPr/>
              <a:t>try typing </a:t>
            </a:r>
            <a:r>
              <a:rPr>
                <a:latin typeface="Courier"/>
              </a:rPr>
              <a:t>x&lt;-7</a:t>
            </a:r>
            <a:r>
              <a:rPr/>
              <a:t> then </a:t>
            </a:r>
            <a:r>
              <a:rPr>
                <a:latin typeface="Courier"/>
              </a:rPr>
              <a:t>return</a:t>
            </a:r>
          </a:p>
          <a:p>
            <a:pPr lvl="1"/>
            <a:r>
              <a:rPr/>
              <a:t>this will store a new object in the environment that is an x and in that is 7</a:t>
            </a:r>
          </a:p>
          <a:p>
            <a:pPr lvl="0"/>
            <a:r>
              <a:rPr/>
              <a:t>now type x and hit </a:t>
            </a:r>
            <a:r>
              <a:rPr>
                <a:latin typeface="Courier"/>
              </a:rPr>
              <a:t>return</a:t>
            </a:r>
            <a:r>
              <a:rPr/>
              <a:t> and see what happens</a:t>
            </a:r>
          </a:p>
          <a:p>
            <a:pPr lvl="1"/>
            <a:r>
              <a:rPr/>
              <a:t>a 7 will appear</a:t>
            </a:r>
          </a:p>
          <a:p>
            <a:pPr lvl="0"/>
            <a:r>
              <a:rPr/>
              <a:t>now type y &lt;- 2 and enter</a:t>
            </a:r>
          </a:p>
          <a:p>
            <a:pPr lvl="0"/>
            <a:r>
              <a:rPr/>
              <a:t>now type x * y and </a:t>
            </a:r>
            <a:r>
              <a:rPr>
                <a:latin typeface="Courier"/>
              </a:rPr>
              <a:t>return</a:t>
            </a:r>
          </a:p>
          <a:p>
            <a:pPr lvl="1"/>
            <a:r>
              <a:rPr/>
              <a:t>you should see that it multiplied the x by the y variable and you get 14</a:t>
            </a:r>
          </a:p>
          <a:p>
            <a:pPr lvl="0"/>
            <a:r>
              <a:rPr/>
              <a:t>THIS WILL GET SERIOUSLY OLD IF YOU HAVE TO RETYPE ALL THE TIME!!!</a:t>
            </a:r>
          </a:p>
          <a:p>
            <a:pPr lvl="0"/>
            <a:r>
              <a:rPr/>
              <a:t>So we make command files or scripts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now in a r script file</a:t>
            </a:r>
          </a:p>
          <a:p>
            <a:pPr lvl="0"/>
            <a:r>
              <a:rPr/>
              <a:t>lets click </a:t>
            </a:r>
            <a:r>
              <a:rPr>
                <a:latin typeface="Courier"/>
              </a:rPr>
              <a:t>file</a:t>
            </a:r>
            <a:r>
              <a:rPr/>
              <a:t> and </a:t>
            </a:r>
            <a:r>
              <a:rPr>
                <a:latin typeface="Courier"/>
              </a:rPr>
              <a:t>New File ...</a:t>
            </a:r>
            <a:r>
              <a:rPr/>
              <a:t> and </a:t>
            </a:r>
            <a:r>
              <a:rPr>
                <a:latin typeface="Courier"/>
              </a:rPr>
              <a:t>R file</a:t>
            </a:r>
          </a:p>
          <a:p>
            <a:pPr lvl="0"/>
            <a:r>
              <a:rPr/>
              <a:t>this will open a new script file that you can write code and run it with </a:t>
            </a:r>
            <a:r>
              <a:rPr>
                <a:latin typeface="Courier"/>
              </a:rPr>
              <a:t>CTRL</a:t>
            </a:r>
            <a:r>
              <a:rPr/>
              <a:t> and </a:t>
            </a:r>
            <a:r>
              <a:rPr>
                <a:latin typeface="Courier"/>
              </a:rPr>
              <a:t>return</a:t>
            </a:r>
            <a:r>
              <a:rPr/>
              <a:t> or on mac </a:t>
            </a:r>
            <a:r>
              <a:rPr>
                <a:latin typeface="Courier"/>
              </a:rPr>
              <a:t>command</a:t>
            </a:r>
            <a:r>
              <a:rPr/>
              <a:t> + </a:t>
            </a:r>
            <a:r>
              <a:rPr>
                <a:latin typeface="Courier"/>
              </a:rPr>
              <a:t>return</a:t>
            </a:r>
          </a:p>
          <a:p>
            <a:pPr lvl="0"/>
            <a:r>
              <a:rPr/>
              <a:t>r is case sensitive so X is different than x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&lt;-</a:t>
            </a:r>
            <a:r>
              <a:rPr/>
              <a:t> is the assignment operator</a:t>
            </a:r>
          </a:p>
          <a:p>
            <a:pPr lvl="0"/>
            <a:r>
              <a:rPr/>
              <a:t>it stores whatever is on the right in a name that you have on the right</a:t>
            </a:r>
          </a:p>
          <a:p>
            <a:pPr lvl="0"/>
            <a:r>
              <a:rPr/>
              <a:t>try typing </a:t>
            </a:r>
            <a:r>
              <a:rPr>
                <a:latin typeface="Courier"/>
              </a:rPr>
              <a:t>x&lt;-7</a:t>
            </a:r>
            <a:r>
              <a:rPr/>
              <a:t> then </a:t>
            </a:r>
            <a:r>
              <a:rPr>
                <a:latin typeface="Courier"/>
              </a:rPr>
              <a:t>return</a:t>
            </a:r>
          </a:p>
          <a:p>
            <a:pPr lvl="1"/>
            <a:r>
              <a:rPr/>
              <a:t>this will store a new object in the environment that is an x and in that is 7</a:t>
            </a:r>
          </a:p>
          <a:p>
            <a:pPr lvl="0"/>
            <a:r>
              <a:rPr/>
              <a:t>now type x and hit </a:t>
            </a:r>
            <a:r>
              <a:rPr>
                <a:latin typeface="Courier"/>
              </a:rPr>
              <a:t>command</a:t>
            </a:r>
            <a:r>
              <a:rPr/>
              <a:t> + </a:t>
            </a:r>
            <a:r>
              <a:rPr>
                <a:latin typeface="Courier"/>
              </a:rPr>
              <a:t>return</a:t>
            </a:r>
            <a:r>
              <a:rPr/>
              <a:t> and see what happens in the console</a:t>
            </a:r>
          </a:p>
          <a:p>
            <a:pPr lvl="1"/>
            <a:r>
              <a:rPr/>
              <a:t>a 7 will appear</a:t>
            </a:r>
          </a:p>
          <a:p>
            <a:pPr lvl="0"/>
            <a:r>
              <a:rPr/>
              <a:t>now type y &lt;- 2 and enter</a:t>
            </a:r>
          </a:p>
          <a:p>
            <a:pPr lvl="0"/>
            <a:r>
              <a:rPr/>
              <a:t>now type x * y and </a:t>
            </a:r>
            <a:r>
              <a:rPr>
                <a:latin typeface="Courier"/>
              </a:rPr>
              <a:t>command</a:t>
            </a:r>
            <a:r>
              <a:rPr/>
              <a:t> + </a:t>
            </a:r>
            <a:r>
              <a:rPr>
                <a:latin typeface="Courier"/>
              </a:rPr>
              <a:t>return</a:t>
            </a:r>
          </a:p>
          <a:p>
            <a:pPr lvl="1"/>
            <a:r>
              <a:rPr/>
              <a:t>you should see that it multiplied the x by the y variable and you get 14</a:t>
            </a:r>
          </a:p>
          <a:p>
            <a:pPr lvl="0"/>
            <a:r>
              <a:rPr/>
              <a:t>This is one version - the other is a quarto markdown file we will see next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Quarto Files - how we will roll in the class</a:t>
            </a:r>
          </a:p>
          <a:p>
            <a:pPr lvl="0"/>
            <a:r>
              <a:rPr/>
              <a:t>Now click the </a:t>
            </a:r>
            <a:r>
              <a:rPr>
                <a:latin typeface="Courier"/>
              </a:rPr>
              <a:t>scripts folder</a:t>
            </a:r>
            <a:r>
              <a:rPr/>
              <a:t> where the scripts are stored</a:t>
            </a:r>
          </a:p>
          <a:p>
            <a:pPr lvl="0"/>
            <a:r>
              <a:rPr/>
              <a:t>Open - </a:t>
            </a:r>
            <a:r>
              <a:rPr>
                <a:latin typeface="Courier"/>
              </a:rPr>
              <a:t>01_plain_r_script_for_pine_needles_blank.R</a:t>
            </a:r>
            <a:r>
              <a:rPr/>
              <a:t> by clicking on it</a:t>
            </a:r>
          </a:p>
          <a:p>
            <a:pPr lvl="0"/>
            <a:r>
              <a:rPr/>
              <a:t>Then follow along…</a:t>
            </a:r>
          </a:p>
          <a:p>
            <a:pPr lvl="1"/>
            <a:r>
              <a:rPr/>
              <a:t>one tricky note - when you open these they think this is home and all files are here or under them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RStudio work with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could do all of our work with R or base R</a:t>
            </a:r>
          </a:p>
          <a:p>
            <a:pPr lvl="0"/>
            <a:r>
              <a:rPr/>
              <a:t>people have written a lot of helper functions called libraries stored in packages</a:t>
            </a:r>
          </a:p>
          <a:p>
            <a:pPr lvl="0"/>
            <a:r>
              <a:rPr/>
              <a:t>we use these a lot of these</a:t>
            </a:r>
          </a:p>
          <a:p>
            <a:pPr lvl="0"/>
            <a:r>
              <a:rPr/>
              <a:t>you install the package one time - a lot like buying a light bulb and screwing it in… you do that once</a:t>
            </a:r>
          </a:p>
          <a:p>
            <a:pPr lvl="0"/>
            <a:r>
              <a:rPr/>
              <a:t>then you can load the libraries stored in the package each time you use a library</a:t>
            </a:r>
          </a:p>
          <a:p>
            <a:pPr lvl="0"/>
            <a:r>
              <a:rPr/>
              <a:t>lets see how it works in a script I have made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Here is the script I provided to work 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 have provided a lot of details here so you can see what is going on</a:t>
            </a:r>
          </a:p>
          <a:p>
            <a:pPr lvl="0" indent="0" marL="0">
              <a:buNone/>
            </a:pPr>
            <a:r>
              <a:rPr/>
              <a:t>You should have installed packages which is done below The </a:t>
            </a:r>
            <a:r>
              <a:rPr>
                <a:latin typeface="Courier"/>
              </a:rPr>
              <a:t>#</a:t>
            </a:r>
            <a:r>
              <a:rPr/>
              <a:t> is a comment and allows you to write whatever you want and it won’ run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install packages 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install.packages("quarto")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install.packages("readxl")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install.packages("tidyverse")</a:t>
            </a:r>
          </a:p>
          <a:p>
            <a:pPr lvl="0" indent="0" marL="0">
              <a:buNone/>
            </a:pPr>
            <a:r>
              <a:rPr/>
              <a:t>Each script you run from then on you will load the libraries from within the package.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this library one time only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library(quarto)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Load the libraries 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allows to read in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provides utilities seen in console</a:t>
            </a:r>
          </a:p>
          <a:p>
            <a:pPr lvl="0" indent="0">
              <a:buNone/>
            </a:pPr>
            <a:r>
              <a:rPr>
                <a:latin typeface="Courier"/>
              </a:rPr>
              <a:t>── Attaching core tidyverse packages ──────────────────────── tidyverse 2.0.0 ──
✔ dplyr     1.2.1     ✔ readr     2.2.0
✔ forcats   1.0.1     ✔ stringr   1.6.0
✔ ggplot2   4.0.3     ✔ tibble    3.3.1
✔ lubridate 1.9.5     ✔ tidyr     1.3.2
✔ purrr     1.2.2     
── Conflicts ────────────────────────────────────────── tidyverse_conflicts() ──
✖ dplyr::filter() masks stats::filter()
✖ dplyr::lag()    masks stats::lag()
ℹ Use the conflicted package (&lt;http://conflicted.r-lib.org/&gt;) to force all conflicts to become errors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like we did before with x and y we will do this with a spreadsheet from a CSV file or excel file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#| # load file 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file is in the  data sub directory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below put cursor between "" and click tab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allows to to select the directory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tab again and select the file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48 Columns: 6
── Column specification ────────────────────────────────────────────────────────
Delimiter: ","
chr (4): date, group, n_s, wind
dbl (2): tree_no, length_mm
ℹ Use `spec()` to retrieve the full column specification for this data.
ℹ Specify the column types or set `show_col_types = FALSE` to quiet this message.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dataframe stored by "&lt;-" reading in csv file in quotes</a:t>
            </a:r>
          </a:p>
          <a:p>
            <a:pPr lvl="0" indent="0" marL="0">
              <a:buNone/>
            </a:pPr>
            <a:r>
              <a:rPr/>
              <a:t>This will import the excel file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this will allow you to read in the excel file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p_xl_df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GGPlot to graph the data</a:t>
            </a:r>
          </a:p>
          <a:p>
            <a:pPr lvl="0" indent="0" marL="0">
              <a:buNone/>
            </a:pPr>
            <a:r>
              <a:rPr/>
              <a:t>the line below loads the dataframe and what the aesthetics are</a:t>
            </a:r>
          </a:p>
          <a:p>
            <a:pPr lvl="0" indent="0" marL="0">
              <a:buNone/>
            </a:pPr>
            <a:r>
              <a:rPr/>
              <a:t>it does not tell ggplot how to add a layer of the geometry to show the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Tapestry Plot ——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wind, </a:t>
            </a:r>
            <a:r>
              <a:rPr>
                <a:solidFill>
                  <a:srgbClr val="657422"/>
                </a:solidFill>
                <a:latin typeface="Courier"/>
              </a:rPr>
              <a:t>y=</a:t>
            </a:r>
            <a:r>
              <a:rPr>
                <a:solidFill>
                  <a:srgbClr val="003B4F"/>
                </a:solidFill>
                <a:latin typeface="Courier"/>
              </a:rPr>
              <a:t>length_mm))</a:t>
            </a:r>
          </a:p>
        </p:txBody>
      </p:sp>
      <p:pic>
        <p:nvPicPr>
          <p:cNvPr descr="intro_start_with_r_activity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XY Plot —–</a:t>
            </a:r>
          </a:p>
          <a:p>
            <a:pPr lvl="0" indent="0" marL="0">
              <a:buNone/>
            </a:pPr>
            <a:r>
              <a:rPr/>
              <a:t>notice the points are layered on top but some overlap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wind, </a:t>
            </a:r>
            <a:r>
              <a:rPr>
                <a:solidFill>
                  <a:srgbClr val="657422"/>
                </a:solidFill>
                <a:latin typeface="Courier"/>
              </a:rPr>
              <a:t>y=</a:t>
            </a:r>
            <a:r>
              <a:rPr>
                <a:solidFill>
                  <a:srgbClr val="003B4F"/>
                </a:solidFill>
                <a:latin typeface="Courier"/>
              </a:rPr>
              <a:t>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</a:p>
        </p:txBody>
      </p:sp>
      <p:pic>
        <p:nvPicPr>
          <p:cNvPr descr="intro_start_with_r_activity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XY Plot with dodged points ——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wind, </a:t>
            </a:r>
            <a:r>
              <a:rPr>
                <a:solidFill>
                  <a:srgbClr val="657422"/>
                </a:solidFill>
                <a:latin typeface="Courier"/>
              </a:rPr>
              <a:t>y=</a:t>
            </a:r>
            <a:r>
              <a:rPr>
                <a:solidFill>
                  <a:srgbClr val="003B4F"/>
                </a:solidFill>
                <a:latin typeface="Courier"/>
              </a:rPr>
              <a:t>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width=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)</a:t>
            </a:r>
          </a:p>
        </p:txBody>
      </p:sp>
      <p:pic>
        <p:nvPicPr>
          <p:cNvPr descr="intro_start_with_r_activity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this dodges the points # position_dodge2 or can use position_dodge depending on grouping</a:t>
            </a:r>
          </a:p>
          <a:p>
            <a:pPr lvl="0" indent="0" marL="0">
              <a:buNone/>
            </a:pPr>
            <a:r>
              <a:rPr/>
              <a:t>What are the other ways to display the data?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Histogram —–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`stat_bin()` using `bins = 30`. Pick better value `binwidth`.</a:t>
            </a:r>
          </a:p>
        </p:txBody>
      </p:sp>
      <p:pic>
        <p:nvPicPr>
          <p:cNvPr descr="intro_start_with_r_activity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we really want to see the histograms colored by wind direction</a:t>
            </a:r>
          </a:p>
          <a:p>
            <a:pPr lvl="0" indent="0" marL="0">
              <a:buNone/>
            </a:pPr>
            <a:r>
              <a:rPr/>
              <a:t>We can map the wind aesthetic to a fill in the histogram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Histogram Colors —–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`stat_bin()` using `bins = 30`. Pick better value `binwidth`.</a:t>
            </a:r>
          </a:p>
        </p:txBody>
      </p:sp>
      <p:pic>
        <p:nvPicPr>
          <p:cNvPr descr="intro_start_with_r_activity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Histogram Bins —–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 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sets the width in units of the bins - try different nubmers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pic>
        <p:nvPicPr>
          <p:cNvPr descr="intro_start_with_r_activity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Other Plots if time in class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Box and Whisker Plots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wind, </a:t>
            </a:r>
            <a:r>
              <a:rPr>
                <a:solidFill>
                  <a:srgbClr val="657422"/>
                </a:solidFill>
                <a:latin typeface="Courier"/>
              </a:rPr>
              <a:t>y=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intro_start_with_r_activity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— Start with R</dc:title>
  <dc:creator/>
  <cp:keywords/>
  <dc:description>Hands-on activity: getting started in R and RStudio.</dc:description>
  <dcterms:created xsi:type="dcterms:W3CDTF">2026-07-06T00:59:49Z</dcterms:created>
  <dcterms:modified xsi:type="dcterms:W3CDTF">2026-07-06T00:59:49Z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engines">
    <vt:lpwstr/>
  </property>
  <property fmtid="{D5CDD505-2E9C-101B-9397-08002B2CF9AE}" pid="5" name="execute">
    <vt:lpwstr/>
  </property>
  <property fmtid="{D5CDD505-2E9C-101B-9397-08002B2CF9AE}" pid="6" name="format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etadata-files">
    <vt:lpwstr/>
  </property>
  <property fmtid="{D5CDD505-2E9C-101B-9397-08002B2CF9AE}" pid="12" name="order">
    <vt:lpwstr>1</vt:lpwstr>
  </property>
  <property fmtid="{D5CDD505-2E9C-101B-9397-08002B2CF9AE}" pid="13" name="resources">
    <vt:lpwstr/>
  </property>
  <property fmtid="{D5CDD505-2E9C-101B-9397-08002B2CF9AE}" pid="14" name="subtitle">
    <vt:lpwstr>Getting started in R</vt:lpwstr>
  </property>
  <property fmtid="{D5CDD505-2E9C-101B-9397-08002B2CF9AE}" pid="15" name="toc-title">
    <vt:lpwstr>Table of contents</vt:lpwstr>
  </property>
  <property fmtid="{D5CDD505-2E9C-101B-9397-08002B2CF9AE}" pid="16" name="week">
    <vt:lpwstr>1</vt:lpwstr>
  </property>
</Properties>
</file>