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Linear Mixed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Random effects for nested and hierarchical data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nested ANOVA, the traditional way:</a:t>
            </a:r>
          </a:p>
          <a:p>
            <a:pPr lvl="0"/>
            <a:r>
              <a:rPr/>
              <a:t>Factorial vs. nested designs</a:t>
            </a:r>
          </a:p>
          <a:p>
            <a:pPr lvl="0"/>
            <a:r>
              <a:rPr/>
              <a:t>The nested-design linear model and variance partitioning</a:t>
            </a:r>
          </a:p>
          <a:p>
            <a:pPr lvl="0"/>
            <a:r>
              <a:rPr/>
              <a:t>Fixed vs. random effects — B nested in A</a:t>
            </a:r>
          </a:p>
          <a:p>
            <a:pPr lvl="0"/>
            <a:r>
              <a:rPr/>
              <a:t>The naive (wrong) factorial model vs. </a:t>
            </a:r>
            <a:r>
              <a:rPr>
                <a:latin typeface="Courier"/>
              </a:rPr>
              <a:t>aov(..., Error(...))</a:t>
            </a:r>
          </a:p>
          <a:p>
            <a:pPr lvl="0" indent="0" marL="1270000">
              <a:buNone/>
            </a:pPr>
            <a:r>
              <a:rPr sz="2000" b="1"/>
              <a:t>Note</a:t>
            </a:r>
          </a:p>
          <a:p>
            <a:pPr lvl="0" indent="0" marL="1270000">
              <a:buNone/>
            </a:pPr>
            <a:r>
              <a:rPr sz="2000" b="1"/>
              <a:t>✅ Key idea from last lecture</a:t>
            </a:r>
          </a:p>
          <a:p>
            <a:pPr lvl="0" indent="0" marL="1270000">
              <a:buNone/>
            </a:pPr>
            <a:r>
              <a:rPr sz="2000">
                <a:latin typeface="Courier"/>
              </a:rPr>
              <a:t>patch</a:t>
            </a:r>
            <a:r>
              <a:rPr sz="2000"/>
              <a:t> nested in </a:t>
            </a:r>
            <a:r>
              <a:rPr sz="2000">
                <a:latin typeface="Courier"/>
              </a:rPr>
              <a:t>treat</a:t>
            </a:r>
            <a:r>
              <a:rPr sz="2000"/>
              <a:t> needs the right error term — </a:t>
            </a:r>
            <a:r>
              <a:rPr sz="2000">
                <a:latin typeface="Courier"/>
              </a:rPr>
              <a:t>MS_{patch(treat)}</a:t>
            </a:r>
            <a:r>
              <a:rPr sz="2000"/>
              <a:t>, not </a:t>
            </a:r>
            <a:r>
              <a:rPr sz="2000">
                <a:latin typeface="Courier"/>
              </a:rPr>
              <a:t>MS_{resid}</a:t>
            </a:r>
            <a:r>
              <a:rPr sz="2000"/>
              <a:t> — or the F-test for treatment is wrong. Today: the modern alternative to specifying that error term by hand.</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Same sea urchin grazing / algae cover dataset as last time — same question, same data, a different (and more flexible) way to fit the model.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 The Sea Urchin Data, Again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Same dataset as the nested ANOVA lecture: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1 100%  1         1     0
## 2 100%  1         2     0
## 3 100%  1         3     0
## 4 100%  1         4     6
## 5 100%  1         5     2
## 6 100%  2         1     0
## 
## 
## Treatment levels:
## [1] "0%"   "33%"  "66%"  "100%"</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0%       20  39.2 28.7  6.41      0    83
## 2 33%      20  19   25.7  5.74      0    71
## 3 66%      20  21.6 25.1  5.62      0    79
## 4 100%     20   1.3  3.18 0.711     0    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Modern Approaches — afex and Mixed Models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Makes an Effect “Random”?</a:t>
            </a:r>
          </a:p>
        </p:txBody>
      </p:sp>
      <p:sp>
        <p:nvSpPr>
          <p:cNvPr id="3" name="Text Placeholder 2"/>
          <p:cNvSpPr>
            <a:spLocks noGrp="1"/>
          </p:cNvSpPr>
          <p:nvPr>
            <p:ph idx="1" type="body"/>
          </p:nvPr>
        </p:nvSpPr>
        <p:spPr/>
        <p:txBody>
          <a:bodyPr/>
          <a:lstStyle/>
          <a:p>
            <a:pPr lvl="0" indent="0" marL="0">
              <a:buNone/>
            </a:pPr>
            <a:r>
              <a:rPr/>
              <a:t>Ask one question: </a:t>
            </a:r>
            <a:r>
              <a:rPr b="1"/>
              <a:t>do I care about these specific levels, or are they a sample of levels I could have had?</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endParaRPr/>
                    </a:p>
                  </a:txBody>
                  <a:tcPr/>
                </a:tc>
                <a:tc>
                  <a:txBody>
                    <a:bodyPr/>
                    <a:lstStyle/>
                    <a:p>
                      <a:pPr lvl="0" indent="0" marL="0">
                        <a:buNone/>
                      </a:pPr>
                      <a:r>
                        <a:rPr>
                          <a:latin typeface="Courier"/>
                        </a:rPr>
                        <a:t>treat</a:t>
                      </a:r>
                    </a:p>
                  </a:txBody>
                  <a:tcPr/>
                </a:tc>
                <a:tc>
                  <a:txBody>
                    <a:bodyPr/>
                    <a:lstStyle/>
                    <a:p>
                      <a:pPr lvl="0" indent="0" marL="0">
                        <a:buNone/>
                      </a:pPr>
                      <a:r>
                        <a:rPr>
                          <a:latin typeface="Courier"/>
                        </a:rPr>
                        <a:t>patch</a:t>
                      </a:r>
                    </a:p>
                  </a:txBody>
                  <a:tcPr/>
                </a:tc>
              </a:tr>
              <a:tr h="0">
                <a:tc>
                  <a:txBody>
                    <a:bodyPr/>
                    <a:lstStyle/>
                    <a:p>
                      <a:pPr lvl="0" indent="0" marL="0">
                        <a:buNone/>
                      </a:pPr>
                      <a:r>
                        <a:rPr/>
                        <a:t>The levels are</a:t>
                      </a:r>
                    </a:p>
                  </a:txBody>
                </a:tc>
                <a:tc>
                  <a:txBody>
                    <a:bodyPr/>
                    <a:lstStyle/>
                    <a:p>
                      <a:pPr lvl="0" indent="0" marL="0">
                        <a:buNone/>
                      </a:pPr>
                      <a:r>
                        <a:rPr/>
                        <a:t>0/33/66/100% density</a:t>
                      </a:r>
                    </a:p>
                  </a:txBody>
                </a:tc>
                <a:tc>
                  <a:txBody>
                    <a:bodyPr/>
                    <a:lstStyle/>
                    <a:p>
                      <a:pPr lvl="0" indent="0" marL="0">
                        <a:buNone/>
                      </a:pPr>
                      <a:r>
                        <a:rPr/>
                        <a:t>patches 1–16</a:t>
                      </a:r>
                    </a:p>
                  </a:txBody>
                </a:tc>
              </a:tr>
              <a:tr h="0">
                <a:tc>
                  <a:txBody>
                    <a:bodyPr/>
                    <a:lstStyle/>
                    <a:p>
                      <a:pPr lvl="0" indent="0" marL="0">
                        <a:buNone/>
                      </a:pPr>
                      <a:r>
                        <a:rPr/>
                        <a:t>Chosen by</a:t>
                      </a:r>
                    </a:p>
                  </a:txBody>
                </a:tc>
                <a:tc>
                  <a:txBody>
                    <a:bodyPr/>
                    <a:lstStyle/>
                    <a:p>
                      <a:pPr lvl="0" indent="0" marL="0">
                        <a:buNone/>
                      </a:pPr>
                      <a:r>
                        <a:rPr/>
                        <a:t>me, deliberately</a:t>
                      </a:r>
                    </a:p>
                  </a:txBody>
                </a:tc>
                <a:tc>
                  <a:txBody>
                    <a:bodyPr/>
                    <a:lstStyle/>
                    <a:p>
                      <a:pPr lvl="0" indent="0" marL="0">
                        <a:buNone/>
                      </a:pPr>
                      <a:r>
                        <a:rPr/>
                        <a:t>whatever was there</a:t>
                      </a:r>
                    </a:p>
                  </a:txBody>
                </a:tc>
              </a:tr>
              <a:tr h="0">
                <a:tc>
                  <a:txBody>
                    <a:bodyPr/>
                    <a:lstStyle/>
                    <a:p>
                      <a:pPr lvl="0" indent="0" marL="0">
                        <a:buNone/>
                      </a:pPr>
                      <a:r>
                        <a:rPr/>
                        <a:t>Would a repeat study use the same ones?</a:t>
                      </a:r>
                    </a:p>
                  </a:txBody>
                </a:tc>
                <a:tc>
                  <a:txBody>
                    <a:bodyPr/>
                    <a:lstStyle/>
                    <a:p>
                      <a:pPr lvl="0" indent="0" marL="0">
                        <a:buNone/>
                      </a:pPr>
                      <a:r>
                        <a:rPr b="1"/>
                        <a:t>yes</a:t>
                      </a:r>
                    </a:p>
                  </a:txBody>
                </a:tc>
                <a:tc>
                  <a:txBody>
                    <a:bodyPr/>
                    <a:lstStyle/>
                    <a:p>
                      <a:pPr lvl="0" indent="0" marL="0">
                        <a:buNone/>
                      </a:pPr>
                      <a:r>
                        <a:rPr/>
                        <a:t>no — different patches</a:t>
                      </a:r>
                    </a:p>
                  </a:txBody>
                </a:tc>
              </a:tr>
              <a:tr h="0">
                <a:tc>
                  <a:txBody>
                    <a:bodyPr/>
                    <a:lstStyle/>
                    <a:p>
                      <a:pPr lvl="0" indent="0" marL="0">
                        <a:buNone/>
                      </a:pPr>
                      <a:r>
                        <a:rPr/>
                        <a:t>I want to estimate</a:t>
                      </a:r>
                    </a:p>
                  </a:txBody>
                </a:tc>
                <a:tc>
                  <a:txBody>
                    <a:bodyPr/>
                    <a:lstStyle/>
                    <a:p>
                      <a:pPr lvl="0" indent="0" marL="0">
                        <a:buNone/>
                      </a:pPr>
                      <a:r>
                        <a:rPr b="1"/>
                        <a:t>each level’s mean</a:t>
                      </a:r>
                    </a:p>
                  </a:txBody>
                </a:tc>
                <a:tc>
                  <a:txBody>
                    <a:bodyPr/>
                    <a:lstStyle/>
                    <a:p>
                      <a:pPr lvl="0" indent="0" marL="0">
                        <a:buNone/>
                      </a:pPr>
                      <a:r>
                        <a:rPr b="1"/>
                        <a:t>how much they vary</a:t>
                      </a:r>
                    </a:p>
                  </a:txBody>
                </a:tc>
              </a:tr>
              <a:tr h="0">
                <a:tc>
                  <a:txBody>
                    <a:bodyPr/>
                    <a:lstStyle/>
                    <a:p>
                      <a:pPr lvl="0" indent="0" marL="0">
                        <a:buNone/>
                      </a:pPr>
                      <a:r>
                        <a:rPr/>
                        <a:t>So it is</a:t>
                      </a:r>
                    </a:p>
                  </a:txBody>
                </a:tc>
                <a:tc>
                  <a:txBody>
                    <a:bodyPr/>
                    <a:lstStyle/>
                    <a:p>
                      <a:pPr lvl="0" indent="0" marL="0">
                        <a:buNone/>
                      </a:pPr>
                      <a:r>
                        <a:rPr b="1"/>
                        <a:t>fixed</a:t>
                      </a:r>
                    </a:p>
                  </a:txBody>
                </a:tc>
                <a:tc>
                  <a:txBody>
                    <a:bodyPr/>
                    <a:lstStyle/>
                    <a:p>
                      <a:pPr lvl="0" indent="0" marL="0">
                        <a:buNone/>
                      </a:pPr>
                      <a:r>
                        <a:rPr b="1"/>
                        <a:t>random</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key consequence</a:t>
            </a:r>
          </a:p>
          <a:p>
            <a:pPr lvl="0" indent="0" marL="1270000">
              <a:buNone/>
            </a:pPr>
            <a:r>
              <a:rPr sz="2000"/>
              <a:t>A fixed factor with 16 levels costs you </a:t>
            </a:r>
            <a:r>
              <a:rPr sz="2000" b="1"/>
              <a:t>15 parameters</a:t>
            </a:r>
            <a:r>
              <a:rPr sz="2000"/>
              <a:t>. A random factor with 16 levels costs you </a:t>
            </a:r>
            <a:r>
              <a:rPr sz="2000" b="1"/>
              <a:t>one</a:t>
            </a:r>
            <a:r>
              <a:rPr sz="2000"/>
              <a:t> — a single variance, σ²_patch.</a:t>
            </a:r>
          </a:p>
          <a:p>
            <a:pPr lvl="0" indent="0" marL="1270000">
              <a:buNone/>
            </a:pPr>
            <a:r>
              <a:rPr sz="2000"/>
              <a:t>That is why mixed models cope with designs that </a:t>
            </a:r>
            <a:r>
              <a:rPr sz="2000">
                <a:latin typeface="Courier"/>
              </a:rPr>
              <a:t>aov()</a:t>
            </a:r>
            <a:r>
              <a:rPr sz="2000"/>
              <a:t> chokes on: they are estimating far less.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A useful test</a:t>
            </a:r>
          </a:p>
          <a:p>
            <a:pPr lvl="0" indent="0" marL="1270000">
              <a:buNone/>
            </a:pPr>
            <a:r>
              <a:rPr sz="2000"/>
              <a:t>If you can write a sentence a reader would care about that names a specific level — </a:t>
            </a:r>
            <a:r>
              <a:rPr sz="2000" i="1"/>
              <a:t>“the 100% density treatment reduced algae”</a:t>
            </a:r>
            <a:r>
              <a:rPr sz="2000"/>
              <a:t> — it is </a:t>
            </a:r>
            <a:r>
              <a:rPr sz="2000" b="1"/>
              <a:t>fixed</a:t>
            </a:r>
            <a:r>
              <a:rPr sz="2000"/>
              <a:t>.</a:t>
            </a:r>
          </a:p>
          <a:p>
            <a:pPr lvl="0" indent="0" marL="1270000">
              <a:buNone/>
            </a:pPr>
            <a:r>
              <a:rPr sz="2000"/>
              <a:t>If the sentence would be </a:t>
            </a:r>
            <a:r>
              <a:rPr sz="2000" i="1"/>
              <a:t>“patch 7 happened to be lush”</a:t>
            </a:r>
            <a:r>
              <a:rPr sz="2000"/>
              <a:t> — nobody cares about patch 7 in particular. </a:t>
            </a:r>
            <a:r>
              <a:rPr sz="2000" b="1"/>
              <a:t>Random.</a:t>
            </a:r>
          </a:p>
          <a:p>
            <a:pPr lvl="0" indent="0" marL="1270000">
              <a:buNone/>
            </a:pPr>
            <a:r>
              <a:rPr sz="2000" b="1"/>
              <a:t>Warning</a:t>
            </a:r>
          </a:p>
          <a:p>
            <a:pPr lvl="0" indent="0" marL="1270000">
              <a:buNone/>
            </a:pPr>
            <a:r>
              <a:rPr sz="2000" b="1"/>
              <a:t>⚠️ Rule of thumb: you need enough levels</a:t>
            </a:r>
          </a:p>
          <a:p>
            <a:pPr lvl="0" indent="0" marL="1270000">
              <a:buNone/>
            </a:pPr>
            <a:r>
              <a:rPr sz="2000"/>
              <a:t>Estimating a variance from </a:t>
            </a:r>
            <a:r>
              <a:rPr sz="2000" b="1"/>
              <a:t>fewer than ~5 levels</a:t>
            </a:r>
            <a:r>
              <a:rPr sz="2000"/>
              <a:t> is unreliable. With 2 or 3 groups, fit them as fixed effects instead.</a:t>
            </a:r>
          </a:p>
          <a:p>
            <a:pPr lvl="0" indent="0" marL="1270000">
              <a:buNone/>
            </a:pPr>
            <a:r>
              <a:rPr sz="2000"/>
              <a:t>We have 16 patches — comfortably enough.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Reading the random-effects formula:</a:t>
            </a:r>
          </a:p>
          <a:p>
            <a:pPr lvl="0" indent="0" marL="0">
              <a:buNone/>
            </a:pPr>
            <a:r>
              <a:rPr>
                <a:latin typeface="Courier"/>
              </a:rPr>
              <a:t>(</a:t>
            </a:r>
            <a:r>
              <a:rPr/>
              <a:t> what varies </a:t>
            </a:r>
            <a:r>
              <a:rPr>
                <a:latin typeface="Courier"/>
              </a:rPr>
              <a:t>|</a:t>
            </a:r>
            <a:r>
              <a:rPr/>
              <a:t> what it varies across </a:t>
            </a:r>
            <a:r>
              <a:rPr>
                <a:latin typeface="Courier"/>
              </a:rPr>
              <a:t>)</a:t>
            </a:r>
          </a:p>
          <a:p>
            <a:pPr lvl="0"/>
            <a:r>
              <a:rPr b="1">
                <a:latin typeface="Courier"/>
              </a:rPr>
              <a:t>(1|patch)</a:t>
            </a:r>
            <a:r>
              <a:rPr/>
              <a:t> — the </a:t>
            </a:r>
            <a:r>
              <a:rPr>
                <a:latin typeface="Courier"/>
              </a:rPr>
              <a:t>1</a:t>
            </a:r>
            <a:r>
              <a:rPr/>
              <a:t> means the </a:t>
            </a:r>
            <a:r>
              <a:rPr b="1"/>
              <a:t>intercept</a:t>
            </a:r>
            <a:r>
              <a:rPr/>
              <a:t>. Each patch gets its own baseline algae cover.</a:t>
            </a:r>
          </a:p>
          <a:p>
            <a:pPr lvl="0"/>
            <a:r>
              <a:rPr b="1">
                <a:latin typeface="Courier"/>
              </a:rPr>
              <a:t>(1|treat:patch)</a:t>
            </a:r>
            <a:r>
              <a:rPr/>
              <a:t> — the same thing, just naming the group as the </a:t>
            </a:r>
            <a:r>
              <a:rPr i="1"/>
              <a:t>treatment-patch combination</a:t>
            </a:r>
            <a:r>
              <a:rPr/>
              <a:t>. Still intercept-only.</a:t>
            </a:r>
          </a:p>
          <a:p>
            <a:pPr lvl="0"/>
            <a:r>
              <a:rPr b="1">
                <a:latin typeface="Courier"/>
              </a:rPr>
              <a:t>(1 + depth|patch)</a:t>
            </a:r>
            <a:r>
              <a:rPr/>
              <a:t> — </a:t>
            </a:r>
            <a:r>
              <a:rPr i="1"/>
              <a:t>this</a:t>
            </a:r>
            <a:r>
              <a:rPr/>
              <a:t> is a random </a:t>
            </a:r>
            <a:r>
              <a:rPr b="1"/>
              <a:t>slope</a:t>
            </a:r>
            <a:r>
              <a:rPr/>
              <a:t>: each patch gets its own intercept </a:t>
            </a:r>
            <a:r>
              <a:rPr b="1"/>
              <a:t>and</a:t>
            </a:r>
            <a:r>
              <a:rPr/>
              <a:t> its own slope for </a:t>
            </a:r>
            <a:r>
              <a:rPr>
                <a:latin typeface="Courier"/>
              </a:rPr>
              <a:t>depth</a:t>
            </a:r>
            <a:r>
              <a:rPr/>
              <a:t>.</a:t>
            </a:r>
          </a:p>
          <a:p>
            <a:pPr lvl="0" indent="0" marL="1270000">
              <a:buNone/>
            </a:pPr>
            <a:r>
              <a:rPr sz="2000" b="1"/>
              <a:t>Warning</a:t>
            </a:r>
          </a:p>
          <a:p>
            <a:pPr lvl="0" indent="0" marL="1270000">
              <a:buNone/>
            </a:pPr>
            <a:r>
              <a:rPr sz="2000" b="1"/>
              <a:t>⚠️ </a:t>
            </a:r>
            <a:r>
              <a:rPr sz="2000" b="1">
                <a:latin typeface="Courier"/>
              </a:rPr>
              <a:t>(1|treat:patch)</a:t>
            </a:r>
            <a:r>
              <a:rPr sz="2000" b="1"/>
              <a:t> is not a random slope</a:t>
            </a:r>
          </a:p>
          <a:p>
            <a:pPr lvl="0" indent="0" marL="1270000">
              <a:buNone/>
            </a:pPr>
            <a:r>
              <a:rPr sz="2000"/>
              <a:t>Anything of the form </a:t>
            </a:r>
            <a:r>
              <a:rPr sz="2000">
                <a:latin typeface="Courier"/>
              </a:rPr>
              <a:t>(1|...)</a:t>
            </a:r>
            <a:r>
              <a:rPr sz="2000"/>
              <a:t> is </a:t>
            </a:r>
            <a:r>
              <a:rPr sz="2000" b="1"/>
              <a:t>random intercepts only</a:t>
            </a:r>
            <a:r>
              <a:rPr sz="2000"/>
              <a:t> — the </a:t>
            </a:r>
            <a:r>
              <a:rPr sz="2000">
                <a:latin typeface="Courier"/>
              </a:rPr>
              <a:t>1</a:t>
            </a:r>
            <a:r>
              <a:rPr sz="2000"/>
              <a:t> </a:t>
            </a:r>
            <a:r>
              <a:rPr sz="2000" i="1"/>
              <a:t>is</a:t>
            </a:r>
            <a:r>
              <a:rPr sz="2000"/>
              <a:t> the intercept. What changes between </a:t>
            </a:r>
            <a:r>
              <a:rPr sz="2000">
                <a:latin typeface="Courier"/>
              </a:rPr>
              <a:t>(1|patch)</a:t>
            </a:r>
            <a:r>
              <a:rPr sz="2000"/>
              <a:t> and </a:t>
            </a:r>
            <a:r>
              <a:rPr sz="2000">
                <a:latin typeface="Courier"/>
              </a:rPr>
              <a:t>(1|treat:patch)</a:t>
            </a:r>
            <a:r>
              <a:rPr sz="2000"/>
              <a:t> is the </a:t>
            </a:r>
            <a:r>
              <a:rPr sz="2000" b="1"/>
              <a:t>grouping variable</a:t>
            </a:r>
            <a:r>
              <a:rPr sz="2000"/>
              <a:t>, not what varies within it.</a:t>
            </a:r>
          </a:p>
          <a:p>
            <a:pPr lvl="0" indent="0" marL="1270000">
              <a:buNone/>
            </a:pPr>
            <a:r>
              <a:rPr sz="2000"/>
              <a:t>Here they are the identical model, because patch IDs are already unique (1–16) and each patch sits in one treatment. We’ll use </a:t>
            </a:r>
            <a:r>
              <a:rPr sz="2000">
                <a:latin typeface="Courier"/>
              </a:rPr>
              <a:t>(1|patch)</a:t>
            </a:r>
            <a:r>
              <a:rPr sz="2000"/>
              <a:t>.</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patch    (Intercept) 294.3    17.16   </a:t>
            </a:r>
            <a:br/>
            <a:r>
              <a:rPr i="1">
                <a:solidFill>
                  <a:srgbClr val="5E5E5E"/>
                </a:solidFill>
                <a:latin typeface="Courier"/>
              </a:rPr>
              <a:t>##  Residual             298.6    17.28   </a:t>
            </a:r>
            <a:br/>
            <a:r>
              <a:rPr i="1">
                <a:solidFill>
                  <a:srgbClr val="5E5E5E"/>
                </a:solidFill>
                <a:latin typeface="Courier"/>
              </a:rPr>
              <a:t>## Number of obs: 80, groups:  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-1.263      8.147 12.000  -0.155  0.87943   </a:t>
            </a:r>
            <a:br/>
            <a:r>
              <a:rPr i="1">
                <a:solidFill>
                  <a:srgbClr val="5E5E5E"/>
                </a:solidFill>
                <a:latin typeface="Courier"/>
              </a:rPr>
              <a:t>## treat3         1.288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the Random Effect Buys You: ICC</a:t>
            </a:r>
          </a:p>
        </p:txBody>
      </p:sp>
      <p:sp>
        <p:nvSpPr>
          <p:cNvPr id="3" name="Content Placeholder 2"/>
          <p:cNvSpPr>
            <a:spLocks noGrp="1"/>
          </p:cNvSpPr>
          <p:nvPr>
            <p:ph idx="1" sz="half"/>
          </p:nvPr>
        </p:nvSpPr>
        <p:spPr/>
        <p:txBody>
          <a:bodyPr/>
          <a:lstStyle/>
          <a:p>
            <a:pPr lvl="0" indent="0" marL="0">
              <a:buNone/>
            </a:pPr>
            <a:r>
              <a:rPr/>
              <a:t>The model splits the leftover variation in two:</a:t>
            </a:r>
          </a:p>
          <a:p>
            <a:pPr lvl="0" indent="0">
              <a:buNone/>
            </a:pPr>
            <a:r>
              <a:rPr>
                <a:solidFill>
                  <a:srgbClr val="003B4F"/>
                </a:solidFill>
                <a:latin typeface="Courier"/>
              </a:rPr>
              <a:t>vc &lt;- </a:t>
            </a:r>
            <a:r>
              <a:rPr>
                <a:solidFill>
                  <a:srgbClr val="4758AB"/>
                </a:solidFill>
                <a:latin typeface="Courier"/>
              </a:rPr>
              <a:t>as.data.frame</a:t>
            </a:r>
            <a:r>
              <a:rPr>
                <a:solidFill>
                  <a:srgbClr val="003B4F"/>
                </a:solidFill>
                <a:latin typeface="Courier"/>
              </a:rPr>
              <a:t>(</a:t>
            </a:r>
            <a:r>
              <a:rPr>
                <a:solidFill>
                  <a:srgbClr val="4758AB"/>
                </a:solidFill>
                <a:latin typeface="Courier"/>
              </a:rPr>
              <a:t>VarCorr</a:t>
            </a:r>
            <a:r>
              <a:rPr>
                <a:solidFill>
                  <a:srgbClr val="003B4F"/>
                </a:solidFill>
                <a:latin typeface="Courier"/>
              </a:rPr>
              <a:t>(u_lmer_model))</a:t>
            </a:r>
            <a:br/>
            <a:r>
              <a:rPr>
                <a:solidFill>
                  <a:srgbClr val="003B4F"/>
                </a:solidFill>
                <a:latin typeface="Courier"/>
              </a:rPr>
              <a:t>var_patch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var_resid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"among patches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among patches : 294.3</a:t>
            </a:r>
            <a:br/>
            <a:r>
              <a:rPr>
                <a:solidFill>
                  <a:srgbClr val="4758AB"/>
                </a:solidFill>
                <a:latin typeface="Courier"/>
              </a:rPr>
              <a:t>cat</a:t>
            </a:r>
            <a:r>
              <a:rPr>
                <a:solidFill>
                  <a:srgbClr val="003B4F"/>
                </a:solidFill>
                <a:latin typeface="Courier"/>
              </a:rPr>
              <a:t>(</a:t>
            </a:r>
            <a:r>
              <a:rPr>
                <a:solidFill>
                  <a:srgbClr val="20794D"/>
                </a:solidFill>
                <a:latin typeface="Courier"/>
              </a:rPr>
              <a:t>"within patches:"</a:t>
            </a:r>
            <a:r>
              <a:rPr>
                <a:solidFill>
                  <a:srgbClr val="003B4F"/>
                </a:solidFill>
                <a:latin typeface="Courier"/>
              </a:rPr>
              <a:t>, </a:t>
            </a:r>
            <a:r>
              <a:rPr>
                <a:solidFill>
                  <a:srgbClr val="4758AB"/>
                </a:solidFill>
                <a:latin typeface="Courier"/>
              </a:rPr>
              <a:t>round</a:t>
            </a:r>
            <a:r>
              <a:rPr>
                <a:solidFill>
                  <a:srgbClr val="003B4F"/>
                </a:solidFill>
                <a:latin typeface="Courier"/>
              </a:rPr>
              <a:t>(var_resid,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within patches: 298.6</a:t>
            </a:r>
            <a:br/>
            <a:r>
              <a:rPr>
                <a:solidFill>
                  <a:srgbClr val="4758AB"/>
                </a:solidFill>
                <a:latin typeface="Courier"/>
              </a:rPr>
              <a:t>cat</a:t>
            </a:r>
            <a:r>
              <a:rPr>
                <a:solidFill>
                  <a:srgbClr val="003B4F"/>
                </a:solidFill>
                <a:latin typeface="Courier"/>
              </a:rPr>
              <a:t>(</a:t>
            </a:r>
            <a:r>
              <a:rPr>
                <a:solidFill>
                  <a:srgbClr val="20794D"/>
                </a:solidFill>
                <a:latin typeface="Courier"/>
              </a:rPr>
              <a:t>"ICC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5E5E5E"/>
                </a:solidFill>
                <a:latin typeface="Courier"/>
              </a:rPr>
              <a:t>/</a:t>
            </a:r>
            <a:r>
              <a:rPr>
                <a:solidFill>
                  <a:srgbClr val="003B4F"/>
                </a:solidFill>
                <a:latin typeface="Courier"/>
              </a:rPr>
              <a:t> (var_patch </a:t>
            </a:r>
            <a:r>
              <a:rPr>
                <a:solidFill>
                  <a:srgbClr val="5E5E5E"/>
                </a:solidFill>
                <a:latin typeface="Courier"/>
              </a:rPr>
              <a:t>+</a:t>
            </a:r>
            <a:r>
              <a:rPr>
                <a:solidFill>
                  <a:srgbClr val="003B4F"/>
                </a:solidFill>
                <a:latin typeface="Courier"/>
              </a:rPr>
              <a:t> var_resid),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ICC = 0.496</a:t>
            </a:r>
          </a:p>
          <a:p>
            <a:pPr lvl="0" indent="0" marL="0">
              <a:buNone/>
            </a:pPr>
            <a:r>
              <a:rPr/>
              <a:t>The </a:t>
            </a:r>
            <a:r>
              <a:rPr b="1"/>
              <a:t>intraclass correlation</a:t>
            </a:r>
            <a:r>
              <a:rPr/>
              <a:t> is the share of variance living </a:t>
            </a:r>
            <a:r>
              <a:rPr i="1"/>
              <a:t>between</a:t>
            </a:r>
            <a:r>
              <a:rPr/>
              <a:t> groups — equivalently, </a:t>
            </a:r>
            <a:r>
              <a:rPr b="1"/>
              <a:t>how strongly two quadrats in the same patch resemble each other</a:t>
            </a:r>
            <a:r>
              <a:rPr/>
              <a:t>.</a:t>
            </a:r>
          </a:p>
          <a:p>
            <a:pPr lvl="0" indent="0" marL="1270000">
              <a:buNone/>
            </a:pPr>
            <a:r>
              <a:rPr sz="2000" b="1"/>
              <a:t>Important</a:t>
            </a:r>
          </a:p>
          <a:p>
            <a:pPr lvl="0" indent="0" marL="1270000">
              <a:buNone/>
            </a:pPr>
            <a:r>
              <a:rPr sz="2000" b="1"/>
              <a:t>ICC = 0.50 is the whole reason we are here</a:t>
            </a:r>
          </a:p>
          <a:p>
            <a:pPr lvl="0" indent="0" marL="1270000">
              <a:buNone/>
            </a:pPr>
            <a:r>
              <a:rPr sz="2000"/>
              <a:t>Two quadrats from the same patch are </a:t>
            </a:r>
            <a:r>
              <a:rPr sz="2000" b="1"/>
              <a:t>half-correlated</a:t>
            </a:r>
            <a:r>
              <a:rPr sz="2000"/>
              <a:t>. They are not two independent observations — they are closer to one and a half.</a:t>
            </a:r>
          </a:p>
          <a:p>
            <a:pPr lvl="0" indent="0" marL="1270000">
              <a:buNone/>
            </a:pPr>
            <a:r>
              <a:rPr sz="2000"/>
              <a:t>An ICC near 0 would mean patches barely matter and ordinary ANOVA would have been fine. An ICC of 0.5 means ignoring patch would have been badly wrong — and last week’s naive model showed exactly how wrong (F = 16.1 instead of 2.7).</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Same number, three ways</a:t>
            </a:r>
          </a:p>
          <a:p>
            <a:pPr lvl="0" indent="0" marL="1270000">
              <a:buNone/>
            </a:pPr>
            <a:r>
              <a:rPr sz="2000"/>
              <a:t>You have now seen 294.3 arrive by three routes:</a:t>
            </a:r>
          </a:p>
          <a:p>
            <a:pPr lvl="0" indent="-342900" marL="342900">
              <a:buAutoNum type="arabicPeriod"/>
            </a:pPr>
            <a:r>
              <a:rPr sz="2000"/>
              <a:t>By hand from mean squares, </a:t>
            </a:r>
            <a:r>
              <a:rPr sz="2000">
                <a:latin typeface="Courier"/>
              </a:rPr>
              <a:t>(MS_patch − MS_within)/n</a:t>
            </a:r>
          </a:p>
          <a:p>
            <a:pPr lvl="0" indent="-342900" marL="342900">
              <a:buAutoNum type="arabicPeriod"/>
            </a:pPr>
            <a:r>
              <a:rPr sz="2000"/>
              <a:t>From </a:t>
            </a:r>
            <a:r>
              <a:rPr sz="2000">
                <a:latin typeface="Courier"/>
              </a:rPr>
              <a:t>aov(Error(patch))</a:t>
            </a:r>
          </a:p>
          <a:p>
            <a:pPr lvl="0" indent="-342900" marL="342900">
              <a:buAutoNum type="arabicPeriod"/>
            </a:pPr>
            <a:r>
              <a:rPr sz="2000"/>
              <a:t>From </a:t>
            </a:r>
            <a:r>
              <a:rPr sz="2000">
                <a:latin typeface="Courier"/>
              </a:rPr>
              <a:t>VarCorr()</a:t>
            </a:r>
            <a:r>
              <a:rPr sz="2000"/>
              <a:t> on the mixed model</a:t>
            </a:r>
          </a:p>
          <a:p>
            <a:pPr lvl="0" indent="0" marL="1270000">
              <a:buNone/>
            </a:pPr>
            <a:r>
              <a:rPr sz="2000"/>
              <a:t>They agree because </a:t>
            </a:r>
            <a:r>
              <a:rPr sz="2000" b="1"/>
              <a:t>they are the same model</a:t>
            </a:r>
            <a:r>
              <a:rPr sz="2000"/>
              <a:t>, written three ways.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Partial Pooling — What Actually Happens to Each Patch</a:t>
            </a:r>
          </a:p>
        </p:txBody>
      </p:sp>
      <p:sp>
        <p:nvSpPr>
          <p:cNvPr id="3" name="Text Placeholder 2"/>
          <p:cNvSpPr>
            <a:spLocks noGrp="1"/>
          </p:cNvSpPr>
          <p:nvPr>
            <p:ph idx="1" type="body"/>
          </p:nvPr>
        </p:nvSpPr>
        <p:spPr/>
        <p:txBody>
          <a:bodyPr/>
          <a:lstStyle/>
          <a:p>
            <a:pPr lvl="0" indent="0" marL="0">
              <a:buNone/>
            </a:pPr>
            <a:r>
              <a:rPr/>
              <a:t>A random effect does not just adjust the p-value. It changes each patch’s </a:t>
            </a:r>
            <a:r>
              <a:rPr b="1"/>
              <a:t>estimate</a:t>
            </a:r>
            <a:r>
              <a:rPr/>
              <a:t>.</a:t>
            </a:r>
          </a:p>
        </p:txBody>
      </p:sp>
      <p:pic>
        <p:nvPicPr>
          <p:cNvPr descr="linear_mixed_models_lecture_files/figure-pptx/linear-mixed-models-04c-1.png" id="0" name="Picture 1"/>
          <p:cNvPicPr>
            <a:picLocks noGrp="1" noChangeAspect="1"/>
          </p:cNvPicPr>
          <p:nvPr/>
        </p:nvPicPr>
        <p:blipFill>
          <a:blip r:embed="rId2"/>
          <a:stretch>
            <a:fillRect/>
          </a:stretch>
        </p:blipFill>
        <p:spPr bwMode="auto">
          <a:xfrm>
            <a:off x="215900" y="1270000"/>
            <a:ext cx="42418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 shrinkage</a:t>
            </a:r>
          </a:p>
          <a:p>
            <a:pPr lvl="0" indent="0" marL="1270000">
              <a:buNone/>
            </a:pPr>
            <a:r>
              <a:rPr sz="2000"/>
              <a:t>Every patch estimate is pulled </a:t>
            </a:r>
            <a:r>
              <a:rPr sz="2000" b="1"/>
              <a:t>toward its treatment mean</a:t>
            </a:r>
            <a:r>
              <a:rPr sz="2000"/>
              <a:t>. The model treats an extreme patch average as partly real signal and partly luck, and splits the difference.</a:t>
            </a:r>
          </a:p>
          <a:p>
            <a:pPr lvl="0" indent="0" marL="1270000">
              <a:buNone/>
            </a:pPr>
            <a:r>
              <a:rPr sz="2000"/>
              <a:t>Patches with fewer quadrats, or more internal scatter, get pulled further.</a:t>
            </a:r>
          </a:p>
          <a:p>
            <a:pPr lvl="0" indent="0" marL="1270000">
              <a:buNone/>
            </a:pPr>
            <a:r>
              <a:rPr sz="2000" b="1"/>
              <a:t>Tip</a:t>
            </a:r>
          </a:p>
          <a:p>
            <a:pPr lvl="0" indent="0" marL="1270000">
              <a:buNone/>
            </a:pPr>
            <a:r>
              <a:rPr sz="2000" b="1"/>
              <a:t>🖐 Why this is a feature</a:t>
            </a:r>
          </a:p>
          <a:p>
            <a:pPr lvl="0" indent="0" marL="1270000">
              <a:buNone/>
            </a:pPr>
            <a:r>
              <a:rPr sz="2000"/>
              <a:t>A patch whose 5 quadrats happened to land high is probably </a:t>
            </a:r>
            <a:r>
              <a:rPr sz="2000" i="1"/>
              <a:t>not</a:t>
            </a:r>
            <a:r>
              <a:rPr sz="2000"/>
              <a:t> that extreme — the next 5 would come back closer to average. Shrinkage builds that expectation in, instead of taking every noisy group mean at face value.</a:t>
            </a:r>
          </a:p>
          <a:p>
            <a:pPr lvl="0" indent="0" marL="1270000">
              <a:buNone/>
            </a:pPr>
            <a:r>
              <a:rPr sz="2000"/>
              <a:t>This is called </a:t>
            </a:r>
            <a:r>
              <a:rPr sz="2000" b="1"/>
              <a:t>partial pooling</a:t>
            </a:r>
            <a:r>
              <a:rPr sz="2000"/>
              <a:t>: somewhere between treating every patch as unrelated and pretending they are all identical.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car::Anova uses Kenward-Roger denominator df for test.statistic = "F"</a:t>
            </a:r>
            <a:br/>
            <a:r>
              <a:rPr>
                <a:solidFill>
                  <a:srgbClr val="5E5E5E"/>
                </a:solidFill>
                <a:latin typeface="Courier"/>
              </a:rPr>
              <a:t># (that is what the printed header says -- there is no ddf argument here)</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u_anova_chisq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u_anova_chisq</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Post-Hoc and Interpretation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 Two tests, two answers — and you must pick one </a:t>
            </a:r>
            <a:r>
              <a:rPr sz="2000" b="1" i="1"/>
              <a:t>before</a:t>
            </a:r>
            <a:r>
              <a:rPr sz="2000" b="1"/>
              <a:t> you look</a:t>
            </a:r>
          </a:p>
          <a:p>
            <a:pPr lvl="0" indent="0" marL="1270000">
              <a:buNone/>
            </a:pPr>
            <a:r>
              <a:rPr sz="2000"/>
              <a:t>Same model. Same data. </a:t>
            </a:r>
            <a:r>
              <a:rPr sz="2000" b="1"/>
              <a:t>Opposite conclusions.</a:t>
            </a:r>
          </a:p>
          <a:p>
            <a:pPr lvl="0" indent="0" marL="1270000">
              <a:buNone/>
            </a:pPr>
            <a:r>
              <a:rPr sz="2000"/>
              <a:t>The χ² test assumes it knows the variance components exactly and that the sample is large. We have </a:t>
            </a:r>
            <a:r>
              <a:rPr sz="2000" b="1"/>
              <a:t>16 patches</a:t>
            </a:r>
            <a:r>
              <a:rPr sz="2000"/>
              <a:t>. It is being over-confident, exactly as the rule of thumb two slides back predicted.</a:t>
            </a:r>
          </a:p>
          <a:p>
            <a:pPr lvl="0" indent="0" marL="1270000">
              <a:buNone/>
            </a:pPr>
            <a:r>
              <a:rPr sz="2000" b="1"/>
              <a:t>Report the F-test.</a:t>
            </a:r>
            <a:r>
              <a:rPr sz="2000"/>
              <a:t> It agrees with last week’s </a:t>
            </a:r>
            <a:r>
              <a:rPr sz="2000">
                <a:latin typeface="Courier"/>
              </a:rPr>
              <a:t>aov(Error(patch))</a:t>
            </a:r>
            <a:r>
              <a:rPr sz="2000"/>
              <a:t> result to four decimal places — because it is the same test.</a:t>
            </a:r>
          </a:p>
          <a:p>
            <a:pPr lvl="0" indent="0" marL="1270000">
              <a:buNone/>
            </a:pPr>
            <a:r>
              <a:rPr sz="2000" b="1"/>
              <a:t>Note</a:t>
            </a:r>
          </a:p>
          <a:p>
            <a:pPr lvl="0" indent="0" marL="1270000">
              <a:buNone/>
            </a:pPr>
            <a:r>
              <a:rPr sz="2000" b="1"/>
              <a:t>How to report this result</a:t>
            </a:r>
          </a:p>
          <a:p>
            <a:pPr lvl="0" indent="0" marL="1270000">
              <a:buNone/>
            </a:pPr>
            <a:r>
              <a:rPr sz="2000"/>
              <a:t>“Algal cover did not differ significantly among urchin density treatments (linear mixed model with patch as a random effect, </a:t>
            </a:r>
            <a:r>
              <a:rPr sz="2000" b="1"/>
              <a:t>F₃,₁₂ = 2.72, p = 0.091</a:t>
            </a:r>
            <a:r>
              <a:rPr sz="2000"/>
              <a:t>, Kenward-Roger denominator df). Among-patch variance was substantial (</a:t>
            </a:r>
            <a:r>
              <a:rPr sz="2000" b="1"/>
              <a:t>σ²_patch = 294.3</a:t>
            </a:r>
            <a:r>
              <a:rPr sz="2000"/>
              <a:t> vs </a:t>
            </a:r>
            <a:r>
              <a:rPr sz="2000" b="1"/>
              <a:t>σ²_residual = 298.6</a:t>
            </a:r>
            <a:r>
              <a:rPr sz="2000"/>
              <a:t>, ICC = 0.50), indicating strong spatial heterogeneity in algal cover.”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0%      39.2 9.41 12    18.70     59.7</a:t>
            </a:r>
            <a:br/>
            <a:r>
              <a:rPr i="1">
                <a:solidFill>
                  <a:srgbClr val="5E5E5E"/>
                </a:solidFill>
                <a:latin typeface="Courier"/>
              </a:rPr>
              <a:t>##  33%     19.0 9.41 12    -1.50     39.5</a:t>
            </a:r>
            <a:br/>
            <a:r>
              <a:rPr i="1">
                <a:solidFill>
                  <a:srgbClr val="5E5E5E"/>
                </a:solidFill>
                <a:latin typeface="Courier"/>
              </a:rPr>
              <a:t>##  66%     21.6 9.41 12     1.05     42.0</a:t>
            </a:r>
            <a:br/>
            <a:r>
              <a:rPr i="1">
                <a:solidFill>
                  <a:srgbClr val="5E5E5E"/>
                </a:solidFill>
                <a:latin typeface="Courier"/>
              </a:rPr>
              <a:t>##  100%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0% - 33%      20.20 13.3 12   1.518  0.6356</a:t>
            </a:r>
            <a:br/>
            <a:r>
              <a:rPr i="1">
                <a:solidFill>
                  <a:srgbClr val="5E5E5E"/>
                </a:solidFill>
                <a:latin typeface="Courier"/>
              </a:rPr>
              <a:t>##  0% - 66%      17.65 13.3 12   1.327  0.7557</a:t>
            </a:r>
            <a:br/>
            <a:r>
              <a:rPr i="1">
                <a:solidFill>
                  <a:srgbClr val="5E5E5E"/>
                </a:solidFill>
                <a:latin typeface="Courier"/>
              </a:rPr>
              <a:t>##  0% - 100%     37.90 13.3 12   2.849  0.0848</a:t>
            </a:r>
            <a:br/>
            <a:r>
              <a:rPr i="1">
                <a:solidFill>
                  <a:srgbClr val="5E5E5E"/>
                </a:solidFill>
                <a:latin typeface="Courier"/>
              </a:rPr>
              <a:t>##  33% - 66%     -2.55 13.3 12  -0.192  1.0000</a:t>
            </a:r>
            <a:br/>
            <a:r>
              <a:rPr i="1">
                <a:solidFill>
                  <a:srgbClr val="5E5E5E"/>
                </a:solidFill>
                <a:latin typeface="Courier"/>
              </a:rPr>
              <a:t>##  33% - 100%    17.70 13.3 12   1.330  0.7534</a:t>
            </a:r>
            <a:br/>
            <a:r>
              <a:rPr i="1">
                <a:solidFill>
                  <a:srgbClr val="5E5E5E"/>
                </a:solidFill>
                <a:latin typeface="Courier"/>
              </a:rPr>
              <a:t>##  66% - 100%    20.25 13.3 12   1.522  0.6331</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100%     1.3 9.41 12   -19.20     21.8  a    </a:t>
            </a:r>
            <a:br/>
            <a:r>
              <a:rPr i="1">
                <a:solidFill>
                  <a:srgbClr val="5E5E5E"/>
                </a:solidFill>
                <a:latin typeface="Courier"/>
              </a:rPr>
              <a:t>##  33%     19.0 9.41 12    -1.50     39.5  a    </a:t>
            </a:r>
            <a:br/>
            <a:r>
              <a:rPr i="1">
                <a:solidFill>
                  <a:srgbClr val="5E5E5E"/>
                </a:solidFill>
                <a:latin typeface="Courier"/>
              </a:rPr>
              <a:t>##  66%     21.6 9.41 12     1.05     42.0  a    </a:t>
            </a:r>
            <a:br/>
            <a:r>
              <a:rPr i="1">
                <a:solidFill>
                  <a:srgbClr val="5E5E5E"/>
                </a:solidFill>
                <a:latin typeface="Courier"/>
              </a:rPr>
              <a:t>##  0%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Visualization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do a better job (see the Nested ANOVA activity).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linear_mixed_models_lecture_files/figure-pptx/linear-mixed-models-12-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linear_mixed_models_lecture_files/figure-pptx/linear-mixed-models-1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linear_mixed_models_lecture_files/figure-pptx/linear-mixed-models-15-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Discussion and Manual Calculation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mixed-model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variance component for patches nested within treatments (294.31, ~39.5% of total variance) shows that spatial heterogeneity is a major structuring force in these algal communities, and needs to be accounted for when designing and analyzing ecological field experiments.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 and shows how the traditional nested-ANOVA F-ratio (last lecture) connects to the mixed-model result above.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a:t>
            </a:r>
            <a:r>
              <a:rPr>
                <a:latin typeface="Courier"/>
              </a:rPr>
              <a:t>lmer</a:t>
            </a:r>
            <a:r>
              <a:rPr/>
              <a:t> Formula Cheat-Sheet</a:t>
            </a:r>
          </a:p>
        </p:txBody>
      </p:sp>
      <p:sp>
        <p:nvSpPr>
          <p:cNvPr id="3" name="Text Placeholder 2"/>
          <p:cNvSpPr>
            <a:spLocks noGrp="1"/>
          </p:cNvSpPr>
          <p:nvPr>
            <p:ph idx="1" type="body"/>
          </p:nvPr>
        </p:nvSpPr>
        <p:spPr/>
        <p:txBody>
          <a:bodyPr/>
          <a:lstStyle/>
          <a:p>
            <a:pPr lvl="0" indent="0" marL="0">
              <a:buNone/>
            </a:pPr>
            <a:r>
              <a:rPr/>
              <a:t>Read every random term as </a:t>
            </a:r>
            <a:r>
              <a:rPr b="1">
                <a:latin typeface="Courier"/>
              </a:rPr>
              <a:t>( what varies | across what )</a:t>
            </a:r>
            <a:r>
              <a:rPr/>
              <a:t>.</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2959100"/>
              </a:tblGrid>
              <a:tr h="0">
                <a:tc>
                  <a:txBody>
                    <a:bodyPr/>
                    <a:lstStyle/>
                    <a:p>
                      <a:pPr lvl="0" indent="0" marL="0">
                        <a:buNone/>
                      </a:pPr>
                      <a:r>
                        <a:rPr/>
                        <a:t>Formula</a:t>
                      </a:r>
                    </a:p>
                  </a:txBody>
                  <a:tcPr/>
                </a:tc>
                <a:tc>
                  <a:txBody>
                    <a:bodyPr/>
                    <a:lstStyle/>
                    <a:p>
                      <a:pPr lvl="0" indent="0" marL="0">
                        <a:buNone/>
                      </a:pPr>
                      <a:r>
                        <a:rPr/>
                        <a:t>Meaning</a:t>
                      </a:r>
                    </a:p>
                  </a:txBody>
                  <a:tcPr/>
                </a:tc>
              </a:tr>
              <a:tr h="0">
                <a:tc>
                  <a:txBody>
                    <a:bodyPr/>
                    <a:lstStyle/>
                    <a:p>
                      <a:pPr lvl="0" indent="0" marL="0">
                        <a:buNone/>
                      </a:pPr>
                      <a:r>
                        <a:rPr>
                          <a:latin typeface="Courier"/>
                        </a:rPr>
                        <a:t>y ~ x + (1|g)</a:t>
                      </a:r>
                    </a:p>
                  </a:txBody>
                </a:tc>
                <a:tc>
                  <a:txBody>
                    <a:bodyPr/>
                    <a:lstStyle/>
                    <a:p>
                      <a:pPr lvl="0" indent="0" marL="0">
                        <a:buNone/>
                      </a:pPr>
                      <a:r>
                        <a:rPr/>
                        <a:t>random </a:t>
                      </a:r>
                      <a:r>
                        <a:rPr b="1"/>
                        <a:t>intercept</a:t>
                      </a:r>
                      <a:r>
                        <a:rPr/>
                        <a:t> per group — each group has its own baseline</a:t>
                      </a:r>
                    </a:p>
                  </a:txBody>
                </a:tc>
              </a:tr>
              <a:tr h="0">
                <a:tc>
                  <a:txBody>
                    <a:bodyPr/>
                    <a:lstStyle/>
                    <a:p>
                      <a:pPr lvl="0" indent="0" marL="0">
                        <a:buNone/>
                      </a:pPr>
                      <a:r>
                        <a:rPr>
                          <a:latin typeface="Courier"/>
                        </a:rPr>
                        <a:t>y ~ x + (1 + x|g)</a:t>
                      </a:r>
                    </a:p>
                  </a:txBody>
                </a:tc>
                <a:tc>
                  <a:txBody>
                    <a:bodyPr/>
                    <a:lstStyle/>
                    <a:p>
                      <a:pPr lvl="0" indent="0" marL="0">
                        <a:buNone/>
                      </a:pPr>
                      <a:r>
                        <a:rPr/>
                        <a:t>random intercept </a:t>
                      </a:r>
                      <a:r>
                        <a:rPr b="1"/>
                        <a:t>and slope</a:t>
                      </a:r>
                      <a:r>
                        <a:rPr/>
                        <a:t> — each group has its own baseline </a:t>
                      </a:r>
                      <a:r>
                        <a:rPr i="1"/>
                        <a:t>and</a:t>
                      </a:r>
                      <a:r>
                        <a:rPr/>
                        <a:t> its own response to x</a:t>
                      </a:r>
                    </a:p>
                  </a:txBody>
                </a:tc>
              </a:tr>
              <a:tr h="0">
                <a:tc>
                  <a:txBody>
                    <a:bodyPr/>
                    <a:lstStyle/>
                    <a:p>
                      <a:pPr lvl="0" indent="0" marL="0">
                        <a:buNone/>
                      </a:pPr>
                      <a:r>
                        <a:rPr>
                          <a:latin typeface="Courier"/>
                        </a:rPr>
                        <a:t>y ~ x + (0 + x|g)</a:t>
                      </a:r>
                    </a:p>
                  </a:txBody>
                </a:tc>
                <a:tc>
                  <a:txBody>
                    <a:bodyPr/>
                    <a:lstStyle/>
                    <a:p>
                      <a:pPr lvl="0" indent="0" marL="0">
                        <a:buNone/>
                      </a:pPr>
                      <a:r>
                        <a:rPr/>
                        <a:t>random slope only, shared intercept</a:t>
                      </a:r>
                    </a:p>
                  </a:txBody>
                </a:tc>
              </a:tr>
              <a:tr h="0">
                <a:tc>
                  <a:txBody>
                    <a:bodyPr/>
                    <a:lstStyle/>
                    <a:p>
                      <a:pPr lvl="0" indent="0" marL="0">
                        <a:buNone/>
                      </a:pPr>
                      <a:r>
                        <a:rPr>
                          <a:latin typeface="Courier"/>
                        </a:rPr>
                        <a:t>y ~ x + (1|a) + (1|b)</a:t>
                      </a:r>
                    </a:p>
                  </a:txBody>
                </a:tc>
                <a:tc>
                  <a:txBody>
                    <a:bodyPr/>
                    <a:lstStyle/>
                    <a:p>
                      <a:pPr lvl="0" indent="0" marL="0">
                        <a:buNone/>
                      </a:pPr>
                      <a:r>
                        <a:rPr/>
                        <a:t>two </a:t>
                      </a:r>
                      <a:r>
                        <a:rPr b="1"/>
                        <a:t>crossed</a:t>
                      </a:r>
                      <a:r>
                        <a:rPr/>
                        <a:t> random factors</a:t>
                      </a:r>
                    </a:p>
                  </a:txBody>
                </a:tc>
              </a:tr>
              <a:tr h="0">
                <a:tc>
                  <a:txBody>
                    <a:bodyPr/>
                    <a:lstStyle/>
                    <a:p>
                      <a:pPr lvl="0" indent="0" marL="0">
                        <a:buNone/>
                      </a:pPr>
                      <a:r>
                        <a:rPr>
                          <a:latin typeface="Courier"/>
                        </a:rPr>
                        <a:t>y ~ x + (1|a/b)</a:t>
                      </a:r>
                    </a:p>
                  </a:txBody>
                </a:tc>
                <a:tc>
                  <a:txBody>
                    <a:bodyPr/>
                    <a:lstStyle/>
                    <a:p>
                      <a:pPr lvl="0" indent="0" marL="0">
                        <a:buNone/>
                      </a:pPr>
                      <a:r>
                        <a:rPr/>
                        <a:t>b </a:t>
                      </a:r>
                      <a:r>
                        <a:rPr b="1"/>
                        <a:t>nested</a:t>
                      </a:r>
                      <a:r>
                        <a:rPr/>
                        <a:t> in a — shorthand for </a:t>
                      </a:r>
                      <a:r>
                        <a:rPr>
                          <a:latin typeface="Courier"/>
                        </a:rPr>
                        <a:t>(1|a) + (1|a:b)</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confusion to avoid</a:t>
            </a:r>
          </a:p>
          <a:p>
            <a:pPr lvl="0" indent="0" marL="1270000">
              <a:buNone/>
            </a:pPr>
            <a:r>
              <a:rPr sz="2000">
                <a:latin typeface="Courier"/>
              </a:rPr>
              <a:t>(1|patch)</a:t>
            </a:r>
            <a:r>
              <a:rPr sz="2000"/>
              <a:t> and </a:t>
            </a:r>
            <a:r>
              <a:rPr sz="2000">
                <a:latin typeface="Courier"/>
              </a:rPr>
              <a:t>(1|treat:patch)</a:t>
            </a:r>
            <a:r>
              <a:rPr sz="2000"/>
              <a:t> are </a:t>
            </a:r>
            <a:r>
              <a:rPr sz="2000" b="1"/>
              <a:t>both random-intercept</a:t>
            </a:r>
            <a:r>
              <a:rPr sz="2000"/>
              <a:t> models. The </a:t>
            </a:r>
            <a:r>
              <a:rPr sz="2000">
                <a:latin typeface="Courier"/>
              </a:rPr>
              <a:t>1</a:t>
            </a:r>
            <a:r>
              <a:rPr sz="2000"/>
              <a:t> is the intercept; what differs is only the </a:t>
            </a:r>
            <a:r>
              <a:rPr sz="2000" b="1"/>
              <a:t>grouping</a:t>
            </a:r>
            <a:r>
              <a:rPr sz="2000"/>
              <a:t>.</a:t>
            </a:r>
          </a:p>
          <a:p>
            <a:pPr lvl="0" indent="0" marL="1270000">
              <a:buNone/>
            </a:pPr>
            <a:r>
              <a:rPr sz="2000"/>
              <a:t>You only have a random slope when something other than </a:t>
            </a:r>
            <a:r>
              <a:rPr sz="2000">
                <a:latin typeface="Courier"/>
              </a:rPr>
              <a:t>1</a:t>
            </a:r>
            <a:r>
              <a:rPr sz="2000"/>
              <a:t> appears on the left of the </a:t>
            </a:r>
            <a:r>
              <a:rPr sz="2000">
                <a:latin typeface="Courier"/>
              </a:rPr>
              <a:t>|</a:t>
            </a:r>
            <a:r>
              <a:rPr sz="2000"/>
              <a:t>.</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Do I need </a:t>
            </a:r>
            <a:r>
              <a:rPr sz="2000" b="1">
                <a:latin typeface="Courier"/>
              </a:rPr>
              <a:t>a/b</a:t>
            </a:r>
            <a:r>
              <a:rPr sz="2000" b="1"/>
              <a:t> here?</a:t>
            </a:r>
          </a:p>
          <a:p>
            <a:pPr lvl="0" indent="0" marL="1270000">
              <a:buNone/>
            </a:pPr>
            <a:r>
              <a:rPr sz="2000"/>
              <a:t>Only if the inner IDs </a:t>
            </a:r>
            <a:r>
              <a:rPr sz="2000" b="1"/>
              <a:t>restart</a:t>
            </a:r>
            <a:r>
              <a:rPr sz="2000"/>
              <a:t> inside each outer level (patch 1,2,3,4 in </a:t>
            </a:r>
            <a:r>
              <a:rPr sz="2000" i="1"/>
              <a:t>every</a:t>
            </a:r>
            <a:r>
              <a:rPr sz="2000"/>
              <a:t> treatment). Then R cannot tell nesting from crossing and you must write </a:t>
            </a:r>
            <a:r>
              <a:rPr sz="2000">
                <a:latin typeface="Courier"/>
              </a:rPr>
              <a:t>(1|treat/patch)</a:t>
            </a:r>
            <a:r>
              <a:rPr sz="2000"/>
              <a:t>.</a:t>
            </a:r>
          </a:p>
          <a:p>
            <a:pPr lvl="0" indent="0" marL="1270000">
              <a:buNone/>
            </a:pPr>
            <a:r>
              <a:rPr sz="2000"/>
              <a:t>Our patches are numbered 1–16 across the whole study, so </a:t>
            </a:r>
            <a:r>
              <a:rPr sz="2000">
                <a:latin typeface="Courier"/>
              </a:rPr>
              <a:t>(1|patch)</a:t>
            </a:r>
            <a:r>
              <a:rPr sz="2000"/>
              <a:t> already says it.</a:t>
            </a:r>
          </a:p>
          <a:p>
            <a:pPr lvl="0" indent="0" marL="1270000">
              <a:buNone/>
            </a:pPr>
            <a:r>
              <a:rPr sz="2000" b="1"/>
              <a:t>Warning</a:t>
            </a:r>
          </a:p>
          <a:p>
            <a:pPr lvl="0" indent="0" marL="1270000">
              <a:buNone/>
            </a:pPr>
            <a:r>
              <a:rPr sz="2000" b="1"/>
              <a:t>⚠️ “boundary (singular) fit”</a:t>
            </a:r>
          </a:p>
          <a:p>
            <a:pPr lvl="0" indent="0" marL="1270000">
              <a:buNone/>
            </a:pPr>
            <a:r>
              <a:rPr sz="2000"/>
              <a:t>Means a variance was estimated as ~0 — the grouping factor explains nothing, or you asked for more random structure than the data can support. Simplify the random effects; do not ignore it.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Decided </a:t>
            </a:r>
            <a:r>
              <a:rPr b="1"/>
              <a:t>fixed vs random</a:t>
            </a:r>
            <a:r>
              <a:rPr/>
              <a:t> by asking whether you care about </a:t>
            </a:r>
            <a:r>
              <a:rPr i="1"/>
              <a:t>these</a:t>
            </a:r>
            <a:r>
              <a:rPr/>
              <a:t> levels or about </a:t>
            </a:r>
            <a:r>
              <a:rPr i="1"/>
              <a:t>how much they vary</a:t>
            </a:r>
          </a:p>
          <a:p>
            <a:pPr lvl="0"/>
            <a:r>
              <a:rPr/>
              <a:t>Learned that a random factor costs </a:t>
            </a:r>
            <a:r>
              <a:rPr b="1"/>
              <a:t>one parameter</a:t>
            </a:r>
            <a:r>
              <a:rPr/>
              <a:t> (a variance) where a fixed one costs </a:t>
            </a:r>
            <a:r>
              <a:rPr i="1"/>
              <a:t>k</a:t>
            </a:r>
            <a:r>
              <a:rPr/>
              <a:t> − 1</a:t>
            </a:r>
          </a:p>
          <a:p>
            <a:pPr lvl="0"/>
            <a:r>
              <a:rPr/>
              <a:t>Read </a:t>
            </a:r>
            <a:r>
              <a:rPr>
                <a:latin typeface="Courier"/>
              </a:rPr>
              <a:t>(1|group)</a:t>
            </a:r>
            <a:r>
              <a:rPr/>
              <a:t> correctly, and saw that it is </a:t>
            </a:r>
            <a:r>
              <a:rPr b="1"/>
              <a:t>not</a:t>
            </a:r>
            <a:r>
              <a:rPr/>
              <a:t> a random slope</a:t>
            </a:r>
          </a:p>
          <a:p>
            <a:pPr lvl="0"/>
            <a:r>
              <a:rPr/>
              <a:t>Got the </a:t>
            </a:r>
            <a:r>
              <a:rPr b="1"/>
              <a:t>ICC = 0.50</a:t>
            </a:r>
            <a:r>
              <a:rPr/>
              <a:t> — two quadrats in a patch are half-correlated, which is exactly why this design needed a mixed model</a:t>
            </a:r>
          </a:p>
          <a:p>
            <a:pPr lvl="0"/>
            <a:r>
              <a:rPr/>
              <a:t>Saw </a:t>
            </a:r>
            <a:r>
              <a:rPr b="1"/>
              <a:t>partial pooling</a:t>
            </a:r>
            <a:r>
              <a:rPr/>
              <a:t> move each patch estimate toward its treatment mean</a:t>
            </a:r>
          </a:p>
          <a:p>
            <a:pPr lvl="0"/>
            <a:r>
              <a:rPr/>
              <a:t>Chose between the </a:t>
            </a:r>
            <a:r>
              <a:rPr b="1"/>
              <a:t>F-test (p = 0.091)</a:t>
            </a:r>
            <a:r>
              <a:rPr/>
              <a:t> and the </a:t>
            </a:r>
            <a:r>
              <a:rPr b="1"/>
              <a:t>Wald χ² (p = 0.043)</a:t>
            </a:r>
            <a:r>
              <a:rPr/>
              <a:t> — and learned why the F-test is the right one at n = 16 groups</a:t>
            </a:r>
          </a:p>
          <a:p>
            <a:pPr lvl="0" indent="0" marL="1270000">
              <a:buNone/>
            </a:pPr>
            <a:r>
              <a:rPr sz="2000" b="1"/>
              <a:t>Important</a:t>
            </a:r>
          </a:p>
          <a:p>
            <a:pPr lvl="0" indent="0" marL="1270000">
              <a:buNone/>
            </a:pPr>
            <a:r>
              <a:rPr sz="2000" b="1"/>
              <a:t>⚠️ Report the F-test, and say so</a:t>
            </a:r>
          </a:p>
          <a:p>
            <a:pPr lvl="0" indent="0" marL="1270000">
              <a:buNone/>
            </a:pPr>
            <a:r>
              <a:rPr sz="2000"/>
              <a:t>With few random-effect levels the χ² is anti-conservative — it assumes it knows the variance components exactly. Always state which approximation you used and what the denominator df were.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mixed model does not “remove” the patch effect — it </a:t>
            </a:r>
            <a:r>
              <a:rPr sz="2000" b="1"/>
              <a:t>estimates</a:t>
            </a:r>
            <a:r>
              <a:rPr sz="2000"/>
              <a:t> it, and then tests the treatment against the right amount of noise.</a:t>
            </a:r>
          </a:p>
          <a:p>
            <a:pPr lvl="0" indent="0" marL="1270000">
              <a:buNone/>
            </a:pPr>
            <a:r>
              <a:rPr sz="2000" b="1"/>
              <a:t>σ²_patch = 294.3 arrived three ways:</a:t>
            </a:r>
            <a:r>
              <a:rPr sz="2000"/>
              <a:t> by hand from mean squares, from </a:t>
            </a:r>
            <a:r>
              <a:rPr sz="2000">
                <a:latin typeface="Courier"/>
              </a:rPr>
              <a:t>aov(Error(patch))</a:t>
            </a:r>
            <a:r>
              <a:rPr sz="2000"/>
              <a:t>, and from </a:t>
            </a:r>
            <a:r>
              <a:rPr sz="2000">
                <a:latin typeface="Courier"/>
              </a:rPr>
              <a:t>VarCorr()</a:t>
            </a:r>
            <a:r>
              <a:rPr sz="2000"/>
              <a:t>. Same model, three notations. If you understood the nested ANOVA, you already understood mixed models — this is just a better way to write and fit them.</a:t>
            </a:r>
          </a:p>
          <a:p>
            <a:pPr lvl="0" indent="0" marL="1270000">
              <a:buNone/>
            </a:pPr>
            <a:r>
              <a:rPr sz="2000" b="1"/>
              <a:t>Tip</a:t>
            </a:r>
          </a:p>
          <a:p>
            <a:pPr lvl="0" indent="0" marL="1270000">
              <a:buNone/>
            </a:pPr>
            <a:r>
              <a:rPr sz="2000" b="1"/>
              <a:t>🖐 Before next class</a:t>
            </a:r>
          </a:p>
          <a:p>
            <a:pPr lvl="0" indent="0" marL="1270000">
              <a:buNone/>
            </a:pPr>
            <a:r>
              <a:rPr sz="2000"/>
              <a:t>Take the pine needle data, </a:t>
            </a:r>
            <a:r>
              <a:rPr sz="2000" b="1"/>
              <a:t>collapsed to one value per team per side</a:t>
            </a:r>
            <a:r>
              <a:rPr sz="2000"/>
              <a:t> (the two-stage summary from Week 3):</a:t>
            </a:r>
          </a:p>
          <a:p>
            <a:pPr lvl="0" indent="0">
              <a:buNone/>
            </a:pP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anova</a:t>
            </a:r>
            <a:r>
              <a:rPr>
                <a:solidFill>
                  <a:srgbClr val="003B4F"/>
                </a:solidFill>
                <a:latin typeface="Courier"/>
              </a:rPr>
              <a:t>(</a:t>
            </a:r>
            <a:r>
              <a:rPr>
                <a:solidFill>
                  <a:srgbClr val="4758AB"/>
                </a:solidFill>
                <a:latin typeface="Courier"/>
              </a:rPr>
              <a:t>lmer</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team), </a:t>
            </a:r>
            <a:r>
              <a:rPr>
                <a:solidFill>
                  <a:srgbClr val="657422"/>
                </a:solidFill>
                <a:latin typeface="Courier"/>
              </a:rPr>
              <a:t>data =</a:t>
            </a:r>
            <a:r>
              <a:rPr>
                <a:solidFill>
                  <a:srgbClr val="003B4F"/>
                </a:solidFill>
                <a:latin typeface="Courier"/>
              </a:rPr>
              <a:t> p_df))</a:t>
            </a:r>
          </a:p>
          <a:p>
            <a:pPr lvl="0" indent="0" marL="1270000">
              <a:buNone/>
            </a:pPr>
            <a:r>
              <a:rPr sz="2000"/>
              <a:t>Compare </a:t>
            </a:r>
            <a:r>
              <a:rPr sz="2000">
                <a:latin typeface="Courier"/>
              </a:rPr>
              <a:t>F</a:t>
            </a:r>
            <a:r>
              <a:rPr sz="2000"/>
              <a:t> to the </a:t>
            </a:r>
            <a:r>
              <a:rPr sz="2000" b="1"/>
              <a:t>square of</a:t>
            </a:r>
            <a:r>
              <a:rPr sz="2000"/>
              <a:t> the paired-t statistic from Week 4 (t = −2.72). You should get </a:t>
            </a:r>
            <a:r>
              <a:rPr sz="2000" b="1"/>
              <a:t>F = 7.41, df 1 and 3, p = 0.072</a:t>
            </a:r>
            <a:r>
              <a:rPr sz="2000"/>
              <a:t> — the paired t-test </a:t>
            </a:r>
            <a:r>
              <a:rPr sz="2000" i="1"/>
              <a:t>is</a:t>
            </a:r>
            <a:r>
              <a:rPr sz="2000"/>
              <a:t> this mixed model.</a:t>
            </a:r>
          </a:p>
          <a:p>
            <a:pPr lvl="0" indent="0" marL="1270000">
              <a:buNone/>
            </a:pPr>
            <a:r>
              <a:rPr sz="2000" b="1"/>
              <a:t>🚀 If you finish early:</a:t>
            </a:r>
            <a:r>
              <a:rPr sz="2000"/>
              <a:t> run the same formula on the raw 64 needles instead. You get p = 0.057 and </a:t>
            </a:r>
            <a:r>
              <a:rPr sz="2000" b="1"/>
              <a:t>59</a:t>
            </a:r>
            <a:r>
              <a:rPr sz="2000"/>
              <a:t> denominator df, not 3. What changed? (Hint: check </a:t>
            </a:r>
            <a:r>
              <a:rPr sz="2000">
                <a:latin typeface="Courier"/>
              </a:rPr>
              <a:t>VarCorr()</a:t>
            </a:r>
            <a:r>
              <a:rPr sz="2000"/>
              <a:t> — one variance is estimated as exactly zero, and R warns “singular fit”.)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the grouping variable a </a:t>
            </a:r>
            <a:r>
              <a:rPr b="1"/>
              <a:t>factor</a:t>
            </a:r>
            <a:r>
              <a:rPr/>
              <a:t>? Is </a:t>
            </a:r>
            <a:r>
              <a:rPr>
                <a:latin typeface="Courier"/>
              </a:rPr>
              <a:t>lmerTest</a:t>
            </a:r>
            <a:r>
              <a:rPr/>
              <a:t> loaded (plain </a:t>
            </a:r>
            <a:r>
              <a:rPr>
                <a:latin typeface="Courier"/>
              </a:rPr>
              <a:t>lme4</a:t>
            </a:r>
            <a:r>
              <a:rPr/>
              <a:t> gives no p-values on purpose)? Are you calling </a:t>
            </a:r>
            <a:r>
              <a:rPr>
                <a:latin typeface="Courier"/>
              </a:rPr>
              <a:t>car::Anova()</a:t>
            </a:r>
            <a:r>
              <a:rPr/>
              <a:t> on the model rather than </a:t>
            </a:r>
            <a:r>
              <a:rPr>
                <a:latin typeface="Courier"/>
              </a:rPr>
              <a:t>anova()</a:t>
            </a:r>
            <a:r>
              <a:rPr/>
              <a:t>?</a:t>
            </a:r>
          </a:p>
          <a:p>
            <a:pPr lvl="0" indent="-342900" marL="342900">
              <a:buAutoNum type="arabicPeriod"/>
            </a:pPr>
            <a:r>
              <a:rPr b="1"/>
              <a:t>“boundary (singular) fit”</a:t>
            </a:r>
            <a:r>
              <a:rPr/>
              <a:t> → your random structure is too complex for the data, or that variance really is zero</a:t>
            </a:r>
          </a:p>
          <a:p>
            <a:pPr lvl="0" indent="-342900" marL="342900">
              <a:buAutoNum type="arabicPeriod"/>
            </a:pPr>
            <a:r>
              <a:rPr b="1"/>
              <a:t>“Model failed to converge”</a:t>
            </a:r>
            <a:r>
              <a:rPr/>
              <a:t> → try </a:t>
            </a:r>
            <a:r>
              <a:rPr>
                <a:latin typeface="Courier"/>
              </a:rPr>
              <a:t>control = lmerControl(optimizer = "bobyqa")</a:t>
            </a:r>
            <a:r>
              <a:rPr/>
              <a:t>, as we did here, or simplify the random effects</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Linear Mixed Models</dc:title>
  <dc:creator>Bill Perry</dc:creator>
  <cp:keywords/>
  <dc:description>The modern mixed-model (lmer) alternative to a traditional nested ANOVA: afex for unbalanced designs, random-effects notation, F vs. Chi-square tests, diagnostics, post-hoc comparisons, and a by-hand F-ratio calculation for comparison — on the sea urchin grazing / algae cover dataset.</dc:description>
  <dcterms:created xsi:type="dcterms:W3CDTF">2026-09-16T16:51:29Z</dcterms:created>
  <dcterms:modified xsi:type="dcterms:W3CDTF">2026-09-16T16:51:29Z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format">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knitr">
    <vt:lpwstr/>
  </property>
  <property fmtid="{D5CDD505-2E9C-101B-9397-08002B2CF9AE}" pid="13" name="labels">
    <vt:lpwstr/>
  </property>
  <property fmtid="{D5CDD505-2E9C-101B-9397-08002B2CF9AE}" pid="14" name="order">
    <vt:lpwstr>15</vt:lpwstr>
  </property>
  <property fmtid="{D5CDD505-2E9C-101B-9397-08002B2CF9AE}" pid="15" name="resources">
    <vt:lpwstr/>
  </property>
  <property fmtid="{D5CDD505-2E9C-101B-9397-08002B2CF9AE}" pid="16" name="subtitle">
    <vt:lpwstr>Random effects for nested and hierarchical data</vt:lpwstr>
  </property>
  <property fmtid="{D5CDD505-2E9C-101B-9397-08002B2CF9AE}" pid="17" name="toc-title">
    <vt:lpwstr>Table of contents</vt:lpwstr>
  </property>
  <property fmtid="{D5CDD505-2E9C-101B-9397-08002B2CF9AE}" pid="18" name="week">
    <vt:lpwstr>10</vt:lpwstr>
  </property>
</Properties>
</file>