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2" Type="http://schemas.openxmlformats.org/officeDocument/2006/relationships/viewProps" Target="viewProps.xml" /><Relationship Id="rId31" Type="http://schemas.openxmlformats.org/officeDocument/2006/relationships/presProps" Target="presProps.xml" /><Relationship Id="rId1" Type="http://schemas.openxmlformats.org/officeDocument/2006/relationships/slideMaster" Target="slideMasters/slideMaster1.xml" /><Relationship Id="rId34" Type="http://schemas.openxmlformats.org/officeDocument/2006/relationships/tableStyles" Target="tableStyles.xml" /><Relationship Id="rId3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5.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1.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5.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Lecture: Linear Mixed Models</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Random effects for nested and hierarchical data</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Where We Left Off</a:t>
            </a:r>
          </a:p>
        </p:txBody>
      </p:sp>
      <p:sp>
        <p:nvSpPr>
          <p:cNvPr id="3" name="Content Placeholder 2"/>
          <p:cNvSpPr>
            <a:spLocks noGrp="1"/>
          </p:cNvSpPr>
          <p:nvPr>
            <p:ph idx="1" sz="half"/>
          </p:nvPr>
        </p:nvSpPr>
        <p:spPr/>
        <p:txBody>
          <a:bodyPr/>
          <a:lstStyle/>
          <a:p>
            <a:pPr lvl="0" indent="0" marL="0">
              <a:buNone/>
            </a:pPr>
            <a:r>
              <a:rPr/>
              <a:t>Covered last time — nested ANOVA, the traditional way:</a:t>
            </a:r>
          </a:p>
          <a:p>
            <a:pPr lvl="0"/>
            <a:r>
              <a:rPr/>
              <a:t>Factorial vs. nested designs</a:t>
            </a:r>
          </a:p>
          <a:p>
            <a:pPr lvl="0"/>
            <a:r>
              <a:rPr/>
              <a:t>The nested-design linear model and variance partitioning</a:t>
            </a:r>
          </a:p>
          <a:p>
            <a:pPr lvl="0"/>
            <a:r>
              <a:rPr/>
              <a:t>Fixed vs. random effects — B nested in A</a:t>
            </a:r>
          </a:p>
          <a:p>
            <a:pPr lvl="0"/>
            <a:r>
              <a:rPr/>
              <a:t>The naive (wrong) factorial model vs. </a:t>
            </a:r>
            <a:r>
              <a:rPr>
                <a:latin typeface="Courier"/>
              </a:rPr>
              <a:t>aov(..., Error(...))</a:t>
            </a:r>
          </a:p>
          <a:p>
            <a:pPr lvl="0" indent="0" marL="1270000">
              <a:buNone/>
            </a:pPr>
            <a:r>
              <a:rPr sz="2000" b="1"/>
              <a:t>Note</a:t>
            </a:r>
          </a:p>
          <a:p>
            <a:pPr lvl="0" indent="0" marL="1270000">
              <a:buNone/>
            </a:pPr>
            <a:r>
              <a:rPr sz="2000" b="1"/>
              <a:t>✅ Key idea from last lecture</a:t>
            </a:r>
          </a:p>
          <a:p>
            <a:pPr lvl="0" indent="0" marL="1270000">
              <a:buNone/>
            </a:pPr>
            <a:r>
              <a:rPr sz="2000">
                <a:latin typeface="Courier"/>
              </a:rPr>
              <a:t>patch</a:t>
            </a:r>
            <a:r>
              <a:rPr sz="2000"/>
              <a:t> nested in </a:t>
            </a:r>
            <a:r>
              <a:rPr sz="2000">
                <a:latin typeface="Courier"/>
              </a:rPr>
              <a:t>treat</a:t>
            </a:r>
            <a:r>
              <a:rPr sz="2000"/>
              <a:t> needs the right error term — </a:t>
            </a:r>
            <a:r>
              <a:rPr sz="2000">
                <a:latin typeface="Courier"/>
              </a:rPr>
              <a:t>MS_{patch(treat)}</a:t>
            </a:r>
            <a:r>
              <a:rPr sz="2000"/>
              <a:t>, not </a:t>
            </a:r>
            <a:r>
              <a:rPr sz="2000">
                <a:latin typeface="Courier"/>
              </a:rPr>
              <a:t>MS_{resid}</a:t>
            </a:r>
            <a:r>
              <a:rPr sz="2000"/>
              <a:t> — or the F-test for treatment is wrong. Today: the modern alternative to specifying that error term by hand.</a:t>
            </a:r>
          </a:p>
        </p:txBody>
      </p:sp>
      <p:sp>
        <p:nvSpPr>
          <p:cNvPr id="4" name="Content Placeholder 3"/>
          <p:cNvSpPr>
            <a:spLocks noGrp="1"/>
          </p:cNvSpPr>
          <p:nvPr>
            <p:ph idx="2" sz="half"/>
          </p:nvPr>
        </p:nvSpPr>
        <p:spPr/>
        <p:txBody>
          <a:bodyPr/>
          <a:lstStyle/>
          <a:p>
            <a:pPr lvl="0" indent="0" marL="1270000">
              <a:buNone/>
            </a:pPr>
            <a:r>
              <a:rPr sz="2000" b="1"/>
              <a:t>Tip</a:t>
            </a:r>
          </a:p>
          <a:p>
            <a:pPr lvl="0" indent="0" marL="1270000">
              <a:buNone/>
            </a:pPr>
            <a:r>
              <a:rPr sz="2000" b="1"/>
              <a:t>🖐 Notice</a:t>
            </a:r>
          </a:p>
          <a:p>
            <a:pPr lvl="0" indent="0" marL="1270000">
              <a:buNone/>
            </a:pPr>
            <a:r>
              <a:rPr sz="2000"/>
              <a:t>Same sea urchin grazing / algae cover dataset as last time — same question, same data, a different (and more flexible) way to fit the model.</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1 · Setup — The Sea Urchin Data, Again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Data Overview</a:t>
            </a:r>
          </a:p>
        </p:txBody>
      </p:sp>
      <p:sp>
        <p:nvSpPr>
          <p:cNvPr id="3" name="Content Placeholder 2"/>
          <p:cNvSpPr>
            <a:spLocks noGrp="1"/>
          </p:cNvSpPr>
          <p:nvPr>
            <p:ph idx="1" sz="half"/>
          </p:nvPr>
        </p:nvSpPr>
        <p:spPr/>
        <p:txBody>
          <a:bodyPr/>
          <a:lstStyle/>
          <a:p>
            <a:pPr lvl="0" indent="0" marL="0">
              <a:buNone/>
            </a:pPr>
            <a:r>
              <a:rPr/>
              <a:t>Same dataset as the nested ANOVA lecture: </a:t>
            </a:r>
            <a:r>
              <a:rPr>
                <a:latin typeface="Courier"/>
              </a:rPr>
              <a:t>patch</a:t>
            </a:r>
            <a:r>
              <a:rPr/>
              <a:t> (random patches 1–16 where treatments were applied), </a:t>
            </a:r>
            <a:r>
              <a:rPr>
                <a:latin typeface="Courier"/>
              </a:rPr>
              <a:t>treat</a:t>
            </a:r>
            <a:r>
              <a:rPr/>
              <a:t> (urchin density treatment), </a:t>
            </a:r>
            <a:r>
              <a:rPr>
                <a:latin typeface="Courier"/>
              </a:rPr>
              <a:t>quad</a:t>
            </a:r>
            <a:r>
              <a:rPr/>
              <a:t> (replicate quadrats within each treatment-patch combination), </a:t>
            </a:r>
            <a:r>
              <a:rPr>
                <a:latin typeface="Courier"/>
              </a:rPr>
              <a:t>algae</a:t>
            </a:r>
            <a:r>
              <a:rPr/>
              <a:t> (percentage cover of filamentous algae — the response variable).</a:t>
            </a:r>
          </a:p>
          <a:p>
            <a:pPr lvl="0" indent="0">
              <a:buNone/>
            </a:pPr>
            <a:r>
              <a:rPr>
                <a:latin typeface="Courier"/>
              </a:rPr>
              <a:t>## Data
## # A tibble: 6 × 4
##   treat patch  quad algae
##   &lt;fct&gt; &lt;fct&gt; &lt;dbl&gt; &lt;dbl&gt;
## 1 100%  1         1     0
## 2 100%  1         2     0
## 3 100%  1         3     0
## 4 100%  1         4     6
## 5 100%  1         5     2
## 6 100%  2         1     0
## 
## 
## Treatment levels:
## [1] "0%"   "33%"  "66%"  "100%"</a:t>
            </a:r>
          </a:p>
        </p:txBody>
      </p:sp>
      <p:sp>
        <p:nvSpPr>
          <p:cNvPr id="4" name="Content Placeholder 3"/>
          <p:cNvSpPr>
            <a:spLocks noGrp="1"/>
          </p:cNvSpPr>
          <p:nvPr>
            <p:ph idx="2" sz="half"/>
          </p:nvPr>
        </p:nvSpPr>
        <p:spPr/>
        <p:txBody>
          <a:bodyPr/>
          <a:lstStyle/>
          <a:p>
            <a:pPr lvl="0" indent="0">
              <a:buNone/>
            </a:pPr>
            <a:r>
              <a:rPr>
                <a:latin typeface="Courier"/>
              </a:rPr>
              <a:t>## Summary statistics by treatment:
## # A tibble: 4 × 7
##   treat     n  mean    sd    se   min   max
##   &lt;fct&gt; &lt;int&gt; &lt;dbl&gt; &lt;dbl&gt; &lt;dbl&gt; &lt;dbl&gt; &lt;dbl&gt;
## 1 0%       20  39.2 28.7  6.41      0    83
## 2 33%      20  19   25.7  5.74      0    71
## 3 66%      20  21.6 25.1  5.62      0    79
## 4 100%     20   1.3  3.18 0.711     0    13</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2 · Modern Approaches — afex and Mixed Models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What to Do If It’s an Unbalanced Design</a:t>
            </a:r>
          </a:p>
        </p:txBody>
      </p:sp>
      <p:sp>
        <p:nvSpPr>
          <p:cNvPr id="3" name="Content Placeholder 2"/>
          <p:cNvSpPr>
            <a:spLocks noGrp="1"/>
          </p:cNvSpPr>
          <p:nvPr>
            <p:ph idx="1" sz="half"/>
          </p:nvPr>
        </p:nvSpPr>
        <p:spPr/>
        <p:txBody>
          <a:bodyPr/>
          <a:lstStyle/>
          <a:p>
            <a:pPr lvl="0" indent="0" marL="0">
              <a:buNone/>
            </a:pPr>
            <a:r>
              <a:rPr/>
              <a:t>The </a:t>
            </a:r>
            <a:r>
              <a:rPr>
                <a:latin typeface="Courier"/>
              </a:rPr>
              <a:t>afex</a:t>
            </a:r>
            <a:r>
              <a:rPr/>
              <a:t> package is specifically designed for ANOVA with Type III SS, and handles nested designs well — even when unbalanced.</a:t>
            </a:r>
          </a:p>
        </p:txBody>
      </p:sp>
      <p:sp>
        <p:nvSpPr>
          <p:cNvPr id="4" name="Content Placeholder 3"/>
          <p:cNvSpPr>
            <a:spLocks noGrp="1"/>
          </p:cNvSpPr>
          <p:nvPr>
            <p:ph idx="2" sz="half"/>
          </p:nvPr>
        </p:nvSpPr>
        <p:spPr/>
        <p:txBody>
          <a:bodyPr/>
          <a:lstStyle/>
          <a:p>
            <a:pPr lvl="0" indent="0">
              <a:buNone/>
            </a:pPr>
            <a:r>
              <a:rPr>
                <a:solidFill>
                  <a:srgbClr val="4758AB"/>
                </a:solidFill>
                <a:latin typeface="Courier"/>
              </a:rPr>
              <a:t>options</a:t>
            </a:r>
            <a:r>
              <a:rPr>
                <a:solidFill>
                  <a:srgbClr val="003B4F"/>
                </a:solidFill>
                <a:latin typeface="Courier"/>
              </a:rPr>
              <a:t>(</a:t>
            </a:r>
            <a:r>
              <a:rPr>
                <a:solidFill>
                  <a:srgbClr val="657422"/>
                </a:solidFill>
                <a:latin typeface="Courier"/>
              </a:rPr>
              <a:t>contrasts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"contr.sum"</a:t>
            </a:r>
            <a:r>
              <a:rPr>
                <a:solidFill>
                  <a:srgbClr val="003B4F"/>
                </a:solidFill>
                <a:latin typeface="Courier"/>
              </a:rPr>
              <a:t>, </a:t>
            </a:r>
            <a:r>
              <a:rPr>
                <a:solidFill>
                  <a:srgbClr val="20794D"/>
                </a:solidFill>
                <a:latin typeface="Courier"/>
              </a:rPr>
              <a:t>"contr.poly"</a:t>
            </a:r>
            <a:r>
              <a:rPr>
                <a:solidFill>
                  <a:srgbClr val="003B4F"/>
                </a:solidFill>
                <a:latin typeface="Courier"/>
              </a:rPr>
              <a:t>))</a:t>
            </a:r>
            <a:br/>
            <a:br/>
            <a:r>
              <a:rPr>
                <a:solidFill>
                  <a:srgbClr val="003B4F"/>
                </a:solidFill>
                <a:latin typeface="Courier"/>
              </a:rPr>
              <a:t>u_afex_model &lt;- </a:t>
            </a:r>
            <a:r>
              <a:rPr>
                <a:solidFill>
                  <a:srgbClr val="4758AB"/>
                </a:solidFill>
                <a:latin typeface="Courier"/>
              </a:rPr>
              <a:t>aov_car</a:t>
            </a:r>
            <a:r>
              <a:rPr>
                <a:solidFill>
                  <a:srgbClr val="003B4F"/>
                </a:solidFill>
                <a:latin typeface="Courier"/>
              </a:rPr>
              <a:t>(algae </a:t>
            </a:r>
            <a:r>
              <a:rPr>
                <a:solidFill>
                  <a:srgbClr val="5E5E5E"/>
                </a:solidFill>
                <a:latin typeface="Courier"/>
              </a:rPr>
              <a:t>~</a:t>
            </a:r>
            <a:r>
              <a:rPr>
                <a:solidFill>
                  <a:srgbClr val="003B4F"/>
                </a:solidFill>
                <a:latin typeface="Courier"/>
              </a:rPr>
              <a:t> treat </a:t>
            </a:r>
            <a:r>
              <a:rPr>
                <a:solidFill>
                  <a:srgbClr val="5E5E5E"/>
                </a:solidFill>
                <a:latin typeface="Courier"/>
              </a:rPr>
              <a:t>+</a:t>
            </a:r>
            <a:r>
              <a:rPr>
                <a:solidFill>
                  <a:srgbClr val="003B4F"/>
                </a:solidFill>
                <a:latin typeface="Courier"/>
              </a:rPr>
              <a:t> </a:t>
            </a:r>
            <a:r>
              <a:rPr>
                <a:solidFill>
                  <a:srgbClr val="4758AB"/>
                </a:solidFill>
                <a:latin typeface="Courier"/>
              </a:rPr>
              <a:t>Error</a:t>
            </a:r>
            <a:r>
              <a:rPr>
                <a:solidFill>
                  <a:srgbClr val="003B4F"/>
                </a:solidFill>
                <a:latin typeface="Courier"/>
              </a:rPr>
              <a:t>(patch),</a:t>
            </a:r>
            <a:br/>
            <a:r>
              <a:rPr>
                <a:solidFill>
                  <a:srgbClr val="003B4F"/>
                </a:solidFill>
                <a:latin typeface="Courier"/>
              </a:rPr>
              <a:t>                     </a:t>
            </a:r>
            <a:r>
              <a:rPr>
                <a:solidFill>
                  <a:srgbClr val="657422"/>
                </a:solidFill>
                <a:latin typeface="Courier"/>
              </a:rPr>
              <a:t>data =</a:t>
            </a:r>
            <a:r>
              <a:rPr>
                <a:solidFill>
                  <a:srgbClr val="003B4F"/>
                </a:solidFill>
                <a:latin typeface="Courier"/>
              </a:rPr>
              <a:t> u_df,</a:t>
            </a:r>
            <a:br/>
            <a:r>
              <a:rPr>
                <a:solidFill>
                  <a:srgbClr val="003B4F"/>
                </a:solidFill>
                <a:latin typeface="Courier"/>
              </a:rPr>
              <a:t>                     </a:t>
            </a:r>
            <a:r>
              <a:rPr>
                <a:solidFill>
                  <a:srgbClr val="657422"/>
                </a:solidFill>
                <a:latin typeface="Courier"/>
              </a:rPr>
              <a:t>fun_aggregate =</a:t>
            </a:r>
            <a:r>
              <a:rPr>
                <a:solidFill>
                  <a:srgbClr val="003B4F"/>
                </a:solidFill>
                <a:latin typeface="Courier"/>
              </a:rPr>
              <a:t> mean)</a:t>
            </a:r>
            <a:br/>
            <a:r>
              <a:rPr>
                <a:solidFill>
                  <a:srgbClr val="4758AB"/>
                </a:solidFill>
                <a:latin typeface="Courier"/>
              </a:rPr>
              <a:t>cat</a:t>
            </a:r>
            <a:r>
              <a:rPr>
                <a:solidFill>
                  <a:srgbClr val="003B4F"/>
                </a:solidFill>
                <a:latin typeface="Courier"/>
              </a:rPr>
              <a:t>(</a:t>
            </a:r>
            <a:r>
              <a:rPr>
                <a:solidFill>
                  <a:srgbClr val="20794D"/>
                </a:solidFill>
                <a:latin typeface="Courier"/>
              </a:rPr>
              <a:t>"AFEX nested ANOVA results:</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AFEX nested ANOVA results:</a:t>
            </a:r>
            <a:br/>
            <a:r>
              <a:rPr>
                <a:solidFill>
                  <a:srgbClr val="4758AB"/>
                </a:solidFill>
                <a:latin typeface="Courier"/>
              </a:rPr>
              <a:t>summary</a:t>
            </a:r>
            <a:r>
              <a:rPr>
                <a:solidFill>
                  <a:srgbClr val="003B4F"/>
                </a:solidFill>
                <a:latin typeface="Courier"/>
              </a:rPr>
              <a:t>(u_afex_model)</a:t>
            </a:r>
            <a:br/>
            <a:r>
              <a:rPr i="1">
                <a:solidFill>
                  <a:srgbClr val="5E5E5E"/>
                </a:solidFill>
                <a:latin typeface="Courier"/>
              </a:rPr>
              <a:t>## Anova Table (Type 3 tests)</a:t>
            </a:r>
            <a:br/>
            <a:r>
              <a:rPr i="1">
                <a:solidFill>
                  <a:srgbClr val="5E5E5E"/>
                </a:solidFill>
                <a:latin typeface="Courier"/>
              </a:rPr>
              <a:t>## </a:t>
            </a:r>
            <a:br/>
            <a:r>
              <a:rPr i="1">
                <a:solidFill>
                  <a:srgbClr val="5E5E5E"/>
                </a:solidFill>
                <a:latin typeface="Courier"/>
              </a:rPr>
              <a:t>## Response: algae</a:t>
            </a:r>
            <a:br/>
            <a:r>
              <a:rPr i="1">
                <a:solidFill>
                  <a:srgbClr val="5E5E5E"/>
                </a:solidFill>
                <a:latin typeface="Courier"/>
              </a:rPr>
              <a:t>##       num Df den Df    MSE      F     ges  Pr(&gt;F)  </a:t>
            </a:r>
            <a:br/>
            <a:r>
              <a:rPr i="1">
                <a:solidFill>
                  <a:srgbClr val="5E5E5E"/>
                </a:solidFill>
                <a:latin typeface="Courier"/>
              </a:rPr>
              <a:t>## treat      3     12 354.03 2.7171 0.40451 0.09126 .</a:t>
            </a:r>
            <a:br/>
            <a:r>
              <a:rPr i="1">
                <a:solidFill>
                  <a:srgbClr val="5E5E5E"/>
                </a:solidFill>
                <a:latin typeface="Courier"/>
              </a:rPr>
              <a:t>## ---</a:t>
            </a:r>
            <a:br/>
            <a:r>
              <a:rPr i="1">
                <a:solidFill>
                  <a:srgbClr val="5E5E5E"/>
                </a:solidFill>
                <a:latin typeface="Courier"/>
              </a:rPr>
              <a:t>## Signif. codes:  0 '***' 0.001 '**' 0.01 '*' 0.05 '.' 0.1 ' ' 1</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What Makes an Effect “Random”?</a:t>
            </a:r>
          </a:p>
        </p:txBody>
      </p:sp>
      <p:sp>
        <p:nvSpPr>
          <p:cNvPr id="3" name="Text Placeholder 2"/>
          <p:cNvSpPr>
            <a:spLocks noGrp="1"/>
          </p:cNvSpPr>
          <p:nvPr>
            <p:ph idx="1" type="body"/>
          </p:nvPr>
        </p:nvSpPr>
        <p:spPr/>
        <p:txBody>
          <a:bodyPr/>
          <a:lstStyle/>
          <a:p>
            <a:pPr lvl="0" indent="0" marL="0">
              <a:buNone/>
            </a:pPr>
            <a:r>
              <a:rPr/>
              <a:t>Ask one question: </a:t>
            </a:r>
            <a:r>
              <a:rPr b="1"/>
              <a:t>do I care about these specific levels, or are they a sample of levels I could have had?</a:t>
            </a:r>
          </a:p>
        </p:txBody>
      </p:sp>
      <p:graphicFrame>
        <p:nvGraphicFramePr>
          <p:cNvPr id="6" name="Content Placeholder 5"/>
          <p:cNvGraphicFramePr>
            <a:graphicFrameLocks noGrp="1"/>
          </p:cNvGraphicFramePr>
          <p:nvPr>
            <p:ph idx="1"/>
          </p:nvPr>
        </p:nvGraphicFramePr>
        <p:xfrm>
          <a:off x="127000" y="1270000"/>
          <a:ext cx="4432300" cy="3302000"/>
        </p:xfrm>
        <a:graphic>
          <a:graphicData uri="http://schemas.openxmlformats.org/drawingml/2006/table">
            <a:tbl>
              <a:tblPr firstRow="1" bandRow="1">
                <a:tableStyleId>{5C22544A-7EE6-4342-B048-85BDC9FD1C3A}</a:tableStyleId>
              </a:tblPr>
              <a:tblGrid>
                <a:gridCol w="1473200"/>
                <a:gridCol w="1473200"/>
                <a:gridCol w="1473200"/>
              </a:tblGrid>
              <a:tr h="0">
                <a:tc>
                  <a:txBody>
                    <a:bodyPr/>
                    <a:lstStyle/>
                    <a:p>
                      <a:endParaRPr/>
                    </a:p>
                  </a:txBody>
                  <a:tcPr/>
                </a:tc>
                <a:tc>
                  <a:txBody>
                    <a:bodyPr/>
                    <a:lstStyle/>
                    <a:p>
                      <a:pPr lvl="0" indent="0" marL="0">
                        <a:buNone/>
                      </a:pPr>
                      <a:r>
                        <a:rPr>
                          <a:latin typeface="Courier"/>
                        </a:rPr>
                        <a:t>treat</a:t>
                      </a:r>
                    </a:p>
                  </a:txBody>
                  <a:tcPr/>
                </a:tc>
                <a:tc>
                  <a:txBody>
                    <a:bodyPr/>
                    <a:lstStyle/>
                    <a:p>
                      <a:pPr lvl="0" indent="0" marL="0">
                        <a:buNone/>
                      </a:pPr>
                      <a:r>
                        <a:rPr>
                          <a:latin typeface="Courier"/>
                        </a:rPr>
                        <a:t>patch</a:t>
                      </a:r>
                    </a:p>
                  </a:txBody>
                  <a:tcPr/>
                </a:tc>
              </a:tr>
              <a:tr h="0">
                <a:tc>
                  <a:txBody>
                    <a:bodyPr/>
                    <a:lstStyle/>
                    <a:p>
                      <a:pPr lvl="0" indent="0" marL="0">
                        <a:buNone/>
                      </a:pPr>
                      <a:r>
                        <a:rPr/>
                        <a:t>The levels are</a:t>
                      </a:r>
                    </a:p>
                  </a:txBody>
                </a:tc>
                <a:tc>
                  <a:txBody>
                    <a:bodyPr/>
                    <a:lstStyle/>
                    <a:p>
                      <a:pPr lvl="0" indent="0" marL="0">
                        <a:buNone/>
                      </a:pPr>
                      <a:r>
                        <a:rPr/>
                        <a:t>0/33/66/100% density</a:t>
                      </a:r>
                    </a:p>
                  </a:txBody>
                </a:tc>
                <a:tc>
                  <a:txBody>
                    <a:bodyPr/>
                    <a:lstStyle/>
                    <a:p>
                      <a:pPr lvl="0" indent="0" marL="0">
                        <a:buNone/>
                      </a:pPr>
                      <a:r>
                        <a:rPr/>
                        <a:t>patches 1–16</a:t>
                      </a:r>
                    </a:p>
                  </a:txBody>
                </a:tc>
              </a:tr>
              <a:tr h="0">
                <a:tc>
                  <a:txBody>
                    <a:bodyPr/>
                    <a:lstStyle/>
                    <a:p>
                      <a:pPr lvl="0" indent="0" marL="0">
                        <a:buNone/>
                      </a:pPr>
                      <a:r>
                        <a:rPr/>
                        <a:t>Chosen by</a:t>
                      </a:r>
                    </a:p>
                  </a:txBody>
                </a:tc>
                <a:tc>
                  <a:txBody>
                    <a:bodyPr/>
                    <a:lstStyle/>
                    <a:p>
                      <a:pPr lvl="0" indent="0" marL="0">
                        <a:buNone/>
                      </a:pPr>
                      <a:r>
                        <a:rPr/>
                        <a:t>me, deliberately</a:t>
                      </a:r>
                    </a:p>
                  </a:txBody>
                </a:tc>
                <a:tc>
                  <a:txBody>
                    <a:bodyPr/>
                    <a:lstStyle/>
                    <a:p>
                      <a:pPr lvl="0" indent="0" marL="0">
                        <a:buNone/>
                      </a:pPr>
                      <a:r>
                        <a:rPr/>
                        <a:t>whatever was there</a:t>
                      </a:r>
                    </a:p>
                  </a:txBody>
                </a:tc>
              </a:tr>
              <a:tr h="0">
                <a:tc>
                  <a:txBody>
                    <a:bodyPr/>
                    <a:lstStyle/>
                    <a:p>
                      <a:pPr lvl="0" indent="0" marL="0">
                        <a:buNone/>
                      </a:pPr>
                      <a:r>
                        <a:rPr/>
                        <a:t>Would a repeat study use the same ones?</a:t>
                      </a:r>
                    </a:p>
                  </a:txBody>
                </a:tc>
                <a:tc>
                  <a:txBody>
                    <a:bodyPr/>
                    <a:lstStyle/>
                    <a:p>
                      <a:pPr lvl="0" indent="0" marL="0">
                        <a:buNone/>
                      </a:pPr>
                      <a:r>
                        <a:rPr b="1"/>
                        <a:t>yes</a:t>
                      </a:r>
                    </a:p>
                  </a:txBody>
                </a:tc>
                <a:tc>
                  <a:txBody>
                    <a:bodyPr/>
                    <a:lstStyle/>
                    <a:p>
                      <a:pPr lvl="0" indent="0" marL="0">
                        <a:buNone/>
                      </a:pPr>
                      <a:r>
                        <a:rPr/>
                        <a:t>no — different patches</a:t>
                      </a:r>
                    </a:p>
                  </a:txBody>
                </a:tc>
              </a:tr>
              <a:tr h="0">
                <a:tc>
                  <a:txBody>
                    <a:bodyPr/>
                    <a:lstStyle/>
                    <a:p>
                      <a:pPr lvl="0" indent="0" marL="0">
                        <a:buNone/>
                      </a:pPr>
                      <a:r>
                        <a:rPr/>
                        <a:t>I want to estimate</a:t>
                      </a:r>
                    </a:p>
                  </a:txBody>
                </a:tc>
                <a:tc>
                  <a:txBody>
                    <a:bodyPr/>
                    <a:lstStyle/>
                    <a:p>
                      <a:pPr lvl="0" indent="0" marL="0">
                        <a:buNone/>
                      </a:pPr>
                      <a:r>
                        <a:rPr b="1"/>
                        <a:t>each level’s mean</a:t>
                      </a:r>
                    </a:p>
                  </a:txBody>
                </a:tc>
                <a:tc>
                  <a:txBody>
                    <a:bodyPr/>
                    <a:lstStyle/>
                    <a:p>
                      <a:pPr lvl="0" indent="0" marL="0">
                        <a:buNone/>
                      </a:pPr>
                      <a:r>
                        <a:rPr b="1"/>
                        <a:t>how much they vary</a:t>
                      </a:r>
                    </a:p>
                  </a:txBody>
                </a:tc>
              </a:tr>
              <a:tr h="0">
                <a:tc>
                  <a:txBody>
                    <a:bodyPr/>
                    <a:lstStyle/>
                    <a:p>
                      <a:pPr lvl="0" indent="0" marL="0">
                        <a:buNone/>
                      </a:pPr>
                      <a:r>
                        <a:rPr/>
                        <a:t>So it is</a:t>
                      </a:r>
                    </a:p>
                  </a:txBody>
                </a:tc>
                <a:tc>
                  <a:txBody>
                    <a:bodyPr/>
                    <a:lstStyle/>
                    <a:p>
                      <a:pPr lvl="0" indent="0" marL="0">
                        <a:buNone/>
                      </a:pPr>
                      <a:r>
                        <a:rPr b="1"/>
                        <a:t>fixed</a:t>
                      </a:r>
                    </a:p>
                  </a:txBody>
                </a:tc>
                <a:tc>
                  <a:txBody>
                    <a:bodyPr/>
                    <a:lstStyle/>
                    <a:p>
                      <a:pPr lvl="0" indent="0" marL="0">
                        <a:buNone/>
                      </a:pPr>
                      <a:r>
                        <a:rPr b="1"/>
                        <a:t>random</a:t>
                      </a:r>
                    </a:p>
                  </a:txBody>
                </a:tc>
              </a:tr>
            </a:tbl>
          </a:graphicData>
        </a:graphic>
      </p:graphicFrame>
      <p:sp>
        <p:nvSpPr>
          <p:cNvPr id="4" name="Content Placeholder 3"/>
          <p:cNvSpPr>
            <a:spLocks noGrp="1"/>
          </p:cNvSpPr>
          <p:nvPr>
            <p:ph idx="2" sz="half"/>
          </p:nvPr>
        </p:nvSpPr>
        <p:spPr/>
        <p:txBody>
          <a:bodyPr/>
          <a:lstStyle/>
          <a:p>
            <a:pPr lvl="0" indent="0" marL="1270000">
              <a:buNone/>
            </a:pPr>
            <a:r>
              <a:rPr sz="2000" b="1"/>
              <a:t>Important</a:t>
            </a:r>
          </a:p>
          <a:p>
            <a:pPr lvl="0" indent="0" marL="1270000">
              <a:buNone/>
            </a:pPr>
            <a:r>
              <a:rPr sz="2000" b="1"/>
              <a:t>The key consequence</a:t>
            </a:r>
          </a:p>
          <a:p>
            <a:pPr lvl="0" indent="0" marL="1270000">
              <a:buNone/>
            </a:pPr>
            <a:r>
              <a:rPr sz="2000"/>
              <a:t>A fixed factor with 16 levels costs you </a:t>
            </a:r>
            <a:r>
              <a:rPr sz="2000" b="1"/>
              <a:t>15 parameters</a:t>
            </a:r>
            <a:r>
              <a:rPr sz="2000"/>
              <a:t>. A random factor with 16 levels costs you </a:t>
            </a:r>
            <a:r>
              <a:rPr sz="2000" b="1"/>
              <a:t>one</a:t>
            </a:r>
            <a:r>
              <a:rPr sz="2000"/>
              <a:t> — a single variance, σ²_patch.</a:t>
            </a:r>
          </a:p>
          <a:p>
            <a:pPr lvl="0" indent="0" marL="1270000">
              <a:buNone/>
            </a:pPr>
            <a:r>
              <a:rPr sz="2000"/>
              <a:t>That is why mixed models cope with designs that </a:t>
            </a:r>
            <a:r>
              <a:rPr sz="2000">
                <a:latin typeface="Courier"/>
              </a:rPr>
              <a:t>aov()</a:t>
            </a:r>
            <a:r>
              <a:rPr sz="2000"/>
              <a:t> chokes on: they are estimating far less.</a:t>
            </a:r>
          </a:p>
        </p:txBody>
      </p:sp>
      <p:sp>
        <p:nvSpPr>
          <p:cNvPr id="5" name="Text Placeholder 4"/>
          <p:cNvSpPr>
            <a:spLocks noGrp="1"/>
          </p:cNvSpPr>
          <p:nvPr>
            <p:ph idx="3" sz="quarter" type="body"/>
          </p:nvPr>
        </p:nvSpPr>
        <p:spPr/>
        <p:txBody>
          <a:bodyPr/>
          <a:lstStyle/>
          <a:p>
            <a:pPr lvl="0" indent="0" marL="1270000">
              <a:buNone/>
            </a:pPr>
            <a:r>
              <a:rPr sz="2000" b="1"/>
              <a:t>Note</a:t>
            </a:r>
          </a:p>
          <a:p>
            <a:pPr lvl="0" indent="0" marL="1270000">
              <a:buNone/>
            </a:pPr>
            <a:r>
              <a:rPr sz="2000" b="1"/>
              <a:t>📖 A useful test</a:t>
            </a:r>
          </a:p>
          <a:p>
            <a:pPr lvl="0" indent="0" marL="1270000">
              <a:buNone/>
            </a:pPr>
            <a:r>
              <a:rPr sz="2000"/>
              <a:t>If you can write a sentence a reader would care about that names a specific level — </a:t>
            </a:r>
            <a:r>
              <a:rPr sz="2000" i="1"/>
              <a:t>“the 100% density treatment reduced algae”</a:t>
            </a:r>
            <a:r>
              <a:rPr sz="2000"/>
              <a:t> — it is </a:t>
            </a:r>
            <a:r>
              <a:rPr sz="2000" b="1"/>
              <a:t>fixed</a:t>
            </a:r>
            <a:r>
              <a:rPr sz="2000"/>
              <a:t>.</a:t>
            </a:r>
          </a:p>
          <a:p>
            <a:pPr lvl="0" indent="0" marL="1270000">
              <a:buNone/>
            </a:pPr>
            <a:r>
              <a:rPr sz="2000"/>
              <a:t>If the sentence would be </a:t>
            </a:r>
            <a:r>
              <a:rPr sz="2000" i="1"/>
              <a:t>“patch 7 happened to be lush”</a:t>
            </a:r>
            <a:r>
              <a:rPr sz="2000"/>
              <a:t> — nobody cares about patch 7 in particular. </a:t>
            </a:r>
            <a:r>
              <a:rPr sz="2000" b="1"/>
              <a:t>Random.</a:t>
            </a:r>
          </a:p>
          <a:p>
            <a:pPr lvl="0" indent="0" marL="1270000">
              <a:buNone/>
            </a:pPr>
            <a:r>
              <a:rPr sz="2000" b="1"/>
              <a:t>Warning</a:t>
            </a:r>
          </a:p>
          <a:p>
            <a:pPr lvl="0" indent="0" marL="1270000">
              <a:buNone/>
            </a:pPr>
            <a:r>
              <a:rPr sz="2000" b="1"/>
              <a:t>⚠️ Rule of thumb: you need enough levels</a:t>
            </a:r>
          </a:p>
          <a:p>
            <a:pPr lvl="0" indent="0" marL="1270000">
              <a:buNone/>
            </a:pPr>
            <a:r>
              <a:rPr sz="2000"/>
              <a:t>Estimating a variance from </a:t>
            </a:r>
            <a:r>
              <a:rPr sz="2000" b="1"/>
              <a:t>fewer than ~5 levels</a:t>
            </a:r>
            <a:r>
              <a:rPr sz="2000"/>
              <a:t> is unreliable. With 2 or 3 groups, fit them as fixed effects instead.</a:t>
            </a:r>
          </a:p>
          <a:p>
            <a:pPr lvl="0" indent="0" marL="1270000">
              <a:buNone/>
            </a:pPr>
            <a:r>
              <a:rPr sz="2000"/>
              <a:t>We have 16 patches — comfortably enough.</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Modern Way — Mixed-Model ANOVA</a:t>
            </a:r>
          </a:p>
        </p:txBody>
      </p:sp>
      <p:sp>
        <p:nvSpPr>
          <p:cNvPr id="3" name="Content Placeholder 2"/>
          <p:cNvSpPr>
            <a:spLocks noGrp="1"/>
          </p:cNvSpPr>
          <p:nvPr>
            <p:ph idx="1" sz="half"/>
          </p:nvPr>
        </p:nvSpPr>
        <p:spPr/>
        <p:txBody>
          <a:bodyPr/>
          <a:lstStyle/>
          <a:p>
            <a:pPr lvl="0" indent="0" marL="0">
              <a:buNone/>
            </a:pPr>
            <a:r>
              <a:rPr/>
              <a:t>Fit the model with treatment as a fixed effect, and patch nested within treatment as a random effect: </a:t>
            </a:r>
            <a:r>
              <a:rPr>
                <a:latin typeface="Courier"/>
              </a:rPr>
              <a:t>lmer(algae ~ treat + (1|patch), ...)</a:t>
            </a:r>
            <a:r>
              <a:rPr/>
              <a:t>.</a:t>
            </a:r>
          </a:p>
          <a:p>
            <a:pPr lvl="0" indent="0" marL="0">
              <a:buNone/>
            </a:pPr>
            <a:r>
              <a:rPr b="1"/>
              <a:t>BOBYQA</a:t>
            </a:r>
            <a:r>
              <a:rPr/>
              <a:t> (Bound Optimization BY Quadratic Approximation) is an optimization algorithm used in mixed-effects modeling to find the parameter values that maximize the likelihood function — useful for fitting complex nested models.</a:t>
            </a:r>
          </a:p>
          <a:p>
            <a:pPr lvl="0" indent="0" marL="0">
              <a:buNone/>
            </a:pPr>
            <a:r>
              <a:rPr b="1"/>
              <a:t>Reading the random-effects formula:</a:t>
            </a:r>
          </a:p>
          <a:p>
            <a:pPr lvl="0" indent="0" marL="0">
              <a:buNone/>
            </a:pPr>
            <a:r>
              <a:rPr>
                <a:latin typeface="Courier"/>
              </a:rPr>
              <a:t>(</a:t>
            </a:r>
            <a:r>
              <a:rPr/>
              <a:t> what varies </a:t>
            </a:r>
            <a:r>
              <a:rPr>
                <a:latin typeface="Courier"/>
              </a:rPr>
              <a:t>|</a:t>
            </a:r>
            <a:r>
              <a:rPr/>
              <a:t> what it varies across </a:t>
            </a:r>
            <a:r>
              <a:rPr>
                <a:latin typeface="Courier"/>
              </a:rPr>
              <a:t>)</a:t>
            </a:r>
          </a:p>
          <a:p>
            <a:pPr lvl="0"/>
            <a:r>
              <a:rPr b="1">
                <a:latin typeface="Courier"/>
              </a:rPr>
              <a:t>(1|patch)</a:t>
            </a:r>
            <a:r>
              <a:rPr/>
              <a:t> — the </a:t>
            </a:r>
            <a:r>
              <a:rPr>
                <a:latin typeface="Courier"/>
              </a:rPr>
              <a:t>1</a:t>
            </a:r>
            <a:r>
              <a:rPr/>
              <a:t> means the </a:t>
            </a:r>
            <a:r>
              <a:rPr b="1"/>
              <a:t>intercept</a:t>
            </a:r>
            <a:r>
              <a:rPr/>
              <a:t>. Each patch gets its own baseline algae cover.</a:t>
            </a:r>
          </a:p>
          <a:p>
            <a:pPr lvl="0"/>
            <a:r>
              <a:rPr b="1">
                <a:latin typeface="Courier"/>
              </a:rPr>
              <a:t>(1|treat:patch)</a:t>
            </a:r>
            <a:r>
              <a:rPr/>
              <a:t> — the same thing, just naming the group as the </a:t>
            </a:r>
            <a:r>
              <a:rPr i="1"/>
              <a:t>treatment-patch combination</a:t>
            </a:r>
            <a:r>
              <a:rPr/>
              <a:t>. Still intercept-only.</a:t>
            </a:r>
          </a:p>
          <a:p>
            <a:pPr lvl="0"/>
            <a:r>
              <a:rPr b="1">
                <a:latin typeface="Courier"/>
              </a:rPr>
              <a:t>(1 + depth|patch)</a:t>
            </a:r>
            <a:r>
              <a:rPr/>
              <a:t> — </a:t>
            </a:r>
            <a:r>
              <a:rPr i="1"/>
              <a:t>this</a:t>
            </a:r>
            <a:r>
              <a:rPr/>
              <a:t> is a random </a:t>
            </a:r>
            <a:r>
              <a:rPr b="1"/>
              <a:t>slope</a:t>
            </a:r>
            <a:r>
              <a:rPr/>
              <a:t>: each patch gets its own intercept </a:t>
            </a:r>
            <a:r>
              <a:rPr b="1"/>
              <a:t>and</a:t>
            </a:r>
            <a:r>
              <a:rPr/>
              <a:t> its own slope for </a:t>
            </a:r>
            <a:r>
              <a:rPr>
                <a:latin typeface="Courier"/>
              </a:rPr>
              <a:t>depth</a:t>
            </a:r>
            <a:r>
              <a:rPr/>
              <a:t>.</a:t>
            </a:r>
          </a:p>
          <a:p>
            <a:pPr lvl="0" indent="0" marL="1270000">
              <a:buNone/>
            </a:pPr>
            <a:r>
              <a:rPr sz="2000" b="1"/>
              <a:t>Warning</a:t>
            </a:r>
          </a:p>
          <a:p>
            <a:pPr lvl="0" indent="0" marL="1270000">
              <a:buNone/>
            </a:pPr>
            <a:r>
              <a:rPr sz="2000" b="1"/>
              <a:t>⚠️ </a:t>
            </a:r>
            <a:r>
              <a:rPr sz="2000" b="1">
                <a:latin typeface="Courier"/>
              </a:rPr>
              <a:t>(1|treat:patch)</a:t>
            </a:r>
            <a:r>
              <a:rPr sz="2000" b="1"/>
              <a:t> is not a random slope</a:t>
            </a:r>
          </a:p>
          <a:p>
            <a:pPr lvl="0" indent="0" marL="1270000">
              <a:buNone/>
            </a:pPr>
            <a:r>
              <a:rPr sz="2000"/>
              <a:t>Anything of the form </a:t>
            </a:r>
            <a:r>
              <a:rPr sz="2000">
                <a:latin typeface="Courier"/>
              </a:rPr>
              <a:t>(1|...)</a:t>
            </a:r>
            <a:r>
              <a:rPr sz="2000"/>
              <a:t> is </a:t>
            </a:r>
            <a:r>
              <a:rPr sz="2000" b="1"/>
              <a:t>random intercepts only</a:t>
            </a:r>
            <a:r>
              <a:rPr sz="2000"/>
              <a:t> — the </a:t>
            </a:r>
            <a:r>
              <a:rPr sz="2000">
                <a:latin typeface="Courier"/>
              </a:rPr>
              <a:t>1</a:t>
            </a:r>
            <a:r>
              <a:rPr sz="2000"/>
              <a:t> </a:t>
            </a:r>
            <a:r>
              <a:rPr sz="2000" i="1"/>
              <a:t>is</a:t>
            </a:r>
            <a:r>
              <a:rPr sz="2000"/>
              <a:t> the intercept. What changes between </a:t>
            </a:r>
            <a:r>
              <a:rPr sz="2000">
                <a:latin typeface="Courier"/>
              </a:rPr>
              <a:t>(1|patch)</a:t>
            </a:r>
            <a:r>
              <a:rPr sz="2000"/>
              <a:t> and </a:t>
            </a:r>
            <a:r>
              <a:rPr sz="2000">
                <a:latin typeface="Courier"/>
              </a:rPr>
              <a:t>(1|treat:patch)</a:t>
            </a:r>
            <a:r>
              <a:rPr sz="2000"/>
              <a:t> is the </a:t>
            </a:r>
            <a:r>
              <a:rPr sz="2000" b="1"/>
              <a:t>grouping variable</a:t>
            </a:r>
            <a:r>
              <a:rPr sz="2000"/>
              <a:t>, not what varies within it.</a:t>
            </a:r>
          </a:p>
          <a:p>
            <a:pPr lvl="0" indent="0" marL="1270000">
              <a:buNone/>
            </a:pPr>
            <a:r>
              <a:rPr sz="2000"/>
              <a:t>Here they are the identical model, because patch IDs are already unique (1–16) and each patch sits in one treatment. We’ll use </a:t>
            </a:r>
            <a:r>
              <a:rPr sz="2000">
                <a:latin typeface="Courier"/>
              </a:rPr>
              <a:t>(1|patch)</a:t>
            </a:r>
            <a:r>
              <a:rPr sz="2000"/>
              <a:t>.</a:t>
            </a:r>
          </a:p>
        </p:txBody>
      </p:sp>
      <p:sp>
        <p:nvSpPr>
          <p:cNvPr id="4" name="Content Placeholder 3"/>
          <p:cNvSpPr>
            <a:spLocks noGrp="1"/>
          </p:cNvSpPr>
          <p:nvPr>
            <p:ph idx="2" sz="half"/>
          </p:nvPr>
        </p:nvSpPr>
        <p:spPr/>
        <p:txBody>
          <a:bodyPr/>
          <a:lstStyle/>
          <a:p>
            <a:pPr lvl="0" indent="0">
              <a:buNone/>
            </a:pPr>
            <a:r>
              <a:rPr>
                <a:solidFill>
                  <a:srgbClr val="003B4F"/>
                </a:solidFill>
                <a:latin typeface="Courier"/>
              </a:rPr>
              <a:t>u_lmer_model &lt;- </a:t>
            </a:r>
            <a:r>
              <a:rPr>
                <a:solidFill>
                  <a:srgbClr val="4758AB"/>
                </a:solidFill>
                <a:latin typeface="Courier"/>
              </a:rPr>
              <a:t>lmer</a:t>
            </a:r>
            <a:r>
              <a:rPr>
                <a:solidFill>
                  <a:srgbClr val="003B4F"/>
                </a:solidFill>
                <a:latin typeface="Courier"/>
              </a:rPr>
              <a:t>(algae </a:t>
            </a:r>
            <a:r>
              <a:rPr>
                <a:solidFill>
                  <a:srgbClr val="5E5E5E"/>
                </a:solidFill>
                <a:latin typeface="Courier"/>
              </a:rPr>
              <a:t>~</a:t>
            </a:r>
            <a:r>
              <a:rPr>
                <a:solidFill>
                  <a:srgbClr val="003B4F"/>
                </a:solidFill>
                <a:latin typeface="Courier"/>
              </a:rPr>
              <a:t> treat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003B4F"/>
                </a:solidFill>
                <a:latin typeface="Courier"/>
              </a:rPr>
              <a:t>patch), </a:t>
            </a:r>
            <a:r>
              <a:rPr>
                <a:solidFill>
                  <a:srgbClr val="657422"/>
                </a:solidFill>
                <a:latin typeface="Courier"/>
              </a:rPr>
              <a:t>data =</a:t>
            </a:r>
            <a:r>
              <a:rPr>
                <a:solidFill>
                  <a:srgbClr val="003B4F"/>
                </a:solidFill>
                <a:latin typeface="Courier"/>
              </a:rPr>
              <a:t> u_df,</a:t>
            </a:r>
            <a:br/>
            <a:r>
              <a:rPr>
                <a:solidFill>
                  <a:srgbClr val="003B4F"/>
                </a:solidFill>
                <a:latin typeface="Courier"/>
              </a:rPr>
              <a:t>                    </a:t>
            </a:r>
            <a:r>
              <a:rPr>
                <a:solidFill>
                  <a:srgbClr val="657422"/>
                </a:solidFill>
                <a:latin typeface="Courier"/>
              </a:rPr>
              <a:t>control =</a:t>
            </a:r>
            <a:r>
              <a:rPr>
                <a:solidFill>
                  <a:srgbClr val="003B4F"/>
                </a:solidFill>
                <a:latin typeface="Courier"/>
              </a:rPr>
              <a:t> </a:t>
            </a:r>
            <a:r>
              <a:rPr>
                <a:solidFill>
                  <a:srgbClr val="4758AB"/>
                </a:solidFill>
                <a:latin typeface="Courier"/>
              </a:rPr>
              <a:t>lmerControl</a:t>
            </a:r>
            <a:r>
              <a:rPr>
                <a:solidFill>
                  <a:srgbClr val="003B4F"/>
                </a:solidFill>
                <a:latin typeface="Courier"/>
              </a:rPr>
              <a:t>(</a:t>
            </a:r>
            <a:r>
              <a:rPr>
                <a:solidFill>
                  <a:srgbClr val="657422"/>
                </a:solidFill>
                <a:latin typeface="Courier"/>
              </a:rPr>
              <a:t>optimizer =</a:t>
            </a:r>
            <a:r>
              <a:rPr>
                <a:solidFill>
                  <a:srgbClr val="003B4F"/>
                </a:solidFill>
                <a:latin typeface="Courier"/>
              </a:rPr>
              <a:t> </a:t>
            </a:r>
            <a:r>
              <a:rPr>
                <a:solidFill>
                  <a:srgbClr val="20794D"/>
                </a:solidFill>
                <a:latin typeface="Courier"/>
              </a:rPr>
              <a:t>"bobyqa"</a:t>
            </a:r>
            <a:r>
              <a:rPr>
                <a:solidFill>
                  <a:srgbClr val="003B4F"/>
                </a:solidFill>
                <a:latin typeface="Courier"/>
              </a:rPr>
              <a:t>,</a:t>
            </a:r>
            <a:br/>
            <a:r>
              <a:rPr>
                <a:solidFill>
                  <a:srgbClr val="003B4F"/>
                </a:solidFill>
                <a:latin typeface="Courier"/>
              </a:rPr>
              <a:t>                                         </a:t>
            </a:r>
            <a:r>
              <a:rPr>
                <a:solidFill>
                  <a:srgbClr val="657422"/>
                </a:solidFill>
                <a:latin typeface="Courier"/>
              </a:rPr>
              <a:t>optCtrl =</a:t>
            </a:r>
            <a:r>
              <a:rPr>
                <a:solidFill>
                  <a:srgbClr val="003B4F"/>
                </a:solidFill>
                <a:latin typeface="Courier"/>
              </a:rPr>
              <a:t> </a:t>
            </a:r>
            <a:r>
              <a:rPr>
                <a:solidFill>
                  <a:srgbClr val="4758AB"/>
                </a:solidFill>
                <a:latin typeface="Courier"/>
              </a:rPr>
              <a:t>list</a:t>
            </a:r>
            <a:r>
              <a:rPr>
                <a:solidFill>
                  <a:srgbClr val="003B4F"/>
                </a:solidFill>
                <a:latin typeface="Courier"/>
              </a:rPr>
              <a:t>(</a:t>
            </a:r>
            <a:r>
              <a:rPr>
                <a:solidFill>
                  <a:srgbClr val="657422"/>
                </a:solidFill>
                <a:latin typeface="Courier"/>
              </a:rPr>
              <a:t>maxfun =</a:t>
            </a:r>
            <a:r>
              <a:rPr>
                <a:solidFill>
                  <a:srgbClr val="003B4F"/>
                </a:solidFill>
                <a:latin typeface="Courier"/>
              </a:rPr>
              <a:t> </a:t>
            </a:r>
            <a:r>
              <a:rPr>
                <a:solidFill>
                  <a:srgbClr val="AD0000"/>
                </a:solidFill>
                <a:latin typeface="Courier"/>
              </a:rPr>
              <a:t>2e5</a:t>
            </a:r>
            <a:r>
              <a:rPr>
                <a:solidFill>
                  <a:srgbClr val="003B4F"/>
                </a:solidFill>
                <a:latin typeface="Courier"/>
              </a:rPr>
              <a:t>)))</a:t>
            </a:r>
            <a:br/>
            <a:r>
              <a:rPr>
                <a:solidFill>
                  <a:srgbClr val="4758AB"/>
                </a:solidFill>
                <a:latin typeface="Courier"/>
              </a:rPr>
              <a:t>cat</a:t>
            </a:r>
            <a:r>
              <a:rPr>
                <a:solidFill>
                  <a:srgbClr val="003B4F"/>
                </a:solidFill>
                <a:latin typeface="Courier"/>
              </a:rPr>
              <a:t>(</a:t>
            </a:r>
            <a:r>
              <a:rPr>
                <a:solidFill>
                  <a:srgbClr val="20794D"/>
                </a:solidFill>
                <a:latin typeface="Courier"/>
              </a:rPr>
              <a:t>"Mixed model summary:</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Mixed model summary:</a:t>
            </a:r>
            <a:br/>
            <a:r>
              <a:rPr>
                <a:solidFill>
                  <a:srgbClr val="4758AB"/>
                </a:solidFill>
                <a:latin typeface="Courier"/>
              </a:rPr>
              <a:t>summary</a:t>
            </a:r>
            <a:r>
              <a:rPr>
                <a:solidFill>
                  <a:srgbClr val="003B4F"/>
                </a:solidFill>
                <a:latin typeface="Courier"/>
              </a:rPr>
              <a:t>(u_lmer_model)</a:t>
            </a:r>
            <a:br/>
            <a:r>
              <a:rPr i="1">
                <a:solidFill>
                  <a:srgbClr val="5E5E5E"/>
                </a:solidFill>
                <a:latin typeface="Courier"/>
              </a:rPr>
              <a:t>## Linear mixed model fit by REML. t-tests use Satterthwaite's method [</a:t>
            </a:r>
            <a:br/>
            <a:r>
              <a:rPr i="1">
                <a:solidFill>
                  <a:srgbClr val="5E5E5E"/>
                </a:solidFill>
                <a:latin typeface="Courier"/>
              </a:rPr>
              <a:t>## lmerModLmerTest]</a:t>
            </a:r>
            <a:br/>
            <a:r>
              <a:rPr i="1">
                <a:solidFill>
                  <a:srgbClr val="5E5E5E"/>
                </a:solidFill>
                <a:latin typeface="Courier"/>
              </a:rPr>
              <a:t>## Formula: algae ~ treat + (1 | patch)</a:t>
            </a:r>
            <a:br/>
            <a:r>
              <a:rPr i="1">
                <a:solidFill>
                  <a:srgbClr val="5E5E5E"/>
                </a:solidFill>
                <a:latin typeface="Courier"/>
              </a:rPr>
              <a:t>##    Data: u_df</a:t>
            </a:r>
            <a:br/>
            <a:r>
              <a:rPr i="1">
                <a:solidFill>
                  <a:srgbClr val="5E5E5E"/>
                </a:solidFill>
                <a:latin typeface="Courier"/>
              </a:rPr>
              <a:t>## Control: lmerControl(optimizer = "bobyqa", optCtrl = list(maxfun = 200000))</a:t>
            </a:r>
            <a:br/>
            <a:r>
              <a:rPr i="1">
                <a:solidFill>
                  <a:srgbClr val="5E5E5E"/>
                </a:solidFill>
                <a:latin typeface="Courier"/>
              </a:rPr>
              <a:t>## </a:t>
            </a:r>
            <a:br/>
            <a:r>
              <a:rPr i="1">
                <a:solidFill>
                  <a:srgbClr val="5E5E5E"/>
                </a:solidFill>
                <a:latin typeface="Courier"/>
              </a:rPr>
              <a:t>## REML criterion at convergence: 684.9</a:t>
            </a:r>
            <a:br/>
            <a:r>
              <a:rPr i="1">
                <a:solidFill>
                  <a:srgbClr val="5E5E5E"/>
                </a:solidFill>
                <a:latin typeface="Courier"/>
              </a:rPr>
              <a:t>## </a:t>
            </a:r>
            <a:br/>
            <a:r>
              <a:rPr i="1">
                <a:solidFill>
                  <a:srgbClr val="5E5E5E"/>
                </a:solidFill>
                <a:latin typeface="Courier"/>
              </a:rPr>
              <a:t>## Scaled residuals: </a:t>
            </a:r>
            <a:br/>
            <a:r>
              <a:rPr i="1">
                <a:solidFill>
                  <a:srgbClr val="5E5E5E"/>
                </a:solidFill>
                <a:latin typeface="Courier"/>
              </a:rPr>
              <a:t>##     Min      1Q  Median      3Q     Max </a:t>
            </a:r>
            <a:br/>
            <a:r>
              <a:rPr i="1">
                <a:solidFill>
                  <a:srgbClr val="5E5E5E"/>
                </a:solidFill>
                <a:latin typeface="Courier"/>
              </a:rPr>
              <a:t>## -1.9808 -0.3106 -0.1093  0.2831  2.5910 </a:t>
            </a:r>
            <a:br/>
            <a:r>
              <a:rPr i="1">
                <a:solidFill>
                  <a:srgbClr val="5E5E5E"/>
                </a:solidFill>
                <a:latin typeface="Courier"/>
              </a:rPr>
              <a:t>## </a:t>
            </a:r>
            <a:br/>
            <a:r>
              <a:rPr i="1">
                <a:solidFill>
                  <a:srgbClr val="5E5E5E"/>
                </a:solidFill>
                <a:latin typeface="Courier"/>
              </a:rPr>
              <a:t>## Random effects:</a:t>
            </a:r>
            <a:br/>
            <a:r>
              <a:rPr i="1">
                <a:solidFill>
                  <a:srgbClr val="5E5E5E"/>
                </a:solidFill>
                <a:latin typeface="Courier"/>
              </a:rPr>
              <a:t>##  Groups   Name        Variance Std.Dev.</a:t>
            </a:r>
            <a:br/>
            <a:r>
              <a:rPr i="1">
                <a:solidFill>
                  <a:srgbClr val="5E5E5E"/>
                </a:solidFill>
                <a:latin typeface="Courier"/>
              </a:rPr>
              <a:t>##  patch    (Intercept) 294.3    17.16   </a:t>
            </a:r>
            <a:br/>
            <a:r>
              <a:rPr i="1">
                <a:solidFill>
                  <a:srgbClr val="5E5E5E"/>
                </a:solidFill>
                <a:latin typeface="Courier"/>
              </a:rPr>
              <a:t>##  Residual             298.6    17.28   </a:t>
            </a:r>
            <a:br/>
            <a:r>
              <a:rPr i="1">
                <a:solidFill>
                  <a:srgbClr val="5E5E5E"/>
                </a:solidFill>
                <a:latin typeface="Courier"/>
              </a:rPr>
              <a:t>## Number of obs: 80, groups:  patch, 16</a:t>
            </a:r>
            <a:br/>
            <a:r>
              <a:rPr i="1">
                <a:solidFill>
                  <a:srgbClr val="5E5E5E"/>
                </a:solidFill>
                <a:latin typeface="Courier"/>
              </a:rPr>
              <a:t>## </a:t>
            </a:r>
            <a:br/>
            <a:r>
              <a:rPr i="1">
                <a:solidFill>
                  <a:srgbClr val="5E5E5E"/>
                </a:solidFill>
                <a:latin typeface="Courier"/>
              </a:rPr>
              <a:t>## Fixed effects:</a:t>
            </a:r>
            <a:br/>
            <a:r>
              <a:rPr i="1">
                <a:solidFill>
                  <a:srgbClr val="5E5E5E"/>
                </a:solidFill>
                <a:latin typeface="Courier"/>
              </a:rPr>
              <a:t>##             Estimate Std. Error     df t value Pr(&gt;|t|)   </a:t>
            </a:r>
            <a:br/>
            <a:r>
              <a:rPr i="1">
                <a:solidFill>
                  <a:srgbClr val="5E5E5E"/>
                </a:solidFill>
                <a:latin typeface="Courier"/>
              </a:rPr>
              <a:t>## (Intercept)   20.262      4.704 12.000   4.308  0.00102 **</a:t>
            </a:r>
            <a:br/>
            <a:r>
              <a:rPr i="1">
                <a:solidFill>
                  <a:srgbClr val="5E5E5E"/>
                </a:solidFill>
                <a:latin typeface="Courier"/>
              </a:rPr>
              <a:t>## treat1        18.938      8.147 12.000   2.324  0.03846 * </a:t>
            </a:r>
            <a:br/>
            <a:r>
              <a:rPr i="1">
                <a:solidFill>
                  <a:srgbClr val="5E5E5E"/>
                </a:solidFill>
                <a:latin typeface="Courier"/>
              </a:rPr>
              <a:t>## treat2        -1.263      8.147 12.000  -0.155  0.87943   </a:t>
            </a:r>
            <a:br/>
            <a:r>
              <a:rPr i="1">
                <a:solidFill>
                  <a:srgbClr val="5E5E5E"/>
                </a:solidFill>
                <a:latin typeface="Courier"/>
              </a:rPr>
              <a:t>## treat3         1.288      8.147 12.000   0.158  0.87707   </a:t>
            </a:r>
            <a:br/>
            <a:r>
              <a:rPr i="1">
                <a:solidFill>
                  <a:srgbClr val="5E5E5E"/>
                </a:solidFill>
                <a:latin typeface="Courier"/>
              </a:rPr>
              <a:t>## ---</a:t>
            </a:r>
            <a:br/>
            <a:r>
              <a:rPr i="1">
                <a:solidFill>
                  <a:srgbClr val="5E5E5E"/>
                </a:solidFill>
                <a:latin typeface="Courier"/>
              </a:rPr>
              <a:t>## Signif. codes:  0 '***' 0.001 '**' 0.01 '*' 0.05 '.' 0.1 ' ' 1</a:t>
            </a:r>
            <a:br/>
            <a:r>
              <a:rPr i="1">
                <a:solidFill>
                  <a:srgbClr val="5E5E5E"/>
                </a:solidFill>
                <a:latin typeface="Courier"/>
              </a:rPr>
              <a:t>## </a:t>
            </a:r>
            <a:br/>
            <a:r>
              <a:rPr i="1">
                <a:solidFill>
                  <a:srgbClr val="5E5E5E"/>
                </a:solidFill>
                <a:latin typeface="Courier"/>
              </a:rPr>
              <a:t>## Correlation of Fixed Effects:</a:t>
            </a:r>
            <a:br/>
            <a:r>
              <a:rPr i="1">
                <a:solidFill>
                  <a:srgbClr val="5E5E5E"/>
                </a:solidFill>
                <a:latin typeface="Courier"/>
              </a:rPr>
              <a:t>##        (Intr) treat1 treat2</a:t>
            </a:r>
            <a:br/>
            <a:r>
              <a:rPr i="1">
                <a:solidFill>
                  <a:srgbClr val="5E5E5E"/>
                </a:solidFill>
                <a:latin typeface="Courier"/>
              </a:rPr>
              <a:t>## treat1  0.000              </a:t>
            </a:r>
            <a:br/>
            <a:r>
              <a:rPr i="1">
                <a:solidFill>
                  <a:srgbClr val="5E5E5E"/>
                </a:solidFill>
                <a:latin typeface="Courier"/>
              </a:rPr>
              <a:t>## treat2  0.000 -0.333       </a:t>
            </a:r>
            <a:br/>
            <a:r>
              <a:rPr i="1">
                <a:solidFill>
                  <a:srgbClr val="5E5E5E"/>
                </a:solidFill>
                <a:latin typeface="Courier"/>
              </a:rPr>
              <a:t>## treat3  0.000 -0.333 -0.333</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What the Random Effect Buys You: ICC</a:t>
            </a:r>
          </a:p>
        </p:txBody>
      </p:sp>
      <p:sp>
        <p:nvSpPr>
          <p:cNvPr id="3" name="Content Placeholder 2"/>
          <p:cNvSpPr>
            <a:spLocks noGrp="1"/>
          </p:cNvSpPr>
          <p:nvPr>
            <p:ph idx="1" sz="half"/>
          </p:nvPr>
        </p:nvSpPr>
        <p:spPr/>
        <p:txBody>
          <a:bodyPr/>
          <a:lstStyle/>
          <a:p>
            <a:pPr lvl="0" indent="0" marL="0">
              <a:buNone/>
            </a:pPr>
            <a:r>
              <a:rPr/>
              <a:t>The model splits the leftover variation in two:</a:t>
            </a:r>
          </a:p>
          <a:p>
            <a:pPr lvl="0" indent="0">
              <a:buNone/>
            </a:pPr>
            <a:r>
              <a:rPr>
                <a:solidFill>
                  <a:srgbClr val="003B4F"/>
                </a:solidFill>
                <a:latin typeface="Courier"/>
              </a:rPr>
              <a:t>vc &lt;- </a:t>
            </a:r>
            <a:r>
              <a:rPr>
                <a:solidFill>
                  <a:srgbClr val="4758AB"/>
                </a:solidFill>
                <a:latin typeface="Courier"/>
              </a:rPr>
              <a:t>as.data.frame</a:t>
            </a:r>
            <a:r>
              <a:rPr>
                <a:solidFill>
                  <a:srgbClr val="003B4F"/>
                </a:solidFill>
                <a:latin typeface="Courier"/>
              </a:rPr>
              <a:t>(</a:t>
            </a:r>
            <a:r>
              <a:rPr>
                <a:solidFill>
                  <a:srgbClr val="4758AB"/>
                </a:solidFill>
                <a:latin typeface="Courier"/>
              </a:rPr>
              <a:t>VarCorr</a:t>
            </a:r>
            <a:r>
              <a:rPr>
                <a:solidFill>
                  <a:srgbClr val="003B4F"/>
                </a:solidFill>
                <a:latin typeface="Courier"/>
              </a:rPr>
              <a:t>(u_lmer_model))</a:t>
            </a:r>
            <a:br/>
            <a:r>
              <a:rPr>
                <a:solidFill>
                  <a:srgbClr val="003B4F"/>
                </a:solidFill>
                <a:latin typeface="Courier"/>
              </a:rPr>
              <a:t>var_patch &lt;- vc</a:t>
            </a:r>
            <a:r>
              <a:rPr>
                <a:solidFill>
                  <a:srgbClr val="5E5E5E"/>
                </a:solidFill>
                <a:latin typeface="Courier"/>
              </a:rPr>
              <a:t>$</a:t>
            </a:r>
            <a:r>
              <a:rPr>
                <a:solidFill>
                  <a:srgbClr val="003B4F"/>
                </a:solidFill>
                <a:latin typeface="Courier"/>
              </a:rPr>
              <a:t>vcov[vc</a:t>
            </a:r>
            <a:r>
              <a:rPr>
                <a:solidFill>
                  <a:srgbClr val="5E5E5E"/>
                </a:solidFill>
                <a:latin typeface="Courier"/>
              </a:rPr>
              <a:t>$</a:t>
            </a:r>
            <a:r>
              <a:rPr>
                <a:solidFill>
                  <a:srgbClr val="003B4F"/>
                </a:solidFill>
                <a:latin typeface="Courier"/>
              </a:rPr>
              <a:t>grp </a:t>
            </a:r>
            <a:r>
              <a:rPr>
                <a:solidFill>
                  <a:srgbClr val="5E5E5E"/>
                </a:solidFill>
                <a:latin typeface="Courier"/>
              </a:rPr>
              <a:t>!=</a:t>
            </a:r>
            <a:r>
              <a:rPr>
                <a:solidFill>
                  <a:srgbClr val="003B4F"/>
                </a:solidFill>
                <a:latin typeface="Courier"/>
              </a:rPr>
              <a:t> </a:t>
            </a:r>
            <a:r>
              <a:rPr>
                <a:solidFill>
                  <a:srgbClr val="20794D"/>
                </a:solidFill>
                <a:latin typeface="Courier"/>
              </a:rPr>
              <a:t>"Residual"</a:t>
            </a:r>
            <a:r>
              <a:rPr>
                <a:solidFill>
                  <a:srgbClr val="003B4F"/>
                </a:solidFill>
                <a:latin typeface="Courier"/>
              </a:rPr>
              <a:t>]</a:t>
            </a:r>
            <a:br/>
            <a:r>
              <a:rPr>
                <a:solidFill>
                  <a:srgbClr val="003B4F"/>
                </a:solidFill>
                <a:latin typeface="Courier"/>
              </a:rPr>
              <a:t>var_resid &lt;- vc</a:t>
            </a:r>
            <a:r>
              <a:rPr>
                <a:solidFill>
                  <a:srgbClr val="5E5E5E"/>
                </a:solidFill>
                <a:latin typeface="Courier"/>
              </a:rPr>
              <a:t>$</a:t>
            </a:r>
            <a:r>
              <a:rPr>
                <a:solidFill>
                  <a:srgbClr val="003B4F"/>
                </a:solidFill>
                <a:latin typeface="Courier"/>
              </a:rPr>
              <a:t>vcov[vc</a:t>
            </a:r>
            <a:r>
              <a:rPr>
                <a:solidFill>
                  <a:srgbClr val="5E5E5E"/>
                </a:solidFill>
                <a:latin typeface="Courier"/>
              </a:rPr>
              <a:t>$</a:t>
            </a:r>
            <a:r>
              <a:rPr>
                <a:solidFill>
                  <a:srgbClr val="003B4F"/>
                </a:solidFill>
                <a:latin typeface="Courier"/>
              </a:rPr>
              <a:t>grp </a:t>
            </a:r>
            <a:r>
              <a:rPr>
                <a:solidFill>
                  <a:srgbClr val="5E5E5E"/>
                </a:solidFill>
                <a:latin typeface="Courier"/>
              </a:rPr>
              <a:t>==</a:t>
            </a:r>
            <a:r>
              <a:rPr>
                <a:solidFill>
                  <a:srgbClr val="003B4F"/>
                </a:solidFill>
                <a:latin typeface="Courier"/>
              </a:rPr>
              <a:t> </a:t>
            </a:r>
            <a:r>
              <a:rPr>
                <a:solidFill>
                  <a:srgbClr val="20794D"/>
                </a:solidFill>
                <a:latin typeface="Courier"/>
              </a:rPr>
              <a:t>"Residual"</a:t>
            </a:r>
            <a:r>
              <a:rPr>
                <a:solidFill>
                  <a:srgbClr val="003B4F"/>
                </a:solidFill>
                <a:latin typeface="Courier"/>
              </a:rPr>
              <a:t>]</a:t>
            </a:r>
            <a:br/>
            <a:br/>
            <a:r>
              <a:rPr>
                <a:solidFill>
                  <a:srgbClr val="4758AB"/>
                </a:solidFill>
                <a:latin typeface="Courier"/>
              </a:rPr>
              <a:t>cat</a:t>
            </a:r>
            <a:r>
              <a:rPr>
                <a:solidFill>
                  <a:srgbClr val="003B4F"/>
                </a:solidFill>
                <a:latin typeface="Courier"/>
              </a:rPr>
              <a:t>(</a:t>
            </a:r>
            <a:r>
              <a:rPr>
                <a:solidFill>
                  <a:srgbClr val="20794D"/>
                </a:solidFill>
                <a:latin typeface="Courier"/>
              </a:rPr>
              <a:t>"among patches :"</a:t>
            </a:r>
            <a:r>
              <a:rPr>
                <a:solidFill>
                  <a:srgbClr val="003B4F"/>
                </a:solidFill>
                <a:latin typeface="Courier"/>
              </a:rPr>
              <a:t>, </a:t>
            </a:r>
            <a:r>
              <a:rPr>
                <a:solidFill>
                  <a:srgbClr val="4758AB"/>
                </a:solidFill>
                <a:latin typeface="Courier"/>
              </a:rPr>
              <a:t>round</a:t>
            </a:r>
            <a:r>
              <a:rPr>
                <a:solidFill>
                  <a:srgbClr val="003B4F"/>
                </a:solidFill>
                <a:latin typeface="Courier"/>
              </a:rPr>
              <a:t>(var_patch, </a:t>
            </a:r>
            <a:r>
              <a:rPr>
                <a:solidFill>
                  <a:srgbClr val="AD0000"/>
                </a:solidFill>
                <a:latin typeface="Courier"/>
              </a:rPr>
              <a:t>1</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br/>
            <a:r>
              <a:rPr i="1">
                <a:solidFill>
                  <a:srgbClr val="5E5E5E"/>
                </a:solidFill>
                <a:latin typeface="Courier"/>
              </a:rPr>
              <a:t>## among patches : 294.3</a:t>
            </a:r>
            <a:br/>
            <a:r>
              <a:rPr>
                <a:solidFill>
                  <a:srgbClr val="4758AB"/>
                </a:solidFill>
                <a:latin typeface="Courier"/>
              </a:rPr>
              <a:t>cat</a:t>
            </a:r>
            <a:r>
              <a:rPr>
                <a:solidFill>
                  <a:srgbClr val="003B4F"/>
                </a:solidFill>
                <a:latin typeface="Courier"/>
              </a:rPr>
              <a:t>(</a:t>
            </a:r>
            <a:r>
              <a:rPr>
                <a:solidFill>
                  <a:srgbClr val="20794D"/>
                </a:solidFill>
                <a:latin typeface="Courier"/>
              </a:rPr>
              <a:t>"within patches:"</a:t>
            </a:r>
            <a:r>
              <a:rPr>
                <a:solidFill>
                  <a:srgbClr val="003B4F"/>
                </a:solidFill>
                <a:latin typeface="Courier"/>
              </a:rPr>
              <a:t>, </a:t>
            </a:r>
            <a:r>
              <a:rPr>
                <a:solidFill>
                  <a:srgbClr val="4758AB"/>
                </a:solidFill>
                <a:latin typeface="Courier"/>
              </a:rPr>
              <a:t>round</a:t>
            </a:r>
            <a:r>
              <a:rPr>
                <a:solidFill>
                  <a:srgbClr val="003B4F"/>
                </a:solidFill>
                <a:latin typeface="Courier"/>
              </a:rPr>
              <a:t>(var_resid, </a:t>
            </a:r>
            <a:r>
              <a:rPr>
                <a:solidFill>
                  <a:srgbClr val="AD0000"/>
                </a:solidFill>
                <a:latin typeface="Courier"/>
              </a:rPr>
              <a:t>1</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br/>
            <a:r>
              <a:rPr i="1">
                <a:solidFill>
                  <a:srgbClr val="5E5E5E"/>
                </a:solidFill>
                <a:latin typeface="Courier"/>
              </a:rPr>
              <a:t>## within patches: 298.6</a:t>
            </a:r>
            <a:br/>
            <a:r>
              <a:rPr>
                <a:solidFill>
                  <a:srgbClr val="4758AB"/>
                </a:solidFill>
                <a:latin typeface="Courier"/>
              </a:rPr>
              <a:t>cat</a:t>
            </a:r>
            <a:r>
              <a:rPr>
                <a:solidFill>
                  <a:srgbClr val="003B4F"/>
                </a:solidFill>
                <a:latin typeface="Courier"/>
              </a:rPr>
              <a:t>(</a:t>
            </a:r>
            <a:r>
              <a:rPr>
                <a:solidFill>
                  <a:srgbClr val="20794D"/>
                </a:solidFill>
                <a:latin typeface="Courier"/>
              </a:rPr>
              <a:t>"ICC ="</a:t>
            </a:r>
            <a:r>
              <a:rPr>
                <a:solidFill>
                  <a:srgbClr val="003B4F"/>
                </a:solidFill>
                <a:latin typeface="Courier"/>
              </a:rPr>
              <a:t>, </a:t>
            </a:r>
            <a:r>
              <a:rPr>
                <a:solidFill>
                  <a:srgbClr val="4758AB"/>
                </a:solidFill>
                <a:latin typeface="Courier"/>
              </a:rPr>
              <a:t>round</a:t>
            </a:r>
            <a:r>
              <a:rPr>
                <a:solidFill>
                  <a:srgbClr val="003B4F"/>
                </a:solidFill>
                <a:latin typeface="Courier"/>
              </a:rPr>
              <a:t>(var_patch </a:t>
            </a:r>
            <a:r>
              <a:rPr>
                <a:solidFill>
                  <a:srgbClr val="5E5E5E"/>
                </a:solidFill>
                <a:latin typeface="Courier"/>
              </a:rPr>
              <a:t>/</a:t>
            </a:r>
            <a:r>
              <a:rPr>
                <a:solidFill>
                  <a:srgbClr val="003B4F"/>
                </a:solidFill>
                <a:latin typeface="Courier"/>
              </a:rPr>
              <a:t> (var_patch </a:t>
            </a:r>
            <a:r>
              <a:rPr>
                <a:solidFill>
                  <a:srgbClr val="5E5E5E"/>
                </a:solidFill>
                <a:latin typeface="Courier"/>
              </a:rPr>
              <a:t>+</a:t>
            </a:r>
            <a:r>
              <a:rPr>
                <a:solidFill>
                  <a:srgbClr val="003B4F"/>
                </a:solidFill>
                <a:latin typeface="Courier"/>
              </a:rPr>
              <a:t> var_resid), </a:t>
            </a:r>
            <a:r>
              <a:rPr>
                <a:solidFill>
                  <a:srgbClr val="AD0000"/>
                </a:solidFill>
                <a:latin typeface="Courier"/>
              </a:rPr>
              <a:t>3</a:t>
            </a:r>
            <a:r>
              <a:rPr>
                <a:solidFill>
                  <a:srgbClr val="003B4F"/>
                </a:solidFill>
                <a:latin typeface="Courier"/>
              </a:rPr>
              <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br/>
            <a:r>
              <a:rPr i="1">
                <a:solidFill>
                  <a:srgbClr val="5E5E5E"/>
                </a:solidFill>
                <a:latin typeface="Courier"/>
              </a:rPr>
              <a:t>## ICC = 0.496</a:t>
            </a:r>
          </a:p>
          <a:p>
            <a:pPr lvl="0" indent="0" marL="0">
              <a:buNone/>
            </a:pPr>
            <a:r>
              <a:rPr/>
              <a:t>The </a:t>
            </a:r>
            <a:r>
              <a:rPr b="1"/>
              <a:t>intraclass correlation</a:t>
            </a:r>
            <a:r>
              <a:rPr/>
              <a:t> is the share of variance living </a:t>
            </a:r>
            <a:r>
              <a:rPr i="1"/>
              <a:t>between</a:t>
            </a:r>
            <a:r>
              <a:rPr/>
              <a:t> groups — equivalently, </a:t>
            </a:r>
            <a:r>
              <a:rPr b="1"/>
              <a:t>how strongly two quadrats in the same patch resemble each other</a:t>
            </a:r>
            <a:r>
              <a:rPr/>
              <a:t>.</a:t>
            </a:r>
          </a:p>
          <a:p>
            <a:pPr lvl="0" indent="0" marL="1270000">
              <a:buNone/>
            </a:pPr>
            <a:r>
              <a:rPr sz="2000" b="1"/>
              <a:t>Important</a:t>
            </a:r>
          </a:p>
          <a:p>
            <a:pPr lvl="0" indent="0" marL="1270000">
              <a:buNone/>
            </a:pPr>
            <a:r>
              <a:rPr sz="2000" b="1"/>
              <a:t>ICC = 0.50 is the whole reason we are here</a:t>
            </a:r>
          </a:p>
          <a:p>
            <a:pPr lvl="0" indent="0" marL="1270000">
              <a:buNone/>
            </a:pPr>
            <a:r>
              <a:rPr sz="2000"/>
              <a:t>Two quadrats from the same patch are </a:t>
            </a:r>
            <a:r>
              <a:rPr sz="2000" b="1"/>
              <a:t>half-correlated</a:t>
            </a:r>
            <a:r>
              <a:rPr sz="2000"/>
              <a:t>. They are not two independent observations — they are closer to one and a half.</a:t>
            </a:r>
          </a:p>
          <a:p>
            <a:pPr lvl="0" indent="0" marL="1270000">
              <a:buNone/>
            </a:pPr>
            <a:r>
              <a:rPr sz="2000"/>
              <a:t>An ICC near 0 would mean patches barely matter and ordinary ANOVA would have been fine. An ICC of 0.5 means ignoring patch would have been badly wrong — and last week’s naive model showed exactly how wrong (F = 16.1 instead of 2.7).</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Same number, three ways</a:t>
            </a:r>
          </a:p>
          <a:p>
            <a:pPr lvl="0" indent="0" marL="1270000">
              <a:buNone/>
            </a:pPr>
            <a:r>
              <a:rPr sz="2000"/>
              <a:t>You have now seen 294.3 arrive by three routes:</a:t>
            </a:r>
          </a:p>
          <a:p>
            <a:pPr lvl="0" indent="-342900" marL="342900">
              <a:buAutoNum type="arabicPeriod"/>
            </a:pPr>
            <a:r>
              <a:rPr sz="2000"/>
              <a:t>By hand from mean squares, </a:t>
            </a:r>
            <a:r>
              <a:rPr sz="2000">
                <a:latin typeface="Courier"/>
              </a:rPr>
              <a:t>(MS_patch − MS_within)/n</a:t>
            </a:r>
          </a:p>
          <a:p>
            <a:pPr lvl="0" indent="-342900" marL="342900">
              <a:buAutoNum type="arabicPeriod"/>
            </a:pPr>
            <a:r>
              <a:rPr sz="2000"/>
              <a:t>From </a:t>
            </a:r>
            <a:r>
              <a:rPr sz="2000">
                <a:latin typeface="Courier"/>
              </a:rPr>
              <a:t>aov(Error(patch))</a:t>
            </a:r>
          </a:p>
          <a:p>
            <a:pPr lvl="0" indent="-342900" marL="342900">
              <a:buAutoNum type="arabicPeriod"/>
            </a:pPr>
            <a:r>
              <a:rPr sz="2000"/>
              <a:t>From </a:t>
            </a:r>
            <a:r>
              <a:rPr sz="2000">
                <a:latin typeface="Courier"/>
              </a:rPr>
              <a:t>VarCorr()</a:t>
            </a:r>
            <a:r>
              <a:rPr sz="2000"/>
              <a:t> on the mixed model</a:t>
            </a:r>
          </a:p>
          <a:p>
            <a:pPr lvl="0" indent="0" marL="1270000">
              <a:buNone/>
            </a:pPr>
            <a:r>
              <a:rPr sz="2000"/>
              <a:t>They agree because </a:t>
            </a:r>
            <a:r>
              <a:rPr sz="2000" b="1"/>
              <a:t>they are the same model</a:t>
            </a:r>
            <a:r>
              <a:rPr sz="2000"/>
              <a:t>, written three ways.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Partial Pooling — What Actually Happens to Each Patch</a:t>
            </a:r>
          </a:p>
        </p:txBody>
      </p:sp>
      <p:sp>
        <p:nvSpPr>
          <p:cNvPr id="3" name="Text Placeholder 2"/>
          <p:cNvSpPr>
            <a:spLocks noGrp="1"/>
          </p:cNvSpPr>
          <p:nvPr>
            <p:ph idx="1" type="body"/>
          </p:nvPr>
        </p:nvSpPr>
        <p:spPr/>
        <p:txBody>
          <a:bodyPr/>
          <a:lstStyle/>
          <a:p>
            <a:pPr lvl="0" indent="0" marL="0">
              <a:buNone/>
            </a:pPr>
            <a:r>
              <a:rPr/>
              <a:t>A random effect does not just adjust the p-value. It changes each patch’s </a:t>
            </a:r>
            <a:r>
              <a:rPr b="1"/>
              <a:t>estimate</a:t>
            </a:r>
            <a:r>
              <a:rPr/>
              <a:t>.</a:t>
            </a:r>
          </a:p>
        </p:txBody>
      </p:sp>
      <p:pic>
        <p:nvPicPr>
          <p:cNvPr descr="linear_mixed_models_lecture_files/figure-pptx/linear-mixed-models-04c-1.png" id="0" name="Picture 1"/>
          <p:cNvPicPr>
            <a:picLocks noGrp="1" noChangeAspect="1"/>
          </p:cNvPicPr>
          <p:nvPr/>
        </p:nvPicPr>
        <p:blipFill>
          <a:blip r:embed="rId2"/>
          <a:stretch>
            <a:fillRect/>
          </a:stretch>
        </p:blipFill>
        <p:spPr bwMode="auto">
          <a:xfrm>
            <a:off x="215900" y="1270000"/>
            <a:ext cx="4241800" cy="3302000"/>
          </a:xfrm>
          <a:prstGeom prst="rect">
            <a:avLst/>
          </a:prstGeom>
          <a:noFill/>
          <a:ln w="9525">
            <a:noFill/>
            <a:headEnd/>
            <a:tailEnd/>
          </a:ln>
        </p:spPr>
      </p:pic>
      <p:sp>
        <p:nvSpPr>
          <p:cNvPr id="5" name="Text Placeholder 4"/>
          <p:cNvSpPr>
            <a:spLocks noGrp="1"/>
          </p:cNvSpPr>
          <p:nvPr>
            <p:ph idx="3" sz="quarter" type="body"/>
          </p:nvPr>
        </p:nvSpPr>
        <p:spPr/>
        <p:txBody>
          <a:bodyPr/>
          <a:lstStyle/>
          <a:p>
            <a:pPr lvl="0" indent="0" marL="1270000">
              <a:buNone/>
            </a:pPr>
            <a:r>
              <a:rPr sz="2000" b="1"/>
              <a:t>Note</a:t>
            </a:r>
          </a:p>
          <a:p>
            <a:pPr lvl="0" indent="0" marL="1270000">
              <a:buNone/>
            </a:pPr>
            <a:r>
              <a:rPr sz="2000" b="1"/>
              <a:t>📖 New word: shrinkage</a:t>
            </a:r>
          </a:p>
          <a:p>
            <a:pPr lvl="0" indent="0" marL="1270000">
              <a:buNone/>
            </a:pPr>
            <a:r>
              <a:rPr sz="2000"/>
              <a:t>Every patch estimate is pulled </a:t>
            </a:r>
            <a:r>
              <a:rPr sz="2000" b="1"/>
              <a:t>toward its treatment mean</a:t>
            </a:r>
            <a:r>
              <a:rPr sz="2000"/>
              <a:t>. The model treats an extreme patch average as partly real signal and partly luck, and splits the difference.</a:t>
            </a:r>
          </a:p>
          <a:p>
            <a:pPr lvl="0" indent="0" marL="1270000">
              <a:buNone/>
            </a:pPr>
            <a:r>
              <a:rPr sz="2000"/>
              <a:t>Patches with fewer quadrats, or more internal scatter, get pulled further.</a:t>
            </a:r>
          </a:p>
          <a:p>
            <a:pPr lvl="0" indent="0" marL="1270000">
              <a:buNone/>
            </a:pPr>
            <a:r>
              <a:rPr sz="2000" b="1"/>
              <a:t>Tip</a:t>
            </a:r>
          </a:p>
          <a:p>
            <a:pPr lvl="0" indent="0" marL="1270000">
              <a:buNone/>
            </a:pPr>
            <a:r>
              <a:rPr sz="2000" b="1"/>
              <a:t>🖐 Why this is a feature</a:t>
            </a:r>
          </a:p>
          <a:p>
            <a:pPr lvl="0" indent="0" marL="1270000">
              <a:buNone/>
            </a:pPr>
            <a:r>
              <a:rPr sz="2000"/>
              <a:t>A patch whose 5 quadrats happened to land high is probably </a:t>
            </a:r>
            <a:r>
              <a:rPr sz="2000" i="1"/>
              <a:t>not</a:t>
            </a:r>
            <a:r>
              <a:rPr sz="2000"/>
              <a:t> that extreme — the next 5 would come back closer to average. Shrinkage builds that expectation in, instead of taking every noisy group mean at face value.</a:t>
            </a:r>
          </a:p>
          <a:p>
            <a:pPr lvl="0" indent="0" marL="1270000">
              <a:buNone/>
            </a:pPr>
            <a:r>
              <a:rPr sz="2000"/>
              <a:t>This is called </a:t>
            </a:r>
            <a:r>
              <a:rPr sz="2000" b="1"/>
              <a:t>partial pooling</a:t>
            </a:r>
            <a:r>
              <a:rPr sz="2000"/>
              <a:t>: somewhere between treating every patch as unrelated and pretending they are all identical.</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Mixed-Model ANOVA — Method 1: F-Distribution</a:t>
            </a:r>
          </a:p>
        </p:txBody>
      </p:sp>
      <p:sp>
        <p:nvSpPr>
          <p:cNvPr id="3" name="Content Placeholder 2"/>
          <p:cNvSpPr>
            <a:spLocks noGrp="1"/>
          </p:cNvSpPr>
          <p:nvPr>
            <p:ph idx="1" sz="half"/>
          </p:nvPr>
        </p:nvSpPr>
        <p:spPr/>
        <p:txBody>
          <a:bodyPr/>
          <a:lstStyle/>
          <a:p>
            <a:pPr lvl="0"/>
            <a:r>
              <a:rPr/>
              <a:t>Accounts for the uncertainty in variance-component estimation</a:t>
            </a:r>
          </a:p>
          <a:p>
            <a:pPr lvl="0"/>
            <a:r>
              <a:rPr/>
              <a:t>More conservative (higher p-values)</a:t>
            </a:r>
          </a:p>
          <a:p>
            <a:pPr lvl="0"/>
            <a:r>
              <a:rPr/>
              <a:t>Better for small samples</a:t>
            </a:r>
          </a:p>
        </p:txBody>
      </p:sp>
      <p:sp>
        <p:nvSpPr>
          <p:cNvPr id="4" name="Content Placeholder 3"/>
          <p:cNvSpPr>
            <a:spLocks noGrp="1"/>
          </p:cNvSpPr>
          <p:nvPr>
            <p:ph idx="2" sz="half"/>
          </p:nvPr>
        </p:nvSpPr>
        <p:spPr/>
        <p:txBody>
          <a:bodyPr/>
          <a:lstStyle/>
          <a:p>
            <a:pPr lvl="0" indent="0">
              <a:buNone/>
            </a:pPr>
            <a:r>
              <a:rPr>
                <a:solidFill>
                  <a:srgbClr val="5E5E5E"/>
                </a:solidFill>
                <a:latin typeface="Courier"/>
              </a:rPr>
              <a:t># car::Anova uses Kenward-Roger denominator df for test.statistic = "F"</a:t>
            </a:r>
            <a:br/>
            <a:r>
              <a:rPr>
                <a:solidFill>
                  <a:srgbClr val="5E5E5E"/>
                </a:solidFill>
                <a:latin typeface="Courier"/>
              </a:rPr>
              <a:t># (that is what the printed header says -- there is no ddf argument here)</a:t>
            </a:r>
            <a:br/>
            <a:r>
              <a:rPr>
                <a:solidFill>
                  <a:srgbClr val="003B4F"/>
                </a:solidFill>
                <a:latin typeface="Courier"/>
              </a:rPr>
              <a:t>u_anova_result &lt;- </a:t>
            </a:r>
            <a:r>
              <a:rPr>
                <a:solidFill>
                  <a:srgbClr val="4758AB"/>
                </a:solidFill>
                <a:latin typeface="Courier"/>
              </a:rPr>
              <a:t>Anova</a:t>
            </a:r>
            <a:r>
              <a:rPr>
                <a:solidFill>
                  <a:srgbClr val="003B4F"/>
                </a:solidFill>
                <a:latin typeface="Courier"/>
              </a:rPr>
              <a:t>(u_lmer_model, </a:t>
            </a:r>
            <a:r>
              <a:rPr>
                <a:solidFill>
                  <a:srgbClr val="657422"/>
                </a:solidFill>
                <a:latin typeface="Courier"/>
              </a:rPr>
              <a:t>type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657422"/>
                </a:solidFill>
                <a:latin typeface="Courier"/>
              </a:rPr>
              <a:t>test.statistic =</a:t>
            </a:r>
            <a:r>
              <a:rPr>
                <a:solidFill>
                  <a:srgbClr val="003B4F"/>
                </a:solidFill>
                <a:latin typeface="Courier"/>
              </a:rPr>
              <a:t> </a:t>
            </a:r>
            <a:r>
              <a:rPr>
                <a:solidFill>
                  <a:srgbClr val="20794D"/>
                </a:solidFill>
                <a:latin typeface="Courier"/>
              </a:rPr>
              <a:t>"F"</a:t>
            </a:r>
            <a:r>
              <a:rPr>
                <a:solidFill>
                  <a:srgbClr val="003B4F"/>
                </a:solidFill>
                <a:latin typeface="Courier"/>
              </a:rPr>
              <a:t>)</a:t>
            </a:r>
            <a:br/>
            <a:r>
              <a:rPr>
                <a:solidFill>
                  <a:srgbClr val="4758AB"/>
                </a:solidFill>
                <a:latin typeface="Courier"/>
              </a:rPr>
              <a:t>cat</a:t>
            </a:r>
            <a:r>
              <a:rPr>
                <a:solidFill>
                  <a:srgbClr val="003B4F"/>
                </a:solidFill>
                <a:latin typeface="Courier"/>
              </a:rPr>
              <a:t>(</a:t>
            </a:r>
            <a:r>
              <a:rPr>
                <a:solidFill>
                  <a:srgbClr val="20794D"/>
                </a:solidFill>
                <a:latin typeface="Courier"/>
              </a:rPr>
              <a:t>"Type III ANOVA with F test:</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Type III ANOVA with F test:</a:t>
            </a:r>
            <a:br/>
            <a:r>
              <a:rPr>
                <a:solidFill>
                  <a:srgbClr val="003B4F"/>
                </a:solidFill>
                <a:latin typeface="Courier"/>
              </a:rPr>
              <a:t>u_anova_result</a:t>
            </a:r>
            <a:br/>
            <a:r>
              <a:rPr i="1">
                <a:solidFill>
                  <a:srgbClr val="5E5E5E"/>
                </a:solidFill>
                <a:latin typeface="Courier"/>
              </a:rPr>
              <a:t>## Analysis of Deviance Table (Type III Wald F tests with Kenward-Roger df)</a:t>
            </a:r>
            <a:br/>
            <a:r>
              <a:rPr i="1">
                <a:solidFill>
                  <a:srgbClr val="5E5E5E"/>
                </a:solidFill>
                <a:latin typeface="Courier"/>
              </a:rPr>
              <a:t>## </a:t>
            </a:r>
            <a:br/>
            <a:r>
              <a:rPr i="1">
                <a:solidFill>
                  <a:srgbClr val="5E5E5E"/>
                </a:solidFill>
                <a:latin typeface="Courier"/>
              </a:rPr>
              <a:t>## Response: algae</a:t>
            </a:r>
            <a:br/>
            <a:r>
              <a:rPr i="1">
                <a:solidFill>
                  <a:srgbClr val="5E5E5E"/>
                </a:solidFill>
                <a:latin typeface="Courier"/>
              </a:rPr>
              <a:t>##                   F Df Df.res   Pr(&gt;F)   </a:t>
            </a:r>
            <a:br/>
            <a:r>
              <a:rPr i="1">
                <a:solidFill>
                  <a:srgbClr val="5E5E5E"/>
                </a:solidFill>
                <a:latin typeface="Courier"/>
              </a:rPr>
              <a:t>## (Intercept) 18.5551  1     12 0.001018 **</a:t>
            </a:r>
            <a:br/>
            <a:r>
              <a:rPr i="1">
                <a:solidFill>
                  <a:srgbClr val="5E5E5E"/>
                </a:solidFill>
                <a:latin typeface="Courier"/>
              </a:rPr>
              <a:t>## treat        2.7171  3     12 0.091262 . </a:t>
            </a:r>
            <a:br/>
            <a:r>
              <a:rPr i="1">
                <a:solidFill>
                  <a:srgbClr val="5E5E5E"/>
                </a:solidFill>
                <a:latin typeface="Courier"/>
              </a:rPr>
              <a:t>## ---</a:t>
            </a:r>
            <a:br/>
            <a:r>
              <a:rPr i="1">
                <a:solidFill>
                  <a:srgbClr val="5E5E5E"/>
                </a:solidFill>
                <a:latin typeface="Courier"/>
              </a:rPr>
              <a:t>## Signif. codes:  0 '***' 0.001 '**' 0.01 '*' 0.05 '.' 0.1 ' ' 1</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Mixed-Model ANOVA — Method 2: Chi-Square</a:t>
            </a:r>
          </a:p>
        </p:txBody>
      </p:sp>
      <p:sp>
        <p:nvSpPr>
          <p:cNvPr id="3" name="Content Placeholder 2"/>
          <p:cNvSpPr>
            <a:spLocks noGrp="1"/>
          </p:cNvSpPr>
          <p:nvPr>
            <p:ph idx="1" sz="half"/>
          </p:nvPr>
        </p:nvSpPr>
        <p:spPr/>
        <p:txBody>
          <a:bodyPr/>
          <a:lstStyle/>
          <a:p>
            <a:pPr lvl="0"/>
            <a:r>
              <a:rPr/>
              <a:t>Assumes variance components are known (not estimated)</a:t>
            </a:r>
          </a:p>
          <a:p>
            <a:pPr lvl="0"/>
            <a:r>
              <a:rPr/>
              <a:t>More liberal (lower p-values)</a:t>
            </a:r>
          </a:p>
          <a:p>
            <a:pPr lvl="0"/>
            <a:r>
              <a:rPr/>
              <a:t>Assumes large samples</a:t>
            </a:r>
          </a:p>
          <a:p>
            <a:pPr lvl="0" indent="0" marL="0">
              <a:buNone/>
            </a:pPr>
            <a:r>
              <a:rPr b="1"/>
              <a:t>Why different results?</a:t>
            </a:r>
            <a:r>
              <a:rPr/>
              <a:t> Chi-square = F × numerator df. The F-test accounts for the denominator df (12, here — reflecting sample size); Chi-square assumes infinite denominator df (i.e., a large sample).</a:t>
            </a:r>
          </a:p>
          <a:p>
            <a:pPr lvl="0" indent="0" marL="0">
              <a:buNone/>
            </a:pPr>
            <a:r>
              <a:rPr b="1"/>
              <a:t>Rule of thumb:</a:t>
            </a:r>
            <a:r>
              <a:rPr/>
              <a:t> under 100 observations or &lt; 20 random-effect levels, use the F-test. Over 500 observations and &gt; 50 random-effect levels, Chi-square is okay. In between, the F-test is safer.</a:t>
            </a:r>
          </a:p>
        </p:txBody>
      </p:sp>
      <p:sp>
        <p:nvSpPr>
          <p:cNvPr id="4" name="Content Placeholder 3"/>
          <p:cNvSpPr>
            <a:spLocks noGrp="1"/>
          </p:cNvSpPr>
          <p:nvPr>
            <p:ph idx="2" sz="half"/>
          </p:nvPr>
        </p:nvSpPr>
        <p:spPr/>
        <p:txBody>
          <a:bodyPr/>
          <a:lstStyle/>
          <a:p>
            <a:pPr lvl="0" indent="0">
              <a:buNone/>
            </a:pPr>
            <a:r>
              <a:rPr>
                <a:solidFill>
                  <a:srgbClr val="003B4F"/>
                </a:solidFill>
                <a:latin typeface="Courier"/>
              </a:rPr>
              <a:t>u_anova_chisq &lt;- </a:t>
            </a:r>
            <a:r>
              <a:rPr>
                <a:solidFill>
                  <a:srgbClr val="4758AB"/>
                </a:solidFill>
                <a:latin typeface="Courier"/>
              </a:rPr>
              <a:t>Anova</a:t>
            </a:r>
            <a:r>
              <a:rPr>
                <a:solidFill>
                  <a:srgbClr val="003B4F"/>
                </a:solidFill>
                <a:latin typeface="Courier"/>
              </a:rPr>
              <a:t>(u_lmer_model, </a:t>
            </a:r>
            <a:r>
              <a:rPr>
                <a:solidFill>
                  <a:srgbClr val="657422"/>
                </a:solidFill>
                <a:latin typeface="Courier"/>
              </a:rPr>
              <a:t>type =</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657422"/>
                </a:solidFill>
                <a:latin typeface="Courier"/>
              </a:rPr>
              <a:t>test.statistic =</a:t>
            </a:r>
            <a:r>
              <a:rPr>
                <a:solidFill>
                  <a:srgbClr val="003B4F"/>
                </a:solidFill>
                <a:latin typeface="Courier"/>
              </a:rPr>
              <a:t> </a:t>
            </a:r>
            <a:r>
              <a:rPr>
                <a:solidFill>
                  <a:srgbClr val="20794D"/>
                </a:solidFill>
                <a:latin typeface="Courier"/>
              </a:rPr>
              <a:t>"Chisq"</a:t>
            </a:r>
            <a:r>
              <a:rPr>
                <a:solidFill>
                  <a:srgbClr val="003B4F"/>
                </a:solidFill>
                <a:latin typeface="Courier"/>
              </a:rPr>
              <a:t>)</a:t>
            </a:r>
            <a:br/>
            <a:r>
              <a:rPr>
                <a:solidFill>
                  <a:srgbClr val="4758AB"/>
                </a:solidFill>
                <a:latin typeface="Courier"/>
              </a:rPr>
              <a:t>cat</a:t>
            </a:r>
            <a:r>
              <a:rPr>
                <a:solidFill>
                  <a:srgbClr val="003B4F"/>
                </a:solidFill>
                <a:latin typeface="Courier"/>
              </a:rPr>
              <a:t>(</a:t>
            </a:r>
            <a:r>
              <a:rPr>
                <a:solidFill>
                  <a:srgbClr val="20794D"/>
                </a:solidFill>
                <a:latin typeface="Courier"/>
              </a:rPr>
              <a:t>"Type III ANOVA with Chi-square test:</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Type III ANOVA with Chi-square test:</a:t>
            </a:r>
            <a:br/>
            <a:r>
              <a:rPr>
                <a:solidFill>
                  <a:srgbClr val="003B4F"/>
                </a:solidFill>
                <a:latin typeface="Courier"/>
              </a:rPr>
              <a:t>u_anova_chisq</a:t>
            </a:r>
            <a:br/>
            <a:r>
              <a:rPr i="1">
                <a:solidFill>
                  <a:srgbClr val="5E5E5E"/>
                </a:solidFill>
                <a:latin typeface="Courier"/>
              </a:rPr>
              <a:t>## Analysis of Deviance Table (Type III Wald chisquare tests)</a:t>
            </a:r>
            <a:br/>
            <a:r>
              <a:rPr i="1">
                <a:solidFill>
                  <a:srgbClr val="5E5E5E"/>
                </a:solidFill>
                <a:latin typeface="Courier"/>
              </a:rPr>
              <a:t>## </a:t>
            </a:r>
            <a:br/>
            <a:r>
              <a:rPr i="1">
                <a:solidFill>
                  <a:srgbClr val="5E5E5E"/>
                </a:solidFill>
                <a:latin typeface="Courier"/>
              </a:rPr>
              <a:t>## Response: algae</a:t>
            </a:r>
            <a:br/>
            <a:r>
              <a:rPr i="1">
                <a:solidFill>
                  <a:srgbClr val="5E5E5E"/>
                </a:solidFill>
                <a:latin typeface="Courier"/>
              </a:rPr>
              <a:t>##               Chisq Df Pr(&gt;Chisq)    </a:t>
            </a:r>
            <a:br/>
            <a:r>
              <a:rPr i="1">
                <a:solidFill>
                  <a:srgbClr val="5E5E5E"/>
                </a:solidFill>
                <a:latin typeface="Courier"/>
              </a:rPr>
              <a:t>## (Intercept) 18.5551  1 0.00001651 ***</a:t>
            </a:r>
            <a:br/>
            <a:r>
              <a:rPr i="1">
                <a:solidFill>
                  <a:srgbClr val="5E5E5E"/>
                </a:solidFill>
                <a:latin typeface="Courier"/>
              </a:rPr>
              <a:t>## treat        8.1513  3    0.04299 *  </a:t>
            </a:r>
            <a:br/>
            <a:r>
              <a:rPr i="1">
                <a:solidFill>
                  <a:srgbClr val="5E5E5E"/>
                </a:solidFill>
                <a:latin typeface="Courier"/>
              </a:rPr>
              <a:t>## ---</a:t>
            </a:r>
            <a:br/>
            <a:r>
              <a:rPr i="1">
                <a:solidFill>
                  <a:srgbClr val="5E5E5E"/>
                </a:solidFill>
                <a:latin typeface="Courier"/>
              </a:rPr>
              <a:t>## Signif. codes:  0 '***' 0.001 '**' 0.01 '*' 0.05 '.' 0.1 ' ' 1</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The Nested Model, Restated</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14:m>
                  <m:oMathPara xmlns:m="http://schemas.openxmlformats.org/officeDocument/2006/math">
                    <m:oMathParaPr>
                      <m:jc m:val="center"/>
                    </m:oMathParaPr>
                    <m:oMath>
                      <m:r>
                        <m:t>a</m:t>
                      </m:r>
                      <m:r>
                        <m:t>l</m:t>
                      </m:r>
                      <m:r>
                        <m:t>g</m:t>
                      </m:r>
                      <m:r>
                        <m:t>a</m:t>
                      </m:r>
                      <m:sSub>
                        <m:e>
                          <m:r>
                            <m:t>e</m:t>
                          </m:r>
                        </m:e>
                        <m:sub>
                          <m:r>
                            <m:t>i</m:t>
                          </m:r>
                          <m:r>
                            <m:t>j</m:t>
                          </m:r>
                          <m:r>
                            <m:t>k</m:t>
                          </m:r>
                        </m:sub>
                      </m:sSub>
                      <m:r>
                        <m:rPr>
                          <m:sty m:val="p"/>
                        </m:rPr>
                        <m:t>=</m:t>
                      </m:r>
                      <m:r>
                        <m:t>μ</m:t>
                      </m:r>
                      <m:r>
                        <m:rPr>
                          <m:sty m:val="p"/>
                        </m:rPr>
                        <m:t>+</m:t>
                      </m:r>
                      <m:sSub>
                        <m:e>
                          <m:r>
                            <m:t>α</m:t>
                          </m:r>
                        </m:e>
                        <m:sub>
                          <m:r>
                            <m:t>i</m:t>
                          </m:r>
                        </m:sub>
                      </m:sSub>
                      <m:r>
                        <m:rPr>
                          <m:sty m:val="p"/>
                        </m:rPr>
                        <m:t>+</m:t>
                      </m:r>
                      <m:sSub>
                        <m:e>
                          <m:r>
                            <m:t>β</m:t>
                          </m:r>
                        </m:e>
                        <m:sub>
                          <m:r>
                            <m:t>j</m:t>
                          </m:r>
                          <m:r>
                            <m:rPr>
                              <m:sty m:val="p"/>
                            </m:rPr>
                            <m:t>(</m:t>
                          </m:r>
                          <m:r>
                            <m:t>i</m:t>
                          </m:r>
                          <m:r>
                            <m:rPr>
                              <m:sty m:val="p"/>
                            </m:rPr>
                            <m:t>)</m:t>
                          </m:r>
                        </m:sub>
                      </m:sSub>
                      <m:r>
                        <m:rPr>
                          <m:sty m:val="p"/>
                        </m:rPr>
                        <m:t>+</m:t>
                      </m:r>
                      <m:sSub>
                        <m:e>
                          <m:r>
                            <m:t>ϵ</m:t>
                          </m:r>
                        </m:e>
                        <m:sub>
                          <m:r>
                            <m:t>i</m:t>
                          </m:r>
                          <m:r>
                            <m:t>j</m:t>
                          </m:r>
                          <m:r>
                            <m:t>k</m:t>
                          </m:r>
                        </m:sub>
                      </m:sSub>
                    </m:oMath>
                  </m:oMathPara>
                </a14:m>
              </a:p>
              <a:p>
                <a:pPr lvl="0"/>
                <a14:m>
                  <m:oMath xmlns:m="http://schemas.openxmlformats.org/officeDocument/2006/math">
                    <m:r>
                      <m:t>μ</m:t>
                    </m:r>
                  </m:oMath>
                </a14:m>
                <a:r>
                  <a:rPr/>
                  <a:t> is the overall mean</a:t>
                </a:r>
              </a:p>
              <a:p>
                <a:pPr lvl="0"/>
                <a14:m>
                  <m:oMath xmlns:m="http://schemas.openxmlformats.org/officeDocument/2006/math">
                    <m:sSub>
                      <m:e>
                        <m:r>
                          <m:t>α</m:t>
                        </m:r>
                      </m:e>
                      <m:sub>
                        <m:r>
                          <m:t>i</m:t>
                        </m:r>
                      </m:sub>
                    </m:sSub>
                  </m:oMath>
                </a14:m>
                <a:r>
                  <a:rPr/>
                  <a:t> is the fixed effect of treatment i</a:t>
                </a:r>
              </a:p>
              <a:p>
                <a:pPr lvl="0"/>
                <a14:m>
                  <m:oMath xmlns:m="http://schemas.openxmlformats.org/officeDocument/2006/math">
                    <m:sSub>
                      <m:e>
                        <m:r>
                          <m:t>β</m:t>
                        </m:r>
                      </m:e>
                      <m:sub>
                        <m:r>
                          <m:t>j</m:t>
                        </m:r>
                        <m:r>
                          <m:rPr>
                            <m:sty m:val="p"/>
                          </m:rPr>
                          <m:t>(</m:t>
                        </m:r>
                        <m:r>
                          <m:t>i</m:t>
                        </m:r>
                        <m:r>
                          <m:rPr>
                            <m:sty m:val="p"/>
                          </m:rPr>
                          <m:t>)</m:t>
                        </m:r>
                      </m:sub>
                    </m:sSub>
                  </m:oMath>
                </a14:m>
                <a:r>
                  <a:rPr/>
                  <a:t> is the random effect of patch j nested within treatment i</a:t>
                </a:r>
              </a:p>
              <a:p>
                <a:pPr lvl="0"/>
                <a14:m>
                  <m:oMath xmlns:m="http://schemas.openxmlformats.org/officeDocument/2006/math">
                    <m:sSub>
                      <m:e>
                        <m:r>
                          <m:t>ϵ</m:t>
                        </m:r>
                      </m:e>
                      <m:sub>
                        <m:r>
                          <m:t>i</m:t>
                        </m:r>
                        <m:r>
                          <m:t>j</m:t>
                        </m:r>
                        <m:r>
                          <m:t>k</m:t>
                        </m:r>
                      </m:sub>
                    </m:sSub>
                  </m:oMath>
                </a14:m>
                <a:r>
                  <a:rPr/>
                  <a:t> is the residual error for quadrat k in patch j within treatment i</a:t>
                </a:r>
              </a:p>
            </p:txBody>
          </p:sp>
        </mc:Choice>
      </mc:AlternateContent>
      <p:sp>
        <p:nvSpPr>
          <p:cNvPr id="4" name="Content Placeholder 3"/>
          <p:cNvSpPr>
            <a:spLocks noGrp="1"/>
          </p:cNvSpPr>
          <p:nvPr>
            <p:ph idx="2" sz="half"/>
          </p:nvPr>
        </p:nvSpPr>
        <p:spPr/>
        <p:txBody>
          <a:bodyPr/>
          <a:lstStyle/>
          <a:p>
            <a:pPr lvl="0" indent="0">
              <a:buNone/>
            </a:pPr>
            <a:r>
              <a:rPr>
                <a:latin typeface="Courier"/>
              </a:rPr>
              <a:t>## Final ANOVA results:
## Analysis of Deviance Table (Type III Wald F tests with Kenward-Roger df)
## 
## Response: algae
##                   F Df Df.res   Pr(&gt;F)   
## (Intercept) 18.5551  1     12 0.001018 **
## treat        2.7171  3     12 0.091262 . 
## ---
## Signif. codes:  0 '***' 0.001 '**' 0.01 '*' 0.05 '.' 0.1 ' ' 1</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3 · Post-Hoc and Interpretation</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Interpreting the Variance Components</a:t>
            </a:r>
          </a:p>
        </p:txBody>
      </p:sp>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b="1"/>
              <a:t>⚠️ Two tests, two answers — and you must pick one </a:t>
            </a:r>
            <a:r>
              <a:rPr sz="2000" b="1" i="1"/>
              <a:t>before</a:t>
            </a:r>
            <a:r>
              <a:rPr sz="2000" b="1"/>
              <a:t> you look</a:t>
            </a:r>
          </a:p>
          <a:p>
            <a:pPr lvl="0" indent="0" marL="1270000">
              <a:buNone/>
            </a:pPr>
            <a:r>
              <a:rPr sz="2000"/>
              <a:t>Same model. Same data. </a:t>
            </a:r>
            <a:r>
              <a:rPr sz="2000" b="1"/>
              <a:t>Opposite conclusions.</a:t>
            </a:r>
          </a:p>
          <a:p>
            <a:pPr lvl="0" indent="0" marL="1270000">
              <a:buNone/>
            </a:pPr>
            <a:r>
              <a:rPr sz="2000"/>
              <a:t>The χ² test assumes it knows the variance components exactly and that the sample is large. We have </a:t>
            </a:r>
            <a:r>
              <a:rPr sz="2000" b="1"/>
              <a:t>16 patches</a:t>
            </a:r>
            <a:r>
              <a:rPr sz="2000"/>
              <a:t>. It is being over-confident, exactly as the rule of thumb two slides back predicted.</a:t>
            </a:r>
          </a:p>
          <a:p>
            <a:pPr lvl="0" indent="0" marL="1270000">
              <a:buNone/>
            </a:pPr>
            <a:r>
              <a:rPr sz="2000" b="1"/>
              <a:t>Report the F-test.</a:t>
            </a:r>
            <a:r>
              <a:rPr sz="2000"/>
              <a:t> It agrees with last week’s </a:t>
            </a:r>
            <a:r>
              <a:rPr sz="2000">
                <a:latin typeface="Courier"/>
              </a:rPr>
              <a:t>aov(Error(patch))</a:t>
            </a:r>
            <a:r>
              <a:rPr sz="2000"/>
              <a:t> result to four decimal places — because it is the same test.</a:t>
            </a:r>
          </a:p>
          <a:p>
            <a:pPr lvl="0" indent="0" marL="1270000">
              <a:buNone/>
            </a:pPr>
            <a:r>
              <a:rPr sz="2000" b="1"/>
              <a:t>Note</a:t>
            </a:r>
          </a:p>
          <a:p>
            <a:pPr lvl="0" indent="0" marL="1270000">
              <a:buNone/>
            </a:pPr>
            <a:r>
              <a:rPr sz="2000" b="1"/>
              <a:t>How to report this result</a:t>
            </a:r>
          </a:p>
          <a:p>
            <a:pPr lvl="0" indent="0" marL="1270000">
              <a:buNone/>
            </a:pPr>
            <a:r>
              <a:rPr sz="2000"/>
              <a:t>“Algal cover did not differ significantly among urchin density treatments (linear mixed model with patch as a random effect, </a:t>
            </a:r>
            <a:r>
              <a:rPr sz="2000" b="1"/>
              <a:t>F₃,₁₂ = 2.72, p = 0.091</a:t>
            </a:r>
            <a:r>
              <a:rPr sz="2000"/>
              <a:t>, Kenward-Roger denominator df). Among-patch variance was substantial (</a:t>
            </a:r>
            <a:r>
              <a:rPr sz="2000" b="1"/>
              <a:t>σ²_patch = 294.3</a:t>
            </a:r>
            <a:r>
              <a:rPr sz="2000"/>
              <a:t> vs </a:t>
            </a:r>
            <a:r>
              <a:rPr sz="2000" b="1"/>
              <a:t>σ²_residual = 298.6</a:t>
            </a:r>
            <a:r>
              <a:rPr sz="2000"/>
              <a:t>, ICC = 0.50), indicating strong spatial heterogeneity in algal cover.”</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Post-Hoc Comparisons</a:t>
            </a:r>
          </a:p>
        </p:txBody>
      </p:sp>
      <p:sp>
        <p:nvSpPr>
          <p:cNvPr id="3" name="Content Placeholder 2"/>
          <p:cNvSpPr>
            <a:spLocks noGrp="1"/>
          </p:cNvSpPr>
          <p:nvPr>
            <p:ph idx="1" sz="half"/>
          </p:nvPr>
        </p:nvSpPr>
        <p:spPr/>
        <p:txBody>
          <a:bodyPr/>
          <a:lstStyle/>
          <a:p>
            <a:pPr lvl="0" indent="0" marL="0">
              <a:buNone/>
            </a:pPr>
            <a:r>
              <a:rPr/>
              <a:t>Although the main effect of treatment was marginally significant (p = 0.04306), we can examine mean differences between treatments to understand patterns in the data.</a:t>
            </a:r>
          </a:p>
          <a:p>
            <a:pPr lvl="0" indent="0">
              <a:buNone/>
            </a:pPr>
            <a:r>
              <a:rPr>
                <a:solidFill>
                  <a:srgbClr val="003B4F"/>
                </a:solidFill>
                <a:latin typeface="Courier"/>
              </a:rPr>
              <a:t>u_emm &lt;- </a:t>
            </a:r>
            <a:r>
              <a:rPr>
                <a:solidFill>
                  <a:srgbClr val="4758AB"/>
                </a:solidFill>
                <a:latin typeface="Courier"/>
              </a:rPr>
              <a:t>emmeans</a:t>
            </a:r>
            <a:r>
              <a:rPr>
                <a:solidFill>
                  <a:srgbClr val="003B4F"/>
                </a:solidFill>
                <a:latin typeface="Courier"/>
              </a:rPr>
              <a:t>(u_lmer_model, </a:t>
            </a:r>
            <a:r>
              <a:rPr>
                <a:solidFill>
                  <a:srgbClr val="5E5E5E"/>
                </a:solidFill>
                <a:latin typeface="Courier"/>
              </a:rPr>
              <a:t>~</a:t>
            </a:r>
            <a:r>
              <a:rPr>
                <a:solidFill>
                  <a:srgbClr val="003B4F"/>
                </a:solidFill>
                <a:latin typeface="Courier"/>
              </a:rPr>
              <a:t> treat)</a:t>
            </a:r>
            <a:br/>
            <a:r>
              <a:rPr>
                <a:solidFill>
                  <a:srgbClr val="4758AB"/>
                </a:solidFill>
                <a:latin typeface="Courier"/>
              </a:rPr>
              <a:t>cat</a:t>
            </a:r>
            <a:r>
              <a:rPr>
                <a:solidFill>
                  <a:srgbClr val="003B4F"/>
                </a:solidFill>
                <a:latin typeface="Courier"/>
              </a:rPr>
              <a:t>(</a:t>
            </a:r>
            <a:r>
              <a:rPr>
                <a:solidFill>
                  <a:srgbClr val="20794D"/>
                </a:solidFill>
                <a:latin typeface="Courier"/>
              </a:rPr>
              <a:t>"Estimated marginal means:</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Estimated marginal means:</a:t>
            </a:r>
            <a:br/>
            <a:r>
              <a:rPr>
                <a:solidFill>
                  <a:srgbClr val="003B4F"/>
                </a:solidFill>
                <a:latin typeface="Courier"/>
              </a:rPr>
              <a:t>u_emm</a:t>
            </a:r>
            <a:br/>
            <a:r>
              <a:rPr i="1">
                <a:solidFill>
                  <a:srgbClr val="5E5E5E"/>
                </a:solidFill>
                <a:latin typeface="Courier"/>
              </a:rPr>
              <a:t>##  treat emmean   SE df lower.CL upper.CL</a:t>
            </a:r>
            <a:br/>
            <a:r>
              <a:rPr i="1">
                <a:solidFill>
                  <a:srgbClr val="5E5E5E"/>
                </a:solidFill>
                <a:latin typeface="Courier"/>
              </a:rPr>
              <a:t>##  0%      39.2 9.41 12    18.70     59.7</a:t>
            </a:r>
            <a:br/>
            <a:r>
              <a:rPr i="1">
                <a:solidFill>
                  <a:srgbClr val="5E5E5E"/>
                </a:solidFill>
                <a:latin typeface="Courier"/>
              </a:rPr>
              <a:t>##  33%     19.0 9.41 12    -1.50     39.5</a:t>
            </a:r>
            <a:br/>
            <a:r>
              <a:rPr i="1">
                <a:solidFill>
                  <a:srgbClr val="5E5E5E"/>
                </a:solidFill>
                <a:latin typeface="Courier"/>
              </a:rPr>
              <a:t>##  66%     21.6 9.41 12     1.05     42.0</a:t>
            </a:r>
            <a:br/>
            <a:r>
              <a:rPr i="1">
                <a:solidFill>
                  <a:srgbClr val="5E5E5E"/>
                </a:solidFill>
                <a:latin typeface="Courier"/>
              </a:rPr>
              <a:t>##  100%     1.3 9.41 12   -19.20     21.8</a:t>
            </a:r>
            <a:br/>
            <a:r>
              <a:rPr i="1">
                <a:solidFill>
                  <a:srgbClr val="5E5E5E"/>
                </a:solidFill>
                <a:latin typeface="Courier"/>
              </a:rPr>
              <a:t>## </a:t>
            </a:r>
            <a:br/>
            <a:r>
              <a:rPr i="1">
                <a:solidFill>
                  <a:srgbClr val="5E5E5E"/>
                </a:solidFill>
                <a:latin typeface="Courier"/>
              </a:rPr>
              <a:t>## Degrees-of-freedom method: kenward-roger </a:t>
            </a:r>
            <a:br/>
            <a:r>
              <a:rPr i="1">
                <a:solidFill>
                  <a:srgbClr val="5E5E5E"/>
                </a:solidFill>
                <a:latin typeface="Courier"/>
              </a:rPr>
              <a:t>## Confidence level used: 0.95</a:t>
            </a:r>
          </a:p>
        </p:txBody>
      </p:sp>
      <p:sp>
        <p:nvSpPr>
          <p:cNvPr id="4" name="Content Placeholder 3"/>
          <p:cNvSpPr>
            <a:spLocks noGrp="1"/>
          </p:cNvSpPr>
          <p:nvPr>
            <p:ph idx="2" sz="half"/>
          </p:nvPr>
        </p:nvSpPr>
        <p:spPr/>
        <p:txBody>
          <a:bodyPr/>
          <a:lstStyle/>
          <a:p>
            <a:pPr lvl="0" indent="0">
              <a:buNone/>
            </a:pPr>
            <a:r>
              <a:rPr>
                <a:solidFill>
                  <a:srgbClr val="003B4F"/>
                </a:solidFill>
                <a:latin typeface="Courier"/>
              </a:rPr>
              <a:t>u_pairs &lt;- </a:t>
            </a:r>
            <a:r>
              <a:rPr>
                <a:solidFill>
                  <a:srgbClr val="4758AB"/>
                </a:solidFill>
                <a:latin typeface="Courier"/>
              </a:rPr>
              <a:t>pairs</a:t>
            </a:r>
            <a:r>
              <a:rPr>
                <a:solidFill>
                  <a:srgbClr val="003B4F"/>
                </a:solidFill>
                <a:latin typeface="Courier"/>
              </a:rPr>
              <a:t>(u_emm, </a:t>
            </a:r>
            <a:r>
              <a:rPr>
                <a:solidFill>
                  <a:srgbClr val="657422"/>
                </a:solidFill>
                <a:latin typeface="Courier"/>
              </a:rPr>
              <a:t>adjust =</a:t>
            </a:r>
            <a:r>
              <a:rPr>
                <a:solidFill>
                  <a:srgbClr val="003B4F"/>
                </a:solidFill>
                <a:latin typeface="Courier"/>
              </a:rPr>
              <a:t> </a:t>
            </a:r>
            <a:r>
              <a:rPr>
                <a:solidFill>
                  <a:srgbClr val="20794D"/>
                </a:solidFill>
                <a:latin typeface="Courier"/>
              </a:rPr>
              <a:t>"sidak"</a:t>
            </a:r>
            <a:r>
              <a:rPr>
                <a:solidFill>
                  <a:srgbClr val="003B4F"/>
                </a:solidFill>
                <a:latin typeface="Courier"/>
              </a:rPr>
              <a:t>)</a:t>
            </a:r>
            <a:br/>
            <a:r>
              <a:rPr>
                <a:solidFill>
                  <a:srgbClr val="4758AB"/>
                </a:solidFill>
                <a:latin typeface="Courier"/>
              </a:rPr>
              <a:t>cat</a:t>
            </a:r>
            <a:r>
              <a:rPr>
                <a:solidFill>
                  <a:srgbClr val="003B4F"/>
                </a:solidFill>
                <a:latin typeface="Courier"/>
              </a:rPr>
              <a:t>(</a:t>
            </a:r>
            <a:r>
              <a:rPr>
                <a:solidFill>
                  <a:srgbClr val="20794D"/>
                </a:solidFill>
                <a:latin typeface="Courier"/>
              </a:rPr>
              <a:t>"Pairwise comparisons (Sidak adjusted):</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Pairwise comparisons (Sidak adjusted):</a:t>
            </a:r>
            <a:br/>
            <a:r>
              <a:rPr>
                <a:solidFill>
                  <a:srgbClr val="003B4F"/>
                </a:solidFill>
                <a:latin typeface="Courier"/>
              </a:rPr>
              <a:t>u_pairs</a:t>
            </a:r>
            <a:br/>
            <a:r>
              <a:rPr i="1">
                <a:solidFill>
                  <a:srgbClr val="5E5E5E"/>
                </a:solidFill>
                <a:latin typeface="Courier"/>
              </a:rPr>
              <a:t>##  contrast   estimate   SE df t.ratio p.value</a:t>
            </a:r>
            <a:br/>
            <a:r>
              <a:rPr i="1">
                <a:solidFill>
                  <a:srgbClr val="5E5E5E"/>
                </a:solidFill>
                <a:latin typeface="Courier"/>
              </a:rPr>
              <a:t>##  0% - 33%      20.20 13.3 12   1.518  0.6356</a:t>
            </a:r>
            <a:br/>
            <a:r>
              <a:rPr i="1">
                <a:solidFill>
                  <a:srgbClr val="5E5E5E"/>
                </a:solidFill>
                <a:latin typeface="Courier"/>
              </a:rPr>
              <a:t>##  0% - 66%      17.65 13.3 12   1.327  0.7557</a:t>
            </a:r>
            <a:br/>
            <a:r>
              <a:rPr i="1">
                <a:solidFill>
                  <a:srgbClr val="5E5E5E"/>
                </a:solidFill>
                <a:latin typeface="Courier"/>
              </a:rPr>
              <a:t>##  0% - 100%     37.90 13.3 12   2.849  0.0848</a:t>
            </a:r>
            <a:br/>
            <a:r>
              <a:rPr i="1">
                <a:solidFill>
                  <a:srgbClr val="5E5E5E"/>
                </a:solidFill>
                <a:latin typeface="Courier"/>
              </a:rPr>
              <a:t>##  33% - 66%     -2.55 13.3 12  -0.192  1.0000</a:t>
            </a:r>
            <a:br/>
            <a:r>
              <a:rPr i="1">
                <a:solidFill>
                  <a:srgbClr val="5E5E5E"/>
                </a:solidFill>
                <a:latin typeface="Courier"/>
              </a:rPr>
              <a:t>##  33% - 100%    17.70 13.3 12   1.330  0.7534</a:t>
            </a:r>
            <a:br/>
            <a:r>
              <a:rPr i="1">
                <a:solidFill>
                  <a:srgbClr val="5E5E5E"/>
                </a:solidFill>
                <a:latin typeface="Courier"/>
              </a:rPr>
              <a:t>##  66% - 100%    20.25 13.3 12   1.522  0.6331</a:t>
            </a:r>
            <a:br/>
            <a:r>
              <a:rPr i="1">
                <a:solidFill>
                  <a:srgbClr val="5E5E5E"/>
                </a:solidFill>
                <a:latin typeface="Courier"/>
              </a:rPr>
              <a:t>## </a:t>
            </a:r>
            <a:br/>
            <a:r>
              <a:rPr i="1">
                <a:solidFill>
                  <a:srgbClr val="5E5E5E"/>
                </a:solidFill>
                <a:latin typeface="Courier"/>
              </a:rPr>
              <a:t>## Degrees-of-freedom method: kenward-roger </a:t>
            </a:r>
            <a:br/>
            <a:r>
              <a:rPr i="1">
                <a:solidFill>
                  <a:srgbClr val="5E5E5E"/>
                </a:solidFill>
                <a:latin typeface="Courier"/>
              </a:rPr>
              <a:t>## P value adjustment: sidak method for 6 tests</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Compact Letter Display</a:t>
            </a:r>
          </a:p>
        </p:txBody>
      </p:sp>
      <p:sp>
        <p:nvSpPr>
          <p:cNvPr id="3" name="Content Placeholder 2"/>
          <p:cNvSpPr>
            <a:spLocks noGrp="1"/>
          </p:cNvSpPr>
          <p:nvPr>
            <p:ph idx="1" sz="half"/>
          </p:nvPr>
        </p:nvSpPr>
        <p:spPr/>
        <p:txBody>
          <a:bodyPr/>
          <a:lstStyle/>
          <a:p>
            <a:pPr lvl="0" indent="0">
              <a:buNone/>
            </a:pPr>
            <a:r>
              <a:rPr>
                <a:solidFill>
                  <a:srgbClr val="003B4F"/>
                </a:solidFill>
                <a:latin typeface="Courier"/>
              </a:rPr>
              <a:t>u_cld &lt;- multcomp</a:t>
            </a:r>
            <a:r>
              <a:rPr>
                <a:solidFill>
                  <a:srgbClr val="5E5E5E"/>
                </a:solidFill>
                <a:latin typeface="Courier"/>
              </a:rPr>
              <a:t>::</a:t>
            </a:r>
            <a:r>
              <a:rPr>
                <a:solidFill>
                  <a:srgbClr val="4758AB"/>
                </a:solidFill>
                <a:latin typeface="Courier"/>
              </a:rPr>
              <a:t>cld</a:t>
            </a:r>
            <a:r>
              <a:rPr>
                <a:solidFill>
                  <a:srgbClr val="003B4F"/>
                </a:solidFill>
                <a:latin typeface="Courier"/>
              </a:rPr>
              <a:t>(u_emm, </a:t>
            </a:r>
            <a:r>
              <a:rPr>
                <a:solidFill>
                  <a:srgbClr val="657422"/>
                </a:solidFill>
                <a:latin typeface="Courier"/>
              </a:rPr>
              <a:t>alpha =</a:t>
            </a:r>
            <a:r>
              <a:rPr>
                <a:solidFill>
                  <a:srgbClr val="003B4F"/>
                </a:solidFill>
                <a:latin typeface="Courier"/>
              </a:rPr>
              <a:t> </a:t>
            </a:r>
            <a:r>
              <a:rPr>
                <a:solidFill>
                  <a:srgbClr val="AD0000"/>
                </a:solidFill>
                <a:latin typeface="Courier"/>
              </a:rPr>
              <a:t>0.05</a:t>
            </a:r>
            <a:r>
              <a:rPr>
                <a:solidFill>
                  <a:srgbClr val="003B4F"/>
                </a:solidFill>
                <a:latin typeface="Courier"/>
              </a:rPr>
              <a:t>, </a:t>
            </a:r>
            <a:r>
              <a:rPr>
                <a:solidFill>
                  <a:srgbClr val="657422"/>
                </a:solidFill>
                <a:latin typeface="Courier"/>
              </a:rPr>
              <a:t>Letters =</a:t>
            </a:r>
            <a:r>
              <a:rPr>
                <a:solidFill>
                  <a:srgbClr val="003B4F"/>
                </a:solidFill>
                <a:latin typeface="Courier"/>
              </a:rPr>
              <a:t> letters)</a:t>
            </a:r>
            <a:br/>
            <a:r>
              <a:rPr>
                <a:solidFill>
                  <a:srgbClr val="4758AB"/>
                </a:solidFill>
                <a:latin typeface="Courier"/>
              </a:rPr>
              <a:t>cat</a:t>
            </a:r>
            <a:r>
              <a:rPr>
                <a:solidFill>
                  <a:srgbClr val="003B4F"/>
                </a:solidFill>
                <a:latin typeface="Courier"/>
              </a:rPr>
              <a:t>(</a:t>
            </a:r>
            <a:r>
              <a:rPr>
                <a:solidFill>
                  <a:srgbClr val="20794D"/>
                </a:solidFill>
                <a:latin typeface="Courier"/>
              </a:rPr>
              <a:t>"Compact letter display:</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Compact letter display:</a:t>
            </a:r>
            <a:br/>
            <a:r>
              <a:rPr>
                <a:solidFill>
                  <a:srgbClr val="003B4F"/>
                </a:solidFill>
                <a:latin typeface="Courier"/>
              </a:rPr>
              <a:t>u_cld</a:t>
            </a:r>
            <a:br/>
            <a:r>
              <a:rPr i="1">
                <a:solidFill>
                  <a:srgbClr val="5E5E5E"/>
                </a:solidFill>
                <a:latin typeface="Courier"/>
              </a:rPr>
              <a:t>##  treat emmean   SE df lower.CL upper.CL .group</a:t>
            </a:r>
            <a:br/>
            <a:r>
              <a:rPr i="1">
                <a:solidFill>
                  <a:srgbClr val="5E5E5E"/>
                </a:solidFill>
                <a:latin typeface="Courier"/>
              </a:rPr>
              <a:t>##  100%     1.3 9.41 12   -19.20     21.8  a    </a:t>
            </a:r>
            <a:br/>
            <a:r>
              <a:rPr i="1">
                <a:solidFill>
                  <a:srgbClr val="5E5E5E"/>
                </a:solidFill>
                <a:latin typeface="Courier"/>
              </a:rPr>
              <a:t>##  33%     19.0 9.41 12    -1.50     39.5  a    </a:t>
            </a:r>
            <a:br/>
            <a:r>
              <a:rPr i="1">
                <a:solidFill>
                  <a:srgbClr val="5E5E5E"/>
                </a:solidFill>
                <a:latin typeface="Courier"/>
              </a:rPr>
              <a:t>##  66%     21.6 9.41 12     1.05     42.0  a    </a:t>
            </a:r>
            <a:br/>
            <a:r>
              <a:rPr i="1">
                <a:solidFill>
                  <a:srgbClr val="5E5E5E"/>
                </a:solidFill>
                <a:latin typeface="Courier"/>
              </a:rPr>
              <a:t>##  0%      39.2 9.41 12    18.70     59.7  a    </a:t>
            </a:r>
            <a:br/>
            <a:r>
              <a:rPr i="1">
                <a:solidFill>
                  <a:srgbClr val="5E5E5E"/>
                </a:solidFill>
                <a:latin typeface="Courier"/>
              </a:rPr>
              <a:t>## </a:t>
            </a:r>
            <a:br/>
            <a:r>
              <a:rPr i="1">
                <a:solidFill>
                  <a:srgbClr val="5E5E5E"/>
                </a:solidFill>
                <a:latin typeface="Courier"/>
              </a:rPr>
              <a:t>## Degrees-of-freedom method: kenward-roger </a:t>
            </a:r>
            <a:br/>
            <a:r>
              <a:rPr i="1">
                <a:solidFill>
                  <a:srgbClr val="5E5E5E"/>
                </a:solidFill>
                <a:latin typeface="Courier"/>
              </a:rPr>
              <a:t>## Confidence level used: 0.95 </a:t>
            </a:r>
            <a:br/>
            <a:r>
              <a:rPr i="1">
                <a:solidFill>
                  <a:srgbClr val="5E5E5E"/>
                </a:solidFill>
                <a:latin typeface="Courier"/>
              </a:rPr>
              <a:t>## P value adjustment: tukey method for comparing a family of 4 estimates </a:t>
            </a:r>
            <a:br/>
            <a:r>
              <a:rPr i="1">
                <a:solidFill>
                  <a:srgbClr val="5E5E5E"/>
                </a:solidFill>
                <a:latin typeface="Courier"/>
              </a:rPr>
              <a:t>## significance level used: alpha = 0.05 </a:t>
            </a:r>
            <a:br/>
            <a:r>
              <a:rPr i="1">
                <a:solidFill>
                  <a:srgbClr val="5E5E5E"/>
                </a:solidFill>
                <a:latin typeface="Courier"/>
              </a:rPr>
              <a:t>## </a:t>
            </a:r>
            <a:r>
              <a:rPr>
                <a:solidFill>
                  <a:srgbClr val="AD0000"/>
                </a:solidFill>
                <a:latin typeface="Courier"/>
              </a:rPr>
              <a:t>NOTE</a:t>
            </a:r>
            <a:r>
              <a:rPr i="1">
                <a:solidFill>
                  <a:srgbClr val="5E5E5E"/>
                </a:solidFill>
                <a:latin typeface="Courier"/>
              </a:rPr>
              <a:t>: If two or more means share the same grouping symbol,</a:t>
            </a:r>
            <a:br/>
            <a:r>
              <a:rPr i="1">
                <a:solidFill>
                  <a:srgbClr val="5E5E5E"/>
                </a:solidFill>
                <a:latin typeface="Courier"/>
              </a:rPr>
              <a:t>##       then we cannot show them to be different.</a:t>
            </a:r>
            <a:br/>
            <a:r>
              <a:rPr i="1">
                <a:solidFill>
                  <a:srgbClr val="5E5E5E"/>
                </a:solidFill>
                <a:latin typeface="Courier"/>
              </a:rPr>
              <a:t>##       But we also did not show them to be the same.</a:t>
            </a:r>
          </a:p>
        </p:txBody>
      </p:sp>
      <p:sp>
        <p:nvSpPr>
          <p:cNvPr id="4" name="Content Placeholder 3"/>
          <p:cNvSpPr>
            <a:spLocks noGrp="1"/>
          </p:cNvSpPr>
          <p:nvPr>
            <p:ph idx="2" sz="half"/>
          </p:nvPr>
        </p:nvSpPr>
        <p:spPr/>
        <p:txBody>
          <a:bodyPr/>
          <a:lstStyle/>
          <a:p>
            <a:pPr lvl="0" indent="0" marL="1270000">
              <a:buNone/>
            </a:pPr>
            <a:r>
              <a:rPr sz="2000" b="1"/>
              <a:t>Important</a:t>
            </a:r>
          </a:p>
          <a:p>
            <a:pPr lvl="0" indent="0" marL="1270000">
              <a:buNone/>
            </a:pPr>
            <a:r>
              <a:rPr sz="2000" b="1"/>
              <a:t>Interpreting treatment comparisons</a:t>
            </a:r>
          </a:p>
          <a:p>
            <a:pPr lvl="0" indent="0" marL="1270000">
              <a:buNone/>
            </a:pPr>
            <a:r>
              <a:rPr sz="2000"/>
              <a:t>Mean algae cover shows a pattern with increasing urchin density: None/Removed (39.20%) &gt; Medium/33% Density (19.00%) &gt; High/66% Density (21.55%) &gt; Low/Control (1.30%). This suggests an inverse relationship between urchin density and algae cover. The high variability among patches within treatments contributed to the marginal statistical significance for the treatment effect.</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4 · Assumptions and Visualization</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ANOVA Assumptions Testing — Base R</a:t>
            </a:r>
          </a:p>
        </p:txBody>
      </p:sp>
      <p:sp>
        <p:nvSpPr>
          <p:cNvPr id="3" name="Content Placeholder 2"/>
          <p:cNvSpPr>
            <a:spLocks noGrp="1"/>
          </p:cNvSpPr>
          <p:nvPr>
            <p:ph idx="1" sz="half"/>
          </p:nvPr>
        </p:nvSpPr>
        <p:spPr/>
        <p:txBody>
          <a:bodyPr/>
          <a:lstStyle/>
          <a:p>
            <a:pPr lvl="0" indent="0" marL="0">
              <a:buNone/>
            </a:pPr>
            <a:r>
              <a:rPr/>
              <a:t>For valid inference from ANOVA, several assumptions must be met. We test these below with a base R approach — note that it doesn’t work all that well for a mixed model.</a:t>
            </a:r>
          </a:p>
        </p:txBody>
      </p:sp>
      <p:sp>
        <p:nvSpPr>
          <p:cNvPr id="4" name="Content Placeholder 3"/>
          <p:cNvSpPr>
            <a:spLocks noGrp="1"/>
          </p:cNvSpPr>
          <p:nvPr>
            <p:ph idx="2" sz="half"/>
          </p:nvPr>
        </p:nvSpPr>
        <p:spPr/>
        <p:txBody>
          <a:bodyPr/>
          <a:lstStyle/>
          <a:p>
            <a:pPr lvl="0" indent="0" marL="1270000">
              <a:buNone/>
            </a:pPr>
            <a:r>
              <a:rPr sz="2000" b="1"/>
              <a:t>Tip</a:t>
            </a:r>
          </a:p>
          <a:p>
            <a:pPr lvl="0" indent="0" marL="1270000">
              <a:buNone/>
            </a:pPr>
            <a:r>
              <a:rPr sz="2000" b="1"/>
              <a:t>🖐 Notice</a:t>
            </a:r>
          </a:p>
          <a:p>
            <a:pPr lvl="0" indent="0" marL="1270000">
              <a:buNone/>
            </a:pPr>
            <a:r>
              <a:rPr sz="2000">
                <a:latin typeface="Courier"/>
              </a:rPr>
              <a:t>plot(mixed_model)</a:t>
            </a:r>
            <a:r>
              <a:rPr sz="2000"/>
              <a:t> and friends were built for </a:t>
            </a:r>
            <a:r>
              <a:rPr sz="2000">
                <a:latin typeface="Courier"/>
              </a:rPr>
              <a:t>lm()</a:t>
            </a:r>
            <a:r>
              <a:rPr sz="2000"/>
              <a:t> objects — they mostly work for </a:t>
            </a:r>
            <a:r>
              <a:rPr sz="2000">
                <a:latin typeface="Courier"/>
              </a:rPr>
              <a:t>lmer()</a:t>
            </a:r>
            <a:r>
              <a:rPr sz="2000"/>
              <a:t>, but purpose-built tools like </a:t>
            </a:r>
            <a:r>
              <a:rPr sz="2000">
                <a:latin typeface="Courier"/>
              </a:rPr>
              <a:t>DHARMa</a:t>
            </a:r>
            <a:r>
              <a:rPr sz="2000"/>
              <a:t> do a better job (see the Nested ANOVA activity).</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Diagnostic Plots</a:t>
            </a:r>
          </a:p>
        </p:txBody>
      </p:sp>
      <p:pic>
        <p:nvPicPr>
          <p:cNvPr descr="linear_mixed_models_lecture_files/figure-pptx/linear-mixed-models-12-1.png" id="0" name="Picture 1"/>
          <p:cNvPicPr>
            <a:picLocks noGrp="1" noChangeAspect="1"/>
          </p:cNvPicPr>
          <p:nvPr/>
        </p:nvPicPr>
        <p:blipFill>
          <a:blip r:embed="rId2"/>
          <a:stretch>
            <a:fillRect/>
          </a:stretch>
        </p:blipFill>
        <p:spPr bwMode="auto">
          <a:xfrm>
            <a:off x="1676400" y="609600"/>
            <a:ext cx="5715000" cy="39116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Levene’s Test for Homogeneity of Variance</a:t>
            </a:r>
          </a:p>
        </p:txBody>
      </p:sp>
      <p:sp>
        <p:nvSpPr>
          <p:cNvPr id="3" name="Content Placeholder 2"/>
          <p:cNvSpPr>
            <a:spLocks noGrp="1"/>
          </p:cNvSpPr>
          <p:nvPr>
            <p:ph idx="1" sz="half"/>
          </p:nvPr>
        </p:nvSpPr>
        <p:spPr/>
        <p:txBody>
          <a:bodyPr/>
          <a:lstStyle/>
          <a:p>
            <a:pPr lvl="0" indent="0">
              <a:buNone/>
            </a:pPr>
            <a:r>
              <a:rPr>
                <a:solidFill>
                  <a:srgbClr val="003B4F"/>
                </a:solidFill>
                <a:latin typeface="Courier"/>
              </a:rPr>
              <a:t>u_levene &lt;- </a:t>
            </a:r>
            <a:r>
              <a:rPr>
                <a:solidFill>
                  <a:srgbClr val="4758AB"/>
                </a:solidFill>
                <a:latin typeface="Courier"/>
              </a:rPr>
              <a:t>leveneTest</a:t>
            </a:r>
            <a:r>
              <a:rPr>
                <a:solidFill>
                  <a:srgbClr val="003B4F"/>
                </a:solidFill>
                <a:latin typeface="Courier"/>
              </a:rPr>
              <a:t>(algae </a:t>
            </a:r>
            <a:r>
              <a:rPr>
                <a:solidFill>
                  <a:srgbClr val="5E5E5E"/>
                </a:solidFill>
                <a:latin typeface="Courier"/>
              </a:rPr>
              <a:t>~</a:t>
            </a:r>
            <a:r>
              <a:rPr>
                <a:solidFill>
                  <a:srgbClr val="003B4F"/>
                </a:solidFill>
                <a:latin typeface="Courier"/>
              </a:rPr>
              <a:t> treat, </a:t>
            </a:r>
            <a:r>
              <a:rPr>
                <a:solidFill>
                  <a:srgbClr val="657422"/>
                </a:solidFill>
                <a:latin typeface="Courier"/>
              </a:rPr>
              <a:t>data =</a:t>
            </a:r>
            <a:r>
              <a:rPr>
                <a:solidFill>
                  <a:srgbClr val="003B4F"/>
                </a:solidFill>
                <a:latin typeface="Courier"/>
              </a:rPr>
              <a:t> u_df)</a:t>
            </a:r>
            <a:br/>
            <a:r>
              <a:rPr>
                <a:solidFill>
                  <a:srgbClr val="4758AB"/>
                </a:solidFill>
                <a:latin typeface="Courier"/>
              </a:rPr>
              <a:t>cat</a:t>
            </a:r>
            <a:r>
              <a:rPr>
                <a:solidFill>
                  <a:srgbClr val="003B4F"/>
                </a:solidFill>
                <a:latin typeface="Courier"/>
              </a:rPr>
              <a:t>(</a:t>
            </a:r>
            <a:r>
              <a:rPr>
                <a:solidFill>
                  <a:srgbClr val="20794D"/>
                </a:solidFill>
                <a:latin typeface="Courier"/>
              </a:rPr>
              <a:t>"Levene's test for homogeneity of variance:</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Levene's test for homogeneity of variance:</a:t>
            </a:r>
            <a:br/>
            <a:r>
              <a:rPr>
                <a:solidFill>
                  <a:srgbClr val="003B4F"/>
                </a:solidFill>
                <a:latin typeface="Courier"/>
              </a:rPr>
              <a:t>u_levene</a:t>
            </a:r>
            <a:br/>
            <a:r>
              <a:rPr i="1">
                <a:solidFill>
                  <a:srgbClr val="5E5E5E"/>
                </a:solidFill>
                <a:latin typeface="Courier"/>
              </a:rPr>
              <a:t>## Levene's Test for Homogeneity of Variance (center = median)</a:t>
            </a:r>
            <a:br/>
            <a:r>
              <a:rPr i="1">
                <a:solidFill>
                  <a:srgbClr val="5E5E5E"/>
                </a:solidFill>
                <a:latin typeface="Courier"/>
              </a:rPr>
              <a:t>##       Df F value     Pr(&gt;F)    </a:t>
            </a:r>
            <a:br/>
            <a:r>
              <a:rPr i="1">
                <a:solidFill>
                  <a:srgbClr val="5E5E5E"/>
                </a:solidFill>
                <a:latin typeface="Courier"/>
              </a:rPr>
              <a:t>## group  3  8.1694 0.00008785 ***</a:t>
            </a:r>
            <a:br/>
            <a:r>
              <a:rPr i="1">
                <a:solidFill>
                  <a:srgbClr val="5E5E5E"/>
                </a:solidFill>
                <a:latin typeface="Courier"/>
              </a:rPr>
              <a:t>##       76                       </a:t>
            </a:r>
            <a:br/>
            <a:r>
              <a:rPr i="1">
                <a:solidFill>
                  <a:srgbClr val="5E5E5E"/>
                </a:solidFill>
                <a:latin typeface="Courier"/>
              </a:rPr>
              <a:t>## ---</a:t>
            </a:r>
            <a:br/>
            <a:r>
              <a:rPr i="1">
                <a:solidFill>
                  <a:srgbClr val="5E5E5E"/>
                </a:solidFill>
                <a:latin typeface="Courier"/>
              </a:rPr>
              <a:t>## Signif. codes:  0 '***' 0.001 '**' 0.01 '*' 0.05 '.' 0.1 ' ' 1</a:t>
            </a:r>
          </a:p>
        </p:txBody>
      </p:sp>
      <p:sp>
        <p:nvSpPr>
          <p:cNvPr id="4" name="Content Placeholder 3"/>
          <p:cNvSpPr>
            <a:spLocks noGrp="1"/>
          </p:cNvSpPr>
          <p:nvPr>
            <p:ph idx="2" sz="half"/>
          </p:nvPr>
        </p:nvSpPr>
        <p:spPr/>
        <p:txBody>
          <a:bodyPr/>
          <a:lstStyle/>
          <a:p>
            <a:pPr lvl="0" indent="0" marL="1270000">
              <a:buNone/>
            </a:pPr>
            <a:r>
              <a:rPr sz="2000" b="1"/>
              <a:t>Important</a:t>
            </a:r>
          </a:p>
          <a:p>
            <a:pPr lvl="0" indent="0" marL="1270000">
              <a:buNone/>
            </a:pPr>
            <a:r>
              <a:rPr sz="2000" b="1"/>
              <a:t>Interpreting the assumption tests</a:t>
            </a:r>
          </a:p>
          <a:p>
            <a:pPr lvl="0" indent="0" marL="1270000">
              <a:buNone/>
            </a:pPr>
            <a:r>
              <a:rPr sz="2000"/>
              <a:t>The Q-Q plot shows some deviation from normality, particularly in the tails, and Levene’s test indicates significant heterogeneity of variances across treatments (p = 0.00008785). Quinn &amp; Keough (2002) noted “large differences in within-cell variances” in this dataset, and transformations (including arcsin) did not improve variance homogeneity. However, ANOVA is generally robust to heteroscedasticity with balanced designs, which is why they analyzed untransformed data. The Residuals vs. fitted plot also shows a pattern of increasing variance with increasing fitted values, confirming the heteroscedasticity.</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Visualization — Boxplot</a:t>
            </a:r>
          </a:p>
        </p:txBody>
      </p:sp>
      <p:pic>
        <p:nvPicPr>
          <p:cNvPr descr="linear_mixed_models_lecture_files/figure-pptx/linear-mixed-models-14-1.png" id="0" name="Picture 1"/>
          <p:cNvPicPr>
            <a:picLocks noGrp="1" noChangeAspect="1"/>
          </p:cNvPicPr>
          <p:nvPr/>
        </p:nvPicPr>
        <p:blipFill>
          <a:blip r:embed="rId2"/>
          <a:stretch>
            <a:fillRect/>
          </a:stretch>
        </p:blipFill>
        <p:spPr bwMode="auto">
          <a:xfrm>
            <a:off x="2197100" y="609600"/>
            <a:ext cx="4699000" cy="39116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Visualization — Means Plot</a:t>
            </a:r>
          </a:p>
        </p:txBody>
      </p:sp>
      <p:pic>
        <p:nvPicPr>
          <p:cNvPr descr="linear_mixed_models_lecture_files/figure-pptx/linear-mixed-models-15-1.png" id="0" name="Picture 1"/>
          <p:cNvPicPr>
            <a:picLocks noGrp="1" noChangeAspect="1"/>
          </p:cNvPicPr>
          <p:nvPr/>
        </p:nvPicPr>
        <p:blipFill>
          <a:blip r:embed="rId2"/>
          <a:stretch>
            <a:fillRect/>
          </a:stretch>
        </p:blipFill>
        <p:spPr bwMode="auto">
          <a:xfrm>
            <a:off x="2171700" y="609600"/>
            <a:ext cx="4749800" cy="39116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Part 5 · Discussion and Manual Calculation</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Scientific Interpretation</a:t>
            </a:r>
          </a:p>
        </p:txBody>
      </p:sp>
      <p:sp>
        <p:nvSpPr>
          <p:cNvPr id="3" name="Content Placeholder 2"/>
          <p:cNvSpPr>
            <a:spLocks noGrp="1"/>
          </p:cNvSpPr>
          <p:nvPr>
            <p:ph idx="1"/>
          </p:nvPr>
        </p:nvSpPr>
        <p:spPr/>
        <p:txBody>
          <a:bodyPr/>
          <a:lstStyle/>
          <a:p>
            <a:pPr lvl="0" indent="0" marL="1270000">
              <a:buNone/>
            </a:pPr>
            <a:r>
              <a:rPr sz="2000" b="1"/>
              <a:t>Important</a:t>
            </a:r>
          </a:p>
          <a:p>
            <a:pPr lvl="0" indent="0" marL="1270000">
              <a:buNone/>
            </a:pPr>
            <a:r>
              <a:rPr sz="2000"/>
              <a:t>Our mixed-model analysis revealed substantial spatial heterogeneity in algae cover, with significant variation among patches within each treatment. The effect of urchin density treatments on filamentous algae cover was marginally significant at the α = 0.05 level (p = 0.043). Descriptive statistics show algae cover increasing as urchin density decreases, with None/Removed showing the highest cover (39.20%), followed by Medium/33% Density (19.00%), High/66% Density (21.55%), and Low/Control showing minimal algae cover (1.30%). The variance component for patches nested within treatments (294.31, ~39.5% of total variance) shows that spatial heterogeneity is a major structuring force in these algal communities, and needs to be accounted for when designing and analyzing ecological field experiments.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We Can Do This Manually — but Ugh</a:t>
            </a:r>
          </a:p>
        </p:txBody>
      </p:sp>
      <p:sp>
        <p:nvSpPr>
          <p:cNvPr id="3" name="Content Placeholder 2"/>
          <p:cNvSpPr>
            <a:spLocks noGrp="1"/>
          </p:cNvSpPr>
          <p:nvPr>
            <p:ph idx="1" sz="half"/>
          </p:nvPr>
        </p:nvSpPr>
        <p:spPr/>
        <p:txBody>
          <a:bodyPr/>
          <a:lstStyle/>
          <a:p>
            <a:pPr lvl="0" indent="0" marL="0">
              <a:buNone/>
            </a:pPr>
            <a:r>
              <a:rPr/>
              <a:t>Nobody would ever do this by hand in practice — but seeing it once makes the “which MS goes on the bottom of the F-ratio” logic concrete, and shows how the traditional nested-ANOVA F-ratio (last lecture) connects to the mixed-model result above.</a:t>
            </a:r>
          </a:p>
          <a:p>
            <a:pPr lvl="0" indent="0">
              <a:buNone/>
            </a:pPr>
            <a:r>
              <a:rPr>
                <a:solidFill>
                  <a:srgbClr val="003B4F"/>
                </a:solidFill>
                <a:latin typeface="Courier"/>
              </a:rPr>
              <a:t>u_man_model &lt;- </a:t>
            </a:r>
            <a:r>
              <a:rPr>
                <a:solidFill>
                  <a:srgbClr val="4758AB"/>
                </a:solidFill>
                <a:latin typeface="Courier"/>
              </a:rPr>
              <a:t>aov</a:t>
            </a:r>
            <a:r>
              <a:rPr>
                <a:solidFill>
                  <a:srgbClr val="003B4F"/>
                </a:solidFill>
                <a:latin typeface="Courier"/>
              </a:rPr>
              <a:t>(algae </a:t>
            </a:r>
            <a:r>
              <a:rPr>
                <a:solidFill>
                  <a:srgbClr val="5E5E5E"/>
                </a:solidFill>
                <a:latin typeface="Courier"/>
              </a:rPr>
              <a:t>~</a:t>
            </a:r>
            <a:r>
              <a:rPr>
                <a:solidFill>
                  <a:srgbClr val="003B4F"/>
                </a:solidFill>
                <a:latin typeface="Courier"/>
              </a:rPr>
              <a:t> treat </a:t>
            </a:r>
            <a:r>
              <a:rPr>
                <a:solidFill>
                  <a:srgbClr val="5E5E5E"/>
                </a:solidFill>
                <a:latin typeface="Courier"/>
              </a:rPr>
              <a:t>+</a:t>
            </a:r>
            <a:r>
              <a:rPr>
                <a:solidFill>
                  <a:srgbClr val="003B4F"/>
                </a:solidFill>
                <a:latin typeface="Courier"/>
              </a:rPr>
              <a:t> treat</a:t>
            </a:r>
            <a:r>
              <a:rPr>
                <a:solidFill>
                  <a:srgbClr val="5E5E5E"/>
                </a:solidFill>
                <a:latin typeface="Courier"/>
              </a:rPr>
              <a:t>:</a:t>
            </a:r>
            <a:r>
              <a:rPr>
                <a:solidFill>
                  <a:srgbClr val="003B4F"/>
                </a:solidFill>
                <a:latin typeface="Courier"/>
              </a:rPr>
              <a:t>patch, </a:t>
            </a:r>
            <a:r>
              <a:rPr>
                <a:solidFill>
                  <a:srgbClr val="657422"/>
                </a:solidFill>
                <a:latin typeface="Courier"/>
              </a:rPr>
              <a:t>data =</a:t>
            </a:r>
            <a:r>
              <a:rPr>
                <a:solidFill>
                  <a:srgbClr val="003B4F"/>
                </a:solidFill>
                <a:latin typeface="Courier"/>
              </a:rPr>
              <a:t> u_df)</a:t>
            </a:r>
            <a:br/>
            <a:r>
              <a:rPr>
                <a:solidFill>
                  <a:srgbClr val="003B4F"/>
                </a:solidFill>
                <a:latin typeface="Courier"/>
              </a:rPr>
              <a:t>u_anova_summary &lt;- </a:t>
            </a:r>
            <a:r>
              <a:rPr>
                <a:solidFill>
                  <a:srgbClr val="4758AB"/>
                </a:solidFill>
                <a:latin typeface="Courier"/>
              </a:rPr>
              <a:t>summary</a:t>
            </a:r>
            <a:r>
              <a:rPr>
                <a:solidFill>
                  <a:srgbClr val="003B4F"/>
                </a:solidFill>
                <a:latin typeface="Courier"/>
              </a:rPr>
              <a:t>(u_man_model)[[</a:t>
            </a:r>
            <a:r>
              <a:rPr>
                <a:solidFill>
                  <a:srgbClr val="AD0000"/>
                </a:solidFill>
                <a:latin typeface="Courier"/>
              </a:rPr>
              <a:t>1</a:t>
            </a:r>
            <a:r>
              <a:rPr>
                <a:solidFill>
                  <a:srgbClr val="003B4F"/>
                </a:solidFill>
                <a:latin typeface="Courier"/>
              </a:rPr>
              <a:t>]]</a:t>
            </a:r>
            <a:br/>
            <a:r>
              <a:rPr>
                <a:solidFill>
                  <a:srgbClr val="4758AB"/>
                </a:solidFill>
                <a:latin typeface="Courier"/>
              </a:rPr>
              <a:t>cat</a:t>
            </a:r>
            <a:r>
              <a:rPr>
                <a:solidFill>
                  <a:srgbClr val="003B4F"/>
                </a:solidFill>
                <a:latin typeface="Courier"/>
              </a:rPr>
              <a:t>(</a:t>
            </a:r>
            <a:r>
              <a:rPr>
                <a:solidFill>
                  <a:srgbClr val="20794D"/>
                </a:solidFill>
                <a:latin typeface="Courier"/>
              </a:rPr>
              <a:t>"Standard ANOVA table:</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Standard ANOVA table:</a:t>
            </a:r>
            <a:br/>
            <a:r>
              <a:rPr>
                <a:solidFill>
                  <a:srgbClr val="003B4F"/>
                </a:solidFill>
                <a:latin typeface="Courier"/>
              </a:rPr>
              <a:t>u_anova_summary</a:t>
            </a:r>
            <a:br/>
            <a:r>
              <a:rPr i="1">
                <a:solidFill>
                  <a:srgbClr val="5E5E5E"/>
                </a:solidFill>
                <a:latin typeface="Courier"/>
              </a:rPr>
              <a:t>##             Df Sum Sq Mean Sq F value        Pr(&gt;F)    </a:t>
            </a:r>
            <a:br/>
            <a:r>
              <a:rPr i="1">
                <a:solidFill>
                  <a:srgbClr val="5E5E5E"/>
                </a:solidFill>
                <a:latin typeface="Courier"/>
              </a:rPr>
              <a:t>## treat        3  14429  4809.7 16.1075 0.00000006579 ***</a:t>
            </a:r>
            <a:br/>
            <a:r>
              <a:rPr i="1">
                <a:solidFill>
                  <a:srgbClr val="5E5E5E"/>
                </a:solidFill>
                <a:latin typeface="Courier"/>
              </a:rPr>
              <a:t>## treat:patch 12  21242  1770.2  5.9282 0.00000083226 ***</a:t>
            </a:r>
            <a:br/>
            <a:r>
              <a:rPr i="1">
                <a:solidFill>
                  <a:srgbClr val="5E5E5E"/>
                </a:solidFill>
                <a:latin typeface="Courier"/>
              </a:rPr>
              <a:t>## Residuals   64  19110   298.6                          </a:t>
            </a:r>
            <a:br/>
            <a:r>
              <a:rPr i="1">
                <a:solidFill>
                  <a:srgbClr val="5E5E5E"/>
                </a:solidFill>
                <a:latin typeface="Courier"/>
              </a:rPr>
              <a:t>## ---</a:t>
            </a:r>
            <a:br/>
            <a:r>
              <a:rPr i="1">
                <a:solidFill>
                  <a:srgbClr val="5E5E5E"/>
                </a:solidFill>
                <a:latin typeface="Courier"/>
              </a:rPr>
              <a:t>## Signif. codes:  0 '***' 0.001 '**' 0.01 '*' 0.05 '.' 0.1 ' ' 1</a:t>
            </a:r>
          </a:p>
          <a:p>
            <a:pPr lvl="0" indent="0">
              <a:buNone/>
            </a:pPr>
            <a:r>
              <a:rPr>
                <a:solidFill>
                  <a:srgbClr val="003B4F"/>
                </a:solidFill>
                <a:latin typeface="Courier"/>
              </a:rPr>
              <a:t>u_MS_treat &lt;- u_anova_summary[</a:t>
            </a:r>
            <a:r>
              <a:rPr>
                <a:solidFill>
                  <a:srgbClr val="AD0000"/>
                </a:solidFill>
                <a:latin typeface="Courier"/>
              </a:rPr>
              <a:t>1</a:t>
            </a:r>
            <a:r>
              <a:rPr>
                <a:solidFill>
                  <a:srgbClr val="003B4F"/>
                </a:solidFill>
                <a:latin typeface="Courier"/>
              </a:rPr>
              <a:t>, </a:t>
            </a:r>
            <a:r>
              <a:rPr>
                <a:solidFill>
                  <a:srgbClr val="20794D"/>
                </a:solidFill>
                <a:latin typeface="Courier"/>
              </a:rPr>
              <a:t>"Mean Sq"</a:t>
            </a:r>
            <a:r>
              <a:rPr>
                <a:solidFill>
                  <a:srgbClr val="003B4F"/>
                </a:solidFill>
                <a:latin typeface="Courier"/>
              </a:rPr>
              <a:t>]</a:t>
            </a:r>
            <a:br/>
            <a:r>
              <a:rPr>
                <a:solidFill>
                  <a:srgbClr val="003B4F"/>
                </a:solidFill>
                <a:latin typeface="Courier"/>
              </a:rPr>
              <a:t>u_MS_patch &lt;- u_anova_summary[</a:t>
            </a:r>
            <a:r>
              <a:rPr>
                <a:solidFill>
                  <a:srgbClr val="AD0000"/>
                </a:solidFill>
                <a:latin typeface="Courier"/>
              </a:rPr>
              <a:t>2</a:t>
            </a:r>
            <a:r>
              <a:rPr>
                <a:solidFill>
                  <a:srgbClr val="003B4F"/>
                </a:solidFill>
                <a:latin typeface="Courier"/>
              </a:rPr>
              <a:t>, </a:t>
            </a:r>
            <a:r>
              <a:rPr>
                <a:solidFill>
                  <a:srgbClr val="20794D"/>
                </a:solidFill>
                <a:latin typeface="Courier"/>
              </a:rPr>
              <a:t>"Mean Sq"</a:t>
            </a:r>
            <a:r>
              <a:rPr>
                <a:solidFill>
                  <a:srgbClr val="003B4F"/>
                </a:solidFill>
                <a:latin typeface="Courier"/>
              </a:rPr>
              <a:t>]</a:t>
            </a:r>
            <a:br/>
            <a:r>
              <a:rPr>
                <a:solidFill>
                  <a:srgbClr val="003B4F"/>
                </a:solidFill>
                <a:latin typeface="Courier"/>
              </a:rPr>
              <a:t>u_MS_residual &lt;- u_anova_summary[</a:t>
            </a:r>
            <a:r>
              <a:rPr>
                <a:solidFill>
                  <a:srgbClr val="AD0000"/>
                </a:solidFill>
                <a:latin typeface="Courier"/>
              </a:rPr>
              <a:t>3</a:t>
            </a:r>
            <a:r>
              <a:rPr>
                <a:solidFill>
                  <a:srgbClr val="003B4F"/>
                </a:solidFill>
                <a:latin typeface="Courier"/>
              </a:rPr>
              <a:t>, </a:t>
            </a:r>
            <a:r>
              <a:rPr>
                <a:solidFill>
                  <a:srgbClr val="20794D"/>
                </a:solidFill>
                <a:latin typeface="Courier"/>
              </a:rPr>
              <a:t>"Mean Sq"</a:t>
            </a:r>
            <a:r>
              <a:rPr>
                <a:solidFill>
                  <a:srgbClr val="003B4F"/>
                </a:solidFill>
                <a:latin typeface="Courier"/>
              </a:rPr>
              <a:t>]</a:t>
            </a:r>
            <a:br/>
            <a:br/>
            <a:r>
              <a:rPr>
                <a:solidFill>
                  <a:srgbClr val="003B4F"/>
                </a:solidFill>
                <a:latin typeface="Courier"/>
              </a:rPr>
              <a:t>u_df_treat &lt;- u_anova_summary[</a:t>
            </a:r>
            <a:r>
              <a:rPr>
                <a:solidFill>
                  <a:srgbClr val="AD0000"/>
                </a:solidFill>
                <a:latin typeface="Courier"/>
              </a:rPr>
              <a:t>1</a:t>
            </a:r>
            <a:r>
              <a:rPr>
                <a:solidFill>
                  <a:srgbClr val="003B4F"/>
                </a:solidFill>
                <a:latin typeface="Courier"/>
              </a:rPr>
              <a:t>, </a:t>
            </a:r>
            <a:r>
              <a:rPr>
                <a:solidFill>
                  <a:srgbClr val="20794D"/>
                </a:solidFill>
                <a:latin typeface="Courier"/>
              </a:rPr>
              <a:t>"Df"</a:t>
            </a:r>
            <a:r>
              <a:rPr>
                <a:solidFill>
                  <a:srgbClr val="003B4F"/>
                </a:solidFill>
                <a:latin typeface="Courier"/>
              </a:rPr>
              <a:t>]</a:t>
            </a:r>
            <a:br/>
            <a:r>
              <a:rPr>
                <a:solidFill>
                  <a:srgbClr val="003B4F"/>
                </a:solidFill>
                <a:latin typeface="Courier"/>
              </a:rPr>
              <a:t>u_df_patch &lt;- u_anova_summary[</a:t>
            </a:r>
            <a:r>
              <a:rPr>
                <a:solidFill>
                  <a:srgbClr val="AD0000"/>
                </a:solidFill>
                <a:latin typeface="Courier"/>
              </a:rPr>
              <a:t>2</a:t>
            </a:r>
            <a:r>
              <a:rPr>
                <a:solidFill>
                  <a:srgbClr val="003B4F"/>
                </a:solidFill>
                <a:latin typeface="Courier"/>
              </a:rPr>
              <a:t>, </a:t>
            </a:r>
            <a:r>
              <a:rPr>
                <a:solidFill>
                  <a:srgbClr val="20794D"/>
                </a:solidFill>
                <a:latin typeface="Courier"/>
              </a:rPr>
              <a:t>"Df"</a:t>
            </a:r>
            <a:r>
              <a:rPr>
                <a:solidFill>
                  <a:srgbClr val="003B4F"/>
                </a:solidFill>
                <a:latin typeface="Courier"/>
              </a:rPr>
              <a:t>]</a:t>
            </a:r>
            <a:br/>
            <a:r>
              <a:rPr>
                <a:solidFill>
                  <a:srgbClr val="003B4F"/>
                </a:solidFill>
                <a:latin typeface="Courier"/>
              </a:rPr>
              <a:t>u_df_residual &lt;- u_anova_summary[</a:t>
            </a:r>
            <a:r>
              <a:rPr>
                <a:solidFill>
                  <a:srgbClr val="AD0000"/>
                </a:solidFill>
                <a:latin typeface="Courier"/>
              </a:rPr>
              <a:t>3</a:t>
            </a:r>
            <a:r>
              <a:rPr>
                <a:solidFill>
                  <a:srgbClr val="003B4F"/>
                </a:solidFill>
                <a:latin typeface="Courier"/>
              </a:rPr>
              <a:t>, </a:t>
            </a:r>
            <a:r>
              <a:rPr>
                <a:solidFill>
                  <a:srgbClr val="20794D"/>
                </a:solidFill>
                <a:latin typeface="Courier"/>
              </a:rPr>
              <a:t>"Df"</a:t>
            </a:r>
            <a:r>
              <a:rPr>
                <a:solidFill>
                  <a:srgbClr val="003B4F"/>
                </a:solidFill>
                <a:latin typeface="Courier"/>
              </a:rPr>
              <a:t>]</a:t>
            </a:r>
            <a:br/>
            <a:br/>
            <a:r>
              <a:rPr>
                <a:solidFill>
                  <a:srgbClr val="4758AB"/>
                </a:solidFill>
                <a:latin typeface="Courier"/>
              </a:rPr>
              <a:t>cat</a:t>
            </a:r>
            <a:r>
              <a:rPr>
                <a:solidFill>
                  <a:srgbClr val="003B4F"/>
                </a:solidFill>
                <a:latin typeface="Courier"/>
              </a:rPr>
              <a:t>(</a:t>
            </a:r>
            <a:r>
              <a:rPr>
                <a:solidFill>
                  <a:srgbClr val="20794D"/>
                </a:solidFill>
                <a:latin typeface="Courier"/>
              </a:rPr>
              <a:t>"MS Treatment:"</a:t>
            </a:r>
            <a:r>
              <a:rPr>
                <a:solidFill>
                  <a:srgbClr val="003B4F"/>
                </a:solidFill>
                <a:latin typeface="Courier"/>
              </a:rPr>
              <a:t>, u_MS_treat,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br/>
            <a:r>
              <a:rPr i="1">
                <a:solidFill>
                  <a:srgbClr val="5E5E5E"/>
                </a:solidFill>
                <a:latin typeface="Courier"/>
              </a:rPr>
              <a:t>## MS Treatment: 4809.712</a:t>
            </a:r>
            <a:br/>
            <a:r>
              <a:rPr>
                <a:solidFill>
                  <a:srgbClr val="4758AB"/>
                </a:solidFill>
                <a:latin typeface="Courier"/>
              </a:rPr>
              <a:t>cat</a:t>
            </a:r>
            <a:r>
              <a:rPr>
                <a:solidFill>
                  <a:srgbClr val="003B4F"/>
                </a:solidFill>
                <a:latin typeface="Courier"/>
              </a:rPr>
              <a:t>(</a:t>
            </a:r>
            <a:r>
              <a:rPr>
                <a:solidFill>
                  <a:srgbClr val="20794D"/>
                </a:solidFill>
                <a:latin typeface="Courier"/>
              </a:rPr>
              <a:t>"MS Patch(Treatment):"</a:t>
            </a:r>
            <a:r>
              <a:rPr>
                <a:solidFill>
                  <a:srgbClr val="003B4F"/>
                </a:solidFill>
                <a:latin typeface="Courier"/>
              </a:rPr>
              <a:t>, u_MS_patch,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br/>
            <a:r>
              <a:rPr i="1">
                <a:solidFill>
                  <a:srgbClr val="5E5E5E"/>
                </a:solidFill>
                <a:latin typeface="Courier"/>
              </a:rPr>
              <a:t>## MS Patch(Treatment): 1770.163</a:t>
            </a:r>
            <a:br/>
            <a:r>
              <a:rPr>
                <a:solidFill>
                  <a:srgbClr val="4758AB"/>
                </a:solidFill>
                <a:latin typeface="Courier"/>
              </a:rPr>
              <a:t>cat</a:t>
            </a:r>
            <a:r>
              <a:rPr>
                <a:solidFill>
                  <a:srgbClr val="003B4F"/>
                </a:solidFill>
                <a:latin typeface="Courier"/>
              </a:rPr>
              <a:t>(</a:t>
            </a:r>
            <a:r>
              <a:rPr>
                <a:solidFill>
                  <a:srgbClr val="20794D"/>
                </a:solidFill>
                <a:latin typeface="Courier"/>
              </a:rPr>
              <a:t>"MS Residual:"</a:t>
            </a:r>
            <a:r>
              <a:rPr>
                <a:solidFill>
                  <a:srgbClr val="003B4F"/>
                </a:solidFill>
                <a:latin typeface="Courier"/>
              </a:rPr>
              <a:t>, u_MS_residual, </a:t>
            </a:r>
            <a:r>
              <a:rPr>
                <a:solidFill>
                  <a:srgbClr val="20794D"/>
                </a:solidFill>
                <a:latin typeface="Courier"/>
              </a:rPr>
              <a:t>"</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MS Residual: 298.6</a:t>
            </a:r>
          </a:p>
        </p:txBody>
      </p:sp>
      <p:sp>
        <p:nvSpPr>
          <p:cNvPr id="4" name="Content Placeholder 3"/>
          <p:cNvSpPr>
            <a:spLocks noGrp="1"/>
          </p:cNvSpPr>
          <p:nvPr>
            <p:ph idx="2" sz="half"/>
          </p:nvPr>
        </p:nvSpPr>
        <p:spPr/>
        <p:txBody>
          <a:bodyPr/>
          <a:lstStyle/>
          <a:p>
            <a:pPr lvl="0" indent="0">
              <a:buNone/>
            </a:pPr>
            <a:r>
              <a:rPr>
                <a:solidFill>
                  <a:srgbClr val="003B4F"/>
                </a:solidFill>
                <a:latin typeface="Courier"/>
              </a:rPr>
              <a:t>u_F_treat_correct &lt;- u_MS_treat </a:t>
            </a:r>
            <a:r>
              <a:rPr>
                <a:solidFill>
                  <a:srgbClr val="5E5E5E"/>
                </a:solidFill>
                <a:latin typeface="Courier"/>
              </a:rPr>
              <a:t>/</a:t>
            </a:r>
            <a:r>
              <a:rPr>
                <a:solidFill>
                  <a:srgbClr val="003B4F"/>
                </a:solidFill>
                <a:latin typeface="Courier"/>
              </a:rPr>
              <a:t> u_MS_patch        </a:t>
            </a:r>
            <a:r>
              <a:rPr>
                <a:solidFill>
                  <a:srgbClr val="5E5E5E"/>
                </a:solidFill>
                <a:latin typeface="Courier"/>
              </a:rPr>
              <a:t># Treatment tested against patches</a:t>
            </a:r>
            <a:br/>
            <a:r>
              <a:rPr>
                <a:solidFill>
                  <a:srgbClr val="003B4F"/>
                </a:solidFill>
                <a:latin typeface="Courier"/>
              </a:rPr>
              <a:t>u_F_patch &lt;- u_MS_patch </a:t>
            </a:r>
            <a:r>
              <a:rPr>
                <a:solidFill>
                  <a:srgbClr val="5E5E5E"/>
                </a:solidFill>
                <a:latin typeface="Courier"/>
              </a:rPr>
              <a:t>/</a:t>
            </a:r>
            <a:r>
              <a:rPr>
                <a:solidFill>
                  <a:srgbClr val="003B4F"/>
                </a:solidFill>
                <a:latin typeface="Courier"/>
              </a:rPr>
              <a:t> u_MS_residual             </a:t>
            </a:r>
            <a:r>
              <a:rPr>
                <a:solidFill>
                  <a:srgbClr val="5E5E5E"/>
                </a:solidFill>
                <a:latin typeface="Courier"/>
              </a:rPr>
              <a:t># Patches tested against residual</a:t>
            </a:r>
            <a:br/>
            <a:br/>
            <a:r>
              <a:rPr>
                <a:solidFill>
                  <a:srgbClr val="4758AB"/>
                </a:solidFill>
                <a:latin typeface="Courier"/>
              </a:rPr>
              <a:t>cat</a:t>
            </a:r>
            <a:r>
              <a:rPr>
                <a:solidFill>
                  <a:srgbClr val="003B4F"/>
                </a:solidFill>
                <a:latin typeface="Courier"/>
              </a:rPr>
              <a:t>(</a:t>
            </a:r>
            <a:r>
              <a:rPr>
                <a:solidFill>
                  <a:srgbClr val="20794D"/>
                </a:solidFill>
                <a:latin typeface="Courier"/>
              </a:rPr>
              <a:t>"F Treatment:"</a:t>
            </a:r>
            <a:r>
              <a:rPr>
                <a:solidFill>
                  <a:srgbClr val="003B4F"/>
                </a:solidFill>
                <a:latin typeface="Courier"/>
              </a:rPr>
              <a:t>, u_F_treat_correct, </a:t>
            </a:r>
            <a:r>
              <a:rPr>
                <a:solidFill>
                  <a:srgbClr val="20794D"/>
                </a:solidFill>
                <a:latin typeface="Courier"/>
              </a:rPr>
              <a:t>"</a:t>
            </a:r>
            <a:r>
              <a:rPr>
                <a:solidFill>
                  <a:srgbClr val="5E5E5E"/>
                </a:solidFill>
                <a:latin typeface="Courier"/>
              </a:rPr>
              <a:t>\n</a:t>
            </a:r>
            <a:r>
              <a:rPr>
                <a:solidFill>
                  <a:srgbClr val="20794D"/>
                </a:solidFill>
                <a:latin typeface="Courier"/>
              </a:rPr>
              <a:t>"</a:t>
            </a:r>
            <a:r>
              <a:rPr>
                <a:solidFill>
                  <a:srgbClr val="003B4F"/>
                </a:solidFill>
                <a:latin typeface="Courier"/>
              </a:rPr>
              <a:t>)</a:t>
            </a:r>
            <a:br/>
            <a:r>
              <a:rPr i="1">
                <a:solidFill>
                  <a:srgbClr val="5E5E5E"/>
                </a:solidFill>
                <a:latin typeface="Courier"/>
              </a:rPr>
              <a:t>## F Treatment: 2.717102</a:t>
            </a:r>
            <a:br/>
            <a:r>
              <a:rPr>
                <a:solidFill>
                  <a:srgbClr val="4758AB"/>
                </a:solidFill>
                <a:latin typeface="Courier"/>
              </a:rPr>
              <a:t>cat</a:t>
            </a:r>
            <a:r>
              <a:rPr>
                <a:solidFill>
                  <a:srgbClr val="003B4F"/>
                </a:solidFill>
                <a:latin typeface="Courier"/>
              </a:rPr>
              <a:t>(</a:t>
            </a:r>
            <a:r>
              <a:rPr>
                <a:solidFill>
                  <a:srgbClr val="20794D"/>
                </a:solidFill>
                <a:latin typeface="Courier"/>
              </a:rPr>
              <a:t>"F Patch(Treatment):"</a:t>
            </a:r>
            <a:r>
              <a:rPr>
                <a:solidFill>
                  <a:srgbClr val="003B4F"/>
                </a:solidFill>
                <a:latin typeface="Courier"/>
              </a:rPr>
              <a:t>, u_F_patch, </a:t>
            </a:r>
            <a:r>
              <a:rPr>
                <a:solidFill>
                  <a:srgbClr val="20794D"/>
                </a:solidFill>
                <a:latin typeface="Courier"/>
              </a:rPr>
              <a:t>"</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F Patch(Treatment): 5.928207</a:t>
            </a:r>
          </a:p>
          <a:p>
            <a:pPr lvl="0" indent="0">
              <a:buNone/>
            </a:pPr>
            <a:r>
              <a:rPr>
                <a:solidFill>
                  <a:srgbClr val="003B4F"/>
                </a:solidFill>
                <a:latin typeface="Courier"/>
              </a:rPr>
              <a:t>u_p_treat_correct &lt;- </a:t>
            </a:r>
            <a:r>
              <a:rPr>
                <a:solidFill>
                  <a:srgbClr val="4758AB"/>
                </a:solidFill>
                <a:latin typeface="Courier"/>
              </a:rPr>
              <a:t>pf</a:t>
            </a:r>
            <a:r>
              <a:rPr>
                <a:solidFill>
                  <a:srgbClr val="003B4F"/>
                </a:solidFill>
                <a:latin typeface="Courier"/>
              </a:rPr>
              <a:t>(u_F_treat_correct, u_df_treat, u_df_patch, </a:t>
            </a:r>
            <a:r>
              <a:rPr>
                <a:solidFill>
                  <a:srgbClr val="657422"/>
                </a:solidFill>
                <a:latin typeface="Courier"/>
              </a:rPr>
              <a:t>lower.tail =</a:t>
            </a:r>
            <a:r>
              <a:rPr>
                <a:solidFill>
                  <a:srgbClr val="003B4F"/>
                </a:solidFill>
                <a:latin typeface="Courier"/>
              </a:rPr>
              <a:t> </a:t>
            </a:r>
            <a:r>
              <a:rPr>
                <a:solidFill>
                  <a:srgbClr val="8F5902"/>
                </a:solidFill>
                <a:latin typeface="Courier"/>
              </a:rPr>
              <a:t>FALSE</a:t>
            </a:r>
            <a:r>
              <a:rPr>
                <a:solidFill>
                  <a:srgbClr val="003B4F"/>
                </a:solidFill>
                <a:latin typeface="Courier"/>
              </a:rPr>
              <a:t>)</a:t>
            </a:r>
            <a:br/>
            <a:r>
              <a:rPr>
                <a:solidFill>
                  <a:srgbClr val="003B4F"/>
                </a:solidFill>
                <a:latin typeface="Courier"/>
              </a:rPr>
              <a:t>u_p_patch &lt;- </a:t>
            </a:r>
            <a:r>
              <a:rPr>
                <a:solidFill>
                  <a:srgbClr val="4758AB"/>
                </a:solidFill>
                <a:latin typeface="Courier"/>
              </a:rPr>
              <a:t>pf</a:t>
            </a:r>
            <a:r>
              <a:rPr>
                <a:solidFill>
                  <a:srgbClr val="003B4F"/>
                </a:solidFill>
                <a:latin typeface="Courier"/>
              </a:rPr>
              <a:t>(u_F_patch, u_df_patch, u_df_residual, </a:t>
            </a:r>
            <a:r>
              <a:rPr>
                <a:solidFill>
                  <a:srgbClr val="657422"/>
                </a:solidFill>
                <a:latin typeface="Courier"/>
              </a:rPr>
              <a:t>lower.tail =</a:t>
            </a:r>
            <a:r>
              <a:rPr>
                <a:solidFill>
                  <a:srgbClr val="003B4F"/>
                </a:solidFill>
                <a:latin typeface="Courier"/>
              </a:rPr>
              <a:t> </a:t>
            </a:r>
            <a:r>
              <a:rPr>
                <a:solidFill>
                  <a:srgbClr val="8F5902"/>
                </a:solidFill>
                <a:latin typeface="Courier"/>
              </a:rPr>
              <a:t>FALSE</a:t>
            </a:r>
            <a:r>
              <a:rPr>
                <a:solidFill>
                  <a:srgbClr val="003B4F"/>
                </a:solidFill>
                <a:latin typeface="Courier"/>
              </a:rPr>
              <a:t>)</a:t>
            </a:r>
            <a:br/>
            <a:br/>
            <a:r>
              <a:rPr>
                <a:solidFill>
                  <a:srgbClr val="003B4F"/>
                </a:solidFill>
                <a:latin typeface="Courier"/>
              </a:rPr>
              <a:t>u_corrected_table &lt;- </a:t>
            </a:r>
            <a:r>
              <a:rPr>
                <a:solidFill>
                  <a:srgbClr val="4758AB"/>
                </a:solidFill>
                <a:latin typeface="Courier"/>
              </a:rPr>
              <a:t>data.frame</a:t>
            </a:r>
            <a:r>
              <a:rPr>
                <a:solidFill>
                  <a:srgbClr val="003B4F"/>
                </a:solidFill>
                <a:latin typeface="Courier"/>
              </a:rPr>
              <a:t>(</a:t>
            </a:r>
            <a:br/>
            <a:r>
              <a:rPr>
                <a:solidFill>
                  <a:srgbClr val="003B4F"/>
                </a:solidFill>
                <a:latin typeface="Courier"/>
              </a:rPr>
              <a:t>  </a:t>
            </a:r>
            <a:r>
              <a:rPr>
                <a:solidFill>
                  <a:srgbClr val="657422"/>
                </a:solidFill>
                <a:latin typeface="Courier"/>
              </a:rPr>
              <a:t>Source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20794D"/>
                </a:solidFill>
                <a:latin typeface="Courier"/>
              </a:rPr>
              <a:t>"Treatment"</a:t>
            </a:r>
            <a:r>
              <a:rPr>
                <a:solidFill>
                  <a:srgbClr val="003B4F"/>
                </a:solidFill>
                <a:latin typeface="Courier"/>
              </a:rPr>
              <a:t>, </a:t>
            </a:r>
            <a:r>
              <a:rPr>
                <a:solidFill>
                  <a:srgbClr val="20794D"/>
                </a:solidFill>
                <a:latin typeface="Courier"/>
              </a:rPr>
              <a:t>"Patches(Treatment)"</a:t>
            </a:r>
            <a:r>
              <a:rPr>
                <a:solidFill>
                  <a:srgbClr val="003B4F"/>
                </a:solidFill>
                <a:latin typeface="Courier"/>
              </a:rPr>
              <a:t>, </a:t>
            </a:r>
            <a:r>
              <a:rPr>
                <a:solidFill>
                  <a:srgbClr val="20794D"/>
                </a:solidFill>
                <a:latin typeface="Courier"/>
              </a:rPr>
              <a:t>"Residual"</a:t>
            </a:r>
            <a:r>
              <a:rPr>
                <a:solidFill>
                  <a:srgbClr val="003B4F"/>
                </a:solidFill>
                <a:latin typeface="Courier"/>
              </a:rPr>
              <a:t>),</a:t>
            </a:r>
            <a:br/>
            <a:r>
              <a:rPr>
                <a:solidFill>
                  <a:srgbClr val="003B4F"/>
                </a:solidFill>
                <a:latin typeface="Courier"/>
              </a:rPr>
              <a:t>  </a:t>
            </a:r>
            <a:r>
              <a:rPr>
                <a:solidFill>
                  <a:srgbClr val="657422"/>
                </a:solidFill>
                <a:latin typeface="Courier"/>
              </a:rPr>
              <a:t>Df =</a:t>
            </a:r>
            <a:r>
              <a:rPr>
                <a:solidFill>
                  <a:srgbClr val="003B4F"/>
                </a:solidFill>
                <a:latin typeface="Courier"/>
              </a:rPr>
              <a:t> </a:t>
            </a:r>
            <a:r>
              <a:rPr>
                <a:solidFill>
                  <a:srgbClr val="4758AB"/>
                </a:solidFill>
                <a:latin typeface="Courier"/>
              </a:rPr>
              <a:t>c</a:t>
            </a:r>
            <a:r>
              <a:rPr>
                <a:solidFill>
                  <a:srgbClr val="003B4F"/>
                </a:solidFill>
                <a:latin typeface="Courier"/>
              </a:rPr>
              <a:t>(u_df_treat, u_df_patch, u_df_residual),</a:t>
            </a:r>
            <a:br/>
            <a:r>
              <a:rPr>
                <a:solidFill>
                  <a:srgbClr val="003B4F"/>
                </a:solidFill>
                <a:latin typeface="Courier"/>
              </a:rPr>
              <a:t>  </a:t>
            </a:r>
            <a:r>
              <a:rPr>
                <a:solidFill>
                  <a:srgbClr val="657422"/>
                </a:solidFill>
                <a:latin typeface="Courier"/>
              </a:rPr>
              <a:t>MS =</a:t>
            </a:r>
            <a:r>
              <a:rPr>
                <a:solidFill>
                  <a:srgbClr val="003B4F"/>
                </a:solidFill>
                <a:latin typeface="Courier"/>
              </a:rPr>
              <a:t> </a:t>
            </a:r>
            <a:r>
              <a:rPr>
                <a:solidFill>
                  <a:srgbClr val="4758AB"/>
                </a:solidFill>
                <a:latin typeface="Courier"/>
              </a:rPr>
              <a:t>round</a:t>
            </a:r>
            <a:r>
              <a:rPr>
                <a:solidFill>
                  <a:srgbClr val="003B4F"/>
                </a:solidFill>
                <a:latin typeface="Courier"/>
              </a:rPr>
              <a:t>(</a:t>
            </a:r>
            <a:r>
              <a:rPr>
                <a:solidFill>
                  <a:srgbClr val="4758AB"/>
                </a:solidFill>
                <a:latin typeface="Courier"/>
              </a:rPr>
              <a:t>c</a:t>
            </a:r>
            <a:r>
              <a:rPr>
                <a:solidFill>
                  <a:srgbClr val="003B4F"/>
                </a:solidFill>
                <a:latin typeface="Courier"/>
              </a:rPr>
              <a:t>(u_MS_treat, u_MS_patch, u_MS_residual), </a:t>
            </a:r>
            <a:r>
              <a:rPr>
                <a:solidFill>
                  <a:srgbClr val="AD0000"/>
                </a:solidFill>
                <a:latin typeface="Courier"/>
              </a:rPr>
              <a:t>1</a:t>
            </a:r>
            <a:r>
              <a:rPr>
                <a:solidFill>
                  <a:srgbClr val="003B4F"/>
                </a:solidFill>
                <a:latin typeface="Courier"/>
              </a:rPr>
              <a:t>),</a:t>
            </a:r>
            <a:br/>
            <a:r>
              <a:rPr>
                <a:solidFill>
                  <a:srgbClr val="003B4F"/>
                </a:solidFill>
                <a:latin typeface="Courier"/>
              </a:rPr>
              <a:t>  </a:t>
            </a:r>
            <a:r>
              <a:rPr>
                <a:solidFill>
                  <a:srgbClr val="657422"/>
                </a:solidFill>
                <a:latin typeface="Courier"/>
              </a:rPr>
              <a:t>F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4758AB"/>
                </a:solidFill>
                <a:latin typeface="Courier"/>
              </a:rPr>
              <a:t>round</a:t>
            </a:r>
            <a:r>
              <a:rPr>
                <a:solidFill>
                  <a:srgbClr val="003B4F"/>
                </a:solidFill>
                <a:latin typeface="Courier"/>
              </a:rPr>
              <a:t>(u_F_treat_correct, </a:t>
            </a:r>
            <a:r>
              <a:rPr>
                <a:solidFill>
                  <a:srgbClr val="AD0000"/>
                </a:solidFill>
                <a:latin typeface="Courier"/>
              </a:rPr>
              <a:t>2</a:t>
            </a:r>
            <a:r>
              <a:rPr>
                <a:solidFill>
                  <a:srgbClr val="003B4F"/>
                </a:solidFill>
                <a:latin typeface="Courier"/>
              </a:rPr>
              <a:t>), </a:t>
            </a:r>
            <a:r>
              <a:rPr>
                <a:solidFill>
                  <a:srgbClr val="4758AB"/>
                </a:solidFill>
                <a:latin typeface="Courier"/>
              </a:rPr>
              <a:t>round</a:t>
            </a:r>
            <a:r>
              <a:rPr>
                <a:solidFill>
                  <a:srgbClr val="003B4F"/>
                </a:solidFill>
                <a:latin typeface="Courier"/>
              </a:rPr>
              <a:t>(u_F_patch, </a:t>
            </a:r>
            <a:r>
              <a:rPr>
                <a:solidFill>
                  <a:srgbClr val="AD0000"/>
                </a:solidFill>
                <a:latin typeface="Courier"/>
              </a:rPr>
              <a:t>2</a:t>
            </a:r>
            <a:r>
              <a:rPr>
                <a:solidFill>
                  <a:srgbClr val="003B4F"/>
                </a:solidFill>
                <a:latin typeface="Courier"/>
              </a:rPr>
              <a:t>), </a:t>
            </a:r>
            <a:r>
              <a:rPr>
                <a:solidFill>
                  <a:srgbClr val="8F5902"/>
                </a:solidFill>
                <a:latin typeface="Courier"/>
              </a:rPr>
              <a:t>NA</a:t>
            </a:r>
            <a:r>
              <a:rPr>
                <a:solidFill>
                  <a:srgbClr val="003B4F"/>
                </a:solidFill>
                <a:latin typeface="Courier"/>
              </a:rPr>
              <a:t>),</a:t>
            </a:r>
            <a:br/>
            <a:r>
              <a:rPr>
                <a:solidFill>
                  <a:srgbClr val="003B4F"/>
                </a:solidFill>
                <a:latin typeface="Courier"/>
              </a:rPr>
              <a:t>  </a:t>
            </a:r>
            <a:r>
              <a:rPr>
                <a:solidFill>
                  <a:srgbClr val="657422"/>
                </a:solidFill>
                <a:latin typeface="Courier"/>
              </a:rPr>
              <a:t>p =</a:t>
            </a:r>
            <a:r>
              <a:rPr>
                <a:solidFill>
                  <a:srgbClr val="003B4F"/>
                </a:solidFill>
                <a:latin typeface="Courier"/>
              </a:rPr>
              <a:t> </a:t>
            </a:r>
            <a:r>
              <a:rPr>
                <a:solidFill>
                  <a:srgbClr val="4758AB"/>
                </a:solidFill>
                <a:latin typeface="Courier"/>
              </a:rPr>
              <a:t>c</a:t>
            </a:r>
            <a:r>
              <a:rPr>
                <a:solidFill>
                  <a:srgbClr val="003B4F"/>
                </a:solidFill>
                <a:latin typeface="Courier"/>
              </a:rPr>
              <a:t>(</a:t>
            </a:r>
            <a:r>
              <a:rPr>
                <a:solidFill>
                  <a:srgbClr val="4758AB"/>
                </a:solidFill>
                <a:latin typeface="Courier"/>
              </a:rPr>
              <a:t>ifelse</a:t>
            </a:r>
            <a:r>
              <a:rPr>
                <a:solidFill>
                  <a:srgbClr val="003B4F"/>
                </a:solidFill>
                <a:latin typeface="Courier"/>
              </a:rPr>
              <a:t>(u_p_treat_correct </a:t>
            </a:r>
            <a:r>
              <a:rPr>
                <a:solidFill>
                  <a:srgbClr val="5E5E5E"/>
                </a:solidFill>
                <a:latin typeface="Courier"/>
              </a:rPr>
              <a:t>&lt;</a:t>
            </a:r>
            <a:r>
              <a:rPr>
                <a:solidFill>
                  <a:srgbClr val="003B4F"/>
                </a:solidFill>
                <a:latin typeface="Courier"/>
              </a:rPr>
              <a:t> </a:t>
            </a:r>
            <a:r>
              <a:rPr>
                <a:solidFill>
                  <a:srgbClr val="AD0000"/>
                </a:solidFill>
                <a:latin typeface="Courier"/>
              </a:rPr>
              <a:t>0.001</a:t>
            </a:r>
            <a:r>
              <a:rPr>
                <a:solidFill>
                  <a:srgbClr val="003B4F"/>
                </a:solidFill>
                <a:latin typeface="Courier"/>
              </a:rPr>
              <a:t>, </a:t>
            </a:r>
            <a:r>
              <a:rPr>
                <a:solidFill>
                  <a:srgbClr val="20794D"/>
                </a:solidFill>
                <a:latin typeface="Courier"/>
              </a:rPr>
              <a:t>"&lt;0.001"</a:t>
            </a:r>
            <a:r>
              <a:rPr>
                <a:solidFill>
                  <a:srgbClr val="003B4F"/>
                </a:solidFill>
                <a:latin typeface="Courier"/>
              </a:rPr>
              <a:t>, </a:t>
            </a:r>
            <a:r>
              <a:rPr>
                <a:solidFill>
                  <a:srgbClr val="4758AB"/>
                </a:solidFill>
                <a:latin typeface="Courier"/>
              </a:rPr>
              <a:t>round</a:t>
            </a:r>
            <a:r>
              <a:rPr>
                <a:solidFill>
                  <a:srgbClr val="003B4F"/>
                </a:solidFill>
                <a:latin typeface="Courier"/>
              </a:rPr>
              <a:t>(u_p_treat_correct, </a:t>
            </a:r>
            <a:r>
              <a:rPr>
                <a:solidFill>
                  <a:srgbClr val="AD0000"/>
                </a:solidFill>
                <a:latin typeface="Courier"/>
              </a:rPr>
              <a:t>3</a:t>
            </a:r>
            <a:r>
              <a:rPr>
                <a:solidFill>
                  <a:srgbClr val="003B4F"/>
                </a:solidFill>
                <a:latin typeface="Courier"/>
              </a:rPr>
              <a:t>)),</a:t>
            </a:r>
            <a:br/>
            <a:r>
              <a:rPr>
                <a:solidFill>
                  <a:srgbClr val="003B4F"/>
                </a:solidFill>
                <a:latin typeface="Courier"/>
              </a:rPr>
              <a:t>        </a:t>
            </a:r>
            <a:r>
              <a:rPr>
                <a:solidFill>
                  <a:srgbClr val="4758AB"/>
                </a:solidFill>
                <a:latin typeface="Courier"/>
              </a:rPr>
              <a:t>ifelse</a:t>
            </a:r>
            <a:r>
              <a:rPr>
                <a:solidFill>
                  <a:srgbClr val="003B4F"/>
                </a:solidFill>
                <a:latin typeface="Courier"/>
              </a:rPr>
              <a:t>(u_p_patch </a:t>
            </a:r>
            <a:r>
              <a:rPr>
                <a:solidFill>
                  <a:srgbClr val="5E5E5E"/>
                </a:solidFill>
                <a:latin typeface="Courier"/>
              </a:rPr>
              <a:t>&lt;</a:t>
            </a:r>
            <a:r>
              <a:rPr>
                <a:solidFill>
                  <a:srgbClr val="003B4F"/>
                </a:solidFill>
                <a:latin typeface="Courier"/>
              </a:rPr>
              <a:t> </a:t>
            </a:r>
            <a:r>
              <a:rPr>
                <a:solidFill>
                  <a:srgbClr val="AD0000"/>
                </a:solidFill>
                <a:latin typeface="Courier"/>
              </a:rPr>
              <a:t>0.001</a:t>
            </a:r>
            <a:r>
              <a:rPr>
                <a:solidFill>
                  <a:srgbClr val="003B4F"/>
                </a:solidFill>
                <a:latin typeface="Courier"/>
              </a:rPr>
              <a:t>, </a:t>
            </a:r>
            <a:r>
              <a:rPr>
                <a:solidFill>
                  <a:srgbClr val="20794D"/>
                </a:solidFill>
                <a:latin typeface="Courier"/>
              </a:rPr>
              <a:t>"&lt;0.001"</a:t>
            </a:r>
            <a:r>
              <a:rPr>
                <a:solidFill>
                  <a:srgbClr val="003B4F"/>
                </a:solidFill>
                <a:latin typeface="Courier"/>
              </a:rPr>
              <a:t>, </a:t>
            </a:r>
            <a:r>
              <a:rPr>
                <a:solidFill>
                  <a:srgbClr val="4758AB"/>
                </a:solidFill>
                <a:latin typeface="Courier"/>
              </a:rPr>
              <a:t>round</a:t>
            </a:r>
            <a:r>
              <a:rPr>
                <a:solidFill>
                  <a:srgbClr val="003B4F"/>
                </a:solidFill>
                <a:latin typeface="Courier"/>
              </a:rPr>
              <a:t>(u_p_patch, </a:t>
            </a:r>
            <a:r>
              <a:rPr>
                <a:solidFill>
                  <a:srgbClr val="AD0000"/>
                </a:solidFill>
                <a:latin typeface="Courier"/>
              </a:rPr>
              <a:t>3</a:t>
            </a:r>
            <a:r>
              <a:rPr>
                <a:solidFill>
                  <a:srgbClr val="003B4F"/>
                </a:solidFill>
                <a:latin typeface="Courier"/>
              </a:rPr>
              <a:t>)),</a:t>
            </a:r>
            <a:br/>
            <a:r>
              <a:rPr>
                <a:solidFill>
                  <a:srgbClr val="003B4F"/>
                </a:solidFill>
                <a:latin typeface="Courier"/>
              </a:rPr>
              <a:t>        </a:t>
            </a:r>
            <a:r>
              <a:rPr>
                <a:solidFill>
                  <a:srgbClr val="8F5902"/>
                </a:solidFill>
                <a:latin typeface="Courier"/>
              </a:rPr>
              <a:t>NA</a:t>
            </a:r>
            <a:r>
              <a:rPr>
                <a:solidFill>
                  <a:srgbClr val="003B4F"/>
                </a:solidFill>
                <a:latin typeface="Courier"/>
              </a:rPr>
              <a:t>)</a:t>
            </a:r>
            <a:br/>
            <a:r>
              <a:rPr>
                <a:solidFill>
                  <a:srgbClr val="003B4F"/>
                </a:solidFill>
                <a:latin typeface="Courier"/>
              </a:rPr>
              <a:t>)</a:t>
            </a:r>
            <a:br/>
            <a:r>
              <a:rPr>
                <a:solidFill>
                  <a:srgbClr val="4758AB"/>
                </a:solidFill>
                <a:latin typeface="Courier"/>
              </a:rPr>
              <a:t>cat</a:t>
            </a:r>
            <a:r>
              <a:rPr>
                <a:solidFill>
                  <a:srgbClr val="003B4F"/>
                </a:solidFill>
                <a:latin typeface="Courier"/>
              </a:rPr>
              <a:t>(</a:t>
            </a:r>
            <a:r>
              <a:rPr>
                <a:solidFill>
                  <a:srgbClr val="20794D"/>
                </a:solidFill>
                <a:latin typeface="Courier"/>
              </a:rPr>
              <a:t>"Corrected ANOVA table:</a:t>
            </a:r>
            <a:r>
              <a:rPr>
                <a:solidFill>
                  <a:srgbClr val="5E5E5E"/>
                </a:solidFill>
                <a:latin typeface="Courier"/>
              </a:rPr>
              <a:t>\n\n</a:t>
            </a:r>
            <a:r>
              <a:rPr>
                <a:solidFill>
                  <a:srgbClr val="20794D"/>
                </a:solidFill>
                <a:latin typeface="Courier"/>
              </a:rPr>
              <a:t>"</a:t>
            </a:r>
            <a:r>
              <a:rPr>
                <a:solidFill>
                  <a:srgbClr val="003B4F"/>
                </a:solidFill>
                <a:latin typeface="Courier"/>
              </a:rPr>
              <a:t>)</a:t>
            </a:r>
            <a:br/>
            <a:r>
              <a:rPr i="1">
                <a:solidFill>
                  <a:srgbClr val="5E5E5E"/>
                </a:solidFill>
                <a:latin typeface="Courier"/>
              </a:rPr>
              <a:t>## Corrected ANOVA table:</a:t>
            </a:r>
            <a:br/>
            <a:r>
              <a:rPr>
                <a:solidFill>
                  <a:srgbClr val="003B4F"/>
                </a:solidFill>
                <a:latin typeface="Courier"/>
              </a:rPr>
              <a:t>u_corrected_table</a:t>
            </a:r>
            <a:br/>
            <a:r>
              <a:rPr i="1">
                <a:solidFill>
                  <a:srgbClr val="5E5E5E"/>
                </a:solidFill>
                <a:latin typeface="Courier"/>
              </a:rPr>
              <a:t>##               Source Df     MS    F      p</a:t>
            </a:r>
            <a:br/>
            <a:r>
              <a:rPr i="1">
                <a:solidFill>
                  <a:srgbClr val="5E5E5E"/>
                </a:solidFill>
                <a:latin typeface="Courier"/>
              </a:rPr>
              <a:t>## 1          Treatment  3 4809.7 2.72  0.091</a:t>
            </a:r>
            <a:br/>
            <a:r>
              <a:rPr i="1">
                <a:solidFill>
                  <a:srgbClr val="5E5E5E"/>
                </a:solidFill>
                <a:latin typeface="Courier"/>
              </a:rPr>
              <a:t>## 2 Patches(Treatment) 12 1770.2 5.93 &lt;0.001</a:t>
            </a:r>
            <a:br/>
            <a:r>
              <a:rPr i="1">
                <a:solidFill>
                  <a:srgbClr val="5E5E5E"/>
                </a:solidFill>
                <a:latin typeface="Courier"/>
              </a:rPr>
              <a:t>## 3           Residual 64  298.6   NA   &lt;NA&gt;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The </a:t>
            </a:r>
            <a:r>
              <a:rPr>
                <a:latin typeface="Courier"/>
              </a:rPr>
              <a:t>lmer</a:t>
            </a:r>
            <a:r>
              <a:rPr/>
              <a:t> Formula Cheat-Sheet</a:t>
            </a:r>
          </a:p>
        </p:txBody>
      </p:sp>
      <p:sp>
        <p:nvSpPr>
          <p:cNvPr id="3" name="Text Placeholder 2"/>
          <p:cNvSpPr>
            <a:spLocks noGrp="1"/>
          </p:cNvSpPr>
          <p:nvPr>
            <p:ph idx="1" type="body"/>
          </p:nvPr>
        </p:nvSpPr>
        <p:spPr/>
        <p:txBody>
          <a:bodyPr/>
          <a:lstStyle/>
          <a:p>
            <a:pPr lvl="0" indent="0" marL="0">
              <a:buNone/>
            </a:pPr>
            <a:r>
              <a:rPr/>
              <a:t>Read every random term as </a:t>
            </a:r>
            <a:r>
              <a:rPr b="1">
                <a:latin typeface="Courier"/>
              </a:rPr>
              <a:t>( what varies | across what )</a:t>
            </a:r>
            <a:r>
              <a:rPr/>
              <a:t>.</a:t>
            </a:r>
          </a:p>
        </p:txBody>
      </p:sp>
      <p:graphicFrame>
        <p:nvGraphicFramePr>
          <p:cNvPr id="6" name="Content Placeholder 5"/>
          <p:cNvGraphicFramePr>
            <a:graphicFrameLocks noGrp="1"/>
          </p:cNvGraphicFramePr>
          <p:nvPr>
            <p:ph idx="1"/>
          </p:nvPr>
        </p:nvGraphicFramePr>
        <p:xfrm>
          <a:off x="127000" y="1270000"/>
          <a:ext cx="4432300" cy="3302000"/>
        </p:xfrm>
        <a:graphic>
          <a:graphicData uri="http://schemas.openxmlformats.org/drawingml/2006/table">
            <a:tbl>
              <a:tblPr firstRow="1" bandRow="1">
                <a:tableStyleId>{5C22544A-7EE6-4342-B048-85BDC9FD1C3A}</a:tableStyleId>
              </a:tblPr>
              <a:tblGrid>
                <a:gridCol w="1473200"/>
                <a:gridCol w="2959100"/>
              </a:tblGrid>
              <a:tr h="0">
                <a:tc>
                  <a:txBody>
                    <a:bodyPr/>
                    <a:lstStyle/>
                    <a:p>
                      <a:pPr lvl="0" indent="0" marL="0">
                        <a:buNone/>
                      </a:pPr>
                      <a:r>
                        <a:rPr/>
                        <a:t>Formula</a:t>
                      </a:r>
                    </a:p>
                  </a:txBody>
                  <a:tcPr/>
                </a:tc>
                <a:tc>
                  <a:txBody>
                    <a:bodyPr/>
                    <a:lstStyle/>
                    <a:p>
                      <a:pPr lvl="0" indent="0" marL="0">
                        <a:buNone/>
                      </a:pPr>
                      <a:r>
                        <a:rPr/>
                        <a:t>Meaning</a:t>
                      </a:r>
                    </a:p>
                  </a:txBody>
                  <a:tcPr/>
                </a:tc>
              </a:tr>
              <a:tr h="0">
                <a:tc>
                  <a:txBody>
                    <a:bodyPr/>
                    <a:lstStyle/>
                    <a:p>
                      <a:pPr lvl="0" indent="0" marL="0">
                        <a:buNone/>
                      </a:pPr>
                      <a:r>
                        <a:rPr>
                          <a:latin typeface="Courier"/>
                        </a:rPr>
                        <a:t>y ~ x + (1|g)</a:t>
                      </a:r>
                    </a:p>
                  </a:txBody>
                </a:tc>
                <a:tc>
                  <a:txBody>
                    <a:bodyPr/>
                    <a:lstStyle/>
                    <a:p>
                      <a:pPr lvl="0" indent="0" marL="0">
                        <a:buNone/>
                      </a:pPr>
                      <a:r>
                        <a:rPr/>
                        <a:t>random </a:t>
                      </a:r>
                      <a:r>
                        <a:rPr b="1"/>
                        <a:t>intercept</a:t>
                      </a:r>
                      <a:r>
                        <a:rPr/>
                        <a:t> per group — each group has its own baseline</a:t>
                      </a:r>
                    </a:p>
                  </a:txBody>
                </a:tc>
              </a:tr>
              <a:tr h="0">
                <a:tc>
                  <a:txBody>
                    <a:bodyPr/>
                    <a:lstStyle/>
                    <a:p>
                      <a:pPr lvl="0" indent="0" marL="0">
                        <a:buNone/>
                      </a:pPr>
                      <a:r>
                        <a:rPr>
                          <a:latin typeface="Courier"/>
                        </a:rPr>
                        <a:t>y ~ x + (1 + x|g)</a:t>
                      </a:r>
                    </a:p>
                  </a:txBody>
                </a:tc>
                <a:tc>
                  <a:txBody>
                    <a:bodyPr/>
                    <a:lstStyle/>
                    <a:p>
                      <a:pPr lvl="0" indent="0" marL="0">
                        <a:buNone/>
                      </a:pPr>
                      <a:r>
                        <a:rPr/>
                        <a:t>random intercept </a:t>
                      </a:r>
                      <a:r>
                        <a:rPr b="1"/>
                        <a:t>and slope</a:t>
                      </a:r>
                      <a:r>
                        <a:rPr/>
                        <a:t> — each group has its own baseline </a:t>
                      </a:r>
                      <a:r>
                        <a:rPr i="1"/>
                        <a:t>and</a:t>
                      </a:r>
                      <a:r>
                        <a:rPr/>
                        <a:t> its own response to x</a:t>
                      </a:r>
                    </a:p>
                  </a:txBody>
                </a:tc>
              </a:tr>
              <a:tr h="0">
                <a:tc>
                  <a:txBody>
                    <a:bodyPr/>
                    <a:lstStyle/>
                    <a:p>
                      <a:pPr lvl="0" indent="0" marL="0">
                        <a:buNone/>
                      </a:pPr>
                      <a:r>
                        <a:rPr>
                          <a:latin typeface="Courier"/>
                        </a:rPr>
                        <a:t>y ~ x + (0 + x|g)</a:t>
                      </a:r>
                    </a:p>
                  </a:txBody>
                </a:tc>
                <a:tc>
                  <a:txBody>
                    <a:bodyPr/>
                    <a:lstStyle/>
                    <a:p>
                      <a:pPr lvl="0" indent="0" marL="0">
                        <a:buNone/>
                      </a:pPr>
                      <a:r>
                        <a:rPr/>
                        <a:t>random slope only, shared intercept</a:t>
                      </a:r>
                    </a:p>
                  </a:txBody>
                </a:tc>
              </a:tr>
              <a:tr h="0">
                <a:tc>
                  <a:txBody>
                    <a:bodyPr/>
                    <a:lstStyle/>
                    <a:p>
                      <a:pPr lvl="0" indent="0" marL="0">
                        <a:buNone/>
                      </a:pPr>
                      <a:r>
                        <a:rPr>
                          <a:latin typeface="Courier"/>
                        </a:rPr>
                        <a:t>y ~ x + (1|a) + (1|b)</a:t>
                      </a:r>
                    </a:p>
                  </a:txBody>
                </a:tc>
                <a:tc>
                  <a:txBody>
                    <a:bodyPr/>
                    <a:lstStyle/>
                    <a:p>
                      <a:pPr lvl="0" indent="0" marL="0">
                        <a:buNone/>
                      </a:pPr>
                      <a:r>
                        <a:rPr/>
                        <a:t>two </a:t>
                      </a:r>
                      <a:r>
                        <a:rPr b="1"/>
                        <a:t>crossed</a:t>
                      </a:r>
                      <a:r>
                        <a:rPr/>
                        <a:t> random factors</a:t>
                      </a:r>
                    </a:p>
                  </a:txBody>
                </a:tc>
              </a:tr>
              <a:tr h="0">
                <a:tc>
                  <a:txBody>
                    <a:bodyPr/>
                    <a:lstStyle/>
                    <a:p>
                      <a:pPr lvl="0" indent="0" marL="0">
                        <a:buNone/>
                      </a:pPr>
                      <a:r>
                        <a:rPr>
                          <a:latin typeface="Courier"/>
                        </a:rPr>
                        <a:t>y ~ x + (1|a/b)</a:t>
                      </a:r>
                    </a:p>
                  </a:txBody>
                </a:tc>
                <a:tc>
                  <a:txBody>
                    <a:bodyPr/>
                    <a:lstStyle/>
                    <a:p>
                      <a:pPr lvl="0" indent="0" marL="0">
                        <a:buNone/>
                      </a:pPr>
                      <a:r>
                        <a:rPr/>
                        <a:t>b </a:t>
                      </a:r>
                      <a:r>
                        <a:rPr b="1"/>
                        <a:t>nested</a:t>
                      </a:r>
                      <a:r>
                        <a:rPr/>
                        <a:t> in a — shorthand for </a:t>
                      </a:r>
                      <a:r>
                        <a:rPr>
                          <a:latin typeface="Courier"/>
                        </a:rPr>
                        <a:t>(1|a) + (1|a:b)</a:t>
                      </a:r>
                    </a:p>
                  </a:txBody>
                </a:tc>
              </a:tr>
            </a:tbl>
          </a:graphicData>
        </a:graphic>
      </p:graphicFrame>
      <p:sp>
        <p:nvSpPr>
          <p:cNvPr id="4" name="Content Placeholder 3"/>
          <p:cNvSpPr>
            <a:spLocks noGrp="1"/>
          </p:cNvSpPr>
          <p:nvPr>
            <p:ph idx="2" sz="half"/>
          </p:nvPr>
        </p:nvSpPr>
        <p:spPr/>
        <p:txBody>
          <a:bodyPr/>
          <a:lstStyle/>
          <a:p>
            <a:pPr lvl="0" indent="0" marL="1270000">
              <a:buNone/>
            </a:pPr>
            <a:r>
              <a:rPr sz="2000" b="1"/>
              <a:t>Important</a:t>
            </a:r>
          </a:p>
          <a:p>
            <a:pPr lvl="0" indent="0" marL="1270000">
              <a:buNone/>
            </a:pPr>
            <a:r>
              <a:rPr sz="2000" b="1"/>
              <a:t>⚠️ The confusion to avoid</a:t>
            </a:r>
          </a:p>
          <a:p>
            <a:pPr lvl="0" indent="0" marL="1270000">
              <a:buNone/>
            </a:pPr>
            <a:r>
              <a:rPr sz="2000">
                <a:latin typeface="Courier"/>
              </a:rPr>
              <a:t>(1|patch)</a:t>
            </a:r>
            <a:r>
              <a:rPr sz="2000"/>
              <a:t> and </a:t>
            </a:r>
            <a:r>
              <a:rPr sz="2000">
                <a:latin typeface="Courier"/>
              </a:rPr>
              <a:t>(1|treat:patch)</a:t>
            </a:r>
            <a:r>
              <a:rPr sz="2000"/>
              <a:t> are </a:t>
            </a:r>
            <a:r>
              <a:rPr sz="2000" b="1"/>
              <a:t>both random-intercept</a:t>
            </a:r>
            <a:r>
              <a:rPr sz="2000"/>
              <a:t> models. The </a:t>
            </a:r>
            <a:r>
              <a:rPr sz="2000">
                <a:latin typeface="Courier"/>
              </a:rPr>
              <a:t>1</a:t>
            </a:r>
            <a:r>
              <a:rPr sz="2000"/>
              <a:t> is the intercept; what differs is only the </a:t>
            </a:r>
            <a:r>
              <a:rPr sz="2000" b="1"/>
              <a:t>grouping</a:t>
            </a:r>
            <a:r>
              <a:rPr sz="2000"/>
              <a:t>.</a:t>
            </a:r>
          </a:p>
          <a:p>
            <a:pPr lvl="0" indent="0" marL="1270000">
              <a:buNone/>
            </a:pPr>
            <a:r>
              <a:rPr sz="2000"/>
              <a:t>You only have a random slope when something other than </a:t>
            </a:r>
            <a:r>
              <a:rPr sz="2000">
                <a:latin typeface="Courier"/>
              </a:rPr>
              <a:t>1</a:t>
            </a:r>
            <a:r>
              <a:rPr sz="2000"/>
              <a:t> appears on the left of the </a:t>
            </a:r>
            <a:r>
              <a:rPr sz="2000">
                <a:latin typeface="Courier"/>
              </a:rPr>
              <a:t>|</a:t>
            </a:r>
            <a:r>
              <a:rPr sz="2000"/>
              <a:t>.</a:t>
            </a:r>
          </a:p>
        </p:txBody>
      </p:sp>
      <p:sp>
        <p:nvSpPr>
          <p:cNvPr id="5" name="Text Placeholder 4"/>
          <p:cNvSpPr>
            <a:spLocks noGrp="1"/>
          </p:cNvSpPr>
          <p:nvPr>
            <p:ph idx="3" sz="quarter" type="body"/>
          </p:nvPr>
        </p:nvSpPr>
        <p:spPr/>
        <p:txBody>
          <a:bodyPr/>
          <a:lstStyle/>
          <a:p>
            <a:pPr lvl="0" indent="0" marL="1270000">
              <a:buNone/>
            </a:pPr>
            <a:r>
              <a:rPr sz="2000" b="1"/>
              <a:t>Tip</a:t>
            </a:r>
          </a:p>
          <a:p>
            <a:pPr lvl="0" indent="0" marL="1270000">
              <a:buNone/>
            </a:pPr>
            <a:r>
              <a:rPr sz="2000" b="1"/>
              <a:t>🖐 Do I need </a:t>
            </a:r>
            <a:r>
              <a:rPr sz="2000" b="1">
                <a:latin typeface="Courier"/>
              </a:rPr>
              <a:t>a/b</a:t>
            </a:r>
            <a:r>
              <a:rPr sz="2000" b="1"/>
              <a:t> here?</a:t>
            </a:r>
          </a:p>
          <a:p>
            <a:pPr lvl="0" indent="0" marL="1270000">
              <a:buNone/>
            </a:pPr>
            <a:r>
              <a:rPr sz="2000"/>
              <a:t>Only if the inner IDs </a:t>
            </a:r>
            <a:r>
              <a:rPr sz="2000" b="1"/>
              <a:t>restart</a:t>
            </a:r>
            <a:r>
              <a:rPr sz="2000"/>
              <a:t> inside each outer level (patch 1,2,3,4 in </a:t>
            </a:r>
            <a:r>
              <a:rPr sz="2000" i="1"/>
              <a:t>every</a:t>
            </a:r>
            <a:r>
              <a:rPr sz="2000"/>
              <a:t> treatment). Then R cannot tell nesting from crossing and you must write </a:t>
            </a:r>
            <a:r>
              <a:rPr sz="2000">
                <a:latin typeface="Courier"/>
              </a:rPr>
              <a:t>(1|treat/patch)</a:t>
            </a:r>
            <a:r>
              <a:rPr sz="2000"/>
              <a:t>.</a:t>
            </a:r>
          </a:p>
          <a:p>
            <a:pPr lvl="0" indent="0" marL="1270000">
              <a:buNone/>
            </a:pPr>
            <a:r>
              <a:rPr sz="2000"/>
              <a:t>Our patches are numbered 1–16 across the whole study, so </a:t>
            </a:r>
            <a:r>
              <a:rPr sz="2000">
                <a:latin typeface="Courier"/>
              </a:rPr>
              <a:t>(1|patch)</a:t>
            </a:r>
            <a:r>
              <a:rPr sz="2000"/>
              <a:t> already says it.</a:t>
            </a:r>
          </a:p>
          <a:p>
            <a:pPr lvl="0" indent="0" marL="1270000">
              <a:buNone/>
            </a:pPr>
            <a:r>
              <a:rPr sz="2000" b="1"/>
              <a:t>Warning</a:t>
            </a:r>
          </a:p>
          <a:p>
            <a:pPr lvl="0" indent="0" marL="1270000">
              <a:buNone/>
            </a:pPr>
            <a:r>
              <a:rPr sz="2000" b="1"/>
              <a:t>⚠️ “boundary (singular) fit”</a:t>
            </a:r>
          </a:p>
          <a:p>
            <a:pPr lvl="0" indent="0" marL="1270000">
              <a:buNone/>
            </a:pPr>
            <a:r>
              <a:rPr sz="2000"/>
              <a:t>Means a variance was estimated as ~0 — the grouping factor explains nothing, or you asked for more random structure than the data can support. Simplify the random effects; do not ignore it.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Wrap-up</a:t>
            </a:r>
          </a:p>
        </p:txBody>
      </p:sp>
      <p:sp>
        <p:nvSpPr>
          <p:cNvPr id="3" name="Content Placeholder 2"/>
          <p:cNvSpPr>
            <a:spLocks noGrp="1"/>
          </p:cNvSpPr>
          <p:nvPr>
            <p:ph idx="1" sz="half"/>
          </p:nvPr>
        </p:nvSpPr>
        <p:spPr/>
        <p:txBody>
          <a:bodyPr/>
          <a:lstStyle/>
          <a:p>
            <a:pPr lvl="0" indent="0" marL="0">
              <a:buNone/>
            </a:pPr>
            <a:r>
              <a:rPr/>
              <a:t>Today you:</a:t>
            </a:r>
          </a:p>
          <a:p>
            <a:pPr lvl="0"/>
            <a:r>
              <a:rPr/>
              <a:t>Decided </a:t>
            </a:r>
            <a:r>
              <a:rPr b="1"/>
              <a:t>fixed vs random</a:t>
            </a:r>
            <a:r>
              <a:rPr/>
              <a:t> by asking whether you care about </a:t>
            </a:r>
            <a:r>
              <a:rPr i="1"/>
              <a:t>these</a:t>
            </a:r>
            <a:r>
              <a:rPr/>
              <a:t> levels or about </a:t>
            </a:r>
            <a:r>
              <a:rPr i="1"/>
              <a:t>how much they vary</a:t>
            </a:r>
          </a:p>
          <a:p>
            <a:pPr lvl="0"/>
            <a:r>
              <a:rPr/>
              <a:t>Learned that a random factor costs </a:t>
            </a:r>
            <a:r>
              <a:rPr b="1"/>
              <a:t>one parameter</a:t>
            </a:r>
            <a:r>
              <a:rPr/>
              <a:t> (a variance) where a fixed one costs </a:t>
            </a:r>
            <a:r>
              <a:rPr i="1"/>
              <a:t>k</a:t>
            </a:r>
            <a:r>
              <a:rPr/>
              <a:t> − 1</a:t>
            </a:r>
          </a:p>
          <a:p>
            <a:pPr lvl="0"/>
            <a:r>
              <a:rPr/>
              <a:t>Read </a:t>
            </a:r>
            <a:r>
              <a:rPr>
                <a:latin typeface="Courier"/>
              </a:rPr>
              <a:t>(1|group)</a:t>
            </a:r>
            <a:r>
              <a:rPr/>
              <a:t> correctly, and saw that it is </a:t>
            </a:r>
            <a:r>
              <a:rPr b="1"/>
              <a:t>not</a:t>
            </a:r>
            <a:r>
              <a:rPr/>
              <a:t> a random slope</a:t>
            </a:r>
          </a:p>
          <a:p>
            <a:pPr lvl="0"/>
            <a:r>
              <a:rPr/>
              <a:t>Got the </a:t>
            </a:r>
            <a:r>
              <a:rPr b="1"/>
              <a:t>ICC = 0.50</a:t>
            </a:r>
            <a:r>
              <a:rPr/>
              <a:t> — two quadrats in a patch are half-correlated, which is exactly why this design needed a mixed model</a:t>
            </a:r>
          </a:p>
          <a:p>
            <a:pPr lvl="0"/>
            <a:r>
              <a:rPr/>
              <a:t>Saw </a:t>
            </a:r>
            <a:r>
              <a:rPr b="1"/>
              <a:t>partial pooling</a:t>
            </a:r>
            <a:r>
              <a:rPr/>
              <a:t> move each patch estimate toward its treatment mean</a:t>
            </a:r>
          </a:p>
          <a:p>
            <a:pPr lvl="0"/>
            <a:r>
              <a:rPr/>
              <a:t>Chose between the </a:t>
            </a:r>
            <a:r>
              <a:rPr b="1"/>
              <a:t>F-test (p = 0.091)</a:t>
            </a:r>
            <a:r>
              <a:rPr/>
              <a:t> and the </a:t>
            </a:r>
            <a:r>
              <a:rPr b="1"/>
              <a:t>Wald χ² (p = 0.043)</a:t>
            </a:r>
            <a:r>
              <a:rPr/>
              <a:t> — and learned why the F-test is the right one at n = 16 groups</a:t>
            </a:r>
          </a:p>
          <a:p>
            <a:pPr lvl="0" indent="0" marL="1270000">
              <a:buNone/>
            </a:pPr>
            <a:r>
              <a:rPr sz="2000" b="1"/>
              <a:t>Important</a:t>
            </a:r>
          </a:p>
          <a:p>
            <a:pPr lvl="0" indent="0" marL="1270000">
              <a:buNone/>
            </a:pPr>
            <a:r>
              <a:rPr sz="2000" b="1"/>
              <a:t>⚠️ Report the F-test, and say so</a:t>
            </a:r>
          </a:p>
          <a:p>
            <a:pPr lvl="0" indent="0" marL="1270000">
              <a:buNone/>
            </a:pPr>
            <a:r>
              <a:rPr sz="2000"/>
              <a:t>With few random-effect levels the χ² is anti-conservative — it assumes it knows the variance components exactly. Always state which approximation you used and what the denominator df were.</a:t>
            </a:r>
          </a:p>
        </p:txBody>
      </p:sp>
      <p:sp>
        <p:nvSpPr>
          <p:cNvPr id="4" name="Content Placeholder 3"/>
          <p:cNvSpPr>
            <a:spLocks noGrp="1"/>
          </p:cNvSpPr>
          <p:nvPr>
            <p:ph idx="2" sz="half"/>
          </p:nvPr>
        </p:nvSpPr>
        <p:spPr/>
        <p:txBody>
          <a:bodyPr/>
          <a:lstStyle/>
          <a:p>
            <a:pPr lvl="0" indent="0" marL="1270000">
              <a:buNone/>
            </a:pPr>
            <a:r>
              <a:rPr sz="2000" b="1"/>
              <a:t>Note</a:t>
            </a:r>
          </a:p>
          <a:p>
            <a:pPr lvl="0" indent="0" marL="1270000">
              <a:buNone/>
            </a:pPr>
            <a:r>
              <a:rPr sz="2000" b="1"/>
              <a:t>✅ The one idea to keep</a:t>
            </a:r>
          </a:p>
          <a:p>
            <a:pPr lvl="0" indent="0" marL="1270000">
              <a:buNone/>
            </a:pPr>
            <a:r>
              <a:rPr sz="2000"/>
              <a:t>A mixed model does not “remove” the patch effect — it </a:t>
            </a:r>
            <a:r>
              <a:rPr sz="2000" b="1"/>
              <a:t>estimates</a:t>
            </a:r>
            <a:r>
              <a:rPr sz="2000"/>
              <a:t> it, and then tests the treatment against the right amount of noise.</a:t>
            </a:r>
          </a:p>
          <a:p>
            <a:pPr lvl="0" indent="0" marL="1270000">
              <a:buNone/>
            </a:pPr>
            <a:r>
              <a:rPr sz="2000" b="1"/>
              <a:t>σ²_patch = 294.3 arrived three ways:</a:t>
            </a:r>
            <a:r>
              <a:rPr sz="2000"/>
              <a:t> by hand from mean squares, from </a:t>
            </a:r>
            <a:r>
              <a:rPr sz="2000">
                <a:latin typeface="Courier"/>
              </a:rPr>
              <a:t>aov(Error(patch))</a:t>
            </a:r>
            <a:r>
              <a:rPr sz="2000"/>
              <a:t>, and from </a:t>
            </a:r>
            <a:r>
              <a:rPr sz="2000">
                <a:latin typeface="Courier"/>
              </a:rPr>
              <a:t>VarCorr()</a:t>
            </a:r>
            <a:r>
              <a:rPr sz="2000"/>
              <a:t>. Same model, three notations. If you understood the nested ANOVA, you already understood mixed models — this is just a better way to write and fit them.</a:t>
            </a:r>
          </a:p>
          <a:p>
            <a:pPr lvl="0" indent="0" marL="1270000">
              <a:buNone/>
            </a:pPr>
            <a:r>
              <a:rPr sz="2000" b="1"/>
              <a:t>Tip</a:t>
            </a:r>
          </a:p>
          <a:p>
            <a:pPr lvl="0" indent="0" marL="1270000">
              <a:buNone/>
            </a:pPr>
            <a:r>
              <a:rPr sz="2000" b="1"/>
              <a:t>🖐 Before next class</a:t>
            </a:r>
          </a:p>
          <a:p>
            <a:pPr lvl="0" indent="0" marL="1270000">
              <a:buNone/>
            </a:pPr>
            <a:r>
              <a:rPr sz="2000"/>
              <a:t>Take the pine needle data, </a:t>
            </a:r>
            <a:r>
              <a:rPr sz="2000" b="1"/>
              <a:t>collapsed to one value per team per side</a:t>
            </a:r>
            <a:r>
              <a:rPr sz="2000"/>
              <a:t> (the two-stage summary from Week 3):</a:t>
            </a:r>
          </a:p>
          <a:p>
            <a:pPr lvl="0" indent="0">
              <a:buNone/>
            </a:pPr>
            <a:r>
              <a:rPr>
                <a:solidFill>
                  <a:srgbClr val="003B4F"/>
                </a:solidFill>
                <a:latin typeface="Courier"/>
              </a:rPr>
              <a:t>p_df &lt;- pine_df </a:t>
            </a:r>
            <a:r>
              <a:rPr>
                <a:solidFill>
                  <a:srgbClr val="5E5E5E"/>
                </a:solidFill>
                <a:latin typeface="Courier"/>
              </a:rPr>
              <a:t>|&gt;</a:t>
            </a:r>
            <a:br/>
            <a:r>
              <a:rPr>
                <a:solidFill>
                  <a:srgbClr val="003B4F"/>
                </a:solidFill>
                <a:latin typeface="Courier"/>
              </a:rPr>
              <a:t>  </a:t>
            </a:r>
            <a:r>
              <a:rPr>
                <a:solidFill>
                  <a:srgbClr val="4758AB"/>
                </a:solidFill>
                <a:latin typeface="Courier"/>
              </a:rPr>
              <a:t>group_by</a:t>
            </a:r>
            <a:r>
              <a:rPr>
                <a:solidFill>
                  <a:srgbClr val="003B4F"/>
                </a:solidFill>
                <a:latin typeface="Courier"/>
              </a:rPr>
              <a:t>(team, side) </a:t>
            </a:r>
            <a:r>
              <a:rPr>
                <a:solidFill>
                  <a:srgbClr val="5E5E5E"/>
                </a:solidFill>
                <a:latin typeface="Courier"/>
              </a:rPr>
              <a:t>|&gt;</a:t>
            </a:r>
            <a:br/>
            <a:r>
              <a:rPr>
                <a:solidFill>
                  <a:srgbClr val="003B4F"/>
                </a:solidFill>
                <a:latin typeface="Courier"/>
              </a:rPr>
              <a:t>  </a:t>
            </a:r>
            <a:r>
              <a:rPr>
                <a:solidFill>
                  <a:srgbClr val="4758AB"/>
                </a:solidFill>
                <a:latin typeface="Courier"/>
              </a:rPr>
              <a:t>summarise</a:t>
            </a:r>
            <a:r>
              <a:rPr>
                <a:solidFill>
                  <a:srgbClr val="003B4F"/>
                </a:solidFill>
                <a:latin typeface="Courier"/>
              </a:rPr>
              <a:t>(</a:t>
            </a:r>
            <a:r>
              <a:rPr>
                <a:solidFill>
                  <a:srgbClr val="657422"/>
                </a:solidFill>
                <a:latin typeface="Courier"/>
              </a:rPr>
              <a:t>needle_length_mm =</a:t>
            </a:r>
            <a:r>
              <a:rPr>
                <a:solidFill>
                  <a:srgbClr val="003B4F"/>
                </a:solidFill>
                <a:latin typeface="Courier"/>
              </a:rPr>
              <a:t> </a:t>
            </a:r>
            <a:r>
              <a:rPr>
                <a:solidFill>
                  <a:srgbClr val="4758AB"/>
                </a:solidFill>
                <a:latin typeface="Courier"/>
              </a:rPr>
              <a:t>mean</a:t>
            </a:r>
            <a:r>
              <a:rPr>
                <a:solidFill>
                  <a:srgbClr val="003B4F"/>
                </a:solidFill>
                <a:latin typeface="Courier"/>
              </a:rPr>
              <a:t>(needle_length_mm),</a:t>
            </a:r>
            <a:br/>
            <a:r>
              <a:rPr>
                <a:solidFill>
                  <a:srgbClr val="003B4F"/>
                </a:solidFill>
                <a:latin typeface="Courier"/>
              </a:rPr>
              <a:t>            </a:t>
            </a:r>
            <a:r>
              <a:rPr>
                <a:solidFill>
                  <a:srgbClr val="657422"/>
                </a:solidFill>
                <a:latin typeface="Courier"/>
              </a:rPr>
              <a:t>.groups =</a:t>
            </a:r>
            <a:r>
              <a:rPr>
                <a:solidFill>
                  <a:srgbClr val="003B4F"/>
                </a:solidFill>
                <a:latin typeface="Courier"/>
              </a:rPr>
              <a:t> </a:t>
            </a:r>
            <a:r>
              <a:rPr>
                <a:solidFill>
                  <a:srgbClr val="20794D"/>
                </a:solidFill>
                <a:latin typeface="Courier"/>
              </a:rPr>
              <a:t>"drop"</a:t>
            </a:r>
            <a:r>
              <a:rPr>
                <a:solidFill>
                  <a:srgbClr val="003B4F"/>
                </a:solidFill>
                <a:latin typeface="Courier"/>
              </a:rPr>
              <a:t>)</a:t>
            </a:r>
            <a:br/>
            <a:br/>
            <a:r>
              <a:rPr>
                <a:solidFill>
                  <a:srgbClr val="4758AB"/>
                </a:solidFill>
                <a:latin typeface="Courier"/>
              </a:rPr>
              <a:t>anova</a:t>
            </a:r>
            <a:r>
              <a:rPr>
                <a:solidFill>
                  <a:srgbClr val="003B4F"/>
                </a:solidFill>
                <a:latin typeface="Courier"/>
              </a:rPr>
              <a:t>(</a:t>
            </a:r>
            <a:r>
              <a:rPr>
                <a:solidFill>
                  <a:srgbClr val="4758AB"/>
                </a:solidFill>
                <a:latin typeface="Courier"/>
              </a:rPr>
              <a:t>lmer</a:t>
            </a:r>
            <a:r>
              <a:rPr>
                <a:solidFill>
                  <a:srgbClr val="003B4F"/>
                </a:solidFill>
                <a:latin typeface="Courier"/>
              </a:rPr>
              <a:t>(needle_length_mm </a:t>
            </a:r>
            <a:r>
              <a:rPr>
                <a:solidFill>
                  <a:srgbClr val="5E5E5E"/>
                </a:solidFill>
                <a:latin typeface="Courier"/>
              </a:rPr>
              <a:t>~</a:t>
            </a:r>
            <a:r>
              <a:rPr>
                <a:solidFill>
                  <a:srgbClr val="003B4F"/>
                </a:solidFill>
                <a:latin typeface="Courier"/>
              </a:rPr>
              <a:t> side </a:t>
            </a:r>
            <a:r>
              <a:rPr>
                <a:solidFill>
                  <a:srgbClr val="5E5E5E"/>
                </a:solidFill>
                <a:latin typeface="Courier"/>
              </a:rPr>
              <a:t>+</a:t>
            </a:r>
            <a:r>
              <a:rPr>
                <a:solidFill>
                  <a:srgbClr val="003B4F"/>
                </a:solidFill>
                <a:latin typeface="Courier"/>
              </a:rPr>
              <a:t> (</a:t>
            </a:r>
            <a:r>
              <a:rPr>
                <a:solidFill>
                  <a:srgbClr val="AD0000"/>
                </a:solidFill>
                <a:latin typeface="Courier"/>
              </a:rPr>
              <a:t>1</a:t>
            </a:r>
            <a:r>
              <a:rPr>
                <a:solidFill>
                  <a:srgbClr val="5E5E5E"/>
                </a:solidFill>
                <a:latin typeface="Courier"/>
              </a:rPr>
              <a:t>|</a:t>
            </a:r>
            <a:r>
              <a:rPr>
                <a:solidFill>
                  <a:srgbClr val="003B4F"/>
                </a:solidFill>
                <a:latin typeface="Courier"/>
              </a:rPr>
              <a:t>team), </a:t>
            </a:r>
            <a:r>
              <a:rPr>
                <a:solidFill>
                  <a:srgbClr val="657422"/>
                </a:solidFill>
                <a:latin typeface="Courier"/>
              </a:rPr>
              <a:t>data =</a:t>
            </a:r>
            <a:r>
              <a:rPr>
                <a:solidFill>
                  <a:srgbClr val="003B4F"/>
                </a:solidFill>
                <a:latin typeface="Courier"/>
              </a:rPr>
              <a:t> p_df))</a:t>
            </a:r>
          </a:p>
          <a:p>
            <a:pPr lvl="0" indent="0" marL="1270000">
              <a:buNone/>
            </a:pPr>
            <a:r>
              <a:rPr sz="2000"/>
              <a:t>Compare </a:t>
            </a:r>
            <a:r>
              <a:rPr sz="2000">
                <a:latin typeface="Courier"/>
              </a:rPr>
              <a:t>F</a:t>
            </a:r>
            <a:r>
              <a:rPr sz="2000"/>
              <a:t> to the </a:t>
            </a:r>
            <a:r>
              <a:rPr sz="2000" b="1"/>
              <a:t>square of</a:t>
            </a:r>
            <a:r>
              <a:rPr sz="2000"/>
              <a:t> the paired-t statistic from Week 4 (t = −2.72). You should get </a:t>
            </a:r>
            <a:r>
              <a:rPr sz="2000" b="1"/>
              <a:t>F = 7.41, df 1 and 3, p = 0.072</a:t>
            </a:r>
            <a:r>
              <a:rPr sz="2000"/>
              <a:t> — the paired t-test </a:t>
            </a:r>
            <a:r>
              <a:rPr sz="2000" i="1"/>
              <a:t>is</a:t>
            </a:r>
            <a:r>
              <a:rPr sz="2000"/>
              <a:t> this mixed model.</a:t>
            </a:r>
          </a:p>
          <a:p>
            <a:pPr lvl="0" indent="0" marL="1270000">
              <a:buNone/>
            </a:pPr>
            <a:r>
              <a:rPr sz="2000" b="1"/>
              <a:t>🚀 If you finish early:</a:t>
            </a:r>
            <a:r>
              <a:rPr sz="2000"/>
              <a:t> run the same formula on the raw 64 needles instead. You get p = 0.057 and </a:t>
            </a:r>
            <a:r>
              <a:rPr sz="2000" b="1"/>
              <a:t>59</a:t>
            </a:r>
            <a:r>
              <a:rPr sz="2000"/>
              <a:t> denominator df, not 3. What changed? (Hint: check </a:t>
            </a:r>
            <a:r>
              <a:rPr sz="2000">
                <a:latin typeface="Courier"/>
              </a:rPr>
              <a:t>VarCorr()</a:t>
            </a:r>
            <a:r>
              <a:rPr sz="2000"/>
              <a:t> — one variance is estimated as exactly zero, and R warns “singular fit”.)</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Getting unstuck</a:t>
            </a:r>
          </a:p>
        </p:txBody>
      </p:sp>
      <p:sp>
        <p:nvSpPr>
          <p:cNvPr id="3" name="Content Placeholder 2"/>
          <p:cNvSpPr>
            <a:spLocks noGrp="1"/>
          </p:cNvSpPr>
          <p:nvPr>
            <p:ph idx="1"/>
          </p:nvPr>
        </p:nvSpPr>
        <p:spPr/>
        <p:txBody>
          <a:bodyPr/>
          <a:lstStyle/>
          <a:p>
            <a:pPr lvl="0" indent="0" marL="0">
              <a:buNone/>
            </a:pPr>
            <a:r>
              <a:rPr/>
              <a:t>When code breaks — and it will, that is normal:</a:t>
            </a:r>
          </a:p>
          <a:p>
            <a:pPr lvl="0" indent="-342900" marL="342900">
              <a:buAutoNum type="arabicPeriod"/>
            </a:pPr>
            <a:r>
              <a:rPr/>
              <a:t>Read the </a:t>
            </a:r>
            <a:r>
              <a:rPr b="1"/>
              <a:t>error message</a:t>
            </a:r>
            <a:r>
              <a:rPr/>
              <a:t> out loud; it usually names the line</a:t>
            </a:r>
          </a:p>
          <a:p>
            <a:pPr lvl="0" indent="-342900" marL="342900">
              <a:buAutoNum type="arabicPeriod"/>
            </a:pPr>
            <a:r>
              <a:rPr/>
              <a:t>Check the usual suspects: is the grouping variable a </a:t>
            </a:r>
            <a:r>
              <a:rPr b="1"/>
              <a:t>factor</a:t>
            </a:r>
            <a:r>
              <a:rPr/>
              <a:t>? Is </a:t>
            </a:r>
            <a:r>
              <a:rPr>
                <a:latin typeface="Courier"/>
              </a:rPr>
              <a:t>lmerTest</a:t>
            </a:r>
            <a:r>
              <a:rPr/>
              <a:t> loaded (plain </a:t>
            </a:r>
            <a:r>
              <a:rPr>
                <a:latin typeface="Courier"/>
              </a:rPr>
              <a:t>lme4</a:t>
            </a:r>
            <a:r>
              <a:rPr/>
              <a:t> gives no p-values on purpose)? Are you calling </a:t>
            </a:r>
            <a:r>
              <a:rPr>
                <a:latin typeface="Courier"/>
              </a:rPr>
              <a:t>car::Anova()</a:t>
            </a:r>
            <a:r>
              <a:rPr/>
              <a:t> on the model rather than </a:t>
            </a:r>
            <a:r>
              <a:rPr>
                <a:latin typeface="Courier"/>
              </a:rPr>
              <a:t>anova()</a:t>
            </a:r>
            <a:r>
              <a:rPr/>
              <a:t>?</a:t>
            </a:r>
          </a:p>
          <a:p>
            <a:pPr lvl="0" indent="-342900" marL="342900">
              <a:buAutoNum type="arabicPeriod"/>
            </a:pPr>
            <a:r>
              <a:rPr b="1"/>
              <a:t>“boundary (singular) fit”</a:t>
            </a:r>
            <a:r>
              <a:rPr/>
              <a:t> → your random structure is too complex for the data, or that variance really is zero</a:t>
            </a:r>
          </a:p>
          <a:p>
            <a:pPr lvl="0" indent="-342900" marL="342900">
              <a:buAutoNum type="arabicPeriod"/>
            </a:pPr>
            <a:r>
              <a:rPr b="1"/>
              <a:t>“Model failed to converge”</a:t>
            </a:r>
            <a:r>
              <a:rPr/>
              <a:t> → try </a:t>
            </a:r>
            <a:r>
              <a:rPr>
                <a:latin typeface="Courier"/>
              </a:rPr>
              <a:t>control = lmerControl(optimizer = "bobyqa")</a:t>
            </a:r>
            <a:r>
              <a:rPr/>
              <a:t>, as we did here, or simplify the random effects</a:t>
            </a:r>
          </a:p>
          <a:p>
            <a:pPr lvl="0" indent="-342900" marL="342900">
              <a:buAutoNum type="arabicPeriod"/>
            </a:pPr>
            <a:r>
              <a:rPr/>
              <a:t>Bring the </a:t>
            </a:r>
            <a:r>
              <a:rPr b="1"/>
              <a:t>exact error</a:t>
            </a:r>
            <a:r>
              <a:rPr/>
              <a:t> (copy-paste it) to class or office hours</a:t>
            </a:r>
          </a:p>
          <a:p>
            <a:pPr lvl="0" indent="0" marL="1270000">
              <a:buNone/>
            </a:pPr>
            <a:r>
              <a:rPr sz="2000" b="1"/>
              <a:t>Note</a:t>
            </a:r>
          </a:p>
          <a:p>
            <a:pPr lvl="0" indent="0" marL="1270000">
              <a:buNone/>
            </a:pPr>
            <a:r>
              <a:rPr sz="2000" b="1"/>
              <a:t>✅ Key idea</a:t>
            </a:r>
          </a:p>
          <a:p>
            <a:pPr lvl="0" indent="0" marL="1270000">
              <a:buNone/>
            </a:pPr>
            <a:r>
              <a:rPr sz="2000"/>
              <a:t>Every working scientist googles error messages daily. Getting stuck is not failing — it is the job.</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Linear Mixed Models</dc:title>
  <dc:creator>Bill Perry</dc:creator>
  <cp:keywords/>
  <dc:description>The modern mixed-model (lmer) alternative to a traditional nested ANOVA: afex for unbalanced designs, random-effects notation, F vs. Chi-square tests, diagnostics, post-hoc comparisons, and a by-hand F-ratio calculation for comparison — on the sea urchin grazing / algae cover dataset.</dc:description>
  <dcterms:created xsi:type="dcterms:W3CDTF">2026-10-05T16:37:09Z</dcterms:created>
  <dcterms:modified xsi:type="dcterms:W3CDTF">2026-10-05T16:37:09Z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ategories">
    <vt:lpwstr/>
  </property>
  <property fmtid="{D5CDD505-2E9C-101B-9397-08002B2CF9AE}" pid="6" name="editor">
    <vt:lpwstr/>
  </property>
  <property fmtid="{D5CDD505-2E9C-101B-9397-08002B2CF9AE}" pid="7" name="execute">
    <vt:lpwstr/>
  </property>
  <property fmtid="{D5CDD505-2E9C-101B-9397-08002B2CF9AE}" pid="8" name="format">
    <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knitr">
    <vt:lpwstr/>
  </property>
  <property fmtid="{D5CDD505-2E9C-101B-9397-08002B2CF9AE}" pid="13" name="labels">
    <vt:lpwstr/>
  </property>
  <property fmtid="{D5CDD505-2E9C-101B-9397-08002B2CF9AE}" pid="14" name="order">
    <vt:lpwstr>15</vt:lpwstr>
  </property>
  <property fmtid="{D5CDD505-2E9C-101B-9397-08002B2CF9AE}" pid="15" name="resources">
    <vt:lpwstr/>
  </property>
  <property fmtid="{D5CDD505-2E9C-101B-9397-08002B2CF9AE}" pid="16" name="subtitle">
    <vt:lpwstr>Random effects for nested and hierarchical data</vt:lpwstr>
  </property>
  <property fmtid="{D5CDD505-2E9C-101B-9397-08002B2CF9AE}" pid="17" name="toc-title">
    <vt:lpwstr>Table of contents</vt:lpwstr>
  </property>
  <property fmtid="{D5CDD505-2E9C-101B-9397-08002B2CF9AE}" pid="18" name="week">
    <vt:lpwstr>10</vt:lpwstr>
  </property>
</Properties>
</file>