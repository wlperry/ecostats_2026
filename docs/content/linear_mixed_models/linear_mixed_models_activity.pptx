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CC31"/>
    <a:srgbClr val="70121D"/>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726"/>
  </p:normalViewPr>
  <p:slideViewPr>
    <p:cSldViewPr snapToGrid="0" snapToObjects="1">
      <p:cViewPr varScale="1">
        <p:scale>
          <a:sx d="100" n="165"/>
          <a:sy d="100" n="165"/>
        </p:scale>
        <p:origin x="560" y="176"/>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2" Type="http://schemas.openxmlformats.org/officeDocument/2006/relationships/viewProps" Target="viewProps.xml" /><Relationship Id="rId11" Type="http://schemas.openxmlformats.org/officeDocument/2006/relationships/presProps" Target="presProps.xml" /><Relationship Id="rId1" Type="http://schemas.openxmlformats.org/officeDocument/2006/relationships/slideMaster" Target="slideMasters/slideMaster1.xml" /><Relationship Id="rId14" Type="http://schemas.openxmlformats.org/officeDocument/2006/relationships/tableStyles" Target="tableStyles.xml" /><Relationship Id="rId13"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565688"/>
          </a:xfrm>
        </p:spPr>
        <p:txBody>
          <a:bodyPr>
            <a:normAutofit/>
          </a:bodyPr>
          <a:lstStyle>
            <a:lvl1pPr>
              <a:defRPr sz="2400"/>
            </a:lvl1pPr>
          </a:lstStyle>
          <a:p>
            <a:r>
              <a:rPr lang="en-US" dirty="0"/>
              <a:t>Click to edit Master title style</a:t>
            </a:r>
          </a:p>
        </p:txBody>
      </p:sp>
      <p:sp>
        <p:nvSpPr>
          <p:cNvPr id="3" name="Subtitle 2"/>
          <p:cNvSpPr>
            <a:spLocks noGrp="1"/>
          </p:cNvSpPr>
          <p:nvPr>
            <p:ph type="subTitle" idx="1"/>
          </p:nvPr>
        </p:nvSpPr>
        <p:spPr>
          <a:xfrm>
            <a:off x="255722" y="565689"/>
            <a:ext cx="6400800" cy="1314450"/>
          </a:xfrm>
        </p:spPr>
        <p:txBody>
          <a:bodyPr>
            <a:normAutofit/>
          </a:bodyPr>
          <a:lstStyle>
            <a:lvl1pPr marL="0" indent="0" algn="ctr">
              <a:buNone/>
              <a:defRPr sz="2000">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normAutofit/>
          </a:bodyPr>
          <a:lstStyle>
            <a:lvl1pPr algn="l">
              <a:defRPr sz="2400"/>
            </a:lvl1pPr>
          </a:lstStyle>
          <a:p>
            <a:r>
              <a:rPr lang="en-US" dirty="0"/>
              <a:t>Click to edit Master title style</a:t>
            </a:r>
          </a:p>
        </p:txBody>
      </p:sp>
      <p:sp>
        <p:nvSpPr>
          <p:cNvPr id="3" name="Content Placeholder 2"/>
          <p:cNvSpPr>
            <a:spLocks noGrp="1"/>
          </p:cNvSpPr>
          <p:nvPr>
            <p:ph idx="1"/>
          </p:nvPr>
        </p:nvSpPr>
        <p:spPr>
          <a:xfrm>
            <a:off x="0" y="614605"/>
            <a:ext cx="9089756" cy="3914289"/>
          </a:xfrm>
        </p:spPr>
        <p:txBody>
          <a:bodyPr>
            <a:normAutofit/>
          </a:bodyPr>
          <a:lstStyle>
            <a:lvl1pPr marL="230188" indent="-230188">
              <a:tabLst/>
              <a:defRPr sz="1800"/>
            </a:lvl1pPr>
            <a:lvl2pPr marL="514350" indent="-284163">
              <a:spcBef>
                <a:spcPts val="0"/>
              </a:spcBef>
              <a:tabLst/>
              <a:defRPr sz="1600"/>
            </a:lvl2pPr>
            <a:lvl3pPr marL="692150" indent="-177800">
              <a:spcBef>
                <a:spcPts val="0"/>
              </a:spcBef>
              <a:tabLst/>
              <a:defRPr sz="1400"/>
            </a:lvl3pPr>
            <a:lvl4pPr marL="914400" indent="-222250">
              <a:spcBef>
                <a:spcPts val="0"/>
              </a:spcBef>
              <a:tabLst/>
              <a:defRPr sz="1400"/>
            </a:lvl4pPr>
            <a:lvl5pPr marL="1146175" indent="-231775">
              <a:spcBef>
                <a:spcPts val="0"/>
              </a:spcBef>
              <a:tabLst/>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21556"/>
          </a:xfrm>
        </p:spPr>
        <p:txBody>
          <a:bodyPr anchor="t">
            <a:normAutofit/>
          </a:bodyPr>
          <a:lstStyle>
            <a:lvl1pPr algn="l">
              <a:defRPr sz="2400" b="1" cap="all"/>
            </a:lvl1pPr>
          </a:lstStyle>
          <a:p>
            <a:r>
              <a:rPr lang="en-US" dirty="0"/>
              <a:t>Click to edit Master title style</a:t>
            </a:r>
          </a:p>
        </p:txBody>
      </p:sp>
      <p:sp>
        <p:nvSpPr>
          <p:cNvPr id="3" name="Text Placeholder 2"/>
          <p:cNvSpPr>
            <a:spLocks noGrp="1"/>
          </p:cNvSpPr>
          <p:nvPr>
            <p:ph type="body" idx="1"/>
          </p:nvPr>
        </p:nvSpPr>
        <p:spPr>
          <a:xfrm>
            <a:off x="457200" y="1141649"/>
            <a:ext cx="7772400" cy="1125140"/>
          </a:xfrm>
        </p:spPr>
        <p:txBody>
          <a:bodyPr anchor="b">
            <a:normAutofit/>
          </a:bodyPr>
          <a:lstStyle>
            <a:lvl1pPr marL="0" indent="0">
              <a:buNone/>
              <a:defRPr sz="16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lvl1pPr algn="l">
              <a:defRPr b="0">
                <a:solidFill>
                  <a:srgbClr val="FDCC31"/>
                </a:solidFill>
              </a:defRPr>
            </a:lvl1pPr>
          </a:lstStyle>
          <a:p>
            <a:r>
              <a:rPr lang="en-US" dirty="0"/>
              <a:t>Click to edit Master title style</a:t>
            </a:r>
          </a:p>
        </p:txBody>
      </p:sp>
      <p:sp>
        <p:nvSpPr>
          <p:cNvPr id="3" name="Content Placeholder 2"/>
          <p:cNvSpPr>
            <a:spLocks noGrp="1"/>
          </p:cNvSpPr>
          <p:nvPr>
            <p:ph sz="half" idx="1"/>
          </p:nvPr>
        </p:nvSpPr>
        <p:spPr>
          <a:xfrm>
            <a:off x="9040" y="662663"/>
            <a:ext cx="6010759" cy="4480837"/>
          </a:xfrm>
        </p:spPr>
        <p:txBody>
          <a:bodyPr>
            <a:normAutofit/>
          </a:bodyPr>
          <a:lstStyle>
            <a:lvl1pPr marL="230188" indent="-230188">
              <a:tabLst/>
              <a:defRPr sz="1800"/>
            </a:lvl1pPr>
            <a:lvl2pPr marL="460375" indent="-230188">
              <a:tabLst/>
              <a:defRPr sz="1600"/>
            </a:lvl2pPr>
            <a:lvl3pPr marL="630238" indent="-169863">
              <a:tabLst/>
              <a:defRPr sz="1400"/>
            </a:lvl3pPr>
            <a:lvl4pPr marL="914400" indent="-284163">
              <a:tabLst/>
              <a:defRPr sz="1400"/>
            </a:lvl4pPr>
            <a:lvl5pPr marL="1146175" indent="-231775">
              <a:tabLst/>
              <a:defRPr sz="1400"/>
            </a:lvl5pPr>
            <a:lvl6pPr>
              <a:defRPr sz="1350"/>
            </a:lvl6pPr>
            <a:lvl7pPr>
              <a:defRPr sz="1350"/>
            </a:lvl7pPr>
            <a:lvl8pPr>
              <a:defRPr sz="1350"/>
            </a:lvl8pPr>
            <a:lvl9pPr>
              <a:defRPr sz="135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29580" y="662664"/>
            <a:ext cx="2790986" cy="4480836"/>
          </a:xfrm>
        </p:spPr>
        <p:txBody>
          <a:bodyPr>
            <a:normAutofit/>
          </a:bodyPr>
          <a:lstStyle>
            <a:lvl1pPr marL="342900" indent="-342900">
              <a:defRPr lang="en-US" sz="1800" kern="1200" dirty="0">
                <a:solidFill>
                  <a:schemeClr val="tx1"/>
                </a:solidFill>
                <a:latin typeface="+mn-lt"/>
                <a:ea typeface="+mn-ea"/>
                <a:cs typeface="+mn-cs"/>
              </a:defRPr>
            </a:lvl1pPr>
            <a:lvl2pPr marL="515937" indent="-285750">
              <a:defRPr lang="en-US" sz="1600" kern="1200" dirty="0">
                <a:solidFill>
                  <a:schemeClr val="tx1"/>
                </a:solidFill>
                <a:latin typeface="+mn-lt"/>
                <a:ea typeface="+mn-ea"/>
                <a:cs typeface="+mn-cs"/>
              </a:defRPr>
            </a:lvl2pPr>
            <a:lvl3pPr marL="746125" indent="-285750">
              <a:defRPr lang="en-US" sz="1400" kern="1200" dirty="0">
                <a:solidFill>
                  <a:schemeClr val="tx1"/>
                </a:solidFill>
                <a:latin typeface="+mn-lt"/>
                <a:ea typeface="+mn-ea"/>
                <a:cs typeface="+mn-cs"/>
              </a:defRPr>
            </a:lvl3pPr>
            <a:lvl4pPr marL="915987" indent="-285750">
              <a:defRPr lang="en-US" sz="1400" kern="1200" dirty="0">
                <a:solidFill>
                  <a:schemeClr val="tx1"/>
                </a:solidFill>
                <a:latin typeface="+mn-lt"/>
                <a:ea typeface="+mn-ea"/>
                <a:cs typeface="+mn-cs"/>
              </a:defRPr>
            </a:lvl4pPr>
            <a:lvl5pPr marL="1200150" indent="-285750">
              <a:defRPr lang="en-US" sz="1400" kern="1200" dirty="0">
                <a:solidFill>
                  <a:schemeClr val="tx1"/>
                </a:solidFill>
                <a:latin typeface="+mn-lt"/>
                <a:ea typeface="+mn-ea"/>
                <a:cs typeface="+mn-cs"/>
              </a:defRPr>
            </a:lvl5pPr>
            <a:lvl6pPr>
              <a:defRPr sz="1350"/>
            </a:lvl6pPr>
            <a:lvl7pPr>
              <a:defRPr sz="1350"/>
            </a:lvl7pPr>
            <a:lvl8pPr>
              <a:defRPr sz="1350"/>
            </a:lvl8pPr>
            <a:lvl9pPr>
              <a:defRPr sz="1350"/>
            </a:lvl9pPr>
          </a:lstStyle>
          <a:p>
            <a:pPr marL="230188" lvl="0" indent="-230188" algn="l" defTabSz="342900" rtl="0" eaLnBrk="1" latinLnBrk="0" hangingPunct="1">
              <a:spcBef>
                <a:spcPct val="20000"/>
              </a:spcBef>
              <a:buFont typeface="Arial"/>
              <a:buChar char="•"/>
              <a:tabLst/>
            </a:pPr>
            <a:r>
              <a:rPr lang="en-US" dirty="0"/>
              <a:t>Click to edit Master text styles</a:t>
            </a:r>
          </a:p>
          <a:p>
            <a:pPr marL="460375" lvl="1" indent="-230188" algn="l" defTabSz="342900" rtl="0" eaLnBrk="1" latinLnBrk="0" hangingPunct="1">
              <a:spcBef>
                <a:spcPct val="20000"/>
              </a:spcBef>
              <a:buFont typeface="Arial"/>
              <a:buChar char="–"/>
              <a:tabLst/>
            </a:pPr>
            <a:r>
              <a:rPr lang="en-US" dirty="0"/>
              <a:t>Second level</a:t>
            </a:r>
          </a:p>
          <a:p>
            <a:pPr marL="630238" lvl="2" indent="-169863" algn="l" defTabSz="342900" rtl="0" eaLnBrk="1" latinLnBrk="0" hangingPunct="1">
              <a:spcBef>
                <a:spcPct val="20000"/>
              </a:spcBef>
              <a:buFont typeface="Arial"/>
              <a:buChar char="•"/>
              <a:tabLst/>
            </a:pPr>
            <a:r>
              <a:rPr lang="en-US" dirty="0"/>
              <a:t>Third level</a:t>
            </a:r>
          </a:p>
          <a:p>
            <a:pPr marL="914400" lvl="3" indent="-284163" algn="l" defTabSz="342900" rtl="0" eaLnBrk="1" latinLnBrk="0" hangingPunct="1">
              <a:spcBef>
                <a:spcPct val="20000"/>
              </a:spcBef>
              <a:buFont typeface="Arial"/>
              <a:buChar char="–"/>
              <a:tabLst/>
            </a:pPr>
            <a:r>
              <a:rPr lang="en-US" dirty="0"/>
              <a:t>Fourth level</a:t>
            </a:r>
          </a:p>
          <a:p>
            <a:pPr marL="1146175" lvl="4" indent="-231775" algn="l" defTabSz="342900" rtl="0" eaLnBrk="1" latinLnBrk="0" hangingPunct="1">
              <a:spcBef>
                <a:spcPct val="20000"/>
              </a:spcBef>
              <a:buFont typeface="Arial"/>
              <a:buChar char="»"/>
              <a:tabLst/>
            </a:pPr>
            <a:r>
              <a:rPr lang="en-US" dirty="0"/>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normAutofit/>
          </a:bodyPr>
          <a:lstStyle>
            <a:lvl1pPr algn="l">
              <a:defRPr sz="2800"/>
            </a:lvl1pPr>
          </a:lstStyle>
          <a:p>
            <a:r>
              <a:rPr lang="en-US" dirty="0"/>
              <a:t>Click to edit Master title style</a:t>
            </a:r>
          </a:p>
        </p:txBody>
      </p:sp>
      <p:sp>
        <p:nvSpPr>
          <p:cNvPr id="3" name="Text Placeholder 2"/>
          <p:cNvSpPr>
            <a:spLocks noGrp="1"/>
          </p:cNvSpPr>
          <p:nvPr>
            <p:ph type="body" idx="1"/>
          </p:nvPr>
        </p:nvSpPr>
        <p:spPr>
          <a:xfrm>
            <a:off x="136201" y="802623"/>
            <a:ext cx="4435799" cy="479822"/>
          </a:xfrm>
        </p:spPr>
        <p:txBody>
          <a:bodyPr anchor="b">
            <a:normAutofit/>
          </a:bodyPr>
          <a:lstStyle>
            <a:lvl1pPr marL="0" indent="0">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4" name="Content Placeholder 3"/>
          <p:cNvSpPr>
            <a:spLocks noGrp="1"/>
          </p:cNvSpPr>
          <p:nvPr>
            <p:ph sz="half" idx="2"/>
          </p:nvPr>
        </p:nvSpPr>
        <p:spPr>
          <a:xfrm>
            <a:off x="136201" y="1282444"/>
            <a:ext cx="4435799" cy="3305054"/>
          </a:xfrm>
        </p:spPr>
        <p:txBody>
          <a:bodyPr/>
          <a:lstStyle>
            <a:lvl1pPr>
              <a:defRPr sz="16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753514" y="823389"/>
            <a:ext cx="4041775" cy="479822"/>
          </a:xfrm>
        </p:spPr>
        <p:txBody>
          <a:bodyPr anchor="b">
            <a:normAutofit/>
          </a:bodyPr>
          <a:lstStyle>
            <a:lvl1pPr marL="0" indent="0">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753514" y="1303210"/>
            <a:ext cx="4041775" cy="3284288"/>
          </a:xfrm>
        </p:spPr>
        <p:txBody>
          <a:bodyPr/>
          <a:lstStyle>
            <a:lvl1pPr>
              <a:defRPr sz="16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3/24/25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3/24/25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3/24/25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71538"/>
          </a:xfrm>
        </p:spPr>
        <p:txBody>
          <a:bodyPr anchor="t" anchorCtr="0">
            <a:normAutofit/>
          </a:bodyPr>
          <a:lstStyle>
            <a:lvl1pPr algn="l">
              <a:defRPr sz="2400" b="1"/>
            </a:lvl1pPr>
          </a:lstStyle>
          <a:p>
            <a:r>
              <a:rPr lang="en-US"/>
              <a:t>Click to edit Master title style</a:t>
            </a:r>
          </a:p>
        </p:txBody>
      </p:sp>
      <p:sp>
        <p:nvSpPr>
          <p:cNvPr id="3" name="Content Placeholder 2"/>
          <p:cNvSpPr>
            <a:spLocks noGrp="1"/>
          </p:cNvSpPr>
          <p:nvPr>
            <p:ph idx="1"/>
          </p:nvPr>
        </p:nvSpPr>
        <p:spPr>
          <a:xfrm>
            <a:off x="3657600" y="960804"/>
            <a:ext cx="5238426" cy="3806460"/>
          </a:xfrm>
        </p:spPr>
        <p:txBody>
          <a:bodyPr>
            <a:normAutofit/>
          </a:bodyPr>
          <a:lstStyle>
            <a:lvl1pPr>
              <a:defRPr sz="1800"/>
            </a:lvl1pPr>
            <a:lvl2pPr>
              <a:defRPr sz="1600"/>
            </a:lvl2pPr>
            <a:lvl3pPr>
              <a:defRPr sz="1600"/>
            </a:lvl3pPr>
            <a:lvl4pPr>
              <a:defRPr sz="1600"/>
            </a:lvl4pPr>
            <a:lvl5pPr>
              <a:defRPr sz="1600"/>
            </a:lvl5pPr>
            <a:lvl6pPr>
              <a:defRPr sz="1500"/>
            </a:lvl6pPr>
            <a:lvl7pPr>
              <a:defRPr sz="1500"/>
            </a:lvl7pPr>
            <a:lvl8pPr>
              <a:defRPr sz="1500"/>
            </a:lvl8pPr>
            <a:lvl9pPr>
              <a:defRPr sz="15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0" y="960803"/>
            <a:ext cx="3541363" cy="3518297"/>
          </a:xfrm>
        </p:spPr>
        <p:txBody>
          <a:bodyPr>
            <a:normAutofit/>
          </a:bodyPr>
          <a:lstStyle>
            <a:lvl1pPr marL="0" indent="0">
              <a:buNone/>
              <a:defRPr sz="16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dirty="0"/>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7490" y="102393"/>
            <a:ext cx="8934774" cy="582780"/>
          </a:xfrm>
          <a:prstGeom prst="rect">
            <a:avLst/>
          </a:prstGeom>
          <a:solidFill>
            <a:srgbClr val="70121D"/>
          </a:solidFill>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77489" y="781696"/>
            <a:ext cx="8934773" cy="3914289"/>
          </a:xfrm>
          <a:prstGeom prst="rect">
            <a:avLst/>
          </a:prstGeom>
        </p:spPr>
        <p:txBody>
          <a:bodyPr bIns="45720" lIns="91440" rIns="91440" rtlCol="0" tIns="45720" vert="horz">
            <a:normAutofit/>
          </a:bodyPr>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3/24/25</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342900" eaLnBrk="1" hangingPunct="1" latinLnBrk="0" rtl="0">
        <a:spcBef>
          <a:spcPct val="0"/>
        </a:spcBef>
        <a:buNone/>
        <a:defRPr kern="1200" sz="2800">
          <a:solidFill>
            <a:srgbClr val="FDCC31"/>
          </a:solidFill>
          <a:latin typeface="+mj-lt"/>
          <a:ea typeface="+mj-ea"/>
          <a:cs typeface="+mj-cs"/>
        </a:defRPr>
      </a:lvl1pPr>
    </p:titleStyle>
    <p:bodyStyle>
      <a:lvl1pPr algn="l" defTabSz="342900" eaLnBrk="1" hangingPunct="1" indent="-342900" latinLnBrk="0" marL="342900" rtl="0">
        <a:spcBef>
          <a:spcPts val="0"/>
        </a:spcBef>
        <a:buFont typeface="Arial"/>
        <a:buChar char="•"/>
        <a:defRPr b="0" kern="1200" sz="1800">
          <a:solidFill>
            <a:schemeClr val="tx1"/>
          </a:solidFill>
          <a:latin typeface="+mn-lt"/>
          <a:ea typeface="+mn-ea"/>
          <a:cs typeface="+mn-cs"/>
        </a:defRPr>
      </a:lvl1pPr>
      <a:lvl2pPr algn="l" defTabSz="342900" eaLnBrk="1" hangingPunct="1" indent="-342900" latinLnBrk="0" marL="685800" rtl="0">
        <a:spcBef>
          <a:spcPts val="0"/>
        </a:spcBef>
        <a:buFont typeface="Arial"/>
        <a:buChar char="–"/>
        <a:defRPr kern="1200" sz="1600">
          <a:solidFill>
            <a:schemeClr val="tx1"/>
          </a:solidFill>
          <a:latin typeface="+mn-lt"/>
          <a:ea typeface="+mn-ea"/>
          <a:cs typeface="+mn-cs"/>
        </a:defRPr>
      </a:lvl2pPr>
      <a:lvl3pPr algn="l" defTabSz="342900" eaLnBrk="1" hangingPunct="1" indent="-342900" latinLnBrk="0" marL="1028700" rtl="0">
        <a:spcBef>
          <a:spcPts val="0"/>
        </a:spcBef>
        <a:buFont typeface="Arial"/>
        <a:buChar char="•"/>
        <a:defRPr kern="1200" sz="1600">
          <a:solidFill>
            <a:schemeClr val="tx1"/>
          </a:solidFill>
          <a:latin typeface="+mn-lt"/>
          <a:ea typeface="+mn-ea"/>
          <a:cs typeface="+mn-cs"/>
        </a:defRPr>
      </a:lvl3pPr>
      <a:lvl4pPr algn="l" defTabSz="342900" eaLnBrk="1" hangingPunct="1" indent="-342900" latinLnBrk="0" marL="1371600" rtl="0">
        <a:spcBef>
          <a:spcPts val="0"/>
        </a:spcBef>
        <a:buFont typeface="Arial"/>
        <a:buChar char="–"/>
        <a:defRPr kern="1200" sz="1600">
          <a:solidFill>
            <a:schemeClr val="tx1"/>
          </a:solidFill>
          <a:latin typeface="+mn-lt"/>
          <a:ea typeface="+mn-ea"/>
          <a:cs typeface="+mn-cs"/>
        </a:defRPr>
      </a:lvl4pPr>
      <a:lvl5pPr algn="l" defTabSz="342900" eaLnBrk="1" hangingPunct="1" indent="-342900" latinLnBrk="0" marL="1714500" rtl="0">
        <a:spcBef>
          <a:spcPts val="0"/>
        </a:spcBef>
        <a:buFont typeface="Arial"/>
        <a:buChar char="»"/>
        <a:defRPr kern="1200" sz="16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565688"/>
          </a:xfrm>
        </p:spPr>
        <p:txBody>
          <a:bodyPr/>
          <a:lstStyle/>
          <a:p>
            <a:pPr lvl="0" indent="0" marL="0">
              <a:buNone/>
            </a:pPr>
            <a:r>
              <a:rPr/>
              <a:t>Activity: Linear Mixed Models</a:t>
            </a:r>
          </a:p>
        </p:txBody>
      </p:sp>
      <p:sp>
        <p:nvSpPr>
          <p:cNvPr id="3" name="Subtitle 2"/>
          <p:cNvSpPr>
            <a:spLocks noGrp="1"/>
          </p:cNvSpPr>
          <p:nvPr>
            <p:ph idx="1" type="subTitle"/>
          </p:nvPr>
        </p:nvSpPr>
        <p:spPr>
          <a:xfrm>
            <a:off x="255722" y="565689"/>
            <a:ext cx="6400800" cy="1314450"/>
          </a:xfrm>
        </p:spPr>
        <p:txBody>
          <a:bodyPr/>
          <a:lstStyle/>
          <a:p>
            <a:pPr lvl="0" indent="0" marL="0">
              <a:buNone/>
            </a:pPr>
            <a:r>
              <a:rPr/>
              <a:t>Random effects for nested data</a:t>
            </a:r>
            <a:br/>
            <a:br/>
            <a:r>
              <a:rPr/>
              <a:t>Bill Perry</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Worksheet: Linear Mixed Models</a:t>
            </a:r>
          </a:p>
        </p:txBody>
      </p:sp>
      <p:sp>
        <p:nvSpPr>
          <p:cNvPr id="3" name="Content Placeholder 2"/>
          <p:cNvSpPr>
            <a:spLocks noGrp="1"/>
          </p:cNvSpPr>
          <p:nvPr>
            <p:ph idx="1"/>
          </p:nvPr>
        </p:nvSpPr>
        <p:spPr/>
        <p:txBody>
          <a:bodyPr/>
          <a:lstStyle/>
          <a:p>
            <a:pPr lvl="0" indent="0" marL="0">
              <a:spcBef>
                <a:spcPts val="3000"/>
              </a:spcBef>
              <a:buNone/>
            </a:pPr>
            <a:r>
              <a:rPr sz="2000" b="1"/>
              <a:t>How to use this worksheet</a:t>
            </a:r>
          </a:p>
          <a:p>
            <a:pPr lvl="0" indent="0" marL="1270000">
              <a:buNone/>
            </a:pPr>
            <a:r>
              <a:rPr sz="2000"/>
              <a:t>Work through each part in order, at your own pace. Type every line of code yourself into a </a:t>
            </a:r>
            <a:r>
              <a:rPr sz="2000" b="1"/>
              <a:t>plain R script</a:t>
            </a:r>
            <a:r>
              <a:rPr sz="2000"/>
              <a:t> — do not copy-paste. Blocks marked </a:t>
            </a:r>
            <a:r>
              <a:rPr sz="2000" b="1"/>
              <a:t>▶ Run this</a:t>
            </a:r>
            <a:r>
              <a:rPr sz="2000"/>
              <a:t> are code you should type and execute. Blocks marked </a:t>
            </a:r>
            <a:r>
              <a:rPr sz="2000" b="1"/>
              <a:t>✏️ Your turn</a:t>
            </a:r>
            <a:r>
              <a:rPr sz="2000"/>
              <a:t> ask you to write, modify, or answer something. Boxes marked </a:t>
            </a:r>
            <a:r>
              <a:rPr sz="2000" b="1"/>
              <a:t>🚀 If you finish early</a:t>
            </a:r>
            <a:r>
              <a:rPr sz="2000"/>
              <a:t> are optional bonus material that goes a bit further than what we covered in lecture.</a:t>
            </a:r>
          </a:p>
          <a:p>
            <a:pPr lvl="0" indent="0" marL="1270000">
              <a:buNone/>
            </a:pPr>
            <a:r>
              <a:rPr sz="2000"/>
              <a:t>This worksheet picks up the exact same sea urchin grazing / algae cover dataset from the Nested ANOVA activity — </a:t>
            </a:r>
            <a:r>
              <a:rPr sz="2000">
                <a:latin typeface="Courier"/>
              </a:rPr>
              <a:t>patch</a:t>
            </a:r>
            <a:r>
              <a:rPr sz="2000"/>
              <a:t> nested within </a:t>
            </a:r>
            <a:r>
              <a:rPr sz="2000">
                <a:latin typeface="Courier"/>
              </a:rPr>
              <a:t>treat</a:t>
            </a:r>
            <a:r>
              <a:rPr sz="2000"/>
              <a:t> — and fits it as a mixed model instead of a traditional </a:t>
            </a:r>
            <a:r>
              <a:rPr sz="2000">
                <a:latin typeface="Courier"/>
              </a:rPr>
              <a:t>aov()</a:t>
            </a:r>
            <a:r>
              <a:rPr sz="2000"/>
              <a:t> with an </a:t>
            </a:r>
            <a:r>
              <a:rPr sz="2000">
                <a:latin typeface="Courier"/>
              </a:rPr>
              <a:t>Error()</a:t>
            </a:r>
            <a:r>
              <a:rPr sz="2000"/>
              <a:t> term.</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1 · Setup — The Sea Urchin Data, Again</a:t>
            </a:r>
          </a:p>
        </p:txBody>
      </p:sp>
      <p:sp>
        <p:nvSpPr>
          <p:cNvPr id="3" name="Content Placeholder 2"/>
          <p:cNvSpPr>
            <a:spLocks noGrp="1"/>
          </p:cNvSpPr>
          <p:nvPr>
            <p:ph idx="1"/>
          </p:nvPr>
        </p:nvSpPr>
        <p:spPr/>
        <p:txBody>
          <a:bodyPr/>
          <a:lstStyle/>
          <a:p>
            <a:pPr lvl="0" indent="0" marL="0">
              <a:buNone/>
            </a:pPr>
            <a:r>
              <a:rPr b="1"/>
              <a:t>▶ Run this in your Script:</a:t>
            </a:r>
          </a:p>
          <a:p>
            <a:pPr lvl="0" indent="0">
              <a:buNone/>
            </a:pPr>
            <a:r>
              <a:rPr>
                <a:solidFill>
                  <a:srgbClr val="4758AB"/>
                </a:solidFill>
                <a:latin typeface="Courier"/>
              </a:rPr>
              <a:t>library</a:t>
            </a:r>
            <a:r>
              <a:rPr>
                <a:solidFill>
                  <a:srgbClr val="003B4F"/>
                </a:solidFill>
                <a:latin typeface="Courier"/>
              </a:rPr>
              <a:t>(dotwhisker)</a:t>
            </a:r>
            <a:br/>
            <a:r>
              <a:rPr>
                <a:solidFill>
                  <a:srgbClr val="4758AB"/>
                </a:solidFill>
                <a:latin typeface="Courier"/>
              </a:rPr>
              <a:t>library</a:t>
            </a:r>
            <a:r>
              <a:rPr>
                <a:solidFill>
                  <a:srgbClr val="003B4F"/>
                </a:solidFill>
                <a:latin typeface="Courier"/>
              </a:rPr>
              <a:t>(janitor)</a:t>
            </a:r>
            <a:br/>
            <a:r>
              <a:rPr>
                <a:solidFill>
                  <a:srgbClr val="4758AB"/>
                </a:solidFill>
                <a:latin typeface="Courier"/>
              </a:rPr>
              <a:t>library</a:t>
            </a:r>
            <a:r>
              <a:rPr>
                <a:solidFill>
                  <a:srgbClr val="003B4F"/>
                </a:solidFill>
                <a:latin typeface="Courier"/>
              </a:rPr>
              <a:t>(car)          </a:t>
            </a:r>
            <a:r>
              <a:rPr>
                <a:solidFill>
                  <a:srgbClr val="5E5E5E"/>
                </a:solidFill>
                <a:latin typeface="Courier"/>
              </a:rPr>
              <a:t># For Levene's test and Type III SS</a:t>
            </a:r>
            <a:br/>
            <a:r>
              <a:rPr>
                <a:solidFill>
                  <a:srgbClr val="4758AB"/>
                </a:solidFill>
                <a:latin typeface="Courier"/>
              </a:rPr>
              <a:t>library</a:t>
            </a:r>
            <a:r>
              <a:rPr>
                <a:solidFill>
                  <a:srgbClr val="003B4F"/>
                </a:solidFill>
                <a:latin typeface="Courier"/>
              </a:rPr>
              <a:t>(lme4)          </a:t>
            </a:r>
            <a:r>
              <a:rPr>
                <a:solidFill>
                  <a:srgbClr val="5E5E5E"/>
                </a:solidFill>
                <a:latin typeface="Courier"/>
              </a:rPr>
              <a:t># For mixed-effects models</a:t>
            </a:r>
            <a:br/>
            <a:r>
              <a:rPr>
                <a:solidFill>
                  <a:srgbClr val="4758AB"/>
                </a:solidFill>
                <a:latin typeface="Courier"/>
              </a:rPr>
              <a:t>library</a:t>
            </a:r>
            <a:r>
              <a:rPr>
                <a:solidFill>
                  <a:srgbClr val="003B4F"/>
                </a:solidFill>
                <a:latin typeface="Courier"/>
              </a:rPr>
              <a:t>(lmerTest)      </a:t>
            </a:r>
            <a:r>
              <a:rPr>
                <a:solidFill>
                  <a:srgbClr val="5E5E5E"/>
                </a:solidFill>
                <a:latin typeface="Courier"/>
              </a:rPr>
              <a:t># For p-values in mixed models</a:t>
            </a:r>
            <a:br/>
            <a:r>
              <a:rPr>
                <a:solidFill>
                  <a:srgbClr val="4758AB"/>
                </a:solidFill>
                <a:latin typeface="Courier"/>
              </a:rPr>
              <a:t>library</a:t>
            </a:r>
            <a:r>
              <a:rPr>
                <a:solidFill>
                  <a:srgbClr val="003B4F"/>
                </a:solidFill>
                <a:latin typeface="Courier"/>
              </a:rPr>
              <a:t>(emmeans)       </a:t>
            </a:r>
            <a:r>
              <a:rPr>
                <a:solidFill>
                  <a:srgbClr val="5E5E5E"/>
                </a:solidFill>
                <a:latin typeface="Courier"/>
              </a:rPr>
              <a:t># For estimated marginal means</a:t>
            </a:r>
            <a:br/>
            <a:r>
              <a:rPr>
                <a:solidFill>
                  <a:srgbClr val="4758AB"/>
                </a:solidFill>
                <a:latin typeface="Courier"/>
              </a:rPr>
              <a:t>library</a:t>
            </a:r>
            <a:r>
              <a:rPr>
                <a:solidFill>
                  <a:srgbClr val="003B4F"/>
                </a:solidFill>
                <a:latin typeface="Courier"/>
              </a:rPr>
              <a:t>(performance)   </a:t>
            </a:r>
            <a:r>
              <a:rPr>
                <a:solidFill>
                  <a:srgbClr val="5E5E5E"/>
                </a:solidFill>
                <a:latin typeface="Courier"/>
              </a:rPr>
              <a:t># For model diagnostics</a:t>
            </a:r>
            <a:br/>
            <a:r>
              <a:rPr>
                <a:solidFill>
                  <a:srgbClr val="4758AB"/>
                </a:solidFill>
                <a:latin typeface="Courier"/>
              </a:rPr>
              <a:t>library</a:t>
            </a:r>
            <a:r>
              <a:rPr>
                <a:solidFill>
                  <a:srgbClr val="003B4F"/>
                </a:solidFill>
                <a:latin typeface="Courier"/>
              </a:rPr>
              <a:t>(DHARMa)        </a:t>
            </a:r>
            <a:r>
              <a:rPr>
                <a:solidFill>
                  <a:srgbClr val="5E5E5E"/>
                </a:solidFill>
                <a:latin typeface="Courier"/>
              </a:rPr>
              <a:t># For residual diagnostics</a:t>
            </a:r>
            <a:br/>
            <a:r>
              <a:rPr>
                <a:solidFill>
                  <a:srgbClr val="4758AB"/>
                </a:solidFill>
                <a:latin typeface="Courier"/>
              </a:rPr>
              <a:t>library</a:t>
            </a:r>
            <a:r>
              <a:rPr>
                <a:solidFill>
                  <a:srgbClr val="003B4F"/>
                </a:solidFill>
                <a:latin typeface="Courier"/>
              </a:rPr>
              <a:t>(tidyverse)</a:t>
            </a:r>
            <a:br/>
            <a:br/>
            <a:r>
              <a:rPr>
                <a:solidFill>
                  <a:srgbClr val="4758AB"/>
                </a:solidFill>
                <a:latin typeface="Courier"/>
              </a:rPr>
              <a:t>options</a:t>
            </a:r>
            <a:r>
              <a:rPr>
                <a:solidFill>
                  <a:srgbClr val="003B4F"/>
                </a:solidFill>
                <a:latin typeface="Courier"/>
              </a:rPr>
              <a:t>(</a:t>
            </a:r>
            <a:r>
              <a:rPr>
                <a:solidFill>
                  <a:srgbClr val="657422"/>
                </a:solidFill>
                <a:latin typeface="Courier"/>
              </a:rPr>
              <a:t>scipen =</a:t>
            </a:r>
            <a:r>
              <a:rPr>
                <a:solidFill>
                  <a:srgbClr val="003B4F"/>
                </a:solidFill>
                <a:latin typeface="Courier"/>
              </a:rPr>
              <a:t> </a:t>
            </a:r>
            <a:r>
              <a:rPr>
                <a:solidFill>
                  <a:srgbClr val="AD0000"/>
                </a:solidFill>
                <a:latin typeface="Courier"/>
              </a:rPr>
              <a:t>999</a:t>
            </a:r>
            <a:r>
              <a:rPr>
                <a:solidFill>
                  <a:srgbClr val="003B4F"/>
                </a:solidFill>
                <a:latin typeface="Courier"/>
              </a:rPr>
              <a:t>)</a:t>
            </a:r>
            <a:br/>
            <a:r>
              <a:rPr>
                <a:solidFill>
                  <a:srgbClr val="4758AB"/>
                </a:solidFill>
                <a:latin typeface="Courier"/>
              </a:rPr>
              <a:t>options</a:t>
            </a:r>
            <a:r>
              <a:rPr>
                <a:solidFill>
                  <a:srgbClr val="003B4F"/>
                </a:solidFill>
                <a:latin typeface="Courier"/>
              </a:rPr>
              <a:t>(</a:t>
            </a:r>
            <a:r>
              <a:rPr>
                <a:solidFill>
                  <a:srgbClr val="657422"/>
                </a:solidFill>
                <a:latin typeface="Courier"/>
              </a:rPr>
              <a:t>contrasts =</a:t>
            </a:r>
            <a:r>
              <a:rPr>
                <a:solidFill>
                  <a:srgbClr val="003B4F"/>
                </a:solidFill>
                <a:latin typeface="Courier"/>
              </a:rPr>
              <a:t> </a:t>
            </a:r>
            <a:r>
              <a:rPr>
                <a:solidFill>
                  <a:srgbClr val="4758AB"/>
                </a:solidFill>
                <a:latin typeface="Courier"/>
              </a:rPr>
              <a:t>c</a:t>
            </a:r>
            <a:r>
              <a:rPr>
                <a:solidFill>
                  <a:srgbClr val="003B4F"/>
                </a:solidFill>
                <a:latin typeface="Courier"/>
              </a:rPr>
              <a:t>(</a:t>
            </a:r>
            <a:r>
              <a:rPr>
                <a:solidFill>
                  <a:srgbClr val="20794D"/>
                </a:solidFill>
                <a:latin typeface="Courier"/>
              </a:rPr>
              <a:t>"contr.treatment"</a:t>
            </a:r>
            <a:r>
              <a:rPr>
                <a:solidFill>
                  <a:srgbClr val="003B4F"/>
                </a:solidFill>
                <a:latin typeface="Courier"/>
              </a:rPr>
              <a:t>, </a:t>
            </a:r>
            <a:r>
              <a:rPr>
                <a:solidFill>
                  <a:srgbClr val="20794D"/>
                </a:solidFill>
                <a:latin typeface="Courier"/>
              </a:rPr>
              <a:t>"contr.poly"</a:t>
            </a:r>
            <a:r>
              <a:rPr>
                <a:solidFill>
                  <a:srgbClr val="003B4F"/>
                </a:solidFill>
                <a:latin typeface="Courier"/>
              </a:rPr>
              <a:t>))</a:t>
            </a:r>
            <a:br/>
            <a:br/>
            <a:r>
              <a:rPr>
                <a:solidFill>
                  <a:srgbClr val="003B4F"/>
                </a:solidFill>
                <a:latin typeface="Courier"/>
              </a:rPr>
              <a:t>u_df &lt;- </a:t>
            </a:r>
            <a:r>
              <a:rPr>
                <a:solidFill>
                  <a:srgbClr val="4758AB"/>
                </a:solidFill>
                <a:latin typeface="Courier"/>
              </a:rPr>
              <a:t>read_csv</a:t>
            </a:r>
            <a:r>
              <a:rPr>
                <a:solidFill>
                  <a:srgbClr val="003B4F"/>
                </a:solidFill>
                <a:latin typeface="Courier"/>
              </a:rPr>
              <a:t>(</a:t>
            </a:r>
            <a:r>
              <a:rPr>
                <a:solidFill>
                  <a:srgbClr val="20794D"/>
                </a:solidFill>
                <a:latin typeface="Courier"/>
              </a:rPr>
              <a:t>"data/andrew.csv"</a:t>
            </a:r>
            <a:r>
              <a:rPr>
                <a:solidFill>
                  <a:srgbClr val="003B4F"/>
                </a:solidFill>
                <a:latin typeface="Courier"/>
              </a:rPr>
              <a:t>) </a:t>
            </a:r>
            <a:r>
              <a:rPr>
                <a:solidFill>
                  <a:srgbClr val="5E5E5E"/>
                </a:solidFill>
                <a:latin typeface="Courier"/>
              </a:rPr>
              <a:t>%&gt;%</a:t>
            </a:r>
            <a:r>
              <a:rPr>
                <a:solidFill>
                  <a:srgbClr val="003B4F"/>
                </a:solidFill>
                <a:latin typeface="Courier"/>
              </a:rPr>
              <a:t> </a:t>
            </a:r>
            <a:r>
              <a:rPr>
                <a:solidFill>
                  <a:srgbClr val="4758AB"/>
                </a:solidFill>
                <a:latin typeface="Courier"/>
              </a:rPr>
              <a:t>clean_names</a:t>
            </a:r>
            <a:r>
              <a:rPr>
                <a:solidFill>
                  <a:srgbClr val="003B4F"/>
                </a:solidFill>
                <a:latin typeface="Courier"/>
              </a:rPr>
              <a:t>()</a:t>
            </a:r>
            <a:br/>
            <a:br/>
            <a:r>
              <a:rPr>
                <a:solidFill>
                  <a:srgbClr val="003B4F"/>
                </a:solidFill>
                <a:latin typeface="Courier"/>
              </a:rPr>
              <a:t>u_df &lt;- u_df </a:t>
            </a:r>
            <a:r>
              <a:rPr>
                <a:solidFill>
                  <a:srgbClr val="5E5E5E"/>
                </a:solidFill>
                <a:latin typeface="Courier"/>
              </a:rPr>
              <a:t>%&gt;%</a:t>
            </a:r>
            <a:br/>
            <a:r>
              <a:rPr>
                <a:solidFill>
                  <a:srgbClr val="003B4F"/>
                </a:solidFill>
                <a:latin typeface="Courier"/>
              </a:rPr>
              <a:t>  </a:t>
            </a:r>
            <a:r>
              <a:rPr>
                <a:solidFill>
                  <a:srgbClr val="4758AB"/>
                </a:solidFill>
                <a:latin typeface="Courier"/>
              </a:rPr>
              <a:t>mutate</a:t>
            </a:r>
            <a:r>
              <a:rPr>
                <a:solidFill>
                  <a:srgbClr val="003B4F"/>
                </a:solidFill>
                <a:latin typeface="Courier"/>
              </a:rPr>
              <a:t>(</a:t>
            </a:r>
            <a:r>
              <a:rPr>
                <a:solidFill>
                  <a:srgbClr val="657422"/>
                </a:solidFill>
                <a:latin typeface="Courier"/>
              </a:rPr>
              <a:t>treat =</a:t>
            </a:r>
            <a:r>
              <a:rPr>
                <a:solidFill>
                  <a:srgbClr val="003B4F"/>
                </a:solidFill>
                <a:latin typeface="Courier"/>
              </a:rPr>
              <a:t> </a:t>
            </a:r>
            <a:r>
              <a:rPr>
                <a:solidFill>
                  <a:srgbClr val="4758AB"/>
                </a:solidFill>
                <a:latin typeface="Courier"/>
              </a:rPr>
              <a:t>case_when</a:t>
            </a:r>
            <a:r>
              <a:rPr>
                <a:solidFill>
                  <a:srgbClr val="003B4F"/>
                </a:solidFill>
                <a:latin typeface="Courier"/>
              </a:rPr>
              <a:t>(</a:t>
            </a:r>
            <a:br/>
            <a:r>
              <a:rPr>
                <a:solidFill>
                  <a:srgbClr val="003B4F"/>
                </a:solidFill>
                <a:latin typeface="Courier"/>
              </a:rPr>
              <a:t>         treat </a:t>
            </a:r>
            <a:r>
              <a:rPr>
                <a:solidFill>
                  <a:srgbClr val="5E5E5E"/>
                </a:solidFill>
                <a:latin typeface="Courier"/>
              </a:rPr>
              <a:t>==</a:t>
            </a:r>
            <a:r>
              <a:rPr>
                <a:solidFill>
                  <a:srgbClr val="003B4F"/>
                </a:solidFill>
                <a:latin typeface="Courier"/>
              </a:rPr>
              <a:t> </a:t>
            </a:r>
            <a:r>
              <a:rPr>
                <a:solidFill>
                  <a:srgbClr val="20794D"/>
                </a:solidFill>
                <a:latin typeface="Courier"/>
              </a:rPr>
              <a:t>"removal"</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20794D"/>
                </a:solidFill>
                <a:latin typeface="Courier"/>
              </a:rPr>
              <a:t>"none"</a:t>
            </a:r>
            <a:r>
              <a:rPr>
                <a:solidFill>
                  <a:srgbClr val="003B4F"/>
                </a:solidFill>
                <a:latin typeface="Courier"/>
              </a:rPr>
              <a:t>,</a:t>
            </a:r>
            <a:br/>
            <a:r>
              <a:rPr>
                <a:solidFill>
                  <a:srgbClr val="003B4F"/>
                </a:solidFill>
                <a:latin typeface="Courier"/>
              </a:rPr>
              <a:t>         treat </a:t>
            </a:r>
            <a:r>
              <a:rPr>
                <a:solidFill>
                  <a:srgbClr val="5E5E5E"/>
                </a:solidFill>
                <a:latin typeface="Courier"/>
              </a:rPr>
              <a:t>==</a:t>
            </a:r>
            <a:r>
              <a:rPr>
                <a:solidFill>
                  <a:srgbClr val="003B4F"/>
                </a:solidFill>
                <a:latin typeface="Courier"/>
              </a:rPr>
              <a:t> </a:t>
            </a:r>
            <a:r>
              <a:rPr>
                <a:solidFill>
                  <a:srgbClr val="20794D"/>
                </a:solidFill>
                <a:latin typeface="Courier"/>
              </a:rPr>
              <a:t>"control"</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20794D"/>
                </a:solidFill>
                <a:latin typeface="Courier"/>
              </a:rPr>
              <a:t>"high"</a:t>
            </a:r>
            <a:r>
              <a:rPr>
                <a:solidFill>
                  <a:srgbClr val="003B4F"/>
                </a:solidFill>
                <a:latin typeface="Courier"/>
              </a:rPr>
              <a:t>,</a:t>
            </a:r>
            <a:br/>
            <a:r>
              <a:rPr>
                <a:solidFill>
                  <a:srgbClr val="003B4F"/>
                </a:solidFill>
                <a:latin typeface="Courier"/>
              </a:rPr>
              <a:t>         treat </a:t>
            </a:r>
            <a:r>
              <a:rPr>
                <a:solidFill>
                  <a:srgbClr val="5E5E5E"/>
                </a:solidFill>
                <a:latin typeface="Courier"/>
              </a:rPr>
              <a:t>==</a:t>
            </a:r>
            <a:r>
              <a:rPr>
                <a:solidFill>
                  <a:srgbClr val="003B4F"/>
                </a:solidFill>
                <a:latin typeface="Courier"/>
              </a:rPr>
              <a:t> </a:t>
            </a:r>
            <a:r>
              <a:rPr>
                <a:solidFill>
                  <a:srgbClr val="20794D"/>
                </a:solidFill>
                <a:latin typeface="Courier"/>
              </a:rPr>
              <a:t>"dens_33"</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20794D"/>
                </a:solidFill>
                <a:latin typeface="Courier"/>
              </a:rPr>
              <a:t>"low"</a:t>
            </a:r>
            <a:r>
              <a:rPr>
                <a:solidFill>
                  <a:srgbClr val="003B4F"/>
                </a:solidFill>
                <a:latin typeface="Courier"/>
              </a:rPr>
              <a:t>,</a:t>
            </a:r>
            <a:br/>
            <a:r>
              <a:rPr>
                <a:solidFill>
                  <a:srgbClr val="003B4F"/>
                </a:solidFill>
                <a:latin typeface="Courier"/>
              </a:rPr>
              <a:t>         treat </a:t>
            </a:r>
            <a:r>
              <a:rPr>
                <a:solidFill>
                  <a:srgbClr val="5E5E5E"/>
                </a:solidFill>
                <a:latin typeface="Courier"/>
              </a:rPr>
              <a:t>==</a:t>
            </a:r>
            <a:r>
              <a:rPr>
                <a:solidFill>
                  <a:srgbClr val="003B4F"/>
                </a:solidFill>
                <a:latin typeface="Courier"/>
              </a:rPr>
              <a:t> </a:t>
            </a:r>
            <a:r>
              <a:rPr>
                <a:solidFill>
                  <a:srgbClr val="20794D"/>
                </a:solidFill>
                <a:latin typeface="Courier"/>
              </a:rPr>
              <a:t>"dens_66"</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20794D"/>
                </a:solidFill>
                <a:latin typeface="Courier"/>
              </a:rPr>
              <a:t>"medium"</a:t>
            </a:r>
            <a:r>
              <a:rPr>
                <a:solidFill>
                  <a:srgbClr val="003B4F"/>
                </a:solidFill>
                <a:latin typeface="Courier"/>
              </a:rPr>
              <a:t>,</a:t>
            </a:r>
            <a:br/>
            <a:r>
              <a:rPr>
                <a:solidFill>
                  <a:srgbClr val="003B4F"/>
                </a:solidFill>
                <a:latin typeface="Courier"/>
              </a:rPr>
              <a:t>         </a:t>
            </a:r>
            <a:r>
              <a:rPr>
                <a:solidFill>
                  <a:srgbClr val="8F5902"/>
                </a:solidFill>
                <a:latin typeface="Courier"/>
              </a:rPr>
              <a:t>TRUE</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20794D"/>
                </a:solidFill>
                <a:latin typeface="Courier"/>
              </a:rPr>
              <a:t>"other"</a:t>
            </a:r>
            <a:r>
              <a:rPr>
                <a:solidFill>
                  <a:srgbClr val="003B4F"/>
                </a:solidFill>
                <a:latin typeface="Courier"/>
              </a:rPr>
              <a:t>)) </a:t>
            </a:r>
            <a:r>
              <a:rPr>
                <a:solidFill>
                  <a:srgbClr val="5E5E5E"/>
                </a:solidFill>
                <a:latin typeface="Courier"/>
              </a:rPr>
              <a:t>%&gt;%</a:t>
            </a:r>
            <a:br/>
            <a:r>
              <a:rPr>
                <a:solidFill>
                  <a:srgbClr val="003B4F"/>
                </a:solidFill>
                <a:latin typeface="Courier"/>
              </a:rPr>
              <a:t>  </a:t>
            </a:r>
            <a:r>
              <a:rPr>
                <a:solidFill>
                  <a:srgbClr val="4758AB"/>
                </a:solidFill>
                <a:latin typeface="Courier"/>
              </a:rPr>
              <a:t>mutate</a:t>
            </a:r>
            <a:r>
              <a:rPr>
                <a:solidFill>
                  <a:srgbClr val="003B4F"/>
                </a:solidFill>
                <a:latin typeface="Courier"/>
              </a:rPr>
              <a:t>(</a:t>
            </a:r>
            <a:r>
              <a:rPr>
                <a:solidFill>
                  <a:srgbClr val="657422"/>
                </a:solidFill>
                <a:latin typeface="Courier"/>
              </a:rPr>
              <a:t>treat =</a:t>
            </a:r>
            <a:r>
              <a:rPr>
                <a:solidFill>
                  <a:srgbClr val="003B4F"/>
                </a:solidFill>
                <a:latin typeface="Courier"/>
              </a:rPr>
              <a:t> </a:t>
            </a:r>
            <a:r>
              <a:rPr>
                <a:solidFill>
                  <a:srgbClr val="4758AB"/>
                </a:solidFill>
                <a:latin typeface="Courier"/>
              </a:rPr>
              <a:t>factor</a:t>
            </a:r>
            <a:r>
              <a:rPr>
                <a:solidFill>
                  <a:srgbClr val="003B4F"/>
                </a:solidFill>
                <a:latin typeface="Courier"/>
              </a:rPr>
              <a:t>(treat,</a:t>
            </a:r>
            <a:br/>
            <a:r>
              <a:rPr>
                <a:solidFill>
                  <a:srgbClr val="003B4F"/>
                </a:solidFill>
                <a:latin typeface="Courier"/>
              </a:rPr>
              <a:t>                        </a:t>
            </a:r>
            <a:r>
              <a:rPr>
                <a:solidFill>
                  <a:srgbClr val="657422"/>
                </a:solidFill>
                <a:latin typeface="Courier"/>
              </a:rPr>
              <a:t>levels =</a:t>
            </a:r>
            <a:r>
              <a:rPr>
                <a:solidFill>
                  <a:srgbClr val="003B4F"/>
                </a:solidFill>
                <a:latin typeface="Courier"/>
              </a:rPr>
              <a:t> </a:t>
            </a:r>
            <a:r>
              <a:rPr>
                <a:solidFill>
                  <a:srgbClr val="4758AB"/>
                </a:solidFill>
                <a:latin typeface="Courier"/>
              </a:rPr>
              <a:t>c</a:t>
            </a:r>
            <a:r>
              <a:rPr>
                <a:solidFill>
                  <a:srgbClr val="003B4F"/>
                </a:solidFill>
                <a:latin typeface="Courier"/>
              </a:rPr>
              <a:t>(</a:t>
            </a:r>
            <a:r>
              <a:rPr>
                <a:solidFill>
                  <a:srgbClr val="20794D"/>
                </a:solidFill>
                <a:latin typeface="Courier"/>
              </a:rPr>
              <a:t>"none"</a:t>
            </a:r>
            <a:r>
              <a:rPr>
                <a:solidFill>
                  <a:srgbClr val="003B4F"/>
                </a:solidFill>
                <a:latin typeface="Courier"/>
              </a:rPr>
              <a:t>, </a:t>
            </a:r>
            <a:r>
              <a:rPr>
                <a:solidFill>
                  <a:srgbClr val="20794D"/>
                </a:solidFill>
                <a:latin typeface="Courier"/>
              </a:rPr>
              <a:t>"low"</a:t>
            </a:r>
            <a:r>
              <a:rPr>
                <a:solidFill>
                  <a:srgbClr val="003B4F"/>
                </a:solidFill>
                <a:latin typeface="Courier"/>
              </a:rPr>
              <a:t>, </a:t>
            </a:r>
            <a:r>
              <a:rPr>
                <a:solidFill>
                  <a:srgbClr val="20794D"/>
                </a:solidFill>
                <a:latin typeface="Courier"/>
              </a:rPr>
              <a:t>"medium"</a:t>
            </a:r>
            <a:r>
              <a:rPr>
                <a:solidFill>
                  <a:srgbClr val="003B4F"/>
                </a:solidFill>
                <a:latin typeface="Courier"/>
              </a:rPr>
              <a:t>, </a:t>
            </a:r>
            <a:r>
              <a:rPr>
                <a:solidFill>
                  <a:srgbClr val="20794D"/>
                </a:solidFill>
                <a:latin typeface="Courier"/>
              </a:rPr>
              <a:t>"high"</a:t>
            </a:r>
            <a:r>
              <a:rPr>
                <a:solidFill>
                  <a:srgbClr val="003B4F"/>
                </a:solidFill>
                <a:latin typeface="Courier"/>
              </a:rPr>
              <a:t>),</a:t>
            </a:r>
            <a:br/>
            <a:r>
              <a:rPr>
                <a:solidFill>
                  <a:srgbClr val="003B4F"/>
                </a:solidFill>
                <a:latin typeface="Courier"/>
              </a:rPr>
              <a:t>                        </a:t>
            </a:r>
            <a:r>
              <a:rPr>
                <a:solidFill>
                  <a:srgbClr val="657422"/>
                </a:solidFill>
                <a:latin typeface="Courier"/>
              </a:rPr>
              <a:t>labels =</a:t>
            </a:r>
            <a:r>
              <a:rPr>
                <a:solidFill>
                  <a:srgbClr val="003B4F"/>
                </a:solidFill>
                <a:latin typeface="Courier"/>
              </a:rPr>
              <a:t> </a:t>
            </a:r>
            <a:r>
              <a:rPr>
                <a:solidFill>
                  <a:srgbClr val="4758AB"/>
                </a:solidFill>
                <a:latin typeface="Courier"/>
              </a:rPr>
              <a:t>c</a:t>
            </a:r>
            <a:r>
              <a:rPr>
                <a:solidFill>
                  <a:srgbClr val="003B4F"/>
                </a:solidFill>
                <a:latin typeface="Courier"/>
              </a:rPr>
              <a:t>(</a:t>
            </a:r>
            <a:r>
              <a:rPr>
                <a:solidFill>
                  <a:srgbClr val="20794D"/>
                </a:solidFill>
                <a:latin typeface="Courier"/>
              </a:rPr>
              <a:t>"none"</a:t>
            </a:r>
            <a:r>
              <a:rPr>
                <a:solidFill>
                  <a:srgbClr val="003B4F"/>
                </a:solidFill>
                <a:latin typeface="Courier"/>
              </a:rPr>
              <a:t>, </a:t>
            </a:r>
            <a:r>
              <a:rPr>
                <a:solidFill>
                  <a:srgbClr val="20794D"/>
                </a:solidFill>
                <a:latin typeface="Courier"/>
              </a:rPr>
              <a:t>"low"</a:t>
            </a:r>
            <a:r>
              <a:rPr>
                <a:solidFill>
                  <a:srgbClr val="003B4F"/>
                </a:solidFill>
                <a:latin typeface="Courier"/>
              </a:rPr>
              <a:t>, </a:t>
            </a:r>
            <a:r>
              <a:rPr>
                <a:solidFill>
                  <a:srgbClr val="20794D"/>
                </a:solidFill>
                <a:latin typeface="Courier"/>
              </a:rPr>
              <a:t>"medium"</a:t>
            </a:r>
            <a:r>
              <a:rPr>
                <a:solidFill>
                  <a:srgbClr val="003B4F"/>
                </a:solidFill>
                <a:latin typeface="Courier"/>
              </a:rPr>
              <a:t>, </a:t>
            </a:r>
            <a:r>
              <a:rPr>
                <a:solidFill>
                  <a:srgbClr val="20794D"/>
                </a:solidFill>
                <a:latin typeface="Courier"/>
              </a:rPr>
              <a:t>"high"</a:t>
            </a:r>
            <a:r>
              <a:rPr>
                <a:solidFill>
                  <a:srgbClr val="003B4F"/>
                </a:solidFill>
                <a:latin typeface="Courier"/>
              </a:rPr>
              <a:t>)),</a:t>
            </a:r>
            <a:br/>
            <a:r>
              <a:rPr>
                <a:solidFill>
                  <a:srgbClr val="003B4F"/>
                </a:solidFill>
                <a:latin typeface="Courier"/>
              </a:rPr>
              <a:t>         </a:t>
            </a:r>
            <a:r>
              <a:rPr>
                <a:solidFill>
                  <a:srgbClr val="657422"/>
                </a:solidFill>
                <a:latin typeface="Courier"/>
              </a:rPr>
              <a:t>patch =</a:t>
            </a:r>
            <a:r>
              <a:rPr>
                <a:solidFill>
                  <a:srgbClr val="003B4F"/>
                </a:solidFill>
                <a:latin typeface="Courier"/>
              </a:rPr>
              <a:t> </a:t>
            </a:r>
            <a:r>
              <a:rPr>
                <a:solidFill>
                  <a:srgbClr val="4758AB"/>
                </a:solidFill>
                <a:latin typeface="Courier"/>
              </a:rPr>
              <a:t>as_factor</a:t>
            </a:r>
            <a:r>
              <a:rPr>
                <a:solidFill>
                  <a:srgbClr val="003B4F"/>
                </a:solidFill>
                <a:latin typeface="Courier"/>
              </a:rPr>
              <a:t>(patch))</a:t>
            </a:r>
            <a:br/>
            <a:br/>
            <a:r>
              <a:rPr>
                <a:solidFill>
                  <a:srgbClr val="4758AB"/>
                </a:solidFill>
                <a:latin typeface="Courier"/>
              </a:rPr>
              <a:t>head</a:t>
            </a:r>
            <a:r>
              <a:rPr>
                <a:solidFill>
                  <a:srgbClr val="003B4F"/>
                </a:solidFill>
                <a:latin typeface="Courier"/>
              </a:rPr>
              <a:t>(u_df)</a:t>
            </a:r>
            <a:br/>
            <a:r>
              <a:rPr>
                <a:solidFill>
                  <a:srgbClr val="4758AB"/>
                </a:solidFill>
                <a:latin typeface="Courier"/>
              </a:rPr>
              <a:t>levels</a:t>
            </a:r>
            <a:r>
              <a:rPr>
                <a:solidFill>
                  <a:srgbClr val="003B4F"/>
                </a:solidFill>
                <a:latin typeface="Courier"/>
              </a:rPr>
              <a:t>(u_df</a:t>
            </a:r>
            <a:r>
              <a:rPr>
                <a:solidFill>
                  <a:srgbClr val="5E5E5E"/>
                </a:solidFill>
                <a:latin typeface="Courier"/>
              </a:rPr>
              <a:t>$</a:t>
            </a:r>
            <a:r>
              <a:rPr>
                <a:solidFill>
                  <a:srgbClr val="003B4F"/>
                </a:solidFill>
                <a:latin typeface="Courier"/>
              </a:rPr>
              <a:t>treat)</a:t>
            </a:r>
          </a:p>
          <a:p>
            <a:pPr lvl="0" indent="0" marL="0">
              <a:buNone/>
            </a:pPr>
            <a:r>
              <a:rPr>
                <a:latin typeface="Courier"/>
              </a:rPr>
              <a:t>u_df</a:t>
            </a:r>
            <a:r>
              <a:rPr/>
              <a:t> contains: </a:t>
            </a:r>
            <a:r>
              <a:rPr>
                <a:latin typeface="Courier"/>
              </a:rPr>
              <a:t>patch</a:t>
            </a:r>
            <a:r>
              <a:rPr/>
              <a:t> (random patches 1–16 where treatments were applied), </a:t>
            </a:r>
            <a:r>
              <a:rPr>
                <a:latin typeface="Courier"/>
              </a:rPr>
              <a:t>treat</a:t>
            </a:r>
            <a:r>
              <a:rPr/>
              <a:t> (urchin density treatment — none, low, medium, high), </a:t>
            </a:r>
            <a:r>
              <a:rPr>
                <a:latin typeface="Courier"/>
              </a:rPr>
              <a:t>quad</a:t>
            </a:r>
            <a:r>
              <a:rPr/>
              <a:t> (replicate quadrats within each patch:treatment combination), </a:t>
            </a:r>
            <a:r>
              <a:rPr>
                <a:latin typeface="Courier"/>
              </a:rPr>
              <a:t>algae</a:t>
            </a:r>
            <a:r>
              <a:rPr/>
              <a:t> (percentage cover of filamentous algae — the response variable).</a:t>
            </a:r>
          </a:p>
          <a:p>
            <a:pPr lvl="0" indent="0" marL="1270000">
              <a:buNone/>
            </a:pPr>
            <a:r>
              <a:rPr sz="2000" b="1"/>
              <a:t>Tip</a:t>
            </a:r>
          </a:p>
          <a:p>
            <a:pPr lvl="0" indent="0" marL="1270000">
              <a:buNone/>
            </a:pPr>
            <a:r>
              <a:rPr sz="2000" b="1"/>
              <a:t>🖐 Notice</a:t>
            </a:r>
          </a:p>
          <a:p>
            <a:pPr lvl="0" indent="0" marL="1270000">
              <a:buNone/>
            </a:pPr>
            <a:r>
              <a:rPr sz="2000"/>
              <a:t>If you still have </a:t>
            </a:r>
            <a:r>
              <a:rPr sz="2000">
                <a:latin typeface="Courier"/>
              </a:rPr>
              <a:t>nested_model</a:t>
            </a:r>
            <a:r>
              <a:rPr sz="2000"/>
              <a:t> from the Nested ANOVA activity in your environment, keep it around — Part 4 asks you to compare its p-value to what you get here.</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2 · The Modern Way — Mixed Models</a:t>
            </a:r>
          </a:p>
        </p:txBody>
      </p:sp>
      <p:sp>
        <p:nvSpPr>
          <p:cNvPr id="3" name="Content Placeholder 2"/>
          <p:cNvSpPr>
            <a:spLocks noGrp="1"/>
          </p:cNvSpPr>
          <p:nvPr>
            <p:ph idx="1"/>
          </p:nvPr>
        </p:nvSpPr>
        <p:spPr/>
        <p:txBody>
          <a:bodyPr/>
          <a:lstStyle/>
          <a:p>
            <a:pPr lvl="0" indent="0" marL="0">
              <a:buNone/>
            </a:pPr>
            <a:r>
              <a:rPr/>
              <a:t>Fixed effects go in as a plain variable name. Random effects can be coded a few different ways, depending on the design:</a:t>
            </a:r>
          </a:p>
          <a:p>
            <a:pPr lvl="0"/>
            <a:r>
              <a:rPr b="1"/>
              <a:t>Random intercept, fixed slope:</a:t>
            </a:r>
            <a:r>
              <a:rPr/>
              <a:t> </a:t>
            </a:r>
            <a:r>
              <a:rPr>
                <a:latin typeface="Courier"/>
              </a:rPr>
              <a:t>+ (1|random)</a:t>
            </a:r>
            <a:r>
              <a:rPr/>
              <a:t> — e.g., </a:t>
            </a:r>
            <a:r>
              <a:rPr>
                <a:latin typeface="Courier"/>
              </a:rPr>
              <a:t>color ~ fixed + (1|group)</a:t>
            </a:r>
          </a:p>
          <a:p>
            <a:pPr lvl="0"/>
            <a:r>
              <a:rPr b="1"/>
              <a:t>Random intercept, random slope:</a:t>
            </a:r>
            <a:r>
              <a:rPr/>
              <a:t> </a:t>
            </a:r>
            <a:r>
              <a:rPr>
                <a:latin typeface="Courier"/>
              </a:rPr>
              <a:t>+ (fixed|random)</a:t>
            </a:r>
            <a:r>
              <a:rPr/>
              <a:t> — e.g., </a:t>
            </a:r>
            <a:r>
              <a:rPr>
                <a:latin typeface="Courier"/>
              </a:rPr>
              <a:t>color ~ fixed + (fixed|group)</a:t>
            </a:r>
          </a:p>
          <a:p>
            <a:pPr lvl="0"/>
            <a:r>
              <a:rPr b="1"/>
              <a:t>Nested design</a:t>
            </a:r>
            <a:r>
              <a:rPr/>
              <a:t> (a sample can exist only within a larger grouping): </a:t>
            </a:r>
            <a:r>
              <a:rPr>
                <a:latin typeface="Courier"/>
              </a:rPr>
              <a:t>y ~ color + (1|greenbox/graybox)</a:t>
            </a:r>
            <a:r>
              <a:rPr/>
              <a:t>, equivalent to </a:t>
            </a:r>
            <a:r>
              <a:rPr>
                <a:latin typeface="Courier"/>
              </a:rPr>
              <a:t>y ~ color + (1|greenbox) + (1|greenbox:graybox)</a:t>
            </a:r>
            <a:r>
              <a:rPr/>
              <a:t> — this models random variation in the intercept for each patch, and also for each quadrat within each patch</a:t>
            </a:r>
          </a:p>
          <a:p>
            <a:pPr lvl="0"/>
            <a:r>
              <a:rPr b="1"/>
              <a:t>Fully crossed design</a:t>
            </a:r>
            <a:r>
              <a:rPr/>
              <a:t> (not nested): </a:t>
            </a:r>
            <a:r>
              <a:rPr>
                <a:latin typeface="Courier"/>
              </a:rPr>
              <a:t>y ~ color + (1|green_box) + (1|gray_box)</a:t>
            </a:r>
          </a:p>
          <a:p>
            <a:pPr lvl="0" indent="0" marL="0">
              <a:buNone/>
            </a:pPr>
            <a:r>
              <a:rPr b="1"/>
              <a:t>▶ Run this</a:t>
            </a:r>
            <a:r>
              <a:rPr/>
              <a:t> — fit the mixed model:</a:t>
            </a:r>
          </a:p>
          <a:p>
            <a:pPr lvl="0" indent="0">
              <a:buNone/>
            </a:pPr>
            <a:r>
              <a:rPr>
                <a:solidFill>
                  <a:srgbClr val="003B4F"/>
                </a:solidFill>
                <a:latin typeface="Courier"/>
              </a:rPr>
              <a:t>mixed_model &lt;- </a:t>
            </a:r>
            <a:r>
              <a:rPr>
                <a:solidFill>
                  <a:srgbClr val="4758AB"/>
                </a:solidFill>
                <a:latin typeface="Courier"/>
              </a:rPr>
              <a:t>lmer</a:t>
            </a:r>
            <a:r>
              <a:rPr>
                <a:solidFill>
                  <a:srgbClr val="003B4F"/>
                </a:solidFill>
                <a:latin typeface="Courier"/>
              </a:rPr>
              <a:t>(algae </a:t>
            </a:r>
            <a:r>
              <a:rPr>
                <a:solidFill>
                  <a:srgbClr val="5E5E5E"/>
                </a:solidFill>
                <a:latin typeface="Courier"/>
              </a:rPr>
              <a:t>~</a:t>
            </a:r>
            <a:r>
              <a:rPr>
                <a:solidFill>
                  <a:srgbClr val="003B4F"/>
                </a:solidFill>
                <a:latin typeface="Courier"/>
              </a:rPr>
              <a:t> treat </a:t>
            </a:r>
            <a:r>
              <a:rPr>
                <a:solidFill>
                  <a:srgbClr val="5E5E5E"/>
                </a:solidFill>
                <a:latin typeface="Courier"/>
              </a:rPr>
              <a:t>+</a:t>
            </a:r>
            <a:r>
              <a:rPr>
                <a:solidFill>
                  <a:srgbClr val="003B4F"/>
                </a:solidFill>
                <a:latin typeface="Courier"/>
              </a:rPr>
              <a:t> (</a:t>
            </a:r>
            <a:r>
              <a:rPr>
                <a:solidFill>
                  <a:srgbClr val="AD0000"/>
                </a:solidFill>
                <a:latin typeface="Courier"/>
              </a:rPr>
              <a:t>1</a:t>
            </a:r>
            <a:r>
              <a:rPr>
                <a:solidFill>
                  <a:srgbClr val="5E5E5E"/>
                </a:solidFill>
                <a:latin typeface="Courier"/>
              </a:rPr>
              <a:t>|</a:t>
            </a:r>
            <a:r>
              <a:rPr>
                <a:solidFill>
                  <a:srgbClr val="003B4F"/>
                </a:solidFill>
                <a:latin typeface="Courier"/>
              </a:rPr>
              <a:t>patch), </a:t>
            </a:r>
            <a:r>
              <a:rPr>
                <a:solidFill>
                  <a:srgbClr val="657422"/>
                </a:solidFill>
                <a:latin typeface="Courier"/>
              </a:rPr>
              <a:t>data =</a:t>
            </a:r>
            <a:r>
              <a:rPr>
                <a:solidFill>
                  <a:srgbClr val="003B4F"/>
                </a:solidFill>
                <a:latin typeface="Courier"/>
              </a:rPr>
              <a:t> u_df,</a:t>
            </a:r>
            <a:br/>
            <a:r>
              <a:rPr>
                <a:solidFill>
                  <a:srgbClr val="003B4F"/>
                </a:solidFill>
                <a:latin typeface="Courier"/>
              </a:rPr>
              <a:t>                    </a:t>
            </a:r>
            <a:r>
              <a:rPr>
                <a:solidFill>
                  <a:srgbClr val="657422"/>
                </a:solidFill>
                <a:latin typeface="Courier"/>
              </a:rPr>
              <a:t>control =</a:t>
            </a:r>
            <a:r>
              <a:rPr>
                <a:solidFill>
                  <a:srgbClr val="003B4F"/>
                </a:solidFill>
                <a:latin typeface="Courier"/>
              </a:rPr>
              <a:t> </a:t>
            </a:r>
            <a:r>
              <a:rPr>
                <a:solidFill>
                  <a:srgbClr val="4758AB"/>
                </a:solidFill>
                <a:latin typeface="Courier"/>
              </a:rPr>
              <a:t>lmerControl</a:t>
            </a:r>
            <a:r>
              <a:rPr>
                <a:solidFill>
                  <a:srgbClr val="003B4F"/>
                </a:solidFill>
                <a:latin typeface="Courier"/>
              </a:rPr>
              <a:t>(</a:t>
            </a:r>
            <a:r>
              <a:rPr>
                <a:solidFill>
                  <a:srgbClr val="657422"/>
                </a:solidFill>
                <a:latin typeface="Courier"/>
              </a:rPr>
              <a:t>calc.derivs =</a:t>
            </a:r>
            <a:r>
              <a:rPr>
                <a:solidFill>
                  <a:srgbClr val="003B4F"/>
                </a:solidFill>
                <a:latin typeface="Courier"/>
              </a:rPr>
              <a:t> </a:t>
            </a:r>
            <a:r>
              <a:rPr>
                <a:solidFill>
                  <a:srgbClr val="8F5902"/>
                </a:solidFill>
                <a:latin typeface="Courier"/>
              </a:rPr>
              <a:t>FALSE</a:t>
            </a:r>
            <a:r>
              <a:rPr>
                <a:solidFill>
                  <a:srgbClr val="003B4F"/>
                </a:solidFill>
                <a:latin typeface="Courier"/>
              </a:rPr>
              <a:t>))</a:t>
            </a:r>
            <a:br/>
            <a:r>
              <a:rPr>
                <a:solidFill>
                  <a:srgbClr val="4758AB"/>
                </a:solidFill>
                <a:latin typeface="Courier"/>
              </a:rPr>
              <a:t>summary</a:t>
            </a:r>
            <a:r>
              <a:rPr>
                <a:solidFill>
                  <a:srgbClr val="003B4F"/>
                </a:solidFill>
                <a:latin typeface="Courier"/>
              </a:rPr>
              <a:t>(mixed_model)</a:t>
            </a:r>
          </a:p>
          <a:p>
            <a:pPr lvl="0" indent="0" marL="0">
              <a:buNone/>
            </a:pPr>
            <a:r>
              <a:rPr b="1"/>
              <a:t>▶ Run this</a:t>
            </a:r>
            <a:r>
              <a:rPr/>
              <a:t> — Method 1, the F-test with Satterthwaite degrees of freedom (more conservative, better for small samples):</a:t>
            </a:r>
          </a:p>
          <a:p>
            <a:pPr lvl="0" indent="0">
              <a:buNone/>
            </a:pPr>
            <a:r>
              <a:rPr>
                <a:solidFill>
                  <a:srgbClr val="003B4F"/>
                </a:solidFill>
                <a:latin typeface="Courier"/>
              </a:rPr>
              <a:t>satt_result &lt;- </a:t>
            </a:r>
            <a:r>
              <a:rPr>
                <a:solidFill>
                  <a:srgbClr val="4758AB"/>
                </a:solidFill>
                <a:latin typeface="Courier"/>
              </a:rPr>
              <a:t>Anova</a:t>
            </a:r>
            <a:r>
              <a:rPr>
                <a:solidFill>
                  <a:srgbClr val="003B4F"/>
                </a:solidFill>
                <a:latin typeface="Courier"/>
              </a:rPr>
              <a:t>(mixed_model, </a:t>
            </a:r>
            <a:r>
              <a:rPr>
                <a:solidFill>
                  <a:srgbClr val="657422"/>
                </a:solidFill>
                <a:latin typeface="Courier"/>
              </a:rPr>
              <a:t>type =</a:t>
            </a:r>
            <a:r>
              <a:rPr>
                <a:solidFill>
                  <a:srgbClr val="003B4F"/>
                </a:solidFill>
                <a:latin typeface="Courier"/>
              </a:rPr>
              <a:t> </a:t>
            </a:r>
            <a:r>
              <a:rPr>
                <a:solidFill>
                  <a:srgbClr val="AD0000"/>
                </a:solidFill>
                <a:latin typeface="Courier"/>
              </a:rPr>
              <a:t>3</a:t>
            </a:r>
            <a:r>
              <a:rPr>
                <a:solidFill>
                  <a:srgbClr val="003B4F"/>
                </a:solidFill>
                <a:latin typeface="Courier"/>
              </a:rPr>
              <a:t>,</a:t>
            </a:r>
            <a:br/>
            <a:r>
              <a:rPr>
                <a:solidFill>
                  <a:srgbClr val="003B4F"/>
                </a:solidFill>
                <a:latin typeface="Courier"/>
              </a:rPr>
              <a:t>                      </a:t>
            </a:r>
            <a:r>
              <a:rPr>
                <a:solidFill>
                  <a:srgbClr val="657422"/>
                </a:solidFill>
                <a:latin typeface="Courier"/>
              </a:rPr>
              <a:t>test.statistic =</a:t>
            </a:r>
            <a:r>
              <a:rPr>
                <a:solidFill>
                  <a:srgbClr val="003B4F"/>
                </a:solidFill>
                <a:latin typeface="Courier"/>
              </a:rPr>
              <a:t> </a:t>
            </a:r>
            <a:r>
              <a:rPr>
                <a:solidFill>
                  <a:srgbClr val="20794D"/>
                </a:solidFill>
                <a:latin typeface="Courier"/>
              </a:rPr>
              <a:t>"F"</a:t>
            </a:r>
            <a:r>
              <a:rPr>
                <a:solidFill>
                  <a:srgbClr val="003B4F"/>
                </a:solidFill>
                <a:latin typeface="Courier"/>
              </a:rPr>
              <a:t>,</a:t>
            </a:r>
            <a:br/>
            <a:r>
              <a:rPr>
                <a:solidFill>
                  <a:srgbClr val="003B4F"/>
                </a:solidFill>
                <a:latin typeface="Courier"/>
              </a:rPr>
              <a:t>                      </a:t>
            </a:r>
            <a:r>
              <a:rPr>
                <a:solidFill>
                  <a:srgbClr val="657422"/>
                </a:solidFill>
                <a:latin typeface="Courier"/>
              </a:rPr>
              <a:t>ddf =</a:t>
            </a:r>
            <a:r>
              <a:rPr>
                <a:solidFill>
                  <a:srgbClr val="003B4F"/>
                </a:solidFill>
                <a:latin typeface="Courier"/>
              </a:rPr>
              <a:t> </a:t>
            </a:r>
            <a:r>
              <a:rPr>
                <a:solidFill>
                  <a:srgbClr val="20794D"/>
                </a:solidFill>
                <a:latin typeface="Courier"/>
              </a:rPr>
              <a:t>"Satterthwaite"</a:t>
            </a:r>
            <a:r>
              <a:rPr>
                <a:solidFill>
                  <a:srgbClr val="003B4F"/>
                </a:solidFill>
                <a:latin typeface="Courier"/>
              </a:rPr>
              <a:t>)</a:t>
            </a:r>
            <a:br/>
            <a:r>
              <a:rPr>
                <a:solidFill>
                  <a:srgbClr val="003B4F"/>
                </a:solidFill>
                <a:latin typeface="Courier"/>
              </a:rPr>
              <a:t>satt_result</a:t>
            </a:r>
          </a:p>
          <a:p>
            <a:pPr lvl="0" indent="0" marL="0">
              <a:buNone/>
            </a:pPr>
            <a:r>
              <a:rPr b="1"/>
              <a:t>▶ Run this</a:t>
            </a:r>
            <a:r>
              <a:rPr/>
              <a:t> — Method 2, the Chi-square test (more liberal, assumes large samples):</a:t>
            </a:r>
          </a:p>
          <a:p>
            <a:pPr lvl="0" indent="0">
              <a:buNone/>
            </a:pPr>
            <a:r>
              <a:rPr>
                <a:solidFill>
                  <a:srgbClr val="003B4F"/>
                </a:solidFill>
                <a:latin typeface="Courier"/>
              </a:rPr>
              <a:t>anova_car &lt;- </a:t>
            </a:r>
            <a:r>
              <a:rPr>
                <a:solidFill>
                  <a:srgbClr val="4758AB"/>
                </a:solidFill>
                <a:latin typeface="Courier"/>
              </a:rPr>
              <a:t>Anova</a:t>
            </a:r>
            <a:r>
              <a:rPr>
                <a:solidFill>
                  <a:srgbClr val="003B4F"/>
                </a:solidFill>
                <a:latin typeface="Courier"/>
              </a:rPr>
              <a:t>(mixed_model,</a:t>
            </a:r>
            <a:br/>
            <a:r>
              <a:rPr>
                <a:solidFill>
                  <a:srgbClr val="003B4F"/>
                </a:solidFill>
                <a:latin typeface="Courier"/>
              </a:rPr>
              <a:t>                   </a:t>
            </a:r>
            <a:r>
              <a:rPr>
                <a:solidFill>
                  <a:srgbClr val="657422"/>
                </a:solidFill>
                <a:latin typeface="Courier"/>
              </a:rPr>
              <a:t>type =</a:t>
            </a:r>
            <a:r>
              <a:rPr>
                <a:solidFill>
                  <a:srgbClr val="003B4F"/>
                </a:solidFill>
                <a:latin typeface="Courier"/>
              </a:rPr>
              <a:t> </a:t>
            </a:r>
            <a:r>
              <a:rPr>
                <a:solidFill>
                  <a:srgbClr val="AD0000"/>
                </a:solidFill>
                <a:latin typeface="Courier"/>
              </a:rPr>
              <a:t>3</a:t>
            </a:r>
            <a:r>
              <a:rPr>
                <a:solidFill>
                  <a:srgbClr val="003B4F"/>
                </a:solidFill>
                <a:latin typeface="Courier"/>
              </a:rPr>
              <a:t>,</a:t>
            </a:r>
            <a:br/>
            <a:r>
              <a:rPr>
                <a:solidFill>
                  <a:srgbClr val="003B4F"/>
                </a:solidFill>
                <a:latin typeface="Courier"/>
              </a:rPr>
              <a:t>                   </a:t>
            </a:r>
            <a:r>
              <a:rPr>
                <a:solidFill>
                  <a:srgbClr val="657422"/>
                </a:solidFill>
                <a:latin typeface="Courier"/>
              </a:rPr>
              <a:t>test.statistic =</a:t>
            </a:r>
            <a:r>
              <a:rPr>
                <a:solidFill>
                  <a:srgbClr val="003B4F"/>
                </a:solidFill>
                <a:latin typeface="Courier"/>
              </a:rPr>
              <a:t> </a:t>
            </a:r>
            <a:r>
              <a:rPr>
                <a:solidFill>
                  <a:srgbClr val="20794D"/>
                </a:solidFill>
                <a:latin typeface="Courier"/>
              </a:rPr>
              <a:t>"Chisq"</a:t>
            </a:r>
            <a:r>
              <a:rPr>
                <a:solidFill>
                  <a:srgbClr val="003B4F"/>
                </a:solidFill>
                <a:latin typeface="Courier"/>
              </a:rPr>
              <a:t>)</a:t>
            </a:r>
            <a:br/>
            <a:r>
              <a:rPr>
                <a:solidFill>
                  <a:srgbClr val="003B4F"/>
                </a:solidFill>
                <a:latin typeface="Courier"/>
              </a:rPr>
              <a:t>anova_car</a:t>
            </a:r>
          </a:p>
          <a:p>
            <a:pPr lvl="0" indent="0" marL="1270000">
              <a:buNone/>
            </a:pPr>
            <a:r>
              <a:rPr sz="2000"/>
              <a:t>💡 Chi-square = F × numerator df. The two differ because the F-test accounts for the denominator df (reflecting sample size), while Chi-square assumes infinite denominator df. </a:t>
            </a:r>
            <a:r>
              <a:rPr sz="2000" b="1"/>
              <a:t>Rule of thumb:</a:t>
            </a:r>
            <a:r>
              <a:rPr sz="2000"/>
              <a:t> under 100 observations or &lt; 20 random-effect levels, use the F-test; over 500 observations and &gt; 50 random-effect levels, Chi-square is fine; in between, the F-test is safer.</a:t>
            </a:r>
          </a:p>
          <a:p>
            <a:pPr lvl="0" indent="0" marL="0">
              <a:buNone/>
            </a:pPr>
            <a:r>
              <a:rPr/>
              <a:t>✏️ </a:t>
            </a:r>
            <a:r>
              <a:rPr b="1"/>
              <a:t>Your turn:</a:t>
            </a:r>
            <a:r>
              <a:rPr/>
              <a:t> Do the F-test and Chi-square p-values agree on significance here? Given the rule of thumb above, which one should you trust more for this dataset (16 patches)? </a:t>
            </a:r>
            <a:r>
              <a:rPr>
                <a:latin typeface="Courier"/>
              </a:rPr>
              <a:t>________________________</a:t>
            </a:r>
          </a:p>
          <a:p>
            <a:pPr lvl="0" indent="0" marL="1270000">
              <a:buNone/>
            </a:pPr>
            <a:r>
              <a:rPr sz="2000" b="1"/>
              <a:t>Tip</a:t>
            </a:r>
          </a:p>
          <a:p>
            <a:pPr lvl="0" indent="0" marL="1270000">
              <a:buNone/>
            </a:pPr>
            <a:r>
              <a:rPr sz="2000" b="1"/>
              <a:t>🚀 If you finish early:</a:t>
            </a:r>
            <a:r>
              <a:rPr sz="2000"/>
              <a:t> Refit </a:t>
            </a:r>
            <a:r>
              <a:rPr sz="2000">
                <a:latin typeface="Courier"/>
              </a:rPr>
              <a:t>mixed_model</a:t>
            </a:r>
            <a:r>
              <a:rPr sz="2000"/>
              <a:t> using </a:t>
            </a:r>
            <a:r>
              <a:rPr sz="2000">
                <a:latin typeface="Courier"/>
              </a:rPr>
              <a:t>(1|treat:patch)</a:t>
            </a:r>
            <a:r>
              <a:rPr sz="2000"/>
              <a:t> instead of </a:t>
            </a:r>
            <a:r>
              <a:rPr sz="2000">
                <a:latin typeface="Courier"/>
              </a:rPr>
              <a:t>(1|patch)</a:t>
            </a:r>
            <a:r>
              <a:rPr sz="2000"/>
              <a:t>. Does the model summary change? (Hint: since patch numbers are already unique to a treatment in this dataset, the two notations should behave the same here — but they wouldn’t if patch IDs were reused across treatments.)</a:t>
            </a:r>
          </a:p>
          <a:p>
            <a:pPr lvl="0" indent="0">
              <a:buNone/>
            </a:pPr>
            <a:r>
              <a:rPr>
                <a:solidFill>
                  <a:srgbClr val="5E5E5E"/>
                </a:solidFill>
                <a:latin typeface="Courier"/>
              </a:rPr>
              <a:t># Write your code here:</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3 · Model Diagnostics</a:t>
            </a:r>
          </a:p>
        </p:txBody>
      </p:sp>
      <p:sp>
        <p:nvSpPr>
          <p:cNvPr id="3" name="Content Placeholder 2"/>
          <p:cNvSpPr>
            <a:spLocks noGrp="1"/>
          </p:cNvSpPr>
          <p:nvPr>
            <p:ph idx="1"/>
          </p:nvPr>
        </p:nvSpPr>
        <p:spPr/>
        <p:txBody>
          <a:bodyPr/>
          <a:lstStyle/>
          <a:p>
            <a:pPr lvl="0" indent="0" marL="0">
              <a:buNone/>
            </a:pPr>
            <a:r>
              <a:rPr b="1"/>
              <a:t>▶ Run this</a:t>
            </a:r>
            <a:r>
              <a:rPr/>
              <a:t> — DHARMa’s simulation-based diagnostics, purpose-built for mixed models:</a:t>
            </a:r>
          </a:p>
          <a:p>
            <a:pPr lvl="0" indent="0">
              <a:buNone/>
            </a:pPr>
            <a:r>
              <a:rPr>
                <a:solidFill>
                  <a:srgbClr val="4758AB"/>
                </a:solidFill>
                <a:latin typeface="Courier"/>
              </a:rPr>
              <a:t>set.seed</a:t>
            </a:r>
            <a:r>
              <a:rPr>
                <a:solidFill>
                  <a:srgbClr val="003B4F"/>
                </a:solidFill>
                <a:latin typeface="Courier"/>
              </a:rPr>
              <a:t>(</a:t>
            </a:r>
            <a:r>
              <a:rPr>
                <a:solidFill>
                  <a:srgbClr val="AD0000"/>
                </a:solidFill>
                <a:latin typeface="Courier"/>
              </a:rPr>
              <a:t>123</a:t>
            </a:r>
            <a:r>
              <a:rPr>
                <a:solidFill>
                  <a:srgbClr val="003B4F"/>
                </a:solidFill>
                <a:latin typeface="Courier"/>
              </a:rPr>
              <a:t>)</a:t>
            </a:r>
            <a:br/>
            <a:r>
              <a:rPr>
                <a:solidFill>
                  <a:srgbClr val="003B4F"/>
                </a:solidFill>
                <a:latin typeface="Courier"/>
              </a:rPr>
              <a:t>simulation_output &lt;- </a:t>
            </a:r>
            <a:r>
              <a:rPr>
                <a:solidFill>
                  <a:srgbClr val="4758AB"/>
                </a:solidFill>
                <a:latin typeface="Courier"/>
              </a:rPr>
              <a:t>simulateResiduals</a:t>
            </a:r>
            <a:r>
              <a:rPr>
                <a:solidFill>
                  <a:srgbClr val="003B4F"/>
                </a:solidFill>
                <a:latin typeface="Courier"/>
              </a:rPr>
              <a:t>(</a:t>
            </a:r>
            <a:r>
              <a:rPr>
                <a:solidFill>
                  <a:srgbClr val="657422"/>
                </a:solidFill>
                <a:latin typeface="Courier"/>
              </a:rPr>
              <a:t>fittedModel =</a:t>
            </a:r>
            <a:r>
              <a:rPr>
                <a:solidFill>
                  <a:srgbClr val="003B4F"/>
                </a:solidFill>
                <a:latin typeface="Courier"/>
              </a:rPr>
              <a:t> mixed_model,</a:t>
            </a:r>
            <a:br/>
            <a:r>
              <a:rPr>
                <a:solidFill>
                  <a:srgbClr val="003B4F"/>
                </a:solidFill>
                <a:latin typeface="Courier"/>
              </a:rPr>
              <a:t>                                       </a:t>
            </a:r>
            <a:r>
              <a:rPr>
                <a:solidFill>
                  <a:srgbClr val="657422"/>
                </a:solidFill>
                <a:latin typeface="Courier"/>
              </a:rPr>
              <a:t>plot =</a:t>
            </a:r>
            <a:r>
              <a:rPr>
                <a:solidFill>
                  <a:srgbClr val="003B4F"/>
                </a:solidFill>
                <a:latin typeface="Courier"/>
              </a:rPr>
              <a:t> </a:t>
            </a:r>
            <a:r>
              <a:rPr>
                <a:solidFill>
                  <a:srgbClr val="8F5902"/>
                </a:solidFill>
                <a:latin typeface="Courier"/>
              </a:rPr>
              <a:t>FALSE</a:t>
            </a:r>
            <a:r>
              <a:rPr>
                <a:solidFill>
                  <a:srgbClr val="003B4F"/>
                </a:solidFill>
                <a:latin typeface="Courier"/>
              </a:rPr>
              <a:t>)</a:t>
            </a:r>
            <a:br/>
            <a:br/>
            <a:r>
              <a:rPr>
                <a:solidFill>
                  <a:srgbClr val="4758AB"/>
                </a:solidFill>
                <a:latin typeface="Courier"/>
              </a:rPr>
              <a:t>plotQQunif</a:t>
            </a:r>
            <a:r>
              <a:rPr>
                <a:solidFill>
                  <a:srgbClr val="003B4F"/>
                </a:solidFill>
                <a:latin typeface="Courier"/>
              </a:rPr>
              <a:t>(simulation_output)</a:t>
            </a:r>
            <a:br/>
            <a:r>
              <a:rPr>
                <a:solidFill>
                  <a:srgbClr val="4758AB"/>
                </a:solidFill>
                <a:latin typeface="Courier"/>
              </a:rPr>
              <a:t>plotResiduals</a:t>
            </a:r>
            <a:r>
              <a:rPr>
                <a:solidFill>
                  <a:srgbClr val="003B4F"/>
                </a:solidFill>
                <a:latin typeface="Courier"/>
              </a:rPr>
              <a:t>(simulation_output)</a:t>
            </a:r>
            <a:br/>
            <a:br/>
            <a:r>
              <a:rPr>
                <a:solidFill>
                  <a:srgbClr val="4758AB"/>
                </a:solidFill>
                <a:latin typeface="Courier"/>
              </a:rPr>
              <a:t>testDispersion</a:t>
            </a:r>
            <a:r>
              <a:rPr>
                <a:solidFill>
                  <a:srgbClr val="003B4F"/>
                </a:solidFill>
                <a:latin typeface="Courier"/>
              </a:rPr>
              <a:t>(simulation_output)</a:t>
            </a:r>
            <a:br/>
            <a:r>
              <a:rPr>
                <a:solidFill>
                  <a:srgbClr val="4758AB"/>
                </a:solidFill>
                <a:latin typeface="Courier"/>
              </a:rPr>
              <a:t>testOutliers</a:t>
            </a:r>
            <a:r>
              <a:rPr>
                <a:solidFill>
                  <a:srgbClr val="003B4F"/>
                </a:solidFill>
                <a:latin typeface="Courier"/>
              </a:rPr>
              <a:t>(simulation_output)</a:t>
            </a:r>
          </a:p>
          <a:p>
            <a:pPr lvl="0" indent="0" marL="0">
              <a:buNone/>
            </a:pPr>
            <a:r>
              <a:rPr b="1"/>
              <a:t>▶ Run this</a:t>
            </a:r>
            <a:r>
              <a:rPr/>
              <a:t> — a couple of other useful diagnostic views:</a:t>
            </a:r>
          </a:p>
          <a:p>
            <a:pPr lvl="0" indent="0">
              <a:buNone/>
            </a:pPr>
            <a:r>
              <a:rPr>
                <a:solidFill>
                  <a:srgbClr val="4758AB"/>
                </a:solidFill>
                <a:latin typeface="Courier"/>
              </a:rPr>
              <a:t>plot</a:t>
            </a:r>
            <a:r>
              <a:rPr>
                <a:solidFill>
                  <a:srgbClr val="003B4F"/>
                </a:solidFill>
                <a:latin typeface="Courier"/>
              </a:rPr>
              <a:t>(mixed_model, </a:t>
            </a:r>
            <a:r>
              <a:rPr>
                <a:solidFill>
                  <a:srgbClr val="657422"/>
                </a:solidFill>
                <a:latin typeface="Courier"/>
              </a:rPr>
              <a:t>type =</a:t>
            </a:r>
            <a:r>
              <a:rPr>
                <a:solidFill>
                  <a:srgbClr val="003B4F"/>
                </a:solidFill>
                <a:latin typeface="Courier"/>
              </a:rPr>
              <a:t> </a:t>
            </a:r>
            <a:r>
              <a:rPr>
                <a:solidFill>
                  <a:srgbClr val="4758AB"/>
                </a:solidFill>
                <a:latin typeface="Courier"/>
              </a:rPr>
              <a:t>c</a:t>
            </a:r>
            <a:r>
              <a:rPr>
                <a:solidFill>
                  <a:srgbClr val="003B4F"/>
                </a:solidFill>
                <a:latin typeface="Courier"/>
              </a:rPr>
              <a:t>(</a:t>
            </a:r>
            <a:r>
              <a:rPr>
                <a:solidFill>
                  <a:srgbClr val="20794D"/>
                </a:solidFill>
                <a:latin typeface="Courier"/>
              </a:rPr>
              <a:t>"p"</a:t>
            </a:r>
            <a:r>
              <a:rPr>
                <a:solidFill>
                  <a:srgbClr val="003B4F"/>
                </a:solidFill>
                <a:latin typeface="Courier"/>
              </a:rPr>
              <a:t>, </a:t>
            </a:r>
            <a:r>
              <a:rPr>
                <a:solidFill>
                  <a:srgbClr val="20794D"/>
                </a:solidFill>
                <a:latin typeface="Courier"/>
              </a:rPr>
              <a:t>"smooth"</a:t>
            </a:r>
            <a:r>
              <a:rPr>
                <a:solidFill>
                  <a:srgbClr val="003B4F"/>
                </a:solidFill>
                <a:latin typeface="Courier"/>
              </a:rPr>
              <a:t>))</a:t>
            </a:r>
            <a:br/>
            <a:br/>
            <a:r>
              <a:rPr>
                <a:solidFill>
                  <a:srgbClr val="5E5E5E"/>
                </a:solidFill>
                <a:latin typeface="Courier"/>
              </a:rPr>
              <a:t># Cook's-distance-style influence plot (values &gt; 0.5 are worth a look)</a:t>
            </a:r>
            <a:br/>
            <a:r>
              <a:rPr>
                <a:solidFill>
                  <a:srgbClr val="003B4F"/>
                </a:solidFill>
                <a:latin typeface="Courier"/>
              </a:rPr>
              <a:t>car</a:t>
            </a:r>
            <a:r>
              <a:rPr>
                <a:solidFill>
                  <a:srgbClr val="5E5E5E"/>
                </a:solidFill>
                <a:latin typeface="Courier"/>
              </a:rPr>
              <a:t>::</a:t>
            </a:r>
            <a:r>
              <a:rPr>
                <a:solidFill>
                  <a:srgbClr val="4758AB"/>
                </a:solidFill>
                <a:latin typeface="Courier"/>
              </a:rPr>
              <a:t>influencePlot</a:t>
            </a:r>
            <a:r>
              <a:rPr>
                <a:solidFill>
                  <a:srgbClr val="003B4F"/>
                </a:solidFill>
                <a:latin typeface="Courier"/>
              </a:rPr>
              <a:t>(mixed_model)</a:t>
            </a:r>
            <a:br/>
            <a:br/>
            <a:r>
              <a:rPr>
                <a:solidFill>
                  <a:srgbClr val="5E5E5E"/>
                </a:solidFill>
                <a:latin typeface="Courier"/>
              </a:rPr>
              <a:t># Coefficient plot for the fixed effects</a:t>
            </a:r>
            <a:br/>
            <a:r>
              <a:rPr>
                <a:solidFill>
                  <a:srgbClr val="003B4F"/>
                </a:solidFill>
                <a:latin typeface="Courier"/>
              </a:rPr>
              <a:t>dotwhisker</a:t>
            </a:r>
            <a:r>
              <a:rPr>
                <a:solidFill>
                  <a:srgbClr val="5E5E5E"/>
                </a:solidFill>
                <a:latin typeface="Courier"/>
              </a:rPr>
              <a:t>::</a:t>
            </a:r>
            <a:r>
              <a:rPr>
                <a:solidFill>
                  <a:srgbClr val="4758AB"/>
                </a:solidFill>
                <a:latin typeface="Courier"/>
              </a:rPr>
              <a:t>dwplot</a:t>
            </a:r>
            <a:r>
              <a:rPr>
                <a:solidFill>
                  <a:srgbClr val="003B4F"/>
                </a:solidFill>
                <a:latin typeface="Courier"/>
              </a:rPr>
              <a:t>(mixed_model, </a:t>
            </a:r>
            <a:r>
              <a:rPr>
                <a:solidFill>
                  <a:srgbClr val="657422"/>
                </a:solidFill>
                <a:latin typeface="Courier"/>
              </a:rPr>
              <a:t>effects =</a:t>
            </a:r>
            <a:r>
              <a:rPr>
                <a:solidFill>
                  <a:srgbClr val="003B4F"/>
                </a:solidFill>
                <a:latin typeface="Courier"/>
              </a:rPr>
              <a:t> </a:t>
            </a:r>
            <a:r>
              <a:rPr>
                <a:solidFill>
                  <a:srgbClr val="20794D"/>
                </a:solidFill>
                <a:latin typeface="Courier"/>
              </a:rPr>
              <a:t>"fixed"</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geom_vline</a:t>
            </a:r>
            <a:r>
              <a:rPr>
                <a:solidFill>
                  <a:srgbClr val="003B4F"/>
                </a:solidFill>
                <a:latin typeface="Courier"/>
              </a:rPr>
              <a:t>(</a:t>
            </a:r>
            <a:r>
              <a:rPr>
                <a:solidFill>
                  <a:srgbClr val="657422"/>
                </a:solidFill>
                <a:latin typeface="Courier"/>
              </a:rPr>
              <a:t>xintercept =</a:t>
            </a:r>
            <a:r>
              <a:rPr>
                <a:solidFill>
                  <a:srgbClr val="003B4F"/>
                </a:solidFill>
                <a:latin typeface="Courier"/>
              </a:rPr>
              <a:t> </a:t>
            </a:r>
            <a:r>
              <a:rPr>
                <a:solidFill>
                  <a:srgbClr val="AD0000"/>
                </a:solidFill>
                <a:latin typeface="Courier"/>
              </a:rPr>
              <a:t>0</a:t>
            </a:r>
            <a:r>
              <a:rPr>
                <a:solidFill>
                  <a:srgbClr val="003B4F"/>
                </a:solidFill>
                <a:latin typeface="Courier"/>
              </a:rPr>
              <a:t>, </a:t>
            </a:r>
            <a:r>
              <a:rPr>
                <a:solidFill>
                  <a:srgbClr val="657422"/>
                </a:solidFill>
                <a:latin typeface="Courier"/>
              </a:rPr>
              <a:t>color =</a:t>
            </a:r>
            <a:r>
              <a:rPr>
                <a:solidFill>
                  <a:srgbClr val="003B4F"/>
                </a:solidFill>
                <a:latin typeface="Courier"/>
              </a:rPr>
              <a:t> </a:t>
            </a:r>
            <a:r>
              <a:rPr>
                <a:solidFill>
                  <a:srgbClr val="20794D"/>
                </a:solidFill>
                <a:latin typeface="Courier"/>
              </a:rPr>
              <a:t>"darkblue"</a:t>
            </a:r>
            <a:r>
              <a:rPr>
                <a:solidFill>
                  <a:srgbClr val="003B4F"/>
                </a:solidFill>
                <a:latin typeface="Courier"/>
              </a:rPr>
              <a:t>, </a:t>
            </a:r>
            <a:r>
              <a:rPr>
                <a:solidFill>
                  <a:srgbClr val="657422"/>
                </a:solidFill>
                <a:latin typeface="Courier"/>
              </a:rPr>
              <a:t>linewidth =</a:t>
            </a:r>
            <a:r>
              <a:rPr>
                <a:solidFill>
                  <a:srgbClr val="003B4F"/>
                </a:solidFill>
                <a:latin typeface="Courier"/>
              </a:rPr>
              <a:t> </a:t>
            </a:r>
            <a:r>
              <a:rPr>
                <a:solidFill>
                  <a:srgbClr val="AD0000"/>
                </a:solidFill>
                <a:latin typeface="Courier"/>
              </a:rPr>
              <a:t>1</a:t>
            </a:r>
            <a:r>
              <a:rPr>
                <a:solidFill>
                  <a:srgbClr val="003B4F"/>
                </a:solidFill>
                <a:latin typeface="Courier"/>
              </a:rPr>
              <a:t>)</a:t>
            </a:r>
            <a:br/>
            <a:br/>
            <a:r>
              <a:rPr>
                <a:solidFill>
                  <a:srgbClr val="5E5E5E"/>
                </a:solidFill>
                <a:latin typeface="Courier"/>
              </a:rPr>
              <a:t># Variance components</a:t>
            </a:r>
            <a:br/>
            <a:r>
              <a:rPr>
                <a:solidFill>
                  <a:srgbClr val="4758AB"/>
                </a:solidFill>
                <a:latin typeface="Courier"/>
              </a:rPr>
              <a:t>VarCorr</a:t>
            </a:r>
            <a:r>
              <a:rPr>
                <a:solidFill>
                  <a:srgbClr val="003B4F"/>
                </a:solidFill>
                <a:latin typeface="Courier"/>
              </a:rPr>
              <a:t>(mixed_model)</a:t>
            </a:r>
          </a:p>
          <a:p>
            <a:pPr lvl="0" indent="0" marL="0">
              <a:buNone/>
            </a:pPr>
            <a:r>
              <a:rPr/>
              <a:t>✏️ </a:t>
            </a:r>
            <a:r>
              <a:rPr b="1"/>
              <a:t>Your turn:</a:t>
            </a:r>
            <a:r>
              <a:rPr/>
              <a:t> From </a:t>
            </a:r>
            <a:r>
              <a:rPr>
                <a:latin typeface="Courier"/>
              </a:rPr>
              <a:t>VarCorr(mixed_model)</a:t>
            </a:r>
            <a:r>
              <a:rPr/>
              <a:t>, how does the variance attributed to </a:t>
            </a:r>
            <a:r>
              <a:rPr>
                <a:latin typeface="Courier"/>
              </a:rPr>
              <a:t>patch</a:t>
            </a:r>
            <a:r>
              <a:rPr/>
              <a:t> compare to the residual variance? What does that tell you about spatial heterogeneity in this system? </a:t>
            </a:r>
            <a:r>
              <a:rPr>
                <a:latin typeface="Courier"/>
              </a:rPr>
              <a:t>________________________</a:t>
            </a:r>
          </a:p>
          <a:p>
            <a:pPr lvl="0" indent="0" marL="1270000">
              <a:buNone/>
            </a:pPr>
            <a:r>
              <a:rPr sz="2000" b="1"/>
              <a:t>Tip</a:t>
            </a:r>
          </a:p>
          <a:p>
            <a:pPr lvl="0" indent="0" marL="1270000">
              <a:buNone/>
            </a:pPr>
            <a:r>
              <a:rPr sz="2000" b="1"/>
              <a:t>🚀 If you finish early:</a:t>
            </a:r>
            <a:r>
              <a:rPr sz="2000"/>
              <a:t> DHARMa’s </a:t>
            </a:r>
            <a:r>
              <a:rPr sz="2000">
                <a:latin typeface="Courier"/>
              </a:rPr>
              <a:t>testDispersion()</a:t>
            </a:r>
            <a:r>
              <a:rPr sz="2000"/>
              <a:t> checks for over/under-dispersion. Look up (</a:t>
            </a:r>
            <a:r>
              <a:rPr sz="2000">
                <a:latin typeface="Courier"/>
              </a:rPr>
              <a:t>?testDispersion</a:t>
            </a:r>
            <a:r>
              <a:rPr sz="2000"/>
              <a:t>) what a significant result would mean, and write a one-sentence summary.</a:t>
            </a:r>
          </a:p>
          <a:p>
            <a:pPr lvl="0" indent="0">
              <a:buNone/>
            </a:pPr>
            <a:r>
              <a:rPr sz="2000">
                <a:latin typeface="Courier"/>
              </a:rPr>
              <a:t>________________________________________________________</a:t>
            </a:r>
          </a:p>
          <a:p>
            <a:pPr lvl="0" indent="0" marL="1270000">
              <a:buNone/>
            </a:pPr>
            <a:r>
              <a:rPr sz="2000" b="1"/>
              <a:t>Note</a:t>
            </a:r>
          </a:p>
          <a:p>
            <a:pPr lvl="0" indent="0" marL="1270000">
              <a:buNone/>
            </a:pPr>
            <a:r>
              <a:rPr sz="2000" b="1"/>
              <a:t>Scientific interpretation</a:t>
            </a:r>
          </a:p>
          <a:p>
            <a:pPr lvl="0" indent="0" marL="1270000">
              <a:buNone/>
            </a:pPr>
            <a:r>
              <a:rPr sz="2000"/>
              <a:t>This mixed-model analysis reveals substantial spatial heterogeneity in algae cover, with significant variation among patches within each treatment. Whether the urchin-density treatment effect itself reaches significance depends on which test (F vs. Chi-square) you use — a good reminder that “significant” is sensitive to analytical choices in nested designs. The substantial variance component associated with patches nested within treatments shows why spatial heterogeneity needs to be accounted for when designing and analyzing ecological field experiments.</a:t>
            </a:r>
          </a:p>
          <a:p>
            <a:pPr lvl="0" indent="0" marL="0">
              <a:buNone/>
            </a:pPr>
            <a:r>
              <a:rPr/>
              <a:t>✏️ </a:t>
            </a:r>
            <a:r>
              <a:rPr b="1"/>
              <a:t>Your turn:</a:t>
            </a:r>
            <a:r>
              <a:rPr/>
              <a:t> Write a 2–3 sentence results paragraph for this analysis, using your own F-statistic, df, p-value, and variance component numbers from Parts 2–3.</a:t>
            </a:r>
          </a:p>
          <a:p>
            <a:pPr lvl="0" indent="0">
              <a:buNone/>
            </a:pPr>
            <a:r>
              <a:rPr>
                <a:latin typeface="Courier"/>
              </a:rPr>
              <a:t>________________________________________________________
________________________________________________________</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4 · Comparing the Two Approaches</a:t>
            </a:r>
          </a:p>
        </p:txBody>
      </p:sp>
      <p:sp>
        <p:nvSpPr>
          <p:cNvPr id="3" name="Content Placeholder 2"/>
          <p:cNvSpPr>
            <a:spLocks noGrp="1"/>
          </p:cNvSpPr>
          <p:nvPr>
            <p:ph idx="1"/>
          </p:nvPr>
        </p:nvSpPr>
        <p:spPr/>
        <p:txBody>
          <a:bodyPr/>
          <a:lstStyle/>
          <a:p>
            <a:pPr lvl="0" indent="0" marL="0">
              <a:buNone/>
            </a:pPr>
            <a:r>
              <a:rPr/>
              <a:t>The linear mixed-model approach (</a:t>
            </a:r>
            <a:r>
              <a:rPr>
                <a:latin typeface="Courier"/>
              </a:rPr>
              <a:t>lmer</a:t>
            </a:r>
            <a:r>
              <a:rPr/>
              <a:t>) gives similar results to the traditional nested ANOVA (</a:t>
            </a:r>
            <a:r>
              <a:rPr>
                <a:latin typeface="Courier"/>
              </a:rPr>
              <a:t>aov</a:t>
            </a:r>
            <a:r>
              <a:rPr/>
              <a:t> with an </a:t>
            </a:r>
            <a:r>
              <a:rPr>
                <a:latin typeface="Courier"/>
              </a:rPr>
              <a:t>Error()</a:t>
            </a:r>
            <a:r>
              <a:rPr/>
              <a:t> term) from last class. The main advantage of the mixed-model approach is its more elegant handling of random effects, easier extension to unbalanced or more complex designs, and the extensive diagnostic tools available through packages like </a:t>
            </a:r>
            <a:r>
              <a:rPr>
                <a:latin typeface="Courier"/>
              </a:rPr>
              <a:t>DHARMa</a:t>
            </a:r>
            <a:r>
              <a:rPr/>
              <a:t>.</a:t>
            </a:r>
          </a:p>
          <a:p>
            <a:pPr lvl="0" indent="0" marL="0">
              <a:buNone/>
            </a:pPr>
            <a:r>
              <a:rPr/>
              <a:t>✏️ </a:t>
            </a:r>
            <a:r>
              <a:rPr b="1"/>
              <a:t>Your turn:</a:t>
            </a:r>
            <a:r>
              <a:rPr/>
              <a:t> Compare the p-value for </a:t>
            </a:r>
            <a:r>
              <a:rPr>
                <a:latin typeface="Courier"/>
              </a:rPr>
              <a:t>treat</a:t>
            </a:r>
            <a:r>
              <a:rPr/>
              <a:t> you got from </a:t>
            </a:r>
            <a:r>
              <a:rPr>
                <a:latin typeface="Courier"/>
              </a:rPr>
              <a:t>nested_model</a:t>
            </a:r>
            <a:r>
              <a:rPr/>
              <a:t> in the Nested ANOVA activity to the p-value from </a:t>
            </a:r>
            <a:r>
              <a:rPr>
                <a:latin typeface="Courier"/>
              </a:rPr>
              <a:t>satt_result</a:t>
            </a:r>
            <a:r>
              <a:rPr/>
              <a:t> here. Are they close? Which approach would you reach for first on a future nested design of your own, and why? </a:t>
            </a:r>
            <a:r>
              <a:rPr>
                <a:latin typeface="Courier"/>
              </a:rPr>
              <a:t>________________________</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Review and checkpoint</a:t>
            </a:r>
          </a:p>
        </p:txBody>
      </p:sp>
      <p:sp>
        <p:nvSpPr>
          <p:cNvPr id="3" name="Content Placeholder 2"/>
          <p:cNvSpPr>
            <a:spLocks noGrp="1"/>
          </p:cNvSpPr>
          <p:nvPr>
            <p:ph idx="1"/>
          </p:nvPr>
        </p:nvSpPr>
        <p:spPr/>
        <p:txBody>
          <a:bodyPr/>
          <a:lstStyle/>
          <a:p>
            <a:pPr lvl="0" indent="0" marL="0">
              <a:buNone/>
            </a:pPr>
            <a:r>
              <a:rPr/>
              <a:t>At this point you can:</a:t>
            </a:r>
          </a:p>
          <a:p>
            <a:pPr lvl="0"/>
            <a:r>
              <a:rPr/>
              <a:t>☐ Fit a nested design as a mixed model with </a:t>
            </a:r>
            <a:r>
              <a:rPr>
                <a:latin typeface="Courier"/>
              </a:rPr>
              <a:t>lme4::lmer()</a:t>
            </a:r>
            <a:r>
              <a:rPr/>
              <a:t>, using correct random-effects notation</a:t>
            </a:r>
          </a:p>
          <a:p>
            <a:pPr lvl="0"/>
            <a:r>
              <a:rPr/>
              <a:t>☐ Choose between the F-test and Chi-square test for a mixed model, using the rule of thumb from lecture</a:t>
            </a:r>
          </a:p>
          <a:p>
            <a:pPr lvl="0"/>
            <a:r>
              <a:rPr/>
              <a:t>☐ Run DHARMa diagnostics on a mixed model</a:t>
            </a:r>
          </a:p>
          <a:p>
            <a:pPr lvl="0"/>
            <a:r>
              <a:rPr/>
              <a:t>☐ Read variance components from </a:t>
            </a:r>
            <a:r>
              <a:rPr>
                <a:latin typeface="Courier"/>
              </a:rPr>
              <a:t>VarCorr()</a:t>
            </a:r>
            <a:r>
              <a:rPr/>
              <a:t> and explain what they mean biologically</a:t>
            </a:r>
          </a:p>
          <a:p>
            <a:pPr lvl="0"/>
            <a:r>
              <a:rPr/>
              <a:t>☐ Compare a mixed-model result to the equivalent traditional nested ANOVA result</a:t>
            </a:r>
          </a:p>
          <a:p>
            <a:pPr lvl="0" indent="0" marL="1270000">
              <a:buNone/>
            </a:pPr>
            <a:r>
              <a:rPr sz="2000" b="1"/>
              <a:t>Note</a:t>
            </a:r>
          </a:p>
          <a:p>
            <a:pPr lvl="0" indent="0" marL="1270000">
              <a:buNone/>
            </a:pPr>
            <a:r>
              <a:rPr sz="2000" b="1"/>
              <a:t>📤 What to turn in before next class</a:t>
            </a:r>
          </a:p>
          <a:p>
            <a:pPr lvl="0" indent="0" marL="1270000">
              <a:buNone/>
            </a:pPr>
            <a:r>
              <a:rPr sz="2000"/>
              <a:t>Upload both of these to the course management system:</a:t>
            </a:r>
          </a:p>
          <a:p>
            <a:pPr lvl="0" indent="-342900" marL="342900">
              <a:buAutoNum type="arabicPeriod"/>
            </a:pPr>
            <a:r>
              <a:rPr sz="2000"/>
              <a:t>Your code — the </a:t>
            </a:r>
            <a:r>
              <a:rPr sz="2000">
                <a:latin typeface="Courier"/>
              </a:rPr>
              <a:t>scripts/</a:t>
            </a:r>
            <a:r>
              <a:rPr sz="2000"/>
              <a:t> folder (or just </a:t>
            </a:r>
            <a:r>
              <a:rPr sz="2000">
                <a:latin typeface="Courier"/>
              </a:rPr>
              <a:t>15_linear_mixed_models.R</a:t>
            </a:r>
            <a:r>
              <a:rPr sz="2000"/>
              <a:t>)</a:t>
            </a:r>
          </a:p>
          <a:p>
            <a:pPr lvl="0" indent="-342900" marL="342900">
              <a:buAutoNum type="arabicPeriod"/>
            </a:pPr>
            <a:r>
              <a:rPr sz="2000"/>
              <a:t>This worksheet, with your written answers</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5 · Take-Home Extension — A Linear Mixed Model for Crayfish Growth</a:t>
            </a:r>
          </a:p>
        </p:txBody>
      </p:sp>
      <p:sp>
        <p:nvSpPr>
          <p:cNvPr id="3" name="Content Placeholder 2"/>
          <p:cNvSpPr>
            <a:spLocks noGrp="1"/>
          </p:cNvSpPr>
          <p:nvPr>
            <p:ph idx="1"/>
          </p:nvPr>
        </p:nvSpPr>
        <p:spPr/>
        <p:txBody>
          <a:bodyPr/>
          <a:lstStyle/>
          <a:p>
            <a:pPr lvl="0" indent="0" marL="0">
              <a:buNone/>
            </a:pPr>
            <a:r>
              <a:rPr i="1"/>
              <a:t>Due Wednesday, November 4 — before the next class.</a:t>
            </a:r>
          </a:p>
          <a:p>
            <a:pPr lvl="0" indent="0" marL="1270000">
              <a:buNone/>
            </a:pPr>
            <a:r>
              <a:rPr sz="2000" b="1"/>
              <a:t>Note</a:t>
            </a:r>
          </a:p>
          <a:p>
            <a:pPr lvl="0" indent="0" marL="1270000">
              <a:buNone/>
            </a:pPr>
            <a:r>
              <a:rPr sz="2000"/>
              <a:t>This is your first time building a mixed model entirely from scratch, using the same </a:t>
            </a:r>
            <a:r>
              <a:rPr sz="2000">
                <a:latin typeface="Courier"/>
              </a:rPr>
              <a:t>lmer()</a:t>
            </a:r>
            <a:r>
              <a:rPr sz="2000"/>
              <a:t> syntax from Part 2, on a new dataset with a different kind of random effect (lake, rather than nested patches).</a:t>
            </a:r>
          </a:p>
          <a:p>
            <a:pPr lvl="0" indent="0" marL="0">
              <a:spcBef>
                <a:spcPts val="3000"/>
              </a:spcBef>
              <a:buNone/>
            </a:pPr>
            <a:r>
              <a:rPr b="1"/>
              <a:t>Background</a:t>
            </a:r>
          </a:p>
          <a:p>
            <a:pPr lvl="0" indent="0" marL="0">
              <a:buNone/>
            </a:pPr>
            <a:r>
              <a:rPr/>
              <a:t>Sargent &amp; Lodge (2014) reared young-of-year rusty crayfish (</a:t>
            </a:r>
            <a:r>
              <a:rPr i="1"/>
              <a:t>Orconectes rusticus</a:t>
            </a:r>
            <a:r>
              <a:rPr/>
              <a:t>) from native (Ohio) and invasive (Wisconsin) populations in enclosures across three northern Wisconsin lakes. Individual crayfish within the same lake share that lake’s conditions, so they’re not independent of each other — lake should be treated as a random effect.</a:t>
            </a:r>
          </a:p>
          <a:p>
            <a:pPr lvl="0" indent="0" marL="0">
              <a:buNone/>
            </a:pPr>
            <a:r>
              <a:rPr b="1"/>
              <a:t>▶ Run this:</a:t>
            </a:r>
          </a:p>
          <a:p>
            <a:pPr lvl="0" indent="0">
              <a:buNone/>
            </a:pPr>
            <a:r>
              <a:rPr>
                <a:solidFill>
                  <a:srgbClr val="003B4F"/>
                </a:solidFill>
                <a:latin typeface="Courier"/>
              </a:rPr>
              <a:t>cray_df &lt;- </a:t>
            </a:r>
            <a:r>
              <a:rPr>
                <a:solidFill>
                  <a:srgbClr val="4758AB"/>
                </a:solidFill>
                <a:latin typeface="Courier"/>
              </a:rPr>
              <a:t>read_csv</a:t>
            </a:r>
            <a:r>
              <a:rPr>
                <a:solidFill>
                  <a:srgbClr val="003B4F"/>
                </a:solidFill>
                <a:latin typeface="Courier"/>
              </a:rPr>
              <a:t>(</a:t>
            </a:r>
            <a:r>
              <a:rPr>
                <a:solidFill>
                  <a:srgbClr val="20794D"/>
                </a:solidFill>
                <a:latin typeface="Courier"/>
              </a:rPr>
              <a:t>"data/sargent_lodge_crayfish.csv"</a:t>
            </a:r>
            <a:r>
              <a:rPr>
                <a:solidFill>
                  <a:srgbClr val="003B4F"/>
                </a:solidFill>
                <a:latin typeface="Courier"/>
              </a:rPr>
              <a:t>)</a:t>
            </a:r>
            <a:br/>
            <a:r>
              <a:rPr>
                <a:solidFill>
                  <a:srgbClr val="4758AB"/>
                </a:solidFill>
                <a:latin typeface="Courier"/>
              </a:rPr>
              <a:t>head</a:t>
            </a:r>
            <a:r>
              <a:rPr>
                <a:solidFill>
                  <a:srgbClr val="003B4F"/>
                </a:solidFill>
                <a:latin typeface="Courier"/>
              </a:rPr>
              <a:t>(cray_df)</a:t>
            </a:r>
          </a:p>
          <a:p>
            <a:pPr lvl="0" indent="0" marL="0">
              <a:spcBef>
                <a:spcPts val="3000"/>
              </a:spcBef>
              <a:buNone/>
            </a:pPr>
            <a:r>
              <a:rPr b="1"/>
              <a:t>Your Task</a:t>
            </a:r>
          </a:p>
          <a:p>
            <a:pPr lvl="0" indent="0" marL="0">
              <a:buNone/>
            </a:pPr>
            <a:r>
              <a:rPr b="1"/>
              <a:t>Question:</a:t>
            </a:r>
            <a:r>
              <a:rPr/>
              <a:t> Does crayfish growth rate differ between native and invasive populations, once you account for the fact that crayfish were grown in different lakes?</a:t>
            </a:r>
          </a:p>
          <a:p>
            <a:pPr lvl="0" indent="0" marL="0">
              <a:buNone/>
            </a:pPr>
            <a:r>
              <a:rPr/>
              <a:t>✏️ </a:t>
            </a:r>
            <a:r>
              <a:rPr b="1"/>
              <a:t>Your turn:</a:t>
            </a:r>
            <a:r>
              <a:rPr/>
              <a:t> State your hypotheses for the fixed effect of range. Decide how you want to specify the random effect of lake (a random intercept is enough here — this is not a nested design like Part 2’s patches-within-treatments). Justify your model, fit it, run diagnostics, interpret the fixed effect and the variance components, and report the result properly.</a:t>
            </a:r>
          </a:p>
          <a:p>
            <a:pPr lvl="0" indent="0">
              <a:buNone/>
            </a:pPr>
            <a:r>
              <a:rPr>
                <a:latin typeface="Courier"/>
              </a:rPr>
              <a:t>H0 =
________________________________________________________
Ha =
________________________________________________________
Model I will use and why:
________________________________________________________</a:t>
            </a:r>
          </a:p>
          <a:p>
            <a:pPr lvl="0" indent="0">
              <a:buNone/>
            </a:pPr>
            <a:r>
              <a:rPr>
                <a:solidFill>
                  <a:srgbClr val="5E5E5E"/>
                </a:solidFill>
                <a:latin typeface="Courier"/>
              </a:rPr>
              <a:t># Write your code here:</a:t>
            </a:r>
          </a:p>
          <a:p>
            <a:pPr lvl="0" indent="0">
              <a:buNone/>
            </a:pPr>
            <a:r>
              <a:rPr>
                <a:latin typeface="Courier"/>
              </a:rPr>
              <a:t>Interpretation:
________________________________________________________
________________________________________________________</a:t>
            </a:r>
          </a:p>
          <a:p>
            <a:pPr lvl="0" indent="0" marL="0">
              <a:spcBef>
                <a:spcPts val="3000"/>
              </a:spcBef>
              <a:buNone/>
            </a:pPr>
            <a:r>
              <a:rPr b="1"/>
              <a:t>Final Figure</a:t>
            </a:r>
          </a:p>
          <a:p>
            <a:pPr lvl="0" indent="0" marL="0">
              <a:buNone/>
            </a:pPr>
            <a:r>
              <a:rPr/>
              <a:t>Produce one publication-quality figure comparing growth rate between ranges — proper axis labels, no default </a:t>
            </a:r>
            <a:r>
              <a:rPr>
                <a:latin typeface="Courier"/>
              </a:rPr>
              <a:t>ggplot</a:t>
            </a:r>
            <a:r>
              <a:rPr/>
              <a:t> grey background — and export it with </a:t>
            </a:r>
            <a:r>
              <a:rPr>
                <a:latin typeface="Courier"/>
              </a:rPr>
              <a:t>ggsave()</a:t>
            </a:r>
            <a:r>
              <a:rPr/>
              <a:t>.</a:t>
            </a:r>
          </a:p>
          <a:p>
            <a:pPr lvl="0" indent="0">
              <a:buNone/>
            </a:pPr>
            <a:r>
              <a:rPr>
                <a:solidFill>
                  <a:srgbClr val="5E5E5E"/>
                </a:solidFill>
                <a:latin typeface="Courier"/>
              </a:rPr>
              <a:t># Write your code here:</a:t>
            </a:r>
          </a:p>
          <a:p>
            <a:pPr lvl="0" indent="0" marL="1270000">
              <a:buNone/>
            </a:pPr>
            <a:r>
              <a:rPr sz="2000" b="1"/>
              <a:t>Note</a:t>
            </a:r>
          </a:p>
          <a:p>
            <a:pPr lvl="0" indent="0" marL="1270000">
              <a:buNone/>
            </a:pPr>
            <a:r>
              <a:rPr sz="2000" b="1"/>
              <a:t>📤 What to turn in — due Nov 4</a:t>
            </a:r>
          </a:p>
          <a:p>
            <a:pPr lvl="0" indent="0" marL="1270000">
              <a:buNone/>
            </a:pPr>
            <a:r>
              <a:rPr sz="2000"/>
              <a:t>Your write-up should include:</a:t>
            </a:r>
          </a:p>
          <a:p>
            <a:pPr lvl="0"/>
            <a:r>
              <a:rPr sz="2000"/>
              <a:t>☐ The question</a:t>
            </a:r>
          </a:p>
          <a:p>
            <a:pPr lvl="0"/>
            <a:r>
              <a:rPr sz="2000"/>
              <a:t>☐ Your hypotheses</a:t>
            </a:r>
          </a:p>
          <a:p>
            <a:pPr lvl="0"/>
            <a:r>
              <a:rPr sz="2000"/>
              <a:t>☐ Which model you used, and your justification for it</a:t>
            </a:r>
          </a:p>
          <a:p>
            <a:pPr lvl="0"/>
            <a:r>
              <a:rPr sz="2000"/>
              <a:t>☐ The code and its output</a:t>
            </a:r>
          </a:p>
          <a:p>
            <a:pPr lvl="0"/>
            <a:r>
              <a:rPr sz="2000"/>
              <a:t>☐ Your interpretation of the result (including the random effect)</a:t>
            </a:r>
          </a:p>
          <a:p>
            <a:pPr lvl="0"/>
            <a:r>
              <a:rPr sz="2000"/>
              <a:t>☐ A final figure showing the result</a:t>
            </a:r>
          </a:p>
          <a:p>
            <a:pPr lvl="0" indent="0" marL="1270000">
              <a:buNone/>
            </a:pPr>
            <a:r>
              <a:rPr sz="2000" b="1"/>
              <a:t>Note</a:t>
            </a:r>
          </a:p>
          <a:p>
            <a:pPr lvl="0" indent="0" marL="1270000">
              <a:buNone/>
            </a:pPr>
            <a:r>
              <a:rPr sz="2000" b="1"/>
              <a:t>Reference</a:t>
            </a:r>
          </a:p>
          <a:p>
            <a:pPr lvl="0" indent="0" marL="1270000">
              <a:buNone/>
            </a:pPr>
            <a:r>
              <a:rPr sz="2000"/>
              <a:t>Sargent, L.W. &amp; Lodge, D.M. (2014). Evolution of invasive traits in nonindigenous species: increased survival and faster growth in invasive populations of rusty crayfish (</a:t>
            </a:r>
            <a:r>
              <a:rPr sz="2000" i="1"/>
              <a:t>Orconectes rusticus</a:t>
            </a:r>
            <a:r>
              <a:rPr sz="2000"/>
              <a:t>). </a:t>
            </a:r>
            <a:r>
              <a:rPr sz="2000" i="1"/>
              <a:t>Evolutionary Applications</a:t>
            </a:r>
            <a:r>
              <a:rPr sz="2000"/>
              <a:t>, 7, 949–961.</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Getting unstuck</a:t>
            </a:r>
          </a:p>
        </p:txBody>
      </p:sp>
      <p:sp>
        <p:nvSpPr>
          <p:cNvPr id="3" name="Content Placeholder 2"/>
          <p:cNvSpPr>
            <a:spLocks noGrp="1"/>
          </p:cNvSpPr>
          <p:nvPr>
            <p:ph idx="1"/>
          </p:nvPr>
        </p:nvSpPr>
        <p:spPr/>
        <p:txBody>
          <a:bodyPr/>
          <a:lstStyle/>
          <a:p>
            <a:pPr lvl="0" indent="0" marL="0">
              <a:buNone/>
            </a:pPr>
            <a:r>
              <a:rPr/>
              <a:t>When code breaks — and it will, that is normal:</a:t>
            </a:r>
          </a:p>
          <a:p>
            <a:pPr lvl="0" indent="-342900" marL="342900">
              <a:buAutoNum type="arabicPeriod"/>
            </a:pPr>
            <a:r>
              <a:rPr b="1"/>
              <a:t>Read the error message out loud.</a:t>
            </a:r>
            <a:r>
              <a:rPr/>
              <a:t> R usually names the line and the problem.</a:t>
            </a:r>
          </a:p>
          <a:p>
            <a:pPr lvl="0" indent="-342900" marL="342900">
              <a:buAutoNum type="arabicPeriod"/>
            </a:pPr>
            <a:r>
              <a:rPr b="1"/>
              <a:t>Check the usual suspects:</a:t>
            </a:r>
            <a:r>
              <a:rPr/>
              <a:t> did you run </a:t>
            </a:r>
            <a:r>
              <a:rPr>
                <a:latin typeface="Courier"/>
              </a:rPr>
              <a:t>library(lme4)</a:t>
            </a:r>
            <a:r>
              <a:rPr/>
              <a:t>, </a:t>
            </a:r>
            <a:r>
              <a:rPr>
                <a:latin typeface="Courier"/>
              </a:rPr>
              <a:t>library(lmerTest)</a:t>
            </a:r>
            <a:r>
              <a:rPr/>
              <a:t>, </a:t>
            </a:r>
            <a:r>
              <a:rPr>
                <a:latin typeface="Courier"/>
              </a:rPr>
              <a:t>library(car)</a:t>
            </a:r>
            <a:r>
              <a:rPr/>
              <a:t>, </a:t>
            </a:r>
            <a:r>
              <a:rPr>
                <a:latin typeface="Courier"/>
              </a:rPr>
              <a:t>library(emmeans)</a:t>
            </a:r>
            <a:r>
              <a:rPr/>
              <a:t>, </a:t>
            </a:r>
            <a:r>
              <a:rPr>
                <a:latin typeface="Courier"/>
              </a:rPr>
              <a:t>library(DHARMa)</a:t>
            </a:r>
            <a:r>
              <a:rPr/>
              <a:t>, and </a:t>
            </a:r>
            <a:r>
              <a:rPr>
                <a:latin typeface="Courier"/>
              </a:rPr>
              <a:t>library(tidyverse)</a:t>
            </a:r>
            <a:r>
              <a:rPr/>
              <a:t>? Spelling? A missing </a:t>
            </a:r>
            <a:r>
              <a:rPr>
                <a:latin typeface="Courier"/>
              </a:rPr>
              <a:t>)</a:t>
            </a:r>
            <a:r>
              <a:rPr/>
              <a:t> or </a:t>
            </a:r>
            <a:r>
              <a:rPr>
                <a:latin typeface="Courier"/>
              </a:rPr>
              <a:t>%&gt;%</a:t>
            </a:r>
            <a:r>
              <a:rPr/>
              <a:t> at the </a:t>
            </a:r>
            <a:r>
              <a:rPr i="1"/>
              <a:t>start</a:t>
            </a:r>
            <a:r>
              <a:rPr/>
              <a:t> of a line?</a:t>
            </a:r>
          </a:p>
          <a:p>
            <a:pPr lvl="0" indent="-342900" marL="342900">
              <a:buAutoNum type="arabicPeriod"/>
            </a:pPr>
            <a:r>
              <a:rPr>
                <a:latin typeface="Courier"/>
              </a:rPr>
              <a:t>?function_name</a:t>
            </a:r>
            <a:r>
              <a:rPr/>
              <a:t> opens the built-in help page.</a:t>
            </a:r>
          </a:p>
          <a:p>
            <a:pPr lvl="0" indent="-342900" marL="342900">
              <a:buAutoNum type="arabicPeriod"/>
            </a:pPr>
            <a:r>
              <a:rPr b="1"/>
              <a:t>Bring the exact error</a:t>
            </a:r>
            <a:r>
              <a:rPr/>
              <a:t> (copy-paste it) to class or office hours.</a:t>
            </a:r>
          </a:p>
          <a:p>
            <a:pPr lvl="0" indent="0" marL="1270000">
              <a:buNone/>
            </a:pPr>
            <a:r>
              <a:rPr sz="2000"/>
              <a:t>💡 </a:t>
            </a:r>
            <a:r>
              <a:rPr sz="2000" b="1"/>
              <a:t>Key idea:</a:t>
            </a:r>
            <a:r>
              <a:rPr sz="2000"/>
              <a:t> Every working scientist googles error messages daily. Getting stuck is not failing — it is the job.</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46</Words>
  <Application>Microsoft Macintosh PowerPoint</Application>
  <PresentationFormat>On-screen Show (16:9)</PresentationFormat>
  <Paragraphs>14</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Activity: Linear Mixed Models</dc:title>
  <dc:creator>Bill Perry</dc:creator>
  <cp:keywords/>
  <dc:description>Hands-on activity: fitting a linear mixed model with lme4::lmer(), F-test vs. Chi-square tests, DHARMa diagnostics, and comparing results back to a traditional nested ANOVA, on the sea urchin grazing / algae cover dataset.</dc:description>
  <dcterms:created xsi:type="dcterms:W3CDTF">2026-08-28T18:17:59Z</dcterms:created>
  <dcterms:modified xsi:type="dcterms:W3CDTF">2026-08-28T18:17:59Z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editor">
    <vt:lpwstr>visual</vt:lpwstr>
  </property>
  <property fmtid="{D5CDD505-2E9C-101B-9397-08002B2CF9AE}" pid="6" name="execute">
    <vt:lpwstr/>
  </property>
  <property fmtid="{D5CDD505-2E9C-101B-9397-08002B2CF9AE}" pid="7" name="format">
    <vt:lpwstr/>
  </property>
  <property fmtid="{D5CDD505-2E9C-101B-9397-08002B2CF9AE}" pid="8" name="header-includes">
    <vt:lpwstr/>
  </property>
  <property fmtid="{D5CDD505-2E9C-101B-9397-08002B2CF9AE}" pid="9" name="include-after">
    <vt:lpwstr/>
  </property>
  <property fmtid="{D5CDD505-2E9C-101B-9397-08002B2CF9AE}" pid="10" name="include-before">
    <vt:lpwstr/>
  </property>
  <property fmtid="{D5CDD505-2E9C-101B-9397-08002B2CF9AE}" pid="11" name="labels">
    <vt:lpwstr/>
  </property>
  <property fmtid="{D5CDD505-2E9C-101B-9397-08002B2CF9AE}" pid="12" name="order">
    <vt:lpwstr>15</vt:lpwstr>
  </property>
  <property fmtid="{D5CDD505-2E9C-101B-9397-08002B2CF9AE}" pid="13" name="resources">
    <vt:lpwstr/>
  </property>
  <property fmtid="{D5CDD505-2E9C-101B-9397-08002B2CF9AE}" pid="14" name="subtitle">
    <vt:lpwstr>Random effects for nested data</vt:lpwstr>
  </property>
  <property fmtid="{D5CDD505-2E9C-101B-9397-08002B2CF9AE}" pid="15" name="toc-title">
    <vt:lpwstr>Table of contents</vt:lpwstr>
  </property>
  <property fmtid="{D5CDD505-2E9C-101B-9397-08002B2CF9AE}" pid="16" name="week">
    <vt:lpwstr>10</vt:lpwstr>
  </property>
</Properties>
</file>