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Review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review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19: Introduction to Logistic Regression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What is Logistic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 is used when: - The response variable is </a:t>
            </a:r>
            <a:r>
              <a:rPr b="1"/>
              <a:t>binary</a:t>
            </a:r>
            <a:r>
              <a:rPr/>
              <a:t> (yes/no, 1/0, present/absent) - Data follows a </a:t>
            </a:r>
            <a:r>
              <a:rPr b="1"/>
              <a:t>binomial distribution</a:t>
            </a:r>
            <a:r>
              <a:rPr/>
              <a:t> (not normal) - We want to model the </a:t>
            </a:r>
            <a:r>
              <a:rPr b="1"/>
              <a:t>probability</a:t>
            </a:r>
            <a:r>
              <a:rPr/>
              <a:t> of an outcome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Today’s Example: Lizard Sexual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We’ll explore the relationship between body length and sexual maturity in female lizards - </a:t>
            </a:r>
            <a:r>
              <a:rPr b="1"/>
              <a:t>Response variable</a:t>
            </a:r>
            <a:r>
              <a:rPr/>
              <a:t>: Sexual maturity (mature: 1 = yes, 0 = no) - </a:t>
            </a:r>
            <a:r>
              <a:rPr b="1"/>
              <a:t>Predictor variable</a:t>
            </a:r>
            <a:r>
              <a:rPr/>
              <a:t>: Body length in cm - </a:t>
            </a:r>
            <a:r>
              <a:rPr b="1"/>
              <a:t>Question</a:t>
            </a:r>
            <a:r>
              <a:rPr/>
              <a:t>: Can we predict the probability of sexual maturity from body size?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Difference from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Linear regression: Models the actual values of Y</a:t>
            </a:r>
          </a:p>
          <a:p>
            <a:pPr lvl="0"/>
            <a:r>
              <a:rPr/>
              <a:t>Logistic regression: Models the probability of Y = 1</a:t>
            </a:r>
          </a:p>
          <a:p>
            <a:pPr lvl="0"/>
            <a:r>
              <a:rPr/>
              <a:t>Uses Generalized Linear Models (GLM) instead of General Linear Models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1: Load and Explore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lizard dataset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lizards_df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"data/lizards.csv"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First few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(lizards_df)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length mature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  10.2      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  10.4      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  11.8      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  12.3      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5   13.8      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6   16.9      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2: Initial Data Visualization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Creating a Boxplot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how body length differs between sexually mature and immature lizards: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boxplot showing length by maturity status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maturity_boxplot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(lizards_df,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(mature),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"lightcoral"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"Lizard Body Length by Sexual Maturity Status"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"Sexual Maturity (0 = Immature, 1 = Mature)"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Length (cm)"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maturity_boxplot</a:t>
            </a:r>
          </a:p>
        </p:txBody>
      </p:sp>
      <p:pic>
        <p:nvPicPr>
          <p:cNvPr descr="review_lecture_files/figure-pptx/initial_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952500"/>
            <a:ext cx="37973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What do we see?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There appears to be a relationship between size and sexual maturity</a:t>
            </a:r>
          </a:p>
          <a:p>
            <a:pPr lvl="0"/>
            <a:r>
              <a:rPr/>
              <a:t>Mature lizards tend to be longer than immature ones</a:t>
            </a:r>
          </a:p>
          <a:p>
            <a:pPr lvl="0"/>
            <a:r>
              <a:rPr/>
              <a:t>But there’s overlap - not a perfect separation</a:t>
            </a:r>
          </a:p>
          <a:p>
            <a:pPr lvl="0"/>
            <a:r>
              <a:rPr/>
              <a:t>This suggests logistic regression might be appropriate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3: Fit the Logistic Regression Model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Using glm() for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glm()</a:t>
            </a:r>
            <a:r>
              <a:rPr/>
              <a:t> function is similar to </a:t>
            </a:r>
            <a:r>
              <a:rPr>
                <a:latin typeface="Courier"/>
              </a:rPr>
              <a:t>lm()</a:t>
            </a:r>
            <a:r>
              <a:rPr/>
              <a:t> but requires specifying the distribution family: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logistic regression model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family = binomial tells R we have binary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logistic_model &lt;- </a:t>
            </a:r>
            <a:r>
              <a:rPr>
                <a:solidFill>
                  <a:srgbClr val="4758AB"/>
                </a:solidFill>
                <a:latin typeface="Courier"/>
              </a:rPr>
              <a:t>glm</a:t>
            </a:r>
            <a:r>
              <a:rPr>
                <a:solidFill>
                  <a:srgbClr val="003B4F"/>
                </a:solidFill>
                <a:latin typeface="Courier"/>
              </a:rPr>
              <a:t>(mature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length,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lizards_df,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family =</a:t>
            </a:r>
            <a:r>
              <a:rPr>
                <a:solidFill>
                  <a:srgbClr val="003B4F"/>
                </a:solidFill>
                <a:latin typeface="Courier"/>
              </a:rPr>
              <a:t> binomial)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model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(logistic_model)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Call: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glm(formula = mature ~ length, family = binomial, data = lizards_df)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Coefficients: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Estimate Std. Error z value Pr(&gt;|z|)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(Intercept)  -6.6899     2.1401  -3.126  0.00177 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length        0.2503     0.0775   3.229  0.00124 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(Dispersion parameter for binomial family taken to be 1)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Null deviance: 60.176  on 43  degrees of freedom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 deviance: 34.041  on 42  degrees of freedom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AIC: 38.041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Number of Fisher Scoring iterations: 6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Interpreting the Model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Coefficients:</a:t>
            </a:r>
          </a:p>
          <a:p>
            <a:pPr lvl="0"/>
            <a:r>
              <a:rPr b="1"/>
              <a:t>Intercept (β₀)</a:t>
            </a:r>
            <a:r>
              <a:rPr/>
              <a:t>: -5.5847 - The log-odds when length = 0</a:t>
            </a:r>
          </a:p>
          <a:p>
            <a:pPr lvl="0"/>
            <a:r>
              <a:rPr b="1"/>
              <a:t>Slope (β₁)</a:t>
            </a:r>
            <a:r>
              <a:rPr/>
              <a:t>: 0.2503 - Change in log-odds for each 1 cm increase in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P-values:</a:t>
            </a:r>
          </a:p>
          <a:p>
            <a:pPr lvl="0"/>
            <a:r>
              <a:rPr/>
              <a:t>Both coefficients are significant (p &lt; 0.05)</a:t>
            </a:r>
          </a:p>
          <a:p>
            <a:pPr lvl="0"/>
            <a:r>
              <a:rPr/>
              <a:t>We reject the null hypothesis that β₁ = 0</a:t>
            </a:r>
          </a:p>
          <a:p>
            <a:pPr lvl="0"/>
            <a:r>
              <a:rPr/>
              <a:t>There IS a relationship between length and sexual maturity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Slope:</a:t>
            </a:r>
          </a:p>
          <a:p>
            <a:pPr lvl="0" indent="0" marL="0">
              <a:buNone/>
            </a:pPr>
            <a:r>
              <a:rPr/>
              <a:t>The positive slope (0.2503) indicates: - Longer lizards are more likely to be sexually mature - For each 1 cm increase in length, the log-odds of maturity increase by 0.2503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4: Convert Log-Odds to Odds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Making the Results More Interpretable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Log-odds are hard to interpret. Let’s convert to odds: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the slope coefficient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slope_coefficient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(logistic_model)[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log-odds to odds ratio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odds_ratio &lt;- </a:t>
            </a:r>
            <a:r>
              <a:rPr>
                <a:solidFill>
                  <a:srgbClr val="4758AB"/>
                </a:solidFill>
                <a:latin typeface="Courier"/>
              </a:rPr>
              <a:t>exp</a:t>
            </a:r>
            <a:r>
              <a:rPr>
                <a:solidFill>
                  <a:srgbClr val="003B4F"/>
                </a:solidFill>
                <a:latin typeface="Courier"/>
              </a:rPr>
              <a:t>(slope_coefficient)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odds_ratio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length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1.284388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Interpretation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 every 1 cm increase in length, the odds of being sexually mature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increase by a factor of 1.284 (or about 28.4%)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5: Create the Logistic Regression Plot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Visualizing the Probability Curve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sequence of x-values for prediction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xvals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from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predicted probabilities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yvals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xvals),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prediction dataframe for plotting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prediction_df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xvals,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probability =</a:t>
            </a:r>
            <a:r>
              <a:rPr>
                <a:solidFill>
                  <a:srgbClr val="003B4F"/>
                </a:solidFill>
                <a:latin typeface="Courier"/>
              </a:rPr>
              <a:t> yvals)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the logistic regression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logistic_plot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data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lizards_df,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mature),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logistic curve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prediction_df,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probability),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"Probability of Sexual Maturity vs Body Length"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Length (cm)"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"Probability of Being Sexually Mature"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logistic_plot</a:t>
            </a:r>
          </a:p>
        </p:txBody>
      </p:sp>
      <p:pic>
        <p:nvPicPr>
          <p:cNvPr descr="review_lecture_files/figure-pptx/logistic_regres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952500"/>
            <a:ext cx="37973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What the S-curve tells us: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red line shows how probability changes with length</a:t>
            </a:r>
          </a:p>
          <a:p>
            <a:pPr lvl="0"/>
            <a:r>
              <a:rPr/>
              <a:t>Small lizards (&lt;20 cm) have very low probability of being mature</a:t>
            </a:r>
          </a:p>
          <a:p>
            <a:pPr lvl="0"/>
            <a:r>
              <a:rPr/>
              <a:t>Large lizards (&gt;40 cm) have very high probability of being mature</a:t>
            </a:r>
          </a:p>
          <a:p>
            <a:pPr lvl="0"/>
            <a:r>
              <a:rPr/>
              <a:t>The steepest change occurs around 25-30 cm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6: Making Predictions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Using the Model for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predict the probability of sexual maturity for specific lizard sizes: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 for a 20 cm lizard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prob_20cm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prob_20cm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1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0.1565304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Predict for a 30 cm lizard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prob_30cm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prob_30cm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1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0.6939292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Predict for a 40 cm lizard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prob_40cm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prob_40cm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1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0.9651551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Interpretation: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20 cm lizard has about 14% probability of being sexually mature</a:t>
            </a:r>
          </a:p>
          <a:p>
            <a:pPr lvl="0"/>
            <a:r>
              <a:rPr/>
              <a:t>A 30 cm lizard has about 70% probability of being sexually mature</a:t>
            </a:r>
          </a:p>
          <a:p>
            <a:pPr lvl="0"/>
            <a:r>
              <a:rPr/>
              <a:t>A 40 cm lizard has about 96% probability of being sexually mature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7: Model Fit Assessment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Calculating Pseudo-R2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Unlike linear regression, logistic regression doesn’t have a traditional R². We use pseudo-R² instead: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pseudo-R2 values using pscl package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pseudo_r2 &lt;- </a:t>
            </a:r>
            <a:r>
              <a:rPr>
                <a:solidFill>
                  <a:srgbClr val="4758AB"/>
                </a:solidFill>
                <a:latin typeface="Courier"/>
              </a:rPr>
              <a:t>pR2</a:t>
            </a:r>
            <a:r>
              <a:rPr>
                <a:solidFill>
                  <a:srgbClr val="003B4F"/>
                </a:solidFill>
                <a:latin typeface="Courier"/>
              </a:rPr>
              <a:t>(logistic_model)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fitting null model for pseudo-r2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pseudo_r2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llh     llhNull          G2    McFadden        r2ML        r2CU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-17.0204762 -30.0881077  26.1352630   0.4343122   0.4478763   0.6009400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Pseudo-R2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last three values are the pseudo-R² statistics:</a:t>
            </a:r>
          </a:p>
          <a:p>
            <a:pPr lvl="0"/>
            <a:r>
              <a:rPr b="1"/>
              <a:t>McFadden</a:t>
            </a:r>
            <a:r>
              <a:rPr/>
              <a:t>: Compares model to null model</a:t>
            </a:r>
          </a:p>
          <a:p>
            <a:pPr lvl="0"/>
            <a:r>
              <a:rPr b="1"/>
              <a:t>r2ML</a:t>
            </a:r>
            <a:r>
              <a:rPr/>
              <a:t>: Maximum likelihood based R²</a:t>
            </a:r>
          </a:p>
          <a:p>
            <a:pPr lvl="0"/>
            <a:r>
              <a:rPr b="1"/>
              <a:t>r2CU</a:t>
            </a:r>
            <a:r>
              <a:rPr/>
              <a:t>: Cragg-Uhler (Nagelkerke) R²</a:t>
            </a:r>
          </a:p>
          <a:p>
            <a:pPr lvl="0" indent="0" marL="0">
              <a:buNone/>
            </a:pPr>
            <a:r>
              <a:rPr/>
              <a:t>Values around 0.4-0.5 indicate moderate to good fit. Our model explains approximately 40-50% of the variation in sexual maturity status.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8: Additional Diagnostics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Creating a More Detailed Summary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plot showing observed vs predicted probabilities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lizards_df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predicted_prob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diagnostic_plot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(lizards_df,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observed data as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mature),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predicted probabilities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predicted_prob),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50% probability threshold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"gray50"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"Observed Data and Model Predictions"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Length (cm)"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"Probability of Sexual Maturity"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"Points = observed data, Blue line = model predictions"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diagnostic_plot</a:t>
            </a:r>
          </a:p>
        </p:txBody>
      </p:sp>
      <p:pic>
        <p:nvPicPr>
          <p:cNvPr descr="review_lecture_files/figure-pptx/diagnostic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952500"/>
            <a:ext cx="37973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Summary: Key Takeaways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What We Learned: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Logistic regression</a:t>
            </a:r>
            <a:r>
              <a:rPr/>
              <a:t> models probability of binary outcomes</a:t>
            </a:r>
          </a:p>
          <a:p>
            <a:pPr lvl="0" indent="-342900" marL="342900">
              <a:buAutoNum type="arabicPeriod"/>
            </a:pPr>
            <a:r>
              <a:rPr/>
              <a:t>Uses </a:t>
            </a:r>
            <a:r>
              <a:rPr b="1"/>
              <a:t>glm()</a:t>
            </a:r>
            <a:r>
              <a:rPr/>
              <a:t> with </a:t>
            </a:r>
            <a:r>
              <a:rPr>
                <a:latin typeface="Courier"/>
              </a:rPr>
              <a:t>family = binomial</a:t>
            </a:r>
          </a:p>
          <a:p>
            <a:pPr lvl="0" indent="-342900" marL="342900">
              <a:buAutoNum type="arabicPeriod"/>
            </a:pPr>
            <a:r>
              <a:rPr/>
              <a:t>Coefficients represent changes in </a:t>
            </a:r>
            <a:r>
              <a:rPr b="1"/>
              <a:t>log-odds</a:t>
            </a:r>
          </a:p>
          <a:p>
            <a:pPr lvl="0" indent="-342900" marL="342900">
              <a:buAutoNum type="arabicPeriod"/>
            </a:pPr>
            <a:r>
              <a:rPr/>
              <a:t>Convert to </a:t>
            </a:r>
            <a:r>
              <a:rPr b="1"/>
              <a:t>odds ratios</a:t>
            </a:r>
            <a:r>
              <a:rPr/>
              <a:t> for interpretation: exp(coefficient)</a:t>
            </a:r>
          </a:p>
          <a:p>
            <a:pPr lvl="0" indent="-342900" marL="342900">
              <a:buAutoNum type="arabicPeriod"/>
            </a:pPr>
            <a:r>
              <a:rPr/>
              <a:t>Creates </a:t>
            </a:r>
            <a:r>
              <a:rPr b="1"/>
              <a:t>S-shaped probability curves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 b="1"/>
              <a:t>pseudo-R²</a:t>
            </a:r>
            <a:r>
              <a:rPr/>
              <a:t> to assess model fit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Our Results: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Significant positive relationship between body length and sexual maturity</a:t>
            </a:r>
          </a:p>
          <a:p>
            <a:pPr lvl="0"/>
            <a:r>
              <a:rPr/>
              <a:t>Each 1 cm increase in length increases odds of maturity by ~28%</a:t>
            </a:r>
          </a:p>
          <a:p>
            <a:pPr lvl="0"/>
            <a:r>
              <a:rPr/>
              <a:t>Model explains ~40-50% of variation in maturity status</a:t>
            </a:r>
          </a:p>
          <a:p>
            <a:pPr lvl="0"/>
            <a:r>
              <a:rPr/>
              <a:t>Can predict probability of maturity for any given length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When to Use Logistic Regression: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Binary response variable (0/1, yes/no, success/failure)</a:t>
            </a:r>
          </a:p>
          <a:p>
            <a:pPr lvl="0"/>
            <a:r>
              <a:rPr/>
              <a:t>Want to predict probabilities</a:t>
            </a:r>
          </a:p>
          <a:p>
            <a:pPr lvl="0"/>
            <a:r>
              <a:rPr/>
              <a:t>Relationships that follow S-shaped curves</a:t>
            </a:r>
          </a:p>
          <a:p>
            <a:pPr lvl="0"/>
            <a:r>
              <a:rPr/>
              <a:t>When assumptions of linear regression are violated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Review</dc:title>
  <dc:creator>Bill Perry</dc:creator>
  <cp:keywords/>
  <dc:description>End-of-course review, worked through a full logistic regression example — fitting a model, interpreting log-odds and odds ratios, visualizing the probability curve, making predictions, and assessing model fit with pseudo-R².</dc:description>
  <dcterms:created xsi:type="dcterms:W3CDTF">2026-10-05T16:39:23Z</dcterms:created>
  <dcterms:modified xsi:type="dcterms:W3CDTF">2026-10-05T16:39:23Z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21</vt:lpwstr>
  </property>
  <property fmtid="{D5CDD505-2E9C-101B-9397-08002B2CF9AE}" pid="14" name="resources">
    <vt:lpwstr/>
  </property>
  <property fmtid="{D5CDD505-2E9C-101B-9397-08002B2CF9AE}" pid="15" name="subtitle">
    <vt:lpwstr>Course review</vt:lpwstr>
  </property>
  <property fmtid="{D5CDD505-2E9C-101B-9397-08002B2CF9AE}" pid="16" name="toc-title">
    <vt:lpwstr>Table of contents</vt:lpwstr>
  </property>
  <property fmtid="{D5CDD505-2E9C-101B-9397-08002B2CF9AE}" pid="17" name="week">
    <vt:lpwstr>16</vt:lpwstr>
  </property>
</Properties>
</file>