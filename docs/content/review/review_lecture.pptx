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76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7" Type="http://schemas.openxmlformats.org/officeDocument/2006/relationships/slide" Target="slides/slide26.xml" /><Relationship Id="rId28" Type="http://schemas.openxmlformats.org/officeDocument/2006/relationships/slide" Target="slides/slide27.xml" /><Relationship Id="rId29" Type="http://schemas.openxmlformats.org/officeDocument/2006/relationships/slide" Target="slides/slide28.xml" /><Relationship Id="rId30" Type="http://schemas.openxmlformats.org/officeDocument/2006/relationships/slide" Target="slides/slide29.xml" /><Relationship Id="rId32" Type="http://schemas.openxmlformats.org/officeDocument/2006/relationships/viewProps" Target="viewProps.xml" /><Relationship Id="rId31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4" Type="http://schemas.openxmlformats.org/officeDocument/2006/relationships/tableStyles" Target="tableStyles.xml" /><Relationship Id="rId33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514350" indent="-284163">
              <a:spcBef>
                <a:spcPts val="0"/>
              </a:spcBef>
              <a:tabLst/>
              <a:defRPr sz="1600"/>
            </a:lvl2pPr>
            <a:lvl3pPr marL="692150" indent="-177800">
              <a:spcBef>
                <a:spcPts val="0"/>
              </a:spcBef>
              <a:tabLst/>
              <a:defRPr sz="1400"/>
            </a:lvl3pPr>
            <a:lvl4pPr marL="914400" indent="-222250">
              <a:spcBef>
                <a:spcPts val="0"/>
              </a:spcBef>
              <a:tabLst/>
              <a:defRPr sz="1400"/>
            </a:lvl4pPr>
            <a:lvl5pPr marL="1146175" indent="-231775">
              <a:spcBef>
                <a:spcPts val="0"/>
              </a:spcBef>
              <a:tabLst/>
              <a:defRPr sz="14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70121D"/>
          </a:solidFill>
        </p:spPr>
        <p:txBody>
          <a:bodyPr/>
          <a:lstStyle>
            <a:lvl1pPr algn="l">
              <a:defRPr b="0">
                <a:solidFill>
                  <a:srgbClr val="FDCC31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0" y="662663"/>
            <a:ext cx="6010759" cy="4480837"/>
          </a:xfrm>
        </p:spPr>
        <p:txBody>
          <a:bodyPr>
            <a:normAutofit/>
          </a:bodyPr>
          <a:lstStyle>
            <a:lvl1pPr marL="230188" indent="-230188">
              <a:tabLst/>
              <a:defRPr sz="1800"/>
            </a:lvl1pPr>
            <a:lvl2pPr marL="460375" indent="-230188">
              <a:tabLst/>
              <a:defRPr sz="1600"/>
            </a:lvl2pPr>
            <a:lvl3pPr marL="630238" indent="-169863">
              <a:tabLst/>
              <a:defRPr sz="1400"/>
            </a:lvl3pPr>
            <a:lvl4pPr marL="914400" indent="-284163">
              <a:tabLst/>
              <a:defRPr sz="1400"/>
            </a:lvl4pPr>
            <a:lvl5pPr marL="1146175" indent="-231775">
              <a:tabLst/>
              <a:defRPr sz="14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6129580" y="662664"/>
            <a:ext cx="2790986" cy="4480836"/>
          </a:xfrm>
        </p:spPr>
        <p:txBody>
          <a:bodyPr>
            <a:normAutofit/>
          </a:bodyPr>
          <a:lstStyle>
            <a:lvl1pPr marL="342900" indent="-34290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4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>
            <a:normAutofit/>
          </a:bodyPr>
          <a:lstStyle>
            <a:lvl1pPr marL="0" indent="0">
              <a:buNone/>
              <a:defRPr sz="16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6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657600" y="960804"/>
            <a:ext cx="5238426" cy="3806460"/>
          </a:xfrm>
        </p:spPr>
        <p:txBody>
          <a:bodyPr>
            <a:normAutofit/>
          </a:bodyPr>
          <a:lstStyle>
            <a:lvl1pPr>
              <a:defRPr sz="1800"/>
            </a:lvl1pPr>
            <a:lvl2pPr>
              <a:defRPr sz="1600"/>
            </a:lvl2pPr>
            <a:lvl3pPr>
              <a:defRPr sz="1600"/>
            </a:lvl3pPr>
            <a:lvl4pPr>
              <a:defRPr sz="1600"/>
            </a:lvl4pPr>
            <a:lvl5pPr>
              <a:defRPr sz="16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>
            <a:normAutofit/>
          </a:bodyPr>
          <a:lstStyle>
            <a:lvl1pPr marL="0" indent="0">
              <a:buNone/>
              <a:defRPr sz="160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 dirty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70121D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3/24/25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DCC3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b="0" kern="1200" sz="18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6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6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6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1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2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8.xml" /><Relationship Id="rId2" Type="http://schemas.openxmlformats.org/officeDocument/2006/relationships/image" Target="../media/image3.png" /></Relationships>
</file>

<file path=ppt/slides/_rels/slide26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7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8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9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Lecture: Review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Course review</a:t>
            </a:r>
            <a:br/>
            <a:br/>
            <a:r>
              <a:rPr/>
              <a:t>Bill Perry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19: Introduction to Logistic Regression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is Logistic Regression?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Logistic regression is used when: - The response variable is </a:t>
            </a:r>
            <a:r>
              <a:rPr b="1"/>
              <a:t>binary</a:t>
            </a:r>
            <a:r>
              <a:rPr/>
              <a:t> (yes/no, 1/0, present/absent) - Data follows a </a:t>
            </a:r>
            <a:r>
              <a:rPr b="1"/>
              <a:t>binomial distribution</a:t>
            </a:r>
            <a:r>
              <a:rPr/>
              <a:t> (not normal) - We want to model the </a:t>
            </a:r>
            <a:r>
              <a:rPr b="1"/>
              <a:t>probability</a:t>
            </a:r>
            <a:r>
              <a:rPr/>
              <a:t> of an outcome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Today’s Example: Lizard Sexual Maturity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We’ll explore the relationship between body length and sexual maturity in female lizards - </a:t>
            </a:r>
            <a:r>
              <a:rPr b="1"/>
              <a:t>Response variable</a:t>
            </a:r>
            <a:r>
              <a:rPr/>
              <a:t>: Sexual maturity (mature: 1 = yes, 0 = no) - </a:t>
            </a:r>
            <a:r>
              <a:rPr b="1"/>
              <a:t>Predictor variable</a:t>
            </a:r>
            <a:r>
              <a:rPr/>
              <a:t>: Body length in cm - </a:t>
            </a:r>
            <a:r>
              <a:rPr b="1"/>
              <a:t>Question</a:t>
            </a:r>
            <a:r>
              <a:rPr/>
              <a:t>: Can we predict the probability of sexual maturity from body size?</a:t>
            </a:r>
          </a:p>
        </p:txBody>
      </p:sp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Key Difference from Linear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Linear regression: Models the actual values of Y</a:t>
            </a:r>
          </a:p>
          <a:p>
            <a:pPr lvl="0"/>
            <a:r>
              <a:rPr/>
              <a:t>Logistic regression: Models the probability of Y = 1</a:t>
            </a:r>
          </a:p>
          <a:p>
            <a:pPr lvl="0"/>
            <a:r>
              <a:rPr/>
              <a:t>Uses Generalized Linear Models (GLM) instead of General Linear Models</a:t>
            </a:r>
          </a:p>
        </p:txBody>
      </p:sp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1: Load and Explore the Data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Load the lizard dataset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 &lt;- </a:t>
            </a:r>
            <a:r>
              <a:rPr>
                <a:solidFill>
                  <a:srgbClr val="4758AB"/>
                </a:solidFill>
                <a:latin typeface="Courier"/>
              </a:rPr>
              <a:t>read.csv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"data/lizards.csv"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%&gt;%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clean_names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First few rows</a:t>
            </a:r>
            <a:br/>
            <a:r>
              <a:rPr>
                <a:solidFill>
                  <a:srgbClr val="4758AB"/>
                </a:solidFill>
                <a:latin typeface="Courier"/>
              </a:rPr>
              <a:t>head</a:t>
            </a:r>
            <a:r>
              <a:rPr>
                <a:solidFill>
                  <a:srgbClr val="003B4F"/>
                </a:solidFill>
                <a:latin typeface="Courier"/>
              </a:rPr>
              <a:t>(lizards_df)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mature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   10.2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2   10.4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3   11.8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4   12.3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5   13.8      0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6   16.9      0</a:t>
            </a:r>
          </a:p>
        </p:txBody>
      </p:sp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2: Initial Data Visualization</a:t>
            </a:r>
          </a:p>
        </p:txBody>
      </p:sp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Boxplot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visualize how body length differs between sexually mature and immature lizards: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boxplot showing length by maturity status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maturity_boxplot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factor</a:t>
            </a:r>
            <a:r>
              <a:rPr>
                <a:solidFill>
                  <a:srgbClr val="003B4F"/>
                </a:solidFill>
                <a:latin typeface="Courier"/>
              </a:rPr>
              <a:t>(mature),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geom_boxplot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fill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4758AB"/>
                </a:solidFill>
                <a:latin typeface="Courier"/>
              </a:rPr>
              <a:t>c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20794D"/>
                </a:solidFill>
                <a:latin typeface="Courier"/>
              </a:rPr>
              <a:t>"lightblue"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20794D"/>
                </a:solidFill>
                <a:latin typeface="Courier"/>
              </a:rPr>
              <a:t>"lightcoral"</a:t>
            </a:r>
            <a:r>
              <a:rPr>
                <a:solidFill>
                  <a:srgbClr val="003B4F"/>
                </a:solidFill>
                <a:latin typeface="Courier"/>
              </a:rPr>
              <a:t>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"Lizard Body Length by Sexual Maturity Status"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"Sexual Maturity (0 = Immature, 1 = Mature)"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maturity_boxplot</a:t>
            </a:r>
          </a:p>
        </p:txBody>
      </p:sp>
      <p:pic>
        <p:nvPicPr>
          <p:cNvPr descr="review_lecture_files/figure-pptx/initial_box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do we see?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There appears to be a relationship between size and sexual maturity</a:t>
            </a:r>
          </a:p>
          <a:p>
            <a:pPr lvl="0"/>
            <a:r>
              <a:rPr/>
              <a:t>Mature lizards tend to be longer than immature ones</a:t>
            </a:r>
          </a:p>
          <a:p>
            <a:pPr lvl="0"/>
            <a:r>
              <a:rPr/>
              <a:t>But there’s overlap - not a perfect separation</a:t>
            </a:r>
          </a:p>
          <a:p>
            <a:pPr lvl="0"/>
            <a:r>
              <a:rPr/>
              <a:t>This suggests logistic regression might be appropriate</a:t>
            </a:r>
          </a:p>
        </p:txBody>
      </p:sp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3: Fit the Logistic Regression Model</a:t>
            </a:r>
          </a:p>
        </p:txBody>
      </p:sp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glm() for Logistic Regression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</a:t>
            </a:r>
            <a:r>
              <a:rPr>
                <a:latin typeface="Courier"/>
              </a:rPr>
              <a:t>glm()</a:t>
            </a:r>
            <a:r>
              <a:rPr/>
              <a:t> function is similar to </a:t>
            </a:r>
            <a:r>
              <a:rPr>
                <a:latin typeface="Courier"/>
              </a:rPr>
              <a:t>lm()</a:t>
            </a:r>
            <a:r>
              <a:rPr/>
              <a:t> but requires specifying the distribution family: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Fit logistic regression model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family = binomial tells R we have binary data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logistic_model &lt;- </a:t>
            </a:r>
            <a:r>
              <a:rPr>
                <a:solidFill>
                  <a:srgbClr val="4758AB"/>
                </a:solidFill>
                <a:latin typeface="Courier"/>
              </a:rPr>
              <a:t>glm</a:t>
            </a:r>
            <a:r>
              <a:rPr>
                <a:solidFill>
                  <a:srgbClr val="003B4F"/>
                </a:solidFill>
                <a:latin typeface="Courier"/>
              </a:rPr>
              <a:t>(mature </a:t>
            </a:r>
            <a:r>
              <a:rPr>
                <a:solidFill>
                  <a:srgbClr val="5E5E5E"/>
                </a:solidFill>
                <a:latin typeface="Courier"/>
              </a:rPr>
              <a:t>~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family =</a:t>
            </a:r>
            <a:r>
              <a:rPr>
                <a:solidFill>
                  <a:srgbClr val="003B4F"/>
                </a:solidFill>
                <a:latin typeface="Courier"/>
              </a:rPr>
              <a:t> binomial)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model summary</a:t>
            </a:r>
            <a:br/>
            <a:r>
              <a:rPr>
                <a:solidFill>
                  <a:srgbClr val="4758AB"/>
                </a:solidFill>
                <a:latin typeface="Courier"/>
              </a:rPr>
              <a:t>summary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Call: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glm(formula = mature ~ length, family = binomial, data = lizards_df)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Coefficients: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    Estimate Std. Error z value Pr(&gt;|z|)  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(Intercept)  -6.6899     2.1401  -3.126  0.00177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length        0.2503     0.0775   3.229  0.00124 **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---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Signif. codes:  0 '***' 0.001 '**' 0.01 '*' 0.05 '.' 0.1 ' ' 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(Dispersion parameter for binomial family taken to be 1)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Null deviance: 60.176  on 43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Residual deviance: 34.041  on 42  degrees of freedom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AIC: 38.041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Number of Fisher Scoring iterations: 6</a:t>
            </a:r>
          </a:p>
        </p:txBody>
      </p:sp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Interpreting the Model Output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spcBef>
                <a:spcPts val="3000"/>
              </a:spcBef>
              <a:buNone/>
            </a:pPr>
            <a:r>
              <a:rPr b="1"/>
              <a:t>Coefficients:</a:t>
            </a:r>
          </a:p>
          <a:p>
            <a:pPr lvl="0"/>
            <a:r>
              <a:rPr b="1"/>
              <a:t>Intercept (β₀)</a:t>
            </a:r>
            <a:r>
              <a:rPr/>
              <a:t>: -5.5847 - The log-odds when length = 0</a:t>
            </a:r>
          </a:p>
          <a:p>
            <a:pPr lvl="0"/>
            <a:r>
              <a:rPr b="1"/>
              <a:t>Slope (β₁)</a:t>
            </a:r>
            <a:r>
              <a:rPr/>
              <a:t>: 0.2503 - Change in log-odds for each 1 cm increase in length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P-values:</a:t>
            </a:r>
          </a:p>
          <a:p>
            <a:pPr lvl="0"/>
            <a:r>
              <a:rPr/>
              <a:t>Both coefficients are significant (p &lt; 0.05)</a:t>
            </a:r>
          </a:p>
          <a:p>
            <a:pPr lvl="0"/>
            <a:r>
              <a:rPr/>
              <a:t>We reject the null hypothesis that β₁ = 0</a:t>
            </a:r>
          </a:p>
          <a:p>
            <a:pPr lvl="0"/>
            <a:r>
              <a:rPr/>
              <a:t>There IS a relationship between length and sexual maturity</a:t>
            </a:r>
          </a:p>
          <a:p>
            <a:pPr lvl="0" indent="0" marL="0">
              <a:spcBef>
                <a:spcPts val="3000"/>
              </a:spcBef>
              <a:buNone/>
            </a:pPr>
            <a:r>
              <a:rPr b="1"/>
              <a:t>Understanding the Slope:</a:t>
            </a:r>
          </a:p>
          <a:p>
            <a:pPr lvl="0" indent="0" marL="0">
              <a:buNone/>
            </a:pPr>
            <a:r>
              <a:rPr/>
              <a:t>The positive slope (0.2503) indicates: - Longer lizards are more likely to be sexually mature - For each 1 cm increase in length, the log-odds of maturity increase by 0.2503</a:t>
            </a:r>
          </a:p>
        </p:txBody>
      </p:sp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4: Convert Log-Odds to Odds</a:t>
            </a:r>
          </a:p>
        </p:txBody>
      </p:sp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Making the Results More Interpretable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Log-odds are hard to interpret. Let’s convert to odds: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Extract the slope coefficient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slope_coefficient &lt;- </a:t>
            </a:r>
            <a:r>
              <a:rPr>
                <a:solidFill>
                  <a:srgbClr val="4758AB"/>
                </a:solidFill>
                <a:latin typeface="Courier"/>
              </a:rPr>
              <a:t>coef</a:t>
            </a:r>
            <a:r>
              <a:rPr>
                <a:solidFill>
                  <a:srgbClr val="003B4F"/>
                </a:solidFill>
                <a:latin typeface="Courier"/>
              </a:rPr>
              <a:t>(logistic_model)[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]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Convert log-odds to odds ratio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 &lt;- </a:t>
            </a:r>
            <a:r>
              <a:rPr>
                <a:solidFill>
                  <a:srgbClr val="4758AB"/>
                </a:solidFill>
                <a:latin typeface="Courier"/>
              </a:rPr>
              <a:t>exp</a:t>
            </a:r>
            <a:r>
              <a:rPr>
                <a:solidFill>
                  <a:srgbClr val="003B4F"/>
                </a:solidFill>
                <a:latin typeface="Courier"/>
              </a:rPr>
              <a:t>(slope_coefficient)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odds_ratio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length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1.284388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Interpretation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For every 1 cm increase in length, the odds of being sexually mature</a:t>
            </a:r>
            <a:br/>
            <a:r>
              <a:rPr>
                <a:solidFill>
                  <a:srgbClr val="5E5E5E"/>
                </a:solidFill>
                <a:latin typeface="Courier"/>
              </a:rPr>
              <a:t># increase by a factor of 1.284 (or about 28.4%)</a:t>
            </a:r>
          </a:p>
        </p:txBody>
      </p:sp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5: Create the Logistic Regression Plot</a:t>
            </a:r>
          </a:p>
        </p:txBody>
      </p:sp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Visualizing the Probability Curve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sequence of x-values for prediction</a:t>
            </a:r>
            <a:br/>
            <a:r>
              <a:rPr>
                <a:solidFill>
                  <a:srgbClr val="003B4F"/>
                </a:solidFill>
                <a:latin typeface="Courier"/>
              </a:rPr>
              <a:t>xvals &lt;- </a:t>
            </a:r>
            <a:r>
              <a:rPr>
                <a:solidFill>
                  <a:srgbClr val="4758AB"/>
                </a:solidFill>
                <a:latin typeface="Courier"/>
              </a:rPr>
              <a:t>seq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from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to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50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by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0.01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Get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yvals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Create prediction dataframe for plotting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prediction_df &lt;- </a:t>
            </a:r>
            <a:r>
              <a:rPr>
                <a:solidFill>
                  <a:srgbClr val="4758AB"/>
                </a:solidFill>
                <a:latin typeface="Courier"/>
              </a:rPr>
              <a:t>data.frame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xvals,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probability =</a:t>
            </a:r>
            <a:r>
              <a:rPr>
                <a:solidFill>
                  <a:srgbClr val="003B4F"/>
                </a:solidFill>
                <a:latin typeface="Courier"/>
              </a:rPr>
              <a:t> yvals)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the logistic regression plot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logistic_plot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data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lizards_df,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0.6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logistic curve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data =</a:t>
            </a:r>
            <a:r>
              <a:rPr>
                <a:solidFill>
                  <a:srgbClr val="003B4F"/>
                </a:solidFill>
                <a:latin typeface="Courier"/>
              </a:rPr>
              <a:t> prediction_df,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length,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probability),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1.2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 vs Body Length"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Being Sexually Mature"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logistic_plot</a:t>
            </a:r>
          </a:p>
        </p:txBody>
      </p:sp>
      <p:pic>
        <p:nvPicPr>
          <p:cNvPr descr="review_lecture_files/figure-pptx/logistic_regression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the S-curve tells us: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The red line shows how probability changes with length</a:t>
            </a:r>
          </a:p>
          <a:p>
            <a:pPr lvl="0"/>
            <a:r>
              <a:rPr/>
              <a:t>Small lizards (&lt;20 cm) have very low probability of being mature</a:t>
            </a:r>
          </a:p>
          <a:p>
            <a:pPr lvl="0"/>
            <a:r>
              <a:rPr/>
              <a:t>Large lizards (&gt;40 cm) have very high probability of being mature</a:t>
            </a:r>
          </a:p>
          <a:p>
            <a:pPr lvl="0"/>
            <a:r>
              <a:rPr/>
              <a:t>The steepest change occurs around 25-30 cm</a:t>
            </a:r>
          </a:p>
        </p:txBody>
      </p:sp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6: Making Predictions</a:t>
            </a:r>
          </a:p>
        </p:txBody>
      </p:sp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Using the Model for Prediction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Let’s predict the probability of sexual maturity for specific lizard sizes: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Predict for a 20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prob_20cm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0.1565304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30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30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prob_30cm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0.6939292</a:t>
            </a:r>
            <a:br/>
            <a:br/>
            <a:r>
              <a:rPr>
                <a:solidFill>
                  <a:srgbClr val="5E5E5E"/>
                </a:solidFill>
                <a:latin typeface="Courier"/>
              </a:rPr>
              <a:t># Predict for a 40 cm lizard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4758AB"/>
                </a:solidFill>
                <a:latin typeface="Courier"/>
              </a:rPr>
              <a:t>list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length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40</a:t>
            </a:r>
            <a:r>
              <a:rPr>
                <a:solidFill>
                  <a:srgbClr val="003B4F"/>
                </a:solidFill>
                <a:latin typeface="Courier"/>
              </a:rPr>
              <a:t>), 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             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prob_40cm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1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0.9651551</a:t>
            </a:r>
          </a:p>
        </p:txBody>
      </p:sp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Interpretation: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A 20 cm lizard has about 14% probability of being sexually mature</a:t>
            </a:r>
          </a:p>
          <a:p>
            <a:pPr lvl="0"/>
            <a:r>
              <a:rPr/>
              <a:t>A 30 cm lizard has about 70% probability of being sexually mature</a:t>
            </a:r>
          </a:p>
          <a:p>
            <a:pPr lvl="0"/>
            <a:r>
              <a:rPr/>
              <a:t>A 40 cm lizard has about 96% probability of being sexually mature</a:t>
            </a:r>
          </a:p>
        </p:txBody>
      </p:sp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7: Model Fit Assessment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Calculating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Unlike linear regression, logistic regression doesn’t have a traditional R². We use pseudo-R² instead:</a:t>
            </a:r>
          </a:p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Calculate pseudo-R2 values using pscl package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 &lt;- </a:t>
            </a:r>
            <a:r>
              <a:rPr>
                <a:solidFill>
                  <a:srgbClr val="4758AB"/>
                </a:solidFill>
                <a:latin typeface="Courier"/>
              </a:rPr>
              <a:t>pR2</a:t>
            </a:r>
            <a:r>
              <a:rPr>
                <a:solidFill>
                  <a:srgbClr val="003B4F"/>
                </a:solidFill>
                <a:latin typeface="Courier"/>
              </a:rPr>
              <a:t>(logistic_model)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fitting null model for pseudo-r2</a:t>
            </a:r>
            <a:br/>
            <a:r>
              <a:rPr>
                <a:solidFill>
                  <a:srgbClr val="003B4F"/>
                </a:solidFill>
                <a:latin typeface="Courier"/>
              </a:rPr>
              <a:t>pseudo_r2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        llh     llhNull          G2    McFadden        r2ML        r2CU </a:t>
            </a:r>
            <a:br/>
            <a:r>
              <a:rPr i="1">
                <a:solidFill>
                  <a:srgbClr val="5E5E5E"/>
                </a:solidFill>
                <a:latin typeface="Courier"/>
              </a:rPr>
              <a:t>## -17.0204762 -30.0881077  26.1352630   0.4343122   0.4478763   0.6009400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Interpreting Pseudo-R2 Values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The last three values are the pseudo-R² statistics:</a:t>
            </a:r>
          </a:p>
          <a:p>
            <a:pPr lvl="0"/>
            <a:r>
              <a:rPr b="1"/>
              <a:t>McFadden</a:t>
            </a:r>
            <a:r>
              <a:rPr/>
              <a:t>: Compares model to null model</a:t>
            </a:r>
          </a:p>
          <a:p>
            <a:pPr lvl="0"/>
            <a:r>
              <a:rPr b="1"/>
              <a:t>r2ML</a:t>
            </a:r>
            <a:r>
              <a:rPr/>
              <a:t>: Maximum likelihood based R²</a:t>
            </a:r>
          </a:p>
          <a:p>
            <a:pPr lvl="0"/>
            <a:r>
              <a:rPr b="1"/>
              <a:t>r2CU</a:t>
            </a:r>
            <a:r>
              <a:rPr/>
              <a:t>: Cragg-Uhler (Nagelkerke) R²</a:t>
            </a:r>
          </a:p>
          <a:p>
            <a:pPr lvl="0" indent="0" marL="0">
              <a:buNone/>
            </a:pPr>
            <a:r>
              <a:rPr/>
              <a:t>Values around 0.4-0.5 indicate moderate to good fit. Our model explains approximately 40-50% of the variation in sexual maturity status.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Step 8: Additional Diagnostics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Creating a More Detailed Summary Plot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idx="2" sz="half" type="body"/>
          </p:nvPr>
        </p:nvSpPr>
        <p:spPr/>
        <p:txBody>
          <a:bodyPr/>
          <a:lstStyle/>
          <a:p>
            <a:pPr lvl="0" indent="0">
              <a:buNone/>
            </a:pPr>
            <a:r>
              <a:rPr>
                <a:solidFill>
                  <a:srgbClr val="5E5E5E"/>
                </a:solidFill>
                <a:latin typeface="Courier"/>
              </a:rPr>
              <a:t># Create a plot showing observed vs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lizards_df</a:t>
            </a:r>
            <a:r>
              <a:rPr>
                <a:solidFill>
                  <a:srgbClr val="5E5E5E"/>
                </a:solidFill>
                <a:latin typeface="Courier"/>
              </a:rPr>
              <a:t>$</a:t>
            </a:r>
            <a:r>
              <a:rPr>
                <a:solidFill>
                  <a:srgbClr val="003B4F"/>
                </a:solidFill>
                <a:latin typeface="Courier"/>
              </a:rPr>
              <a:t>predicted_prob &lt;- </a:t>
            </a:r>
            <a:r>
              <a:rPr>
                <a:solidFill>
                  <a:srgbClr val="4758AB"/>
                </a:solidFill>
                <a:latin typeface="Courier"/>
              </a:rPr>
              <a:t>predict</a:t>
            </a:r>
            <a:r>
              <a:rPr>
                <a:solidFill>
                  <a:srgbClr val="003B4F"/>
                </a:solidFill>
                <a:latin typeface="Courier"/>
              </a:rPr>
              <a:t>(logistic_model, </a:t>
            </a:r>
            <a:r>
              <a:rPr>
                <a:solidFill>
                  <a:srgbClr val="657422"/>
                </a:solidFill>
                <a:latin typeface="Courier"/>
              </a:rPr>
              <a:t>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"response"</a:t>
            </a:r>
            <a:r>
              <a:rPr>
                <a:solidFill>
                  <a:srgbClr val="003B4F"/>
                </a:solidFill>
                <a:latin typeface="Courier"/>
              </a:rPr>
              <a:t>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 &lt;- </a:t>
            </a:r>
            <a:r>
              <a:rPr>
                <a:solidFill>
                  <a:srgbClr val="4758AB"/>
                </a:solidFill>
                <a:latin typeface="Courier"/>
              </a:rPr>
              <a:t>ggplot</a:t>
            </a:r>
            <a:r>
              <a:rPr>
                <a:solidFill>
                  <a:srgbClr val="003B4F"/>
                </a:solidFill>
                <a:latin typeface="Courier"/>
              </a:rPr>
              <a:t>(lizards_df, 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length))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observed data as points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geom_point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mature), </a:t>
            </a:r>
            <a:r>
              <a:rPr>
                <a:solidFill>
                  <a:srgbClr val="657422"/>
                </a:solidFill>
                <a:latin typeface="Courier"/>
              </a:rPr>
              <a:t>alpha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2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predicted probabilities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4758AB"/>
                </a:solidFill>
                <a:latin typeface="Courier"/>
              </a:rPr>
              <a:t>aes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predicted_prob),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"blue"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size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1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5E5E5E"/>
                </a:solidFill>
                <a:latin typeface="Courier"/>
              </a:rPr>
              <a:t># Add 50% probability threshold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geom_hline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yintercept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AD0000"/>
                </a:solidFill>
                <a:latin typeface="Courier"/>
              </a:rPr>
              <a:t>0.5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linetype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"dashed"</a:t>
            </a:r>
            <a:r>
              <a:rPr>
                <a:solidFill>
                  <a:srgbClr val="003B4F"/>
                </a:solidFill>
                <a:latin typeface="Courier"/>
              </a:rPr>
              <a:t>, </a:t>
            </a:r>
            <a:r>
              <a:rPr>
                <a:solidFill>
                  <a:srgbClr val="657422"/>
                </a:solidFill>
                <a:latin typeface="Courier"/>
              </a:rPr>
              <a:t>color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"gray50"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labs</a:t>
            </a:r>
            <a:r>
              <a:rPr>
                <a:solidFill>
                  <a:srgbClr val="003B4F"/>
                </a:solidFill>
                <a:latin typeface="Courier"/>
              </a:rPr>
              <a:t>(</a:t>
            </a:r>
            <a:r>
              <a:rPr>
                <a:solidFill>
                  <a:srgbClr val="657422"/>
                </a:solidFill>
                <a:latin typeface="Courier"/>
              </a:rPr>
              <a:t>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"Observed Data and Model Predictions"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x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"Body Length (cm)"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y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"Probability of Sexual Maturity"</a:t>
            </a:r>
            <a:r>
              <a:rPr>
                <a:solidFill>
                  <a:srgbClr val="003B4F"/>
                </a:solidFill>
                <a:latin typeface="Courier"/>
              </a:rPr>
              <a:t>,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     </a:t>
            </a:r>
            <a:r>
              <a:rPr>
                <a:solidFill>
                  <a:srgbClr val="657422"/>
                </a:solidFill>
                <a:latin typeface="Courier"/>
              </a:rPr>
              <a:t>subtitle =</a:t>
            </a:r>
            <a:r>
              <a:rPr>
                <a:solidFill>
                  <a:srgbClr val="003B4F"/>
                </a:solidFill>
                <a:latin typeface="Courier"/>
              </a:rPr>
              <a:t> </a:t>
            </a:r>
            <a:r>
              <a:rPr>
                <a:solidFill>
                  <a:srgbClr val="20794D"/>
                </a:solidFill>
                <a:latin typeface="Courier"/>
              </a:rPr>
              <a:t>"Points = observed data, Blue line = model predictions"</a:t>
            </a:r>
            <a:r>
              <a:rPr>
                <a:solidFill>
                  <a:srgbClr val="003B4F"/>
                </a:solidFill>
                <a:latin typeface="Courier"/>
              </a:rPr>
              <a:t>) </a:t>
            </a:r>
            <a:r>
              <a:rPr>
                <a:solidFill>
                  <a:srgbClr val="5E5E5E"/>
                </a:solidFill>
                <a:latin typeface="Courier"/>
              </a:rPr>
              <a:t>+</a:t>
            </a:r>
            <a:br/>
            <a:r>
              <a:rPr>
                <a:solidFill>
                  <a:srgbClr val="003B4F"/>
                </a:solidFill>
                <a:latin typeface="Courier"/>
              </a:rPr>
              <a:t>  </a:t>
            </a:r>
            <a:r>
              <a:rPr>
                <a:solidFill>
                  <a:srgbClr val="4758AB"/>
                </a:solidFill>
                <a:latin typeface="Courier"/>
              </a:rPr>
              <a:t>theme_minimal</a:t>
            </a:r>
            <a:r>
              <a:rPr>
                <a:solidFill>
                  <a:srgbClr val="003B4F"/>
                </a:solidFill>
                <a:latin typeface="Courier"/>
              </a:rPr>
              <a:t>()</a:t>
            </a:r>
            <a:br/>
            <a:br/>
            <a:r>
              <a:rPr>
                <a:solidFill>
                  <a:srgbClr val="003B4F"/>
                </a:solidFill>
                <a:latin typeface="Courier"/>
              </a:rPr>
              <a:t>diagnostic_plot</a:t>
            </a:r>
          </a:p>
        </p:txBody>
      </p:sp>
      <p:pic>
        <p:nvPicPr>
          <p:cNvPr descr="review_lecture_files/figure-pptx/diagnostic_plot-1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368800" y="952500"/>
            <a:ext cx="3797300" cy="37973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Summary: Key Takeaways</a:t>
            </a:r>
          </a:p>
        </p:txBody>
      </p:sp>
    </p:spTree>
  </p:cSld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What We Learned: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-342900" marL="342900">
              <a:buAutoNum type="arabicPeriod"/>
            </a:pPr>
            <a:r>
              <a:rPr b="1"/>
              <a:t>Logistic regression</a:t>
            </a:r>
            <a:r>
              <a:rPr/>
              <a:t> models probability of binary outcomes</a:t>
            </a:r>
          </a:p>
          <a:p>
            <a:pPr lvl="0" indent="-342900" marL="342900">
              <a:buAutoNum type="arabicPeriod"/>
            </a:pPr>
            <a:r>
              <a:rPr/>
              <a:t>Uses </a:t>
            </a:r>
            <a:r>
              <a:rPr b="1"/>
              <a:t>glm()</a:t>
            </a:r>
            <a:r>
              <a:rPr/>
              <a:t> with </a:t>
            </a:r>
            <a:r>
              <a:rPr>
                <a:latin typeface="Courier"/>
              </a:rPr>
              <a:t>family = binomial</a:t>
            </a:r>
          </a:p>
          <a:p>
            <a:pPr lvl="0" indent="-342900" marL="342900">
              <a:buAutoNum type="arabicPeriod"/>
            </a:pPr>
            <a:r>
              <a:rPr/>
              <a:t>Coefficients represent changes in </a:t>
            </a:r>
            <a:r>
              <a:rPr b="1"/>
              <a:t>log-odds</a:t>
            </a:r>
          </a:p>
          <a:p>
            <a:pPr lvl="0" indent="-342900" marL="342900">
              <a:buAutoNum type="arabicPeriod"/>
            </a:pPr>
            <a:r>
              <a:rPr/>
              <a:t>Convert to </a:t>
            </a:r>
            <a:r>
              <a:rPr b="1"/>
              <a:t>odds ratios</a:t>
            </a:r>
            <a:r>
              <a:rPr/>
              <a:t> for interpretation: exp(coefficient)</a:t>
            </a:r>
          </a:p>
          <a:p>
            <a:pPr lvl="0" indent="-342900" marL="342900">
              <a:buAutoNum type="arabicPeriod"/>
            </a:pPr>
            <a:r>
              <a:rPr/>
              <a:t>Creates </a:t>
            </a:r>
            <a:r>
              <a:rPr b="1"/>
              <a:t>S-shaped probability curves</a:t>
            </a:r>
          </a:p>
          <a:p>
            <a:pPr lvl="0" indent="-342900" marL="342900">
              <a:buAutoNum type="arabicPeriod"/>
            </a:pPr>
            <a:r>
              <a:rPr/>
              <a:t>Use </a:t>
            </a:r>
            <a:r>
              <a:rPr b="1"/>
              <a:t>pseudo-R²</a:t>
            </a:r>
            <a:r>
              <a:rPr/>
              <a:t> to assess model fit</a:t>
            </a:r>
          </a:p>
        </p:txBody>
      </p:sp>
    </p:spTree>
  </p:cSld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Our Results: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Significant positive relationship between body length and sexual maturity</a:t>
            </a:r>
          </a:p>
          <a:p>
            <a:pPr lvl="0"/>
            <a:r>
              <a:rPr/>
              <a:t>Each 1 cm increase in length increases odds of maturity by ~28%</a:t>
            </a:r>
          </a:p>
          <a:p>
            <a:pPr lvl="0"/>
            <a:r>
              <a:rPr/>
              <a:t>Model explains ~40-50% of variation in maturity status</a:t>
            </a:r>
          </a:p>
          <a:p>
            <a:pPr lvl="0"/>
            <a:r>
              <a:rPr/>
              <a:t>Can predict probability of maturity for any given length</a:t>
            </a:r>
          </a:p>
        </p:txBody>
      </p:sp>
    </p:spTree>
  </p:cSld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/>
          <a:lstStyle/>
          <a:p>
            <a:pPr lvl="0" indent="0" marL="0">
              <a:buNone/>
            </a:pPr>
            <a:r>
              <a:rPr b="1"/>
              <a:t>When to Use Logistic Regression: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Binary response variable (0/1, yes/no, success/failure)</a:t>
            </a:r>
          </a:p>
          <a:p>
            <a:pPr lvl="0"/>
            <a:r>
              <a:rPr/>
              <a:t>Want to predict probabilities</a:t>
            </a:r>
          </a:p>
          <a:p>
            <a:pPr lvl="0"/>
            <a:r>
              <a:rPr/>
              <a:t>Relationships that follow S-shaped curves</a:t>
            </a:r>
          </a:p>
          <a:p>
            <a:pPr lvl="0"/>
            <a:r>
              <a:rPr/>
              <a:t>When assumptions of linear regression are violated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11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Lecture: Review</dc:title>
  <dc:creator>Bill Perry</dc:creator>
  <cp:keywords/>
  <dc:description>End-of-course review, worked through a full logistic regression example — fitting a model, interpreting log-odds and odds ratios, visualizing the probability curve, making predictions, and assessing model fit with pseudo-R².</dc:description>
  <dcterms:created xsi:type="dcterms:W3CDTF">2026-09-15T02:08:37Z</dcterms:created>
  <dcterms:modified xsi:type="dcterms:W3CDTF">2026-09-15T02:08:37Z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categories">
    <vt:lpwstr/>
  </property>
  <property fmtid="{D5CDD505-2E9C-101B-9397-08002B2CF9AE}" pid="6" name="execute">
    <vt:lpwstr/>
  </property>
  <property fmtid="{D5CDD505-2E9C-101B-9397-08002B2CF9AE}" pid="7" name="format">
    <vt:lpwstr/>
  </property>
  <property fmtid="{D5CDD505-2E9C-101B-9397-08002B2CF9AE}" pid="8" name="header-includes">
    <vt:lpwstr/>
  </property>
  <property fmtid="{D5CDD505-2E9C-101B-9397-08002B2CF9AE}" pid="9" name="include-after">
    <vt:lpwstr/>
  </property>
  <property fmtid="{D5CDD505-2E9C-101B-9397-08002B2CF9AE}" pid="10" name="include-before">
    <vt:lpwstr/>
  </property>
  <property fmtid="{D5CDD505-2E9C-101B-9397-08002B2CF9AE}" pid="11" name="knitr">
    <vt:lpwstr/>
  </property>
  <property fmtid="{D5CDD505-2E9C-101B-9397-08002B2CF9AE}" pid="12" name="labels">
    <vt:lpwstr/>
  </property>
  <property fmtid="{D5CDD505-2E9C-101B-9397-08002B2CF9AE}" pid="13" name="order">
    <vt:lpwstr>21</vt:lpwstr>
  </property>
  <property fmtid="{D5CDD505-2E9C-101B-9397-08002B2CF9AE}" pid="14" name="resources">
    <vt:lpwstr/>
  </property>
  <property fmtid="{D5CDD505-2E9C-101B-9397-08002B2CF9AE}" pid="15" name="subtitle">
    <vt:lpwstr>Course review</vt:lpwstr>
  </property>
  <property fmtid="{D5CDD505-2E9C-101B-9397-08002B2CF9AE}" pid="16" name="toc-title">
    <vt:lpwstr>Table of contents</vt:lpwstr>
  </property>
  <property fmtid="{D5CDD505-2E9C-101B-9397-08002B2CF9AE}" pid="17" name="week">
    <vt:lpwstr>16</vt:lpwstr>
  </property>
</Properties>
</file>