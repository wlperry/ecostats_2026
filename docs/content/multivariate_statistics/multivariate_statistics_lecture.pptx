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3" Type="http://schemas.openxmlformats.org/officeDocument/2006/relationships/viewProps" Target="viewProps.xml" /><Relationship Id="rId62" Type="http://schemas.openxmlformats.org/officeDocument/2006/relationships/presProps" Target="presProps.xml" /><Relationship Id="rId1" Type="http://schemas.openxmlformats.org/officeDocument/2006/relationships/slideMaster" Target="slideMasters/slideMaster1.xml" /><Relationship Id="rId65" Type="http://schemas.openxmlformats.org/officeDocument/2006/relationships/tableStyles" Target="tableStyles.xml" /><Relationship Id="rId6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darlingtonia.csv"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buNone/>
            </a:pPr>
            <a:r>
              <a:rPr>
                <a:hlinkClick r:id="rId2"/>
              </a:rPr>
              <a:t>📥 Download the data</a:t>
            </a:r>
          </a:p>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"data/darlingtonia.csv"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Practical Tips for PCA — 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(note the dot)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PCA Results — What to Include</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darl_matrix is SCALED, so it contains negative values. adonis2() defaults</a:t>
            </a:r>
            <a:br/>
            <a:r>
              <a:rPr>
                <a:solidFill>
                  <a:srgbClr val="5E5E5E"/>
                </a:solidFill>
                <a:latin typeface="Courier"/>
              </a:rPr>
              <a:t># to Bray-Curtis, which is undefined for negatives -- R warns "results may be</a:t>
            </a:r>
            <a:br/>
            <a:r>
              <a:rPr>
                <a:solidFill>
                  <a:srgbClr val="5E5E5E"/>
                </a:solidFill>
                <a:latin typeface="Courier"/>
              </a:rPr>
              <a:t># meaningless". For standardized continuous data the right choice is Euclidean.</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PERMANOVA’s Assumption: Equal Dispersion</a:t>
            </a:r>
          </a:p>
        </p:txBody>
      </p:sp>
      <p:sp>
        <p:nvSpPr>
          <p:cNvPr id="3" name="Content Placeholder 2"/>
          <p:cNvSpPr>
            <a:spLocks noGrp="1"/>
          </p:cNvSpPr>
          <p:nvPr>
            <p:ph idx="1"/>
          </p:nvPr>
        </p:nvSpPr>
        <p:spPr/>
        <p:txBody>
          <a:bodyPr/>
          <a:lstStyle/>
          <a:p>
            <a:pPr lvl="0" indent="0" marL="0">
              <a:buNone/>
            </a:pPr>
            <a:r>
              <a:rPr/>
              <a:t>A significant PERMANOVA can mean groups have different </a:t>
            </a:r>
            <a:r>
              <a:rPr b="1"/>
              <a:t>centroids</a:t>
            </a:r>
            <a:r>
              <a:rPr/>
              <a:t> (what we usually want) </a:t>
            </a:r>
            <a:r>
              <a:rPr i="1"/>
              <a:t>or</a:t>
            </a:r>
            <a:r>
              <a:rPr/>
              <a:t> merely different </a:t>
            </a:r>
            <a:r>
              <a:rPr b="1"/>
              <a:t>spread</a:t>
            </a:r>
            <a:r>
              <a:rPr/>
              <a:t>. </a:t>
            </a:r>
            <a:r>
              <a:rPr>
                <a:latin typeface="Courier"/>
              </a:rPr>
              <a:t>betadisper()</a:t>
            </a:r>
            <a:r>
              <a:rPr/>
              <a:t> separates them.</a:t>
            </a:r>
          </a:p>
          <a:p>
            <a:pPr lvl="0" indent="0">
              <a:buNone/>
            </a:pPr>
            <a:r>
              <a:rPr>
                <a:solidFill>
                  <a:srgbClr val="5E5E5E"/>
                </a:solidFill>
                <a:latin typeface="Courier"/>
              </a:rPr>
              <a:t># Are the groups equally variable around their own centroids?</a:t>
            </a:r>
            <a:br/>
            <a:r>
              <a:rPr>
                <a:solidFill>
                  <a:srgbClr val="003B4F"/>
                </a:solidFill>
                <a:latin typeface="Courier"/>
              </a:rPr>
              <a:t>disp &lt;- </a:t>
            </a:r>
            <a:r>
              <a:rPr>
                <a:solidFill>
                  <a:srgbClr val="4758AB"/>
                </a:solidFill>
                <a:latin typeface="Courier"/>
              </a:rPr>
              <a:t>betadisper</a:t>
            </a:r>
            <a:r>
              <a:rPr>
                <a:solidFill>
                  <a:srgbClr val="003B4F"/>
                </a:solidFill>
                <a:latin typeface="Courier"/>
              </a:rPr>
              <a:t>(</a:t>
            </a:r>
            <a:r>
              <a:rPr>
                <a:solidFill>
                  <a:srgbClr val="4758AB"/>
                </a:solidFill>
                <a:latin typeface="Courier"/>
              </a:rPr>
              <a:t>vegdist</a:t>
            </a:r>
            <a:r>
              <a:rPr>
                <a:solidFill>
                  <a:srgbClr val="003B4F"/>
                </a:solidFill>
                <a:latin typeface="Courier"/>
              </a:rPr>
              <a:t>(darl_matrix,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4758AB"/>
                </a:solidFill>
                <a:latin typeface="Courier"/>
              </a:rPr>
              <a:t>anova</a:t>
            </a:r>
            <a:r>
              <a:rPr>
                <a:solidFill>
                  <a:srgbClr val="003B4F"/>
                </a:solidFill>
                <a:latin typeface="Courier"/>
              </a:rPr>
              <a:t>(disp)</a:t>
            </a:r>
            <a:br/>
            <a:r>
              <a:rPr i="1">
                <a:solidFill>
                  <a:srgbClr val="5E5E5E"/>
                </a:solidFill>
                <a:latin typeface="Courier"/>
              </a:rPr>
              <a:t>## Analysis of Variance Table</a:t>
            </a:r>
            <a:br/>
            <a:r>
              <a:rPr i="1">
                <a:solidFill>
                  <a:srgbClr val="5E5E5E"/>
                </a:solidFill>
                <a:latin typeface="Courier"/>
              </a:rPr>
              <a:t>## </a:t>
            </a:r>
            <a:br/>
            <a:r>
              <a:rPr i="1">
                <a:solidFill>
                  <a:srgbClr val="5E5E5E"/>
                </a:solidFill>
                <a:latin typeface="Courier"/>
              </a:rPr>
              <a:t>## Response: Distances</a:t>
            </a:r>
            <a:br/>
            <a:r>
              <a:rPr i="1">
                <a:solidFill>
                  <a:srgbClr val="5E5E5E"/>
                </a:solidFill>
                <a:latin typeface="Courier"/>
              </a:rPr>
              <a:t>##           Df Sum Sq Mean Sq F value  Pr(&gt;F)  </a:t>
            </a:r>
            <a:br/>
            <a:r>
              <a:rPr i="1">
                <a:solidFill>
                  <a:srgbClr val="5E5E5E"/>
                </a:solidFill>
                <a:latin typeface="Courier"/>
              </a:rPr>
              <a:t>## Groups     3  9.513  3.1710  2.6392 0.05486 .</a:t>
            </a:r>
            <a:br/>
            <a:r>
              <a:rPr i="1">
                <a:solidFill>
                  <a:srgbClr val="5E5E5E"/>
                </a:solidFill>
                <a:latin typeface="Courier"/>
              </a:rPr>
              <a:t>## Residuals 83 99.725  1.2015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average distance to centroid, by site</a:t>
            </a:r>
            <a:br/>
            <a:r>
              <a:rPr>
                <a:solidFill>
                  <a:srgbClr val="4758AB"/>
                </a:solidFill>
                <a:latin typeface="Courier"/>
              </a:rPr>
              <a:t>round</a:t>
            </a:r>
            <a:r>
              <a:rPr>
                <a:solidFill>
                  <a:srgbClr val="003B4F"/>
                </a:solidFill>
                <a:latin typeface="Courier"/>
              </a:rPr>
              <a:t>(</a:t>
            </a:r>
            <a:r>
              <a:rPr>
                <a:solidFill>
                  <a:srgbClr val="4758AB"/>
                </a:solidFill>
                <a:latin typeface="Courier"/>
              </a:rPr>
              <a:t>tapply</a:t>
            </a:r>
            <a:r>
              <a:rPr>
                <a:solidFill>
                  <a:srgbClr val="003B4F"/>
                </a:solidFill>
                <a:latin typeface="Courier"/>
              </a:rPr>
              <a:t>(disp</a:t>
            </a:r>
            <a:r>
              <a:rPr>
                <a:solidFill>
                  <a:srgbClr val="5E5E5E"/>
                </a:solidFill>
                <a:latin typeface="Courier"/>
              </a:rPr>
              <a:t>$</a:t>
            </a:r>
            <a:r>
              <a:rPr>
                <a:solidFill>
                  <a:srgbClr val="003B4F"/>
                </a:solidFill>
                <a:latin typeface="Courier"/>
              </a:rPr>
              <a:t>distances, darlingtonia</a:t>
            </a:r>
            <a:r>
              <a:rPr>
                <a:solidFill>
                  <a:srgbClr val="5E5E5E"/>
                </a:solidFill>
                <a:latin typeface="Courier"/>
              </a:rPr>
              <a:t>$</a:t>
            </a:r>
            <a:r>
              <a:rPr>
                <a:solidFill>
                  <a:srgbClr val="003B4F"/>
                </a:solidFill>
                <a:latin typeface="Courier"/>
              </a:rPr>
              <a:t>site, mean), </a:t>
            </a:r>
            <a:r>
              <a:rPr>
                <a:solidFill>
                  <a:srgbClr val="AD0000"/>
                </a:solidFill>
                <a:latin typeface="Courier"/>
              </a:rPr>
              <a:t>2</a:t>
            </a:r>
            <a:r>
              <a:rPr>
                <a:solidFill>
                  <a:srgbClr val="003B4F"/>
                </a:solidFill>
                <a:latin typeface="Courier"/>
              </a:rPr>
              <a:t>)</a:t>
            </a:r>
            <a:br/>
            <a:r>
              <a:rPr i="1">
                <a:solidFill>
                  <a:srgbClr val="5E5E5E"/>
                </a:solidFill>
                <a:latin typeface="Courier"/>
              </a:rPr>
              <a:t>##   DG   HD  LEH  TJH </a:t>
            </a:r>
            <a:br/>
            <a:r>
              <a:rPr i="1">
                <a:solidFill>
                  <a:srgbClr val="5E5E5E"/>
                </a:solidFill>
                <a:latin typeface="Courier"/>
              </a:rPr>
              <a:t>## 2.07 1.97 2.83 2.32</a:t>
            </a:r>
          </a:p>
          <a:p>
            <a:pPr lvl="0" indent="0" marL="1270000">
              <a:buNone/>
            </a:pPr>
            <a:r>
              <a:rPr sz="2000" b="1"/>
              <a:t>Important</a:t>
            </a:r>
          </a:p>
          <a:p>
            <a:pPr lvl="0" indent="0" marL="1270000">
              <a:buNone/>
            </a:pPr>
            <a:r>
              <a:rPr sz="2000" b="1"/>
              <a:t>⚠️ Read both tests together</a:t>
            </a:r>
          </a:p>
          <a:p>
            <a:pPr lvl="0"/>
            <a:r>
              <a:rPr sz="2000" b="1"/>
              <a:t>PERMANOVA significant + dispersion NOT significant</a:t>
            </a:r>
            <a:r>
              <a:rPr sz="2000"/>
              <a:t> → groups genuinely sit in different places. Clean result.</a:t>
            </a:r>
          </a:p>
          <a:p>
            <a:pPr lvl="0"/>
            <a:r>
              <a:rPr sz="2000" b="1"/>
              <a:t>PERMANOVA significant + dispersion ALSO significant</a:t>
            </a:r>
            <a:r>
              <a:rPr sz="2000"/>
              <a:t> → the location difference may be partly or wholly a spread difference. Say so.</a:t>
            </a:r>
          </a:p>
          <a:p>
            <a:pPr lvl="0" indent="0" marL="1270000">
              <a:buNone/>
            </a:pPr>
            <a:r>
              <a:rPr sz="2000"/>
              <a:t>Here dispersion is </a:t>
            </a:r>
            <a:r>
              <a:rPr sz="2000" b="1"/>
              <a:t>borderline</a:t>
            </a:r>
            <a:r>
              <a:rPr sz="2000"/>
              <a:t> (F = 2.64, p = 0.055): LEH plants are noticeably more variable (mean distance to centroid 2.83, vs 1.97–2.32 elsewhere). The site effect is strong enough (R² = 0.25, p = 0.001) that it is not </a:t>
            </a:r>
            <a:r>
              <a:rPr sz="2000" i="1"/>
              <a:t>only</a:t>
            </a:r>
            <a:r>
              <a:rPr sz="2000"/>
              <a:t> dispersion — but an honest write-up mentions it.</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0.002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0.018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0.114 0.006 -    </a:t>
            </a:r>
            <a:br/>
            <a:r>
              <a:rPr i="1">
                <a:solidFill>
                  <a:srgbClr val="5E5E5E"/>
                </a:solidFill>
                <a:latin typeface="Courier"/>
              </a:rPr>
              <a:t>## TJH 0.012 0.006 0.012</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2026-09-21T17:48:11Z</dcterms:created>
  <dcterms:modified xsi:type="dcterms:W3CDTF">2026-09-21T17:48:11Z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18</vt:lpwstr>
  </property>
  <property fmtid="{D5CDD505-2E9C-101B-9397-08002B2CF9AE}" pid="14" name="resources">
    <vt:lpwstr/>
  </property>
  <property fmtid="{D5CDD505-2E9C-101B-9397-08002B2CF9AE}" pid="15" name="subtitle">
    <vt:lpwstr>Multivariate intro</vt:lpwstr>
  </property>
  <property fmtid="{D5CDD505-2E9C-101B-9397-08002B2CF9AE}" pid="16" name="toc-title">
    <vt:lpwstr>Table of contents</vt:lpwstr>
  </property>
  <property fmtid="{D5CDD505-2E9C-101B-9397-08002B2CF9AE}" pid="17" name="week">
    <vt:lpwstr>13</vt:lpwstr>
  </property>
</Properties>
</file>