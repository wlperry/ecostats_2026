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5" Type="http://schemas.openxmlformats.org/officeDocument/2006/relationships/viewProps" Target="viewProps.xml" /><Relationship Id="rId6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7" Type="http://schemas.openxmlformats.org/officeDocument/2006/relationships/tableStyles" Target="tableStyles.xml" /><Relationship Id="rId6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Multivariate Data?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is the core reference for this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Darlingtonia pitcher structure showing measured features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Sites</a:t>
            </a:r>
            <a:r>
              <a:rPr/>
              <a:t>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and the Concept of PCA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Running PCA in 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Interpreting Loadings and Components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3000" y="1295400"/>
            <a:ext cx="3644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Scores, Ordination and Biplots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Testing Group Differences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Summary and When to Use PCA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Best Practices and Reporting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Include in Papers/Theses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PERMANOVA — Testing Group Differences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Alternative PCA Visualization: FactoMineR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PCA Plot with ggfortify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  <a:p>
            <a:pPr lvl="0" indent="0" marL="0">
              <a:buNone/>
            </a:pP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with vegan: rda() and Distance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Group Differences: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 with Convex Hulls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0.003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0.015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MANOVA-Based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0.108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0.006 0.006 0.012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Pairwise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results come from different statistical tests being used:</a:t>
            </a:r>
          </a:p>
          <a:p>
            <a:pPr lvl="0" indent="0" marL="0">
              <a:buNone/>
            </a:pPr>
            <a:r>
              <a:rPr b="1"/>
              <a:t>1. </a:t>
            </a:r>
            <a:r>
              <a:rPr b="1">
                <a:latin typeface="Courier"/>
              </a:rPr>
              <a:t>pairwise.adonis2()</a:t>
            </a:r>
            <a:r>
              <a:rPr b="1"/>
              <a:t> — PERMANOVA on subsets</a:t>
            </a:r>
          </a:p>
          <a:p>
            <a:pPr lvl="0"/>
            <a:r>
              <a:rPr b="1"/>
              <a:t>What it does</a:t>
            </a:r>
            <a:r>
              <a:rPr/>
              <a:t>: For each pair, it subsets the data to just those 2 sites and runs a separate PERMANOVA.</a:t>
            </a:r>
          </a:p>
          <a:p>
            <a:pPr lvl="0"/>
            <a:r>
              <a:rPr b="1"/>
              <a:t>Results</a:t>
            </a:r>
            <a:r>
              <a:rPr/>
              <a:t>: All p-values ≤ 0.016 (5 of 6 are p = 0.001).</a:t>
            </a:r>
          </a:p>
          <a:p>
            <a:pPr lvl="0"/>
            <a:r>
              <a:rPr b="1"/>
              <a:t>Interpretation</a:t>
            </a:r>
            <a:r>
              <a:rPr/>
              <a:t>: Tests if centroids (mean positions) differ between site pairs.</a:t>
            </a:r>
          </a:p>
          <a:p>
            <a:pPr lvl="0" indent="0" marL="0">
              <a:buNone/>
            </a:pPr>
            <a:r>
              <a:rPr b="1"/>
              <a:t>2. </a:t>
            </a:r>
            <a:r>
              <a:rPr b="1">
                <a:latin typeface="Courier"/>
              </a:rPr>
              <a:t>pairwise.perm.manova()</a:t>
            </a:r>
            <a:r>
              <a:rPr b="1"/>
              <a:t> — a different test entirely</a:t>
            </a:r>
          </a:p>
          <a:p>
            <a:pPr lvl="0"/>
            <a:r>
              <a:rPr b="1"/>
              <a:t>What it does</a:t>
            </a:r>
            <a:r>
              <a:rPr/>
              <a:t>: Uses a MANOVA-based approach with permutations on the full distance matrix.</a:t>
            </a:r>
          </a:p>
          <a:p>
            <a:pPr lvl="0"/>
            <a:r>
              <a:rPr b="1"/>
              <a:t>Results</a:t>
            </a:r>
            <a:r>
              <a:rPr/>
              <a:t>: More conservative — DG vs LEH now p = 0.078 (not significant).</a:t>
            </a:r>
          </a:p>
          <a:p>
            <a:pPr lvl="0"/>
            <a:r>
              <a:rPr b="1"/>
              <a:t>Interpretation</a:t>
            </a:r>
            <a:r>
              <a:rPr/>
              <a:t>: Also tests centroid differences but uses a different statistical framework.</a:t>
            </a:r>
          </a:p>
          <a:p>
            <a:pPr lvl="0" indent="0" marL="0">
              <a:buNone/>
            </a:pPr>
            <a:r>
              <a:rPr b="1"/>
              <a:t>Why the differences matter — both are Location (Centroid) tests: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pairwise.adonis2()</a:t>
            </a:r>
            <a:r>
              <a:rPr/>
              <a:t> and </a:t>
            </a:r>
            <a:r>
              <a:rPr>
                <a:latin typeface="Courier"/>
              </a:rPr>
              <a:t>pairwise.perm.manova()</a:t>
            </a:r>
            <a:r>
              <a:rPr/>
              <a:t> both test if site means differ. They give slightly different p-values due to different algorithms, but similar conclusions.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Multivariate Statistics</dc:title>
  <dc:creator>Bill Perry</dc:creator>
  <cp:keywords/>
  <dc:description>Introduction to multivariate analysis of ecological data — standardization, Euclidean distance, principal component analysis (PCA), loadings and scores, ordination, and PERMANOVA for testing group differences, using a Darlingtonia (cobra lily) morphology dataset.</dc:description>
  <dcterms:created xsi:type="dcterms:W3CDTF">2026-08-21T18:21:01Z</dcterms:created>
  <dcterms:modified xsi:type="dcterms:W3CDTF">2026-08-21T18:21:01Z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