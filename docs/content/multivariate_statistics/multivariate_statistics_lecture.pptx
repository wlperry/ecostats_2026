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5" Type="http://schemas.openxmlformats.org/officeDocument/2006/relationships/viewProps" Target="viewProps.xml" /><Relationship Id="rId6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7" Type="http://schemas.openxmlformats.org/officeDocument/2006/relationships/tableStyles" Target="tableStyles.xml" /><Relationship Id="rId6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intro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Multivariate Data?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is the core reference for this lecture.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Darlingtonia pitcher structure showing measured features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 b="1"/>
              <a:t>Sites</a:t>
            </a:r>
            <a:r>
              <a:rPr/>
              <a:t>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multivariate_statistics_lecture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multivariate_statistics_lecture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multivariate_statistics_lecture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Correlation and the Concept of PCA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multivariate_statistics_lecture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Running PCA in R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multivariate_statistics_lecture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Interpreting Loadings and Components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multivariate_statistics_lecture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53000" y="1295400"/>
            <a:ext cx="3644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multivariate_statistics_lecture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multivariate_statistics_lecture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Scores, Ordination and Biplots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multivariate_statistics_lecture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multivariate_statistics_lecture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Testing Group Differences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multivariate_statistics_lecture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Summary and When to Use PCA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multivariate_statistics_lecture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1816100"/>
                <a:gridCol w="1816100"/>
                <a:gridCol w="1816100"/>
                <a:gridCol w="181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Best Practices and Reporting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to Include in Papers/Theses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PERMANOVA — Testing Group Differences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Alternative PCA Visualization: FactoMineR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dataset with row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darl_pca_data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pca_facto &lt;- </a:t>
            </a:r>
            <a:r>
              <a:rPr>
                <a:solidFill>
                  <a:srgbClr val="4758AB"/>
                </a:solidFill>
                <a:latin typeface="Courier"/>
              </a:rPr>
              <a:t>PCA</a:t>
            </a:r>
            <a:r>
              <a:rPr>
                <a:solidFill>
                  <a:srgbClr val="003B4F"/>
                </a:solidFill>
                <a:latin typeface="Courier"/>
              </a:rPr>
              <a:t>(darl_pca_data,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graph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scale.unit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grouping factor with same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site_groups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with grouping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fviz_pca_biplot</a:t>
            </a:r>
            <a:r>
              <a:rPr>
                <a:solidFill>
                  <a:srgbClr val="003B4F"/>
                </a:solidFill>
                <a:latin typeface="Courier"/>
              </a:rPr>
              <a:t>(pca_facto,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col.ind =</a:t>
            </a:r>
            <a:r>
              <a:rPr>
                <a:solidFill>
                  <a:srgbClr val="003B4F"/>
                </a:solidFill>
                <a:latin typeface="Courier"/>
              </a:rPr>
              <a:t> site_groups,  </a:t>
            </a:r>
            <a:r>
              <a:rPr>
                <a:solidFill>
                  <a:srgbClr val="5E5E5E"/>
                </a:solidFill>
                <a:latin typeface="Courier"/>
              </a:rPr>
              <a:t># Use col.ind instead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palette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"jco"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ellipse.level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repel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Individual plot with better options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fviz_pca_ind</a:t>
            </a:r>
            <a:r>
              <a:rPr>
                <a:solidFill>
                  <a:srgbClr val="003B4F"/>
                </a:solidFill>
                <a:latin typeface="Courier"/>
              </a:rPr>
              <a:t>(pca_facto,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geom.ind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col.ind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palette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"jco"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ellipse.type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repel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PCA Plot with ggfortify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PCA plot with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autoplot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'site'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loadings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loadings.label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frame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Adds ellipses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frame.type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'norm'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or 't' for confidence</a:t>
            </a:r>
          </a:p>
          <a:p>
            <a:pPr lvl="0" indent="0" marL="0">
              <a:buNone/>
            </a:pP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with vegan: rda() and Distance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data matrix (samples × variables)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darl_matrix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PCA with vegan (uses SVD, similar to prcomp)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pca_vegan &lt;- </a:t>
            </a:r>
            <a:r>
              <a:rPr>
                <a:solidFill>
                  <a:srgbClr val="4758AB"/>
                </a:solidFill>
                <a:latin typeface="Courier"/>
              </a:rPr>
              <a:t>rda</a:t>
            </a:r>
            <a:r>
              <a:rPr>
                <a:solidFill>
                  <a:srgbClr val="003B4F"/>
                </a:solidFill>
                <a:latin typeface="Courier"/>
              </a:rPr>
              <a:t>(darl_matrix)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scaling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Calculate distances between sites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site_matrix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everything</a:t>
            </a:r>
            <a:r>
              <a:rPr>
                <a:solidFill>
                  <a:srgbClr val="003B4F"/>
                </a:solidFill>
                <a:latin typeface="Courier"/>
              </a:rPr>
              <a:t>(),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Euclidean distance (many distance metrics available!)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dist_euclidean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dist_bray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Bray-Curtis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dist_manhattan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"manhattan"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nice color palette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site_factor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n_sites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(site_factor))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colors &lt;- </a:t>
            </a:r>
            <a:r>
              <a:rPr>
                <a:solidFill>
                  <a:srgbClr val="4758AB"/>
                </a:solidFill>
                <a:latin typeface="Courier"/>
              </a:rPr>
              <a:t>brewer.pal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(n_sites,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"Set1"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Use Set1 palette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site_colors &lt;- colors[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(site_factor)]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Ordination plot with sites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site_colors,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ordispider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ordiellipse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657422"/>
                </a:solidFill>
                <a:latin typeface="Courier"/>
              </a:rPr>
              <a:t>draw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"polygon"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legend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(site_factor),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Group Differences: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pca_vegan &lt;- </a:t>
            </a:r>
            <a:r>
              <a:rPr>
                <a:solidFill>
                  <a:srgbClr val="4758AB"/>
                </a:solidFill>
                <a:latin typeface="Courier"/>
              </a:rPr>
              <a:t>rda</a:t>
            </a:r>
            <a:r>
              <a:rPr>
                <a:solidFill>
                  <a:srgbClr val="003B4F"/>
                </a:solidFill>
                <a:latin typeface="Courier"/>
              </a:rPr>
              <a:t>(darl_matrix)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(darl_matrix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fviz_pca_biplot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habillage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"PERMANOVA: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 marL="0">
              <a:buNone/>
            </a:pPr>
          </a:p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Scale the data properly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darl_scaled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 </a:t>
            </a:r>
            <a:r>
              <a:rPr>
                <a:solidFill>
                  <a:srgbClr val="5E5E5E"/>
                </a:solidFill>
                <a:latin typeface="Courier"/>
              </a:rPr>
              <a:t># Convert back to data frame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permanova_scaled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(darl_scaled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permanova_scaled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 test for adonis under reduced model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adonis2(formula = darl_scaled ~ site, data = darlingtonia, permutations = 999, method = "euclidean")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3   189.72 0.24512 8.9836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83   584.28 0.75488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86   774.00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Ordination with Convex Hulls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Ordination plot with convex hulls (simpler)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ordihull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draw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"polygon"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n_sites,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bg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site)),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pt.bg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n_sites,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between sites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 &lt;- </a:t>
            </a:r>
            <a:r>
              <a:rPr>
                <a:solidFill>
                  <a:srgbClr val="4758AB"/>
                </a:solidFill>
                <a:latin typeface="Courier"/>
              </a:rPr>
              <a:t>pairwise.adonis2</a:t>
            </a:r>
            <a:r>
              <a:rPr>
                <a:solidFill>
                  <a:srgbClr val="003B4F"/>
                </a:solidFill>
                <a:latin typeface="Courier"/>
              </a:rPr>
              <a:t>(darl_scaled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Add this!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p.adjust.m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$parent_call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"darl_scaled ~ site , strata = Null , permutations 999"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$TJH_vs_DG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32.602 0.10636 5.7128  0.002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273.930 0.89364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306.532 1.00000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 47.72 0.10517 5.6414  0.002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 406.06 0.89483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 453.78 1.00000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69.308 0.25135 11.751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206.432 0.74865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275.740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$DG_vs_LEH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 26.24 0.06493 3.3333  0.027 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 377.85 0.93507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 404.09 1.00000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$DG_vs_HD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131.09 0.42382 25.745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 178.22 0.57618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 309.31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$LEH_vs_HD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101.69 0.2468 11.468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 310.35 0.7532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 412.04 1.0000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attr(,"class")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"pwadstrata" "list"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MANOVA-Based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install.packages("RVAideMemoire")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(RVAideMemoire)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Pairwise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pairwise.perm.manova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(darl_scaled,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nperm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p.method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Pairwise comparisons using permutation MANOVAs on a distance matrix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data:  vegdist(darl_scaled, method = "euclidean") by darlingtonia$site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999 permutations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DG    HD    LEH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0.006 -     -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0.126 0.006 -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0.030 0.006 0.018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 method: bonferroni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the Pairwise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results come from different statistical tests being used:</a:t>
            </a:r>
          </a:p>
          <a:p>
            <a:pPr lvl="0" indent="0" marL="0">
              <a:buNone/>
            </a:pPr>
            <a:r>
              <a:rPr b="1"/>
              <a:t>1. </a:t>
            </a:r>
            <a:r>
              <a:rPr b="1">
                <a:latin typeface="Courier"/>
              </a:rPr>
              <a:t>pairwise.adonis2()</a:t>
            </a:r>
            <a:r>
              <a:rPr b="1"/>
              <a:t> — PERMANOVA on subsets</a:t>
            </a:r>
          </a:p>
          <a:p>
            <a:pPr lvl="0"/>
            <a:r>
              <a:rPr b="1"/>
              <a:t>What it does</a:t>
            </a:r>
            <a:r>
              <a:rPr/>
              <a:t>: For each pair, it subsets the data to just those 2 sites and runs a separate PERMANOVA.</a:t>
            </a:r>
          </a:p>
          <a:p>
            <a:pPr lvl="0"/>
            <a:r>
              <a:rPr b="1"/>
              <a:t>Results</a:t>
            </a:r>
            <a:r>
              <a:rPr/>
              <a:t>: All p-values ≤ 0.016 (5 of 6 are p = 0.001).</a:t>
            </a:r>
          </a:p>
          <a:p>
            <a:pPr lvl="0"/>
            <a:r>
              <a:rPr b="1"/>
              <a:t>Interpretation</a:t>
            </a:r>
            <a:r>
              <a:rPr/>
              <a:t>: Tests if centroids (mean positions) differ between site pairs.</a:t>
            </a:r>
          </a:p>
          <a:p>
            <a:pPr lvl="0" indent="0" marL="0">
              <a:buNone/>
            </a:pPr>
            <a:r>
              <a:rPr b="1"/>
              <a:t>2. </a:t>
            </a:r>
            <a:r>
              <a:rPr b="1">
                <a:latin typeface="Courier"/>
              </a:rPr>
              <a:t>pairwise.perm.manova()</a:t>
            </a:r>
            <a:r>
              <a:rPr b="1"/>
              <a:t> — a different test entirely</a:t>
            </a:r>
          </a:p>
          <a:p>
            <a:pPr lvl="0"/>
            <a:r>
              <a:rPr b="1"/>
              <a:t>What it does</a:t>
            </a:r>
            <a:r>
              <a:rPr/>
              <a:t>: Uses a MANOVA-based approach with permutations on the full distance matrix.</a:t>
            </a:r>
          </a:p>
          <a:p>
            <a:pPr lvl="0"/>
            <a:r>
              <a:rPr b="1"/>
              <a:t>Results</a:t>
            </a:r>
            <a:r>
              <a:rPr/>
              <a:t>: More conservative — DG vs LEH now p = 0.078 (not significant).</a:t>
            </a:r>
          </a:p>
          <a:p>
            <a:pPr lvl="0"/>
            <a:r>
              <a:rPr b="1"/>
              <a:t>Interpretation</a:t>
            </a:r>
            <a:r>
              <a:rPr/>
              <a:t>: Also tests centroid differences but uses a different statistical framework.</a:t>
            </a:r>
          </a:p>
          <a:p>
            <a:pPr lvl="0" indent="0" marL="0">
              <a:buNone/>
            </a:pPr>
            <a:r>
              <a:rPr b="1"/>
              <a:t>Why the differences matter — both are Location (Centroid) tests: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pairwise.adonis2()</a:t>
            </a:r>
            <a:r>
              <a:rPr/>
              <a:t> and </a:t>
            </a:r>
            <a:r>
              <a:rPr>
                <a:latin typeface="Courier"/>
              </a:rPr>
              <a:t>pairwise.perm.manova()</a:t>
            </a:r>
            <a:r>
              <a:rPr/>
              <a:t> both test if site means differ. They give slightly different p-values due to different algorithms, but similar conclusions.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Multivariate Statistics</dc:title>
  <dc:creator>Bill Perry</dc:creator>
  <cp:keywords/>
  <dc:description>Introduction to multivariate analysis of ecological data — standardization, Euclidean distance, principal component analysis (PCA), loadings and scores, ordination, and PERMANOVA for testing group differences, using a Darlingtonia (cobra lily) morphology dataset.</dc:description>
  <dcterms:created xsi:type="dcterms:W3CDTF">2026-08-21T18:41:41Z</dcterms:created>
  <dcterms:modified xsi:type="dcterms:W3CDTF">2026-08-21T18:41:41Z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Multivariate intro</vt:lpwstr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