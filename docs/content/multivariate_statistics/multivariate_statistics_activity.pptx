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Multivariate Statistics (MANOVA)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MANOVA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Lecture 16: PCA</a:t>
            </a:r>
          </a:p>
        </p:txBody>
      </p:sp>
      <p:sp>
        <p:nvSpPr>
          <p:cNvPr id="4" name="Text Placeholder 3"/>
          <p:cNvSpPr>
            <a:spLocks noGrp="1"/>
          </p:cNvSpPr>
          <p:nvPr>
            <p:ph idx="2" sz="half" type="body"/>
          </p:nvPr>
        </p:nvSpPr>
        <p:spPr/>
        <p:txBody>
          <a:bodyPr/>
          <a:lstStyle/>
          <a:p>
            <a:pPr lvl="0" indent="0">
              <a:buNone/>
            </a:pPr>
            <a:r>
              <a:rPr>
                <a:latin typeface="Courier"/>
              </a:rPr>
              <a:t># A tibble: 6 × 11
  site  height mouth_diam tube_diam keel_diam wing1_length wing2_length
  &lt;chr&gt;  &lt;dbl&gt;      &lt;dbl&gt;     &lt;dbl&gt;     &lt;dbl&gt;        &lt;dbl&gt;        &lt;dbl&gt;
1 TJH      654       38.4      16.6       6.4           85           76
2 TJH      413       22.2      17.2       5.9           55           26
3 TJH      610       31.2      19.9       6.7           62           60
4 TJH      546       34.4      20.8       6.3           84           79
5 TJH      665       30.5      20.4       6.6           60           51
6 TJH      665       33.6      19.5       6.6           84           66
# ℹ 4 more variables: wingsprea &lt;dbl&gt;, hoodmass_g &lt;dbl&gt;, tubemass_g &lt;dbl&gt;,
#   wingmass_g &lt;dbl&gt;</a:t>
            </a:r>
          </a:p>
          <a:p>
            <a:pPr lvl="0" indent="0">
              <a:buNone/>
            </a:pPr>
            <a:r>
              <a:rPr>
                <a:latin typeface="Courier"/>
              </a:rPr>
              <a:t># A tibble: 4 × 2
  site  n_plants
  &lt;chr&gt;    &lt;int&gt;
1 DG          25
2 HD          12
3 LEH         25
4 TJH         25</a:t>
            </a:r>
          </a:p>
        </p:txBody>
      </p:sp>
      <p:pic>
        <p:nvPicPr>
          <p:cNvPr descr="multivariate_statistics_activity_files/figure-pptx/unnamed-chunk-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4 × 5
  site  mean_height sd_height mean_wingmass sd_wingmass
  &lt;chr&gt;       &lt;dbl&gt;     &lt;dbl&gt;         &lt;dbl&gt;       &lt;dbl&gt;
1 DG           619.     101.         0.225       0.0682
2 HD           574.     101.         0.0567      0.0202
3 LEH          638.     115.         0.151       0.122 
4 TJH          610.      82.0        0.134       0.0853</a:t>
            </a:r>
          </a:p>
        </p:txBody>
      </p:sp>
      <p:pic>
        <p:nvPicPr>
          <p:cNvPr descr="multivariate_statistics_activity_files/figure-pptx/unnamed-chunk-4-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multivariate_statistics_activity_files/figure-pptx/unnamed-chunk-5-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height mouth_diam tube_diam keel_diam wing1_length wing2_length
height         1.00       0.61      0.24     -0.06         0.28         0.29
mouth_diam     0.61       1.00     -0.05     -0.39         0.57         0.44
tube_diam      0.24      -0.05      1.00      0.65        -0.09         0.01
keel_diam     -0.06      -0.39      0.65      1.00        -0.35        -0.24
wing1_length   0.28       0.57     -0.09     -0.35         1.00         0.84
wing2_length   0.29       0.44      0.01     -0.24         0.84         1.00
wingsprea      0.12       0.25      0.10     -0.19         0.64         0.71
hoodmass_g     0.49       0.76     -0.11     -0.34         0.61         0.49
tubemass_g     0.84       0.72      0.10     -0.24         0.44         0.36
wingmass_g     0.40       0.62     -0.16     -0.36         0.76         0.69
             wingsprea hoodmass_g tubemass_g wingmass_g
height            0.12       0.49       0.84       0.40
mouth_diam        0.25       0.76       0.72       0.62
tube_diam         0.10      -0.11       0.10      -0.16
keel_diam        -0.19      -0.34      -0.24      -0.36
wing1_length      0.64       0.61       0.44       0.76
wing2_length      0.71       0.49       0.36       0.69
wingsprea         1.00       0.25       0.16       0.39
hoodmass_g        0.25       1.00       0.76       0.80
tubemass_g        0.16       0.76       1.00       0.63
wingmass_g        0.39       0.80       0.63       1.00</a:t>
            </a:r>
          </a:p>
          <a:p>
            <a:pPr lvl="0" indent="0">
              <a:buNone/>
            </a:pPr>
            <a:r>
              <a:rPr>
                <a:latin typeface="Courier"/>
              </a:rPr>
              <a:t>Importance of components:
                          PC1    PC2    PC3     PC4     PC5     PC6     PC7
Standard deviation     2.2332 1.3288 1.2354 0.75701 0.59301 0.51062 0.46177
Proportion of Variance 0.4987 0.1766 0.1526 0.05731 0.03517 0.02607 0.02132
Cumulative Proportion  0.4987 0.6753 0.8279 0.88521 0.92038 0.94645 0.96777
                          PC8     PC9    PC10
Standard deviation     0.3768 0.33982 0.25457
Proportion of Variance 0.0142 0.01155 0.00648
Cumulative Proportion  0.9820 0.99352 1.00000</a:t>
            </a:r>
          </a:p>
        </p:txBody>
      </p:sp>
      <p:pic>
        <p:nvPicPr>
          <p:cNvPr descr="multivariate_statistics_activity_files/figure-pptx/unnamed-chunk-8-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PC1    PC2    PC3
height       -0.278 -0.449  0.198
mouth_diam   -0.369 -0.110  0.214
tube_diam     0.040 -0.602 -0.390
keel_diam     0.202 -0.491 -0.328
wing1_length -0.375  0.171 -0.280
wing2_length -0.342  0.131 -0.415
wingsprea    -0.239  0.156 -0.549
hoodmass_g   -0.385 -0.057  0.185
tubemass_g   -0.355 -0.320  0.263
wingmass_g   -0.393  0.080 -0.007</a:t>
            </a:r>
          </a:p>
          <a:p>
            <a:pPr lvl="0" indent="0">
              <a:buNone/>
            </a:pPr>
            <a:r>
              <a:rPr>
                <a:latin typeface="Courier"/>
              </a:rPr>
              <a:t># A tibble: 10 × 2
   Variable     Loading
   &lt;chr&gt;          &lt;dbl&gt;
 1 wingmass_g   -0.393 
 2 hoodmass_g   -0.385 
 3 wing1_length -0.375 
 4 mouth_diam   -0.369 
 5 tubemass_g   -0.355 
 6 wing2_length -0.342 
 7 height       -0.278 
 8 wingsprea    -0.239 
 9 keel_diam     0.202 
10 tube_diam     0.0402</a:t>
            </a:r>
          </a:p>
        </p:txBody>
      </p:sp>
      <p:pic>
        <p:nvPicPr>
          <p:cNvPr descr="multivariate_statistics_activity_files/figure-pptx/unnamed-chunk-11-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10 × 2
   Variable     Loading
   &lt;chr&gt;          &lt;dbl&gt;
 1 tube_diam    -0.602 
 2 keel_diam    -0.491 
 3 height       -0.449 
 4 tubemass_g   -0.320 
 5 wing1_length  0.171 
 6 wingsprea     0.156 
 7 wing2_length  0.131 
 8 mouth_diam   -0.110 
 9 wingmass_g    0.0800
10 hoodmass_g   -0.0575</a:t>
            </a:r>
          </a:p>
        </p:txBody>
      </p:sp>
      <p:pic>
        <p:nvPicPr>
          <p:cNvPr descr="multivariate_statistics_activity_files/figure-pptx/unnamed-chunk-13-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10 × 5
   plant_id site     PC1     PC2    PC3
      &lt;int&gt; &lt;chr&gt;  &lt;dbl&gt;   &lt;dbl&gt;  &lt;dbl&gt;
 1        1 TJH   -1.92   0.0772  1.53 
 2        2 TJH    3.35   1.53    0.755
 3        3 TJH    0.918 -0.0320  0.248
 4        4 TJH   -0.983  0.236  -0.242
 5        5 TJH    1.15  -1.02    1.54 
 6        6 TJH   -1.37  -0.613   0.847
 7        7 TJH   -1.50  -1.63    0.693
 8        8 TJH   -0.651  0.121  -0.412
 9        9 TJH    2.48  -0.0786 -0.260
10       10 TJH   -1.11  -1.27    2.27 </a:t>
            </a:r>
          </a:p>
        </p:txBody>
      </p:sp>
      <p:pic>
        <p:nvPicPr>
          <p:cNvPr descr="multivariate_statistics_activity_files/figure-pptx/unnamed-chunk-15-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multivariate_statistics_activity_files/figure-pptx/unnamed-chunk-16-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DG       HD      LEH
HD  4.346434                  
LEH 1.621198 3.659711         
TJH 1.843120 3.021386 1.960547</a:t>
            </a:r>
          </a:p>
        </p:txBody>
      </p:sp>
      <p:pic>
        <p:nvPicPr>
          <p:cNvPr descr="multivariate_statistics_activity_files/figure-pptx/unnamed-chunk-17-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Multivariate Statistics (MANOVA)</dc:title>
  <dc:creator>Bill Perry</dc:creator>
  <cp:keywords/>
  <dc:description>Hands-on activity: MANOVA and multivariate methods.</dc:description>
  <dcterms:created xsi:type="dcterms:W3CDTF">2026-08-19T20:18:02Z</dcterms:created>
  <dcterms:modified xsi:type="dcterms:W3CDTF">2026-08-19T20:18:02Z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order">
    <vt:lpwstr>17</vt:lpwstr>
  </property>
  <property fmtid="{D5CDD505-2E9C-101B-9397-08002B2CF9AE}" pid="10" name="resources">
    <vt:lpwstr/>
  </property>
  <property fmtid="{D5CDD505-2E9C-101B-9397-08002B2CF9AE}" pid="11" name="subtitle">
    <vt:lpwstr>MANOVA</vt:lpwstr>
  </property>
  <property fmtid="{D5CDD505-2E9C-101B-9397-08002B2CF9AE}" pid="12" name="toc-title">
    <vt:lpwstr>Table of contents</vt:lpwstr>
  </property>
  <property fmtid="{D5CDD505-2E9C-101B-9397-08002B2CF9AE}" pid="13" name="week">
    <vt:lpwstr>10</vt:lpwstr>
  </property>
</Properties>
</file>