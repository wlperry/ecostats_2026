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Multivariate Statistics (MANOVA)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the same Darlingtonia (cobra lily) morphology dataset from lecture — 89 plants measured on 10 morphological and biomass variables across 4 sites.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(psych)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(vegan)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(ggfortify)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(corrplot)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(FactoMineR)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(factoextra)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(ggrepel)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(plotly)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raw data by site (notice the different scales!):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darl_long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(darl_long,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value,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site))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"Raw Data by Site"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"Notice the different scales!"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variable(s) have the largest values (dominating the raw scale), and which have the smallest?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Standardization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means and SDs by site before standardizing: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standardize all numeric variables and visualize: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darl_numeric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Standardize using scale() - centers (mean=0) and scales (sd=1) each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darl_scaled &lt;-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(darl_numeric)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darl_scaled_df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(darl_scaled)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darl_scaled_df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wingmass_g)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wingmass_g),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variable,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value,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variable))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"Standardized Data (same scale)"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Correlations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cor_matrix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corrplot</a:t>
            </a:r>
            <a:r>
              <a:rPr>
                <a:solidFill>
                  <a:srgbClr val="003B4F"/>
                </a:solidFill>
                <a:latin typeface="Courier"/>
              </a:rPr>
              <a:t>(cor_matrix,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"color"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order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"hclust"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tl.col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tl.cex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addCoef.col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number.cex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(Darlingtonia variables)"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mar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(cor_matrix,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pair of variables has the strongest correlation? Does that make biological sense?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scree plot to decide how many components to keep: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fviz_eig</a:t>
            </a:r>
            <a:r>
              <a:rPr>
                <a:solidFill>
                  <a:srgbClr val="003B4F"/>
                </a:solidFill>
                <a:latin typeface="Courier"/>
              </a:rPr>
              <a:t>(pca_result,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addlabels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the scree plot, how many components would you retain, and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Interpreting Loadings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view the loadings for the first 3 PCs: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loadings &lt;- 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(loadings,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PC1 loadings, sorted and visualized: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pc1_loads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Loading =</a:t>
            </a:r>
            <a:r>
              <a:rPr>
                <a:solidFill>
                  <a:srgbClr val="003B4F"/>
                </a:solidFill>
                <a:latin typeface="Courier"/>
              </a:rPr>
              <a:t> 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(Loading)))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pc1_loads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pc1_loads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reorder</a:t>
            </a:r>
            <a:r>
              <a:rPr>
                <a:solidFill>
                  <a:srgbClr val="003B4F"/>
                </a:solidFill>
                <a:latin typeface="Courier"/>
              </a:rPr>
              <a:t>(Variable, Loading),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Loading))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Loading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show.legend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coord_flip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"PC1 Loadings"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"Overall Plant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"Loading"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"FALSE"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"TRUE"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same for PC2: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pc2_loads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Loading =</a:t>
            </a:r>
            <a:r>
              <a:rPr>
                <a:solidFill>
                  <a:srgbClr val="003B4F"/>
                </a:solidFill>
                <a:latin typeface="Courier"/>
              </a:rPr>
              <a:t> 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(Loading)))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pc2_loads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pc2_loads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reorder</a:t>
            </a:r>
            <a:r>
              <a:rPr>
                <a:solidFill>
                  <a:srgbClr val="003B4F"/>
                </a:solidFill>
                <a:latin typeface="Courier"/>
              </a:rPr>
              <a:t>(Variable, Loading),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Loading))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Loading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show.legend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coord_flip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"PC2 Loadings"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"Shape: Height vs. Wing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"Loading"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"FALSE"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"TRUE"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the loadings, write a one-sentence biological interpretation of PC1 and PC2 (what does a high score on each mean?).</a:t>
            </a:r>
          </a:p>
          <a:p>
            <a:pPr lvl="0" indent="0">
              <a:buNone/>
            </a:pPr>
            <a:r>
              <a:rPr>
                <a:latin typeface="Courier"/>
              </a:rPr>
              <a:t>PC1 = ________________________________________________
PC2 = 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Repeat this loadings analysis for PC3 (</a:t>
            </a:r>
            <a:r>
              <a:rPr sz="2000">
                <a:latin typeface="Courier"/>
              </a:rPr>
              <a:t>pca_result$rotation[, 3]</a:t>
            </a:r>
            <a:r>
              <a:rPr sz="2000"/>
              <a:t>). What does PC3 seem to represent?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Scores and 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view PC scores for individual plants: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pc_scores &lt;-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plant_id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(plant_id, site, 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basic scores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(pc_scores,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PC1,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PC2,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site))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"PCA Scores Plot"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"PC1: Overall Size"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"PC2: Shapeb%)"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"right"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an interactive 3D version using </a:t>
            </a:r>
            <a:r>
              <a:rPr>
                <a:latin typeface="Courier"/>
              </a:rPr>
              <a:t>plotly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pc_data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plot_ly</a:t>
            </a:r>
            <a:r>
              <a:rPr>
                <a:solidFill>
                  <a:srgbClr val="003B4F"/>
                </a:solidFill>
                <a:latin typeface="Courier"/>
              </a:rPr>
              <a:t>(pc_data,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PC1,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PC2, </a:t>
            </a:r>
            <a:r>
              <a:rPr>
                <a:solidFill>
                  <a:srgbClr val="657422"/>
                </a:solidFill>
                <a:latin typeface="Courier"/>
              </a:rPr>
              <a:t>z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PC3,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"scatter3d"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mode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"markers"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layout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scene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xaxis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yaxis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zaxis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scores plot, do the sites appear to separate from each other, or do they overlap heavily?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Distances Between 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calculate site centroids (mean PC scores) and the Euclidean distance between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sites are the most different from each other (largest centroid distance)? Which two are the most similar?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a quick one-way ANOVA testing whether </a:t>
            </a:r>
            <a:r>
              <a:rPr sz="2000">
                <a:latin typeface="Courier"/>
              </a:rPr>
              <a:t>PC1</a:t>
            </a:r>
            <a:r>
              <a:rPr sz="2000"/>
              <a:t> differs by </a:t>
            </a:r>
            <a:r>
              <a:rPr sz="2000">
                <a:latin typeface="Courier"/>
              </a:rPr>
              <a:t>site</a:t>
            </a:r>
            <a:r>
              <a:rPr sz="2000"/>
              <a:t> (</a:t>
            </a:r>
            <a:r>
              <a:rPr sz="2000">
                <a:latin typeface="Courier"/>
              </a:rPr>
              <a:t>aov(PC1 ~ site, data = pc_scores)</a:t>
            </a:r>
            <a:r>
              <a:rPr sz="2000"/>
              <a:t>), just like we did in lecture. Is the site effect significant?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Explain why standardization matters before PCA</a:t>
            </a:r>
          </a:p>
          <a:p>
            <a:pPr lvl="0"/>
            <a:r>
              <a:rPr/>
              <a:t>☐ Interpret a correlation matrix in the context of PCA</a:t>
            </a:r>
          </a:p>
          <a:p>
            <a:pPr lvl="0"/>
            <a:r>
              <a:rPr/>
              <a:t>☐ Run a PCA with </a:t>
            </a:r>
            <a:r>
              <a:rPr>
                <a:latin typeface="Courier"/>
              </a:rPr>
              <a:t>prcomp()</a:t>
            </a:r>
            <a:r>
              <a:rPr/>
              <a:t> and read a scree plot</a:t>
            </a:r>
          </a:p>
          <a:p>
            <a:pPr lvl="0"/>
            <a:r>
              <a:rPr/>
              <a:t>☐ Interpret loadings to give principal components biological meaning</a:t>
            </a:r>
          </a:p>
          <a:p>
            <a:pPr lvl="0"/>
            <a:r>
              <a:rPr/>
              <a:t>☐ Plot and interpret PC scores, including an interactive 3D version</a:t>
            </a:r>
          </a:p>
          <a:p>
            <a:pPr lvl="0"/>
            <a:r>
              <a:rPr/>
              <a:t>☐ Calculate Euclidean distances between group centroids in PC space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09_multivariate_statistics.R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Multivariate Statistics (MANOVA)</dc:title>
  <dc:creator>Bill Perry</dc:creator>
  <cp:keywords/>
  <dc:description>Hands-on activity: principal component analysis on the Darlingtonia (cobra lily) morphology dataset — standardization, correlations, PCA, loadings, scores, and distances between site centroids.</dc:description>
  <dcterms:created xsi:type="dcterms:W3CDTF">2026-08-21T18:20:38Z</dcterms:created>
  <dcterms:modified xsi:type="dcterms:W3CDTF">2026-08-21T18:20:38Z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17</vt:lpwstr>
  </property>
  <property fmtid="{D5CDD505-2E9C-101B-9397-08002B2CF9AE}" pid="10" name="resources">
    <vt:lpwstr/>
  </property>
  <property fmtid="{D5CDD505-2E9C-101B-9397-08002B2CF9AE}" pid="11" name="subtitle">
    <vt:lpwstr>MANOVA</vt:lpwstr>
  </property>
  <property fmtid="{D5CDD505-2E9C-101B-9397-08002B2CF9AE}" pid="12" name="toc-title">
    <vt:lpwstr>Table of contents</vt:lpwstr>
  </property>
  <property fmtid="{D5CDD505-2E9C-101B-9397-08002B2CF9AE}" pid="13" name="week">
    <vt:lpwstr>9</vt:lpwstr>
  </property>
</Properties>
</file>