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4" Type="http://schemas.openxmlformats.org/officeDocument/2006/relationships/viewProps" Target="viewProps.xml" /><Relationship Id="rId1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6" Type="http://schemas.openxmlformats.org/officeDocument/2006/relationships/tableStyles" Target="tableStyles.xml" /><Relationship Id="rId1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Multivariate Statistics (MANOVA)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MANOVA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Multivariate Statistics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uses the same Darlingtonia (cobra lily) morphology dataset from lecture — 89 plants measured on 10 morphological and biomass variables across 4 sites.</a:t>
            </a:r>
          </a:p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(emmeans)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(psych)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(vegan)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(ggfortify)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(corrplot)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(FactoMineR)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(factoextra)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(ggrepel)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(plotly)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(janitor)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theme_set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&lt;- </a:t>
            </a:r>
            <a:r>
              <a:rPr>
                <a:solidFill>
                  <a:srgbClr val="4758AB"/>
                </a:solidFill>
                <a:latin typeface="Courier"/>
              </a:rPr>
              <a:t>read_csv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"darlingtonia.csv"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(darlingtonia)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count</a:t>
            </a:r>
            <a:r>
              <a:rPr>
                <a:solidFill>
                  <a:srgbClr val="003B4F"/>
                </a:solidFill>
                <a:latin typeface="Courier"/>
              </a:rPr>
              <a:t>(site, </a:t>
            </a:r>
            <a:r>
              <a:rPr>
                <a:solidFill>
                  <a:srgbClr val="657422"/>
                </a:solidFill>
                <a:latin typeface="Courier"/>
              </a:rPr>
              <a:t>name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"n_plants"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raw data by site (notice the different scales!):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darl_long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(darl_long,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site,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facet_wrap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variable, </a:t>
            </a:r>
            <a:r>
              <a:rPr>
                <a:solidFill>
                  <a:srgbClr val="657422"/>
                </a:solidFill>
                <a:latin typeface="Courier"/>
              </a:rPr>
              <a:t>scales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"free_y"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ncol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axis.text.x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element_text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angle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hjust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"Raw Data by Site"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"Notice the different scales!"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variable(s) have the largest values (dominating the raw scale), and which have the smallest?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Standardization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check means and SDs by site before standardizing: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(height),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(wingmass_g),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sd_wingmass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sd</a:t>
            </a:r>
            <a:r>
              <a:rPr>
                <a:solidFill>
                  <a:srgbClr val="003B4F"/>
                </a:solidFill>
                <a:latin typeface="Courier"/>
              </a:rPr>
              <a:t>(wingmass_g)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After standardization, both will have: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mean = 0, sd = 1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standardize all numeric variables and visualize: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darl_numeric &lt;- darlingtonia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dplyr</a:t>
            </a:r>
            <a:r>
              <a:rPr>
                <a:solidFill>
                  <a:srgbClr val="5E5E5E"/>
                </a:solidFill>
                <a:latin typeface="Courier"/>
              </a:rPr>
              <a:t>::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Standardize using scale() - centers (mean=0) and scales (sd=1) each variable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darl_scaled &lt;- </a:t>
            </a:r>
            <a:r>
              <a:rPr>
                <a:solidFill>
                  <a:srgbClr val="4758AB"/>
                </a:solidFill>
                <a:latin typeface="Courier"/>
              </a:rPr>
              <a:t>scale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(darl_scaled)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darl_scaled_df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pivot_longer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(height, mouth_diam, wingmass_g), </a:t>
            </a:r>
            <a:r>
              <a:rPr>
                <a:solidFill>
                  <a:srgbClr val="657422"/>
                </a:solidFill>
                <a:latin typeface="Courier"/>
              </a:rPr>
              <a:t>names_to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values_to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variable,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value,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variable))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"Standardized Data (same scale)"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"none"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Correlations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cor_matrix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(darl_numeric)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corrplot</a:t>
            </a:r>
            <a:r>
              <a:rPr>
                <a:solidFill>
                  <a:srgbClr val="003B4F"/>
                </a:solidFill>
                <a:latin typeface="Courier"/>
              </a:rPr>
              <a:t>(cor_matrix,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"color"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"upper"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order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"hclust"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tl.cex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addCoef.col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number.cex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"Correlation Matrix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(Darlingtonia variables)"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mar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(cor_matrix,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pair of variables has the strongest correlation? Does that make biological sense?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Running PCA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pca_result &lt;- </a:t>
            </a:r>
            <a:r>
              <a:rPr>
                <a:solidFill>
                  <a:srgbClr val="4758AB"/>
                </a:solidFill>
                <a:latin typeface="Courier"/>
              </a:rPr>
              <a:t>prcomp</a:t>
            </a:r>
            <a:r>
              <a:rPr>
                <a:solidFill>
                  <a:srgbClr val="003B4F"/>
                </a:solidFill>
                <a:latin typeface="Courier"/>
              </a:rPr>
              <a:t>(darl_numeric,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center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scale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(pca_result)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scree plot to decide how many components to keep: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fviz_eig</a:t>
            </a:r>
            <a:r>
              <a:rPr>
                <a:solidFill>
                  <a:srgbClr val="003B4F"/>
                </a:solidFill>
                <a:latin typeface="Courier"/>
              </a:rPr>
              <a:t>(pca_result,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addlabels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ylim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scree plot, how many components would you retain, and why?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Interpreting Loadings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the loadings for the first 3 PCs: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loadings &lt;-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(loadings,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PC1 loadings, sorted and visualized: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pc1_loads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pc1_loads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pc1_loads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"Overall Plant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same for PC2: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pc2_loads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Variable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rownames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Loading =</a:t>
            </a:r>
            <a:r>
              <a:rPr>
                <a:solidFill>
                  <a:srgbClr val="003B4F"/>
                </a:solidFill>
                <a:latin typeface="Courier"/>
              </a:rPr>
              <a:t> 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rotation[,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arrange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desc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(Loading)))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pc2_loads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reorder</a:t>
            </a:r>
            <a:r>
              <a:rPr>
                <a:solidFill>
                  <a:srgbClr val="003B4F"/>
                </a:solidFill>
                <a:latin typeface="Courier"/>
              </a:rPr>
              <a:t>(Variable, Loading),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Loading))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geom_col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Loading </a:t>
            </a:r>
            <a:r>
              <a:rPr>
                <a:solidFill>
                  <a:srgbClr val="5E5E5E"/>
                </a:solidFill>
                <a:latin typeface="Courier"/>
              </a:rPr>
              <a:t>&gt;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show.legend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coord_flip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 Loadings"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"Shape: Height vs. Wing Size"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"Variable"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"Loading"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scale_fill_manual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values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"FALSE"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"coral"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"TRUE"</a:t>
            </a:r>
            <a:r>
              <a:rPr>
                <a:solidFill>
                  <a:srgbClr val="003B4F"/>
                </a:solidFill>
                <a:latin typeface="Courier"/>
              </a:rPr>
              <a:t> =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Based on the loadings, write a one-sentence biological interpretation of PC1 and PC2 (what does a high score on each mean?).</a:t>
            </a:r>
          </a:p>
          <a:p>
            <a:pPr lvl="0" indent="0">
              <a:buNone/>
            </a:pPr>
            <a:r>
              <a:rPr>
                <a:latin typeface="Courier"/>
              </a:rPr>
              <a:t>PC1 = ________________________________________________
PC2 = 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Repeat this loadings analysis for PC3 (</a:t>
            </a:r>
            <a:r>
              <a:rPr sz="2000">
                <a:latin typeface="Courier"/>
              </a:rPr>
              <a:t>pca_result$rotation[, 3]</a:t>
            </a:r>
            <a:r>
              <a:rPr sz="2000"/>
              <a:t>). What does PC3 seem to represent?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Scores and Ordination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view PC scores for individual plants: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 &lt;- </a:t>
            </a:r>
            <a:r>
              <a:rPr>
                <a:solidFill>
                  <a:srgbClr val="4758AB"/>
                </a:solidFill>
                <a:latin typeface="Courier"/>
              </a:rPr>
              <a:t>as_tibble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</a:t>
            </a:r>
            <a:r>
              <a:rPr>
                <a:solidFill>
                  <a:srgbClr val="657422"/>
                </a:solidFill>
                <a:latin typeface="Courier"/>
              </a:rPr>
              <a:t>plant_id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pc_scores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select</a:t>
            </a:r>
            <a:r>
              <a:rPr>
                <a:solidFill>
                  <a:srgbClr val="003B4F"/>
                </a:solidFill>
                <a:latin typeface="Courier"/>
              </a:rPr>
              <a:t>(plant_id, site, PC1, PC2, PC3)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 basic scores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(pc_scores,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PC2,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site))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stat_ellipse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"PCA Scores Plot"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"PC1: Overall Size"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"PC2: Shapeb%)"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base_size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legend.position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"right"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an interactive 3D version using </a:t>
            </a:r>
            <a:r>
              <a:rPr>
                <a:latin typeface="Courier"/>
              </a:rPr>
              <a:t>plotly</a:t>
            </a:r>
            <a:r>
              <a:rPr/>
              <a:t>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pc_data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plot_ly</a:t>
            </a:r>
            <a:r>
              <a:rPr>
                <a:solidFill>
                  <a:srgbClr val="003B4F"/>
                </a:solidFill>
                <a:latin typeface="Courier"/>
              </a:rPr>
              <a:t>(pc_data,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PC1,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PC2, </a:t>
            </a:r>
            <a:r>
              <a:rPr>
                <a:solidFill>
                  <a:srgbClr val="657422"/>
                </a:solidFill>
                <a:latin typeface="Courier"/>
              </a:rPr>
              <a:t>z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PC3,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site,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"scatter3d"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mode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"markers"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layout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scene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"PC2"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zaxis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"PC3"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Looking at the scores plot, do the sites appear to separate from each other, or do they overlap heavily? </a:t>
            </a:r>
            <a:r>
              <a:rPr>
                <a:latin typeface="Courier"/>
              </a:rPr>
              <a:t>________________________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7 · Distances Between Sites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calculate site centroids (mean PC scores) and the Euclidean distance between them: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pc_scores_for_dist &lt;- </a:t>
            </a:r>
            <a:r>
              <a:rPr>
                <a:solidFill>
                  <a:srgbClr val="4758AB"/>
                </a:solidFill>
                <a:latin typeface="Courier"/>
              </a:rPr>
              <a:t>as.data.frame</a:t>
            </a:r>
            <a:r>
              <a:rPr>
                <a:solidFill>
                  <a:srgbClr val="003B4F"/>
                </a:solidFill>
                <a:latin typeface="Courier"/>
              </a:rPr>
              <a:t>(pca_result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x)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site =</a:t>
            </a:r>
            <a:r>
              <a:rPr>
                <a:solidFill>
                  <a:srgbClr val="003B4F"/>
                </a:solidFill>
                <a:latin typeface="Courier"/>
              </a:rPr>
              <a:t> darlingtonia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site)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 &lt;- pc_scores_for_dist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(site)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across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starts_with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"PC"</a:t>
            </a:r>
            <a:r>
              <a:rPr>
                <a:solidFill>
                  <a:srgbClr val="003B4F"/>
                </a:solidFill>
                <a:latin typeface="Courier"/>
              </a:rPr>
              <a:t>), mean))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ungroup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site_centroids_matrix &lt;- site_centroids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column_to_rownames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"site"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 &lt;- </a:t>
            </a:r>
            <a:r>
              <a:rPr>
                <a:solidFill>
                  <a:srgbClr val="4758AB"/>
                </a:solidFill>
                <a:latin typeface="Courier"/>
              </a:rPr>
              <a:t>dist</a:t>
            </a:r>
            <a:r>
              <a:rPr>
                <a:solidFill>
                  <a:srgbClr val="003B4F"/>
                </a:solidFill>
                <a:latin typeface="Courier"/>
              </a:rPr>
              <a:t>(site_centroids_matrix,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"euclidean"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dist_matrix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fviz_dist</a:t>
            </a:r>
            <a:r>
              <a:rPr>
                <a:solidFill>
                  <a:srgbClr val="003B4F"/>
                </a:solidFill>
                <a:latin typeface="Courier"/>
              </a:rPr>
              <a:t>(dist_matrix,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657422"/>
                </a:solidFill>
                <a:latin typeface="Courier"/>
              </a:rPr>
              <a:t>gradient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"#00AFBB"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high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"#FC4E07"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Which two sites are the most different from each other (largest centroid distance)? Which two are the most similar?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a quick one-way ANOVA testing whether </a:t>
            </a:r>
            <a:r>
              <a:rPr sz="2000">
                <a:latin typeface="Courier"/>
              </a:rPr>
              <a:t>PC1</a:t>
            </a:r>
            <a:r>
              <a:rPr sz="2000"/>
              <a:t> differs by </a:t>
            </a:r>
            <a:r>
              <a:rPr sz="2000">
                <a:latin typeface="Courier"/>
              </a:rPr>
              <a:t>site</a:t>
            </a:r>
            <a:r>
              <a:rPr sz="2000"/>
              <a:t> (</a:t>
            </a:r>
            <a:r>
              <a:rPr sz="2000">
                <a:latin typeface="Courier"/>
              </a:rPr>
              <a:t>aov(PC1 ~ site, data = pc_scores)</a:t>
            </a:r>
            <a:r>
              <a:rPr sz="2000"/>
              <a:t>), just like we did in lecture. Is the site effect significant?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Explain why standardization matters before PCA</a:t>
            </a:r>
          </a:p>
          <a:p>
            <a:pPr lvl="0"/>
            <a:r>
              <a:rPr/>
              <a:t>☐ Interpret a correlation matrix in the context of PCA</a:t>
            </a:r>
          </a:p>
          <a:p>
            <a:pPr lvl="0"/>
            <a:r>
              <a:rPr/>
              <a:t>☐ Run a PCA with </a:t>
            </a:r>
            <a:r>
              <a:rPr>
                <a:latin typeface="Courier"/>
              </a:rPr>
              <a:t>prcomp()</a:t>
            </a:r>
            <a:r>
              <a:rPr/>
              <a:t> and read a scree plot</a:t>
            </a:r>
          </a:p>
          <a:p>
            <a:pPr lvl="0"/>
            <a:r>
              <a:rPr/>
              <a:t>☐ Interpret loadings to give principal components biological meaning</a:t>
            </a:r>
          </a:p>
          <a:p>
            <a:pPr lvl="0"/>
            <a:r>
              <a:rPr/>
              <a:t>☐ Plot and interpret PC scores, including an interactive 3D version</a:t>
            </a:r>
          </a:p>
          <a:p>
            <a:pPr lvl="0"/>
            <a:r>
              <a:rPr/>
              <a:t>☐ Calculate Euclidean distances between group centroids in PC space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09_multivariate_statistics.R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all the </a:t>
            </a:r>
            <a:r>
              <a:rPr>
                <a:latin typeface="Courier"/>
              </a:rPr>
              <a:t>library()</a:t>
            </a:r>
            <a:r>
              <a:rPr/>
              <a:t> calls at the top?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Multivariate Statistics (MANOVA)</dc:title>
  <dc:creator>Bill Perry</dc:creator>
  <cp:keywords/>
  <dc:description>Hands-on activity: principal component analysis on the Darlingtonia (cobra lily) morphology dataset — standardization, correlations, PCA, loadings, scores, and distances between site centroids.</dc:description>
  <dcterms:created xsi:type="dcterms:W3CDTF">2026-08-21T15:09:15Z</dcterms:created>
  <dcterms:modified xsi:type="dcterms:W3CDTF">2026-08-21T15:09:15Z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17</vt:lpwstr>
  </property>
  <property fmtid="{D5CDD505-2E9C-101B-9397-08002B2CF9AE}" pid="10" name="resources">
    <vt:lpwstr/>
  </property>
  <property fmtid="{D5CDD505-2E9C-101B-9397-08002B2CF9AE}" pid="11" name="subtitle">
    <vt:lpwstr>MANOVA</vt:lpwstr>
  </property>
  <property fmtid="{D5CDD505-2E9C-101B-9397-08002B2CF9AE}" pid="12" name="toc-title">
    <vt:lpwstr>Table of contents</vt:lpwstr>
  </property>
  <property fmtid="{D5CDD505-2E9C-101B-9397-08002B2CF9AE}" pid="13" name="week">
    <vt:lpwstr>9</vt:lpwstr>
  </property>
</Properties>
</file>