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‘Linear Regression’: a scatterplot of scattered points with a nearly flat fitted regression line labeled R-squared = 0.06 next to the same points connected into a constellation-like stick figure labeled ‘Rexthor, the Dog-Bearer’, captioned ‘I don’t trust linear regressions when it’s harder to guess the direction of the correlation from the scatter plot than to find new constellations on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analysis-of-variance-0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analysis-of-variance-0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analysis-of-variance-0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analysis-of-variance-0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analysis-of-variance-0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analysis-of-variance-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analysis-of-variance-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analysis-of-variance-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analysis-of-variance-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685800" y="660400"/>
            <a:ext cx="4622800" cy="39624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Multi-panel model diagnostic figure generated by performance::check_model(), including residual, normality, homogeneity of variance, and collinearity panels with built-in reference bands.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analysis-of-variance-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analysis-of-variance-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analysis-of-variance-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a:t>
            </a:r>
            <a:r>
              <a:rPr b="1"/>
              <a:t>p = 0.009</a:t>
            </a:r>
            <a:r>
              <a:rPr/>
              <a:t>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analysis-of-variance-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Kruskal-Wallis on Violated Data</a:t>
            </a:r>
          </a:p>
        </p:txBody>
      </p:sp>
      <p:sp>
        <p:nvSpPr>
          <p:cNvPr id="3" name="Text Placeholder 2"/>
          <p:cNvSpPr>
            <a:spLocks noGrp="1"/>
          </p:cNvSpPr>
          <p:nvPr>
            <p:ph idx="1" type="body"/>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This is the whole argument, in four numbers: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Data</a:t>
                      </a:r>
                    </a:p>
                  </a:txBody>
                  <a:tcPr/>
                </a:tc>
                <a:tc>
                  <a:txBody>
                    <a:bodyPr/>
                    <a:lstStyle/>
                    <a:p>
                      <a:pPr lvl="0" indent="0" marL="0">
                        <a:buNone/>
                      </a:pPr>
                      <a:r>
                        <a:rPr/>
                        <a:t>ANOVA (parametric)</a:t>
                      </a:r>
                    </a:p>
                  </a:txBody>
                  <a:tcPr/>
                </a:tc>
                <a:tc>
                  <a:txBody>
                    <a:bodyPr/>
                    <a:lstStyle/>
                    <a:p>
                      <a:pPr lvl="0" indent="0" marL="0">
                        <a:buNone/>
                      </a:pPr>
                      <a:r>
                        <a:rPr/>
                        <a:t>Kruskal-Wallis</a:t>
                      </a:r>
                    </a:p>
                  </a:txBody>
                  <a:tcPr/>
                </a:tc>
              </a:tr>
              <a:tr h="0">
                <a:tc>
                  <a:txBody>
                    <a:bodyPr/>
                    <a:lstStyle/>
                    <a:p>
                      <a:pPr lvl="0" indent="0" marL="0">
                        <a:buNone/>
                      </a:pPr>
                      <a:r>
                        <a:rPr/>
                        <a:t>Original</a:t>
                      </a:r>
                    </a:p>
                  </a:txBody>
                </a:tc>
                <a:tc>
                  <a:txBody>
                    <a:bodyPr/>
                    <a:lstStyle/>
                    <a:p>
                      <a:pPr lvl="0" indent="0" marL="0">
                        <a:buNone/>
                      </a:pPr>
                      <a:r>
                        <a:rPr/>
                        <a:t>F = 7.29, </a:t>
                      </a:r>
                      <a:r>
                        <a:rPr b="1"/>
                        <a:t>p = 0.004</a:t>
                      </a:r>
                      <a:r>
                        <a:rPr/>
                        <a:t> ✅</a:t>
                      </a:r>
                    </a:p>
                  </a:txBody>
                </a:tc>
                <a:tc>
                  <a:txBody>
                    <a:bodyPr/>
                    <a:lstStyle/>
                    <a:p>
                      <a:pPr lvl="0" indent="0" marL="0">
                        <a:buNone/>
                      </a:pPr>
                      <a:r>
                        <a:rPr/>
                        <a:t>H = 9.42, </a:t>
                      </a:r>
                      <a:r>
                        <a:rPr b="1"/>
                        <a:t>p = 0.009</a:t>
                      </a:r>
                      <a:r>
                        <a:rPr/>
                        <a:t> ✅</a:t>
                      </a:r>
                    </a:p>
                  </a:txBody>
                </a:tc>
              </a:tr>
              <a:tr h="0">
                <a:tc>
                  <a:txBody>
                    <a:bodyPr/>
                    <a:lstStyle/>
                    <a:p>
                      <a:pPr lvl="0" indent="0" marL="0">
                        <a:buNone/>
                      </a:pPr>
                      <a:r>
                        <a:rPr/>
                        <a:t>Violated</a:t>
                      </a:r>
                    </a:p>
                  </a:txBody>
                </a:tc>
                <a:tc>
                  <a:txBody>
                    <a:bodyPr/>
                    <a:lstStyle/>
                    <a:p>
                      <a:pPr lvl="0" indent="0" marL="0">
                        <a:buNone/>
                      </a:pPr>
                      <a:r>
                        <a:rPr/>
                        <a:t>F = 2.84, </a:t>
                      </a:r>
                      <a:r>
                        <a:rPr b="1"/>
                        <a:t>p = 0.084</a:t>
                      </a:r>
                      <a:r>
                        <a:rPr/>
                        <a:t> ❌</a:t>
                      </a:r>
                    </a:p>
                  </a:txBody>
                </a:tc>
                <a:tc>
                  <a:txBody>
                    <a:bodyPr/>
                    <a:lstStyle/>
                    <a:p>
                      <a:pPr lvl="0" indent="0" marL="0">
                        <a:buNone/>
                      </a:pPr>
                      <a:r>
                        <a:rPr/>
                        <a:t>H = 6.85, </a:t>
                      </a:r>
                      <a:r>
                        <a:rPr b="1"/>
                        <a:t>p = 0.033</a:t>
                      </a:r>
                      <a:r>
                        <a:rPr/>
                        <a:t> ✅</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parametric test lost the effect. The rank test kept it.</a:t>
            </a:r>
          </a:p>
          <a:p>
            <a:pPr lvl="0" indent="0" marL="1270000">
              <a:buNone/>
            </a:pPr>
            <a:r>
              <a:rPr sz="2000"/>
              <a:t>Nothing about the biology changed — we only inflated one group’s variance and pushed two points out into the tail. That was enough to drag the F-test’s p-value from 0.004 to 0.084, across the α = 0.05 line.</a:t>
            </a:r>
          </a:p>
          <a:p>
            <a:pPr lvl="0" indent="0" marL="1270000">
              <a:buNone/>
            </a:pPr>
            <a:r>
              <a:rPr sz="2000"/>
              <a:t>Kruskal-Wallis barely noticed, because ranks don’t care </a:t>
            </a:r>
            <a:r>
              <a:rPr sz="2000" i="1"/>
              <a:t>how far</a:t>
            </a:r>
            <a:r>
              <a:rPr sz="2000"/>
              <a:t> out an outlier is, only that it is out there.</a:t>
            </a:r>
          </a:p>
        </p:txBody>
      </p:sp>
      <p:pic>
        <p:nvPicPr>
          <p:cNvPr descr="analysis_of_variance_lecture_files/figure-pptx/analysis-of-variance-37-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Why Kruskal-Wallis is robust:</a:t>
            </a:r>
            <a:r>
              <a:rPr/>
              <a:t> uses ranks instead of raw values, outliers affect ranks minimally, unequal variances are less problematic, no distribution assumptions are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0.004 (significant); Control vs Knees: p = 1.000 (not significant); Eyes vs Knees: p = 0.079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 A tibble: 3 × 3
  comparison       original_data violated_data
  &lt;chr&gt;                    &lt;dbl&gt;         &lt;dbl&gt;
1 Control vs Eyes         0.0037        0.0037
2 Control vs Knees        1             1     
3 Eyes vs Knees           0.0787        1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0.89) for Control, −0.29 hours (IQR = 0.93) for Knees, and −1.48 hours (IQR = 0.68) for Eyes. The test revealed a statistically significant difference in phase shift between the groups, H(2) = 9.42, p = 0.009, ε² = 0.45. Post-hoc pairwise comparisons using Dunn’s test with Bonferroni correction indicated that the Eyes treatment differed significantly from both Control (p = 0.016) and Knees (p = 0.032), while Control and Knees did not differ (p = 1.000).”</a:t>
                </a:r>
              </a:p>
              <a:p>
                <a:pPr lvl="0" indent="0" marL="1270000">
                  <a:buNone/>
                </a:pPr>
                <a:r>
                  <a:rPr sz="2000" b="1"/>
                  <a:t>Note</a:t>
                </a:r>
              </a:p>
              <a:p>
                <a:pPr lvl="0" indent="0" marL="1270000">
                  <a:buNone/>
                </a:pPr>
                <a:r>
                  <a:rPr sz="2000" b="1"/>
                  <a:t>📖 Where ε² comes from</a:t>
                </a:r>
              </a:p>
              <a:p>
                <a:pPr lvl="0" indent="0" marL="1270000">
                  <a:buNone/>
                </a:pPr>
                <a14:m>
                  <m:oMathPara xmlns:m="http://schemas.openxmlformats.org/officeDocument/2006/math">
                    <m:oMathParaPr>
                      <m:jc m:val="center"/>
                    </m:oMathParaPr>
                    <m:oMath>
                      <m:sSup>
                        <m:e>
                          <m:r>
                            <m:t>ε</m:t>
                          </m:r>
                        </m:e>
                        <m:sup>
                          <m:r>
                            <m:t>2</m:t>
                          </m:r>
                        </m:sup>
                      </m:sSup>
                      <m:r>
                        <m:rPr>
                          <m:sty m:val="p"/>
                        </m:rPr>
                        <m:t>=</m:t>
                      </m:r>
                      <m:f>
                        <m:fPr>
                          <m:type m:val="bar"/>
                        </m:fPr>
                        <m:num>
                          <m:r>
                            <m:t>H</m:t>
                          </m:r>
                        </m:num>
                        <m:den>
                          <m:r>
                            <m:rPr>
                              <m:sty m:val="p"/>
                            </m:rPr>
                            <m:t>(</m:t>
                          </m:r>
                          <m:sSup>
                            <m:e>
                              <m:r>
                                <m:t>n</m:t>
                              </m:r>
                            </m:e>
                            <m:sup>
                              <m:r>
                                <m:t>2</m:t>
                              </m:r>
                            </m:sup>
                          </m:sSup>
                          <m:r>
                            <m:rPr>
                              <m:sty m:val="p"/>
                            </m:rPr>
                            <m:t>−</m:t>
                          </m:r>
                          <m:r>
                            <m:t>1</m:t>
                          </m:r>
                          <m:r>
                            <m:rPr>
                              <m:sty m:val="p"/>
                            </m:rPr>
                            <m:t>)</m:t>
                          </m:r>
                          <m:r>
                            <m:rPr>
                              <m:sty m:val="p"/>
                            </m:rPr>
                            <m:t>/</m:t>
                          </m:r>
                          <m:r>
                            <m:rPr>
                              <m:sty m:val="p"/>
                            </m:rPr>
                            <m:t>(</m:t>
                          </m:r>
                          <m:r>
                            <m:t>n</m:t>
                          </m:r>
                          <m:r>
                            <m:rPr>
                              <m:sty m:val="p"/>
                            </m:rPr>
                            <m:t>+</m:t>
                          </m:r>
                          <m:r>
                            <m:t>1</m:t>
                          </m:r>
                          <m:r>
                            <m:rPr>
                              <m:sty m:val="p"/>
                            </m:rPr>
                            <m:t>)</m:t>
                          </m:r>
                        </m:den>
                      </m:f>
                    </m:oMath>
                  </m:oMathPara>
                </a14:m>
              </a:p>
              <a:p>
                <a:pPr lvl="0" indent="0" marL="1270000">
                  <a:buNone/>
                </a:pPr>
                <a:r>
                  <a:rPr sz="2000"/>
                  <a:t>Here </a:t>
                </a:r>
                <a14:m>
                  <m:oMath xmlns:m="http://schemas.openxmlformats.org/officeDocument/2006/math">
                    <m:r>
                      <m:t>9.42</m:t>
                    </m:r>
                    <m:r>
                      <m:rPr>
                        <m:sty m:val="p"/>
                      </m:rPr>
                      <m:t>/</m:t>
                    </m:r>
                    <m:r>
                      <m:t>21</m:t>
                    </m:r>
                    <m:r>
                      <m:rPr>
                        <m:sty m:val="p"/>
                      </m:rPr>
                      <m:t>=</m:t>
                    </m:r>
                    <m:r>
                      <m:t>0.45</m:t>
                    </m:r>
                  </m:oMath>
                </a14:m>
                <a:r>
                  <a:rPr sz="2000"/>
                  <a:t> — the rank-based analogue of R². Watch out: some software reports </a:t>
                </a:r>
                <a14:m>
                  <m:oMath xmlns:m="http://schemas.openxmlformats.org/officeDocument/2006/math">
                    <m:sSubSup>
                      <m:e>
                        <m:r>
                          <m:t>η</m:t>
                        </m:r>
                      </m:e>
                      <m:sub>
                        <m:r>
                          <m:t>H</m:t>
                        </m:r>
                      </m:sub>
                      <m:sup>
                        <m:r>
                          <m:t>2</m:t>
                        </m:r>
                      </m:sup>
                    </m:sSubSup>
                    <m:r>
                      <m:rPr>
                        <m:sty m:val="p"/>
                      </m:rPr>
                      <m:t>=</m:t>
                    </m:r>
                    <m:r>
                      <m:rPr>
                        <m:sty m:val="p"/>
                      </m:rPr>
                      <m:t>(</m:t>
                    </m:r>
                    <m:r>
                      <m:t>H</m:t>
                    </m:r>
                    <m:r>
                      <m:rPr>
                        <m:sty m:val="p"/>
                      </m:rPr>
                      <m:t>−</m:t>
                    </m:r>
                    <m:r>
                      <m:t>k</m:t>
                    </m:r>
                    <m:r>
                      <m:rPr>
                        <m:sty m:val="p"/>
                      </m:rPr>
                      <m:t>+</m:t>
                    </m:r>
                    <m:r>
                      <m:t>1</m:t>
                    </m:r>
                    <m:r>
                      <m:rPr>
                        <m:sty m:val="p"/>
                      </m:rPr>
                      <m:t>)</m:t>
                    </m:r>
                    <m:r>
                      <m:rPr>
                        <m:sty m:val="p"/>
                      </m:rPr>
                      <m:t>/</m:t>
                    </m:r>
                    <m:r>
                      <m:rPr>
                        <m:sty m:val="p"/>
                      </m:rPr>
                      <m:t>(</m:t>
                    </m:r>
                    <m:r>
                      <m:t>n</m:t>
                    </m:r>
                    <m:r>
                      <m:rPr>
                        <m:sty m:val="p"/>
                      </m:rPr>
                      <m:t>−</m:t>
                    </m:r>
                    <m:r>
                      <m:t>k</m:t>
                    </m:r>
                    <m:r>
                      <m:rPr>
                        <m:sty m:val="p"/>
                      </m:rPr>
                      <m:t>)</m:t>
                    </m:r>
                  </m:oMath>
                </a14:m>
                <a:r>
                  <a:rPr sz="2000"/>
                  <a:t> instead, which gives 0.39 for these data. </a:t>
                </a:r>
                <a:r>
                  <a:rPr sz="2000" b="1"/>
                  <a:t>Say which one you used.</a:t>
                </a:r>
              </a:p>
            </p:txBody>
          </p:sp>
        </mc:Choice>
      </mc:AlternateContent>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9.42, p = .009.</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9.42, p = 0.009</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Saw that </a:t>
                </a:r>
                <a:r>
                  <a:rPr b="1"/>
                  <a:t>ANOVA </a:t>
                </a:r>
                <a:r>
                  <a:rPr b="1" i="1"/>
                  <a:t>is</a:t>
                </a:r>
                <a:r>
                  <a:rPr b="1"/>
                  <a:t> regression</a:t>
                </a:r>
                <a:r>
                  <a:rPr/>
                  <a:t> with a categorical predictor — same partitioning, same F-ratio, different-looking output</a:t>
                </a:r>
              </a:p>
              <a:p>
                <a:pPr lvl="0"/>
                <a:r>
                  <a:rPr/>
                  <a:t>Split </a:t>
                </a:r>
                <a14:m>
                  <m:oMath xmlns:m="http://schemas.openxmlformats.org/officeDocument/2006/math">
                    <m:r>
                      <m:t>S</m:t>
                    </m:r>
                    <m:sSub>
                      <m:e>
                        <m:r>
                          <m:t>S</m:t>
                        </m:r>
                      </m:e>
                      <m:sub>
                        <m:r>
                          <m:t>t</m:t>
                        </m:r>
                        <m:r>
                          <m:t>o</m:t>
                        </m:r>
                        <m:r>
                          <m:t>t</m:t>
                        </m:r>
                        <m:r>
                          <m:t>a</m:t>
                        </m:r>
                        <m:r>
                          <m:t>l</m:t>
                        </m:r>
                      </m:sub>
                    </m:sSub>
                  </m:oMath>
                </a14:m>
                <a:r>
                  <a:rPr/>
                  <a:t> into </a:t>
                </a:r>
                <a14:m>
                  <m:oMath xmlns:m="http://schemas.openxmlformats.org/officeDocument/2006/math">
                    <m:r>
                      <m:t>S</m:t>
                    </m:r>
                    <m:sSub>
                      <m:e>
                        <m:r>
                          <m:t>S</m:t>
                        </m:r>
                      </m:e>
                      <m:sub>
                        <m:r>
                          <m:t>a</m:t>
                        </m:r>
                        <m:r>
                          <m:t>m</m:t>
                        </m:r>
                        <m:r>
                          <m:t>o</m:t>
                        </m:r>
                        <m:r>
                          <m:t>n</m:t>
                        </m:r>
                        <m:r>
                          <m:t>g</m:t>
                        </m:r>
                      </m:sub>
                    </m:sSub>
                  </m:oMath>
                </a14:m>
                <a:r>
                  <a:rPr/>
                  <a:t> and </a:t>
                </a:r>
                <a14:m>
                  <m:oMath xmlns:m="http://schemas.openxmlformats.org/officeDocument/2006/math">
                    <m:r>
                      <m:t>S</m:t>
                    </m:r>
                    <m:sSub>
                      <m:e>
                        <m:r>
                          <m:t>S</m:t>
                        </m:r>
                      </m:e>
                      <m:sub>
                        <m:r>
                          <m:t>w</m:t>
                        </m:r>
                        <m:r>
                          <m:t>i</m:t>
                        </m:r>
                        <m:r>
                          <m:t>t</m:t>
                        </m:r>
                        <m:r>
                          <m:t>h</m:t>
                        </m:r>
                        <m:r>
                          <m:t>i</m:t>
                        </m:r>
                        <m:r>
                          <m:t>n</m:t>
                        </m:r>
                      </m:sub>
                    </m:sSub>
                  </m:oMath>
                </a14:m>
                <a:r>
                  <a:rPr/>
                  <a:t>, and turned them into mean squares</a:t>
                </a:r>
              </a:p>
              <a:p>
                <a:pPr lvl="0"/>
                <a:r>
                  <a:rPr/>
                  <a:t>Built the </a:t>
                </a:r>
                <a:r>
                  <a:rPr b="1"/>
                  <a:t>F-ratio</a:t>
                </a:r>
                <a:r>
                  <a:rPr/>
                  <a:t> as signal ÷ noise, and confirmed that with two groups </a:t>
                </a:r>
                <a:r>
                  <a:rPr b="1"/>
                  <a:t>F = t²</a:t>
                </a:r>
                <a:r>
                  <a:rPr/>
                  <a:t> exactly</a:t>
                </a:r>
              </a:p>
              <a:p>
                <a:pPr lvl="0"/>
                <a:r>
                  <a:rPr/>
                  <a:t>Checked the assumptions — Levene’s for equal variance, Shapiro-Wilk on the </a:t>
                </a:r>
                <a:r>
                  <a:rPr b="1"/>
                  <a:t>residuals</a:t>
                </a:r>
                <a:r>
                  <a:rPr/>
                  <a:t>, and the four diagnostic plots</a:t>
                </a:r>
              </a:p>
              <a:p>
                <a:pPr lvl="0"/>
                <a:r>
                  <a:rPr/>
                  <a:t>Used </a:t>
                </a:r>
                <a:r>
                  <a:rPr b="1"/>
                  <a:t>Tukey’s HSD</a:t>
                </a:r>
                <a:r>
                  <a:rPr/>
                  <a:t> to find </a:t>
                </a:r>
                <a:r>
                  <a:rPr i="1"/>
                  <a:t>which</a:t>
                </a:r>
                <a:r>
                  <a:rPr/>
                  <a:t> groups differ, after the omnibus test said </a:t>
                </a:r>
                <a:r>
                  <a:rPr i="1"/>
                  <a:t>some</a:t>
                </a:r>
                <a:r>
                  <a:rPr/>
                  <a:t> group does</a:t>
                </a:r>
              </a:p>
              <a:p>
                <a:pPr lvl="0"/>
                <a:r>
                  <a:rPr/>
                  <a:t>Reported the result the way a journal expects, with an effect size</a:t>
                </a:r>
              </a:p>
              <a:p>
                <a:pPr lvl="0"/>
                <a:r>
                  <a:rPr/>
                  <a:t>Switched to </a:t>
                </a:r>
                <a:r>
                  <a:rPr b="1"/>
                  <a:t>Kruskal-Wallis</a:t>
                </a:r>
                <a:r>
                  <a:rPr/>
                  <a:t> and </a:t>
                </a:r>
                <a:r>
                  <a:rPr b="1"/>
                  <a:t>Dunn’s test</a:t>
                </a:r>
                <a:r>
                  <a:rPr/>
                  <a:t> when assumptions fail</a:t>
                </a:r>
              </a:p>
              <a:p>
                <a:pPr lvl="0" indent="0" marL="1270000">
                  <a:buNone/>
                </a:pPr>
                <a:r>
                  <a:rPr sz="2000" b="1"/>
                  <a:t>Important</a:t>
                </a:r>
              </a:p>
              <a:p>
                <a:pPr lvl="0" indent="0" marL="1270000">
                  <a:buNone/>
                </a:pPr>
                <a:r>
                  <a:rPr sz="2000" b="1"/>
                  <a:t>⚠️ The order matters</a:t>
                </a:r>
              </a:p>
              <a:p>
                <a:pPr lvl="0" indent="0" marL="1270000">
                  <a:buNone/>
                </a:pPr>
                <a:r>
                  <a:rPr sz="2000"/>
                  <a:t>A significant F says </a:t>
                </a:r>
                <a:r>
                  <a:rPr sz="2000" i="1"/>
                  <a:t>at least one</a:t>
                </a:r>
                <a:r>
                  <a:rPr sz="2000"/>
                  <a:t> group differs — it does not say which. Post-hoc tests answer that, and they only make sense </a:t>
                </a:r>
                <a:r>
                  <a:rPr sz="2000" b="1"/>
                  <a:t>after</a:t>
                </a:r>
                <a:r>
                  <a:rPr sz="2000"/>
                  <a:t> a significant omnibus test. Running all pairwise t-tests instead inflates your Type I error with every comparison.</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We deliberately broke the assumptions and watched the parametric p-value slide from </a:t>
            </a:r>
            <a:r>
              <a:rPr sz="2000" b="1"/>
              <a:t>0.004 to 0.084</a:t>
            </a:r>
            <a:r>
              <a:rPr sz="2000"/>
              <a:t> while the rank-based one held at </a:t>
            </a:r>
            <a:r>
              <a:rPr sz="2000" b="1"/>
              <a:t>0.033</a:t>
            </a:r>
            <a:r>
              <a:rPr sz="2000"/>
              <a:t>.</a:t>
            </a:r>
          </a:p>
          <a:p>
            <a:pPr lvl="0" indent="0" marL="1270000">
              <a:buNone/>
            </a:pPr>
            <a:r>
              <a:rPr sz="2000"/>
              <a:t>The data’s biology never changed. Only its shape did. That is what “assumption violation” costs you, in one number.</a:t>
            </a:r>
          </a:p>
          <a:p>
            <a:pPr lvl="0" indent="0" marL="1270000">
              <a:buNone/>
            </a:pPr>
            <a:r>
              <a:rPr sz="2000" b="1"/>
              <a:t>Note</a:t>
            </a:r>
          </a:p>
          <a:p>
            <a:pPr lvl="0" indent="0" marL="1270000">
              <a:buNone/>
            </a:pPr>
            <a:r>
              <a:rPr sz="2000" b="1"/>
              <a:t>Up next — Two-Way ANOVA</a:t>
            </a:r>
          </a:p>
          <a:p>
            <a:pPr lvl="0"/>
            <a:r>
              <a:rPr sz="2000"/>
              <a:t>Two categorical predictors at once</a:t>
            </a:r>
          </a:p>
          <a:p>
            <a:pPr lvl="0"/>
            <a:r>
              <a:rPr sz="2000"/>
              <a:t>Interaction: when the effect of one factor depends on the other</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your grouping variable a </a:t>
            </a:r>
            <a:r>
              <a:rPr b="1"/>
              <a:t>factor</a:t>
            </a:r>
            <a:r>
              <a:rPr/>
              <a:t> (</a:t>
            </a:r>
            <a:r>
              <a:rPr>
                <a:latin typeface="Courier"/>
              </a:rPr>
              <a:t>as.factor()</a:t>
            </a:r>
            <a:r>
              <a:rPr/>
              <a:t>)? Did you pass the model to </a:t>
            </a:r>
            <a:r>
              <a:rPr>
                <a:latin typeface="Courier"/>
              </a:rPr>
              <a:t>TukeyHSD()</a:t>
            </a:r>
            <a:r>
              <a:rPr/>
              <a:t> via </a:t>
            </a:r>
            <a:r>
              <a:rPr>
                <a:latin typeface="Courier"/>
              </a:rPr>
              <a:t>aov()</a:t>
            </a:r>
            <a:r>
              <a:rPr/>
              <a:t>, not </a:t>
            </a:r>
            <a:r>
              <a:rPr>
                <a:latin typeface="Courier"/>
              </a:rPr>
              <a:t>lm()</a:t>
            </a:r>
            <a:r>
              <a:rPr/>
              <a:t>? Is </a:t>
            </a:r>
            <a:r>
              <a:rPr>
                <a:latin typeface="Courier"/>
              </a:rPr>
              <a:t>car</a:t>
            </a:r>
            <a:r>
              <a:rPr/>
              <a:t> loaded for </a:t>
            </a:r>
            <a:r>
              <a:rPr>
                <a:latin typeface="Courier"/>
              </a:rPr>
              <a:t>leveneTest()</a:t>
            </a:r>
            <a:r>
              <a:rPr/>
              <a:t>, </a:t>
            </a:r>
            <a:r>
              <a:rPr>
                <a:latin typeface="Courier"/>
              </a:rPr>
              <a:t>FSA</a:t>
            </a:r>
            <a:r>
              <a:rPr/>
              <a:t> for </a:t>
            </a:r>
            <a:r>
              <a:rPr>
                <a:latin typeface="Courier"/>
              </a:rPr>
              <a:t>dunnTest()</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2026-09-15T02:04:20Z</dcterms:created>
  <dcterms:modified xsi:type="dcterms:W3CDTF">2026-09-15T02:04:20Z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