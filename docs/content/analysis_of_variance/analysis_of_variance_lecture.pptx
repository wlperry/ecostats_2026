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7" Type="http://schemas.openxmlformats.org/officeDocument/2006/relationships/viewProps" Target="viewProps.xml" /><Relationship Id="rId56" Type="http://schemas.openxmlformats.org/officeDocument/2006/relationships/presProps" Target="presProps.xml" /><Relationship Id="rId1" Type="http://schemas.openxmlformats.org/officeDocument/2006/relationships/slideMaster" Target="slideMasters/slideMaster1.xml" /><Relationship Id="rId59" Type="http://schemas.openxmlformats.org/officeDocument/2006/relationships/tableStyles" Target="tableStyles.xml" /><Relationship Id="rId5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Analysis of Variance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Single-factor 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Multiple Regression:</a:t>
            </a:r>
          </a:p>
          <a:p>
            <a:pPr lvl="0"/>
            <a:r>
              <a:rPr/>
              <a:t>The MLR model, regression parameters</a:t>
            </a:r>
          </a:p>
          <a:p>
            <a:pPr lvl="0"/>
            <a:r>
              <a:rPr/>
              <a:t>Analysis of variance for regression</a:t>
            </a:r>
          </a:p>
          <a:p>
            <a:pPr lvl="0"/>
            <a:r>
              <a:rPr/>
              <a:t>Null hypotheses, explained variance</a:t>
            </a:r>
          </a:p>
          <a:p>
            <a:pPr lvl="0"/>
            <a:r>
              <a:rPr/>
              <a:t>Assumptions and diagnostics</a:t>
            </a:r>
          </a:p>
          <a:p>
            <a:pPr lvl="0"/>
            <a:r>
              <a:rPr/>
              <a:t>Collinearity, interactions, dummy variables</a:t>
            </a:r>
          </a:p>
          <a:p>
            <a:pPr lvl="0"/>
            <a:r>
              <a:rPr/>
              <a:t>Model selection, importance of predictors</a:t>
            </a:r>
          </a:p>
          <a:p>
            <a:pPr lvl="0" indent="0" marL="1270000">
              <a:buNone/>
            </a:pPr>
            <a:r>
              <a:rPr sz="2000" b="1"/>
              <a:t>Note</a:t>
            </a:r>
          </a:p>
          <a:p>
            <a:pPr lvl="0" indent="0" marL="1270000">
              <a:buNone/>
            </a:pPr>
            <a:r>
              <a:rPr sz="2000" b="1"/>
              <a:t>✅ Key idea from last lecture</a:t>
            </a:r>
          </a:p>
          <a:p>
            <a:pPr lvl="0" indent="0" marL="1270000">
              <a:buNone/>
            </a:pPr>
            <a:r>
              <a:rPr sz="2000"/>
              <a:t>You already built an ANOVA table for a regression — you just called it “analysis of variance for regression.” Today we apply the exact same machinery to categorical predictors.</a:t>
            </a:r>
          </a:p>
        </p:txBody>
      </p:sp>
      <p:pic>
        <p:nvPicPr>
          <p:cNvPr descr="images/clipboard-2698541257.png" id="0" name="Picture 1"/>
          <p:cNvPicPr>
            <a:picLocks noGrp="1" noChangeAspect="1"/>
          </p:cNvPicPr>
          <p:nvPr/>
        </p:nvPicPr>
        <p:blipFill>
          <a:blip r:embed="rId2"/>
          <a:stretch>
            <a:fillRect/>
          </a:stretch>
        </p:blipFill>
        <p:spPr bwMode="auto">
          <a:xfrm>
            <a:off x="6121400" y="1739900"/>
            <a:ext cx="2781300" cy="1816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XKCD comic ‘Linear Regression’: a scatterplot of scattered points with a nearly flat fitted regression line labeled R-squared = 0.06 next to the same points connected into a constellation-like stick figure labeled ‘Rexthor, the Dog-Bearer’, captioned ‘I don’t trust linear regressions when it’s harder to guess the direction of the correlation from the scatter plot than to find new constellations on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ANOVA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Today’s Objectives</a:t>
            </a:r>
          </a:p>
        </p:txBody>
      </p:sp>
      <p:sp>
        <p:nvSpPr>
          <p:cNvPr id="3" name="Text Placeholder 2"/>
          <p:cNvSpPr>
            <a:spLocks noGrp="1"/>
          </p:cNvSpPr>
          <p:nvPr>
            <p:ph idx="1" type="body"/>
          </p:nvPr>
        </p:nvSpPr>
        <p:spPr/>
        <p:txBody>
          <a:bodyPr/>
          <a:lstStyle/>
          <a:p>
            <a:pPr lvl="0" indent="0" marL="0">
              <a:buNone/>
            </a:pPr>
            <a:r>
              <a:rPr b="1"/>
              <a:t>ANOVA:</a:t>
            </a:r>
            <a:r>
              <a:rPr/>
              <a:t> analysis of variance, single-factor today, multi-factor to come.</a:t>
            </a:r>
          </a:p>
          <a:p>
            <a:pPr lvl="0"/>
            <a:r>
              <a:rPr/>
              <a:t>Predictor variables: fixed</a:t>
            </a:r>
          </a:p>
          <a:p>
            <a:pPr lvl="0"/>
            <a:r>
              <a:rPr/>
              <a:t>The ANOVA model</a:t>
            </a:r>
          </a:p>
          <a:p>
            <a:pPr lvl="0"/>
            <a:r>
              <a:rPr/>
              <a:t>Analysis and partitioning of variance</a:t>
            </a:r>
          </a:p>
          <a:p>
            <a:pPr lvl="0"/>
            <a:r>
              <a:rPr/>
              <a:t>Null hypothesis</a:t>
            </a:r>
          </a:p>
          <a:p>
            <a:pPr lvl="0"/>
            <a:r>
              <a:rPr/>
              <a:t>Assumptions and diagnostics</a:t>
            </a:r>
          </a:p>
          <a:p>
            <a:pPr lvl="0"/>
            <a:r>
              <a:rPr/>
              <a:t>Post-hoc tests — Tukey and others</a:t>
            </a:r>
          </a:p>
          <a:p>
            <a:pPr lvl="0"/>
            <a:r>
              <a:rPr/>
              <a:t>Reporting the results</a:t>
            </a:r>
          </a:p>
          <a:p>
            <a:pPr lvl="0"/>
            <a:r>
              <a:rPr/>
              <a:t>Mixed-model ANOVA — random effects</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10 — The Analysis of Variance, is the core reference for this lecture.</a:t>
            </a:r>
          </a:p>
        </p:txBody>
      </p:sp>
      <p:sp>
        <p:nvSpPr>
          <p:cNvPr id="5" name="Text Placeholder 4"/>
          <p:cNvSpPr>
            <a:spLocks noGrp="1"/>
          </p:cNvSpPr>
          <p:nvPr>
            <p:ph idx="3" sz="quarter" type="body"/>
          </p:nvPr>
        </p:nvSpPr>
        <p:spPr/>
        <p:txBody>
          <a:bodyPr/>
          <a:lstStyle/>
          <a:p>
            <a:pPr lvl="0" indent="0" marL="0">
              <a:buNone/>
            </a:pPr>
            <a:r>
              <a:rPr/>
              <a:t>What if the response is continuous and the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 Y</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ANOVA and Regression Connection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Both regression and ANOVA:</a:t>
                </a:r>
              </a:p>
              <a:p>
                <a:pPr lvl="0"/>
                <a:r>
                  <a:rPr/>
                  <a:t>Partition the total variation in Y</a:t>
                </a:r>
              </a:p>
              <a:p>
                <a:pPr lvl="0"/>
                <a:r>
                  <a:rPr/>
                  <a:t>Use F-tests for significance, where one MS is divided by another</a:t>
                </a:r>
              </a:p>
              <a:p>
                <a:pPr lvl="0" indent="0" marL="0">
                  <a:buNone/>
                </a:pPr>
                <a:r>
                  <a:rPr b="1"/>
                  <a:t>Regression:</a:t>
                </a:r>
              </a:p>
              <a:p>
                <a:pPr lvl="0"/>
                <a:r>
                  <a:rPr/>
                  <a:t>Form: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r>
                  <a:rPr/>
                  <a:t> — Y is the response, β₀ the intercept, β₁ the slope, X the predictor, ε the error</a:t>
                </a:r>
              </a:p>
              <a:p>
                <a:pPr lvl="0"/>
                <a:r>
                  <a:rPr/>
                  <a:t>Test: </a:t>
                </a:r>
                <a14:m>
                  <m:oMath xmlns:m="http://schemas.openxmlformats.org/officeDocument/2006/math">
                    <m:sSub>
                      <m:e>
                        <m:r>
                          <m:t>H</m:t>
                        </m:r>
                      </m:e>
                      <m:sub>
                        <m:r>
                          <m:t>0</m:t>
                        </m:r>
                      </m:sub>
                    </m:sSub>
                    <m:r>
                      <m:rPr>
                        <m:sty m:val="p"/>
                      </m:rPr>
                      <m:t>:</m:t>
                    </m:r>
                    <m:sSub>
                      <m:e>
                        <m:r>
                          <m:t>β</m:t>
                        </m:r>
                      </m:e>
                      <m:sub>
                        <m:r>
                          <m:t>1</m:t>
                        </m:r>
                      </m:sub>
                    </m:sSub>
                    <m:r>
                      <m:rPr>
                        <m:sty m:val="p"/>
                      </m:rPr>
                      <m:t>=</m:t>
                    </m:r>
                    <m:r>
                      <m:t>0</m:t>
                    </m:r>
                  </m:oMath>
                </a14:m>
                <a:r>
                  <a:rPr/>
                  <a:t> — 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ANOVA:</a:t>
                </a:r>
              </a:p>
              <a:p>
                <a:pPr lvl="0"/>
                <a:r>
                  <a:rPr/>
                  <a:t>Form: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r>
                  <a:rPr/>
                  <a:t> — </a:t>
                </a:r>
                <a14:m>
                  <m:oMath xmlns:m="http://schemas.openxmlformats.org/officeDocument/2006/math">
                    <m:sSub>
                      <m:e>
                        <m:r>
                          <m:t>Y</m:t>
                        </m:r>
                      </m:e>
                      <m:sub>
                        <m:r>
                          <m:t>i</m:t>
                        </m:r>
                        <m:r>
                          <m:t>j</m:t>
                        </m:r>
                      </m:sub>
                    </m:sSub>
                  </m:oMath>
                </a14:m>
                <a:r>
                  <a:rPr/>
                  <a:t> is observation j in group i, μ the grand mean, </a:t>
                </a:r>
                <a14:m>
                  <m:oMath xmlns:m="http://schemas.openxmlformats.org/officeDocument/2006/math">
                    <m:sSub>
                      <m:e>
                        <m:r>
                          <m:t>A</m:t>
                        </m:r>
                      </m:e>
                      <m:sub>
                        <m:r>
                          <m:t>i</m:t>
                        </m:r>
                      </m:sub>
                    </m:sSub>
                  </m:oMath>
                </a14:m>
                <a:r>
                  <a:rPr/>
                  <a:t> the effect of group i, ε the error</a:t>
                </a:r>
              </a:p>
              <a:p>
                <a:pPr lvl="0"/>
                <a:r>
                  <a:rPr/>
                  <a:t>Test: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r>
                  <a:rPr/>
                  <a:t> — rejecting means at least one group differs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Same Partitioning, Two Kinds of Predictor</a:t>
            </a:r>
          </a:p>
        </p:txBody>
      </p:sp>
      <p:sp>
        <p:nvSpPr>
          <p:cNvPr id="3" name="Content Placeholder 2"/>
          <p:cNvSpPr>
            <a:spLocks noGrp="1"/>
          </p:cNvSpPr>
          <p:nvPr>
            <p:ph idx="1" sz="half"/>
          </p:nvPr>
        </p:nvSpPr>
        <p:spPr/>
        <p:txBody>
          <a:bodyPr/>
          <a:lstStyle/>
          <a:p>
            <a:pPr lvl="0" indent="0" marL="0">
              <a:buNone/>
            </a:pPr>
            <a:r>
              <a:rPr/>
              <a:t>General method for partitioning variation in a continuous dependent variable:</a:t>
            </a:r>
          </a:p>
          <a:p>
            <a:pPr lvl="0"/>
            <a:r>
              <a:rPr/>
              <a:t>One or more continuous (and categorical) predictors → </a:t>
            </a:r>
            <a:r>
              <a:rPr b="1"/>
              <a:t>regression</a:t>
            </a:r>
          </a:p>
          <a:p>
            <a:pPr lvl="0"/>
            <a:r>
              <a:rPr/>
              <a:t>One or more categorical predictors → </a:t>
            </a:r>
            <a:r>
              <a:rPr b="1"/>
              <a:t>ANOVA</a:t>
            </a:r>
          </a:p>
          <a:p>
            <a:pPr lvl="0"/>
            <a:r>
              <a:rPr/>
              <a:t>Categorical predictor variables represent groups or experimental treatments</a:t>
            </a:r>
          </a:p>
        </p:txBody>
      </p:sp>
      <p:pic>
        <p:nvPicPr>
          <p:cNvPr descr="analysis_of_variance_lecture_files/figure-pptx/analysis-of-variance-02-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 Regression</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ANOVA as regression</a:t>
            </a:r>
          </a:p>
          <a:p>
            <a:pPr lvl="0" indent="0" marL="1270000">
              <a:buNone/>
            </a:pPr>
            <a:r>
              <a:rPr sz="2000"/>
              <a:t>With one categorical variable, ANOVA is equivalent to regression with dummy variables. In fact, when we run ANOVAs we use the same code as for regression!</a:t>
            </a:r>
          </a:p>
          <a:p>
            <a:pPr lvl="0" indent="0" marL="1270000">
              <a:buNone/>
            </a:pPr>
            <a:r>
              <a:rPr sz="2000">
                <a:latin typeface="Courier"/>
              </a:rPr>
              <a:t>regression: model &lt;- lm(response ~ predictor, data = df)</a:t>
            </a:r>
            <a:r>
              <a:rPr sz="2000"/>
              <a:t> </a:t>
            </a:r>
            <a:r>
              <a:rPr sz="2000">
                <a:latin typeface="Courier"/>
              </a:rPr>
              <a:t>anova: model &lt;- lm(response ~ factor, data = df)</a:t>
            </a:r>
          </a:p>
          <a:p>
            <a:pPr lvl="0" indent="0" marL="1270000">
              <a:buNone/>
            </a:pP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ANOVA Goals and Logic</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Goals</a:t>
            </a:r>
          </a:p>
        </p:txBody>
      </p:sp>
      <p:sp>
        <p:nvSpPr>
          <p:cNvPr id="3" name="Content Placeholder 2"/>
          <p:cNvSpPr>
            <a:spLocks noGrp="1"/>
          </p:cNvSpPr>
          <p:nvPr>
            <p:ph idx="1" sz="half"/>
          </p:nvPr>
        </p:nvSpPr>
        <p:spPr/>
        <p:txBody>
          <a:bodyPr/>
          <a:lstStyle/>
          <a:p>
            <a:pPr lvl="0" indent="0" marL="0">
              <a:buNone/>
            </a:pPr>
            <a:r>
              <a:rPr/>
              <a:t>ANOVA aims to compare means of groups:</a:t>
            </a:r>
          </a:p>
          <a:p>
            <a:pPr lvl="0"/>
            <a:r>
              <a:rPr/>
              <a:t>Attributes contribution of predictors + “error” to variability</a:t>
            </a:r>
          </a:p>
          <a:p>
            <a:pPr lvl="0"/>
            <a:r>
              <a:rPr/>
              <a:t>Tests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 two or three factors with two or more levels each — examines variation due to factors </a:t>
            </a:r>
            <a:r>
              <a:rPr b="1"/>
              <a:t>AND</a:t>
            </a:r>
            <a:r>
              <a:rPr/>
              <a:t> their interaction</a:t>
            </a:r>
          </a:p>
        </p:txBody>
      </p:sp>
      <p:pic>
        <p:nvPicPr>
          <p:cNvPr descr="analysis_of_variance_lecture_files/figure-pptx/analysis-of-variance-0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is the most powerful approach known for simultaneously testing if the means of k groups are equal —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 is evidence that the mean of at least one group is different from the others — it does </a:t>
            </a:r>
            <a:r>
              <a:rPr b="1"/>
              <a:t>not</a:t>
            </a:r>
            <a:r>
              <a:rPr/>
              <a:t> indicate </a:t>
            </a:r>
            <a:r>
              <a:rPr i="1"/>
              <a:t>which</a:t>
            </a:r>
            <a:r>
              <a:rPr/>
              <a:t> means differ.</a:t>
            </a:r>
          </a:p>
        </p:txBody>
      </p:sp>
      <p:pic>
        <p:nvPicPr>
          <p:cNvPr descr="analysis_of_variance_lecture_files/figure-pptx/analysis-of-variance-05-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we can estimate how much variation among group means ought to be present from sampling error alone if H₀ is true. ANOVA lets us determine whether there is more variance among the sample means than expected by chance alone. If so, we infer real differences among the population means.</a:t>
                </a:r>
              </a:p>
              <a:p>
                <a:pPr lvl="0" indent="0" marL="0">
                  <a:buNone/>
                </a:pPr>
                <a:r>
                  <a:rPr/>
                  <a:t>Two key measures of variation are calculated and compared:</a:t>
                </a:r>
              </a:p>
              <a:p>
                <a:pPr lvl="0" indent="-342900" marL="342900">
                  <a:buAutoNum type="arabicPeriod"/>
                </a:pPr>
                <a:r>
                  <a:rPr b="1"/>
                  <a:t>Group mean square (</a:t>
                </a:r>
                <a14:m>
                  <m:oMath xmlns:m="http://schemas.openxmlformats.org/officeDocument/2006/math">
                    <m:r>
                      <m:t>M</m:t>
                    </m:r>
                    <m:sSub>
                      <m:e>
                        <m:r>
                          <m:t>S</m:t>
                        </m:r>
                      </m:e>
                      <m:sub>
                        <m:r>
                          <m:t>g</m:t>
                        </m:r>
                        <m:r>
                          <m:t>r</m:t>
                        </m:r>
                        <m:r>
                          <m:t>o</m:t>
                        </m:r>
                        <m:r>
                          <m:t>u</m:t>
                        </m:r>
                        <m:r>
                          <m:t>p</m:t>
                        </m:r>
                        <m:r>
                          <m:t>s</m:t>
                        </m:r>
                      </m:sub>
                    </m:sSub>
                  </m:oMath>
                </a14:m>
                <a:r>
                  <a:rPr b="1"/>
                  <a:t>)</a:t>
                </a:r>
                <a:r>
                  <a:rPr/>
                  <a:t> — variation among subjects from different groups</a:t>
                </a:r>
              </a:p>
              <a:p>
                <a:pPr lvl="0" indent="-342900" marL="342900">
                  <a:buAutoNum type="arabicPeriod"/>
                </a:pPr>
                <a:r>
                  <a:rPr b="1"/>
                  <a:t>Error mean square (</a:t>
                </a:r>
                <a14:m>
                  <m:oMath xmlns:m="http://schemas.openxmlformats.org/officeDocument/2006/math">
                    <m:r>
                      <m:t>M</m:t>
                    </m:r>
                    <m:sSub>
                      <m:e>
                        <m:r>
                          <m:t>S</m:t>
                        </m:r>
                      </m:e>
                      <m:sub>
                        <m:r>
                          <m:t>e</m:t>
                        </m:r>
                        <m:r>
                          <m:t>r</m:t>
                        </m:r>
                        <m:r>
                          <m:t>r</m:t>
                        </m:r>
                        <m:r>
                          <m:t>o</m:t>
                        </m:r>
                        <m:r>
                          <m:t>r</m:t>
                        </m:r>
                      </m:sub>
                    </m:sSub>
                  </m:oMath>
                </a14:m>
                <a:r>
                  <a:rPr b="1"/>
                  <a:t>)</a:t>
                </a:r>
                <a:r>
                  <a:rPr/>
                  <a:t> — variation among subjects within the same group</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analysis_of_variance_lecture_files/figure-pptx/analysis-of-variance-06-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Partitioning the Sum of Squares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m:oMathPara>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analysis_of_variance_lecture_files/figure-pptx/analysis-of-variance-07-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Worked Sum-of-Squares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Key connection to regression</a:t>
                </a:r>
              </a:p>
              <a:p>
                <a:pPr lvl="0" indent="0" marL="1270000">
                  <a:buNone/>
                </a:pPr>
                <a:r>
                  <a:rPr sz="2000"/>
                  <a:t>This is the same partitioning we saw in regression analysis:</a:t>
                </a:r>
              </a:p>
              <a:p>
                <a:pPr lvl="0" indent="0" marL="127000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m:oMathPara>
                </a14:m>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ANOVA Table</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 what is being tested</a:t>
            </a:r>
          </a:p>
          <a:p>
            <a:pPr lvl="0"/>
            <a:r>
              <a:rPr b="1"/>
              <a:t>Sum of squares</a:t>
            </a:r>
            <a:r>
              <a:rPr/>
              <a:t> — total variation for each source</a:t>
            </a:r>
          </a:p>
          <a:p>
            <a:pPr lvl="0"/>
            <a:r>
              <a:rPr b="1"/>
              <a:t>df</a:t>
            </a:r>
            <a:r>
              <a:rPr/>
              <a:t> — degrees of freedom for each source</a:t>
            </a:r>
          </a:p>
          <a:p>
            <a:pPr lvl="0"/>
            <a:r>
              <a:rPr b="1"/>
              <a:t>Mean squares</a:t>
            </a:r>
            <a:r>
              <a:rPr/>
              <a:t> — sum of squares divided by df</a:t>
            </a:r>
          </a:p>
          <a:p>
            <a:pPr lvl="0"/>
            <a:r>
              <a:rPr b="1"/>
              <a:t>F-ratio</a:t>
            </a:r>
            <a:r>
              <a:rPr/>
              <a:t> — ratio of mean squares, used to test significance</a:t>
            </a:r>
          </a:p>
          <a:p>
            <a:pPr lvl="0"/>
            <a:r>
              <a:rPr b="1"/>
              <a:t>P-value</a:t>
            </a:r>
            <a:r>
              <a:rPr/>
              <a:t> — probability of observing our results if H₀ is true</a:t>
            </a:r>
          </a:p>
          <a:p>
            <a:pPr lvl="0" indent="0" marL="0">
              <a:buNone/>
            </a:pPr>
            <a:r>
              <a:rPr b="1"/>
              <a:t>Example:</a:t>
            </a:r>
            <a:r>
              <a:rPr/>
              <a:t> for a one-way ANOVA with 3 groups and 4 replicates per group: df(treatments) = a − 1 = 2, df(error) = a(n − 1) = 3(4 − 1) = 9, df(total)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ANOVA and Regression Tables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ANOVA table:</a:t>
            </a:r>
          </a:p>
          <a:p>
            <a:pPr lvl="0" indent="0" marL="1270000">
              <a:buNone/>
            </a:pPr>
            <a:r>
              <a:rPr sz="2000" b="1"/>
              <a:t>Is equivalent to an ANOVA table from a regression model:</a:t>
            </a:r>
          </a:p>
          <a:p>
            <a:pPr lvl="0" indent="0" marL="1270000">
              <a:buNone/>
            </a:pPr>
            <a:r>
              <a:rPr sz="2000"/>
              <a:t>Where k = number of predictor/dummy variables = a − 1, and a = treatment groups/levels of factors.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The F-Ratio</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approximately 1</a:t>
                </a:r>
              </a:p>
              <a:p>
                <a:pPr lvl="0"/>
                <a:r>
                  <a:rPr/>
                  <a:t>Larger F-ratios suggest among-group variance exceeds what’s expected by chance</a:t>
                </a:r>
              </a:p>
              <a:p>
                <a:pPr lvl="0"/>
                <a:r>
                  <a:rPr/>
                  <a:t>With the circadian rhythm data: F = 7.29, p = 0.004 — we reject H₀</a:t>
                </a:r>
              </a:p>
              <a:p>
                <a:pPr lvl="0"/>
                <a:r>
                  <a:rPr/>
                  <a:t>The F-ratio follows an F-distribution with (a − 1) and a(n − 1) df</a:t>
                </a:r>
              </a:p>
              <a:p>
                <a:pPr lvl="0" indent="0">
                  <a:buNone/>
                </a:pPr>
                <a:r>
                  <a:rPr>
                    <a:latin typeface="Courier"/>
                  </a:rPr>
                  <a:t># A tibble: 2 × 2
  Metric                    Value
  &lt;chr&gt;                     &lt;dbl&gt;
1 F-observed                 7.29
2 F-critical (alpha = 0.05)  3.52</a:t>
                </a:r>
              </a:p>
            </p:txBody>
          </p:sp>
        </mc:Choice>
      </mc:AlternateContent>
      <p:pic>
        <p:nvPicPr>
          <p:cNvPr descr="analysis_of_variance_lecture_files/figure-pptx/analysis-of-variance-11-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an F-Test to a T-Test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An ANOVA with two groups (a = 2) is equivalent to a t-test — why F = t²? Both test the same hypothesis: are the means of two groups different?</a:t>
                </a:r>
              </a:p>
              <a:p>
                <a:pPr lvl="0"/>
                <a:r>
                  <a:rPr b="1"/>
                  <a:t>The t-statistic:</a:t>
                </a:r>
                <a:r>
                  <a:rPr/>
                  <a:t>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t>d</m:t>
                            </m:r>
                            <m:r>
                              <m:t>i</m:t>
                            </m:r>
                            <m:r>
                              <m:t>f</m:t>
                            </m:r>
                            <m:r>
                              <m:t>f</m:t>
                            </m:r>
                            <m:r>
                              <m:t>e</m:t>
                            </m:r>
                            <m:r>
                              <m:t>r</m:t>
                            </m:r>
                            <m:r>
                              <m:t>e</m:t>
                            </m:r>
                            <m:r>
                              <m:t>n</m:t>
                            </m:r>
                            <m:r>
                              <m:t>c</m:t>
                            </m:r>
                            <m:r>
                              <m:t>e</m:t>
                            </m:r>
                          </m:sub>
                        </m:sSub>
                      </m:den>
                    </m:f>
                  </m:oMath>
                </a14:m>
                <a:r>
                  <a:rPr/>
                  <a:t> — measures how many standard errors apart the two means are, and can be + or −</a:t>
                </a:r>
              </a:p>
              <a:p>
                <a:pPr lvl="0"/>
                <a:r>
                  <a:rPr b="1"/>
                  <a:t>The F-statistic:</a:t>
                </a:r>
                <a:r>
                  <a:rPr/>
                  <a:t> </a:t>
                </a:r>
                <a14:m>
                  <m:oMath xmlns:m="http://schemas.openxmlformats.org/officeDocument/2006/math">
                    <m:r>
                      <m:t>F</m:t>
                    </m:r>
                    <m:r>
                      <m:rPr>
                        <m:sty m:val="p"/>
                      </m:rPr>
                      <m:t>=</m:t>
                    </m:r>
                    <m:f>
                      <m:fPr>
                        <m:type m:val="bar"/>
                      </m:fPr>
                      <m:num>
                        <m:r>
                          <m:t>M</m:t>
                        </m:r>
                        <m:sSub>
                          <m:e>
                            <m:r>
                              <m:t>S</m:t>
                            </m:r>
                          </m:e>
                          <m:sub>
                            <m:r>
                              <m:t>B</m:t>
                            </m:r>
                          </m:sub>
                        </m:sSub>
                      </m:num>
                      <m:den>
                        <m:r>
                          <m:t>M</m:t>
                        </m:r>
                        <m:sSub>
                          <m:e>
                            <m:r>
                              <m:t>S</m:t>
                            </m:r>
                          </m:e>
                          <m:sub>
                            <m:r>
                              <m:t>W</m:t>
                            </m:r>
                          </m:sub>
                        </m:sSub>
                      </m:den>
                    </m:f>
                  </m:oMath>
                </a14:m>
                <a:r>
                  <a:rPr/>
                  <a:t> — the ratio of variance </a:t>
                </a:r>
                <a:r>
                  <a:rPr i="1"/>
                  <a:t>between</a:t>
                </a:r>
                <a:r>
                  <a:rPr/>
                  <a:t> groups to variance </a:t>
                </a:r>
                <a:r>
                  <a:rPr i="1"/>
                  <a:t>within</a:t>
                </a:r>
                <a:r>
                  <a:rPr/>
                  <a:t> groups</a:t>
                </a:r>
              </a:p>
              <a:p>
                <a:pPr lvl="0"/>
                <a:r>
                  <a:rPr/>
                  <a:t>Unlike t, F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The mathematical connection:</a:t>
                </a:r>
              </a:p>
              <a:p>
                <a:pPr lvl="0"/>
                <a:r>
                  <a:rPr/>
                  <a:t>Both measure the same signal-to-noise ratio — numerators capture the difference between groups (signal), denominators capture variability within groups (noise)</a:t>
                </a:r>
              </a:p>
              <a:p>
                <a:pPr lvl="0"/>
                <a:r>
                  <a:rPr/>
                  <a:t>With two groups: </a:t>
                </a:r>
                <a14:m>
                  <m:oMath xmlns:m="http://schemas.openxmlformats.org/officeDocument/2006/math">
                    <m:r>
                      <m:t>M</m:t>
                    </m:r>
                    <m:sSub>
                      <m:e>
                        <m:r>
                          <m:t>S</m:t>
                        </m:r>
                      </m:e>
                      <m:sub>
                        <m:r>
                          <m:t>B</m:t>
                        </m:r>
                      </m:sub>
                    </m:sSub>
                  </m:oMath>
                </a14:m>
                <a:r>
                  <a:rPr/>
                  <a:t> relates directly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r>
                  <a:rPr/>
                  <a:t>, and </a:t>
                </a:r>
                <a14:m>
                  <m:oMath xmlns:m="http://schemas.openxmlformats.org/officeDocument/2006/math">
                    <m:r>
                      <m:t>M</m:t>
                    </m:r>
                    <m:sSub>
                      <m:e>
                        <m:r>
                          <m:t>S</m:t>
                        </m:r>
                      </m:e>
                      <m:sub>
                        <m:r>
                          <m:t>W</m:t>
                        </m:r>
                      </m:sub>
                    </m:sSub>
                  </m:oMath>
                </a14:m>
                <a:r>
                  <a:rPr/>
                  <a:t> relates to the pooled variance</a:t>
                </a:r>
              </a:p>
              <a:p>
                <a:pPr lvl="0"/>
                <a:r>
                  <a:rPr b="1"/>
                  <a:t>Degrees of freedom match up too:</a:t>
                </a:r>
                <a:r>
                  <a:rPr/>
                  <a:t> t-test df = n₁ + n₂ − 2; F-test df₁ = 1 (numerator), df₂ = n₁ + n₂ − 2 (denominator)</a:t>
                </a:r>
              </a:p>
              <a:p>
                <a:pPr lvl="0"/>
                <a:r>
                  <a:rPr/>
                  <a:t>An F-distribution with df₁ = 1 is the square of a t-distribution with df₂</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Why This Matters — ANOVA Generalizes the T-Test</a:t>
            </a:r>
          </a:p>
        </p:txBody>
      </p:sp>
      <p:sp>
        <p:nvSpPr>
          <p:cNvPr id="3" name="Content Placeholder 2"/>
          <p:cNvSpPr>
            <a:spLocks noGrp="1"/>
          </p:cNvSpPr>
          <p:nvPr>
            <p:ph idx="1" sz="half"/>
          </p:nvPr>
        </p:nvSpPr>
        <p:spPr/>
        <p:txBody>
          <a:bodyPr/>
          <a:lstStyle/>
          <a:p>
            <a:pPr lvl="0"/>
            <a:r>
              <a:rPr/>
              <a:t>Shows ANOVA is actually a </a:t>
            </a:r>
            <a:r>
              <a:rPr i="1"/>
              <a:t>generalization</a:t>
            </a:r>
            <a:r>
              <a:rPr/>
              <a:t> of the t-test</a:t>
            </a:r>
          </a:p>
          <a:p>
            <a:pPr lvl="0"/>
            <a:r>
              <a:rPr/>
              <a:t>When a = 2, you get the same result either way</a:t>
            </a:r>
          </a:p>
          <a:p>
            <a:pPr lvl="0"/>
            <a:r>
              <a:rPr/>
              <a:t>But ANOVA extends naturally to comparing three or more groups — you can’t do that directly with a t-test without running into multiple-comparison problems</a:t>
            </a:r>
          </a:p>
        </p:txBody>
      </p:sp>
      <p:sp>
        <p:nvSpPr>
          <p:cNvPr id="4" name="Content Placeholder 3"/>
          <p:cNvSpPr>
            <a:spLocks noGrp="1"/>
          </p:cNvSpPr>
          <p:nvPr>
            <p:ph idx="2" sz="half"/>
          </p:nvPr>
        </p:nvSpPr>
        <p:spPr/>
        <p:txBody>
          <a:bodyPr/>
          <a:lstStyle/>
          <a:p>
            <a:pPr lvl="0" indent="0">
              <a:buNone/>
            </a:pPr>
            <a:r>
              <a:rPr>
                <a:latin typeface="Courier"/>
              </a:rPr>
              <a:t>Using circ_data (Control vs Knees groups):
 t-statistic: 0.0741 
 t^2: 0.0055 
 F-statistic: 0.0055 
 Difference (should be ~0): 0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F-Ratio, Confirmed on the Full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 1</a:t>
                </a:r>
              </a:p>
              <a:p>
                <a:pPr lvl="0"/>
                <a:r>
                  <a:rPr/>
                  <a:t>Larger F-ratios suggest among-group variance exceeds chance</a:t>
                </a:r>
              </a:p>
              <a:p>
                <a:pPr lvl="0"/>
                <a:r>
                  <a:rPr/>
                  <a:t>With the circadian rhythm data: F₂,₁₉ = 7.29, p = 0.004 — we reject H₀</a:t>
                </a:r>
              </a:p>
              <a:p>
                <a:pPr lvl="0"/>
                <a:r>
                  <a:rPr/>
                  <a:t>The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analysis_of_variance_lecture_files/figure-pptx/analysis-of-variance-1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Variance Explained — R²</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Variance Explained: R²</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 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unexplained.</a:t>
                </a:r>
              </a:p>
              <a:p>
                <a:pPr lvl="0" indent="0" marL="0">
                  <a:buNone/>
                </a:pPr>
                <a:r>
                  <a:rPr b="1"/>
                  <a:t>Connection to regression:</a:t>
                </a:r>
                <a:r>
                  <a:rPr/>
                  <a:t> this is exactly the same calculation as R² in regression, </a:t>
                </a:r>
                <a14:m>
                  <m:oMath xmlns:m="http://schemas.openxmlformats.org/officeDocument/2006/math">
                    <m:sSup>
                      <m:e>
                        <m:r>
                          <m:t>R</m:t>
                        </m:r>
                      </m:e>
                      <m:sup>
                        <m:r>
                          <m:t>2</m:t>
                        </m:r>
                      </m:sup>
                    </m:sSup>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t</m:t>
                        </m:r>
                        <m:r>
                          <m:t>o</m:t>
                        </m:r>
                        <m:r>
                          <m:t>t</m:t>
                        </m:r>
                        <m:r>
                          <m:t>a</m:t>
                        </m:r>
                        <m:r>
                          <m:t>l</m:t>
                        </m:r>
                      </m:sub>
                    </m:sSub>
                  </m:oMath>
                </a14:m>
                <a:r>
                  <a:rPr/>
                  <a:t>.</a:t>
                </a:r>
              </a:p>
            </p:txBody>
          </p:sp>
        </mc:Choice>
      </mc:AlternateContent>
      <p:pic>
        <p:nvPicPr>
          <p:cNvPr descr="analysis_of_variance_lecture_files/figure-pptx/analysis-of-variance-15-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Assumptions and Diagnostics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ANOVA has the same assumptions as the two-sample t-test, but applied to all k groups:</a:t>
            </a:r>
          </a:p>
          <a:p>
            <a:pPr lvl="0"/>
            <a:r>
              <a:rPr b="1"/>
              <a:t>Random samples</a:t>
            </a:r>
            <a:r>
              <a:rPr/>
              <a:t> from corresponding populations</a:t>
            </a:r>
          </a:p>
          <a:p>
            <a:pPr lvl="0"/>
            <a:r>
              <a:rPr b="1"/>
              <a:t>Normality</a:t>
            </a:r>
            <a:r>
              <a:rPr/>
              <a:t> — Y values are normally distributed in each population</a:t>
            </a:r>
          </a:p>
          <a:p>
            <a:pPr lvl="0"/>
            <a:r>
              <a:rPr b="1"/>
              <a:t>Homogeneity of variance</a:t>
            </a:r>
            <a:r>
              <a:rPr/>
              <a:t> — variance is the same in all populations</a:t>
            </a:r>
          </a:p>
          <a:p>
            <a:pPr lvl="0"/>
            <a:r>
              <a:rPr b="1"/>
              <a:t>Independence</a:t>
            </a:r>
            <a:r>
              <a:rPr/>
              <a:t> — observations are independent</a:t>
            </a:r>
          </a:p>
        </p:txBody>
      </p:sp>
      <p:sp>
        <p:nvSpPr>
          <p:cNvPr id="4" name="Content Placeholder 3"/>
          <p:cNvSpPr>
            <a:spLocks noGrp="1"/>
          </p:cNvSpPr>
          <p:nvPr>
            <p:ph idx="2" sz="half"/>
          </p:nvPr>
        </p:nvSpPr>
        <p:spPr/>
        <p:txBody>
          <a:bodyPr/>
          <a:lstStyle/>
          <a:p>
            <a:pPr lvl="0" indent="0" marL="0">
              <a:buNone/>
            </a:pPr>
            <a:r>
              <a:rPr b="1"/>
              <a:t>Checking assumptions:</a:t>
            </a:r>
          </a:p>
          <a:p>
            <a:pPr lvl="0"/>
            <a:r>
              <a:rPr/>
              <a:t>Normality: QQ plots, histogram of residuals, Shapiro-Wilk test</a:t>
            </a:r>
          </a:p>
          <a:p>
            <a:pPr lvl="0"/>
            <a:r>
              <a:rPr/>
              <a:t>Homogeneity: plot residuals vs. predicted values or x-values</a:t>
            </a:r>
          </a:p>
          <a:p>
            <a:pPr lvl="0"/>
            <a:r>
              <a:rPr/>
              <a:t>Independence: examine the experimental design</a:t>
            </a:r>
          </a:p>
          <a:p>
            <a:pPr lvl="0" indent="0" marL="0">
              <a:buNone/>
            </a:pPr>
            <a:r>
              <a:rPr b="1"/>
              <a:t>If assumptions are violated:</a:t>
            </a:r>
            <a:r>
              <a:rPr/>
              <a:t> transform Y (e.g., log, square root), use robust or non-parametric alternatives, or use generalized linear models (GLMs).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Four Standard Diagnostic Plots</a:t>
            </a:r>
          </a:p>
        </p:txBody>
      </p:sp>
      <p:pic>
        <p:nvPicPr>
          <p:cNvPr descr="analysis_of_variance_lecture_files/figure-pptx/analysis-of-variance-16-1.png" id="0" name="Picture 1"/>
          <p:cNvPicPr>
            <a:picLocks noGrp="1" noChangeAspect="1"/>
          </p:cNvPicPr>
          <p:nvPr/>
        </p:nvPicPr>
        <p:blipFill>
          <a:blip r:embed="rId2"/>
          <a:stretch>
            <a:fillRect/>
          </a:stretch>
        </p:blipFill>
        <p:spPr bwMode="auto">
          <a:xfrm>
            <a:off x="762000" y="660400"/>
            <a:ext cx="4470400" cy="4470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These are the same four diagnostic views R gives you automatically from </a:t>
            </a:r>
            <a:r>
              <a:rPr sz="2000">
                <a:latin typeface="Courier"/>
              </a:rPr>
              <a:t>plot(model)</a:t>
            </a:r>
            <a:r>
              <a:rPr sz="2000"/>
              <a:t> — here built by hand with </a:t>
            </a:r>
            <a:r>
              <a:rPr sz="2000">
                <a:latin typeface="Courier"/>
              </a:rPr>
              <a:t>ggplot2</a:t>
            </a:r>
            <a:r>
              <a:rPr sz="2000"/>
              <a:t> + </a:t>
            </a:r>
            <a:r>
              <a:rPr sz="2000">
                <a:latin typeface="Courier"/>
              </a:rPr>
              <a:t>broom::fortify()</a:t>
            </a:r>
            <a:r>
              <a:rPr sz="2000"/>
              <a:t> so we can style them consistently.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Newer Way to Check — the </a:t>
            </a:r>
            <a:r>
              <a:rPr>
                <a:latin typeface="Courier"/>
              </a:rPr>
              <a:t>performance</a:t>
            </a:r>
            <a:r>
              <a:rPr/>
              <a:t> Package</a:t>
            </a:r>
          </a:p>
        </p:txBody>
      </p:sp>
      <p:pic>
        <p:nvPicPr>
          <p:cNvPr descr="diagnostics_2.png" id="0" name="Picture 1"/>
          <p:cNvPicPr>
            <a:picLocks noGrp="1" noChangeAspect="1"/>
          </p:cNvPicPr>
          <p:nvPr/>
        </p:nvPicPr>
        <p:blipFill>
          <a:blip r:embed="rId2"/>
          <a:stretch>
            <a:fillRect/>
          </a:stretch>
        </p:blipFill>
        <p:spPr bwMode="auto">
          <a:xfrm>
            <a:off x="685800" y="660400"/>
            <a:ext cx="4622800" cy="3962400"/>
          </a:xfrm>
          <a:prstGeom prst="rect">
            <a:avLst/>
          </a:prstGeom>
          <a:noFill/>
          <a:ln w="9525">
            <a:noFill/>
            <a:headEnd/>
            <a:tailEnd/>
          </a:ln>
        </p:spPr>
      </p:pic>
      <p:sp>
        <p:nvSpPr>
          <p:cNvPr id="1" name="TextBox 3"/>
          <p:cNvSpPr txBox="1"/>
          <p:nvPr>
            <p:ph idx="1"/>
          </p:nvPr>
        </p:nvSpPr>
        <p:spPr>
          <a:xfrm>
            <a:off x="0" y="4622800"/>
            <a:ext cx="6007100" cy="508000"/>
          </a:xfrm>
          <a:prstGeom prst="rect">
            <a:avLst/>
          </a:prstGeom>
          <a:noFill/>
        </p:spPr>
        <p:txBody>
          <a:bodyPr/>
          <a:lstStyle/>
          <a:p>
            <a:pPr lvl="0" indent="0" marL="0" algn="ctr">
              <a:buNone/>
            </a:pPr>
            <a:r>
              <a:rPr/>
              <a:t>Multi-panel model diagnostic figure generated by performance::check_model(), including residual, normality, homogeneity of variance, and collinearity panels with built-in reference bands.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latin typeface="Courier"/>
              </a:rPr>
              <a:t>check_model()</a:t>
            </a:r>
            <a:r>
              <a:rPr sz="2000"/>
              <a:t> from the </a:t>
            </a:r>
            <a:r>
              <a:rPr sz="2000">
                <a:latin typeface="Courier"/>
              </a:rPr>
              <a:t>performance</a:t>
            </a:r>
            <a:r>
              <a:rPr sz="2000"/>
              <a:t> package builds all the standard diagnostic panels — plus a few extra (e.g., collinearity) — in one call, with built-in guidance on what “good” looks like for each panel.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a:t>
            </a:r>
          </a:p>
        </p:txBody>
      </p:sp>
      <p:sp>
        <p:nvSpPr>
          <p:cNvPr id="3" name="Content Placeholder 2"/>
          <p:cNvSpPr>
            <a:spLocks noGrp="1"/>
          </p:cNvSpPr>
          <p:nvPr>
            <p:ph idx="1" sz="half"/>
          </p:nvPr>
        </p:nvSpPr>
        <p:spPr/>
        <p:txBody>
          <a:bodyPr/>
          <a:lstStyle/>
          <a:p>
            <a:pPr lvl="0" indent="0" marL="0">
              <a:buNone/>
            </a:pPr>
            <a:r>
              <a:rPr/>
              <a:t>Levene’s test of homogeneity of variance.</a:t>
            </a:r>
          </a:p>
          <a:p>
            <a:pPr lvl="0"/>
            <a:r>
              <a:rPr/>
              <a:t>Null hypothesis: variances are homogeneous</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Levene's Test for Homogeneity of Variance (center = median)
      Df F value Pr(&gt;F)
group  2  0.1586 0.8545
      19               </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Shapiro-Wilk Test</a:t>
            </a:r>
          </a:p>
        </p:txBody>
      </p:sp>
      <p:sp>
        <p:nvSpPr>
          <p:cNvPr id="3" name="Content Placeholder 2"/>
          <p:cNvSpPr>
            <a:spLocks noGrp="1"/>
          </p:cNvSpPr>
          <p:nvPr>
            <p:ph idx="1" sz="half"/>
          </p:nvPr>
        </p:nvSpPr>
        <p:spPr/>
        <p:txBody>
          <a:bodyPr/>
          <a:lstStyle/>
          <a:p>
            <a:pPr lvl="0" indent="0" marL="0">
              <a:buNone/>
            </a:pPr>
            <a:r>
              <a:rPr/>
              <a:t>Shapiro-Wilk normality test.</a:t>
            </a:r>
          </a:p>
          <a:p>
            <a:pPr lvl="0"/>
            <a:r>
              <a:rPr/>
              <a:t>Null hypothesis: the data are normally distributed</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residuals(circ_model)
W = 0.95893, p-value = 0.468</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Shared Assumptions with Regression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ANOVA and regression share virtually identical assumptions, because they are both linear models: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Post-Hoc Testing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Post-Hoc Testing —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 Sidak</a:t>
            </a:r>
          </a:p>
          <a:p>
            <a:pPr lvl="0"/>
            <a:r>
              <a:rPr b="1"/>
              <a:t>Planned comparisons:</a:t>
            </a:r>
            <a:r>
              <a:rPr/>
              <a:t> have strong prior justification, use pooled variance from all groups, have higher precision than separate t-tests</a:t>
            </a:r>
          </a:p>
          <a:p>
            <a:pPr lvl="0"/>
            <a:r>
              <a:rPr b="1"/>
              <a:t>Example:</a:t>
            </a:r>
            <a:r>
              <a:rPr/>
              <a:t>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Testing — Planned Comparisons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a:t>
            </a:r>
          </a:p>
          <a:p>
            <a:pPr lvl="0"/>
            <a:r>
              <a:rPr b="1"/>
              <a:t>Planned comparisons:</a:t>
            </a:r>
            <a:r>
              <a:rPr/>
              <a:t> have strong prior justification, use pooled variance from all groups, have higher precision than separate t-tests</a:t>
            </a:r>
          </a:p>
          <a:p>
            <a:pPr lvl="0"/>
            <a:r>
              <a:rPr b="1"/>
              <a:t>Example:</a:t>
            </a:r>
            <a:r>
              <a:rPr/>
              <a:t> using Tukey’s HSD to compare all pairs of treatments</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b="1"/>
              <a:t>The main post-hoc tests:</a:t>
            </a:r>
          </a:p>
          <a:p>
            <a:pPr lvl="0"/>
            <a:r>
              <a:rPr b="1"/>
              <a:t>Tukey-Kramer (HSD):</a:t>
            </a:r>
            <a:r>
              <a:rPr/>
              <a:t> compares all possible pairs of group means, controls family-wise error rate, most powerful when comparing ALL pairwise combinations</a:t>
            </a:r>
          </a:p>
          <a:p>
            <a:pPr lvl="0"/>
            <a:r>
              <a:rPr b="1"/>
              <a:t>Bonferroni:</a:t>
            </a:r>
            <a:r>
              <a:rPr/>
              <a:t> adjusts α by dividing by the number of comparisons (α/k); very conservative; best for a small number of </a:t>
            </a:r>
            <a:r>
              <a:rPr i="1"/>
              <a:t>planned</a:t>
            </a:r>
            <a:r>
              <a:rPr/>
              <a:t> comparisons</a:t>
            </a:r>
          </a:p>
          <a:p>
            <a:pPr lvl="0"/>
            <a:r>
              <a:rPr b="1"/>
              <a:t>Sidak:</a:t>
            </a:r>
            <a:r>
              <a:rPr/>
              <a:t> similar to Bonferroni but slightly less conservative: 1−(1−α)^(1/k); gives slightly more power</a:t>
            </a:r>
          </a:p>
          <a:p>
            <a:pPr lvl="0"/>
            <a:r>
              <a:rPr b="1"/>
              <a:t>Dunnett’s Test:</a:t>
            </a:r>
            <a:r>
              <a:rPr/>
              <a:t> specifically for comparing treatment groups to a control; more powerful than the others for that specific job</a:t>
            </a:r>
          </a:p>
          <a:p>
            <a:pPr lvl="0" indent="0" marL="0">
              <a:buNone/>
            </a:pPr>
            <a:r>
              <a:rPr/>
              <a:t>The key tradeoff is between power (detecting real differences) and Type I error control (avoiding false positives). More conservative tests give better error control but less power.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003B4F"/>
                </a:solidFill>
                <a:latin typeface="Courier"/>
              </a:rPr>
              <a:t>all_methods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analysis-of-variance-23-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analysis-of-variance-24-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Reporting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ANOVA Results</a:t>
            </a:r>
          </a:p>
        </p:txBody>
      </p:sp>
      <p:sp>
        <p:nvSpPr>
          <p:cNvPr id="3" name="Content Placeholder 2"/>
          <p:cNvSpPr>
            <a:spLocks noGrp="1"/>
          </p:cNvSpPr>
          <p:nvPr>
            <p:ph idx="1" sz="half"/>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Key ANOVA principles</a:t>
                </a:r>
              </a:p>
              <a:p>
                <a:pPr lvl="0" indent="-342900" marL="342900">
                  <a:buAutoNum type="arabicPeriod"/>
                </a:pPr>
                <a:r>
                  <a:rPr sz="2000"/>
                  <a:t>Compares means across multiple groups simultaneously</a:t>
                </a:r>
              </a:p>
              <a:p>
                <a:pPr lvl="0" indent="-342900" marL="342900">
                  <a:buAutoNum type="arabicPeriod"/>
                </a:pPr>
                <a:r>
                  <a:rPr sz="2000"/>
                  <a:t>Both ANOVA and regression are special cases of the General Linear Model — ANOVA with categorical predictors = regression with dummy variables</a:t>
                </a:r>
              </a:p>
              <a:p>
                <a:pPr lvl="0" indent="-342900" marL="342900">
                  <a:buAutoNum type="arabicPeriod"/>
                </a:pPr>
                <a:r>
                  <a:rPr sz="2000"/>
                  <a:t>Both partition variance into explained and unexplained components: </a:t>
                </a:r>
                <a14:m>
                  <m:oMath xmlns:m="http://schemas.openxmlformats.org/officeDocument/2006/math">
                    <m:r>
                      <m:t>S</m:t>
                    </m:r>
                    <m:sSub>
                      <m:e>
                        <m:r>
                          <m:t>S</m:t>
                        </m:r>
                      </m:e>
                      <m:sub>
                        <m:r>
                          <m:t>T</m:t>
                        </m:r>
                        <m:r>
                          <m:t>o</m:t>
                        </m:r>
                        <m:r>
                          <m:t>t</m:t>
                        </m:r>
                        <m:r>
                          <m:t>a</m:t>
                        </m:r>
                        <m:r>
                          <m:t>l</m:t>
                        </m:r>
                      </m:sub>
                    </m:sSub>
                    <m:r>
                      <m:rPr>
                        <m:sty m:val="p"/>
                      </m:rPr>
                      <m:t>=</m:t>
                    </m:r>
                    <m:r>
                      <m:t>S</m:t>
                    </m:r>
                    <m:sSub>
                      <m:e>
                        <m:r>
                          <m:t>S</m:t>
                        </m:r>
                      </m:e>
                      <m:sub>
                        <m:r>
                          <m:t>B</m:t>
                        </m:r>
                        <m:r>
                          <m:t>e</m:t>
                        </m:r>
                        <m:r>
                          <m:t>t</m:t>
                        </m:r>
                        <m:r>
                          <m:t>w</m:t>
                        </m:r>
                        <m:r>
                          <m:t>e</m:t>
                        </m:r>
                        <m:r>
                          <m:t>e</m:t>
                        </m:r>
                        <m:r>
                          <m:t>n</m:t>
                        </m:r>
                      </m:sub>
                    </m:sSub>
                    <m:r>
                      <m:rPr>
                        <m:sty m:val="p"/>
                      </m:rPr>
                      <m:t>+</m:t>
                    </m:r>
                    <m:r>
                      <m:t>S</m:t>
                    </m:r>
                    <m:sSub>
                      <m:e>
                        <m:r>
                          <m:t>S</m:t>
                        </m:r>
                      </m:e>
                      <m:sub>
                        <m:r>
                          <m:t>W</m:t>
                        </m:r>
                        <m:r>
                          <m:t>i</m:t>
                        </m:r>
                        <m:r>
                          <m:t>t</m:t>
                        </m:r>
                        <m:r>
                          <m:t>h</m:t>
                        </m:r>
                        <m:r>
                          <m:t>i</m:t>
                        </m:r>
                        <m:r>
                          <m:t>n</m:t>
                        </m:r>
                      </m:sub>
                    </m:sSub>
                  </m:oMath>
                </a14:m>
              </a:p>
              <a:p>
                <a:pPr lvl="0" indent="-342900" marL="342900">
                  <a:buAutoNum type="arabicPeriod"/>
                </a:pPr>
                <a:r>
                  <a:rPr sz="2000"/>
                  <a:t>Fixed effects target specific groups of interest (most common); random effects sample from a larger population</a:t>
                </a:r>
              </a:p>
            </p:txBody>
          </p:sp>
        </mc:Choice>
      </mc:AlternateContent>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Non-Parametric Alternatives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buNone/>
            </a:pPr>
            <a:r>
              <a:rPr b="1"/>
              <a:t>Common non-parametric alternatives to ANOVA</a:t>
            </a:r>
            <a:r>
              <a:rPr/>
              <a:t> — these make fewer assumptions about the data distribution.</a:t>
            </a:r>
          </a:p>
          <a:p>
            <a:pPr lvl="0" indent="-342900" marL="342900">
              <a:buAutoNum type="arabicPeriod"/>
            </a:pPr>
            <a:r>
              <a:rPr b="1"/>
              <a:t>Kruskal-Wallis test</a:t>
            </a:r>
            <a:r>
              <a:rPr/>
              <a:t> — non-parametric alternative to one-way ANOVA; tests for differences in median ranks; works with ordinal or continuous data. Assumptions: independent observations, similar distribution shapes</a:t>
            </a:r>
          </a:p>
          <a:p>
            <a:pPr lvl="0" indent="-342900" marL="342900">
              <a:buAutoNum type="arabicPeriod"/>
            </a:pPr>
            <a:r>
              <a:rPr b="1"/>
              <a:t>Mood’s median test</a:t>
            </a:r>
            <a:r>
              <a:rPr/>
              <a:t> (not covered here) — tests whether medians differ across groups; more robust but less powerful than Kruskal-Wallis; good for highly skewed data</a:t>
            </a:r>
          </a:p>
        </p:txBody>
      </p:sp>
      <p:sp>
        <p:nvSpPr>
          <p:cNvPr id="4" name="Content Placeholder 3"/>
          <p:cNvSpPr>
            <a:spLocks noGrp="1"/>
          </p:cNvSpPr>
          <p:nvPr>
            <p:ph idx="2" sz="half"/>
          </p:nvPr>
        </p:nvSpPr>
        <p:spPr/>
        <p:txBody>
          <a:bodyPr/>
          <a:lstStyle/>
          <a:p>
            <a:pPr lvl="0" indent="0" marL="0">
              <a:buNone/>
            </a:pPr>
            <a:r>
              <a:rPr b="1"/>
              <a:t>When to use non-parametric tests:</a:t>
            </a:r>
          </a:p>
          <a:p>
            <a:pPr lvl="0"/>
            <a:r>
              <a:rPr/>
              <a:t>Small sample sizes</a:t>
            </a:r>
          </a:p>
          <a:p>
            <a:pPr lvl="0"/>
            <a:r>
              <a:rPr/>
              <a:t>Heavily skewed data</a:t>
            </a:r>
          </a:p>
          <a:p>
            <a:pPr lvl="0"/>
            <a:r>
              <a:rPr/>
              <a:t>Legitimate outliers present</a:t>
            </a:r>
          </a:p>
          <a:p>
            <a:pPr lvl="0"/>
            <a:r>
              <a:rPr/>
              <a:t>Very unequal variances</a:t>
            </a:r>
          </a:p>
          <a:p>
            <a:pPr lvl="0"/>
            <a:r>
              <a:rPr/>
              <a:t>Ordinal (ranked) data</a:t>
            </a:r>
          </a:p>
          <a:p>
            <a:pPr lvl="0"/>
            <a:r>
              <a:rPr/>
              <a:t>Assumption checks clearly fail</a:t>
            </a:r>
          </a:p>
          <a:p>
            <a:pPr lvl="0" indent="0" marL="0">
              <a:buNone/>
            </a:pPr>
            <a:r>
              <a:rPr b="1"/>
              <a:t>Trade-offs:</a:t>
            </a:r>
            <a:r>
              <a:rPr/>
              <a:t> fewer assumptions and more robust to outliers, but less statistical power and testing medians/ranks rather than means.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Kruskal-Wallis H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most common non-parametric alternative to one-way ANOVA.</a:t>
                </a:r>
              </a:p>
              <a:p>
                <a:pPr lvl="0" indent="0" marL="0">
                  <a:buNone/>
                </a:pPr>
                <a:r>
                  <a:rPr b="1"/>
                  <a:t>What it does:</a:t>
                </a:r>
                <a:r>
                  <a:rPr/>
                  <a:t> ranks all observations from smallest to largest, compares the sum of ranks between groups, tests if groups come from the same distribution.</a:t>
                </a:r>
              </a:p>
              <a:p>
                <a:pPr lvl="0" indent="0" marL="0">
                  <a:buNone/>
                </a:pPr>
                <a:r>
                  <a:rPr b="1"/>
                  <a:t>Hypotheses:</a:t>
                </a:r>
                <a:r>
                  <a:rPr/>
                  <a:t> H₀ — all groups have the same distribution (same median); H₁ — at least one group differs.</a:t>
                </a:r>
              </a:p>
              <a:p>
                <a:pPr lvl="0" indent="0" marL="0">
                  <a:buNone/>
                </a:pPr>
                <a:r>
                  <a:rPr b="1"/>
                  <a:t>Test statistic:</a:t>
                </a:r>
              </a:p>
              <a:p>
                <a:pPr lvl="0" indent="0" marL="0">
                  <a:buNone/>
                </a:pPr>
                <a14:m>
                  <m:oMathPara xmlns:m="http://schemas.openxmlformats.org/officeDocument/2006/math">
                    <m:oMathParaPr>
                      <m:jc m:val="center"/>
                    </m:oMathParaPr>
                    <m:o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m:oMathPara>
                </a14:m>
              </a:p>
              <a:p>
                <a:pPr lvl="0" indent="0" marL="0">
                  <a:buNone/>
                </a:pPr>
                <a:r>
                  <a:rPr/>
                  <a:t>Where N = total sample size, k = number of groups, </a:t>
                </a:r>
                <a14:m>
                  <m:oMath xmlns:m="http://schemas.openxmlformats.org/officeDocument/2006/math">
                    <m:sSub>
                      <m:e>
                        <m:acc>
                          <m:accPr>
                            <m:chr m:val="‾"/>
                          </m:accPr>
                          <m:e>
                            <m:r>
                              <m:t>R</m:t>
                            </m:r>
                          </m:e>
                        </m:acc>
                      </m:e>
                      <m:sub>
                        <m:r>
                          <m:t>i</m:t>
                        </m:r>
                      </m:sub>
                    </m:sSub>
                  </m:oMath>
                </a14:m>
                <a:r>
                  <a:rPr/>
                  <a:t> = mean rank for group i, </a:t>
                </a:r>
                <a14:m>
                  <m:oMath xmlns:m="http://schemas.openxmlformats.org/officeDocument/2006/math">
                    <m:acc>
                      <m:accPr>
                        <m:chr m:val="‾"/>
                      </m:accPr>
                      <m:e>
                        <m:r>
                          <m:t>R</m:t>
                        </m:r>
                      </m:e>
                    </m:acc>
                  </m:oMath>
                </a14:m>
                <a:r>
                  <a:rPr/>
                  <a:t> = overall mean rank = (N+1)/2, nᵢ = sample size for group i. Distribution approximated by χ² with (k−1) df.</a:t>
                </a:r>
              </a:p>
            </p:txBody>
          </p:sp>
        </mc:Choice>
      </mc:AlternateContent>
      <p:sp>
        <p:nvSpPr>
          <p:cNvPr id="4" name="Content Placeholder 3"/>
          <p:cNvSpPr>
            <a:spLocks noGrp="1"/>
          </p:cNvSpPr>
          <p:nvPr>
            <p:ph idx="2" sz="half"/>
          </p:nvPr>
        </p:nvSpPr>
        <p:spPr/>
        <p:txBody>
          <a:bodyPr/>
          <a:lstStyle/>
          <a:p>
            <a:pPr lvl="0" indent="0" marL="0">
              <a:buNone/>
            </a:pPr>
            <a:r>
              <a:rPr b="1"/>
              <a:t>Assumptions of Kruskal-Wallis — much more relaxed than parametric ANOVA:</a:t>
            </a:r>
          </a:p>
          <a:p>
            <a:pPr lvl="0"/>
            <a:r>
              <a:rPr b="1"/>
              <a:t>Independence</a:t>
            </a:r>
            <a:r>
              <a:rPr/>
              <a:t> — same as parametric ANOVA, still critical</a:t>
            </a:r>
          </a:p>
          <a:p>
            <a:pPr lvl="0"/>
            <a:r>
              <a:rPr b="1"/>
              <a:t>Similar distribution shapes</a:t>
            </a:r>
            <a:r>
              <a:rPr/>
              <a:t> — groups should have similar spread/variance; if violated, interpret as differences in distributions generally, not just medians</a:t>
            </a:r>
          </a:p>
          <a:p>
            <a:pPr lvl="0"/>
            <a:r>
              <a:rPr b="1"/>
              <a:t>Ordinal or continuous data</a:t>
            </a:r>
          </a:p>
          <a:p>
            <a:pPr lvl="0" indent="0" marL="0">
              <a:buNone/>
            </a:pPr>
            <a:r>
              <a:rPr b="1"/>
              <a:t>What’s NOT assumed:</a:t>
            </a:r>
            <a:r>
              <a:rPr/>
              <a:t> normal distribution, equal variances (though it helps interpretation), a specific distribution shape.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buNone/>
            </a:pPr>
            <a:r>
              <a:rPr b="1"/>
              <a:t>Creating a modified dataset with clear violations:</a:t>
            </a:r>
          </a:p>
          <a:p>
            <a:pPr lvl="0" indent="0">
              <a:buNone/>
            </a:pP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r>
              <a:rPr/>
              <a:t> increased variance in the Knees group, added extreme outliers to the Eyes group, creating unequal variances and non-normality.</a:t>
            </a:r>
          </a:p>
        </p:txBody>
      </p:sp>
      <p:pic>
        <p:nvPicPr>
          <p:cNvPr descr="analysis_of_variance_lecture_files/figure-pptx/analysis-of-variance-26-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Normality</a:t>
            </a:r>
          </a:p>
        </p:txBody>
      </p:sp>
      <p:sp>
        <p:nvSpPr>
          <p:cNvPr id="3" name="Content Placeholder 2"/>
          <p:cNvSpPr>
            <a:spLocks noGrp="1"/>
          </p:cNvSpPr>
          <p:nvPr>
            <p:ph idx="1" sz="half"/>
          </p:nvPr>
        </p:nvSpPr>
        <p:spPr/>
        <p:txBody>
          <a:bodyPr/>
          <a:lstStyle/>
          <a:p>
            <a:pPr lvl="0" indent="0" marL="0">
              <a:buNone/>
            </a:pPr>
            <a:r>
              <a:rPr b="1"/>
              <a:t>Clear violation:</a:t>
            </a:r>
            <a:r>
              <a:rPr/>
              <a:t> p &lt; 0.05, points deviate from the line.</a:t>
            </a:r>
          </a:p>
          <a:p>
            <a:pPr lvl="0" indent="0">
              <a:buNone/>
            </a:pPr>
            <a:r>
              <a:rPr>
                <a:latin typeface="Courier"/>
              </a:rPr>
              <a:t>
    Shapiro-Wilk normality test
data:  resid(violated_model)
W = 0.89473, p-value = 0.02335</a:t>
            </a:r>
          </a:p>
        </p:txBody>
      </p:sp>
      <p:pic>
        <p:nvPicPr>
          <p:cNvPr descr="analysis_of_variance_lecture_files/figure-pptx/analysis-of-variance-28-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Variance</a:t>
            </a:r>
          </a:p>
        </p:txBody>
      </p:sp>
      <p:sp>
        <p:nvSpPr>
          <p:cNvPr id="3" name="Content Placeholder 2"/>
          <p:cNvSpPr>
            <a:spLocks noGrp="1"/>
          </p:cNvSpPr>
          <p:nvPr>
            <p:ph idx="1" sz="half"/>
          </p:nvPr>
        </p:nvSpPr>
        <p:spPr/>
        <p:txBody>
          <a:bodyPr/>
          <a:lstStyle/>
          <a:p>
            <a:pPr lvl="0" indent="0" marL="0">
              <a:buNone/>
            </a:pPr>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analysis_of_variance_lecture_files/figure-pptx/analysis-of-variance-30-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 — Original Data</a:t>
            </a:r>
          </a:p>
        </p:txBody>
      </p:sp>
      <p:sp>
        <p:nvSpPr>
          <p:cNvPr id="3" name="Text Placeholder 2"/>
          <p:cNvSpPr>
            <a:spLocks noGrp="1"/>
          </p:cNvSpPr>
          <p:nvPr>
            <p:ph idx="1" type="body"/>
          </p:nvPr>
        </p:nvSpPr>
        <p:spPr/>
        <p:txBody>
          <a:bodyPr/>
          <a:lstStyle/>
          <a:p>
            <a:pPr lvl="0" indent="0" marL="0">
              <a:buNone/>
            </a:pPr>
            <a:r>
              <a:rPr b="1"/>
              <a:t>Even though assumptions are met, let’s compare results:</a:t>
            </a:r>
          </a:p>
          <a:p>
            <a:pPr lvl="0" indent="0">
              <a:buNone/>
            </a:pP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H = test statistic (χ² approximation); df = k − 1 = 2; </a:t>
            </a:r>
            <a:r>
              <a:rPr b="1"/>
              <a:t>p = 0.009</a:t>
            </a:r>
            <a:r>
              <a:rPr/>
              <a:t> (significant at α = 0.05); conclusion: at least one group differs.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buNone/>
            </a:pPr>
            <a:r>
              <a:rPr b="1"/>
              <a:t>How Kruskal-Wallis works:</a:t>
            </a:r>
          </a:p>
        </p:txBody>
      </p:sp>
      <p:pic>
        <p:nvPicPr>
          <p:cNvPr descr="analysis_of_variance_lecture_files/figure-pptx/analysis-of-variance-33-1.png" id="0" name="Picture 1"/>
          <p:cNvPicPr>
            <a:picLocks noGrp="1" noChangeAspect="1"/>
          </p:cNvPicPr>
          <p:nvPr/>
        </p:nvPicPr>
        <p:blipFill>
          <a:blip r:embed="rId2"/>
          <a:stretch>
            <a:fillRect/>
          </a:stretch>
        </p:blipFill>
        <p:spPr bwMode="auto">
          <a:xfrm>
            <a:off x="4749800" y="1295400"/>
            <a:ext cx="4038600" cy="3276600"/>
          </a:xfrm>
          <a:prstGeom prst="rect">
            <a:avLst/>
          </a:prstGeom>
          <a:noFill/>
          <a:ln w="9525">
            <a:noFill/>
            <a:headEnd/>
            <a:tailEnd/>
          </a:ln>
        </p:spPr>
      </p:pic>
      <p:sp>
        <p:nvSpPr>
          <p:cNvPr id="6" name="Content Placeholder 5"/>
          <p:cNvSpPr>
            <a:spLocks noGrp="1"/>
          </p:cNvSpPr>
          <p:nvPr>
            <p:ph idx="4" sz="quarter"/>
          </p:nvPr>
        </p:nvSpPr>
        <p:spPr/>
        <p:txBody>
          <a:bodyPr/>
          <a:lstStyle/>
          <a:p>
            <a:pPr lvl="0" indent="0">
              <a:buNone/>
            </a:pPr>
            <a:r>
              <a:rPr>
                <a:latin typeface="Courier"/>
              </a:rPr>
              <a:t># A tibble: 3 × 4
  treatment mean_rank sum_rank     n
  &lt;fct&gt;         &lt;dbl&gt;    &lt;dbl&gt; &lt;int&gt;
1 Control       14.6       117     8
2 Eyes           5.29       37     7
3 Knees         14.1        99     7</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Kruskal-Wallis on Violated Data</a:t>
            </a:r>
          </a:p>
        </p:txBody>
      </p:sp>
      <p:sp>
        <p:nvSpPr>
          <p:cNvPr id="3" name="Text Placeholder 2"/>
          <p:cNvSpPr>
            <a:spLocks noGrp="1"/>
          </p:cNvSpPr>
          <p:nvPr>
            <p:ph idx="1" type="body"/>
          </p:nvPr>
        </p:nvSpPr>
        <p:spPr/>
        <p:txBody>
          <a:bodyPr/>
          <a:lstStyle/>
          <a:p>
            <a:pPr lvl="0" indent="0" marL="0">
              <a:buNone/>
            </a:pPr>
            <a:r>
              <a:rPr b="1"/>
              <a:t>Non-parametric test handles violations:</a:t>
            </a:r>
          </a:p>
          <a:p>
            <a:pPr lvl="0" indent="0">
              <a:buNone/>
            </a:pP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indent="0" marL="0">
              <a:buNone/>
            </a:pPr>
            <a:r>
              <a:rPr b="1"/>
              <a:t>This is the whole argument, in four numbers: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Data</a:t>
                      </a:r>
                    </a:p>
                  </a:txBody>
                  <a:tcPr/>
                </a:tc>
                <a:tc>
                  <a:txBody>
                    <a:bodyPr/>
                    <a:lstStyle/>
                    <a:p>
                      <a:pPr lvl="0" indent="0" marL="0">
                        <a:buNone/>
                      </a:pPr>
                      <a:r>
                        <a:rPr/>
                        <a:t>ANOVA (parametric)</a:t>
                      </a:r>
                    </a:p>
                  </a:txBody>
                  <a:tcPr/>
                </a:tc>
                <a:tc>
                  <a:txBody>
                    <a:bodyPr/>
                    <a:lstStyle/>
                    <a:p>
                      <a:pPr lvl="0" indent="0" marL="0">
                        <a:buNone/>
                      </a:pPr>
                      <a:r>
                        <a:rPr/>
                        <a:t>Kruskal-Wallis</a:t>
                      </a:r>
                    </a:p>
                  </a:txBody>
                  <a:tcPr/>
                </a:tc>
              </a:tr>
              <a:tr h="0">
                <a:tc>
                  <a:txBody>
                    <a:bodyPr/>
                    <a:lstStyle/>
                    <a:p>
                      <a:pPr lvl="0" indent="0" marL="0">
                        <a:buNone/>
                      </a:pPr>
                      <a:r>
                        <a:rPr/>
                        <a:t>Original</a:t>
                      </a:r>
                    </a:p>
                  </a:txBody>
                </a:tc>
                <a:tc>
                  <a:txBody>
                    <a:bodyPr/>
                    <a:lstStyle/>
                    <a:p>
                      <a:pPr lvl="0" indent="0" marL="0">
                        <a:buNone/>
                      </a:pPr>
                      <a:r>
                        <a:rPr/>
                        <a:t>F = 7.29, </a:t>
                      </a:r>
                      <a:r>
                        <a:rPr b="1"/>
                        <a:t>p = 0.004</a:t>
                      </a:r>
                      <a:r>
                        <a:rPr/>
                        <a:t> ✅</a:t>
                      </a:r>
                    </a:p>
                  </a:txBody>
                </a:tc>
                <a:tc>
                  <a:txBody>
                    <a:bodyPr/>
                    <a:lstStyle/>
                    <a:p>
                      <a:pPr lvl="0" indent="0" marL="0">
                        <a:buNone/>
                      </a:pPr>
                      <a:r>
                        <a:rPr/>
                        <a:t>H = 9.42, </a:t>
                      </a:r>
                      <a:r>
                        <a:rPr b="1"/>
                        <a:t>p = 0.009</a:t>
                      </a:r>
                      <a:r>
                        <a:rPr/>
                        <a:t> ✅</a:t>
                      </a:r>
                    </a:p>
                  </a:txBody>
                </a:tc>
              </a:tr>
              <a:tr h="0">
                <a:tc>
                  <a:txBody>
                    <a:bodyPr/>
                    <a:lstStyle/>
                    <a:p>
                      <a:pPr lvl="0" indent="0" marL="0">
                        <a:buNone/>
                      </a:pPr>
                      <a:r>
                        <a:rPr/>
                        <a:t>Violated</a:t>
                      </a:r>
                    </a:p>
                  </a:txBody>
                </a:tc>
                <a:tc>
                  <a:txBody>
                    <a:bodyPr/>
                    <a:lstStyle/>
                    <a:p>
                      <a:pPr lvl="0" indent="0" marL="0">
                        <a:buNone/>
                      </a:pPr>
                      <a:r>
                        <a:rPr/>
                        <a:t>F = 2.84, </a:t>
                      </a:r>
                      <a:r>
                        <a:rPr b="1"/>
                        <a:t>p = 0.084</a:t>
                      </a:r>
                      <a:r>
                        <a:rPr/>
                        <a:t> ❌</a:t>
                      </a:r>
                    </a:p>
                  </a:txBody>
                </a:tc>
                <a:tc>
                  <a:txBody>
                    <a:bodyPr/>
                    <a:lstStyle/>
                    <a:p>
                      <a:pPr lvl="0" indent="0" marL="0">
                        <a:buNone/>
                      </a:pPr>
                      <a:r>
                        <a:rPr/>
                        <a:t>H = 6.85, </a:t>
                      </a:r>
                      <a:r>
                        <a:rPr b="1"/>
                        <a:t>p = 0.033</a:t>
                      </a:r>
                      <a:r>
                        <a:rPr/>
                        <a:t> ✅</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parametric test lost the effect. The rank test kept it.</a:t>
            </a:r>
          </a:p>
          <a:p>
            <a:pPr lvl="0" indent="0" marL="1270000">
              <a:buNone/>
            </a:pPr>
            <a:r>
              <a:rPr sz="2000"/>
              <a:t>Nothing about the biology changed — we only inflated one group’s variance and pushed two points out into the tail. That was enough to drag the F-test’s p-value from 0.004 to 0.084, across the α = 0.05 line.</a:t>
            </a:r>
          </a:p>
          <a:p>
            <a:pPr lvl="0" indent="0" marL="1270000">
              <a:buNone/>
            </a:pPr>
            <a:r>
              <a:rPr sz="2000"/>
              <a:t>Kruskal-Wallis barely noticed, because ranks don’t care </a:t>
            </a:r>
            <a:r>
              <a:rPr sz="2000" i="1"/>
              <a:t>how far</a:t>
            </a:r>
            <a:r>
              <a:rPr sz="2000"/>
              <a:t> out an outlier is, only that it is out there.</a:t>
            </a:r>
          </a:p>
        </p:txBody>
      </p:sp>
      <p:pic>
        <p:nvPicPr>
          <p:cNvPr descr="analysis_of_variance_lecture_files/figure-pptx/analysis-of-variance-37-1.png" id="0" name="Picture 1"/>
          <p:cNvPicPr>
            <a:picLocks noGrp="1" noChangeAspect="1"/>
          </p:cNvPicPr>
          <p:nvPr/>
        </p:nvPicPr>
        <p:blipFill>
          <a:blip r:embed="rId2"/>
          <a:stretch>
            <a:fillRect/>
          </a:stretch>
        </p:blipFill>
        <p:spPr bwMode="auto">
          <a:xfrm>
            <a:off x="4749800" y="1295400"/>
            <a:ext cx="4038600" cy="32766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Why Kruskal-Wallis is robust:</a:t>
            </a:r>
            <a:r>
              <a:rPr/>
              <a:t> uses ranks instead of raw values, outliers affect ranks minimally, unequal variances are less problematic, no distribution assumptions are needed.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 — Pairwise Wilcoxon</a:t>
            </a:r>
          </a:p>
        </p:txBody>
      </p:sp>
      <p:sp>
        <p:nvSpPr>
          <p:cNvPr id="3" name="Content Placeholder 2"/>
          <p:cNvSpPr>
            <a:spLocks noGrp="1"/>
          </p:cNvSpPr>
          <p:nvPr>
            <p:ph idx="1" sz="half"/>
          </p:nvPr>
        </p:nvSpPr>
        <p:spPr/>
        <p:txBody>
          <a:bodyPr/>
          <a:lstStyle/>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indent="0" marL="0">
              <a:buNone/>
            </a:pPr>
            <a:r>
              <a:rPr b="1"/>
              <a:t>Interpretation of p-values:</a:t>
            </a:r>
            <a:r>
              <a:rPr/>
              <a:t> Control vs Eyes: p = 0.004 (significant); Control vs Knees: p = 1.000 (not significant); Eyes vs Knees: p = 0.079 (not significant).</a:t>
            </a:r>
          </a:p>
          <a:p>
            <a:pPr lvl="0" indent="0" marL="0">
              <a:buNone/>
            </a:pPr>
            <a:r>
              <a:rPr b="1"/>
              <a:t>Common adjustment methods:</a:t>
            </a:r>
            <a:r>
              <a:rPr/>
              <a:t> </a:t>
            </a:r>
            <a:r>
              <a:rPr>
                <a:latin typeface="Courier"/>
              </a:rPr>
              <a:t>"bonferroni"</a:t>
            </a:r>
            <a:r>
              <a:rPr/>
              <a:t> (most conservative), </a:t>
            </a:r>
            <a:r>
              <a:rPr>
                <a:latin typeface="Courier"/>
              </a:rPr>
              <a:t>"holm"</a:t>
            </a:r>
            <a:r>
              <a:rPr/>
              <a:t> (less conservative), </a:t>
            </a:r>
            <a:r>
              <a:rPr>
                <a:latin typeface="Courier"/>
              </a:rPr>
              <a:t>"BH"</a:t>
            </a:r>
            <a:r>
              <a:rPr/>
              <a:t> (Benjamini-Hochberg, controls false discovery rate), </a:t>
            </a:r>
            <a:r>
              <a:rPr>
                <a:latin typeface="Courier"/>
              </a:rPr>
              <a:t>"none"</a:t>
            </a:r>
            <a:r>
              <a:rPr/>
              <a:t> (not recommended).</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a:buNone/>
            </a:pPr>
            <a:r>
              <a:rPr>
                <a:latin typeface="Courier"/>
              </a:rPr>
              <a:t># A tibble: 3 × 3
  comparison       original_data violated_data
  &lt;chr&gt;                    &lt;dbl&gt;         &lt;dbl&gt;
1 Control vs Eyes         0.0037        0.0037
2 Control vs Knees        1             1     
3 Eyes vs Knees           0.0787        1     </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 an Alternative Post-Hoc</a:t>
            </a:r>
          </a:p>
        </p:txBody>
      </p:sp>
      <p:sp>
        <p:nvSpPr>
          <p:cNvPr id="3" name="Content Placeholder 2"/>
          <p:cNvSpPr>
            <a:spLocks noGrp="1"/>
          </p:cNvSpPr>
          <p:nvPr>
            <p:ph idx="1" sz="half"/>
          </p:nvPr>
        </p:nvSpPr>
        <p:spPr/>
        <p:txBody>
          <a:bodyPr/>
          <a:lstStyle/>
          <a:p>
            <a:pPr lvl="0" indent="0" marL="0">
              <a:buNone/>
            </a:pPr>
            <a:r>
              <a:rPr b="1"/>
              <a:t>Dunn’s test is specifically designed for Kruskal-Wallis post-hoc comparisons:</a:t>
            </a:r>
          </a:p>
          <a:p>
            <a:pPr lvl="0" indent="0">
              <a:buNone/>
            </a:pP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indent="0" marL="0">
              <a:buNone/>
            </a:pPr>
            <a:r>
              <a:rPr b="1"/>
              <a:t>Advantages:</a:t>
            </a:r>
            <a:r>
              <a:rPr/>
              <a:t> designed specifically for Kruskal-Wallis, provides Z-statistics in addition to p-values, multiple adjustment methods available, more appropriate than multiple Wilcoxon tests. A Z-statistic tells you how many standard deviations a difference is from the expected value (usually zero, “no difference”).</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indent="0" marL="0">
              <a:buNone/>
            </a:pPr>
            <a:r>
              <a:rPr b="1"/>
              <a:t>Interpreting Z-statistics:</a:t>
            </a:r>
            <a:r>
              <a:rPr/>
              <a:t> large |Z| values indicate bigger differences; Z &gt; 1.96 is approximately equivalent to p &lt; 0.05; the sign indicates the direction of the difference.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Which Post-Hoc Test Should You Use?</a:t>
            </a:r>
          </a:p>
        </p:txBody>
      </p:sp>
      <p:sp>
        <p:nvSpPr>
          <p:cNvPr id="3" name="Content Placeholder 2"/>
          <p:cNvSpPr>
            <a:spLocks noGrp="1"/>
          </p:cNvSpPr>
          <p:nvPr>
            <p:ph idx="1" sz="half"/>
          </p:nvPr>
        </p:nvSpPr>
        <p:spPr/>
        <p:txBody>
          <a:bodyPr/>
          <a:lstStyle/>
          <a:p>
            <a:pPr lvl="0"/>
            <a:r>
              <a:rPr b="1"/>
              <a:t>Use Dunn’s test</a:t>
            </a:r>
            <a:r>
              <a:rPr/>
              <a:t> because it’s the proper follow-up to Kruskal-Wallis, maintains consistency with the overall K-W ranking, is more statistically appropriate for the omnibus test you ran, and is standard in published research</a:t>
            </a:r>
          </a:p>
          <a:p>
            <a:pPr lvl="0"/>
            <a:r>
              <a:rPr/>
              <a:t>Wilcoxon is fine for simple two-group comparisons, but once you’ve run Kruskal-Wallis (a 3+ group test), Dunn’s is the standard choice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Kruskal-Wallis ranks ALL your data once. Dunn’s test uses those same ranks. Pairwise Wilcoxon throws away that information and re-ranks separately for each pair.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Non-Parametric Results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Essential elements to include:</a:t>
                </a:r>
                <a:r>
                  <a:rPr/>
                  <a:t> test name and purpose, sample sizes per group, medians and IQRs (not means and SDs!), test statistic (H) and degrees of freedom, p-value, effect size, post-hoc test results, 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0.89) for Control, −0.29 hours (IQR = 0.93) for Knees, and −1.48 hours (IQR = 0.68) for Eyes. The test revealed a statistically significant difference in phase shift between the groups, H(2) = 9.42, p = 0.009, ε² = 0.45. Post-hoc pairwise comparisons using Dunn’s test with Bonferroni correction indicated that the Eyes treatment differed significantly from both Control (p = 0.016) and Knees (p = 0.032), while Control and Knees did not differ (p = 1.000).”</a:t>
                </a:r>
              </a:p>
              <a:p>
                <a:pPr lvl="0" indent="0" marL="1270000">
                  <a:buNone/>
                </a:pPr>
                <a:r>
                  <a:rPr sz="2000" b="1"/>
                  <a:t>Note</a:t>
                </a:r>
              </a:p>
              <a:p>
                <a:pPr lvl="0" indent="0" marL="1270000">
                  <a:buNone/>
                </a:pPr>
                <a:r>
                  <a:rPr sz="2000" b="1"/>
                  <a:t>📖 Where ε² comes from</a:t>
                </a:r>
              </a:p>
              <a:p>
                <a:pPr lvl="0" indent="0" marL="1270000">
                  <a:buNone/>
                </a:pPr>
                <a14:m>
                  <m:oMathPara xmlns:m="http://schemas.openxmlformats.org/officeDocument/2006/math">
                    <m:oMathParaPr>
                      <m:jc m:val="center"/>
                    </m:oMathParaPr>
                    <m:oMath>
                      <m:sSup>
                        <m:e>
                          <m:r>
                            <m:t>ε</m:t>
                          </m:r>
                        </m:e>
                        <m:sup>
                          <m:r>
                            <m:t>2</m:t>
                          </m:r>
                        </m:sup>
                      </m:sSup>
                      <m:r>
                        <m:rPr>
                          <m:sty m:val="p"/>
                        </m:rPr>
                        <m:t>=</m:t>
                      </m:r>
                      <m:f>
                        <m:fPr>
                          <m:type m:val="bar"/>
                        </m:fPr>
                        <m:num>
                          <m:r>
                            <m:t>H</m:t>
                          </m:r>
                        </m:num>
                        <m:den>
                          <m:r>
                            <m:rPr>
                              <m:sty m:val="p"/>
                            </m:rPr>
                            <m:t>(</m:t>
                          </m:r>
                          <m:sSup>
                            <m:e>
                              <m:r>
                                <m:t>n</m:t>
                              </m:r>
                            </m:e>
                            <m:sup>
                              <m:r>
                                <m:t>2</m:t>
                              </m:r>
                            </m:sup>
                          </m:sSup>
                          <m:r>
                            <m:rPr>
                              <m:sty m:val="p"/>
                            </m:rPr>
                            <m:t>−</m:t>
                          </m:r>
                          <m:r>
                            <m:t>1</m:t>
                          </m:r>
                          <m:r>
                            <m:rPr>
                              <m:sty m:val="p"/>
                            </m:rPr>
                            <m:t>)</m:t>
                          </m:r>
                          <m:r>
                            <m:rPr>
                              <m:sty m:val="p"/>
                            </m:rPr>
                            <m:t>/</m:t>
                          </m:r>
                          <m:r>
                            <m:rPr>
                              <m:sty m:val="p"/>
                            </m:rPr>
                            <m:t>(</m:t>
                          </m:r>
                          <m:r>
                            <m:t>n</m:t>
                          </m:r>
                          <m:r>
                            <m:rPr>
                              <m:sty m:val="p"/>
                            </m:rPr>
                            <m:t>+</m:t>
                          </m:r>
                          <m:r>
                            <m:t>1</m:t>
                          </m:r>
                          <m:r>
                            <m:rPr>
                              <m:sty m:val="p"/>
                            </m:rPr>
                            <m:t>)</m:t>
                          </m:r>
                        </m:den>
                      </m:f>
                    </m:oMath>
                  </m:oMathPara>
                </a14:m>
              </a:p>
              <a:p>
                <a:pPr lvl="0" indent="0" marL="1270000">
                  <a:buNone/>
                </a:pPr>
                <a:r>
                  <a:rPr sz="2000"/>
                  <a:t>Here </a:t>
                </a:r>
                <a14:m>
                  <m:oMath xmlns:m="http://schemas.openxmlformats.org/officeDocument/2006/math">
                    <m:r>
                      <m:t>9.42</m:t>
                    </m:r>
                    <m:r>
                      <m:rPr>
                        <m:sty m:val="p"/>
                      </m:rPr>
                      <m:t>/</m:t>
                    </m:r>
                    <m:r>
                      <m:t>21</m:t>
                    </m:r>
                    <m:r>
                      <m:rPr>
                        <m:sty m:val="p"/>
                      </m:rPr>
                      <m:t>=</m:t>
                    </m:r>
                    <m:r>
                      <m:t>0.45</m:t>
                    </m:r>
                  </m:oMath>
                </a14:m>
                <a:r>
                  <a:rPr sz="2000"/>
                  <a:t> — the rank-based analogue of R². Watch out: some software reports </a:t>
                </a:r>
                <a14:m>
                  <m:oMath xmlns:m="http://schemas.openxmlformats.org/officeDocument/2006/math">
                    <m:sSubSup>
                      <m:e>
                        <m:r>
                          <m:t>η</m:t>
                        </m:r>
                      </m:e>
                      <m:sub>
                        <m:r>
                          <m:t>H</m:t>
                        </m:r>
                      </m:sub>
                      <m:sup>
                        <m:r>
                          <m:t>2</m:t>
                        </m:r>
                      </m:sup>
                    </m:sSubSup>
                    <m:r>
                      <m:rPr>
                        <m:sty m:val="p"/>
                      </m:rPr>
                      <m:t>=</m:t>
                    </m:r>
                    <m:r>
                      <m:rPr>
                        <m:sty m:val="p"/>
                      </m:rPr>
                      <m:t>(</m:t>
                    </m:r>
                    <m:r>
                      <m:t>H</m:t>
                    </m:r>
                    <m:r>
                      <m:rPr>
                        <m:sty m:val="p"/>
                      </m:rPr>
                      <m:t>−</m:t>
                    </m:r>
                    <m:r>
                      <m:t>k</m:t>
                    </m:r>
                    <m:r>
                      <m:rPr>
                        <m:sty m:val="p"/>
                      </m:rPr>
                      <m:t>+</m:t>
                    </m:r>
                    <m:r>
                      <m:t>1</m:t>
                    </m:r>
                    <m:r>
                      <m:rPr>
                        <m:sty m:val="p"/>
                      </m:rPr>
                      <m:t>)</m:t>
                    </m:r>
                    <m:r>
                      <m:rPr>
                        <m:sty m:val="p"/>
                      </m:rPr>
                      <m:t>/</m:t>
                    </m:r>
                    <m:r>
                      <m:rPr>
                        <m:sty m:val="p"/>
                      </m:rPr>
                      <m:t>(</m:t>
                    </m:r>
                    <m:r>
                      <m:t>n</m:t>
                    </m:r>
                    <m:r>
                      <m:rPr>
                        <m:sty m:val="p"/>
                      </m:rPr>
                      <m:t>−</m:t>
                    </m:r>
                    <m:r>
                      <m:t>k</m:t>
                    </m:r>
                    <m:r>
                      <m:rPr>
                        <m:sty m:val="p"/>
                      </m:rPr>
                      <m:t>)</m:t>
                    </m:r>
                  </m:oMath>
                </a14:m>
                <a:r>
                  <a:rPr sz="2000"/>
                  <a:t> instead, which gives 0.39 for these data. </a:t>
                </a:r>
                <a:r>
                  <a:rPr sz="2000" b="1"/>
                  <a:t>Say which one you used.</a:t>
                </a:r>
              </a:p>
            </p:txBody>
          </p:sp>
        </mc:Choice>
      </mc:AlternateContent>
      <p:sp>
        <p:nvSpPr>
          <p:cNvPr id="4" name="Content Placeholder 3"/>
          <p:cNvSpPr>
            <a:spLocks noGrp="1"/>
          </p:cNvSpPr>
          <p:nvPr>
            <p:ph idx="2" sz="half"/>
          </p:nvPr>
        </p:nvSpPr>
        <p:spPr/>
        <p:txBody>
          <a:bodyPr/>
          <a:lstStyle/>
          <a:p>
            <a:pPr lvl="0" indent="0" marL="0">
              <a:buNone/>
            </a:pPr>
            <a:r>
              <a:rPr b="1"/>
              <a:t>In-text citation format:</a:t>
            </a:r>
          </a:p>
          <a:p>
            <a:pPr lvl="0" indent="0" marL="1270000">
              <a:buNone/>
            </a:pPr>
            <a:r>
              <a:rPr sz="2000"/>
              <a:t>The Kruskal-Wallis test revealed significant differences between treatment groups, H(2) = 9.42, p = .009.</a:t>
            </a:r>
          </a:p>
          <a:p>
            <a:pPr lvl="0" indent="0" marL="1270000">
              <a:buNone/>
            </a:pPr>
            <a:r>
              <a:rPr sz="2000" b="1"/>
              <a:t>Warning</a:t>
            </a:r>
          </a:p>
          <a:p>
            <a:pPr lvl="0" indent="0" marL="1270000">
              <a:buNone/>
            </a:pPr>
            <a:r>
              <a:rPr sz="2000" b="1"/>
              <a:t>⚠️ Common mistakes to avoid</a:t>
            </a:r>
          </a:p>
          <a:p>
            <a:pPr lvl="0"/>
            <a:r>
              <a:rPr sz="2000"/>
              <a:t>Reporting means instead of medians, using SD instead of IQR</a:t>
            </a:r>
          </a:p>
          <a:p>
            <a:pPr lvl="0"/>
            <a:r>
              <a:rPr sz="2000"/>
              <a:t>Not mentioning it’s a non-parametric test</a:t>
            </a:r>
          </a:p>
          <a:p>
            <a:pPr lvl="0"/>
            <a:r>
              <a:rPr sz="2000"/>
              <a:t>Not justifying why a non-parametric test was used</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 the Table Format</a:t>
            </a:r>
          </a:p>
        </p:txBody>
      </p:sp>
      <p:sp>
        <p:nvSpPr>
          <p:cNvPr id="3" name="Content Placeholder 2"/>
          <p:cNvSpPr>
            <a:spLocks noGrp="1"/>
          </p:cNvSpPr>
          <p:nvPr>
            <p:ph idx="1"/>
          </p:nvPr>
        </p:nvSpPr>
        <p:spPr/>
        <p:txBody>
          <a:bodyPr/>
          <a:lstStyle/>
          <a:p>
            <a:pPr lvl="0" indent="0">
              <a:buNone/>
            </a:pPr>
            <a:r>
              <a:rPr>
                <a:latin typeface="Courier"/>
              </a:rPr>
              <a:t>Table 1. Descriptive Statistics for Phase Shift by Treatment
Note. IQR = interquartile range.
Kruskal-Wallis H(2) = 9.42, p = 0.009</a:t>
            </a:r>
          </a:p>
          <a:p>
            <a:pPr lvl="0" indent="0">
              <a:buNone/>
            </a:pPr>
            <a:r>
              <a:rPr>
                <a:latin typeface="Courier"/>
              </a:rPr>
              <a:t># A tibble: 3 × 6
  treatment     n Median   IQR   Min   Max
  &lt;fct&gt;     &lt;int&gt;  &lt;dbl&gt; &lt;dbl&gt; &lt;dbl&gt; &lt;dbl&gt;
1 Control       8 -0.485 0.89  -1.27  0.53
2 Eyes          7 -1.48  0.675 -2.83 -0.78
3 Knees         7 -0.29  0.93  -1.61  0.73</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Today you:</a:t>
                </a:r>
              </a:p>
              <a:p>
                <a:pPr lvl="0"/>
                <a:r>
                  <a:rPr/>
                  <a:t>Saw that </a:t>
                </a:r>
                <a:r>
                  <a:rPr b="1"/>
                  <a:t>ANOVA </a:t>
                </a:r>
                <a:r>
                  <a:rPr b="1" i="1"/>
                  <a:t>is</a:t>
                </a:r>
                <a:r>
                  <a:rPr b="1"/>
                  <a:t> regression</a:t>
                </a:r>
                <a:r>
                  <a:rPr/>
                  <a:t> with a categorical predictor — same partitioning, same F-ratio, different-looking output</a:t>
                </a:r>
              </a:p>
              <a:p>
                <a:pPr lvl="0"/>
                <a:r>
                  <a:rPr/>
                  <a:t>Split </a:t>
                </a:r>
                <a14:m>
                  <m:oMath xmlns:m="http://schemas.openxmlformats.org/officeDocument/2006/math">
                    <m:r>
                      <m:t>S</m:t>
                    </m:r>
                    <m:sSub>
                      <m:e>
                        <m:r>
                          <m:t>S</m:t>
                        </m:r>
                      </m:e>
                      <m:sub>
                        <m:r>
                          <m:t>t</m:t>
                        </m:r>
                        <m:r>
                          <m:t>o</m:t>
                        </m:r>
                        <m:r>
                          <m:t>t</m:t>
                        </m:r>
                        <m:r>
                          <m:t>a</m:t>
                        </m:r>
                        <m:r>
                          <m:t>l</m:t>
                        </m:r>
                      </m:sub>
                    </m:sSub>
                  </m:oMath>
                </a14:m>
                <a:r>
                  <a:rPr/>
                  <a:t> into </a:t>
                </a:r>
                <a14:m>
                  <m:oMath xmlns:m="http://schemas.openxmlformats.org/officeDocument/2006/math">
                    <m:r>
                      <m:t>S</m:t>
                    </m:r>
                    <m:sSub>
                      <m:e>
                        <m:r>
                          <m:t>S</m:t>
                        </m:r>
                      </m:e>
                      <m:sub>
                        <m:r>
                          <m:t>a</m:t>
                        </m:r>
                        <m:r>
                          <m:t>m</m:t>
                        </m:r>
                        <m:r>
                          <m:t>o</m:t>
                        </m:r>
                        <m:r>
                          <m:t>n</m:t>
                        </m:r>
                        <m:r>
                          <m:t>g</m:t>
                        </m:r>
                      </m:sub>
                    </m:sSub>
                  </m:oMath>
                </a14:m>
                <a:r>
                  <a:rPr/>
                  <a:t> and </a:t>
                </a:r>
                <a14:m>
                  <m:oMath xmlns:m="http://schemas.openxmlformats.org/officeDocument/2006/math">
                    <m:r>
                      <m:t>S</m:t>
                    </m:r>
                    <m:sSub>
                      <m:e>
                        <m:r>
                          <m:t>S</m:t>
                        </m:r>
                      </m:e>
                      <m:sub>
                        <m:r>
                          <m:t>w</m:t>
                        </m:r>
                        <m:r>
                          <m:t>i</m:t>
                        </m:r>
                        <m:r>
                          <m:t>t</m:t>
                        </m:r>
                        <m:r>
                          <m:t>h</m:t>
                        </m:r>
                        <m:r>
                          <m:t>i</m:t>
                        </m:r>
                        <m:r>
                          <m:t>n</m:t>
                        </m:r>
                      </m:sub>
                    </m:sSub>
                  </m:oMath>
                </a14:m>
                <a:r>
                  <a:rPr/>
                  <a:t>, and turned them into mean squares</a:t>
                </a:r>
              </a:p>
              <a:p>
                <a:pPr lvl="0"/>
                <a:r>
                  <a:rPr/>
                  <a:t>Built the </a:t>
                </a:r>
                <a:r>
                  <a:rPr b="1"/>
                  <a:t>F-ratio</a:t>
                </a:r>
                <a:r>
                  <a:rPr/>
                  <a:t> as signal ÷ noise, and confirmed that with two groups </a:t>
                </a:r>
                <a:r>
                  <a:rPr b="1"/>
                  <a:t>F = t²</a:t>
                </a:r>
                <a:r>
                  <a:rPr/>
                  <a:t> exactly</a:t>
                </a:r>
              </a:p>
              <a:p>
                <a:pPr lvl="0"/>
                <a:r>
                  <a:rPr/>
                  <a:t>Checked the assumptions — Levene’s for equal variance, Shapiro-Wilk on the </a:t>
                </a:r>
                <a:r>
                  <a:rPr b="1"/>
                  <a:t>residuals</a:t>
                </a:r>
                <a:r>
                  <a:rPr/>
                  <a:t>, and the four diagnostic plots</a:t>
                </a:r>
              </a:p>
              <a:p>
                <a:pPr lvl="0"/>
                <a:r>
                  <a:rPr/>
                  <a:t>Used </a:t>
                </a:r>
                <a:r>
                  <a:rPr b="1"/>
                  <a:t>Tukey’s HSD</a:t>
                </a:r>
                <a:r>
                  <a:rPr/>
                  <a:t> to find </a:t>
                </a:r>
                <a:r>
                  <a:rPr i="1"/>
                  <a:t>which</a:t>
                </a:r>
                <a:r>
                  <a:rPr/>
                  <a:t> groups differ, after the omnibus test said </a:t>
                </a:r>
                <a:r>
                  <a:rPr i="1"/>
                  <a:t>some</a:t>
                </a:r>
                <a:r>
                  <a:rPr/>
                  <a:t> group does</a:t>
                </a:r>
              </a:p>
              <a:p>
                <a:pPr lvl="0"/>
                <a:r>
                  <a:rPr/>
                  <a:t>Reported the result the way a journal expects, with an effect size</a:t>
                </a:r>
              </a:p>
              <a:p>
                <a:pPr lvl="0"/>
                <a:r>
                  <a:rPr/>
                  <a:t>Switched to </a:t>
                </a:r>
                <a:r>
                  <a:rPr b="1"/>
                  <a:t>Kruskal-Wallis</a:t>
                </a:r>
                <a:r>
                  <a:rPr/>
                  <a:t> and </a:t>
                </a:r>
                <a:r>
                  <a:rPr b="1"/>
                  <a:t>Dunn’s test</a:t>
                </a:r>
                <a:r>
                  <a:rPr/>
                  <a:t> when assumptions fail</a:t>
                </a:r>
              </a:p>
              <a:p>
                <a:pPr lvl="0" indent="0" marL="1270000">
                  <a:buNone/>
                </a:pPr>
                <a:r>
                  <a:rPr sz="2000" b="1"/>
                  <a:t>Important</a:t>
                </a:r>
              </a:p>
              <a:p>
                <a:pPr lvl="0" indent="0" marL="1270000">
                  <a:buNone/>
                </a:pPr>
                <a:r>
                  <a:rPr sz="2000" b="1"/>
                  <a:t>⚠️ The order matters</a:t>
                </a:r>
              </a:p>
              <a:p>
                <a:pPr lvl="0" indent="0" marL="1270000">
                  <a:buNone/>
                </a:pPr>
                <a:r>
                  <a:rPr sz="2000"/>
                  <a:t>A significant F says </a:t>
                </a:r>
                <a:r>
                  <a:rPr sz="2000" i="1"/>
                  <a:t>at least one</a:t>
                </a:r>
                <a:r>
                  <a:rPr sz="2000"/>
                  <a:t> group differs — it does not say which. Post-hoc tests answer that, and they only make sense </a:t>
                </a:r>
                <a:r>
                  <a:rPr sz="2000" b="1"/>
                  <a:t>after</a:t>
                </a:r>
                <a:r>
                  <a:rPr sz="2000"/>
                  <a:t> a significant omnibus test. Running all pairwise t-tests instead inflates your Type I error with every comparison.</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We deliberately broke the assumptions and watched the parametric p-value slide from </a:t>
            </a:r>
            <a:r>
              <a:rPr sz="2000" b="1"/>
              <a:t>0.004 to 0.084</a:t>
            </a:r>
            <a:r>
              <a:rPr sz="2000"/>
              <a:t> while the rank-based one held at </a:t>
            </a:r>
            <a:r>
              <a:rPr sz="2000" b="1"/>
              <a:t>0.033</a:t>
            </a:r>
            <a:r>
              <a:rPr sz="2000"/>
              <a:t>.</a:t>
            </a:r>
          </a:p>
          <a:p>
            <a:pPr lvl="0" indent="0" marL="1270000">
              <a:buNone/>
            </a:pPr>
            <a:r>
              <a:rPr sz="2000"/>
              <a:t>The data’s biology never changed. Only its shape did. That is what “assumption violation” costs you, in one number.</a:t>
            </a:r>
          </a:p>
          <a:p>
            <a:pPr lvl="0" indent="0" marL="1270000">
              <a:buNone/>
            </a:pPr>
            <a:r>
              <a:rPr sz="2000" b="1"/>
              <a:t>Note</a:t>
            </a:r>
          </a:p>
          <a:p>
            <a:pPr lvl="0" indent="0" marL="1270000">
              <a:buNone/>
            </a:pPr>
            <a:r>
              <a:rPr sz="2000" b="1"/>
              <a:t>Up next — Two-Way ANOVA</a:t>
            </a:r>
          </a:p>
          <a:p>
            <a:pPr lvl="0"/>
            <a:r>
              <a:rPr sz="2000"/>
              <a:t>Two categorical predictors at once</a:t>
            </a:r>
          </a:p>
          <a:p>
            <a:pPr lvl="0"/>
            <a:r>
              <a:rPr sz="2000"/>
              <a:t>Interaction: when the effect of one factor depends on the other</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your grouping variable a </a:t>
            </a:r>
            <a:r>
              <a:rPr b="1"/>
              <a:t>factor</a:t>
            </a:r>
            <a:r>
              <a:rPr/>
              <a:t> (</a:t>
            </a:r>
            <a:r>
              <a:rPr>
                <a:latin typeface="Courier"/>
              </a:rPr>
              <a:t>as.factor()</a:t>
            </a:r>
            <a:r>
              <a:rPr/>
              <a:t>)? Did you pass the model to </a:t>
            </a:r>
            <a:r>
              <a:rPr>
                <a:latin typeface="Courier"/>
              </a:rPr>
              <a:t>TukeyHSD()</a:t>
            </a:r>
            <a:r>
              <a:rPr/>
              <a:t> via </a:t>
            </a:r>
            <a:r>
              <a:rPr>
                <a:latin typeface="Courier"/>
              </a:rPr>
              <a:t>aov()</a:t>
            </a:r>
            <a:r>
              <a:rPr/>
              <a:t>, not </a:t>
            </a:r>
            <a:r>
              <a:rPr>
                <a:latin typeface="Courier"/>
              </a:rPr>
              <a:t>lm()</a:t>
            </a:r>
            <a:r>
              <a:rPr/>
              <a:t>? Is </a:t>
            </a:r>
            <a:r>
              <a:rPr>
                <a:latin typeface="Courier"/>
              </a:rPr>
              <a:t>car</a:t>
            </a:r>
            <a:r>
              <a:rPr/>
              <a:t> loaded for </a:t>
            </a:r>
            <a:r>
              <a:rPr>
                <a:latin typeface="Courier"/>
              </a:rPr>
              <a:t>leveneTest()</a:t>
            </a:r>
            <a:r>
              <a:rPr/>
              <a:t>, </a:t>
            </a:r>
            <a:r>
              <a:rPr>
                <a:latin typeface="Courier"/>
              </a:rPr>
              <a:t>FSA</a:t>
            </a:r>
            <a:r>
              <a:rPr/>
              <a:t> for </a:t>
            </a:r>
            <a:r>
              <a:rPr>
                <a:latin typeface="Courier"/>
              </a:rPr>
              <a:t>dunnTest()</a:t>
            </a:r>
            <a:r>
              <a:rPr/>
              <a:t>?</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Analysis of Variance (ANOVA)</dc:title>
  <dc:creator>Bill Perry</dc:creator>
  <cp:keywords/>
  <dc:description>One-way ANOVA and its connection to regression: partitioning sums of squares, the F-ratio, assumptions and diagnostics, post-hoc testing, reporting, and non-parametric alternatives (Kruskal-Wallis, Dunn’s test) — on a circadian-rhythm light-treatment dataset.</dc:description>
  <dcterms:created xsi:type="dcterms:W3CDTF">2026-09-28T15:14:10Z</dcterms:created>
  <dcterms:modified xsi:type="dcterms:W3CDTF">2026-09-28T15:14:10Z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12</vt:lpwstr>
  </property>
  <property fmtid="{D5CDD505-2E9C-101B-9397-08002B2CF9AE}" pid="14" name="resources">
    <vt:lpwstr/>
  </property>
  <property fmtid="{D5CDD505-2E9C-101B-9397-08002B2CF9AE}" pid="15" name="subtitle">
    <vt:lpwstr>Single-factor ANOVA</vt:lpwstr>
  </property>
  <property fmtid="{D5CDD505-2E9C-101B-9397-08002B2CF9AE}" pid="16" name="toc-title">
    <vt:lpwstr>Table of contents</vt:lpwstr>
  </property>
  <property fmtid="{D5CDD505-2E9C-101B-9397-08002B2CF9AE}" pid="17" name="week">
    <vt:lpwstr>8</vt:lpwstr>
  </property>
</Properties>
</file>