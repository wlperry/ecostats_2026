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7" Type="http://schemas.openxmlformats.org/officeDocument/2006/relationships/viewProps" Target="viewProps.xml" /><Relationship Id="rId66" Type="http://schemas.openxmlformats.org/officeDocument/2006/relationships/presProps" Target="presProps.xml" /><Relationship Id="rId1" Type="http://schemas.openxmlformats.org/officeDocument/2006/relationships/slideMaster" Target="slideMasters/slideMaster1.xml" /><Relationship Id="rId69" Type="http://schemas.openxmlformats.org/officeDocument/2006/relationships/tableStyles" Target="tableStyles.xml" /><Relationship Id="rId6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hyperlink" Target="data/fiddler_crabs.csv" TargetMode="External" /><Relationship Id="rId3" Type="http://schemas.openxmlformats.org/officeDocument/2006/relationships/hyperlink" Target="data/nematode_lifespan.csv"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Analysis of Variance (ANOVA)</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Single-factor ANOVA</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Where We Left Off</a:t>
            </a:r>
          </a:p>
        </p:txBody>
      </p:sp>
      <p:sp>
        <p:nvSpPr>
          <p:cNvPr id="3" name="Content Placeholder 2"/>
          <p:cNvSpPr>
            <a:spLocks noGrp="1"/>
          </p:cNvSpPr>
          <p:nvPr>
            <p:ph idx="1" sz="half"/>
          </p:nvPr>
        </p:nvSpPr>
        <p:spPr/>
        <p:txBody>
          <a:bodyPr/>
          <a:lstStyle/>
          <a:p>
            <a:pPr lvl="0" indent="0" marL="0">
              <a:buNone/>
            </a:pPr>
            <a:r>
              <a:rPr/>
              <a:t>Covered last time — Multiple Regression:</a:t>
            </a:r>
          </a:p>
          <a:p>
            <a:pPr lvl="0"/>
            <a:r>
              <a:rPr/>
              <a:t>Partial slopes, and why they are conditional</a:t>
            </a:r>
          </a:p>
          <a:p>
            <a:pPr lvl="0"/>
            <a:r>
              <a:rPr/>
              <a:t>Collinearity, and saying “these data cannot separate them”</a:t>
            </a:r>
          </a:p>
          <a:p>
            <a:pPr lvl="0"/>
            <a:r>
              <a:rPr/>
              <a:t>Interactions</a:t>
            </a:r>
          </a:p>
          <a:p>
            <a:pPr lvl="0"/>
            <a:r>
              <a:rPr b="1"/>
              <a:t>Factors, dummy variables, and </a:t>
            </a:r>
            <a:r>
              <a:rPr b="1">
                <a:latin typeface="Courier"/>
              </a:rPr>
              <a:t>fct_relevel()</a:t>
            </a:r>
          </a:p>
          <a:p>
            <a:pPr lvl="0"/>
            <a:r>
              <a:rPr/>
              <a:t>Model comparison with adjusted R² and AIC</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Key idea from last lecture</a:t>
            </a:r>
          </a:p>
          <a:p>
            <a:pPr lvl="0" indent="0" marL="1270000">
              <a:buNone/>
            </a:pPr>
            <a:r>
              <a:rPr sz="2000"/>
              <a:t>You already built an ANOVA table for a regression, and you already turned a categorical predictor into dummy variables.</a:t>
            </a:r>
          </a:p>
          <a:p>
            <a:pPr lvl="0" indent="0" marL="1270000">
              <a:buNone/>
            </a:pPr>
            <a:r>
              <a:rPr sz="2000"/>
              <a:t>Today every predictor is categorical. </a:t>
            </a:r>
            <a:r>
              <a:rPr sz="2000" b="1"/>
              <a:t>The machinery does not change at all</a:t>
            </a:r>
            <a:r>
              <a:rPr sz="2000"/>
              <a:t> — only the name on the front does.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Overview</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Today’s Objectives</a:t>
            </a:r>
          </a:p>
        </p:txBody>
      </p:sp>
      <p:sp>
        <p:nvSpPr>
          <p:cNvPr id="3" name="Text Placeholder 2"/>
          <p:cNvSpPr>
            <a:spLocks noGrp="1"/>
          </p:cNvSpPr>
          <p:nvPr>
            <p:ph idx="1" type="body"/>
          </p:nvPr>
        </p:nvSpPr>
        <p:spPr/>
        <p:txBody>
          <a:bodyPr/>
          <a:lstStyle/>
          <a:p>
            <a:pPr lvl="0" indent="0" marL="0">
              <a:buNone/>
            </a:pPr>
            <a:r>
              <a:rPr/>
              <a:t>One-way ANOVA, end to end:</a:t>
            </a:r>
          </a:p>
          <a:p>
            <a:pPr lvl="0"/>
            <a:r>
              <a:rPr/>
              <a:t>Why ANOVA </a:t>
            </a:r>
            <a:r>
              <a:rPr i="1"/>
              <a:t>is</a:t>
            </a:r>
            <a:r>
              <a:rPr/>
              <a:t> regression with a categorical predictor</a:t>
            </a:r>
          </a:p>
          <a:p>
            <a:pPr lvl="0"/>
            <a:r>
              <a:rPr/>
              <a:t>Partitioning variance, and the F-ratio</a:t>
            </a:r>
          </a:p>
          <a:p>
            <a:pPr lvl="0"/>
            <a:r>
              <a:rPr/>
              <a:t>Type I, II and III sums of squares, and the contrast setting Type III needs</a:t>
            </a:r>
          </a:p>
          <a:p>
            <a:pPr lvl="0"/>
            <a:r>
              <a:rPr/>
              <a:t>Assumptions and diagnostics</a:t>
            </a:r>
          </a:p>
          <a:p>
            <a:pPr lvl="0"/>
            <a:r>
              <a:rPr/>
              <a:t>Setting the reference level on purpose</a:t>
            </a:r>
          </a:p>
          <a:p>
            <a:pPr lvl="0"/>
            <a:r>
              <a:rPr/>
              <a:t>Post-hoc tests with </a:t>
            </a:r>
            <a:r>
              <a:rPr>
                <a:latin typeface="Courier"/>
              </a:rPr>
              <a:t>emmeans</a:t>
            </a:r>
            <a:r>
              <a:rPr/>
              <a:t> — which pairs actually differ, and the letters that report it</a:t>
            </a:r>
          </a:p>
          <a:p>
            <a:pPr lvl="0"/>
            <a:r>
              <a:rPr/>
              <a:t>Reporting results</a:t>
            </a:r>
          </a:p>
          <a:p>
            <a:pPr lvl="0"/>
            <a:r>
              <a:rPr/>
              <a:t>What to do when the assumptions genuinely fail</a:t>
            </a:r>
          </a:p>
          <a:p>
            <a:pPr lvl="0" indent="0" marL="0">
              <a:buNone/>
            </a:pPr>
            <a:r>
              <a:rPr>
                <a:hlinkClick r:id="rId2"/>
              </a:rPr>
              <a:t>📥 Crab data</a:t>
            </a:r>
            <a:r>
              <a:rPr/>
              <a:t> </a:t>
            </a:r>
            <a:r>
              <a:rPr>
                <a:hlinkClick r:id="rId3"/>
              </a:rPr>
              <a:t>📥 Nematode data</a:t>
            </a:r>
          </a:p>
        </p:txBody>
      </p:sp>
      <p:sp>
        <p:nvSpPr>
          <p:cNvPr id="5" name="Text Placeholder 4"/>
          <p:cNvSpPr>
            <a:spLocks noGrp="1"/>
          </p:cNvSpPr>
          <p:nvPr>
            <p:ph idx="3" sz="quarter" type="body"/>
          </p:nvPr>
        </p:nvSpPr>
        <p:spPr/>
        <p:txBody>
          <a:bodyPr/>
          <a:lstStyle/>
          <a:p>
            <a:pPr lvl="0" indent="0" marL="1270000">
              <a:buNone/>
            </a:pPr>
            <a:r>
              <a:rPr sz="2000" b="1"/>
              <a:t>Note</a:t>
            </a:r>
          </a:p>
          <a:p>
            <a:pPr lvl="0" indent="0" marL="1270000">
              <a:buNone/>
            </a:pPr>
            <a:r>
              <a:rPr sz="2000" b="1"/>
              <a:t>📖 Reading</a:t>
            </a:r>
          </a:p>
          <a:p>
            <a:pPr lvl="0" indent="0" marL="1270000">
              <a:buNone/>
            </a:pPr>
            <a:r>
              <a:rPr sz="2000"/>
              <a:t>Whitlock &amp; Schluter, Ch. 15 — Comparing Means of More Than Two Groups.</a:t>
            </a:r>
          </a:p>
          <a:p>
            <a:pPr lvl="0" indent="0" marL="1270000">
              <a:buNone/>
            </a:pPr>
            <a:r>
              <a:rPr sz="2000"/>
              <a:t>Gotelli &amp; Ellison, Ch. 10 — The Analysis of Variance.</a:t>
            </a:r>
          </a:p>
        </p:txBody>
      </p:sp>
      <p:graphicFrame>
        <p:nvGraphicFramePr>
          <p:cNvPr id="6" name="Content Placeholder 5"/>
          <p:cNvGraphicFramePr>
            <a:graphicFrameLocks noGrp="1"/>
          </p:cNvGraphicFramePr>
          <p:nvPr>
            <p:ph idx="1"/>
          </p:nvPr>
        </p:nvGraphicFramePr>
        <p:xfrm>
          <a:off x="4749800" y="1295400"/>
          <a:ext cx="4038600" cy="32766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endParaRPr/>
                    </a:p>
                  </a:txBody>
                  <a:tcPr/>
                </a:tc>
                <a:tc>
                  <a:txBody>
                    <a:bodyPr/>
                    <a:lstStyle/>
                    <a:p>
                      <a:pPr lvl="0" indent="0" marL="0" algn="l">
                        <a:buNone/>
                      </a:pPr>
                      <a:r>
                        <a:rPr/>
                        <a:t>Continuous X</a:t>
                      </a:r>
                    </a:p>
                  </a:txBody>
                  <a:tcPr/>
                </a:tc>
                <a:tc>
                  <a:txBody>
                    <a:bodyPr/>
                    <a:lstStyle/>
                    <a:p>
                      <a:pPr lvl="0" indent="0" marL="0" algn="l">
                        <a:buNone/>
                      </a:pPr>
                      <a:r>
                        <a:rPr/>
                        <a:t>Categorical X</a:t>
                      </a:r>
                    </a:p>
                  </a:txBody>
                  <a:tcPr/>
                </a:tc>
              </a:tr>
              <a:tr h="0">
                <a:tc>
                  <a:txBody>
                    <a:bodyPr/>
                    <a:lstStyle/>
                    <a:p>
                      <a:pPr lvl="0" indent="0" marL="0" algn="l">
                        <a:buNone/>
                      </a:pPr>
                      <a:r>
                        <a:rPr b="1"/>
                        <a:t>Continuous Y</a:t>
                      </a:r>
                    </a:p>
                  </a:txBody>
                </a:tc>
                <a:tc>
                  <a:txBody>
                    <a:bodyPr/>
                    <a:lstStyle/>
                    <a:p>
                      <a:pPr lvl="0" indent="0" marL="0" algn="l">
                        <a:buNone/>
                      </a:pPr>
                      <a:r>
                        <a:rPr/>
                        <a:t>Regression</a:t>
                      </a:r>
                    </a:p>
                  </a:txBody>
                </a:tc>
                <a:tc>
                  <a:txBody>
                    <a:bodyPr/>
                    <a:lstStyle/>
                    <a:p>
                      <a:pPr lvl="0" indent="0" marL="0" algn="l">
                        <a:buNone/>
                      </a:pPr>
                      <a:r>
                        <a:rPr b="1"/>
                        <a:t>ANOVA</a:t>
                      </a:r>
                    </a:p>
                  </a:txBody>
                </a:tc>
              </a:tr>
              <a:tr h="0">
                <a:tc>
                  <a:txBody>
                    <a:bodyPr/>
                    <a:lstStyle/>
                    <a:p>
                      <a:pPr lvl="0" indent="0" marL="0" algn="l">
                        <a:buNone/>
                      </a:pPr>
                      <a:r>
                        <a:rPr b="1"/>
                        <a:t>Categorical Y</a:t>
                      </a:r>
                    </a:p>
                  </a:txBody>
                </a:tc>
                <a:tc>
                  <a:txBody>
                    <a:bodyPr/>
                    <a:lstStyle/>
                    <a:p>
                      <a:pPr lvl="0" indent="0" marL="0" algn="l">
                        <a:buNone/>
                      </a:pPr>
                      <a:r>
                        <a:rPr/>
                        <a:t>Logistic</a:t>
                      </a:r>
                    </a:p>
                  </a:txBody>
                </a:tc>
                <a:tc>
                  <a:txBody>
                    <a:bodyPr/>
                    <a:lstStyle/>
                    <a:p>
                      <a:pPr lvl="0" indent="0" marL="0" algn="l">
                        <a:buNone/>
                      </a:pPr>
                      <a:r>
                        <a:rPr/>
                        <a:t>Contingency</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The Study · Does a Big Claw Act as a Radiator?</a:t>
            </a:r>
          </a:p>
        </p:txBody>
      </p:sp>
      <p:sp>
        <p:nvSpPr>
          <p:cNvPr id="3" name="Text Placeholder 2"/>
          <p:cNvSpPr>
            <a:spLocks noGrp="1"/>
          </p:cNvSpPr>
          <p:nvPr>
            <p:ph idx="1" type="body"/>
          </p:nvPr>
        </p:nvSpPr>
        <p:spPr/>
        <p:txBody>
          <a:bodyPr/>
          <a:lstStyle/>
          <a:p>
            <a:pPr lvl="0" indent="0" marL="0">
              <a:buNone/>
            </a:pPr>
            <a:r>
              <a:rPr/>
              <a:t>A male fiddler crab has one hugely enlarged claw. Darnell &amp; Munguia asked if it acts as a </a:t>
            </a:r>
            <a:r>
              <a:rPr b="1"/>
              <a:t>heat radiator</a:t>
            </a:r>
            <a:r>
              <a:rPr/>
              <a:t>, so the crab can stay out foraging in the sun. If the big claw sheds heat, removing it should make males </a:t>
            </a:r>
            <a:r>
              <a:rPr b="1"/>
              <a:t>hotter</a:t>
            </a:r>
            <a:r>
              <a:rPr/>
              <a:t>.</a:t>
            </a:r>
          </a:p>
          <a:p>
            <a:pPr lvl="0"/>
            <a:r>
              <a:rPr/>
              <a:t>Four groups of </a:t>
            </a:r>
            <a:r>
              <a:rPr b="1"/>
              <a:t>21 crabs each</a:t>
            </a:r>
            <a:r>
              <a:rPr/>
              <a:t>, body temperature above ambient measured in the field:</a:t>
            </a:r>
          </a:p>
          <a:p>
            <a:pPr lvl="1"/>
            <a:r>
              <a:rPr>
                <a:latin typeface="Courier"/>
              </a:rPr>
              <a:t>intact male</a:t>
            </a:r>
            <a:r>
              <a:rPr/>
              <a:t> — the control</a:t>
            </a:r>
          </a:p>
          <a:p>
            <a:pPr lvl="1"/>
            <a:r>
              <a:rPr>
                <a:latin typeface="Courier"/>
              </a:rPr>
              <a:t>male major removed</a:t>
            </a:r>
            <a:r>
              <a:rPr/>
              <a:t> — the big claw taken off</a:t>
            </a:r>
          </a:p>
          <a:p>
            <a:pPr lvl="1"/>
            <a:r>
              <a:rPr>
                <a:latin typeface="Courier"/>
              </a:rPr>
              <a:t>male minor removed</a:t>
            </a:r>
            <a:r>
              <a:rPr/>
              <a:t> — a small claw taken off, the </a:t>
            </a:r>
            <a:r>
              <a:rPr b="1"/>
              <a:t>procedural control</a:t>
            </a:r>
          </a:p>
          <a:p>
            <a:pPr lvl="1"/>
            <a:r>
              <a:rPr>
                <a:latin typeface="Courier"/>
              </a:rPr>
              <a:t>female</a:t>
            </a:r>
            <a:r>
              <a:rPr/>
              <a:t> — never had a major claw at all</a:t>
            </a:r>
          </a:p>
        </p:txBody>
      </p:sp>
      <p:pic>
        <p:nvPicPr>
          <p:cNvPr descr="images/paste-2.png" id="0" name="Picture 1"/>
          <p:cNvPicPr>
            <a:picLocks noGrp="1" noChangeAspect="1"/>
          </p:cNvPicPr>
          <p:nvPr/>
        </p:nvPicPr>
        <p:blipFill>
          <a:blip r:embed="rId2"/>
          <a:stretch>
            <a:fillRect/>
          </a:stretch>
        </p:blipFill>
        <p:spPr bwMode="auto">
          <a:xfrm>
            <a:off x="127000" y="1854200"/>
            <a:ext cx="4432300" cy="2133600"/>
          </a:xfrm>
          <a:prstGeom prst="rect">
            <a:avLst/>
          </a:prstGeom>
          <a:noFill/>
          <a:ln w="9525">
            <a:noFill/>
            <a:headEnd/>
            <a:tailEnd/>
          </a:ln>
        </p:spPr>
      </p:pic>
      <p:sp>
        <p:nvSpPr>
          <p:cNvPr id="5" name="Text Placeholder 4"/>
          <p:cNvSpPr>
            <a:spLocks noGrp="1"/>
          </p:cNvSpPr>
          <p:nvPr>
            <p:ph idx="3" sz="quarter" type="body"/>
          </p:nvPr>
        </p:nvSpPr>
        <p:spPr/>
        <p:txBody>
          <a:bodyPr/>
          <a:lstStyle/>
          <a:p>
            <a:pPr lvl="0" indent="0">
              <a:buNone/>
            </a:pPr>
            <a:r>
              <a:rPr>
                <a:solidFill>
                  <a:srgbClr val="003B4F"/>
                </a:solidFill>
                <a:latin typeface="Courier"/>
              </a:rPr>
              <a:t>crab_df &lt;- </a:t>
            </a:r>
            <a:r>
              <a:rPr>
                <a:solidFill>
                  <a:srgbClr val="4758AB"/>
                </a:solidFill>
                <a:latin typeface="Courier"/>
              </a:rPr>
              <a:t>read_csv</a:t>
            </a:r>
            <a:r>
              <a:rPr>
                <a:solidFill>
                  <a:srgbClr val="003B4F"/>
                </a:solidFill>
                <a:latin typeface="Courier"/>
              </a:rPr>
              <a:t>(</a:t>
            </a:r>
            <a:r>
              <a:rPr>
                <a:solidFill>
                  <a:srgbClr val="20794D"/>
                </a:solidFill>
                <a:latin typeface="Courier"/>
              </a:rPr>
              <a:t>"data/fiddler_crabs.csv"</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crab_type =</a:t>
            </a:r>
            <a:r>
              <a:rPr>
                <a:solidFill>
                  <a:srgbClr val="003B4F"/>
                </a:solidFill>
                <a:latin typeface="Courier"/>
              </a:rPr>
              <a:t> </a:t>
            </a:r>
            <a:r>
              <a:rPr>
                <a:solidFill>
                  <a:srgbClr val="4758AB"/>
                </a:solidFill>
                <a:latin typeface="Courier"/>
              </a:rPr>
              <a:t>factor</a:t>
            </a:r>
            <a:r>
              <a:rPr>
                <a:solidFill>
                  <a:srgbClr val="003B4F"/>
                </a:solidFill>
                <a:latin typeface="Courier"/>
              </a:rPr>
              <a:t>(crab_type))</a:t>
            </a:r>
            <a:br/>
            <a:br/>
            <a:r>
              <a:rPr>
                <a:solidFill>
                  <a:srgbClr val="4758AB"/>
                </a:solidFill>
                <a:latin typeface="Courier"/>
              </a:rPr>
              <a:t>count</a:t>
            </a:r>
            <a:r>
              <a:rPr>
                <a:solidFill>
                  <a:srgbClr val="003B4F"/>
                </a:solidFill>
                <a:latin typeface="Courier"/>
              </a:rPr>
              <a:t>(crab_df, crab_type)</a:t>
            </a:r>
          </a:p>
          <a:p>
            <a:pPr lvl="0" indent="0">
              <a:buNone/>
            </a:pPr>
            <a:r>
              <a:rPr>
                <a:latin typeface="Courier"/>
              </a:rPr>
              <a:t># A tibble: 4 × 2
  crab_type              n
  &lt;fct&gt;              &lt;int&gt;
1 female                21
2 intact male           21
3 male major removed    21
4 male minor removed    21</a:t>
            </a:r>
          </a:p>
          <a:p>
            <a:pPr lvl="0" indent="0" marL="1270000">
              <a:buNone/>
            </a:pPr>
            <a:r>
              <a:rPr sz="2000" b="1"/>
              <a:t>Note</a:t>
            </a:r>
          </a:p>
          <a:p>
            <a:pPr lvl="0" indent="0" marL="1270000">
              <a:buNone/>
            </a:pPr>
            <a:r>
              <a:rPr sz="2000" b="1"/>
              <a:t>A balanced design</a:t>
            </a:r>
          </a:p>
          <a:p>
            <a:pPr lvl="0" indent="0" marL="1270000">
              <a:buNone/>
            </a:pPr>
            <a:r>
              <a:rPr sz="2000"/>
              <a:t>Equal n in every group — which makes the degrees-of-freedom arithmetic below clean, and the test robust.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 How Today Works</a:t>
            </a:r>
          </a:p>
        </p:txBody>
      </p:sp>
      <p:sp>
        <p:nvSpPr>
          <p:cNvPr id="3" name="Content Placeholder 2"/>
          <p:cNvSpPr>
            <a:spLocks noGrp="1"/>
          </p:cNvSpPr>
          <p:nvPr>
            <p:ph idx="1"/>
          </p:nvPr>
        </p:nvSpPr>
        <p:spPr/>
        <p:txBody>
          <a:bodyPr/>
          <a:lstStyle/>
          <a:p>
            <a:pPr lvl="0" indent="0" marL="1270000">
              <a:buNone/>
            </a:pPr>
            <a:r>
              <a:rPr sz="2000" b="1"/>
              <a:t>Warning</a:t>
            </a:r>
          </a:p>
          <a:p>
            <a:pPr lvl="0" indent="0" marL="1270000">
              <a:buNone/>
            </a:pPr>
            <a:r>
              <a:rPr sz="2000" b="1"/>
              <a:t>🗳️ Six times today, you make the call</a:t>
            </a:r>
          </a:p>
          <a:p>
            <a:pPr lvl="0" indent="0" marL="1270000">
              <a:buNone/>
            </a:pPr>
            <a:r>
              <a:rPr sz="2000"/>
              <a:t>Six slides are marked </a:t>
            </a:r>
            <a:r>
              <a:rPr sz="2000" b="1"/>
              <a:t>🗳️ DECIDE</a:t>
            </a:r>
            <a:r>
              <a:rPr sz="2000"/>
              <a:t>. Each asks a multiple-choice question, and I will </a:t>
            </a:r>
            <a:r>
              <a:rPr sz="2000" i="1"/>
              <a:t>not</a:t>
            </a:r>
            <a:r>
              <a:rPr sz="2000"/>
              <a:t> tell you the answer on that slide.</a:t>
            </a:r>
          </a:p>
          <a:p>
            <a:pPr lvl="0"/>
            <a:r>
              <a:rPr sz="2000" b="1"/>
              <a:t>How it works:</a:t>
            </a:r>
          </a:p>
          <a:p>
            <a:pPr lvl="1"/>
            <a:r>
              <a:rPr sz="2000"/>
              <a:t>write your letter down — actually write it</a:t>
            </a:r>
          </a:p>
          <a:p>
            <a:pPr lvl="1"/>
            <a:r>
              <a:rPr sz="2000"/>
              <a:t>then hold up fingers 1–4</a:t>
            </a:r>
          </a:p>
          <a:p>
            <a:pPr lvl="1"/>
            <a:r>
              <a:rPr sz="2000"/>
              <a:t>If the room splits, turn to the person next to you, argue for ninety seconds, and we vote again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ANOVA Is Regression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Same Machinery, Different Predictor</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b="1"/>
                  <a:t>Regression</a:t>
                </a:r>
              </a:p>
              <a:p>
                <a:pPr lvl="0" indent="0" marL="0">
                  <a:buNone/>
                </a:pPr>
                <a14:m>
                  <m:oMathPara xmlns:m="http://schemas.openxmlformats.org/officeDocument/2006/math">
                    <m:oMathParaPr>
                      <m:jc m:val="center"/>
                    </m:oMathParaPr>
                    <m:oMath>
                      <m:sSub>
                        <m:e>
                          <m:r>
                            <m:t>Y</m:t>
                          </m:r>
                        </m:e>
                        <m:sub>
                          <m:r>
                            <m:t>i</m:t>
                          </m:r>
                        </m:sub>
                      </m:sSub>
                      <m:r>
                        <m:rPr>
                          <m:sty m:val="p"/>
                        </m:rPr>
                        <m:t>=</m:t>
                      </m:r>
                      <m:sSub>
                        <m:e>
                          <m:r>
                            <m:t>β</m:t>
                          </m:r>
                        </m:e>
                        <m:sub>
                          <m:r>
                            <m:t>0</m:t>
                          </m:r>
                        </m:sub>
                      </m:sSub>
                      <m:r>
                        <m:rPr>
                          <m:sty m:val="p"/>
                        </m:rPr>
                        <m:t>+</m:t>
                      </m:r>
                      <m:sSub>
                        <m:e>
                          <m:r>
                            <m:t>β</m:t>
                          </m:r>
                        </m:e>
                        <m:sub>
                          <m:r>
                            <m:t>1</m:t>
                          </m:r>
                        </m:sub>
                      </m:sSub>
                      <m:sSub>
                        <m:e>
                          <m:r>
                            <m:t>X</m:t>
                          </m:r>
                        </m:e>
                        <m:sub>
                          <m:r>
                            <m:t>i</m:t>
                          </m:r>
                        </m:sub>
                      </m:sSub>
                      <m:r>
                        <m:rPr>
                          <m:sty m:val="p"/>
                        </m:rPr>
                        <m:t>+</m:t>
                      </m:r>
                      <m:sSub>
                        <m:e>
                          <m:r>
                            <m:t>ε</m:t>
                          </m:r>
                        </m:e>
                        <m:sub>
                          <m:r>
                            <m:t>i</m:t>
                          </m:r>
                        </m:sub>
                      </m:sSub>
                    </m:oMath>
                  </m:oMathPara>
                </a14:m>
              </a:p>
              <a:p>
                <a:pPr lvl="0"/>
                <a:r>
                  <a:rPr/>
                  <a:t>X is continuous</a:t>
                </a:r>
              </a:p>
              <a:p>
                <a:pPr lvl="0"/>
                <a:r>
                  <a:rPr/>
                  <a:t>H₀: β₁ = 0</a:t>
                </a:r>
              </a:p>
              <a:p>
                <a:pPr lvl="0"/>
                <a:r>
                  <a:rPr/>
                  <a:t>One slope</a:t>
                </a:r>
              </a:p>
              <a:p>
                <a:pPr lvl="0" indent="0" marL="0">
                  <a:buNone/>
                </a:pPr>
                <a:r>
                  <a:rPr b="1"/>
                  <a:t>ANOVA</a:t>
                </a:r>
              </a:p>
              <a:p>
                <a:pPr lvl="0" indent="0" marL="0">
                  <a:buNone/>
                </a:pPr>
                <a14:m>
                  <m:oMathPara xmlns:m="http://schemas.openxmlformats.org/officeDocument/2006/math">
                    <m:oMathParaPr>
                      <m:jc m:val="center"/>
                    </m:oMathParaPr>
                    <m:oMath>
                      <m:sSub>
                        <m:e>
                          <m:r>
                            <m:t>Y</m:t>
                          </m:r>
                        </m:e>
                        <m:sub>
                          <m:r>
                            <m:t>i</m:t>
                          </m:r>
                          <m:r>
                            <m:t>j</m:t>
                          </m:r>
                        </m:sub>
                      </m:sSub>
                      <m:r>
                        <m:rPr>
                          <m:sty m:val="p"/>
                        </m:rPr>
                        <m:t>=</m:t>
                      </m:r>
                      <m:r>
                        <m:t>μ</m:t>
                      </m:r>
                      <m:r>
                        <m:rPr>
                          <m:sty m:val="p"/>
                        </m:rPr>
                        <m:t>+</m:t>
                      </m:r>
                      <m:sSub>
                        <m:e>
                          <m:r>
                            <m:t>A</m:t>
                          </m:r>
                        </m:e>
                        <m:sub>
                          <m:r>
                            <m:t>i</m:t>
                          </m:r>
                        </m:sub>
                      </m:sSub>
                      <m:r>
                        <m:rPr>
                          <m:sty m:val="p"/>
                        </m:rPr>
                        <m:t>+</m:t>
                      </m:r>
                      <m:sSub>
                        <m:e>
                          <m:r>
                            <m:t>ε</m:t>
                          </m:r>
                        </m:e>
                        <m:sub>
                          <m:r>
                            <m:t>i</m:t>
                          </m:r>
                          <m:r>
                            <m:t>j</m:t>
                          </m:r>
                        </m:sub>
                      </m:sSub>
                    </m:oMath>
                  </m:oMathPara>
                </a14:m>
              </a:p>
              <a:p>
                <a:pPr lvl="0"/>
                <a14:m>
                  <m:oMath xmlns:m="http://schemas.openxmlformats.org/officeDocument/2006/math">
                    <m:sSub>
                      <m:e>
                        <m:r>
                          <m:t>A</m:t>
                        </m:r>
                      </m:e>
                      <m:sub>
                        <m:r>
                          <m:t>i</m:t>
                        </m:r>
                      </m:sub>
                    </m:sSub>
                  </m:oMath>
                </a14:m>
                <a:r>
                  <a:rPr/>
                  <a:t> is the effect of group i</a:t>
                </a:r>
              </a:p>
              <a:p>
                <a:pPr lvl="0"/>
                <a:r>
                  <a:rPr/>
                  <a:t>H₀: μ₁ = μ₂ = … = μₖ</a:t>
                </a:r>
              </a:p>
              <a:p>
                <a:pPr lvl="0"/>
                <a:r>
                  <a:rPr/>
                  <a:t>One coefficient per group, minus one</a:t>
                </a:r>
              </a:p>
            </p:txBody>
          </p:sp>
        </mc:Choice>
      </mc:AlternateContent>
      <p:sp>
        <p:nvSpPr>
          <p:cNvPr id="4" name="Content Placeholder 3"/>
          <p:cNvSpPr>
            <a:spLocks noGrp="1"/>
          </p:cNvSpPr>
          <p:nvPr>
            <p:ph idx="2" sz="half"/>
          </p:nvPr>
        </p:nvSpPr>
        <p:spPr/>
        <p:txBody>
          <a:bodyPr/>
          <a:lstStyle/>
          <a:p>
            <a:pPr lvl="0" indent="0" marL="0">
              <a:buNone/>
            </a:pPr>
            <a:r>
              <a:rPr/>
              <a:t>Both:</a:t>
            </a:r>
          </a:p>
          <a:p>
            <a:pPr lvl="0"/>
            <a:r>
              <a:rPr/>
              <a:t>Partition total variation into </a:t>
            </a:r>
            <a:r>
              <a:rPr b="1"/>
              <a:t>explained</a:t>
            </a:r>
            <a:r>
              <a:rPr/>
              <a:t> and </a:t>
            </a:r>
            <a:r>
              <a:rPr b="1"/>
              <a:t>left over</a:t>
            </a:r>
          </a:p>
          <a:p>
            <a:pPr lvl="0"/>
            <a:r>
              <a:rPr/>
              <a:t>Divide each sum of squares by its degrees of freedom</a:t>
            </a:r>
          </a:p>
          <a:p>
            <a:pPr lvl="0"/>
            <a:r>
              <a:rPr/>
              <a:t>Test with an </a:t>
            </a:r>
            <a:r>
              <a:rPr b="1"/>
              <a:t>F-ratio</a:t>
            </a:r>
            <a:r>
              <a:rPr/>
              <a:t> of the two mean squares</a:t>
            </a:r>
          </a:p>
          <a:p>
            <a:pPr lvl="0" indent="0" marL="1270000">
              <a:buNone/>
            </a:pPr>
            <a:r>
              <a:rPr sz="2000" b="1"/>
              <a:t>Important</a:t>
            </a:r>
          </a:p>
          <a:p>
            <a:pPr lvl="0" indent="0" marL="1270000">
              <a:buNone/>
            </a:pPr>
            <a:r>
              <a:rPr sz="2000" b="1"/>
              <a:t>✅ The same </a:t>
            </a:r>
            <a:r>
              <a:rPr sz="2000" b="1">
                <a:latin typeface="Courier"/>
              </a:rPr>
              <a:t>lm()</a:t>
            </a:r>
            <a:r>
              <a:rPr sz="2000" b="1"/>
              <a:t> call</a:t>
            </a:r>
          </a:p>
          <a:p>
            <a:pPr lvl="0" indent="0">
              <a:buNone/>
            </a:pPr>
            <a:r>
              <a:rPr>
                <a:solidFill>
                  <a:srgbClr val="5E5E5E"/>
                </a:solidFill>
                <a:latin typeface="Courier"/>
              </a:rPr>
              <a:t># regression</a:t>
            </a:r>
            <a:br/>
            <a:r>
              <a:rPr>
                <a:solidFill>
                  <a:srgbClr val="4758AB"/>
                </a:solidFill>
                <a:latin typeface="Courier"/>
              </a:rPr>
              <a:t>lm</a:t>
            </a:r>
            <a:r>
              <a:rPr>
                <a:solidFill>
                  <a:srgbClr val="003B4F"/>
                </a:solidFill>
                <a:latin typeface="Courier"/>
              </a:rPr>
              <a:t>(absorbance </a:t>
            </a:r>
            <a:r>
              <a:rPr>
                <a:solidFill>
                  <a:srgbClr val="5E5E5E"/>
                </a:solidFill>
                <a:latin typeface="Courier"/>
              </a:rPr>
              <a:t>~</a:t>
            </a:r>
            <a:r>
              <a:rPr>
                <a:solidFill>
                  <a:srgbClr val="003B4F"/>
                </a:solidFill>
                <a:latin typeface="Courier"/>
              </a:rPr>
              <a:t> nitrate, </a:t>
            </a:r>
            <a:r>
              <a:rPr>
                <a:solidFill>
                  <a:srgbClr val="657422"/>
                </a:solidFill>
                <a:latin typeface="Courier"/>
              </a:rPr>
              <a:t>data =</a:t>
            </a:r>
            <a:r>
              <a:rPr>
                <a:solidFill>
                  <a:srgbClr val="003B4F"/>
                </a:solidFill>
                <a:latin typeface="Courier"/>
              </a:rPr>
              <a:t> df)</a:t>
            </a:r>
            <a:br/>
            <a:br/>
            <a:r>
              <a:rPr>
                <a:solidFill>
                  <a:srgbClr val="5E5E5E"/>
                </a:solidFill>
                <a:latin typeface="Courier"/>
              </a:rPr>
              <a:t># ANOVA</a:t>
            </a:r>
            <a:br/>
            <a:r>
              <a:rPr>
                <a:solidFill>
                  <a:srgbClr val="4758AB"/>
                </a:solidFill>
                <a:latin typeface="Courier"/>
              </a:rPr>
              <a:t>lm</a:t>
            </a:r>
            <a:r>
              <a:rPr>
                <a:solidFill>
                  <a:srgbClr val="003B4F"/>
                </a:solidFill>
                <a:latin typeface="Courier"/>
              </a:rPr>
              <a:t>(body_temp_c </a:t>
            </a:r>
            <a:r>
              <a:rPr>
                <a:solidFill>
                  <a:srgbClr val="5E5E5E"/>
                </a:solidFill>
                <a:latin typeface="Courier"/>
              </a:rPr>
              <a:t>~</a:t>
            </a:r>
            <a:r>
              <a:rPr>
                <a:solidFill>
                  <a:srgbClr val="003B4F"/>
                </a:solidFill>
                <a:latin typeface="Courier"/>
              </a:rPr>
              <a:t> crab_type, </a:t>
            </a:r>
            <a:r>
              <a:rPr>
                <a:solidFill>
                  <a:srgbClr val="657422"/>
                </a:solidFill>
                <a:latin typeface="Courier"/>
              </a:rPr>
              <a:t>data =</a:t>
            </a:r>
            <a:r>
              <a:rPr>
                <a:solidFill>
                  <a:srgbClr val="003B4F"/>
                </a:solidFill>
                <a:latin typeface="Courier"/>
              </a:rPr>
              <a:t> df)</a:t>
            </a:r>
          </a:p>
          <a:p>
            <a:pPr lvl="0" indent="0" marL="1270000">
              <a:buNone/>
            </a:pPr>
            <a:r>
              <a:rPr sz="2000" b="1"/>
              <a:t>The only difference is that </a:t>
            </a:r>
            <a:r>
              <a:rPr sz="2000" b="1">
                <a:latin typeface="Courier"/>
              </a:rPr>
              <a:t>crab_type</a:t>
            </a:r>
            <a:r>
              <a:rPr sz="2000" b="1"/>
              <a:t> is a factor, so R builds dummy variables for you — exactly as it did last week.</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R Actually Fits</a:t>
            </a:r>
          </a:p>
        </p:txBody>
      </p:sp>
      <p:sp>
        <p:nvSpPr>
          <p:cNvPr id="3" name="Content Placeholder 2"/>
          <p:cNvSpPr>
            <a:spLocks noGrp="1"/>
          </p:cNvSpPr>
          <p:nvPr>
            <p:ph idx="1" sz="half"/>
          </p:nvPr>
        </p:nvSpPr>
        <p:spPr/>
        <p:txBody>
          <a:bodyPr/>
          <a:lstStyle/>
          <a:p>
            <a:pPr lvl="0" indent="0" marL="0">
              <a:buNone/>
            </a:pPr>
            <a:r>
              <a:rPr>
                <a:latin typeface="Courier"/>
              </a:rPr>
              <a:t>lm()</a:t>
            </a:r>
            <a:r>
              <a:rPr/>
              <a:t> cannot multiply by the word “female.” Behind the formula it builds a </a:t>
            </a:r>
            <a:r>
              <a:rPr b="1"/>
              <a:t>dummy variable</a:t>
            </a:r>
            <a:r>
              <a:rPr/>
              <a:t> for every level except the first — a column of 0s and 1s saying “is this crab in that group?”</a:t>
            </a:r>
          </a:p>
          <a:p>
            <a:pPr lvl="0" indent="0">
              <a:buNone/>
            </a:pPr>
            <a:r>
              <a:rPr>
                <a:solidFill>
                  <a:srgbClr val="003B4F"/>
                </a:solidFill>
                <a:latin typeface="Courier"/>
              </a:rPr>
              <a:t>crab_model &lt;- </a:t>
            </a:r>
            <a:r>
              <a:rPr>
                <a:solidFill>
                  <a:srgbClr val="4758AB"/>
                </a:solidFill>
                <a:latin typeface="Courier"/>
              </a:rPr>
              <a:t>lm</a:t>
            </a:r>
            <a:r>
              <a:rPr>
                <a:solidFill>
                  <a:srgbClr val="003B4F"/>
                </a:solidFill>
                <a:latin typeface="Courier"/>
              </a:rPr>
              <a:t>(body_temp_c </a:t>
            </a:r>
            <a:r>
              <a:rPr>
                <a:solidFill>
                  <a:srgbClr val="5E5E5E"/>
                </a:solidFill>
                <a:latin typeface="Courier"/>
              </a:rPr>
              <a:t>~</a:t>
            </a:r>
            <a:r>
              <a:rPr>
                <a:solidFill>
                  <a:srgbClr val="003B4F"/>
                </a:solidFill>
                <a:latin typeface="Courier"/>
              </a:rPr>
              <a:t> crab_type, </a:t>
            </a:r>
            <a:r>
              <a:rPr>
                <a:solidFill>
                  <a:srgbClr val="657422"/>
                </a:solidFill>
                <a:latin typeface="Courier"/>
              </a:rPr>
              <a:t>data =</a:t>
            </a:r>
            <a:r>
              <a:rPr>
                <a:solidFill>
                  <a:srgbClr val="003B4F"/>
                </a:solidFill>
                <a:latin typeface="Courier"/>
              </a:rPr>
              <a:t> crab_df)</a:t>
            </a:r>
            <a:br/>
            <a:br/>
            <a:r>
              <a:rPr>
                <a:solidFill>
                  <a:srgbClr val="4758AB"/>
                </a:solidFill>
                <a:latin typeface="Courier"/>
              </a:rPr>
              <a:t>model.matrix</a:t>
            </a:r>
            <a:r>
              <a:rPr>
                <a:solidFill>
                  <a:srgbClr val="003B4F"/>
                </a:solidFill>
                <a:latin typeface="Courier"/>
              </a:rPr>
              <a:t>(crab_model) </a:t>
            </a:r>
            <a:r>
              <a:rPr>
                <a:solidFill>
                  <a:srgbClr val="5E5E5E"/>
                </a:solidFill>
                <a:latin typeface="Courier"/>
              </a:rPr>
              <a:t>%&gt;%</a:t>
            </a:r>
            <a:r>
              <a:rPr>
                <a:solidFill>
                  <a:srgbClr val="003B4F"/>
                </a:solidFill>
                <a:latin typeface="Courier"/>
              </a:rPr>
              <a:t> </a:t>
            </a:r>
            <a:r>
              <a:rPr>
                <a:solidFill>
                  <a:srgbClr val="4758AB"/>
                </a:solidFill>
                <a:latin typeface="Courier"/>
              </a:rPr>
              <a:t>head</a:t>
            </a:r>
            <a:r>
              <a:rPr>
                <a:solidFill>
                  <a:srgbClr val="003B4F"/>
                </a:solidFill>
                <a:latin typeface="Courier"/>
              </a:rPr>
              <a:t>(</a:t>
            </a:r>
            <a:r>
              <a:rPr>
                <a:solidFill>
                  <a:srgbClr val="AD0000"/>
                </a:solidFill>
                <a:latin typeface="Courier"/>
              </a:rPr>
              <a:t>120</a:t>
            </a:r>
            <a:r>
              <a:rPr>
                <a:solidFill>
                  <a:srgbClr val="003B4F"/>
                </a:solidFill>
                <a:latin typeface="Courier"/>
              </a:rPr>
              <a:t>)</a:t>
            </a:r>
          </a:p>
          <a:p>
            <a:pPr lvl="0" indent="0">
              <a:buNone/>
            </a:pPr>
            <a:r>
              <a:rPr>
                <a:latin typeface="Courier"/>
              </a:rPr>
              <a:t>   (Intercept) crab_typeintact male crab_typemale major removed
1            1                    0                           0
2            1                    0                           0
3            1                    0                           0
4            1                    0                           0
5            1                    0                           0
6            1                    0                           0
7            1                    0                           0
8            1                    0                           0
9            1                    0                           0
10           1                    0                           0
11           1                    0                           0
12           1                    0                           0
13           1                    0                           0
14           1                    0                           0
15           1                    0                           0
16           1                    0                           0
17           1                    0                           0
18           1                    0                           0
19           1                    0                           0
20           1                    0                           0
21           1                    0                           0
22           1                    1                           0
23           1                    1                           0
24           1                    1                           0
25           1                    1                           0
26           1                    1                           0
27           1                    1                           0
28           1                    1                           0
29           1                    1                           0
30           1                    1                           0
31           1                    1                           0
32           1                    1                           0
33           1                    1                           0
34           1                    1                           0
35           1                    1                           0
36           1                    1                           0
37           1                    1                           0
38           1                    1                           0
39           1                    1                           0
40           1                    1                           0
41           1                    1                           0
42           1                    1                           0
43           1                    0                           0
44           1                    0                           0
45           1                    0                           0
46           1                    0                           0
47           1                    0                           0
48           1                    0                           0
49           1                    0                           0
50           1                    0                           0
51           1                    0                           0
52           1                    0                           0
53           1                    0                           0
54           1                    0                           0
55           1                    0                           0
56           1                    0                           0
57           1                    0                           0
58           1                    0                           0
59           1                    0                           0
60           1                    0                           0
61           1                    0                           0
62           1                    0                           0
63           1                    0                           0
64           1                    0                           1
65           1                    0                           1
66           1                    0                           1
67           1                    0                           1
68           1                    0                           1
69           1                    0                           1
70           1                    0                           1
71           1                    0                           1
72           1                    0                           1
73           1                    0                           1
74           1                    0                           1
75           1                    0                           1
76           1                    0                           1
77           1                    0                           1
78           1                    0                           1
79           1                    0                           1
80           1                    0                           1
81           1                    0                           1
82           1                    0                           1
83           1                    0                           1
84           1                    0                           1
   crab_typemale minor removed
1                            0
2                            0
3                            0
4                            0
5                            0
6                            0
7                            0
8                            0
9                            0
10                           0
11                           0
12                           0
13                           0
14                           0
15                           0
16                           0
17                           0
18                           0
19                           0
20                           0
21                           0
22                           0
23                           0
24                           0
25                           0
26                           0
27                           0
28                           0
29                           0
30                           0
31                           0
32                           0
33                           0
34                           0
35                           0
36                           0
37                           0
38                           0
39                           0
40                           0
41                           0
42                           0
43                           1
44                           1
45                           1
46                           1
47                           1
48                           1
49                           1
50                           1
51                           1
52                           1
53                           1
54                           1
55                           1
56                           1
57                           1
58                           1
59                           1
60                           1
61                           1
62                           1
63                           1
64                           0
65                           0
66                           0
67                           0
68                           0
69                           0
70                           0
71                           0
72                           0
73                           0
74                           0
75                           0
76                           0
77                           0
78                           0
79                           0
80                           0
81                           0
82                           0
83                           0
84                           0</a:t>
            </a:r>
          </a:p>
          <a:p>
            <a:pPr lvl="0" indent="0" marL="0">
              <a:buNone/>
            </a:pPr>
            <a:r>
              <a:rPr/>
              <a:t>Four groups, </a:t>
            </a:r>
            <a:r>
              <a:rPr b="1"/>
              <a:t>three</a:t>
            </a:r>
            <a:r>
              <a:rPr/>
              <a:t> dummy columns. The level with no column of its own is the </a:t>
            </a:r>
            <a:r>
              <a:rPr b="1"/>
              <a:t>reference</a:t>
            </a:r>
            <a:r>
              <a:rPr/>
              <a:t>, and it is carried by the intercept.</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This is the whole trick</a:t>
            </a:r>
          </a:p>
          <a:p>
            <a:pPr lvl="0" indent="0" marL="1270000">
              <a:buNone/>
            </a:pPr>
            <a:r>
              <a:rPr sz="2000"/>
              <a:t>A one-way ANOVA </a:t>
            </a:r>
            <a:r>
              <a:rPr sz="2000" i="1"/>
              <a:t>is</a:t>
            </a:r>
            <a:r>
              <a:rPr sz="2000"/>
              <a:t> a multiple regression whose predictors happen to be 0/1 columns. You met those columns last week under the name </a:t>
            </a:r>
            <a:r>
              <a:rPr sz="2000" b="1"/>
              <a:t>dummy variables</a:t>
            </a:r>
            <a:r>
              <a:rPr sz="2000"/>
              <a:t>.</a:t>
            </a:r>
          </a:p>
          <a:p>
            <a:pPr lvl="0" indent="0" marL="1270000">
              <a:buNone/>
            </a:pPr>
            <a:r>
              <a:rPr sz="2000">
                <a:latin typeface="Courier"/>
              </a:rPr>
              <a:t>aov()</a:t>
            </a:r>
            <a:r>
              <a:rPr sz="2000"/>
              <a:t> and </a:t>
            </a:r>
            <a:r>
              <a:rPr sz="2000">
                <a:latin typeface="Courier"/>
              </a:rPr>
              <a:t>lm()</a:t>
            </a:r>
            <a:r>
              <a:rPr sz="2000"/>
              <a:t> fit the identical model — </a:t>
            </a:r>
            <a:r>
              <a:rPr sz="2000">
                <a:latin typeface="Courier"/>
              </a:rPr>
              <a:t>aov()</a:t>
            </a:r>
            <a:r>
              <a:rPr sz="2000"/>
              <a:t> just prints it as an ANOVA table by default.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Coefficients Are the Group Means</a:t>
            </a:r>
          </a:p>
        </p:txBody>
      </p:sp>
      <p:sp>
        <p:nvSpPr>
          <p:cNvPr id="3" name="Content Placeholder 2"/>
          <p:cNvSpPr>
            <a:spLocks noGrp="1"/>
          </p:cNvSpPr>
          <p:nvPr>
            <p:ph idx="1" sz="half"/>
          </p:nvPr>
        </p:nvSpPr>
        <p:spPr/>
        <p:txBody>
          <a:bodyPr/>
          <a:lstStyle/>
          <a:p>
            <a:pPr lvl="0" indent="0">
              <a:buNone/>
            </a:pPr>
            <a:r>
              <a:rPr>
                <a:solidFill>
                  <a:srgbClr val="003B4F"/>
                </a:solidFill>
                <a:latin typeface="Courier"/>
              </a:rPr>
              <a:t>coefs &lt;- </a:t>
            </a:r>
            <a:r>
              <a:rPr>
                <a:solidFill>
                  <a:srgbClr val="4758AB"/>
                </a:solidFill>
                <a:latin typeface="Courier"/>
              </a:rPr>
              <a:t>coef</a:t>
            </a:r>
            <a:r>
              <a:rPr>
                <a:solidFill>
                  <a:srgbClr val="003B4F"/>
                </a:solidFill>
                <a:latin typeface="Courier"/>
              </a:rPr>
              <a:t>(crab_model)</a:t>
            </a:r>
            <a:br/>
            <a:br/>
            <a:r>
              <a:rPr>
                <a:solidFill>
                  <a:srgbClr val="003B4F"/>
                </a:solidFill>
                <a:latin typeface="Courier"/>
              </a:rPr>
              <a:t>crab_df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(crab_type)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r>
              <a:rPr>
                <a:solidFill>
                  <a:srgbClr val="657422"/>
                </a:solidFill>
                <a:latin typeface="Courier"/>
              </a:rPr>
              <a:t>group_mean =</a:t>
            </a:r>
            <a:r>
              <a:rPr>
                <a:solidFill>
                  <a:srgbClr val="003B4F"/>
                </a:solidFill>
                <a:latin typeface="Courier"/>
              </a:rPr>
              <a:t> </a:t>
            </a:r>
            <a:r>
              <a:rPr>
                <a:solidFill>
                  <a:srgbClr val="4758AB"/>
                </a:solidFill>
                <a:latin typeface="Courier"/>
              </a:rPr>
              <a:t>mean</a:t>
            </a:r>
            <a:r>
              <a:rPr>
                <a:solidFill>
                  <a:srgbClr val="003B4F"/>
                </a:solidFill>
                <a:latin typeface="Courier"/>
              </a:rPr>
              <a:t>(body_temp_c))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from_coefficients =</a:t>
            </a:r>
            <a:r>
              <a:rPr>
                <a:solidFill>
                  <a:srgbClr val="003B4F"/>
                </a:solidFill>
                <a:latin typeface="Courier"/>
              </a:rPr>
              <a:t> </a:t>
            </a:r>
            <a:r>
              <a:rPr>
                <a:solidFill>
                  <a:srgbClr val="4758AB"/>
                </a:solidFill>
                <a:latin typeface="Courier"/>
              </a:rPr>
              <a:t>c</a:t>
            </a:r>
            <a:r>
              <a:rPr>
                <a:solidFill>
                  <a:srgbClr val="003B4F"/>
                </a:solidFill>
                <a:latin typeface="Courier"/>
              </a:rPr>
              <a:t>(</a:t>
            </a:r>
            <a:br/>
            <a:r>
              <a:rPr>
                <a:solidFill>
                  <a:srgbClr val="003B4F"/>
                </a:solidFill>
                <a:latin typeface="Courier"/>
              </a:rPr>
              <a:t>      coefs[</a:t>
            </a:r>
            <a:r>
              <a:rPr>
                <a:solidFill>
                  <a:srgbClr val="AD0000"/>
                </a:solidFill>
                <a:latin typeface="Courier"/>
              </a:rPr>
              <a:t>1</a:t>
            </a:r>
            <a:r>
              <a:rPr>
                <a:solidFill>
                  <a:srgbClr val="003B4F"/>
                </a:solidFill>
                <a:latin typeface="Courier"/>
              </a:rPr>
              <a:t>],</a:t>
            </a:r>
            <a:br/>
            <a:r>
              <a:rPr>
                <a:solidFill>
                  <a:srgbClr val="003B4F"/>
                </a:solidFill>
                <a:latin typeface="Courier"/>
              </a:rPr>
              <a:t>      coefs[</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coefs[</a:t>
            </a:r>
            <a:r>
              <a:rPr>
                <a:solidFill>
                  <a:srgbClr val="AD0000"/>
                </a:solidFill>
                <a:latin typeface="Courier"/>
              </a:rPr>
              <a:t>2</a:t>
            </a:r>
            <a:r>
              <a:rPr>
                <a:solidFill>
                  <a:srgbClr val="003B4F"/>
                </a:solidFill>
                <a:latin typeface="Courier"/>
              </a:rPr>
              <a:t>],</a:t>
            </a:r>
            <a:br/>
            <a:r>
              <a:rPr>
                <a:solidFill>
                  <a:srgbClr val="003B4F"/>
                </a:solidFill>
                <a:latin typeface="Courier"/>
              </a:rPr>
              <a:t>      coefs[</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coefs[</a:t>
            </a:r>
            <a:r>
              <a:rPr>
                <a:solidFill>
                  <a:srgbClr val="AD0000"/>
                </a:solidFill>
                <a:latin typeface="Courier"/>
              </a:rPr>
              <a:t>3</a:t>
            </a:r>
            <a:r>
              <a:rPr>
                <a:solidFill>
                  <a:srgbClr val="003B4F"/>
                </a:solidFill>
                <a:latin typeface="Courier"/>
              </a:rPr>
              <a:t>],</a:t>
            </a:r>
            <a:br/>
            <a:r>
              <a:rPr>
                <a:solidFill>
                  <a:srgbClr val="003B4F"/>
                </a:solidFill>
                <a:latin typeface="Courier"/>
              </a:rPr>
              <a:t>      coefs[</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coefs[</a:t>
            </a:r>
            <a:r>
              <a:rPr>
                <a:solidFill>
                  <a:srgbClr val="AD0000"/>
                </a:solidFill>
                <a:latin typeface="Courier"/>
              </a:rPr>
              <a:t>4</a:t>
            </a:r>
            <a:r>
              <a:rPr>
                <a:solidFill>
                  <a:srgbClr val="003B4F"/>
                </a:solidFill>
                <a:latin typeface="Courier"/>
              </a:rPr>
              <a:t>]</a:t>
            </a:r>
            <a:br/>
            <a:r>
              <a:rPr>
                <a:solidFill>
                  <a:srgbClr val="003B4F"/>
                </a:solidFill>
                <a:latin typeface="Courier"/>
              </a:rPr>
              <a:t>    )</a:t>
            </a:r>
            <a:br/>
            <a:r>
              <a:rPr>
                <a:solidFill>
                  <a:srgbClr val="003B4F"/>
                </a:solidFill>
                <a:latin typeface="Courier"/>
              </a:rPr>
              <a:t>  )</a:t>
            </a:r>
          </a:p>
          <a:p>
            <a:pPr lvl="0" indent="0">
              <a:buNone/>
            </a:pPr>
            <a:r>
              <a:rPr>
                <a:latin typeface="Courier"/>
              </a:rPr>
              <a:t># A tibble: 4 × 3
  crab_type          group_mean from_coefficients
  &lt;fct&gt;                   &lt;dbl&gt;             &lt;dbl&gt;
1 female                   1.68              1.68
2 intact male              1.29              1.29
3 male major removed       1.41              1.41
4 male minor removed       1.21              1.21</a:t>
            </a:r>
          </a:p>
        </p:txBody>
      </p:sp>
      <p:sp>
        <p:nvSpPr>
          <p:cNvPr id="4" name="Content Placeholder 3"/>
          <p:cNvSpPr>
            <a:spLocks noGrp="1"/>
          </p:cNvSpPr>
          <p:nvPr>
            <p:ph idx="2" sz="half"/>
          </p:nvPr>
        </p:nvSpPr>
        <p:spPr/>
        <p:txBody>
          <a:bodyPr/>
          <a:lstStyle/>
          <a:p>
            <a:pPr lvl="0" indent="0" marL="0">
              <a:buNone/>
            </a:pPr>
            <a:r>
              <a:rPr/>
              <a:t>The intercept </a:t>
            </a:r>
            <a:r>
              <a:rPr b="1"/>
              <a:t>is</a:t>
            </a:r>
            <a:r>
              <a:rPr/>
              <a:t> the mean of the reference group. Every other coefficient is that group’s </a:t>
            </a:r>
            <a:r>
              <a:rPr b="1"/>
              <a:t>difference from it</a:t>
            </a:r>
            <a:r>
              <a:rPr/>
              <a:t>, so adding them back recovers each group mean exactly.</a:t>
            </a:r>
          </a:p>
          <a:p>
            <a:pPr lvl="0" indent="0" marL="1270000">
              <a:buNone/>
            </a:pPr>
            <a:r>
              <a:rPr sz="2000" b="1"/>
              <a:t>Important</a:t>
            </a:r>
          </a:p>
          <a:p>
            <a:pPr lvl="0" indent="0" marL="1270000">
              <a:buNone/>
            </a:pPr>
            <a:r>
              <a:rPr sz="2000" b="1"/>
              <a:t>✅ Why this matters in a moment</a:t>
            </a:r>
          </a:p>
          <a:p>
            <a:pPr lvl="0" indent="0" marL="1270000">
              <a:buNone/>
            </a:pPr>
            <a:r>
              <a:rPr sz="2000"/>
              <a:t>If the coefficients are “differences from the reference,” then </a:t>
            </a:r>
            <a:r>
              <a:rPr sz="2000" b="1"/>
              <a:t>which level is the reference decides what every coefficient means</a:t>
            </a:r>
            <a:r>
              <a:rPr sz="2000"/>
              <a:t>.</a:t>
            </a:r>
          </a:p>
          <a:p>
            <a:pPr lvl="0" indent="0" marL="1270000">
              <a:buNone/>
            </a:pPr>
            <a:r>
              <a:rPr sz="2000"/>
              <a:t>R chose it alphabetically. Part 7 is about taking that choice back.</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Why Not Just Run All the t-tests?</a:t>
            </a:r>
          </a:p>
        </p:txBody>
      </p:sp>
      <p:sp>
        <p:nvSpPr>
          <p:cNvPr id="3" name="Content Placeholder 2"/>
          <p:cNvSpPr>
            <a:spLocks noGrp="1"/>
          </p:cNvSpPr>
          <p:nvPr>
            <p:ph idx="1" sz="half"/>
          </p:nvPr>
        </p:nvSpPr>
        <p:spPr/>
        <p:txBody>
          <a:bodyPr/>
          <a:lstStyle/>
          <a:p>
            <a:pPr lvl="0" indent="0" marL="0">
              <a:buNone/>
            </a:pPr>
            <a:r>
              <a:rPr/>
              <a:t>With four crab groups there are </a:t>
            </a:r>
            <a:r>
              <a:rPr b="1"/>
              <a:t>six</a:t>
            </a:r>
            <a:r>
              <a:rPr/>
              <a:t> possible pairwise t-tests. Suppose every group really has the same mean, and you run all six at α = 0.05.</a:t>
            </a:r>
          </a:p>
          <a:p>
            <a:pPr lvl="0" indent="0" marL="0">
              <a:buNone/>
            </a:pPr>
            <a:r>
              <a:rPr b="1"/>
              <a:t>What is the chance you get at least one “significant” result?</a:t>
            </a:r>
          </a:p>
          <a:p>
            <a:pPr lvl="0" indent="0" marL="0">
              <a:buNone/>
            </a:pPr>
            <a:r>
              <a:rPr b="1"/>
              <a:t>(a)</a:t>
            </a:r>
            <a:r>
              <a:rPr/>
              <a:t> 5% — that is what α = 0.05 means</a:t>
            </a:r>
          </a:p>
          <a:p>
            <a:pPr lvl="0" indent="0" marL="0">
              <a:buNone/>
            </a:pPr>
            <a:r>
              <a:rPr b="1"/>
              <a:t>(b)</a:t>
            </a:r>
            <a:r>
              <a:rPr/>
              <a:t> About 12%</a:t>
            </a:r>
          </a:p>
          <a:p>
            <a:pPr lvl="0" indent="0" marL="0">
              <a:buNone/>
            </a:pPr>
            <a:r>
              <a:rPr b="1"/>
              <a:t>(c)</a:t>
            </a:r>
            <a:r>
              <a:rPr/>
              <a:t> About 26%</a:t>
            </a:r>
          </a:p>
          <a:p>
            <a:pPr lvl="0" indent="0" marL="0">
              <a:buNone/>
            </a:pPr>
            <a:r>
              <a:rPr b="1"/>
              <a:t>(d)</a:t>
            </a:r>
            <a:r>
              <a:rPr/>
              <a:t> 30% — 6 × 5%</a:t>
            </a:r>
          </a:p>
          <a:p>
            <a:pPr lvl="0" indent="0" marL="1270000">
              <a:buNone/>
            </a:pPr>
            <a:r>
              <a:rPr sz="2000" b="1"/>
              <a:t>Warning</a:t>
            </a:r>
          </a:p>
          <a:p>
            <a:pPr lvl="0" indent="0" marL="1270000">
              <a:buNone/>
            </a:pPr>
            <a:r>
              <a:rPr sz="2000" b="1"/>
              <a:t>✍️ Write your letter down, then vote.</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The question to ask</a:t>
            </a:r>
          </a:p>
          <a:p>
            <a:pPr lvl="0" indent="0" marL="1270000">
              <a:buNone/>
            </a:pPr>
            <a:r>
              <a:rPr sz="2000" i="1"/>
              <a:t>What is the chance of getting no false positives in six independent tries?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Multiple-Comparisons Problem</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1270000">
                  <a:buNone/>
                </a:pPr>
                <a:r>
                  <a:rPr sz="2000" b="1"/>
                  <a:t>Important</a:t>
                </a:r>
              </a:p>
              <a:p>
                <a:pPr lvl="0" indent="0" marL="1270000">
                  <a:buNone/>
                </a:pPr>
                <a:r>
                  <a:rPr sz="2000" b="1"/>
                  <a:t>✅ The answer is (c) — about 26%.</a:t>
                </a:r>
              </a:p>
              <a:p>
                <a:pPr lvl="0" indent="0" marL="1270000">
                  <a:buNone/>
                </a:pPr>
                <a14:m>
                  <m:oMathPara xmlns:m="http://schemas.openxmlformats.org/officeDocument/2006/math">
                    <m:oMathParaPr>
                      <m:jc m:val="center"/>
                    </m:oMathParaPr>
                    <m:oMath>
                      <m:r>
                        <m:t>1</m:t>
                      </m:r>
                      <m:r>
                        <m:rPr>
                          <m:sty m:val="p"/>
                        </m:rPr>
                        <m:t>−</m:t>
                      </m:r>
                      <m:r>
                        <m:rPr>
                          <m:sty m:val="p"/>
                        </m:rPr>
                        <m:t>(</m:t>
                      </m:r>
                      <m:r>
                        <m:t>1</m:t>
                      </m:r>
                      <m:r>
                        <m:rPr>
                          <m:sty m:val="p"/>
                        </m:rPr>
                        <m:t>−</m:t>
                      </m:r>
                      <m:r>
                        <m:t>0.05</m:t>
                      </m:r>
                      <m:sSup>
                        <m:e>
                          <m:r>
                            <m:rPr>
                              <m:sty m:val="p"/>
                            </m:rPr>
                            <m:t>)</m:t>
                          </m:r>
                        </m:e>
                        <m:sup>
                          <m:r>
                            <m:t>6</m:t>
                          </m:r>
                        </m:sup>
                      </m:sSup>
                      <m:r>
                        <m:rPr>
                          <m:sty m:val="p"/>
                        </m:rPr>
                        <m:t>=</m:t>
                      </m:r>
                      <m:r>
                        <m:t>0.265</m:t>
                      </m:r>
                    </m:oMath>
                  </m:oMathPara>
                </a14:m>
              </a:p>
              <a:p>
                <a:pPr lvl="0" indent="0" marL="1270000">
                  <a:buNone/>
                </a:pPr>
                <a:r>
                  <a:rPr sz="2000"/>
                  <a:t>Each test has a 95% chance of behaving. Six in a row behave only 73.5% of the time, so you have roughly a </a:t>
                </a:r>
                <a:r>
                  <a:rPr sz="2000" b="1"/>
                  <a:t>one in four</a:t>
                </a:r>
                <a:r>
                  <a:rPr sz="2000"/>
                  <a:t> chance of at least one false positive — before you have learned anything.</a:t>
                </a:r>
              </a:p>
              <a:p>
                <a:pPr lvl="0" indent="0" marL="1270000">
                  <a:buNone/>
                </a:pPr>
                <a:r>
                  <a:rPr sz="2000" b="1"/>
                  <a:t>(d)</a:t>
                </a:r>
                <a:r>
                  <a:rPr sz="2000"/>
                  <a:t> is the common guess. Adding probabilities overshoots, because the ways of being wrong overlap.</a:t>
                </a:r>
              </a:p>
            </p:txBody>
          </p:sp>
        </mc:Choice>
      </mc:AlternateContent>
      <p:sp>
        <p:nvSpPr>
          <p:cNvPr id="4" name="Content Placeholder 3"/>
          <p:cNvSpPr>
            <a:spLocks noGrp="1"/>
          </p:cNvSpPr>
          <p:nvPr>
            <p:ph idx="2" sz="half"/>
          </p:nvPr>
        </p:nvSpPr>
        <p:spPr/>
        <p:txBody>
          <a:bodyPr/>
          <a:lstStyle/>
          <a:p>
            <a:pPr lvl="0" indent="0" marL="0">
              <a:buNone/>
            </a:pPr>
            <a:r>
              <a:rPr b="1"/>
              <a:t>ANOVA’s job is to ask one question first:</a:t>
            </a:r>
            <a:r>
              <a:rPr/>
              <a:t> </a:t>
            </a:r>
            <a:r>
              <a:rPr i="1"/>
              <a:t>is there any difference at all among these groups?</a:t>
            </a:r>
          </a:p>
          <a:p>
            <a:pPr lvl="0" indent="0" marL="0">
              <a:buNone/>
            </a:pPr>
            <a:r>
              <a:rPr/>
              <a:t>One test, one α, one p-value. Only if it rejects do you go looking for </a:t>
            </a:r>
            <a:r>
              <a:rPr b="1"/>
              <a:t>which</a:t>
            </a:r>
            <a:r>
              <a:rPr/>
              <a:t> groups differ — and then you use a post-hoc method that controls the error rate across that whole family of comparisons.</a:t>
            </a:r>
          </a:p>
          <a:p>
            <a:pPr lvl="0" indent="0" marL="0">
              <a:buNone/>
            </a:pPr>
            <a:r>
              <a:rPr/>
              <a:t>With 10 groups there are 45 pairs, and the chance of at least one false positive is over </a:t>
            </a:r>
            <a:r>
              <a:rPr b="1"/>
              <a:t>90%</a:t>
            </a:r>
            <a:r>
              <a:rPr/>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The Logic</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ANOVA’s Question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Even if every group had the same true mean, the sample means would differ, just from sampling error.</a:t>
                </a:r>
              </a:p>
              <a:p>
                <a:pPr lvl="0" indent="0" marL="0">
                  <a:buNone/>
                </a:pPr>
                <a:r>
                  <a:rPr/>
                  <a:t>ANOVA asks whether the sample means differ </a:t>
                </a:r>
                <a:r>
                  <a:rPr b="1"/>
                  <a:t>more than sampling error alone would produce</a:t>
                </a:r>
                <a:r>
                  <a:rPr/>
                  <a:t>:</a:t>
                </a:r>
              </a:p>
              <a:p>
                <a:pPr lvl="0"/>
                <a14:m>
                  <m:oMath xmlns:m="http://schemas.openxmlformats.org/officeDocument/2006/math">
                    <m:r>
                      <m:t>M</m:t>
                    </m:r>
                    <m:sSub>
                      <m:e>
                        <m:r>
                          <m:t>S</m:t>
                        </m:r>
                      </m:e>
                      <m:sub>
                        <m:r>
                          <m:t>a</m:t>
                        </m:r>
                        <m:r>
                          <m:t>m</m:t>
                        </m:r>
                        <m:r>
                          <m:t>o</m:t>
                        </m:r>
                        <m:r>
                          <m:t>n</m:t>
                        </m:r>
                        <m:r>
                          <m:t>g</m:t>
                        </m:r>
                      </m:sub>
                    </m:sSub>
                  </m:oMath>
                </a14:m>
                <a:r>
                  <a:rPr/>
                  <a:t> — how spread out the group means are</a:t>
                </a:r>
              </a:p>
              <a:p>
                <a:pPr lvl="0"/>
                <a14:m>
                  <m:oMath xmlns:m="http://schemas.openxmlformats.org/officeDocument/2006/math">
                    <m:r>
                      <m:t>M</m:t>
                    </m:r>
                    <m:sSub>
                      <m:e>
                        <m:r>
                          <m:t>S</m:t>
                        </m:r>
                      </m:e>
                      <m:sub>
                        <m:r>
                          <m:t>w</m:t>
                        </m:r>
                        <m:r>
                          <m:t>i</m:t>
                        </m:r>
                        <m:r>
                          <m:t>t</m:t>
                        </m:r>
                        <m:r>
                          <m:t>h</m:t>
                        </m:r>
                        <m:r>
                          <m:t>i</m:t>
                        </m:r>
                        <m:r>
                          <m:t>n</m:t>
                        </m:r>
                      </m:sub>
                    </m:sSub>
                  </m:oMath>
                </a14:m>
                <a:r>
                  <a:rPr/>
                  <a:t> — how spread out individuals are inside their own group</a:t>
                </a:r>
              </a:p>
              <a:p>
                <a:pPr lvl="0" indent="0" marL="0">
                  <a:buNone/>
                </a:pPr>
                <a14:m>
                  <m:oMathPara xmlns:m="http://schemas.openxmlformats.org/officeDocument/2006/math">
                    <m:oMathParaPr>
                      <m:jc m:val="center"/>
                    </m:oMathParaPr>
                    <m:oMath>
                      <m:r>
                        <m:t>F</m:t>
                      </m:r>
                      <m:r>
                        <m:rPr>
                          <m:sty m:val="p"/>
                        </m:rPr>
                        <m:t>=</m:t>
                      </m:r>
                      <m:f>
                        <m:fPr>
                          <m:type m:val="bar"/>
                        </m:fPr>
                        <m:num>
                          <m:r>
                            <m:t>M</m:t>
                          </m:r>
                          <m:sSub>
                            <m:e>
                              <m:r>
                                <m:t>S</m:t>
                              </m:r>
                            </m:e>
                            <m:sub>
                              <m:r>
                                <m:t>a</m:t>
                              </m:r>
                              <m:r>
                                <m:t>m</m:t>
                              </m:r>
                              <m:r>
                                <m:t>o</m:t>
                              </m:r>
                              <m:r>
                                <m:t>n</m:t>
                              </m:r>
                              <m:r>
                                <m:t>g</m:t>
                              </m:r>
                            </m:sub>
                          </m:sSub>
                        </m:num>
                        <m:den>
                          <m:r>
                            <m:t>M</m:t>
                          </m:r>
                          <m:sSub>
                            <m:e>
                              <m:r>
                                <m:t>S</m:t>
                              </m:r>
                            </m:e>
                            <m:sub>
                              <m:r>
                                <m:t>w</m:t>
                              </m:r>
                              <m:r>
                                <m:t>i</m:t>
                              </m:r>
                              <m:r>
                                <m:t>t</m:t>
                              </m:r>
                              <m:r>
                                <m:t>h</m:t>
                              </m:r>
                              <m:r>
                                <m:t>i</m:t>
                              </m:r>
                              <m:r>
                                <m:t>n</m:t>
                              </m:r>
                            </m:sub>
                          </m:sSub>
                        </m:den>
                      </m:f>
                    </m:oMath>
                  </m:oMathPara>
                </a14:m>
              </a:p>
              <a:p>
                <a:pPr lvl="0"/>
                <a:r>
                  <a:rPr b="1"/>
                  <a:t>H₀:</a:t>
                </a:r>
                <a:r>
                  <a:rPr/>
                  <a:t> μ₁ = μ₂ = μ₃ = μ₄</a:t>
                </a:r>
              </a:p>
              <a:p>
                <a:pPr lvl="0"/>
                <a:r>
                  <a:rPr b="1"/>
                  <a:t>H₁:</a:t>
                </a:r>
                <a:r>
                  <a:rPr/>
                  <a:t> at least one mean differs</a:t>
                </a:r>
              </a:p>
            </p:txBody>
          </p:sp>
        </mc:Choice>
      </mc:AlternateContent>
      <p:pic>
        <p:nvPicPr>
          <p:cNvPr descr="analysis_of_variance_lecture_files/figure-pptx/analysis-of-variance-03-1.png" id="0" name="Picture 1"/>
          <p:cNvPicPr>
            <a:picLocks noGrp="1" noChangeAspect="1"/>
          </p:cNvPicPr>
          <p:nvPr/>
        </p:nvPicPr>
        <p:blipFill>
          <a:blip r:embed="rId2"/>
          <a:stretch>
            <a:fillRect/>
          </a:stretch>
        </p:blipFill>
        <p:spPr bwMode="auto">
          <a:xfrm>
            <a:off x="6121400" y="1587500"/>
            <a:ext cx="2781300" cy="26035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Where the Variation Goes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Every point’s distance from the </a:t>
                </a:r>
                <a:r>
                  <a:rPr b="1"/>
                  <a:t>grand mean</a:t>
                </a:r>
                <a:r>
                  <a:rPr/>
                  <a:t> splits into two pieces, exactly as in regression:</a:t>
                </a:r>
              </a:p>
              <a:p>
                <a:pPr lvl="0" indent="0" marL="0">
                  <a:buNone/>
                </a:pPr>
                <a14:m>
                  <m:oMathPara xmlns:m="http://schemas.openxmlformats.org/officeDocument/2006/math">
                    <m:oMathParaPr>
                      <m:jc m:val="center"/>
                    </m:oMathParaPr>
                    <m:oMath>
                      <m:limLow>
                        <m:e>
                          <m:limLow>
                            <m:e>
                              <m:r>
                                <m:rPr>
                                  <m:sty m:val="p"/>
                                </m:rPr>
                                <m:t>(</m:t>
                              </m:r>
                              <m:sSub>
                                <m:e>
                                  <m:r>
                                    <m:t>Y</m:t>
                                  </m:r>
                                </m:e>
                                <m:sub>
                                  <m:r>
                                    <m:t>i</m:t>
                                  </m:r>
                                  <m:r>
                                    <m:t>j</m:t>
                                  </m:r>
                                </m:sub>
                              </m:sSub>
                              <m:r>
                                <m:rPr>
                                  <m:sty m:val="p"/>
                                </m:rPr>
                                <m:t>−</m:t>
                              </m:r>
                              <m:acc>
                                <m:accPr>
                                  <m:chr m:val="‾"/>
                                </m:accPr>
                                <m:e>
                                  <m:r>
                                    <m:t>Y</m:t>
                                  </m:r>
                                </m:e>
                              </m:acc>
                              <m:r>
                                <m:rPr>
                                  <m:sty m:val="p"/>
                                </m:rPr>
                                <m:t>)</m:t>
                              </m:r>
                            </m:e>
                            <m:lim>
                              <m:r>
                                <m:rPr>
                                  <m:sty m:val="p"/>
                                </m:rPr>
                                <m:t>⏟</m:t>
                              </m:r>
                            </m:lim>
                          </m:limLow>
                        </m:e>
                        <m:lim>
                          <m:r>
                            <m:rPr>
                              <m:nor/>
                              <m:sty m:val="p"/>
                            </m:rPr>
                            <m:t>total</m:t>
                          </m:r>
                        </m:lim>
                      </m:limLow>
                      <m:r>
                        <m:rPr>
                          <m:sty m:val="p"/>
                        </m:rPr>
                        <m:t>=</m:t>
                      </m:r>
                      <m:limLow>
                        <m:e>
                          <m:limLow>
                            <m:e>
                              <m:r>
                                <m:rPr>
                                  <m:sty m:val="p"/>
                                </m:rPr>
                                <m:t>(</m:t>
                              </m:r>
                              <m:sSub>
                                <m:e>
                                  <m:acc>
                                    <m:accPr>
                                      <m:chr m:val="‾"/>
                                    </m:accPr>
                                    <m:e>
                                      <m:r>
                                        <m:t>Y</m:t>
                                      </m:r>
                                    </m:e>
                                  </m:acc>
                                </m:e>
                                <m:sub>
                                  <m:r>
                                    <m:t>i</m:t>
                                  </m:r>
                                </m:sub>
                              </m:sSub>
                              <m:r>
                                <m:rPr>
                                  <m:sty m:val="p"/>
                                </m:rPr>
                                <m:t>−</m:t>
                              </m:r>
                              <m:acc>
                                <m:accPr>
                                  <m:chr m:val="‾"/>
                                </m:accPr>
                                <m:e>
                                  <m:r>
                                    <m:t>Y</m:t>
                                  </m:r>
                                </m:e>
                              </m:acc>
                              <m:r>
                                <m:rPr>
                                  <m:sty m:val="p"/>
                                </m:rPr>
                                <m:t>)</m:t>
                              </m:r>
                            </m:e>
                            <m:lim>
                              <m:r>
                                <m:rPr>
                                  <m:sty m:val="p"/>
                                </m:rPr>
                                <m:t>⏟</m:t>
                              </m:r>
                            </m:lim>
                          </m:limLow>
                        </m:e>
                        <m:lim>
                          <m:r>
                            <m:rPr>
                              <m:nor/>
                              <m:sty m:val="p"/>
                            </m:rPr>
                            <m:t>among</m:t>
                          </m:r>
                        </m:lim>
                      </m:limLow>
                      <m:r>
                        <m:rPr>
                          <m:sty m:val="p"/>
                        </m:rPr>
                        <m:t>+</m:t>
                      </m:r>
                      <m:limLow>
                        <m:e>
                          <m:limLow>
                            <m:e>
                              <m:r>
                                <m:rPr>
                                  <m:sty m:val="p"/>
                                </m:rPr>
                                <m:t>(</m:t>
                              </m:r>
                              <m:sSub>
                                <m:e>
                                  <m:r>
                                    <m:t>Y</m:t>
                                  </m:r>
                                </m:e>
                                <m:sub>
                                  <m:r>
                                    <m:t>i</m:t>
                                  </m:r>
                                  <m:r>
                                    <m:t>j</m:t>
                                  </m:r>
                                </m:sub>
                              </m:sSub>
                              <m:r>
                                <m:rPr>
                                  <m:sty m:val="p"/>
                                </m:rPr>
                                <m:t>−</m:t>
                              </m:r>
                              <m:sSub>
                                <m:e>
                                  <m:acc>
                                    <m:accPr>
                                      <m:chr m:val="‾"/>
                                    </m:accPr>
                                    <m:e>
                                      <m:r>
                                        <m:t>Y</m:t>
                                      </m:r>
                                    </m:e>
                                  </m:acc>
                                </m:e>
                                <m:sub>
                                  <m:r>
                                    <m:t>i</m:t>
                                  </m:r>
                                </m:sub>
                              </m:sSub>
                              <m:r>
                                <m:rPr>
                                  <m:sty m:val="p"/>
                                </m:rPr>
                                <m:t>)</m:t>
                              </m:r>
                            </m:e>
                            <m:lim>
                              <m:r>
                                <m:rPr>
                                  <m:sty m:val="p"/>
                                </m:rPr>
                                <m:t>⏟</m:t>
                              </m:r>
                            </m:lim>
                          </m:limLow>
                        </m:e>
                        <m:lim>
                          <m:r>
                            <m:rPr>
                              <m:nor/>
                              <m:sty m:val="p"/>
                            </m:rPr>
                            <m:t>within</m:t>
                          </m:r>
                        </m:lim>
                      </m:limLow>
                    </m:oMath>
                  </m:oMathPara>
                </a14:m>
              </a:p>
              <a:p>
                <a:pPr lvl="0" indent="0" marL="0">
                  <a:buNone/>
                </a:pPr>
                <a:r>
                  <a:rPr/>
                  <a:t>Square and sum over every observation:</a:t>
                </a:r>
              </a:p>
              <a:p>
                <a:pPr lvl="0" indent="0" marL="0">
                  <a:buNone/>
                </a:pPr>
                <a14:m>
                  <m:oMathPara xmlns:m="http://schemas.openxmlformats.org/officeDocument/2006/math">
                    <m:oMathParaPr>
                      <m:jc m:val="center"/>
                    </m:oMathParaPr>
                    <m:oMath>
                      <m:r>
                        <m:t>S</m:t>
                      </m:r>
                      <m:sSub>
                        <m:e>
                          <m:r>
                            <m:t>S</m:t>
                          </m:r>
                        </m:e>
                        <m:sub>
                          <m:r>
                            <m:t>t</m:t>
                          </m:r>
                          <m:r>
                            <m:t>o</m:t>
                          </m:r>
                          <m:r>
                            <m:t>t</m:t>
                          </m:r>
                          <m:r>
                            <m:t>a</m:t>
                          </m:r>
                          <m:r>
                            <m:t>l</m:t>
                          </m:r>
                        </m:sub>
                      </m:sSub>
                      <m:r>
                        <m:rPr>
                          <m:sty m:val="p"/>
                        </m:rPr>
                        <m:t>=</m:t>
                      </m:r>
                      <m:r>
                        <m:t>S</m:t>
                      </m:r>
                      <m:sSub>
                        <m:e>
                          <m:r>
                            <m:t>S</m:t>
                          </m:r>
                        </m:e>
                        <m:sub>
                          <m:r>
                            <m:t>a</m:t>
                          </m:r>
                          <m:r>
                            <m:t>m</m:t>
                          </m:r>
                          <m:r>
                            <m:t>o</m:t>
                          </m:r>
                          <m:r>
                            <m:t>n</m:t>
                          </m:r>
                          <m:r>
                            <m:t>g</m:t>
                          </m:r>
                        </m:sub>
                      </m:sSub>
                      <m:r>
                        <m:rPr>
                          <m:sty m:val="p"/>
                        </m:rPr>
                        <m:t>+</m:t>
                      </m:r>
                      <m:r>
                        <m:t>S</m:t>
                      </m:r>
                      <m:sSub>
                        <m:e>
                          <m:r>
                            <m:t>S</m:t>
                          </m:r>
                        </m:e>
                        <m:sub>
                          <m:r>
                            <m:t>w</m:t>
                          </m:r>
                          <m:r>
                            <m:t>i</m:t>
                          </m:r>
                          <m:r>
                            <m:t>t</m:t>
                          </m:r>
                          <m:r>
                            <m:t>h</m:t>
                          </m:r>
                          <m:r>
                            <m:t>i</m:t>
                          </m:r>
                          <m:r>
                            <m:t>n</m:t>
                          </m:r>
                        </m:sub>
                      </m:sSub>
                    </m:oMath>
                  </m:oMathPara>
                </a14:m>
              </a:p>
              <a:p>
                <a:pPr lvl="0" indent="0" marL="0">
                  <a:buNone/>
                </a:pPr>
                <a:r>
                  <a:rPr/>
                  <a:t>The dashed line is the grand mean; the coloured bars are the group means.</a:t>
                </a:r>
              </a:p>
            </p:txBody>
          </p:sp>
        </mc:Choice>
      </mc:AlternateContent>
      <p:pic>
        <p:nvPicPr>
          <p:cNvPr descr="analysis_of_variance_lecture_files/figure-pptx/analysis-of-variance-04-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Partitioning the Sum of Squares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Sums of Squares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14:m>
                  <m:oMathPara xmlns:m="http://schemas.openxmlformats.org/officeDocument/2006/math">
                    <m:oMathParaPr>
                      <m:jc m:val="center"/>
                    </m:oMathParaPr>
                    <m:oMath>
                      <m:r>
                        <m:t>S</m:t>
                      </m:r>
                      <m:sSub>
                        <m:e>
                          <m:r>
                            <m:t>S</m:t>
                          </m:r>
                        </m:e>
                        <m:sub>
                          <m:r>
                            <m:t>t</m:t>
                          </m:r>
                          <m:r>
                            <m:t>o</m:t>
                          </m:r>
                          <m:r>
                            <m:t>t</m:t>
                          </m:r>
                          <m:r>
                            <m:t>a</m:t>
                          </m:r>
                          <m:r>
                            <m:t>l</m:t>
                          </m:r>
                        </m:sub>
                      </m:sSub>
                      <m:r>
                        <m:rPr>
                          <m:sty m:val="p"/>
                        </m:rPr>
                        <m:t>=</m:t>
                      </m:r>
                      <m:nary>
                        <m:naryPr>
                          <m:chr m:val="∑"/>
                          <m:limLoc m:val="undOvr"/>
                          <m:subHide m:val="off"/>
                          <m:supHide m:val="on"/>
                        </m:naryPr>
                        <m:sub>
                          <m:r>
                            <m:t>i</m:t>
                          </m:r>
                        </m:sub>
                        <m:sup>
                          <m:r>
                            <m:t>​</m:t>
                          </m:r>
                        </m:sup>
                        <m:e>
                          <m:nary>
                            <m:naryPr>
                              <m:chr m:val="∑"/>
                              <m:limLoc m:val="undOvr"/>
                              <m:subHide m:val="off"/>
                              <m:supHide m:val="on"/>
                            </m:naryPr>
                            <m:sub>
                              <m:r>
                                <m:t>j</m:t>
                              </m:r>
                            </m:sub>
                            <m:sup>
                              <m:r>
                                <m:t>​</m:t>
                              </m:r>
                            </m:sup>
                            <m:e>
                              <m:r>
                                <m:rPr>
                                  <m:sty m:val="p"/>
                                </m:rPr>
                                <m:t>(</m:t>
                              </m:r>
                            </m:e>
                          </m:nary>
                        </m:e>
                      </m:nary>
                      <m:sSub>
                        <m:e>
                          <m:r>
                            <m:t>Y</m:t>
                          </m:r>
                        </m:e>
                        <m:sub>
                          <m:r>
                            <m:t>i</m:t>
                          </m:r>
                          <m:r>
                            <m:t>j</m:t>
                          </m:r>
                        </m:sub>
                      </m:sSub>
                      <m:r>
                        <m:rPr>
                          <m:sty m:val="p"/>
                        </m:rPr>
                        <m:t>−</m:t>
                      </m:r>
                      <m:acc>
                        <m:accPr>
                          <m:chr m:val="‾"/>
                        </m:accPr>
                        <m:e>
                          <m:r>
                            <m:t>Y</m:t>
                          </m:r>
                        </m:e>
                      </m:acc>
                      <m:sSup>
                        <m:e>
                          <m:r>
                            <m:rPr>
                              <m:sty m:val="p"/>
                            </m:rPr>
                            <m:t>)</m:t>
                          </m:r>
                        </m:e>
                        <m:sup>
                          <m:r>
                            <m:t>2</m:t>
                          </m:r>
                        </m:sup>
                      </m:sSup>
                    </m:oMath>
                  </m:oMathPara>
                </a14:m>
              </a:p>
              <a:p>
                <a:pPr lvl="0" indent="0" marL="0">
                  <a:buNone/>
                </a:pPr>
                <a14:m>
                  <m:oMathPara xmlns:m="http://schemas.openxmlformats.org/officeDocument/2006/math">
                    <m:oMathParaPr>
                      <m:jc m:val="center"/>
                    </m:oMathParaPr>
                    <m:oMath>
                      <m:r>
                        <m:t>S</m:t>
                      </m:r>
                      <m:sSub>
                        <m:e>
                          <m:r>
                            <m:t>S</m:t>
                          </m:r>
                        </m:e>
                        <m:sub>
                          <m:r>
                            <m:t>a</m:t>
                          </m:r>
                          <m:r>
                            <m:t>m</m:t>
                          </m:r>
                          <m:r>
                            <m:t>o</m:t>
                          </m:r>
                          <m:r>
                            <m:t>n</m:t>
                          </m:r>
                          <m:r>
                            <m:t>g</m:t>
                          </m:r>
                        </m:sub>
                      </m:sSub>
                      <m:r>
                        <m:rPr>
                          <m:sty m:val="p"/>
                        </m:rPr>
                        <m:t>=</m:t>
                      </m:r>
                      <m:nary>
                        <m:naryPr>
                          <m:chr m:val="∑"/>
                          <m:limLoc m:val="undOvr"/>
                          <m:subHide m:val="off"/>
                          <m:supHide m:val="on"/>
                        </m:naryPr>
                        <m:sub>
                          <m:r>
                            <m:t>i</m:t>
                          </m:r>
                        </m:sub>
                        <m:sup>
                          <m:r>
                            <m:t>​</m:t>
                          </m:r>
                        </m:sup>
                        <m:e>
                          <m:sSub>
                            <m:e>
                              <m:r>
                                <m:t>n</m:t>
                              </m:r>
                            </m:e>
                            <m:sub>
                              <m:r>
                                <m:t>i</m:t>
                              </m:r>
                            </m:sub>
                          </m:sSub>
                        </m:e>
                      </m:nary>
                      <m:r>
                        <m:rPr>
                          <m:sty m:val="p"/>
                        </m:rPr>
                        <m:t>(</m:t>
                      </m:r>
                      <m:sSub>
                        <m:e>
                          <m:acc>
                            <m:accPr>
                              <m:chr m:val="‾"/>
                            </m:accPr>
                            <m:e>
                              <m:r>
                                <m:t>Y</m:t>
                              </m:r>
                            </m:e>
                          </m:acc>
                        </m:e>
                        <m:sub>
                          <m:r>
                            <m:t>i</m:t>
                          </m:r>
                        </m:sub>
                      </m:sSub>
                      <m:r>
                        <m:rPr>
                          <m:sty m:val="p"/>
                        </m:rPr>
                        <m:t>−</m:t>
                      </m:r>
                      <m:acc>
                        <m:accPr>
                          <m:chr m:val="‾"/>
                        </m:accPr>
                        <m:e>
                          <m:r>
                            <m:t>Y</m:t>
                          </m:r>
                        </m:e>
                      </m:acc>
                      <m:sSup>
                        <m:e>
                          <m:r>
                            <m:rPr>
                              <m:sty m:val="p"/>
                            </m:rPr>
                            <m:t>)</m:t>
                          </m:r>
                        </m:e>
                        <m:sup>
                          <m:r>
                            <m:t>2</m:t>
                          </m:r>
                        </m:sup>
                      </m:sSup>
                    </m:oMath>
                  </m:oMathPara>
                </a14:m>
              </a:p>
              <a:p>
                <a:pPr lvl="0" indent="0" marL="0">
                  <a:buNone/>
                </a:pPr>
                <a14:m>
                  <m:oMathPara xmlns:m="http://schemas.openxmlformats.org/officeDocument/2006/math">
                    <m:oMathParaPr>
                      <m:jc m:val="center"/>
                    </m:oMathParaPr>
                    <m:oMath>
                      <m:r>
                        <m:t>S</m:t>
                      </m:r>
                      <m:sSub>
                        <m:e>
                          <m:r>
                            <m:t>S</m:t>
                          </m:r>
                        </m:e>
                        <m:sub>
                          <m:r>
                            <m:t>w</m:t>
                          </m:r>
                          <m:r>
                            <m:t>i</m:t>
                          </m:r>
                          <m:r>
                            <m:t>t</m:t>
                          </m:r>
                          <m:r>
                            <m:t>h</m:t>
                          </m:r>
                          <m:r>
                            <m:t>i</m:t>
                          </m:r>
                          <m:r>
                            <m:t>n</m:t>
                          </m:r>
                        </m:sub>
                      </m:sSub>
                      <m:r>
                        <m:rPr>
                          <m:sty m:val="p"/>
                        </m:rPr>
                        <m:t>=</m:t>
                      </m:r>
                      <m:nary>
                        <m:naryPr>
                          <m:chr m:val="∑"/>
                          <m:limLoc m:val="undOvr"/>
                          <m:subHide m:val="off"/>
                          <m:supHide m:val="on"/>
                        </m:naryPr>
                        <m:sub>
                          <m:r>
                            <m:t>i</m:t>
                          </m:r>
                        </m:sub>
                        <m:sup>
                          <m:r>
                            <m:t>​</m:t>
                          </m:r>
                        </m:sup>
                        <m:e>
                          <m:nary>
                            <m:naryPr>
                              <m:chr m:val="∑"/>
                              <m:limLoc m:val="undOvr"/>
                              <m:subHide m:val="off"/>
                              <m:supHide m:val="on"/>
                            </m:naryPr>
                            <m:sub>
                              <m:r>
                                <m:t>j</m:t>
                              </m:r>
                            </m:sub>
                            <m:sup>
                              <m:r>
                                <m:t>​</m:t>
                              </m:r>
                            </m:sup>
                            <m:e>
                              <m:r>
                                <m:rPr>
                                  <m:sty m:val="p"/>
                                </m:rPr>
                                <m:t>(</m:t>
                              </m:r>
                            </m:e>
                          </m:nary>
                        </m:e>
                      </m:nary>
                      <m:sSub>
                        <m:e>
                          <m:r>
                            <m:t>Y</m:t>
                          </m:r>
                        </m:e>
                        <m:sub>
                          <m:r>
                            <m:t>i</m:t>
                          </m:r>
                          <m:r>
                            <m:t>j</m:t>
                          </m:r>
                        </m:sub>
                      </m:sSub>
                      <m:r>
                        <m:rPr>
                          <m:sty m:val="p"/>
                        </m:rPr>
                        <m:t>−</m:t>
                      </m:r>
                      <m:sSub>
                        <m:e>
                          <m:acc>
                            <m:accPr>
                              <m:chr m:val="‾"/>
                            </m:accPr>
                            <m:e>
                              <m:r>
                                <m:t>Y</m:t>
                              </m:r>
                            </m:e>
                          </m:acc>
                        </m:e>
                        <m:sub>
                          <m:r>
                            <m:t>i</m:t>
                          </m:r>
                        </m:sub>
                      </m:sSub>
                      <m:sSup>
                        <m:e>
                          <m:r>
                            <m:rPr>
                              <m:sty m:val="p"/>
                            </m:rPr>
                            <m:t>)</m:t>
                          </m:r>
                        </m:e>
                        <m:sup>
                          <m:r>
                            <m:t>2</m:t>
                          </m:r>
                        </m:sup>
                      </m:sSup>
                    </m:oMath>
                  </m:oMathPara>
                </a14:m>
              </a:p>
              <a:p>
                <a:pPr lvl="0" indent="0" marL="0">
                  <a:buNone/>
                </a:pPr>
                <a:r>
                  <a:rPr/>
                  <a:t>with </a:t>
                </a:r>
                <a:r>
                  <a:rPr b="1"/>
                  <a:t>a</a:t>
                </a:r>
                <a:r>
                  <a:rPr/>
                  <a:t> groups and </a:t>
                </a:r>
                <a14:m>
                  <m:oMath xmlns:m="http://schemas.openxmlformats.org/officeDocument/2006/math">
                    <m:sSub>
                      <m:e>
                        <m:r>
                          <m:t>n</m:t>
                        </m:r>
                      </m:e>
                      <m:sub>
                        <m:r>
                          <m:t>i</m:t>
                        </m:r>
                      </m:sub>
                    </m:sSub>
                  </m:oMath>
                </a14:m>
                <a:r>
                  <a:rPr/>
                  <a:t> observations in group i:</a:t>
                </a:r>
              </a:p>
              <a:p>
                <a:pPr lvl="0"/>
                <a14:m>
                  <m:oMath xmlns:m="http://schemas.openxmlformats.org/officeDocument/2006/math">
                    <m:r>
                      <m:t>d</m:t>
                    </m:r>
                    <m:sSub>
                      <m:e>
                        <m:r>
                          <m:t>f</m:t>
                        </m:r>
                      </m:e>
                      <m:sub>
                        <m:r>
                          <m:t>a</m:t>
                        </m:r>
                        <m:r>
                          <m:t>m</m:t>
                        </m:r>
                        <m:r>
                          <m:t>o</m:t>
                        </m:r>
                        <m:r>
                          <m:t>n</m:t>
                        </m:r>
                        <m:r>
                          <m:t>g</m:t>
                        </m:r>
                      </m:sub>
                    </m:sSub>
                    <m:r>
                      <m:rPr>
                        <m:sty m:val="p"/>
                      </m:rPr>
                      <m:t>=</m:t>
                    </m:r>
                    <m:r>
                      <m:t>a</m:t>
                    </m:r>
                    <m:r>
                      <m:rPr>
                        <m:sty m:val="p"/>
                      </m:rPr>
                      <m:t>−</m:t>
                    </m:r>
                    <m:r>
                      <m:t>1</m:t>
                    </m:r>
                  </m:oMath>
                </a14:m>
                <a:r>
                  <a:rPr/>
                  <a:t> = 3</a:t>
                </a:r>
              </a:p>
              <a:p>
                <a:pPr lvl="0"/>
                <a14:m>
                  <m:oMath xmlns:m="http://schemas.openxmlformats.org/officeDocument/2006/math">
                    <m:r>
                      <m:t>d</m:t>
                    </m:r>
                    <m:sSub>
                      <m:e>
                        <m:r>
                          <m:t>f</m:t>
                        </m:r>
                      </m:e>
                      <m:sub>
                        <m:r>
                          <m:t>w</m:t>
                        </m:r>
                        <m:r>
                          <m:t>i</m:t>
                        </m:r>
                        <m:r>
                          <m:t>t</m:t>
                        </m:r>
                        <m:r>
                          <m:t>h</m:t>
                        </m:r>
                        <m:r>
                          <m:t>i</m:t>
                        </m:r>
                        <m:r>
                          <m:t>n</m:t>
                        </m:r>
                      </m:sub>
                    </m:sSub>
                    <m:r>
                      <m:rPr>
                        <m:sty m:val="p"/>
                      </m:rPr>
                      <m:t>=</m:t>
                    </m:r>
                    <m:r>
                      <m:t>N</m:t>
                    </m:r>
                    <m:r>
                      <m:rPr>
                        <m:sty m:val="p"/>
                      </m:rPr>
                      <m:t>−</m:t>
                    </m:r>
                    <m:r>
                      <m:t>a</m:t>
                    </m:r>
                  </m:oMath>
                </a14:m>
                <a:r>
                  <a:rPr/>
                  <a:t> = 80</a:t>
                </a:r>
              </a:p>
              <a:p>
                <a:pPr lvl="0"/>
                <a14:m>
                  <m:oMath xmlns:m="http://schemas.openxmlformats.org/officeDocument/2006/math">
                    <m:r>
                      <m:t>d</m:t>
                    </m:r>
                    <m:sSub>
                      <m:e>
                        <m:r>
                          <m:t>f</m:t>
                        </m:r>
                      </m:e>
                      <m:sub>
                        <m:r>
                          <m:t>t</m:t>
                        </m:r>
                        <m:r>
                          <m:t>o</m:t>
                        </m:r>
                        <m:r>
                          <m:t>t</m:t>
                        </m:r>
                        <m:r>
                          <m:t>a</m:t>
                        </m:r>
                        <m:r>
                          <m:t>l</m:t>
                        </m:r>
                      </m:sub>
                    </m:sSub>
                    <m:r>
                      <m:rPr>
                        <m:sty m:val="p"/>
                      </m:rPr>
                      <m:t>=</m:t>
                    </m:r>
                    <m:r>
                      <m:t>N</m:t>
                    </m:r>
                    <m:r>
                      <m:rPr>
                        <m:sty m:val="p"/>
                      </m:rPr>
                      <m:t>−</m:t>
                    </m:r>
                    <m:r>
                      <m:t>1</m:t>
                    </m:r>
                  </m:oMath>
                </a14:m>
                <a:r>
                  <a:rPr/>
                  <a:t> = 83</a:t>
                </a:r>
              </a:p>
            </p:txBody>
          </p:sp>
        </mc:Choice>
      </mc:AlternateContent>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1270000">
                  <a:buNone/>
                </a:pPr>
                <a:r>
                  <a:rPr sz="2000" b="1"/>
                  <a:t>Tip</a:t>
                </a:r>
              </a:p>
              <a:p>
                <a:pPr lvl="0" indent="0" marL="1270000">
                  <a:buNone/>
                </a:pPr>
                <a:r>
                  <a:rPr sz="2000" b="1"/>
                  <a:t>🖐 Note the</a:t>
                </a:r>
                <a:r>
                  <a:rPr sz="2000"/>
                  <a:t> </a:t>
                </a:r>
                <a14:m>
                  <m:oMath xmlns:m="http://schemas.openxmlformats.org/officeDocument/2006/math">
                    <m:sSub>
                      <m:e>
                        <m:r>
                          <m:t>n</m:t>
                        </m:r>
                      </m:e>
                      <m:sub>
                        <m:r>
                          <m:t>i</m:t>
                        </m:r>
                      </m:sub>
                    </m:sSub>
                  </m:oMath>
                </a14:m>
              </a:p>
              <a:p>
                <a:pPr lvl="0" indent="0" marL="1270000">
                  <a:buNone/>
                </a:pPr>
                <a:r>
                  <a:rPr sz="2000"/>
                  <a:t>Each group mean’s deviation is weighted by that group’s </a:t>
                </a:r>
                <a:r>
                  <a:rPr sz="2000" b="1"/>
                  <a:t>own</a:t>
                </a:r>
                <a:r>
                  <a:rPr sz="2000"/>
                  <a:t> sample size. With a balanced design every </a:t>
                </a:r>
                <a14:m>
                  <m:oMath xmlns:m="http://schemas.openxmlformats.org/officeDocument/2006/math">
                    <m:sSub>
                      <m:e>
                        <m:r>
                          <m:t>n</m:t>
                        </m:r>
                      </m:e>
                      <m:sub>
                        <m:r>
                          <m:t>i</m:t>
                        </m:r>
                      </m:sub>
                    </m:sSub>
                  </m:oMath>
                </a14:m>
                <a:r>
                  <a:rPr sz="2000"/>
                  <a:t> is the same and it simplifies to </a:t>
                </a:r>
                <a14:m>
                  <m:oMath xmlns:m="http://schemas.openxmlformats.org/officeDocument/2006/math">
                    <m:r>
                      <m:t>n</m:t>
                    </m:r>
                    <m:r>
                      <m:rPr>
                        <m:sty m:val="p"/>
                      </m:rPr>
                      <m:t>∑</m:t>
                    </m:r>
                    <m:r>
                      <m:rPr>
                        <m:sty m:val="p"/>
                      </m:rPr>
                      <m:t>(</m:t>
                    </m:r>
                    <m:sSub>
                      <m:e>
                        <m:acc>
                          <m:accPr>
                            <m:chr m:val="‾"/>
                          </m:accPr>
                          <m:e>
                            <m:r>
                              <m:t>Y</m:t>
                            </m:r>
                          </m:e>
                        </m:acc>
                      </m:e>
                      <m:sub>
                        <m:r>
                          <m:t>i</m:t>
                        </m:r>
                      </m:sub>
                    </m:sSub>
                    <m:r>
                      <m:rPr>
                        <m:sty m:val="p"/>
                      </m:rPr>
                      <m:t>−</m:t>
                    </m:r>
                    <m:acc>
                      <m:accPr>
                        <m:chr m:val="‾"/>
                      </m:accPr>
                      <m:e>
                        <m:r>
                          <m:t>Y</m:t>
                        </m:r>
                      </m:e>
                    </m:acc>
                    <m:sSup>
                      <m:e>
                        <m:r>
                          <m:rPr>
                            <m:sty m:val="p"/>
                          </m:rPr>
                          <m:t>)</m:t>
                        </m:r>
                      </m:e>
                      <m:sup>
                        <m:r>
                          <m:t>2</m:t>
                        </m:r>
                      </m:sup>
                    </m:sSup>
                  </m:oMath>
                </a14:m>
                <a:r>
                  <a:rPr sz="2000"/>
                  <a:t> — but only then.</a:t>
                </a:r>
              </a:p>
              <a:p>
                <a:pPr lvl="0" indent="0" marL="1270000">
                  <a:buNone/>
                </a:pPr>
                <a:r>
                  <a:rPr sz="2000"/>
                  <a:t>Our design is balanced at n = 21, so both forms agree here.</a:t>
                </a:r>
              </a:p>
            </p:txBody>
          </p:sp>
        </mc:Choice>
      </mc:AlternateContent>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Computing Them by Hand</a:t>
            </a:r>
          </a:p>
        </p:txBody>
      </p:sp>
      <p:sp>
        <p:nvSpPr>
          <p:cNvPr id="3" name="Content Placeholder 2"/>
          <p:cNvSpPr>
            <a:spLocks noGrp="1"/>
          </p:cNvSpPr>
          <p:nvPr>
            <p:ph idx="1" sz="half"/>
          </p:nvPr>
        </p:nvSpPr>
        <p:spPr/>
        <p:txBody>
          <a:bodyPr/>
          <a:lstStyle/>
          <a:p>
            <a:pPr lvl="0" indent="0">
              <a:buNone/>
            </a:pPr>
            <a:r>
              <a:rPr>
                <a:solidFill>
                  <a:srgbClr val="003B4F"/>
                </a:solidFill>
                <a:latin typeface="Courier"/>
              </a:rPr>
              <a:t>grand_mean &lt;- </a:t>
            </a:r>
            <a:r>
              <a:rPr>
                <a:solidFill>
                  <a:srgbClr val="4758AB"/>
                </a:solidFill>
                <a:latin typeface="Courier"/>
              </a:rPr>
              <a:t>mean</a:t>
            </a:r>
            <a:r>
              <a:rPr>
                <a:solidFill>
                  <a:srgbClr val="003B4F"/>
                </a:solidFill>
                <a:latin typeface="Courier"/>
              </a:rPr>
              <a:t>(crab_df</a:t>
            </a:r>
            <a:r>
              <a:rPr>
                <a:solidFill>
                  <a:srgbClr val="5E5E5E"/>
                </a:solidFill>
                <a:latin typeface="Courier"/>
              </a:rPr>
              <a:t>$</a:t>
            </a:r>
            <a:r>
              <a:rPr>
                <a:solidFill>
                  <a:srgbClr val="003B4F"/>
                </a:solidFill>
                <a:latin typeface="Courier"/>
              </a:rPr>
              <a:t>body_temp_c)</a:t>
            </a:r>
            <a:br/>
            <a:br/>
            <a:r>
              <a:rPr>
                <a:solidFill>
                  <a:srgbClr val="003B4F"/>
                </a:solidFill>
                <a:latin typeface="Courier"/>
              </a:rPr>
              <a:t>crab_parts &lt;- crab_df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(crab_type)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group_mean =</a:t>
            </a:r>
            <a:r>
              <a:rPr>
                <a:solidFill>
                  <a:srgbClr val="003B4F"/>
                </a:solidFill>
                <a:latin typeface="Courier"/>
              </a:rPr>
              <a:t> </a:t>
            </a:r>
            <a:r>
              <a:rPr>
                <a:solidFill>
                  <a:srgbClr val="4758AB"/>
                </a:solidFill>
                <a:latin typeface="Courier"/>
              </a:rPr>
              <a:t>mean</a:t>
            </a:r>
            <a:r>
              <a:rPr>
                <a:solidFill>
                  <a:srgbClr val="003B4F"/>
                </a:solidFill>
                <a:latin typeface="Courier"/>
              </a:rPr>
              <a:t>(body_temp_c)) </a:t>
            </a:r>
            <a:r>
              <a:rPr>
                <a:solidFill>
                  <a:srgbClr val="5E5E5E"/>
                </a:solidFill>
                <a:latin typeface="Courier"/>
              </a:rPr>
              <a:t>%&gt;%</a:t>
            </a:r>
            <a:br/>
            <a:r>
              <a:rPr>
                <a:solidFill>
                  <a:srgbClr val="003B4F"/>
                </a:solidFill>
                <a:latin typeface="Courier"/>
              </a:rPr>
              <a:t>  </a:t>
            </a:r>
            <a:r>
              <a:rPr>
                <a:solidFill>
                  <a:srgbClr val="4758AB"/>
                </a:solidFill>
                <a:latin typeface="Courier"/>
              </a:rPr>
              <a:t>ungroup</a:t>
            </a:r>
            <a:r>
              <a:rPr>
                <a:solidFill>
                  <a:srgbClr val="003B4F"/>
                </a:solidFill>
                <a:latin typeface="Courier"/>
              </a:rPr>
              <a:t>()</a:t>
            </a:r>
            <a:br/>
            <a:br/>
            <a:r>
              <a:rPr>
                <a:solidFill>
                  <a:srgbClr val="003B4F"/>
                </a:solidFill>
                <a:latin typeface="Courier"/>
              </a:rPr>
              <a:t>ss_total &lt;- </a:t>
            </a:r>
            <a:r>
              <a:rPr>
                <a:solidFill>
                  <a:srgbClr val="4758AB"/>
                </a:solidFill>
                <a:latin typeface="Courier"/>
              </a:rPr>
              <a:t>sum</a:t>
            </a:r>
            <a:r>
              <a:rPr>
                <a:solidFill>
                  <a:srgbClr val="003B4F"/>
                </a:solidFill>
                <a:latin typeface="Courier"/>
              </a:rPr>
              <a:t>((crab_parts</a:t>
            </a:r>
            <a:r>
              <a:rPr>
                <a:solidFill>
                  <a:srgbClr val="5E5E5E"/>
                </a:solidFill>
                <a:latin typeface="Courier"/>
              </a:rPr>
              <a:t>$</a:t>
            </a:r>
            <a:r>
              <a:rPr>
                <a:solidFill>
                  <a:srgbClr val="003B4F"/>
                </a:solidFill>
                <a:latin typeface="Courier"/>
              </a:rPr>
              <a:t>body_temp_c </a:t>
            </a:r>
            <a:r>
              <a:rPr>
                <a:solidFill>
                  <a:srgbClr val="5E5E5E"/>
                </a:solidFill>
                <a:latin typeface="Courier"/>
              </a:rPr>
              <a:t>-</a:t>
            </a:r>
            <a:r>
              <a:rPr>
                <a:solidFill>
                  <a:srgbClr val="003B4F"/>
                </a:solidFill>
                <a:latin typeface="Courier"/>
              </a:rPr>
              <a:t> grand_mean)</a:t>
            </a:r>
            <a:r>
              <a:rPr>
                <a:solidFill>
                  <a:srgbClr val="5E5E5E"/>
                </a:solidFill>
                <a:latin typeface="Courier"/>
              </a:rPr>
              <a:t>^</a:t>
            </a:r>
            <a:r>
              <a:rPr>
                <a:solidFill>
                  <a:srgbClr val="AD0000"/>
                </a:solidFill>
                <a:latin typeface="Courier"/>
              </a:rPr>
              <a:t>2</a:t>
            </a:r>
            <a:r>
              <a:rPr>
                <a:solidFill>
                  <a:srgbClr val="003B4F"/>
                </a:solidFill>
                <a:latin typeface="Courier"/>
              </a:rPr>
              <a:t>)</a:t>
            </a:r>
            <a:br/>
            <a:r>
              <a:rPr>
                <a:solidFill>
                  <a:srgbClr val="003B4F"/>
                </a:solidFill>
                <a:latin typeface="Courier"/>
              </a:rPr>
              <a:t>ss_among &lt;- </a:t>
            </a:r>
            <a:r>
              <a:rPr>
                <a:solidFill>
                  <a:srgbClr val="4758AB"/>
                </a:solidFill>
                <a:latin typeface="Courier"/>
              </a:rPr>
              <a:t>sum</a:t>
            </a:r>
            <a:r>
              <a:rPr>
                <a:solidFill>
                  <a:srgbClr val="003B4F"/>
                </a:solidFill>
                <a:latin typeface="Courier"/>
              </a:rPr>
              <a:t>((crab_parts</a:t>
            </a:r>
            <a:r>
              <a:rPr>
                <a:solidFill>
                  <a:srgbClr val="5E5E5E"/>
                </a:solidFill>
                <a:latin typeface="Courier"/>
              </a:rPr>
              <a:t>$</a:t>
            </a:r>
            <a:r>
              <a:rPr>
                <a:solidFill>
                  <a:srgbClr val="003B4F"/>
                </a:solidFill>
                <a:latin typeface="Courier"/>
              </a:rPr>
              <a:t>group_mean </a:t>
            </a:r>
            <a:r>
              <a:rPr>
                <a:solidFill>
                  <a:srgbClr val="5E5E5E"/>
                </a:solidFill>
                <a:latin typeface="Courier"/>
              </a:rPr>
              <a:t>-</a:t>
            </a:r>
            <a:r>
              <a:rPr>
                <a:solidFill>
                  <a:srgbClr val="003B4F"/>
                </a:solidFill>
                <a:latin typeface="Courier"/>
              </a:rPr>
              <a:t> grand_mean)</a:t>
            </a:r>
            <a:r>
              <a:rPr>
                <a:solidFill>
                  <a:srgbClr val="5E5E5E"/>
                </a:solidFill>
                <a:latin typeface="Courier"/>
              </a:rPr>
              <a:t>^</a:t>
            </a:r>
            <a:r>
              <a:rPr>
                <a:solidFill>
                  <a:srgbClr val="AD0000"/>
                </a:solidFill>
                <a:latin typeface="Courier"/>
              </a:rPr>
              <a:t>2</a:t>
            </a:r>
            <a:r>
              <a:rPr>
                <a:solidFill>
                  <a:srgbClr val="003B4F"/>
                </a:solidFill>
                <a:latin typeface="Courier"/>
              </a:rPr>
              <a:t>)</a:t>
            </a:r>
            <a:br/>
            <a:r>
              <a:rPr>
                <a:solidFill>
                  <a:srgbClr val="003B4F"/>
                </a:solidFill>
                <a:latin typeface="Courier"/>
              </a:rPr>
              <a:t>ss_within &lt;- </a:t>
            </a:r>
            <a:r>
              <a:rPr>
                <a:solidFill>
                  <a:srgbClr val="4758AB"/>
                </a:solidFill>
                <a:latin typeface="Courier"/>
              </a:rPr>
              <a:t>sum</a:t>
            </a:r>
            <a:r>
              <a:rPr>
                <a:solidFill>
                  <a:srgbClr val="003B4F"/>
                </a:solidFill>
                <a:latin typeface="Courier"/>
              </a:rPr>
              <a:t>((crab_parts</a:t>
            </a:r>
            <a:r>
              <a:rPr>
                <a:solidFill>
                  <a:srgbClr val="5E5E5E"/>
                </a:solidFill>
                <a:latin typeface="Courier"/>
              </a:rPr>
              <a:t>$</a:t>
            </a:r>
            <a:r>
              <a:rPr>
                <a:solidFill>
                  <a:srgbClr val="003B4F"/>
                </a:solidFill>
                <a:latin typeface="Courier"/>
              </a:rPr>
              <a:t>body_temp_c </a:t>
            </a:r>
            <a:r>
              <a:rPr>
                <a:solidFill>
                  <a:srgbClr val="5E5E5E"/>
                </a:solidFill>
                <a:latin typeface="Courier"/>
              </a:rPr>
              <a:t>-</a:t>
            </a:r>
            <a:r>
              <a:rPr>
                <a:solidFill>
                  <a:srgbClr val="003B4F"/>
                </a:solidFill>
                <a:latin typeface="Courier"/>
              </a:rPr>
              <a:t> crab_parts</a:t>
            </a:r>
            <a:r>
              <a:rPr>
                <a:solidFill>
                  <a:srgbClr val="5E5E5E"/>
                </a:solidFill>
                <a:latin typeface="Courier"/>
              </a:rPr>
              <a:t>$</a:t>
            </a:r>
            <a:r>
              <a:rPr>
                <a:solidFill>
                  <a:srgbClr val="003B4F"/>
                </a:solidFill>
                <a:latin typeface="Courier"/>
              </a:rPr>
              <a:t>group_mean)</a:t>
            </a:r>
            <a:r>
              <a:rPr>
                <a:solidFill>
                  <a:srgbClr val="5E5E5E"/>
                </a:solidFill>
                <a:latin typeface="Courier"/>
              </a:rPr>
              <a:t>^</a:t>
            </a:r>
            <a:r>
              <a:rPr>
                <a:solidFill>
                  <a:srgbClr val="AD0000"/>
                </a:solidFill>
                <a:latin typeface="Courier"/>
              </a:rPr>
              <a:t>2</a:t>
            </a:r>
            <a:r>
              <a:rPr>
                <a:solidFill>
                  <a:srgbClr val="003B4F"/>
                </a:solidFill>
                <a:latin typeface="Courier"/>
              </a:rPr>
              <a:t>)</a:t>
            </a:r>
            <a:br/>
            <a:br/>
            <a:r>
              <a:rPr>
                <a:solidFill>
                  <a:srgbClr val="4758AB"/>
                </a:solidFill>
                <a:latin typeface="Courier"/>
              </a:rPr>
              <a:t>c</a:t>
            </a:r>
            <a:r>
              <a:rPr>
                <a:solidFill>
                  <a:srgbClr val="003B4F"/>
                </a:solidFill>
                <a:latin typeface="Courier"/>
              </a:rPr>
              <a:t>(</a:t>
            </a:r>
            <a:r>
              <a:rPr>
                <a:solidFill>
                  <a:srgbClr val="657422"/>
                </a:solidFill>
                <a:latin typeface="Courier"/>
              </a:rPr>
              <a:t>total =</a:t>
            </a:r>
            <a:r>
              <a:rPr>
                <a:solidFill>
                  <a:srgbClr val="003B4F"/>
                </a:solidFill>
                <a:latin typeface="Courier"/>
              </a:rPr>
              <a:t> ss_total, </a:t>
            </a:r>
            <a:r>
              <a:rPr>
                <a:solidFill>
                  <a:srgbClr val="657422"/>
                </a:solidFill>
                <a:latin typeface="Courier"/>
              </a:rPr>
              <a:t>among =</a:t>
            </a:r>
            <a:r>
              <a:rPr>
                <a:solidFill>
                  <a:srgbClr val="003B4F"/>
                </a:solidFill>
                <a:latin typeface="Courier"/>
              </a:rPr>
              <a:t> ss_among, </a:t>
            </a:r>
            <a:r>
              <a:rPr>
                <a:solidFill>
                  <a:srgbClr val="657422"/>
                </a:solidFill>
                <a:latin typeface="Courier"/>
              </a:rPr>
              <a:t>within =</a:t>
            </a:r>
            <a:r>
              <a:rPr>
                <a:solidFill>
                  <a:srgbClr val="003B4F"/>
                </a:solidFill>
                <a:latin typeface="Courier"/>
              </a:rPr>
              <a:t> ss_within)</a:t>
            </a:r>
          </a:p>
          <a:p>
            <a:pPr lvl="0" indent="0">
              <a:buNone/>
            </a:pPr>
            <a:r>
              <a:rPr>
                <a:latin typeface="Courier"/>
              </a:rPr>
              <a:t>   total    among   within 
6.108929 2.641310 3.467619 </a:t>
            </a:r>
          </a:p>
          <a:p>
            <a:pPr lvl="0" indent="0">
              <a:buNone/>
            </a:pPr>
            <a:r>
              <a:rPr>
                <a:solidFill>
                  <a:srgbClr val="003B4F"/>
                </a:solidFill>
                <a:latin typeface="Courier"/>
              </a:rPr>
              <a:t>ss_among </a:t>
            </a:r>
            <a:r>
              <a:rPr>
                <a:solidFill>
                  <a:srgbClr val="5E5E5E"/>
                </a:solidFill>
                <a:latin typeface="Courier"/>
              </a:rPr>
              <a:t>+</a:t>
            </a:r>
            <a:r>
              <a:rPr>
                <a:solidFill>
                  <a:srgbClr val="003B4F"/>
                </a:solidFill>
                <a:latin typeface="Courier"/>
              </a:rPr>
              <a:t> ss_within</a:t>
            </a:r>
          </a:p>
          <a:p>
            <a:pPr lvl="0" indent="0">
              <a:buNone/>
            </a:pPr>
            <a:r>
              <a:rPr>
                <a:latin typeface="Courier"/>
              </a:rPr>
              <a:t>[1] 6.108929</a:t>
            </a:r>
          </a:p>
        </p:txBody>
      </p:sp>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buNone/>
                </a:pPr>
                <a:r>
                  <a:rPr b="1"/>
                  <a:t>2.641 + 3.468 = 6.109</a:t>
                </a:r>
                <a:r>
                  <a:rPr/>
                  <a:t> — exactly, as it must.</a:t>
                </a:r>
              </a:p>
              <a:p>
                <a:pPr lvl="0" indent="0" marL="1270000">
                  <a:buNone/>
                </a:pPr>
                <a:r>
                  <a:rPr sz="2000" b="1"/>
                  <a:t>Important</a:t>
                </a:r>
              </a:p>
              <a:p>
                <a:pPr lvl="0" indent="0" marL="1270000">
                  <a:buNone/>
                </a:pPr>
                <a:r>
                  <a:rPr sz="2000" b="1"/>
                  <a:t>✅ The same identity as regression</a:t>
                </a:r>
              </a:p>
              <a:p>
                <a:pPr lvl="0"/>
                <a14:m>
                  <m:oMath xmlns:m="http://schemas.openxmlformats.org/officeDocument/2006/math">
                    <m:r>
                      <m:t>S</m:t>
                    </m:r>
                    <m:sSub>
                      <m:e>
                        <m:r>
                          <m:t>S</m:t>
                        </m:r>
                      </m:e>
                      <m:sub>
                        <m:r>
                          <m:t>a</m:t>
                        </m:r>
                        <m:r>
                          <m:t>m</m:t>
                        </m:r>
                        <m:r>
                          <m:t>o</m:t>
                        </m:r>
                        <m:r>
                          <m:t>n</m:t>
                        </m:r>
                        <m:r>
                          <m:t>g</m:t>
                        </m:r>
                      </m:sub>
                    </m:sSub>
                  </m:oMath>
                </a14:m>
                <a:r>
                  <a:rPr sz="2000"/>
                  <a:t> here is </a:t>
                </a:r>
                <a14:m>
                  <m:oMath xmlns:m="http://schemas.openxmlformats.org/officeDocument/2006/math">
                    <m:r>
                      <m:t>S</m:t>
                    </m:r>
                    <m:sSub>
                      <m:e>
                        <m:r>
                          <m:t>S</m:t>
                        </m:r>
                      </m:e>
                      <m:sub>
                        <m:r>
                          <m:t>r</m:t>
                        </m:r>
                        <m:r>
                          <m:t>e</m:t>
                        </m:r>
                        <m:r>
                          <m:t>g</m:t>
                        </m:r>
                        <m:r>
                          <m:t>r</m:t>
                        </m:r>
                        <m:r>
                          <m:t>e</m:t>
                        </m:r>
                        <m:r>
                          <m:t>s</m:t>
                        </m:r>
                        <m:r>
                          <m:t>s</m:t>
                        </m:r>
                        <m:r>
                          <m:t>i</m:t>
                        </m:r>
                        <m:r>
                          <m:t>o</m:t>
                        </m:r>
                        <m:r>
                          <m:t>n</m:t>
                        </m:r>
                      </m:sub>
                    </m:sSub>
                  </m:oMath>
                </a14:m>
                <a:r>
                  <a:rPr sz="2000"/>
                  <a:t> there</a:t>
                </a:r>
              </a:p>
              <a:p>
                <a:pPr lvl="0"/>
                <a14:m>
                  <m:oMath xmlns:m="http://schemas.openxmlformats.org/officeDocument/2006/math">
                    <m:r>
                      <m:t>S</m:t>
                    </m:r>
                    <m:sSub>
                      <m:e>
                        <m:r>
                          <m:t>S</m:t>
                        </m:r>
                      </m:e>
                      <m:sub>
                        <m:r>
                          <m:t>w</m:t>
                        </m:r>
                        <m:r>
                          <m:t>i</m:t>
                        </m:r>
                        <m:r>
                          <m:t>t</m:t>
                        </m:r>
                        <m:r>
                          <m:t>h</m:t>
                        </m:r>
                        <m:r>
                          <m:t>i</m:t>
                        </m:r>
                        <m:r>
                          <m:t>n</m:t>
                        </m:r>
                      </m:sub>
                    </m:sSub>
                  </m:oMath>
                </a14:m>
                <a:r>
                  <a:rPr sz="2000"/>
                  <a:t> here is </a:t>
                </a:r>
                <a14:m>
                  <m:oMath xmlns:m="http://schemas.openxmlformats.org/officeDocument/2006/math">
                    <m:r>
                      <m:t>S</m:t>
                    </m:r>
                    <m:sSub>
                      <m:e>
                        <m:r>
                          <m:t>S</m:t>
                        </m:r>
                      </m:e>
                      <m:sub>
                        <m:r>
                          <m:t>r</m:t>
                        </m:r>
                        <m:r>
                          <m:t>e</m:t>
                        </m:r>
                        <m:r>
                          <m:t>s</m:t>
                        </m:r>
                        <m:r>
                          <m:t>i</m:t>
                        </m:r>
                        <m:r>
                          <m:t>d</m:t>
                        </m:r>
                        <m:r>
                          <m:t>u</m:t>
                        </m:r>
                        <m:r>
                          <m:t>a</m:t>
                        </m:r>
                        <m:r>
                          <m:t>l</m:t>
                        </m:r>
                      </m:sub>
                    </m:sSub>
                  </m:oMath>
                </a14:m>
                <a:r>
                  <a:rPr sz="2000"/>
                  <a:t> there</a:t>
                </a:r>
              </a:p>
              <a:p>
                <a:pPr lvl="0" indent="0" marL="1270000">
                  <a:buNone/>
                </a:pPr>
                <a:r>
                  <a:rPr sz="2000"/>
                  <a:t>Different names, same partition, same arithmetic.</a:t>
                </a:r>
              </a:p>
            </p:txBody>
          </p:sp>
        </mc:Choice>
      </mc:AlternateContent>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Look at </a:t>
            </a:r>
            <a:r>
              <a:rPr>
                <a:latin typeface="Courier"/>
              </a:rPr>
              <a:t>summary()</a:t>
            </a:r>
            <a:r>
              <a:rPr/>
              <a:t> First</a:t>
            </a:r>
          </a:p>
        </p:txBody>
      </p:sp>
      <p:sp>
        <p:nvSpPr>
          <p:cNvPr id="3" name="Content Placeholder 2"/>
          <p:cNvSpPr>
            <a:spLocks noGrp="1"/>
          </p:cNvSpPr>
          <p:nvPr>
            <p:ph idx="1" sz="half"/>
          </p:nvPr>
        </p:nvSpPr>
        <p:spPr/>
        <p:txBody>
          <a:bodyPr/>
          <a:lstStyle/>
          <a:p>
            <a:pPr lvl="0" indent="0">
              <a:buNone/>
            </a:pPr>
            <a:r>
              <a:rPr>
                <a:solidFill>
                  <a:srgbClr val="003B4F"/>
                </a:solidFill>
                <a:latin typeface="Courier"/>
              </a:rPr>
              <a:t>crab_model &lt;- </a:t>
            </a:r>
            <a:r>
              <a:rPr>
                <a:solidFill>
                  <a:srgbClr val="4758AB"/>
                </a:solidFill>
                <a:latin typeface="Courier"/>
              </a:rPr>
              <a:t>lm</a:t>
            </a:r>
            <a:r>
              <a:rPr>
                <a:solidFill>
                  <a:srgbClr val="003B4F"/>
                </a:solidFill>
                <a:latin typeface="Courier"/>
              </a:rPr>
              <a:t>(body_temp_c </a:t>
            </a:r>
            <a:r>
              <a:rPr>
                <a:solidFill>
                  <a:srgbClr val="5E5E5E"/>
                </a:solidFill>
                <a:latin typeface="Courier"/>
              </a:rPr>
              <a:t>~</a:t>
            </a:r>
            <a:r>
              <a:rPr>
                <a:solidFill>
                  <a:srgbClr val="003B4F"/>
                </a:solidFill>
                <a:latin typeface="Courier"/>
              </a:rPr>
              <a:t> crab_type, </a:t>
            </a:r>
            <a:r>
              <a:rPr>
                <a:solidFill>
                  <a:srgbClr val="657422"/>
                </a:solidFill>
                <a:latin typeface="Courier"/>
              </a:rPr>
              <a:t>data =</a:t>
            </a:r>
            <a:r>
              <a:rPr>
                <a:solidFill>
                  <a:srgbClr val="003B4F"/>
                </a:solidFill>
                <a:latin typeface="Courier"/>
              </a:rPr>
              <a:t> crab_df)</a:t>
            </a:r>
            <a:br/>
            <a:r>
              <a:rPr>
                <a:solidFill>
                  <a:srgbClr val="4758AB"/>
                </a:solidFill>
                <a:latin typeface="Courier"/>
              </a:rPr>
              <a:t>summary</a:t>
            </a:r>
            <a:r>
              <a:rPr>
                <a:solidFill>
                  <a:srgbClr val="003B4F"/>
                </a:solidFill>
                <a:latin typeface="Courier"/>
              </a:rPr>
              <a:t>(crab_model)</a:t>
            </a:r>
          </a:p>
          <a:p>
            <a:pPr lvl="0" indent="0">
              <a:buNone/>
            </a:pPr>
            <a:r>
              <a:rPr>
                <a:latin typeface="Courier"/>
              </a:rPr>
              <a:t>
Call:
lm(formula = body_temp_c ~ crab_type, data = crab_df)
Residuals:
     Min       1Q   Median       3Q      Max 
-0.57619 -0.11071  0.01429  0.12381  0.61429 
Coefficients:
                            Estimate Std. Error t value Pr(&gt;|t|)    
(Intercept)                  1.67619    0.04543  36.895  &lt; 2e-16 ***
crab_typeintact male        -0.39048    0.06425  -6.077 3.93e-08 ***
crab_typemale major removed -0.26190    0.06425  -4.076 0.000107 ***
crab_typemale minor removed -0.46667    0.06425  -7.263 2.20e-10 ***
---
Signif. codes:  0 '***' 0.001 '**' 0.01 '*' 0.05 '.' 0.1 ' ' 1
Residual standard error: 0.2082 on 80 degrees of freedom
Multiple R-squared:  0.4324,    Adjusted R-squared:  0.4111 
F-statistic: 20.31 on 3 and 80 DF,  p-value: 6.997e-10</a:t>
            </a:r>
          </a:p>
        </p:txBody>
      </p:sp>
      <p:sp>
        <p:nvSpPr>
          <p:cNvPr id="4" name="Content Placeholder 3"/>
          <p:cNvSpPr>
            <a:spLocks noGrp="1"/>
          </p:cNvSpPr>
          <p:nvPr>
            <p:ph idx="2" sz="half"/>
          </p:nvPr>
        </p:nvSpPr>
        <p:spPr/>
        <p:txBody>
          <a:bodyPr/>
          <a:lstStyle/>
          <a:p>
            <a:pPr lvl="0" indent="0" marL="0">
              <a:buNone/>
            </a:pPr>
            <a:r>
              <a:rPr/>
              <a:t>Same model, two different tables. </a:t>
            </a:r>
            <a:r>
              <a:rPr>
                <a:latin typeface="Courier"/>
              </a:rPr>
              <a:t>summary()</a:t>
            </a:r>
            <a:r>
              <a:rPr/>
              <a:t> gives you the </a:t>
            </a:r>
            <a:r>
              <a:rPr b="1"/>
              <a:t>coefficients</a:t>
            </a:r>
            <a:r>
              <a:rPr/>
              <a:t>; </a:t>
            </a:r>
            <a:r>
              <a:rPr>
                <a:latin typeface="Courier"/>
              </a:rPr>
              <a:t>anova()</a:t>
            </a:r>
            <a:r>
              <a:rPr/>
              <a:t> gives you the </a:t>
            </a:r>
            <a:r>
              <a:rPr b="1"/>
              <a:t>partition</a:t>
            </a:r>
            <a:r>
              <a:rPr/>
              <a:t>.</a:t>
            </a:r>
          </a:p>
          <a:p>
            <a:pPr lvl="0"/>
            <a:r>
              <a:rPr b="1"/>
              <a:t>(Intercept)</a:t>
            </a:r>
            <a:r>
              <a:rPr/>
              <a:t> = 1.676 — the mean of the </a:t>
            </a:r>
            <a:r>
              <a:rPr b="1"/>
              <a:t>reference level</a:t>
            </a:r>
            <a:r>
              <a:rPr/>
              <a:t>, which R picked alphabetically: </a:t>
            </a:r>
            <a:r>
              <a:rPr i="1"/>
              <a:t>female</a:t>
            </a:r>
          </a:p>
          <a:p>
            <a:pPr lvl="0"/>
            <a:r>
              <a:rPr b="1"/>
              <a:t>Each slope</a:t>
            </a:r>
            <a:r>
              <a:rPr/>
              <a:t> — that level’s mean </a:t>
            </a:r>
            <a:r>
              <a:rPr b="1"/>
              <a:t>minus</a:t>
            </a:r>
            <a:r>
              <a:rPr/>
              <a:t> the reference, not its own mean</a:t>
            </a:r>
          </a:p>
          <a:p>
            <a:pPr lvl="0"/>
            <a:r>
              <a:rPr b="1"/>
              <a:t>Bottom line</a:t>
            </a:r>
            <a:r>
              <a:rPr/>
              <a:t> — the same overall </a:t>
            </a:r>
            <a:r>
              <a:rPr b="1"/>
              <a:t>F = 20.31</a:t>
            </a:r>
            <a:r>
              <a:rPr/>
              <a:t> on the same two df that </a:t>
            </a:r>
            <a:r>
              <a:rPr>
                <a:latin typeface="Courier"/>
              </a:rPr>
              <a:t>anova()</a:t>
            </a:r>
            <a:r>
              <a:rPr/>
              <a:t> is about to print</a:t>
            </a:r>
          </a:p>
          <a:p>
            <a:pPr lvl="0" indent="0" marL="1270000">
              <a:buNone/>
            </a:pPr>
            <a:r>
              <a:rPr sz="2000" b="1"/>
              <a:t>Note</a:t>
            </a:r>
          </a:p>
          <a:p>
            <a:pPr lvl="0" indent="0" marL="1270000">
              <a:buNone/>
            </a:pPr>
            <a:r>
              <a:rPr sz="2000" b="1"/>
              <a:t>🖐 Where to look for what</a:t>
            </a:r>
          </a:p>
          <a:p>
            <a:pPr lvl="0" indent="0" marL="1270000">
              <a:buNone/>
            </a:pPr>
            <a:r>
              <a:rPr sz="2000"/>
              <a:t>The intercept only ever appears in </a:t>
            </a:r>
            <a:r>
              <a:rPr sz="2000">
                <a:latin typeface="Courier"/>
              </a:rPr>
              <a:t>summary()</a:t>
            </a:r>
            <a:r>
              <a:rPr sz="2000"/>
              <a:t> and in a Type III table. </a:t>
            </a:r>
            <a:r>
              <a:rPr sz="2000">
                <a:latin typeface="Courier"/>
              </a:rPr>
              <a:t>anova()</a:t>
            </a:r>
            <a:r>
              <a:rPr sz="2000"/>
              <a:t> and </a:t>
            </a:r>
            <a:r>
              <a:rPr sz="2000">
                <a:latin typeface="Courier"/>
              </a:rPr>
              <a:t>Anova(type = "II")</a:t>
            </a:r>
            <a:r>
              <a:rPr sz="2000"/>
              <a:t> do not print an (Intercept) row at all.</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ANOVA Table from R</a:t>
            </a:r>
          </a:p>
        </p:txBody>
      </p:sp>
      <p:sp>
        <p:nvSpPr>
          <p:cNvPr id="3" name="Content Placeholder 2"/>
          <p:cNvSpPr>
            <a:spLocks noGrp="1"/>
          </p:cNvSpPr>
          <p:nvPr>
            <p:ph idx="1" sz="half"/>
          </p:nvPr>
        </p:nvSpPr>
        <p:spPr/>
        <p:txBody>
          <a:bodyPr/>
          <a:lstStyle/>
          <a:p>
            <a:pPr lvl="0" indent="0">
              <a:buNone/>
            </a:pPr>
            <a:r>
              <a:rPr>
                <a:solidFill>
                  <a:srgbClr val="4758AB"/>
                </a:solidFill>
                <a:latin typeface="Courier"/>
              </a:rPr>
              <a:t>anova</a:t>
            </a:r>
            <a:r>
              <a:rPr>
                <a:solidFill>
                  <a:srgbClr val="003B4F"/>
                </a:solidFill>
                <a:latin typeface="Courier"/>
              </a:rPr>
              <a:t>(crab_model)</a:t>
            </a:r>
          </a:p>
          <a:p>
            <a:pPr lvl="0" indent="0">
              <a:buNone/>
            </a:pPr>
            <a:r>
              <a:rPr>
                <a:latin typeface="Courier"/>
              </a:rPr>
              <a:t>Analysis of Variance Table
Response: body_temp_c
          Df Sum Sq Mean Sq F value    Pr(&gt;F)    
crab_type  3 2.6413 0.88044  20.312 6.997e-10 ***
Residuals 80 3.4676 0.04335                      
---
Signif. codes:  0 '***' 0.001 '**' 0.01 '*' 0.05 '.' 0.1 ' ' 1</a:t>
            </a:r>
          </a:p>
        </p:txBody>
      </p:sp>
      <p:sp>
        <p:nvSpPr>
          <p:cNvPr id="4" name="Content Placeholder 3"/>
          <p:cNvSpPr>
            <a:spLocks noGrp="1"/>
          </p:cNvSpPr>
          <p:nvPr>
            <p:ph idx="2" sz="half"/>
          </p:nvPr>
        </p:nvSpPr>
        <p:spPr/>
        <p:txBody>
          <a:bodyPr/>
          <a:lstStyle/>
          <a:p>
            <a:pPr lvl="0" indent="0" marL="0">
              <a:buNone/>
            </a:pPr>
            <a:r>
              <a:rPr/>
              <a:t>Every number is one you just built:</a:t>
            </a:r>
          </a:p>
          <a:p>
            <a:pPr lvl="0"/>
            <a:r>
              <a:rPr b="1"/>
              <a:t>Sum Sq</a:t>
            </a:r>
            <a:r>
              <a:rPr/>
              <a:t> — 2.64 and 3.47</a:t>
            </a:r>
          </a:p>
          <a:p>
            <a:pPr lvl="0"/>
            <a:r>
              <a:rPr b="1"/>
              <a:t>Df</a:t>
            </a:r>
            <a:r>
              <a:rPr/>
              <a:t> — a − 1 = 3, N − a = 80</a:t>
            </a:r>
          </a:p>
          <a:p>
            <a:pPr lvl="0"/>
            <a:r>
              <a:rPr b="1"/>
              <a:t>Mean Sq</a:t>
            </a:r>
            <a:r>
              <a:rPr/>
              <a:t> — Sum Sq ÷ Df</a:t>
            </a:r>
          </a:p>
          <a:p>
            <a:pPr lvl="0"/>
            <a:r>
              <a:rPr b="1"/>
              <a:t>F value</a:t>
            </a:r>
            <a:r>
              <a:rPr/>
              <a:t> — the ratio of those two mean squares</a:t>
            </a:r>
          </a:p>
          <a:p>
            <a:pPr lvl="0" indent="0" marL="0">
              <a:buNone/>
            </a:pPr>
            <a:r>
              <a:rPr b="1"/>
              <a:t>F = 20.31, p = 7.00e-10.</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What Does That F Tell You?</a:t>
            </a:r>
          </a:p>
        </p:txBody>
      </p:sp>
      <p:sp>
        <p:nvSpPr>
          <p:cNvPr id="3" name="Content Placeholder 2"/>
          <p:cNvSpPr>
            <a:spLocks noGrp="1"/>
          </p:cNvSpPr>
          <p:nvPr>
            <p:ph idx="1" sz="half"/>
          </p:nvPr>
        </p:nvSpPr>
        <p:spPr/>
        <p:txBody>
          <a:bodyPr/>
          <a:lstStyle/>
          <a:p>
            <a:pPr lvl="0" indent="0" marL="0">
              <a:buNone/>
            </a:pPr>
            <a:r>
              <a:rPr/>
              <a:t>The ANOVA returns </a:t>
            </a:r>
            <a:r>
              <a:rPr b="1"/>
              <a:t>F = 20.31, p = 7.00e-10</a:t>
            </a:r>
            <a:r>
              <a:rPr/>
              <a:t>.</a:t>
            </a:r>
          </a:p>
          <a:p>
            <a:pPr lvl="0" indent="0" marL="0">
              <a:buNone/>
            </a:pPr>
            <a:r>
              <a:rPr b="1"/>
              <a:t>What have you just learned?</a:t>
            </a:r>
          </a:p>
          <a:p>
            <a:pPr lvl="0" indent="-342900" marL="342900">
              <a:buAutoNum type="alphaLcPeriod"/>
            </a:pPr>
            <a:r>
              <a:rPr/>
              <a:t>All four crab types have different mean temperatures</a:t>
            </a:r>
          </a:p>
          <a:p>
            <a:pPr lvl="0" indent="-342900" marL="342900">
              <a:buAutoNum type="alphaLcPeriod"/>
            </a:pPr>
            <a:r>
              <a:rPr/>
              <a:t>At least one crab type differs from at least one other</a:t>
            </a:r>
          </a:p>
          <a:p>
            <a:pPr lvl="0" indent="-342900" marL="342900">
              <a:buAutoNum type="alphaLcPeriod"/>
            </a:pPr>
            <a:r>
              <a:rPr/>
              <a:t>Removing the major claw raises body temperature</a:t>
            </a:r>
          </a:p>
          <a:p>
            <a:pPr lvl="0" indent="-342900" marL="342900">
              <a:buAutoNum type="alphaLcPeriod"/>
            </a:pPr>
            <a:r>
              <a:rPr/>
              <a:t>The major claw explains 43.2% of the variation in temperature, so the radiator hypothesis is supported</a:t>
            </a:r>
          </a:p>
          <a:p>
            <a:pPr lvl="0" indent="0" marL="1270000">
              <a:buNone/>
            </a:pPr>
            <a:r>
              <a:rPr sz="2000" b="1"/>
              <a:t>Warning</a:t>
            </a:r>
          </a:p>
          <a:p>
            <a:pPr lvl="0" indent="0" marL="1270000">
              <a:buNone/>
            </a:pPr>
            <a:r>
              <a:rPr sz="2000" b="1"/>
              <a:t>✍️ One letter. Write it down.</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The question to ask</a:t>
            </a:r>
          </a:p>
          <a:p>
            <a:pPr lvl="0"/>
            <a:r>
              <a:rPr sz="2000" i="1"/>
              <a:t>What was the null hypothesis, exactly?</a:t>
            </a:r>
          </a:p>
          <a:p>
            <a:pPr lvl="0"/>
            <a:r>
              <a:rPr sz="2000"/>
              <a:t>A test can only tell you about the hypothesis it tested.</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F Does and Does Not Say</a:t>
            </a:r>
          </a:p>
        </p:txBody>
      </p:sp>
      <p:sp>
        <p:nvSpPr>
          <p:cNvPr id="3" name="Content Placeholder 2"/>
          <p:cNvSpPr>
            <a:spLocks noGrp="1"/>
          </p:cNvSpPr>
          <p:nvPr>
            <p:ph idx="1" sz="half"/>
          </p:nvPr>
        </p:nvSpPr>
        <p:spPr/>
        <p:txBody>
          <a:bodyPr/>
          <a:lstStyle/>
          <a:p>
            <a:pPr lvl="0" indent="0" marL="1270000">
              <a:buNone/>
            </a:pPr>
            <a:r>
              <a:rPr sz="2000" b="1"/>
              <a:t>Important</a:t>
            </a:r>
          </a:p>
          <a:p>
            <a:pPr lvl="0" indent="0" marL="1270000">
              <a:buNone/>
            </a:pPr>
            <a:r>
              <a:rPr sz="2000" b="1"/>
              <a:t>✅ The answer is (b).</a:t>
            </a:r>
          </a:p>
          <a:p>
            <a:pPr lvl="0" indent="0" marL="1270000">
              <a:buNone/>
            </a:pPr>
            <a:r>
              <a:rPr sz="2000"/>
              <a:t>H₀ was “all four means are equal.” Rejecting it says </a:t>
            </a:r>
            <a:r>
              <a:rPr sz="2000" b="1"/>
              <a:t>at least one</a:t>
            </a:r>
            <a:r>
              <a:rPr sz="2000"/>
              <a:t> differs — not which, not how many, and not in which direction.</a:t>
            </a:r>
          </a:p>
          <a:p>
            <a:pPr lvl="0" indent="0" marL="1270000">
              <a:buNone/>
            </a:pPr>
            <a:r>
              <a:rPr sz="2000" b="1"/>
              <a:t>(a)</a:t>
            </a:r>
            <a:r>
              <a:rPr sz="2000"/>
              <a:t> claims far more than the test supports. </a:t>
            </a:r>
            <a:r>
              <a:rPr sz="2000" b="1"/>
              <a:t>(c)</a:t>
            </a:r>
            <a:r>
              <a:rPr sz="2000"/>
              <a:t> is a directional claim about one specific pair; that needs a post-hoc comparison, and Part 8 shows it is not even true. </a:t>
            </a:r>
            <a:r>
              <a:rPr sz="2000" b="1"/>
              <a:t>(d)</a:t>
            </a:r>
            <a:r>
              <a:rPr sz="2000"/>
              <a:t> misreads R²: 0.432 is the variance explained by </a:t>
            </a:r>
            <a:r>
              <a:rPr sz="2000" b="1"/>
              <a:t>crab type</a:t>
            </a:r>
            <a:r>
              <a:rPr sz="2000"/>
              <a:t>, which bundles sex and two surgeries together, not by the claw alone.</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The most common ANOVA mistake</a:t>
            </a:r>
          </a:p>
          <a:p>
            <a:pPr lvl="0" indent="0" marL="1270000">
              <a:buNone/>
            </a:pPr>
            <a:r>
              <a:rPr sz="2000"/>
              <a:t>Reporting a significant F and then describing whichever group means look farthest apart, as though the F test had said so.</a:t>
            </a:r>
          </a:p>
          <a:p>
            <a:pPr lvl="0" indent="0" marL="1270000">
              <a:buNone/>
            </a:pPr>
            <a:r>
              <a:rPr sz="2000" b="1"/>
              <a:t>It did not.</a:t>
            </a:r>
            <a:r>
              <a:rPr sz="2000"/>
              <a:t> The F test is an entry ticket, not an answer.</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Which Sums of Squares Did You Just Use?</a:t>
            </a:r>
          </a:p>
        </p:txBody>
      </p:sp>
      <p:sp>
        <p:nvSpPr>
          <p:cNvPr id="3" name="Content Placeholder 2"/>
          <p:cNvSpPr>
            <a:spLocks noGrp="1"/>
          </p:cNvSpPr>
          <p:nvPr>
            <p:ph idx="1" sz="half"/>
          </p:nvPr>
        </p:nvSpPr>
        <p:spPr/>
        <p:txBody>
          <a:bodyPr/>
          <a:lstStyle/>
          <a:p>
            <a:pPr lvl="0" indent="0" marL="0">
              <a:buNone/>
            </a:pPr>
            <a:r>
              <a:rPr>
                <a:latin typeface="Courier"/>
              </a:rPr>
              <a:t>anova()</a:t>
            </a:r>
            <a:r>
              <a:rPr/>
              <a:t> gives </a:t>
            </a:r>
            <a:r>
              <a:rPr b="1"/>
              <a:t>Type I</a:t>
            </a:r>
            <a:r>
              <a:rPr/>
              <a:t> — </a:t>
            </a:r>
            <a:r>
              <a:rPr b="1" i="1"/>
              <a:t>sequential</a:t>
            </a:r>
            <a:r>
              <a:rPr/>
              <a:t> </a:t>
            </a:r>
            <a:r>
              <a:rPr b="1"/>
              <a:t>sums of squares.</a:t>
            </a:r>
            <a:r>
              <a:rPr/>
              <a:t> It </a:t>
            </a:r>
            <a:r>
              <a:rPr b="1"/>
              <a:t>adds terms to the model in the order you wrote them</a:t>
            </a:r>
            <a:r>
              <a:rPr/>
              <a:t> and credits each one with whatever variation is left over at that point.</a:t>
            </a:r>
          </a:p>
          <a:p>
            <a:pPr lvl="0" indent="0" marL="0">
              <a:buNone/>
            </a:pPr>
            <a:r>
              <a:rPr/>
              <a:t>With three types in circulation:</a:t>
            </a:r>
          </a:p>
          <a:p>
            <a:pPr lvl="0"/>
            <a:r>
              <a:rPr b="1"/>
              <a:t>Type I (sequential)</a:t>
            </a:r>
            <a:r>
              <a:rPr/>
              <a:t> — each term adjusted for the terms </a:t>
            </a:r>
            <a:r>
              <a:rPr b="1"/>
              <a:t>before</a:t>
            </a:r>
            <a:r>
              <a:rPr/>
              <a:t> it. Order matters</a:t>
            </a:r>
          </a:p>
          <a:p>
            <a:pPr lvl="0"/>
            <a:r>
              <a:rPr b="1"/>
              <a:t>Type II (hierarchical)</a:t>
            </a:r>
            <a:r>
              <a:rPr/>
              <a:t> — each term adjusted for all other terms </a:t>
            </a:r>
            <a:r>
              <a:rPr b="1"/>
              <a:t>at the same level</a:t>
            </a:r>
            <a:r>
              <a:rPr/>
              <a:t>, ignoring interactions</a:t>
            </a:r>
          </a:p>
          <a:p>
            <a:pPr lvl="0"/>
            <a:r>
              <a:rPr b="1"/>
              <a:t>Type III (marginal)</a:t>
            </a:r>
            <a:r>
              <a:rPr/>
              <a:t> — each term adjusted for </a:t>
            </a:r>
            <a:r>
              <a:rPr b="1"/>
              <a:t>every</a:t>
            </a:r>
            <a:r>
              <a:rPr/>
              <a:t> other term, interactions included</a:t>
            </a:r>
          </a:p>
          <a:p>
            <a:pPr lvl="0" indent="0" marL="0">
              <a:buNone/>
            </a:pPr>
            <a:r>
              <a:rPr>
                <a:latin typeface="Courier"/>
              </a:rPr>
              <a:t>anova()</a:t>
            </a:r>
            <a:r>
              <a:rPr/>
              <a:t> is Type I only. Types II and III come from </a:t>
            </a:r>
            <a:r>
              <a:rPr b="1">
                <a:latin typeface="Courier"/>
              </a:rPr>
              <a:t>car::Anova()</a:t>
            </a:r>
            <a:r>
              <a:rPr/>
              <a:t> — capital </a:t>
            </a:r>
            <a:r>
              <a:rPr b="1"/>
              <a:t>A</a:t>
            </a:r>
            <a:r>
              <a:rPr/>
              <a:t>.</a:t>
            </a:r>
          </a:p>
        </p:txBody>
      </p:sp>
      <p:sp>
        <p:nvSpPr>
          <p:cNvPr id="4" name="Content Placeholder 3"/>
          <p:cNvSpPr>
            <a:spLocks noGrp="1"/>
          </p:cNvSpPr>
          <p:nvPr>
            <p:ph idx="2" sz="half"/>
          </p:nvPr>
        </p:nvSpPr>
        <p:spPr/>
        <p:txBody>
          <a:bodyPr/>
          <a:lstStyle/>
          <a:p>
            <a:pPr lvl="0" indent="0">
              <a:buNone/>
            </a:pPr>
            <a:r>
              <a:rPr>
                <a:solidFill>
                  <a:srgbClr val="4758AB"/>
                </a:solidFill>
                <a:latin typeface="Courier"/>
              </a:rPr>
              <a:t>Anova</a:t>
            </a:r>
            <a:r>
              <a:rPr>
                <a:solidFill>
                  <a:srgbClr val="003B4F"/>
                </a:solidFill>
                <a:latin typeface="Courier"/>
              </a:rPr>
              <a:t>(crab_model, </a:t>
            </a:r>
            <a:r>
              <a:rPr>
                <a:solidFill>
                  <a:srgbClr val="657422"/>
                </a:solidFill>
                <a:latin typeface="Courier"/>
              </a:rPr>
              <a:t>type =</a:t>
            </a:r>
            <a:r>
              <a:rPr>
                <a:solidFill>
                  <a:srgbClr val="003B4F"/>
                </a:solidFill>
                <a:latin typeface="Courier"/>
              </a:rPr>
              <a:t> </a:t>
            </a:r>
            <a:r>
              <a:rPr>
                <a:solidFill>
                  <a:srgbClr val="20794D"/>
                </a:solidFill>
                <a:latin typeface="Courier"/>
              </a:rPr>
              <a:t>"II"</a:t>
            </a:r>
            <a:r>
              <a:rPr>
                <a:solidFill>
                  <a:srgbClr val="003B4F"/>
                </a:solidFill>
                <a:latin typeface="Courier"/>
              </a:rPr>
              <a:t>)</a:t>
            </a:r>
          </a:p>
          <a:p>
            <a:pPr lvl="0" indent="0">
              <a:buNone/>
            </a:pPr>
            <a:r>
              <a:rPr>
                <a:latin typeface="Courier"/>
              </a:rPr>
              <a:t>Anova Table (Type II tests)
Response: body_temp_c
          Sum Sq Df F value    Pr(&gt;F)    
crab_type 2.6413  3  20.312 6.997e-10 ***
Residuals 3.4676 80                      
---
Signif. codes:  0 '***' 0.001 '**' 0.01 '*' 0.05 '.' 0.1 ' ' 1</a:t>
            </a:r>
          </a:p>
          <a:p>
            <a:pPr lvl="0" indent="0" marL="0">
              <a:buNone/>
            </a:pPr>
            <a:r>
              <a:rPr/>
              <a:t>Sum Sq 2.6413, F = 20.31 — </a:t>
            </a:r>
            <a:r>
              <a:rPr b="1"/>
              <a:t>identical</a:t>
            </a:r>
            <a:r>
              <a:rPr/>
              <a:t> to the </a:t>
            </a:r>
            <a:r>
              <a:rPr>
                <a:latin typeface="Courier"/>
              </a:rPr>
              <a:t>anova()</a:t>
            </a:r>
            <a:r>
              <a:rPr/>
              <a:t> table a few slides back.</a:t>
            </a:r>
          </a:p>
          <a:p>
            <a:pPr lvl="0" indent="0" marL="1270000">
              <a:buNone/>
            </a:pPr>
            <a:r>
              <a:rPr sz="2000" b="1"/>
              <a:t>Important</a:t>
            </a:r>
          </a:p>
          <a:p>
            <a:pPr lvl="0" indent="0" marL="1270000">
              <a:buNone/>
            </a:pPr>
            <a:r>
              <a:rPr sz="2000" b="1"/>
              <a:t>✅ In a one-way ANOVA all three types agree</a:t>
            </a:r>
          </a:p>
          <a:p>
            <a:pPr lvl="0" indent="0" marL="1270000">
              <a:buNone/>
            </a:pPr>
            <a:r>
              <a:rPr sz="2000"/>
              <a:t>There is only </a:t>
            </a:r>
            <a:r>
              <a:rPr sz="2000" b="1"/>
              <a:t>one</a:t>
            </a:r>
            <a:r>
              <a:rPr sz="2000"/>
              <a:t> predictor, so there is nothing to adjust it for. Order cannot matter when there is no second term. </a:t>
            </a:r>
            <a:r>
              <a:rPr sz="2000" b="1"/>
              <a:t>Balanced or unbalanced, Type I = Type II = Type III here.</a:t>
            </a:r>
            <a:r>
              <a:rPr sz="2000"/>
              <a:t> Imbalance alone is never enough — </a:t>
            </a:r>
            <a:r>
              <a:rPr sz="2000" b="1"/>
              <a:t>it takes two or more predictors sharing variation.</a:t>
            </a:r>
          </a:p>
          <a:p>
            <a:pPr lvl="0" indent="0" marL="1270000">
              <a:buNone/>
            </a:pPr>
            <a:r>
              <a:rPr sz="2000"/>
              <a:t>Which is exactly why this is the safe place to learn the machinery — you can see what each call does before the choice starts changing your answer.</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Type III Needs a Different Contrast Setting</a:t>
            </a:r>
          </a:p>
        </p:txBody>
      </p:sp>
      <p:sp>
        <p:nvSpPr>
          <p:cNvPr id="3" name="Content Placeholder 2"/>
          <p:cNvSpPr>
            <a:spLocks noGrp="1"/>
          </p:cNvSpPr>
          <p:nvPr>
            <p:ph idx="1" sz="half"/>
          </p:nvPr>
        </p:nvSpPr>
        <p:spPr/>
        <p:txBody>
          <a:bodyPr/>
          <a:lstStyle/>
          <a:p>
            <a:pPr lvl="0" indent="0" marL="0">
              <a:buNone/>
            </a:pPr>
            <a:r>
              <a:rPr/>
              <a:t>Type III tests each term </a:t>
            </a:r>
            <a:r>
              <a:rPr b="1"/>
              <a:t>at the average of the others</a:t>
            </a:r>
            <a:r>
              <a:rPr/>
              <a:t>, and that is only well defined if the factor’s coding is centred on the grand mean. </a:t>
            </a:r>
            <a:r>
              <a:rPr b="1"/>
              <a:t>R’s default </a:t>
            </a:r>
            <a:r>
              <a:rPr b="1">
                <a:latin typeface="Courier"/>
              </a:rPr>
              <a:t>contr.treatment</a:t>
            </a:r>
            <a:r>
              <a:rPr b="1"/>
              <a:t> is not — it is centred on the reference level.</a:t>
            </a:r>
          </a:p>
          <a:p>
            <a:pPr lvl="0" indent="0" marL="0">
              <a:buNone/>
            </a:pPr>
            <a:r>
              <a:rPr/>
              <a:t>So a true Type III needs the option switched, </a:t>
            </a:r>
            <a:r>
              <a:rPr b="1"/>
              <a:t>and the model refit</a:t>
            </a:r>
            <a:r>
              <a:rPr/>
              <a:t>:</a:t>
            </a:r>
          </a:p>
          <a:p>
            <a:pPr lvl="0" indent="0">
              <a:buNone/>
            </a:pPr>
            <a:r>
              <a:rPr>
                <a:solidFill>
                  <a:srgbClr val="4758AB"/>
                </a:solidFill>
                <a:latin typeface="Courier"/>
              </a:rPr>
              <a:t>options</a:t>
            </a:r>
            <a:r>
              <a:rPr>
                <a:solidFill>
                  <a:srgbClr val="003B4F"/>
                </a:solidFill>
                <a:latin typeface="Courier"/>
              </a:rPr>
              <a:t>(</a:t>
            </a:r>
            <a:r>
              <a:rPr>
                <a:solidFill>
                  <a:srgbClr val="657422"/>
                </a:solidFill>
                <a:latin typeface="Courier"/>
              </a:rPr>
              <a:t>contrasts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"contr.sum"</a:t>
            </a:r>
            <a:r>
              <a:rPr>
                <a:solidFill>
                  <a:srgbClr val="003B4F"/>
                </a:solidFill>
                <a:latin typeface="Courier"/>
              </a:rPr>
              <a:t>, </a:t>
            </a:r>
            <a:r>
              <a:rPr>
                <a:solidFill>
                  <a:srgbClr val="20794D"/>
                </a:solidFill>
                <a:latin typeface="Courier"/>
              </a:rPr>
              <a:t>"contr.poly"</a:t>
            </a:r>
            <a:r>
              <a:rPr>
                <a:solidFill>
                  <a:srgbClr val="003B4F"/>
                </a:solidFill>
                <a:latin typeface="Courier"/>
              </a:rPr>
              <a:t>))</a:t>
            </a:r>
            <a:br/>
            <a:br/>
            <a:r>
              <a:rPr>
                <a:solidFill>
                  <a:srgbClr val="003B4F"/>
                </a:solidFill>
                <a:latin typeface="Courier"/>
              </a:rPr>
              <a:t>crab_sum &lt;- </a:t>
            </a:r>
            <a:r>
              <a:rPr>
                <a:solidFill>
                  <a:srgbClr val="4758AB"/>
                </a:solidFill>
                <a:latin typeface="Courier"/>
              </a:rPr>
              <a:t>lm</a:t>
            </a:r>
            <a:r>
              <a:rPr>
                <a:solidFill>
                  <a:srgbClr val="003B4F"/>
                </a:solidFill>
                <a:latin typeface="Courier"/>
              </a:rPr>
              <a:t>(body_temp_c </a:t>
            </a:r>
            <a:r>
              <a:rPr>
                <a:solidFill>
                  <a:srgbClr val="5E5E5E"/>
                </a:solidFill>
                <a:latin typeface="Courier"/>
              </a:rPr>
              <a:t>~</a:t>
            </a:r>
            <a:r>
              <a:rPr>
                <a:solidFill>
                  <a:srgbClr val="003B4F"/>
                </a:solidFill>
                <a:latin typeface="Courier"/>
              </a:rPr>
              <a:t> crab_type, </a:t>
            </a:r>
            <a:r>
              <a:rPr>
                <a:solidFill>
                  <a:srgbClr val="657422"/>
                </a:solidFill>
                <a:latin typeface="Courier"/>
              </a:rPr>
              <a:t>data =</a:t>
            </a:r>
            <a:r>
              <a:rPr>
                <a:solidFill>
                  <a:srgbClr val="003B4F"/>
                </a:solidFill>
                <a:latin typeface="Courier"/>
              </a:rPr>
              <a:t> crab_df)</a:t>
            </a:r>
            <a:br/>
            <a:r>
              <a:rPr>
                <a:solidFill>
                  <a:srgbClr val="4758AB"/>
                </a:solidFill>
                <a:latin typeface="Courier"/>
              </a:rPr>
              <a:t>Anova</a:t>
            </a:r>
            <a:r>
              <a:rPr>
                <a:solidFill>
                  <a:srgbClr val="003B4F"/>
                </a:solidFill>
                <a:latin typeface="Courier"/>
              </a:rPr>
              <a:t>(crab_sum, </a:t>
            </a:r>
            <a:r>
              <a:rPr>
                <a:solidFill>
                  <a:srgbClr val="657422"/>
                </a:solidFill>
                <a:latin typeface="Courier"/>
              </a:rPr>
              <a:t>type =</a:t>
            </a:r>
            <a:r>
              <a:rPr>
                <a:solidFill>
                  <a:srgbClr val="003B4F"/>
                </a:solidFill>
                <a:latin typeface="Courier"/>
              </a:rPr>
              <a:t> </a:t>
            </a:r>
            <a:r>
              <a:rPr>
                <a:solidFill>
                  <a:srgbClr val="20794D"/>
                </a:solidFill>
                <a:latin typeface="Courier"/>
              </a:rPr>
              <a:t>"III"</a:t>
            </a:r>
            <a:r>
              <a:rPr>
                <a:solidFill>
                  <a:srgbClr val="003B4F"/>
                </a:solidFill>
                <a:latin typeface="Courier"/>
              </a:rPr>
              <a:t>)</a:t>
            </a:r>
          </a:p>
          <a:p>
            <a:pPr lvl="0" indent="0">
              <a:buNone/>
            </a:pPr>
            <a:r>
              <a:rPr>
                <a:latin typeface="Courier"/>
              </a:rPr>
              <a:t>Anova Table (Type III tests)
Response: body_temp_c
             Sum Sq Df  F value    Pr(&gt;F)    
(Intercept) 163.801  1 3778.986 &lt; 2.2e-16 ***
crab_type     2.641  3   20.312 6.997e-10 ***
Residuals     3.468 80                       
---
Signif. codes:  0 '***' 0.001 '**' 0.01 '*' 0.05 '.' 0.1 ' ' 1</a:t>
            </a:r>
          </a:p>
          <a:p>
            <a:pPr lvl="0" indent="0">
              <a:buNone/>
            </a:pPr>
            <a:r>
              <a:rPr>
                <a:solidFill>
                  <a:srgbClr val="4758AB"/>
                </a:solidFill>
                <a:latin typeface="Courier"/>
              </a:rPr>
              <a:t>options</a:t>
            </a:r>
            <a:r>
              <a:rPr>
                <a:solidFill>
                  <a:srgbClr val="003B4F"/>
                </a:solidFill>
                <a:latin typeface="Courier"/>
              </a:rPr>
              <a:t>(</a:t>
            </a:r>
            <a:r>
              <a:rPr>
                <a:solidFill>
                  <a:srgbClr val="657422"/>
                </a:solidFill>
                <a:latin typeface="Courier"/>
              </a:rPr>
              <a:t>contrasts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"contr.treatment"</a:t>
            </a:r>
            <a:r>
              <a:rPr>
                <a:solidFill>
                  <a:srgbClr val="003B4F"/>
                </a:solidFill>
                <a:latin typeface="Courier"/>
              </a:rPr>
              <a:t>, </a:t>
            </a:r>
            <a:r>
              <a:rPr>
                <a:solidFill>
                  <a:srgbClr val="20794D"/>
                </a:solidFill>
                <a:latin typeface="Courier"/>
              </a:rPr>
              <a:t>"contr.poly"</a:t>
            </a:r>
            <a:r>
              <a:rPr>
                <a:solidFill>
                  <a:srgbClr val="003B4F"/>
                </a:solidFill>
                <a:latin typeface="Courier"/>
              </a:rPr>
              <a:t>))</a:t>
            </a:r>
          </a:p>
          <a:p>
            <a:pPr lvl="0" indent="0" marL="0">
              <a:buNone/>
            </a:pPr>
            <a:r>
              <a:rPr/>
              <a:t>The </a:t>
            </a:r>
            <a:r>
              <a:rPr>
                <a:latin typeface="Courier"/>
              </a:rPr>
              <a:t>crab_type</a:t>
            </a:r>
            <a:r>
              <a:rPr/>
              <a:t> row is </a:t>
            </a:r>
            <a:r>
              <a:rPr b="1"/>
              <a:t>still</a:t>
            </a:r>
            <a:r>
              <a:rPr/>
              <a:t> 2.6413 and F = 20.31. </a:t>
            </a:r>
            <a:r>
              <a:rPr b="1"/>
              <a:t>Only the (Intercept) row moved — </a:t>
            </a:r>
            <a:r>
              <a:rPr b="1" u="sng"/>
              <a:t>it now tests the grand mean instead of the reference group’s mean.</a:t>
            </a:r>
            <a:r>
              <a:rPr/>
              <a:t> The next slide shows that row in </a:t>
            </a:r>
            <a:r>
              <a:rPr>
                <a:latin typeface="Courier"/>
              </a:rPr>
              <a:t>summary()</a:t>
            </a:r>
            <a:r>
              <a:rPr/>
              <a:t>.</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Contrasts are baked in at fit time</a:t>
            </a:r>
          </a:p>
          <a:p>
            <a:pPr lvl="0" indent="0" marL="1270000">
              <a:buNone/>
            </a:pPr>
            <a:r>
              <a:rPr sz="2000">
                <a:latin typeface="Courier"/>
              </a:rPr>
              <a:t>options()</a:t>
            </a:r>
            <a:r>
              <a:rPr sz="2000"/>
              <a:t> changes nothing about a model you already fitted. Change the option </a:t>
            </a:r>
            <a:r>
              <a:rPr sz="2000" b="1"/>
              <a:t>then refit</a:t>
            </a:r>
            <a:r>
              <a:rPr sz="2000"/>
              <a:t> — otherwise </a:t>
            </a:r>
            <a:r>
              <a:rPr sz="2000">
                <a:latin typeface="Courier"/>
              </a:rPr>
              <a:t>Anova(..., type = "III")</a:t>
            </a:r>
            <a:r>
              <a:rPr sz="2000"/>
              <a:t> silently reports Type III sums of squares computed from treatment coding, which are not the Type III anyone means.</a:t>
            </a:r>
          </a:p>
          <a:p>
            <a:pPr lvl="0" indent="0" marL="1270000">
              <a:buNone/>
            </a:pPr>
            <a:r>
              <a:rPr sz="2000" b="1"/>
              <a:t>Note</a:t>
            </a:r>
          </a:p>
          <a:p>
            <a:pPr lvl="0" indent="0" marL="1270000">
              <a:buNone/>
            </a:pPr>
            <a:r>
              <a:rPr sz="2000" b="1"/>
              <a:t>📖 What </a:t>
            </a:r>
            <a:r>
              <a:rPr sz="2000" b="1">
                <a:latin typeface="Courier"/>
              </a:rPr>
              <a:t>contr.sum</a:t>
            </a:r>
            <a:r>
              <a:rPr sz="2000" b="1"/>
              <a:t> actually changes</a:t>
            </a:r>
          </a:p>
          <a:p>
            <a:pPr lvl="0" indent="0" marL="0">
              <a:spcBef>
                <a:spcPts val="3000"/>
              </a:spcBef>
              <a:buNone/>
            </a:pPr>
            <a:r>
              <a:rPr sz="2000" b="1"/>
              <a:t>Nothing about the data or the fit — only how the factor’s dummy columns are built. </a:t>
            </a:r>
            <a:r>
              <a:rPr sz="2000" b="1">
                <a:latin typeface="Courier"/>
              </a:rPr>
              <a:t>contr.treatment</a:t>
            </a:r>
            <a:r>
              <a:rPr sz="2000" b="1"/>
              <a:t> codes each level against the reference level; </a:t>
            </a:r>
            <a:r>
              <a:rPr sz="2000" b="1">
                <a:latin typeface="Courier"/>
              </a:rPr>
              <a:t>contr.sum</a:t>
            </a:r>
            <a:r>
              <a:rPr sz="2000" b="1"/>
              <a:t> codes it against the grand mean.</a:t>
            </a:r>
          </a:p>
          <a:p>
            <a:pPr lvl="0" indent="0" marL="1270000">
              <a:buNone/>
            </a:pPr>
            <a:r>
              <a:rPr sz="2000"/>
              <a:t>Same model, same residuals, same F. Different bookkeeping.</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It Is the Coding That Moves the Intercept</a:t>
            </a:r>
          </a:p>
        </p:txBody>
      </p:sp>
      <p:sp>
        <p:nvSpPr>
          <p:cNvPr id="3" name="Content Placeholder 2"/>
          <p:cNvSpPr>
            <a:spLocks noGrp="1"/>
          </p:cNvSpPr>
          <p:nvPr>
            <p:ph idx="1" sz="half"/>
          </p:nvPr>
        </p:nvSpPr>
        <p:spPr/>
        <p:txBody>
          <a:bodyPr/>
          <a:lstStyle/>
          <a:p>
            <a:pPr lvl="0" indent="0" marL="0">
              <a:buNone/>
            </a:pPr>
            <a:r>
              <a:rPr>
                <a:latin typeface="Courier"/>
              </a:rPr>
              <a:t>anova()</a:t>
            </a:r>
            <a:r>
              <a:rPr/>
              <a:t> never showed you the intercept, so run </a:t>
            </a:r>
            <a:r>
              <a:rPr>
                <a:latin typeface="Courier"/>
              </a:rPr>
              <a:t>summary()</a:t>
            </a:r>
            <a:r>
              <a:rPr/>
              <a:t> on both fits and watch the one row that changed:</a:t>
            </a:r>
          </a:p>
          <a:p>
            <a:pPr lvl="0" indent="0">
              <a:buNone/>
            </a:pPr>
            <a:r>
              <a:rPr>
                <a:solidFill>
                  <a:srgbClr val="5E5E5E"/>
                </a:solidFill>
                <a:latin typeface="Courier"/>
              </a:rPr>
              <a:t># contr.treatment — R's default</a:t>
            </a:r>
            <a:br/>
            <a:r>
              <a:rPr>
                <a:solidFill>
                  <a:srgbClr val="4758AB"/>
                </a:solidFill>
                <a:latin typeface="Courier"/>
              </a:rPr>
              <a:t>round</a:t>
            </a:r>
            <a:r>
              <a:rPr>
                <a:solidFill>
                  <a:srgbClr val="003B4F"/>
                </a:solidFill>
                <a:latin typeface="Courier"/>
              </a:rPr>
              <a:t>(</a:t>
            </a:r>
            <a:r>
              <a:rPr>
                <a:solidFill>
                  <a:srgbClr val="4758AB"/>
                </a:solidFill>
                <a:latin typeface="Courier"/>
              </a:rPr>
              <a:t>summary</a:t>
            </a:r>
            <a:r>
              <a:rPr>
                <a:solidFill>
                  <a:srgbClr val="003B4F"/>
                </a:solidFill>
                <a:latin typeface="Courier"/>
              </a:rPr>
              <a:t>(crab_model)</a:t>
            </a:r>
            <a:r>
              <a:rPr>
                <a:solidFill>
                  <a:srgbClr val="5E5E5E"/>
                </a:solidFill>
                <a:latin typeface="Courier"/>
              </a:rPr>
              <a:t>$</a:t>
            </a:r>
            <a:r>
              <a:rPr>
                <a:solidFill>
                  <a:srgbClr val="003B4F"/>
                </a:solidFill>
                <a:latin typeface="Courier"/>
              </a:rPr>
              <a:t>coefficients[, </a:t>
            </a:r>
            <a:r>
              <a:rPr>
                <a:solidFill>
                  <a:srgbClr val="AD0000"/>
                </a:solidFill>
                <a:latin typeface="Courier"/>
              </a:rPr>
              <a:t>1</a:t>
            </a:r>
            <a:r>
              <a:rPr>
                <a:solidFill>
                  <a:srgbClr val="5E5E5E"/>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3</a:t>
            </a:r>
            <a:r>
              <a:rPr>
                <a:solidFill>
                  <a:srgbClr val="003B4F"/>
                </a:solidFill>
                <a:latin typeface="Courier"/>
              </a:rPr>
              <a:t>)</a:t>
            </a:r>
          </a:p>
          <a:p>
            <a:pPr lvl="0" indent="0">
              <a:buNone/>
            </a:pPr>
            <a:r>
              <a:rPr>
                <a:latin typeface="Courier"/>
              </a:rPr>
              <a:t>                            Estimate Std. Error
(Intercept)                    1.676      0.045
crab_typeintact male          -0.390      0.064
crab_typemale major removed   -0.262      0.064
crab_typemale minor removed   -0.467      0.064</a:t>
            </a:r>
          </a:p>
          <a:p>
            <a:pPr lvl="0" indent="0">
              <a:buNone/>
            </a:pPr>
            <a:r>
              <a:rPr>
                <a:solidFill>
                  <a:srgbClr val="5E5E5E"/>
                </a:solidFill>
                <a:latin typeface="Courier"/>
              </a:rPr>
              <a:t># contr.sum — the model refit for Type III</a:t>
            </a:r>
            <a:br/>
            <a:r>
              <a:rPr>
                <a:solidFill>
                  <a:srgbClr val="4758AB"/>
                </a:solidFill>
                <a:latin typeface="Courier"/>
              </a:rPr>
              <a:t>round</a:t>
            </a:r>
            <a:r>
              <a:rPr>
                <a:solidFill>
                  <a:srgbClr val="003B4F"/>
                </a:solidFill>
                <a:latin typeface="Courier"/>
              </a:rPr>
              <a:t>(</a:t>
            </a:r>
            <a:r>
              <a:rPr>
                <a:solidFill>
                  <a:srgbClr val="4758AB"/>
                </a:solidFill>
                <a:latin typeface="Courier"/>
              </a:rPr>
              <a:t>summary</a:t>
            </a:r>
            <a:r>
              <a:rPr>
                <a:solidFill>
                  <a:srgbClr val="003B4F"/>
                </a:solidFill>
                <a:latin typeface="Courier"/>
              </a:rPr>
              <a:t>(crab_sum)</a:t>
            </a:r>
            <a:r>
              <a:rPr>
                <a:solidFill>
                  <a:srgbClr val="5E5E5E"/>
                </a:solidFill>
                <a:latin typeface="Courier"/>
              </a:rPr>
              <a:t>$</a:t>
            </a:r>
            <a:r>
              <a:rPr>
                <a:solidFill>
                  <a:srgbClr val="003B4F"/>
                </a:solidFill>
                <a:latin typeface="Courier"/>
              </a:rPr>
              <a:t>coefficients[, </a:t>
            </a:r>
            <a:r>
              <a:rPr>
                <a:solidFill>
                  <a:srgbClr val="AD0000"/>
                </a:solidFill>
                <a:latin typeface="Courier"/>
              </a:rPr>
              <a:t>1</a:t>
            </a:r>
            <a:r>
              <a:rPr>
                <a:solidFill>
                  <a:srgbClr val="5E5E5E"/>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3</a:t>
            </a:r>
            <a:r>
              <a:rPr>
                <a:solidFill>
                  <a:srgbClr val="003B4F"/>
                </a:solidFill>
                <a:latin typeface="Courier"/>
              </a:rPr>
              <a:t>)</a:t>
            </a:r>
          </a:p>
          <a:p>
            <a:pPr lvl="0" indent="0">
              <a:buNone/>
            </a:pPr>
            <a:r>
              <a:rPr>
                <a:latin typeface="Courier"/>
              </a:rPr>
              <a:t>            Estimate Std. Error
(Intercept)    1.396      0.023
crab_type1     0.280      0.039
crab_type2    -0.111      0.039
crab_type3     0.018      0.039</a:t>
            </a:r>
          </a:p>
        </p:txBody>
      </p:sp>
      <p:sp>
        <p:nvSpPr>
          <p:cNvPr id="4" name="Content Placeholder 3"/>
          <p:cNvSpPr>
            <a:spLocks noGrp="1"/>
          </p:cNvSpPr>
          <p:nvPr>
            <p:ph idx="2" sz="half"/>
          </p:nvPr>
        </p:nvSpPr>
        <p:spPr/>
        <p:txBody>
          <a:bodyPr/>
          <a:lstStyle/>
          <a:p>
            <a:pPr lvl="0" indent="0" marL="0">
              <a:buNone/>
            </a:pPr>
            <a:r>
              <a:rPr/>
              <a:t>1.676 is the </a:t>
            </a:r>
            <a:r>
              <a:rPr b="1"/>
              <a:t>reference group’s</a:t>
            </a:r>
            <a:r>
              <a:rPr/>
              <a:t> mean (</a:t>
            </a:r>
            <a:r>
              <a:rPr i="1"/>
              <a:t>female</a:t>
            </a:r>
            <a:r>
              <a:rPr/>
              <a:t>). 1.396 is the </a:t>
            </a:r>
            <a:r>
              <a:rPr b="1"/>
              <a:t>grand mean</a:t>
            </a:r>
            <a:r>
              <a:rPr/>
              <a:t> — and the slopes are now deviations from it, </a:t>
            </a:r>
            <a:r>
              <a:rPr>
                <a:latin typeface="Courier"/>
              </a:rPr>
              <a:t>crab_type1</a:t>
            </a:r>
            <a:r>
              <a:rPr/>
              <a:t>…</a:t>
            </a:r>
            <a:r>
              <a:rPr>
                <a:latin typeface="Courier"/>
              </a:rPr>
              <a:t>crab_type3</a:t>
            </a:r>
            <a:r>
              <a:rPr/>
              <a:t>.</a:t>
            </a:r>
          </a:p>
          <a:p>
            <a:pPr lvl="0" indent="0" marL="1270000">
              <a:buNone/>
            </a:pPr>
            <a:r>
              <a:rPr sz="2000" b="1"/>
              <a:t>Important</a:t>
            </a:r>
          </a:p>
          <a:p>
            <a:pPr lvl="0" indent="0" marL="1270000">
              <a:buNone/>
            </a:pPr>
            <a:r>
              <a:rPr sz="2000" b="1"/>
              <a:t>✅ Type III does not move the intercept — </a:t>
            </a:r>
            <a:r>
              <a:rPr sz="2000" b="1">
                <a:latin typeface="Courier"/>
              </a:rPr>
              <a:t>contr.sum</a:t>
            </a:r>
            <a:r>
              <a:rPr sz="2000" b="1"/>
              <a:t> does</a:t>
            </a:r>
          </a:p>
          <a:p>
            <a:pPr lvl="0" indent="0" marL="1270000">
              <a:buNone/>
            </a:pPr>
            <a:r>
              <a:rPr sz="2000"/>
              <a:t>They just travel together, because Type III is only well defined under grand-mean coding. Ask a </a:t>
            </a:r>
            <a:r>
              <a:rPr sz="2000" b="1"/>
              <a:t>treatment</a:t>
            </a:r>
            <a:r>
              <a:rPr sz="2000"/>
              <a:t>-coded model for Type III and its (Intercept) row still tests the reference mean: SS = 59 against 163.8 under </a:t>
            </a:r>
            <a:r>
              <a:rPr sz="2000">
                <a:latin typeface="Courier"/>
              </a:rPr>
              <a:t>contr.sum</a:t>
            </a:r>
            <a:r>
              <a:rPr sz="2000"/>
              <a:t>.</a:t>
            </a:r>
          </a:p>
          <a:p>
            <a:pPr lvl="0" indent="0" marL="1270000">
              <a:buNone/>
            </a:pPr>
            <a:r>
              <a:rPr sz="2000"/>
              <a:t>The </a:t>
            </a:r>
            <a:r>
              <a:rPr sz="2000">
                <a:latin typeface="Courier"/>
              </a:rPr>
              <a:t>crab_type</a:t>
            </a:r>
            <a:r>
              <a:rPr sz="2000"/>
              <a:t> row is 2.641 either way.</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latin typeface="Courier"/>
              </a:rPr>
              <a:t>options()</a:t>
            </a:r>
            <a:r>
              <a:rPr/>
              <a:t> Is Global · Always Set It Back</a:t>
            </a:r>
          </a:p>
        </p:txBody>
      </p:sp>
      <p:sp>
        <p:nvSpPr>
          <p:cNvPr id="3" name="Content Placeholder 2"/>
          <p:cNvSpPr>
            <a:spLocks noGrp="1"/>
          </p:cNvSpPr>
          <p:nvPr>
            <p:ph idx="1" sz="half"/>
          </p:nvPr>
        </p:nvSpPr>
        <p:spPr/>
        <p:txBody>
          <a:bodyPr/>
          <a:lstStyle/>
          <a:p>
            <a:pPr lvl="0" indent="0">
              <a:buNone/>
            </a:pPr>
            <a:r>
              <a:rPr>
                <a:solidFill>
                  <a:srgbClr val="4758AB"/>
                </a:solidFill>
                <a:latin typeface="Courier"/>
              </a:rPr>
              <a:t>options</a:t>
            </a:r>
            <a:r>
              <a:rPr>
                <a:solidFill>
                  <a:srgbClr val="003B4F"/>
                </a:solidFill>
                <a:latin typeface="Courier"/>
              </a:rPr>
              <a:t>(</a:t>
            </a:r>
            <a:r>
              <a:rPr>
                <a:solidFill>
                  <a:srgbClr val="657422"/>
                </a:solidFill>
                <a:latin typeface="Courier"/>
              </a:rPr>
              <a:t>contrasts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"contr.sum"</a:t>
            </a:r>
            <a:r>
              <a:rPr>
                <a:solidFill>
                  <a:srgbClr val="003B4F"/>
                </a:solidFill>
                <a:latin typeface="Courier"/>
              </a:rPr>
              <a:t>, </a:t>
            </a:r>
            <a:r>
              <a:rPr>
                <a:solidFill>
                  <a:srgbClr val="20794D"/>
                </a:solidFill>
                <a:latin typeface="Courier"/>
              </a:rPr>
              <a:t>"contr.poly"</a:t>
            </a:r>
            <a:r>
              <a:rPr>
                <a:solidFill>
                  <a:srgbClr val="003B4F"/>
                </a:solidFill>
                <a:latin typeface="Courier"/>
              </a:rPr>
              <a:t>))</a:t>
            </a:r>
            <a:br/>
            <a:br/>
            <a:r>
              <a:rPr>
                <a:solidFill>
                  <a:srgbClr val="5E5E5E"/>
                </a:solidFill>
                <a:latin typeface="Courier"/>
              </a:rPr>
              <a:t># ... your Type III model and Anova() call ...</a:t>
            </a:r>
            <a:br/>
            <a:br/>
            <a:r>
              <a:rPr>
                <a:solidFill>
                  <a:srgbClr val="4758AB"/>
                </a:solidFill>
                <a:latin typeface="Courier"/>
              </a:rPr>
              <a:t>options</a:t>
            </a:r>
            <a:r>
              <a:rPr>
                <a:solidFill>
                  <a:srgbClr val="003B4F"/>
                </a:solidFill>
                <a:latin typeface="Courier"/>
              </a:rPr>
              <a:t>(</a:t>
            </a:r>
            <a:r>
              <a:rPr>
                <a:solidFill>
                  <a:srgbClr val="657422"/>
                </a:solidFill>
                <a:latin typeface="Courier"/>
              </a:rPr>
              <a:t>contrasts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"contr.treatment"</a:t>
            </a:r>
            <a:r>
              <a:rPr>
                <a:solidFill>
                  <a:srgbClr val="003B4F"/>
                </a:solidFill>
                <a:latin typeface="Courier"/>
              </a:rPr>
              <a:t>, </a:t>
            </a:r>
            <a:r>
              <a:rPr>
                <a:solidFill>
                  <a:srgbClr val="20794D"/>
                </a:solidFill>
                <a:latin typeface="Courier"/>
              </a:rPr>
              <a:t>"contr.poly"</a:t>
            </a:r>
            <a:r>
              <a:rPr>
                <a:solidFill>
                  <a:srgbClr val="003B4F"/>
                </a:solidFill>
                <a:latin typeface="Courier"/>
              </a:rPr>
              <a:t>))</a:t>
            </a:r>
          </a:p>
          <a:p>
            <a:pPr lvl="0" indent="0" marL="0">
              <a:buNone/>
            </a:pPr>
            <a:r>
              <a:rPr>
                <a:latin typeface="Courier"/>
              </a:rPr>
              <a:t>options()</a:t>
            </a:r>
            <a:r>
              <a:rPr/>
              <a:t> is </a:t>
            </a:r>
            <a:r>
              <a:rPr b="1"/>
              <a:t>global and sticky for the whole session.</a:t>
            </a:r>
            <a:r>
              <a:rPr/>
              <a:t> It is not attached to a model, a data frame or a script — it stays changed until you change it back or restart R.</a:t>
            </a:r>
          </a:p>
          <a:p>
            <a:pPr lvl="0" indent="0" marL="0">
              <a:buNone/>
            </a:pPr>
            <a:r>
              <a:rPr b="1"/>
              <a:t>Put the two calls in the same block</a:t>
            </a:r>
            <a:r>
              <a:rPr/>
              <a:t>, with the Type III work sandwiched between them. Not at the top of the script and “later.” Not in a different chunk.</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What going home with </a:t>
            </a:r>
            <a:r>
              <a:rPr sz="2000" b="1">
                <a:latin typeface="Courier"/>
              </a:rPr>
              <a:t>contr.sum</a:t>
            </a:r>
            <a:r>
              <a:rPr sz="2000" b="1"/>
              <a:t> left on looks like</a:t>
            </a:r>
          </a:p>
          <a:p>
            <a:pPr lvl="0" indent="0" marL="1270000">
              <a:buNone/>
            </a:pPr>
            <a:r>
              <a:rPr sz="2000"/>
              <a:t>Every </a:t>
            </a:r>
            <a:r>
              <a:rPr sz="2000">
                <a:latin typeface="Courier"/>
              </a:rPr>
              <a:t>summary()</a:t>
            </a:r>
            <a:r>
              <a:rPr sz="2000"/>
              <a:t> you run afterwards prints</a:t>
            </a:r>
          </a:p>
          <a:p>
            <a:pPr lvl="0" indent="0">
              <a:buNone/>
            </a:pPr>
            <a:r>
              <a:rPr sz="2000">
                <a:latin typeface="Courier"/>
              </a:rPr>
              <a:t>crab_type1   crab_type2   crab_type3</a:t>
            </a:r>
          </a:p>
          <a:p>
            <a:pPr lvl="0" indent="0" marL="1270000">
              <a:buNone/>
            </a:pPr>
            <a:r>
              <a:rPr sz="2000"/>
              <a:t>— deviations from the grand mean — instead of named contrasts against your control. </a:t>
            </a:r>
            <a:r>
              <a:rPr sz="2000">
                <a:latin typeface="Courier"/>
              </a:rPr>
              <a:t>emmeans</a:t>
            </a:r>
            <a:r>
              <a:rPr sz="2000"/>
              <a:t> and </a:t>
            </a:r>
            <a:r>
              <a:rPr sz="2000">
                <a:latin typeface="Courier"/>
              </a:rPr>
              <a:t>TukeyHSD</a:t>
            </a:r>
            <a:r>
              <a:rPr sz="2000"/>
              <a:t> still work, but your coefficient table is answering a different question.</a:t>
            </a:r>
          </a:p>
          <a:p>
            <a:pPr lvl="0" indent="0" marL="1270000">
              <a:buNone/>
            </a:pPr>
            <a:r>
              <a:rPr sz="2000" b="1" u="sng"/>
              <a:t>Nothing errors.</a:t>
            </a:r>
            <a:r>
              <a:rPr sz="2000" u="sng"/>
              <a:t> The output just quietly stops meaning what you think it means, and that is far worse than a crash.</a:t>
            </a:r>
          </a:p>
          <a:p>
            <a:pPr lvl="0" indent="0" marL="0">
              <a:buNone/>
            </a:pPr>
            <a:r>
              <a:rPr b="1"/>
              <a:t>Two-way ANOVA is where this starts to bite</a:t>
            </a:r>
            <a:r>
              <a:rPr/>
              <a:t> — that is where Type I and Type III give genuinely different answers, and where you will set this option on purpose.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Type I in Detail · Order Is the Whole Story</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slide before said all three types agree in a one-way ANOVA. That still holds — it had </a:t>
                </a:r>
                <a:r>
                  <a:rPr b="1"/>
                  <a:t>one</a:t>
                </a:r>
                <a:r>
                  <a:rPr/>
                  <a:t> predictor. Add a </a:t>
                </a:r>
                <a:r>
                  <a:rPr b="1"/>
                  <a:t>second</a:t>
                </a:r>
                <a:r>
                  <a:rPr/>
                  <a:t> one and imbalance finally has something to act on, so here is next week’s penguin data: </a:t>
                </a:r>
                <a:r>
                  <a:rPr b="1"/>
                  <a:t>body mass ~ species + sex</a:t>
                </a:r>
                <a:r>
                  <a:rPr/>
                  <a:t>, 333 birds, and the species–sex counts are </a:t>
                </a:r>
                <a:r>
                  <a:rPr b="1"/>
                  <a:t>not quite equal</a:t>
                </a:r>
                <a:r>
                  <a:rPr/>
                  <a:t>.</a:t>
                </a:r>
              </a:p>
              <a:p>
                <a:pPr lvl="0" indent="0" marL="0">
                  <a:buNone/>
                </a:pPr>
                <a:r>
                  <a:rPr/>
                  <a:t>Type I walks the formula </a:t>
                </a:r>
                <a:r>
                  <a:rPr b="1"/>
                  <a:t>left to right</a:t>
                </a:r>
                <a:r>
                  <a:rPr/>
                  <a:t>. The first term is tested against nothing; the second is tested against whatever variation the first one left behind.</a:t>
                </a:r>
              </a:p>
              <a:p>
                <a:pPr lvl="0" indent="0">
                  <a:buNone/>
                </a:pPr>
                <a:r>
                  <a:rPr>
                    <a:solidFill>
                      <a:srgbClr val="4758AB"/>
                    </a:solidFill>
                    <a:latin typeface="Courier"/>
                  </a:rPr>
                  <a:t>anova</a:t>
                </a:r>
                <a:r>
                  <a:rPr>
                    <a:solidFill>
                      <a:srgbClr val="003B4F"/>
                    </a:solidFill>
                    <a:latin typeface="Courier"/>
                  </a:rPr>
                  <a:t>(</a:t>
                </a:r>
                <a:r>
                  <a:rPr>
                    <a:solidFill>
                      <a:srgbClr val="4758AB"/>
                    </a:solidFill>
                    <a:latin typeface="Courier"/>
                  </a:rPr>
                  <a:t>lm</a:t>
                </a:r>
                <a:r>
                  <a:rPr>
                    <a:solidFill>
                      <a:srgbClr val="003B4F"/>
                    </a:solidFill>
                    <a:latin typeface="Courier"/>
                  </a:rPr>
                  <a:t>(body_mass_g </a:t>
                </a:r>
                <a:r>
                  <a:rPr>
                    <a:solidFill>
                      <a:srgbClr val="5E5E5E"/>
                    </a:solidFill>
                    <a:latin typeface="Courier"/>
                  </a:rPr>
                  <a:t>~</a:t>
                </a:r>
                <a:r>
                  <a:rPr>
                    <a:solidFill>
                      <a:srgbClr val="003B4F"/>
                    </a:solidFill>
                    <a:latin typeface="Courier"/>
                  </a:rPr>
                  <a:t> species </a:t>
                </a:r>
                <a:r>
                  <a:rPr>
                    <a:solidFill>
                      <a:srgbClr val="5E5E5E"/>
                    </a:solidFill>
                    <a:latin typeface="Courier"/>
                  </a:rPr>
                  <a:t>+</a:t>
                </a:r>
                <a:r>
                  <a:rPr>
                    <a:solidFill>
                      <a:srgbClr val="003B4F"/>
                    </a:solidFill>
                    <a:latin typeface="Courier"/>
                  </a:rPr>
                  <a:t> sex, peng_df))[</a:t>
                </a:r>
                <a:r>
                  <a:rPr>
                    <a:solidFill>
                      <a:srgbClr val="20794D"/>
                    </a:solidFill>
                    <a:latin typeface="Courier"/>
                  </a:rPr>
                  <a:t>"species"</a:t>
                </a:r>
                <a:r>
                  <a:rPr>
                    <a:solidFill>
                      <a:srgbClr val="003B4F"/>
                    </a:solidFill>
                    <a:latin typeface="Courier"/>
                  </a:rPr>
                  <a:t>, </a:t>
                </a:r>
                <a:r>
                  <a:rPr>
                    <a:solidFill>
                      <a:srgbClr val="20794D"/>
                    </a:solidFill>
                    <a:latin typeface="Courier"/>
                  </a:rPr>
                  <a:t>"Sum Sq"</a:t>
                </a:r>
                <a:r>
                  <a:rPr>
                    <a:solidFill>
                      <a:srgbClr val="003B4F"/>
                    </a:solidFill>
                    <a:latin typeface="Courier"/>
                  </a:rPr>
                  <a:t>]</a:t>
                </a:r>
              </a:p>
              <a:p>
                <a:pPr lvl="0" indent="0">
                  <a:buNone/>
                </a:pPr>
                <a:r>
                  <a:rPr>
                    <a:latin typeface="Courier"/>
                  </a:rPr>
                  <a:t>[1] 145190219</a:t>
                </a:r>
              </a:p>
              <a:p>
                <a:pPr lvl="0" indent="0">
                  <a:buNone/>
                </a:pPr>
                <a:r>
                  <a:rPr>
                    <a:solidFill>
                      <a:srgbClr val="4758AB"/>
                    </a:solidFill>
                    <a:latin typeface="Courier"/>
                  </a:rPr>
                  <a:t>anova</a:t>
                </a:r>
                <a:r>
                  <a:rPr>
                    <a:solidFill>
                      <a:srgbClr val="003B4F"/>
                    </a:solidFill>
                    <a:latin typeface="Courier"/>
                  </a:rPr>
                  <a:t>(</a:t>
                </a:r>
                <a:r>
                  <a:rPr>
                    <a:solidFill>
                      <a:srgbClr val="4758AB"/>
                    </a:solidFill>
                    <a:latin typeface="Courier"/>
                  </a:rPr>
                  <a:t>lm</a:t>
                </a:r>
                <a:r>
                  <a:rPr>
                    <a:solidFill>
                      <a:srgbClr val="003B4F"/>
                    </a:solidFill>
                    <a:latin typeface="Courier"/>
                  </a:rPr>
                  <a:t>(body_mass_g </a:t>
                </a:r>
                <a:r>
                  <a:rPr>
                    <a:solidFill>
                      <a:srgbClr val="5E5E5E"/>
                    </a:solidFill>
                    <a:latin typeface="Courier"/>
                  </a:rPr>
                  <a:t>~</a:t>
                </a:r>
                <a:r>
                  <a:rPr>
                    <a:solidFill>
                      <a:srgbClr val="003B4F"/>
                    </a:solidFill>
                    <a:latin typeface="Courier"/>
                  </a:rPr>
                  <a:t> sex </a:t>
                </a:r>
                <a:r>
                  <a:rPr>
                    <a:solidFill>
                      <a:srgbClr val="5E5E5E"/>
                    </a:solidFill>
                    <a:latin typeface="Courier"/>
                  </a:rPr>
                  <a:t>+</a:t>
                </a:r>
                <a:r>
                  <a:rPr>
                    <a:solidFill>
                      <a:srgbClr val="003B4F"/>
                    </a:solidFill>
                    <a:latin typeface="Courier"/>
                  </a:rPr>
                  <a:t> species, peng_df))[</a:t>
                </a:r>
                <a:r>
                  <a:rPr>
                    <a:solidFill>
                      <a:srgbClr val="20794D"/>
                    </a:solidFill>
                    <a:latin typeface="Courier"/>
                  </a:rPr>
                  <a:t>"species"</a:t>
                </a:r>
                <a:r>
                  <a:rPr>
                    <a:solidFill>
                      <a:srgbClr val="003B4F"/>
                    </a:solidFill>
                    <a:latin typeface="Courier"/>
                  </a:rPr>
                  <a:t>, </a:t>
                </a:r>
                <a:r>
                  <a:rPr>
                    <a:solidFill>
                      <a:srgbClr val="20794D"/>
                    </a:solidFill>
                    <a:latin typeface="Courier"/>
                  </a:rPr>
                  <a:t>"Sum Sq"</a:t>
                </a:r>
                <a:r>
                  <a:rPr>
                    <a:solidFill>
                      <a:srgbClr val="003B4F"/>
                    </a:solidFill>
                    <a:latin typeface="Courier"/>
                  </a:rPr>
                  <a:t>]</a:t>
                </a:r>
              </a:p>
              <a:p>
                <a:pPr lvl="0" indent="0">
                  <a:buNone/>
                </a:pPr>
                <a:r>
                  <a:rPr>
                    <a:latin typeface="Courier"/>
                  </a:rPr>
                  <a:t>[1] 143401584</a:t>
                </a:r>
              </a:p>
              <a:p>
                <a:pPr lvl="0" indent="0" marL="0">
                  <a:buNone/>
                </a:pPr>
                <a:r>
                  <a:rPr b="1"/>
                  <a:t>Same data. Same two predictors. Same model.</a:t>
                </a:r>
                <a:r>
                  <a:rPr/>
                  <a:t> Species is worth 145.2 million when it goes first and 143.4 million when it goes second.</a:t>
                </a:r>
              </a:p>
              <a:p>
                <a:pPr lvl="0" indent="0" marL="0">
                  <a:buNone/>
                </a:pPr>
                <a:r>
                  <a:rPr/>
                  <a:t>Type I sums of squares </a:t>
                </a:r>
                <a:r>
                  <a:rPr b="1"/>
                  <a:t>do</a:t>
                </a:r>
                <a:r>
                  <a:rPr/>
                  <a:t> add exactly to </a:t>
                </a:r>
                <a14:m>
                  <m:oMath xmlns:m="http://schemas.openxmlformats.org/officeDocument/2006/math">
                    <m:r>
                      <m:t>S</m:t>
                    </m:r>
                    <m:sSub>
                      <m:e>
                        <m:r>
                          <m:t>S</m:t>
                        </m:r>
                      </m:e>
                      <m:sub>
                        <m:r>
                          <m:t>t</m:t>
                        </m:r>
                        <m:r>
                          <m:t>o</m:t>
                        </m:r>
                        <m:r>
                          <m:t>t</m:t>
                        </m:r>
                        <m:r>
                          <m:t>a</m:t>
                        </m:r>
                        <m:r>
                          <m:t>l</m:t>
                        </m:r>
                      </m:sub>
                    </m:sSub>
                  </m:oMath>
                </a14:m>
                <a:r>
                  <a:rPr/>
                  <a:t> — the one thing they have going for them, and why </a:t>
                </a:r>
                <a:r>
                  <a:rPr>
                    <a:latin typeface="Courier"/>
                  </a:rPr>
                  <a:t>anova()</a:t>
                </a:r>
                <a:r>
                  <a:rPr/>
                  <a:t> still defaults to them.</a:t>
                </a:r>
              </a:p>
            </p:txBody>
          </p:sp>
        </mc:Choice>
      </mc:AlternateContent>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Where the difference comes from</a:t>
            </a:r>
          </a:p>
          <a:p>
            <a:pPr lvl="0" indent="0" marL="1270000">
              <a:buNone/>
            </a:pPr>
            <a:r>
              <a:rPr sz="2000"/>
              <a:t>Species and sex are </a:t>
            </a:r>
            <a:r>
              <a:rPr sz="2000" b="1"/>
              <a:t>slightly correlated</a:t>
            </a:r>
            <a:r>
              <a:rPr sz="2000"/>
              <a:t> here — the species are not sampled in identical sex ratios. That overlap is 1.8 million of variation that </a:t>
            </a:r>
            <a:r>
              <a:rPr sz="2000" b="1"/>
              <a:t>either</a:t>
            </a:r>
            <a:r>
              <a:rPr sz="2000"/>
              <a:t> predictor could claim.</a:t>
            </a:r>
          </a:p>
          <a:p>
            <a:pPr lvl="0" indent="0" marL="1270000">
              <a:buNone/>
            </a:pPr>
            <a:r>
              <a:rPr sz="2000"/>
              <a:t>Type I gives all of it to </a:t>
            </a:r>
            <a:r>
              <a:rPr sz="2000" b="1"/>
              <a:t>whichever one you typed first.</a:t>
            </a:r>
            <a:r>
              <a:rPr sz="2000"/>
              <a:t> The second term gets the leftovers.</a:t>
            </a:r>
          </a:p>
          <a:p>
            <a:pPr lvl="0" indent="0" marL="1270000">
              <a:buNone/>
            </a:pPr>
            <a:r>
              <a:rPr sz="2000" b="1"/>
              <a:t>Warning</a:t>
            </a:r>
          </a:p>
          <a:p>
            <a:pPr lvl="0" indent="0" marL="1270000">
              <a:buNone/>
            </a:pPr>
            <a:r>
              <a:rPr sz="2000" b="1"/>
              <a:t>⚠️ This is a real decision, made by accident</a:t>
            </a:r>
          </a:p>
          <a:p>
            <a:pPr lvl="0" indent="0" marL="1270000">
              <a:buNone/>
            </a:pPr>
            <a:r>
              <a:rPr sz="2000"/>
              <a:t>Nobody chooses “species should get credit for the overlap.” They just type </a:t>
            </a:r>
            <a:r>
              <a:rPr sz="2000">
                <a:latin typeface="Courier"/>
              </a:rPr>
              <a:t>species + sex</a:t>
            </a:r>
            <a:r>
              <a:rPr sz="2000"/>
              <a:t> because species felt like the main thing.</a:t>
            </a:r>
          </a:p>
          <a:p>
            <a:pPr lvl="0" indent="0" marL="1270000">
              <a:buNone/>
            </a:pPr>
            <a:r>
              <a:rPr sz="2000" b="1"/>
              <a:t>Type I turns the order of your typing into a statistical claim.</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Why Type II or III · What Type II Does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Type II asks a cleaner question: </a:t>
                </a:r>
                <a:r>
                  <a:rPr b="1"/>
                  <a:t>what is each term worth after adjusting for all the others?</a:t>
                </a:r>
                <a:r>
                  <a:rPr/>
                  <a:t> No order, because every term is adjusted for every other one.</a:t>
                </a:r>
              </a:p>
              <a:p>
                <a:pPr lvl="0" indent="0">
                  <a:buNone/>
                </a:pPr>
                <a:r>
                  <a:rPr>
                    <a:solidFill>
                      <a:srgbClr val="4758AB"/>
                    </a:solidFill>
                    <a:latin typeface="Courier"/>
                  </a:rPr>
                  <a:t>Anova</a:t>
                </a:r>
                <a:r>
                  <a:rPr>
                    <a:solidFill>
                      <a:srgbClr val="003B4F"/>
                    </a:solidFill>
                    <a:latin typeface="Courier"/>
                  </a:rPr>
                  <a:t>(</a:t>
                </a:r>
                <a:r>
                  <a:rPr>
                    <a:solidFill>
                      <a:srgbClr val="4758AB"/>
                    </a:solidFill>
                    <a:latin typeface="Courier"/>
                  </a:rPr>
                  <a:t>lm</a:t>
                </a:r>
                <a:r>
                  <a:rPr>
                    <a:solidFill>
                      <a:srgbClr val="003B4F"/>
                    </a:solidFill>
                    <a:latin typeface="Courier"/>
                  </a:rPr>
                  <a:t>(body_mass_g </a:t>
                </a:r>
                <a:r>
                  <a:rPr>
                    <a:solidFill>
                      <a:srgbClr val="5E5E5E"/>
                    </a:solidFill>
                    <a:latin typeface="Courier"/>
                  </a:rPr>
                  <a:t>~</a:t>
                </a:r>
                <a:r>
                  <a:rPr>
                    <a:solidFill>
                      <a:srgbClr val="003B4F"/>
                    </a:solidFill>
                    <a:latin typeface="Courier"/>
                  </a:rPr>
                  <a:t> species </a:t>
                </a:r>
                <a:r>
                  <a:rPr>
                    <a:solidFill>
                      <a:srgbClr val="5E5E5E"/>
                    </a:solidFill>
                    <a:latin typeface="Courier"/>
                  </a:rPr>
                  <a:t>+</a:t>
                </a:r>
                <a:r>
                  <a:rPr>
                    <a:solidFill>
                      <a:srgbClr val="003B4F"/>
                    </a:solidFill>
                    <a:latin typeface="Courier"/>
                  </a:rPr>
                  <a:t> sex, peng_df), </a:t>
                </a:r>
                <a:r>
                  <a:rPr>
                    <a:solidFill>
                      <a:srgbClr val="657422"/>
                    </a:solidFill>
                    <a:latin typeface="Courier"/>
                  </a:rPr>
                  <a:t>type =</a:t>
                </a:r>
                <a:r>
                  <a:rPr>
                    <a:solidFill>
                      <a:srgbClr val="003B4F"/>
                    </a:solidFill>
                    <a:latin typeface="Courier"/>
                  </a:rPr>
                  <a:t> </a:t>
                </a:r>
                <a:r>
                  <a:rPr>
                    <a:solidFill>
                      <a:srgbClr val="20794D"/>
                    </a:solidFill>
                    <a:latin typeface="Courier"/>
                  </a:rPr>
                  <a:t>"II"</a:t>
                </a:r>
                <a:r>
                  <a:rPr>
                    <a:solidFill>
                      <a:srgbClr val="003B4F"/>
                    </a:solidFill>
                    <a:latin typeface="Courier"/>
                  </a:rPr>
                  <a:t>)</a:t>
                </a:r>
              </a:p>
              <a:p>
                <a:pPr lvl="0" indent="0">
                  <a:buNone/>
                </a:pPr>
                <a:r>
                  <a:rPr>
                    <a:latin typeface="Courier"/>
                  </a:rPr>
                  <a:t>Anova Table (Type II tests)
Response: body_mass_g
             Sum Sq  Df F value    Pr(&gt;F)    
species   143401584   2  715.29 &lt; 2.2e-16 ***
sex        37090262   1  370.01 &lt; 2.2e-16 ***
Residuals  32979185 329                      
---
Signif. codes:  0 '***' 0.001 '**' 0.01 '*' 0.05 '.' 0.1 ' ' 1</a:t>
                </a:r>
              </a:p>
              <a:p>
                <a:pPr lvl="0" indent="0" marL="0">
                  <a:buNone/>
                </a:pPr>
                <a:r>
                  <a:rPr/>
                  <a:t>Species gets 143.4 million — exactly its </a:t>
                </a:r>
                <a:r>
                  <a:rPr b="1"/>
                  <a:t>“went last”</a:t>
                </a:r>
                <a:r>
                  <a:rPr/>
                  <a:t> Type I value. That is the trick to remembering it:</a:t>
                </a:r>
              </a:p>
              <a:p>
                <a:pPr lvl="0" indent="0" marL="1270000">
                  <a:buNone/>
                </a:pPr>
                <a:r>
                  <a:rPr sz="2000" b="1"/>
                  <a:t>Type II gives every term the sequential SS it would get if it went last.</a:t>
                </a:r>
              </a:p>
              <a:p>
                <a:pPr lvl="0" indent="0" marL="0">
                  <a:buNone/>
                </a:pPr>
                <a:r>
                  <a:rPr/>
                  <a:t>Nobody pockets the overlap, so Type II sums of squares </a:t>
                </a:r>
                <a:r>
                  <a:rPr b="1"/>
                  <a:t>do not</a:t>
                </a:r>
                <a:r>
                  <a:rPr/>
                  <a:t> add to </a:t>
                </a:r>
                <a14:m>
                  <m:oMath xmlns:m="http://schemas.openxmlformats.org/officeDocument/2006/math">
                    <m:r>
                      <m:t>S</m:t>
                    </m:r>
                    <m:sSub>
                      <m:e>
                        <m:r>
                          <m:t>S</m:t>
                        </m:r>
                      </m:e>
                      <m:sub>
                        <m:r>
                          <m:t>t</m:t>
                        </m:r>
                        <m:r>
                          <m:t>o</m:t>
                        </m:r>
                        <m:r>
                          <m:t>t</m:t>
                        </m:r>
                        <m:r>
                          <m:t>a</m:t>
                        </m:r>
                        <m:r>
                          <m:t>l</m:t>
                        </m:r>
                      </m:sub>
                    </m:sSub>
                  </m:oMath>
                </a14:m>
                <a:r>
                  <a:rPr/>
                  <a:t>. The 1.8 million of shared variation is simply not credited to anyone, which is the honest answer.</a:t>
                </a:r>
              </a:p>
            </p:txBody>
          </p:sp>
        </mc:Choice>
      </mc:AlternateContent>
      <p:sp>
        <p:nvSpPr>
          <p:cNvPr id="4" name="Content Placeholder 3"/>
          <p:cNvSpPr>
            <a:spLocks noGrp="1"/>
          </p:cNvSpPr>
          <p:nvPr>
            <p:ph idx="2" sz="half"/>
          </p:nvPr>
        </p:nvSpPr>
        <p:spPr/>
        <p:txBody>
          <a:bodyPr/>
          <a:lstStyle/>
          <a:p>
            <a:pPr lvl="0" indent="0" marL="1270000">
              <a:buNone/>
            </a:pPr>
            <a:r>
              <a:rPr sz="2000" b="1"/>
              <a:t>Tip</a:t>
            </a:r>
          </a:p>
          <a:p>
            <a:pPr lvl="0" indent="0" marL="1270000">
              <a:buNone/>
            </a:pPr>
            <a:r>
              <a:rPr sz="2000" b="1"/>
              <a:t>🖐 Which one to use</a:t>
            </a:r>
          </a:p>
          <a:p>
            <a:pPr lvl="0"/>
            <a:r>
              <a:rPr sz="2000" b="1"/>
              <a:t>Type II</a:t>
            </a:r>
            <a:r>
              <a:rPr sz="2000"/>
              <a:t> — your default when there is </a:t>
            </a:r>
            <a:r>
              <a:rPr sz="2000" b="1"/>
              <a:t>no interaction</a:t>
            </a:r>
            <a:r>
              <a:rPr sz="2000"/>
              <a:t>, or the interaction is not significant. It is the </a:t>
            </a:r>
            <a:r>
              <a:rPr sz="2000" b="1"/>
              <a:t>most powerful</a:t>
            </a:r>
            <a:r>
              <a:rPr sz="2000"/>
              <a:t> of the three, because it does not hold back the variation an absent interaction would have claimed</a:t>
            </a:r>
          </a:p>
          <a:p>
            <a:pPr lvl="0"/>
            <a:r>
              <a:rPr sz="2000" b="1"/>
              <a:t>Type III</a:t>
            </a:r>
            <a:r>
              <a:rPr sz="2000"/>
              <a:t> — when you are </a:t>
            </a:r>
            <a:r>
              <a:rPr sz="2000" b="1"/>
              <a:t>keeping an interaction</a:t>
            </a:r>
            <a:r>
              <a:rPr sz="2000"/>
              <a:t>. It goes one step further than Type II and adjusts each main effect for the </a:t>
            </a:r>
            <a:r>
              <a:rPr sz="2000" b="1"/>
              <a:t>interaction</a:t>
            </a:r>
            <a:r>
              <a:rPr sz="2000"/>
              <a:t> too, which is why it needs </a:t>
            </a:r>
            <a:r>
              <a:rPr sz="2000">
                <a:latin typeface="Courier"/>
              </a:rPr>
              <a:t>contr.sum</a:t>
            </a:r>
            <a:r>
              <a:rPr sz="2000"/>
              <a:t> to mean anything</a:t>
            </a:r>
          </a:p>
          <a:p>
            <a:pPr lvl="0"/>
            <a:r>
              <a:rPr sz="2000" b="1"/>
              <a:t>Type I</a:t>
            </a:r>
            <a:r>
              <a:rPr sz="2000"/>
              <a:t> — only when the order </a:t>
            </a:r>
            <a:r>
              <a:rPr sz="2000" i="1"/>
              <a:t>is</a:t>
            </a:r>
            <a:r>
              <a:rPr sz="2000"/>
              <a:t> your hypothesis: fitting a covariate first to strip it out before testing your treatment</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Balance Makes the Whole Problem Vanish</a:t>
            </a:r>
          </a:p>
        </p:txBody>
      </p:sp>
      <p:sp>
        <p:nvSpPr>
          <p:cNvPr id="3" name="Content Placeholder 2"/>
          <p:cNvSpPr>
            <a:spLocks noGrp="1"/>
          </p:cNvSpPr>
          <p:nvPr>
            <p:ph idx="1" sz="half"/>
          </p:nvPr>
        </p:nvSpPr>
        <p:spPr/>
        <p:txBody>
          <a:bodyPr/>
          <a:lstStyle/>
          <a:p>
            <a:pPr lvl="0" indent="0" marL="0">
              <a:buNone/>
            </a:pPr>
            <a:r>
              <a:rPr/>
              <a:t>Take the same penguins, force </a:t>
            </a:r>
            <a:r>
              <a:rPr b="1"/>
              <a:t>34 per species-by-sex cell</a:t>
            </a:r>
            <a:r>
              <a:rPr/>
              <a:t>, and run both orders again:</a:t>
            </a:r>
          </a:p>
          <a:p>
            <a:pPr lvl="0" indent="0">
              <a:buNone/>
            </a:pPr>
            <a:r>
              <a:rPr>
                <a:solidFill>
                  <a:srgbClr val="4758AB"/>
                </a:solidFill>
                <a:latin typeface="Courier"/>
              </a:rPr>
              <a:t>set.seed</a:t>
            </a:r>
            <a:r>
              <a:rPr>
                <a:solidFill>
                  <a:srgbClr val="003B4F"/>
                </a:solidFill>
                <a:latin typeface="Courier"/>
              </a:rPr>
              <a:t>(</a:t>
            </a:r>
            <a:r>
              <a:rPr>
                <a:solidFill>
                  <a:srgbClr val="AD0000"/>
                </a:solidFill>
                <a:latin typeface="Courier"/>
              </a:rPr>
              <a:t>12</a:t>
            </a:r>
            <a:r>
              <a:rPr>
                <a:solidFill>
                  <a:srgbClr val="003B4F"/>
                </a:solidFill>
                <a:latin typeface="Courier"/>
              </a:rPr>
              <a:t>)</a:t>
            </a:r>
            <a:br/>
            <a:r>
              <a:rPr>
                <a:solidFill>
                  <a:srgbClr val="003B4F"/>
                </a:solidFill>
                <a:latin typeface="Courier"/>
              </a:rPr>
              <a:t>peng_bal &lt;- peng_df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(species, sex) </a:t>
            </a:r>
            <a:r>
              <a:rPr>
                <a:solidFill>
                  <a:srgbClr val="5E5E5E"/>
                </a:solidFill>
                <a:latin typeface="Courier"/>
              </a:rPr>
              <a:t>%&gt;%</a:t>
            </a:r>
            <a:br/>
            <a:r>
              <a:rPr>
                <a:solidFill>
                  <a:srgbClr val="003B4F"/>
                </a:solidFill>
                <a:latin typeface="Courier"/>
              </a:rPr>
              <a:t>  </a:t>
            </a:r>
            <a:r>
              <a:rPr>
                <a:solidFill>
                  <a:srgbClr val="4758AB"/>
                </a:solidFill>
                <a:latin typeface="Courier"/>
              </a:rPr>
              <a:t>slice_sample</a:t>
            </a:r>
            <a:r>
              <a:rPr>
                <a:solidFill>
                  <a:srgbClr val="003B4F"/>
                </a:solidFill>
                <a:latin typeface="Courier"/>
              </a:rPr>
              <a:t>(</a:t>
            </a:r>
            <a:r>
              <a:rPr>
                <a:solidFill>
                  <a:srgbClr val="657422"/>
                </a:solidFill>
                <a:latin typeface="Courier"/>
              </a:rPr>
              <a:t>n =</a:t>
            </a:r>
            <a:r>
              <a:rPr>
                <a:solidFill>
                  <a:srgbClr val="003B4F"/>
                </a:solidFill>
                <a:latin typeface="Courier"/>
              </a:rPr>
              <a:t> </a:t>
            </a:r>
            <a:r>
              <a:rPr>
                <a:solidFill>
                  <a:srgbClr val="AD0000"/>
                </a:solidFill>
                <a:latin typeface="Courier"/>
              </a:rPr>
              <a:t>34</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ungroup</a:t>
            </a:r>
            <a:r>
              <a:rPr>
                <a:solidFill>
                  <a:srgbClr val="003B4F"/>
                </a:solidFill>
                <a:latin typeface="Courier"/>
              </a:rPr>
              <a:t>()</a:t>
            </a:r>
            <a:br/>
            <a:br/>
            <a:r>
              <a:rPr>
                <a:solidFill>
                  <a:srgbClr val="4758AB"/>
                </a:solidFill>
                <a:latin typeface="Courier"/>
              </a:rPr>
              <a:t>anova</a:t>
            </a:r>
            <a:r>
              <a:rPr>
                <a:solidFill>
                  <a:srgbClr val="003B4F"/>
                </a:solidFill>
                <a:latin typeface="Courier"/>
              </a:rPr>
              <a:t>(</a:t>
            </a:r>
            <a:r>
              <a:rPr>
                <a:solidFill>
                  <a:srgbClr val="4758AB"/>
                </a:solidFill>
                <a:latin typeface="Courier"/>
              </a:rPr>
              <a:t>lm</a:t>
            </a:r>
            <a:r>
              <a:rPr>
                <a:solidFill>
                  <a:srgbClr val="003B4F"/>
                </a:solidFill>
                <a:latin typeface="Courier"/>
              </a:rPr>
              <a:t>(body_mass_g </a:t>
            </a:r>
            <a:r>
              <a:rPr>
                <a:solidFill>
                  <a:srgbClr val="5E5E5E"/>
                </a:solidFill>
                <a:latin typeface="Courier"/>
              </a:rPr>
              <a:t>~</a:t>
            </a:r>
            <a:r>
              <a:rPr>
                <a:solidFill>
                  <a:srgbClr val="003B4F"/>
                </a:solidFill>
                <a:latin typeface="Courier"/>
              </a:rPr>
              <a:t> species </a:t>
            </a:r>
            <a:r>
              <a:rPr>
                <a:solidFill>
                  <a:srgbClr val="5E5E5E"/>
                </a:solidFill>
                <a:latin typeface="Courier"/>
              </a:rPr>
              <a:t>+</a:t>
            </a:r>
            <a:r>
              <a:rPr>
                <a:solidFill>
                  <a:srgbClr val="003B4F"/>
                </a:solidFill>
                <a:latin typeface="Courier"/>
              </a:rPr>
              <a:t> sex, peng_bal))[</a:t>
            </a:r>
            <a:r>
              <a:rPr>
                <a:solidFill>
                  <a:srgbClr val="20794D"/>
                </a:solidFill>
                <a:latin typeface="Courier"/>
              </a:rPr>
              <a:t>"species"</a:t>
            </a:r>
            <a:r>
              <a:rPr>
                <a:solidFill>
                  <a:srgbClr val="003B4F"/>
                </a:solidFill>
                <a:latin typeface="Courier"/>
              </a:rPr>
              <a:t>, </a:t>
            </a:r>
            <a:r>
              <a:rPr>
                <a:solidFill>
                  <a:srgbClr val="20794D"/>
                </a:solidFill>
                <a:latin typeface="Courier"/>
              </a:rPr>
              <a:t>"Sum Sq"</a:t>
            </a:r>
            <a:r>
              <a:rPr>
                <a:solidFill>
                  <a:srgbClr val="003B4F"/>
                </a:solidFill>
                <a:latin typeface="Courier"/>
              </a:rPr>
              <a:t>]</a:t>
            </a:r>
          </a:p>
          <a:p>
            <a:pPr lvl="0" indent="0">
              <a:buNone/>
            </a:pPr>
            <a:r>
              <a:rPr>
                <a:latin typeface="Courier"/>
              </a:rPr>
              <a:t>[1] 95895631</a:t>
            </a:r>
          </a:p>
          <a:p>
            <a:pPr lvl="0" indent="0">
              <a:buNone/>
            </a:pPr>
            <a:r>
              <a:rPr>
                <a:solidFill>
                  <a:srgbClr val="4758AB"/>
                </a:solidFill>
                <a:latin typeface="Courier"/>
              </a:rPr>
              <a:t>anova</a:t>
            </a:r>
            <a:r>
              <a:rPr>
                <a:solidFill>
                  <a:srgbClr val="003B4F"/>
                </a:solidFill>
                <a:latin typeface="Courier"/>
              </a:rPr>
              <a:t>(</a:t>
            </a:r>
            <a:r>
              <a:rPr>
                <a:solidFill>
                  <a:srgbClr val="4758AB"/>
                </a:solidFill>
                <a:latin typeface="Courier"/>
              </a:rPr>
              <a:t>lm</a:t>
            </a:r>
            <a:r>
              <a:rPr>
                <a:solidFill>
                  <a:srgbClr val="003B4F"/>
                </a:solidFill>
                <a:latin typeface="Courier"/>
              </a:rPr>
              <a:t>(body_mass_g </a:t>
            </a:r>
            <a:r>
              <a:rPr>
                <a:solidFill>
                  <a:srgbClr val="5E5E5E"/>
                </a:solidFill>
                <a:latin typeface="Courier"/>
              </a:rPr>
              <a:t>~</a:t>
            </a:r>
            <a:r>
              <a:rPr>
                <a:solidFill>
                  <a:srgbClr val="003B4F"/>
                </a:solidFill>
                <a:latin typeface="Courier"/>
              </a:rPr>
              <a:t> sex </a:t>
            </a:r>
            <a:r>
              <a:rPr>
                <a:solidFill>
                  <a:srgbClr val="5E5E5E"/>
                </a:solidFill>
                <a:latin typeface="Courier"/>
              </a:rPr>
              <a:t>+</a:t>
            </a:r>
            <a:r>
              <a:rPr>
                <a:solidFill>
                  <a:srgbClr val="003B4F"/>
                </a:solidFill>
                <a:latin typeface="Courier"/>
              </a:rPr>
              <a:t> species, peng_bal))[</a:t>
            </a:r>
            <a:r>
              <a:rPr>
                <a:solidFill>
                  <a:srgbClr val="20794D"/>
                </a:solidFill>
                <a:latin typeface="Courier"/>
              </a:rPr>
              <a:t>"species"</a:t>
            </a:r>
            <a:r>
              <a:rPr>
                <a:solidFill>
                  <a:srgbClr val="003B4F"/>
                </a:solidFill>
                <a:latin typeface="Courier"/>
              </a:rPr>
              <a:t>, </a:t>
            </a:r>
            <a:r>
              <a:rPr>
                <a:solidFill>
                  <a:srgbClr val="20794D"/>
                </a:solidFill>
                <a:latin typeface="Courier"/>
              </a:rPr>
              <a:t>"Sum Sq"</a:t>
            </a:r>
            <a:r>
              <a:rPr>
                <a:solidFill>
                  <a:srgbClr val="003B4F"/>
                </a:solidFill>
                <a:latin typeface="Courier"/>
              </a:rPr>
              <a:t>]</a:t>
            </a:r>
          </a:p>
          <a:p>
            <a:pPr lvl="0" indent="0">
              <a:buNone/>
            </a:pPr>
            <a:r>
              <a:rPr>
                <a:latin typeface="Courier"/>
              </a:rPr>
              <a:t>[1] 95895631</a:t>
            </a:r>
          </a:p>
          <a:p>
            <a:pPr lvl="0" indent="0" marL="0">
              <a:buNone/>
            </a:pPr>
            <a:r>
              <a:rPr b="1"/>
              <a:t>Identical, to the last digit.</a:t>
            </a:r>
            <a:r>
              <a:rPr/>
              <a:t> With equal n the two predictors are perfectly uncorrelated, there is no shared variation to fight over, and Type I = Type II = Type III.</a:t>
            </a:r>
          </a:p>
        </p:txBody>
      </p:sp>
      <p:sp>
        <p:nvSpPr>
          <p:cNvPr id="4" name="Content Placeholder 3"/>
          <p:cNvSpPr>
            <a:spLocks noGrp="1"/>
          </p:cNvSpPr>
          <p:nvPr>
            <p:ph idx="2" sz="half"/>
          </p:nvPr>
        </p:nvSpPr>
        <p:spPr/>
        <p:txBody>
          <a:bodyPr/>
          <a:lstStyle/>
          <a:p>
            <a:pPr lvl="0" indent="0" marL="1270000">
              <a:buNone/>
            </a:pPr>
            <a:r>
              <a:rPr sz="2000" b="1"/>
              <a:t>Important</a:t>
            </a:r>
          </a:p>
          <a:p>
            <a:pPr lvl="0" indent="0" marL="1270000">
              <a:buNone/>
            </a:pPr>
            <a:r>
              <a:rPr sz="2000" b="1"/>
              <a:t>✅ Why this matters to us specifically</a:t>
            </a:r>
          </a:p>
          <a:p>
            <a:pPr lvl="0" indent="0" marL="1270000">
              <a:buNone/>
            </a:pPr>
            <a:r>
              <a:rPr sz="2000"/>
              <a:t>The Type I / II / III problem needs </a:t>
            </a:r>
            <a:r>
              <a:rPr sz="2000" b="1"/>
              <a:t>both</a:t>
            </a:r>
            <a:r>
              <a:rPr sz="2000"/>
              <a:t> ingredients: </a:t>
            </a:r>
            <a:r>
              <a:rPr sz="2000" b="1"/>
              <a:t>two or more predictors</a:t>
            </a:r>
            <a:r>
              <a:rPr sz="2000"/>
              <a:t> and </a:t>
            </a:r>
            <a:r>
              <a:rPr sz="2000" b="1"/>
              <a:t>imbalance.</a:t>
            </a:r>
            <a:r>
              <a:rPr sz="2000"/>
              <a:t> Take either one away — one predictor, or equal n — and it disappears.</a:t>
            </a:r>
          </a:p>
          <a:p>
            <a:pPr lvl="0" indent="0" marL="1270000">
              <a:buNone/>
            </a:pPr>
            <a:r>
              <a:rPr sz="2000"/>
              <a:t>And ecological data is almost never balanced: animals die, plots flood, a site gets sampled twice, a treatment fails, a field season ends early. The penguins above are only </a:t>
            </a:r>
            <a:r>
              <a:rPr sz="2000" i="1"/>
              <a:t>barely</a:t>
            </a:r>
            <a:r>
              <a:rPr sz="2000"/>
              <a:t> unbalanced — counts of 73/73, 34/34, 58/61 — and the sums of squares still move by 1.8 million.</a:t>
            </a:r>
          </a:p>
          <a:p>
            <a:pPr lvl="0" indent="0" marL="1270000">
              <a:buNone/>
            </a:pPr>
            <a:r>
              <a:rPr sz="2000" b="1"/>
              <a:t>Plan for equal n. Report Type II or III when you do not get it.</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The F-Ratio</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F Actually Is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14:m>
                  <m:oMathPara xmlns:m="http://schemas.openxmlformats.org/officeDocument/2006/math">
                    <m:oMathParaPr>
                      <m:jc m:val="center"/>
                    </m:oMathParaPr>
                    <m:oMath>
                      <m:r>
                        <m:t>F</m:t>
                      </m:r>
                      <m:r>
                        <m:rPr>
                          <m:sty m:val="p"/>
                        </m:rPr>
                        <m:t>=</m:t>
                      </m:r>
                      <m:f>
                        <m:fPr>
                          <m:type m:val="bar"/>
                        </m:fPr>
                        <m:num>
                          <m:r>
                            <m:t>M</m:t>
                          </m:r>
                          <m:sSub>
                            <m:e>
                              <m:r>
                                <m:t>S</m:t>
                              </m:r>
                            </m:e>
                            <m:sub>
                              <m:r>
                                <m:t>a</m:t>
                              </m:r>
                              <m:r>
                                <m:t>m</m:t>
                              </m:r>
                              <m:r>
                                <m:t>o</m:t>
                              </m:r>
                              <m:r>
                                <m:t>n</m:t>
                              </m:r>
                              <m:r>
                                <m:t>g</m:t>
                              </m:r>
                            </m:sub>
                          </m:sSub>
                        </m:num>
                        <m:den>
                          <m:r>
                            <m:t>M</m:t>
                          </m:r>
                          <m:sSub>
                            <m:e>
                              <m:r>
                                <m:t>S</m:t>
                              </m:r>
                            </m:e>
                            <m:sub>
                              <m:r>
                                <m:t>w</m:t>
                              </m:r>
                              <m:r>
                                <m:t>i</m:t>
                              </m:r>
                              <m:r>
                                <m:t>t</m:t>
                              </m:r>
                              <m:r>
                                <m:t>h</m:t>
                              </m:r>
                              <m:r>
                                <m:t>i</m:t>
                              </m:r>
                              <m:r>
                                <m:t>n</m:t>
                              </m:r>
                            </m:sub>
                          </m:sSub>
                        </m:den>
                      </m:f>
                    </m:oMath>
                  </m:oMathPara>
                </a14:m>
              </a:p>
              <a:p>
                <a:pPr lvl="0"/>
                <a14:m>
                  <m:oMath xmlns:m="http://schemas.openxmlformats.org/officeDocument/2006/math">
                    <m:r>
                      <m:t>M</m:t>
                    </m:r>
                    <m:sSub>
                      <m:e>
                        <m:r>
                          <m:t>S</m:t>
                        </m:r>
                      </m:e>
                      <m:sub>
                        <m:r>
                          <m:t>w</m:t>
                        </m:r>
                        <m:r>
                          <m:t>i</m:t>
                        </m:r>
                        <m:r>
                          <m:t>t</m:t>
                        </m:r>
                        <m:r>
                          <m:t>h</m:t>
                        </m:r>
                        <m:r>
                          <m:t>i</m:t>
                        </m:r>
                        <m:r>
                          <m:t>n</m:t>
                        </m:r>
                      </m:sub>
                    </m:sSub>
                  </m:oMath>
                </a14:m>
                <a:r>
                  <a:rPr/>
                  <a:t> estimates the background variance σ² — pooled from inside the groups, where the treatment cannot reach</a:t>
                </a:r>
              </a:p>
              <a:p>
                <a:pPr lvl="0"/>
                <a14:m>
                  <m:oMath xmlns:m="http://schemas.openxmlformats.org/officeDocument/2006/math">
                    <m:r>
                      <m:t>M</m:t>
                    </m:r>
                    <m:sSub>
                      <m:e>
                        <m:r>
                          <m:t>S</m:t>
                        </m:r>
                      </m:e>
                      <m:sub>
                        <m:r>
                          <m:t>a</m:t>
                        </m:r>
                        <m:r>
                          <m:t>m</m:t>
                        </m:r>
                        <m:r>
                          <m:t>o</m:t>
                        </m:r>
                        <m:r>
                          <m:t>n</m:t>
                        </m:r>
                        <m:r>
                          <m:t>g</m:t>
                        </m:r>
                      </m:sub>
                    </m:sSub>
                  </m:oMath>
                </a14:m>
                <a:r>
                  <a:rPr/>
                  <a:t> estimates that </a:t>
                </a:r>
                <a:r>
                  <a:rPr b="1"/>
                  <a:t>same</a:t>
                </a:r>
                <a:r>
                  <a:rPr/>
                  <a:t> σ², </a:t>
                </a:r>
                <a:r>
                  <a:rPr i="1"/>
                  <a:t>plus</a:t>
                </a:r>
                <a:r>
                  <a:rPr/>
                  <a:t> anything real that separates the group means</a:t>
                </a:r>
              </a:p>
              <a:p>
                <a:pPr lvl="0"/>
                <a:r>
                  <a:rPr b="1"/>
                  <a:t>If H₀ is true, both estimate σ² and F ≈ 1</a:t>
                </a:r>
              </a:p>
              <a:p>
                <a:pPr lvl="0" indent="0" marL="0">
                  <a:buNone/>
                </a:pPr>
                <a:r>
                  <a:rPr/>
                  <a:t>Here F = </a:t>
                </a:r>
                <a:r>
                  <a:rPr b="1"/>
                  <a:t>20.31</a:t>
                </a:r>
                <a:r>
                  <a:rPr/>
                  <a:t> — the group means are 20 times further apart than within-group noise alone can explain.</a:t>
                </a:r>
              </a:p>
            </p:txBody>
          </p:sp>
        </mc:Choice>
      </mc:AlternateContent>
      <p:sp>
        <p:nvSpPr>
          <p:cNvPr id="4" name="Content Placeholder 3"/>
          <p:cNvSpPr>
            <a:spLocks noGrp="1"/>
          </p:cNvSpPr>
          <p:nvPr>
            <p:ph idx="2" sz="half"/>
          </p:nvPr>
        </p:nvSpPr>
        <p:spPr/>
        <p:txBody>
          <a:bodyPr/>
          <a:lstStyle/>
          <a:p>
            <a:pPr lvl="0" indent="0" marL="1270000">
              <a:buNone/>
            </a:pPr>
            <a:r>
              <a:rPr sz="2000" b="1"/>
              <a:t>Tip</a:t>
            </a:r>
          </a:p>
          <a:p>
            <a:pPr lvl="0" indent="0" marL="1270000">
              <a:buNone/>
            </a:pPr>
            <a:r>
              <a:rPr sz="2000" b="1"/>
              <a:t>🖐 Why F is never negative</a:t>
            </a:r>
          </a:p>
          <a:p>
            <a:pPr lvl="0" indent="0" marL="1270000">
              <a:buNone/>
            </a:pPr>
            <a:r>
              <a:rPr sz="2000"/>
              <a:t>It is a ratio of two variances, and a variance is a sum of </a:t>
            </a:r>
            <a:r>
              <a:rPr sz="2000" b="1"/>
              <a:t>squares</a:t>
            </a:r>
            <a:r>
              <a:rPr sz="2000"/>
              <a:t>. The direction of a difference disappears the moment you square it — which is why a significant F cannot tell you which way anything went.</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 and t Are the Same Test</a:t>
            </a:r>
          </a:p>
        </p:txBody>
      </p:sp>
      <p:sp>
        <p:nvSpPr>
          <p:cNvPr id="3" name="Content Placeholder 2"/>
          <p:cNvSpPr>
            <a:spLocks noGrp="1"/>
          </p:cNvSpPr>
          <p:nvPr>
            <p:ph idx="1" sz="half"/>
          </p:nvPr>
        </p:nvSpPr>
        <p:spPr/>
        <p:txBody>
          <a:bodyPr/>
          <a:lstStyle/>
          <a:p>
            <a:pPr lvl="0" indent="0" marL="0">
              <a:buNone/>
            </a:pPr>
            <a:r>
              <a:rPr/>
              <a:t>Take just two of the four groups — intact males and females — and test them both ways:</a:t>
            </a:r>
          </a:p>
          <a:p>
            <a:pPr lvl="0" indent="0">
              <a:buNone/>
            </a:pPr>
            <a:r>
              <a:rPr>
                <a:solidFill>
                  <a:srgbClr val="003B4F"/>
                </a:solidFill>
                <a:latin typeface="Courier"/>
              </a:rPr>
              <a:t>crab_two &lt;- crab_df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(crab_type </a:t>
            </a:r>
            <a:r>
              <a:rPr>
                <a:solidFill>
                  <a:srgbClr val="5E5E5E"/>
                </a:solidFill>
                <a:latin typeface="Courier"/>
              </a:rPr>
              <a:t>%in%</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"intact male"</a:t>
            </a:r>
            <a:r>
              <a:rPr>
                <a:solidFill>
                  <a:srgbClr val="003B4F"/>
                </a:solidFill>
                <a:latin typeface="Courier"/>
              </a:rPr>
              <a:t>, </a:t>
            </a:r>
            <a:r>
              <a:rPr>
                <a:solidFill>
                  <a:srgbClr val="20794D"/>
                </a:solidFill>
                <a:latin typeface="Courier"/>
              </a:rPr>
              <a:t>"female"</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droplevels</a:t>
            </a:r>
            <a:r>
              <a:rPr>
                <a:solidFill>
                  <a:srgbClr val="003B4F"/>
                </a:solidFill>
                <a:latin typeface="Courier"/>
              </a:rPr>
              <a:t>()</a:t>
            </a:r>
            <a:br/>
            <a:br/>
            <a:r>
              <a:rPr>
                <a:solidFill>
                  <a:srgbClr val="4758AB"/>
                </a:solidFill>
                <a:latin typeface="Courier"/>
              </a:rPr>
              <a:t>t.test</a:t>
            </a:r>
            <a:r>
              <a:rPr>
                <a:solidFill>
                  <a:srgbClr val="003B4F"/>
                </a:solidFill>
                <a:latin typeface="Courier"/>
              </a:rPr>
              <a:t>(body_temp_c </a:t>
            </a:r>
            <a:r>
              <a:rPr>
                <a:solidFill>
                  <a:srgbClr val="5E5E5E"/>
                </a:solidFill>
                <a:latin typeface="Courier"/>
              </a:rPr>
              <a:t>~</a:t>
            </a:r>
            <a:r>
              <a:rPr>
                <a:solidFill>
                  <a:srgbClr val="003B4F"/>
                </a:solidFill>
                <a:latin typeface="Courier"/>
              </a:rPr>
              <a:t> crab_type, </a:t>
            </a:r>
            <a:r>
              <a:rPr>
                <a:solidFill>
                  <a:srgbClr val="657422"/>
                </a:solidFill>
                <a:latin typeface="Courier"/>
              </a:rPr>
              <a:t>data =</a:t>
            </a:r>
            <a:r>
              <a:rPr>
                <a:solidFill>
                  <a:srgbClr val="003B4F"/>
                </a:solidFill>
                <a:latin typeface="Courier"/>
              </a:rPr>
              <a:t> crab_two, </a:t>
            </a:r>
            <a:r>
              <a:rPr>
                <a:solidFill>
                  <a:srgbClr val="657422"/>
                </a:solidFill>
                <a:latin typeface="Courier"/>
              </a:rPr>
              <a:t>var.equal =</a:t>
            </a:r>
            <a:r>
              <a:rPr>
                <a:solidFill>
                  <a:srgbClr val="003B4F"/>
                </a:solidFill>
                <a:latin typeface="Courier"/>
              </a:rPr>
              <a:t> </a:t>
            </a:r>
            <a:r>
              <a:rPr>
                <a:solidFill>
                  <a:srgbClr val="8F5902"/>
                </a:solidFill>
                <a:latin typeface="Courier"/>
              </a:rPr>
              <a:t>TRUE</a:t>
            </a:r>
            <a:r>
              <a:rPr>
                <a:solidFill>
                  <a:srgbClr val="003B4F"/>
                </a:solidFill>
                <a:latin typeface="Courier"/>
              </a:rPr>
              <a:t>)</a:t>
            </a:r>
            <a:r>
              <a:rPr>
                <a:solidFill>
                  <a:srgbClr val="5E5E5E"/>
                </a:solidFill>
                <a:latin typeface="Courier"/>
              </a:rPr>
              <a:t>$</a:t>
            </a:r>
            <a:r>
              <a:rPr>
                <a:solidFill>
                  <a:srgbClr val="003B4F"/>
                </a:solidFill>
                <a:latin typeface="Courier"/>
              </a:rPr>
              <a:t>statistic</a:t>
            </a:r>
          </a:p>
          <a:p>
            <a:pPr lvl="0" indent="0">
              <a:buNone/>
            </a:pPr>
            <a:r>
              <a:rPr>
                <a:latin typeface="Courier"/>
              </a:rPr>
              <a:t>       t 
5.958321 </a:t>
            </a:r>
          </a:p>
          <a:p>
            <a:pPr lvl="0" indent="0">
              <a:buNone/>
            </a:pPr>
            <a:r>
              <a:rPr>
                <a:solidFill>
                  <a:srgbClr val="4758AB"/>
                </a:solidFill>
                <a:latin typeface="Courier"/>
              </a:rPr>
              <a:t>anova</a:t>
            </a:r>
            <a:r>
              <a:rPr>
                <a:solidFill>
                  <a:srgbClr val="003B4F"/>
                </a:solidFill>
                <a:latin typeface="Courier"/>
              </a:rPr>
              <a:t>(</a:t>
            </a:r>
            <a:r>
              <a:rPr>
                <a:solidFill>
                  <a:srgbClr val="4758AB"/>
                </a:solidFill>
                <a:latin typeface="Courier"/>
              </a:rPr>
              <a:t>lm</a:t>
            </a:r>
            <a:r>
              <a:rPr>
                <a:solidFill>
                  <a:srgbClr val="003B4F"/>
                </a:solidFill>
                <a:latin typeface="Courier"/>
              </a:rPr>
              <a:t>(body_temp_c </a:t>
            </a:r>
            <a:r>
              <a:rPr>
                <a:solidFill>
                  <a:srgbClr val="5E5E5E"/>
                </a:solidFill>
                <a:latin typeface="Courier"/>
              </a:rPr>
              <a:t>~</a:t>
            </a:r>
            <a:r>
              <a:rPr>
                <a:solidFill>
                  <a:srgbClr val="003B4F"/>
                </a:solidFill>
                <a:latin typeface="Courier"/>
              </a:rPr>
              <a:t> crab_type, </a:t>
            </a:r>
            <a:r>
              <a:rPr>
                <a:solidFill>
                  <a:srgbClr val="657422"/>
                </a:solidFill>
                <a:latin typeface="Courier"/>
              </a:rPr>
              <a:t>data =</a:t>
            </a:r>
            <a:r>
              <a:rPr>
                <a:solidFill>
                  <a:srgbClr val="003B4F"/>
                </a:solidFill>
                <a:latin typeface="Courier"/>
              </a:rPr>
              <a:t> crab_two))[</a:t>
            </a:r>
            <a:r>
              <a:rPr>
                <a:solidFill>
                  <a:srgbClr val="AD0000"/>
                </a:solidFill>
                <a:latin typeface="Courier"/>
              </a:rPr>
              <a:t>1</a:t>
            </a:r>
            <a:r>
              <a:rPr>
                <a:solidFill>
                  <a:srgbClr val="003B4F"/>
                </a:solidFill>
                <a:latin typeface="Courier"/>
              </a:rPr>
              <a:t>, </a:t>
            </a:r>
            <a:r>
              <a:rPr>
                <a:solidFill>
                  <a:srgbClr val="20794D"/>
                </a:solidFill>
                <a:latin typeface="Courier"/>
              </a:rPr>
              <a:t>"F value"</a:t>
            </a:r>
            <a:r>
              <a:rPr>
                <a:solidFill>
                  <a:srgbClr val="003B4F"/>
                </a:solidFill>
                <a:latin typeface="Courier"/>
              </a:rPr>
              <a:t>]</a:t>
            </a:r>
          </a:p>
          <a:p>
            <a:pPr lvl="0" indent="0">
              <a:buNone/>
            </a:pPr>
            <a:r>
              <a:rPr>
                <a:latin typeface="Courier"/>
              </a:rPr>
              <a:t>[1] 35.50158</a:t>
            </a:r>
          </a:p>
        </p:txBody>
      </p:sp>
      <p:sp>
        <p:nvSpPr>
          <p:cNvPr id="4" name="Content Placeholder 3"/>
          <p:cNvSpPr>
            <a:spLocks noGrp="1"/>
          </p:cNvSpPr>
          <p:nvPr>
            <p:ph idx="2" sz="half"/>
          </p:nvPr>
        </p:nvSpPr>
        <p:spPr/>
        <p:txBody>
          <a:bodyPr/>
          <a:lstStyle/>
          <a:p>
            <a:pPr lvl="0" indent="0" marL="0">
              <a:buNone/>
            </a:pPr>
            <a:r>
              <a:rPr b="1"/>
              <a:t>t = 5.958</a:t>
            </a:r>
            <a:r>
              <a:rPr/>
              <a:t>, so </a:t>
            </a:r>
            <a:r>
              <a:rPr b="1"/>
              <a:t>t² = 35.5</a:t>
            </a:r>
            <a:r>
              <a:rPr/>
              <a:t> — and </a:t>
            </a:r>
            <a:r>
              <a:rPr b="1"/>
              <a:t>F = 35.5</a:t>
            </a:r>
            <a:r>
              <a:rPr/>
              <a:t>.</a:t>
            </a:r>
          </a:p>
          <a:p>
            <a:pPr lvl="0" indent="0" marL="0">
              <a:buNone/>
            </a:pPr>
            <a:r>
              <a:rPr/>
              <a:t>Identical, with identical p-values.</a:t>
            </a:r>
          </a:p>
          <a:p>
            <a:pPr lvl="0" indent="0" marL="1270000">
              <a:buNone/>
            </a:pPr>
            <a:r>
              <a:rPr sz="2000" b="1"/>
              <a:t>Important</a:t>
            </a:r>
          </a:p>
          <a:p>
            <a:pPr lvl="0" indent="0" marL="1270000">
              <a:buNone/>
            </a:pPr>
            <a:r>
              <a:rPr sz="2000" b="1"/>
              <a:t>✅ ANOVA generalises the t-test</a:t>
            </a:r>
          </a:p>
          <a:p>
            <a:pPr lvl="0" indent="0" marL="1270000">
              <a:buNone/>
            </a:pPr>
            <a:r>
              <a:rPr sz="2000"/>
              <a:t>With two groups they are the same test. With three or more, the t-test has nowhere to go and ANOVA does.</a:t>
            </a:r>
          </a:p>
          <a:p>
            <a:pPr lvl="0" indent="0" marL="1270000">
              <a:buNone/>
            </a:pPr>
            <a:r>
              <a:rPr sz="2000"/>
              <a:t>This is the same </a:t>
            </a:r>
            <a:r>
              <a:rPr sz="2000" b="1"/>
              <a:t>t² = F</a:t>
            </a:r>
            <a:r>
              <a:rPr sz="2000"/>
              <a:t> identity you proved on a regression slope in Week 6.</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Variance Explained</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14:m>
                  <m:oMathPara xmlns:m="http://schemas.openxmlformats.org/officeDocument/2006/math">
                    <m:oMathParaPr>
                      <m:jc m:val="center"/>
                    </m:oMathParaPr>
                    <m:oMath>
                      <m:sSup>
                        <m:e>
                          <m:r>
                            <m:t>R</m:t>
                          </m:r>
                        </m:e>
                        <m:sup>
                          <m:r>
                            <m:t>2</m:t>
                          </m:r>
                        </m:sup>
                      </m:sSup>
                      <m:r>
                        <m:rPr>
                          <m:sty m:val="p"/>
                        </m:rPr>
                        <m:t>=</m:t>
                      </m:r>
                      <m:f>
                        <m:fPr>
                          <m:type m:val="bar"/>
                        </m:fPr>
                        <m:num>
                          <m:r>
                            <m:t>S</m:t>
                          </m:r>
                          <m:sSub>
                            <m:e>
                              <m:r>
                                <m:t>S</m:t>
                              </m:r>
                            </m:e>
                            <m:sub>
                              <m:r>
                                <m:t>a</m:t>
                              </m:r>
                              <m:r>
                                <m:t>m</m:t>
                              </m:r>
                              <m:r>
                                <m:t>o</m:t>
                              </m:r>
                              <m:r>
                                <m:t>n</m:t>
                              </m:r>
                              <m:r>
                                <m:t>g</m:t>
                              </m:r>
                            </m:sub>
                          </m:sSub>
                        </m:num>
                        <m:den>
                          <m:r>
                            <m:t>S</m:t>
                          </m:r>
                          <m:sSub>
                            <m:e>
                              <m:r>
                                <m:t>S</m:t>
                              </m:r>
                            </m:e>
                            <m:sub>
                              <m:r>
                                <m:t>t</m:t>
                              </m:r>
                              <m:r>
                                <m:t>o</m:t>
                              </m:r>
                              <m:r>
                                <m:t>t</m:t>
                              </m:r>
                              <m:r>
                                <m:t>a</m:t>
                              </m:r>
                              <m:r>
                                <m:t>l</m:t>
                              </m:r>
                            </m:sub>
                          </m:sSub>
                        </m:den>
                      </m:f>
                      <m:r>
                        <m:rPr>
                          <m:sty m:val="p"/>
                        </m:rPr>
                        <m:t>=</m:t>
                      </m:r>
                      <m:f>
                        <m:fPr>
                          <m:type m:val="bar"/>
                        </m:fPr>
                        <m:num>
                          <m:r>
                            <m:t>2.64</m:t>
                          </m:r>
                        </m:num>
                        <m:den>
                          <m:r>
                            <m:t>6.11</m:t>
                          </m:r>
                        </m:den>
                      </m:f>
                      <m:r>
                        <m:rPr>
                          <m:sty m:val="p"/>
                        </m:rPr>
                        <m:t>=</m:t>
                      </m:r>
                      <m:r>
                        <m:t>0.432</m:t>
                      </m:r>
                    </m:oMath>
                  </m:oMathPara>
                </a14:m>
              </a:p>
              <a:p>
                <a:pPr lvl="0" indent="0" marL="0">
                  <a:buNone/>
                </a:pPr>
                <a:r>
                  <a:rPr/>
                  <a:t>Crab type accounts for about </a:t>
                </a:r>
                <a:r>
                  <a:rPr b="1"/>
                  <a:t>43.2%</a:t>
                </a:r>
                <a:r>
                  <a:rPr/>
                  <a:t> of the variation in body temperature. </a:t>
                </a:r>
                <a:r>
                  <a:rPr b="1"/>
                  <a:t>The rest is individual crabs being individual crabs.</a:t>
                </a:r>
              </a:p>
              <a:p>
                <a:pPr lvl="0" indent="0">
                  <a:buNone/>
                </a:pPr>
                <a:r>
                  <a:rPr>
                    <a:solidFill>
                      <a:srgbClr val="4758AB"/>
                    </a:solidFill>
                    <a:latin typeface="Courier"/>
                  </a:rPr>
                  <a:t>summary</a:t>
                </a:r>
                <a:r>
                  <a:rPr>
                    <a:solidFill>
                      <a:srgbClr val="003B4F"/>
                    </a:solidFill>
                    <a:latin typeface="Courier"/>
                  </a:rPr>
                  <a:t>(crab_model)</a:t>
                </a:r>
                <a:r>
                  <a:rPr>
                    <a:solidFill>
                      <a:srgbClr val="5E5E5E"/>
                    </a:solidFill>
                    <a:latin typeface="Courier"/>
                  </a:rPr>
                  <a:t>$</a:t>
                </a:r>
                <a:r>
                  <a:rPr>
                    <a:solidFill>
                      <a:srgbClr val="003B4F"/>
                    </a:solidFill>
                    <a:latin typeface="Courier"/>
                  </a:rPr>
                  <a:t>r.squared</a:t>
                </a:r>
              </a:p>
              <a:p>
                <a:pPr lvl="0" indent="0">
                  <a:buNone/>
                </a:pPr>
                <a:r>
                  <a:rPr>
                    <a:latin typeface="Courier"/>
                  </a:rPr>
                  <a:t>[1] 0.4323687</a:t>
                </a:r>
              </a:p>
            </p:txBody>
          </p:sp>
        </mc:Choice>
      </mc:AlternateContent>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Significant and partial, at the same time</a:t>
            </a:r>
          </a:p>
          <a:p>
            <a:pPr lvl="0" indent="0" marL="1270000">
              <a:buNone/>
            </a:pPr>
            <a:r>
              <a:rPr sz="2000"/>
              <a:t>p = 7.00e-10 says the group differences are not noise. R² = 0.43 says they explain under half of what is going on.</a:t>
            </a:r>
          </a:p>
          <a:p>
            <a:pPr lvl="0" indent="0" marL="1270000">
              <a:buNone/>
            </a:pPr>
            <a:r>
              <a:rPr sz="2000"/>
              <a:t>Both are true, and a results section should carry both.</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6 · Assumptions and Diagnostics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Three Assumptions</a:t>
            </a:r>
          </a:p>
        </p:txBody>
      </p:sp>
      <p:sp>
        <p:nvSpPr>
          <p:cNvPr id="3" name="Content Placeholder 2"/>
          <p:cNvSpPr>
            <a:spLocks noGrp="1"/>
          </p:cNvSpPr>
          <p:nvPr>
            <p:ph idx="1" sz="half"/>
          </p:nvPr>
        </p:nvSpPr>
        <p:spPr/>
        <p:txBody>
          <a:bodyPr/>
          <a:lstStyle/>
          <a:p>
            <a:pPr lvl="0" indent="0" marL="0">
              <a:buNone/>
            </a:pPr>
            <a:r>
              <a:rPr/>
              <a:t>One-way ANOVA assumes:</a:t>
            </a:r>
          </a:p>
          <a:p>
            <a:pPr lvl="0" indent="-342900" marL="342900">
              <a:buAutoNum type="arabicPeriod"/>
            </a:pPr>
            <a:r>
              <a:rPr b="1"/>
              <a:t>Independence</a:t>
            </a:r>
            <a:r>
              <a:rPr/>
              <a:t> — observations do not depend on each other. This one comes from the </a:t>
            </a:r>
            <a:r>
              <a:rPr b="1"/>
              <a:t>design</a:t>
            </a:r>
            <a:r>
              <a:rPr/>
              <a:t>, and no plot can rescue it</a:t>
            </a:r>
          </a:p>
          <a:p>
            <a:pPr lvl="0" indent="-342900" marL="342900">
              <a:buAutoNum type="arabicPeriod"/>
            </a:pPr>
            <a:r>
              <a:rPr b="1"/>
              <a:t>Normality</a:t>
            </a:r>
            <a:r>
              <a:rPr/>
              <a:t> — of the </a:t>
            </a:r>
            <a:r>
              <a:rPr b="1"/>
              <a:t>residuals</a:t>
            </a:r>
            <a:r>
              <a:rPr/>
              <a:t>, not of the raw response</a:t>
            </a:r>
          </a:p>
          <a:p>
            <a:pPr lvl="0" indent="-342900" marL="342900">
              <a:buAutoNum type="arabicPeriod"/>
            </a:pPr>
            <a:r>
              <a:rPr b="1"/>
              <a:t>Equal variance</a:t>
            </a:r>
            <a:r>
              <a:rPr/>
              <a:t> (homoscedasticity) across groups</a:t>
            </a:r>
          </a:p>
          <a:p>
            <a:pPr lvl="0" indent="0" marL="0">
              <a:buNone/>
            </a:pPr>
            <a:r>
              <a:rPr/>
              <a:t>ANOVA is fairly robust to mild departures from 2 and 3 </a:t>
            </a:r>
            <a:r>
              <a:rPr b="1"/>
              <a:t>when the design is balanced</a:t>
            </a:r>
            <a:r>
              <a:rPr/>
              <a:t>, which is one more reason to plan for equal n.</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Normality of what?</a:t>
            </a:r>
          </a:p>
          <a:p>
            <a:pPr lvl="0" indent="0" marL="1270000">
              <a:buNone/>
            </a:pPr>
            <a:r>
              <a:rPr sz="2000"/>
              <a:t>Not </a:t>
            </a:r>
            <a:r>
              <a:rPr sz="2000">
                <a:latin typeface="Courier"/>
              </a:rPr>
              <a:t>body_temp_c</a:t>
            </a:r>
            <a:r>
              <a:rPr sz="2000"/>
              <a:t>. Not each group separately. </a:t>
            </a:r>
            <a:r>
              <a:rPr sz="2000" b="1"/>
              <a:t>The residuals of the fitted model</a:t>
            </a:r>
            <a:r>
              <a:rPr sz="2000"/>
              <a:t> — exactly as in regression.</a:t>
            </a:r>
          </a:p>
          <a:p>
            <a:pPr lvl="0" indent="0" marL="1270000">
              <a:buNone/>
            </a:pPr>
            <a:r>
              <a:rPr sz="2000"/>
              <a:t>A response that looks bimodal because the groups differ is perfectly fine; that is the effect you are testing.</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Four Diagnostic Plots</a:t>
            </a:r>
          </a:p>
        </p:txBody>
      </p:sp>
      <p:sp>
        <p:nvSpPr>
          <p:cNvPr id="3" name="Content Placeholder 2"/>
          <p:cNvSpPr>
            <a:spLocks noGrp="1"/>
          </p:cNvSpPr>
          <p:nvPr>
            <p:ph idx="1" sz="half"/>
          </p:nvPr>
        </p:nvSpPr>
        <p:spPr/>
        <p:txBody>
          <a:bodyPr/>
          <a:lstStyle/>
          <a:p>
            <a:pPr lvl="0" indent="0" marL="0">
              <a:buNone/>
            </a:pPr>
            <a:r>
              <a:rPr/>
              <a:t>The same four panels you read for a regression:</a:t>
            </a:r>
          </a:p>
          <a:p>
            <a:pPr lvl="0" indent="-342900" marL="342900">
              <a:buAutoNum type="arabicPeriod"/>
            </a:pPr>
            <a:r>
              <a:rPr b="1"/>
              <a:t>Residuals vs fitted</a:t>
            </a:r>
            <a:r>
              <a:rPr/>
              <a:t> — with a factor, the points stack in vertical columns, one per group. You are looking for </a:t>
            </a:r>
            <a:r>
              <a:rPr b="1"/>
              <a:t>equal spread</a:t>
            </a:r>
            <a:r>
              <a:rPr/>
              <a:t> in each column</a:t>
            </a:r>
          </a:p>
          <a:p>
            <a:pPr lvl="0" indent="-342900" marL="342900">
              <a:buAutoNum type="arabicPeriod"/>
            </a:pPr>
            <a:r>
              <a:rPr b="1"/>
              <a:t>QQ plot</a:t>
            </a:r>
            <a:r>
              <a:rPr/>
              <a:t> — residuals against normal</a:t>
            </a:r>
          </a:p>
          <a:p>
            <a:pPr lvl="0" indent="-342900" marL="342900">
              <a:buAutoNum type="arabicPeriod"/>
            </a:pPr>
            <a:r>
              <a:rPr b="1"/>
              <a:t>Scale-location</a:t>
            </a:r>
            <a:r>
              <a:rPr/>
              <a:t> — same check, easier to see</a:t>
            </a:r>
          </a:p>
          <a:p>
            <a:pPr lvl="0" indent="-342900" marL="342900">
              <a:buAutoNum type="arabicPeriod"/>
            </a:pPr>
            <a:r>
              <a:rPr b="1"/>
              <a:t>Residuals vs leverage</a:t>
            </a:r>
            <a:r>
              <a:rPr/>
              <a:t> — influential points</a:t>
            </a:r>
          </a:p>
        </p:txBody>
      </p:sp>
      <p:pic>
        <p:nvPicPr>
          <p:cNvPr descr="analysis_of_variance_lecture_files/figure-pptx/analysis-of-variance-09-1.png" id="0" name="Picture 1"/>
          <p:cNvPicPr>
            <a:picLocks noGrp="1" noChangeAspect="1"/>
          </p:cNvPicPr>
          <p:nvPr/>
        </p:nvPicPr>
        <p:blipFill>
          <a:blip r:embed="rId2"/>
          <a:stretch>
            <a:fillRect/>
          </a:stretch>
        </p:blipFill>
        <p:spPr bwMode="auto">
          <a:xfrm>
            <a:off x="6121400" y="1587500"/>
            <a:ext cx="2781300" cy="26289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Levene’s Test — Equal Variances</a:t>
            </a:r>
          </a:p>
        </p:txBody>
      </p:sp>
      <p:sp>
        <p:nvSpPr>
          <p:cNvPr id="3" name="Content Placeholder 2"/>
          <p:cNvSpPr>
            <a:spLocks noGrp="1"/>
          </p:cNvSpPr>
          <p:nvPr>
            <p:ph idx="1" sz="half"/>
          </p:nvPr>
        </p:nvSpPr>
        <p:spPr/>
        <p:txBody>
          <a:bodyPr/>
          <a:lstStyle/>
          <a:p>
            <a:pPr lvl="0" indent="0">
              <a:buNone/>
            </a:pPr>
            <a:r>
              <a:rPr>
                <a:solidFill>
                  <a:srgbClr val="4758AB"/>
                </a:solidFill>
                <a:latin typeface="Courier"/>
              </a:rPr>
              <a:t>leveneTest</a:t>
            </a:r>
            <a:r>
              <a:rPr>
                <a:solidFill>
                  <a:srgbClr val="003B4F"/>
                </a:solidFill>
                <a:latin typeface="Courier"/>
              </a:rPr>
              <a:t>(body_temp_c </a:t>
            </a:r>
            <a:r>
              <a:rPr>
                <a:solidFill>
                  <a:srgbClr val="5E5E5E"/>
                </a:solidFill>
                <a:latin typeface="Courier"/>
              </a:rPr>
              <a:t>~</a:t>
            </a:r>
            <a:r>
              <a:rPr>
                <a:solidFill>
                  <a:srgbClr val="003B4F"/>
                </a:solidFill>
                <a:latin typeface="Courier"/>
              </a:rPr>
              <a:t> crab_type, </a:t>
            </a:r>
            <a:r>
              <a:rPr>
                <a:solidFill>
                  <a:srgbClr val="657422"/>
                </a:solidFill>
                <a:latin typeface="Courier"/>
              </a:rPr>
              <a:t>data =</a:t>
            </a:r>
            <a:r>
              <a:rPr>
                <a:solidFill>
                  <a:srgbClr val="003B4F"/>
                </a:solidFill>
                <a:latin typeface="Courier"/>
              </a:rPr>
              <a:t> crab_df)</a:t>
            </a:r>
          </a:p>
          <a:p>
            <a:pPr lvl="0" indent="0">
              <a:buNone/>
            </a:pPr>
            <a:r>
              <a:rPr>
                <a:latin typeface="Courier"/>
              </a:rPr>
              <a:t>Levene's Test for Homogeneity of Variance (center = median)
      Df F value Pr(&gt;F)
group  3  0.1587 0.9238
      80               </a:t>
            </a:r>
          </a:p>
          <a:p>
            <a:pPr lvl="0" indent="0" marL="0">
              <a:buNone/>
            </a:pPr>
            <a:r>
              <a:rPr/>
              <a:t>H₀ is </a:t>
            </a:r>
            <a:r>
              <a:rPr b="1"/>
              <a:t>“the variances are equal”</a:t>
            </a:r>
            <a:r>
              <a:rPr/>
              <a:t>, so a </a:t>
            </a:r>
            <a:r>
              <a:rPr b="1"/>
              <a:t>large</a:t>
            </a:r>
            <a:r>
              <a:rPr/>
              <a:t> p-value is the good outcome — the same backwards logic as Shapiro-Wilk.</a:t>
            </a:r>
          </a:p>
        </p:txBody>
      </p:sp>
      <p:sp>
        <p:nvSpPr>
          <p:cNvPr id="4" name="Content Placeholder 3"/>
          <p:cNvSpPr>
            <a:spLocks noGrp="1"/>
          </p:cNvSpPr>
          <p:nvPr>
            <p:ph idx="2" sz="half"/>
          </p:nvPr>
        </p:nvSpPr>
        <p:spPr/>
        <p:txBody>
          <a:bodyPr/>
          <a:lstStyle/>
          <a:p>
            <a:pPr lvl="0" indent="0" marL="0">
              <a:buNone/>
            </a:pPr>
            <a:r>
              <a:rPr/>
              <a:t>p = 0.924 — nothing to worry about.</a:t>
            </a:r>
          </a:p>
          <a:p>
            <a:pPr lvl="0" indent="0" marL="1270000">
              <a:buNone/>
            </a:pPr>
            <a:r>
              <a:rPr sz="2000" b="1"/>
              <a:t>Tip</a:t>
            </a:r>
          </a:p>
          <a:p>
            <a:pPr lvl="0" indent="0" marL="1270000">
              <a:buNone/>
            </a:pPr>
            <a:r>
              <a:rPr sz="2000" b="1"/>
              <a:t>🖐 Levene vs Bartlett</a:t>
            </a:r>
          </a:p>
          <a:p>
            <a:pPr lvl="0" indent="0" marL="1270000">
              <a:buNone/>
            </a:pPr>
            <a:r>
              <a:rPr sz="2000"/>
              <a:t>Bartlett’s test is more powerful but assumes normality itself. Levene’s works on absolute deviations from the group median, so it is far more robust. </a:t>
            </a:r>
            <a:r>
              <a:rPr sz="2000" b="1"/>
              <a:t>Use Levene.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Shapiro-Wilk — Normality of the Residuals</a:t>
            </a:r>
          </a:p>
        </p:txBody>
      </p:sp>
      <p:sp>
        <p:nvSpPr>
          <p:cNvPr id="3" name="Content Placeholder 2"/>
          <p:cNvSpPr>
            <a:spLocks noGrp="1"/>
          </p:cNvSpPr>
          <p:nvPr>
            <p:ph idx="1" sz="half"/>
          </p:nvPr>
        </p:nvSpPr>
        <p:spPr/>
        <p:txBody>
          <a:bodyPr/>
          <a:lstStyle/>
          <a:p>
            <a:pPr lvl="0" indent="0">
              <a:buNone/>
            </a:pPr>
            <a:r>
              <a:rPr>
                <a:solidFill>
                  <a:srgbClr val="4758AB"/>
                </a:solidFill>
                <a:latin typeface="Courier"/>
              </a:rPr>
              <a:t>shapiro.test</a:t>
            </a:r>
            <a:r>
              <a:rPr>
                <a:solidFill>
                  <a:srgbClr val="003B4F"/>
                </a:solidFill>
                <a:latin typeface="Courier"/>
              </a:rPr>
              <a:t>(</a:t>
            </a:r>
            <a:r>
              <a:rPr>
                <a:solidFill>
                  <a:srgbClr val="4758AB"/>
                </a:solidFill>
                <a:latin typeface="Courier"/>
              </a:rPr>
              <a:t>residuals</a:t>
            </a:r>
            <a:r>
              <a:rPr>
                <a:solidFill>
                  <a:srgbClr val="003B4F"/>
                </a:solidFill>
                <a:latin typeface="Courier"/>
              </a:rPr>
              <a:t>(crab_model))</a:t>
            </a:r>
          </a:p>
          <a:p>
            <a:pPr lvl="0" indent="0">
              <a:buNone/>
            </a:pPr>
            <a:r>
              <a:rPr>
                <a:latin typeface="Courier"/>
              </a:rPr>
              <a:t>
    Shapiro-Wilk normality test
data:  residuals(crab_model)
W = 0.97566, p-value = 0.112</a:t>
            </a:r>
          </a:p>
          <a:p>
            <a:pPr lvl="0" indent="0" marL="0">
              <a:buNone/>
            </a:pPr>
            <a:r>
              <a:rPr/>
              <a:t>Note what goes inside: </a:t>
            </a:r>
            <a:r>
              <a:rPr b="1">
                <a:latin typeface="Courier"/>
              </a:rPr>
              <a:t>residuals(crab_model)</a:t>
            </a:r>
            <a:r>
              <a:rPr/>
              <a:t>.</a:t>
            </a:r>
          </a:p>
        </p:txBody>
      </p:sp>
      <p:sp>
        <p:nvSpPr>
          <p:cNvPr id="4" name="Content Placeholder 3"/>
          <p:cNvSpPr>
            <a:spLocks noGrp="1"/>
          </p:cNvSpPr>
          <p:nvPr>
            <p:ph idx="2" sz="half"/>
          </p:nvPr>
        </p:nvSpPr>
        <p:spPr/>
        <p:txBody>
          <a:bodyPr/>
          <a:lstStyle/>
          <a:p>
            <a:pPr lvl="0" indent="0" marL="0">
              <a:buNone/>
            </a:pPr>
            <a:r>
              <a:rPr/>
              <a:t>p = 0.112 — the residuals are consistent with normal.</a:t>
            </a:r>
          </a:p>
          <a:p>
            <a:pPr lvl="0" indent="0" marL="1270000">
              <a:buNone/>
            </a:pPr>
            <a:r>
              <a:rPr sz="2000" b="1"/>
              <a:t>Warning</a:t>
            </a:r>
          </a:p>
          <a:p>
            <a:pPr lvl="0" indent="0" marL="1270000">
              <a:buNone/>
            </a:pPr>
            <a:r>
              <a:rPr sz="2000" b="1"/>
              <a:t>⚠️ Do not let the test overrule the plot</a:t>
            </a:r>
          </a:p>
          <a:p>
            <a:pPr lvl="0" indent="0" marL="1270000">
              <a:buNone/>
            </a:pPr>
            <a:r>
              <a:rPr sz="2000"/>
              <a:t>At small n it cannot detect real problems; at large n it flags departures too small to matter. The QQ plot is the primary evidence.</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One Call for All of It</a:t>
            </a:r>
          </a:p>
        </p:txBody>
      </p:sp>
      <p:sp>
        <p:nvSpPr>
          <p:cNvPr id="3" name="Content Placeholder 2"/>
          <p:cNvSpPr>
            <a:spLocks noGrp="1"/>
          </p:cNvSpPr>
          <p:nvPr>
            <p:ph idx="1" sz="half"/>
          </p:nvPr>
        </p:nvSpPr>
        <p:spPr/>
        <p:txBody>
          <a:bodyPr/>
          <a:lstStyle/>
          <a:p>
            <a:pPr lvl="0" indent="0" marL="0">
              <a:buNone/>
            </a:pPr>
            <a:r>
              <a:rPr>
                <a:latin typeface="Courier"/>
              </a:rPr>
              <a:t>performance::check_model()</a:t>
            </a:r>
            <a:r>
              <a:rPr/>
              <a:t> draws every assumption check in one labelled panel, with a plain-English caption on each.</a:t>
            </a:r>
          </a:p>
          <a:p>
            <a:pPr lvl="0" indent="0">
              <a:buNone/>
            </a:pPr>
            <a:r>
              <a:rPr>
                <a:solidFill>
                  <a:srgbClr val="4758AB"/>
                </a:solidFill>
                <a:latin typeface="Courier"/>
              </a:rPr>
              <a:t>check_model</a:t>
            </a:r>
            <a:r>
              <a:rPr>
                <a:solidFill>
                  <a:srgbClr val="003B4F"/>
                </a:solidFill>
                <a:latin typeface="Courier"/>
              </a:rPr>
              <a:t>(crab_model)</a:t>
            </a:r>
          </a:p>
          <a:p>
            <a:pPr lvl="0" indent="0" marL="0">
              <a:buNone/>
            </a:pPr>
            <a:r>
              <a:rPr/>
              <a:t>Useful for a quick look. Still worth knowing what each panel is, which is why we did them one at a time first.</a:t>
            </a:r>
          </a:p>
        </p:txBody>
      </p:sp>
      <p:pic>
        <p:nvPicPr>
          <p:cNvPr descr="analysis_of_variance_lecture_files/figure-pptx/analysis-of-variance-12-1.png" id="0" name="Picture 1"/>
          <p:cNvPicPr>
            <a:picLocks noGrp="1" noChangeAspect="1"/>
          </p:cNvPicPr>
          <p:nvPr/>
        </p:nvPicPr>
        <p:blipFill>
          <a:blip r:embed="rId2"/>
          <a:stretch>
            <a:fillRect/>
          </a:stretch>
        </p:blipFill>
        <p:spPr bwMode="auto">
          <a:xfrm>
            <a:off x="6121400" y="1638300"/>
            <a:ext cx="2781300" cy="25019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7 · The Reference Level, Again</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 Sorts Alphabetically — Still</a:t>
            </a:r>
          </a:p>
        </p:txBody>
      </p:sp>
      <p:sp>
        <p:nvSpPr>
          <p:cNvPr id="3" name="Content Placeholder 2"/>
          <p:cNvSpPr>
            <a:spLocks noGrp="1"/>
          </p:cNvSpPr>
          <p:nvPr>
            <p:ph idx="1" sz="half"/>
          </p:nvPr>
        </p:nvSpPr>
        <p:spPr/>
        <p:txBody>
          <a:bodyPr/>
          <a:lstStyle/>
          <a:p>
            <a:pPr lvl="0" indent="0" marL="0">
              <a:buNone/>
            </a:pPr>
            <a:r>
              <a:rPr/>
              <a:t>Read the file without thinking about it and the four crab types become a factor in </a:t>
            </a:r>
            <a:r>
              <a:rPr b="1"/>
              <a:t>alphabetical</a:t>
            </a:r>
            <a:r>
              <a:rPr/>
              <a:t> order:</a:t>
            </a:r>
          </a:p>
          <a:p>
            <a:pPr lvl="0" indent="0">
              <a:buNone/>
            </a:pPr>
            <a:r>
              <a:rPr>
                <a:solidFill>
                  <a:srgbClr val="4758AB"/>
                </a:solidFill>
                <a:latin typeface="Courier"/>
              </a:rPr>
              <a:t>levels</a:t>
            </a:r>
            <a:r>
              <a:rPr>
                <a:solidFill>
                  <a:srgbClr val="003B4F"/>
                </a:solidFill>
                <a:latin typeface="Courier"/>
              </a:rPr>
              <a:t>(crab_df</a:t>
            </a:r>
            <a:r>
              <a:rPr>
                <a:solidFill>
                  <a:srgbClr val="5E5E5E"/>
                </a:solidFill>
                <a:latin typeface="Courier"/>
              </a:rPr>
              <a:t>$</a:t>
            </a:r>
            <a:r>
              <a:rPr>
                <a:solidFill>
                  <a:srgbClr val="003B4F"/>
                </a:solidFill>
                <a:latin typeface="Courier"/>
              </a:rPr>
              <a:t>crab_type)</a:t>
            </a:r>
          </a:p>
          <a:p>
            <a:pPr lvl="0" indent="0">
              <a:buNone/>
            </a:pPr>
            <a:r>
              <a:rPr>
                <a:latin typeface="Courier"/>
              </a:rPr>
              <a:t>[1] "female"             "intact male"        "male major removed"
[4] "male minor removed"</a:t>
            </a:r>
          </a:p>
          <a:p>
            <a:pPr lvl="0" indent="0" marL="0">
              <a:buNone/>
            </a:pPr>
            <a:r>
              <a:rPr/>
              <a:t>So the reference is </a:t>
            </a:r>
            <a:r>
              <a:rPr b="1"/>
              <a:t>female</a:t>
            </a:r>
            <a:r>
              <a:rPr/>
              <a:t> — and every coefficient in the model becomes “compared with a female crab.”</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That is the wrong baseline for this experiment</a:t>
            </a:r>
          </a:p>
          <a:p>
            <a:pPr lvl="0" indent="0" marL="1270000">
              <a:buNone/>
            </a:pPr>
            <a:r>
              <a:rPr sz="2000"/>
              <a:t>The question is what happens when you </a:t>
            </a:r>
            <a:r>
              <a:rPr sz="2000" b="1"/>
              <a:t>remove a claw from a male</a:t>
            </a:r>
            <a:r>
              <a:rPr sz="2000"/>
              <a:t>. The comparison that answers it is against an </a:t>
            </a:r>
            <a:r>
              <a:rPr sz="2000" b="1"/>
              <a:t>intact male</a:t>
            </a:r>
            <a:r>
              <a:rPr sz="2000"/>
              <a:t>, not against a female.</a:t>
            </a:r>
          </a:p>
          <a:p>
            <a:pPr lvl="0" indent="0" marL="1270000">
              <a:buNone/>
            </a:pPr>
            <a:r>
              <a:rPr sz="2000"/>
              <a:t>The model fits identically either way. The output only answers your question if you tell it what your question was.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Which Crab Is the Control?</a:t>
            </a:r>
          </a:p>
        </p:txBody>
      </p:sp>
      <p:sp>
        <p:nvSpPr>
          <p:cNvPr id="3" name="Content Placeholder 2"/>
          <p:cNvSpPr>
            <a:spLocks noGrp="1"/>
          </p:cNvSpPr>
          <p:nvPr>
            <p:ph idx="1" sz="half"/>
          </p:nvPr>
        </p:nvSpPr>
        <p:spPr/>
        <p:txBody>
          <a:bodyPr/>
          <a:lstStyle/>
          <a:p>
            <a:pPr lvl="0" indent="0" marL="0">
              <a:buNone/>
            </a:pPr>
            <a:r>
              <a:rPr/>
              <a:t>You are about to set the reference level deliberately.</a:t>
            </a:r>
          </a:p>
          <a:p>
            <a:pPr lvl="0" indent="0" marL="0">
              <a:buNone/>
            </a:pPr>
            <a:r>
              <a:rPr b="1"/>
              <a:t>Which level should it be, and why?</a:t>
            </a:r>
          </a:p>
          <a:p>
            <a:pPr lvl="0" indent="-342900" marL="342900">
              <a:buAutoNum type="alphaLcPeriod"/>
            </a:pPr>
            <a:r>
              <a:rPr>
                <a:latin typeface="Courier"/>
              </a:rPr>
              <a:t>female</a:t>
            </a:r>
            <a:r>
              <a:rPr/>
              <a:t> — keep R’s default; the model fit is identical anyway</a:t>
            </a:r>
          </a:p>
          <a:p>
            <a:pPr lvl="0" indent="-342900" marL="342900">
              <a:buAutoNum type="alphaLcPeriod"/>
            </a:pPr>
            <a:r>
              <a:rPr>
                <a:latin typeface="Courier"/>
              </a:rPr>
              <a:t>intact male</a:t>
            </a:r>
            <a:r>
              <a:rPr/>
              <a:t> — the untouched version of the animals that were manipulated</a:t>
            </a:r>
          </a:p>
          <a:p>
            <a:pPr lvl="0" indent="-342900" marL="342900">
              <a:buAutoNum type="alphaLcPeriod"/>
            </a:pPr>
            <a:r>
              <a:rPr>
                <a:latin typeface="Courier"/>
              </a:rPr>
              <a:t>male minor removed</a:t>
            </a:r>
            <a:r>
              <a:rPr/>
              <a:t> — it is the procedural control, so it accounts for the surgery</a:t>
            </a:r>
          </a:p>
          <a:p>
            <a:pPr lvl="0" indent="-342900" marL="342900">
              <a:buAutoNum type="alphaLcPeriod"/>
            </a:pPr>
            <a:r>
              <a:rPr/>
              <a:t>It makes no difference, because the F-test and R² do not change</a:t>
            </a:r>
          </a:p>
          <a:p>
            <a:pPr lvl="0" indent="0" marL="1270000">
              <a:buNone/>
            </a:pPr>
            <a:r>
              <a:rPr sz="2000" b="1"/>
              <a:t>Warning</a:t>
            </a:r>
          </a:p>
          <a:p>
            <a:pPr lvl="0" indent="0" marL="1270000">
              <a:buNone/>
            </a:pPr>
            <a:r>
              <a:rPr sz="2000" b="1"/>
              <a:t>✍️ Careful — two of these are true statements. Only one is the right decision.</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The question to ask</a:t>
            </a:r>
          </a:p>
          <a:p>
            <a:pPr lvl="0" indent="0" marL="1270000">
              <a:buNone/>
            </a:pPr>
            <a:r>
              <a:rPr sz="2000" i="1"/>
              <a:t>Which single comparison do I most want to read straight off the coefficient table?</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latin typeface="Courier"/>
              </a:rPr>
              <a:t>fct_relevel()</a:t>
            </a:r>
            <a:r>
              <a:rPr/>
              <a:t> · Saying What You Meant</a:t>
            </a:r>
          </a:p>
        </p:txBody>
      </p:sp>
      <p:sp>
        <p:nvSpPr>
          <p:cNvPr id="3" name="Content Placeholder 2"/>
          <p:cNvSpPr>
            <a:spLocks noGrp="1"/>
          </p:cNvSpPr>
          <p:nvPr>
            <p:ph idx="1" sz="half"/>
          </p:nvPr>
        </p:nvSpPr>
        <p:spPr/>
        <p:txBody>
          <a:bodyPr/>
          <a:lstStyle/>
          <a:p>
            <a:pPr lvl="0" indent="0" marL="1270000">
              <a:buNone/>
            </a:pPr>
            <a:r>
              <a:rPr sz="2000" b="1"/>
              <a:t>Important</a:t>
            </a:r>
          </a:p>
          <a:p>
            <a:pPr lvl="0" indent="0" marL="1270000">
              <a:buNone/>
            </a:pPr>
            <a:r>
              <a:rPr sz="2000" b="1"/>
              <a:t>✅ The answer is (b).</a:t>
            </a:r>
          </a:p>
          <a:p>
            <a:pPr lvl="0" indent="-342900" marL="342900">
              <a:buAutoNum startAt="4" type="alphaLcParenBoth"/>
            </a:pPr>
            <a:r>
              <a:rPr sz="2000"/>
              <a:t>is </a:t>
            </a:r>
            <a:r>
              <a:rPr sz="2000" i="1"/>
              <a:t>true</a:t>
            </a:r>
            <a:r>
              <a:rPr sz="2000"/>
              <a:t> — F, R², and the ANOVA table are identical whichever level is the reference. That is not a reason to accept a default chosen by spelling.</a:t>
            </a:r>
          </a:p>
          <a:p>
            <a:pPr lvl="0" indent="-342900" marL="342900">
              <a:buAutoNum startAt="4" type="alphaLcParenBoth"/>
            </a:pPr>
            <a:r>
              <a:rPr sz="2000"/>
              <a:t>is tempting and it is the right </a:t>
            </a:r>
            <a:r>
              <a:rPr sz="2000" b="1"/>
              <a:t>comparison</a:t>
            </a:r>
            <a:r>
              <a:rPr sz="2000"/>
              <a:t> to make eventually — but as the baseline it hides the very contrast the experiment was built around.</a:t>
            </a:r>
          </a:p>
          <a:p>
            <a:pPr lvl="0" indent="0">
              <a:buNone/>
            </a:pPr>
            <a:r>
              <a:rPr>
                <a:solidFill>
                  <a:srgbClr val="003B4F"/>
                </a:solidFill>
                <a:latin typeface="Courier"/>
              </a:rPr>
              <a:t>crab_df &lt;- crab_df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crab_type =</a:t>
            </a:r>
            <a:r>
              <a:rPr>
                <a:solidFill>
                  <a:srgbClr val="003B4F"/>
                </a:solidFill>
                <a:latin typeface="Courier"/>
              </a:rPr>
              <a:t> </a:t>
            </a:r>
            <a:r>
              <a:rPr>
                <a:solidFill>
                  <a:srgbClr val="4758AB"/>
                </a:solidFill>
                <a:latin typeface="Courier"/>
              </a:rPr>
              <a:t>fct_relevel</a:t>
            </a:r>
            <a:r>
              <a:rPr>
                <a:solidFill>
                  <a:srgbClr val="003B4F"/>
                </a:solidFill>
                <a:latin typeface="Courier"/>
              </a:rPr>
              <a:t>(crab_type, </a:t>
            </a:r>
            <a:r>
              <a:rPr>
                <a:solidFill>
                  <a:srgbClr val="20794D"/>
                </a:solidFill>
                <a:latin typeface="Courier"/>
              </a:rPr>
              <a:t>"intact male"</a:t>
            </a:r>
            <a:r>
              <a:rPr>
                <a:solidFill>
                  <a:srgbClr val="003B4F"/>
                </a:solidFill>
                <a:latin typeface="Courier"/>
              </a:rPr>
              <a:t>))</a:t>
            </a:r>
            <a:br/>
            <a:br/>
            <a:r>
              <a:rPr>
                <a:solidFill>
                  <a:srgbClr val="003B4F"/>
                </a:solidFill>
                <a:latin typeface="Courier"/>
              </a:rPr>
              <a:t>crab_model &lt;- </a:t>
            </a:r>
            <a:r>
              <a:rPr>
                <a:solidFill>
                  <a:srgbClr val="4758AB"/>
                </a:solidFill>
                <a:latin typeface="Courier"/>
              </a:rPr>
              <a:t>lm</a:t>
            </a:r>
            <a:r>
              <a:rPr>
                <a:solidFill>
                  <a:srgbClr val="003B4F"/>
                </a:solidFill>
                <a:latin typeface="Courier"/>
              </a:rPr>
              <a:t>(body_temp_c </a:t>
            </a:r>
            <a:r>
              <a:rPr>
                <a:solidFill>
                  <a:srgbClr val="5E5E5E"/>
                </a:solidFill>
                <a:latin typeface="Courier"/>
              </a:rPr>
              <a:t>~</a:t>
            </a:r>
            <a:r>
              <a:rPr>
                <a:solidFill>
                  <a:srgbClr val="003B4F"/>
                </a:solidFill>
                <a:latin typeface="Courier"/>
              </a:rPr>
              <a:t> crab_type, </a:t>
            </a:r>
            <a:r>
              <a:rPr>
                <a:solidFill>
                  <a:srgbClr val="657422"/>
                </a:solidFill>
                <a:latin typeface="Courier"/>
              </a:rPr>
              <a:t>data =</a:t>
            </a:r>
            <a:r>
              <a:rPr>
                <a:solidFill>
                  <a:srgbClr val="003B4F"/>
                </a:solidFill>
                <a:latin typeface="Courier"/>
              </a:rPr>
              <a:t> crab_df)</a:t>
            </a:r>
            <a:br/>
            <a:br/>
            <a:r>
              <a:rPr>
                <a:solidFill>
                  <a:srgbClr val="4758AB"/>
                </a:solidFill>
                <a:latin typeface="Courier"/>
              </a:rPr>
              <a:t>summary</a:t>
            </a:r>
            <a:r>
              <a:rPr>
                <a:solidFill>
                  <a:srgbClr val="003B4F"/>
                </a:solidFill>
                <a:latin typeface="Courier"/>
              </a:rPr>
              <a:t>(crab_model)</a:t>
            </a:r>
            <a:r>
              <a:rPr>
                <a:solidFill>
                  <a:srgbClr val="5E5E5E"/>
                </a:solidFill>
                <a:latin typeface="Courier"/>
              </a:rPr>
              <a:t>$</a:t>
            </a:r>
            <a:r>
              <a:rPr>
                <a:solidFill>
                  <a:srgbClr val="003B4F"/>
                </a:solidFill>
                <a:latin typeface="Courier"/>
              </a:rPr>
              <a:t>coefficients </a:t>
            </a:r>
            <a:r>
              <a:rPr>
                <a:solidFill>
                  <a:srgbClr val="5E5E5E"/>
                </a:solidFill>
                <a:latin typeface="Courier"/>
              </a:rPr>
              <a:t>%&gt;%</a:t>
            </a:r>
            <a:r>
              <a:rPr>
                <a:solidFill>
                  <a:srgbClr val="003B4F"/>
                </a:solidFill>
                <a:latin typeface="Courier"/>
              </a:rPr>
              <a:t> </a:t>
            </a:r>
            <a:r>
              <a:rPr>
                <a:solidFill>
                  <a:srgbClr val="4758AB"/>
                </a:solidFill>
                <a:latin typeface="Courier"/>
              </a:rPr>
              <a:t>round</a:t>
            </a:r>
            <a:r>
              <a:rPr>
                <a:solidFill>
                  <a:srgbClr val="003B4F"/>
                </a:solidFill>
                <a:latin typeface="Courier"/>
              </a:rPr>
              <a:t>(</a:t>
            </a:r>
            <a:r>
              <a:rPr>
                <a:solidFill>
                  <a:srgbClr val="AD0000"/>
                </a:solidFill>
                <a:latin typeface="Courier"/>
              </a:rPr>
              <a:t>3</a:t>
            </a:r>
            <a:r>
              <a:rPr>
                <a:solidFill>
                  <a:srgbClr val="003B4F"/>
                </a:solidFill>
                <a:latin typeface="Courier"/>
              </a:rPr>
              <a:t>)</a:t>
            </a:r>
          </a:p>
          <a:p>
            <a:pPr lvl="0" indent="0">
              <a:buNone/>
            </a:pPr>
            <a:r>
              <a:rPr>
                <a:latin typeface="Courier"/>
              </a:rPr>
              <a:t>                            Estimate Std. Error t value Pr(&gt;|t|)
(Intercept)                    1.286      0.045  28.300    0.000
crab_typefemale                0.390      0.064   6.077    0.000
crab_typemale major removed    0.129      0.064   2.001    0.049
crab_typemale minor removed   -0.076      0.064  -1.186    0.239</a:t>
            </a:r>
          </a:p>
        </p:txBody>
      </p:sp>
      <p:sp>
        <p:nvSpPr>
          <p:cNvPr id="4" name="Content Placeholder 3"/>
          <p:cNvSpPr>
            <a:spLocks noGrp="1"/>
          </p:cNvSpPr>
          <p:nvPr>
            <p:ph idx="2" sz="half"/>
          </p:nvPr>
        </p:nvSpPr>
        <p:spPr/>
        <p:txBody>
          <a:bodyPr/>
          <a:lstStyle/>
          <a:p>
            <a:pPr lvl="0" indent="0" marL="0">
              <a:buNone/>
            </a:pPr>
            <a:r>
              <a:rPr/>
              <a:t>Now every row reads as “</a:t>
            </a:r>
            <a:r>
              <a:rPr b="1"/>
              <a:t>degrees hotter than an intact male</a:t>
            </a:r>
            <a:r>
              <a:rPr/>
              <a:t>”:</a:t>
            </a:r>
          </a:p>
          <a:p>
            <a:pPr lvl="0"/>
            <a:r>
              <a:rPr>
                <a:latin typeface="Courier"/>
              </a:rPr>
              <a:t>female</a:t>
            </a:r>
            <a:r>
              <a:rPr/>
              <a:t> </a:t>
            </a:r>
            <a:r>
              <a:rPr b="1"/>
              <a:t>+0.39</a:t>
            </a:r>
            <a:r>
              <a:rPr/>
              <a:t> — clearly hotter</a:t>
            </a:r>
          </a:p>
          <a:p>
            <a:pPr lvl="0"/>
            <a:r>
              <a:rPr>
                <a:latin typeface="Courier"/>
              </a:rPr>
              <a:t>male major removed</a:t>
            </a:r>
            <a:r>
              <a:rPr/>
              <a:t> </a:t>
            </a:r>
            <a:r>
              <a:rPr b="1"/>
              <a:t>+0.13</a:t>
            </a:r>
          </a:p>
          <a:p>
            <a:pPr lvl="0"/>
            <a:r>
              <a:rPr>
                <a:latin typeface="Courier"/>
              </a:rPr>
              <a:t>male minor removed</a:t>
            </a:r>
            <a:r>
              <a:rPr/>
              <a:t> </a:t>
            </a:r>
            <a:r>
              <a:rPr b="1"/>
              <a:t>-0.08</a:t>
            </a:r>
          </a:p>
          <a:p>
            <a:pPr lvl="0" indent="0" marL="1270000">
              <a:buNone/>
            </a:pPr>
            <a:r>
              <a:rPr sz="2000" b="1"/>
              <a:t>Tip</a:t>
            </a:r>
          </a:p>
          <a:p>
            <a:pPr lvl="0" indent="0" marL="1270000">
              <a:buNone/>
            </a:pPr>
            <a:r>
              <a:rPr sz="2000" b="1"/>
              <a:t>🖐 The habit</a:t>
            </a:r>
          </a:p>
          <a:p>
            <a:pPr lvl="0" indent="0" marL="1270000">
              <a:buNone/>
            </a:pPr>
            <a:r>
              <a:rPr sz="2000"/>
              <a:t>Set the reference in the same line that creates the factor. </a:t>
            </a:r>
            <a:r>
              <a:rPr sz="2000">
                <a:latin typeface="Courier"/>
              </a:rPr>
              <a:t>fct_relevel(x, "control")</a:t>
            </a:r>
            <a:r>
              <a:rPr sz="2000"/>
              <a:t> moves one level to the front and leaves the rest alone.</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8 · Post-Hoc Testing</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Post-Hoc Tests Are For</a:t>
            </a:r>
          </a:p>
        </p:txBody>
      </p:sp>
      <p:sp>
        <p:nvSpPr>
          <p:cNvPr id="3" name="Content Placeholder 2"/>
          <p:cNvSpPr>
            <a:spLocks noGrp="1"/>
          </p:cNvSpPr>
          <p:nvPr>
            <p:ph idx="1" sz="half"/>
          </p:nvPr>
        </p:nvSpPr>
        <p:spPr/>
        <p:txBody>
          <a:bodyPr/>
          <a:lstStyle/>
          <a:p>
            <a:pPr lvl="0" indent="0" marL="0">
              <a:buNone/>
            </a:pPr>
            <a:r>
              <a:rPr/>
              <a:t>The F-test said </a:t>
            </a:r>
            <a:r>
              <a:rPr i="1"/>
              <a:t>something</a:t>
            </a:r>
            <a:r>
              <a:rPr/>
              <a:t> differs. Post-hoc tests say </a:t>
            </a:r>
            <a:r>
              <a:rPr b="1"/>
              <a:t>what</a:t>
            </a:r>
            <a:r>
              <a:rPr/>
              <a:t>, while keeping the family-wide error rate at α.</a:t>
            </a:r>
          </a:p>
          <a:p>
            <a:pPr lvl="0"/>
            <a:r>
              <a:rPr b="1"/>
              <a:t>Planned (a priori) comparisons</a:t>
            </a:r>
            <a:r>
              <a:rPr/>
              <a:t> — a small number of contrasts you committed to </a:t>
            </a:r>
            <a:r>
              <a:rPr b="1"/>
              <a:t>before</a:t>
            </a:r>
            <a:r>
              <a:rPr/>
              <a:t> seeing the data. More powerful, because there are fewer of them</a:t>
            </a:r>
          </a:p>
          <a:p>
            <a:pPr lvl="0"/>
            <a:r>
              <a:rPr b="1"/>
              <a:t>Unplanned (post-hoc) comparisons</a:t>
            </a:r>
            <a:r>
              <a:rPr/>
              <a:t> — all pairs, after the fact. Safer, less powerful</a:t>
            </a:r>
          </a:p>
          <a:p>
            <a:pPr lvl="0" indent="0" marL="0">
              <a:buNone/>
            </a:pPr>
            <a:r>
              <a:rPr b="1"/>
              <a:t>Tukey’s HSD</a:t>
            </a:r>
            <a:r>
              <a:rPr/>
              <a:t> is the standard for all pairwise comparisons with equal n. We run it twice: once with </a:t>
            </a:r>
            <a:r>
              <a:rPr>
                <a:latin typeface="Courier"/>
              </a:rPr>
              <a:t>TukeyHSD()</a:t>
            </a:r>
            <a:r>
              <a:rPr/>
              <a:t>, then with </a:t>
            </a:r>
            <a:r>
              <a:rPr b="1">
                <a:latin typeface="Courier"/>
              </a:rPr>
              <a:t>emmeans</a:t>
            </a:r>
            <a:r>
              <a:rPr/>
              <a:t> — the same answer, from the tool we use for every model after this one.</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Deciding after you look is not a plan</a:t>
            </a:r>
          </a:p>
          <a:p>
            <a:pPr lvl="0" indent="0" marL="1270000">
              <a:buNone/>
            </a:pPr>
            <a:r>
              <a:rPr sz="2000"/>
              <a:t>Choosing which comparisons to make </a:t>
            </a:r>
            <a:r>
              <a:rPr sz="2000" i="1"/>
              <a:t>because they looked big</a:t>
            </a:r>
            <a:r>
              <a:rPr sz="2000"/>
              <a:t> re-introduces exactly the multiple-comparisons problem the correction exists to solve.</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Tukey’s HSD</a:t>
            </a:r>
          </a:p>
        </p:txBody>
      </p:sp>
      <p:sp>
        <p:nvSpPr>
          <p:cNvPr id="3" name="Content Placeholder 2"/>
          <p:cNvSpPr>
            <a:spLocks noGrp="1"/>
          </p:cNvSpPr>
          <p:nvPr>
            <p:ph idx="1" sz="half"/>
          </p:nvPr>
        </p:nvSpPr>
        <p:spPr/>
        <p:txBody>
          <a:bodyPr/>
          <a:lstStyle/>
          <a:p>
            <a:pPr lvl="0" indent="0">
              <a:buNone/>
            </a:pPr>
            <a:r>
              <a:rPr>
                <a:solidFill>
                  <a:srgbClr val="4758AB"/>
                </a:solidFill>
                <a:latin typeface="Courier"/>
              </a:rPr>
              <a:t>TukeyHSD</a:t>
            </a:r>
            <a:r>
              <a:rPr>
                <a:solidFill>
                  <a:srgbClr val="003B4F"/>
                </a:solidFill>
                <a:latin typeface="Courier"/>
              </a:rPr>
              <a:t>(</a:t>
            </a:r>
            <a:r>
              <a:rPr>
                <a:solidFill>
                  <a:srgbClr val="4758AB"/>
                </a:solidFill>
                <a:latin typeface="Courier"/>
              </a:rPr>
              <a:t>aov</a:t>
            </a:r>
            <a:r>
              <a:rPr>
                <a:solidFill>
                  <a:srgbClr val="003B4F"/>
                </a:solidFill>
                <a:latin typeface="Courier"/>
              </a:rPr>
              <a:t>(crab_model))</a:t>
            </a:r>
          </a:p>
          <a:p>
            <a:pPr lvl="0" indent="0">
              <a:buNone/>
            </a:pPr>
            <a:r>
              <a:rPr>
                <a:latin typeface="Courier"/>
              </a:rPr>
              <a:t>  Tukey multiple comparisons of means
    95% family-wise confidence level
Fit: aov(formula = crab_model)
$crab_type
                                             diff         lwr         upr
female-intact male                     0.39047619  0.22189182  0.55906056
male major removed-intact male         0.12857143 -0.04001294  0.29715579
male minor removed-intact male        -0.07619048 -0.24477484  0.09239389
male major removed-female             -0.26190476 -0.43048913 -0.09332040
male minor removed-female             -0.46666667 -0.63525103 -0.29808230
male minor removed-male major removed -0.20476190 -0.37334627 -0.03617754
                                          p adj
female-intact male                    0.0000002
male major removed-intact male        0.1962212
male minor removed-intact male        0.6375171
male major removed-female             0.0006106
male minor removed-female             0.0000000
male minor removed-male major removed 0.0108312</a:t>
            </a:r>
          </a:p>
        </p:txBody>
      </p:sp>
      <p:sp>
        <p:nvSpPr>
          <p:cNvPr id="4" name="Content Placeholder 3"/>
          <p:cNvSpPr>
            <a:spLocks noGrp="1"/>
          </p:cNvSpPr>
          <p:nvPr>
            <p:ph idx="2" sz="half"/>
          </p:nvPr>
        </p:nvSpPr>
        <p:spPr/>
        <p:txBody>
          <a:bodyPr/>
          <a:lstStyle/>
          <a:p>
            <a:pPr lvl="0" indent="0" marL="0">
              <a:buNone/>
            </a:pPr>
            <a:r>
              <a:rPr/>
              <a:t>Each row is one pair: the difference in means, a confidence interval, and a p-value </a:t>
            </a:r>
            <a:r>
              <a:rPr b="1"/>
              <a:t>already adjusted</a:t>
            </a:r>
            <a:r>
              <a:rPr/>
              <a:t> for the whole family of six comparisons.</a:t>
            </a:r>
          </a:p>
          <a:p>
            <a:pPr lvl="0" indent="0" marL="0">
              <a:buNone/>
            </a:pPr>
            <a:r>
              <a:rPr/>
              <a:t>A pair differs when its interval excludes zero.</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Reading the Tukey Output</a:t>
            </a:r>
          </a:p>
        </p:txBody>
      </p:sp>
      <p:sp>
        <p:nvSpPr>
          <p:cNvPr id="3" name="Content Placeholder 2"/>
          <p:cNvSpPr>
            <a:spLocks noGrp="1"/>
          </p:cNvSpPr>
          <p:nvPr>
            <p:ph idx="1" sz="half"/>
          </p:nvPr>
        </p:nvSpPr>
        <p:spPr/>
        <p:txBody>
          <a:bodyPr/>
          <a:lstStyle/>
          <a:p>
            <a:pPr lvl="0" indent="0" marL="0">
              <a:buNone/>
            </a:pPr>
            <a:r>
              <a:rPr/>
              <a:t>The radiator hypothesis predicts that a male whose </a:t>
            </a:r>
            <a:r>
              <a:rPr b="1"/>
              <a:t>major claw was removed</a:t>
            </a:r>
            <a:r>
              <a:rPr/>
              <a:t> should run </a:t>
            </a:r>
            <a:r>
              <a:rPr b="1"/>
              <a:t>hotter</a:t>
            </a:r>
            <a:r>
              <a:rPr/>
              <a:t> than an intact male.</a:t>
            </a:r>
          </a:p>
          <a:p>
            <a:pPr lvl="0" indent="0" marL="0">
              <a:buNone/>
            </a:pPr>
            <a:r>
              <a:rPr/>
              <a:t>Tukey gives </a:t>
            </a:r>
            <a:r>
              <a:rPr>
                <a:latin typeface="Courier"/>
              </a:rPr>
              <a:t>male major removed − intact male</a:t>
            </a:r>
            <a:r>
              <a:rPr/>
              <a:t> a difference of </a:t>
            </a:r>
            <a:r>
              <a:rPr b="1"/>
              <a:t>+0.129</a:t>
            </a:r>
            <a:r>
              <a:rPr/>
              <a:t> with an adjusted </a:t>
            </a:r>
            <a:r>
              <a:rPr b="1"/>
              <a:t>p = 0.196</a:t>
            </a:r>
            <a:r>
              <a:rPr/>
              <a:t>.</a:t>
            </a:r>
          </a:p>
          <a:p>
            <a:pPr lvl="0" indent="0" marL="0">
              <a:buNone/>
            </a:pPr>
            <a:r>
              <a:rPr b="1"/>
              <a:t>What should you conclude?</a:t>
            </a:r>
          </a:p>
          <a:p>
            <a:pPr lvl="0" indent="0" marL="0">
              <a:buNone/>
            </a:pPr>
            <a:r>
              <a:rPr b="1"/>
              <a:t>(a)</a:t>
            </a:r>
            <a:r>
              <a:rPr/>
              <a:t> The hypothesis is supported — the difference is in the predicted direction</a:t>
            </a:r>
          </a:p>
          <a:p>
            <a:pPr lvl="0" indent="0" marL="0">
              <a:buNone/>
            </a:pPr>
            <a:r>
              <a:rPr b="1"/>
              <a:t>(b)</a:t>
            </a:r>
            <a:r>
              <a:rPr/>
              <a:t> The hypothesis fails — removing the major claw did not significantly change temperature</a:t>
            </a:r>
          </a:p>
          <a:p>
            <a:pPr lvl="0" indent="0" marL="0">
              <a:buNone/>
            </a:pPr>
            <a:r>
              <a:rPr b="1"/>
              <a:t>(c)</a:t>
            </a:r>
            <a:r>
              <a:rPr/>
              <a:t> The hypothesis is supported, because females are significantly hotter than every male group</a:t>
            </a:r>
          </a:p>
          <a:p>
            <a:pPr lvl="0" indent="0" marL="0">
              <a:buNone/>
            </a:pPr>
            <a:r>
              <a:rPr b="1"/>
              <a:t>(d)</a:t>
            </a:r>
            <a:r>
              <a:rPr/>
              <a:t> Nothing can be concluded, because the overall ANOVA was significant</a:t>
            </a:r>
          </a:p>
          <a:p>
            <a:pPr lvl="0" indent="0" marL="1270000">
              <a:buNone/>
            </a:pPr>
            <a:r>
              <a:rPr sz="2000" b="1"/>
              <a:t>Warning</a:t>
            </a:r>
          </a:p>
          <a:p>
            <a:pPr lvl="0" indent="0" marL="1270000">
              <a:buNone/>
            </a:pPr>
            <a:r>
              <a:rPr sz="2000" b="1"/>
              <a:t>✍️ One letter, then argue it with your neighbour.</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The question to ask</a:t>
            </a:r>
          </a:p>
          <a:p>
            <a:pPr lvl="0" indent="0" marL="1270000">
              <a:buNone/>
            </a:pPr>
            <a:r>
              <a:rPr sz="2000" i="1"/>
              <a:t>Which comparison does the hypothesis actually make a prediction about?</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Tukey Actually Found</a:t>
            </a:r>
          </a:p>
        </p:txBody>
      </p:sp>
      <p:sp>
        <p:nvSpPr>
          <p:cNvPr id="3" name="Content Placeholder 2"/>
          <p:cNvSpPr>
            <a:spLocks noGrp="1"/>
          </p:cNvSpPr>
          <p:nvPr>
            <p:ph idx="1" sz="half"/>
          </p:nvPr>
        </p:nvSpPr>
        <p:spPr/>
        <p:txBody>
          <a:bodyPr/>
          <a:lstStyle/>
          <a:p>
            <a:pPr lvl="0" indent="0" marL="1270000">
              <a:buNone/>
            </a:pPr>
            <a:r>
              <a:rPr sz="2000" b="1"/>
              <a:t>Important</a:t>
            </a:r>
          </a:p>
          <a:p>
            <a:pPr lvl="0" indent="0" marL="1270000">
              <a:buNone/>
            </a:pPr>
            <a:r>
              <a:rPr sz="2000" b="1"/>
              <a:t>✅ The answer is (b).</a:t>
            </a:r>
          </a:p>
          <a:p>
            <a:pPr lvl="0" indent="0" marL="1270000">
              <a:buNone/>
            </a:pPr>
            <a:r>
              <a:rPr sz="2000"/>
              <a:t>Removing the major claw moved temperature by 0.13 °C, adjusted p = 0.2 — not distinguishable from zero. The direction is right and the evidence is not there.</a:t>
            </a:r>
          </a:p>
          <a:p>
            <a:pPr lvl="0" indent="0" marL="1270000">
              <a:buNone/>
            </a:pPr>
            <a:r>
              <a:rPr sz="2000" b="1"/>
              <a:t>(c)</a:t>
            </a:r>
            <a:r>
              <a:rPr sz="2000"/>
              <a:t> is the trap: females </a:t>
            </a:r>
            <a:r>
              <a:rPr sz="2000" i="1"/>
              <a:t>are</a:t>
            </a:r>
            <a:r>
              <a:rPr sz="2000"/>
              <a:t> hotter than every male group, but females differ from males in many ways besides the claw. That comparison cannot test a claw-removal hypothesis.</a:t>
            </a:r>
          </a:p>
        </p:txBody>
      </p:sp>
      <p:sp>
        <p:nvSpPr>
          <p:cNvPr id="4" name="Content Placeholder 3"/>
          <p:cNvSpPr>
            <a:spLocks noGrp="1"/>
          </p:cNvSpPr>
          <p:nvPr>
            <p:ph idx="2" sz="half"/>
          </p:nvPr>
        </p:nvSpPr>
        <p:spPr/>
        <p:txBody>
          <a:bodyPr/>
          <a:lstStyle/>
          <a:p>
            <a:pPr lvl="0" indent="0" marL="0">
              <a:buNone/>
            </a:pPr>
            <a:r>
              <a:rPr b="1"/>
              <a:t>What did differ</a:t>
            </a:r>
            <a:r>
              <a:rPr/>
              <a:t> (adjusted p):</a:t>
            </a:r>
          </a:p>
          <a:p>
            <a:pPr lvl="0" indent="0" marL="0">
              <a:buNone/>
            </a:pPr>
            <a:r>
              <a:rPr/>
              <a:t>The big effect in this dataset is </a:t>
            </a:r>
            <a:r>
              <a:rPr b="1"/>
              <a:t>sex</a:t>
            </a:r>
            <a:r>
              <a:rPr/>
              <a:t>, not surgery.</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Estimated Marginal Means · </a:t>
            </a:r>
            <a:r>
              <a:rPr>
                <a:latin typeface="Courier"/>
              </a:rPr>
              <a:t>emmeans</a:t>
            </a:r>
          </a:p>
        </p:txBody>
      </p:sp>
      <p:sp>
        <p:nvSpPr>
          <p:cNvPr id="3" name="Content Placeholder 2"/>
          <p:cNvSpPr>
            <a:spLocks noGrp="1"/>
          </p:cNvSpPr>
          <p:nvPr>
            <p:ph idx="1" sz="half"/>
          </p:nvPr>
        </p:nvSpPr>
        <p:spPr/>
        <p:txBody>
          <a:bodyPr/>
          <a:lstStyle/>
          <a:p>
            <a:pPr lvl="0" indent="0" marL="0">
              <a:buNone/>
            </a:pPr>
            <a:r>
              <a:rPr>
                <a:latin typeface="Courier"/>
              </a:rPr>
              <a:t>TukeyHSD()</a:t>
            </a:r>
            <a:r>
              <a:rPr/>
              <a:t> is the end of the road. </a:t>
            </a:r>
            <a:r>
              <a:rPr>
                <a:latin typeface="Courier"/>
              </a:rPr>
              <a:t>emmeans</a:t>
            </a:r>
            <a:r>
              <a:rPr/>
              <a:t> is the tool you will use for every model from here on. Step one is the </a:t>
            </a:r>
            <a:r>
              <a:rPr b="1"/>
              <a:t>estimated marginal means</a:t>
            </a:r>
            <a:r>
              <a:rPr/>
              <a:t> — the model’s estimate of each group’s mean:</a:t>
            </a:r>
          </a:p>
          <a:p>
            <a:pPr lvl="0" indent="0">
              <a:buNone/>
            </a:pPr>
            <a:r>
              <a:rPr>
                <a:solidFill>
                  <a:srgbClr val="003B4F"/>
                </a:solidFill>
                <a:latin typeface="Courier"/>
              </a:rPr>
              <a:t>crab_emm &lt;- </a:t>
            </a:r>
            <a:r>
              <a:rPr>
                <a:solidFill>
                  <a:srgbClr val="4758AB"/>
                </a:solidFill>
                <a:latin typeface="Courier"/>
              </a:rPr>
              <a:t>emmeans</a:t>
            </a:r>
            <a:r>
              <a:rPr>
                <a:solidFill>
                  <a:srgbClr val="003B4F"/>
                </a:solidFill>
                <a:latin typeface="Courier"/>
              </a:rPr>
              <a:t>(crab_model, </a:t>
            </a:r>
            <a:r>
              <a:rPr>
                <a:solidFill>
                  <a:srgbClr val="5E5E5E"/>
                </a:solidFill>
                <a:latin typeface="Courier"/>
              </a:rPr>
              <a:t>~</a:t>
            </a:r>
            <a:r>
              <a:rPr>
                <a:solidFill>
                  <a:srgbClr val="003B4F"/>
                </a:solidFill>
                <a:latin typeface="Courier"/>
              </a:rPr>
              <a:t>crab_type)</a:t>
            </a:r>
            <a:br/>
            <a:r>
              <a:rPr>
                <a:solidFill>
                  <a:srgbClr val="003B4F"/>
                </a:solidFill>
                <a:latin typeface="Courier"/>
              </a:rPr>
              <a:t>crab_emm</a:t>
            </a:r>
          </a:p>
          <a:p>
            <a:pPr lvl="0" indent="0">
              <a:buNone/>
            </a:pPr>
            <a:r>
              <a:rPr>
                <a:latin typeface="Courier"/>
              </a:rPr>
              <a:t> crab_type          emmean     SE df lower.CL upper.CL
 intact male          1.29 0.0454 80     1.20     1.38
 female               1.68 0.0454 80     1.59     1.77
 male major removed   1.41 0.0454 80     1.32     1.50
 male minor removed   1.21 0.0454 80     1.12     1.30
Confidence level used: 0.95 </a:t>
            </a:r>
          </a:p>
        </p:txBody>
      </p:sp>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Not the same as </a:t>
                </a:r>
                <a:r>
                  <a:rPr sz="2000" b="1">
                    <a:latin typeface="Courier"/>
                  </a:rPr>
                  <a:t>group_by()</a:t>
                </a:r>
                <a:r>
                  <a:rPr sz="2000" b="1"/>
                  <a:t> means</a:t>
                </a:r>
              </a:p>
              <a:p>
                <a:pPr lvl="0" indent="0" marL="1270000">
                  <a:buNone/>
                </a:pPr>
                <a:r>
                  <a:rPr sz="2000"/>
                  <a:t>The SEs and intervals here are built from the </a:t>
                </a:r>
                <a:r>
                  <a:rPr sz="2000" b="1"/>
                  <a:t>pooled</a:t>
                </a:r>
                <a:r>
                  <a:rPr sz="2000"/>
                  <a:t> </a:t>
                </a:r>
                <a14:m>
                  <m:oMath xmlns:m="http://schemas.openxmlformats.org/officeDocument/2006/math">
                    <m:r>
                      <m:t>M</m:t>
                    </m:r>
                    <m:sSub>
                      <m:e>
                        <m:r>
                          <m:t>S</m:t>
                        </m:r>
                      </m:e>
                      <m:sub>
                        <m:r>
                          <m:t>w</m:t>
                        </m:r>
                        <m:r>
                          <m:t>i</m:t>
                        </m:r>
                        <m:r>
                          <m:t>t</m:t>
                        </m:r>
                        <m:r>
                          <m:t>h</m:t>
                        </m:r>
                        <m:r>
                          <m:t>i</m:t>
                        </m:r>
                        <m:r>
                          <m:t>n</m:t>
                        </m:r>
                      </m:sub>
                    </m:sSub>
                  </m:oMath>
                </a14:m>
                <a:r>
                  <a:rPr sz="2000"/>
                  <a:t>, not each group’s own SD — which is what the model assumes. In a balanced design that makes them all the same width.</a:t>
                </a:r>
              </a:p>
              <a:p>
                <a:pPr lvl="0" indent="0" marL="1270000">
                  <a:buNone/>
                </a:pPr>
                <a:r>
                  <a:rPr sz="2000"/>
                  <a:t>These are the means you plot.</a:t>
                </a:r>
              </a:p>
            </p:txBody>
          </p:sp>
        </mc:Choice>
      </mc:AlternateContent>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Pairwise Contrasts with </a:t>
            </a:r>
            <a:r>
              <a:rPr>
                <a:latin typeface="Courier"/>
              </a:rPr>
              <a:t>emmeans</a:t>
            </a:r>
          </a:p>
        </p:txBody>
      </p:sp>
      <p:sp>
        <p:nvSpPr>
          <p:cNvPr id="3" name="Content Placeholder 2"/>
          <p:cNvSpPr>
            <a:spLocks noGrp="1"/>
          </p:cNvSpPr>
          <p:nvPr>
            <p:ph idx="1" sz="half"/>
          </p:nvPr>
        </p:nvSpPr>
        <p:spPr/>
        <p:txBody>
          <a:bodyPr/>
          <a:lstStyle/>
          <a:p>
            <a:pPr lvl="0" indent="0" marL="0">
              <a:buNone/>
            </a:pPr>
            <a:r>
              <a:rPr/>
              <a:t>Step two: feed those means to </a:t>
            </a:r>
            <a:r>
              <a:rPr>
                <a:latin typeface="Courier"/>
              </a:rPr>
              <a:t>pairs()</a:t>
            </a:r>
            <a:r>
              <a:rPr/>
              <a:t>.</a:t>
            </a:r>
          </a:p>
          <a:p>
            <a:pPr lvl="0" indent="0">
              <a:buNone/>
            </a:pPr>
            <a:r>
              <a:rPr>
                <a:solidFill>
                  <a:srgbClr val="4758AB"/>
                </a:solidFill>
                <a:latin typeface="Courier"/>
              </a:rPr>
              <a:t>pairs</a:t>
            </a:r>
            <a:r>
              <a:rPr>
                <a:solidFill>
                  <a:srgbClr val="003B4F"/>
                </a:solidFill>
                <a:latin typeface="Courier"/>
              </a:rPr>
              <a:t>(crab_emm, </a:t>
            </a:r>
            <a:r>
              <a:rPr>
                <a:solidFill>
                  <a:srgbClr val="657422"/>
                </a:solidFill>
                <a:latin typeface="Courier"/>
              </a:rPr>
              <a:t>adjust =</a:t>
            </a:r>
            <a:r>
              <a:rPr>
                <a:solidFill>
                  <a:srgbClr val="003B4F"/>
                </a:solidFill>
                <a:latin typeface="Courier"/>
              </a:rPr>
              <a:t> </a:t>
            </a:r>
            <a:r>
              <a:rPr>
                <a:solidFill>
                  <a:srgbClr val="20794D"/>
                </a:solidFill>
                <a:latin typeface="Courier"/>
              </a:rPr>
              <a:t>"tukey"</a:t>
            </a:r>
            <a:r>
              <a:rPr>
                <a:solidFill>
                  <a:srgbClr val="003B4F"/>
                </a:solidFill>
                <a:latin typeface="Courier"/>
              </a:rPr>
              <a:t>)</a:t>
            </a:r>
          </a:p>
          <a:p>
            <a:pPr lvl="0" indent="0">
              <a:buNone/>
            </a:pPr>
            <a:r>
              <a:rPr>
                <a:latin typeface="Courier"/>
              </a:rPr>
              <a:t> contrast                                estimate     SE df t.ratio p.value
 intact male - female                     -0.3905 0.0643 80  -6.077 &lt;0.0001
 intact male - male major removed         -0.1286 0.0643 80  -2.001  0.1962
 intact male - male minor removed          0.0762 0.0643 80   1.186  0.6375
 female - male major removed               0.2619 0.0643 80   4.076  0.0006
 female - male minor removed               0.4667 0.0643 80   7.263 &lt;0.0001
 male major removed - male minor removed   0.2048 0.0643 80   3.187  0.0108
P value adjustment: tukey method for comparing a family of 4 estimates </a:t>
            </a:r>
          </a:p>
          <a:p>
            <a:pPr lvl="0" indent="0" marL="0">
              <a:buNone/>
            </a:pPr>
            <a:r>
              <a:rPr/>
              <a:t>Same six comparisons, same adjusted p-values as </a:t>
            </a:r>
            <a:r>
              <a:rPr>
                <a:latin typeface="Courier"/>
              </a:rPr>
              <a:t>TukeyHSD()</a:t>
            </a:r>
            <a:r>
              <a:rPr/>
              <a:t> — but watch the </a:t>
            </a:r>
            <a:r>
              <a:rPr b="1"/>
              <a:t>subtraction order</a:t>
            </a:r>
            <a:r>
              <a:rPr/>
              <a:t>, which runs the other way, so the signs flip. Wrap it in </a:t>
            </a:r>
            <a:r>
              <a:rPr>
                <a:latin typeface="Courier"/>
              </a:rPr>
              <a:t>confint()</a:t>
            </a:r>
            <a:r>
              <a:rPr/>
              <a:t> if you want the intervals back.</a:t>
            </a:r>
          </a:p>
        </p:txBody>
      </p:sp>
      <p:sp>
        <p:nvSpPr>
          <p:cNvPr id="4" name="Content Placeholder 3"/>
          <p:cNvSpPr>
            <a:spLocks noGrp="1"/>
          </p:cNvSpPr>
          <p:nvPr>
            <p:ph idx="2" sz="half"/>
          </p:nvPr>
        </p:nvSpPr>
        <p:spPr/>
        <p:txBody>
          <a:bodyPr/>
          <a:lstStyle/>
          <a:p>
            <a:pPr lvl="0" indent="0" marL="1270000">
              <a:buNone/>
            </a:pPr>
            <a:r>
              <a:rPr sz="2000" b="1"/>
              <a:t>Tip</a:t>
            </a:r>
          </a:p>
          <a:p>
            <a:pPr lvl="0" indent="0" marL="1270000">
              <a:buNone/>
            </a:pPr>
            <a:r>
              <a:rPr sz="2000" b="1"/>
              <a:t>🖐 Why </a:t>
            </a:r>
            <a:r>
              <a:rPr sz="2000" b="1">
                <a:latin typeface="Courier"/>
              </a:rPr>
              <a:t>emmeans</a:t>
            </a:r>
            <a:r>
              <a:rPr sz="2000" b="1"/>
              <a:t> and not </a:t>
            </a:r>
            <a:r>
              <a:rPr sz="2000" b="1">
                <a:latin typeface="Courier"/>
              </a:rPr>
              <a:t>TukeyHSD()</a:t>
            </a:r>
          </a:p>
          <a:p>
            <a:pPr lvl="0" indent="0" marL="1270000">
              <a:buNone/>
            </a:pPr>
            <a:r>
              <a:rPr sz="2000">
                <a:latin typeface="Courier"/>
              </a:rPr>
              <a:t>TukeyHSD()</a:t>
            </a:r>
            <a:r>
              <a:rPr sz="2000"/>
              <a:t> only does all-pairs on a balanced </a:t>
            </a:r>
            <a:r>
              <a:rPr sz="2000">
                <a:latin typeface="Courier"/>
              </a:rPr>
              <a:t>aov</a:t>
            </a:r>
            <a:r>
              <a:rPr sz="2000"/>
              <a:t>. </a:t>
            </a:r>
            <a:r>
              <a:rPr sz="2000">
                <a:latin typeface="Courier"/>
              </a:rPr>
              <a:t>emmeans</a:t>
            </a:r>
            <a:r>
              <a:rPr sz="2000"/>
              <a:t> handles unbalanced designs, covariates, several factors and </a:t>
            </a:r>
            <a:r>
              <a:rPr sz="2000" b="1"/>
              <a:t>planned contrasts</a:t>
            </a:r>
            <a:r>
              <a:rPr sz="2000"/>
              <a:t> — and it is what you will use from Week 9 onward.</a:t>
            </a:r>
          </a:p>
          <a:p>
            <a:pPr lvl="0" indent="0" marL="1270000">
              <a:buNone/>
            </a:pPr>
            <a:r>
              <a:rPr sz="2000">
                <a:latin typeface="Courier"/>
              </a:rPr>
              <a:t>adjust =</a:t>
            </a:r>
            <a:r>
              <a:rPr sz="2000"/>
              <a:t> also takes </a:t>
            </a:r>
            <a:r>
              <a:rPr sz="2000">
                <a:latin typeface="Courier"/>
              </a:rPr>
              <a:t>"bonferroni"</a:t>
            </a:r>
            <a:r>
              <a:rPr sz="2000"/>
              <a:t>, </a:t>
            </a:r>
            <a:r>
              <a:rPr sz="2000">
                <a:latin typeface="Courier"/>
              </a:rPr>
              <a:t>"sidak"</a:t>
            </a:r>
            <a:r>
              <a:rPr sz="2000"/>
              <a:t>, </a:t>
            </a:r>
            <a:r>
              <a:rPr sz="2000">
                <a:latin typeface="Courier"/>
              </a:rPr>
              <a:t>"BH"</a:t>
            </a:r>
            <a:r>
              <a:rPr sz="2000"/>
              <a:t> or </a:t>
            </a:r>
            <a:r>
              <a:rPr sz="2000">
                <a:latin typeface="Courier"/>
              </a:rPr>
              <a:t>"none"</a:t>
            </a:r>
            <a:r>
              <a:rPr sz="2000"/>
              <a:t>.</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Compact Letter Display</a:t>
            </a:r>
          </a:p>
        </p:txBody>
      </p:sp>
      <p:sp>
        <p:nvSpPr>
          <p:cNvPr id="3" name="Content Placeholder 2"/>
          <p:cNvSpPr>
            <a:spLocks noGrp="1"/>
          </p:cNvSpPr>
          <p:nvPr>
            <p:ph idx="1" sz="half"/>
          </p:nvPr>
        </p:nvSpPr>
        <p:spPr/>
        <p:txBody>
          <a:bodyPr/>
          <a:lstStyle/>
          <a:p>
            <a:pPr lvl="0" indent="0" marL="0">
              <a:buNone/>
            </a:pPr>
            <a:r>
              <a:rPr/>
              <a:t>Six pairwise p-values is more than a reader can hold at once. </a:t>
            </a:r>
            <a:r>
              <a:rPr>
                <a:latin typeface="Courier"/>
              </a:rPr>
              <a:t>cld()</a:t>
            </a:r>
            <a:r>
              <a:rPr/>
              <a:t> collapses them into letters:</a:t>
            </a:r>
          </a:p>
          <a:p>
            <a:pPr lvl="0" indent="0">
              <a:buNone/>
            </a:pPr>
            <a:r>
              <a:rPr>
                <a:solidFill>
                  <a:srgbClr val="003B4F"/>
                </a:solidFill>
                <a:latin typeface="Courier"/>
              </a:rPr>
              <a:t>multcomp</a:t>
            </a:r>
            <a:r>
              <a:rPr>
                <a:solidFill>
                  <a:srgbClr val="5E5E5E"/>
                </a:solidFill>
                <a:latin typeface="Courier"/>
              </a:rPr>
              <a:t>::</a:t>
            </a:r>
            <a:r>
              <a:rPr>
                <a:solidFill>
                  <a:srgbClr val="4758AB"/>
                </a:solidFill>
                <a:latin typeface="Courier"/>
              </a:rPr>
              <a:t>cld</a:t>
            </a:r>
            <a:r>
              <a:rPr>
                <a:solidFill>
                  <a:srgbClr val="003B4F"/>
                </a:solidFill>
                <a:latin typeface="Courier"/>
              </a:rPr>
              <a:t>(crab_emm, </a:t>
            </a:r>
            <a:r>
              <a:rPr>
                <a:solidFill>
                  <a:srgbClr val="657422"/>
                </a:solidFill>
                <a:latin typeface="Courier"/>
              </a:rPr>
              <a:t>Letters =</a:t>
            </a:r>
            <a:r>
              <a:rPr>
                <a:solidFill>
                  <a:srgbClr val="003B4F"/>
                </a:solidFill>
                <a:latin typeface="Courier"/>
              </a:rPr>
              <a:t> letters,</a:t>
            </a:r>
            <a:br/>
            <a:r>
              <a:rPr>
                <a:solidFill>
                  <a:srgbClr val="003B4F"/>
                </a:solidFill>
                <a:latin typeface="Courier"/>
              </a:rPr>
              <a:t>              </a:t>
            </a:r>
            <a:r>
              <a:rPr>
                <a:solidFill>
                  <a:srgbClr val="657422"/>
                </a:solidFill>
                <a:latin typeface="Courier"/>
              </a:rPr>
              <a:t>adjust =</a:t>
            </a:r>
            <a:r>
              <a:rPr>
                <a:solidFill>
                  <a:srgbClr val="003B4F"/>
                </a:solidFill>
                <a:latin typeface="Courier"/>
              </a:rPr>
              <a:t> </a:t>
            </a:r>
            <a:r>
              <a:rPr>
                <a:solidFill>
                  <a:srgbClr val="20794D"/>
                </a:solidFill>
                <a:latin typeface="Courier"/>
              </a:rPr>
              <a:t>"tukey"</a:t>
            </a:r>
            <a:r>
              <a:rPr>
                <a:solidFill>
                  <a:srgbClr val="003B4F"/>
                </a:solidFill>
                <a:latin typeface="Courier"/>
              </a:rPr>
              <a:t>)</a:t>
            </a:r>
          </a:p>
          <a:p>
            <a:pPr lvl="0" indent="0">
              <a:buNone/>
            </a:pPr>
            <a:r>
              <a:rPr>
                <a:latin typeface="Courier"/>
              </a:rPr>
              <a:t> crab_type          emmean     SE df lower.CL upper.CL .group
 male minor removed   1.21 0.0454 80     1.09     1.33  a    
 intact male          1.29 0.0454 80     1.17     1.40  ab   
 male major removed   1.41 0.0454 80     1.30     1.53   b   
 female               1.68 0.0454 80     1.56     1.79    c  
Confidence level used: 0.95 
Conf-level adjustment: sidak method for 4 estimates 
P value adjustment: tukey method for comparing a family of 4 estimates 
significance level used: alpha = 0.05 
NOTE: If two or more means share the same grouping symbol,
      then we cannot show them to be different.
      But we also did not show them to be the same. </a:t>
            </a:r>
          </a:p>
          <a:p>
            <a:pPr lvl="0" indent="0" marL="0">
              <a:buNone/>
            </a:pPr>
            <a:r>
              <a:rPr/>
              <a:t>Groups that </a:t>
            </a:r>
            <a:r>
              <a:rPr b="1"/>
              <a:t>share a letter</a:t>
            </a:r>
            <a:r>
              <a:rPr/>
              <a:t> were not shown to differ. These are the letters that go above the bars in your final figure.</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Do not </a:t>
            </a:r>
            <a:r>
              <a:rPr sz="2000" b="1">
                <a:latin typeface="Courier"/>
              </a:rPr>
              <a:t>library(multcomp)</a:t>
            </a:r>
          </a:p>
          <a:p>
            <a:pPr lvl="0" indent="0" marL="1270000">
              <a:buNone/>
            </a:pPr>
            <a:r>
              <a:rPr sz="2000"/>
              <a:t>It pulls in </a:t>
            </a:r>
            <a:r>
              <a:rPr sz="2000" b="1"/>
              <a:t>MASS</a:t>
            </a:r>
            <a:r>
              <a:rPr sz="2000"/>
              <a:t>, which masks </a:t>
            </a:r>
            <a:r>
              <a:rPr sz="2000">
                <a:latin typeface="Courier"/>
              </a:rPr>
              <a:t>dplyr::select()</a:t>
            </a:r>
            <a:r>
              <a:rPr sz="2000"/>
              <a:t> and will break your pipes with a baffling error three chunks later. Use the </a:t>
            </a:r>
            <a:r>
              <a:rPr sz="2000">
                <a:latin typeface="Courier"/>
              </a:rPr>
              <a:t>multcomp::</a:t>
            </a:r>
            <a:r>
              <a:rPr sz="2000"/>
              <a:t> prefix and nothing gets attached.</a:t>
            </a:r>
          </a:p>
          <a:p>
            <a:pPr lvl="0" indent="0" marL="1270000">
              <a:buNone/>
            </a:pPr>
            <a:r>
              <a:rPr sz="2000" b="1"/>
              <a:t>Important</a:t>
            </a:r>
          </a:p>
          <a:p>
            <a:pPr lvl="0" indent="0" marL="1270000">
              <a:buNone/>
            </a:pPr>
            <a:r>
              <a:rPr sz="2000" b="1"/>
              <a:t>✅ A shared letter is not “the same”</a:t>
            </a:r>
          </a:p>
          <a:p>
            <a:pPr lvl="0" indent="0" marL="1270000">
              <a:buNone/>
            </a:pPr>
            <a:r>
              <a:rPr sz="2000">
                <a:latin typeface="Courier"/>
              </a:rPr>
              <a:t>intact male</a:t>
            </a:r>
            <a:r>
              <a:rPr sz="2000"/>
              <a:t> and </a:t>
            </a:r>
            <a:r>
              <a:rPr sz="2000">
                <a:latin typeface="Courier"/>
              </a:rPr>
              <a:t>male major removed</a:t>
            </a:r>
            <a:r>
              <a:rPr sz="2000"/>
              <a:t> share </a:t>
            </a:r>
            <a:r>
              <a:rPr sz="2000" b="1"/>
              <a:t>b</a:t>
            </a:r>
            <a:r>
              <a:rPr sz="2000"/>
              <a:t>: we failed to show a difference. That is not evidence they are equal.</a:t>
            </a:r>
          </a:p>
          <a:p>
            <a:pPr lvl="0" indent="0" marL="1270000">
              <a:buNone/>
            </a:pPr>
            <a:r>
              <a:rPr sz="2000">
                <a:latin typeface="Courier"/>
              </a:rPr>
              <a:t>cld()</a:t>
            </a:r>
            <a:r>
              <a:rPr sz="2000"/>
              <a:t> prints that warning itself, at the bottom of its own output. It is the most misread table in biology.</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9 · Reporting</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Reporting an ANOVA</a:t>
            </a:r>
          </a:p>
        </p:txBody>
      </p:sp>
      <p:sp>
        <p:nvSpPr>
          <p:cNvPr id="3" name="Content Placeholder 2"/>
          <p:cNvSpPr>
            <a:spLocks noGrp="1"/>
          </p:cNvSpPr>
          <p:nvPr>
            <p:ph idx="1" sz="half"/>
          </p:nvPr>
        </p:nvSpPr>
        <p:spPr/>
        <p:txBody>
          <a:bodyPr/>
          <a:lstStyle/>
          <a:p>
            <a:pPr lvl="0" indent="0" marL="0">
              <a:buNone/>
            </a:pPr>
            <a:r>
              <a:rPr/>
              <a:t>A results sentence needs the </a:t>
            </a:r>
            <a:r>
              <a:rPr b="1"/>
              <a:t>test, the statistic with both df, the p-value, and the direction</a:t>
            </a:r>
            <a:r>
              <a:rPr/>
              <a:t> — then the post-hoc detail.</a:t>
            </a:r>
          </a:p>
          <a:p>
            <a:pPr lvl="0" indent="0" marL="1270000">
              <a:buNone/>
            </a:pPr>
            <a:r>
              <a:rPr sz="2000"/>
              <a:t>Body temperature differed among crab types (one-way ANOVA, F~3,80~ = 20.31, p &lt; 0.001, R² = 0.43). Females were warmer than intact males by 0.39 °C (Tukey HSD, adjusted p &lt; 0.001), but removing the major claw did not detectably change male temperature (0.13 °C, adjusted p = 0.2).</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What that sentence does</a:t>
            </a:r>
          </a:p>
          <a:p>
            <a:pPr lvl="0"/>
            <a:r>
              <a:rPr sz="2000"/>
              <a:t>Names the test</a:t>
            </a:r>
          </a:p>
          <a:p>
            <a:pPr lvl="0"/>
            <a:r>
              <a:rPr sz="2000"/>
              <a:t>Gives </a:t>
            </a:r>
            <a:r>
              <a:rPr sz="2000" b="1"/>
              <a:t>both</a:t>
            </a:r>
            <a:r>
              <a:rPr sz="2000"/>
              <a:t> degrees of freedom</a:t>
            </a:r>
          </a:p>
          <a:p>
            <a:pPr lvl="0"/>
            <a:r>
              <a:rPr sz="2000"/>
              <a:t>Reports effect size, not just p</a:t>
            </a:r>
          </a:p>
          <a:p>
            <a:pPr lvl="0"/>
            <a:r>
              <a:rPr sz="2000"/>
              <a:t>States the post-hoc method </a:t>
            </a:r>
            <a:r>
              <a:rPr sz="2000" b="1"/>
              <a:t>and</a:t>
            </a:r>
            <a:r>
              <a:rPr sz="2000"/>
              <a:t> that its p-values are adjusted</a:t>
            </a:r>
          </a:p>
          <a:p>
            <a:pPr lvl="0"/>
            <a:r>
              <a:rPr sz="2000"/>
              <a:t>Reports the non-significant comparison the hypothesis was about, rather than quietly dropping it</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10 · When the Assumptions Fail</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 Second Dataset · Nematode Lifespan</a:t>
            </a:r>
          </a:p>
        </p:txBody>
      </p:sp>
      <p:sp>
        <p:nvSpPr>
          <p:cNvPr id="3" name="Content Placeholder 2"/>
          <p:cNvSpPr>
            <a:spLocks noGrp="1"/>
          </p:cNvSpPr>
          <p:nvPr>
            <p:ph idx="1" sz="half"/>
          </p:nvPr>
        </p:nvSpPr>
        <p:spPr/>
        <p:txBody>
          <a:bodyPr/>
          <a:lstStyle/>
          <a:p>
            <a:pPr lvl="0" indent="0" marL="0">
              <a:buNone/>
            </a:pPr>
            <a:r>
              <a:rPr/>
              <a:t>The crab data behaved. Most data do not.</a:t>
            </a:r>
          </a:p>
          <a:p>
            <a:pPr lvl="0" indent="0" marL="0">
              <a:buNone/>
            </a:pPr>
            <a:r>
              <a:rPr/>
              <a:t>Here are </a:t>
            </a:r>
            <a:r>
              <a:rPr b="1"/>
              <a:t>200 nematodes</a:t>
            </a:r>
            <a:r>
              <a:rPr/>
              <a:t>, 50 in each of four treatments, exposed to a parasite as larvae, as adults, as both, or to </a:t>
            </a:r>
            <a:r>
              <a:rPr b="1"/>
              <a:t>water</a:t>
            </a:r>
            <a:r>
              <a:rPr/>
              <a:t> as a control. The response is lifespan in days.</a:t>
            </a:r>
          </a:p>
          <a:p>
            <a:pPr lvl="0" indent="0">
              <a:buNone/>
            </a:pPr>
            <a:r>
              <a:rPr>
                <a:solidFill>
                  <a:srgbClr val="003B4F"/>
                </a:solidFill>
                <a:latin typeface="Courier"/>
              </a:rPr>
              <a:t>worm_df &lt;- </a:t>
            </a:r>
            <a:r>
              <a:rPr>
                <a:solidFill>
                  <a:srgbClr val="4758AB"/>
                </a:solidFill>
                <a:latin typeface="Courier"/>
              </a:rPr>
              <a:t>read_csv</a:t>
            </a:r>
            <a:r>
              <a:rPr>
                <a:solidFill>
                  <a:srgbClr val="003B4F"/>
                </a:solidFill>
                <a:latin typeface="Courier"/>
              </a:rPr>
              <a:t>(</a:t>
            </a:r>
            <a:r>
              <a:rPr>
                <a:solidFill>
                  <a:srgbClr val="20794D"/>
                </a:solidFill>
                <a:latin typeface="Courier"/>
              </a:rPr>
              <a:t>"data/nematode_lifespan.csv"</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treatment =</a:t>
            </a:r>
            <a:r>
              <a:rPr>
                <a:solidFill>
                  <a:srgbClr val="003B4F"/>
                </a:solidFill>
                <a:latin typeface="Courier"/>
              </a:rPr>
              <a:t> </a:t>
            </a:r>
            <a:r>
              <a:rPr>
                <a:solidFill>
                  <a:srgbClr val="4758AB"/>
                </a:solidFill>
                <a:latin typeface="Courier"/>
              </a:rPr>
              <a:t>fct_relevel</a:t>
            </a:r>
            <a:r>
              <a:rPr>
                <a:solidFill>
                  <a:srgbClr val="003B4F"/>
                </a:solidFill>
                <a:latin typeface="Courier"/>
              </a:rPr>
              <a:t>(treatment, </a:t>
            </a:r>
            <a:r>
              <a:rPr>
                <a:solidFill>
                  <a:srgbClr val="20794D"/>
                </a:solidFill>
                <a:latin typeface="Courier"/>
              </a:rPr>
              <a:t>"water"</a:t>
            </a:r>
            <a:r>
              <a:rPr>
                <a:solidFill>
                  <a:srgbClr val="003B4F"/>
                </a:solidFill>
                <a:latin typeface="Courier"/>
              </a:rPr>
              <a:t>))</a:t>
            </a:r>
            <a:br/>
            <a:br/>
            <a:r>
              <a:rPr>
                <a:solidFill>
                  <a:srgbClr val="4758AB"/>
                </a:solidFill>
                <a:latin typeface="Courier"/>
              </a:rPr>
              <a:t>count</a:t>
            </a:r>
            <a:r>
              <a:rPr>
                <a:solidFill>
                  <a:srgbClr val="003B4F"/>
                </a:solidFill>
                <a:latin typeface="Courier"/>
              </a:rPr>
              <a:t>(worm_df, treatment)</a:t>
            </a:r>
          </a:p>
          <a:p>
            <a:pPr lvl="0" indent="0">
              <a:buNone/>
            </a:pPr>
            <a:r>
              <a:rPr>
                <a:latin typeface="Courier"/>
              </a:rPr>
              <a:t># A tibble: 4 × 2
  treatment       n
  &lt;fct&gt;       &lt;int&gt;
1 water          50
2 adult          50
3 larva          50
4 larva+adult    50</a:t>
            </a:r>
          </a:p>
        </p:txBody>
      </p:sp>
      <p:pic>
        <p:nvPicPr>
          <p:cNvPr descr="analysis_of_variance_lecture_files/figure-pptx/analysis-of-variance-18-1.png" id="0" name="Picture 1"/>
          <p:cNvPicPr>
            <a:picLocks noGrp="1" noChangeAspect="1"/>
          </p:cNvPicPr>
          <p:nvPr/>
        </p:nvPicPr>
        <p:blipFill>
          <a:blip r:embed="rId2"/>
          <a:stretch>
            <a:fillRect/>
          </a:stretch>
        </p:blipFill>
        <p:spPr bwMode="auto">
          <a:xfrm>
            <a:off x="6121400" y="1587500"/>
            <a:ext cx="2781300" cy="2603500"/>
          </a:xfrm>
          <a:prstGeom prst="rect">
            <a:avLst/>
          </a:prstGeom>
          <a:noFill/>
          <a:ln w="9525">
            <a:noFill/>
            <a:headEnd/>
            <a:tailEnd/>
          </a:ln>
        </p:spPr>
      </p:pic>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These Assumptions Genuinely Fail</a:t>
            </a:r>
          </a:p>
        </p:txBody>
      </p:sp>
      <p:sp>
        <p:nvSpPr>
          <p:cNvPr id="3" name="Content Placeholder 2"/>
          <p:cNvSpPr>
            <a:spLocks noGrp="1"/>
          </p:cNvSpPr>
          <p:nvPr>
            <p:ph idx="1" sz="half"/>
          </p:nvPr>
        </p:nvSpPr>
        <p:spPr/>
        <p:txBody>
          <a:bodyPr/>
          <a:lstStyle/>
          <a:p>
            <a:pPr lvl="0" indent="0">
              <a:buNone/>
            </a:pPr>
            <a:r>
              <a:rPr>
                <a:solidFill>
                  <a:srgbClr val="003B4F"/>
                </a:solidFill>
                <a:latin typeface="Courier"/>
              </a:rPr>
              <a:t>worm_model &lt;- </a:t>
            </a:r>
            <a:r>
              <a:rPr>
                <a:solidFill>
                  <a:srgbClr val="4758AB"/>
                </a:solidFill>
                <a:latin typeface="Courier"/>
              </a:rPr>
              <a:t>lm</a:t>
            </a:r>
            <a:r>
              <a:rPr>
                <a:solidFill>
                  <a:srgbClr val="003B4F"/>
                </a:solidFill>
                <a:latin typeface="Courier"/>
              </a:rPr>
              <a:t>(lifespan_days </a:t>
            </a:r>
            <a:r>
              <a:rPr>
                <a:solidFill>
                  <a:srgbClr val="5E5E5E"/>
                </a:solidFill>
                <a:latin typeface="Courier"/>
              </a:rPr>
              <a:t>~</a:t>
            </a:r>
            <a:r>
              <a:rPr>
                <a:solidFill>
                  <a:srgbClr val="003B4F"/>
                </a:solidFill>
                <a:latin typeface="Courier"/>
              </a:rPr>
              <a:t> treatment, </a:t>
            </a:r>
            <a:r>
              <a:rPr>
                <a:solidFill>
                  <a:srgbClr val="657422"/>
                </a:solidFill>
                <a:latin typeface="Courier"/>
              </a:rPr>
              <a:t>data =</a:t>
            </a:r>
            <a:r>
              <a:rPr>
                <a:solidFill>
                  <a:srgbClr val="003B4F"/>
                </a:solidFill>
                <a:latin typeface="Courier"/>
              </a:rPr>
              <a:t> worm_df)</a:t>
            </a:r>
            <a:br/>
            <a:br/>
            <a:r>
              <a:rPr>
                <a:solidFill>
                  <a:srgbClr val="4758AB"/>
                </a:solidFill>
                <a:latin typeface="Courier"/>
              </a:rPr>
              <a:t>shapiro.test</a:t>
            </a:r>
            <a:r>
              <a:rPr>
                <a:solidFill>
                  <a:srgbClr val="003B4F"/>
                </a:solidFill>
                <a:latin typeface="Courier"/>
              </a:rPr>
              <a:t>(</a:t>
            </a:r>
            <a:r>
              <a:rPr>
                <a:solidFill>
                  <a:srgbClr val="4758AB"/>
                </a:solidFill>
                <a:latin typeface="Courier"/>
              </a:rPr>
              <a:t>residuals</a:t>
            </a:r>
            <a:r>
              <a:rPr>
                <a:solidFill>
                  <a:srgbClr val="003B4F"/>
                </a:solidFill>
                <a:latin typeface="Courier"/>
              </a:rPr>
              <a:t>(worm_model))</a:t>
            </a:r>
          </a:p>
          <a:p>
            <a:pPr lvl="0" indent="0">
              <a:buNone/>
            </a:pPr>
            <a:r>
              <a:rPr>
                <a:latin typeface="Courier"/>
              </a:rPr>
              <a:t>
    Shapiro-Wilk normality test
data:  residuals(worm_model)
W = 0.97626, p-value = 0.001808</a:t>
            </a:r>
          </a:p>
          <a:p>
            <a:pPr lvl="0" indent="0">
              <a:buNone/>
            </a:pPr>
            <a:r>
              <a:rPr>
                <a:solidFill>
                  <a:srgbClr val="4758AB"/>
                </a:solidFill>
                <a:latin typeface="Courier"/>
              </a:rPr>
              <a:t>leveneTest</a:t>
            </a:r>
            <a:r>
              <a:rPr>
                <a:solidFill>
                  <a:srgbClr val="003B4F"/>
                </a:solidFill>
                <a:latin typeface="Courier"/>
              </a:rPr>
              <a:t>(lifespan_days </a:t>
            </a:r>
            <a:r>
              <a:rPr>
                <a:solidFill>
                  <a:srgbClr val="5E5E5E"/>
                </a:solidFill>
                <a:latin typeface="Courier"/>
              </a:rPr>
              <a:t>~</a:t>
            </a:r>
            <a:r>
              <a:rPr>
                <a:solidFill>
                  <a:srgbClr val="003B4F"/>
                </a:solidFill>
                <a:latin typeface="Courier"/>
              </a:rPr>
              <a:t> treatment, </a:t>
            </a:r>
            <a:r>
              <a:rPr>
                <a:solidFill>
                  <a:srgbClr val="657422"/>
                </a:solidFill>
                <a:latin typeface="Courier"/>
              </a:rPr>
              <a:t>data =</a:t>
            </a:r>
            <a:r>
              <a:rPr>
                <a:solidFill>
                  <a:srgbClr val="003B4F"/>
                </a:solidFill>
                <a:latin typeface="Courier"/>
              </a:rPr>
              <a:t> worm_df)</a:t>
            </a:r>
          </a:p>
          <a:p>
            <a:pPr lvl="0" indent="0">
              <a:buNone/>
            </a:pPr>
            <a:r>
              <a:rPr>
                <a:latin typeface="Courier"/>
              </a:rPr>
              <a:t>Levene's Test for Homogeneity of Variance (center = median)
       Df F value    Pr(&gt;F)    
group   3  22.481 1.493e-12 ***
      196                      
---
Signif. codes:  0 '***' 0.001 '**' 0.01 '*' 0.05 '.' 0.1 ' ' 1</a:t>
            </a:r>
          </a:p>
        </p:txBody>
      </p:sp>
      <p:sp>
        <p:nvSpPr>
          <p:cNvPr id="4" name="Content Placeholder 3"/>
          <p:cNvSpPr>
            <a:spLocks noGrp="1"/>
          </p:cNvSpPr>
          <p:nvPr>
            <p:ph idx="2" sz="half"/>
          </p:nvPr>
        </p:nvSpPr>
        <p:spPr/>
        <p:txBody>
          <a:bodyPr/>
          <a:lstStyle/>
          <a:p>
            <a:pPr lvl="0"/>
            <a:r>
              <a:rPr/>
              <a:t>Shapiro-Wilk </a:t>
            </a:r>
            <a:r>
              <a:rPr b="1"/>
              <a:t>p = 0.00181</a:t>
            </a:r>
            <a:r>
              <a:rPr/>
              <a:t> — residuals are not normal</a:t>
            </a:r>
          </a:p>
          <a:p>
            <a:pPr lvl="0"/>
            <a:r>
              <a:rPr/>
              <a:t>Levene </a:t>
            </a:r>
            <a:r>
              <a:rPr b="1"/>
              <a:t>p = 1.49e-12</a:t>
            </a:r>
            <a:r>
              <a:rPr/>
              <a:t> — variances are nowhere near equal</a:t>
            </a:r>
          </a:p>
          <a:p>
            <a:pPr lvl="0" indent="0" marL="0">
              <a:buNone/>
            </a:pPr>
            <a:r>
              <a:rPr/>
              <a:t>Look back at the boxplots: group SDs run from 3.3 to 8.7 days.</a:t>
            </a:r>
          </a:p>
          <a:p>
            <a:pPr lvl="0" indent="0" marL="1270000">
              <a:buNone/>
            </a:pPr>
            <a:r>
              <a:rPr sz="2000" b="1"/>
              <a:t>Warning</a:t>
            </a:r>
          </a:p>
          <a:p>
            <a:pPr lvl="0" indent="0" marL="1270000">
              <a:buNone/>
            </a:pPr>
            <a:r>
              <a:rPr sz="2000" b="1"/>
              <a:t>⚠️ Nothing here is simulated</a:t>
            </a:r>
          </a:p>
          <a:p>
            <a:pPr lvl="0" indent="0" marL="1270000">
              <a:buNone/>
            </a:pPr>
            <a:r>
              <a:rPr sz="2000"/>
              <a:t>This is the published dataset, unmodified. Real data fails these tests routinely.</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What Do You Do Now?</a:t>
            </a:r>
          </a:p>
        </p:txBody>
      </p:sp>
      <p:sp>
        <p:nvSpPr>
          <p:cNvPr id="3" name="Content Placeholder 2"/>
          <p:cNvSpPr>
            <a:spLocks noGrp="1"/>
          </p:cNvSpPr>
          <p:nvPr>
            <p:ph idx="1" sz="half"/>
          </p:nvPr>
        </p:nvSpPr>
        <p:spPr/>
        <p:txBody>
          <a:bodyPr/>
          <a:lstStyle/>
          <a:p>
            <a:pPr lvl="0" indent="0" marL="0">
              <a:buNone/>
            </a:pPr>
            <a:r>
              <a:rPr/>
              <a:t>An ANOVA on these data returns </a:t>
            </a:r>
            <a:r>
              <a:rPr b="1"/>
              <a:t>F = 15.25, p = 5.87e-09</a:t>
            </a:r>
            <a:r>
              <a:rPr/>
              <a:t> — but the residuals are non-normal and the variances are unequal.</a:t>
            </a:r>
          </a:p>
          <a:p>
            <a:pPr lvl="0" indent="0" marL="0">
              <a:buNone/>
            </a:pPr>
            <a:r>
              <a:rPr b="1"/>
              <a:t>What is the right next step?</a:t>
            </a:r>
          </a:p>
          <a:p>
            <a:pPr lvl="0" indent="0" marL="0">
              <a:buNone/>
            </a:pPr>
            <a:r>
              <a:rPr b="1"/>
              <a:t>(a)</a:t>
            </a:r>
            <a:r>
              <a:rPr/>
              <a:t> Report the ANOVA — it is significant, and ANOVA is robust</a:t>
            </a:r>
          </a:p>
          <a:p>
            <a:pPr lvl="0" indent="0" marL="0">
              <a:buNone/>
            </a:pPr>
            <a:r>
              <a:rPr b="1"/>
              <a:t>(b)</a:t>
            </a:r>
            <a:r>
              <a:rPr/>
              <a:t> Drop the group with the biggest variance and re-run</a:t>
            </a:r>
          </a:p>
          <a:p>
            <a:pPr lvl="0" indent="0" marL="0">
              <a:buNone/>
            </a:pPr>
            <a:r>
              <a:rPr b="1"/>
              <a:t>(c)</a:t>
            </a:r>
            <a:r>
              <a:rPr/>
              <a:t> Try a transformation, and if that fails use a rank-based test such as Kruskal-Wallis</a:t>
            </a:r>
          </a:p>
          <a:p>
            <a:pPr lvl="0" indent="0" marL="0">
              <a:buNone/>
            </a:pPr>
            <a:r>
              <a:rPr b="1"/>
              <a:t>(d)</a:t>
            </a:r>
            <a:r>
              <a:rPr/>
              <a:t> Report nothing — the data cannot be analysed</a:t>
            </a:r>
          </a:p>
          <a:p>
            <a:pPr lvl="0" indent="0" marL="1270000">
              <a:buNone/>
            </a:pPr>
            <a:r>
              <a:rPr sz="2000" b="1"/>
              <a:t>Warning</a:t>
            </a:r>
          </a:p>
          <a:p>
            <a:pPr lvl="0" indent="0" marL="1270000">
              <a:buNone/>
            </a:pPr>
            <a:r>
              <a:rPr sz="2000" b="1"/>
              <a:t>✍️ Write your letter down, then vote.</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The question to ask</a:t>
            </a:r>
          </a:p>
          <a:p>
            <a:pPr lvl="0" indent="0" marL="1270000">
              <a:buNone/>
            </a:pPr>
            <a:r>
              <a:rPr sz="2000" i="1"/>
              <a:t>Is the problem with the data, or with the test I chose for it?</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Kruskal-Wallis Test</a:t>
            </a:r>
          </a:p>
        </p:txBody>
      </p:sp>
      <p:sp>
        <p:nvSpPr>
          <p:cNvPr id="3" name="Content Placeholder 2"/>
          <p:cNvSpPr>
            <a:spLocks noGrp="1"/>
          </p:cNvSpPr>
          <p:nvPr>
            <p:ph idx="1" sz="half"/>
          </p:nvPr>
        </p:nvSpPr>
        <p:spPr/>
        <p:txBody>
          <a:bodyPr/>
          <a:lstStyle/>
          <a:p>
            <a:pPr lvl="0" indent="0" marL="1270000">
              <a:buNone/>
            </a:pPr>
            <a:r>
              <a:rPr sz="2000" b="1"/>
              <a:t>Important</a:t>
            </a:r>
          </a:p>
          <a:p>
            <a:pPr lvl="0" indent="0" marL="1270000">
              <a:buNone/>
            </a:pPr>
            <a:r>
              <a:rPr sz="2000" b="1"/>
              <a:t>✅ The answer is (c).</a:t>
            </a:r>
          </a:p>
          <a:p>
            <a:pPr lvl="0" indent="0" marL="1270000">
              <a:buNone/>
            </a:pPr>
            <a:r>
              <a:rPr sz="2000"/>
              <a:t>Transform first — a log or square root often fixes both problems at once, and keeps you in a framework that extends to more factors. If it does not, move to a rank-based test.</a:t>
            </a:r>
          </a:p>
          <a:p>
            <a:pPr lvl="0" indent="0" marL="1270000">
              <a:buNone/>
            </a:pPr>
            <a:r>
              <a:rPr sz="2000" b="1"/>
              <a:t>(b)</a:t>
            </a:r>
            <a:r>
              <a:rPr sz="2000"/>
              <a:t> is data deletion to make a test pass, which is not a repair.</a:t>
            </a:r>
          </a:p>
          <a:p>
            <a:pPr lvl="0" indent="0">
              <a:buNone/>
            </a:pPr>
            <a:r>
              <a:rPr>
                <a:solidFill>
                  <a:srgbClr val="4758AB"/>
                </a:solidFill>
                <a:latin typeface="Courier"/>
              </a:rPr>
              <a:t>kruskal.test</a:t>
            </a:r>
            <a:r>
              <a:rPr>
                <a:solidFill>
                  <a:srgbClr val="003B4F"/>
                </a:solidFill>
                <a:latin typeface="Courier"/>
              </a:rPr>
              <a:t>(lifespan_days </a:t>
            </a:r>
            <a:r>
              <a:rPr>
                <a:solidFill>
                  <a:srgbClr val="5E5E5E"/>
                </a:solidFill>
                <a:latin typeface="Courier"/>
              </a:rPr>
              <a:t>~</a:t>
            </a:r>
            <a:r>
              <a:rPr>
                <a:solidFill>
                  <a:srgbClr val="003B4F"/>
                </a:solidFill>
                <a:latin typeface="Courier"/>
              </a:rPr>
              <a:t> treatment, </a:t>
            </a:r>
            <a:r>
              <a:rPr>
                <a:solidFill>
                  <a:srgbClr val="657422"/>
                </a:solidFill>
                <a:latin typeface="Courier"/>
              </a:rPr>
              <a:t>data =</a:t>
            </a:r>
            <a:r>
              <a:rPr>
                <a:solidFill>
                  <a:srgbClr val="003B4F"/>
                </a:solidFill>
                <a:latin typeface="Courier"/>
              </a:rPr>
              <a:t> worm_df)</a:t>
            </a:r>
          </a:p>
          <a:p>
            <a:pPr lvl="0" indent="0">
              <a:buNone/>
            </a:pPr>
            <a:r>
              <a:rPr>
                <a:latin typeface="Courier"/>
              </a:rPr>
              <a:t>
    Kruskal-Wallis rank sum test
data:  lifespan_days by treatment
Kruskal-Wallis chi-squared = 29.463, df = 3, p-value = 1.79e-06</a:t>
            </a:r>
          </a:p>
        </p:txBody>
      </p:sp>
      <p:sp>
        <p:nvSpPr>
          <p:cNvPr id="4" name="Content Placeholder 3"/>
          <p:cNvSpPr>
            <a:spLocks noGrp="1"/>
          </p:cNvSpPr>
          <p:nvPr>
            <p:ph idx="2" sz="half"/>
          </p:nvPr>
        </p:nvSpPr>
        <p:spPr/>
        <p:txBody>
          <a:bodyPr/>
          <a:lstStyle/>
          <a:p>
            <a:pPr lvl="0" indent="0" marL="0">
              <a:buNone/>
            </a:pPr>
            <a:r>
              <a:rPr/>
              <a:t>Kruskal-Wallis replaces every value by its </a:t>
            </a:r>
            <a:r>
              <a:rPr b="1"/>
              <a:t>rank</a:t>
            </a:r>
            <a:r>
              <a:rPr/>
              <a:t> and asks whether the rank totals differ more than chance — so it needs no normality and is not thrown by unequal spread.</a:t>
            </a:r>
          </a:p>
          <a:p>
            <a:pPr lvl="0" indent="0" marL="0">
              <a:buNone/>
            </a:pPr>
            <a:r>
              <a:rPr b="1"/>
              <a:t>χ² = 29.46, df = 3, p = 1.79e-06.</a:t>
            </a:r>
          </a:p>
          <a:p>
            <a:pPr lvl="0" indent="0" marL="0">
              <a:buNone/>
            </a:pPr>
            <a:r>
              <a:rPr/>
              <a:t>The conclusion survives. What changes is that you can now defend it.</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Dunn’s Test — the Post-Hoc for Ranks</a:t>
            </a:r>
          </a:p>
        </p:txBody>
      </p:sp>
      <p:sp>
        <p:nvSpPr>
          <p:cNvPr id="3" name="Content Placeholder 2"/>
          <p:cNvSpPr>
            <a:spLocks noGrp="1"/>
          </p:cNvSpPr>
          <p:nvPr>
            <p:ph idx="1" sz="half"/>
          </p:nvPr>
        </p:nvSpPr>
        <p:spPr/>
        <p:txBody>
          <a:bodyPr/>
          <a:lstStyle/>
          <a:p>
            <a:pPr lvl="0" indent="0" marL="0">
              <a:buNone/>
            </a:pPr>
            <a:r>
              <a:rPr/>
              <a:t>Kruskal-Wallis has the same limit as F: it says </a:t>
            </a:r>
            <a:r>
              <a:rPr i="1"/>
              <a:t>something</a:t>
            </a:r>
            <a:r>
              <a:rPr/>
              <a:t> differs, not what. </a:t>
            </a:r>
            <a:r>
              <a:rPr b="1"/>
              <a:t>Dunn’s test</a:t>
            </a:r>
            <a:r>
              <a:rPr/>
              <a:t> is its post-hoc.</a:t>
            </a:r>
          </a:p>
          <a:p>
            <a:pPr lvl="0" indent="0">
              <a:buNone/>
            </a:pPr>
            <a:r>
              <a:rPr>
                <a:solidFill>
                  <a:srgbClr val="4758AB"/>
                </a:solidFill>
                <a:latin typeface="Courier"/>
              </a:rPr>
              <a:t>dunnTest</a:t>
            </a:r>
            <a:r>
              <a:rPr>
                <a:solidFill>
                  <a:srgbClr val="003B4F"/>
                </a:solidFill>
                <a:latin typeface="Courier"/>
              </a:rPr>
              <a:t>(lifespan_days </a:t>
            </a:r>
            <a:r>
              <a:rPr>
                <a:solidFill>
                  <a:srgbClr val="5E5E5E"/>
                </a:solidFill>
                <a:latin typeface="Courier"/>
              </a:rPr>
              <a:t>~</a:t>
            </a:r>
            <a:r>
              <a:rPr>
                <a:solidFill>
                  <a:srgbClr val="003B4F"/>
                </a:solidFill>
                <a:latin typeface="Courier"/>
              </a:rPr>
              <a:t> treatment, </a:t>
            </a:r>
            <a:r>
              <a:rPr>
                <a:solidFill>
                  <a:srgbClr val="657422"/>
                </a:solidFill>
                <a:latin typeface="Courier"/>
              </a:rPr>
              <a:t>data =</a:t>
            </a:r>
            <a:r>
              <a:rPr>
                <a:solidFill>
                  <a:srgbClr val="003B4F"/>
                </a:solidFill>
                <a:latin typeface="Courier"/>
              </a:rPr>
              <a:t> worm_df, </a:t>
            </a:r>
            <a:r>
              <a:rPr>
                <a:solidFill>
                  <a:srgbClr val="657422"/>
                </a:solidFill>
                <a:latin typeface="Courier"/>
              </a:rPr>
              <a:t>method =</a:t>
            </a:r>
            <a:r>
              <a:rPr>
                <a:solidFill>
                  <a:srgbClr val="003B4F"/>
                </a:solidFill>
                <a:latin typeface="Courier"/>
              </a:rPr>
              <a:t> </a:t>
            </a:r>
            <a:r>
              <a:rPr>
                <a:solidFill>
                  <a:srgbClr val="20794D"/>
                </a:solidFill>
                <a:latin typeface="Courier"/>
              </a:rPr>
              <a:t>"bh"</a:t>
            </a:r>
            <a:r>
              <a:rPr>
                <a:solidFill>
                  <a:srgbClr val="003B4F"/>
                </a:solidFill>
                <a:latin typeface="Courier"/>
              </a:rPr>
              <a:t>)</a:t>
            </a:r>
            <a:r>
              <a:rPr>
                <a:solidFill>
                  <a:srgbClr val="5E5E5E"/>
                </a:solidFill>
                <a:latin typeface="Courier"/>
              </a:rPr>
              <a:t>$</a:t>
            </a:r>
            <a:r>
              <a:rPr>
                <a:solidFill>
                  <a:srgbClr val="003B4F"/>
                </a:solidFill>
                <a:latin typeface="Courier"/>
              </a:rPr>
              <a:t>res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4758AB"/>
                </a:solidFill>
                <a:latin typeface="Courier"/>
              </a:rPr>
              <a:t>across</a:t>
            </a:r>
            <a:r>
              <a:rPr>
                <a:solidFill>
                  <a:srgbClr val="003B4F"/>
                </a:solidFill>
                <a:latin typeface="Courier"/>
              </a:rPr>
              <a:t>(</a:t>
            </a:r>
            <a:r>
              <a:rPr>
                <a:solidFill>
                  <a:srgbClr val="4758AB"/>
                </a:solidFill>
                <a:latin typeface="Courier"/>
              </a:rPr>
              <a:t>where</a:t>
            </a:r>
            <a:r>
              <a:rPr>
                <a:solidFill>
                  <a:srgbClr val="003B4F"/>
                </a:solidFill>
                <a:latin typeface="Courier"/>
              </a:rPr>
              <a:t>(is.numeric), </a:t>
            </a:r>
            <a:r>
              <a:rPr>
                <a:solidFill>
                  <a:srgbClr val="5E5E5E"/>
                </a:solidFill>
                <a:latin typeface="Courier"/>
              </a:rPr>
              <a:t>~</a:t>
            </a:r>
            <a:r>
              <a:rPr>
                <a:solidFill>
                  <a:srgbClr val="003B4F"/>
                </a:solidFill>
                <a:latin typeface="Courier"/>
              </a:rPr>
              <a:t> </a:t>
            </a:r>
            <a:r>
              <a:rPr>
                <a:solidFill>
                  <a:srgbClr val="4758AB"/>
                </a:solidFill>
                <a:latin typeface="Courier"/>
              </a:rPr>
              <a:t>signif</a:t>
            </a:r>
            <a:r>
              <a:rPr>
                <a:solidFill>
                  <a:srgbClr val="003B4F"/>
                </a:solidFill>
                <a:latin typeface="Courier"/>
              </a:rPr>
              <a:t>(.x, </a:t>
            </a:r>
            <a:r>
              <a:rPr>
                <a:solidFill>
                  <a:srgbClr val="AD0000"/>
                </a:solidFill>
                <a:latin typeface="Courier"/>
              </a:rPr>
              <a:t>3</a:t>
            </a:r>
            <a:r>
              <a:rPr>
                <a:solidFill>
                  <a:srgbClr val="003B4F"/>
                </a:solidFill>
                <a:latin typeface="Courier"/>
              </a:rPr>
              <a:t>)))</a:t>
            </a:r>
          </a:p>
          <a:p>
            <a:pPr lvl="0" indent="0">
              <a:buNone/>
            </a:pPr>
            <a:r>
              <a:rPr>
                <a:latin typeface="Courier"/>
              </a:rPr>
              <a:t>           Comparison      Z  P.unadj    P.adj
1       water - adult -3.120 1.78e-03 2.67e-03
2       water - larva  0.917 3.59e-01 4.31e-01
3       adult - larva  4.040 5.32e-05 1.60e-04
4 water - larva+adult -3.510 4.56e-04 9.11e-04
5 adult - larva+adult -0.381 7.03e-01 7.03e-01
6 larva - larva+adult -4.420 9.76e-06 5.85e-05</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Which adjustment?</a:t>
            </a:r>
          </a:p>
          <a:p>
            <a:pPr lvl="0" indent="0" marL="1270000">
              <a:buNone/>
            </a:pPr>
            <a:r>
              <a:rPr sz="2000">
                <a:latin typeface="Courier"/>
              </a:rPr>
              <a:t>"bonferroni"</a:t>
            </a:r>
            <a:r>
              <a:rPr sz="2000"/>
              <a:t> is the strictest and costs the most power. </a:t>
            </a:r>
            <a:r>
              <a:rPr sz="2000">
                <a:latin typeface="Courier"/>
              </a:rPr>
              <a:t>"bh"</a:t>
            </a:r>
            <a:r>
              <a:rPr sz="2000"/>
              <a:t> (Benjamini-Hochberg) controls the </a:t>
            </a:r>
            <a:r>
              <a:rPr sz="2000" b="1"/>
              <a:t>false discovery rate</a:t>
            </a:r>
            <a:r>
              <a:rPr sz="2000"/>
              <a:t> instead, and is the usual choice when you have more than a handful of comparisons.</a:t>
            </a:r>
          </a:p>
          <a:p>
            <a:pPr lvl="0" indent="0" marL="0">
              <a:buNone/>
            </a:pPr>
            <a:r>
              <a:rPr>
                <a:latin typeface="Courier"/>
              </a:rPr>
              <a:t>pairwise.wilcox.test()</a:t>
            </a:r>
            <a:r>
              <a:rPr/>
              <a:t> does a similar job; Dunn’s is preferred because it uses the same ranking as the Kruskal-Wallis it follows.</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Which Test Should You Use?</a:t>
            </a:r>
          </a:p>
        </p:txBody>
      </p:sp>
      <p:sp>
        <p:nvSpPr>
          <p:cNvPr id="3" name="Content Placeholder 2"/>
          <p:cNvSpPr>
            <a:spLocks noGrp="1"/>
          </p:cNvSpPr>
          <p:nvPr>
            <p:ph idx="1"/>
          </p:nvPr>
        </p:nvSpPr>
        <p:spPr/>
        <p:txBody>
          <a:bodyPr/>
          <a:lstStyle/>
          <a:p>
            <a:pPr lvl="0" indent="0" marL="0">
              <a:buNone/>
            </a:pPr>
            <a:r>
              <a:rPr b="1"/>
              <a:t>Try a transformation before you give up the parametric route</a:t>
            </a:r>
            <a:r>
              <a:rPr/>
              <a:t> — it keeps your effect sizes interpretable and extends to the multi-factor designs coming in Week 9.</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Reporting a Non-Parametric Result</a:t>
            </a:r>
          </a:p>
        </p:txBody>
      </p:sp>
      <p:sp>
        <p:nvSpPr>
          <p:cNvPr id="3" name="Content Placeholder 2"/>
          <p:cNvSpPr>
            <a:spLocks noGrp="1"/>
          </p:cNvSpPr>
          <p:nvPr>
            <p:ph idx="1" sz="half"/>
          </p:nvPr>
        </p:nvSpPr>
        <p:spPr/>
        <p:txBody>
          <a:bodyPr/>
          <a:lstStyle/>
          <a:p>
            <a:pPr lvl="0" indent="0" marL="1270000">
              <a:buNone/>
            </a:pPr>
            <a:r>
              <a:rPr sz="2000"/>
              <a:t>Nematode lifespan differed among parasite-exposure treatments (Kruskal-Wallis χ²~3~ = 29.46, p &lt; 0.001). A Kruskal-Wallis test was used because the residuals of the equivalent ANOVA were non-normal (Shapiro-Wilk p = 0.00181) and variances were unequal (Levene p = 1.49e-12). Dunn’s tests with Benjamini-Hochberg adjustment showed that larva-exposed worms outlived worms exposed as adults or as both.</a:t>
            </a:r>
          </a:p>
        </p:txBody>
      </p:sp>
      <p:sp>
        <p:nvSpPr>
          <p:cNvPr id="4" name="Content Placeholder 3"/>
          <p:cNvSpPr>
            <a:spLocks noGrp="1"/>
          </p:cNvSpPr>
          <p:nvPr>
            <p:ph idx="2" sz="half"/>
          </p:nvPr>
        </p:nvSpPr>
        <p:spPr/>
        <p:txBody>
          <a:bodyPr/>
          <a:lstStyle/>
          <a:p>
            <a:pPr lvl="0" indent="0" marL="1270000">
              <a:buNone/>
            </a:pPr>
            <a:r>
              <a:rPr sz="2000" b="1"/>
              <a:t>Important</a:t>
            </a:r>
          </a:p>
          <a:p>
            <a:pPr lvl="0" indent="0" marL="1270000">
              <a:buNone/>
            </a:pPr>
            <a:r>
              <a:rPr sz="2000" b="1"/>
              <a:t>✅ Say </a:t>
            </a:r>
            <a:r>
              <a:rPr sz="2000" b="1" i="1"/>
              <a:t>why</a:t>
            </a:r>
            <a:r>
              <a:rPr sz="2000" b="1"/>
              <a:t> you went non-parametric</a:t>
            </a:r>
          </a:p>
          <a:p>
            <a:pPr lvl="0" indent="0" marL="1270000">
              <a:buNone/>
            </a:pPr>
            <a:r>
              <a:rPr sz="2000"/>
              <a:t>A reader cannot tell whether you chose a rank test because your data required it or because it gave you the answer you wanted — unless you show the assumption checks that made the decision.</a:t>
            </a:r>
          </a:p>
          <a:p>
            <a:pPr lvl="0" indent="0" marL="1270000">
              <a:buNone/>
            </a:pPr>
            <a:r>
              <a:rPr sz="2000"/>
              <a:t>Report the numbers that drove the choice, not just the choice.</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Wrap-up</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Today you:</a:t>
                </a:r>
              </a:p>
              <a:p>
                <a:pPr lvl="0"/>
                <a:r>
                  <a:rPr/>
                  <a:t>Saw that ANOVA </a:t>
                </a:r>
                <a:r>
                  <a:rPr b="1"/>
                  <a:t>is</a:t>
                </a:r>
                <a:r>
                  <a:rPr/>
                  <a:t> regression with a categorical predictor — the same </a:t>
                </a:r>
                <a:r>
                  <a:rPr>
                    <a:latin typeface="Courier"/>
                  </a:rPr>
                  <a:t>lm()</a:t>
                </a:r>
                <a:r>
                  <a:rPr/>
                  <a:t>, the same partition, the same F</a:t>
                </a:r>
              </a:p>
              <a:p>
                <a:pPr lvl="0"/>
                <a:r>
                  <a:rPr/>
                  <a:t>Worked out why six t-tests carry a </a:t>
                </a:r>
                <a:r>
                  <a:rPr b="1"/>
                  <a:t>26%</a:t>
                </a:r>
                <a:r>
                  <a:rPr/>
                  <a:t> chance of a false positive, and what ANOVA does about it</a:t>
                </a:r>
              </a:p>
              <a:p>
                <a:pPr lvl="0"/>
                <a:r>
                  <a:rPr/>
                  <a:t>Built </a:t>
                </a:r>
                <a14:m>
                  <m:oMath xmlns:m="http://schemas.openxmlformats.org/officeDocument/2006/math">
                    <m:r>
                      <m:t>S</m:t>
                    </m:r>
                    <m:sSub>
                      <m:e>
                        <m:r>
                          <m:t>S</m:t>
                        </m:r>
                      </m:e>
                      <m:sub>
                        <m:r>
                          <m:t>a</m:t>
                        </m:r>
                        <m:r>
                          <m:t>m</m:t>
                        </m:r>
                        <m:r>
                          <m:t>o</m:t>
                        </m:r>
                        <m:r>
                          <m:t>n</m:t>
                        </m:r>
                        <m:r>
                          <m:t>g</m:t>
                        </m:r>
                      </m:sub>
                    </m:sSub>
                  </m:oMath>
                </a14:m>
                <a:r>
                  <a:rPr/>
                  <a:t> and </a:t>
                </a:r>
                <a14:m>
                  <m:oMath xmlns:m="http://schemas.openxmlformats.org/officeDocument/2006/math">
                    <m:r>
                      <m:t>S</m:t>
                    </m:r>
                    <m:sSub>
                      <m:e>
                        <m:r>
                          <m:t>S</m:t>
                        </m:r>
                      </m:e>
                      <m:sub>
                        <m:r>
                          <m:t>w</m:t>
                        </m:r>
                        <m:r>
                          <m:t>i</m:t>
                        </m:r>
                        <m:r>
                          <m:t>t</m:t>
                        </m:r>
                        <m:r>
                          <m:t>h</m:t>
                        </m:r>
                        <m:r>
                          <m:t>i</m:t>
                        </m:r>
                        <m:r>
                          <m:t>n</m:t>
                        </m:r>
                      </m:sub>
                    </m:sSub>
                  </m:oMath>
                </a14:m>
                <a:r>
                  <a:rPr/>
                  <a:t> by hand and matched them to </a:t>
                </a:r>
                <a:r>
                  <a:rPr>
                    <a:latin typeface="Courier"/>
                  </a:rPr>
                  <a:t>anova()</a:t>
                </a:r>
              </a:p>
              <a:p>
                <a:pPr lvl="0"/>
                <a:r>
                  <a:rPr/>
                  <a:t>Confirmed </a:t>
                </a:r>
                <a:r>
                  <a:rPr b="1"/>
                  <a:t>t² = F</a:t>
                </a:r>
                <a:r>
                  <a:rPr/>
                  <a:t> on a two-group subset, for the second time this term</a:t>
                </a:r>
              </a:p>
              <a:p>
                <a:pPr lvl="0"/>
                <a:r>
                  <a:rPr/>
                  <a:t>Checked independence, normality and equal variance — the last two </a:t>
                </a:r>
                <a:r>
                  <a:rPr b="1"/>
                  <a:t>on the residuals</a:t>
                </a:r>
              </a:p>
              <a:p>
                <a:pPr lvl="0"/>
                <a:r>
                  <a:rPr/>
                  <a:t>Set the reference level with </a:t>
                </a:r>
                <a:r>
                  <a:rPr b="1">
                    <a:latin typeface="Courier"/>
                  </a:rPr>
                  <a:t>fct_relevel()</a:t>
                </a:r>
                <a:r>
                  <a:rPr/>
                  <a:t> so the coefficients answered the experiment’s question</a:t>
                </a:r>
              </a:p>
              <a:p>
                <a:pPr lvl="0"/>
                <a:r>
                  <a:rPr/>
                  <a:t>Used </a:t>
                </a:r>
                <a:r>
                  <a:rPr b="1"/>
                  <a:t>Tukey HSD</a:t>
                </a:r>
                <a:r>
                  <a:rPr/>
                  <a:t> and then </a:t>
                </a:r>
                <a:r>
                  <a:rPr b="1">
                    <a:latin typeface="Courier"/>
                  </a:rPr>
                  <a:t>emmeans</a:t>
                </a:r>
                <a:r>
                  <a:rPr/>
                  <a:t> to find which pairs differ, and learned that the claw-removal comparison was not one of them</a:t>
                </a:r>
              </a:p>
              <a:p>
                <a:pPr lvl="0"/>
                <a:r>
                  <a:rPr/>
                  <a:t>Moved to </a:t>
                </a:r>
                <a:r>
                  <a:rPr b="1"/>
                  <a:t>Kruskal-Wallis and Dunn’s test</a:t>
                </a:r>
                <a:r>
                  <a:rPr/>
                  <a:t> on a dataset whose assumptions genuinely failed</a:t>
                </a:r>
              </a:p>
            </p:txBody>
          </p:sp>
        </mc:Choice>
      </mc:AlternateContent>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Three Things to Carry Out of Here</a:t>
            </a:r>
          </a:p>
        </p:txBody>
      </p:sp>
      <p:sp>
        <p:nvSpPr>
          <p:cNvPr id="3" name="Content Placeholder 2"/>
          <p:cNvSpPr>
            <a:spLocks noGrp="1"/>
          </p:cNvSpPr>
          <p:nvPr>
            <p:ph idx="1" sz="half"/>
          </p:nvPr>
        </p:nvSpPr>
        <p:spPr/>
        <p:txBody>
          <a:bodyPr/>
          <a:lstStyle/>
          <a:p>
            <a:pPr lvl="0" indent="0" marL="1270000">
              <a:buNone/>
            </a:pPr>
            <a:r>
              <a:rPr sz="2000" b="1"/>
              <a:t>Important</a:t>
            </a:r>
          </a:p>
          <a:p>
            <a:pPr lvl="0" indent="0" marL="1270000">
              <a:buNone/>
            </a:pPr>
            <a:r>
              <a:rPr sz="2000" b="1"/>
              <a:t>⚠️ A significant F is an entry ticket</a:t>
            </a:r>
          </a:p>
          <a:p>
            <a:pPr lvl="0" indent="0" marL="1270000">
              <a:buNone/>
            </a:pPr>
            <a:r>
              <a:rPr sz="2000"/>
              <a:t>It says at least one group differs. It never says which, how many, or in which direction. Everything past that comes from post-hoc comparisons you planned or corrected for.</a:t>
            </a:r>
          </a:p>
          <a:p>
            <a:pPr lvl="0" indent="0" marL="1270000">
              <a:buNone/>
            </a:pPr>
            <a:r>
              <a:rPr sz="2000" b="1"/>
              <a:t>Note</a:t>
            </a:r>
          </a:p>
          <a:p>
            <a:pPr lvl="0" indent="0" marL="1270000">
              <a:buNone/>
            </a:pPr>
            <a:r>
              <a:rPr sz="2000" b="1"/>
              <a:t>✅ Assumptions live in the residuals</a:t>
            </a:r>
          </a:p>
          <a:p>
            <a:pPr lvl="0" indent="0" marL="1270000">
              <a:buNone/>
            </a:pPr>
            <a:r>
              <a:rPr sz="2000"/>
              <a:t>Except independence, which lives in the </a:t>
            </a:r>
            <a:r>
              <a:rPr sz="2000" b="1"/>
              <a:t>design</a:t>
            </a:r>
            <a:r>
              <a:rPr sz="2000"/>
              <a:t> — and no plot will ever show it to you.</a:t>
            </a:r>
          </a:p>
        </p:txBody>
      </p:sp>
      <p:sp>
        <p:nvSpPr>
          <p:cNvPr id="4" name="Content Placeholder 3"/>
          <p:cNvSpPr>
            <a:spLocks noGrp="1"/>
          </p:cNvSpPr>
          <p:nvPr>
            <p:ph idx="2" sz="half"/>
          </p:nvPr>
        </p:nvSpPr>
        <p:spPr/>
        <p:txBody>
          <a:bodyPr/>
          <a:lstStyle/>
          <a:p>
            <a:pPr lvl="0" indent="0" marL="1270000">
              <a:buNone/>
            </a:pPr>
            <a:r>
              <a:rPr sz="2000" b="1"/>
              <a:t>Important</a:t>
            </a:r>
          </a:p>
          <a:p>
            <a:pPr lvl="0" indent="0" marL="1270000">
              <a:buNone/>
            </a:pPr>
            <a:r>
              <a:rPr sz="2000" b="1"/>
              <a:t>✅ Set the reference level</a:t>
            </a:r>
          </a:p>
          <a:p>
            <a:pPr lvl="0" indent="0" marL="1270000">
              <a:buNone/>
            </a:pPr>
            <a:r>
              <a:rPr sz="2000">
                <a:latin typeface="Courier"/>
              </a:rPr>
              <a:t>fct_relevel(x, "control")</a:t>
            </a:r>
            <a:r>
              <a:rPr sz="2000"/>
              <a:t>, in the line that makes the factor. The fit never changes; the readability always does.</a:t>
            </a:r>
          </a:p>
          <a:p>
            <a:pPr lvl="0" indent="0" marL="1270000">
              <a:buNone/>
            </a:pPr>
            <a:r>
              <a:rPr sz="2000" b="1"/>
              <a:t>Note</a:t>
            </a:r>
          </a:p>
          <a:p>
            <a:pPr lvl="0" indent="0" marL="1270000">
              <a:buNone/>
            </a:pPr>
            <a:r>
              <a:rPr sz="2000" b="1"/>
              <a:t>Up next — Two-Way ANOVA</a:t>
            </a:r>
          </a:p>
          <a:p>
            <a:pPr lvl="0" indent="0" marL="1270000">
              <a:buNone/>
            </a:pPr>
            <a:r>
              <a:rPr sz="2000"/>
              <a:t>Two factors at once, and the thing that only exists when you have two: the </a:t>
            </a:r>
            <a:r>
              <a:rPr sz="2000" b="1"/>
              <a:t>interaction</a:t>
            </a:r>
            <a:r>
              <a:rPr sz="2000"/>
              <a:t>.</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Readings</a:t>
            </a:r>
          </a:p>
        </p:txBody>
      </p:sp>
      <p:sp>
        <p:nvSpPr>
          <p:cNvPr id="3" name="Content Placeholder 2"/>
          <p:cNvSpPr>
            <a:spLocks noGrp="1"/>
          </p:cNvSpPr>
          <p:nvPr>
            <p:ph idx="1"/>
          </p:nvPr>
        </p:nvSpPr>
        <p:spPr/>
        <p:txBody>
          <a:bodyPr/>
          <a:lstStyle/>
          <a:p>
            <a:pPr lvl="0"/>
            <a:r>
              <a:rPr b="1"/>
              <a:t>Whitlock &amp; Schluter</a:t>
            </a:r>
            <a:r>
              <a:rPr/>
              <a:t>, Ch. 15 — Comparing Means of More Than Two Groups (§15.4 assumptions and transformations; §15.5 planned and unplanned comparisons; §15.6 the Kruskal-Wallis test).</a:t>
            </a:r>
          </a:p>
          <a:p>
            <a:pPr lvl="0"/>
            <a:r>
              <a:rPr b="1"/>
              <a:t>Gotelli &amp; Ellison</a:t>
            </a:r>
            <a:r>
              <a:rPr/>
              <a:t>, Ch. 10 — The Analysis of Variance.</a:t>
            </a:r>
          </a:p>
          <a:p>
            <a:pPr lvl="0"/>
            <a:r>
              <a:rPr/>
              <a:t>Darnell, M. Z., &amp; Munguia, P. (2011). Thermoregulation as an alternate function of the sexually dimorphic fiddler crab claw. </a:t>
            </a:r>
            <a:r>
              <a:rPr i="1"/>
              <a:t>The American Naturalist</a:t>
            </a:r>
            <a:r>
              <a:rPr/>
              <a:t>, 178(3), 419–428.</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Analysis of Variance (ANOVA)</dc:title>
  <dc:creator>Bill Perry</dc:creator>
  <cp:keywords/>
  <dc:description>One-way ANOVA as regression with a categorical predictor: partitioning sums of squares, the F-ratio, assumptions and diagnostics, setting the reference level with fct_relevel(), post-hoc testing with TukeyHSD() and emmeans, reporting, and the non-parametric route when assumptions genuinely fail. Uses the fiddler crab claw-radiator experiment and a nematode lifespan dataset.</dc:description>
  <dcterms:created xsi:type="dcterms:W3CDTF">2026-10-26T21:05:32Z</dcterms:created>
  <dcterms:modified xsi:type="dcterms:W3CDTF">2026-10-26T21:05:32Z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knitr">
    <vt:lpwstr/>
  </property>
  <property fmtid="{D5CDD505-2E9C-101B-9397-08002B2CF9AE}" pid="12" name="labels">
    <vt:lpwstr/>
  </property>
  <property fmtid="{D5CDD505-2E9C-101B-9397-08002B2CF9AE}" pid="13" name="order">
    <vt:lpwstr>12</vt:lpwstr>
  </property>
  <property fmtid="{D5CDD505-2E9C-101B-9397-08002B2CF9AE}" pid="14" name="resources">
    <vt:lpwstr/>
  </property>
  <property fmtid="{D5CDD505-2E9C-101B-9397-08002B2CF9AE}" pid="15" name="subtitle">
    <vt:lpwstr>Single-factor ANOVA</vt:lpwstr>
  </property>
  <property fmtid="{D5CDD505-2E9C-101B-9397-08002B2CF9AE}" pid="16" name="toc-title">
    <vt:lpwstr>Table of contents</vt:lpwstr>
  </property>
  <property fmtid="{D5CDD505-2E9C-101B-9397-08002B2CF9AE}" pid="17" name="week">
    <vt:lpwstr>8</vt:lpwstr>
  </property>
</Properties>
</file>