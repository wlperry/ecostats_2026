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8" Type="http://schemas.openxmlformats.org/officeDocument/2006/relationships/viewProps" Target="viewProps.xml" /><Relationship Id="rId57" Type="http://schemas.openxmlformats.org/officeDocument/2006/relationships/presProps" Target="presProps.xml" /><Relationship Id="rId1" Type="http://schemas.openxmlformats.org/officeDocument/2006/relationships/slideMaster" Target="slideMasters/slideMaster1.xml" /><Relationship Id="rId60" Type="http://schemas.openxmlformats.org/officeDocument/2006/relationships/tableStyles" Target="tableStyles.xml" /><Relationship Id="rId5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Assumptions and diagnostics</a:t>
            </a:r>
          </a:p>
          <a:p>
            <a:pPr lvl="0"/>
            <a:r>
              <a:rPr/>
              <a:t>Setting the reference level on purpose</a:t>
            </a:r>
          </a:p>
          <a:p>
            <a:pPr lvl="0"/>
            <a:r>
              <a:rPr/>
              <a:t>Post-hoc tests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Study · Does a Big Claw Act as a Radiator?</a:t>
            </a:r>
          </a:p>
        </p:txBody>
      </p:sp>
      <p:sp>
        <p:nvSpPr>
          <p:cNvPr id="3" name="Content Placeholder 2"/>
          <p:cNvSpPr>
            <a:spLocks noGrp="1"/>
          </p:cNvSpPr>
          <p:nvPr>
            <p:ph idx="1" sz="half"/>
          </p:nvPr>
        </p:nvSpPr>
        <p:spPr/>
        <p:txBody>
          <a:bodyPr/>
          <a:lstStyle/>
          <a:p>
            <a:pPr lvl="0" indent="0" marL="0">
              <a:buNone/>
            </a:pPr>
            <a:r>
              <a:rPr/>
              <a:t>A male fiddler crab has one hugely enlarged claw. Darnell &amp; Munguia asked whether it doubles as a </a:t>
            </a:r>
            <a:r>
              <a:rPr b="1"/>
              <a:t>heat radiator</a:t>
            </a:r>
            <a:r>
              <a:rPr/>
              <a:t>, dumping heat so the crab can stay out foraging in the sun.</a:t>
            </a:r>
          </a:p>
          <a:p>
            <a:pPr lvl="0" indent="0" marL="0">
              <a:buNone/>
            </a:pPr>
            <a:r>
              <a:rPr/>
              <a:t>Four groups of </a:t>
            </a:r>
            <a:r>
              <a:rPr b="1"/>
              <a:t>21 crabs each</a:t>
            </a:r>
            <a:r>
              <a:rPr/>
              <a:t>, body temperature above ambient measured in the field:</a:t>
            </a:r>
          </a:p>
          <a:p>
            <a:pPr lvl="0"/>
            <a:r>
              <a:rPr>
                <a:latin typeface="Courier"/>
              </a:rPr>
              <a:t>intact male</a:t>
            </a:r>
            <a:r>
              <a:rPr/>
              <a:t> — the control</a:t>
            </a:r>
          </a:p>
          <a:p>
            <a:pPr lvl="0"/>
            <a:r>
              <a:rPr>
                <a:latin typeface="Courier"/>
              </a:rPr>
              <a:t>male major removed</a:t>
            </a:r>
            <a:r>
              <a:rPr/>
              <a:t> — the big claw taken off</a:t>
            </a:r>
          </a:p>
          <a:p>
            <a:pPr lvl="0"/>
            <a:r>
              <a:rPr>
                <a:latin typeface="Courier"/>
              </a:rPr>
              <a:t>male minor removed</a:t>
            </a:r>
            <a:r>
              <a:rPr/>
              <a:t> — a small claw taken off, the </a:t>
            </a:r>
            <a:r>
              <a:rPr b="1"/>
              <a:t>procedural control</a:t>
            </a:r>
          </a:p>
          <a:p>
            <a:pPr lvl="0"/>
            <a:r>
              <a:rPr>
                <a:latin typeface="Courier"/>
              </a:rPr>
              <a:t>female</a:t>
            </a:r>
            <a:r>
              <a:rPr/>
              <a:t> — never had a major claw at all</a:t>
            </a:r>
          </a:p>
          <a:p>
            <a:pPr lvl="0" indent="0" marL="0">
              <a:buNone/>
            </a:pPr>
            <a:r>
              <a:rPr/>
              <a:t>If the big claw sheds heat, removing it should make males </a:t>
            </a:r>
            <a:r>
              <a:rPr b="1"/>
              <a:t>hotter</a:t>
            </a:r>
            <a:r>
              <a:rPr/>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a:t>The only difference is that </a:t>
            </a:r>
            <a:r>
              <a:rPr sz="2000">
                <a:latin typeface="Courier"/>
              </a:rPr>
              <a:t>crab_type</a:t>
            </a:r>
            <a:r>
              <a:rPr sz="2000"/>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Actually Fits</a:t>
            </a:r>
          </a:p>
        </p:txBody>
      </p:sp>
      <p:sp>
        <p:nvSpPr>
          <p:cNvPr id="3" name="Content Placeholder 2"/>
          <p:cNvSpPr>
            <a:spLocks noGrp="1"/>
          </p:cNvSpPr>
          <p:nvPr>
            <p:ph idx="1" sz="half"/>
          </p:nvPr>
        </p:nvSpPr>
        <p:spPr/>
        <p:txBody>
          <a:bodyPr/>
          <a:lstStyle/>
          <a:p>
            <a:pPr lvl="0" indent="0" marL="0">
              <a:buNone/>
            </a:pPr>
            <a:r>
              <a:rPr>
                <a:latin typeface="Courier"/>
              </a:rPr>
              <a:t>lm()</a:t>
            </a:r>
            <a:r>
              <a:rPr/>
              <a:t> cannot multiply by the word “female.” Behind the formula it builds a </a:t>
            </a:r>
            <a:r>
              <a:rPr b="1"/>
              <a:t>dummy variable</a:t>
            </a:r>
            <a:r>
              <a:rPr/>
              <a:t> for every level except the first — a column of 0s and 1s saying “is this crab in that group?”</a:t>
            </a:r>
          </a:p>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model.matrix</a:t>
            </a:r>
            <a:r>
              <a:rPr>
                <a:solidFill>
                  <a:srgbClr val="003B4F"/>
                </a:solidFill>
                <a:latin typeface="Courier"/>
              </a:rPr>
              <a:t>(crab_model)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(Intercept) crab_typeintact male crab_typemale major removed
1           1                    0                           0
2           1                    0                           0
3           1                    0                           0
  crab_typemale minor removed
1                           0
2                           0
3                           0</a:t>
            </a:r>
          </a:p>
          <a:p>
            <a:pPr lvl="0" indent="0" marL="0">
              <a:buNone/>
            </a:pPr>
            <a:r>
              <a:rPr/>
              <a:t>Four groups, </a:t>
            </a:r>
            <a:r>
              <a:rPr b="1"/>
              <a:t>three</a:t>
            </a:r>
            <a:r>
              <a:rPr/>
              <a:t> dummy columns. The level with no column of its own is the </a:t>
            </a:r>
            <a:r>
              <a:rPr b="1"/>
              <a:t>reference</a:t>
            </a:r>
            <a:r>
              <a:rPr/>
              <a:t>, and it is carried by the intercept.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This is the whole trick</a:t>
            </a:r>
          </a:p>
          <a:p>
            <a:pPr lvl="0" indent="0" marL="1270000">
              <a:buNone/>
            </a:pPr>
            <a:r>
              <a:rPr sz="2000"/>
              <a:t>A one-way ANOVA </a:t>
            </a:r>
            <a:r>
              <a:rPr sz="2000" i="1"/>
              <a:t>is</a:t>
            </a:r>
            <a:r>
              <a:rPr sz="2000"/>
              <a:t> a multiple regression whose predictors happen to be 0/1 columns. You met those columns last week under the name </a:t>
            </a:r>
            <a:r>
              <a:rPr sz="2000" b="1"/>
              <a:t>dummy variables</a:t>
            </a:r>
            <a:r>
              <a:rPr sz="2000"/>
              <a:t>.</a:t>
            </a:r>
          </a:p>
          <a:p>
            <a:pPr lvl="0" indent="0" marL="1270000">
              <a:buNone/>
            </a:pPr>
            <a:r>
              <a:rPr sz="2000">
                <a:latin typeface="Courier"/>
              </a:rPr>
              <a:t>aov()</a:t>
            </a:r>
            <a:r>
              <a:rPr sz="2000"/>
              <a:t> and </a:t>
            </a:r>
            <a:r>
              <a:rPr sz="2000">
                <a:latin typeface="Courier"/>
              </a:rPr>
              <a:t>lm()</a:t>
            </a:r>
            <a:r>
              <a:rPr sz="2000"/>
              <a:t> fit the identical model — </a:t>
            </a:r>
            <a:r>
              <a:rPr sz="2000">
                <a:latin typeface="Courier"/>
              </a:rPr>
              <a:t>aov()</a:t>
            </a:r>
            <a:r>
              <a:rPr sz="2000"/>
              <a:t> just prints it as an ANOVA table by default.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Coefficients Are the Group Means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coefs &lt;- </a:t>
            </a:r>
            <a:r>
              <a:rPr>
                <a:solidFill>
                  <a:srgbClr val="4758AB"/>
                </a:solidFill>
                <a:latin typeface="Courier"/>
              </a:rPr>
              <a:t>coef</a:t>
            </a:r>
            <a:r>
              <a:rPr>
                <a:solidFill>
                  <a:srgbClr val="003B4F"/>
                </a:solidFill>
                <a:latin typeface="Courier"/>
              </a:rPr>
              <a:t>(crab_model)</a:t>
            </a:r>
            <a:br/>
            <a:br/>
            <a:r>
              <a:rPr>
                <a:solidFill>
                  <a:srgbClr val="003B4F"/>
                </a:solidFill>
                <a:latin typeface="Courier"/>
              </a:rPr>
              <a:t>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from_coefficients =</a:t>
            </a:r>
            <a:r>
              <a:rPr>
                <a:solidFill>
                  <a:srgbClr val="003B4F"/>
                </a:solidFill>
                <a:latin typeface="Courier"/>
              </a:rPr>
              <a:t> </a:t>
            </a:r>
            <a:r>
              <a:rPr>
                <a:solidFill>
                  <a:srgbClr val="4758AB"/>
                </a:solidFill>
                <a:latin typeface="Courier"/>
              </a:rPr>
              <a:t>c</a:t>
            </a:r>
            <a:r>
              <a:rPr>
                <a:solidFill>
                  <a:srgbClr val="003B4F"/>
                </a:solidFill>
                <a:latin typeface="Courier"/>
              </a:rPr>
              <a:t>(coefs[</a:t>
            </a:r>
            <a:r>
              <a:rPr>
                <a:solidFill>
                  <a:srgbClr val="AD0000"/>
                </a:solidFill>
                <a:latin typeface="Courier"/>
              </a:rPr>
              <a:t>1</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2</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3</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4</a:t>
            </a:r>
            <a:r>
              <a:rPr>
                <a:solidFill>
                  <a:srgbClr val="003B4F"/>
                </a:solidFill>
                <a:latin typeface="Courier"/>
              </a:rPr>
              <a:t>]))</a:t>
            </a:r>
          </a:p>
          <a:p>
            <a:pPr lvl="0" indent="0">
              <a:buNone/>
            </a:pPr>
            <a:r>
              <a:rPr>
                <a:latin typeface="Courier"/>
              </a:rPr>
              <a:t># A tibble: 4 × 3
  crab_type          group_mean from_coefficients
  &lt;fct&gt;                   &lt;dbl&gt;             &lt;dbl&gt;
1 female                   1.68              1.68
2 intact male              1.29              1.29
3 male major removed       1.41              1.41
4 male minor removed       1.21              1.21</a:t>
            </a:r>
          </a:p>
        </p:txBody>
      </p:sp>
      <p:sp>
        <p:nvSpPr>
          <p:cNvPr id="4" name="Content Placeholder 3"/>
          <p:cNvSpPr>
            <a:spLocks noGrp="1"/>
          </p:cNvSpPr>
          <p:nvPr>
            <p:ph idx="2" sz="half"/>
          </p:nvPr>
        </p:nvSpPr>
        <p:spPr/>
        <p:txBody>
          <a:bodyPr/>
          <a:lstStyle/>
          <a:p>
            <a:pPr lvl="0" indent="0" marL="0">
              <a:buNone/>
            </a:pPr>
            <a:r>
              <a:rPr/>
              <a:t>The intercept </a:t>
            </a:r>
            <a:r>
              <a:rPr b="1"/>
              <a:t>is</a:t>
            </a:r>
            <a:r>
              <a:rPr/>
              <a:t> the mean of the reference group. Every other coefficient is that group’s </a:t>
            </a:r>
            <a:r>
              <a:rPr b="1"/>
              <a:t>difference from it</a:t>
            </a:r>
            <a:r>
              <a:rPr/>
              <a:t>, so adding them back recovers each group mean exactly.</a:t>
            </a:r>
          </a:p>
          <a:p>
            <a:pPr lvl="0" indent="0" marL="1270000">
              <a:buNone/>
            </a:pPr>
            <a:r>
              <a:rPr sz="2000" b="1"/>
              <a:t>Important</a:t>
            </a:r>
          </a:p>
          <a:p>
            <a:pPr lvl="0" indent="0" marL="1270000">
              <a:buNone/>
            </a:pPr>
            <a:r>
              <a:rPr sz="2000" b="1"/>
              <a:t>✅ Why this matters in a moment</a:t>
            </a:r>
          </a:p>
          <a:p>
            <a:pPr lvl="0" indent="0" marL="1270000">
              <a:buNone/>
            </a:pPr>
            <a:r>
              <a:rPr sz="2000"/>
              <a:t>If the coefficients are “differences from the reference,” then </a:t>
            </a:r>
            <a:r>
              <a:rPr sz="2000" b="1"/>
              <a:t>which level is the reference decides what every coefficient means</a:t>
            </a:r>
            <a:r>
              <a:rPr sz="2000"/>
              <a:t>.</a:t>
            </a:r>
          </a:p>
          <a:p>
            <a:pPr lvl="0" indent="0" marL="1270000">
              <a:buNone/>
            </a:pPr>
            <a:r>
              <a:rPr sz="2000"/>
              <a:t>R chose it alphabetically. Part 7 is about taking that choice back.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0" marL="0">
              <a:buNone/>
            </a:pPr>
            <a:r>
              <a:rPr b="1"/>
              <a:t>(a)</a:t>
            </a:r>
            <a:r>
              <a:rPr/>
              <a:t> All four crab types have different mean temperatures</a:t>
            </a:r>
          </a:p>
          <a:p>
            <a:pPr lvl="0" indent="0" marL="0">
              <a:buNone/>
            </a:pPr>
            <a:r>
              <a:rPr b="1"/>
              <a:t>(b)</a:t>
            </a:r>
            <a:r>
              <a:rPr/>
              <a:t> At least one crab type differs from at least one other</a:t>
            </a:r>
          </a:p>
          <a:p>
            <a:pPr lvl="0" indent="0" marL="0">
              <a:buNone/>
            </a:pPr>
            <a:r>
              <a:rPr b="1"/>
              <a:t>(c)</a:t>
            </a:r>
            <a:r>
              <a:rPr/>
              <a:t> Removing the major claw raises body temperature</a:t>
            </a:r>
          </a:p>
          <a:p>
            <a:pPr lvl="0" indent="0" marL="0">
              <a:buNone/>
            </a:pPr>
            <a:r>
              <a:rPr b="1"/>
              <a:t>(d)</a:t>
            </a:r>
            <a:r>
              <a:rPr/>
              <a:t> 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was the null hypothesis, exactly?</a:t>
            </a:r>
          </a:p>
          <a:p>
            <a:pPr lvl="0" indent="0" marL="1270000">
              <a:buNone/>
            </a:pPr>
            <a:r>
              <a:rPr sz="2000"/>
              <a:t>A test can only tell you about the hypothesis it tested.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Use Levene.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0" marL="0">
              <a:buNone/>
            </a:pPr>
            <a:r>
              <a:rPr b="1"/>
              <a:t>(a)</a:t>
            </a:r>
            <a:r>
              <a:rPr/>
              <a:t> </a:t>
            </a:r>
            <a:r>
              <a:rPr>
                <a:latin typeface="Courier"/>
              </a:rPr>
              <a:t>female</a:t>
            </a:r>
            <a:r>
              <a:rPr/>
              <a:t> — keep R’s default; the model fit is identical anyway</a:t>
            </a:r>
          </a:p>
          <a:p>
            <a:pPr lvl="0" indent="0" marL="0">
              <a:buNone/>
            </a:pPr>
            <a:r>
              <a:rPr b="1"/>
              <a:t>(b)</a:t>
            </a:r>
            <a:r>
              <a:rPr/>
              <a:t> </a:t>
            </a:r>
            <a:r>
              <a:rPr>
                <a:latin typeface="Courier"/>
              </a:rPr>
              <a:t>intact male</a:t>
            </a:r>
            <a:r>
              <a:rPr/>
              <a:t> — the untouched version of the animals that were manipulated</a:t>
            </a:r>
          </a:p>
          <a:p>
            <a:pPr lvl="0" indent="0" marL="0">
              <a:buNone/>
            </a:pPr>
            <a:r>
              <a:rPr b="1"/>
              <a:t>(c)</a:t>
            </a:r>
            <a:r>
              <a:rPr/>
              <a:t> </a:t>
            </a:r>
            <a:r>
              <a:rPr>
                <a:latin typeface="Courier"/>
              </a:rPr>
              <a:t>male minor removed</a:t>
            </a:r>
            <a:r>
              <a:rPr/>
              <a:t> — it is the procedural control, so it accounts for the surgery</a:t>
            </a:r>
          </a:p>
          <a:p>
            <a:pPr lvl="0" indent="0" marL="0">
              <a:buNone/>
            </a:pPr>
            <a:r>
              <a:rPr b="1"/>
              <a:t>(d)</a:t>
            </a:r>
            <a:r>
              <a:rPr/>
              <a:t> 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indent="0" marL="0">
              <a:buNone/>
            </a:pPr>
            <a:r>
              <a:rPr>
                <a:latin typeface="Courier"/>
              </a:rPr>
              <a:t>emmeans</a:t>
            </a:r>
            <a:r>
              <a:rPr/>
              <a:t> gives the same comparisons with more control — any contrast you like, any adjustment method:</a:t>
            </a:r>
          </a:p>
          <a:p>
            <a:pPr lvl="0" indent="0">
              <a:buNone/>
            </a:pPr>
            <a:r>
              <a:rPr>
                <a:solidFill>
                  <a:srgbClr val="4758AB"/>
                </a:solidFill>
                <a:latin typeface="Courier"/>
              </a:rPr>
              <a:t>emmeans</a:t>
            </a:r>
            <a:r>
              <a:rPr>
                <a:solidFill>
                  <a:srgbClr val="003B4F"/>
                </a:solidFill>
                <a:latin typeface="Courier"/>
              </a:rPr>
              <a:t>(crab_model, pairwise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r>
              <a:rPr>
                <a:solidFill>
                  <a:srgbClr val="5E5E5E"/>
                </a:solidFill>
                <a:latin typeface="Courier"/>
              </a:rPr>
              <a:t>$</a:t>
            </a:r>
            <a:r>
              <a:rPr>
                <a:solidFill>
                  <a:srgbClr val="003B4F"/>
                </a:solidFill>
                <a:latin typeface="Courier"/>
              </a:rPr>
              <a:t>contrasts</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just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a:t>
            </a:r>
            <a:r>
              <a:rPr sz="2000" baseline="-25000"/>
              <a:t>3,80</a:t>
            </a:r>
            <a:r>
              <a:rPr sz="2000"/>
              <a:t>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a:t>
            </a:r>
            <a:r>
              <a:rPr sz="2000" baseline="-25000"/>
              <a:t>3</a:t>
            </a:r>
            <a:r>
              <a:rPr sz="2000"/>
              <a:t>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column a </a:t>
            </a:r>
            <a:r>
              <a:rPr b="1"/>
              <a:t>factor</a:t>
            </a:r>
            <a:r>
              <a:rPr/>
              <a:t>? Did you pass </a:t>
            </a:r>
            <a:r>
              <a:rPr>
                <a:latin typeface="Courier"/>
              </a:rPr>
              <a:t>residuals(model)</a:t>
            </a:r>
            <a:r>
              <a:rPr/>
              <a:t> to </a:t>
            </a:r>
            <a:r>
              <a:rPr>
                <a:latin typeface="Courier"/>
              </a:rPr>
              <a:t>shapiro.test()</a:t>
            </a:r>
            <a:r>
              <a:rPr/>
              <a:t> rather than the raw response?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reporting, and the non-parametric route when assumptions genuinely fail. Uses the fiddler crab claw-radiator experiment and a nematode lifespan dataset.</dc:description>
  <dcterms:created xsi:type="dcterms:W3CDTF">2026-10-09T19:47:20Z</dcterms:created>
  <dcterms:modified xsi:type="dcterms:W3CDTF">2026-10-09T19:47:20Z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