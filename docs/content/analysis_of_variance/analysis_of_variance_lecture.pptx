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hyperlink" Target="data/fiddler_crabs.csv" TargetMode="External" /><Relationship Id="rId3" Type="http://schemas.openxmlformats.org/officeDocument/2006/relationships/hyperlink" Target="data/nematode_lifespan.csv"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Partial slopes, and why they are conditional</a:t>
            </a:r>
          </a:p>
          <a:p>
            <a:pPr lvl="0"/>
            <a:r>
              <a:rPr/>
              <a:t>Collinearity, and saying “these data cannot separate them”</a:t>
            </a:r>
          </a:p>
          <a:p>
            <a:pPr lvl="0"/>
            <a:r>
              <a:rPr/>
              <a:t>Interactions</a:t>
            </a:r>
          </a:p>
          <a:p>
            <a:pPr lvl="0"/>
            <a:r>
              <a:rPr b="1"/>
              <a:t>Factors, dummy variables, and </a:t>
            </a:r>
            <a:r>
              <a:rPr b="1">
                <a:latin typeface="Courier"/>
              </a:rPr>
              <a:t>fct_relevel()</a:t>
            </a:r>
          </a:p>
          <a:p>
            <a:pPr lvl="0"/>
            <a:r>
              <a:rPr/>
              <a:t>Model comparison with adjusted R² and AIC</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and you already turned a categorical predictor into dummy variables.</a:t>
            </a:r>
          </a:p>
          <a:p>
            <a:pPr lvl="0" indent="0" marL="1270000">
              <a:buNone/>
            </a:pPr>
            <a:r>
              <a:rPr sz="2000"/>
              <a:t>Today every predictor is categorical. </a:t>
            </a:r>
            <a:r>
              <a:rPr sz="2000" b="1"/>
              <a:t>The machinery does not change at all</a:t>
            </a:r>
            <a:r>
              <a:rPr sz="2000"/>
              <a:t> — only the name on the front does.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a:t>One-way ANOVA, end to end:</a:t>
            </a:r>
          </a:p>
          <a:p>
            <a:pPr lvl="0"/>
            <a:r>
              <a:rPr/>
              <a:t>Why ANOVA </a:t>
            </a:r>
            <a:r>
              <a:rPr i="1"/>
              <a:t>is</a:t>
            </a:r>
            <a:r>
              <a:rPr/>
              <a:t> regression with a categorical predictor</a:t>
            </a:r>
          </a:p>
          <a:p>
            <a:pPr lvl="0"/>
            <a:r>
              <a:rPr/>
              <a:t>Partitioning variance, and the F-ratio</a:t>
            </a:r>
          </a:p>
          <a:p>
            <a:pPr lvl="0"/>
            <a:r>
              <a:rPr/>
              <a:t>Assumptions and diagnostics</a:t>
            </a:r>
          </a:p>
          <a:p>
            <a:pPr lvl="0"/>
            <a:r>
              <a:rPr/>
              <a:t>Setting the reference level on purpose</a:t>
            </a:r>
          </a:p>
          <a:p>
            <a:pPr lvl="0"/>
            <a:r>
              <a:rPr/>
              <a:t>Post-hoc tests — which pairs actually differ</a:t>
            </a:r>
          </a:p>
          <a:p>
            <a:pPr lvl="0"/>
            <a:r>
              <a:rPr/>
              <a:t>Reporting results</a:t>
            </a:r>
          </a:p>
          <a:p>
            <a:pPr lvl="0"/>
            <a:r>
              <a:rPr/>
              <a:t>What to do when the assumptions genuinely fail</a:t>
            </a:r>
          </a:p>
          <a:p>
            <a:pPr lvl="0" indent="0" marL="0">
              <a:buNone/>
            </a:pPr>
            <a:r>
              <a:rPr>
                <a:hlinkClick r:id="rId2"/>
              </a:rPr>
              <a:t>📥 Crab data</a:t>
            </a:r>
            <a:r>
              <a:rPr/>
              <a:t> </a:t>
            </a:r>
            <a:r>
              <a:rPr>
                <a:hlinkClick r:id="rId3"/>
              </a:rPr>
              <a:t>📥 Nematode data</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Reading</a:t>
            </a:r>
          </a:p>
          <a:p>
            <a:pPr lvl="0" indent="0" marL="1270000">
              <a:buNone/>
            </a:pPr>
            <a:r>
              <a:rPr sz="2000"/>
              <a:t>Whitlock &amp; Schluter, Ch. 15 — Comparing Means of More Than Two Groups.</a:t>
            </a:r>
          </a:p>
          <a:p>
            <a:pPr lvl="0" indent="0" marL="1270000">
              <a:buNone/>
            </a:pPr>
            <a:r>
              <a:rPr sz="2000"/>
              <a:t>Gotelli &amp; Ellison, Ch. 10 — The Analysis of Variance.</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b="1"/>
                        <a:t>ANOVA</a:t>
                      </a:r>
                    </a:p>
                  </a:txBody>
                </a:tc>
              </a:tr>
              <a:tr h="0">
                <a:tc>
                  <a:txBody>
                    <a:bodyPr/>
                    <a:lstStyle/>
                    <a:p>
                      <a:pPr lvl="0" indent="0" marL="0" algn="l">
                        <a:buNone/>
                      </a:pPr>
                      <a:r>
                        <a:rPr b="1"/>
                        <a:t>Categorical Y</a:t>
                      </a:r>
                    </a:p>
                  </a:txBody>
                </a:tc>
                <a:tc>
                  <a:txBody>
                    <a:bodyPr/>
                    <a:lstStyle/>
                    <a:p>
                      <a:pPr lvl="0" indent="0" marL="0" algn="l">
                        <a:buNone/>
                      </a:pPr>
                      <a:r>
                        <a:rPr/>
                        <a:t>Logistic</a:t>
                      </a:r>
                    </a:p>
                  </a:txBody>
                </a:tc>
                <a:tc>
                  <a:txBody>
                    <a:bodyPr/>
                    <a:lstStyle/>
                    <a:p>
                      <a:pPr lvl="0" indent="0" marL="0" algn="l">
                        <a:buNone/>
                      </a:pPr>
                      <a:r>
                        <a:rPr/>
                        <a:t>Contingency</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Study · Does a Big Claw Act as a Radiator?</a:t>
            </a:r>
          </a:p>
        </p:txBody>
      </p:sp>
      <p:sp>
        <p:nvSpPr>
          <p:cNvPr id="3" name="Content Placeholder 2"/>
          <p:cNvSpPr>
            <a:spLocks noGrp="1"/>
          </p:cNvSpPr>
          <p:nvPr>
            <p:ph idx="1" sz="half"/>
          </p:nvPr>
        </p:nvSpPr>
        <p:spPr/>
        <p:txBody>
          <a:bodyPr/>
          <a:lstStyle/>
          <a:p>
            <a:pPr lvl="0" indent="0" marL="0">
              <a:buNone/>
            </a:pPr>
            <a:r>
              <a:rPr/>
              <a:t>A male fiddler crab has one hugely enlarged claw. Darnell &amp; Munguia asked whether it doubles as a </a:t>
            </a:r>
            <a:r>
              <a:rPr b="1"/>
              <a:t>heat radiator</a:t>
            </a:r>
            <a:r>
              <a:rPr/>
              <a:t>, dumping heat so the crab can stay out foraging in the sun.</a:t>
            </a:r>
          </a:p>
          <a:p>
            <a:pPr lvl="0" indent="0" marL="0">
              <a:buNone/>
            </a:pPr>
            <a:r>
              <a:rPr/>
              <a:t>Four groups of </a:t>
            </a:r>
            <a:r>
              <a:rPr b="1"/>
              <a:t>21 crabs each</a:t>
            </a:r>
            <a:r>
              <a:rPr/>
              <a:t>, body temperature above ambient measured in the field:</a:t>
            </a:r>
          </a:p>
          <a:p>
            <a:pPr lvl="0"/>
            <a:r>
              <a:rPr>
                <a:latin typeface="Courier"/>
              </a:rPr>
              <a:t>intact male</a:t>
            </a:r>
            <a:r>
              <a:rPr/>
              <a:t> — the control</a:t>
            </a:r>
          </a:p>
          <a:p>
            <a:pPr lvl="0"/>
            <a:r>
              <a:rPr>
                <a:latin typeface="Courier"/>
              </a:rPr>
              <a:t>male major removed</a:t>
            </a:r>
            <a:r>
              <a:rPr/>
              <a:t> — the big claw taken off</a:t>
            </a:r>
          </a:p>
          <a:p>
            <a:pPr lvl="0"/>
            <a:r>
              <a:rPr>
                <a:latin typeface="Courier"/>
              </a:rPr>
              <a:t>male minor removed</a:t>
            </a:r>
            <a:r>
              <a:rPr/>
              <a:t> — a small claw taken off, the </a:t>
            </a:r>
            <a:r>
              <a:rPr b="1"/>
              <a:t>procedural control</a:t>
            </a:r>
          </a:p>
          <a:p>
            <a:pPr lvl="0"/>
            <a:r>
              <a:rPr>
                <a:latin typeface="Courier"/>
              </a:rPr>
              <a:t>female</a:t>
            </a:r>
            <a:r>
              <a:rPr/>
              <a:t> — never had a major claw at all</a:t>
            </a:r>
          </a:p>
          <a:p>
            <a:pPr lvl="0" indent="0" marL="0">
              <a:buNone/>
            </a:pPr>
            <a:r>
              <a:rPr/>
              <a:t>If the big claw sheds heat, removing it should make males </a:t>
            </a:r>
            <a:r>
              <a:rPr b="1"/>
              <a:t>hotter</a:t>
            </a:r>
            <a:r>
              <a:rPr/>
              <a:t>.</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crab_df &lt;- </a:t>
            </a:r>
            <a:r>
              <a:rPr>
                <a:solidFill>
                  <a:srgbClr val="4758AB"/>
                </a:solidFill>
                <a:latin typeface="Courier"/>
              </a:rPr>
              <a:t>read_csv</a:t>
            </a:r>
            <a:r>
              <a:rPr>
                <a:solidFill>
                  <a:srgbClr val="003B4F"/>
                </a:solidFill>
                <a:latin typeface="Courier"/>
              </a:rPr>
              <a:t>(</a:t>
            </a:r>
            <a:r>
              <a:rPr>
                <a:solidFill>
                  <a:srgbClr val="20794D"/>
                </a:solidFill>
                <a:latin typeface="Courier"/>
              </a:rPr>
              <a:t>"data/fiddler_crabs.csv"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crab_type =</a:t>
            </a:r>
            <a:r>
              <a:rPr>
                <a:solidFill>
                  <a:srgbClr val="003B4F"/>
                </a:solidFill>
                <a:latin typeface="Courier"/>
              </a:rPr>
              <a:t> </a:t>
            </a:r>
            <a:r>
              <a:rPr>
                <a:solidFill>
                  <a:srgbClr val="4758AB"/>
                </a:solidFill>
                <a:latin typeface="Courier"/>
              </a:rPr>
              <a:t>factor</a:t>
            </a:r>
            <a:r>
              <a:rPr>
                <a:solidFill>
                  <a:srgbClr val="003B4F"/>
                </a:solidFill>
                <a:latin typeface="Courier"/>
              </a:rPr>
              <a:t>(crab_type))</a:t>
            </a:r>
            <a:br/>
            <a:br/>
            <a:r>
              <a:rPr>
                <a:solidFill>
                  <a:srgbClr val="4758AB"/>
                </a:solidFill>
                <a:latin typeface="Courier"/>
              </a:rPr>
              <a:t>count</a:t>
            </a:r>
            <a:r>
              <a:rPr>
                <a:solidFill>
                  <a:srgbClr val="003B4F"/>
                </a:solidFill>
                <a:latin typeface="Courier"/>
              </a:rPr>
              <a:t>(crab_df, crab_type)</a:t>
            </a:r>
          </a:p>
          <a:p>
            <a:pPr lvl="0" indent="0">
              <a:buNone/>
            </a:pPr>
            <a:r>
              <a:rPr>
                <a:latin typeface="Courier"/>
              </a:rPr>
              <a:t># A tibble: 4 × 2
  crab_type              n
  &lt;fct&gt;              &lt;int&gt;
1 female                21
2 intact male           21
3 male major removed    21
4 male minor removed    21</a:t>
            </a:r>
          </a:p>
          <a:p>
            <a:pPr lvl="0" indent="0" marL="1270000">
              <a:buNone/>
            </a:pPr>
            <a:r>
              <a:rPr sz="2000" b="1"/>
              <a:t>Note</a:t>
            </a:r>
          </a:p>
          <a:p>
            <a:pPr lvl="0" indent="0" marL="1270000">
              <a:buNone/>
            </a:pPr>
            <a:r>
              <a:rPr sz="2000" b="1"/>
              <a:t>A balanced design</a:t>
            </a:r>
          </a:p>
          <a:p>
            <a:pPr lvl="0" indent="0" marL="1270000">
              <a:buNone/>
            </a:pPr>
            <a:r>
              <a:rPr sz="2000"/>
              <a:t>Equal n in every group — which makes the degrees-of-freedom arithmetic below clean, and the test robust.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How Today Works</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 Six times today, you make the call</a:t>
            </a:r>
          </a:p>
          <a:p>
            <a:pPr lvl="0" indent="0" marL="1270000">
              <a:buNone/>
            </a:pPr>
            <a:r>
              <a:rPr sz="2000"/>
              <a:t>Six slides are marked </a:t>
            </a:r>
            <a:r>
              <a:rPr sz="2000" b="1"/>
              <a:t>🗳️ DECIDE</a:t>
            </a:r>
            <a:r>
              <a:rPr sz="2000"/>
              <a:t>. Each asks a multiple-choice question, and I will </a:t>
            </a:r>
            <a:r>
              <a:rPr sz="2000" i="1"/>
              <a:t>not</a:t>
            </a:r>
            <a:r>
              <a:rPr sz="2000"/>
              <a:t> tell you the answer on that slide.</a:t>
            </a:r>
          </a:p>
          <a:p>
            <a:pPr lvl="0" indent="0" marL="1270000">
              <a:buNone/>
            </a:pPr>
            <a:r>
              <a:rPr sz="2000" b="1"/>
              <a:t>How it works:</a:t>
            </a:r>
            <a:r>
              <a:rPr sz="2000"/>
              <a:t> write your letter down — actually write it — then hold up fingers 1–4. If the room splits, turn to the person next to you, argue for ninety seconds, and we vote again. Nothing here is graded. The point is that you commit before you find out.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Is Regression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Same Machinery, Different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Regression</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sub>
                      </m:sSub>
                      <m:r>
                        <m:rPr>
                          <m:sty m:val="p"/>
                        </m:rPr>
                        <m:t>+</m:t>
                      </m:r>
                      <m:sSub>
                        <m:e>
                          <m:r>
                            <m:t>ε</m:t>
                          </m:r>
                        </m:e>
                        <m:sub>
                          <m:r>
                            <m:t>i</m:t>
                          </m:r>
                        </m:sub>
                      </m:sSub>
                    </m:oMath>
                  </m:oMathPara>
                </a14:m>
              </a:p>
              <a:p>
                <a:pPr lvl="0"/>
                <a:r>
                  <a:rPr/>
                  <a:t>X is continuous</a:t>
                </a:r>
              </a:p>
              <a:p>
                <a:pPr lvl="0"/>
                <a:r>
                  <a:rPr/>
                  <a:t>H₀: β₁ = 0</a:t>
                </a:r>
              </a:p>
              <a:p>
                <a:pPr lvl="0"/>
                <a:r>
                  <a:rPr/>
                  <a:t>One slope</a:t>
                </a:r>
              </a:p>
              <a:p>
                <a:pPr lvl="0" indent="0" marL="0">
                  <a:buNone/>
                </a:pPr>
                <a:r>
                  <a:rPr b="1"/>
                  <a:t>ANOVA</a:t>
                </a:r>
              </a:p>
              <a:p>
                <a:pPr lvl="0" indent="0" marL="0">
                  <a:buNone/>
                </a:pPr>
                <a14:m>
                  <m:oMathPara xmlns:m="http://schemas.openxmlformats.org/officeDocument/2006/math">
                    <m:oMathParaPr>
                      <m:jc m:val="center"/>
                    </m:oMathParaPr>
                    <m:o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m:oMathPara>
                </a14:m>
              </a:p>
              <a:p>
                <a:pPr lvl="0"/>
                <a14:m>
                  <m:oMath xmlns:m="http://schemas.openxmlformats.org/officeDocument/2006/math">
                    <m:sSub>
                      <m:e>
                        <m:r>
                          <m:t>A</m:t>
                        </m:r>
                      </m:e>
                      <m:sub>
                        <m:r>
                          <m:t>i</m:t>
                        </m:r>
                      </m:sub>
                    </m:sSub>
                  </m:oMath>
                </a14:m>
                <a:r>
                  <a:rPr/>
                  <a:t> is the effect of group i</a:t>
                </a:r>
              </a:p>
              <a:p>
                <a:pPr lvl="0"/>
                <a:r>
                  <a:rPr/>
                  <a:t>H₀: μ₁ = μ₂ = … = μₖ</a:t>
                </a:r>
              </a:p>
              <a:p>
                <a:pPr lvl="0"/>
                <a:r>
                  <a:rPr/>
                  <a:t>One coefficient per group, minus one</a:t>
                </a:r>
              </a:p>
            </p:txBody>
          </p:sp>
        </mc:Choice>
      </mc:AlternateContent>
      <p:sp>
        <p:nvSpPr>
          <p:cNvPr id="4" name="Content Placeholder 3"/>
          <p:cNvSpPr>
            <a:spLocks noGrp="1"/>
          </p:cNvSpPr>
          <p:nvPr>
            <p:ph idx="2" sz="half"/>
          </p:nvPr>
        </p:nvSpPr>
        <p:spPr/>
        <p:txBody>
          <a:bodyPr/>
          <a:lstStyle/>
          <a:p>
            <a:pPr lvl="0" indent="0" marL="0">
              <a:buNone/>
            </a:pPr>
            <a:r>
              <a:rPr/>
              <a:t>Both:</a:t>
            </a:r>
          </a:p>
          <a:p>
            <a:pPr lvl="0"/>
            <a:r>
              <a:rPr/>
              <a:t>Partition total variation into </a:t>
            </a:r>
            <a:r>
              <a:rPr b="1"/>
              <a:t>explained</a:t>
            </a:r>
            <a:r>
              <a:rPr/>
              <a:t> and </a:t>
            </a:r>
            <a:r>
              <a:rPr b="1"/>
              <a:t>left over</a:t>
            </a:r>
          </a:p>
          <a:p>
            <a:pPr lvl="0"/>
            <a:r>
              <a:rPr/>
              <a:t>Divide each sum of squares by its degrees of freedom</a:t>
            </a:r>
          </a:p>
          <a:p>
            <a:pPr lvl="0"/>
            <a:r>
              <a:rPr/>
              <a:t>Test with an </a:t>
            </a:r>
            <a:r>
              <a:rPr b="1"/>
              <a:t>F-ratio</a:t>
            </a:r>
            <a:r>
              <a:rPr/>
              <a:t> of the two mean squares</a:t>
            </a:r>
          </a:p>
          <a:p>
            <a:pPr lvl="0" indent="0" marL="1270000">
              <a:buNone/>
            </a:pPr>
            <a:r>
              <a:rPr sz="2000" b="1"/>
              <a:t>Important</a:t>
            </a:r>
          </a:p>
          <a:p>
            <a:pPr lvl="0" indent="0" marL="1270000">
              <a:buNone/>
            </a:pPr>
            <a:r>
              <a:rPr sz="2000" b="1"/>
              <a:t>✅ The same </a:t>
            </a:r>
            <a:r>
              <a:rPr sz="2000" b="1">
                <a:latin typeface="Courier"/>
              </a:rPr>
              <a:t>lm()</a:t>
            </a:r>
            <a:r>
              <a:rPr sz="2000" b="1"/>
              <a:t> call</a:t>
            </a:r>
          </a:p>
          <a:p>
            <a:pPr lvl="0" indent="0">
              <a:buNone/>
            </a:pPr>
            <a:r>
              <a:rPr>
                <a:solidFill>
                  <a:srgbClr val="5E5E5E"/>
                </a:solidFill>
                <a:latin typeface="Courier"/>
              </a:rPr>
              <a:t># regression</a:t>
            </a:r>
            <a:br/>
            <a:r>
              <a:rPr>
                <a:solidFill>
                  <a:srgbClr val="4758AB"/>
                </a:solidFill>
                <a:latin typeface="Courier"/>
              </a:rPr>
              <a:t>lm</a:t>
            </a:r>
            <a:r>
              <a:rPr>
                <a:solidFill>
                  <a:srgbClr val="003B4F"/>
                </a:solidFill>
                <a:latin typeface="Courier"/>
              </a:rPr>
              <a:t>(absorbance </a:t>
            </a:r>
            <a:r>
              <a:rPr>
                <a:solidFill>
                  <a:srgbClr val="5E5E5E"/>
                </a:solidFill>
                <a:latin typeface="Courier"/>
              </a:rPr>
              <a:t>~</a:t>
            </a:r>
            <a:r>
              <a:rPr>
                <a:solidFill>
                  <a:srgbClr val="003B4F"/>
                </a:solidFill>
                <a:latin typeface="Courier"/>
              </a:rPr>
              <a:t> nitrate, </a:t>
            </a:r>
            <a:r>
              <a:rPr>
                <a:solidFill>
                  <a:srgbClr val="657422"/>
                </a:solidFill>
                <a:latin typeface="Courier"/>
              </a:rPr>
              <a:t>data =</a:t>
            </a:r>
            <a:r>
              <a:rPr>
                <a:solidFill>
                  <a:srgbClr val="003B4F"/>
                </a:solidFill>
                <a:latin typeface="Courier"/>
              </a:rPr>
              <a:t> df)</a:t>
            </a:r>
            <a:br/>
            <a:br/>
            <a:r>
              <a:rPr>
                <a:solidFill>
                  <a:srgbClr val="5E5E5E"/>
                </a:solidFill>
                <a:latin typeface="Courier"/>
              </a:rPr>
              <a:t># ANOVA</a:t>
            </a:r>
            <a:b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df)</a:t>
            </a:r>
          </a:p>
          <a:p>
            <a:pPr lvl="0" indent="0" marL="1270000">
              <a:buNone/>
            </a:pPr>
            <a:r>
              <a:rPr sz="2000"/>
              <a:t>The only difference is that </a:t>
            </a:r>
            <a:r>
              <a:rPr sz="2000">
                <a:latin typeface="Courier"/>
              </a:rPr>
              <a:t>crab_type</a:t>
            </a:r>
            <a:r>
              <a:rPr sz="2000"/>
              <a:t> is a factor, so R builds dummy variables for you — exactly as it did last week.</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Why Not Just Run All the t-tests?</a:t>
            </a:r>
          </a:p>
        </p:txBody>
      </p:sp>
      <p:sp>
        <p:nvSpPr>
          <p:cNvPr id="3" name="Content Placeholder 2"/>
          <p:cNvSpPr>
            <a:spLocks noGrp="1"/>
          </p:cNvSpPr>
          <p:nvPr>
            <p:ph idx="1" sz="half"/>
          </p:nvPr>
        </p:nvSpPr>
        <p:spPr/>
        <p:txBody>
          <a:bodyPr/>
          <a:lstStyle/>
          <a:p>
            <a:pPr lvl="0" indent="0" marL="0">
              <a:buNone/>
            </a:pPr>
            <a:r>
              <a:rPr/>
              <a:t>With four crab groups there are </a:t>
            </a:r>
            <a:r>
              <a:rPr b="1"/>
              <a:t>six</a:t>
            </a:r>
            <a:r>
              <a:rPr/>
              <a:t> possible pairwise t-tests. Suppose every group really has the same mean, and you run all six at α = 0.05.</a:t>
            </a:r>
          </a:p>
          <a:p>
            <a:pPr lvl="0" indent="0" marL="0">
              <a:buNone/>
            </a:pPr>
            <a:r>
              <a:rPr b="1"/>
              <a:t>What is the chance you get at least one “significant” result?</a:t>
            </a:r>
          </a:p>
          <a:p>
            <a:pPr lvl="0" indent="0" marL="0">
              <a:buNone/>
            </a:pPr>
            <a:r>
              <a:rPr b="1"/>
              <a:t>(a)</a:t>
            </a:r>
            <a:r>
              <a:rPr/>
              <a:t> 5% — that is what α = 0.05 means</a:t>
            </a:r>
          </a:p>
          <a:p>
            <a:pPr lvl="0" indent="0" marL="0">
              <a:buNone/>
            </a:pPr>
            <a:r>
              <a:rPr b="1"/>
              <a:t>(b)</a:t>
            </a:r>
            <a:r>
              <a:rPr/>
              <a:t> About 12%</a:t>
            </a:r>
          </a:p>
          <a:p>
            <a:pPr lvl="0" indent="0" marL="0">
              <a:buNone/>
            </a:pPr>
            <a:r>
              <a:rPr b="1"/>
              <a:t>(c)</a:t>
            </a:r>
            <a:r>
              <a:rPr/>
              <a:t> About 26%</a:t>
            </a:r>
          </a:p>
          <a:p>
            <a:pPr lvl="0" indent="0" marL="0">
              <a:buNone/>
            </a:pPr>
            <a:r>
              <a:rPr b="1"/>
              <a:t>(d)</a:t>
            </a:r>
            <a:r>
              <a:rPr/>
              <a:t> 30% — 6 × 5%</a:t>
            </a:r>
          </a:p>
          <a:p>
            <a:pPr lvl="0" indent="0" marL="1270000">
              <a:buNone/>
            </a:pPr>
            <a:r>
              <a:rPr sz="2000" b="1"/>
              <a:t>Warning</a:t>
            </a:r>
          </a:p>
          <a:p>
            <a:pPr lvl="0" indent="0" marL="1270000">
              <a:buNone/>
            </a:pPr>
            <a:r>
              <a:rPr sz="2000" b="1"/>
              <a:t>✍️ Write your letter down, then vote.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What is the chance of getting no false positives in six independent tries?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Multiple-Comparisons Problem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 — about 26%.</a:t>
                </a:r>
              </a:p>
              <a:p>
                <a:pPr lvl="0" indent="0" marL="1270000">
                  <a:buNone/>
                </a:pPr>
                <a14:m>
                  <m:oMathPara xmlns:m="http://schemas.openxmlformats.org/officeDocument/2006/math">
                    <m:oMathParaPr>
                      <m:jc m:val="center"/>
                    </m:oMathParaPr>
                    <m:oMath>
                      <m:r>
                        <m:t>1</m:t>
                      </m:r>
                      <m:r>
                        <m:rPr>
                          <m:sty m:val="p"/>
                        </m:rPr>
                        <m:t>−</m:t>
                      </m:r>
                      <m:r>
                        <m:rPr>
                          <m:sty m:val="p"/>
                        </m:rPr>
                        <m:t>(</m:t>
                      </m:r>
                      <m:r>
                        <m:t>1</m:t>
                      </m:r>
                      <m:r>
                        <m:rPr>
                          <m:sty m:val="p"/>
                        </m:rPr>
                        <m:t>−</m:t>
                      </m:r>
                      <m:r>
                        <m:t>0.05</m:t>
                      </m:r>
                      <m:sSup>
                        <m:e>
                          <m:r>
                            <m:rPr>
                              <m:sty m:val="p"/>
                            </m:rPr>
                            <m:t>)</m:t>
                          </m:r>
                        </m:e>
                        <m:sup>
                          <m:r>
                            <m:t>6</m:t>
                          </m:r>
                        </m:sup>
                      </m:sSup>
                      <m:r>
                        <m:rPr>
                          <m:sty m:val="p"/>
                        </m:rPr>
                        <m:t>=</m:t>
                      </m:r>
                      <m:r>
                        <m:t>0.265</m:t>
                      </m:r>
                    </m:oMath>
                  </m:oMathPara>
                </a14:m>
              </a:p>
              <a:p>
                <a:pPr lvl="0" indent="0" marL="1270000">
                  <a:buNone/>
                </a:pPr>
                <a:r>
                  <a:rPr sz="2000"/>
                  <a:t>Each test has a 95% chance of behaving. Six in a row behave only 73.5% of the time, so you have roughly a </a:t>
                </a:r>
                <a:r>
                  <a:rPr sz="2000" b="1"/>
                  <a:t>one in four</a:t>
                </a:r>
                <a:r>
                  <a:rPr sz="2000"/>
                  <a:t> chance of at least one false positive — before you have learned anything.</a:t>
                </a:r>
              </a:p>
              <a:p>
                <a:pPr lvl="0" indent="0" marL="1270000">
                  <a:buNone/>
                </a:pPr>
                <a:r>
                  <a:rPr sz="2000" b="1"/>
                  <a:t>(d)</a:t>
                </a:r>
                <a:r>
                  <a:rPr sz="2000"/>
                  <a:t> is the common guess. Adding probabilities overshoots, because the ways of being wrong overlap.</a:t>
                </a:r>
              </a:p>
            </p:txBody>
          </p:sp>
        </mc:Choice>
      </mc:AlternateContent>
      <p:sp>
        <p:nvSpPr>
          <p:cNvPr id="4" name="Content Placeholder 3"/>
          <p:cNvSpPr>
            <a:spLocks noGrp="1"/>
          </p:cNvSpPr>
          <p:nvPr>
            <p:ph idx="2" sz="half"/>
          </p:nvPr>
        </p:nvSpPr>
        <p:spPr/>
        <p:txBody>
          <a:bodyPr/>
          <a:lstStyle/>
          <a:p>
            <a:pPr lvl="0" indent="0" marL="0">
              <a:buNone/>
            </a:pPr>
            <a:r>
              <a:rPr b="1"/>
              <a:t>ANOVA’s job is to ask one question first:</a:t>
            </a:r>
            <a:r>
              <a:rPr/>
              <a:t> </a:t>
            </a:r>
            <a:r>
              <a:rPr i="1"/>
              <a:t>is there any difference at all among these groups?</a:t>
            </a:r>
          </a:p>
          <a:p>
            <a:pPr lvl="0" indent="0" marL="0">
              <a:buNone/>
            </a:pPr>
            <a:r>
              <a:rPr/>
              <a:t>One test, one α, one p-value. Only if it rejects do you go looking for </a:t>
            </a:r>
            <a:r>
              <a:rPr b="1"/>
              <a:t>which</a:t>
            </a:r>
            <a:r>
              <a:rPr/>
              <a:t> groups differ — and then you use a post-hoc method that controls the error rate across that whole family of comparisons.</a:t>
            </a:r>
          </a:p>
          <a:p>
            <a:pPr lvl="0" indent="0" marL="0">
              <a:buNone/>
            </a:pPr>
            <a:r>
              <a:rPr/>
              <a:t>With 10 groups there are 45 pairs, and the chance of at least one false positive is over </a:t>
            </a:r>
            <a:r>
              <a:rPr b="1"/>
              <a:t>90%</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The Logic</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ANOVA’s Question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every group had the same true mean, the sample means would differ, just from sampling error.</a:t>
                </a:r>
              </a:p>
              <a:p>
                <a:pPr lvl="0" indent="0" marL="0">
                  <a:buNone/>
                </a:pPr>
                <a:r>
                  <a:rPr/>
                  <a:t>ANOVA asks whether the sample means differ </a:t>
                </a:r>
                <a:r>
                  <a:rPr b="1"/>
                  <a:t>more than sampling error alone would produce</a:t>
                </a:r>
                <a:r>
                  <a:rPr/>
                  <a:t>:</a:t>
                </a:r>
              </a:p>
              <a:p>
                <a:pPr lvl="0"/>
                <a14:m>
                  <m:oMath xmlns:m="http://schemas.openxmlformats.org/officeDocument/2006/math">
                    <m:r>
                      <m:t>M</m:t>
                    </m:r>
                    <m:sSub>
                      <m:e>
                        <m:r>
                          <m:t>S</m:t>
                        </m:r>
                      </m:e>
                      <m:sub>
                        <m:r>
                          <m:t>a</m:t>
                        </m:r>
                        <m:r>
                          <m:t>m</m:t>
                        </m:r>
                        <m:r>
                          <m:t>o</m:t>
                        </m:r>
                        <m:r>
                          <m:t>n</m:t>
                        </m:r>
                        <m:r>
                          <m:t>g</m:t>
                        </m:r>
                      </m:sub>
                    </m:sSub>
                  </m:oMath>
                </a14:m>
                <a:r>
                  <a:rPr/>
                  <a:t> — how spread out the group means are</a:t>
                </a:r>
              </a:p>
              <a:p>
                <a:pPr lvl="0"/>
                <a14:m>
                  <m:oMath xmlns:m="http://schemas.openxmlformats.org/officeDocument/2006/math">
                    <m:r>
                      <m:t>M</m:t>
                    </m:r>
                    <m:sSub>
                      <m:e>
                        <m:r>
                          <m:t>S</m:t>
                        </m:r>
                      </m:e>
                      <m:sub>
                        <m:r>
                          <m:t>w</m:t>
                        </m:r>
                        <m:r>
                          <m:t>i</m:t>
                        </m:r>
                        <m:r>
                          <m:t>t</m:t>
                        </m:r>
                        <m:r>
                          <m:t>h</m:t>
                        </m:r>
                        <m:r>
                          <m:t>i</m:t>
                        </m:r>
                        <m:r>
                          <m:t>n</m:t>
                        </m:r>
                      </m:sub>
                    </m:sSub>
                  </m:oMath>
                </a14:m>
                <a:r>
                  <a:rPr/>
                  <a:t> — how spread out individuals are inside their own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w</m:t>
                              </m:r>
                              <m:r>
                                <m:t>i</m:t>
                              </m:r>
                              <m:r>
                                <m:t>t</m:t>
                              </m:r>
                              <m:r>
                                <m:t>h</m:t>
                              </m:r>
                              <m:r>
                                <m:t>i</m:t>
                              </m:r>
                              <m:r>
                                <m:t>n</m:t>
                              </m:r>
                            </m:sub>
                          </m:sSub>
                        </m:den>
                      </m:f>
                    </m:oMath>
                  </m:oMathPara>
                </a14:m>
              </a:p>
              <a:p>
                <a:pPr lvl="0"/>
                <a:r>
                  <a:rPr b="1"/>
                  <a:t>H₀:</a:t>
                </a:r>
                <a:r>
                  <a:rPr/>
                  <a:t> μ₁ = μ₂ = μ₃ = μ₄</a:t>
                </a:r>
              </a:p>
              <a:p>
                <a:pPr lvl="0"/>
                <a:r>
                  <a:rPr b="1"/>
                  <a:t>H₁:</a:t>
                </a:r>
                <a:r>
                  <a:rPr/>
                  <a:t> at least one mean differs</a:t>
                </a:r>
              </a:p>
            </p:txBody>
          </p:sp>
        </mc:Choice>
      </mc:AlternateContent>
      <p:pic>
        <p:nvPicPr>
          <p:cNvPr descr="analysis_of_variance_lecture_files/figure-pptx/analysis-of-variance-03-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the Variation Goes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Every point’s distance from the </a:t>
                </a:r>
                <a:r>
                  <a:rPr b="1"/>
                  <a:t>grand mean</a:t>
                </a:r>
                <a:r>
                  <a:rPr/>
                  <a:t> splits into two pieces, exactly as in regression:</a:t>
                </a:r>
              </a:p>
              <a:p>
                <a:pPr lvl="0" indent="0" marL="0">
                  <a:buNone/>
                </a:pPr>
                <a14:m>
                  <m:oMathPara xmlns:m="http://schemas.openxmlformats.org/officeDocument/2006/math">
                    <m:oMathParaPr>
                      <m:jc m:val="center"/>
                    </m:oMathParaPr>
                    <m:oMath>
                      <m:limLow>
                        <m:e>
                          <m:limLow>
                            <m:e>
                              <m:r>
                                <m:rPr>
                                  <m:sty m:val="p"/>
                                </m:rPr>
                                <m:t>(</m:t>
                              </m:r>
                              <m:sSub>
                                <m:e>
                                  <m:r>
                                    <m:t>Y</m:t>
                                  </m:r>
                                </m:e>
                                <m:sub>
                                  <m:r>
                                    <m:t>i</m:t>
                                  </m:r>
                                  <m:r>
                                    <m:t>j</m:t>
                                  </m:r>
                                </m:sub>
                              </m:sSub>
                              <m:r>
                                <m:rPr>
                                  <m:sty m:val="p"/>
                                </m:rPr>
                                <m:t>−</m:t>
                              </m:r>
                              <m:acc>
                                <m:accPr>
                                  <m:chr m:val="‾"/>
                                </m:accPr>
                                <m:e>
                                  <m:r>
                                    <m:t>Y</m:t>
                                  </m:r>
                                </m:e>
                              </m:acc>
                              <m:r>
                                <m:rPr>
                                  <m:sty m:val="p"/>
                                </m:rPr>
                                <m:t>)</m:t>
                              </m:r>
                            </m:e>
                            <m:lim>
                              <m:r>
                                <m:rPr>
                                  <m:sty m:val="p"/>
                                </m:rPr>
                                <m:t>⏟</m:t>
                              </m:r>
                            </m:lim>
                          </m:limLow>
                        </m:e>
                        <m:lim>
                          <m:r>
                            <m:rPr>
                              <m:nor/>
                              <m:sty m:val="p"/>
                            </m:rPr>
                            <m:t>total</m:t>
                          </m:r>
                        </m:lim>
                      </m:limLow>
                      <m:r>
                        <m:rPr>
                          <m:sty m:val="p"/>
                        </m:rPr>
                        <m:t>=</m:t>
                      </m:r>
                      <m:limLow>
                        <m:e>
                          <m:limLow>
                            <m:e>
                              <m:r>
                                <m:rPr>
                                  <m:sty m:val="p"/>
                                </m:rPr>
                                <m:t>(</m:t>
                              </m:r>
                              <m:sSub>
                                <m:e>
                                  <m:acc>
                                    <m:accPr>
                                      <m:chr m:val="‾"/>
                                    </m:accPr>
                                    <m:e>
                                      <m:r>
                                        <m:t>Y</m:t>
                                      </m:r>
                                    </m:e>
                                  </m:acc>
                                </m:e>
                                <m:sub>
                                  <m:r>
                                    <m:t>i</m:t>
                                  </m:r>
                                </m:sub>
                              </m:sSub>
                              <m:r>
                                <m:rPr>
                                  <m:sty m:val="p"/>
                                </m:rPr>
                                <m:t>−</m:t>
                              </m:r>
                              <m:acc>
                                <m:accPr>
                                  <m:chr m:val="‾"/>
                                </m:accPr>
                                <m:e>
                                  <m:r>
                                    <m:t>Y</m:t>
                                  </m:r>
                                </m:e>
                              </m:acc>
                              <m:r>
                                <m:rPr>
                                  <m:sty m:val="p"/>
                                </m:rPr>
                                <m:t>)</m:t>
                              </m:r>
                            </m:e>
                            <m:lim>
                              <m:r>
                                <m:rPr>
                                  <m:sty m:val="p"/>
                                </m:rPr>
                                <m:t>⏟</m:t>
                              </m:r>
                            </m:lim>
                          </m:limLow>
                        </m:e>
                        <m:lim>
                          <m:r>
                            <m:rPr>
                              <m:nor/>
                              <m:sty m:val="p"/>
                            </m:rPr>
                            <m:t>among</m:t>
                          </m:r>
                        </m:lim>
                      </m:limLow>
                      <m:r>
                        <m:rPr>
                          <m:sty m:val="p"/>
                        </m:rPr>
                        <m:t>+</m:t>
                      </m:r>
                      <m:limLow>
                        <m:e>
                          <m:limLow>
                            <m:e>
                              <m:r>
                                <m:rPr>
                                  <m:sty m:val="p"/>
                                </m:rPr>
                                <m:t>(</m:t>
                              </m:r>
                              <m:sSub>
                                <m:e>
                                  <m:r>
                                    <m:t>Y</m:t>
                                  </m:r>
                                </m:e>
                                <m:sub>
                                  <m:r>
                                    <m:t>i</m:t>
                                  </m:r>
                                  <m:r>
                                    <m:t>j</m:t>
                                  </m:r>
                                </m:sub>
                              </m:sSub>
                              <m:r>
                                <m:rPr>
                                  <m:sty m:val="p"/>
                                </m:rPr>
                                <m:t>−</m:t>
                              </m:r>
                              <m:sSub>
                                <m:e>
                                  <m:acc>
                                    <m:accPr>
                                      <m:chr m:val="‾"/>
                                    </m:accPr>
                                    <m:e>
                                      <m:r>
                                        <m:t>Y</m:t>
                                      </m:r>
                                    </m:e>
                                  </m:acc>
                                </m:e>
                                <m:sub>
                                  <m:r>
                                    <m:t>i</m:t>
                                  </m:r>
                                </m:sub>
                              </m:sSub>
                              <m:r>
                                <m:rPr>
                                  <m:sty m:val="p"/>
                                </m:rPr>
                                <m:t>)</m:t>
                              </m:r>
                            </m:e>
                            <m:lim>
                              <m:r>
                                <m:rPr>
                                  <m:sty m:val="p"/>
                                </m:rPr>
                                <m:t>⏟</m:t>
                              </m:r>
                            </m:lim>
                          </m:limLow>
                        </m:e>
                        <m:lim>
                          <m:r>
                            <m:rPr>
                              <m:nor/>
                              <m:sty m:val="p"/>
                            </m:rPr>
                            <m:t>within</m:t>
                          </m:r>
                        </m:lim>
                      </m:limLow>
                    </m:oMath>
                  </m:oMathPara>
                </a14:m>
              </a:p>
              <a:p>
                <a:pPr lvl="0" indent="0" marL="0">
                  <a:buNone/>
                </a:pPr>
                <a:r>
                  <a:rPr/>
                  <a:t>Square and sum over every observation:</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m:oMathPara>
                </a14:m>
              </a:p>
              <a:p>
                <a:pPr lvl="0" indent="0" marL="0">
                  <a:buNone/>
                </a:pPr>
                <a:r>
                  <a:rPr/>
                  <a:t>The dashed line is the grand mean; the coloured bars are the group means.</a:t>
                </a:r>
              </a:p>
            </p:txBody>
          </p:sp>
        </mc:Choice>
      </mc:AlternateContent>
      <p:pic>
        <p:nvPicPr>
          <p:cNvPr descr="analysis_of_variance_lecture_files/figure-pptx/analysis-of-variance-0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Sums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n"/>
                        </m:naryPr>
                        <m:sub>
                          <m:r>
                            <m:t>i</m:t>
                          </m:r>
                        </m:sub>
                        <m:sup>
                          <m:r>
                            <m:t>​</m:t>
                          </m:r>
                        </m:sup>
                        <m:e>
                          <m:nary>
                            <m:naryPr>
                              <m:chr m:val="∑"/>
                              <m:limLoc m:val="undOvr"/>
                              <m:subHide m:val="off"/>
                              <m:supHide m:val="on"/>
                            </m:naryPr>
                            <m:sub>
                              <m:r>
                                <m:t>j</m:t>
                              </m:r>
                            </m:sub>
                            <m:sup>
                              <m:r>
                                <m:t>​</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14:m>
                  <m:oMathPara xmlns:m="http://schemas.openxmlformats.org/officeDocument/2006/math">
                    <m:oMathParaPr>
                      <m:jc m:val="center"/>
                    </m:oMathParaPr>
                    <m:oMath>
                      <m:r>
                        <m:t>S</m:t>
                      </m:r>
                      <m:sSub>
                        <m:e>
                          <m:r>
                            <m:t>S</m:t>
                          </m:r>
                        </m:e>
                        <m:sub>
                          <m:r>
                            <m:t>a</m:t>
                          </m:r>
                          <m:r>
                            <m:t>m</m:t>
                          </m:r>
                          <m:r>
                            <m:t>o</m:t>
                          </m:r>
                          <m:r>
                            <m:t>n</m:t>
                          </m:r>
                          <m:r>
                            <m:t>g</m:t>
                          </m:r>
                        </m:sub>
                      </m:sSub>
                      <m:r>
                        <m:rPr>
                          <m:sty m:val="p"/>
                        </m:rPr>
                        <m:t>=</m:t>
                      </m:r>
                      <m:nary>
                        <m:naryPr>
                          <m:chr m:val="∑"/>
                          <m:limLoc m:val="undOvr"/>
                          <m:subHide m:val="off"/>
                          <m:supHide m:val="on"/>
                        </m:naryPr>
                        <m:sub>
                          <m:r>
                            <m:t>i</m:t>
                          </m:r>
                        </m:sub>
                        <m:sup>
                          <m:r>
                            <m:t>​</m:t>
                          </m:r>
                        </m:sup>
                        <m:e>
                          <m:sSub>
                            <m:e>
                              <m:r>
                                <m:t>n</m:t>
                              </m:r>
                            </m:e>
                            <m:sub>
                              <m:r>
                                <m:t>i</m:t>
                              </m:r>
                            </m:sub>
                          </m:sSub>
                        </m:e>
                      </m:nary>
                      <m:r>
                        <m:rPr>
                          <m:sty m:val="p"/>
                        </m:rPr>
                        <m:t>(</m:t>
                      </m:r>
                      <m:sSub>
                        <m:e>
                          <m:acc>
                            <m:accPr>
                              <m:chr m:val="‾"/>
                            </m:accPr>
                            <m:e>
                              <m:r>
                                <m:t>Y</m:t>
                              </m:r>
                            </m:e>
                          </m:acc>
                        </m:e>
                        <m:sub>
                          <m:r>
                            <m:t>i</m:t>
                          </m:r>
                        </m:sub>
                      </m:sSub>
                      <m:r>
                        <m:rPr>
                          <m:sty m:val="p"/>
                        </m:rPr>
                        <m:t>−</m:t>
                      </m:r>
                      <m:acc>
                        <m:accPr>
                          <m:chr m:val="‾"/>
                        </m:accPr>
                        <m:e>
                          <m:r>
                            <m:t>Y</m:t>
                          </m:r>
                        </m:e>
                      </m:acc>
                      <m:sSup>
                        <m:e>
                          <m:r>
                            <m:rPr>
                              <m:sty m:val="p"/>
                            </m:rPr>
                            <m:t>)</m:t>
                          </m:r>
                        </m:e>
                        <m:sup>
                          <m:r>
                            <m:t>2</m:t>
                          </m:r>
                        </m:sup>
                      </m:sSup>
                    </m:oMath>
                  </m:oMathPara>
                </a14:m>
              </a:p>
              <a:p>
                <a:pPr lvl="0" indent="0" marL="0">
                  <a:buNone/>
                </a:pPr>
                <a14:m>
                  <m:oMathPara xmlns:m="http://schemas.openxmlformats.org/officeDocument/2006/math">
                    <m:oMathParaPr>
                      <m:jc m:val="center"/>
                    </m:oMathParaPr>
                    <m:oMath>
                      <m:r>
                        <m:t>S</m:t>
                      </m:r>
                      <m:sSub>
                        <m:e>
                          <m:r>
                            <m:t>S</m:t>
                          </m:r>
                        </m:e>
                        <m:sub>
                          <m:r>
                            <m:t>w</m:t>
                          </m:r>
                          <m:r>
                            <m:t>i</m:t>
                          </m:r>
                          <m:r>
                            <m:t>t</m:t>
                          </m:r>
                          <m:r>
                            <m:t>h</m:t>
                          </m:r>
                          <m:r>
                            <m:t>i</m:t>
                          </m:r>
                          <m:r>
                            <m:t>n</m:t>
                          </m:r>
                        </m:sub>
                      </m:sSub>
                      <m:r>
                        <m:rPr>
                          <m:sty m:val="p"/>
                        </m:rPr>
                        <m:t>=</m:t>
                      </m:r>
                      <m:nary>
                        <m:naryPr>
                          <m:chr m:val="∑"/>
                          <m:limLoc m:val="undOvr"/>
                          <m:subHide m:val="off"/>
                          <m:supHide m:val="on"/>
                        </m:naryPr>
                        <m:sub>
                          <m:r>
                            <m:t>i</m:t>
                          </m:r>
                        </m:sub>
                        <m:sup>
                          <m:r>
                            <m:t>​</m:t>
                          </m:r>
                        </m:sup>
                        <m:e>
                          <m:nary>
                            <m:naryPr>
                              <m:chr m:val="∑"/>
                              <m:limLoc m:val="undOvr"/>
                              <m:subHide m:val="off"/>
                              <m:supHide m:val="on"/>
                            </m:naryPr>
                            <m:sub>
                              <m:r>
                                <m:t>j</m:t>
                              </m:r>
                            </m:sub>
                            <m:sup>
                              <m:r>
                                <m:t>​</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m:oMathPara>
                </a14:m>
              </a:p>
              <a:p>
                <a:pPr lvl="0" indent="0" marL="0">
                  <a:buNone/>
                </a:pPr>
                <a:r>
                  <a:rPr/>
                  <a:t>with </a:t>
                </a:r>
                <a:r>
                  <a:rPr b="1"/>
                  <a:t>a</a:t>
                </a:r>
                <a:r>
                  <a:rPr/>
                  <a:t> groups and </a:t>
                </a:r>
                <a14:m>
                  <m:oMath xmlns:m="http://schemas.openxmlformats.org/officeDocument/2006/math">
                    <m:sSub>
                      <m:e>
                        <m:r>
                          <m:t>n</m:t>
                        </m:r>
                      </m:e>
                      <m:sub>
                        <m:r>
                          <m:t>i</m:t>
                        </m:r>
                      </m:sub>
                    </m:sSub>
                  </m:oMath>
                </a14:m>
                <a:r>
                  <a:rPr/>
                  <a:t> observations in group i:</a:t>
                </a:r>
              </a:p>
              <a:p>
                <a:pPr lvl="0"/>
                <a14:m>
                  <m:oMath xmlns:m="http://schemas.openxmlformats.org/officeDocument/2006/math">
                    <m:r>
                      <m:t>d</m:t>
                    </m:r>
                    <m:sSub>
                      <m:e>
                        <m:r>
                          <m:t>f</m:t>
                        </m:r>
                      </m:e>
                      <m:sub>
                        <m:r>
                          <m:t>a</m:t>
                        </m:r>
                        <m:r>
                          <m:t>m</m:t>
                        </m:r>
                        <m:r>
                          <m:t>o</m:t>
                        </m:r>
                        <m:r>
                          <m:t>n</m:t>
                        </m:r>
                        <m:r>
                          <m:t>g</m:t>
                        </m:r>
                      </m:sub>
                    </m:sSub>
                    <m:r>
                      <m:rPr>
                        <m:sty m:val="p"/>
                      </m:rPr>
                      <m:t>=</m:t>
                    </m:r>
                    <m:r>
                      <m:t>a</m:t>
                    </m:r>
                    <m:r>
                      <m:rPr>
                        <m:sty m:val="p"/>
                      </m:rPr>
                      <m:t>−</m:t>
                    </m:r>
                    <m:r>
                      <m:t>1</m:t>
                    </m:r>
                  </m:oMath>
                </a14:m>
                <a:r>
                  <a:rPr/>
                  <a:t> = 3</a:t>
                </a:r>
              </a:p>
              <a:p>
                <a:pPr lvl="0"/>
                <a14:m>
                  <m:oMath xmlns:m="http://schemas.openxmlformats.org/officeDocument/2006/math">
                    <m:r>
                      <m:t>d</m:t>
                    </m:r>
                    <m:sSub>
                      <m:e>
                        <m:r>
                          <m:t>f</m:t>
                        </m:r>
                      </m:e>
                      <m:sub>
                        <m:r>
                          <m:t>w</m:t>
                        </m:r>
                        <m:r>
                          <m:t>i</m:t>
                        </m:r>
                        <m:r>
                          <m:t>t</m:t>
                        </m:r>
                        <m:r>
                          <m:t>h</m:t>
                        </m:r>
                        <m:r>
                          <m:t>i</m:t>
                        </m:r>
                        <m:r>
                          <m:t>n</m:t>
                        </m:r>
                      </m:sub>
                    </m:sSub>
                    <m:r>
                      <m:rPr>
                        <m:sty m:val="p"/>
                      </m:rPr>
                      <m:t>=</m:t>
                    </m:r>
                    <m:r>
                      <m:t>N</m:t>
                    </m:r>
                    <m:r>
                      <m:rPr>
                        <m:sty m:val="p"/>
                      </m:rPr>
                      <m:t>−</m:t>
                    </m:r>
                    <m:r>
                      <m:t>a</m:t>
                    </m:r>
                  </m:oMath>
                </a14:m>
                <a:r>
                  <a:rPr/>
                  <a:t> = 80</a:t>
                </a:r>
              </a:p>
              <a:p>
                <a:pPr lvl="0"/>
                <a14:m>
                  <m:oMath xmlns:m="http://schemas.openxmlformats.org/officeDocument/2006/math">
                    <m:r>
                      <m:t>d</m:t>
                    </m:r>
                    <m:sSub>
                      <m:e>
                        <m:r>
                          <m:t>f</m:t>
                        </m:r>
                      </m:e>
                      <m:sub>
                        <m:r>
                          <m:t>t</m:t>
                        </m:r>
                        <m:r>
                          <m:t>o</m:t>
                        </m:r>
                        <m:r>
                          <m:t>t</m:t>
                        </m:r>
                        <m:r>
                          <m:t>a</m:t>
                        </m:r>
                        <m:r>
                          <m:t>l</m:t>
                        </m:r>
                      </m:sub>
                    </m:sSub>
                    <m:r>
                      <m:rPr>
                        <m:sty m:val="p"/>
                      </m:rPr>
                      <m:t>=</m:t>
                    </m:r>
                    <m:r>
                      <m:t>N</m:t>
                    </m:r>
                    <m:r>
                      <m:rPr>
                        <m:sty m:val="p"/>
                      </m:rPr>
                      <m:t>−</m:t>
                    </m:r>
                    <m:r>
                      <m:t>1</m:t>
                    </m:r>
                  </m:oMath>
                </a14:m>
                <a:r>
                  <a:rPr/>
                  <a:t> = 83</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Note the </a:t>
                </a:r>
                <a14:m>
                  <m:oMath xmlns:m="http://schemas.openxmlformats.org/officeDocument/2006/math">
                    <m:sSub>
                      <m:e>
                        <m:r>
                          <m:t>n</m:t>
                        </m:r>
                      </m:e>
                      <m:sub>
                        <m:r>
                          <m:t>i</m:t>
                        </m:r>
                      </m:sub>
                    </m:sSub>
                  </m:oMath>
                </a14:m>
              </a:p>
              <a:p>
                <a:pPr lvl="0" indent="0" marL="1270000">
                  <a:buNone/>
                </a:pPr>
                <a:r>
                  <a:rPr sz="2000"/>
                  <a:t>Each group mean’s deviation is weighted by that group’s </a:t>
                </a:r>
                <a:r>
                  <a:rPr sz="2000" b="1"/>
                  <a:t>own</a:t>
                </a:r>
                <a:r>
                  <a:rPr sz="2000"/>
                  <a:t> sample size. With a balanced design every </a:t>
                </a:r>
                <a14:m>
                  <m:oMath xmlns:m="http://schemas.openxmlformats.org/officeDocument/2006/math">
                    <m:sSub>
                      <m:e>
                        <m:r>
                          <m:t>n</m:t>
                        </m:r>
                      </m:e>
                      <m:sub>
                        <m:r>
                          <m:t>i</m:t>
                        </m:r>
                      </m:sub>
                    </m:sSub>
                  </m:oMath>
                </a14:m>
                <a:r>
                  <a:rPr sz="2000"/>
                  <a:t> is the same and it simplifies to </a:t>
                </a:r>
                <a14:m>
                  <m:oMath xmlns:m="http://schemas.openxmlformats.org/officeDocument/2006/math">
                    <m:r>
                      <m:t>n</m:t>
                    </m:r>
                    <m:r>
                      <m:rPr>
                        <m:sty m:val="p"/>
                      </m:rPr>
                      <m:t>∑</m:t>
                    </m:r>
                    <m:r>
                      <m:rPr>
                        <m:sty m:val="p"/>
                      </m:rPr>
                      <m:t>(</m:t>
                    </m:r>
                    <m:sSub>
                      <m:e>
                        <m:acc>
                          <m:accPr>
                            <m:chr m:val="‾"/>
                          </m:accPr>
                          <m:e>
                            <m:r>
                              <m:t>Y</m:t>
                            </m:r>
                          </m:e>
                        </m:acc>
                      </m:e>
                      <m:sub>
                        <m:r>
                          <m:t>i</m:t>
                        </m:r>
                      </m:sub>
                    </m:sSub>
                    <m:r>
                      <m:rPr>
                        <m:sty m:val="p"/>
                      </m:rPr>
                      <m:t>−</m:t>
                    </m:r>
                    <m:acc>
                      <m:accPr>
                        <m:chr m:val="‾"/>
                      </m:accPr>
                      <m:e>
                        <m:r>
                          <m:t>Y</m:t>
                        </m:r>
                      </m:e>
                    </m:acc>
                    <m:sSup>
                      <m:e>
                        <m:r>
                          <m:rPr>
                            <m:sty m:val="p"/>
                          </m:rPr>
                          <m:t>)</m:t>
                        </m:r>
                      </m:e>
                      <m:sup>
                        <m:r>
                          <m:t>2</m:t>
                        </m:r>
                      </m:sup>
                    </m:sSup>
                  </m:oMath>
                </a14:m>
                <a:r>
                  <a:rPr sz="2000"/>
                  <a:t> — but only then.</a:t>
                </a:r>
              </a:p>
              <a:p>
                <a:pPr lvl="0" indent="0" marL="1270000">
                  <a:buNone/>
                </a:pPr>
                <a:r>
                  <a:rPr sz="2000"/>
                  <a:t>Our design is balanced at n = 21, so both forms agree here.</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Computing Them by Hand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grand_mean &lt;- </a:t>
            </a:r>
            <a:r>
              <a:rPr>
                <a:solidFill>
                  <a:srgbClr val="4758AB"/>
                </a:solidFill>
                <a:latin typeface="Courier"/>
              </a:rPr>
              <a:t>mean</a:t>
            </a:r>
            <a:r>
              <a:rPr>
                <a:solidFill>
                  <a:srgbClr val="003B4F"/>
                </a:solidFill>
                <a:latin typeface="Courier"/>
              </a:rPr>
              <a:t>(crab_df</a:t>
            </a:r>
            <a:r>
              <a:rPr>
                <a:solidFill>
                  <a:srgbClr val="5E5E5E"/>
                </a:solidFill>
                <a:latin typeface="Courier"/>
              </a:rPr>
              <a:t>$</a:t>
            </a:r>
            <a:r>
              <a:rPr>
                <a:solidFill>
                  <a:srgbClr val="003B4F"/>
                </a:solidFill>
                <a:latin typeface="Courier"/>
              </a:rPr>
              <a:t>body_temp_c)</a:t>
            </a:r>
            <a:br/>
            <a:br/>
            <a:r>
              <a:rPr>
                <a:solidFill>
                  <a:srgbClr val="003B4F"/>
                </a:solidFill>
                <a:latin typeface="Courier"/>
              </a:rPr>
              <a:t>crab_parts &lt;- crab_df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(crab_type)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group_mean =</a:t>
            </a:r>
            <a:r>
              <a:rPr>
                <a:solidFill>
                  <a:srgbClr val="003B4F"/>
                </a:solidFill>
                <a:latin typeface="Courier"/>
              </a:rPr>
              <a:t> </a:t>
            </a:r>
            <a:r>
              <a:rPr>
                <a:solidFill>
                  <a:srgbClr val="4758AB"/>
                </a:solidFill>
                <a:latin typeface="Courier"/>
              </a:rPr>
              <a:t>mean</a:t>
            </a:r>
            <a:r>
              <a:rPr>
                <a:solidFill>
                  <a:srgbClr val="003B4F"/>
                </a:solidFill>
                <a:latin typeface="Courier"/>
              </a:rPr>
              <a:t>(body_temp_c))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003B4F"/>
                </a:solidFill>
                <a:latin typeface="Courier"/>
              </a:rPr>
              <a:t>ss_total  &lt;- </a:t>
            </a:r>
            <a:r>
              <a:rPr>
                <a:solidFill>
                  <a:srgbClr val="4758AB"/>
                </a:solidFill>
                <a:latin typeface="Courier"/>
              </a:rPr>
              <a:t>sum</a:t>
            </a:r>
            <a:r>
              <a:rPr>
                <a:solidFill>
                  <a:srgbClr val="003B4F"/>
                </a:solidFill>
                <a:latin typeface="Courier"/>
              </a:rPr>
              <a:t>((crab_parts</a:t>
            </a:r>
            <a:r>
              <a:rPr>
                <a:solidFill>
                  <a:srgbClr val="5E5E5E"/>
                </a:solidFill>
                <a:latin typeface="Courier"/>
              </a:rPr>
              <a:t>$</a:t>
            </a:r>
            <a:r>
              <a:rPr>
                <a:solidFill>
                  <a:srgbClr val="003B4F"/>
                </a:solidFill>
                <a:latin typeface="Courier"/>
              </a:rPr>
              <a:t>body_temp_c </a:t>
            </a:r>
            <a:r>
              <a:rPr>
                <a:solidFill>
                  <a:srgbClr val="5E5E5E"/>
                </a:solidFill>
                <a:latin typeface="Courier"/>
              </a:rPr>
              <a:t>-</a:t>
            </a:r>
            <a:r>
              <a:rPr>
                <a:solidFill>
                  <a:srgbClr val="003B4F"/>
                </a:solidFill>
                <a:latin typeface="Courier"/>
              </a:rPr>
              <a:t> grand_mean)</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ss_among  &lt;- </a:t>
            </a:r>
            <a:r>
              <a:rPr>
                <a:solidFill>
                  <a:srgbClr val="4758AB"/>
                </a:solidFill>
                <a:latin typeface="Courier"/>
              </a:rPr>
              <a:t>sum</a:t>
            </a:r>
            <a:r>
              <a:rPr>
                <a:solidFill>
                  <a:srgbClr val="003B4F"/>
                </a:solidFill>
                <a:latin typeface="Courier"/>
              </a:rPr>
              <a:t>((crab_parts</a:t>
            </a:r>
            <a:r>
              <a:rPr>
                <a:solidFill>
                  <a:srgbClr val="5E5E5E"/>
                </a:solidFill>
                <a:latin typeface="Courier"/>
              </a:rPr>
              <a:t>$</a:t>
            </a:r>
            <a:r>
              <a:rPr>
                <a:solidFill>
                  <a:srgbClr val="003B4F"/>
                </a:solidFill>
                <a:latin typeface="Courier"/>
              </a:rPr>
              <a:t>group_mean  </a:t>
            </a:r>
            <a:r>
              <a:rPr>
                <a:solidFill>
                  <a:srgbClr val="5E5E5E"/>
                </a:solidFill>
                <a:latin typeface="Courier"/>
              </a:rPr>
              <a:t>-</a:t>
            </a:r>
            <a:r>
              <a:rPr>
                <a:solidFill>
                  <a:srgbClr val="003B4F"/>
                </a:solidFill>
                <a:latin typeface="Courier"/>
              </a:rPr>
              <a:t> grand_mean)</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ss_within &lt;- </a:t>
            </a:r>
            <a:r>
              <a:rPr>
                <a:solidFill>
                  <a:srgbClr val="4758AB"/>
                </a:solidFill>
                <a:latin typeface="Courier"/>
              </a:rPr>
              <a:t>sum</a:t>
            </a:r>
            <a:r>
              <a:rPr>
                <a:solidFill>
                  <a:srgbClr val="003B4F"/>
                </a:solidFill>
                <a:latin typeface="Courier"/>
              </a:rPr>
              <a:t>((crab_parts</a:t>
            </a:r>
            <a:r>
              <a:rPr>
                <a:solidFill>
                  <a:srgbClr val="5E5E5E"/>
                </a:solidFill>
                <a:latin typeface="Courier"/>
              </a:rPr>
              <a:t>$</a:t>
            </a:r>
            <a:r>
              <a:rPr>
                <a:solidFill>
                  <a:srgbClr val="003B4F"/>
                </a:solidFill>
                <a:latin typeface="Courier"/>
              </a:rPr>
              <a:t>body_temp_c </a:t>
            </a:r>
            <a:r>
              <a:rPr>
                <a:solidFill>
                  <a:srgbClr val="5E5E5E"/>
                </a:solidFill>
                <a:latin typeface="Courier"/>
              </a:rPr>
              <a:t>-</a:t>
            </a:r>
            <a:r>
              <a:rPr>
                <a:solidFill>
                  <a:srgbClr val="003B4F"/>
                </a:solidFill>
                <a:latin typeface="Courier"/>
              </a:rPr>
              <a:t> crab_parts</a:t>
            </a:r>
            <a:r>
              <a:rPr>
                <a:solidFill>
                  <a:srgbClr val="5E5E5E"/>
                </a:solidFill>
                <a:latin typeface="Courier"/>
              </a:rPr>
              <a:t>$</a:t>
            </a:r>
            <a:r>
              <a:rPr>
                <a:solidFill>
                  <a:srgbClr val="003B4F"/>
                </a:solidFill>
                <a:latin typeface="Courier"/>
              </a:rPr>
              <a:t>group_mean)</a:t>
            </a:r>
            <a:r>
              <a:rPr>
                <a:solidFill>
                  <a:srgbClr val="5E5E5E"/>
                </a:solidFill>
                <a:latin typeface="Courier"/>
              </a:rPr>
              <a:t>^</a:t>
            </a:r>
            <a:r>
              <a:rPr>
                <a:solidFill>
                  <a:srgbClr val="AD0000"/>
                </a:solidFill>
                <a:latin typeface="Courier"/>
              </a:rPr>
              <a:t>2</a:t>
            </a:r>
            <a:r>
              <a:rPr>
                <a:solidFill>
                  <a:srgbClr val="003B4F"/>
                </a:solidFill>
                <a:latin typeface="Courier"/>
              </a:rPr>
              <a:t>)</a:t>
            </a:r>
            <a:br/>
            <a:br/>
            <a:r>
              <a:rPr>
                <a:solidFill>
                  <a:srgbClr val="4758AB"/>
                </a:solidFill>
                <a:latin typeface="Courier"/>
              </a:rPr>
              <a:t>c</a:t>
            </a:r>
            <a:r>
              <a:rPr>
                <a:solidFill>
                  <a:srgbClr val="003B4F"/>
                </a:solidFill>
                <a:latin typeface="Courier"/>
              </a:rPr>
              <a:t>(</a:t>
            </a:r>
            <a:r>
              <a:rPr>
                <a:solidFill>
                  <a:srgbClr val="657422"/>
                </a:solidFill>
                <a:latin typeface="Courier"/>
              </a:rPr>
              <a:t>total =</a:t>
            </a:r>
            <a:r>
              <a:rPr>
                <a:solidFill>
                  <a:srgbClr val="003B4F"/>
                </a:solidFill>
                <a:latin typeface="Courier"/>
              </a:rPr>
              <a:t> ss_total, </a:t>
            </a:r>
            <a:r>
              <a:rPr>
                <a:solidFill>
                  <a:srgbClr val="657422"/>
                </a:solidFill>
                <a:latin typeface="Courier"/>
              </a:rPr>
              <a:t>among =</a:t>
            </a:r>
            <a:r>
              <a:rPr>
                <a:solidFill>
                  <a:srgbClr val="003B4F"/>
                </a:solidFill>
                <a:latin typeface="Courier"/>
              </a:rPr>
              <a:t> ss_among, </a:t>
            </a:r>
            <a:r>
              <a:rPr>
                <a:solidFill>
                  <a:srgbClr val="657422"/>
                </a:solidFill>
                <a:latin typeface="Courier"/>
              </a:rPr>
              <a:t>within =</a:t>
            </a:r>
            <a:r>
              <a:rPr>
                <a:solidFill>
                  <a:srgbClr val="003B4F"/>
                </a:solidFill>
                <a:latin typeface="Courier"/>
              </a:rPr>
              <a:t> ss_within)</a:t>
            </a:r>
          </a:p>
          <a:p>
            <a:pPr lvl="0" indent="0">
              <a:buNone/>
            </a:pPr>
            <a:r>
              <a:rPr>
                <a:latin typeface="Courier"/>
              </a:rPr>
              <a:t>   total    among   within 
6.108929 2.641310 3.467619 </a:t>
            </a:r>
          </a:p>
          <a:p>
            <a:pPr lvl="0" indent="0">
              <a:buNone/>
            </a:pPr>
            <a:r>
              <a:rPr>
                <a:solidFill>
                  <a:srgbClr val="003B4F"/>
                </a:solidFill>
                <a:latin typeface="Courier"/>
              </a:rPr>
              <a:t>ss_among </a:t>
            </a:r>
            <a:r>
              <a:rPr>
                <a:solidFill>
                  <a:srgbClr val="5E5E5E"/>
                </a:solidFill>
                <a:latin typeface="Courier"/>
              </a:rPr>
              <a:t>+</a:t>
            </a:r>
            <a:r>
              <a:rPr>
                <a:solidFill>
                  <a:srgbClr val="003B4F"/>
                </a:solidFill>
                <a:latin typeface="Courier"/>
              </a:rPr>
              <a:t> ss_within</a:t>
            </a:r>
          </a:p>
          <a:p>
            <a:pPr lvl="0" indent="0">
              <a:buNone/>
            </a:pPr>
            <a:r>
              <a:rPr>
                <a:latin typeface="Courier"/>
              </a:rPr>
              <a:t>[1] 6.108929</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2.641 + 3.468 = 6.109</a:t>
                </a:r>
                <a:r>
                  <a:rPr/>
                  <a:t> — exactly, as it must.</a:t>
                </a:r>
              </a:p>
              <a:p>
                <a:pPr lvl="0" indent="0" marL="1270000">
                  <a:buNone/>
                </a:pPr>
                <a:r>
                  <a:rPr sz="2000" b="1"/>
                  <a:t>Important</a:t>
                </a:r>
              </a:p>
              <a:p>
                <a:pPr lvl="0" indent="0" marL="1270000">
                  <a:buNone/>
                </a:pPr>
                <a:r>
                  <a:rPr sz="2000" b="1"/>
                  <a:t>✅ The same identity as regression</a:t>
                </a:r>
              </a:p>
              <a:p>
                <a:pPr lvl="0"/>
                <a14:m>
                  <m:oMath xmlns:m="http://schemas.openxmlformats.org/officeDocument/2006/math">
                    <m:r>
                      <m:t>S</m:t>
                    </m:r>
                    <m:sSub>
                      <m:e>
                        <m:r>
                          <m:t>S</m:t>
                        </m:r>
                      </m:e>
                      <m:sub>
                        <m:r>
                          <m:t>a</m:t>
                        </m:r>
                        <m:r>
                          <m:t>m</m:t>
                        </m:r>
                        <m:r>
                          <m:t>o</m:t>
                        </m:r>
                        <m:r>
                          <m:t>n</m:t>
                        </m:r>
                        <m:r>
                          <m:t>g</m:t>
                        </m:r>
                      </m:sub>
                    </m:sSub>
                  </m:oMath>
                </a14:m>
                <a:r>
                  <a:rPr sz="2000"/>
                  <a:t> here is </a:t>
                </a:r>
                <a14:m>
                  <m:oMath xmlns:m="http://schemas.openxmlformats.org/officeDocument/2006/math">
                    <m:r>
                      <m:t>S</m:t>
                    </m:r>
                    <m:sSub>
                      <m:e>
                        <m:r>
                          <m:t>S</m:t>
                        </m:r>
                      </m:e>
                      <m:sub>
                        <m:r>
                          <m:t>r</m:t>
                        </m:r>
                        <m:r>
                          <m:t>e</m:t>
                        </m:r>
                        <m:r>
                          <m:t>g</m:t>
                        </m:r>
                        <m:r>
                          <m:t>r</m:t>
                        </m:r>
                        <m:r>
                          <m:t>e</m:t>
                        </m:r>
                        <m:r>
                          <m:t>s</m:t>
                        </m:r>
                        <m:r>
                          <m:t>s</m:t>
                        </m:r>
                        <m:r>
                          <m:t>i</m:t>
                        </m:r>
                        <m:r>
                          <m:t>o</m:t>
                        </m:r>
                        <m:r>
                          <m:t>n</m:t>
                        </m:r>
                      </m:sub>
                    </m:sSub>
                  </m:oMath>
                </a14:m>
                <a:r>
                  <a:rPr sz="2000"/>
                  <a:t> there</a:t>
                </a:r>
              </a:p>
              <a:p>
                <a:pPr lvl="0"/>
                <a14:m>
                  <m:oMath xmlns:m="http://schemas.openxmlformats.org/officeDocument/2006/math">
                    <m:r>
                      <m:t>S</m:t>
                    </m:r>
                    <m:sSub>
                      <m:e>
                        <m:r>
                          <m:t>S</m:t>
                        </m:r>
                      </m:e>
                      <m:sub>
                        <m:r>
                          <m:t>w</m:t>
                        </m:r>
                        <m:r>
                          <m:t>i</m:t>
                        </m:r>
                        <m:r>
                          <m:t>t</m:t>
                        </m:r>
                        <m:r>
                          <m:t>h</m:t>
                        </m:r>
                        <m:r>
                          <m:t>i</m:t>
                        </m:r>
                        <m:r>
                          <m:t>n</m:t>
                        </m:r>
                      </m:sub>
                    </m:sSub>
                  </m:oMath>
                </a14:m>
                <a:r>
                  <a:rPr sz="2000"/>
                  <a:t> here is </a:t>
                </a:r>
                <a14:m>
                  <m:oMath xmlns:m="http://schemas.openxmlformats.org/officeDocument/2006/math">
                    <m:r>
                      <m:t>S</m:t>
                    </m:r>
                    <m:sSub>
                      <m:e>
                        <m:r>
                          <m:t>S</m:t>
                        </m:r>
                      </m:e>
                      <m:sub>
                        <m:r>
                          <m:t>r</m:t>
                        </m:r>
                        <m:r>
                          <m:t>e</m:t>
                        </m:r>
                        <m:r>
                          <m:t>s</m:t>
                        </m:r>
                        <m:r>
                          <m:t>i</m:t>
                        </m:r>
                        <m:r>
                          <m:t>d</m:t>
                        </m:r>
                        <m:r>
                          <m:t>u</m:t>
                        </m:r>
                        <m:r>
                          <m:t>a</m:t>
                        </m:r>
                        <m:r>
                          <m:t>l</m:t>
                        </m:r>
                      </m:sub>
                    </m:sSub>
                  </m:oMath>
                </a14:m>
                <a:r>
                  <a:rPr sz="2000"/>
                  <a:t> there</a:t>
                </a:r>
              </a:p>
              <a:p>
                <a:pPr lvl="0" indent="0" marL="1270000">
                  <a:buNone/>
                </a:pPr>
                <a:r>
                  <a:rPr sz="2000"/>
                  <a:t>Different names, same partition, same arithmetic.</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 from R</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crab_model &lt;- </a:t>
            </a: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crab_df)</a:t>
            </a:r>
            <a:br/>
            <a:br/>
            <a:r>
              <a:rPr>
                <a:solidFill>
                  <a:srgbClr val="4758AB"/>
                </a:solidFill>
                <a:latin typeface="Courier"/>
              </a:rPr>
              <a:t>anova</a:t>
            </a:r>
            <a:r>
              <a:rPr>
                <a:solidFill>
                  <a:srgbClr val="003B4F"/>
                </a:solidFill>
                <a:latin typeface="Courier"/>
              </a:rPr>
              <a:t>(crab_model)</a:t>
            </a:r>
          </a:p>
          <a:p>
            <a:pPr lvl="0" indent="0">
              <a:buNone/>
            </a:pPr>
            <a:r>
              <a:rPr>
                <a:latin typeface="Courier"/>
              </a:rPr>
              <a:t>Analysis of Variance Table
Response: body_temp_c
          Df Sum Sq Mean Sq F value    Pr(&gt;F)    
crab_type  3 2.6413 0.88044  20.312 6.997e-10 ***
Residuals 80 3.4676 0.04335                      
---
Signif. codes:  0 '***' 0.001 '**' 0.01 '*' 0.05 '.' 0.1 ' ' 1</a:t>
            </a:r>
          </a:p>
        </p:txBody>
      </p:sp>
      <p:sp>
        <p:nvSpPr>
          <p:cNvPr id="4" name="Content Placeholder 3"/>
          <p:cNvSpPr>
            <a:spLocks noGrp="1"/>
          </p:cNvSpPr>
          <p:nvPr>
            <p:ph idx="2" sz="half"/>
          </p:nvPr>
        </p:nvSpPr>
        <p:spPr/>
        <p:txBody>
          <a:bodyPr/>
          <a:lstStyle/>
          <a:p>
            <a:pPr lvl="0" indent="0" marL="0">
              <a:buNone/>
            </a:pPr>
            <a:r>
              <a:rPr/>
              <a:t>Every number is one you just built:</a:t>
            </a:r>
          </a:p>
          <a:p>
            <a:pPr lvl="0"/>
            <a:r>
              <a:rPr b="1"/>
              <a:t>Sum Sq</a:t>
            </a:r>
            <a:r>
              <a:rPr/>
              <a:t> — 2.64 and 3.47</a:t>
            </a:r>
          </a:p>
          <a:p>
            <a:pPr lvl="0"/>
            <a:r>
              <a:rPr b="1"/>
              <a:t>Df</a:t>
            </a:r>
            <a:r>
              <a:rPr/>
              <a:t> — a − 1 = 3, N − a = 80</a:t>
            </a:r>
          </a:p>
          <a:p>
            <a:pPr lvl="0"/>
            <a:r>
              <a:rPr b="1"/>
              <a:t>Mean Sq</a:t>
            </a:r>
            <a:r>
              <a:rPr/>
              <a:t> — Sum Sq ÷ Df</a:t>
            </a:r>
          </a:p>
          <a:p>
            <a:pPr lvl="0"/>
            <a:r>
              <a:rPr b="1"/>
              <a:t>F value</a:t>
            </a:r>
            <a:r>
              <a:rPr/>
              <a:t> — the ratio of those two mean squares</a:t>
            </a:r>
          </a:p>
          <a:p>
            <a:pPr lvl="0" indent="0" marL="0">
              <a:buNone/>
            </a:pPr>
            <a:r>
              <a:rPr b="1"/>
              <a:t>F = 20.31, p = 7.00e-10.</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What Does That F Tell You?</a:t>
            </a:r>
          </a:p>
        </p:txBody>
      </p:sp>
      <p:sp>
        <p:nvSpPr>
          <p:cNvPr id="3" name="Content Placeholder 2"/>
          <p:cNvSpPr>
            <a:spLocks noGrp="1"/>
          </p:cNvSpPr>
          <p:nvPr>
            <p:ph idx="1" sz="half"/>
          </p:nvPr>
        </p:nvSpPr>
        <p:spPr/>
        <p:txBody>
          <a:bodyPr/>
          <a:lstStyle/>
          <a:p>
            <a:pPr lvl="0" indent="0" marL="0">
              <a:buNone/>
            </a:pPr>
            <a:r>
              <a:rPr/>
              <a:t>The ANOVA returns </a:t>
            </a:r>
            <a:r>
              <a:rPr b="1"/>
              <a:t>F = 20.31, p = 7.00e-10</a:t>
            </a:r>
            <a:r>
              <a:rPr/>
              <a:t>.</a:t>
            </a:r>
          </a:p>
          <a:p>
            <a:pPr lvl="0" indent="0" marL="0">
              <a:buNone/>
            </a:pPr>
            <a:r>
              <a:rPr b="1"/>
              <a:t>What have you just learned?</a:t>
            </a:r>
          </a:p>
          <a:p>
            <a:pPr lvl="0" indent="0" marL="0">
              <a:buNone/>
            </a:pPr>
            <a:r>
              <a:rPr b="1"/>
              <a:t>(a)</a:t>
            </a:r>
            <a:r>
              <a:rPr/>
              <a:t> All four crab types have different mean temperatures</a:t>
            </a:r>
          </a:p>
          <a:p>
            <a:pPr lvl="0" indent="0" marL="0">
              <a:buNone/>
            </a:pPr>
            <a:r>
              <a:rPr b="1"/>
              <a:t>(b)</a:t>
            </a:r>
            <a:r>
              <a:rPr/>
              <a:t> At least one crab type differs from at least one other</a:t>
            </a:r>
          </a:p>
          <a:p>
            <a:pPr lvl="0" indent="0" marL="0">
              <a:buNone/>
            </a:pPr>
            <a:r>
              <a:rPr b="1"/>
              <a:t>(c)</a:t>
            </a:r>
            <a:r>
              <a:rPr/>
              <a:t> Removing the major claw raises body temperature</a:t>
            </a:r>
          </a:p>
          <a:p>
            <a:pPr lvl="0" indent="0" marL="0">
              <a:buNone/>
            </a:pPr>
            <a:r>
              <a:rPr b="1"/>
              <a:t>(d)</a:t>
            </a:r>
            <a:r>
              <a:rPr/>
              <a:t> The major claw explains 43.2% of the variation in temperature, so the radiator hypothesis is supported</a:t>
            </a:r>
          </a:p>
          <a:p>
            <a:pPr lvl="0" indent="0" marL="1270000">
              <a:buNone/>
            </a:pPr>
            <a:r>
              <a:rPr sz="2000" b="1"/>
              <a:t>Warning</a:t>
            </a:r>
          </a:p>
          <a:p>
            <a:pPr lvl="0" indent="0" marL="1270000">
              <a:buNone/>
            </a:pPr>
            <a:r>
              <a:rPr sz="2000" b="1"/>
              <a:t>✍️ One letter. Write it down.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What was the null hypothesis, exactly?</a:t>
            </a:r>
          </a:p>
          <a:p>
            <a:pPr lvl="0" indent="0" marL="1270000">
              <a:buNone/>
            </a:pPr>
            <a:r>
              <a:rPr sz="2000"/>
              <a:t>A test can only tell you about the hypothesis it tested.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F Does and Does Not Say</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r>
              <a:rPr sz="2000"/>
              <a:t>H₀ was “all four means are equal.” Rejecting it says </a:t>
            </a:r>
            <a:r>
              <a:rPr sz="2000" b="1"/>
              <a:t>at least one</a:t>
            </a:r>
            <a:r>
              <a:rPr sz="2000"/>
              <a:t> differs — not which, not how many, and not in which direction.</a:t>
            </a:r>
          </a:p>
          <a:p>
            <a:pPr lvl="0" indent="0" marL="1270000">
              <a:buNone/>
            </a:pPr>
            <a:r>
              <a:rPr sz="2000" b="1"/>
              <a:t>(a)</a:t>
            </a:r>
            <a:r>
              <a:rPr sz="2000"/>
              <a:t> claims far more than the test supports. </a:t>
            </a:r>
            <a:r>
              <a:rPr sz="2000" b="1"/>
              <a:t>(c)</a:t>
            </a:r>
            <a:r>
              <a:rPr sz="2000"/>
              <a:t> is a directional claim about one specific pair; that needs a post-hoc comparison, and Part 8 shows it is not even true. </a:t>
            </a:r>
            <a:r>
              <a:rPr sz="2000" b="1"/>
              <a:t>(d)</a:t>
            </a:r>
            <a:r>
              <a:rPr sz="2000"/>
              <a:t> misreads R²: 0.432 is the variance explained by </a:t>
            </a:r>
            <a:r>
              <a:rPr sz="2000" b="1"/>
              <a:t>crab type</a:t>
            </a:r>
            <a:r>
              <a:rPr sz="2000"/>
              <a:t>, which bundles sex and two surgeries together, not by the claw alone.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The most common ANOVA mistake</a:t>
            </a:r>
          </a:p>
          <a:p>
            <a:pPr lvl="0" indent="0" marL="1270000">
              <a:buNone/>
            </a:pPr>
            <a:r>
              <a:rPr sz="2000"/>
              <a:t>Reporting a significant F and then describing whichever group means look farthest apart, as though the F test had said so.</a:t>
            </a:r>
          </a:p>
          <a:p>
            <a:pPr lvl="0" indent="0" marL="1270000">
              <a:buNone/>
            </a:pPr>
            <a:r>
              <a:rPr sz="2000" b="1"/>
              <a:t>It did not.</a:t>
            </a:r>
            <a:r>
              <a:rPr sz="2000"/>
              <a:t> The F test is an entry ticket, not an answer.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F Actually 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w</m:t>
                              </m:r>
                              <m:r>
                                <m:t>i</m:t>
                              </m:r>
                              <m:r>
                                <m:t>t</m:t>
                              </m:r>
                              <m:r>
                                <m:t>h</m:t>
                              </m:r>
                              <m:r>
                                <m:t>i</m:t>
                              </m:r>
                              <m:r>
                                <m:t>n</m:t>
                              </m:r>
                            </m:sub>
                          </m:sSub>
                        </m:den>
                      </m:f>
                    </m:oMath>
                  </m:oMathPara>
                </a14:m>
              </a:p>
              <a:p>
                <a:pPr lvl="0"/>
                <a14:m>
                  <m:oMath xmlns:m="http://schemas.openxmlformats.org/officeDocument/2006/math">
                    <m:r>
                      <m:t>M</m:t>
                    </m:r>
                    <m:sSub>
                      <m:e>
                        <m:r>
                          <m:t>S</m:t>
                        </m:r>
                      </m:e>
                      <m:sub>
                        <m:r>
                          <m:t>w</m:t>
                        </m:r>
                        <m:r>
                          <m:t>i</m:t>
                        </m:r>
                        <m:r>
                          <m:t>t</m:t>
                        </m:r>
                        <m:r>
                          <m:t>h</m:t>
                        </m:r>
                        <m:r>
                          <m:t>i</m:t>
                        </m:r>
                        <m:r>
                          <m:t>n</m:t>
                        </m:r>
                      </m:sub>
                    </m:sSub>
                  </m:oMath>
                </a14:m>
                <a:r>
                  <a:rPr/>
                  <a:t> estimates the background variance σ² — pooled from inside the groups, where the treatment cannot reach</a:t>
                </a:r>
              </a:p>
              <a:p>
                <a:pPr lvl="0"/>
                <a14:m>
                  <m:oMath xmlns:m="http://schemas.openxmlformats.org/officeDocument/2006/math">
                    <m:r>
                      <m:t>M</m:t>
                    </m:r>
                    <m:sSub>
                      <m:e>
                        <m:r>
                          <m:t>S</m:t>
                        </m:r>
                      </m:e>
                      <m:sub>
                        <m:r>
                          <m:t>a</m:t>
                        </m:r>
                        <m:r>
                          <m:t>m</m:t>
                        </m:r>
                        <m:r>
                          <m:t>o</m:t>
                        </m:r>
                        <m:r>
                          <m:t>n</m:t>
                        </m:r>
                        <m:r>
                          <m:t>g</m:t>
                        </m:r>
                      </m:sub>
                    </m:sSub>
                  </m:oMath>
                </a14:m>
                <a:r>
                  <a:rPr/>
                  <a:t> estimates that </a:t>
                </a:r>
                <a:r>
                  <a:rPr b="1"/>
                  <a:t>same</a:t>
                </a:r>
                <a:r>
                  <a:rPr/>
                  <a:t> σ², </a:t>
                </a:r>
                <a:r>
                  <a:rPr i="1"/>
                  <a:t>plus</a:t>
                </a:r>
                <a:r>
                  <a:rPr/>
                  <a:t> anything real that separates the group means</a:t>
                </a:r>
              </a:p>
              <a:p>
                <a:pPr lvl="0"/>
                <a:r>
                  <a:rPr b="1"/>
                  <a:t>If H₀ is true, both estimate σ² and F ≈ 1</a:t>
                </a:r>
              </a:p>
              <a:p>
                <a:pPr lvl="0" indent="0" marL="0">
                  <a:buNone/>
                </a:pPr>
                <a:r>
                  <a:rPr/>
                  <a:t>Here F = </a:t>
                </a:r>
                <a:r>
                  <a:rPr b="1"/>
                  <a:t>20.31</a:t>
                </a:r>
                <a:r>
                  <a:rPr/>
                  <a:t> — the group means are 20 times further apart than within-group noise alone can explain.</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Why F is never negative</a:t>
            </a:r>
          </a:p>
          <a:p>
            <a:pPr lvl="0" indent="0" marL="1270000">
              <a:buNone/>
            </a:pPr>
            <a:r>
              <a:rPr sz="2000"/>
              <a:t>It is a ratio of two variances, and a variance is a sum of </a:t>
            </a:r>
            <a:r>
              <a:rPr sz="2000" b="1"/>
              <a:t>squares</a:t>
            </a:r>
            <a:r>
              <a:rPr sz="2000"/>
              <a:t>. The direction of a difference disappears the moment you square it — which is why a significant F cannot tell you which way anything went.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 and t Are the Same Test</a:t>
            </a:r>
          </a:p>
        </p:txBody>
      </p:sp>
      <p:sp>
        <p:nvSpPr>
          <p:cNvPr id="3" name="Content Placeholder 2"/>
          <p:cNvSpPr>
            <a:spLocks noGrp="1"/>
          </p:cNvSpPr>
          <p:nvPr>
            <p:ph idx="1" sz="half"/>
          </p:nvPr>
        </p:nvSpPr>
        <p:spPr/>
        <p:txBody>
          <a:bodyPr/>
          <a:lstStyle/>
          <a:p>
            <a:pPr lvl="0" indent="0" marL="0">
              <a:buNone/>
            </a:pPr>
            <a:r>
              <a:rPr/>
              <a:t>Take just two of the four groups — intact males and females — and test them both ways:</a:t>
            </a:r>
          </a:p>
          <a:p>
            <a:pPr lvl="0" indent="0">
              <a:buNone/>
            </a:pPr>
            <a:r>
              <a:rPr>
                <a:solidFill>
                  <a:srgbClr val="003B4F"/>
                </a:solidFill>
                <a:latin typeface="Courier"/>
              </a:rPr>
              <a:t>crab_two &lt;- crab_df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(crab_type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"intact male"</a:t>
            </a:r>
            <a:r>
              <a:rPr>
                <a:solidFill>
                  <a:srgbClr val="003B4F"/>
                </a:solidFill>
                <a:latin typeface="Courier"/>
              </a:rPr>
              <a:t>, </a:t>
            </a:r>
            <a:r>
              <a:rPr>
                <a:solidFill>
                  <a:srgbClr val="20794D"/>
                </a:solidFill>
                <a:latin typeface="Courier"/>
              </a:rPr>
              <a:t>"female"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droplevels</a:t>
            </a:r>
            <a:r>
              <a:rPr>
                <a:solidFill>
                  <a:srgbClr val="003B4F"/>
                </a:solidFill>
                <a:latin typeface="Courier"/>
              </a:rPr>
              <a:t>()</a:t>
            </a:r>
            <a:br/>
            <a:br/>
            <a:r>
              <a:rPr>
                <a:solidFill>
                  <a:srgbClr val="4758AB"/>
                </a:solidFill>
                <a:latin typeface="Courier"/>
              </a:rPr>
              <a:t>t.test</a:t>
            </a:r>
            <a:r>
              <a:rPr>
                <a:solidFill>
                  <a:srgbClr val="003B4F"/>
                </a:solidFill>
                <a:latin typeface="Courier"/>
              </a:rPr>
              <a:t>(body_temp_c </a:t>
            </a:r>
            <a:r>
              <a:rPr>
                <a:solidFill>
                  <a:srgbClr val="5E5E5E"/>
                </a:solidFill>
                <a:latin typeface="Courier"/>
              </a:rPr>
              <a:t>~</a:t>
            </a:r>
            <a:r>
              <a:rPr>
                <a:solidFill>
                  <a:srgbClr val="003B4F"/>
                </a:solidFill>
                <a:latin typeface="Courier"/>
              </a:rPr>
              <a:t> crab_type,</a:t>
            </a:r>
            <a:br/>
            <a:r>
              <a:rPr>
                <a:solidFill>
                  <a:srgbClr val="003B4F"/>
                </a:solidFill>
                <a:latin typeface="Courier"/>
              </a:rPr>
              <a:t>       </a:t>
            </a:r>
            <a:r>
              <a:rPr>
                <a:solidFill>
                  <a:srgbClr val="657422"/>
                </a:solidFill>
                <a:latin typeface="Courier"/>
              </a:rPr>
              <a:t>data =</a:t>
            </a:r>
            <a:r>
              <a:rPr>
                <a:solidFill>
                  <a:srgbClr val="003B4F"/>
                </a:solidFill>
                <a:latin typeface="Courier"/>
              </a:rPr>
              <a:t> crab_two,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a:t>
            </a:r>
            <a:r>
              <a:rPr>
                <a:solidFill>
                  <a:srgbClr val="5E5E5E"/>
                </a:solidFill>
                <a:latin typeface="Courier"/>
              </a:rPr>
              <a:t>$</a:t>
            </a:r>
            <a:r>
              <a:rPr>
                <a:solidFill>
                  <a:srgbClr val="003B4F"/>
                </a:solidFill>
                <a:latin typeface="Courier"/>
              </a:rPr>
              <a:t>statistic</a:t>
            </a:r>
          </a:p>
          <a:p>
            <a:pPr lvl="0" indent="0">
              <a:buNone/>
            </a:pPr>
            <a:r>
              <a:rPr>
                <a:latin typeface="Courier"/>
              </a:rPr>
              <a:t>       t 
5.958321 </a:t>
            </a:r>
          </a:p>
          <a:p>
            <a:pPr lvl="0" indent="0">
              <a:buNone/>
            </a:pPr>
            <a:r>
              <a:rPr>
                <a:solidFill>
                  <a:srgbClr val="4758AB"/>
                </a:solidFill>
                <a:latin typeface="Courier"/>
              </a:rPr>
              <a:t>anova</a:t>
            </a:r>
            <a:r>
              <a:rPr>
                <a:solidFill>
                  <a:srgbClr val="003B4F"/>
                </a:solidFill>
                <a:latin typeface="Courier"/>
              </a:rPr>
              <a:t>(</a:t>
            </a: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a:t>
            </a:r>
            <a:br/>
            <a:r>
              <a:rPr>
                <a:solidFill>
                  <a:srgbClr val="003B4F"/>
                </a:solidFill>
                <a:latin typeface="Courier"/>
              </a:rPr>
              <a:t>         </a:t>
            </a:r>
            <a:r>
              <a:rPr>
                <a:solidFill>
                  <a:srgbClr val="657422"/>
                </a:solidFill>
                <a:latin typeface="Courier"/>
              </a:rPr>
              <a:t>data =</a:t>
            </a:r>
            <a:r>
              <a:rPr>
                <a:solidFill>
                  <a:srgbClr val="003B4F"/>
                </a:solidFill>
                <a:latin typeface="Courier"/>
              </a:rPr>
              <a:t> crab_two))[</a:t>
            </a:r>
            <a:r>
              <a:rPr>
                <a:solidFill>
                  <a:srgbClr val="AD0000"/>
                </a:solidFill>
                <a:latin typeface="Courier"/>
              </a:rPr>
              <a:t>1</a:t>
            </a:r>
            <a:r>
              <a:rPr>
                <a:solidFill>
                  <a:srgbClr val="003B4F"/>
                </a:solidFill>
                <a:latin typeface="Courier"/>
              </a:rPr>
              <a:t>, </a:t>
            </a:r>
            <a:r>
              <a:rPr>
                <a:solidFill>
                  <a:srgbClr val="20794D"/>
                </a:solidFill>
                <a:latin typeface="Courier"/>
              </a:rPr>
              <a:t>"F value"</a:t>
            </a:r>
            <a:r>
              <a:rPr>
                <a:solidFill>
                  <a:srgbClr val="003B4F"/>
                </a:solidFill>
                <a:latin typeface="Courier"/>
              </a:rPr>
              <a:t>]</a:t>
            </a:r>
          </a:p>
          <a:p>
            <a:pPr lvl="0" indent="0">
              <a:buNone/>
            </a:pPr>
            <a:r>
              <a:rPr>
                <a:latin typeface="Courier"/>
              </a:rPr>
              <a:t>[1] 35.50158</a:t>
            </a:r>
          </a:p>
        </p:txBody>
      </p:sp>
      <p:sp>
        <p:nvSpPr>
          <p:cNvPr id="4" name="Content Placeholder 3"/>
          <p:cNvSpPr>
            <a:spLocks noGrp="1"/>
          </p:cNvSpPr>
          <p:nvPr>
            <p:ph idx="2" sz="half"/>
          </p:nvPr>
        </p:nvSpPr>
        <p:spPr/>
        <p:txBody>
          <a:bodyPr/>
          <a:lstStyle/>
          <a:p>
            <a:pPr lvl="0" indent="0" marL="0">
              <a:buNone/>
            </a:pPr>
            <a:r>
              <a:rPr b="1"/>
              <a:t>t = 5.958</a:t>
            </a:r>
            <a:r>
              <a:rPr/>
              <a:t>, so </a:t>
            </a:r>
            <a:r>
              <a:rPr b="1"/>
              <a:t>t² = 35.5</a:t>
            </a:r>
            <a:r>
              <a:rPr/>
              <a:t> — and </a:t>
            </a:r>
            <a:r>
              <a:rPr b="1"/>
              <a:t>F = 35.5</a:t>
            </a:r>
            <a:r>
              <a:rPr/>
              <a:t>.</a:t>
            </a:r>
          </a:p>
          <a:p>
            <a:pPr lvl="0" indent="0" marL="0">
              <a:buNone/>
            </a:pPr>
            <a:r>
              <a:rPr/>
              <a:t>Identical, with identical p-values.</a:t>
            </a:r>
          </a:p>
          <a:p>
            <a:pPr lvl="0" indent="0" marL="1270000">
              <a:buNone/>
            </a:pPr>
            <a:r>
              <a:rPr sz="2000" b="1"/>
              <a:t>Important</a:t>
            </a:r>
          </a:p>
          <a:p>
            <a:pPr lvl="0" indent="0" marL="1270000">
              <a:buNone/>
            </a:pPr>
            <a:r>
              <a:rPr sz="2000" b="1"/>
              <a:t>✅ ANOVA generalises the t-test</a:t>
            </a:r>
          </a:p>
          <a:p>
            <a:pPr lvl="0" indent="0" marL="1270000">
              <a:buNone/>
            </a:pPr>
            <a:r>
              <a:rPr sz="2000"/>
              <a:t>With two groups they are the same test. With three or more, the t-test has nowhere to go and ANOVA does.</a:t>
            </a:r>
          </a:p>
          <a:p>
            <a:pPr lvl="0" indent="0" marL="1270000">
              <a:buNone/>
            </a:pPr>
            <a:r>
              <a:rPr sz="2000"/>
              <a:t>This is the same </a:t>
            </a:r>
            <a:r>
              <a:rPr sz="2000" b="1"/>
              <a:t>t² = F</a:t>
            </a:r>
            <a:r>
              <a:rPr sz="2000"/>
              <a:t> identity you proved on a regression slope in Week 6.</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r>
                        <m:rPr>
                          <m:sty m:val="p"/>
                        </m:rPr>
                        <m:t>=</m:t>
                      </m:r>
                      <m:f>
                        <m:fPr>
                          <m:type m:val="bar"/>
                        </m:fPr>
                        <m:num>
                          <m:r>
                            <m:t>2.64</m:t>
                          </m:r>
                        </m:num>
                        <m:den>
                          <m:r>
                            <m:t>6.11</m:t>
                          </m:r>
                        </m:den>
                      </m:f>
                      <m:r>
                        <m:rPr>
                          <m:sty m:val="p"/>
                        </m:rPr>
                        <m:t>=</m:t>
                      </m:r>
                      <m:r>
                        <m:t>0.432</m:t>
                      </m:r>
                    </m:oMath>
                  </m:oMathPara>
                </a14:m>
              </a:p>
              <a:p>
                <a:pPr lvl="0" indent="0" marL="0">
                  <a:buNone/>
                </a:pPr>
                <a:r>
                  <a:rPr/>
                  <a:t>Crab type accounts for about </a:t>
                </a:r>
                <a:r>
                  <a:rPr b="1"/>
                  <a:t>43.2%</a:t>
                </a:r>
                <a:r>
                  <a:rPr/>
                  <a:t> of the variation in body temperature. The rest is individual crabs being individual crabs.</a:t>
                </a:r>
              </a:p>
              <a:p>
                <a:pPr lvl="0" indent="0">
                  <a:buNone/>
                </a:pPr>
                <a:r>
                  <a:rPr>
                    <a:solidFill>
                      <a:srgbClr val="4758AB"/>
                    </a:solidFill>
                    <a:latin typeface="Courier"/>
                  </a:rPr>
                  <a:t>summary</a:t>
                </a:r>
                <a:r>
                  <a:rPr>
                    <a:solidFill>
                      <a:srgbClr val="003B4F"/>
                    </a:solidFill>
                    <a:latin typeface="Courier"/>
                  </a:rPr>
                  <a:t>(crab_model)</a:t>
                </a:r>
                <a:r>
                  <a:rPr>
                    <a:solidFill>
                      <a:srgbClr val="5E5E5E"/>
                    </a:solidFill>
                    <a:latin typeface="Courier"/>
                  </a:rPr>
                  <a:t>$</a:t>
                </a:r>
                <a:r>
                  <a:rPr>
                    <a:solidFill>
                      <a:srgbClr val="003B4F"/>
                    </a:solidFill>
                    <a:latin typeface="Courier"/>
                  </a:rPr>
                  <a:t>r.squared</a:t>
                </a:r>
              </a:p>
              <a:p>
                <a:pPr lvl="0" indent="0">
                  <a:buNone/>
                </a:pPr>
                <a:r>
                  <a:rPr>
                    <a:latin typeface="Courier"/>
                  </a:rPr>
                  <a:t>[1] 0.4323687</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Significant and partial, at the same time</a:t>
            </a:r>
          </a:p>
          <a:p>
            <a:pPr lvl="0" indent="0" marL="1270000">
              <a:buNone/>
            </a:pPr>
            <a:r>
              <a:rPr sz="2000"/>
              <a:t>p = 7.00e-10 says the group differences are not noise. R² = 0.43 says they explain under half of what is going on.</a:t>
            </a:r>
          </a:p>
          <a:p>
            <a:pPr lvl="0" indent="0" marL="1270000">
              <a:buNone/>
            </a:pPr>
            <a:r>
              <a:rPr sz="2000"/>
              <a:t>Both are true, and a results section should carry both.</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Assumptions and Diagnostics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Three Assumptions</a:t>
            </a:r>
          </a:p>
        </p:txBody>
      </p:sp>
      <p:sp>
        <p:nvSpPr>
          <p:cNvPr id="3" name="Content Placeholder 2"/>
          <p:cNvSpPr>
            <a:spLocks noGrp="1"/>
          </p:cNvSpPr>
          <p:nvPr>
            <p:ph idx="1" sz="half"/>
          </p:nvPr>
        </p:nvSpPr>
        <p:spPr/>
        <p:txBody>
          <a:bodyPr/>
          <a:lstStyle/>
          <a:p>
            <a:pPr lvl="0" indent="0" marL="0">
              <a:buNone/>
            </a:pPr>
            <a:r>
              <a:rPr/>
              <a:t>One-way ANOVA assumes:</a:t>
            </a:r>
          </a:p>
          <a:p>
            <a:pPr lvl="0" indent="-342900" marL="342900">
              <a:buAutoNum type="arabicPeriod"/>
            </a:pPr>
            <a:r>
              <a:rPr b="1"/>
              <a:t>Independence</a:t>
            </a:r>
            <a:r>
              <a:rPr/>
              <a:t> — observations do not depend on each other. This one comes from the </a:t>
            </a:r>
            <a:r>
              <a:rPr b="1"/>
              <a:t>design</a:t>
            </a:r>
            <a:r>
              <a:rPr/>
              <a:t>, and no plot can rescue it</a:t>
            </a:r>
          </a:p>
          <a:p>
            <a:pPr lvl="0" indent="-342900" marL="342900">
              <a:buAutoNum type="arabicPeriod"/>
            </a:pPr>
            <a:r>
              <a:rPr b="1"/>
              <a:t>Normality</a:t>
            </a:r>
            <a:r>
              <a:rPr/>
              <a:t> — of the </a:t>
            </a:r>
            <a:r>
              <a:rPr b="1"/>
              <a:t>residuals</a:t>
            </a:r>
            <a:r>
              <a:rPr/>
              <a:t>, not of the raw response</a:t>
            </a:r>
          </a:p>
          <a:p>
            <a:pPr lvl="0" indent="-342900" marL="342900">
              <a:buAutoNum type="arabicPeriod"/>
            </a:pPr>
            <a:r>
              <a:rPr b="1"/>
              <a:t>Equal variance</a:t>
            </a:r>
            <a:r>
              <a:rPr/>
              <a:t> (homoscedasticity) across groups</a:t>
            </a:r>
          </a:p>
          <a:p>
            <a:pPr lvl="0" indent="0" marL="0">
              <a:buNone/>
            </a:pPr>
            <a:r>
              <a:rPr/>
              <a:t>ANOVA is fairly robust to mild departures from 2 and 3 </a:t>
            </a:r>
            <a:r>
              <a:rPr b="1"/>
              <a:t>when the design is balanced</a:t>
            </a:r>
            <a:r>
              <a:rPr/>
              <a:t>, which is one more reason to plan for equal n.</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Normality of what?</a:t>
            </a:r>
          </a:p>
          <a:p>
            <a:pPr lvl="0" indent="0" marL="1270000">
              <a:buNone/>
            </a:pPr>
            <a:r>
              <a:rPr sz="2000"/>
              <a:t>Not </a:t>
            </a:r>
            <a:r>
              <a:rPr sz="2000">
                <a:latin typeface="Courier"/>
              </a:rPr>
              <a:t>body_temp_c</a:t>
            </a:r>
            <a:r>
              <a:rPr sz="2000"/>
              <a:t>. Not each group separately. </a:t>
            </a:r>
            <a:r>
              <a:rPr sz="2000" b="1"/>
              <a:t>The residuals of the fitted model</a:t>
            </a:r>
            <a:r>
              <a:rPr sz="2000"/>
              <a:t> — exactly as in regression.</a:t>
            </a:r>
          </a:p>
          <a:p>
            <a:pPr lvl="0" indent="0" marL="1270000">
              <a:buNone/>
            </a:pPr>
            <a:r>
              <a:rPr sz="2000"/>
              <a:t>A response that looks bimodal because the groups differ is perfectly fine; that is the effect you are testing.</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Diagnostic Plots</a:t>
            </a:r>
          </a:p>
        </p:txBody>
      </p:sp>
      <p:sp>
        <p:nvSpPr>
          <p:cNvPr id="3" name="Content Placeholder 2"/>
          <p:cNvSpPr>
            <a:spLocks noGrp="1"/>
          </p:cNvSpPr>
          <p:nvPr>
            <p:ph idx="1" sz="half"/>
          </p:nvPr>
        </p:nvSpPr>
        <p:spPr/>
        <p:txBody>
          <a:bodyPr/>
          <a:lstStyle/>
          <a:p>
            <a:pPr lvl="0" indent="0" marL="0">
              <a:buNone/>
            </a:pPr>
            <a:r>
              <a:rPr/>
              <a:t>The same four panels you read for a regression:</a:t>
            </a:r>
          </a:p>
          <a:p>
            <a:pPr lvl="0" indent="-342900" marL="342900">
              <a:buAutoNum type="arabicPeriod"/>
            </a:pPr>
            <a:r>
              <a:rPr b="1"/>
              <a:t>Residuals vs fitted</a:t>
            </a:r>
            <a:r>
              <a:rPr/>
              <a:t> — with a factor, the points stack in vertical columns, one per group. You are looking for </a:t>
            </a:r>
            <a:r>
              <a:rPr b="1"/>
              <a:t>equal spread</a:t>
            </a:r>
            <a:r>
              <a:rPr/>
              <a:t> in each column</a:t>
            </a:r>
          </a:p>
          <a:p>
            <a:pPr lvl="0" indent="-342900" marL="342900">
              <a:buAutoNum type="arabicPeriod"/>
            </a:pPr>
            <a:r>
              <a:rPr b="1"/>
              <a:t>QQ plot</a:t>
            </a:r>
            <a:r>
              <a:rPr/>
              <a:t> — residuals against normal</a:t>
            </a:r>
          </a:p>
          <a:p>
            <a:pPr lvl="0" indent="-342900" marL="342900">
              <a:buAutoNum type="arabicPeriod"/>
            </a:pPr>
            <a:r>
              <a:rPr b="1"/>
              <a:t>Scale-location</a:t>
            </a:r>
            <a:r>
              <a:rPr/>
              <a:t> — same check, easier to see</a:t>
            </a:r>
          </a:p>
          <a:p>
            <a:pPr lvl="0" indent="-342900" marL="342900">
              <a:buAutoNum type="arabicPeriod"/>
            </a:pPr>
            <a:r>
              <a:rPr b="1"/>
              <a:t>Residuals vs leverage</a:t>
            </a:r>
            <a:r>
              <a:rPr/>
              <a:t> — influential points</a:t>
            </a:r>
          </a:p>
        </p:txBody>
      </p:sp>
      <p:pic>
        <p:nvPicPr>
          <p:cNvPr descr="analysis_of_variance_lecture_files/figure-pptx/analysis-of-variance-09-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 Equal Variances</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leveneTest</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crab_df)</a:t>
            </a:r>
          </a:p>
          <a:p>
            <a:pPr lvl="0" indent="0">
              <a:buNone/>
            </a:pPr>
            <a:r>
              <a:rPr>
                <a:latin typeface="Courier"/>
              </a:rPr>
              <a:t>Levene's Test for Homogeneity of Variance (center = median)
      Df F value Pr(&gt;F)
group  3  0.1587 0.9238
      80               </a:t>
            </a:r>
          </a:p>
          <a:p>
            <a:pPr lvl="0" indent="0" marL="0">
              <a:buNone/>
            </a:pPr>
            <a:r>
              <a:rPr/>
              <a:t>H₀ is </a:t>
            </a:r>
            <a:r>
              <a:rPr b="1"/>
              <a:t>“the variances are equal”</a:t>
            </a:r>
            <a:r>
              <a:rPr/>
              <a:t>, so a </a:t>
            </a:r>
            <a:r>
              <a:rPr b="1"/>
              <a:t>large</a:t>
            </a:r>
            <a:r>
              <a:rPr/>
              <a:t> p-value is the good outcome — the same backwards logic as Shapiro-Wilk.</a:t>
            </a:r>
          </a:p>
        </p:txBody>
      </p:sp>
      <p:sp>
        <p:nvSpPr>
          <p:cNvPr id="4" name="Content Placeholder 3"/>
          <p:cNvSpPr>
            <a:spLocks noGrp="1"/>
          </p:cNvSpPr>
          <p:nvPr>
            <p:ph idx="2" sz="half"/>
          </p:nvPr>
        </p:nvSpPr>
        <p:spPr/>
        <p:txBody>
          <a:bodyPr/>
          <a:lstStyle/>
          <a:p>
            <a:pPr lvl="0" indent="0" marL="0">
              <a:buNone/>
            </a:pPr>
            <a:r>
              <a:rPr/>
              <a:t>p = 0.924 — nothing to worry about.</a:t>
            </a:r>
          </a:p>
          <a:p>
            <a:pPr lvl="0" indent="0" marL="1270000">
              <a:buNone/>
            </a:pPr>
            <a:r>
              <a:rPr sz="2000" b="1"/>
              <a:t>Tip</a:t>
            </a:r>
          </a:p>
          <a:p>
            <a:pPr lvl="0" indent="0" marL="1270000">
              <a:buNone/>
            </a:pPr>
            <a:r>
              <a:rPr sz="2000" b="1"/>
              <a:t>🖐 Levene vs Bartlett</a:t>
            </a:r>
          </a:p>
          <a:p>
            <a:pPr lvl="0" indent="0" marL="1270000">
              <a:buNone/>
            </a:pPr>
            <a:r>
              <a:rPr sz="2000"/>
              <a:t>Bartlett’s test is more powerful but assumes normality itself. Levene’s works on absolute deviations from the group median, so it is far more robust. Use Levene.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 Normality of the Residuals</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(crab_model))</a:t>
            </a:r>
          </a:p>
          <a:p>
            <a:pPr lvl="0" indent="0">
              <a:buNone/>
            </a:pPr>
            <a:r>
              <a:rPr>
                <a:latin typeface="Courier"/>
              </a:rPr>
              <a:t>
    Shapiro-Wilk normality test
data:  residuals(crab_model)
W = 0.97566, p-value = 0.112</a:t>
            </a:r>
          </a:p>
          <a:p>
            <a:pPr lvl="0" indent="0" marL="0">
              <a:buNone/>
            </a:pPr>
            <a:r>
              <a:rPr/>
              <a:t>Note what goes inside: </a:t>
            </a:r>
            <a:r>
              <a:rPr b="1">
                <a:latin typeface="Courier"/>
              </a:rPr>
              <a:t>residuals(crab_model)</a:t>
            </a:r>
            <a:r>
              <a:rPr/>
              <a:t>.</a:t>
            </a:r>
          </a:p>
        </p:txBody>
      </p:sp>
      <p:sp>
        <p:nvSpPr>
          <p:cNvPr id="4" name="Content Placeholder 3"/>
          <p:cNvSpPr>
            <a:spLocks noGrp="1"/>
          </p:cNvSpPr>
          <p:nvPr>
            <p:ph idx="2" sz="half"/>
          </p:nvPr>
        </p:nvSpPr>
        <p:spPr/>
        <p:txBody>
          <a:bodyPr/>
          <a:lstStyle/>
          <a:p>
            <a:pPr lvl="0" indent="0" marL="0">
              <a:buNone/>
            </a:pPr>
            <a:r>
              <a:rPr/>
              <a:t>p = 0.112 — the residuals are consistent with normal.</a:t>
            </a:r>
          </a:p>
          <a:p>
            <a:pPr lvl="0" indent="0" marL="1270000">
              <a:buNone/>
            </a:pPr>
            <a:r>
              <a:rPr sz="2000" b="1"/>
              <a:t>Warning</a:t>
            </a:r>
          </a:p>
          <a:p>
            <a:pPr lvl="0" indent="0" marL="1270000">
              <a:buNone/>
            </a:pPr>
            <a:r>
              <a:rPr sz="2000" b="1"/>
              <a:t>⚠️ Do not let the test overrule the plot</a:t>
            </a:r>
          </a:p>
          <a:p>
            <a:pPr lvl="0" indent="0" marL="1270000">
              <a:buNone/>
            </a:pPr>
            <a:r>
              <a:rPr sz="2000"/>
              <a:t>At small n it cannot detect real problems; at large n it flags departures too small to matter. The QQ plot is the primary evidence.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Call for All of It</a:t>
            </a:r>
          </a:p>
        </p:txBody>
      </p:sp>
      <p:sp>
        <p:nvSpPr>
          <p:cNvPr id="3" name="Content Placeholder 2"/>
          <p:cNvSpPr>
            <a:spLocks noGrp="1"/>
          </p:cNvSpPr>
          <p:nvPr>
            <p:ph idx="1" sz="half"/>
          </p:nvPr>
        </p:nvSpPr>
        <p:spPr/>
        <p:txBody>
          <a:bodyPr/>
          <a:lstStyle/>
          <a:p>
            <a:pPr lvl="0" indent="0" marL="0">
              <a:buNone/>
            </a:pPr>
            <a:r>
              <a:rPr>
                <a:latin typeface="Courier"/>
              </a:rPr>
              <a:t>performance::check_model()</a:t>
            </a:r>
            <a:r>
              <a:rPr/>
              <a:t> draws every assumption check in one labelled panel, with a plain-English caption on each.</a:t>
            </a:r>
          </a:p>
          <a:p>
            <a:pPr lvl="0" indent="0">
              <a:buNone/>
            </a:pPr>
            <a:r>
              <a:rPr>
                <a:solidFill>
                  <a:srgbClr val="4758AB"/>
                </a:solidFill>
                <a:latin typeface="Courier"/>
              </a:rPr>
              <a:t>check_model</a:t>
            </a:r>
            <a:r>
              <a:rPr>
                <a:solidFill>
                  <a:srgbClr val="003B4F"/>
                </a:solidFill>
                <a:latin typeface="Courier"/>
              </a:rPr>
              <a:t>(crab_model)</a:t>
            </a:r>
          </a:p>
          <a:p>
            <a:pPr lvl="0" indent="0" marL="0">
              <a:buNone/>
            </a:pPr>
            <a:r>
              <a:rPr/>
              <a:t>Useful for a quick look. Still worth knowing what each panel is, which is why we did them one at a time first.</a:t>
            </a:r>
          </a:p>
        </p:txBody>
      </p:sp>
      <p:pic>
        <p:nvPicPr>
          <p:cNvPr descr="analysis_of_variance_lecture_files/figure-pptx/analysis-of-variance-12-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The Reference Level, Again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Sorts Alphabetically — Still</a:t>
            </a:r>
          </a:p>
        </p:txBody>
      </p:sp>
      <p:sp>
        <p:nvSpPr>
          <p:cNvPr id="3" name="Content Placeholder 2"/>
          <p:cNvSpPr>
            <a:spLocks noGrp="1"/>
          </p:cNvSpPr>
          <p:nvPr>
            <p:ph idx="1" sz="half"/>
          </p:nvPr>
        </p:nvSpPr>
        <p:spPr/>
        <p:txBody>
          <a:bodyPr/>
          <a:lstStyle/>
          <a:p>
            <a:pPr lvl="0" indent="0" marL="0">
              <a:buNone/>
            </a:pPr>
            <a:r>
              <a:rPr/>
              <a:t>Read the file without thinking about it and the four crab types become a factor in </a:t>
            </a:r>
            <a:r>
              <a:rPr b="1"/>
              <a:t>alphabetical</a:t>
            </a:r>
            <a:r>
              <a:rPr/>
              <a:t> order:</a:t>
            </a:r>
          </a:p>
          <a:p>
            <a:pPr lvl="0" indent="0">
              <a:buNone/>
            </a:pPr>
            <a:r>
              <a:rPr>
                <a:solidFill>
                  <a:srgbClr val="4758AB"/>
                </a:solidFill>
                <a:latin typeface="Courier"/>
              </a:rPr>
              <a:t>levels</a:t>
            </a:r>
            <a:r>
              <a:rPr>
                <a:solidFill>
                  <a:srgbClr val="003B4F"/>
                </a:solidFill>
                <a:latin typeface="Courier"/>
              </a:rPr>
              <a:t>(crab_df</a:t>
            </a:r>
            <a:r>
              <a:rPr>
                <a:solidFill>
                  <a:srgbClr val="5E5E5E"/>
                </a:solidFill>
                <a:latin typeface="Courier"/>
              </a:rPr>
              <a:t>$</a:t>
            </a:r>
            <a:r>
              <a:rPr>
                <a:solidFill>
                  <a:srgbClr val="003B4F"/>
                </a:solidFill>
                <a:latin typeface="Courier"/>
              </a:rPr>
              <a:t>crab_type)</a:t>
            </a:r>
          </a:p>
          <a:p>
            <a:pPr lvl="0" indent="0">
              <a:buNone/>
            </a:pPr>
            <a:r>
              <a:rPr>
                <a:latin typeface="Courier"/>
              </a:rPr>
              <a:t>[1] "female"             "intact male"        "male major removed"
[4] "male minor removed"</a:t>
            </a:r>
          </a:p>
          <a:p>
            <a:pPr lvl="0" indent="0" marL="0">
              <a:buNone/>
            </a:pPr>
            <a:r>
              <a:rPr/>
              <a:t>So the reference is </a:t>
            </a:r>
            <a:r>
              <a:rPr b="1"/>
              <a:t>female</a:t>
            </a:r>
            <a:r>
              <a:rPr/>
              <a:t> — and every coefficient in the model becomes “compared with a female crab.”</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That is the wrong baseline for this experiment</a:t>
            </a:r>
          </a:p>
          <a:p>
            <a:pPr lvl="0" indent="0" marL="1270000">
              <a:buNone/>
            </a:pPr>
            <a:r>
              <a:rPr sz="2000"/>
              <a:t>The question is what happens when you </a:t>
            </a:r>
            <a:r>
              <a:rPr sz="2000" b="1"/>
              <a:t>remove a claw from a male</a:t>
            </a:r>
            <a:r>
              <a:rPr sz="2000"/>
              <a:t>. The comparison that answers it is against an </a:t>
            </a:r>
            <a:r>
              <a:rPr sz="2000" b="1"/>
              <a:t>intact male</a:t>
            </a:r>
            <a:r>
              <a:rPr sz="2000"/>
              <a:t>, not against a female.</a:t>
            </a:r>
          </a:p>
          <a:p>
            <a:pPr lvl="0" indent="0" marL="1270000">
              <a:buNone/>
            </a:pPr>
            <a:r>
              <a:rPr sz="2000"/>
              <a:t>The model fits identically either way. The output only answers your question if you tell it what your question was.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Which Crab Is the Control?</a:t>
            </a:r>
          </a:p>
        </p:txBody>
      </p:sp>
      <p:sp>
        <p:nvSpPr>
          <p:cNvPr id="3" name="Content Placeholder 2"/>
          <p:cNvSpPr>
            <a:spLocks noGrp="1"/>
          </p:cNvSpPr>
          <p:nvPr>
            <p:ph idx="1" sz="half"/>
          </p:nvPr>
        </p:nvSpPr>
        <p:spPr/>
        <p:txBody>
          <a:bodyPr/>
          <a:lstStyle/>
          <a:p>
            <a:pPr lvl="0" indent="0" marL="0">
              <a:buNone/>
            </a:pPr>
            <a:r>
              <a:rPr/>
              <a:t>You are about to set the reference level deliberately.</a:t>
            </a:r>
          </a:p>
          <a:p>
            <a:pPr lvl="0" indent="0" marL="0">
              <a:buNone/>
            </a:pPr>
            <a:r>
              <a:rPr b="1"/>
              <a:t>Which level should it be, and why?</a:t>
            </a:r>
          </a:p>
          <a:p>
            <a:pPr lvl="0" indent="0" marL="0">
              <a:buNone/>
            </a:pPr>
            <a:r>
              <a:rPr b="1"/>
              <a:t>(a)</a:t>
            </a:r>
            <a:r>
              <a:rPr/>
              <a:t> </a:t>
            </a:r>
            <a:r>
              <a:rPr>
                <a:latin typeface="Courier"/>
              </a:rPr>
              <a:t>female</a:t>
            </a:r>
            <a:r>
              <a:rPr/>
              <a:t> — keep R’s default; the model fit is identical anyway</a:t>
            </a:r>
          </a:p>
          <a:p>
            <a:pPr lvl="0" indent="0" marL="0">
              <a:buNone/>
            </a:pPr>
            <a:r>
              <a:rPr b="1"/>
              <a:t>(b)</a:t>
            </a:r>
            <a:r>
              <a:rPr/>
              <a:t> </a:t>
            </a:r>
            <a:r>
              <a:rPr>
                <a:latin typeface="Courier"/>
              </a:rPr>
              <a:t>intact male</a:t>
            </a:r>
            <a:r>
              <a:rPr/>
              <a:t> — the untouched version of the animals that were manipulated</a:t>
            </a:r>
          </a:p>
          <a:p>
            <a:pPr lvl="0" indent="0" marL="0">
              <a:buNone/>
            </a:pPr>
            <a:r>
              <a:rPr b="1"/>
              <a:t>(c)</a:t>
            </a:r>
            <a:r>
              <a:rPr/>
              <a:t> </a:t>
            </a:r>
            <a:r>
              <a:rPr>
                <a:latin typeface="Courier"/>
              </a:rPr>
              <a:t>male minor removed</a:t>
            </a:r>
            <a:r>
              <a:rPr/>
              <a:t> — it is the procedural control, so it accounts for the surgery</a:t>
            </a:r>
          </a:p>
          <a:p>
            <a:pPr lvl="0" indent="0" marL="0">
              <a:buNone/>
            </a:pPr>
            <a:r>
              <a:rPr b="1"/>
              <a:t>(d)</a:t>
            </a:r>
            <a:r>
              <a:rPr/>
              <a:t> It makes no difference, because the F-test and R² do not change</a:t>
            </a:r>
          </a:p>
          <a:p>
            <a:pPr lvl="0" indent="0" marL="1270000">
              <a:buNone/>
            </a:pPr>
            <a:r>
              <a:rPr sz="2000" b="1"/>
              <a:t>Warning</a:t>
            </a:r>
          </a:p>
          <a:p>
            <a:pPr lvl="0" indent="0" marL="1270000">
              <a:buNone/>
            </a:pPr>
            <a:r>
              <a:rPr sz="2000" b="1"/>
              <a:t>✍️ Careful — two of these are true statements. Only one is the right decision.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Which single comparison do I most want to read straight off the coefficient table?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latin typeface="Courier"/>
              </a:rPr>
              <a:t>fct_relevel()</a:t>
            </a:r>
            <a:r>
              <a:rPr/>
              <a:t> · Saying What You Meant</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342900" marL="342900">
              <a:buAutoNum startAt="4" type="alphaLcParenBoth"/>
            </a:pPr>
            <a:r>
              <a:rPr sz="2000"/>
              <a:t>is </a:t>
            </a:r>
            <a:r>
              <a:rPr sz="2000" i="1"/>
              <a:t>true</a:t>
            </a:r>
            <a:r>
              <a:rPr sz="2000"/>
              <a:t> — F, R², and the ANOVA table are identical whichever level is the reference. That is not a reason to accept a default chosen by spelling.</a:t>
            </a:r>
          </a:p>
          <a:p>
            <a:pPr lvl="0" indent="-342900" marL="342900">
              <a:buAutoNum startAt="4" type="alphaLcParenBoth"/>
            </a:pPr>
            <a:r>
              <a:rPr sz="2000"/>
              <a:t>is tempting and it is the right </a:t>
            </a:r>
            <a:r>
              <a:rPr sz="2000" b="1"/>
              <a:t>comparison</a:t>
            </a:r>
            <a:r>
              <a:rPr sz="2000"/>
              <a:t> to make eventually — but as the baseline it hides the very contrast the experiment was built around.</a:t>
            </a:r>
          </a:p>
          <a:p>
            <a:pPr lvl="0" indent="0">
              <a:buNone/>
            </a:pPr>
            <a:r>
              <a:rPr>
                <a:solidFill>
                  <a:srgbClr val="003B4F"/>
                </a:solidFill>
                <a:latin typeface="Courier"/>
              </a:rPr>
              <a:t>crab_df &lt;- crab_df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crab_type =</a:t>
            </a:r>
            <a:r>
              <a:rPr>
                <a:solidFill>
                  <a:srgbClr val="003B4F"/>
                </a:solidFill>
                <a:latin typeface="Courier"/>
              </a:rPr>
              <a:t> </a:t>
            </a:r>
            <a:r>
              <a:rPr>
                <a:solidFill>
                  <a:srgbClr val="4758AB"/>
                </a:solidFill>
                <a:latin typeface="Courier"/>
              </a:rPr>
              <a:t>fct_relevel</a:t>
            </a:r>
            <a:r>
              <a:rPr>
                <a:solidFill>
                  <a:srgbClr val="003B4F"/>
                </a:solidFill>
                <a:latin typeface="Courier"/>
              </a:rPr>
              <a:t>(crab_type, </a:t>
            </a:r>
            <a:r>
              <a:rPr>
                <a:solidFill>
                  <a:srgbClr val="20794D"/>
                </a:solidFill>
                <a:latin typeface="Courier"/>
              </a:rPr>
              <a:t>"intact male"</a:t>
            </a:r>
            <a:r>
              <a:rPr>
                <a:solidFill>
                  <a:srgbClr val="003B4F"/>
                </a:solidFill>
                <a:latin typeface="Courier"/>
              </a:rPr>
              <a:t>))</a:t>
            </a:r>
            <a:br/>
            <a:br/>
            <a:r>
              <a:rPr>
                <a:solidFill>
                  <a:srgbClr val="003B4F"/>
                </a:solidFill>
                <a:latin typeface="Courier"/>
              </a:rPr>
              <a:t>crab_model &lt;- </a:t>
            </a: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crab_df)</a:t>
            </a:r>
            <a:br/>
            <a:br/>
            <a:r>
              <a:rPr>
                <a:solidFill>
                  <a:srgbClr val="4758AB"/>
                </a:solidFill>
                <a:latin typeface="Courier"/>
              </a:rPr>
              <a:t>summary</a:t>
            </a:r>
            <a:r>
              <a:rPr>
                <a:solidFill>
                  <a:srgbClr val="003B4F"/>
                </a:solidFill>
                <a:latin typeface="Courier"/>
              </a:rPr>
              <a:t>(crab_model)</a:t>
            </a:r>
            <a:r>
              <a:rPr>
                <a:solidFill>
                  <a:srgbClr val="5E5E5E"/>
                </a:solidFill>
                <a:latin typeface="Courier"/>
              </a:rPr>
              <a:t>$</a:t>
            </a:r>
            <a:r>
              <a:rPr>
                <a:solidFill>
                  <a:srgbClr val="003B4F"/>
                </a:solidFill>
                <a:latin typeface="Courier"/>
              </a:rPr>
              <a:t>coefficients </a:t>
            </a:r>
            <a:r>
              <a:rPr>
                <a:solidFill>
                  <a:srgbClr val="5E5E5E"/>
                </a:solidFill>
                <a:latin typeface="Courier"/>
              </a:rPr>
              <a:t>%&gt;%</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                            Estimate Std. Error t value Pr(&gt;|t|)
(Intercept)                    1.286      0.045  28.300    0.000
crab_typefemale                0.390      0.064   6.077    0.000
crab_typemale major removed    0.129      0.064   2.001    0.049
crab_typemale minor removed   -0.076      0.064  -1.186    0.239</a:t>
            </a:r>
          </a:p>
        </p:txBody>
      </p:sp>
      <p:sp>
        <p:nvSpPr>
          <p:cNvPr id="4" name="Content Placeholder 3"/>
          <p:cNvSpPr>
            <a:spLocks noGrp="1"/>
          </p:cNvSpPr>
          <p:nvPr>
            <p:ph idx="2" sz="half"/>
          </p:nvPr>
        </p:nvSpPr>
        <p:spPr/>
        <p:txBody>
          <a:bodyPr/>
          <a:lstStyle/>
          <a:p>
            <a:pPr lvl="0" indent="0" marL="0">
              <a:buNone/>
            </a:pPr>
            <a:r>
              <a:rPr/>
              <a:t>Now every row reads as “</a:t>
            </a:r>
            <a:r>
              <a:rPr b="1"/>
              <a:t>degrees hotter than an intact male</a:t>
            </a:r>
            <a:r>
              <a:rPr/>
              <a:t>”:</a:t>
            </a:r>
          </a:p>
          <a:p>
            <a:pPr lvl="0"/>
            <a:r>
              <a:rPr>
                <a:latin typeface="Courier"/>
              </a:rPr>
              <a:t>female</a:t>
            </a:r>
            <a:r>
              <a:rPr/>
              <a:t> </a:t>
            </a:r>
            <a:r>
              <a:rPr b="1"/>
              <a:t>+0.39</a:t>
            </a:r>
            <a:r>
              <a:rPr/>
              <a:t> — clearly hotter</a:t>
            </a:r>
          </a:p>
          <a:p>
            <a:pPr lvl="0"/>
            <a:r>
              <a:rPr>
                <a:latin typeface="Courier"/>
              </a:rPr>
              <a:t>male major removed</a:t>
            </a:r>
            <a:r>
              <a:rPr/>
              <a:t> </a:t>
            </a:r>
            <a:r>
              <a:rPr b="1"/>
              <a:t>+0.13</a:t>
            </a:r>
          </a:p>
          <a:p>
            <a:pPr lvl="0"/>
            <a:r>
              <a:rPr>
                <a:latin typeface="Courier"/>
              </a:rPr>
              <a:t>male minor removed</a:t>
            </a:r>
            <a:r>
              <a:rPr/>
              <a:t> </a:t>
            </a:r>
            <a:r>
              <a:rPr b="1"/>
              <a:t>-0.08</a:t>
            </a:r>
          </a:p>
          <a:p>
            <a:pPr lvl="0" indent="0" marL="1270000">
              <a:buNone/>
            </a:pPr>
            <a:r>
              <a:rPr sz="2000" b="1"/>
              <a:t>Tip</a:t>
            </a:r>
          </a:p>
          <a:p>
            <a:pPr lvl="0" indent="0" marL="1270000">
              <a:buNone/>
            </a:pPr>
            <a:r>
              <a:rPr sz="2000" b="1"/>
              <a:t>🖐 The habit</a:t>
            </a:r>
          </a:p>
          <a:p>
            <a:pPr lvl="0" indent="0" marL="1270000">
              <a:buNone/>
            </a:pPr>
            <a:r>
              <a:rPr sz="2000"/>
              <a:t>Set the reference in the same line that creates the factor. </a:t>
            </a:r>
            <a:r>
              <a:rPr sz="2000">
                <a:latin typeface="Courier"/>
              </a:rPr>
              <a:t>fct_relevel(x, "control")</a:t>
            </a:r>
            <a:r>
              <a:rPr sz="2000"/>
              <a:t> moves one level to the front and leaves the rest alone.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Post-Hoc Tests Are For</a:t>
            </a:r>
          </a:p>
        </p:txBody>
      </p:sp>
      <p:sp>
        <p:nvSpPr>
          <p:cNvPr id="3" name="Content Placeholder 2"/>
          <p:cNvSpPr>
            <a:spLocks noGrp="1"/>
          </p:cNvSpPr>
          <p:nvPr>
            <p:ph idx="1" sz="half"/>
          </p:nvPr>
        </p:nvSpPr>
        <p:spPr/>
        <p:txBody>
          <a:bodyPr/>
          <a:lstStyle/>
          <a:p>
            <a:pPr lvl="0" indent="0" marL="0">
              <a:buNone/>
            </a:pPr>
            <a:r>
              <a:rPr/>
              <a:t>The F-test said </a:t>
            </a:r>
            <a:r>
              <a:rPr i="1"/>
              <a:t>something</a:t>
            </a:r>
            <a:r>
              <a:rPr/>
              <a:t> differs. Post-hoc tests say </a:t>
            </a:r>
            <a:r>
              <a:rPr b="1"/>
              <a:t>what</a:t>
            </a:r>
            <a:r>
              <a:rPr/>
              <a:t>, while keeping the family-wide error rate at α.</a:t>
            </a:r>
          </a:p>
          <a:p>
            <a:pPr lvl="0"/>
            <a:r>
              <a:rPr b="1"/>
              <a:t>Planned (a priori) comparisons</a:t>
            </a:r>
            <a:r>
              <a:rPr/>
              <a:t> — a small number of contrasts you committed to </a:t>
            </a:r>
            <a:r>
              <a:rPr b="1"/>
              <a:t>before</a:t>
            </a:r>
            <a:r>
              <a:rPr/>
              <a:t> seeing the data. More powerful, because there are fewer of them</a:t>
            </a:r>
          </a:p>
          <a:p>
            <a:pPr lvl="0"/>
            <a:r>
              <a:rPr b="1"/>
              <a:t>Unplanned (post-hoc) comparisons</a:t>
            </a:r>
            <a:r>
              <a:rPr/>
              <a:t> — all pairs, after the fact. Safer, less powerful</a:t>
            </a:r>
          </a:p>
          <a:p>
            <a:pPr lvl="0" indent="0" marL="0">
              <a:buNone/>
            </a:pPr>
            <a:r>
              <a:rPr b="1"/>
              <a:t>Tukey’s HSD</a:t>
            </a:r>
            <a:r>
              <a:rPr/>
              <a:t> is the standard for all pairwise comparisons with equal n.</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Deciding after you look is not a plan</a:t>
            </a:r>
          </a:p>
          <a:p>
            <a:pPr lvl="0" indent="0" marL="1270000">
              <a:buNone/>
            </a:pPr>
            <a:r>
              <a:rPr sz="2000"/>
              <a:t>Choosing which comparisons to make </a:t>
            </a:r>
            <a:r>
              <a:rPr sz="2000" i="1"/>
              <a:t>because they looked big</a:t>
            </a:r>
            <a:r>
              <a:rPr sz="2000"/>
              <a:t> re-introduces exactly the multiple-comparisons problem the correction exists to solve.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Tukey’s HSD</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TukeyHSD</a:t>
            </a:r>
            <a:r>
              <a:rPr>
                <a:solidFill>
                  <a:srgbClr val="003B4F"/>
                </a:solidFill>
                <a:latin typeface="Courier"/>
              </a:rPr>
              <a:t>(</a:t>
            </a:r>
            <a:r>
              <a:rPr>
                <a:solidFill>
                  <a:srgbClr val="4758AB"/>
                </a:solidFill>
                <a:latin typeface="Courier"/>
              </a:rPr>
              <a:t>aov</a:t>
            </a:r>
            <a:r>
              <a:rPr>
                <a:solidFill>
                  <a:srgbClr val="003B4F"/>
                </a:solidFill>
                <a:latin typeface="Courier"/>
              </a:rPr>
              <a:t>(crab_model))</a:t>
            </a:r>
          </a:p>
          <a:p>
            <a:pPr lvl="0" indent="0">
              <a:buNone/>
            </a:pPr>
            <a:r>
              <a:rPr>
                <a:latin typeface="Courier"/>
              </a:rPr>
              <a:t>  Tukey multiple comparisons of means
    95% family-wise confidence level
Fit: aov(formula = crab_model)
$crab_type
                                             diff         lwr         upr
female-intact male                     0.39047619  0.22189182  0.55906056
male major removed-intact male         0.12857143 -0.04001294  0.29715579
male minor removed-intact male        -0.07619048 -0.24477484  0.09239389
male major removed-female             -0.26190476 -0.43048913 -0.09332040
male minor removed-female             -0.46666667 -0.63525103 -0.29808230
male minor removed-male major removed -0.20476190 -0.37334627 -0.03617754
                                          p adj
female-intact male                    0.0000002
male major removed-intact male        0.1962212
male minor removed-intact male        0.6375171
male major removed-female             0.0006106
male minor removed-female             0.0000000
male minor removed-male major removed 0.0108312</a:t>
            </a:r>
          </a:p>
        </p:txBody>
      </p:sp>
      <p:sp>
        <p:nvSpPr>
          <p:cNvPr id="4" name="Content Placeholder 3"/>
          <p:cNvSpPr>
            <a:spLocks noGrp="1"/>
          </p:cNvSpPr>
          <p:nvPr>
            <p:ph idx="2" sz="half"/>
          </p:nvPr>
        </p:nvSpPr>
        <p:spPr/>
        <p:txBody>
          <a:bodyPr/>
          <a:lstStyle/>
          <a:p>
            <a:pPr lvl="0" indent="0" marL="0">
              <a:buNone/>
            </a:pPr>
            <a:r>
              <a:rPr/>
              <a:t>Each row is one pair: the difference in means, a confidence interval, and a p-value </a:t>
            </a:r>
            <a:r>
              <a:rPr b="1"/>
              <a:t>already adjusted</a:t>
            </a:r>
            <a:r>
              <a:rPr/>
              <a:t> for the whole family of six comparisons.</a:t>
            </a:r>
          </a:p>
          <a:p>
            <a:pPr lvl="0" indent="0" marL="0">
              <a:buNone/>
            </a:pPr>
            <a:r>
              <a:rPr/>
              <a:t>A pair differs when its interval excludes zero.</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Reading the Tukey Output</a:t>
            </a:r>
          </a:p>
        </p:txBody>
      </p:sp>
      <p:sp>
        <p:nvSpPr>
          <p:cNvPr id="3" name="Content Placeholder 2"/>
          <p:cNvSpPr>
            <a:spLocks noGrp="1"/>
          </p:cNvSpPr>
          <p:nvPr>
            <p:ph idx="1" sz="half"/>
          </p:nvPr>
        </p:nvSpPr>
        <p:spPr/>
        <p:txBody>
          <a:bodyPr/>
          <a:lstStyle/>
          <a:p>
            <a:pPr lvl="0" indent="0" marL="0">
              <a:buNone/>
            </a:pPr>
            <a:r>
              <a:rPr/>
              <a:t>The radiator hypothesis predicts that a male whose </a:t>
            </a:r>
            <a:r>
              <a:rPr b="1"/>
              <a:t>major claw was removed</a:t>
            </a:r>
            <a:r>
              <a:rPr/>
              <a:t> should run </a:t>
            </a:r>
            <a:r>
              <a:rPr b="1"/>
              <a:t>hotter</a:t>
            </a:r>
            <a:r>
              <a:rPr/>
              <a:t> than an intact male.</a:t>
            </a:r>
          </a:p>
          <a:p>
            <a:pPr lvl="0" indent="0" marL="0">
              <a:buNone/>
            </a:pPr>
            <a:r>
              <a:rPr/>
              <a:t>Tukey gives </a:t>
            </a:r>
            <a:r>
              <a:rPr>
                <a:latin typeface="Courier"/>
              </a:rPr>
              <a:t>male major removed − intact male</a:t>
            </a:r>
            <a:r>
              <a:rPr/>
              <a:t> a difference of </a:t>
            </a:r>
            <a:r>
              <a:rPr b="1"/>
              <a:t>+0.129</a:t>
            </a:r>
            <a:r>
              <a:rPr/>
              <a:t> with an adjusted </a:t>
            </a:r>
            <a:r>
              <a:rPr b="1"/>
              <a:t>p = 0.196</a:t>
            </a:r>
            <a:r>
              <a:rPr/>
              <a:t>.</a:t>
            </a:r>
          </a:p>
          <a:p>
            <a:pPr lvl="0" indent="0" marL="0">
              <a:buNone/>
            </a:pPr>
            <a:r>
              <a:rPr b="1"/>
              <a:t>What should you conclude?</a:t>
            </a:r>
          </a:p>
          <a:p>
            <a:pPr lvl="0" indent="0" marL="0">
              <a:buNone/>
            </a:pPr>
            <a:r>
              <a:rPr b="1"/>
              <a:t>(a)</a:t>
            </a:r>
            <a:r>
              <a:rPr/>
              <a:t> The hypothesis is supported — the difference is in the predicted direction</a:t>
            </a:r>
          </a:p>
          <a:p>
            <a:pPr lvl="0" indent="0" marL="0">
              <a:buNone/>
            </a:pPr>
            <a:r>
              <a:rPr b="1"/>
              <a:t>(b)</a:t>
            </a:r>
            <a:r>
              <a:rPr/>
              <a:t> The hypothesis fails — removing the major claw did not significantly change temperature</a:t>
            </a:r>
          </a:p>
          <a:p>
            <a:pPr lvl="0" indent="0" marL="0">
              <a:buNone/>
            </a:pPr>
            <a:r>
              <a:rPr b="1"/>
              <a:t>(c)</a:t>
            </a:r>
            <a:r>
              <a:rPr/>
              <a:t> The hypothesis is supported, because females are significantly hotter than every male group</a:t>
            </a:r>
          </a:p>
          <a:p>
            <a:pPr lvl="0" indent="0" marL="0">
              <a:buNone/>
            </a:pPr>
            <a:r>
              <a:rPr b="1"/>
              <a:t>(d)</a:t>
            </a:r>
            <a:r>
              <a:rPr/>
              <a:t> Nothing can be concluded, because the overall ANOVA was significant</a:t>
            </a:r>
          </a:p>
          <a:p>
            <a:pPr lvl="0" indent="0" marL="1270000">
              <a:buNone/>
            </a:pPr>
            <a:r>
              <a:rPr sz="2000" b="1"/>
              <a:t>Warning</a:t>
            </a:r>
          </a:p>
          <a:p>
            <a:pPr lvl="0" indent="0" marL="1270000">
              <a:buNone/>
            </a:pPr>
            <a:r>
              <a:rPr sz="2000" b="1"/>
              <a:t>✍️ One letter, then argue it with your neighbour.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Which comparison does the hypothesis actually make a prediction about?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Tukey Actually Found</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r>
              <a:rPr sz="2000"/>
              <a:t>Removing the major claw moved temperature by 0.13 °C, adjusted p = 0.2 — not distinguishable from zero. The direction is right and the evidence is not there.</a:t>
            </a:r>
          </a:p>
          <a:p>
            <a:pPr lvl="0" indent="0" marL="1270000">
              <a:buNone/>
            </a:pPr>
            <a:r>
              <a:rPr sz="2000" b="1"/>
              <a:t>(c)</a:t>
            </a:r>
            <a:r>
              <a:rPr sz="2000"/>
              <a:t> is the trap: females </a:t>
            </a:r>
            <a:r>
              <a:rPr sz="2000" i="1"/>
              <a:t>are</a:t>
            </a:r>
            <a:r>
              <a:rPr sz="2000"/>
              <a:t> hotter than every male group, but females differ from males in many ways besides the claw. That comparison cannot test a claw-removal hypothesis.</a:t>
            </a:r>
          </a:p>
        </p:txBody>
      </p:sp>
      <p:sp>
        <p:nvSpPr>
          <p:cNvPr id="4" name="Content Placeholder 3"/>
          <p:cNvSpPr>
            <a:spLocks noGrp="1"/>
          </p:cNvSpPr>
          <p:nvPr>
            <p:ph idx="2" sz="half"/>
          </p:nvPr>
        </p:nvSpPr>
        <p:spPr/>
        <p:txBody>
          <a:bodyPr/>
          <a:lstStyle/>
          <a:p>
            <a:pPr lvl="0" indent="0" marL="0">
              <a:buNone/>
            </a:pPr>
            <a:r>
              <a:rPr b="1"/>
              <a:t>What did differ</a:t>
            </a:r>
            <a:r>
              <a:rPr/>
              <a:t> (adjusted p):</a:t>
            </a:r>
          </a:p>
          <a:p>
            <a:pPr lvl="0" indent="0" marL="0">
              <a:buNone/>
            </a:pPr>
            <a:r>
              <a:rPr/>
              <a:t>The big effect in this dataset is </a:t>
            </a:r>
            <a:r>
              <a:rPr b="1"/>
              <a:t>sex</a:t>
            </a:r>
            <a:r>
              <a:rPr/>
              <a:t>, not surgery.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a:t>
            </a:r>
          </a:p>
        </p:txBody>
      </p:sp>
      <p:sp>
        <p:nvSpPr>
          <p:cNvPr id="3" name="Content Placeholder 2"/>
          <p:cNvSpPr>
            <a:spLocks noGrp="1"/>
          </p:cNvSpPr>
          <p:nvPr>
            <p:ph idx="1" sz="half"/>
          </p:nvPr>
        </p:nvSpPr>
        <p:spPr/>
        <p:txBody>
          <a:bodyPr/>
          <a:lstStyle/>
          <a:p>
            <a:pPr lvl="0" indent="0" marL="0">
              <a:buNone/>
            </a:pPr>
            <a:r>
              <a:rPr>
                <a:latin typeface="Courier"/>
              </a:rPr>
              <a:t>emmeans</a:t>
            </a:r>
            <a:r>
              <a:rPr/>
              <a:t> gives the same comparisons with more control — any contrast you like, any adjustment method:</a:t>
            </a:r>
          </a:p>
          <a:p>
            <a:pPr lvl="0" indent="0">
              <a:buNone/>
            </a:pPr>
            <a:r>
              <a:rPr>
                <a:solidFill>
                  <a:srgbClr val="4758AB"/>
                </a:solidFill>
                <a:latin typeface="Courier"/>
              </a:rPr>
              <a:t>emmeans</a:t>
            </a:r>
            <a:r>
              <a:rPr>
                <a:solidFill>
                  <a:srgbClr val="003B4F"/>
                </a:solidFill>
                <a:latin typeface="Courier"/>
              </a:rPr>
              <a:t>(crab_model, pairwise </a:t>
            </a:r>
            <a:r>
              <a:rPr>
                <a:solidFill>
                  <a:srgbClr val="5E5E5E"/>
                </a:solidFill>
                <a:latin typeface="Courier"/>
              </a:rPr>
              <a:t>~</a:t>
            </a:r>
            <a:r>
              <a:rPr>
                <a:solidFill>
                  <a:srgbClr val="003B4F"/>
                </a:solidFill>
                <a:latin typeface="Courier"/>
              </a:rPr>
              <a:t> crab_type,</a:t>
            </a:r>
            <a:b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r>
              <a:rPr>
                <a:solidFill>
                  <a:srgbClr val="5E5E5E"/>
                </a:solidFill>
                <a:latin typeface="Courier"/>
              </a:rPr>
              <a:t>$</a:t>
            </a:r>
            <a:r>
              <a:rPr>
                <a:solidFill>
                  <a:srgbClr val="003B4F"/>
                </a:solidFill>
                <a:latin typeface="Courier"/>
              </a:rPr>
              <a:t>contrasts</a:t>
            </a:r>
          </a:p>
          <a:p>
            <a:pPr lvl="0" indent="0">
              <a:buNone/>
            </a:pPr>
            <a:r>
              <a:rPr>
                <a:latin typeface="Courier"/>
              </a:rPr>
              <a:t> contrast                                estimate     SE df t.ratio p.value
 intact male - female                     -0.3905 0.0643 80  -6.077 &lt;0.0001
 intact male - male major removed         -0.1286 0.0643 80  -2.001  0.1962
 intact male - male minor removed          0.0762 0.0643 80   1.186  0.6375
 female - male major removed               0.2619 0.0643 80   4.076  0.0006
 female - male minor removed               0.4667 0.0643 80   7.263 &lt;0.0001
 male major removed - male minor removed   0.2048 0.0643 80   3.187  0.0108
P value adjustment: tukey method for comparing a family of 4 estimates </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Why </a:t>
            </a:r>
            <a:r>
              <a:rPr sz="2000" b="1">
                <a:latin typeface="Courier"/>
              </a:rPr>
              <a:t>emmeans</a:t>
            </a:r>
            <a:r>
              <a:rPr sz="2000" b="1"/>
              <a:t> and not just </a:t>
            </a:r>
            <a:r>
              <a:rPr sz="2000" b="1">
                <a:latin typeface="Courier"/>
              </a:rPr>
              <a:t>TukeyHSD()</a:t>
            </a:r>
          </a:p>
          <a:p>
            <a:pPr lvl="0" indent="0" marL="1270000">
              <a:buNone/>
            </a:pPr>
            <a:r>
              <a:rPr sz="2000">
                <a:latin typeface="Courier"/>
              </a:rPr>
              <a:t>TukeyHSD()</a:t>
            </a:r>
            <a:r>
              <a:rPr sz="2000"/>
              <a:t> only does all-pairs on a balanced </a:t>
            </a:r>
            <a:r>
              <a:rPr sz="2000">
                <a:latin typeface="Courier"/>
              </a:rPr>
              <a:t>aov</a:t>
            </a:r>
            <a:r>
              <a:rPr sz="2000"/>
              <a:t>. </a:t>
            </a:r>
            <a:r>
              <a:rPr sz="2000">
                <a:latin typeface="Courier"/>
              </a:rPr>
              <a:t>emmeans</a:t>
            </a:r>
            <a:r>
              <a:rPr sz="2000"/>
              <a:t> handles unbalanced designs, covariates, several factors and </a:t>
            </a:r>
            <a:r>
              <a:rPr sz="2000" b="1"/>
              <a:t>planned contrasts</a:t>
            </a:r>
            <a:r>
              <a:rPr sz="2000"/>
              <a:t> — and it is what you will use from Week 9 onward.</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 ANOVA</a:t>
            </a:r>
          </a:p>
        </p:txBody>
      </p:sp>
      <p:sp>
        <p:nvSpPr>
          <p:cNvPr id="3" name="Content Placeholder 2"/>
          <p:cNvSpPr>
            <a:spLocks noGrp="1"/>
          </p:cNvSpPr>
          <p:nvPr>
            <p:ph idx="1" sz="half"/>
          </p:nvPr>
        </p:nvSpPr>
        <p:spPr/>
        <p:txBody>
          <a:bodyPr/>
          <a:lstStyle/>
          <a:p>
            <a:pPr lvl="0" indent="0" marL="0">
              <a:buNone/>
            </a:pPr>
            <a:r>
              <a:rPr/>
              <a:t>A results sentence needs the </a:t>
            </a:r>
            <a:r>
              <a:rPr b="1"/>
              <a:t>test, the statistic with both df, the p-value, and the direction</a:t>
            </a:r>
            <a:r>
              <a:rPr/>
              <a:t> — then the post-hoc detail.</a:t>
            </a:r>
          </a:p>
          <a:p>
            <a:pPr lvl="0" indent="0" marL="1270000">
              <a:buNone/>
            </a:pPr>
            <a:r>
              <a:rPr sz="2000"/>
              <a:t>Body temperature differed among crab types (one-way ANOVA, F</a:t>
            </a:r>
            <a:r>
              <a:rPr sz="2000" baseline="-25000"/>
              <a:t>3,80</a:t>
            </a:r>
            <a:r>
              <a:rPr sz="2000"/>
              <a:t> = 20.31, p &lt; 0.001, R² = 0.43). Females were warmer than intact males by 0.39 °C (Tukey HSD, adjusted p &lt; 0.001), but removing the major claw did not detectably change male temperature (0.13 °C, adjusted p = 0.2).</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What that sentence does</a:t>
            </a:r>
          </a:p>
          <a:p>
            <a:pPr lvl="0"/>
            <a:r>
              <a:rPr sz="2000"/>
              <a:t>Names the test</a:t>
            </a:r>
          </a:p>
          <a:p>
            <a:pPr lvl="0"/>
            <a:r>
              <a:rPr sz="2000"/>
              <a:t>Gives </a:t>
            </a:r>
            <a:r>
              <a:rPr sz="2000" b="1"/>
              <a:t>both</a:t>
            </a:r>
            <a:r>
              <a:rPr sz="2000"/>
              <a:t> degrees of freedom</a:t>
            </a:r>
          </a:p>
          <a:p>
            <a:pPr lvl="0"/>
            <a:r>
              <a:rPr sz="2000"/>
              <a:t>Reports effect size, not just p</a:t>
            </a:r>
          </a:p>
          <a:p>
            <a:pPr lvl="0"/>
            <a:r>
              <a:rPr sz="2000"/>
              <a:t>States the post-hoc method </a:t>
            </a:r>
            <a:r>
              <a:rPr sz="2000" b="1"/>
              <a:t>and</a:t>
            </a:r>
            <a:r>
              <a:rPr sz="2000"/>
              <a:t> that its p-values are adjusted</a:t>
            </a:r>
          </a:p>
          <a:p>
            <a:pPr lvl="0"/>
            <a:r>
              <a:rPr sz="2000"/>
              <a:t>Reports the non-significant comparison the hypothesis was about, rather than quietly dropping it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When the Assumptions Fail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Second Dataset · Nematode Lifespan</a:t>
            </a:r>
          </a:p>
        </p:txBody>
      </p:sp>
      <p:sp>
        <p:nvSpPr>
          <p:cNvPr id="3" name="Content Placeholder 2"/>
          <p:cNvSpPr>
            <a:spLocks noGrp="1"/>
          </p:cNvSpPr>
          <p:nvPr>
            <p:ph idx="1" sz="half"/>
          </p:nvPr>
        </p:nvSpPr>
        <p:spPr/>
        <p:txBody>
          <a:bodyPr/>
          <a:lstStyle/>
          <a:p>
            <a:pPr lvl="0" indent="0" marL="0">
              <a:buNone/>
            </a:pPr>
            <a:r>
              <a:rPr/>
              <a:t>The crab data behaved. Most data do not.</a:t>
            </a:r>
          </a:p>
          <a:p>
            <a:pPr lvl="0" indent="0" marL="0">
              <a:buNone/>
            </a:pPr>
            <a:r>
              <a:rPr/>
              <a:t>Here are </a:t>
            </a:r>
            <a:r>
              <a:rPr b="1"/>
              <a:t>200 nematodes</a:t>
            </a:r>
            <a:r>
              <a:rPr/>
              <a:t>, 50 in each of four treatments, exposed to a parasite as larvae, as adults, as both, or to </a:t>
            </a:r>
            <a:r>
              <a:rPr b="1"/>
              <a:t>water</a:t>
            </a:r>
            <a:r>
              <a:rPr/>
              <a:t> as a control. The response is lifespan in days.</a:t>
            </a:r>
          </a:p>
          <a:p>
            <a:pPr lvl="0" indent="0">
              <a:buNone/>
            </a:pPr>
            <a:r>
              <a:rPr>
                <a:solidFill>
                  <a:srgbClr val="003B4F"/>
                </a:solidFill>
                <a:latin typeface="Courier"/>
              </a:rPr>
              <a:t>worm_df &lt;- </a:t>
            </a:r>
            <a:r>
              <a:rPr>
                <a:solidFill>
                  <a:srgbClr val="4758AB"/>
                </a:solidFill>
                <a:latin typeface="Courier"/>
              </a:rPr>
              <a:t>read_csv</a:t>
            </a:r>
            <a:r>
              <a:rPr>
                <a:solidFill>
                  <a:srgbClr val="003B4F"/>
                </a:solidFill>
                <a:latin typeface="Courier"/>
              </a:rPr>
              <a:t>(</a:t>
            </a:r>
            <a:r>
              <a:rPr>
                <a:solidFill>
                  <a:srgbClr val="20794D"/>
                </a:solidFill>
                <a:latin typeface="Courier"/>
              </a:rPr>
              <a:t>"data/nematode_lifespan.csv"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treatment =</a:t>
            </a:r>
            <a:r>
              <a:rPr>
                <a:solidFill>
                  <a:srgbClr val="003B4F"/>
                </a:solidFill>
                <a:latin typeface="Courier"/>
              </a:rPr>
              <a:t> </a:t>
            </a:r>
            <a:r>
              <a:rPr>
                <a:solidFill>
                  <a:srgbClr val="4758AB"/>
                </a:solidFill>
                <a:latin typeface="Courier"/>
              </a:rPr>
              <a:t>fct_relevel</a:t>
            </a:r>
            <a:r>
              <a:rPr>
                <a:solidFill>
                  <a:srgbClr val="003B4F"/>
                </a:solidFill>
                <a:latin typeface="Courier"/>
              </a:rPr>
              <a:t>(treatment, </a:t>
            </a:r>
            <a:r>
              <a:rPr>
                <a:solidFill>
                  <a:srgbClr val="20794D"/>
                </a:solidFill>
                <a:latin typeface="Courier"/>
              </a:rPr>
              <a:t>"water"</a:t>
            </a:r>
            <a:r>
              <a:rPr>
                <a:solidFill>
                  <a:srgbClr val="003B4F"/>
                </a:solidFill>
                <a:latin typeface="Courier"/>
              </a:rPr>
              <a:t>))</a:t>
            </a:r>
            <a:br/>
            <a:br/>
            <a:r>
              <a:rPr>
                <a:solidFill>
                  <a:srgbClr val="4758AB"/>
                </a:solidFill>
                <a:latin typeface="Courier"/>
              </a:rPr>
              <a:t>count</a:t>
            </a:r>
            <a:r>
              <a:rPr>
                <a:solidFill>
                  <a:srgbClr val="003B4F"/>
                </a:solidFill>
                <a:latin typeface="Courier"/>
              </a:rPr>
              <a:t>(worm_df, treatment)</a:t>
            </a:r>
          </a:p>
          <a:p>
            <a:pPr lvl="0" indent="0">
              <a:buNone/>
            </a:pPr>
            <a:r>
              <a:rPr>
                <a:latin typeface="Courier"/>
              </a:rPr>
              <a:t># A tibble: 4 × 2
  treatment       n
  &lt;fct&gt;       &lt;int&gt;
1 water          50
2 adult          50
3 larva          50
4 larva+adult    50</a:t>
            </a:r>
          </a:p>
        </p:txBody>
      </p:sp>
      <p:pic>
        <p:nvPicPr>
          <p:cNvPr descr="analysis_of_variance_lecture_files/figure-pptx/analysis-of-variance-18-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These Assumptions Genuinely Fail</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worm_model &lt;- </a:t>
            </a:r>
            <a:r>
              <a:rPr>
                <a:solidFill>
                  <a:srgbClr val="4758AB"/>
                </a:solidFill>
                <a:latin typeface="Courier"/>
              </a:rPr>
              <a:t>lm</a:t>
            </a:r>
            <a:r>
              <a:rPr>
                <a:solidFill>
                  <a:srgbClr val="003B4F"/>
                </a:solidFill>
                <a:latin typeface="Courier"/>
              </a:rPr>
              <a:t>(lifespan_days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worm_df)</a:t>
            </a:r>
            <a:br/>
            <a:b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(worm_model))</a:t>
            </a:r>
          </a:p>
          <a:p>
            <a:pPr lvl="0" indent="0">
              <a:buNone/>
            </a:pPr>
            <a:r>
              <a:rPr>
                <a:latin typeface="Courier"/>
              </a:rPr>
              <a:t>
    Shapiro-Wilk normality test
data:  residuals(worm_model)
W = 0.97626, p-value = 0.001808</a:t>
            </a:r>
          </a:p>
          <a:p>
            <a:pPr lvl="0" indent="0">
              <a:buNone/>
            </a:pPr>
            <a:r>
              <a:rPr>
                <a:solidFill>
                  <a:srgbClr val="4758AB"/>
                </a:solidFill>
                <a:latin typeface="Courier"/>
              </a:rPr>
              <a:t>leveneTest</a:t>
            </a:r>
            <a:r>
              <a:rPr>
                <a:solidFill>
                  <a:srgbClr val="003B4F"/>
                </a:solidFill>
                <a:latin typeface="Courier"/>
              </a:rPr>
              <a:t>(lifespan_days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worm_df)</a:t>
            </a:r>
          </a:p>
          <a:p>
            <a:pPr lvl="0" indent="0">
              <a:buNone/>
            </a:pPr>
            <a:r>
              <a:rPr>
                <a:latin typeface="Courier"/>
              </a:rPr>
              <a:t>Levene's Test for Homogeneity of Variance (center = median)
       Df F value    Pr(&gt;F)    
group   3  22.481 1.493e-12 ***
      196                      
---
Signif. codes:  0 '***' 0.001 '**' 0.01 '*' 0.05 '.' 0.1 ' ' 1</a:t>
            </a:r>
          </a:p>
        </p:txBody>
      </p:sp>
      <p:sp>
        <p:nvSpPr>
          <p:cNvPr id="4" name="Content Placeholder 3"/>
          <p:cNvSpPr>
            <a:spLocks noGrp="1"/>
          </p:cNvSpPr>
          <p:nvPr>
            <p:ph idx="2" sz="half"/>
          </p:nvPr>
        </p:nvSpPr>
        <p:spPr/>
        <p:txBody>
          <a:bodyPr/>
          <a:lstStyle/>
          <a:p>
            <a:pPr lvl="0"/>
            <a:r>
              <a:rPr/>
              <a:t>Shapiro-Wilk </a:t>
            </a:r>
            <a:r>
              <a:rPr b="1"/>
              <a:t>p = 0.00181</a:t>
            </a:r>
            <a:r>
              <a:rPr/>
              <a:t> — residuals are not normal</a:t>
            </a:r>
          </a:p>
          <a:p>
            <a:pPr lvl="0"/>
            <a:r>
              <a:rPr/>
              <a:t>Levene </a:t>
            </a:r>
            <a:r>
              <a:rPr b="1"/>
              <a:t>p = 1.49e-12</a:t>
            </a:r>
            <a:r>
              <a:rPr/>
              <a:t> — variances are nowhere near equal</a:t>
            </a:r>
          </a:p>
          <a:p>
            <a:pPr lvl="0" indent="0" marL="0">
              <a:buNone/>
            </a:pPr>
            <a:r>
              <a:rPr/>
              <a:t>Look back at the boxplots: group SDs run from 3.3 to 8.7 days.</a:t>
            </a:r>
          </a:p>
          <a:p>
            <a:pPr lvl="0" indent="0" marL="1270000">
              <a:buNone/>
            </a:pPr>
            <a:r>
              <a:rPr sz="2000" b="1"/>
              <a:t>Warning</a:t>
            </a:r>
          </a:p>
          <a:p>
            <a:pPr lvl="0" indent="0" marL="1270000">
              <a:buNone/>
            </a:pPr>
            <a:r>
              <a:rPr sz="2000" b="1"/>
              <a:t>⚠️ Nothing here is simulated</a:t>
            </a:r>
          </a:p>
          <a:p>
            <a:pPr lvl="0" indent="0" marL="1270000">
              <a:buNone/>
            </a:pPr>
            <a:r>
              <a:rPr sz="2000"/>
              <a:t>This is the published dataset, unmodified. Real data fails these tests routinely.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What Do You Do Now?</a:t>
            </a:r>
          </a:p>
        </p:txBody>
      </p:sp>
      <p:sp>
        <p:nvSpPr>
          <p:cNvPr id="3" name="Content Placeholder 2"/>
          <p:cNvSpPr>
            <a:spLocks noGrp="1"/>
          </p:cNvSpPr>
          <p:nvPr>
            <p:ph idx="1" sz="half"/>
          </p:nvPr>
        </p:nvSpPr>
        <p:spPr/>
        <p:txBody>
          <a:bodyPr/>
          <a:lstStyle/>
          <a:p>
            <a:pPr lvl="0" indent="0" marL="0">
              <a:buNone/>
            </a:pPr>
            <a:r>
              <a:rPr/>
              <a:t>An ANOVA on these data returns </a:t>
            </a:r>
            <a:r>
              <a:rPr b="1"/>
              <a:t>F = 15.25, p = 5.87e-09</a:t>
            </a:r>
            <a:r>
              <a:rPr/>
              <a:t> — but the residuals are non-normal and the variances are unequal.</a:t>
            </a:r>
          </a:p>
          <a:p>
            <a:pPr lvl="0" indent="0" marL="0">
              <a:buNone/>
            </a:pPr>
            <a:r>
              <a:rPr b="1"/>
              <a:t>What is the right next step?</a:t>
            </a:r>
          </a:p>
          <a:p>
            <a:pPr lvl="0" indent="0" marL="0">
              <a:buNone/>
            </a:pPr>
            <a:r>
              <a:rPr b="1"/>
              <a:t>(a)</a:t>
            </a:r>
            <a:r>
              <a:rPr/>
              <a:t> Report the ANOVA — it is significant, and ANOVA is robust</a:t>
            </a:r>
          </a:p>
          <a:p>
            <a:pPr lvl="0" indent="0" marL="0">
              <a:buNone/>
            </a:pPr>
            <a:r>
              <a:rPr b="1"/>
              <a:t>(b)</a:t>
            </a:r>
            <a:r>
              <a:rPr/>
              <a:t> Drop the group with the biggest variance and re-run</a:t>
            </a:r>
          </a:p>
          <a:p>
            <a:pPr lvl="0" indent="0" marL="0">
              <a:buNone/>
            </a:pPr>
            <a:r>
              <a:rPr b="1"/>
              <a:t>(c)</a:t>
            </a:r>
            <a:r>
              <a:rPr/>
              <a:t> Try a transformation, and if that fails use a rank-based test such as Kruskal-Wallis</a:t>
            </a:r>
          </a:p>
          <a:p>
            <a:pPr lvl="0" indent="0" marL="0">
              <a:buNone/>
            </a:pPr>
            <a:r>
              <a:rPr b="1"/>
              <a:t>(d)</a:t>
            </a:r>
            <a:r>
              <a:rPr/>
              <a:t> Report nothing — the data cannot be analysed</a:t>
            </a:r>
          </a:p>
          <a:p>
            <a:pPr lvl="0" indent="0" marL="1270000">
              <a:buNone/>
            </a:pPr>
            <a:r>
              <a:rPr sz="2000" b="1"/>
              <a:t>Warning</a:t>
            </a:r>
          </a:p>
          <a:p>
            <a:pPr lvl="0" indent="0" marL="1270000">
              <a:buNone/>
            </a:pPr>
            <a:r>
              <a:rPr sz="2000" b="1"/>
              <a:t>✍️ Write your letter down, then vote.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Is the problem with the data, or with the test I chose for it?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Test</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a:t>
            </a:r>
          </a:p>
          <a:p>
            <a:pPr lvl="0" indent="0" marL="1270000">
              <a:buNone/>
            </a:pPr>
            <a:r>
              <a:rPr sz="2000"/>
              <a:t>Transform first — a log or square root often fixes both problems at once, and keeps you in a framework that extends to more factors. If it does not, move to a rank-based test.</a:t>
            </a:r>
          </a:p>
          <a:p>
            <a:pPr lvl="0" indent="0" marL="1270000">
              <a:buNone/>
            </a:pPr>
            <a:r>
              <a:rPr sz="2000" b="1"/>
              <a:t>(b)</a:t>
            </a:r>
            <a:r>
              <a:rPr sz="2000"/>
              <a:t> is data deletion to make a test pass, which is not a repair.</a:t>
            </a:r>
          </a:p>
          <a:p>
            <a:pPr lvl="0" indent="0">
              <a:buNone/>
            </a:pPr>
            <a:r>
              <a:rPr>
                <a:solidFill>
                  <a:srgbClr val="4758AB"/>
                </a:solidFill>
                <a:latin typeface="Courier"/>
              </a:rPr>
              <a:t>kruskal.test</a:t>
            </a:r>
            <a:r>
              <a:rPr>
                <a:solidFill>
                  <a:srgbClr val="003B4F"/>
                </a:solidFill>
                <a:latin typeface="Courier"/>
              </a:rPr>
              <a:t>(lifespan_days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worm_df)</a:t>
            </a:r>
          </a:p>
          <a:p>
            <a:pPr lvl="0" indent="0">
              <a:buNone/>
            </a:pPr>
            <a:r>
              <a:rPr>
                <a:latin typeface="Courier"/>
              </a:rPr>
              <a:t>
    Kruskal-Wallis rank sum test
data:  lifespan_days by treatment
Kruskal-Wallis chi-squared = 29.463, df = 3, p-value = 1.79e-06</a:t>
            </a:r>
          </a:p>
        </p:txBody>
      </p:sp>
      <p:sp>
        <p:nvSpPr>
          <p:cNvPr id="4" name="Content Placeholder 3"/>
          <p:cNvSpPr>
            <a:spLocks noGrp="1"/>
          </p:cNvSpPr>
          <p:nvPr>
            <p:ph idx="2" sz="half"/>
          </p:nvPr>
        </p:nvSpPr>
        <p:spPr/>
        <p:txBody>
          <a:bodyPr/>
          <a:lstStyle/>
          <a:p>
            <a:pPr lvl="0" indent="0" marL="0">
              <a:buNone/>
            </a:pPr>
            <a:r>
              <a:rPr/>
              <a:t>Kruskal-Wallis replaces every value by its </a:t>
            </a:r>
            <a:r>
              <a:rPr b="1"/>
              <a:t>rank</a:t>
            </a:r>
            <a:r>
              <a:rPr/>
              <a:t> and asks whether the rank totals differ more than chance — so it needs no normality and is not thrown by unequal spread.</a:t>
            </a:r>
          </a:p>
          <a:p>
            <a:pPr lvl="0" indent="0" marL="0">
              <a:buNone/>
            </a:pPr>
            <a:r>
              <a:rPr b="1"/>
              <a:t>χ² = 29.46, df = 3, p = 1.79e-06.</a:t>
            </a:r>
          </a:p>
          <a:p>
            <a:pPr lvl="0" indent="0" marL="0">
              <a:buNone/>
            </a:pPr>
            <a:r>
              <a:rPr/>
              <a:t>The conclusion survives. What changes is that you can now defend it.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the Post-Hoc for Ranks</a:t>
            </a:r>
          </a:p>
        </p:txBody>
      </p:sp>
      <p:sp>
        <p:nvSpPr>
          <p:cNvPr id="3" name="Content Placeholder 2"/>
          <p:cNvSpPr>
            <a:spLocks noGrp="1"/>
          </p:cNvSpPr>
          <p:nvPr>
            <p:ph idx="1" sz="half"/>
          </p:nvPr>
        </p:nvSpPr>
        <p:spPr/>
        <p:txBody>
          <a:bodyPr/>
          <a:lstStyle/>
          <a:p>
            <a:pPr lvl="0" indent="0" marL="0">
              <a:buNone/>
            </a:pPr>
            <a:r>
              <a:rPr/>
              <a:t>Kruskal-Wallis has the same limit as F: it says </a:t>
            </a:r>
            <a:r>
              <a:rPr i="1"/>
              <a:t>something</a:t>
            </a:r>
            <a:r>
              <a:rPr/>
              <a:t> differs, not what. </a:t>
            </a:r>
            <a:r>
              <a:rPr b="1"/>
              <a:t>Dunn’s test</a:t>
            </a:r>
            <a:r>
              <a:rPr/>
              <a:t> is its post-hoc.</a:t>
            </a:r>
          </a:p>
          <a:p>
            <a:pPr lvl="0" indent="0">
              <a:buNone/>
            </a:pPr>
            <a:r>
              <a:rPr>
                <a:solidFill>
                  <a:srgbClr val="4758AB"/>
                </a:solidFill>
                <a:latin typeface="Courier"/>
              </a:rPr>
              <a:t>dunnTest</a:t>
            </a:r>
            <a:r>
              <a:rPr>
                <a:solidFill>
                  <a:srgbClr val="003B4F"/>
                </a:solidFill>
                <a:latin typeface="Courier"/>
              </a:rPr>
              <a:t>(lifespan_days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worm_df, </a:t>
            </a:r>
            <a:r>
              <a:rPr>
                <a:solidFill>
                  <a:srgbClr val="657422"/>
                </a:solidFill>
                <a:latin typeface="Courier"/>
              </a:rPr>
              <a:t>method =</a:t>
            </a:r>
            <a:r>
              <a:rPr>
                <a:solidFill>
                  <a:srgbClr val="003B4F"/>
                </a:solidFill>
                <a:latin typeface="Courier"/>
              </a:rPr>
              <a:t> </a:t>
            </a:r>
            <a:r>
              <a:rPr>
                <a:solidFill>
                  <a:srgbClr val="20794D"/>
                </a:solidFill>
                <a:latin typeface="Courier"/>
              </a:rPr>
              <a:t>"bh"</a:t>
            </a:r>
            <a:r>
              <a:rPr>
                <a:solidFill>
                  <a:srgbClr val="003B4F"/>
                </a:solidFill>
                <a:latin typeface="Courier"/>
              </a:rPr>
              <a:t>)</a:t>
            </a:r>
            <a:r>
              <a:rPr>
                <a:solidFill>
                  <a:srgbClr val="5E5E5E"/>
                </a:solidFill>
                <a:latin typeface="Courier"/>
              </a:rPr>
              <a:t>$</a:t>
            </a:r>
            <a:r>
              <a:rPr>
                <a:solidFill>
                  <a:srgbClr val="003B4F"/>
                </a:solidFill>
                <a:latin typeface="Courier"/>
              </a:rPr>
              <a:t>res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a:t>
            </a:r>
            <a:r>
              <a:rPr>
                <a:solidFill>
                  <a:srgbClr val="5E5E5E"/>
                </a:solidFill>
                <a:latin typeface="Courier"/>
              </a:rPr>
              <a:t>~</a:t>
            </a:r>
            <a:r>
              <a:rPr>
                <a:solidFill>
                  <a:srgbClr val="003B4F"/>
                </a:solidFill>
                <a:latin typeface="Courier"/>
              </a:rPr>
              <a:t> </a:t>
            </a:r>
            <a:r>
              <a:rPr>
                <a:solidFill>
                  <a:srgbClr val="4758AB"/>
                </a:solidFill>
                <a:latin typeface="Courier"/>
              </a:rPr>
              <a:t>signif</a:t>
            </a:r>
            <a:r>
              <a:rPr>
                <a:solidFill>
                  <a:srgbClr val="003B4F"/>
                </a:solidFill>
                <a:latin typeface="Courier"/>
              </a:rPr>
              <a:t>(.x, </a:t>
            </a:r>
            <a:r>
              <a:rPr>
                <a:solidFill>
                  <a:srgbClr val="AD0000"/>
                </a:solidFill>
                <a:latin typeface="Courier"/>
              </a:rPr>
              <a:t>3</a:t>
            </a:r>
            <a:r>
              <a:rPr>
                <a:solidFill>
                  <a:srgbClr val="003B4F"/>
                </a:solidFill>
                <a:latin typeface="Courier"/>
              </a:rPr>
              <a:t>)))</a:t>
            </a:r>
          </a:p>
          <a:p>
            <a:pPr lvl="0" indent="0">
              <a:buNone/>
            </a:pPr>
            <a:r>
              <a:rPr>
                <a:latin typeface="Courier"/>
              </a:rPr>
              <a:t>           Comparison      Z  P.unadj    P.adj
1       water - adult -3.120 1.78e-03 2.67e-03
2       water - larva  0.917 3.59e-01 4.31e-01
3       adult - larva  4.040 5.32e-05 1.60e-04
4 water - larva+adult -3.510 4.56e-04 9.11e-04
5 adult - larva+adult -0.381 7.03e-01 7.03e-01
6 larva - larva+adult -4.420 9.76e-06 5.85e-05</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Which adjustment?</a:t>
            </a:r>
          </a:p>
          <a:p>
            <a:pPr lvl="0" indent="0" marL="1270000">
              <a:buNone/>
            </a:pPr>
            <a:r>
              <a:rPr sz="2000">
                <a:latin typeface="Courier"/>
              </a:rPr>
              <a:t>"bonferroni"</a:t>
            </a:r>
            <a:r>
              <a:rPr sz="2000"/>
              <a:t> is the strictest and costs the most power. </a:t>
            </a:r>
            <a:r>
              <a:rPr sz="2000">
                <a:latin typeface="Courier"/>
              </a:rPr>
              <a:t>"bh"</a:t>
            </a:r>
            <a:r>
              <a:rPr sz="2000"/>
              <a:t> (Benjamini-Hochberg) controls the </a:t>
            </a:r>
            <a:r>
              <a:rPr sz="2000" b="1"/>
              <a:t>false discovery rate</a:t>
            </a:r>
            <a:r>
              <a:rPr sz="2000"/>
              <a:t> instead, and is the usual choice when you have more than a handful of comparisons.</a:t>
            </a:r>
          </a:p>
          <a:p>
            <a:pPr lvl="0" indent="0" marL="0">
              <a:buNone/>
            </a:pPr>
            <a:r>
              <a:rPr>
                <a:latin typeface="Courier"/>
              </a:rPr>
              <a:t>pairwise.wilcox.test()</a:t>
            </a:r>
            <a:r>
              <a:rPr/>
              <a:t> does a similar job; Dunn’s is preferred because it uses the same ranking as the Kruskal-Wallis it follows.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Which Test Should You Use?</a:t>
            </a:r>
          </a:p>
        </p:txBody>
      </p:sp>
      <p:sp>
        <p:nvSpPr>
          <p:cNvPr id="3" name="Content Placeholder 2"/>
          <p:cNvSpPr>
            <a:spLocks noGrp="1"/>
          </p:cNvSpPr>
          <p:nvPr>
            <p:ph idx="1"/>
          </p:nvPr>
        </p:nvSpPr>
        <p:spPr/>
        <p:txBody>
          <a:bodyPr/>
          <a:lstStyle/>
          <a:p>
            <a:pPr lvl="0" indent="0" marL="0">
              <a:buNone/>
            </a:pPr>
            <a:r>
              <a:rPr b="1"/>
              <a:t>Try a transformation before you give up the parametric route</a:t>
            </a:r>
            <a:r>
              <a:rPr/>
              <a:t> — it keeps your effect sizes interpretable and extends to the multi-factor designs coming in Week 9.</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 Non-Parametric Result</a:t>
            </a:r>
          </a:p>
        </p:txBody>
      </p:sp>
      <p:sp>
        <p:nvSpPr>
          <p:cNvPr id="3" name="Content Placeholder 2"/>
          <p:cNvSpPr>
            <a:spLocks noGrp="1"/>
          </p:cNvSpPr>
          <p:nvPr>
            <p:ph idx="1" sz="half"/>
          </p:nvPr>
        </p:nvSpPr>
        <p:spPr/>
        <p:txBody>
          <a:bodyPr/>
          <a:lstStyle/>
          <a:p>
            <a:pPr lvl="0" indent="0" marL="1270000">
              <a:buNone/>
            </a:pPr>
            <a:r>
              <a:rPr sz="2000"/>
              <a:t>Nematode lifespan differed among parasite-exposure treatments (Kruskal-Wallis χ²</a:t>
            </a:r>
            <a:r>
              <a:rPr sz="2000" baseline="-25000"/>
              <a:t>3</a:t>
            </a:r>
            <a:r>
              <a:rPr sz="2000"/>
              <a:t> = 29.46, p &lt; 0.001). A Kruskal-Wallis test was used because the residuals of the equivalent ANOVA were non-normal (Shapiro-Wilk p = 0.00181) and variances were unequal (Levene p = 1.49e-12). Dunn’s tests with Benjamini-Hochberg adjustment showed that larva-exposed worms outlived worms exposed as adults or as both.</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Say </a:t>
            </a:r>
            <a:r>
              <a:rPr sz="2000" b="1" i="1"/>
              <a:t>why</a:t>
            </a:r>
            <a:r>
              <a:rPr sz="2000" b="1"/>
              <a:t> you went non-parametric</a:t>
            </a:r>
          </a:p>
          <a:p>
            <a:pPr lvl="0" indent="0" marL="1270000">
              <a:buNone/>
            </a:pPr>
            <a:r>
              <a:rPr sz="2000"/>
              <a:t>A reader cannot tell whether you chose a rank test because your data required it or because it gave you the answer you wanted — unless you show the assumption checks that made the decision.</a:t>
            </a:r>
          </a:p>
          <a:p>
            <a:pPr lvl="0" indent="0" marL="1270000">
              <a:buNone/>
            </a:pPr>
            <a:r>
              <a:rPr sz="2000"/>
              <a:t>Report the numbers that drove the choice, not just the choice.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Today you:</a:t>
                </a:r>
              </a:p>
              <a:p>
                <a:pPr lvl="0"/>
                <a:r>
                  <a:rPr/>
                  <a:t>Saw that ANOVA </a:t>
                </a:r>
                <a:r>
                  <a:rPr b="1"/>
                  <a:t>is</a:t>
                </a:r>
                <a:r>
                  <a:rPr/>
                  <a:t> regression with a categorical predictor — the same </a:t>
                </a:r>
                <a:r>
                  <a:rPr>
                    <a:latin typeface="Courier"/>
                  </a:rPr>
                  <a:t>lm()</a:t>
                </a:r>
                <a:r>
                  <a:rPr/>
                  <a:t>, the same partition, the same F</a:t>
                </a:r>
              </a:p>
              <a:p>
                <a:pPr lvl="0"/>
                <a:r>
                  <a:rPr/>
                  <a:t>Worked out why six t-tests carry a </a:t>
                </a:r>
                <a:r>
                  <a:rPr b="1"/>
                  <a:t>26%</a:t>
                </a:r>
                <a:r>
                  <a:rPr/>
                  <a:t> chance of a false positive, and what ANOVA does about it</a:t>
                </a:r>
              </a:p>
              <a:p>
                <a:pPr lvl="0"/>
                <a:r>
                  <a:rPr/>
                  <a:t>Built </a:t>
                </a:r>
                <a14:m>
                  <m:oMath xmlns:m="http://schemas.openxmlformats.org/officeDocument/2006/math">
                    <m:r>
                      <m:t>S</m:t>
                    </m:r>
                    <m:sSub>
                      <m:e>
                        <m:r>
                          <m:t>S</m:t>
                        </m:r>
                      </m:e>
                      <m:sub>
                        <m:r>
                          <m:t>a</m:t>
                        </m:r>
                        <m:r>
                          <m:t>m</m:t>
                        </m:r>
                        <m:r>
                          <m:t>o</m:t>
                        </m:r>
                        <m:r>
                          <m:t>n</m:t>
                        </m:r>
                        <m:r>
                          <m:t>g</m:t>
                        </m:r>
                      </m:sub>
                    </m:sSub>
                  </m:oMath>
                </a14:m>
                <a:r>
                  <a:rPr/>
                  <a:t> and </a:t>
                </a:r>
                <a14:m>
                  <m:oMath xmlns:m="http://schemas.openxmlformats.org/officeDocument/2006/math">
                    <m:r>
                      <m:t>S</m:t>
                    </m:r>
                    <m:sSub>
                      <m:e>
                        <m:r>
                          <m:t>S</m:t>
                        </m:r>
                      </m:e>
                      <m:sub>
                        <m:r>
                          <m:t>w</m:t>
                        </m:r>
                        <m:r>
                          <m:t>i</m:t>
                        </m:r>
                        <m:r>
                          <m:t>t</m:t>
                        </m:r>
                        <m:r>
                          <m:t>h</m:t>
                        </m:r>
                        <m:r>
                          <m:t>i</m:t>
                        </m:r>
                        <m:r>
                          <m:t>n</m:t>
                        </m:r>
                      </m:sub>
                    </m:sSub>
                  </m:oMath>
                </a14:m>
                <a:r>
                  <a:rPr/>
                  <a:t> by hand and matched them to </a:t>
                </a:r>
                <a:r>
                  <a:rPr>
                    <a:latin typeface="Courier"/>
                  </a:rPr>
                  <a:t>anova()</a:t>
                </a:r>
              </a:p>
              <a:p>
                <a:pPr lvl="0"/>
                <a:r>
                  <a:rPr/>
                  <a:t>Confirmed </a:t>
                </a:r>
                <a:r>
                  <a:rPr b="1"/>
                  <a:t>t² = F</a:t>
                </a:r>
                <a:r>
                  <a:rPr/>
                  <a:t> on a two-group subset, for the second time this term</a:t>
                </a:r>
              </a:p>
              <a:p>
                <a:pPr lvl="0"/>
                <a:r>
                  <a:rPr/>
                  <a:t>Checked independence, normality and equal variance — the last two </a:t>
                </a:r>
                <a:r>
                  <a:rPr b="1"/>
                  <a:t>on the residuals</a:t>
                </a:r>
              </a:p>
              <a:p>
                <a:pPr lvl="0"/>
                <a:r>
                  <a:rPr/>
                  <a:t>Set the reference level with </a:t>
                </a:r>
                <a:r>
                  <a:rPr b="1">
                    <a:latin typeface="Courier"/>
                  </a:rPr>
                  <a:t>fct_relevel()</a:t>
                </a:r>
                <a:r>
                  <a:rPr/>
                  <a:t> so the coefficients answered the experiment’s question</a:t>
                </a:r>
              </a:p>
              <a:p>
                <a:pPr lvl="0"/>
                <a:r>
                  <a:rPr/>
                  <a:t>Used </a:t>
                </a:r>
                <a:r>
                  <a:rPr b="1"/>
                  <a:t>Tukey HSD</a:t>
                </a:r>
                <a:r>
                  <a:rPr/>
                  <a:t> to find which pairs differ, and learned that the claw-removal comparison was not one of them</a:t>
                </a:r>
              </a:p>
              <a:p>
                <a:pPr lvl="0"/>
                <a:r>
                  <a:rPr/>
                  <a:t>Moved to </a:t>
                </a:r>
                <a:r>
                  <a:rPr b="1"/>
                  <a:t>Kruskal-Wallis and Dunn’s test</a:t>
                </a:r>
                <a:r>
                  <a:rPr/>
                  <a:t> on a dataset whose assumptions genuinely failed</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Three Things to Carry Out of Here</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A significant F is an entry ticket</a:t>
            </a:r>
          </a:p>
          <a:p>
            <a:pPr lvl="0" indent="0" marL="1270000">
              <a:buNone/>
            </a:pPr>
            <a:r>
              <a:rPr sz="2000"/>
              <a:t>It says at least one group differs. It never says which, how many, or in which direction. Everything past that comes from post-hoc comparisons you planned or corrected for.</a:t>
            </a:r>
          </a:p>
          <a:p>
            <a:pPr lvl="0" indent="0" marL="1270000">
              <a:buNone/>
            </a:pPr>
            <a:r>
              <a:rPr sz="2000" b="1"/>
              <a:t>Note</a:t>
            </a:r>
          </a:p>
          <a:p>
            <a:pPr lvl="0" indent="0" marL="1270000">
              <a:buNone/>
            </a:pPr>
            <a:r>
              <a:rPr sz="2000" b="1"/>
              <a:t>✅ Assumptions live in the residuals</a:t>
            </a:r>
          </a:p>
          <a:p>
            <a:pPr lvl="0" indent="0" marL="1270000">
              <a:buNone/>
            </a:pPr>
            <a:r>
              <a:rPr sz="2000"/>
              <a:t>Except independence, which lives in the </a:t>
            </a:r>
            <a:r>
              <a:rPr sz="2000" b="1"/>
              <a:t>design</a:t>
            </a:r>
            <a:r>
              <a:rPr sz="2000"/>
              <a:t> — and no plot will ever show it to you.</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Set the reference level</a:t>
            </a:r>
          </a:p>
          <a:p>
            <a:pPr lvl="0" indent="0" marL="1270000">
              <a:buNone/>
            </a:pPr>
            <a:r>
              <a:rPr sz="2000">
                <a:latin typeface="Courier"/>
              </a:rPr>
              <a:t>fct_relevel(x, "control")</a:t>
            </a:r>
            <a:r>
              <a:rPr sz="2000"/>
              <a:t>, in the line that makes the factor. The fit never changes; the readability always does.</a:t>
            </a:r>
          </a:p>
          <a:p>
            <a:pPr lvl="0" indent="0" marL="1270000">
              <a:buNone/>
            </a:pPr>
            <a:r>
              <a:rPr sz="2000" b="1"/>
              <a:t>Note</a:t>
            </a:r>
          </a:p>
          <a:p>
            <a:pPr lvl="0" indent="0" marL="1270000">
              <a:buNone/>
            </a:pPr>
            <a:r>
              <a:rPr sz="2000" b="1"/>
              <a:t>Up next — Two-Way ANOVA</a:t>
            </a:r>
          </a:p>
          <a:p>
            <a:pPr lvl="0" indent="0" marL="1270000">
              <a:buNone/>
            </a:pPr>
            <a:r>
              <a:rPr sz="2000"/>
              <a:t>Two factors at once, and the thing that only exists when you have two: the </a:t>
            </a:r>
            <a:r>
              <a:rPr sz="2000" b="1"/>
              <a:t>interaction</a:t>
            </a:r>
            <a:r>
              <a:rPr sz="2000"/>
              <a:t>.</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Readings</a:t>
            </a:r>
          </a:p>
        </p:txBody>
      </p:sp>
      <p:sp>
        <p:nvSpPr>
          <p:cNvPr id="3" name="Content Placeholder 2"/>
          <p:cNvSpPr>
            <a:spLocks noGrp="1"/>
          </p:cNvSpPr>
          <p:nvPr>
            <p:ph idx="1"/>
          </p:nvPr>
        </p:nvSpPr>
        <p:spPr/>
        <p:txBody>
          <a:bodyPr/>
          <a:lstStyle/>
          <a:p>
            <a:pPr lvl="0"/>
            <a:r>
              <a:rPr b="1"/>
              <a:t>Whitlock &amp; Schluter</a:t>
            </a:r>
            <a:r>
              <a:rPr/>
              <a:t>, Ch. 15 — Comparing Means of More Than Two Groups (§15.4 assumptions and transformations; §15.5 planned and unplanned comparisons; §15.6 the Kruskal-Wallis test).</a:t>
            </a:r>
          </a:p>
          <a:p>
            <a:pPr lvl="0"/>
            <a:r>
              <a:rPr b="1"/>
              <a:t>Gotelli &amp; Ellison</a:t>
            </a:r>
            <a:r>
              <a:rPr/>
              <a:t>, Ch. 10 — The Analysis of Variance.</a:t>
            </a:r>
          </a:p>
          <a:p>
            <a:pPr lvl="0"/>
            <a:r>
              <a:rPr/>
              <a:t>Darnell, M. Z., &amp; Munguia, P. (2011). Thermoregulation as an alternate function of the sexually dimorphic fiddler crab claw. </a:t>
            </a:r>
            <a:r>
              <a:rPr i="1"/>
              <a:t>The American Naturalist</a:t>
            </a:r>
            <a:r>
              <a:rPr/>
              <a:t>, 178(3), 419–428.</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your grouping column a </a:t>
            </a:r>
            <a:r>
              <a:rPr b="1"/>
              <a:t>factor</a:t>
            </a:r>
            <a:r>
              <a:rPr/>
              <a:t>? Did you pass </a:t>
            </a:r>
            <a:r>
              <a:rPr>
                <a:latin typeface="Courier"/>
              </a:rPr>
              <a:t>residuals(model)</a:t>
            </a:r>
            <a:r>
              <a:rPr/>
              <a:t> to </a:t>
            </a:r>
            <a:r>
              <a:rPr>
                <a:latin typeface="Courier"/>
              </a:rPr>
              <a:t>shapiro.test()</a:t>
            </a:r>
            <a:r>
              <a:rPr/>
              <a:t> rather than the raw response? Is </a:t>
            </a:r>
            <a:r>
              <a:rPr>
                <a:latin typeface="Courier"/>
              </a:rPr>
              <a:t>car</a:t>
            </a:r>
            <a:r>
              <a:rPr/>
              <a:t> loaded for </a:t>
            </a:r>
            <a:r>
              <a:rPr>
                <a:latin typeface="Courier"/>
              </a:rPr>
              <a:t>leveneTest()</a:t>
            </a:r>
            <a:r>
              <a:rPr/>
              <a:t>, </a:t>
            </a:r>
            <a:r>
              <a:rPr>
                <a:latin typeface="Courier"/>
              </a:rPr>
              <a:t>FSA</a:t>
            </a:r>
            <a:r>
              <a:rPr/>
              <a:t> for </a:t>
            </a:r>
            <a:r>
              <a:rPr>
                <a:latin typeface="Courier"/>
              </a:rPr>
              <a:t>dunnTest()</a:t>
            </a:r>
            <a:r>
              <a:rPr/>
              <a:t>?</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as regression with a categorical predictor: partitioning sums of squares, the F-ratio, assumptions and diagnostics, setting the reference level with fct_relevel(), post-hoc testing, reporting, and the non-parametric route when assumptions genuinely fail. Uses the fiddler crab claw-radiator experiment and a nematode lifespan dataset.</dc:description>
  <dcterms:created xsi:type="dcterms:W3CDTF">2026-09-30T18:09:00Z</dcterms:created>
  <dcterms:modified xsi:type="dcterms:W3CDTF">2026-09-30T18:09:00Z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12</vt:lpwstr>
  </property>
  <property fmtid="{D5CDD505-2E9C-101B-9397-08002B2CF9AE}" pid="14" name="resources">
    <vt:lpwstr/>
  </property>
  <property fmtid="{D5CDD505-2E9C-101B-9397-08002B2CF9AE}" pid="15" name="subtitle">
    <vt:lpwstr>Single-factor ANOVA</vt:lpwstr>
  </property>
  <property fmtid="{D5CDD505-2E9C-101B-9397-08002B2CF9AE}" pid="16" name="toc-title">
    <vt:lpwstr>Table of contents</vt:lpwstr>
  </property>
  <property fmtid="{D5CDD505-2E9C-101B-9397-08002B2CF9AE}" pid="17" name="week">
    <vt:lpwstr>8</vt:lpwstr>
  </property>
</Properties>
</file>