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8" Type="http://schemas.openxmlformats.org/officeDocument/2006/relationships/viewProps" Target="viewProps.xml" /><Relationship Id="rId27" Type="http://schemas.openxmlformats.org/officeDocument/2006/relationships/presProps" Target="presProps.xml" /><Relationship Id="rId1" Type="http://schemas.openxmlformats.org/officeDocument/2006/relationships/slideMaster" Target="slideMasters/slideMaster1.xml" /><Relationship Id="rId30" Type="http://schemas.openxmlformats.org/officeDocument/2006/relationships/tableStyles" Target="tableStyles.xml" /><Relationship Id="rId29"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ANOVA in Class</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One-way ANOVA</a:t>
            </a:r>
            <a:br/>
            <a:b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 A tibble: 22 × 2
   treatment phase_shift
   &lt;chr&gt;           &lt;dbl&gt;
 1 Control          0.53
 2 Control          0.36
 3 Control          0.2 
 4 Control         -0.37
 5 Control         -0.6 
 6 Control         -0.64
 7 Control         -0.68
 8 Control         -1.27
 9 Knees            0.73
10 Knees            0.31
# ℹ 12 more rows</a:t>
            </a:r>
          </a:p>
        </p:txBody>
      </p:sp>
      <p:pic>
        <p:nvPicPr>
          <p:cNvPr descr="analysis_of_variance_activity_files/figure-pptx/plot-1.png" id="0" name="Picture 1"/>
          <p:cNvPicPr>
            <a:picLocks noGrp="1" noChangeAspect="1"/>
          </p:cNvPicPr>
          <p:nvPr/>
        </p:nvPicPr>
        <p:blipFill>
          <a:blip r:embed="rId2"/>
          <a:stretch>
            <a:fillRect/>
          </a:stretch>
        </p:blipFill>
        <p:spPr bwMode="auto">
          <a:xfrm>
            <a:off x="3657600" y="1244600"/>
            <a:ext cx="5232400" cy="32258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latin typeface="Courier"/>
              </a:rPr>
              <a:t>
Call:
lm(formula = phase_shift ~ treatment, data = c_df)
Residuals:
     Min       1Q   Median       3Q      Max 
-1.27857 -0.36125  0.03857  0.61147  1.06571 
Coefficients:
               Estimate Std. Error t value Pr(&gt;|t|)   
(Intercept)    -0.30875    0.24888  -1.241  0.22988   
treatmentEyes  -1.24268    0.36433  -3.411  0.00293 **
treatmentKnees -0.02696    0.36433  -0.074  0.94178   
---
Signif. codes:  0 '***' 0.001 '**' 0.01 '*' 0.05 '.' 0.1 ' ' 1
Residual standard error: 0.7039 on 19 degrees of freedom
Multiple R-squared:  0.4342,    Adjusted R-squared:  0.3746 
F-statistic: 7.289 on 2 and 19 DF,  p-value: 0.004472</a:t>
            </a:r>
          </a:p>
          <a:p>
            <a:pPr lvl="0" indent="0">
              <a:buNone/>
            </a:pPr>
            <a:r>
              <a:rPr>
                <a:latin typeface="Courier"/>
              </a:rPr>
              <a:t>Anova Table (Type II tests)
Response: phase_shift
          Sum Sq Df F value   Pr(&gt;F)   
treatment 7.2245  2  7.2894 0.004472 **
Residuals 9.4153 19                    
---
Signif. codes:  0 '***' 0.001 '**' 0.01 '*' 0.05 '.' 0.1 ' ' 1</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ANOVA-Assumptions and Diagnostics</a:t>
            </a:r>
          </a:p>
        </p:txBody>
      </p:sp>
      <p:sp>
        <p:nvSpPr>
          <p:cNvPr id="3" name="Content Placeholder 2"/>
          <p:cNvSpPr>
            <a:spLocks noGrp="1"/>
          </p:cNvSpPr>
          <p:nvPr>
            <p:ph idx="1"/>
          </p:nvPr>
        </p:nvSpPr>
        <p:spPr/>
        <p:txBody>
          <a:bodyPr/>
          <a:lstStyle/>
          <a:p>
            <a:pPr lvl="0" indent="0" marL="0">
              <a:buNone/>
            </a:pPr>
            <a:r>
              <a:rPr/>
              <a:t>ANOVA has the same assumptions as the two-sample t-test, but applied to all k groups:</a:t>
            </a:r>
          </a:p>
          <a:p>
            <a:pPr lvl="0" indent="-342900" marL="342900">
              <a:buAutoNum type="arabicPeriod"/>
            </a:pPr>
            <a:r>
              <a:rPr b="1"/>
              <a:t>Random samples</a:t>
            </a:r>
            <a:r>
              <a:rPr/>
              <a:t> from corresponding populations</a:t>
            </a:r>
          </a:p>
          <a:p>
            <a:pPr lvl="0" indent="-342900" marL="342900">
              <a:buAutoNum type="arabicPeriod"/>
            </a:pPr>
            <a:r>
              <a:rPr b="1"/>
              <a:t>Normality</a:t>
            </a:r>
            <a:r>
              <a:rPr/>
              <a:t>: residuals are normally distributed</a:t>
            </a:r>
          </a:p>
          <a:p>
            <a:pPr lvl="0" indent="-342900" marL="342900">
              <a:buAutoNum type="arabicPeriod"/>
            </a:pPr>
            <a:r>
              <a:rPr b="1"/>
              <a:t>Homogeneity of variance</a:t>
            </a:r>
            <a:r>
              <a:rPr/>
              <a:t>: variance is the same in all treatments</a:t>
            </a:r>
          </a:p>
          <a:p>
            <a:pPr lvl="0" indent="-342900" marL="342900">
              <a:buAutoNum type="arabicPeriod"/>
            </a:pPr>
            <a:r>
              <a:rPr b="1"/>
              <a:t>Independence</a:t>
            </a:r>
            <a:r>
              <a:rPr/>
              <a:t>: observations are independent</a:t>
            </a:r>
          </a:p>
          <a:p>
            <a:pPr lvl="0" indent="0" marL="0">
              <a:buNone/>
            </a:pPr>
            <a:r>
              <a:rPr b="1"/>
              <a:t>Checking assumptions</a:t>
            </a:r>
            <a:r>
              <a:rPr/>
              <a:t>:</a:t>
            </a:r>
          </a:p>
          <a:p>
            <a:pPr lvl="0"/>
            <a:r>
              <a:rPr/>
              <a:t>Normality: Q-Q plots, histogram of residuals, Shapiro-Wilk test</a:t>
            </a:r>
          </a:p>
          <a:p>
            <a:pPr lvl="0"/>
            <a:r>
              <a:rPr/>
              <a:t>Homogeneity: plot residuals vs. predicted values or x-values</a:t>
            </a:r>
          </a:p>
          <a:p>
            <a:pPr lvl="0"/>
            <a:r>
              <a:rPr/>
              <a:t>Independence: examine experimental design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b="1"/>
              <a:t>Lecture 12:</a:t>
            </a:r>
            <a:r>
              <a:rPr/>
              <a:t> ANOVA diagnostics</a:t>
            </a:r>
          </a:p>
        </p:txBody>
      </p:sp>
      <p:sp>
        <p:nvSpPr>
          <p:cNvPr id="4" name="Text Placeholder 3"/>
          <p:cNvSpPr>
            <a:spLocks noGrp="1"/>
          </p:cNvSpPr>
          <p:nvPr>
            <p:ph idx="2" sz="half" type="body"/>
          </p:nvPr>
        </p:nvSpPr>
        <p:spPr/>
        <p:txBody>
          <a:bodyPr/>
          <a:lstStyle/>
          <a:p>
            <a:pPr lvl="0" indent="0" marL="0">
              <a:buNone/>
            </a:pPr>
            <a:r>
              <a:rPr/>
              <a:t>This is the default output of base R assumption tests</a:t>
            </a:r>
          </a:p>
        </p:txBody>
      </p:sp>
      <p:pic>
        <p:nvPicPr>
          <p:cNvPr descr="analysis_of_variance_activity_files/figure-pptx/base_diagplots-1.png" id="0" name="Picture 1"/>
          <p:cNvPicPr>
            <a:picLocks noGrp="1" noChangeAspect="1"/>
          </p:cNvPicPr>
          <p:nvPr/>
        </p:nvPicPr>
        <p:blipFill>
          <a:blip r:embed="rId2"/>
          <a:stretch>
            <a:fillRect/>
          </a:stretch>
        </p:blipFill>
        <p:spPr bwMode="auto">
          <a:xfrm>
            <a:off x="4368800" y="952500"/>
            <a:ext cx="3797300" cy="37973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Performance package for daignostics</a:t>
            </a:r>
          </a:p>
        </p:txBody>
      </p:sp>
      <p:pic>
        <p:nvPicPr>
          <p:cNvPr descr="analysis_of_variance_activity_files/figure-pptx/unnamed-chunk-4-1.png" id="0" name="Picture 1"/>
          <p:cNvPicPr>
            <a:picLocks noGrp="1" noChangeAspect="1"/>
          </p:cNvPicPr>
          <p:nvPr/>
        </p:nvPicPr>
        <p:blipFill>
          <a:blip r:embed="rId2"/>
          <a:stretch>
            <a:fillRect/>
          </a:stretch>
        </p:blipFill>
        <p:spPr bwMode="auto">
          <a:xfrm>
            <a:off x="2590800" y="609600"/>
            <a:ext cx="3911600" cy="39116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ANOVA Diagnostics</a:t>
            </a:r>
          </a:p>
        </p:txBody>
      </p:sp>
      <p:sp>
        <p:nvSpPr>
          <p:cNvPr id="3" name="Content Placeholder 2"/>
          <p:cNvSpPr>
            <a:spLocks noGrp="1"/>
          </p:cNvSpPr>
          <p:nvPr>
            <p:ph idx="1"/>
          </p:nvPr>
        </p:nvSpPr>
        <p:spPr/>
        <p:txBody>
          <a:bodyPr/>
          <a:lstStyle/>
          <a:p>
            <a:pPr lvl="0" indent="0" marL="0">
              <a:buNone/>
            </a:pPr>
            <a:r>
              <a:rPr/>
              <a:t>Levene’s test of homogeneity of variance</a:t>
            </a:r>
          </a:p>
          <a:p>
            <a:pPr lvl="0"/>
            <a:r>
              <a:rPr/>
              <a:t>Null Hypothesis is that they are homogeneous</a:t>
            </a:r>
          </a:p>
          <a:p>
            <a:pPr lvl="0"/>
            <a:r>
              <a:rPr/>
              <a:t>So you want a non significant result here</a:t>
            </a:r>
          </a:p>
          <a:p>
            <a:pPr lvl="0" indent="0">
              <a:buNone/>
            </a:pPr>
            <a:r>
              <a:rPr>
                <a:latin typeface="Courier"/>
              </a:rPr>
              <a:t>Levene's Test for Homogeneity of Variance (center = median)
      Df F value Pr(&gt;F)
group  2  0.1586 0.8545
      19               </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ANOVA Diagnostics</a:t>
            </a:r>
          </a:p>
        </p:txBody>
      </p:sp>
      <p:sp>
        <p:nvSpPr>
          <p:cNvPr id="3" name="Content Placeholder 2"/>
          <p:cNvSpPr>
            <a:spLocks noGrp="1"/>
          </p:cNvSpPr>
          <p:nvPr>
            <p:ph idx="1"/>
          </p:nvPr>
        </p:nvSpPr>
        <p:spPr/>
        <p:txBody>
          <a:bodyPr/>
          <a:lstStyle/>
          <a:p>
            <a:pPr lvl="0" indent="0" marL="0">
              <a:buNone/>
            </a:pPr>
            <a:r>
              <a:rPr/>
              <a:t>Shapiro-Wilk Normality Test</a:t>
            </a:r>
          </a:p>
          <a:p>
            <a:pPr lvl="0"/>
            <a:r>
              <a:rPr/>
              <a:t>Null Hypothesis is that they are normally distributed</a:t>
            </a:r>
          </a:p>
          <a:p>
            <a:pPr lvl="0"/>
            <a:r>
              <a:rPr/>
              <a:t>So you want a </a:t>
            </a:r>
            <a:r>
              <a:rPr b="1"/>
              <a:t>non significant</a:t>
            </a:r>
            <a:r>
              <a:rPr/>
              <a:t> result here</a:t>
            </a:r>
          </a:p>
          <a:p>
            <a:pPr lvl="0" indent="0">
              <a:buNone/>
            </a:pPr>
            <a:r>
              <a:rPr>
                <a:latin typeface="Courier"/>
              </a:rPr>
              <a:t>
    Shapiro-Wilk normality test
data:  residuals(model_aov)
W = 0.95893, p-value = 0.468</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ANOVA Post-Hoc Testing</a:t>
            </a:r>
          </a:p>
        </p:txBody>
      </p:sp>
      <p:sp>
        <p:nvSpPr>
          <p:cNvPr id="3" name="Content Placeholder 2"/>
          <p:cNvSpPr>
            <a:spLocks noGrp="1"/>
          </p:cNvSpPr>
          <p:nvPr>
            <p:ph idx="1"/>
          </p:nvPr>
        </p:nvSpPr>
        <p:spPr/>
        <p:txBody>
          <a:bodyPr/>
          <a:lstStyle/>
          <a:p>
            <a:pPr lvl="0" indent="0" marL="0">
              <a:buNone/>
            </a:pPr>
            <a:r>
              <a:rPr/>
              <a:t>When ANOVA rejects H₀, we need to determine which groups differ.</a:t>
            </a:r>
          </a:p>
          <a:p>
            <a:pPr lvl="0" indent="0" marL="0">
              <a:buNone/>
            </a:pPr>
            <a:r>
              <a:rPr b="1"/>
              <a:t>Example</a:t>
            </a:r>
            <a:r>
              <a:rPr/>
              <a:t>: Using Tukey’s HSD to compare all pairs of treatments in the circadian rhythm data.</a:t>
            </a:r>
          </a:p>
          <a:p>
            <a:pPr lvl="0" indent="0" marL="0">
              <a:buNone/>
            </a:pPr>
            <a:r>
              <a:rPr/>
              <a:t>first we calculate the estimate marginal means</a:t>
            </a:r>
          </a:p>
          <a:p>
            <a:pPr lvl="0" indent="0">
              <a:buNone/>
            </a:pPr>
            <a:r>
              <a:rPr>
                <a:latin typeface="Courier"/>
              </a:rPr>
              <a:t> treatment emmean    SE df lower.CL upper.CL
 Control   -0.309 0.249 19   -0.830    0.212
 Eyes      -1.551 0.266 19   -2.108   -0.995
 Knees     -0.336 0.266 19   -0.893    0.221
Confidence level used: 0.95 </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What Are Estimated Marginal Means?</a:t>
            </a:r>
          </a:p>
        </p:txBody>
      </p:sp>
      <p:sp>
        <p:nvSpPr>
          <p:cNvPr id="3" name="Content Placeholder 2"/>
          <p:cNvSpPr>
            <a:spLocks noGrp="1"/>
          </p:cNvSpPr>
          <p:nvPr>
            <p:ph idx="1"/>
          </p:nvPr>
        </p:nvSpPr>
        <p:spPr/>
        <p:txBody>
          <a:bodyPr/>
          <a:lstStyle/>
          <a:p>
            <a:pPr lvl="0" indent="0" marL="0">
              <a:buNone/>
            </a:pPr>
            <a:r>
              <a:rPr b="1"/>
              <a:t>Estimated Marginal Means (EMMs)</a:t>
            </a:r>
            <a:r>
              <a:rPr/>
              <a:t>, also called </a:t>
            </a:r>
            <a:r>
              <a:rPr b="1"/>
              <a:t>least-squares means</a:t>
            </a:r>
            <a:r>
              <a:rPr/>
              <a:t>, are model-based predictions of group means that come from your fitted statistical model rather than directly from your raw data.</a:t>
            </a:r>
          </a:p>
          <a:p>
            <a:pPr lvl="0" indent="0" marL="0">
              <a:spcBef>
                <a:spcPts val="3000"/>
              </a:spcBef>
              <a:buNone/>
            </a:pPr>
            <a:r>
              <a:rPr b="1"/>
              <a:t>Key Concepts</a:t>
            </a:r>
          </a:p>
          <a:p>
            <a:pPr lvl="0" indent="0" marL="0">
              <a:buNone/>
            </a:pPr>
            <a:r>
              <a:rPr/>
              <a:t>In a </a:t>
            </a:r>
            <a:r>
              <a:rPr b="1"/>
              <a:t>one-way ANOVA</a:t>
            </a:r>
            <a:r>
              <a:rPr/>
              <a:t>, EMMs are straightforward:</a:t>
            </a:r>
          </a:p>
          <a:p>
            <a:pPr lvl="0"/>
            <a:r>
              <a:rPr b="1"/>
              <a:t>EMMs = Group means</a:t>
            </a:r>
            <a:r>
              <a:rPr/>
              <a:t> (when you have balanced data and no covariates)</a:t>
            </a:r>
          </a:p>
          <a:p>
            <a:pPr lvl="0"/>
            <a:r>
              <a:rPr/>
              <a:t>They represent the “expected” or “predicted” value for each group according to your model</a:t>
            </a:r>
          </a:p>
          <a:p>
            <a:pPr lvl="0"/>
            <a:r>
              <a:rPr/>
              <a:t>They’re called “marginal” because in more complex designs, they’re averaged over (or “marginalized” over) other factors</a:t>
            </a:r>
          </a:p>
          <a:p>
            <a:pPr lvl="0" indent="0" marL="0">
              <a:spcBef>
                <a:spcPts val="3000"/>
              </a:spcBef>
              <a:buNone/>
            </a:pPr>
            <a:r>
              <a:rPr b="1"/>
              <a:t>Why Use EMMs Instead of Simple Means?</a:t>
            </a:r>
          </a:p>
          <a:p>
            <a:pPr lvl="0" indent="0" marL="0">
              <a:buNone/>
            </a:pPr>
            <a:r>
              <a:rPr/>
              <a:t>For one-way ANOVA, you might wonder: “Why not just use </a:t>
            </a:r>
            <a:r>
              <a:rPr>
                <a:latin typeface="Courier"/>
              </a:rPr>
              <a:t>group_by() %&gt;% summarize(mean())</a:t>
            </a:r>
            <a:r>
              <a:rPr/>
              <a:t>?”</a:t>
            </a:r>
          </a:p>
          <a:p>
            <a:pPr lvl="0" indent="0" marL="0">
              <a:buNone/>
            </a:pPr>
            <a:r>
              <a:rPr/>
              <a:t>Here’s why EMMs are valuable:</a:t>
            </a:r>
          </a:p>
          <a:p>
            <a:pPr lvl="0" indent="-342900" marL="342900">
              <a:buAutoNum type="arabicPeriod"/>
            </a:pPr>
            <a:r>
              <a:rPr b="1"/>
              <a:t>Consistency across models</a:t>
            </a:r>
            <a:r>
              <a:rPr/>
              <a:t>: EMMs work the same way whether you have one-way ANOVA, two-way ANOVA, ANCOVA, or more complex designs</a:t>
            </a:r>
          </a:p>
          <a:p>
            <a:pPr lvl="0" indent="-342900" marL="342900">
              <a:buAutoNum type="arabicPeriod"/>
            </a:pPr>
            <a:r>
              <a:rPr b="1"/>
              <a:t>Built-in inference</a:t>
            </a:r>
            <a:r>
              <a:rPr/>
              <a:t>: The </a:t>
            </a:r>
            <a:r>
              <a:rPr>
                <a:latin typeface="Courier"/>
              </a:rPr>
              <a:t>emmeans</a:t>
            </a:r>
            <a:r>
              <a:rPr/>
              <a:t> package provides standard errors, confidence intervals, and easy comparisons</a:t>
            </a:r>
          </a:p>
          <a:p>
            <a:pPr lvl="0" indent="-342900" marL="342900">
              <a:buAutoNum type="arabicPeriod"/>
            </a:pPr>
            <a:r>
              <a:rPr b="1"/>
              <a:t>Adjusted means</a:t>
            </a:r>
            <a:r>
              <a:rPr/>
              <a:t>: In more complex models (with covariates), EMMs give you adjusted means at meaningful reference points</a:t>
            </a:r>
          </a:p>
          <a:p>
            <a:pPr lvl="0" indent="-342900" marL="342900">
              <a:buAutoNum type="arabicPeriod"/>
            </a:pPr>
            <a:r>
              <a:rPr b="1"/>
              <a:t>Professional reporting</a:t>
            </a:r>
            <a:r>
              <a:rPr/>
              <a:t>: EMMs are the standard in academic publications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How Are EMMs Calculated?</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In One-Way ANOVA: EMMs = Group Means</a:t>
                </a:r>
              </a:p>
              <a:p>
                <a:pPr lvl="0" indent="0" marL="0">
                  <a:buNone/>
                </a:pPr>
                <a:r>
                  <a:rPr/>
                  <a:t>Let’s verify this by comparing EMMs to simple group means:</a:t>
                </a:r>
              </a:p>
              <a:p>
                <a:pPr lvl="0" indent="0">
                  <a:buNone/>
                </a:pPr>
                <a:r>
                  <a:rPr>
                    <a:latin typeface="Courier"/>
                  </a:rPr>
                  <a:t># A tibble: 3 × 7
  treatment sample_mean sample_sd     n emmean    SE difference
  &lt;chr&gt;           &lt;dbl&gt;     &lt;dbl&gt; &lt;int&gt;  &lt;dbl&gt; &lt;dbl&gt;      &lt;dbl&gt;
1 Control        -0.309     0.618     8 -0.309 0.249          0
2 Eyes           -1.55      0.706     7 -1.55  0.266          0
3 Knees          -0.336     0.791     7 -0.336 0.266          0</a:t>
                </a:r>
              </a:p>
              <a:p>
                <a:pPr lvl="0" indent="0" marL="0">
                  <a:buNone/>
                </a:pPr>
                <a:r>
                  <a:rPr b="1"/>
                  <a:t>Key insight</a:t>
                </a:r>
                <a:r>
                  <a:rPr/>
                  <a:t>: In a one-way ANOVA, the EMMs are </a:t>
                </a:r>
                <a:r>
                  <a:rPr b="1"/>
                  <a:t>exactly equal</a:t>
                </a:r>
                <a:r>
                  <a:rPr/>
                  <a:t> to the group means!</a:t>
                </a:r>
              </a:p>
              <a:p>
                <a:pPr lvl="0" indent="0" marL="0">
                  <a:spcBef>
                    <a:spcPts val="3000"/>
                  </a:spcBef>
                  <a:buNone/>
                </a:pPr>
                <a:r>
                  <a:rPr b="1"/>
                  <a:t>The Mathematical Formula</a:t>
                </a:r>
              </a:p>
              <a:p>
                <a:pPr lvl="0" indent="0" marL="0">
                  <a:buNone/>
                </a:pPr>
                <a:r>
                  <a:rPr/>
                  <a:t>For one-way ANOVA, the EMM for group </a:t>
                </a:r>
                <a14:m>
                  <m:oMath xmlns:m="http://schemas.openxmlformats.org/officeDocument/2006/math">
                    <m:r>
                      <m:t>j</m:t>
                    </m:r>
                  </m:oMath>
                </a14:m>
                <a:r>
                  <a:rPr/>
                  <a:t> is calculated as:</a:t>
                </a:r>
              </a:p>
              <a:p>
                <a:pPr lvl="0" indent="0" marL="0">
                  <a:buNone/>
                </a:pPr>
                <a14:m>
                  <m:oMathPara xmlns:m="http://schemas.openxmlformats.org/officeDocument/2006/math">
                    <m:oMathParaPr>
                      <m:jc m:val="center"/>
                    </m:oMathParaPr>
                    <m:oMath>
                      <m:sSub>
                        <m:e>
                          <m:r>
                            <m:rPr>
                              <m:nor/>
                              <m:sty m:val="p"/>
                            </m:rPr>
                            <m:t>EMM</m:t>
                          </m:r>
                        </m:e>
                        <m:sub>
                          <m:r>
                            <m:t>j</m:t>
                          </m:r>
                        </m:sub>
                      </m:sSub>
                      <m:r>
                        <m:rPr>
                          <m:sty m:val="p"/>
                        </m:rPr>
                        <m:t>=</m:t>
                      </m:r>
                      <m:sSub>
                        <m:e>
                          <m:acc>
                            <m:accPr>
                              <m:chr m:val="̂"/>
                            </m:accPr>
                            <m:e>
                              <m:r>
                                <m:t>β</m:t>
                              </m:r>
                            </m:e>
                          </m:acc>
                        </m:e>
                        <m:sub>
                          <m:r>
                            <m:t>0</m:t>
                          </m:r>
                        </m:sub>
                      </m:sSub>
                      <m:r>
                        <m:rPr>
                          <m:sty m:val="p"/>
                        </m:rPr>
                        <m:t>+</m:t>
                      </m:r>
                      <m:sSub>
                        <m:e>
                          <m:acc>
                            <m:accPr>
                              <m:chr m:val="̂"/>
                            </m:accPr>
                            <m:e>
                              <m:r>
                                <m:t>β</m:t>
                              </m:r>
                            </m:e>
                          </m:acc>
                        </m:e>
                        <m:sub>
                          <m:r>
                            <m:t>j</m:t>
                          </m:r>
                        </m:sub>
                      </m:sSub>
                    </m:oMath>
                  </m:oMathPara>
                </a14:m>
              </a:p>
              <a:p>
                <a:pPr lvl="0" indent="0" marL="0">
                  <a:buNone/>
                </a:pPr>
                <a:r>
                  <a:rPr/>
                  <a:t>Where: - </a:t>
                </a:r>
                <a14:m>
                  <m:oMath xmlns:m="http://schemas.openxmlformats.org/officeDocument/2006/math">
                    <m:sSub>
                      <m:e>
                        <m:acc>
                          <m:accPr>
                            <m:chr m:val="̂"/>
                          </m:accPr>
                          <m:e>
                            <m:r>
                              <m:t>β</m:t>
                            </m:r>
                          </m:e>
                        </m:acc>
                      </m:e>
                      <m:sub>
                        <m:r>
                          <m:t>0</m:t>
                        </m:r>
                      </m:sub>
                    </m:sSub>
                  </m:oMath>
                </a14:m>
                <a:r>
                  <a:rPr/>
                  <a:t> is the intercept (mean of reference group) - </a:t>
                </a:r>
                <a14:m>
                  <m:oMath xmlns:m="http://schemas.openxmlformats.org/officeDocument/2006/math">
                    <m:sSub>
                      <m:e>
                        <m:acc>
                          <m:accPr>
                            <m:chr m:val="̂"/>
                          </m:accPr>
                          <m:e>
                            <m:r>
                              <m:t>β</m:t>
                            </m:r>
                          </m:e>
                        </m:acc>
                      </m:e>
                      <m:sub>
                        <m:r>
                          <m:t>j</m:t>
                        </m:r>
                      </m:sub>
                    </m:sSub>
                  </m:oMath>
                </a14:m>
                <a:r>
                  <a:rPr/>
                  <a:t> is the coefficient for group </a:t>
                </a:r>
                <a14:m>
                  <m:oMath xmlns:m="http://schemas.openxmlformats.org/officeDocument/2006/math">
                    <m:r>
                      <m:t>j</m:t>
                    </m:r>
                  </m:oMath>
                </a14:m>
                <a:r>
                  <a:rPr/>
                  <a:t> (or 0 for the reference group)</a:t>
                </a:r>
              </a:p>
              <a:p>
                <a:pPr lvl="0" indent="0" marL="0">
                  <a:spcBef>
                    <a:spcPts val="3000"/>
                  </a:spcBef>
                  <a:buNone/>
                </a:pPr>
                <a:r>
                  <a:rPr b="1"/>
                  <a:t>take home is in this case emmeans = the means</a:t>
                </a:r>
              </a:p>
              <a:p>
                <a:pPr lvl="0" indent="0">
                  <a:buNone/>
                </a:pPr>
                <a:r>
                  <a:rPr>
                    <a:latin typeface="Courier"/>
                  </a:rPr>
                  <a:t> contrast        estimate    SE df t.ratio p.value
 Control - Eyes     1.243 0.364 19   3.411  0.0088
 Control - Knees    0.027 0.364 19   0.074  0.9998
 Eyes - Knees      -1.216 0.376 19  -3.231  0.0131
P value adjustment: sidak method for 3 tests </a:t>
                </a:r>
              </a:p>
              <a:p>
                <a:pPr lvl="0"/>
                <a:r>
                  <a:rPr/>
                  <a:t>What is the ESTIMATE?</a:t>
                </a:r>
              </a:p>
              <a:p>
                <a:pPr lvl="1"/>
                <a:r>
                  <a:rPr/>
                  <a:t>The estimate is the </a:t>
                </a:r>
                <a:r>
                  <a:rPr b="1"/>
                  <a:t>difference between two group means</a:t>
                </a:r>
                <a:r>
                  <a:rPr/>
                  <a:t>.</a:t>
                </a:r>
              </a:p>
              <a:p>
                <a:pPr lvl="1"/>
                <a:r>
                  <a:rPr/>
                  <a:t>What is the SE (Standard Error)?</a:t>
                </a:r>
              </a:p>
              <a:p>
                <a:pPr lvl="2"/>
                <a:r>
                  <a:rPr/>
                  <a:t>The SE is the </a:t>
                </a:r>
                <a:r>
                  <a:rPr b="1"/>
                  <a:t>standard error of the difference</a:t>
                </a:r>
                <a:r>
                  <a:rPr/>
                  <a:t> between two means.</a:t>
                </a:r>
              </a:p>
              <a:p>
                <a:pPr lvl="2"/>
                <a:r>
                  <a:rPr/>
                  <a:t>It tells you how much uncertainty there is in your estimate of the difference. The SE depends on:</a:t>
                </a:r>
              </a:p>
              <a:p>
                <a:pPr lvl="3"/>
                <a:r>
                  <a:rPr/>
                  <a:t>The variability within each group (residual variance from your model)</a:t>
                </a:r>
              </a:p>
              <a:p>
                <a:pPr lvl="3"/>
                <a:r>
                  <a:rPr/>
                  <a:t>The sample sizes of the groups being compared</a:t>
                </a:r>
              </a:p>
              <a:p>
                <a:pPr lvl="1"/>
                <a:r>
                  <a:rPr/>
                  <a:t>How They Work Together</a:t>
                </a:r>
              </a:p>
              <a:p>
                <a:pPr lvl="2"/>
                <a:r>
                  <a:rPr/>
                  <a:t>The t-ratio = estimate / SE tells you how many standard errors away from zero your difference is:</a:t>
                </a:r>
              </a:p>
              <a:p>
                <a:pPr lvl="3"/>
                <a:r>
                  <a:rPr/>
                  <a:t>Control - Eyes: 1.243 / 0.364 = 3.41 → far from zero → significant!</a:t>
                </a:r>
              </a:p>
              <a:p>
                <a:pPr lvl="3"/>
                <a:r>
                  <a:rPr/>
                  <a:t>Control - Knees: 0.027 / 0.364 = 0.074 → very close to zero → not significant</a:t>
                </a:r>
              </a:p>
              <a:p>
                <a:pPr lvl="0" indent="0">
                  <a:buNone/>
                </a:pPr>
                <a:r>
                  <a:rPr>
                    <a:latin typeface="Courier"/>
                  </a:rPr>
                  <a:t> treatment emmean    SE df lower.CL upper.CL .group
 Eyes      -1.551 0.266 19    -2.25   -0.855  a    
 Knees     -0.336 0.266 19    -1.03    0.361   b   
 Control   -0.309 0.249 19    -0.96    0.343   b   
Confidence level used: 0.95 
Conf-level adjustment: sidak method for 3 estimates 
P value adjustment: sidak method for 3 tests 
significance level used: alpha = 0.05 
NOTE: If two or more means share the same grouping symbol,
      then we cannot show them to be different.
      But we also did not show them to be the same. </a:t>
                </a:r>
              </a:p>
              <a:p>
                <a:pPr lvl="0" indent="0" marL="0">
                  <a:spcBef>
                    <a:spcPts val="3000"/>
                  </a:spcBef>
                  <a:buNone/>
                </a:pPr>
                <a:r>
                  <a:rPr b="1"/>
                  <a:t>Can do in one go as well</a:t>
                </a:r>
              </a:p>
              <a:p>
                <a:pPr lvl="0" indent="0">
                  <a:buNone/>
                </a:pPr>
                <a:r>
                  <a:rPr>
                    <a:latin typeface="Courier"/>
                  </a:rPr>
                  <a:t> treatment emmean    SE df lower.CL upper.CL .group
 Eyes      -1.551 0.266 19    -2.25   -0.855  a    
 Knees     -0.336 0.266 19    -1.03    0.361   b   
 Control   -0.309 0.249 19    -0.96    0.343   b   
Confidence level used: 0.95 
Conf-level adjustment: sidak method for 3 estimates 
P value adjustment: sidak method for 3 tests 
significance level used: alpha = 0.05 
NOTE: If two or more means share the same grouping symbol,
      then we cannot show them to be different.
      But we also did not show them to be the same. </a:t>
                </a:r>
              </a:p>
            </p:txBody>
          </p:sp>
        </mc:Choice>
      </mc:AlternateContent>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Plotting the EMMEANS</a:t>
            </a:r>
          </a:p>
        </p:txBody>
      </p:sp>
      <p:pic>
        <p:nvPicPr>
          <p:cNvPr descr="analysis_of_variance_activity_files/figure-pptx/unnamed-chunk-11-1.png" id="0" name="Picture 1"/>
          <p:cNvPicPr>
            <a:picLocks noGrp="1" noChangeAspect="1"/>
          </p:cNvPicPr>
          <p:nvPr/>
        </p:nvPicPr>
        <p:blipFill>
          <a:blip r:embed="rId2"/>
          <a:stretch>
            <a:fillRect/>
          </a:stretch>
        </p:blipFill>
        <p:spPr bwMode="auto">
          <a:xfrm>
            <a:off x="1358900" y="609600"/>
            <a:ext cx="6350000" cy="39116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ANOVA Post-Hoc Testing</a:t>
            </a:r>
          </a:p>
        </p:txBody>
      </p:sp>
      <p:pic>
        <p:nvPicPr>
          <p:cNvPr descr="analysis_of_variance_activity_files/figure-pptx/unnamed-chunk-12-1.png" id="0" name="Picture 1"/>
          <p:cNvPicPr>
            <a:picLocks noGrp="1" noChangeAspect="1"/>
          </p:cNvPicPr>
          <p:nvPr/>
        </p:nvPicPr>
        <p:blipFill>
          <a:blip r:embed="rId2"/>
          <a:stretch>
            <a:fillRect/>
          </a:stretch>
        </p:blipFill>
        <p:spPr bwMode="auto">
          <a:xfrm>
            <a:off x="1358900" y="609600"/>
            <a:ext cx="6350000" cy="39116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Planned comparisons</a:t>
            </a:r>
          </a:p>
        </p:txBody>
      </p:sp>
      <p:sp>
        <p:nvSpPr>
          <p:cNvPr id="3" name="Content Placeholder 2"/>
          <p:cNvSpPr>
            <a:spLocks noGrp="1"/>
          </p:cNvSpPr>
          <p:nvPr>
            <p:ph idx="1"/>
          </p:nvPr>
        </p:nvSpPr>
        <p:spPr/>
        <p:txBody>
          <a:bodyPr/>
          <a:lstStyle/>
          <a:p>
            <a:pPr lvl="0" indent="0">
              <a:buNone/>
            </a:pPr>
            <a:r>
              <a:rPr>
                <a:latin typeface="Courier"/>
              </a:rPr>
              <a:t>NULL</a:t>
            </a:r>
          </a:p>
          <a:p>
            <a:pPr lvl="0" indent="0">
              <a:buNone/>
            </a:pPr>
            <a:r>
              <a:rPr>
                <a:latin typeface="Courier"/>
              </a:rPr>
              <a:t> contrast         estimate    SE df t.ratio p.value
 control vs eyes     1.243 0.364 19   3.411  0.0029
 control vs knees    0.027 0.364 19   0.074  0.9418</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ANOVA Post-Hoc Testing</a:t>
            </a:r>
          </a:p>
        </p:txBody>
      </p:sp>
      <p:pic>
        <p:nvPicPr>
          <p:cNvPr descr="analysis_of_variance_activity_files/figure-pptx/unnamed-chunk-14-1.png" id="0" name="Picture 1"/>
          <p:cNvPicPr>
            <a:picLocks noGrp="1" noChangeAspect="1"/>
          </p:cNvPicPr>
          <p:nvPr/>
        </p:nvPicPr>
        <p:blipFill>
          <a:blip r:embed="rId2"/>
          <a:stretch>
            <a:fillRect/>
          </a:stretch>
        </p:blipFill>
        <p:spPr bwMode="auto">
          <a:xfrm>
            <a:off x="1358900" y="609600"/>
            <a:ext cx="6350000" cy="39116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ANOVA Reporting results</a:t>
            </a:r>
          </a:p>
        </p:txBody>
      </p:sp>
      <p:sp>
        <p:nvSpPr>
          <p:cNvPr id="3" name="Content Placeholder 2"/>
          <p:cNvSpPr>
            <a:spLocks noGrp="1"/>
          </p:cNvSpPr>
          <p:nvPr>
            <p:ph idx="1"/>
          </p:nvPr>
        </p:nvSpPr>
        <p:spPr/>
        <p:txBody>
          <a:bodyPr/>
          <a:lstStyle/>
          <a:p>
            <a:pPr lvl="0" indent="0" marL="0">
              <a:buNone/>
            </a:pPr>
            <a:r>
              <a:rPr b="1"/>
              <a:t>Formal scientific writing example:</a:t>
            </a:r>
          </a:p>
          <a:p>
            <a:pPr lvl="0" indent="0" marL="0">
              <a:buNone/>
            </a:pPr>
            <a:r>
              <a:rPr/>
              <a:t>“The effect of light treatment on circadian rhythm phase shift was analyzed using a one-way ANOVA. There was a significant effect of treatment on phase shift (F(2, 19) = 7.29, p = 0.004, η² = 0.43). Post-hoc comparisons using Tukey’s HSD test indicated that the mean phase shift for the Eyes treatment (M = -1.55 h, SD = 0.71) was significantly different from both the Control treatment (M = -0.31 h, SD = 0.62) and the Knees treatment (M = -0.34 h, SD = 0.79). However, the Control and Knees treatments did not significantly differ from each other. These results suggest that light exposure to the eyes, but not to the knees, impacts circadian rhythm phase shifts.”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NON PARAMETRIC ANOVA</a:t>
            </a:r>
          </a:p>
        </p:txBody>
      </p:sp>
      <p:pic>
        <p:nvPicPr>
          <p:cNvPr descr="analysis_of_variance_activity_files/figure-pptx/unnamed-chunk-15-1.png" id="0" name="Picture 1"/>
          <p:cNvPicPr>
            <a:picLocks noGrp="1" noChangeAspect="1"/>
          </p:cNvPicPr>
          <p:nvPr/>
        </p:nvPicPr>
        <p:blipFill>
          <a:blip r:embed="rId2"/>
          <a:stretch>
            <a:fillRect/>
          </a:stretch>
        </p:blipFill>
        <p:spPr bwMode="auto">
          <a:xfrm>
            <a:off x="1358900" y="609600"/>
            <a:ext cx="6350000" cy="39116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&lt;theme&gt; List of 147
 $ line                            : &lt;ggplot2::element_line&gt;
  ..@ colour       : chr "black"
  ..@ linewidth    : num 0.5
  ..@ linetype     : num 1
  ..@ lineend      : chr "butt"
  ..@ linejoin     : chr "round"
  ..@ arrow        : logi FALSE
  ..@ arrow.fill   : chr "black"
  ..@ inherit.blank: logi TRUE
 $ rect                            : &lt;ggplot2::element_rect&gt;
  ..@ fill         : chr "white"
  ..@ colour       : chr "black"
  ..@ linewidth    : num 0.5
  ..@ linetype     : num 1
  ..@ linejoin     : chr "round"
  ..@ inherit.blank: logi TRUE
 $ text                            : &lt;ggplot2::element_text&gt;
  ..@ family       : chr ""
  ..@ face         : chr "plain"
  ..@ italic       : chr NA
  ..@ fontweight   : num NA
  ..@ fontwidth    : num NA
  ..@ colour       : chr "black"
  ..@ size         : num 11
  ..@ hjust        : num 0.5
  ..@ vjust        : num 0.5
  ..@ angle        : num 0
  ..@ lineheight   : num 0.9
  ..@ margin       : &lt;ggplot2::margin&gt; num [1:4] 0 0 0 0
  ..@ debug        : logi FALSE
  ..@ inherit.blank: logi TRUE
 $ title                           : chr "Modified Data with Violations"
 $ point                           : &lt;ggplot2::element_point&gt;
  ..@ colour       : chr "black"
  ..@ shape        : num 19
  ..@ size         : num 1.5
  ..@ fill         : chr "white"
  ..@ stroke       : num 0.5
  ..@ inherit.blank: logi TRUE
 $ polygon                         : &lt;ggplot2::element_polygon&gt;
  ..@ fill         : chr "white"
  ..@ colour       : chr "black"
  ..@ linewidth    : num 0.5
  ..@ linetype     : num 1
  ..@ linejoin     : chr "round"
  ..@ inherit.blank: logi TRUE
 $ geom                            : &lt;ggplot2::element_geom&gt;
  ..@ ink        : chr "black"
  ..@ paper      : chr "white"
  ..@ accent     : chr "#3366FF"
  ..@ linewidth  : num 0.5
  ..@ borderwidth: num 0.5
  ..@ linetype   : int 1
  ..@ bordertype : int 1
  ..@ family     : chr ""
  ..@ fontsize   : num 3.87
  ..@ pointsize  : num 1.5
  ..@ pointshape : num 19
  ..@ colour     : NULL
  ..@ fill       : NULL
 $ spacing                         : 'simpleUnit' num 5.5points
  ..- attr(*, "unit")= int 8
 $ margins                         : &lt;ggplot2::margin&gt; num [1:4] 5.5 5.5 5.5 5.5
 $ aspect.ratio                    : NULL
 $ axis.title                      : NULL
 $ axis.title.x                    : &lt;ggplot2::element_text&gt;
  ..@ family       : NULL
  ..@ face         : NULL
  ..@ italic       : chr NA
  ..@ fontweight   : num NA
  ..@ fontwidth    : num NA
  ..@ colour       : NULL
  ..@ size         : NULL
  ..@ hjust        : NULL
  ..@ vjust        : num 1
  ..@ angle        : NULL
  ..@ lineheight   : NULL
  ..@ margin       : &lt;ggplot2::margin&gt; num [1:4] 2.75 0 0 0
  ..@ debug        : NULL
  ..@ inherit.blank: logi TRUE
 $ axis.title.x.top                : &lt;ggplot2::element_text&gt;
  ..@ family       : NULL
  ..@ face         : NULL
  ..@ italic       : chr NA
  ..@ fontweight   : num NA
  ..@ fontwidth    : num NA
  ..@ colour       : NULL
  ..@ size         : NULL
  ..@ hjust        : NULL
  ..@ vjust        : num 0
  ..@ angle        : NULL
  ..@ lineheight   : NULL
  ..@ margin       : &lt;ggplot2::margin&gt; num [1:4] 0 0 2.75 0
  ..@ debug        : NULL
  ..@ inherit.blank: logi TRUE
 $ axis.title.x.bottom             : NULL
 $ axis.title.y                    : &lt;ggplot2::element_text&gt;
  ..@ family       : NULL
  ..@ face         : NULL
  ..@ italic       : chr NA
  ..@ fontweight   : num NA
  ..@ fontwidth    : num NA
  ..@ colour       : NULL
  ..@ size         : NULL
  ..@ hjust        : NULL
  ..@ vjust        : num 1
  ..@ angle        : num 90
  ..@ lineheight   : NULL
  ..@ margin       : &lt;ggplot2::margin&gt; num [1:4] 0 2.75 0 0
  ..@ debug        : NULL
  ..@ inherit.blank: logi TRUE
 $ axis.title.y.left               : NULL
 $ axis.title.y.right              : &lt;ggplot2::element_text&gt;
  ..@ family       : NULL
  ..@ face         : NULL
  ..@ italic       : chr NA
  ..@ fontweight   : num NA
  ..@ fontwidth    : num NA
  ..@ colour       : NULL
  ..@ size         : NULL
  ..@ hjust        : NULL
  ..@ vjust        : num 1
  ..@ angle        : num -90
  ..@ lineheight   : NULL
  ..@ margin       : &lt;ggplot2::margin&gt; num [1:4] 0 0 0 2.75
  ..@ debug        : NULL
  ..@ inherit.blank: logi TRUE
 $ axis.text                       : &lt;ggplot2::element_text&gt;
  ..@ family       : NULL
  ..@ face         : NULL
  ..@ italic       : chr NA
  ..@ fontweight   : num NA
  ..@ fontwidth    : num NA
  ..@ colour       : chr "#4D4D4DFF"
  ..@ size         : 'rel' num 0.8
  ..@ hjust        : NULL
  ..@ vjust        : NULL
  ..@ angle        : NULL
  ..@ lineheight   : NULL
  ..@ margin       : NULL
  ..@ debug        : NULL
  ..@ inherit.blank: logi TRUE
 $ axis.text.x                     : &lt;ggplot2::element_text&gt;
  ..@ family       : NULL
  ..@ face         : NULL
  ..@ italic       : chr NA
  ..@ fontweight   : num NA
  ..@ fontwidth    : num NA
  ..@ colour       : NULL
  ..@ size         : NULL
  ..@ hjust        : NULL
  ..@ vjust        : num 1
  ..@ angle        : NULL
  ..@ lineheight   : NULL
  ..@ margin       : &lt;ggplot2::margin&gt; num [1:4] 2.2 0 0 0
  ..@ debug        : NULL
  ..@ inherit.blank: logi TRUE
 $ axis.text.x.top                 : &lt;ggplot2::element_text&gt;
  ..@ family       : NULL
  ..@ face         : NULL
  ..@ italic       : chr NA
  ..@ fontweight   : num NA
  ..@ fontwidth    : num NA
  ..@ colour       : NULL
  ..@ size         : NULL
  ..@ hjust        : NULL
  ..@ vjust        : NULL
  ..@ angle        : NULL
  ..@ lineheight   : NULL
  ..@ margin       : &lt;ggplot2::margin&gt; num [1:4] 0 0 4.95 0
  ..@ debug        : NULL
  ..@ inherit.blank: logi TRUE
 $ axis.text.x.bottom              : &lt;ggplot2::element_text&gt;
  ..@ family       : NULL
  ..@ face         : NULL
  ..@ italic       : chr NA
  ..@ fontweight   : num NA
  ..@ fontwidth    : num NA
  ..@ colour       : NULL
  ..@ size         : NULL
  ..@ hjust        : NULL
  ..@ vjust        : NULL
  ..@ angle        : NULL
  ..@ lineheight   : NULL
  ..@ margin       : &lt;ggplot2::margin&gt; num [1:4] 4.95 0 0 0
  ..@ debug        : NULL
  ..@ inherit.blank: logi TRUE
 $ axis.text.y                     : &lt;ggplot2::element_text&gt;
  ..@ family       : NULL
  ..@ face         : NULL
  ..@ italic       : chr NA
  ..@ fontweight   : num NA
  ..@ fontwidth    : num NA
  ..@ colour       : NULL
  ..@ size         : NULL
  ..@ hjust        : num 1
  ..@ vjust        : NULL
  ..@ angle        : NULL
  ..@ lineheight   : NULL
  ..@ margin       : &lt;ggplot2::margin&gt; num [1:4] 0 2.2 0 0
  ..@ debug        : NULL
  ..@ inherit.blank: logi TRUE
 $ axis.text.y.left                : &lt;ggplot2::element_text&gt;
  ..@ family       : NULL
  ..@ face         : NULL
  ..@ italic       : chr NA
  ..@ fontweight   : num NA
  ..@ fontwidth    : num NA
  ..@ colour       : NULL
  ..@ size         : NULL
  ..@ hjust        : NULL
  ..@ vjust        : NULL
  ..@ angle        : NULL
  ..@ lineheight   : NULL
  ..@ margin       : &lt;ggplot2::margin&gt; num [1:4] 0 4.95 0 0
  ..@ debug        : NULL
  ..@ inherit.blank: logi TRUE
 $ axis.text.y.right               : &lt;ggplot2::element_text&gt;
  ..@ family       : NULL
  ..@ face         : NULL
  ..@ italic       : chr NA
  ..@ fontweight   : num NA
  ..@ fontwidth    : num NA
  ..@ colour       : NULL
  ..@ size         : NULL
  ..@ hjust        : NULL
  ..@ vjust        : NULL
  ..@ angle        : NULL
  ..@ lineheight   : NULL
  ..@ margin       : &lt;ggplot2::margin&gt; num [1:4] 0 0 0 4.95
  ..@ debug        : NULL
  ..@ inherit.blank: logi TRUE
 $ axis.text.theta                 : NULL
 $ axis.text.r                     : &lt;ggplot2::element_text&gt;
  ..@ family       : NULL
  ..@ face         : NULL
  ..@ italic       : chr NA
  ..@ fontweight   : num NA
  ..@ fontwidth    : num NA
  ..@ colour       : NULL
  ..@ size         : NULL
  ..@ hjust        : num 0.5
  ..@ vjust        : NULL
  ..@ angle        : NULL
  ..@ lineheight   : NULL
  ..@ margin       : &lt;ggplot2::margin&gt; num [1:4] 0 2.2 0 2.2
  ..@ debug        : NULL
  ..@ inherit.blank: logi TRUE
 $ axis.ticks                      : &lt;ggplot2::element_blank&gt;
 $ axis.ticks.x                    : NULL
 $ axis.ticks.x.top                : NULL
 $ axis.ticks.x.bottom             : NULL
 $ axis.ticks.y                    : NULL
 $ axis.ticks.y.left               : NULL
 $ axis.ticks.y.right              : NULL
 $ axis.ticks.theta                : NULL
 $ axis.ticks.r                    : NULL
 $ axis.minor.ticks.x.top          : NULL
 $ axis.minor.ticks.x.bottom       : NULL
 $ axis.minor.ticks.y.left         : NULL
 $ axis.minor.ticks.y.right        : NULL
 $ axis.minor.ticks.theta          : NULL
 $ axis.minor.ticks.r              : NULL
 $ axis.ticks.length               : 'rel' num 0.5
 $ axis.ticks.length.x             : NULL
 $ axis.ticks.length.x.top         : NULL
 $ axis.ticks.length.x.bottom      : NULL
 $ axis.ticks.length.y             : NULL
 $ axis.ticks.length.y.left        : NULL
 $ axis.ticks.length.y.right       : NULL
 $ axis.ticks.length.theta         : NULL
 $ axis.ticks.length.r             : NULL
 $ axis.minor.ticks.length         : 'rel' num 0.75
 $ axis.minor.ticks.length.x       : NULL
 $ axis.minor.ticks.length.x.top   : NULL
 $ axis.minor.ticks.length.x.bottom: NULL
 $ axis.minor.ticks.length.y       : NULL
 $ axis.minor.ticks.length.y.left  : NULL
 $ axis.minor.ticks.length.y.right : NULL
 $ axis.minor.ticks.length.theta   : NULL
 $ axis.minor.ticks.length.r       : NULL
 $ axis.line                       : &lt;ggplot2::element_blank&gt;
 $ axis.line.x                     : NULL
 $ axis.line.x.top                 : NULL
 $ axis.line.x.bottom              : NULL
 $ axis.line.y                     : NULL
 $ axis.line.y.left                : NULL
 $ axis.line.y.right               : NULL
 $ axis.line.theta                 : NULL
 $ axis.line.r                     : NULL
 $ legend.background               : &lt;ggplot2::element_blank&gt;
 $ legend.margin                   : NULL
 $ legend.spacing                  : 'rel' num 2
 $ legend.spacing.x                : NULL
 $ legend.spacing.y                : NULL
 $ legend.key                      : &lt;ggplot2::element_blank&gt;
 $ legend.key.size                 : 'simpleUnit' num 1.2lines
  ..- attr(*, "unit")= int 3
 $ legend.key.height               : NULL
 $ legend.key.width                : NULL
 $ legend.key.spacing              : NULL
 $ legend.key.spacing.x            : NULL
 $ legend.key.spacing.y            : NULL
 $ legend.key.justification        : NULL
 $ legend.frame                    : NULL
 $ legend.ticks                    : NULL
 $ legend.ticks.length             : 'rel' num 0.2
 $ legend.axis.line                : NULL
 $ legend.text                     : &lt;ggplot2::element_text&gt;
  ..@ family       : NULL
  ..@ face         : NULL
  ..@ italic       : chr NA
  ..@ fontweight   : num NA
  ..@ fontwidth    : num NA
  ..@ colour       : NULL
  ..@ size         : 'rel' num 0.8
  ..@ hjust        : NULL
  ..@ vjust        : NULL
  ..@ angle        : NULL
  ..@ lineheight   : NULL
  ..@ margin       : NULL
  ..@ debug        : NULL
  ..@ inherit.blank: logi TRUE
 $ legend.text.position            : NULL
 $ legend.title                    : &lt;ggplot2::element_text&gt;
  ..@ family       : NULL
  ..@ face         : NULL
  ..@ italic       : chr NA
  ..@ fontweight   : num NA
  ..@ fontwidth    : num NA
  ..@ colour       : NULL
  ..@ size         : NULL
  ..@ hjust        : num 0
  ..@ vjust        : NULL
  ..@ angle        : NULL
  ..@ lineheight   : NULL
  ..@ margin       : NULL
  ..@ debug        : NULL
  ..@ inherit.blank: logi TRUE
 $ legend.title.position           : NULL
 $ legend.position                 : chr "right"
 $ legend.position.inside          : NULL
 $ legend.direction                : NULL
 $ legend.byrow                    : NULL
 $ legend.justification            : chr "center"
 $ legend.justification.top        : NULL
 $ legend.justification.bottom     : NULL
 $ legend.justification.left       : NULL
 $ legend.justification.right      : NULL
 $ legend.justification.inside     : NULL
  [list output truncated]
 @ complete: logi TRUE
 @ validate: logi TRUE</a:t>
            </a:r>
          </a:p>
          <a:p>
            <a:pPr lvl="0" indent="0">
              <a:buNone/>
            </a:pPr>
            <a:r>
              <a:rPr>
                <a:latin typeface="Courier"/>
              </a:rPr>
              <a:t>
    Shapiro-Wilk normality test
data:  resid(violated_model)
W = 0.7246, p-value = 4.091e-05</a:t>
            </a:r>
          </a:p>
        </p:txBody>
      </p:sp>
      <p:pic>
        <p:nvPicPr>
          <p:cNvPr descr="analysis_of_variance_activity_files/figure-pptx/violated_normality_plot-1.png" id="0" name="Picture 1"/>
          <p:cNvPicPr>
            <a:picLocks noGrp="1" noChangeAspect="1"/>
          </p:cNvPicPr>
          <p:nvPr/>
        </p:nvPicPr>
        <p:blipFill>
          <a:blip r:embed="rId2"/>
          <a:stretch>
            <a:fillRect/>
          </a:stretch>
        </p:blipFill>
        <p:spPr bwMode="auto">
          <a:xfrm>
            <a:off x="3657600" y="1244600"/>
            <a:ext cx="5232400" cy="32258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latin typeface="Courier"/>
              </a:rPr>
              <a:t>Levene's Test for Homogeneity of Variance (center = median)
      Df F value Pr(&gt;F)
group  2  2.4082 0.1169
      19               </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Performing the Kruskal-Wallis Test</a:t>
            </a:r>
          </a:p>
        </p:txBody>
      </p:sp>
      <p:sp>
        <p:nvSpPr>
          <p:cNvPr id="3" name="Content Placeholder 2"/>
          <p:cNvSpPr>
            <a:spLocks noGrp="1"/>
          </p:cNvSpPr>
          <p:nvPr>
            <p:ph idx="1"/>
          </p:nvPr>
        </p:nvSpPr>
        <p:spPr/>
        <p:txBody>
          <a:bodyPr/>
          <a:lstStyle/>
          <a:p>
            <a:pPr lvl="0" indent="0" marL="0">
              <a:spcBef>
                <a:spcPts val="3000"/>
              </a:spcBef>
              <a:buNone/>
            </a:pPr>
            <a:r>
              <a:rPr b="1"/>
              <a:t>Running Kruskal-Wallis on Original Data</a:t>
            </a:r>
          </a:p>
          <a:p>
            <a:pPr lvl="0" indent="0" marL="0">
              <a:buNone/>
            </a:pPr>
            <a:r>
              <a:rPr b="1"/>
              <a:t>Even though assumptions are met, let’s compare results:</a:t>
            </a:r>
          </a:p>
          <a:p>
            <a:pPr lvl="0" indent="0">
              <a:buNone/>
            </a:pPr>
            <a:r>
              <a:rPr>
                <a:latin typeface="Courier"/>
              </a:rPr>
              <a:t>
    Kruskal-Wallis rank sum test
data:  phase_shift by treatment
Kruskal-Wallis chi-squared = 9.4231, df = 2, p-value = 0.008991</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Compare to parametric ANOVA:</a:t>
            </a:r>
          </a:p>
          <a:p>
            <a:pPr lvl="0" indent="0">
              <a:buNone/>
            </a:pPr>
            <a:r>
              <a:rPr>
                <a:latin typeface="Courier"/>
              </a:rPr>
              <a:t>Analysis of Variance Table
Response: phase_shift
          Df Sum Sq Mean Sq F value   Pr(&gt;F)   
treatment  2 7.2245  3.6122  7.2894 0.004472 **
Residuals 19 9.4153  0.4955                    
---
Signif. codes:  0 '***' 0.001 '**' 0.01 '*' 0.05 '.' 0.1 ' ' 1</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Kruskal-Wallis on Violated Data</a:t>
            </a:r>
          </a:p>
        </p:txBody>
      </p:sp>
      <p:sp>
        <p:nvSpPr>
          <p:cNvPr id="3" name="Content Placeholder 2"/>
          <p:cNvSpPr>
            <a:spLocks noGrp="1"/>
          </p:cNvSpPr>
          <p:nvPr>
            <p:ph idx="1"/>
          </p:nvPr>
        </p:nvSpPr>
        <p:spPr/>
        <p:txBody>
          <a:bodyPr/>
          <a:lstStyle/>
          <a:p>
            <a:pPr lvl="0" indent="0" marL="0">
              <a:spcBef>
                <a:spcPts val="3000"/>
              </a:spcBef>
              <a:buNone/>
            </a:pPr>
            <a:r>
              <a:rPr b="1"/>
              <a:t>Non-Parametric Test Handles Violations</a:t>
            </a:r>
          </a:p>
          <a:p>
            <a:pPr lvl="0" indent="0" marL="0">
              <a:buNone/>
            </a:pPr>
            <a:r>
              <a:rPr b="1"/>
              <a:t>Running Kruskal-Wallis on data with assumption violations:</a:t>
            </a:r>
          </a:p>
          <a:p>
            <a:pPr lvl="0" indent="0">
              <a:buNone/>
            </a:pPr>
            <a:r>
              <a:rPr>
                <a:latin typeface="Courier"/>
              </a:rPr>
              <a:t>
    Kruskal-Wallis rank sum test
data:  phase_shift_violated by treatment
Kruskal-Wallis chi-squared = 11.282, df = 2, p-value = 0.00355</a:t>
            </a:r>
          </a:p>
          <a:p>
            <a:pPr lvl="0" indent="0" marL="0">
              <a:buNone/>
            </a:pPr>
            <a:r>
              <a:rPr b="1"/>
              <a:t>Compare parametric ANOVA on same violated data:</a:t>
            </a:r>
          </a:p>
          <a:p>
            <a:pPr lvl="0" indent="0">
              <a:buNone/>
            </a:pPr>
            <a:r>
              <a:rPr>
                <a:latin typeface="Courier"/>
              </a:rPr>
              <a:t>Analysis of Variance Table
Response: phase_shift_violated
          Df Sum Sq Mean Sq F value  Pr(&gt;F)  
treatment  2 52.190 26.0951  5.5781 0.01242 *
Residuals 19 88.884  4.6781                  
---
Signif. codes:  0 '***' 0.001 '**' 0.01 '*' 0.05 '.' 0.1 ' ' 1</a:t>
            </a:r>
          </a:p>
          <a:p>
            <a:pPr lvl="0" indent="0" marL="0">
              <a:buNone/>
            </a:pPr>
            <a:r>
              <a:rPr b="1"/>
              <a:t>Key observations:</a:t>
            </a:r>
            <a:r>
              <a:rPr/>
              <a:t> - Both tests still detect differences - Kruskal-Wallis more robust to violations - Parametric test may give misleading results when assumptions violated - Non-parametric test maintains validity</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Post-Hoc Tests for Kruskal-Wallis</a:t>
            </a:r>
          </a:p>
        </p:txBody>
      </p:sp>
      <p:sp>
        <p:nvSpPr>
          <p:cNvPr id="3" name="Content Placeholder 2"/>
          <p:cNvSpPr>
            <a:spLocks noGrp="1"/>
          </p:cNvSpPr>
          <p:nvPr>
            <p:ph idx="1" sz="half"/>
          </p:nvPr>
        </p:nvSpPr>
        <p:spPr/>
        <p:txBody>
          <a:bodyPr/>
          <a:lstStyle/>
          <a:p>
            <a:pPr lvl="0" indent="0" marL="0">
              <a:spcBef>
                <a:spcPts val="3000"/>
              </a:spcBef>
              <a:buNone/>
            </a:pPr>
            <a:r>
              <a:rPr b="1"/>
              <a:t>Pairwise Comparisons After Significant Kruskal-Wallis</a:t>
            </a:r>
          </a:p>
          <a:p>
            <a:pPr lvl="0" indent="0" marL="0">
              <a:buNone/>
            </a:pPr>
            <a:r>
              <a:rPr b="1"/>
              <a:t>Just like ANOVA, we need post-hoc tests to identify which groups differ:</a:t>
            </a:r>
          </a:p>
          <a:p>
            <a:pPr lvl="0" indent="0">
              <a:buNone/>
            </a:pPr>
            <a:r>
              <a:rPr>
                <a:latin typeface="Courier"/>
              </a:rPr>
              <a:t>
    Pairwise comparisons using Wilcoxon rank sum exact test 
data:  v_circ_df$phase_shift and v_circ_df$treatment 
      Control Eyes  
Eyes  0.0037  -     
Knees 1.0000  0.0787
P value adjustment method: bonferroni </a:t>
            </a:r>
          </a:p>
          <a:p>
            <a:pPr lvl="0" indent="0" marL="0">
              <a:buNone/>
            </a:pPr>
            <a:r>
              <a:rPr b="1"/>
              <a:t>Interpretation of p-values:</a:t>
            </a:r>
            <a:r>
              <a:rPr/>
              <a:t> - Control vs Eyes: p = 0.024 (significant) - Control vs Knees: p = 1.000 (not significant) - Eyes vs Knees: p = 0.078 (not significant)</a:t>
            </a:r>
          </a:p>
          <a:p>
            <a:pPr lvl="0" indent="0" marL="0">
              <a:buNone/>
            </a:pPr>
            <a:r>
              <a:rPr b="1"/>
              <a:t>Common adjustment methods:</a:t>
            </a:r>
            <a:r>
              <a:rPr/>
              <a:t> - </a:t>
            </a:r>
            <a:r>
              <a:rPr>
                <a:latin typeface="Courier"/>
              </a:rPr>
              <a:t>"bonferroni"</a:t>
            </a:r>
            <a:r>
              <a:rPr/>
              <a:t>: Most conservative - </a:t>
            </a:r>
            <a:r>
              <a:rPr>
                <a:latin typeface="Courier"/>
              </a:rPr>
              <a:t>"holm"</a:t>
            </a:r>
            <a:r>
              <a:rPr/>
              <a:t>: Less conservative than Bonferroni - </a:t>
            </a:r>
            <a:r>
              <a:rPr>
                <a:latin typeface="Courier"/>
              </a:rPr>
              <a:t>"BH"</a:t>
            </a:r>
            <a:r>
              <a:rPr/>
              <a:t>: Benjamini-Hochberg (controls false discovery rate) - </a:t>
            </a:r>
            <a:r>
              <a:rPr>
                <a:latin typeface="Courier"/>
              </a:rPr>
              <a:t>"none"</a:t>
            </a:r>
            <a:r>
              <a:rPr/>
              <a:t>: No adjustment (not recommended)</a:t>
            </a:r>
          </a:p>
        </p:txBody>
      </p:sp>
      <p:sp>
        <p:nvSpPr>
          <p:cNvPr id="4" name="Content Placeholder 3"/>
          <p:cNvSpPr>
            <a:spLocks noGrp="1"/>
          </p:cNvSpPr>
          <p:nvPr>
            <p:ph idx="2" sz="half"/>
          </p:nvPr>
        </p:nvSpPr>
        <p:spPr/>
        <p:txBody>
          <a:bodyPr/>
          <a:lstStyle/>
          <a:p>
            <a:pPr lvl="0" indent="0" marL="0">
              <a:spcBef>
                <a:spcPts val="3000"/>
              </a:spcBef>
              <a:buNone/>
            </a:pPr>
            <a:r>
              <a:rPr b="1"/>
              <a:t>Post-Hoc for Violated Data</a:t>
            </a:r>
          </a:p>
          <a:p>
            <a:pPr lvl="0" indent="0">
              <a:buNone/>
            </a:pPr>
            <a:r>
              <a:rPr>
                <a:latin typeface="Courier"/>
              </a:rPr>
              <a:t>
    Pairwise comparisons using Wilcoxon rank sum exact test 
data:  v_circ_df$phase_shift_violated and v_circ_df$treatment 
      Control Eyes   
Eyes  0.00093 -      
Knees 1.00000 0.05245
P value adjustment method: bonferroni </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Dunn’s Test: Alternative Post-Hoc</a:t>
            </a:r>
          </a:p>
        </p:txBody>
      </p:sp>
      <p:sp>
        <p:nvSpPr>
          <p:cNvPr id="3" name="Content Placeholder 2"/>
          <p:cNvSpPr>
            <a:spLocks noGrp="1"/>
          </p:cNvSpPr>
          <p:nvPr>
            <p:ph idx="1" sz="half"/>
          </p:nvPr>
        </p:nvSpPr>
        <p:spPr/>
        <p:txBody>
          <a:bodyPr/>
          <a:lstStyle/>
          <a:p>
            <a:pPr lvl="0" indent="0" marL="0">
              <a:spcBef>
                <a:spcPts val="3000"/>
              </a:spcBef>
              <a:buNone/>
            </a:pPr>
            <a:r>
              <a:rPr b="1"/>
              <a:t>Dunn’s Test for Multiple Comparisons</a:t>
            </a:r>
          </a:p>
          <a:p>
            <a:pPr lvl="0" indent="0" marL="0">
              <a:buNone/>
            </a:pPr>
            <a:r>
              <a:rPr b="1"/>
              <a:t>Dunn’s test is specifically designed for Kruskal-Wallis post-hoc comparisons:</a:t>
            </a:r>
          </a:p>
          <a:p>
            <a:pPr lvl="0" indent="0">
              <a:buNone/>
            </a:pPr>
            <a:r>
              <a:rPr>
                <a:latin typeface="Courier"/>
              </a:rPr>
              <a:t>       Comparison          Z     P.unadj      P.adj
1  Control - Eyes  2.7789287 0.005453849 0.01636155
2 Control - Knees  0.1434629 0.885924641 1.00000000
3    Eyes - Knees -2.5517789 0.010717452 0.03215236</a:t>
            </a:r>
          </a:p>
          <a:p>
            <a:pPr lvl="0" indent="0" marL="0">
              <a:buNone/>
            </a:pPr>
            <a:r>
              <a:rPr b="1"/>
              <a:t>Advantages of Dunn’s test:</a:t>
            </a:r>
            <a:r>
              <a:rPr/>
              <a:t> - Designed specifically for Kruskal-Wallis - Provides Z-statistics in addition to p-values - Multiple adjustment methods available - More appropriate than multiple Wilcoxon tests</a:t>
            </a:r>
          </a:p>
          <a:p>
            <a:pPr lvl="0" indent="0" marL="0">
              <a:buNone/>
            </a:pPr>
            <a:r>
              <a:rPr/>
              <a:t>Z-statistic is a standardized test statistic that tells you how many standard deviations an observation or difference is from the expected value (usually zero, meaning “no difference”).</a:t>
            </a:r>
          </a:p>
        </p:txBody>
      </p:sp>
      <p:sp>
        <p:nvSpPr>
          <p:cNvPr id="4" name="Content Placeholder 3"/>
          <p:cNvSpPr>
            <a:spLocks noGrp="1"/>
          </p:cNvSpPr>
          <p:nvPr>
            <p:ph idx="2" sz="half"/>
          </p:nvPr>
        </p:nvSpPr>
        <p:spPr/>
        <p:txBody>
          <a:bodyPr/>
          <a:lstStyle/>
          <a:p>
            <a:pPr lvl="0" indent="0" marL="0">
              <a:spcBef>
                <a:spcPts val="3000"/>
              </a:spcBef>
              <a:buNone/>
            </a:pPr>
            <a:r>
              <a:rPr b="1"/>
              <a:t>Dunn’s Test on Violated Data</a:t>
            </a:r>
          </a:p>
          <a:p>
            <a:pPr lvl="0" indent="0">
              <a:buNone/>
            </a:pPr>
            <a:r>
              <a:rPr>
                <a:latin typeface="Courier"/>
              </a:rPr>
              <a:t>       Comparison          Z     P.unadj       P.adj
1  Control - Eyes  3.2411980 0.001190285 0.003570855
2 Control - Knees  0.7332546 0.463403147 1.000000000
3    Eyes - Knees -2.4283057 0.015169551 0.045508653</a:t>
            </a:r>
          </a:p>
          <a:p>
            <a:pPr lvl="0" indent="0" marL="0">
              <a:buNone/>
            </a:pPr>
            <a:r>
              <a:rPr b="1"/>
              <a:t>Interpreting Z-statistics:</a:t>
            </a:r>
            <a:r>
              <a:rPr/>
              <a:t> - Large |Z| values indicate bigger differences - Z &gt; 1.96 approximately equivalent to p &lt; 0.05 - Sign indicates direction of difference</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Which post F test to use?</a:t>
            </a:r>
          </a:p>
        </p:txBody>
      </p:sp>
      <p:sp>
        <p:nvSpPr>
          <p:cNvPr id="3" name="Content Placeholder 2"/>
          <p:cNvSpPr>
            <a:spLocks noGrp="1"/>
          </p:cNvSpPr>
          <p:nvPr>
            <p:ph idx="1"/>
          </p:nvPr>
        </p:nvSpPr>
        <p:spPr/>
        <p:txBody>
          <a:bodyPr/>
          <a:lstStyle/>
          <a:p>
            <a:pPr lvl="0"/>
            <a:r>
              <a:rPr/>
              <a:t>Wilcoxon Rank-Sum Test (Mann-Whitney U)</a:t>
            </a:r>
          </a:p>
          <a:p>
            <a:pPr lvl="1"/>
            <a:r>
              <a:rPr/>
              <a:t>What it does: Pairwise comparisons between two groups at a time</a:t>
            </a:r>
          </a:p>
          <a:p>
            <a:pPr lvl="1"/>
            <a:r>
              <a:rPr/>
              <a:t>Ranking: Re-ranks data separately for each pair of groups being compared</a:t>
            </a:r>
          </a:p>
          <a:p>
            <a:pPr lvl="1"/>
            <a:r>
              <a:rPr/>
              <a:t>Use case: When you want simple pairwise comparisons</a:t>
            </a:r>
          </a:p>
          <a:p>
            <a:pPr lvl="1"/>
            <a:r>
              <a:rPr/>
              <a:t>Correction: Typically uses Bonferroni or other p-value adjustments</a:t>
            </a:r>
          </a:p>
          <a:p>
            <a:pPr lvl="1"/>
            <a:r>
              <a:rPr/>
              <a:t>Code: pairwise.wilcox.test()</a:t>
            </a:r>
          </a:p>
          <a:p>
            <a:pPr lvl="2"/>
            <a:r>
              <a:rPr>
                <a:latin typeface="Courier"/>
              </a:rPr>
              <a:t>rpairwise.wilcox.test(v_circ_df$phase_shift_violated,                   v_circ_df$treatment,                  p.adjust.method = "bonferroni")</a:t>
            </a:r>
          </a:p>
          <a:p>
            <a:pPr lvl="0"/>
            <a:r>
              <a:rPr/>
              <a:t>Dunn’s Test</a:t>
            </a:r>
          </a:p>
          <a:p>
            <a:pPr lvl="1"/>
            <a:r>
              <a:rPr/>
              <a:t>What it does: Pairwise comparisons specifically designed for Kruskal-Wallis</a:t>
            </a:r>
          </a:p>
          <a:p>
            <a:pPr lvl="1"/>
            <a:r>
              <a:rPr/>
              <a:t>Ranking: Uses the same overall ranking from the original Kruskal-Wallis test</a:t>
            </a:r>
          </a:p>
          <a:p>
            <a:pPr lvl="1"/>
            <a:r>
              <a:rPr/>
              <a:t>Use case: The “official” post-hoc for Kruskal-Wallis</a:t>
            </a:r>
          </a:p>
          <a:p>
            <a:pPr lvl="1"/>
            <a:r>
              <a:rPr/>
              <a:t>Correction: Multiple options (Bonferroni, Holm, BH, etc.)</a:t>
            </a:r>
          </a:p>
          <a:p>
            <a:pPr lvl="1"/>
            <a:r>
              <a:rPr/>
              <a:t>Code: Requires dunn.test or FSA package</a:t>
            </a:r>
          </a:p>
          <a:p>
            <a:pPr lvl="1"/>
            <a:r>
              <a:rPr>
                <a:latin typeface="Courier"/>
              </a:rPr>
              <a:t>rlibrary(FSA) dunnTest(phase_shift_violated ~ treatment,         data = v_circ_df,        method = "bonferroni")</a:t>
            </a:r>
          </a:p>
          <a:p>
            <a:pPr lvl="0"/>
            <a:r>
              <a:rPr/>
              <a:t>Which to use?</a:t>
            </a:r>
          </a:p>
          <a:p>
            <a:pPr lvl="1"/>
            <a:r>
              <a:rPr/>
              <a:t>Use Dunn’s test because:</a:t>
            </a:r>
          </a:p>
          <a:p>
            <a:pPr lvl="2"/>
            <a:r>
              <a:rPr/>
              <a:t>✅ It’s the proper follow-up to Kruskal-Wallis</a:t>
            </a:r>
          </a:p>
          <a:p>
            <a:pPr lvl="2"/>
            <a:r>
              <a:rPr/>
              <a:t>✅ Maintains consistency with the overall K-W test ranking</a:t>
            </a:r>
          </a:p>
          <a:p>
            <a:pPr lvl="2"/>
            <a:r>
              <a:rPr/>
              <a:t>✅ More statistically appropriate for the omnibus test you ran</a:t>
            </a:r>
          </a:p>
          <a:p>
            <a:pPr lvl="2"/>
            <a:r>
              <a:rPr/>
              <a:t>✅ Standard in published research</a:t>
            </a:r>
          </a:p>
          <a:p>
            <a:pPr lvl="1"/>
            <a:r>
              <a:rPr/>
              <a:t>Wilcoxon is fine for simple two-group comparisons, but when you’ve already done Kruskal-Wallis (a 3+ group test), - Dunn’s is the standard choice.</a:t>
            </a:r>
          </a:p>
          <a:p>
            <a:pPr lvl="1"/>
            <a:r>
              <a:rPr/>
              <a:t>Think of it this way: Kruskal-Wallis ranks ALL your data once.</a:t>
            </a:r>
          </a:p>
          <a:p>
            <a:pPr lvl="1"/>
            <a:r>
              <a:rPr/>
              <a:t>Dunn’s test uses those same ranks. Wilcoxon throws away that information and re-ranks for each pair.</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ANOVA in Class</dc:title>
  <dc:creator>Bill Perry</dc:creator>
  <cp:keywords/>
  <dc:description>Hands-on activity: one-way analysis of variance.</dc:description>
  <dcterms:created xsi:type="dcterms:W3CDTF">2026-08-20T19:20:01Z</dcterms:created>
  <dcterms:modified xsi:type="dcterms:W3CDTF">2026-08-20T19:20:01Z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header-includes">
    <vt:lpwstr/>
  </property>
  <property fmtid="{D5CDD505-2E9C-101B-9397-08002B2CF9AE}" pid="6" name="include-after">
    <vt:lpwstr/>
  </property>
  <property fmtid="{D5CDD505-2E9C-101B-9397-08002B2CF9AE}" pid="7" name="include-before">
    <vt:lpwstr/>
  </property>
  <property fmtid="{D5CDD505-2E9C-101B-9397-08002B2CF9AE}" pid="8" name="labels">
    <vt:lpwstr/>
  </property>
  <property fmtid="{D5CDD505-2E9C-101B-9397-08002B2CF9AE}" pid="9" name="order">
    <vt:lpwstr>12</vt:lpwstr>
  </property>
  <property fmtid="{D5CDD505-2E9C-101B-9397-08002B2CF9AE}" pid="10" name="resources">
    <vt:lpwstr/>
  </property>
  <property fmtid="{D5CDD505-2E9C-101B-9397-08002B2CF9AE}" pid="11" name="subtitle">
    <vt:lpwstr>One-way ANOVA</vt:lpwstr>
  </property>
  <property fmtid="{D5CDD505-2E9C-101B-9397-08002B2CF9AE}" pid="12" name="toc-title">
    <vt:lpwstr>Table of contents</vt:lpwstr>
  </property>
  <property fmtid="{D5CDD505-2E9C-101B-9397-08002B2CF9AE}" pid="13" name="week">
    <vt:lpwstr>6</vt:lpwstr>
  </property>
</Properties>
</file>