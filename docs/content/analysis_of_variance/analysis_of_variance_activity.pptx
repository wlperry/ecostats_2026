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Analysis of Variance (ANOVA)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One-way ANOVA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Analysis of Variance (ANOVA)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Setup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(performance)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(FSA)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</a:t>
            </a:r>
            <a:r>
              <a:rPr>
                <a:solidFill>
                  <a:srgbClr val="5E5E5E"/>
                </a:solidFill>
                <a:latin typeface="Courier"/>
              </a:rPr>
              <a:t># functions for regression diagnostics, ANOVA, and VIF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</a:t>
            </a:r>
            <a:r>
              <a:rPr>
                <a:solidFill>
                  <a:srgbClr val="5E5E5E"/>
                </a:solidFill>
                <a:latin typeface="Courier"/>
              </a:rPr>
              <a:t># calculates and compares adjusted means from statistical models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includes ggplot2, dplyr, tidyr, etc.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treatment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"Knees"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"Eyes"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times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phase_shift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0.53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0.37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0.60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0.64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1.27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Control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AD0000"/>
                </a:solidFill>
                <a:latin typeface="Courier"/>
              </a:rPr>
              <a:t>0.73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0.96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1.61</a:t>
            </a:r>
            <a:r>
              <a:rPr>
                <a:solidFill>
                  <a:srgbClr val="003B4F"/>
                </a:solidFill>
                <a:latin typeface="Courier"/>
              </a:rPr>
              <a:t>,          </a:t>
            </a:r>
            <a:r>
              <a:rPr>
                <a:solidFill>
                  <a:srgbClr val="5E5E5E"/>
                </a:solidFill>
                <a:latin typeface="Courier"/>
              </a:rPr>
              <a:t># Knees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0.78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1.48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1.52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2.04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2.83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Eyes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c_df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data: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phase_shift,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treatment))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"mean_se"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c_plot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fit the ANOVA (as a linear model, exactly like a regression) and get the ANOVA table: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model_aov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(phase_shift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(model_aov)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(model_aov)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the F-statistic and p-value? At α = 0.05, do we reject H₀?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Compute group means, SDs, and n by hand with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, and confirm they match what you’d expect from </a:t>
            </a:r>
            <a:r>
              <a:rPr sz="2000">
                <a:latin typeface="Courier"/>
              </a:rPr>
              <a:t>c_plot</a:t>
            </a:r>
            <a:r>
              <a:rPr sz="2000"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ANOVA has the same assumptions as the two-sample t-test, but applied to all k groups: random samples, normality of Y in each population, homogeneity of variance, and independence.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base R diagnostic plots: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(model_aov)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</a:t>
            </a:r>
            <a:r>
              <a:rPr>
                <a:latin typeface="Courier"/>
              </a:rPr>
              <a:t>performance</a:t>
            </a:r>
            <a:r>
              <a:rPr/>
              <a:t> package’s all-in-one diagnostics: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check_model</a:t>
            </a:r>
            <a:r>
              <a:rPr>
                <a:solidFill>
                  <a:srgbClr val="003B4F"/>
                </a:solidFill>
                <a:latin typeface="Courier"/>
              </a:rPr>
              <a:t>(model_aov)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Levene’s test (H₀: variances are homogeneous — you </a:t>
            </a:r>
            <a:r>
              <a:rPr i="1"/>
              <a:t>want</a:t>
            </a:r>
            <a:r>
              <a:rPr/>
              <a:t> a non-significant result):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levene_test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(phase_shift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levene_test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Shapiro-Wilk on the residuals (H₀: normally distributed — you </a:t>
            </a:r>
            <a:r>
              <a:rPr i="1"/>
              <a:t>want</a:t>
            </a:r>
            <a:r>
              <a:rPr/>
              <a:t> a non-significant result):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shapiro_test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(model_aov))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shapiro_test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these three groups pass both the normality and equal-variance checks?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In the base R diagnostic plots, which panel would you check first for equal variance, and which for normality? Name the two panels.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________________________________________________________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Estimated Marginal Means and Post-Hoc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ANOVA rejects H₀, we need to determine </a:t>
            </a:r>
            <a:r>
              <a:rPr i="1"/>
              <a:t>which</a:t>
            </a:r>
            <a:r>
              <a:rPr/>
              <a:t> groups differ. First, we calculate estimated marginal means (EMMs).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emmeans_df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(model_aov,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emmeans_df</a:t>
            </a:r>
          </a:p>
          <a:p>
            <a:pPr lvl="0" indent="0" marL="0">
              <a:buNone/>
            </a:pPr>
            <a:r>
              <a:rPr b="1"/>
              <a:t>Estimated Marginal Means (EMMs)</a:t>
            </a:r>
            <a:r>
              <a:rPr/>
              <a:t>, also called least-squares means, are model-based predictions of group means from your fitted model rather than directly from raw data. In a one-way ANOVA with balanced data and no covariates, </a:t>
            </a:r>
            <a:r>
              <a:rPr b="1"/>
              <a:t>EMMs = group means</a:t>
            </a:r>
            <a:r>
              <a:rPr/>
              <a:t> exactly — but the </a:t>
            </a:r>
            <a:r>
              <a:rPr>
                <a:latin typeface="Courier"/>
              </a:rPr>
              <a:t>emmeans</a:t>
            </a:r>
            <a:r>
              <a:rPr/>
              <a:t> package’s approach generalizes cleanly to two-way ANOVA, ANCOVA, and more complex designs, and gives you built-in standard errors, confidence intervals, and comparisons for free.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verify EMMs equal the simple group means: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group_means &lt;- c_df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(treatment)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(phase_shift),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sample_sd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(phase_shift),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emm_df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(emmeans_df)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 &lt;- group_means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(emm_df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(treatment, emmean, 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Round to show they're identical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Is </a:t>
            </a:r>
            <a:r>
              <a:rPr>
                <a:latin typeface="Courier"/>
              </a:rPr>
              <a:t>difference</a:t>
            </a:r>
            <a:r>
              <a:rPr/>
              <a:t> zero (or extremely close to it, within rounding error) for every row?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pairwise comparisons with a Sidak adjustment: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pairwise_comparisons &lt;-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(emmeans_df,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"sidak"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pairwise_comparisons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estimate</a:t>
            </a:r>
            <a:r>
              <a:rPr/>
              <a:t> is the difference between two group means. The </a:t>
            </a:r>
            <a:r>
              <a:rPr b="1"/>
              <a:t>SE</a:t>
            </a:r>
            <a:r>
              <a:rPr/>
              <a:t> is the standard error of that difference — it depends on the within-group variability and the sample sizes being compared. The t-ratio = estimate / SE tells you how many standard errors away from zero the difference is.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letters showing which groups are (not) significantly different: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letter_groups &lt;- 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(emmeans_df,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"sidak"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letter_groups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same thing in one pipeline: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cld_result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(model_aov,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"sidak"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cld_result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EMMs: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(emmeans_df)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emmip</a:t>
            </a:r>
            <a:r>
              <a:rPr>
                <a:solidFill>
                  <a:srgbClr val="003B4F"/>
                </a:solidFill>
                <a:latin typeface="Courier"/>
              </a:rPr>
              <a:t>(model_aov,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CIs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Marginal Means with 95% CIs"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Phase Shift"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two treatments share a compact-letter-display letter (meaning they’re </a:t>
            </a:r>
            <a:r>
              <a:rPr i="1"/>
              <a:t>not</a:t>
            </a:r>
            <a:r>
              <a:rPr/>
              <a:t> significantly different)?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Rerun </a:t>
            </a:r>
            <a:r>
              <a:rPr sz="2000">
                <a:latin typeface="Courier"/>
              </a:rPr>
              <a:t>pairs(emmeans_df, adjust = ...)</a:t>
            </a:r>
            <a:r>
              <a:rPr sz="2000"/>
              <a:t> with </a:t>
            </a:r>
            <a:r>
              <a:rPr sz="2000">
                <a:latin typeface="Courier"/>
              </a:rPr>
              <a:t>"bonferroni"</a:t>
            </a:r>
            <a:r>
              <a:rPr sz="2000"/>
              <a:t> and </a:t>
            </a:r>
            <a:r>
              <a:rPr sz="2000">
                <a:latin typeface="Courier"/>
              </a:rPr>
              <a:t>"tukey"</a:t>
            </a:r>
            <a:r>
              <a:rPr sz="2000"/>
              <a:t> instead of </a:t>
            </a:r>
            <a:r>
              <a:rPr sz="2000">
                <a:latin typeface="Courier"/>
              </a:rPr>
              <a:t>"sidak"</a:t>
            </a:r>
            <a:r>
              <a:rPr sz="2000"/>
              <a:t>. Do the p-values change much for this dataset?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Planned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comparing every possible pair, sometimes you have specific, planned comparisons in mind.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(c_df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treatment)  </a:t>
            </a:r>
            <a:r>
              <a:rPr>
                <a:solidFill>
                  <a:srgbClr val="5E5E5E"/>
                </a:solidFill>
                <a:latin typeface="Courier"/>
              </a:rPr>
              <a:t># See the order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(model_aov,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planned_contrasts &lt;- </a:t>
            </a:r>
            <a:r>
              <a:rPr>
                <a:solidFill>
                  <a:srgbClr val="4758AB"/>
                </a:solidFill>
                <a:latin typeface="Courier"/>
              </a:rPr>
              <a:t>contrast</a:t>
            </a:r>
            <a:r>
              <a:rPr>
                <a:solidFill>
                  <a:srgbClr val="003B4F"/>
                </a:solidFill>
                <a:latin typeface="Courier"/>
              </a:rPr>
              <a:t>(emm,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"control vs eyes"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"control vs knees"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planned_contrasts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significance-groups 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phase_shift,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treatment))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"mean_cl_normal"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(cld_result),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.group),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The contrast vector </a:t>
            </a:r>
            <a:r>
              <a:rPr>
                <a:latin typeface="Courier"/>
              </a:rPr>
              <a:t>c(1, -1, 0)</a:t>
            </a:r>
            <a:r>
              <a:rPr/>
              <a:t> picks out “Control minus Eyes.” Write the contrast vector for “Knees minus Eyes” instead (hint: check the order from </a:t>
            </a:r>
            <a:r>
              <a:rPr>
                <a:latin typeface="Courier"/>
              </a:rPr>
              <a:t>levels(c_df$treatment)</a:t>
            </a:r>
            <a:r>
              <a:rPr/>
              <a:t>).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Reporting the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Formal scientific writing example:</a:t>
            </a:r>
          </a:p>
          <a:p>
            <a:pPr lvl="0" indent="0" marL="0">
              <a:buNone/>
            </a:pPr>
            <a:r>
              <a:rPr/>
              <a:t>“The effect of light treatment on circadian rhythm phase shift was analyzed using a one-way ANOVA. There was a significant effect of treatment on phase shift (F(2, 19) = 7.29, p = 0.004, η² = 0.43). Post-hoc comparisons using Tukey’s HSD test indicated that the mean phase shift for the Eyes treatment (M = -1.55 h, SD = 0.71) was significantly different from both the Control treatment (M = -0.31 h, SD = 0.62) and the Knees treatment (M = -0.34 h, SD = 0.79). However, the Control and Knees treatments did not significantly differ from each other.”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Using your own output from Parts 1–3, write a results sentence for the Sidak-adjusted pairwise comparisons instead of Tukey’s.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Non-Parametric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build a version of the data that clearly violates ANOVA’s assumptions: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v_circ_df &lt;- c_df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phase_shift_violated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Control: very tight, almost no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treatment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phase_shift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Knees: also tight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treatment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"Knees"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phase_shift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Eyes: extreme spread - compress middle values, huge outliers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treatment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"Eyes"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n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(phase_shift)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(phase_shift[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</a:t>
            </a:r>
            <a:r>
              <a:rPr>
                <a:solidFill>
                  <a:srgbClr val="AD0000"/>
                </a:solidFill>
                <a:latin typeface="Courier"/>
              </a:rPr>
              <a:t>-3</a:t>
            </a:r>
            <a:r>
              <a:rPr>
                <a:solidFill>
                  <a:srgbClr val="003B4F"/>
                </a:solidFill>
                <a:latin typeface="Courier"/>
              </a:rPr>
              <a:t>)]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     </a:t>
            </a:r>
            <a:r>
              <a:rPr>
                <a:solidFill>
                  <a:srgbClr val="5E5E5E"/>
                </a:solidFill>
                <a:latin typeface="Courier"/>
              </a:rPr>
              <a:t># Very compressed normal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phase_shift[(n</a:t>
            </a:r>
            <a:r>
              <a:rPr>
                <a:solidFill>
                  <a:srgbClr val="AD0000"/>
                </a:solidFill>
                <a:latin typeface="Courier"/>
              </a:rPr>
              <a:t>-2</a:t>
            </a:r>
            <a:r>
              <a:rPr>
                <a:solidFill>
                  <a:srgbClr val="003B4F"/>
                </a:solidFill>
                <a:latin typeface="Courier"/>
              </a:rPr>
              <a:t>)]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</a:t>
            </a:r>
            <a:r>
              <a:rPr>
                <a:solidFill>
                  <a:srgbClr val="5E5E5E"/>
                </a:solidFill>
                <a:latin typeface="Courier"/>
              </a:rPr>
              <a:t># Moderate outlier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phase_shift[(n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)]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,        </a:t>
            </a:r>
            <a:r>
              <a:rPr>
                <a:solidFill>
                  <a:srgbClr val="5E5E5E"/>
                </a:solidFill>
                <a:latin typeface="Courier"/>
              </a:rPr>
              <a:t># Extreme outlier 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phase_shift[n]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             </a:t>
            </a:r>
            <a:r>
              <a:rPr>
                <a:solidFill>
                  <a:srgbClr val="5E5E5E"/>
                </a:solidFill>
                <a:latin typeface="Courier"/>
              </a:rPr>
              <a:t># Extreme outlier 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violated_model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(phase_shift_violated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v_circ_df)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and check assumptions on the violated data: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(v_circ_df,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phase_shift_violated,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treatment))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"Modified Data with Violations"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"Median with IQR"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 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"Phase Shift (hours)"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</a:t>
            </a:r>
            <a:r>
              <a:rPr>
                <a:solidFill>
                  <a:srgbClr val="003B4F"/>
                </a:solidFill>
                <a:latin typeface="Courier"/>
              </a:rPr>
              <a:t>(violated_model))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qqnorm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</a:t>
            </a:r>
            <a:r>
              <a:rPr>
                <a:solidFill>
                  <a:srgbClr val="003B4F"/>
                </a:solidFill>
                <a:latin typeface="Courier"/>
              </a:rPr>
              <a:t>(violated_model),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Plot: Violated Data"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</a:t>
            </a:r>
            <a:r>
              <a:rPr>
                <a:solidFill>
                  <a:srgbClr val="003B4F"/>
                </a:solidFill>
                <a:latin typeface="Courier"/>
              </a:rPr>
              <a:t>(violated_model),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lwd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(phase_shift_violated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v_circ_df)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Shapiro-Wilk and Levene’s tests confirm this data violates ANOVA’s assumptions?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Kruskal-Wallis test, on both the original and violated data: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kruskal_original_result &lt;- </a:t>
            </a:r>
            <a:r>
              <a:rPr>
                <a:solidFill>
                  <a:srgbClr val="4758AB"/>
                </a:solidFill>
                <a:latin typeface="Courier"/>
              </a:rPr>
              <a:t>kruskal.test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phase_shift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c_df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kruskal_original_result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(model_aov)  </a:t>
            </a:r>
            <a:r>
              <a:rPr>
                <a:solidFill>
                  <a:srgbClr val="5E5E5E"/>
                </a:solidFill>
                <a:latin typeface="Courier"/>
              </a:rPr>
              <a:t># for comparison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kruskal_violated_result &lt;- </a:t>
            </a:r>
            <a:r>
              <a:rPr>
                <a:solidFill>
                  <a:srgbClr val="4758AB"/>
                </a:solidFill>
                <a:latin typeface="Courier"/>
              </a:rPr>
              <a:t>kruskal.test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phase_shift_violated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v_circ_df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kruskal_violated_result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(violated_model)  </a:t>
            </a:r>
            <a:r>
              <a:rPr>
                <a:solidFill>
                  <a:srgbClr val="5E5E5E"/>
                </a:solidFill>
                <a:latin typeface="Courier"/>
              </a:rPr>
              <a:t># for comparison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the parametric ANOVA’s conclusion on the violated data agree with the Kruskal-Wallis conclusion? If they disagree, which would you trust more, and why?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post-hoc tests: pairwise Wilcoxon, and the more appropriate Dunn’s test: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pairwise_result &lt;- </a:t>
            </a:r>
            <a:r>
              <a:rPr>
                <a:solidFill>
                  <a:srgbClr val="4758AB"/>
                </a:solidFill>
                <a:latin typeface="Courier"/>
              </a:rPr>
              <a:t>pairwise.wilcox.test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v_circ_df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phase_shift_violated,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 =</a:t>
            </a:r>
            <a:r>
              <a:rPr>
                <a:solidFill>
                  <a:srgbClr val="003B4F"/>
                </a:solidFill>
                <a:latin typeface="Courier"/>
              </a:rPr>
              <a:t> v_circ_df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p.adjust.method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dunn_result &lt;- </a:t>
            </a:r>
            <a:r>
              <a:rPr>
                <a:solidFill>
                  <a:srgbClr val="4758AB"/>
                </a:solidFill>
                <a:latin typeface="Courier"/>
              </a:rPr>
              <a:t>dunnTest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phase_shift_violated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v_circ_df,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dunn_result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Which post-hoc test should you use after Kruskal-Wallis?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 b="1"/>
              <a:t>Dunn’s test</a:t>
            </a:r>
            <a:r>
              <a:rPr sz="2000"/>
              <a:t> — it’s the proper follow-up to Kruskal-Wallis, uses the </a:t>
            </a:r>
            <a:r>
              <a:rPr sz="2000" i="1"/>
              <a:t>same</a:t>
            </a:r>
            <a:r>
              <a:rPr sz="2000"/>
              <a:t> overall ranking from the omnibus test, and is standard in published research. Pairwise Wilcoxon re-ranks separately for each pair, throwing away that shared-ranking information.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Run Dunn’s test with </a:t>
            </a:r>
            <a:r>
              <a:rPr sz="2000">
                <a:latin typeface="Courier"/>
              </a:rPr>
              <a:t>method = "holm"</a:t>
            </a:r>
            <a:r>
              <a:rPr sz="2000"/>
              <a:t> instead of </a:t>
            </a:r>
            <a:r>
              <a:rPr sz="2000">
                <a:latin typeface="Courier"/>
              </a:rPr>
              <a:t>"bonferroni"</a:t>
            </a:r>
            <a:r>
              <a:rPr sz="2000"/>
              <a:t>. Do any conclusions change? Which method is more conservative?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Fit a one-way ANOVA with </a:t>
            </a:r>
            <a:r>
              <a:rPr>
                <a:latin typeface="Courier"/>
              </a:rPr>
              <a:t>lm()</a:t>
            </a:r>
            <a:r>
              <a:rPr/>
              <a:t> and read its </a:t>
            </a:r>
            <a:r>
              <a:rPr>
                <a:latin typeface="Courier"/>
              </a:rPr>
              <a:t>Anova()</a:t>
            </a:r>
            <a:r>
              <a:rPr/>
              <a:t> table</a:t>
            </a:r>
          </a:p>
          <a:p>
            <a:pPr lvl="0"/>
            <a:r>
              <a:rPr/>
              <a:t>☐ Check ANOVA’s assumptions with diagnostic plots, Levene’s test, and Shapiro-Wilk</a:t>
            </a:r>
          </a:p>
          <a:p>
            <a:pPr lvl="0"/>
            <a:r>
              <a:rPr/>
              <a:t>☐ Compute and interpret estimated marginal means with </a:t>
            </a:r>
            <a:r>
              <a:rPr>
                <a:latin typeface="Courier"/>
              </a:rPr>
              <a:t>emmeans()</a:t>
            </a:r>
          </a:p>
          <a:p>
            <a:pPr lvl="0"/>
            <a:r>
              <a:rPr/>
              <a:t>☐ Run and interpret pairwise post-hoc comparisons and planned contrasts</a:t>
            </a:r>
          </a:p>
          <a:p>
            <a:pPr lvl="0"/>
            <a:r>
              <a:rPr/>
              <a:t>☐ Write a properly formatted ANOVA results sentence</a:t>
            </a:r>
          </a:p>
          <a:p>
            <a:pPr lvl="0"/>
            <a:r>
              <a:rPr/>
              <a:t>☐ Recognize when to use Kruskal-Wallis and Dunn’s test instead, and run both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12_analysis_of_variance.R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Take-Home Extension — Crayfish Growth Across Lakes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Due Monday, October 26 — before the Two-Way ANOVA class.</a:t>
            </a:r>
          </a:p>
          <a:p>
            <a:pPr lvl="0" indent="0" marL="0">
              <a:buNone/>
            </a:pPr>
            <a:r>
              <a:rPr/>
              <a:t>Same workflow as Parts 1–3 — fit, check assumptions, compare groups — new dataset, new question. This time you decide whether the standard ANOVA route or the Kruskal-Wallis route is the right call, and you pick the post-hoc test yourself; nobody walks you through it step by step.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Background</a:t>
            </a:r>
          </a:p>
          <a:p>
            <a:pPr lvl="0" indent="0" marL="0">
              <a:buNone/>
            </a:pPr>
            <a:r>
              <a:rPr/>
              <a:t>Sargent &amp; Lodge (2014) reared young-of-year rusty crayfish (</a:t>
            </a:r>
            <a:r>
              <a:rPr i="1"/>
              <a:t>Orconectes rusticus</a:t>
            </a:r>
            <a:r>
              <a:rPr/>
              <a:t>) in enclosures across three northern Wisconsin lakes. Below are their daily growth rate measurements.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cray_df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"data/sargent_lodge_crayfish.csv"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(cray_df)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Your Task</a:t>
            </a:r>
          </a:p>
          <a:p>
            <a:pPr lvl="0" indent="0" marL="0">
              <a:buNone/>
            </a:pPr>
            <a:r>
              <a:rPr b="1"/>
              <a:t>Question:</a:t>
            </a:r>
            <a:r>
              <a:rPr/>
              <a:t> Does crayfish growth rate (</a:t>
            </a:r>
            <a:r>
              <a:rPr>
                <a:latin typeface="Courier"/>
              </a:rPr>
              <a:t>growth_per_day</a:t>
            </a:r>
            <a:r>
              <a:rPr/>
              <a:t>) differ among the three lakes (</a:t>
            </a:r>
            <a:r>
              <a:rPr>
                <a:latin typeface="Courier"/>
              </a:rPr>
              <a:t>lake</a:t>
            </a:r>
            <a:r>
              <a:rPr/>
              <a:t>)?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State your hypotheses. Check the assumptions yourself and decide whether a standard one-way ANOVA is appropriate here, or whether you should reach for Kruskal-Wallis instead. If groups differ, pick and justify a post-hoc test. Justify your choices, run the analysis, interpret it, and report the result properly.</a:t>
            </a:r>
          </a:p>
          <a:p>
            <a:pPr lvl="0" indent="0">
              <a:buNone/>
            </a:pPr>
            <a:r>
              <a:rPr>
                <a:latin typeface="Courier"/>
              </a:rPr>
              <a:t>H0 =
________________________________________________________
Ha =
________________________________________________________
Test I will use and why:
________________________________________________________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Interpretation:
________________________________________________________
________________________________________________________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Final Figure</a:t>
            </a:r>
          </a:p>
          <a:p>
            <a:pPr lvl="0" indent="0" marL="0">
              <a:buNone/>
            </a:pPr>
            <a:r>
              <a:rPr/>
              <a:t>Produce one publication-quality figure comparing growth rate across lakes, with post-hoc groupings shown (e.g. a compact letter display) — proper axis labels, no default </a:t>
            </a:r>
            <a:r>
              <a:rPr>
                <a:latin typeface="Courier"/>
              </a:rPr>
              <a:t>ggplot</a:t>
            </a:r>
            <a:r>
              <a:rPr/>
              <a:t> grey background — and export it with </a:t>
            </a:r>
            <a:r>
              <a:rPr>
                <a:latin typeface="Courier"/>
              </a:rPr>
              <a:t>ggsave()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— due Oct 26</a:t>
            </a:r>
          </a:p>
          <a:p>
            <a:pPr lvl="0" indent="0" marL="1270000">
              <a:buNone/>
            </a:pPr>
            <a:r>
              <a:rPr sz="2000"/>
              <a:t>Your write-up should include:</a:t>
            </a:r>
          </a:p>
          <a:p>
            <a:pPr lvl="0"/>
            <a:r>
              <a:rPr sz="2000"/>
              <a:t>☐ The question</a:t>
            </a:r>
          </a:p>
          <a:p>
            <a:pPr lvl="0"/>
            <a:r>
              <a:rPr sz="2000"/>
              <a:t>☐ Your hypotheses</a:t>
            </a:r>
          </a:p>
          <a:p>
            <a:pPr lvl="0"/>
            <a:r>
              <a:rPr sz="2000"/>
              <a:t>☐ Which test you used, and your justification for choosing it</a:t>
            </a:r>
          </a:p>
          <a:p>
            <a:pPr lvl="0"/>
            <a:r>
              <a:rPr sz="2000"/>
              <a:t>☐ The code and its output</a:t>
            </a:r>
          </a:p>
          <a:p>
            <a:pPr lvl="0"/>
            <a:r>
              <a:rPr sz="2000"/>
              <a:t>☐ Your interpretation of the result</a:t>
            </a:r>
          </a:p>
          <a:p>
            <a:pPr lvl="0"/>
            <a:r>
              <a:rPr sz="2000"/>
              <a:t>☐ A final figure showing the result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Reference</a:t>
            </a:r>
          </a:p>
          <a:p>
            <a:pPr lvl="0" indent="0" marL="1270000">
              <a:buNone/>
            </a:pPr>
            <a:r>
              <a:rPr sz="2000"/>
              <a:t>Sargent, L.W. &amp; Lodge, D.M. (2014). Evolution of invasive traits in nonindigenous species: increased survival and faster growth in invasive populations of rusty crayfish (</a:t>
            </a:r>
            <a:r>
              <a:rPr sz="2000" i="1"/>
              <a:t>Orconectes rusticus</a:t>
            </a:r>
            <a:r>
              <a:rPr sz="2000"/>
              <a:t>). </a:t>
            </a:r>
            <a:r>
              <a:rPr sz="2000" i="1"/>
              <a:t>Evolutionary Applications</a:t>
            </a:r>
            <a:r>
              <a:rPr sz="2000"/>
              <a:t>, 7, 949–961.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library(performance)</a:t>
            </a:r>
            <a:r>
              <a:rPr/>
              <a:t>, </a:t>
            </a:r>
            <a:r>
              <a:rPr>
                <a:latin typeface="Courier"/>
              </a:rPr>
              <a:t>library(FSA)</a:t>
            </a:r>
            <a:r>
              <a:rPr/>
              <a:t>, </a:t>
            </a:r>
            <a:r>
              <a:rPr>
                <a:latin typeface="Courier"/>
              </a:rPr>
              <a:t>library(car)</a:t>
            </a:r>
            <a:r>
              <a:rPr/>
              <a:t>, </a:t>
            </a:r>
            <a:r>
              <a:rPr>
                <a:latin typeface="Courier"/>
              </a:rPr>
              <a:t>library(emmeans)</a:t>
            </a:r>
            <a:r>
              <a:rPr/>
              <a:t>, and </a:t>
            </a:r>
            <a:r>
              <a:rPr>
                <a:latin typeface="Courier"/>
              </a:rPr>
              <a:t>library(tidyverse)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Analysis of Variance (ANOVA)</dc:title>
  <dc:creator>Bill Perry</dc:creator>
  <cp:keywords/>
  <dc:description>Hands-on activity: fitting a one-way ANOVA, assumption diagnostics, estimated marginal means and post-hoc comparisons, reporting, and non-parametric alternatives (Kruskal-Wallis, Dunn’s test) on a circadian-rhythm light-treatment dataset.</dc:description>
  <dcterms:created xsi:type="dcterms:W3CDTF">2026-08-26T17:10:59Z</dcterms:created>
  <dcterms:modified xsi:type="dcterms:W3CDTF">2026-08-26T17:10:59Z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12</vt:lpwstr>
  </property>
  <property fmtid="{D5CDD505-2E9C-101B-9397-08002B2CF9AE}" pid="13" name="resources">
    <vt:lpwstr/>
  </property>
  <property fmtid="{D5CDD505-2E9C-101B-9397-08002B2CF9AE}" pid="14" name="subtitle">
    <vt:lpwstr>One-way ANOVA</vt:lpwstr>
  </property>
  <property fmtid="{D5CDD505-2E9C-101B-9397-08002B2CF9AE}" pid="15" name="toc-title">
    <vt:lpwstr>Table of contents</vt:lpwstr>
  </property>
  <property fmtid="{D5CDD505-2E9C-101B-9397-08002B2CF9AE}" pid="16" name="week">
    <vt:lpwstr>8</vt:lpwstr>
  </property>
</Properties>
</file>