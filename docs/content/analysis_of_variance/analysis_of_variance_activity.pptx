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8" Type="http://schemas.openxmlformats.org/officeDocument/2006/relationships/viewProps" Target="viewProps.xml" /><Relationship Id="rId27" Type="http://schemas.openxmlformats.org/officeDocument/2006/relationships/presProps" Target="presProps.xml" /><Relationship Id="rId1" Type="http://schemas.openxmlformats.org/officeDocument/2006/relationships/slideMaster" Target="slideMasters/slideMaster1.xml" /><Relationship Id="rId30" Type="http://schemas.openxmlformats.org/officeDocument/2006/relationships/tableStyles" Target="tableStyles.xml" /><Relationship Id="rId2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ANOVA in Class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One-way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22 × 2
   treatment phase_shift
   &lt;chr&gt;           &lt;dbl&gt;
 1 Control          0.53
 2 Control          0.36
 3 Control          0.2 
 4 Control         -0.37
 5 Control         -0.6 
 6 Control         -0.64
 7 Control         -0.68
 8 Control         -1.27
 9 Knees            0.73
10 Knees            0.31
# ℹ 12 more rows</a:t>
            </a:r>
          </a:p>
        </p:txBody>
      </p:sp>
      <p:pic>
        <p:nvPicPr>
          <p:cNvPr descr="analysis_of_variance_activity_files/figure-pptx/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Call:
lm(formula = phase_shift ~ treatment, data = c_df)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ANOVA-Assumptions and Diagnostics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residuals are normally distributed</a:t>
            </a:r>
          </a:p>
          <a:p>
            <a:pPr lvl="0" indent="-342900" marL="342900">
              <a:buAutoNum type="arabicPeriod"/>
            </a:pPr>
            <a:r>
              <a:rPr b="1"/>
              <a:t>Homogeneity of variance</a:t>
            </a:r>
            <a:r>
              <a:rPr/>
              <a:t>: variance is the same in all treatments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 assumption tests</a:t>
            </a:r>
          </a:p>
        </p:txBody>
      </p:sp>
      <p:pic>
        <p:nvPicPr>
          <p:cNvPr descr="analysis_of_variance_activity_files/figure-pptx/base_diagplot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Performance package for daignostics</a:t>
            </a:r>
          </a:p>
        </p:txBody>
      </p:sp>
      <p:pic>
        <p:nvPicPr>
          <p:cNvPr descr="analysis_of_variance_activity_files/figure-pptx/unnamed-chunk-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Diagnostics</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sp>
        <p:nvSpPr>
          <p:cNvPr id="3" name="Content Placeholder 2"/>
          <p:cNvSpPr>
            <a:spLocks noGrp="1"/>
          </p:cNvSpPr>
          <p:nvPr>
            <p:ph idx="1"/>
          </p:nvPr>
        </p:nvSpPr>
        <p:spPr/>
        <p:txBody>
          <a:bodyPr/>
          <a:lstStyle/>
          <a:p>
            <a:pPr lvl="0" indent="0" marL="0">
              <a:buNone/>
            </a:pPr>
            <a:r>
              <a:rPr/>
              <a:t>Shapiro-Wilk Normality Test</a:t>
            </a:r>
          </a:p>
          <a:p>
            <a:pPr lvl="0"/>
            <a:r>
              <a:rPr/>
              <a:t>Null Hypothesis is that they are normally distributed</a:t>
            </a:r>
          </a:p>
          <a:p>
            <a:pPr lvl="0"/>
            <a:r>
              <a:rPr/>
              <a:t>So you want a </a:t>
            </a:r>
            <a:r>
              <a:rPr b="1"/>
              <a:t>non significant</a:t>
            </a:r>
            <a:r>
              <a:rPr/>
              <a:t> result here</a:t>
            </a:r>
          </a:p>
          <a:p>
            <a:pPr lvl="0" indent="0">
              <a:buNone/>
            </a:pPr>
            <a:r>
              <a:rPr>
                <a:latin typeface="Courier"/>
              </a:rPr>
              <a:t>
    Shapiro-Wilk normality test
data:  residuals(model_aov)
W = 0.95893, p-value = 0.468</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sp>
        <p:nvSpPr>
          <p:cNvPr id="3" name="Content Placeholder 2"/>
          <p:cNvSpPr>
            <a:spLocks noGrp="1"/>
          </p:cNvSpPr>
          <p:nvPr>
            <p:ph idx="1"/>
          </p:nvPr>
        </p:nvSpPr>
        <p:spPr/>
        <p:txBody>
          <a:bodyPr/>
          <a:lstStyle/>
          <a:p>
            <a:pPr lvl="0" indent="0" marL="0">
              <a:buNone/>
            </a:pPr>
            <a:r>
              <a:rPr/>
              <a:t>When ANOVA rejects H₀, we need to determine which groups differ.</a:t>
            </a:r>
          </a:p>
          <a:p>
            <a:pPr lvl="0" indent="0" marL="0">
              <a:buNone/>
            </a:pPr>
            <a:r>
              <a:rPr b="1"/>
              <a:t>Example</a:t>
            </a:r>
            <a:r>
              <a:rPr/>
              <a:t>: Using Tukey’s HSD to compare all pairs of treatments in the circadian rhythm data.</a:t>
            </a:r>
          </a:p>
          <a:p>
            <a:pPr lvl="0" indent="0" marL="0">
              <a:buNone/>
            </a:pPr>
            <a:r>
              <a:rPr/>
              <a:t>first we calculate the estimate marginal means</a:t>
            </a:r>
          </a:p>
          <a:p>
            <a:pPr lvl="0" indent="0">
              <a:buNone/>
            </a:pPr>
            <a:r>
              <a:rPr>
                <a:latin typeface="Courier"/>
              </a:rPr>
              <a:t> treatment emmean    SE df lower.CL upper.CL
 Control   -0.309 0.249 19   -0.830    0.212
 Eyes      -1.551 0.266 19   -2.108   -0.995
 Knees     -0.336 0.266 19   -0.893    0.221
Confidence level used: 0.95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Are Estimated Marginal Means?</a:t>
            </a:r>
          </a:p>
        </p:txBody>
      </p:sp>
      <p:sp>
        <p:nvSpPr>
          <p:cNvPr id="3" name="Content Placeholder 2"/>
          <p:cNvSpPr>
            <a:spLocks noGrp="1"/>
          </p:cNvSpPr>
          <p:nvPr>
            <p:ph idx="1"/>
          </p:nvPr>
        </p:nvSpPr>
        <p:spPr/>
        <p:txBody>
          <a:bodyPr/>
          <a:lstStyle/>
          <a:p>
            <a:pPr lvl="0" indent="0" marL="0">
              <a:buNone/>
            </a:pPr>
            <a:r>
              <a:rPr b="1"/>
              <a:t>Estimated Marginal Means (EMMs)</a:t>
            </a:r>
            <a:r>
              <a:rPr/>
              <a:t>, also called </a:t>
            </a:r>
            <a:r>
              <a:rPr b="1"/>
              <a:t>least-squares means</a:t>
            </a:r>
            <a:r>
              <a:rPr/>
              <a:t>, are model-based predictions of group means that come from your fitted statistical model rather than directly from your raw data.</a:t>
            </a:r>
          </a:p>
          <a:p>
            <a:pPr lvl="0" indent="0" marL="0">
              <a:spcBef>
                <a:spcPts val="3000"/>
              </a:spcBef>
              <a:buNone/>
            </a:pPr>
            <a:r>
              <a:rPr b="1"/>
              <a:t>Key Concepts</a:t>
            </a:r>
          </a:p>
          <a:p>
            <a:pPr lvl="0" indent="0" marL="0">
              <a:buNone/>
            </a:pPr>
            <a:r>
              <a:rPr/>
              <a:t>In a </a:t>
            </a:r>
            <a:r>
              <a:rPr b="1"/>
              <a:t>one-way ANOVA</a:t>
            </a:r>
            <a:r>
              <a:rPr/>
              <a:t>, EMMs are straightforward:</a:t>
            </a:r>
          </a:p>
          <a:p>
            <a:pPr lvl="0"/>
            <a:r>
              <a:rPr b="1"/>
              <a:t>EMMs = Group means</a:t>
            </a:r>
            <a:r>
              <a:rPr/>
              <a:t> (when you have balanced data and no covariates)</a:t>
            </a:r>
          </a:p>
          <a:p>
            <a:pPr lvl="0"/>
            <a:r>
              <a:rPr/>
              <a:t>They represent the “expected” or “predicted” value for each group according to your model</a:t>
            </a:r>
          </a:p>
          <a:p>
            <a:pPr lvl="0"/>
            <a:r>
              <a:rPr/>
              <a:t>They’re called “marginal” because in more complex designs, they’re averaged over (or “marginalized” over) other factors</a:t>
            </a:r>
          </a:p>
          <a:p>
            <a:pPr lvl="0" indent="0" marL="0">
              <a:spcBef>
                <a:spcPts val="3000"/>
              </a:spcBef>
              <a:buNone/>
            </a:pPr>
            <a:r>
              <a:rPr b="1"/>
              <a:t>Why Use EMMs Instead of Simple Means?</a:t>
            </a:r>
          </a:p>
          <a:p>
            <a:pPr lvl="0" indent="0" marL="0">
              <a:buNone/>
            </a:pPr>
            <a:r>
              <a:rPr/>
              <a:t>For one-way ANOVA, you might wonder: “Why not just use </a:t>
            </a:r>
            <a:r>
              <a:rPr>
                <a:latin typeface="Courier"/>
              </a:rPr>
              <a:t>group_by() %&gt;% summarize(mean())</a:t>
            </a:r>
            <a:r>
              <a:rPr/>
              <a:t>?”</a:t>
            </a:r>
          </a:p>
          <a:p>
            <a:pPr lvl="0" indent="0" marL="0">
              <a:buNone/>
            </a:pPr>
            <a:r>
              <a:rPr/>
              <a:t>Here’s why EMMs are valuable:</a:t>
            </a:r>
          </a:p>
          <a:p>
            <a:pPr lvl="0" indent="-342900" marL="342900">
              <a:buAutoNum type="arabicPeriod"/>
            </a:pPr>
            <a:r>
              <a:rPr b="1"/>
              <a:t>Consistency across models</a:t>
            </a:r>
            <a:r>
              <a:rPr/>
              <a:t>: EMMs work the same way whether you have one-way ANOVA, two-way ANOVA, ANCOVA, or more complex designs</a:t>
            </a:r>
          </a:p>
          <a:p>
            <a:pPr lvl="0" indent="-342900" marL="342900">
              <a:buAutoNum type="arabicPeriod"/>
            </a:pPr>
            <a:r>
              <a:rPr b="1"/>
              <a:t>Built-in inference</a:t>
            </a:r>
            <a:r>
              <a:rPr/>
              <a:t>: The </a:t>
            </a:r>
            <a:r>
              <a:rPr>
                <a:latin typeface="Courier"/>
              </a:rPr>
              <a:t>emmeans</a:t>
            </a:r>
            <a:r>
              <a:rPr/>
              <a:t> package provides standard errors, confidence intervals, and easy comparisons</a:t>
            </a:r>
          </a:p>
          <a:p>
            <a:pPr lvl="0" indent="-342900" marL="342900">
              <a:buAutoNum type="arabicPeriod"/>
            </a:pPr>
            <a:r>
              <a:rPr b="1"/>
              <a:t>Adjusted means</a:t>
            </a:r>
            <a:r>
              <a:rPr/>
              <a:t>: In more complex models (with covariates), EMMs give you adjusted means at meaningful reference points</a:t>
            </a:r>
          </a:p>
          <a:p>
            <a:pPr lvl="0" indent="-342900" marL="342900">
              <a:buAutoNum type="arabicPeriod"/>
            </a:pPr>
            <a:r>
              <a:rPr b="1"/>
              <a:t>Professional reporting</a:t>
            </a:r>
            <a:r>
              <a:rPr/>
              <a:t>: EMMs are the standard in academic publications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Are EMMs Calculated?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In One-Way ANOVA: EMMs = Group Means</a:t>
                </a:r>
              </a:p>
              <a:p>
                <a:pPr lvl="0" indent="0" marL="0">
                  <a:buNone/>
                </a:pPr>
                <a:r>
                  <a:rPr/>
                  <a:t>Let’s verify this by comparing EMMs to simple group means:</a:t>
                </a:r>
              </a:p>
              <a:p>
                <a:pPr lvl="0" indent="0">
                  <a:buNone/>
                </a:pPr>
                <a:r>
                  <a:rPr>
                    <a:latin typeface="Courier"/>
                  </a:rPr>
                  <a:t># A tibble: 3 × 7
  treatment sample_mean sample_sd     n emmean    SE difference
  &lt;chr&gt;           &lt;dbl&gt;     &lt;dbl&gt; &lt;int&gt;  &lt;dbl&gt; &lt;dbl&gt;      &lt;dbl&gt;
1 Control        -0.309     0.618     8 -0.309 0.249          0
2 Eyes           -1.55      0.706     7 -1.55  0.266          0
3 Knees          -0.336     0.791     7 -0.336 0.266          0</a:t>
                </a:r>
              </a:p>
              <a:p>
                <a:pPr lvl="0" indent="0" marL="0">
                  <a:buNone/>
                </a:pPr>
                <a:r>
                  <a:rPr b="1"/>
                  <a:t>Key insight</a:t>
                </a:r>
                <a:r>
                  <a:rPr/>
                  <a:t>: In a one-way ANOVA, the EMMs are </a:t>
                </a:r>
                <a:r>
                  <a:rPr b="1"/>
                  <a:t>exactly equal</a:t>
                </a:r>
                <a:r>
                  <a:rPr/>
                  <a:t> to the group means!</a:t>
                </a:r>
              </a:p>
              <a:p>
                <a:pPr lvl="0" indent="0" marL="0">
                  <a:spcBef>
                    <a:spcPts val="3000"/>
                  </a:spcBef>
                  <a:buNone/>
                </a:pPr>
                <a:r>
                  <a:rPr b="1"/>
                  <a:t>The Mathematical Formula</a:t>
                </a:r>
              </a:p>
              <a:p>
                <a:pPr lvl="0" indent="0" marL="0">
                  <a:buNone/>
                </a:pPr>
                <a:r>
                  <a:rPr/>
                  <a:t>For one-way ANOVA, the EMM for group </a:t>
                </a:r>
                <a14:m>
                  <m:oMath xmlns:m="http://schemas.openxmlformats.org/officeDocument/2006/math">
                    <m:r>
                      <m:t>j</m:t>
                    </m:r>
                  </m:oMath>
                </a14:m>
                <a:r>
                  <a:rPr/>
                  <a:t> is calculated as:</a:t>
                </a:r>
              </a:p>
              <a:p>
                <a:pPr lvl="0" indent="0" marL="0">
                  <a:buNone/>
                </a:pPr>
                <a14:m>
                  <m:oMathPara xmlns:m="http://schemas.openxmlformats.org/officeDocument/2006/math">
                    <m:oMathParaPr>
                      <m:jc m:val="center"/>
                    </m:oMathParaPr>
                    <m:oMath>
                      <m:sSub>
                        <m:e>
                          <m:r>
                            <m:rPr>
                              <m:nor/>
                              <m:sty m:val="p"/>
                            </m:rPr>
                            <m:t>EMM</m:t>
                          </m:r>
                        </m:e>
                        <m:sub>
                          <m:r>
                            <m:t>j</m:t>
                          </m:r>
                        </m:sub>
                      </m:sSub>
                      <m:r>
                        <m:rPr>
                          <m:sty m:val="p"/>
                        </m:rPr>
                        <m:t>=</m:t>
                      </m:r>
                      <m:sSub>
                        <m:e>
                          <m:acc>
                            <m:accPr>
                              <m:chr m:val="̂"/>
                            </m:accPr>
                            <m:e>
                              <m:r>
                                <m:t>β</m:t>
                              </m:r>
                            </m:e>
                          </m:acc>
                        </m:e>
                        <m:sub>
                          <m:r>
                            <m:t>0</m:t>
                          </m:r>
                        </m:sub>
                      </m:sSub>
                      <m:r>
                        <m:rPr>
                          <m:sty m:val="p"/>
                        </m:rPr>
                        <m:t>+</m:t>
                      </m:r>
                      <m:sSub>
                        <m:e>
                          <m:acc>
                            <m:accPr>
                              <m:chr m:val="̂"/>
                            </m:accPr>
                            <m:e>
                              <m:r>
                                <m:t>β</m:t>
                              </m:r>
                            </m:e>
                          </m:acc>
                        </m:e>
                        <m:sub>
                          <m:r>
                            <m:t>j</m:t>
                          </m:r>
                        </m:sub>
                      </m:sSub>
                    </m:oMath>
                  </m:oMathPara>
                </a14:m>
              </a:p>
              <a:p>
                <a:pPr lvl="0" indent="0" marL="0">
                  <a:buNone/>
                </a:pPr>
                <a:r>
                  <a:rPr/>
                  <a:t>Where: - </a:t>
                </a:r>
                <a14:m>
                  <m:oMath xmlns:m="http://schemas.openxmlformats.org/officeDocument/2006/math">
                    <m:sSub>
                      <m:e>
                        <m:acc>
                          <m:accPr>
                            <m:chr m:val="̂"/>
                          </m:accPr>
                          <m:e>
                            <m:r>
                              <m:t>β</m:t>
                            </m:r>
                          </m:e>
                        </m:acc>
                      </m:e>
                      <m:sub>
                        <m:r>
                          <m:t>0</m:t>
                        </m:r>
                      </m:sub>
                    </m:sSub>
                  </m:oMath>
                </a14:m>
                <a:r>
                  <a:rPr/>
                  <a:t> is the intercept (mean of reference group) - </a:t>
                </a:r>
                <a14:m>
                  <m:oMath xmlns:m="http://schemas.openxmlformats.org/officeDocument/2006/math">
                    <m:sSub>
                      <m:e>
                        <m:acc>
                          <m:accPr>
                            <m:chr m:val="̂"/>
                          </m:accPr>
                          <m:e>
                            <m:r>
                              <m:t>β</m:t>
                            </m:r>
                          </m:e>
                        </m:acc>
                      </m:e>
                      <m:sub>
                        <m:r>
                          <m:t>j</m:t>
                        </m:r>
                      </m:sub>
                    </m:sSub>
                  </m:oMath>
                </a14:m>
                <a:r>
                  <a:rPr/>
                  <a:t> is the coefficient for group </a:t>
                </a:r>
                <a14:m>
                  <m:oMath xmlns:m="http://schemas.openxmlformats.org/officeDocument/2006/math">
                    <m:r>
                      <m:t>j</m:t>
                    </m:r>
                  </m:oMath>
                </a14:m>
                <a:r>
                  <a:rPr/>
                  <a:t> (or 0 for the reference group)</a:t>
                </a:r>
              </a:p>
              <a:p>
                <a:pPr lvl="0" indent="0" marL="0">
                  <a:spcBef>
                    <a:spcPts val="3000"/>
                  </a:spcBef>
                  <a:buNone/>
                </a:pPr>
                <a:r>
                  <a:rPr b="1"/>
                  <a:t>take home is in this case emmeans = the means</a:t>
                </a:r>
              </a:p>
              <a:p>
                <a:pPr lvl="0" indent="0">
                  <a:buNone/>
                </a:pPr>
                <a:r>
                  <a:rPr>
                    <a:latin typeface="Courier"/>
                  </a:rPr>
                  <a:t> contrast        estimate    SE df t.ratio p.value
 Control - Eyes     1.243 0.364 19   3.411  0.0088
 Control - Knees    0.027 0.364 19   0.074  0.9998
 Eyes - Knees      -1.216 0.376 19  -3.231  0.0131
P value adjustment: sidak method for 3 tests </a:t>
                </a:r>
              </a:p>
              <a:p>
                <a:pPr lvl="0"/>
                <a:r>
                  <a:rPr/>
                  <a:t>What is the ESTIMATE?</a:t>
                </a:r>
              </a:p>
              <a:p>
                <a:pPr lvl="1"/>
                <a:r>
                  <a:rPr/>
                  <a:t>The estimate is the </a:t>
                </a:r>
                <a:r>
                  <a:rPr b="1"/>
                  <a:t>difference between two group means</a:t>
                </a:r>
                <a:r>
                  <a:rPr/>
                  <a:t>.</a:t>
                </a:r>
              </a:p>
              <a:p>
                <a:pPr lvl="1"/>
                <a:r>
                  <a:rPr/>
                  <a:t>What is the SE (Standard Error)?</a:t>
                </a:r>
              </a:p>
              <a:p>
                <a:pPr lvl="2"/>
                <a:r>
                  <a:rPr/>
                  <a:t>The SE is the </a:t>
                </a:r>
                <a:r>
                  <a:rPr b="1"/>
                  <a:t>standard error of the difference</a:t>
                </a:r>
                <a:r>
                  <a:rPr/>
                  <a:t> between two means.</a:t>
                </a:r>
              </a:p>
              <a:p>
                <a:pPr lvl="2"/>
                <a:r>
                  <a:rPr/>
                  <a:t>It tells you how much uncertainty there is in your estimate of the difference. The SE depends on:</a:t>
                </a:r>
              </a:p>
              <a:p>
                <a:pPr lvl="3"/>
                <a:r>
                  <a:rPr/>
                  <a:t>The variability within each group (residual variance from your model)</a:t>
                </a:r>
              </a:p>
              <a:p>
                <a:pPr lvl="3"/>
                <a:r>
                  <a:rPr/>
                  <a:t>The sample sizes of the groups being compared</a:t>
                </a:r>
              </a:p>
              <a:p>
                <a:pPr lvl="1"/>
                <a:r>
                  <a:rPr/>
                  <a:t>How They Work Together</a:t>
                </a:r>
              </a:p>
              <a:p>
                <a:pPr lvl="2"/>
                <a:r>
                  <a:rPr/>
                  <a:t>The t-ratio = estimate / SE tells you how many standard errors away from zero your difference is:</a:t>
                </a:r>
              </a:p>
              <a:p>
                <a:pPr lvl="3"/>
                <a:r>
                  <a:rPr/>
                  <a:t>Control - Eyes: 1.243 / 0.364 = 3.41 → far from zero → significant!</a:t>
                </a:r>
              </a:p>
              <a:p>
                <a:pPr lvl="3"/>
                <a:r>
                  <a:rPr/>
                  <a:t>Control - Knees: 0.027 / 0.364 = 0.074 → very close to zero → not significant</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sidak method for 3 tests 
significance level used: alpha = 0.05 
NOTE: If two or more means share the same grouping symbol,
      then we cannot show them to be different.
      But we also did not show them to be the same. </a:t>
                </a:r>
              </a:p>
              <a:p>
                <a:pPr lvl="0" indent="0" marL="0">
                  <a:spcBef>
                    <a:spcPts val="3000"/>
                  </a:spcBef>
                  <a:buNone/>
                </a:pPr>
                <a:r>
                  <a:rPr b="1"/>
                  <a:t>Can do in one go as well</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sidak method for 3 tests 
significance level used: alpha = 0.05 
NOTE: If two or more means share the same grouping symbol,
      then we cannot show them to be different.
      But we also did not show them to be the same. </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Plotting the EMMEANS</a:t>
            </a:r>
          </a:p>
        </p:txBody>
      </p:sp>
      <p:pic>
        <p:nvPicPr>
          <p:cNvPr descr="analysis_of_variance_activity_files/figure-pptx/unnamed-chunk-11-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pic>
        <p:nvPicPr>
          <p:cNvPr descr="analysis_of_variance_activity_files/figure-pptx/unnamed-chunk-12-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Planned comparisons</a:t>
            </a:r>
          </a:p>
        </p:txBody>
      </p:sp>
      <p:sp>
        <p:nvSpPr>
          <p:cNvPr id="3" name="Content Placeholder 2"/>
          <p:cNvSpPr>
            <a:spLocks noGrp="1"/>
          </p:cNvSpPr>
          <p:nvPr>
            <p:ph idx="1"/>
          </p:nvPr>
        </p:nvSpPr>
        <p:spPr/>
        <p:txBody>
          <a:bodyPr/>
          <a:lstStyle/>
          <a:p>
            <a:pPr lvl="0" indent="0">
              <a:buNone/>
            </a:pPr>
            <a:r>
              <a:rPr>
                <a:latin typeface="Courier"/>
              </a:rPr>
              <a:t>NULL</a:t>
            </a:r>
          </a:p>
          <a:p>
            <a:pPr lvl="0" indent="0">
              <a:buNone/>
            </a:pPr>
            <a:r>
              <a:rPr>
                <a:latin typeface="Courier"/>
              </a:rPr>
              <a:t> contrast         estimate    SE df t.ratio p.value
 control vs eyes     1.243 0.364 19   3.411  0.0029
 control vs knees    0.027 0.364 19   0.074  0.9418</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pic>
        <p:nvPicPr>
          <p:cNvPr descr="analysis_of_variance_activity_files/figure-pptx/unnamed-chunk-14-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Reporting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NON PARAMETRIC ANOVA</a:t>
            </a:r>
          </a:p>
        </p:txBody>
      </p:sp>
      <p:pic>
        <p:nvPicPr>
          <p:cNvPr descr="analysis_of_variance_activity_files/figure-pptx/unnamed-chunk-15-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&lt;theme&gt; List of 147
 $ line                            : &lt;ggplot2::element_line&gt;
  ..@ colour       : chr "black"
  ..@ linewidth    : num 0.5
  ..@ linetype     : num 1
  ..@ lineend      : chr "butt"
  ..@ linejoin     : chr "round"
  ..@ arrow        : logi FALSE
  ..@ arrow.fill   : chr "black"
  ..@ inherit.blank: logi TRUE
 $ rect                            : &lt;ggplot2::element_rect&gt;
  ..@ fill         : chr "white"
  ..@ colour       : chr "black"
  ..@ linewidth    : num 0.5
  ..@ linetype     : num 1
  ..@ linejoin     : chr "round"
  ..@ inherit.blank: logi TRUE
 $ text                            : &lt;ggplot2::element_text&gt;
  ..@ family       : chr ""
  ..@ face         : chr "plain"
  ..@ italic       : chr NA
  ..@ fontweight   : num NA
  ..@ fontwidth    : num NA
  ..@ colour       : chr "black"
  ..@ size         : num 11
  ..@ hjust        : num 0.5
  ..@ vjust        : num 0.5
  ..@ angle        : num 0
  ..@ lineheight   : num 0.9
  ..@ margin       : &lt;ggplot2::margin&gt; num [1:4] 0 0 0 0
  ..@ debug        : logi FALSE
  ..@ inherit.blank: logi TRUE
 $ title                           : chr "Modified Data with Violations"
 $ point                           : &lt;ggplot2::element_point&gt;
  ..@ colour       : chr "black"
  ..@ shape        : num 19
  ..@ size         : num 1.5
  ..@ fill         : chr "white"
  ..@ stroke       : num 0.5
  ..@ inherit.blank: logi TRUE
 $ polygon                         : &lt;ggplot2::element_polygon&gt;
  ..@ fill         : chr "white"
  ..@ colour       : chr "black"
  ..@ linewidth    : num 0.5
  ..@ linetype     : num 1
  ..@ linejoin     : chr "round"
  ..@ inherit.blank: logi TRUE
 $ geom                            : &lt;ggplot2::element_geom&gt;
  ..@ ink        : chr "black"
  ..@ paper      : chr "white"
  ..@ accent     : chr "#3366FF"
  ..@ linewidth  : num 0.5
  ..@ borderwidth: num 0.5
  ..@ linetype   : int 1
  ..@ bordertype : int 1
  ..@ family     : chr ""
  ..@ fontsize   : num 3.87
  ..@ pointsize  : num 1.5
  ..@ pointshape : num 19
  ..@ colour     : NULL
  ..@ fill       : NULL
 $ spacing                         : 'simpleUnit' num 5.5points
  ..- attr(*, "unit")= int 8
 $ margins                         : &lt;ggplot2::margin&gt; num [1:4] 5.5 5.5 5.5 5.5
 $ aspect.ratio                    : NULL
 $ axis.title                      : NULL
 $ axis.title.x                    : &lt;ggplot2::element_text&gt;
  ..@ family       : NULL
  ..@ face         : NULL
  ..@ italic       : chr NA
  ..@ fontweight   : num NA
  ..@ fontwidth    : num NA
  ..@ colour       : NULL
  ..@ size         : NULL
  ..@ hjust        : NULL
  ..@ vjust        : num 1
  ..@ angle        : NULL
  ..@ lineheight   : NULL
  ..@ margin       : &lt;ggplot2::margin&gt; num [1:4] 2.75 0 0 0
  ..@ debug        : NULL
  ..@ inherit.blank: logi TRUE
 $ axis.title.x.top                : &lt;ggplot2::element_text&gt;
  ..@ family       : NULL
  ..@ face         : NULL
  ..@ italic       : chr NA
  ..@ fontweight   : num NA
  ..@ fontwidth    : num NA
  ..@ colour       : NULL
  ..@ size         : NULL
  ..@ hjust        : NULL
  ..@ vjust        : num 0
  ..@ angle        : NULL
  ..@ lineheight   : NULL
  ..@ margin       : &lt;ggplot2::margin&gt; num [1:4] 0 0 2.75 0
  ..@ debug        : NULL
  ..@ inherit.blank: logi TRUE
 $ axis.title.x.bottom             : NULL
 $ axis.title.y                    : &lt;ggplot2::element_text&gt;
  ..@ family       : NULL
  ..@ face         : NULL
  ..@ italic       : chr NA
  ..@ fontweight   : num NA
  ..@ fontwidth    : num NA
  ..@ colour       : NULL
  ..@ size         : NULL
  ..@ hjust        : NULL
  ..@ vjust        : num 1
  ..@ angle        : num 90
  ..@ lineheight   : NULL
  ..@ margin       : &lt;ggplot2::margin&gt; num [1:4] 0 2.75 0 0
  ..@ debug        : NULL
  ..@ inherit.blank: logi TRUE
 $ axis.title.y.left               : NULL
 $ axis.title.y.right              : &lt;ggplot2::element_text&gt;
  ..@ family       : NULL
  ..@ face         : NULL
  ..@ italic       : chr NA
  ..@ fontweight   : num NA
  ..@ fontwidth    : num NA
  ..@ colour       : NULL
  ..@ size         : NULL
  ..@ hjust        : NULL
  ..@ vjust        : num 1
  ..@ angle        : num -90
  ..@ lineheight   : NULL
  ..@ margin       : &lt;ggplot2::margin&gt; num [1:4] 0 0 0 2.75
  ..@ debug        : NULL
  ..@ inherit.blank: logi TRUE
 $ axis.text                       : &lt;ggplot2::element_text&gt;
  ..@ family       : NULL
  ..@ face         : NULL
  ..@ italic       : chr NA
  ..@ fontweight   : num NA
  ..@ fontwidth    : num NA
  ..@ colour       : chr "#4D4D4DFF"
  ..@ size         : 'rel' num 0.8
  ..@ hjust        : NULL
  ..@ vjust        : NULL
  ..@ angle        : NULL
  ..@ lineheight   : NULL
  ..@ margin       : NULL
  ..@ debug        : NULL
  ..@ inherit.blank: logi TRUE
 $ axis.text.x                     : &lt;ggplot2::element_text&gt;
  ..@ family       : NULL
  ..@ face         : NULL
  ..@ italic       : chr NA
  ..@ fontweight   : num NA
  ..@ fontwidth    : num NA
  ..@ colour       : NULL
  ..@ size         : NULL
  ..@ hjust        : NULL
  ..@ vjust        : num 1
  ..@ angle        : NULL
  ..@ lineheight   : NULL
  ..@ margin       : &lt;ggplot2::margin&gt; num [1:4] 2.2 0 0 0
  ..@ debug        : NULL
  ..@ inherit.blank: logi TRUE
 $ axis.text.x.top                 : &lt;ggplot2::element_text&gt;
  ..@ family       : NULL
  ..@ face         : NULL
  ..@ italic       : chr NA
  ..@ fontweight   : num NA
  ..@ fontwidth    : num NA
  ..@ colour       : NULL
  ..@ size         : NULL
  ..@ hjust        : NULL
  ..@ vjust        : NULL
  ..@ angle        : NULL
  ..@ lineheight   : NULL
  ..@ margin       : &lt;ggplot2::margin&gt; num [1:4] 0 0 4.95 0
  ..@ debug        : NULL
  ..@ inherit.blank: logi TRUE
 $ axis.text.x.bottom              : &lt;ggplot2::element_text&gt;
  ..@ family       : NULL
  ..@ face         : NULL
  ..@ italic       : chr NA
  ..@ fontweight   : num NA
  ..@ fontwidth    : num NA
  ..@ colour       : NULL
  ..@ size         : NULL
  ..@ hjust        : NULL
  ..@ vjust        : NULL
  ..@ angle        : NULL
  ..@ lineheight   : NULL
  ..@ margin       : &lt;ggplot2::margin&gt; num [1:4] 4.95 0 0 0
  ..@ debug        : NULL
  ..@ inherit.blank: logi TRUE
 $ axis.text.y                     : &lt;ggplot2::element_text&gt;
  ..@ family       : NULL
  ..@ face         : NULL
  ..@ italic       : chr NA
  ..@ fontweight   : num NA
  ..@ fontwidth    : num NA
  ..@ colour       : NULL
  ..@ size         : NULL
  ..@ hjust        : num 1
  ..@ vjust        : NULL
  ..@ angle        : NULL
  ..@ lineheight   : NULL
  ..@ margin       : &lt;ggplot2::margin&gt; num [1:4] 0 2.2 0 0
  ..@ debug        : NULL
  ..@ inherit.blank: logi TRUE
 $ axis.text.y.left                : &lt;ggplot2::element_text&gt;
  ..@ family       : NULL
  ..@ face         : NULL
  ..@ italic       : chr NA
  ..@ fontweight   : num NA
  ..@ fontwidth    : num NA
  ..@ colour       : NULL
  ..@ size         : NULL
  ..@ hjust        : NULL
  ..@ vjust        : NULL
  ..@ angle        : NULL
  ..@ lineheight   : NULL
  ..@ margin       : &lt;ggplot2::margin&gt; num [1:4] 0 4.95 0 0
  ..@ debug        : NULL
  ..@ inherit.blank: logi TRUE
 $ axis.text.y.right               : &lt;ggplot2::element_text&gt;
  ..@ family       : NULL
  ..@ face         : NULL
  ..@ italic       : chr NA
  ..@ fontweight   : num NA
  ..@ fontwidth    : num NA
  ..@ colour       : NULL
  ..@ size         : NULL
  ..@ hjust        : NULL
  ..@ vjust        : NULL
  ..@ angle        : NULL
  ..@ lineheight   : NULL
  ..@ margin       : &lt;ggplot2::margin&gt; num [1:4] 0 0 0 4.95
  ..@ debug        : NULL
  ..@ inherit.blank: logi TRUE
 $ axis.text.theta                 : NULL
 $ axis.text.r                     : &lt;ggplot2::element_text&gt;
  ..@ family       : NULL
  ..@ face         : NULL
  ..@ italic       : chr NA
  ..@ fontweight   : num NA
  ..@ fontwidth    : num NA
  ..@ colour       : NULL
  ..@ size         : NULL
  ..@ hjust        : num 0.5
  ..@ vjust        : NULL
  ..@ angle        : NULL
  ..@ lineheight   : NULL
  ..@ margin       : &lt;ggplot2::margin&gt; num [1:4] 0 2.2 0 2.2
  ..@ debug        : NULL
  ..@ inherit.blank: logi TRUE
 $ axis.ticks                      : &lt;ggplot2::element_blank&gt;
 $ axis.ticks.x                    : NULL
 $ axis.ticks.x.top                : NULL
 $ axis.ticks.x.bottom             : NULL
 $ axis.ticks.y                    : NULL
 $ axis.ticks.y.left               : NULL
 $ axis.ticks.y.right              : NULL
 $ axis.ticks.theta                : NULL
 $ axis.ticks.r                    : NULL
 $ axis.minor.ticks.x.top          : NULL
 $ axis.minor.ticks.x.bottom       : NULL
 $ axis.minor.ticks.y.left         : NULL
 $ axis.minor.ticks.y.right        : NULL
 $ axis.minor.ticks.theta          : NULL
 $ axis.minor.ticks.r              : NULL
 $ axis.ticks.length               : 'rel' num 0.5
 $ axis.ticks.length.x             : NULL
 $ axis.ticks.length.x.top         : NULL
 $ axis.ticks.length.x.bottom      : NULL
 $ axis.ticks.length.y             : NULL
 $ axis.ticks.length.y.left        : NULL
 $ axis.ticks.length.y.right       : NULL
 $ axis.ticks.length.theta         : NULL
 $ axis.ticks.length.r             : NULL
 $ axis.minor.ticks.length         : 'rel' num 0.75
 $ axis.minor.ticks.length.x       : NULL
 $ axis.minor.ticks.length.x.top   : NULL
 $ axis.minor.ticks.length.x.bottom: NULL
 $ axis.minor.ticks.length.y       : NULL
 $ axis.minor.ticks.length.y.left  : NULL
 $ axis.minor.ticks.length.y.right : NULL
 $ axis.minor.ticks.length.theta   : NULL
 $ axis.minor.ticks.length.r       : NULL
 $ axis.line                       : &lt;ggplot2::element_blank&gt;
 $ axis.line.x                     : NULL
 $ axis.line.x.top                 : NULL
 $ axis.line.x.bottom              : NULL
 $ axis.line.y                     : NULL
 $ axis.line.y.left                : NULL
 $ axis.line.y.right               : NULL
 $ axis.line.theta                 : NULL
 $ axis.line.r                     : NULL
 $ legend.background               : &lt;ggplot2::element_blank&gt;
 $ legend.margin                   : NULL
 $ legend.spacing                  : 'rel' num 2
 $ legend.spacing.x                : NULL
 $ legend.spacing.y                : NULL
 $ legend.key                      : &lt;ggplot2::element_blank&gt;
 $ legend.key.size                 : 'simpleUnit' num 1.2lines
  ..- attr(*, "unit")= int 3
 $ legend.key.height               : NULL
 $ legend.key.width                : NULL
 $ legend.key.spacing              : NULL
 $ legend.key.spacing.x            : NULL
 $ legend.key.spacing.y            : NULL
 $ legend.key.justification        : NULL
 $ legend.frame                    : NULL
 $ legend.ticks                    : NULL
 $ legend.ticks.length             : 'rel' num 0.2
 $ legend.axis.line                : NULL
 $ legend.text                     : &lt;ggplot2::element_text&gt;
  ..@ family       : NULL
  ..@ face         : NULL
  ..@ italic       : chr NA
  ..@ fontweight   : num NA
  ..@ fontwidth    : num NA
  ..@ colour       : NULL
  ..@ size         : 'rel' num 0.8
  ..@ hjust        : NULL
  ..@ vjust        : NULL
  ..@ angle        : NULL
  ..@ lineheight   : NULL
  ..@ margin       : NULL
  ..@ debug        : NULL
  ..@ inherit.blank: logi TRUE
 $ legend.text.position            : NULL
 $ legend.title                    : &lt;ggplot2::element_text&gt;
  ..@ family       : NULL
  ..@ face         : NULL
  ..@ italic       : chr NA
  ..@ fontweight   : num NA
  ..@ fontwidth    : num NA
  ..@ colour       : NULL
  ..@ size         : NULL
  ..@ hjust        : num 0
  ..@ vjust        : NULL
  ..@ angle        : NULL
  ..@ lineheight   : NULL
  ..@ margin       : NULL
  ..@ debug        : NULL
  ..@ inherit.blank: logi TRUE
 $ legend.title.position           : NULL
 $ legend.position                 : chr "right"
 $ legend.position.inside          : NULL
 $ legend.direction                : NULL
 $ legend.byrow                    : NULL
 $ legend.justification            : chr "center"
 $ legend.justification.top        : NULL
 $ legend.justification.bottom     : NULL
 $ legend.justification.left       : NULL
 $ legend.justification.right      : NULL
 $ legend.justification.inside     : NULL
  [list output truncated]
 @ complete: logi TRUE
 @ validate: logi TRUE</a:t>
            </a:r>
          </a:p>
          <a:p>
            <a:pPr lvl="0" indent="0">
              <a:buNone/>
            </a:pPr>
            <a:r>
              <a:rPr>
                <a:latin typeface="Courier"/>
              </a:rPr>
              <a:t>
    Shapiro-Wilk normality test
data:  resid(violated_model)
W = 0.7246, p-value = 4.091e-05</a:t>
            </a:r>
          </a:p>
        </p:txBody>
      </p:sp>
      <p:pic>
        <p:nvPicPr>
          <p:cNvPr descr="analysis_of_variance_activity_files/figure-pptx/violated_normality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2  2.4082 0.1169
      19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the Kruskal-Wallis Test</a:t>
            </a:r>
          </a:p>
        </p:txBody>
      </p:sp>
      <p:sp>
        <p:nvSpPr>
          <p:cNvPr id="3" name="Content Placeholder 2"/>
          <p:cNvSpPr>
            <a:spLocks noGrp="1"/>
          </p:cNvSpPr>
          <p:nvPr>
            <p:ph idx="1"/>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latin typeface="Courier"/>
              </a:rPr>
              <a:t>
    Kruskal-Wallis rank sum test
data:  phase_shift by treatment
Kruskal-Wallis chi-squared = 9.4231, df = 2, p-value = 0.008991</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Kruskal-Wallis on Violated Data</a:t>
            </a:r>
          </a:p>
        </p:txBody>
      </p:sp>
      <p:sp>
        <p:nvSpPr>
          <p:cNvPr id="3" name="Content Placeholder 2"/>
          <p:cNvSpPr>
            <a:spLocks noGrp="1"/>
          </p:cNvSpPr>
          <p:nvPr>
            <p:ph idx="1"/>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latin typeface="Courier"/>
              </a:rPr>
              <a:t>
    Kruskal-Wallis rank sum test
data:  phase_shift_violated by treatment
Kruskal-Wallis chi-squared = 11.282, df = 2, p-value = 0.00355</a:t>
            </a:r>
          </a:p>
          <a:p>
            <a:pPr lvl="0" indent="0" marL="0">
              <a:buNone/>
            </a:pPr>
            <a:r>
              <a:rPr b="1"/>
              <a:t>Compare parametric ANOVA on same violated data:</a:t>
            </a:r>
          </a:p>
          <a:p>
            <a:pPr lvl="0" indent="0">
              <a:buNone/>
            </a:pPr>
            <a:r>
              <a:rPr>
                <a:latin typeface="Courier"/>
              </a:rPr>
              <a:t>Analysis of Variance Table
Response: phase_shift_violated
          Df Sum Sq Mean Sq F value  Pr(&gt;F)  
treatment  2 52.190 26.0951  5.5781 0.01242 *
Residuals 19 88.884  4.6781                  
---
Signif. codes:  0 '***' 0.001 '**' 0.01 '*' 0.05 '.' 0.1 ' ' 1</a:t>
            </a:r>
          </a:p>
          <a:p>
            <a:pPr lvl="0" indent="0" marL="0">
              <a:buNone/>
            </a:pPr>
            <a:r>
              <a:rPr b="1"/>
              <a:t>Key observations:</a:t>
            </a:r>
            <a:r>
              <a:rPr/>
              <a:t> - Both tests still detect differences - Kruskal-Wallis more robust to violations - Parametric test may give misleading results when assumptions violated - Non-parametric test maintains validity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v_circ_df$phase_shift and v_circ_df$treatment 
      Control Eyes  
Eyes  0.0037  -     
Knees 1.0000  0.0787
P value adjustment method: bonferroni </a:t>
            </a:r>
          </a:p>
          <a:p>
            <a:pPr lvl="0" indent="0" marL="0">
              <a:buNone/>
            </a:pPr>
            <a:r>
              <a:rPr b="1"/>
              <a:t>Interpretation of p-values:</a:t>
            </a:r>
            <a:r>
              <a:rPr/>
              <a:t> - Control vs Eyes: p = 0.024 (significant) - Control vs Knees: p = 1.000 (not significant) - Eyes vs Knees: p = 0.078 (not significant)</a:t>
            </a:r>
          </a:p>
          <a:p>
            <a:pPr lvl="0" indent="0" marL="0">
              <a:buNone/>
            </a:pPr>
            <a:r>
              <a:rPr b="1"/>
              <a:t>Common adjustment methods:</a:t>
            </a:r>
            <a:r>
              <a:rPr/>
              <a:t> - </a:t>
            </a:r>
            <a:r>
              <a:rPr>
                <a:latin typeface="Courier"/>
              </a:rPr>
              <a:t>"bonferroni"</a:t>
            </a:r>
            <a:r>
              <a:rPr/>
              <a:t>: Most conservative - </a:t>
            </a:r>
            <a:r>
              <a:rPr>
                <a:latin typeface="Courier"/>
              </a:rPr>
              <a:t>"holm"</a:t>
            </a:r>
            <a:r>
              <a:rPr/>
              <a:t>: Less conservative than Bonferroni - </a:t>
            </a:r>
            <a:r>
              <a:rPr>
                <a:latin typeface="Courier"/>
              </a:rPr>
              <a:t>"BH"</a:t>
            </a:r>
            <a:r>
              <a:rPr/>
              <a:t>: Benjamini-Hochberg (controls false discovery rate) -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latin typeface="Courier"/>
              </a:rPr>
              <a:t>
    Pairwise comparisons using Wilcoxon rank sum exact test 
data:  v_circ_df$phase_shift_violated and v_circ_df$treatment 
      Control Eyes   
Eyes  0.00093 -      
Knees 1.00000 0.05245
P value adjustment method: bonferroni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 of Dunn’s test:</a:t>
            </a:r>
            <a:r>
              <a:rPr/>
              <a:t> - Designed specifically for Kruskal-Wallis - Provides Z-statistics in addition to p-values - Multiple adjustment methods available - More appropriate than multiple Wilcoxon tests</a:t>
            </a:r>
          </a:p>
          <a:p>
            <a:pPr lvl="0" indent="0" marL="0">
              <a:buNone/>
            </a:pPr>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latin typeface="Courier"/>
              </a:rPr>
              <a:t>       Comparison          Z     P.unadj       P.adj
1  Control - Eyes  3.2411980 0.001190285 0.003570855
2 Control - Knees  0.7332546 0.463403147 1.000000000
3    Eyes - Knees -2.4283057 0.015169551 0.045508653</a:t>
            </a:r>
          </a:p>
          <a:p>
            <a:pPr lvl="0" indent="0" marL="0">
              <a:buNone/>
            </a:pPr>
            <a:r>
              <a:rPr b="1"/>
              <a:t>Interpreting Z-statistics:</a:t>
            </a:r>
            <a:r>
              <a:rPr/>
              <a:t> - Large |Z| values indicate bigger differences - Z &gt; 1.96 approximately equivalent to p &lt; 0.05 - Sign indicates direction of difference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Which post F test to use?</a:t>
            </a:r>
          </a:p>
        </p:txBody>
      </p:sp>
      <p:sp>
        <p:nvSpPr>
          <p:cNvPr id="3" name="Content Placeholder 2"/>
          <p:cNvSpPr>
            <a:spLocks noGrp="1"/>
          </p:cNvSpPr>
          <p:nvPr>
            <p:ph idx="1"/>
          </p:nvPr>
        </p:nvSpPr>
        <p:spPr/>
        <p:txBody>
          <a:bodyPr/>
          <a:lstStyle/>
          <a:p>
            <a:pPr lvl="0"/>
            <a:r>
              <a:rPr/>
              <a:t>Wilcoxon Rank-Sum Test (Mann-Whitney U)</a:t>
            </a:r>
          </a:p>
          <a:p>
            <a:pPr lvl="1"/>
            <a:r>
              <a:rPr/>
              <a:t>What it does: Pairwise comparisons between two groups at a time</a:t>
            </a:r>
          </a:p>
          <a:p>
            <a:pPr lvl="1"/>
            <a:r>
              <a:rPr/>
              <a:t>Ranking: Re-ranks data separately for each pair of groups being compared</a:t>
            </a:r>
          </a:p>
          <a:p>
            <a:pPr lvl="1"/>
            <a:r>
              <a:rPr/>
              <a:t>Use case: When you want simple pairwise comparisons</a:t>
            </a:r>
          </a:p>
          <a:p>
            <a:pPr lvl="1"/>
            <a:r>
              <a:rPr/>
              <a:t>Correction: Typically uses Bonferroni or other p-value adjustments</a:t>
            </a:r>
          </a:p>
          <a:p>
            <a:pPr lvl="1"/>
            <a:r>
              <a:rPr/>
              <a:t>Code: pairwise.wilcox.test()</a:t>
            </a:r>
          </a:p>
          <a:p>
            <a:pPr lvl="2"/>
            <a:r>
              <a:rPr>
                <a:latin typeface="Courier"/>
              </a:rPr>
              <a:t>rpairwise.wilcox.test(v_circ_df$phase_shift_violated,                   v_circ_df$treatment,                  p.adjust.method = "bonferroni")</a:t>
            </a:r>
          </a:p>
          <a:p>
            <a:pPr lvl="0"/>
            <a:r>
              <a:rPr/>
              <a:t>Dunn’s Test</a:t>
            </a:r>
          </a:p>
          <a:p>
            <a:pPr lvl="1"/>
            <a:r>
              <a:rPr/>
              <a:t>What it does: Pairwise comparisons specifically designed for Kruskal-Wallis</a:t>
            </a:r>
          </a:p>
          <a:p>
            <a:pPr lvl="1"/>
            <a:r>
              <a:rPr/>
              <a:t>Ranking: Uses the same overall ranking from the original Kruskal-Wallis test</a:t>
            </a:r>
          </a:p>
          <a:p>
            <a:pPr lvl="1"/>
            <a:r>
              <a:rPr/>
              <a:t>Use case: The “official” post-hoc for Kruskal-Wallis</a:t>
            </a:r>
          </a:p>
          <a:p>
            <a:pPr lvl="1"/>
            <a:r>
              <a:rPr/>
              <a:t>Correction: Multiple options (Bonferroni, Holm, BH, etc.)</a:t>
            </a:r>
          </a:p>
          <a:p>
            <a:pPr lvl="1"/>
            <a:r>
              <a:rPr/>
              <a:t>Code: Requires dunn.test or FSA package</a:t>
            </a:r>
          </a:p>
          <a:p>
            <a:pPr lvl="1"/>
            <a:r>
              <a:rPr>
                <a:latin typeface="Courier"/>
              </a:rPr>
              <a:t>rlibrary(FSA) dunnTest(phase_shift_violated ~ treatment,         data = v_circ_df,        method = "bonferroni")</a:t>
            </a:r>
          </a:p>
          <a:p>
            <a:pPr lvl="0"/>
            <a:r>
              <a:rPr/>
              <a:t>Which to use?</a:t>
            </a:r>
          </a:p>
          <a:p>
            <a:pPr lvl="1"/>
            <a:r>
              <a:rPr/>
              <a:t>Use Dunn’s test because:</a:t>
            </a:r>
          </a:p>
          <a:p>
            <a:pPr lvl="2"/>
            <a:r>
              <a:rPr/>
              <a:t>✅ It’s the proper follow-up to Kruskal-Wallis</a:t>
            </a:r>
          </a:p>
          <a:p>
            <a:pPr lvl="2"/>
            <a:r>
              <a:rPr/>
              <a:t>✅ Maintains consistency with the overall K-W test ranking</a:t>
            </a:r>
          </a:p>
          <a:p>
            <a:pPr lvl="2"/>
            <a:r>
              <a:rPr/>
              <a:t>✅ More statistically appropriate for the omnibus test you ran</a:t>
            </a:r>
          </a:p>
          <a:p>
            <a:pPr lvl="2"/>
            <a:r>
              <a:rPr/>
              <a:t>✅ Standard in published research</a:t>
            </a:r>
          </a:p>
          <a:p>
            <a:pPr lvl="1"/>
            <a:r>
              <a:rPr/>
              <a:t>Wilcoxon is fine for simple two-group comparisons, but when you’ve already done Kruskal-Wallis (a 3+ group test), - Dunn’s is the standard choice.</a:t>
            </a:r>
          </a:p>
          <a:p>
            <a:pPr lvl="1"/>
            <a:r>
              <a:rPr/>
              <a:t>Think of it this way: Kruskal-Wallis ranks ALL your data once.</a:t>
            </a:r>
          </a:p>
          <a:p>
            <a:pPr lvl="1"/>
            <a:r>
              <a:rPr/>
              <a:t>Dunn’s test uses those same ranks. Wilcoxon throws away that information and re-ranks for each pair.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ANOVA in Class</dc:title>
  <dc:creator>Bill Perry</dc:creator>
  <cp:keywords/>
  <dc:description>Hands-on activity: one-way analysis of variance.</dc:description>
  <dcterms:created xsi:type="dcterms:W3CDTF">2026-07-06T01:01:00Z</dcterms:created>
  <dcterms:modified xsi:type="dcterms:W3CDTF">2026-07-06T01:01:00Z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11</vt:lpwstr>
  </property>
  <property fmtid="{D5CDD505-2E9C-101B-9397-08002B2CF9AE}" pid="11" name="resources">
    <vt:lpwstr/>
  </property>
  <property fmtid="{D5CDD505-2E9C-101B-9397-08002B2CF9AE}" pid="12" name="subtitle">
    <vt:lpwstr>One-way ANOVA</vt:lpwstr>
  </property>
  <property fmtid="{D5CDD505-2E9C-101B-9397-08002B2CF9AE}" pid="13" name="toc-title">
    <vt:lpwstr>Table of contents</vt:lpwstr>
  </property>
  <property fmtid="{D5CDD505-2E9C-101B-9397-08002B2CF9AE}" pid="14" name="week">
    <vt:lpwstr>6</vt:lpwstr>
  </property>
</Properties>
</file>