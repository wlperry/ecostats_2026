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76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4" Type="http://schemas.openxmlformats.org/officeDocument/2006/relationships/viewProps" Target="viewProps.xml" /><Relationship Id="rId1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6" Type="http://schemas.openxmlformats.org/officeDocument/2006/relationships/tableStyles" Target="tableStyles.xml" /><Relationship Id="rId1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>
            <a:normAutofit/>
          </a:bodyPr>
          <a:lstStyle>
            <a:lvl1pPr marL="230188" indent="-230188">
              <a:tabLst/>
              <a:defRPr sz="1800"/>
            </a:lvl1pPr>
            <a:lvl2pPr marL="514350" indent="-284163">
              <a:spcBef>
                <a:spcPts val="0"/>
              </a:spcBef>
              <a:tabLst/>
              <a:defRPr sz="1600"/>
            </a:lvl2pPr>
            <a:lvl3pPr marL="692150" indent="-177800">
              <a:spcBef>
                <a:spcPts val="0"/>
              </a:spcBef>
              <a:tabLst/>
              <a:defRPr sz="1400"/>
            </a:lvl3pPr>
            <a:lvl4pPr marL="914400" indent="-222250">
              <a:spcBef>
                <a:spcPts val="0"/>
              </a:spcBef>
              <a:tabLst/>
              <a:defRPr sz="1400"/>
            </a:lvl4pPr>
            <a:lvl5pPr marL="1146175" indent="-231775">
              <a:spcBef>
                <a:spcPts val="0"/>
              </a:spcBef>
              <a:tabLst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>
            <a:lvl1pPr algn="l">
              <a:defRPr b="0">
                <a:solidFill>
                  <a:srgbClr val="FDCC3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0" y="662663"/>
            <a:ext cx="6010759" cy="4480837"/>
          </a:xfrm>
        </p:spPr>
        <p:txBody>
          <a:bodyPr>
            <a:normAutofit/>
          </a:bodyPr>
          <a:lstStyle>
            <a:lvl1pPr marL="230188" indent="-230188">
              <a:tabLst/>
              <a:defRPr sz="1800"/>
            </a:lvl1pPr>
            <a:lvl2pPr marL="460375" indent="-230188">
              <a:tabLst/>
              <a:defRPr sz="1600"/>
            </a:lvl2pPr>
            <a:lvl3pPr marL="630238" indent="-169863">
              <a:tabLst/>
              <a:defRPr sz="1400"/>
            </a:lvl3pPr>
            <a:lvl4pPr marL="914400" indent="-284163">
              <a:tabLst/>
              <a:defRPr sz="1400"/>
            </a:lvl4pPr>
            <a:lvl5pPr marL="1146175" indent="-231775">
              <a:tabLst/>
              <a:defRPr sz="14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9580" y="662664"/>
            <a:ext cx="2790986" cy="4480836"/>
          </a:xfrm>
        </p:spPr>
        <p:txBody>
          <a:bodyPr>
            <a:normAutofit/>
          </a:bodyPr>
          <a:lstStyle>
            <a:lvl1pPr marL="342900" indent="-34290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6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6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60804"/>
            <a:ext cx="5238426" cy="38064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70121D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DCC3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b="0"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16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6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6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6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2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3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ANOVA as Regression with Dummy Variables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Supplement</a:t>
            </a:r>
            <a:br/>
            <a:br/>
            <a:r>
              <a:rPr/>
              <a:t>Bill Perry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document demonstrates how Analysis of Variance (ANOVA) is mathematically equivalent to a regression model with dummy variables using an example with R code and visualizations.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Setup and Data Creation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Let’s begin by loading necessary packages and creating a dataframe about plant heights with three different fertilizer treatments.</a:t>
            </a:r>
          </a:p>
        </p:txBody>
      </p:sp>
      <p:graphicFrame xmlns:a="http://schemas.openxmlformats.org/drawingml/2006/main" xmlns:r="http://schemas.openxmlformats.org/officeDocument/2006/relationships" xmlns:p="http://schemas.openxmlformats.org/presentationml/2006/main">
        <p:nvGraphicFramePr>
          <p:cNvPr id="263832832" name=""/>
          <p:cNvGraphicFramePr>
            <a:graphicFrameLocks noGrp="true"/>
          </p:cNvGraphicFramePr>
          <p:nvPr/>
        </p:nvGraphicFramePr>
        <p:xfrm rot="0">
          <a:off x="914400" y="1828800"/>
          <a:ext cx="9144000" cy="5486400"/>
        </p:xfrm>
        <a:graphic>
          <a:graphicData uri="http://schemas.openxmlformats.org/drawingml/2006/table">
            <a:tbl>
              <a:tblPr/>
              <a:tblGrid>
                <a:gridCol w="804225"/>
                <a:gridCol w="679805"/>
              </a:tblGrid>
            </a:tbl>
          </a:graphicData>
        </a:graphic>
      </p:graphicFrame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Calculating Group Means (ANOVA Approach)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 ANOVA, we calculate the mean of each group and compare variation between groups to variation within groups.</a:t>
            </a:r>
          </a:p>
        </p:txBody>
      </p:sp>
      <p:graphicFrame xmlns:a="http://schemas.openxmlformats.org/drawingml/2006/main" xmlns:r="http://schemas.openxmlformats.org/officeDocument/2006/relationships" xmlns:p="http://schemas.openxmlformats.org/presentationml/2006/main">
        <p:nvGraphicFramePr>
          <p:cNvPr id="871969763" name=""/>
          <p:cNvGraphicFramePr>
            <a:graphicFrameLocks noGrp="true"/>
          </p:cNvGraphicFramePr>
          <p:nvPr/>
        </p:nvGraphicFramePr>
        <p:xfrm rot="0">
          <a:off x="914400" y="1828800"/>
          <a:ext cx="9144000" cy="5486400"/>
        </p:xfrm>
        <a:graphic>
          <a:graphicData uri="http://schemas.openxmlformats.org/drawingml/2006/table">
            <a:tbl>
              <a:tblPr/>
              <a:tblGrid>
                <a:gridCol w="804225"/>
                <a:gridCol w="1122439"/>
              </a:tblGrid>
              <a:tr h="40513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fertilizer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mean_height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842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A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5605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B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16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00367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C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Let’s visualize the raw data and group means:</a:t>
            </a:r>
          </a:p>
        </p:txBody>
      </p:sp>
      <p:pic>
        <p:nvPicPr>
          <p:cNvPr descr="anova_as_regression_files/figure-pptx/plot-raw-data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657600" y="1244600"/>
            <a:ext cx="5232400" cy="3225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Running the ANOVA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            Df Sum Sq Mean Sq F value Pr(&gt;F)   
fertilizer   2    216     108      27  0.001 **
Residuals    6     24       4                  
---
Signif. codes:  0 '***' 0.001 '**' 0.01 '*' 0.05 '.' 0.1 ' ' 1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Regression with Dummy 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For the regression approach, we’ll create dummy variables for fertilizer types, using fertilizer A as the reference level.</a:t>
            </a:r>
          </a:p>
          <a:p>
            <a:pPr lvl="0" indent="0">
              <a:buNone/>
            </a:pPr>
            <a:r>
              <a:rPr>
                <a:latin typeface="Courier"/>
              </a:rPr>
              <a:t>
Call:
lm(formula = height ~ fertilizer, data = fertilizer_data)
Residuals:
   Min     1Q Median     3Q    Max 
    -2     -2      0      2      2 
Coefficients:
            Estimate Std. Error t value Pr(&gt;|t|)    
(Intercept)   10.000      1.155   8.660 0.000131 ***
fertilizerB    6.000      1.633   3.674 0.010402 *  
fertilizerC   12.000      1.633   7.348 0.000325 ***
---
Signif. codes:  0 '***' 0.001 '**' 0.01 '*' 0.05 '.' 0.1 ' ' 1
Residual standard error: 2 on 6 degrees of freedom
Multiple R-squared:    0.9, Adjusted R-squared:  0.8667 
F-statistic:    27 on 2 and 6 DF,  p-value: 0.001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Understanding the Regression Coefficients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 our regression model:</a:t>
            </a:r>
          </a:p>
          <a:p>
            <a:pPr lvl="0"/>
            <a:r>
              <a:rPr/>
              <a:t>The intercept (10) is equal to the mean of the reference group (A)</a:t>
            </a:r>
          </a:p>
          <a:p>
            <a:pPr lvl="0"/>
            <a:r>
              <a:rPr/>
              <a:t>The coefficient for fertilizer B (6) is the difference between mean of group B and mean of group A</a:t>
            </a:r>
          </a:p>
          <a:p>
            <a:pPr lvl="0"/>
            <a:r>
              <a:rPr/>
              <a:t>The coefficient for fertilizer C (12) is the difference between mean of group C and mean of group A</a:t>
            </a:r>
          </a:p>
        </p:txBody>
      </p:sp>
      <p:graphicFrame xmlns:a="http://schemas.openxmlformats.org/drawingml/2006/main" xmlns:r="http://schemas.openxmlformats.org/officeDocument/2006/relationships" xmlns:p="http://schemas.openxmlformats.org/presentationml/2006/main">
        <p:nvGraphicFramePr>
          <p:cNvPr id="95619347" name=""/>
          <p:cNvGraphicFramePr>
            <a:graphicFrameLocks noGrp="true"/>
          </p:cNvGraphicFramePr>
          <p:nvPr/>
        </p:nvGraphicFramePr>
        <p:xfrm rot="0">
          <a:off x="914400" y="1828800"/>
          <a:ext cx="9144000" cy="5486400"/>
        </p:xfrm>
        <a:graphic>
          <a:graphicData uri="http://schemas.openxmlformats.org/drawingml/2006/table">
            <a:tbl>
              <a:tblPr/>
              <a:tblGrid>
                <a:gridCol w="685800"/>
                <a:gridCol w="685800"/>
                <a:gridCol w="685800"/>
                <a:gridCol w="685800"/>
                <a:gridCol w="685800"/>
              </a:tblGrid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Term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Coefficient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Meaning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Mathematical_Expression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Numeric_Value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Intercept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10.00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Mean of Group A (reference group)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β₀ = μA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fertilizerB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6.00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Difference between Group B and Group A means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β₁ = μB - μA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16 - 10 = 6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fertilizerC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12.00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Difference between Group C and Group A means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β₂ = μC - μA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22 - 10 = 12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Let’s visualize these coefficients:</a:t>
            </a:r>
          </a:p>
        </p:txBody>
      </p:sp>
      <p:pic>
        <p:nvPicPr>
          <p:cNvPr descr="anova_as_regression_files/figure-pptx/plot-coefficients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657600" y="1244600"/>
            <a:ext cx="5232400" cy="3225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Demonstrating the Equivalence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Now, let’s prove that the regression model predictions are identical to the ANOVA group means:</a:t>
            </a:r>
          </a:p>
          <a:p>
            <a:pPr lvl="0" indent="0" marL="0">
              <a:buNone/>
            </a:pPr>
            <a:r>
              <a:rPr/>
              <a:t>Let’s visualize this equivalence:</a:t>
            </a:r>
          </a:p>
        </p:txBody>
      </p:sp>
      <p:pic>
        <p:nvPicPr>
          <p:cNvPr descr="anova_as_regression_files/figure-pptx/equivalence-plo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657600" y="1244600"/>
            <a:ext cx="5232400" cy="3225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Comparing Statistical Tests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Both ANOVA and regression provide an F-test. Let’s compare them:</a:t>
            </a:r>
          </a:p>
        </p:txBody>
      </p:sp>
      <p:graphicFrame xmlns:a="http://schemas.openxmlformats.org/drawingml/2006/main" xmlns:r="http://schemas.openxmlformats.org/officeDocument/2006/relationships" xmlns:p="http://schemas.openxmlformats.org/presentationml/2006/main">
        <p:nvGraphicFramePr>
          <p:cNvPr id="389767074" name=""/>
          <p:cNvGraphicFramePr>
            <a:graphicFrameLocks noGrp="true"/>
          </p:cNvGraphicFramePr>
          <p:nvPr/>
        </p:nvGraphicFramePr>
        <p:xfrm rot="0">
          <a:off x="914400" y="1828800"/>
          <a:ext cx="9144000" cy="5486400"/>
        </p:xfrm>
        <a:graphic>
          <a:graphicData uri="http://schemas.openxmlformats.org/drawingml/2006/table">
            <a:tbl>
              <a:tblPr/>
              <a:tblGrid>
                <a:gridCol w="1363230"/>
                <a:gridCol w="749860"/>
                <a:gridCol w="749860"/>
              </a:tblGrid>
              <a:tr h="40513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Test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F-value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p-value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842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ANOVA F-test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27.0000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0.0010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00367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Regression F-test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27.0000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0.0010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The Mathematical Relationship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For a one-way ANOVA with a categorical variable having </a:t>
                </a:r>
                <a:r>
                  <a:rPr>
                    <a:latin typeface="Courier"/>
                  </a:rPr>
                  <a:t>k</a:t>
                </a:r>
                <a:r>
                  <a:rPr/>
                  <a:t> levels, we can express the relationship with regression as: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Y</m:t>
                      </m:r>
                      <m:r>
                        <m:rPr>
                          <m:sty m:val="p"/>
                        </m:rPr>
                        <m:t>=</m:t>
                      </m:r>
                      <m:sSub>
                        <m:e>
                          <m:r>
                            <m:t>β</m:t>
                          </m:r>
                        </m:e>
                        <m:sub>
                          <m:r>
                            <m:t>0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β</m:t>
                          </m:r>
                        </m:e>
                        <m:sub>
                          <m:r>
                            <m:t>1</m:t>
                          </m:r>
                        </m:sub>
                      </m:sSub>
                      <m:sSub>
                        <m:e>
                          <m:r>
                            <m:t>X</m:t>
                          </m:r>
                        </m:e>
                        <m:sub>
                          <m: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β</m:t>
                          </m:r>
                        </m:e>
                        <m:sub>
                          <m:r>
                            <m:t>2</m:t>
                          </m:r>
                        </m:sub>
                      </m:sSub>
                      <m:sSub>
                        <m:e>
                          <m:r>
                            <m:t>X</m:t>
                          </m:r>
                        </m:e>
                        <m:sub>
                          <m: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r>
                        <m:rPr>
                          <m:sty m:val="p"/>
                        </m:rPr>
                        <m:t>.</m:t>
                      </m:r>
                      <m:r>
                        <m:rPr>
                          <m:sty m:val="p"/>
                        </m:rPr>
                        <m:t>.</m:t>
                      </m:r>
                      <m:r>
                        <m:rPr>
                          <m:sty m:val="p"/>
                        </m:rPr>
                        <m:t>.</m:t>
                      </m:r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β</m:t>
                          </m:r>
                        </m:e>
                        <m:sub>
                          <m:r>
                            <m:t>k</m:t>
                          </m:r>
                          <m:r>
                            <m:rPr>
                              <m:sty m:val="p"/>
                            </m:rPr>
                            <m:t>−</m:t>
                          </m:r>
                          <m:r>
                            <m:t>1</m:t>
                          </m:r>
                        </m:sub>
                      </m:sSub>
                      <m:sSub>
                        <m:e>
                          <m:r>
                            <m:t>X</m:t>
                          </m:r>
                        </m:e>
                        <m:sub>
                          <m:r>
                            <m:t>k</m:t>
                          </m:r>
                          <m:r>
                            <m:rPr>
                              <m:sty m:val="p"/>
                            </m:rPr>
                            <m:t>−</m:t>
                          </m:r>
                          <m: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r>
                        <m:t>ϵ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Where: - </a:t>
                </a:r>
                <a14:m>
                  <m:oMath xmlns:m="http://schemas.openxmlformats.org/officeDocument/2006/math">
                    <m:sSub>
                      <m:e>
                        <m:r>
                          <m:t>β</m:t>
                        </m:r>
                      </m:e>
                      <m:sub>
                        <m:r>
                          <m:t>0</m:t>
                        </m:r>
                      </m:sub>
                    </m:sSub>
                  </m:oMath>
                </a14:m>
                <a:r>
                  <a:rPr/>
                  <a:t> is the mean of the reference group - </a:t>
                </a:r>
                <a14:m>
                  <m:oMath xmlns:m="http://schemas.openxmlformats.org/officeDocument/2006/math">
                    <m:sSub>
                      <m:e>
                        <m:r>
                          <m:t>β</m:t>
                        </m:r>
                      </m:e>
                      <m:sub>
                        <m: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m:t>,</m:t>
                    </m:r>
                    <m:sSub>
                      <m:e>
                        <m:r>
                          <m:t>β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m:t>,</m:t>
                    </m:r>
                    <m:r>
                      <m:rPr>
                        <m:sty m:val="p"/>
                      </m:rPr>
                      <m:t>.</m:t>
                    </m:r>
                    <m:r>
                      <m:rPr>
                        <m:sty m:val="p"/>
                      </m:rPr>
                      <m:t>.</m:t>
                    </m:r>
                    <m:r>
                      <m:rPr>
                        <m:sty m:val="p"/>
                      </m:rPr>
                      <m:t>.</m:t>
                    </m:r>
                    <m:r>
                      <m:rPr>
                        <m:sty m:val="p"/>
                      </m:rPr>
                      <m:t>,</m:t>
                    </m:r>
                    <m:sSub>
                      <m:e>
                        <m:r>
                          <m:t>β</m:t>
                        </m:r>
                      </m:e>
                      <m:sub>
                        <m:r>
                          <m:t>k</m:t>
                        </m:r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b>
                    </m:sSub>
                  </m:oMath>
                </a14:m>
                <a:r>
                  <a:rPr/>
                  <a:t> are the differences between each group’s mean and the reference group mean - </a:t>
                </a:r>
                <a14:m>
                  <m:oMath xmlns:m="http://schemas.openxmlformats.org/officeDocument/2006/math">
                    <m:sSub>
                      <m:e>
                        <m:r>
                          <m:t>X</m:t>
                        </m:r>
                      </m:e>
                      <m:sub>
                        <m: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m:t>,</m:t>
                    </m:r>
                    <m:sSub>
                      <m:e>
                        <m:r>
                          <m:t>X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m:t>,</m:t>
                    </m:r>
                    <m:r>
                      <m:rPr>
                        <m:sty m:val="p"/>
                      </m:rPr>
                      <m:t>.</m:t>
                    </m:r>
                    <m:r>
                      <m:rPr>
                        <m:sty m:val="p"/>
                      </m:rPr>
                      <m:t>.</m:t>
                    </m:r>
                    <m:r>
                      <m:rPr>
                        <m:sty m:val="p"/>
                      </m:rPr>
                      <m:t>.</m:t>
                    </m:r>
                    <m:r>
                      <m:rPr>
                        <m:sty m:val="p"/>
                      </m:rPr>
                      <m:t>,</m:t>
                    </m:r>
                    <m:sSub>
                      <m:e>
                        <m:r>
                          <m:t>X</m:t>
                        </m:r>
                      </m:e>
                      <m:sub>
                        <m:r>
                          <m:t>k</m:t>
                        </m:r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b>
                    </m:sSub>
                  </m:oMath>
                </a14:m>
                <a:r>
                  <a:rPr/>
                  <a:t> are dummy variables (0 or 1)</a:t>
                </a:r>
              </a:p>
              <a:p>
                <a:pPr lvl="0" indent="0" marL="0">
                  <a:buNone/>
                </a:pPr>
                <a:r>
                  <a:rPr/>
                  <a:t>In our example: - </a:t>
                </a:r>
                <a14:m>
                  <m:oMath xmlns:m="http://schemas.openxmlformats.org/officeDocument/2006/math">
                    <m:sSub>
                      <m:e>
                        <m:r>
                          <m:t>β</m:t>
                        </m:r>
                      </m:e>
                      <m:sub>
                        <m: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r>
                      <m:t>10</m:t>
                    </m:r>
                  </m:oMath>
                </a14:m>
                <a:r>
                  <a:rPr/>
                  <a:t> (mean of group A) - </a:t>
                </a:r>
                <a14:m>
                  <m:oMath xmlns:m="http://schemas.openxmlformats.org/officeDocument/2006/math">
                    <m:sSub>
                      <m:e>
                        <m:r>
                          <m:t>β</m:t>
                        </m:r>
                      </m:e>
                      <m:sub>
                        <m: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r>
                      <m:t>6</m:t>
                    </m:r>
                  </m:oMath>
                </a14:m>
                <a:r>
                  <a:rPr/>
                  <a:t> (difference between B and A) - </a:t>
                </a:r>
                <a14:m>
                  <m:oMath xmlns:m="http://schemas.openxmlformats.org/officeDocument/2006/math">
                    <m:sSub>
                      <m:e>
                        <m:r>
                          <m:t>β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r>
                      <m:t>12</m:t>
                    </m:r>
                  </m:oMath>
                </a14:m>
                <a:r>
                  <a:rPr/>
                  <a:t> (difference between C and A)</a:t>
                </a:r>
              </a:p>
            </p:txBody>
          </p:sp>
        </mc:Choice>
      </mc:AlternateContent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demonstration shows that one-way ANOVA is mathematically equivalent to regression with dummy variables. The key equivalences are:</a:t>
            </a:r>
          </a:p>
          <a:p>
            <a:pPr lvl="0" indent="-342900" marL="342900">
              <a:buAutoNum type="arabicPeriod"/>
            </a:pPr>
            <a:r>
              <a:rPr/>
              <a:t>ANOVA group means = Regression predictions for each group</a:t>
            </a:r>
          </a:p>
          <a:p>
            <a:pPr lvl="0" indent="-342900" marL="342900">
              <a:buAutoNum type="arabicPeriod"/>
            </a:pPr>
            <a:r>
              <a:rPr/>
              <a:t>F-statistic from ANOVA = F-statistic from regression</a:t>
            </a:r>
          </a:p>
          <a:p>
            <a:pPr lvl="0" indent="-342900" marL="342900">
              <a:buAutoNum type="arabicPeriod"/>
            </a:pPr>
            <a:r>
              <a:rPr/>
              <a:t>p-values are identical in both approaches</a:t>
            </a:r>
          </a:p>
          <a:p>
            <a:pPr lvl="0" indent="0" marL="0">
              <a:buNone/>
            </a:pPr>
            <a:r>
              <a:rPr/>
              <a:t>This confirms that both techniques are special cases of the General Linear Model, just expressed in different ways. For a categorical predictor with </a:t>
            </a:r>
            <a:r>
              <a:rPr>
                <a:latin typeface="Courier"/>
              </a:rPr>
              <a:t>k</a:t>
            </a:r>
            <a:r>
              <a:rPr/>
              <a:t> levels, we need </a:t>
            </a:r>
            <a:r>
              <a:rPr>
                <a:latin typeface="Courier"/>
              </a:rPr>
              <a:t>k-1</a:t>
            </a:r>
            <a:r>
              <a:rPr/>
              <a:t> dummy variables in the regression approach, with one level serving as the reference category.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ANOVA as Regression with Dummy Variables</dc:title>
  <dc:creator>Bill Perry</dc:creator>
  <cp:keywords/>
  <dc:description>How one-way ANOVA is equivalent to a regression with dummy variables.</dc:description>
  <dcterms:created xsi:type="dcterms:W3CDTF">2026-08-20T19:20:10Z</dcterms:created>
  <dcterms:modified xsi:type="dcterms:W3CDTF">2026-08-20T19:20:10Z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categories">
    <vt:lpwstr/>
  </property>
  <property fmtid="{D5CDD505-2E9C-101B-9397-08002B2CF9AE}" pid="6" name="header-includes">
    <vt:lpwstr/>
  </property>
  <property fmtid="{D5CDD505-2E9C-101B-9397-08002B2CF9AE}" pid="7" name="include-after">
    <vt:lpwstr/>
  </property>
  <property fmtid="{D5CDD505-2E9C-101B-9397-08002B2CF9AE}" pid="8" name="include-before">
    <vt:lpwstr/>
  </property>
  <property fmtid="{D5CDD505-2E9C-101B-9397-08002B2CF9AE}" pid="9" name="labels">
    <vt:lpwstr/>
  </property>
  <property fmtid="{D5CDD505-2E9C-101B-9397-08002B2CF9AE}" pid="10" name="order">
    <vt:lpwstr>11</vt:lpwstr>
  </property>
  <property fmtid="{D5CDD505-2E9C-101B-9397-08002B2CF9AE}" pid="11" name="resources">
    <vt:lpwstr/>
  </property>
  <property fmtid="{D5CDD505-2E9C-101B-9397-08002B2CF9AE}" pid="12" name="subtitle">
    <vt:lpwstr>Supplement</vt:lpwstr>
  </property>
  <property fmtid="{D5CDD505-2E9C-101B-9397-08002B2CF9AE}" pid="13" name="toc-title">
    <vt:lpwstr>Table of contents</vt:lpwstr>
  </property>
  <property fmtid="{D5CDD505-2E9C-101B-9397-08002B2CF9AE}" pid="14" name="week">
    <vt:lpwstr>6</vt:lpwstr>
  </property>
</Properties>
</file>