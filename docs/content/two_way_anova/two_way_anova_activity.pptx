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Two-Way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Factorial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Two-Way (Factorial) ANOVA</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runs the same species × sex factorial ANOVA on penguin body mass </a:t>
            </a:r>
            <a:r>
              <a:rPr sz="2000" b="1"/>
              <a:t>twice</a:t>
            </a:r>
            <a:r>
              <a:rPr sz="2000"/>
              <a:t> — once on a balanced subsample, once on the full, naturally unbalanced dataset — so you can see directly how imbalance changes the analysis.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Data</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(palmerpenguins) </a:t>
            </a:r>
            <a:r>
              <a:rPr>
                <a:solidFill>
                  <a:srgbClr val="5E5E5E"/>
                </a:solidFill>
                <a:latin typeface="Courier"/>
              </a:rPr>
              <a:t># has the data for penguins and they are cute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r>
              <a:rPr>
                <a:solidFill>
                  <a:srgbClr val="4758AB"/>
                </a:solidFill>
                <a:latin typeface="Courier"/>
              </a:rPr>
              <a:t>library</a:t>
            </a:r>
            <a:r>
              <a:rPr>
                <a:solidFill>
                  <a:srgbClr val="003B4F"/>
                </a:solidFill>
                <a:latin typeface="Courier"/>
              </a:rPr>
              <a:t>(tidyverse)</a:t>
            </a:r>
            <a:br/>
            <a:br/>
            <a:r>
              <a:rPr>
                <a:solidFill>
                  <a:srgbClr val="4758AB"/>
                </a:solidFill>
                <a:latin typeface="Courier"/>
              </a:rPr>
              <a:t>theme_set</a:t>
            </a:r>
            <a:r>
              <a:rPr>
                <a:solidFill>
                  <a:srgbClr val="003B4F"/>
                </a:solidFill>
                <a:latin typeface="Courier"/>
              </a:rPr>
              <a:t>(</a:t>
            </a:r>
            <a:r>
              <a:rPr>
                <a:solidFill>
                  <a:srgbClr val="4758AB"/>
                </a:solidFill>
                <a:latin typeface="Courier"/>
              </a:rPr>
              <a:t>theme_light</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003B4F"/>
                </a:solidFill>
                <a:latin typeface="Courier"/>
              </a:rPr>
              <a:t>p_df &lt;- penguins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657422"/>
                </a:solidFill>
                <a:latin typeface="Courier"/>
              </a:rPr>
              <a:t>spp =</a:t>
            </a:r>
            <a:r>
              <a:rPr>
                <a:solidFill>
                  <a:srgbClr val="003B4F"/>
                </a:solidFill>
                <a:latin typeface="Courier"/>
              </a:rPr>
              <a:t> species, sex, body_mass_g)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mass_g =</a:t>
            </a:r>
            <a:r>
              <a:rPr>
                <a:solidFill>
                  <a:srgbClr val="003B4F"/>
                </a:solidFill>
                <a:latin typeface="Courier"/>
              </a:rPr>
              <a:t> body_mass_g)</a:t>
            </a:r>
            <a:br/>
            <a:r>
              <a:rPr>
                <a:solidFill>
                  <a:srgbClr val="4758AB"/>
                </a:solidFill>
                <a:latin typeface="Courier"/>
              </a:rPr>
              <a:t>head</a:t>
            </a:r>
            <a:r>
              <a:rPr>
                <a:solidFill>
                  <a:srgbClr val="003B4F"/>
                </a:solidFill>
                <a:latin typeface="Courier"/>
              </a:rPr>
              <a:t>(p_df)</a:t>
            </a:r>
          </a:p>
          <a:p>
            <a:pPr lvl="0" indent="0" marL="0">
              <a:buNone/>
            </a:pPr>
            <a:r>
              <a:rPr b="1"/>
              <a:t>▶ Run this</a:t>
            </a:r>
            <a:r>
              <a:rPr/>
              <a:t> — check for and remove missing values:</a:t>
            </a:r>
          </a:p>
          <a:p>
            <a:pPr lvl="0" indent="0">
              <a:buNone/>
            </a:pP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summarise_all</a:t>
            </a:r>
            <a:r>
              <a:rPr>
                <a:solidFill>
                  <a:srgbClr val="003B4F"/>
                </a:solidFill>
                <a:latin typeface="Courier"/>
              </a:rPr>
              <a:t>(</a:t>
            </a:r>
            <a:r>
              <a:rPr>
                <a:solidFill>
                  <a:srgbClr val="5E5E5E"/>
                </a:solidFill>
                <a:latin typeface="Courier"/>
              </a:rPr>
              <a:t>~</a:t>
            </a:r>
            <a:r>
              <a:rPr>
                <a:solidFill>
                  <a:srgbClr val="4758AB"/>
                </a:solidFill>
                <a:latin typeface="Courier"/>
              </a:rPr>
              <a:t>sum</a:t>
            </a:r>
            <a:r>
              <a:rPr>
                <a:solidFill>
                  <a:srgbClr val="003B4F"/>
                </a:solidFill>
                <a:latin typeface="Courier"/>
              </a:rPr>
              <a:t>(</a:t>
            </a:r>
            <a:r>
              <a:rPr>
                <a:solidFill>
                  <a:srgbClr val="4758AB"/>
                </a:solidFill>
                <a:latin typeface="Courier"/>
              </a:rPr>
              <a:t>is.na</a:t>
            </a:r>
            <a:r>
              <a:rPr>
                <a:solidFill>
                  <a:srgbClr val="003B4F"/>
                </a:solidFill>
                <a:latin typeface="Courier"/>
              </a:rPr>
              <a:t>(.)))</a:t>
            </a:r>
            <a:br/>
            <a:br/>
            <a:r>
              <a:rPr>
                <a:solidFill>
                  <a:srgbClr val="003B4F"/>
                </a:solidFill>
                <a:latin typeface="Courier"/>
              </a:rPr>
              <a:t>p_df &lt;- p_df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003B4F"/>
                </a:solidFill>
                <a:latin typeface="Courier"/>
              </a:rPr>
              <a:t>         </a:t>
            </a:r>
            <a:r>
              <a:rPr>
                <a:solidFill>
                  <a:srgbClr val="5E5E5E"/>
                </a:solidFill>
                <a:latin typeface="Courier"/>
              </a:rPr>
              <a:t>!</a:t>
            </a:r>
            <a:r>
              <a:rPr>
                <a:solidFill>
                  <a:srgbClr val="4758AB"/>
                </a:solidFill>
                <a:latin typeface="Courier"/>
              </a:rPr>
              <a:t>is.na</a:t>
            </a:r>
            <a:r>
              <a:rPr>
                <a:solidFill>
                  <a:srgbClr val="003B4F"/>
                </a:solidFill>
                <a:latin typeface="Courier"/>
              </a:rPr>
              <a:t>(sex),</a:t>
            </a:r>
            <a:br/>
            <a:r>
              <a:rPr>
                <a:solidFill>
                  <a:srgbClr val="003B4F"/>
                </a:solidFill>
                <a:latin typeface="Courier"/>
              </a:rPr>
              <a:t>         </a:t>
            </a:r>
            <a:r>
              <a:rPr>
                <a:solidFill>
                  <a:srgbClr val="5E5E5E"/>
                </a:solidFill>
                <a:latin typeface="Courier"/>
              </a:rPr>
              <a:t>!</a:t>
            </a:r>
            <a:r>
              <a:rPr>
                <a:solidFill>
                  <a:srgbClr val="4758AB"/>
                </a:solidFill>
                <a:latin typeface="Courier"/>
              </a:rPr>
              <a:t>is.na</a:t>
            </a:r>
            <a:r>
              <a:rPr>
                <a:solidFill>
                  <a:srgbClr val="003B4F"/>
                </a:solidFill>
                <a:latin typeface="Courier"/>
              </a:rPr>
              <a:t>(spp))</a:t>
            </a:r>
            <a:br/>
            <a:r>
              <a:rPr>
                <a:solidFill>
                  <a:srgbClr val="4758AB"/>
                </a:solidFill>
                <a:latin typeface="Courier"/>
              </a:rPr>
              <a:t>head</a:t>
            </a:r>
            <a:r>
              <a:rPr>
                <a:solidFill>
                  <a:srgbClr val="003B4F"/>
                </a:solidFill>
                <a:latin typeface="Courier"/>
              </a:rPr>
              <a:t>(p_df)</a:t>
            </a:r>
          </a:p>
          <a:p>
            <a:pPr lvl="0" indent="0" marL="0">
              <a:buNone/>
            </a:pPr>
            <a:r>
              <a:rPr b="1"/>
              <a:t>▶ Run this</a:t>
            </a:r>
            <a:r>
              <a:rPr/>
              <a:t> — summary statistics by group:</a:t>
            </a:r>
          </a:p>
          <a:p>
            <a:pPr lvl="0" indent="0">
              <a:buNone/>
            </a:pP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a:t>
            </a:r>
            <a:r>
              <a:rPr>
                <a:solidFill>
                  <a:srgbClr val="5E5E5E"/>
                </a:solidFill>
                <a:latin typeface="Courier"/>
              </a:rPr>
              <a:t>/</a:t>
            </a:r>
            <a:r>
              <a:rPr>
                <a:solidFill>
                  <a:srgbClr val="003B4F"/>
                </a:solidFill>
                <a:latin typeface="Courier"/>
              </a:rPr>
              <a:t>n</a:t>
            </a:r>
            <a:r>
              <a:rPr>
                <a:solidFill>
                  <a:srgbClr val="5E5E5E"/>
                </a:solidFill>
                <a:latin typeface="Courier"/>
              </a:rPr>
              <a:t>^</a:t>
            </a:r>
            <a:r>
              <a:rPr>
                <a:solidFill>
                  <a:srgbClr val="003B4F"/>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p>
          <a:p>
            <a:pPr lvl="0" indent="0" marL="1270000">
              <a:buNone/>
            </a:pPr>
            <a:r>
              <a:rPr sz="2000" b="1"/>
              <a:t>Tip</a:t>
            </a:r>
          </a:p>
          <a:p>
            <a:pPr lvl="0" indent="0" marL="1270000">
              <a:buNone/>
            </a:pPr>
            <a:r>
              <a:rPr sz="2000" b="1"/>
              <a:t>🚀 If you finish early:</a:t>
            </a:r>
            <a:r>
              <a:rPr sz="2000"/>
              <a:t> How many species and sexes are there? Compute </a:t>
            </a:r>
            <a:r>
              <a:rPr sz="2000">
                <a:latin typeface="Courier"/>
              </a:rPr>
              <a:t>n_distinct()</a:t>
            </a:r>
            <a:r>
              <a:rPr sz="2000"/>
              <a:t> for each column of </a:t>
            </a:r>
            <a:r>
              <a:rPr sz="2000">
                <a:latin typeface="Courier"/>
              </a:rPr>
              <a:t>p_df</a:t>
            </a:r>
            <a:r>
              <a:rPr sz="2000"/>
              <a:t> to confirm.</a:t>
            </a:r>
          </a:p>
          <a:p>
            <a:pPr lvl="0" indent="0">
              <a:buNone/>
            </a:pPr>
            <a:r>
              <a:rPr>
                <a:solidFill>
                  <a:srgbClr val="5E5E5E"/>
                </a:solidFill>
                <a:latin typeface="Courier"/>
              </a:rPr>
              <a:t># Write your code here: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Building a Balanced Dataset</a:t>
            </a:r>
          </a:p>
        </p:txBody>
      </p:sp>
      <p:sp>
        <p:nvSpPr>
          <p:cNvPr id="3" name="Content Placeholder 2"/>
          <p:cNvSpPr>
            <a:spLocks noGrp="1"/>
          </p:cNvSpPr>
          <p:nvPr>
            <p:ph idx="1"/>
          </p:nvPr>
        </p:nvSpPr>
        <p:spPr/>
        <p:txBody>
          <a:bodyPr/>
          <a:lstStyle/>
          <a:p>
            <a:pPr lvl="0" indent="0">
              <a:buNone/>
            </a:pPr>
            <a:r>
              <a:rPr>
                <a:solidFill>
                  <a:srgbClr val="003B4F"/>
                </a:solidFill>
                <a:latin typeface="Courier"/>
              </a:rPr>
              <a:t>original_n &lt;- p_df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b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n, </a:t>
            </a:r>
            <a:r>
              <a:rPr>
                <a:solidFill>
                  <a:srgbClr val="657422"/>
                </a:solidFill>
                <a:latin typeface="Courier"/>
              </a:rPr>
              <a:t>values_fill =</a:t>
            </a:r>
            <a:r>
              <a:rPr>
                <a:solidFill>
                  <a:srgbClr val="003B4F"/>
                </a:solidFill>
                <a:latin typeface="Courier"/>
              </a:rPr>
              <a:t> </a:t>
            </a:r>
            <a:r>
              <a:rPr>
                <a:solidFill>
                  <a:srgbClr val="AD0000"/>
                </a:solidFill>
                <a:latin typeface="Courier"/>
              </a:rPr>
              <a:t>0</a:t>
            </a:r>
            <a:r>
              <a:rPr>
                <a:solidFill>
                  <a:srgbClr val="003B4F"/>
                </a:solidFill>
                <a:latin typeface="Courier"/>
              </a:rPr>
              <a:t>)</a:t>
            </a:r>
            <a:br/>
            <a:br/>
            <a:r>
              <a:rPr>
                <a:solidFill>
                  <a:srgbClr val="003B4F"/>
                </a:solidFill>
                <a:latin typeface="Courier"/>
              </a:rPr>
              <a:t>min_n &lt;- </a:t>
            </a:r>
            <a:r>
              <a:rPr>
                <a:solidFill>
                  <a:srgbClr val="4758AB"/>
                </a:solidFill>
                <a:latin typeface="Courier"/>
              </a:rPr>
              <a:t>min</a:t>
            </a:r>
            <a:r>
              <a:rPr>
                <a:solidFill>
                  <a:srgbClr val="003B4F"/>
                </a:solidFill>
                <a:latin typeface="Courier"/>
              </a:rPr>
              <a:t>(original_n</a:t>
            </a:r>
            <a:r>
              <a:rPr>
                <a:solidFill>
                  <a:srgbClr val="5E5E5E"/>
                </a:solidFill>
                <a:latin typeface="Courier"/>
              </a:rPr>
              <a:t>$</a:t>
            </a:r>
            <a:r>
              <a:rPr>
                <a:solidFill>
                  <a:srgbClr val="003B4F"/>
                </a:solidFill>
                <a:latin typeface="Courier"/>
              </a:rPr>
              <a:t>n)</a:t>
            </a:r>
            <a:br/>
            <a:r>
              <a:rPr>
                <a:solidFill>
                  <a:srgbClr val="003B4F"/>
                </a:solidFill>
                <a:latin typeface="Courier"/>
              </a:rPr>
              <a:t>min_n</a:t>
            </a:r>
            <a:b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pb_df &lt;- 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sample_n</a:t>
            </a:r>
            <a:r>
              <a:rPr>
                <a:solidFill>
                  <a:srgbClr val="003B4F"/>
                </a:solidFill>
                <a:latin typeface="Courier"/>
              </a:rPr>
              <a:t>(min_n)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003B4F"/>
                </a:solidFill>
                <a:latin typeface="Courier"/>
              </a:rPr>
              <a:t>balanced_n &lt;- pb_df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n, </a:t>
            </a:r>
            <a:r>
              <a:rPr>
                <a:solidFill>
                  <a:srgbClr val="657422"/>
                </a:solidFill>
                <a:latin typeface="Courier"/>
              </a:rPr>
              <a:t>values_fill =</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balanced_n</a:t>
            </a:r>
          </a:p>
          <a:p>
            <a:pPr lvl="0" indent="0">
              <a:buNone/>
            </a:pPr>
            <a:r>
              <a:rPr>
                <a:solidFill>
                  <a:srgbClr val="003B4F"/>
                </a:solidFill>
                <a:latin typeface="Courier"/>
              </a:rPr>
              <a:t>summary_df &lt;- pb_df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a:t>
            </a:r>
            <a:r>
              <a:rPr>
                <a:solidFill>
                  <a:srgbClr val="5E5E5E"/>
                </a:solidFill>
                <a:latin typeface="Courier"/>
              </a:rPr>
              <a:t>/</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r>
              <a:rPr>
                <a:solidFill>
                  <a:srgbClr val="4758AB"/>
                </a:solidFill>
                <a:latin typeface="Courier"/>
              </a:rPr>
              <a:t>print</a:t>
            </a:r>
            <a:r>
              <a:rPr>
                <a:solidFill>
                  <a:srgbClr val="003B4F"/>
                </a:solidFill>
                <a:latin typeface="Courier"/>
              </a:rPr>
              <a:t>(summary_df)</a:t>
            </a:r>
          </a:p>
          <a:p>
            <a:pPr lvl="0" indent="0" marL="0">
              <a:buNone/>
            </a:pPr>
            <a:r>
              <a:rPr/>
              <a:t>✏️ </a:t>
            </a:r>
            <a:r>
              <a:rPr b="1"/>
              <a:t>Your turn:</a:t>
            </a:r>
            <a:r>
              <a:rPr/>
              <a:t> What was </a:t>
            </a:r>
            <a:r>
              <a:rPr>
                <a:latin typeface="Courier"/>
              </a:rPr>
              <a:t>min_n</a:t>
            </a:r>
            <a:r>
              <a:rPr/>
              <a:t>? How many total observations were dropped to force balance? </a:t>
            </a:r>
            <a:r>
              <a:rPr>
                <a:latin typeface="Courier"/>
              </a:rPr>
              <a:t>________________________</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Fitting the Balanced Factorial ANOVA</a:t>
            </a:r>
          </a:p>
        </p:txBody>
      </p:sp>
      <p:sp>
        <p:nvSpPr>
          <p:cNvPr id="3" name="Content Placeholder 2"/>
          <p:cNvSpPr>
            <a:spLocks noGrp="1"/>
          </p:cNvSpPr>
          <p:nvPr>
            <p:ph idx="1"/>
          </p:nvPr>
        </p:nvSpPr>
        <p:spPr/>
        <p:txBody>
          <a:bodyPr/>
          <a:lstStyle/>
          <a:p>
            <a:pPr lvl="0" indent="0" marL="0">
              <a:buNone/>
            </a:pPr>
            <a:r>
              <a:rPr/>
              <a:t>The factorial ANOVA needs the same assumptions checked after fitting the model: independence of observations, normality of residuals, homogeneity of variances.</a:t>
            </a:r>
          </a:p>
          <a:p>
            <a:pPr lvl="0" indent="0" marL="0">
              <a:buNone/>
            </a:pPr>
            <a:r>
              <a:rPr b="1"/>
              <a:t>▶ Run this:</a:t>
            </a:r>
          </a:p>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  </a:t>
            </a:r>
            <a:r>
              <a:rPr>
                <a:solidFill>
                  <a:srgbClr val="5E5E5E"/>
                </a:solidFill>
                <a:latin typeface="Courier"/>
              </a:rPr>
              <a:t># for Type III SS</a:t>
            </a:r>
            <a:br/>
            <a:br/>
            <a:r>
              <a:rPr>
                <a:solidFill>
                  <a:srgbClr val="003B4F"/>
                </a:solidFill>
                <a:latin typeface="Courier"/>
              </a:rPr>
              <a:t>pb_model &lt;- </a:t>
            </a:r>
            <a:r>
              <a:rPr>
                <a:solidFill>
                  <a:srgbClr val="4758AB"/>
                </a:solidFill>
                <a:latin typeface="Courier"/>
              </a:rPr>
              <a:t>lm</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pb_df)</a:t>
            </a:r>
            <a:br/>
            <a:r>
              <a:rPr>
                <a:solidFill>
                  <a:srgbClr val="4758AB"/>
                </a:solidFill>
                <a:latin typeface="Courier"/>
              </a:rPr>
              <a:t>summary</a:t>
            </a:r>
            <a:r>
              <a:rPr>
                <a:solidFill>
                  <a:srgbClr val="003B4F"/>
                </a:solidFill>
                <a:latin typeface="Courier"/>
              </a:rPr>
              <a:t>(pb_model)</a:t>
            </a:r>
            <a:br/>
            <a:br/>
            <a:r>
              <a:rPr>
                <a:solidFill>
                  <a:srgbClr val="4758AB"/>
                </a:solidFill>
                <a:latin typeface="Courier"/>
              </a:rPr>
              <a:t>Anova</a:t>
            </a:r>
            <a:r>
              <a:rPr>
                <a:solidFill>
                  <a:srgbClr val="003B4F"/>
                </a:solidFill>
                <a:latin typeface="Courier"/>
              </a:rPr>
              <a:t>(pb_model,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r>
              <a:rPr/>
              <a:t>✏️ </a:t>
            </a:r>
            <a:r>
              <a:rPr b="1"/>
              <a:t>Your turn:</a:t>
            </a:r>
            <a:r>
              <a:rPr/>
              <a:t> Is the species:sex interaction significant? </a:t>
            </a:r>
            <a:r>
              <a:rPr>
                <a:latin typeface="Courier"/>
              </a:rPr>
              <a:t>________________________</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 — Balanced Model</a:t>
            </a:r>
          </a:p>
        </p:txBody>
      </p:sp>
      <p:sp>
        <p:nvSpPr>
          <p:cNvPr id="3" name="Content Placeholder 2"/>
          <p:cNvSpPr>
            <a:spLocks noGrp="1"/>
          </p:cNvSpPr>
          <p:nvPr>
            <p:ph idx="1"/>
          </p:nvPr>
        </p:nvSpPr>
        <p:spPr/>
        <p:txBody>
          <a:bodyPr/>
          <a:lstStyle/>
          <a:p>
            <a:pPr lvl="0" indent="0" marL="0">
              <a:buNone/>
            </a:pPr>
            <a:r>
              <a:rPr b="1"/>
              <a:t>▶ Run this</a:t>
            </a:r>
            <a:r>
              <a:rPr/>
              <a:t> — the base R diagnostic plots: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(pb_model)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b="1"/>
              <a:t>▶ Run this</a:t>
            </a:r>
            <a:r>
              <a:rPr/>
              <a:t> — build a residuals data frame and check normality:</a:t>
            </a:r>
          </a:p>
          <a:p>
            <a:pPr lvl="0" indent="0">
              <a:buNone/>
            </a:pPr>
            <a:r>
              <a:rPr>
                <a:solidFill>
                  <a:srgbClr val="003B4F"/>
                </a:solidFill>
                <a:latin typeface="Courier"/>
              </a:rPr>
              <a:t>pb_resid_df &lt;- </a:t>
            </a:r>
            <a:r>
              <a:rPr>
                <a:solidFill>
                  <a:srgbClr val="4758AB"/>
                </a:solidFill>
                <a:latin typeface="Courier"/>
              </a:rPr>
              <a:t>augment</a:t>
            </a:r>
            <a:r>
              <a:rPr>
                <a:solidFill>
                  <a:srgbClr val="003B4F"/>
                </a:solidFill>
                <a:latin typeface="Courier"/>
              </a:rPr>
              <a:t>(pb_model)</a:t>
            </a:r>
            <a:br/>
            <a:br/>
            <a:r>
              <a:rPr>
                <a:solidFill>
                  <a:srgbClr val="4758AB"/>
                </a:solidFill>
                <a:latin typeface="Courier"/>
              </a:rPr>
              <a:t>ggplot</a:t>
            </a:r>
            <a:r>
              <a:rPr>
                <a:solidFill>
                  <a:srgbClr val="003B4F"/>
                </a:solidFill>
                <a:latin typeface="Courier"/>
              </a:rPr>
              <a:t>(pb_resid_df,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br/>
            <a:br/>
            <a:r>
              <a:rPr>
                <a:solidFill>
                  <a:srgbClr val="4758AB"/>
                </a:solidFill>
                <a:latin typeface="Courier"/>
              </a:rPr>
              <a:t>ggplot</a:t>
            </a:r>
            <a:r>
              <a:rPr>
                <a:solidFill>
                  <a:srgbClr val="003B4F"/>
                </a:solidFill>
                <a:latin typeface="Courier"/>
              </a:rPr>
              <a:t>(pb_resid_df,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"snow"</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br/>
            <a:b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(pb_model))</a:t>
            </a:r>
          </a:p>
          <a:p>
            <a:pPr lvl="0" indent="0" marL="0">
              <a:buNone/>
            </a:pPr>
            <a:r>
              <a:rPr b="1"/>
              <a:t>▶ Run this</a:t>
            </a:r>
            <a:r>
              <a:rPr/>
              <a:t> — check homogeneity of variance:</a:t>
            </a:r>
          </a:p>
          <a:p>
            <a:pPr lvl="0" indent="0">
              <a:buNone/>
            </a:pP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pb_df)</a:t>
            </a:r>
            <a:br/>
            <a:br/>
            <a:r>
              <a:rPr>
                <a:solidFill>
                  <a:srgbClr val="4758AB"/>
                </a:solidFill>
                <a:latin typeface="Courier"/>
              </a:rPr>
              <a:t>ggplot</a:t>
            </a:r>
            <a:r>
              <a:rPr>
                <a:solidFill>
                  <a:srgbClr val="003B4F"/>
                </a:solidFill>
                <a:latin typeface="Courier"/>
              </a:rPr>
              <a:t>(pb_resid_df,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br/>
            <a:br/>
            <a:r>
              <a:rPr>
                <a:solidFill>
                  <a:srgbClr val="003B4F"/>
                </a:solidFill>
                <a:latin typeface="Courier"/>
              </a:rPr>
              <a:t>pb_resid_group_df &lt;- pb_df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residuals =</a:t>
            </a:r>
            <a:r>
              <a:rPr>
                <a:solidFill>
                  <a:srgbClr val="003B4F"/>
                </a:solidFill>
                <a:latin typeface="Courier"/>
              </a:rPr>
              <a:t> </a:t>
            </a:r>
            <a:r>
              <a:rPr>
                <a:solidFill>
                  <a:srgbClr val="4758AB"/>
                </a:solidFill>
                <a:latin typeface="Courier"/>
              </a:rPr>
              <a:t>residuals</a:t>
            </a:r>
            <a:r>
              <a:rPr>
                <a:solidFill>
                  <a:srgbClr val="003B4F"/>
                </a:solidFill>
                <a:latin typeface="Courier"/>
              </a:rPr>
              <a:t>(pb_model))</a:t>
            </a:r>
            <a:br/>
            <a:br/>
            <a:r>
              <a:rPr>
                <a:solidFill>
                  <a:srgbClr val="4758AB"/>
                </a:solidFill>
                <a:latin typeface="Courier"/>
              </a:rPr>
              <a:t>ggplot</a:t>
            </a:r>
            <a:r>
              <a:rPr>
                <a:solidFill>
                  <a:srgbClr val="003B4F"/>
                </a:solidFill>
                <a:latin typeface="Courier"/>
              </a:rPr>
              <a:t>(pb_resid_group_df,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(spp, sex),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Group"</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"Species:Sex Combination"</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1270000">
              <a:buNone/>
            </a:pPr>
            <a:r>
              <a:rPr sz="2000" b="1"/>
              <a:t>Tip</a:t>
            </a:r>
          </a:p>
          <a:p>
            <a:pPr lvl="0" indent="0" marL="1270000">
              <a:buNone/>
            </a:pPr>
            <a:r>
              <a:rPr sz="2000" b="1"/>
              <a:t>🚀 If you finish early:</a:t>
            </a:r>
            <a:r>
              <a:rPr sz="2000"/>
              <a:t> Do any of the six species:sex groups have visibly larger residual spread than the others in the last boxplot? Which one(s)?</a:t>
            </a:r>
          </a:p>
          <a:p>
            <a:pPr lvl="0" indent="0">
              <a:buNone/>
            </a:pPr>
            <a:r>
              <a:rPr sz="2000">
                <a:latin typeface="Courier"/>
              </a:rPr>
              <a:t>________________________________________________________</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Estimated Marginal Means and Post-Hoc — Balanced Model</a:t>
            </a:r>
          </a:p>
        </p:txBody>
      </p:sp>
      <p:sp>
        <p:nvSpPr>
          <p:cNvPr id="3" name="Content Placeholder 2"/>
          <p:cNvSpPr>
            <a:spLocks noGrp="1"/>
          </p:cNvSpPr>
          <p:nvPr>
            <p:ph idx="1"/>
          </p:nvPr>
        </p:nvSpPr>
        <p:spPr/>
        <p:txBody>
          <a:bodyPr/>
          <a:lstStyle/>
          <a:p>
            <a:pPr lvl="0" indent="0" marL="0">
              <a:buNone/>
            </a:pPr>
            <a:r>
              <a:rPr b="1"/>
              <a:t>▶ Run this</a:t>
            </a:r>
            <a:r>
              <a:rPr/>
              <a:t> — main effect of species:</a:t>
            </a:r>
          </a:p>
          <a:p>
            <a:pPr lvl="0" indent="0">
              <a:buNone/>
            </a:pPr>
            <a:r>
              <a:rPr>
                <a:solidFill>
                  <a:srgbClr val="003B4F"/>
                </a:solidFill>
                <a:latin typeface="Courier"/>
              </a:rPr>
              <a:t>sppb_emm &lt;- </a:t>
            </a:r>
            <a:r>
              <a:rPr>
                <a:solidFill>
                  <a:srgbClr val="4758AB"/>
                </a:solidFill>
                <a:latin typeface="Courier"/>
              </a:rPr>
              <a:t>emmeans</a:t>
            </a:r>
            <a:r>
              <a:rPr>
                <a:solidFill>
                  <a:srgbClr val="003B4F"/>
                </a:solidFill>
                <a:latin typeface="Courier"/>
              </a:rPr>
              <a:t>(pb_model, </a:t>
            </a:r>
            <a:r>
              <a:rPr>
                <a:solidFill>
                  <a:srgbClr val="5E5E5E"/>
                </a:solidFill>
                <a:latin typeface="Courier"/>
              </a:rPr>
              <a:t>~</a:t>
            </a:r>
            <a:r>
              <a:rPr>
                <a:solidFill>
                  <a:srgbClr val="003B4F"/>
                </a:solidFill>
                <a:latin typeface="Courier"/>
              </a:rPr>
              <a:t> spp)</a:t>
            </a:r>
            <a:br/>
            <a:r>
              <a:rPr>
                <a:solidFill>
                  <a:srgbClr val="003B4F"/>
                </a:solidFill>
                <a:latin typeface="Courier"/>
              </a:rPr>
              <a:t>sppb_emm</a:t>
            </a:r>
            <a:br/>
            <a:r>
              <a:rPr>
                <a:solidFill>
                  <a:srgbClr val="4758AB"/>
                </a:solidFill>
                <a:latin typeface="Courier"/>
              </a:rPr>
              <a:t>pairs</a:t>
            </a:r>
            <a:r>
              <a:rPr>
                <a:solidFill>
                  <a:srgbClr val="003B4F"/>
                </a:solidFill>
                <a:latin typeface="Courier"/>
              </a:rPr>
              <a:t>(sppb_emm)</a:t>
            </a:r>
            <a:br/>
            <a:r>
              <a:rPr>
                <a:solidFill>
                  <a:srgbClr val="4758AB"/>
                </a:solidFill>
                <a:latin typeface="Courier"/>
              </a:rPr>
              <a:t>plot</a:t>
            </a:r>
            <a:r>
              <a:rPr>
                <a:solidFill>
                  <a:srgbClr val="003B4F"/>
                </a:solidFill>
                <a:latin typeface="Courier"/>
              </a:rPr>
              <a:t>(sppb_emm)</a:t>
            </a:r>
          </a:p>
          <a:p>
            <a:pPr lvl="0" indent="0" marL="0">
              <a:buNone/>
            </a:pPr>
            <a:r>
              <a:rPr b="1"/>
              <a:t>▶ Run this</a:t>
            </a:r>
            <a:r>
              <a:rPr/>
              <a:t> — main effect of sex:</a:t>
            </a:r>
          </a:p>
          <a:p>
            <a:pPr lvl="0" indent="0">
              <a:buNone/>
            </a:pPr>
            <a:r>
              <a:rPr>
                <a:solidFill>
                  <a:srgbClr val="003B4F"/>
                </a:solidFill>
                <a:latin typeface="Courier"/>
              </a:rPr>
              <a:t>sexb_emm &lt;- </a:t>
            </a:r>
            <a:r>
              <a:rPr>
                <a:solidFill>
                  <a:srgbClr val="4758AB"/>
                </a:solidFill>
                <a:latin typeface="Courier"/>
              </a:rPr>
              <a:t>emmeans</a:t>
            </a:r>
            <a:r>
              <a:rPr>
                <a:solidFill>
                  <a:srgbClr val="003B4F"/>
                </a:solidFill>
                <a:latin typeface="Courier"/>
              </a:rPr>
              <a:t>(pb_model, </a:t>
            </a:r>
            <a:r>
              <a:rPr>
                <a:solidFill>
                  <a:srgbClr val="5E5E5E"/>
                </a:solidFill>
                <a:latin typeface="Courier"/>
              </a:rPr>
              <a:t>~</a:t>
            </a:r>
            <a:r>
              <a:rPr>
                <a:solidFill>
                  <a:srgbClr val="003B4F"/>
                </a:solidFill>
                <a:latin typeface="Courier"/>
              </a:rPr>
              <a:t> sex)</a:t>
            </a:r>
            <a:br/>
            <a:r>
              <a:rPr>
                <a:solidFill>
                  <a:srgbClr val="003B4F"/>
                </a:solidFill>
                <a:latin typeface="Courier"/>
              </a:rPr>
              <a:t>sexb_emm</a:t>
            </a:r>
            <a:br/>
            <a:r>
              <a:rPr>
                <a:solidFill>
                  <a:srgbClr val="4758AB"/>
                </a:solidFill>
                <a:latin typeface="Courier"/>
              </a:rPr>
              <a:t>pairs</a:t>
            </a:r>
            <a:r>
              <a:rPr>
                <a:solidFill>
                  <a:srgbClr val="003B4F"/>
                </a:solidFill>
                <a:latin typeface="Courier"/>
              </a:rPr>
              <a:t>(sexb_emm)</a:t>
            </a:r>
            <a:br/>
            <a:r>
              <a:rPr>
                <a:solidFill>
                  <a:srgbClr val="4758AB"/>
                </a:solidFill>
                <a:latin typeface="Courier"/>
              </a:rPr>
              <a:t>plot</a:t>
            </a:r>
            <a:r>
              <a:rPr>
                <a:solidFill>
                  <a:srgbClr val="003B4F"/>
                </a:solidFill>
                <a:latin typeface="Courier"/>
              </a:rPr>
              <a:t>(sexb_emm)</a:t>
            </a:r>
          </a:p>
          <a:p>
            <a:pPr lvl="0" indent="0" marL="0">
              <a:buNone/>
            </a:pPr>
            <a:r>
              <a:rPr b="1"/>
              <a:t>▶ Run this</a:t>
            </a:r>
            <a:r>
              <a:rPr/>
              <a:t> — the interaction, compared to raw means:</a:t>
            </a:r>
          </a:p>
          <a:p>
            <a:pPr lvl="0" indent="0">
              <a:buNone/>
            </a:pPr>
            <a:r>
              <a:rPr>
                <a:solidFill>
                  <a:srgbClr val="003B4F"/>
                </a:solidFill>
                <a:latin typeface="Courier"/>
              </a:rPr>
              <a:t>interactionb_emm &lt;- </a:t>
            </a:r>
            <a:r>
              <a:rPr>
                <a:solidFill>
                  <a:srgbClr val="4758AB"/>
                </a:solidFill>
                <a:latin typeface="Courier"/>
              </a:rPr>
              <a:t>emmeans</a:t>
            </a:r>
            <a:r>
              <a:rPr>
                <a:solidFill>
                  <a:srgbClr val="003B4F"/>
                </a:solidFill>
                <a:latin typeface="Courier"/>
              </a:rPr>
              <a:t>(pb_model,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a:t>
            </a:r>
            <a:br/>
            <a:r>
              <a:rPr>
                <a:solidFill>
                  <a:srgbClr val="003B4F"/>
                </a:solidFill>
                <a:latin typeface="Courier"/>
              </a:rPr>
              <a:t>interactionb_emm</a:t>
            </a:r>
            <a:br/>
            <a:br/>
            <a:r>
              <a:rPr>
                <a:solidFill>
                  <a:srgbClr val="003B4F"/>
                </a:solidFill>
                <a:latin typeface="Courier"/>
              </a:rPr>
              <a:t>pb_df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raw_mean)</a:t>
            </a:r>
            <a:br/>
            <a:br/>
            <a:r>
              <a:rPr>
                <a:solidFill>
                  <a:srgbClr val="4758AB"/>
                </a:solidFill>
                <a:latin typeface="Courier"/>
              </a:rPr>
              <a:t>pairs</a:t>
            </a:r>
            <a:r>
              <a:rPr>
                <a:solidFill>
                  <a:srgbClr val="003B4F"/>
                </a:solidFill>
                <a:latin typeface="Courier"/>
              </a:rPr>
              <a:t>(interactionb_emm)</a:t>
            </a:r>
          </a:p>
          <a:p>
            <a:pPr lvl="0" indent="0" marL="0">
              <a:buNone/>
            </a:pPr>
            <a:r>
              <a:rPr b="1"/>
              <a:t>▶ Run this</a:t>
            </a:r>
            <a:r>
              <a:rPr/>
              <a:t> — compact letter display and an interaction plot:</a:t>
            </a:r>
          </a:p>
          <a:p>
            <a:pPr lvl="0" indent="0">
              <a:buNone/>
            </a:pPr>
            <a:r>
              <a:rPr>
                <a:solidFill>
                  <a:srgbClr val="003B4F"/>
                </a:solidFill>
                <a:latin typeface="Courier"/>
              </a:rPr>
              <a:t>cldb_interaction &lt;- multcomp</a:t>
            </a:r>
            <a:r>
              <a:rPr>
                <a:solidFill>
                  <a:srgbClr val="5E5E5E"/>
                </a:solidFill>
                <a:latin typeface="Courier"/>
              </a:rPr>
              <a:t>::</a:t>
            </a:r>
            <a:r>
              <a:rPr>
                <a:solidFill>
                  <a:srgbClr val="4758AB"/>
                </a:solidFill>
                <a:latin typeface="Courier"/>
              </a:rPr>
              <a:t>cld</a:t>
            </a:r>
            <a:r>
              <a:rPr>
                <a:solidFill>
                  <a:srgbClr val="003B4F"/>
                </a:solidFill>
                <a:latin typeface="Courier"/>
              </a:rPr>
              <a:t>(interactionb_emm,</a:t>
            </a:r>
            <a:b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cldb_df &lt;- </a:t>
            </a:r>
            <a:r>
              <a:rPr>
                <a:solidFill>
                  <a:srgbClr val="4758AB"/>
                </a:solidFill>
                <a:latin typeface="Courier"/>
              </a:rPr>
              <a:t>as.data.frame</a:t>
            </a:r>
            <a:r>
              <a:rPr>
                <a:solidFill>
                  <a:srgbClr val="003B4F"/>
                </a:solidFill>
                <a:latin typeface="Courier"/>
              </a:rPr>
              <a:t>(cldb_interaction)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r>
              <a:rPr>
                <a:solidFill>
                  <a:srgbClr val="4758AB"/>
                </a:solidFill>
                <a:latin typeface="Courier"/>
              </a:rPr>
              <a:t>print</a:t>
            </a:r>
            <a:r>
              <a:rPr>
                <a:solidFill>
                  <a:srgbClr val="003B4F"/>
                </a:solidFill>
                <a:latin typeface="Courier"/>
              </a:rPr>
              <a:t>(cldb_df)</a:t>
            </a:r>
            <a:br/>
            <a:br/>
            <a:r>
              <a:rPr>
                <a:solidFill>
                  <a:srgbClr val="4758AB"/>
                </a:solidFill>
                <a:latin typeface="Courier"/>
              </a:rPr>
              <a:t>emmip</a:t>
            </a:r>
            <a:r>
              <a:rPr>
                <a:solidFill>
                  <a:srgbClr val="003B4F"/>
                </a:solidFill>
                <a:latin typeface="Courier"/>
              </a:rPr>
              <a:t>(pb_model, sex </a:t>
            </a:r>
            <a:r>
              <a:rPr>
                <a:solidFill>
                  <a:srgbClr val="5E5E5E"/>
                </a:solidFill>
                <a:latin typeface="Courier"/>
              </a:rPr>
              <a:t>~</a:t>
            </a:r>
            <a:r>
              <a:rPr>
                <a:solidFill>
                  <a:srgbClr val="003B4F"/>
                </a:solidFill>
                <a:latin typeface="Courier"/>
              </a:rPr>
              <a:t> spp, </a:t>
            </a:r>
            <a:r>
              <a:rPr>
                <a:solidFill>
                  <a:srgbClr val="657422"/>
                </a:solidFill>
                <a:latin typeface="Courier"/>
              </a:rPr>
              <a:t>CIs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"Interaction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"Body Mass (g)"</a:t>
            </a:r>
            <a:r>
              <a:rPr>
                <a:solidFill>
                  <a:srgbClr val="003B4F"/>
                </a:solidFill>
                <a:latin typeface="Courier"/>
              </a:rPr>
              <a:t>)</a:t>
            </a:r>
          </a:p>
          <a:p>
            <a:pPr lvl="0" indent="0" marL="0">
              <a:buNone/>
            </a:pPr>
            <a:r>
              <a:rPr b="1"/>
              <a:t>▶ Run this</a:t>
            </a:r>
            <a:r>
              <a:rPr/>
              <a:t> — a publication-quality version of that plot:</a:t>
            </a:r>
          </a:p>
          <a:p>
            <a:pPr lvl="0" indent="0">
              <a:buNone/>
            </a:pPr>
            <a:r>
              <a:rPr>
                <a:solidFill>
                  <a:srgbClr val="003B4F"/>
                </a:solidFill>
                <a:latin typeface="Courier"/>
              </a:rPr>
              <a:t>pubb_interaction_df &lt;- </a:t>
            </a:r>
            <a:r>
              <a:rPr>
                <a:solidFill>
                  <a:srgbClr val="4758AB"/>
                </a:solidFill>
                <a:latin typeface="Courier"/>
              </a:rPr>
              <a:t>as.data.frame</a:t>
            </a:r>
            <a:r>
              <a:rPr>
                <a:solidFill>
                  <a:srgbClr val="003B4F"/>
                </a:solidFill>
                <a:latin typeface="Courier"/>
              </a:rPr>
              <a:t>(interactionb_emm)</a:t>
            </a:r>
            <a:br/>
            <a:br/>
            <a:r>
              <a:rPr>
                <a:solidFill>
                  <a:srgbClr val="003B4F"/>
                </a:solidFill>
                <a:latin typeface="Courier"/>
              </a:rPr>
              <a:t>pubb_plot &lt;- </a:t>
            </a:r>
            <a:r>
              <a:rPr>
                <a:solidFill>
                  <a:srgbClr val="4758AB"/>
                </a:solidFill>
                <a:latin typeface="Courier"/>
              </a:rPr>
              <a:t>ggplot</a:t>
            </a:r>
            <a:r>
              <a:rPr>
                <a:solidFill>
                  <a:srgbClr val="003B4F"/>
                </a:solidFill>
                <a:latin typeface="Courier"/>
              </a:rPr>
              <a:t>(pubb_interaction_df,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spp, </a:t>
            </a:r>
            <a:r>
              <a:rPr>
                <a:solidFill>
                  <a:srgbClr val="657422"/>
                </a:solidFill>
                <a:latin typeface="Courier"/>
              </a:rPr>
              <a:t>y =</a:t>
            </a:r>
            <a:r>
              <a:rPr>
                <a:solidFill>
                  <a:srgbClr val="003B4F"/>
                </a:solidFill>
                <a:latin typeface="Courier"/>
              </a:rPr>
              <a:t> emmean,</a:t>
            </a:r>
            <a:br/>
            <a:r>
              <a:rPr>
                <a:solidFill>
                  <a:srgbClr val="003B4F"/>
                </a:solidFill>
                <a:latin typeface="Courier"/>
              </a:rPr>
              <a:t>                                       </a:t>
            </a:r>
            <a:r>
              <a:rPr>
                <a:solidFill>
                  <a:srgbClr val="657422"/>
                </a:solidFill>
                <a:latin typeface="Courier"/>
              </a:rPr>
              <a:t>color =</a:t>
            </a:r>
            <a:r>
              <a:rPr>
                <a:solidFill>
                  <a:srgbClr val="003B4F"/>
                </a:solidFill>
                <a:latin typeface="Courier"/>
              </a:rPr>
              <a:t> sex, </a:t>
            </a:r>
            <a:r>
              <a:rPr>
                <a:solidFill>
                  <a:srgbClr val="657422"/>
                </a:solidFill>
                <a:latin typeface="Courier"/>
              </a:rPr>
              <a:t>group =</a:t>
            </a:r>
            <a:r>
              <a:rPr>
                <a:solidFill>
                  <a:srgbClr val="003B4F"/>
                </a:solidFill>
                <a:latin typeface="Courier"/>
              </a:rPr>
              <a:t> sex))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"Body Mass (g)"</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theme_light</a:t>
            </a:r>
            <a:r>
              <a:rPr>
                <a:solidFill>
                  <a:srgbClr val="003B4F"/>
                </a:solidFill>
                <a:latin typeface="Courier"/>
              </a:rPr>
              <a:t>()</a:t>
            </a:r>
            <a:br/>
            <a:r>
              <a:rPr>
                <a:solidFill>
                  <a:srgbClr val="003B4F"/>
                </a:solidFill>
                <a:latin typeface="Courier"/>
              </a:rPr>
              <a:t>pubb_plot</a:t>
            </a:r>
          </a:p>
          <a:p>
            <a:pPr lvl="0" indent="0" marL="0">
              <a:buNone/>
            </a:pPr>
            <a:r>
              <a:rPr/>
              <a:t>✏️ </a:t>
            </a:r>
            <a:r>
              <a:rPr b="1"/>
              <a:t>Your turn:</a:t>
            </a:r>
            <a:r>
              <a:rPr/>
              <a:t> Using the compact letter display (</a:t>
            </a:r>
            <a:r>
              <a:rPr>
                <a:latin typeface="Courier"/>
              </a:rPr>
              <a:t>cldb_df</a:t>
            </a:r>
            <a:r>
              <a:rPr/>
              <a:t>), which species/sex combinations are </a:t>
            </a:r>
            <a:r>
              <a:rPr i="1"/>
              <a:t>not</a:t>
            </a:r>
            <a:r>
              <a:rPr/>
              <a:t> significantly different from each other? </a:t>
            </a:r>
            <a:r>
              <a:rPr>
                <a:latin typeface="Courier"/>
              </a:rPr>
              <a:t>________________________</a:t>
            </a:r>
          </a:p>
          <a:p>
            <a:pPr lvl="0" indent="0" marL="1270000">
              <a:buNone/>
            </a:pPr>
            <a:r>
              <a:rPr sz="2000" b="1"/>
              <a:t>Tip</a:t>
            </a:r>
          </a:p>
          <a:p>
            <a:pPr lvl="0" indent="0" marL="1270000">
              <a:buNone/>
            </a:pPr>
            <a:r>
              <a:rPr sz="2000" b="1"/>
              <a:t>🚀 If you finish early:</a:t>
            </a:r>
            <a:r>
              <a:rPr sz="2000"/>
              <a:t> </a:t>
            </a:r>
            <a:r>
              <a:rPr sz="2000">
                <a:latin typeface="Courier"/>
              </a:rPr>
              <a:t>emmip(pb_model, sex ~ spp, ...)</a:t>
            </a:r>
            <a:r>
              <a:rPr sz="2000"/>
              <a:t> plots sex as separate lines across species. Swap the formula to </a:t>
            </a:r>
            <a:r>
              <a:rPr sz="2000">
                <a:latin typeface="Courier"/>
              </a:rPr>
              <a:t>emmip(pb_model, spp ~ sex, CIs = TRUE)</a:t>
            </a:r>
            <a:r>
              <a:rPr sz="2000"/>
              <a:t> instead. How does the plot’s emphasis change?</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Understanding Sums-of-Squares Types — Balanced Model</a:t>
            </a:r>
          </a:p>
        </p:txBody>
      </p:sp>
      <p:sp>
        <p:nvSpPr>
          <p:cNvPr id="3" name="Content Placeholder 2"/>
          <p:cNvSpPr>
            <a:spLocks noGrp="1"/>
          </p:cNvSpPr>
          <p:nvPr>
            <p:ph idx="1"/>
          </p:nvPr>
        </p:nvSpPr>
        <p:spPr/>
        <p:txBody>
          <a:bodyPr/>
          <a:lstStyle/>
          <a:p>
            <a:pPr lvl="0" indent="0" marL="0">
              <a:buNone/>
            </a:pPr>
            <a:r>
              <a:rPr b="1"/>
              <a:t>▶ Run this</a:t>
            </a:r>
            <a:r>
              <a:rPr/>
              <a:t> — fit and compare all three types of SS:</a:t>
            </a:r>
          </a:p>
          <a:p>
            <a:pPr lvl="0" indent="0">
              <a:buNone/>
            </a:pPr>
            <a:r>
              <a:rPr>
                <a:solidFill>
                  <a:srgbClr val="003B4F"/>
                </a:solidFill>
                <a:latin typeface="Courier"/>
              </a:rPr>
              <a:t>type1b_anova &lt;- </a:t>
            </a:r>
            <a:r>
              <a:rPr>
                <a:solidFill>
                  <a:srgbClr val="4758AB"/>
                </a:solidFill>
                <a:latin typeface="Courier"/>
              </a:rPr>
              <a:t>anova</a:t>
            </a:r>
            <a:r>
              <a:rPr>
                <a:solidFill>
                  <a:srgbClr val="003B4F"/>
                </a:solidFill>
                <a:latin typeface="Courier"/>
              </a:rPr>
              <a:t>(pb_model)          </a:t>
            </a:r>
            <a:r>
              <a:rPr>
                <a:solidFill>
                  <a:srgbClr val="5E5E5E"/>
                </a:solidFill>
                <a:latin typeface="Courier"/>
              </a:rPr>
              <a:t># Type I - order matters!</a:t>
            </a:r>
            <a:br/>
            <a:r>
              <a:rPr>
                <a:solidFill>
                  <a:srgbClr val="003B4F"/>
                </a:solidFill>
                <a:latin typeface="Courier"/>
              </a:rPr>
              <a:t>type1b_anova</a:t>
            </a:r>
            <a:br/>
            <a:br/>
            <a:r>
              <a:rPr>
                <a:solidFill>
                  <a:srgbClr val="003B4F"/>
                </a:solidFill>
                <a:latin typeface="Courier"/>
              </a:rPr>
              <a:t>type2b_anova &lt;- </a:t>
            </a:r>
            <a:r>
              <a:rPr>
                <a:solidFill>
                  <a:srgbClr val="4758AB"/>
                </a:solidFill>
                <a:latin typeface="Courier"/>
              </a:rPr>
              <a:t>Anova</a:t>
            </a:r>
            <a:r>
              <a:rPr>
                <a:solidFill>
                  <a:srgbClr val="003B4F"/>
                </a:solidFill>
                <a:latin typeface="Courier"/>
              </a:rPr>
              <a:t>(pb_model, </a:t>
            </a:r>
            <a:r>
              <a:rPr>
                <a:solidFill>
                  <a:srgbClr val="657422"/>
                </a:solidFill>
                <a:latin typeface="Courier"/>
              </a:rPr>
              <a:t>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Type II</a:t>
            </a:r>
            <a:br/>
            <a:r>
              <a:rPr>
                <a:solidFill>
                  <a:srgbClr val="003B4F"/>
                </a:solidFill>
                <a:latin typeface="Courier"/>
              </a:rPr>
              <a:t>type2b_anova</a:t>
            </a:r>
            <a:br/>
            <a:br/>
            <a:r>
              <a:rPr>
                <a:solidFill>
                  <a:srgbClr val="003B4F"/>
                </a:solidFill>
                <a:latin typeface="Courier"/>
              </a:rPr>
              <a:t>type3b_anova &lt;- </a:t>
            </a:r>
            <a:r>
              <a:rPr>
                <a:solidFill>
                  <a:srgbClr val="4758AB"/>
                </a:solidFill>
                <a:latin typeface="Courier"/>
              </a:rPr>
              <a:t>Anova</a:t>
            </a:r>
            <a:r>
              <a:rPr>
                <a:solidFill>
                  <a:srgbClr val="003B4F"/>
                </a:solidFill>
                <a:latin typeface="Courier"/>
              </a:rPr>
              <a:t>(pb_model,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 Type III</a:t>
            </a:r>
            <a:br/>
            <a:r>
              <a:rPr>
                <a:solidFill>
                  <a:srgbClr val="003B4F"/>
                </a:solidFill>
                <a:latin typeface="Courier"/>
              </a:rPr>
              <a:t>type3b_anova</a:t>
            </a:r>
          </a:p>
          <a:p>
            <a:pPr lvl="0" indent="0">
              <a:buNone/>
            </a:pPr>
            <a:r>
              <a:rPr>
                <a:solidFill>
                  <a:srgbClr val="003B4F"/>
                </a:solidFill>
                <a:latin typeface="Courier"/>
              </a:rPr>
              <a:t>ssb_comparison_df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"Species:Sex"</a:t>
            </a:r>
            <a:r>
              <a:rPr>
                <a:solidFill>
                  <a:srgbClr val="003B4F"/>
                </a:solidFill>
                <a:latin typeface="Courier"/>
              </a:rPr>
              <a:t>),</a:t>
            </a:r>
            <a:br/>
            <a:r>
              <a:rPr>
                <a:solidFill>
                  <a:srgbClr val="003B4F"/>
                </a:solidFill>
                <a:latin typeface="Courier"/>
              </a:rPr>
              <a:t>  </a:t>
            </a:r>
            <a:r>
              <a:rPr>
                <a:solidFill>
                  <a:srgbClr val="657422"/>
                </a:solidFill>
                <a:latin typeface="Courier"/>
              </a:rPr>
              <a:t>Type_I_F =</a:t>
            </a:r>
            <a:r>
              <a:rPr>
                <a:solidFill>
                  <a:srgbClr val="003B4F"/>
                </a:solidFill>
                <a:latin typeface="Courier"/>
              </a:rPr>
              <a:t> </a:t>
            </a:r>
            <a:r>
              <a:rPr>
                <a:solidFill>
                  <a:srgbClr val="4758AB"/>
                </a:solidFill>
                <a:latin typeface="Courier"/>
              </a:rPr>
              <a:t>round</a:t>
            </a:r>
            <a:r>
              <a:rPr>
                <a:solidFill>
                  <a:srgbClr val="003B4F"/>
                </a:solidFill>
                <a:latin typeface="Courier"/>
              </a:rPr>
              <a:t>(type1b_anova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Type_II_F =</a:t>
            </a:r>
            <a:r>
              <a:rPr>
                <a:solidFill>
                  <a:srgbClr val="003B4F"/>
                </a:solidFill>
                <a:latin typeface="Courier"/>
              </a:rPr>
              <a:t> </a:t>
            </a:r>
            <a:r>
              <a:rPr>
                <a:solidFill>
                  <a:srgbClr val="4758AB"/>
                </a:solidFill>
                <a:latin typeface="Courier"/>
              </a:rPr>
              <a:t>round</a:t>
            </a:r>
            <a:r>
              <a:rPr>
                <a:solidFill>
                  <a:srgbClr val="003B4F"/>
                </a:solidFill>
                <a:latin typeface="Courier"/>
              </a:rPr>
              <a:t>(type2b_anova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Type_III_F =</a:t>
            </a:r>
            <a:r>
              <a:rPr>
                <a:solidFill>
                  <a:srgbClr val="003B4F"/>
                </a:solidFill>
                <a:latin typeface="Courier"/>
              </a:rPr>
              <a:t> </a:t>
            </a:r>
            <a:r>
              <a:rPr>
                <a:solidFill>
                  <a:srgbClr val="4758AB"/>
                </a:solidFill>
                <a:latin typeface="Courier"/>
              </a:rPr>
              <a:t>round</a:t>
            </a:r>
            <a:r>
              <a:rPr>
                <a:solidFill>
                  <a:srgbClr val="003B4F"/>
                </a:solidFill>
                <a:latin typeface="Courier"/>
              </a:rPr>
              <a:t>(type3b_anova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a:t>
            </a:r>
            <a:br/>
            <a:r>
              <a:rPr>
                <a:solidFill>
                  <a:srgbClr val="003B4F"/>
                </a:solidFill>
                <a:latin typeface="Courier"/>
              </a:rPr>
              <a:t>ssb_comparison_df</a:t>
            </a:r>
            <a:br/>
            <a:br/>
            <a:r>
              <a:rPr>
                <a:solidFill>
                  <a:srgbClr val="003B4F"/>
                </a:solidFill>
                <a:latin typeface="Courier"/>
              </a:rPr>
              <a:t>pb_comparison_df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"Species:Sex"</a:t>
            </a:r>
            <a:r>
              <a:rPr>
                <a:solidFill>
                  <a:srgbClr val="003B4F"/>
                </a:solidFill>
                <a:latin typeface="Courier"/>
              </a:rPr>
              <a:t>),</a:t>
            </a:r>
            <a:br/>
            <a:r>
              <a:rPr>
                <a:solidFill>
                  <a:srgbClr val="003B4F"/>
                </a:solidFill>
                <a:latin typeface="Courier"/>
              </a:rPr>
              <a:t>  </a:t>
            </a:r>
            <a:r>
              <a:rPr>
                <a:solidFill>
                  <a:srgbClr val="657422"/>
                </a:solidFill>
                <a:latin typeface="Courier"/>
              </a:rPr>
              <a:t>Type_I_p =</a:t>
            </a:r>
            <a:r>
              <a:rPr>
                <a:solidFill>
                  <a:srgbClr val="003B4F"/>
                </a:solidFill>
                <a:latin typeface="Courier"/>
              </a:rPr>
              <a:t> </a:t>
            </a:r>
            <a:r>
              <a:rPr>
                <a:solidFill>
                  <a:srgbClr val="4758AB"/>
                </a:solidFill>
                <a:latin typeface="Courier"/>
              </a:rPr>
              <a:t>round</a:t>
            </a:r>
            <a:r>
              <a:rPr>
                <a:solidFill>
                  <a:srgbClr val="003B4F"/>
                </a:solidFill>
                <a:latin typeface="Courier"/>
              </a:rPr>
              <a:t>(type1b_anova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Type_II_p =</a:t>
            </a:r>
            <a:r>
              <a:rPr>
                <a:solidFill>
                  <a:srgbClr val="003B4F"/>
                </a:solidFill>
                <a:latin typeface="Courier"/>
              </a:rPr>
              <a:t> </a:t>
            </a:r>
            <a:r>
              <a:rPr>
                <a:solidFill>
                  <a:srgbClr val="4758AB"/>
                </a:solidFill>
                <a:latin typeface="Courier"/>
              </a:rPr>
              <a:t>round</a:t>
            </a:r>
            <a:r>
              <a:rPr>
                <a:solidFill>
                  <a:srgbClr val="003B4F"/>
                </a:solidFill>
                <a:latin typeface="Courier"/>
              </a:rPr>
              <a:t>(type2b_anova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Type_III_p =</a:t>
            </a:r>
            <a:r>
              <a:rPr>
                <a:solidFill>
                  <a:srgbClr val="003B4F"/>
                </a:solidFill>
                <a:latin typeface="Courier"/>
              </a:rPr>
              <a:t> </a:t>
            </a:r>
            <a:r>
              <a:rPr>
                <a:solidFill>
                  <a:srgbClr val="4758AB"/>
                </a:solidFill>
                <a:latin typeface="Courier"/>
              </a:rPr>
              <a:t>round</a:t>
            </a:r>
            <a:r>
              <a:rPr>
                <a:solidFill>
                  <a:srgbClr val="003B4F"/>
                </a:solidFill>
                <a:latin typeface="Courier"/>
              </a:rPr>
              <a:t>(type3b_anova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a:t>
            </a:r>
            <a:br/>
            <a:r>
              <a:rPr>
                <a:solidFill>
                  <a:srgbClr val="003B4F"/>
                </a:solidFill>
                <a:latin typeface="Courier"/>
              </a:rPr>
              <a:t>pb_comparison_df</a:t>
            </a:r>
          </a:p>
          <a:p>
            <a:pPr lvl="0" indent="0" marL="0">
              <a:buNone/>
            </a:pPr>
            <a:r>
              <a:rPr/>
              <a:t>✏️ </a:t>
            </a:r>
            <a:r>
              <a:rPr b="1"/>
              <a:t>Your turn:</a:t>
            </a:r>
            <a:r>
              <a:rPr/>
              <a:t> For this </a:t>
            </a:r>
            <a:r>
              <a:rPr i="1"/>
              <a:t>balanced</a:t>
            </a:r>
            <a:r>
              <a:rPr/>
              <a:t> dataset, do the three SS types give the same F-values for the main effects? Is that what you’d expect? </a:t>
            </a:r>
            <a:r>
              <a:rPr>
                <a:latin typeface="Courier"/>
              </a:rPr>
              <a:t>________________________</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The Same Analysis, Unbalanced</a:t>
            </a:r>
          </a:p>
        </p:txBody>
      </p:sp>
      <p:sp>
        <p:nvSpPr>
          <p:cNvPr id="3" name="Content Placeholder 2"/>
          <p:cNvSpPr>
            <a:spLocks noGrp="1"/>
          </p:cNvSpPr>
          <p:nvPr>
            <p:ph idx="1"/>
          </p:nvPr>
        </p:nvSpPr>
        <p:spPr/>
        <p:txBody>
          <a:bodyPr/>
          <a:lstStyle/>
          <a:p>
            <a:pPr lvl="0" indent="0" marL="0">
              <a:buNone/>
            </a:pPr>
            <a:r>
              <a:rPr/>
              <a:t>Now let’s redo the whole analysis on the full, naturally unbalanced </a:t>
            </a:r>
            <a:r>
              <a:rPr>
                <a:latin typeface="Courier"/>
              </a:rPr>
              <a:t>p_df</a:t>
            </a:r>
            <a:r>
              <a:rPr/>
              <a:t> (not the balanced </a:t>
            </a:r>
            <a:r>
              <a:rPr>
                <a:latin typeface="Courier"/>
              </a:rPr>
              <a:t>pb_df</a:t>
            </a:r>
            <a:r>
              <a:rPr/>
              <a:t> subsample) — and see what changes.</a:t>
            </a:r>
          </a:p>
          <a:p>
            <a:pPr lvl="0" indent="0" marL="0">
              <a:buNone/>
            </a:pPr>
            <a:r>
              <a:rPr b="1"/>
              <a:t>▶ Run this</a:t>
            </a:r>
            <a:r>
              <a:rPr/>
              <a:t> — fit the model and check the ANOVA table:</a:t>
            </a:r>
          </a:p>
          <a:p>
            <a:pPr lvl="0" indent="0">
              <a:buNone/>
            </a:pPr>
            <a:r>
              <a:rPr>
                <a:solidFill>
                  <a:srgbClr val="003B4F"/>
                </a:solidFill>
                <a:latin typeface="Courier"/>
              </a:rPr>
              <a:t>pu_model &lt;- </a:t>
            </a:r>
            <a:r>
              <a:rPr>
                <a:solidFill>
                  <a:srgbClr val="4758AB"/>
                </a:solidFill>
                <a:latin typeface="Courier"/>
              </a:rPr>
              <a:t>lm</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p_df)</a:t>
            </a:r>
            <a:br/>
            <a:r>
              <a:rPr>
                <a:solidFill>
                  <a:srgbClr val="4758AB"/>
                </a:solidFill>
                <a:latin typeface="Courier"/>
              </a:rPr>
              <a:t>summary</a:t>
            </a:r>
            <a:r>
              <a:rPr>
                <a:solidFill>
                  <a:srgbClr val="003B4F"/>
                </a:solidFill>
                <a:latin typeface="Courier"/>
              </a:rPr>
              <a:t>(pu_model)</a:t>
            </a:r>
            <a:br/>
            <a:br/>
            <a:r>
              <a:rPr>
                <a:solidFill>
                  <a:srgbClr val="4758AB"/>
                </a:solidFill>
                <a:latin typeface="Courier"/>
              </a:rPr>
              <a:t>Anova</a:t>
            </a:r>
            <a:r>
              <a:rPr>
                <a:solidFill>
                  <a:srgbClr val="003B4F"/>
                </a:solidFill>
                <a:latin typeface="Courier"/>
              </a:rPr>
              <a:t>(pu_model,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r>
              <a:rPr b="1"/>
              <a:t>▶ Run this</a:t>
            </a:r>
            <a:r>
              <a:rPr/>
              <a:t> — diagnostics: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(pu_model)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003B4F"/>
                </a:solidFill>
                <a:latin typeface="Courier"/>
              </a:rPr>
              <a:t>pu_resid_df &lt;- </a:t>
            </a:r>
            <a:r>
              <a:rPr>
                <a:solidFill>
                  <a:srgbClr val="4758AB"/>
                </a:solidFill>
                <a:latin typeface="Courier"/>
              </a:rPr>
              <a:t>augment</a:t>
            </a:r>
            <a:r>
              <a:rPr>
                <a:solidFill>
                  <a:srgbClr val="003B4F"/>
                </a:solidFill>
                <a:latin typeface="Courier"/>
              </a:rPr>
              <a:t>(pu_model)</a:t>
            </a:r>
            <a:br/>
            <a:br/>
            <a:r>
              <a:rPr>
                <a:solidFill>
                  <a:srgbClr val="4758AB"/>
                </a:solidFill>
                <a:latin typeface="Courier"/>
              </a:rPr>
              <a:t>ggplot</a:t>
            </a:r>
            <a:r>
              <a:rPr>
                <a:solidFill>
                  <a:srgbClr val="003B4F"/>
                </a:solidFill>
                <a:latin typeface="Courier"/>
              </a:rPr>
              <a:t>(pu_resid_df,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br/>
            <a:b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(pu_model))</a:t>
            </a:r>
            <a:br/>
            <a:b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p_df)</a:t>
            </a:r>
          </a:p>
          <a:p>
            <a:pPr lvl="0" indent="0" marL="0">
              <a:buNone/>
            </a:pPr>
            <a:r>
              <a:rPr b="1"/>
              <a:t>▶ Run this</a:t>
            </a:r>
            <a:r>
              <a:rPr/>
              <a:t> — EMMs, pairwise comparisons, and the interaction plot:</a:t>
            </a:r>
          </a:p>
          <a:p>
            <a:pPr lvl="0" indent="0">
              <a:buNone/>
            </a:pPr>
            <a:r>
              <a:rPr>
                <a:solidFill>
                  <a:srgbClr val="003B4F"/>
                </a:solidFill>
                <a:latin typeface="Courier"/>
              </a:rPr>
              <a:t>sppu_emm &lt;- </a:t>
            </a:r>
            <a:r>
              <a:rPr>
                <a:solidFill>
                  <a:srgbClr val="4758AB"/>
                </a:solidFill>
                <a:latin typeface="Courier"/>
              </a:rPr>
              <a:t>emmeans</a:t>
            </a:r>
            <a:r>
              <a:rPr>
                <a:solidFill>
                  <a:srgbClr val="003B4F"/>
                </a:solidFill>
                <a:latin typeface="Courier"/>
              </a:rPr>
              <a:t>(pu_model, </a:t>
            </a:r>
            <a:r>
              <a:rPr>
                <a:solidFill>
                  <a:srgbClr val="5E5E5E"/>
                </a:solidFill>
                <a:latin typeface="Courier"/>
              </a:rPr>
              <a:t>~</a:t>
            </a:r>
            <a:r>
              <a:rPr>
                <a:solidFill>
                  <a:srgbClr val="003B4F"/>
                </a:solidFill>
                <a:latin typeface="Courier"/>
              </a:rPr>
              <a:t> spp)</a:t>
            </a:r>
            <a:br/>
            <a:r>
              <a:rPr>
                <a:solidFill>
                  <a:srgbClr val="003B4F"/>
                </a:solidFill>
                <a:latin typeface="Courier"/>
              </a:rPr>
              <a:t>sppu_emm</a:t>
            </a:r>
            <a:br/>
            <a:r>
              <a:rPr>
                <a:solidFill>
                  <a:srgbClr val="4758AB"/>
                </a:solidFill>
                <a:latin typeface="Courier"/>
              </a:rPr>
              <a:t>pairs</a:t>
            </a:r>
            <a:r>
              <a:rPr>
                <a:solidFill>
                  <a:srgbClr val="003B4F"/>
                </a:solidFill>
                <a:latin typeface="Courier"/>
              </a:rPr>
              <a:t>(sppu_emm)</a:t>
            </a:r>
            <a:br/>
            <a:br/>
            <a:r>
              <a:rPr>
                <a:solidFill>
                  <a:srgbClr val="003B4F"/>
                </a:solidFill>
                <a:latin typeface="Courier"/>
              </a:rPr>
              <a:t>sexu_emm &lt;- </a:t>
            </a:r>
            <a:r>
              <a:rPr>
                <a:solidFill>
                  <a:srgbClr val="4758AB"/>
                </a:solidFill>
                <a:latin typeface="Courier"/>
              </a:rPr>
              <a:t>emmeans</a:t>
            </a:r>
            <a:r>
              <a:rPr>
                <a:solidFill>
                  <a:srgbClr val="003B4F"/>
                </a:solidFill>
                <a:latin typeface="Courier"/>
              </a:rPr>
              <a:t>(pu_model, </a:t>
            </a:r>
            <a:r>
              <a:rPr>
                <a:solidFill>
                  <a:srgbClr val="5E5E5E"/>
                </a:solidFill>
                <a:latin typeface="Courier"/>
              </a:rPr>
              <a:t>~</a:t>
            </a:r>
            <a:r>
              <a:rPr>
                <a:solidFill>
                  <a:srgbClr val="003B4F"/>
                </a:solidFill>
                <a:latin typeface="Courier"/>
              </a:rPr>
              <a:t> sex)</a:t>
            </a:r>
            <a:br/>
            <a:r>
              <a:rPr>
                <a:solidFill>
                  <a:srgbClr val="003B4F"/>
                </a:solidFill>
                <a:latin typeface="Courier"/>
              </a:rPr>
              <a:t>sexu_emm</a:t>
            </a:r>
            <a:br/>
            <a:r>
              <a:rPr>
                <a:solidFill>
                  <a:srgbClr val="4758AB"/>
                </a:solidFill>
                <a:latin typeface="Courier"/>
              </a:rPr>
              <a:t>pairs</a:t>
            </a:r>
            <a:r>
              <a:rPr>
                <a:solidFill>
                  <a:srgbClr val="003B4F"/>
                </a:solidFill>
                <a:latin typeface="Courier"/>
              </a:rPr>
              <a:t>(sexu_emm)</a:t>
            </a:r>
            <a:br/>
            <a:br/>
            <a:r>
              <a:rPr>
                <a:solidFill>
                  <a:srgbClr val="003B4F"/>
                </a:solidFill>
                <a:latin typeface="Courier"/>
              </a:rPr>
              <a:t>interactionu_emm &lt;- </a:t>
            </a:r>
            <a:r>
              <a:rPr>
                <a:solidFill>
                  <a:srgbClr val="4758AB"/>
                </a:solidFill>
                <a:latin typeface="Courier"/>
              </a:rPr>
              <a:t>emmeans</a:t>
            </a:r>
            <a:r>
              <a:rPr>
                <a:solidFill>
                  <a:srgbClr val="003B4F"/>
                </a:solidFill>
                <a:latin typeface="Courier"/>
              </a:rPr>
              <a:t>(pu_model,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a:t>
            </a:r>
            <a:br/>
            <a:r>
              <a:rPr>
                <a:solidFill>
                  <a:srgbClr val="003B4F"/>
                </a:solidFill>
                <a:latin typeface="Courier"/>
              </a:rPr>
              <a:t>interactionu_emm</a:t>
            </a:r>
            <a:br/>
            <a:br/>
            <a:r>
              <a:rPr>
                <a:solidFill>
                  <a:srgbClr val="5E5E5E"/>
                </a:solidFill>
                <a:latin typeface="Courier"/>
              </a:rPr>
              <a:t># Compare to raw means</a:t>
            </a:r>
            <a:b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raw_mean)</a:t>
            </a:r>
            <a:br/>
            <a:br/>
            <a:r>
              <a:rPr>
                <a:solidFill>
                  <a:srgbClr val="003B4F"/>
                </a:solidFill>
                <a:latin typeface="Courier"/>
              </a:rPr>
              <a:t>cldu_interaction &lt;- multcomp</a:t>
            </a:r>
            <a:r>
              <a:rPr>
                <a:solidFill>
                  <a:srgbClr val="5E5E5E"/>
                </a:solidFill>
                <a:latin typeface="Courier"/>
              </a:rPr>
              <a:t>::</a:t>
            </a:r>
            <a:r>
              <a:rPr>
                <a:solidFill>
                  <a:srgbClr val="4758AB"/>
                </a:solidFill>
                <a:latin typeface="Courier"/>
              </a:rPr>
              <a:t>cld</a:t>
            </a:r>
            <a:r>
              <a:rPr>
                <a:solidFill>
                  <a:srgbClr val="003B4F"/>
                </a:solidFill>
                <a:latin typeface="Courier"/>
              </a:rPr>
              <a:t>(interactionu_emm,</a:t>
            </a:r>
            <a:b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cldu_df &lt;- </a:t>
            </a:r>
            <a:r>
              <a:rPr>
                <a:solidFill>
                  <a:srgbClr val="4758AB"/>
                </a:solidFill>
                <a:latin typeface="Courier"/>
              </a:rPr>
              <a:t>as.data.frame</a:t>
            </a:r>
            <a:r>
              <a:rPr>
                <a:solidFill>
                  <a:srgbClr val="003B4F"/>
                </a:solidFill>
                <a:latin typeface="Courier"/>
              </a:rPr>
              <a:t>(cldu_interaction)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r>
              <a:rPr>
                <a:solidFill>
                  <a:srgbClr val="4758AB"/>
                </a:solidFill>
                <a:latin typeface="Courier"/>
              </a:rPr>
              <a:t>print</a:t>
            </a:r>
            <a:r>
              <a:rPr>
                <a:solidFill>
                  <a:srgbClr val="003B4F"/>
                </a:solidFill>
                <a:latin typeface="Courier"/>
              </a:rPr>
              <a:t>(cldu_df)</a:t>
            </a:r>
            <a:br/>
            <a:br/>
            <a:r>
              <a:rPr>
                <a:solidFill>
                  <a:srgbClr val="4758AB"/>
                </a:solidFill>
                <a:latin typeface="Courier"/>
              </a:rPr>
              <a:t>emmip</a:t>
            </a:r>
            <a:r>
              <a:rPr>
                <a:solidFill>
                  <a:srgbClr val="003B4F"/>
                </a:solidFill>
                <a:latin typeface="Courier"/>
              </a:rPr>
              <a:t>(pu_model, sex </a:t>
            </a:r>
            <a:r>
              <a:rPr>
                <a:solidFill>
                  <a:srgbClr val="5E5E5E"/>
                </a:solidFill>
                <a:latin typeface="Courier"/>
              </a:rPr>
              <a:t>~</a:t>
            </a:r>
            <a:r>
              <a:rPr>
                <a:solidFill>
                  <a:srgbClr val="003B4F"/>
                </a:solidFill>
                <a:latin typeface="Courier"/>
              </a:rPr>
              <a:t> spp, </a:t>
            </a:r>
            <a:r>
              <a:rPr>
                <a:solidFill>
                  <a:srgbClr val="657422"/>
                </a:solidFill>
                <a:latin typeface="Courier"/>
              </a:rPr>
              <a:t>CIs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"Interaction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"Body Mass (g)"</a:t>
            </a:r>
            <a:r>
              <a:rPr>
                <a:solidFill>
                  <a:srgbClr val="003B4F"/>
                </a:solidFill>
                <a:latin typeface="Courier"/>
              </a:rPr>
              <a:t>)</a:t>
            </a:r>
          </a:p>
          <a:p>
            <a:pPr lvl="0" indent="0" marL="0">
              <a:buNone/>
            </a:pPr>
            <a:r>
              <a:rPr b="1"/>
              <a:t>▶ Run this</a:t>
            </a:r>
            <a:r>
              <a:rPr/>
              <a:t> — compare all three SS types on the unbalanced data:</a:t>
            </a:r>
          </a:p>
          <a:p>
            <a:pPr lvl="0" indent="0">
              <a:buNone/>
            </a:pPr>
            <a:r>
              <a:rPr>
                <a:solidFill>
                  <a:srgbClr val="003B4F"/>
                </a:solidFill>
                <a:latin typeface="Courier"/>
              </a:rPr>
              <a:t>type1_anova &lt;- </a:t>
            </a:r>
            <a:r>
              <a:rPr>
                <a:solidFill>
                  <a:srgbClr val="4758AB"/>
                </a:solidFill>
                <a:latin typeface="Courier"/>
              </a:rPr>
              <a:t>anova</a:t>
            </a:r>
            <a:r>
              <a:rPr>
                <a:solidFill>
                  <a:srgbClr val="003B4F"/>
                </a:solidFill>
                <a:latin typeface="Courier"/>
              </a:rPr>
              <a:t>(pu_model)</a:t>
            </a:r>
            <a:br/>
            <a:r>
              <a:rPr>
                <a:solidFill>
                  <a:srgbClr val="003B4F"/>
                </a:solidFill>
                <a:latin typeface="Courier"/>
              </a:rPr>
              <a:t>type1_anova</a:t>
            </a:r>
            <a:br/>
            <a:br/>
            <a:r>
              <a:rPr>
                <a:solidFill>
                  <a:srgbClr val="003B4F"/>
                </a:solidFill>
                <a:latin typeface="Courier"/>
              </a:rPr>
              <a:t>type2_anova &lt;- </a:t>
            </a:r>
            <a:r>
              <a:rPr>
                <a:solidFill>
                  <a:srgbClr val="4758AB"/>
                </a:solidFill>
                <a:latin typeface="Courier"/>
              </a:rPr>
              <a:t>Anova</a:t>
            </a:r>
            <a:r>
              <a:rPr>
                <a:solidFill>
                  <a:srgbClr val="003B4F"/>
                </a:solidFill>
                <a:latin typeface="Courier"/>
              </a:rPr>
              <a:t>(pu_model, </a:t>
            </a:r>
            <a:r>
              <a:rPr>
                <a:solidFill>
                  <a:srgbClr val="657422"/>
                </a:solidFill>
                <a:latin typeface="Courier"/>
              </a:rPr>
              <a:t>type =</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type2_anova</a:t>
            </a:r>
            <a:br/>
            <a:br/>
            <a:r>
              <a:rPr>
                <a:solidFill>
                  <a:srgbClr val="003B4F"/>
                </a:solidFill>
                <a:latin typeface="Courier"/>
              </a:rPr>
              <a:t>type3_anova &lt;- </a:t>
            </a:r>
            <a:r>
              <a:rPr>
                <a:solidFill>
                  <a:srgbClr val="4758AB"/>
                </a:solidFill>
                <a:latin typeface="Courier"/>
              </a:rPr>
              <a:t>Anova</a:t>
            </a:r>
            <a:r>
              <a:rPr>
                <a:solidFill>
                  <a:srgbClr val="003B4F"/>
                </a:solidFill>
                <a:latin typeface="Courier"/>
              </a:rPr>
              <a:t>(pu_model,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type3_anova</a:t>
            </a:r>
            <a:br/>
            <a:br/>
            <a:r>
              <a:rPr>
                <a:solidFill>
                  <a:srgbClr val="003B4F"/>
                </a:solidFill>
                <a:latin typeface="Courier"/>
              </a:rPr>
              <a:t>ss_comparison_df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"Species:Sex"</a:t>
            </a:r>
            <a:r>
              <a:rPr>
                <a:solidFill>
                  <a:srgbClr val="003B4F"/>
                </a:solidFill>
                <a:latin typeface="Courier"/>
              </a:rPr>
              <a:t>),</a:t>
            </a:r>
            <a:br/>
            <a:r>
              <a:rPr>
                <a:solidFill>
                  <a:srgbClr val="003B4F"/>
                </a:solidFill>
                <a:latin typeface="Courier"/>
              </a:rPr>
              <a:t>  </a:t>
            </a:r>
            <a:r>
              <a:rPr>
                <a:solidFill>
                  <a:srgbClr val="657422"/>
                </a:solidFill>
                <a:latin typeface="Courier"/>
              </a:rPr>
              <a:t>Type_I_F =</a:t>
            </a:r>
            <a:r>
              <a:rPr>
                <a:solidFill>
                  <a:srgbClr val="003B4F"/>
                </a:solidFill>
                <a:latin typeface="Courier"/>
              </a:rPr>
              <a:t> </a:t>
            </a:r>
            <a:r>
              <a:rPr>
                <a:solidFill>
                  <a:srgbClr val="4758AB"/>
                </a:solidFill>
                <a:latin typeface="Courier"/>
              </a:rPr>
              <a:t>round</a:t>
            </a:r>
            <a:r>
              <a:rPr>
                <a:solidFill>
                  <a:srgbClr val="003B4F"/>
                </a:solidFill>
                <a:latin typeface="Courier"/>
              </a:rPr>
              <a:t>(type1_anova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Type_II_F =</a:t>
            </a:r>
            <a:r>
              <a:rPr>
                <a:solidFill>
                  <a:srgbClr val="003B4F"/>
                </a:solidFill>
                <a:latin typeface="Courier"/>
              </a:rPr>
              <a:t> </a:t>
            </a:r>
            <a:r>
              <a:rPr>
                <a:solidFill>
                  <a:srgbClr val="4758AB"/>
                </a:solidFill>
                <a:latin typeface="Courier"/>
              </a:rPr>
              <a:t>round</a:t>
            </a:r>
            <a:r>
              <a:rPr>
                <a:solidFill>
                  <a:srgbClr val="003B4F"/>
                </a:solidFill>
                <a:latin typeface="Courier"/>
              </a:rPr>
              <a:t>(type2_anova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Type_III_F =</a:t>
            </a:r>
            <a:r>
              <a:rPr>
                <a:solidFill>
                  <a:srgbClr val="003B4F"/>
                </a:solidFill>
                <a:latin typeface="Courier"/>
              </a:rPr>
              <a:t> </a:t>
            </a:r>
            <a:r>
              <a:rPr>
                <a:solidFill>
                  <a:srgbClr val="4758AB"/>
                </a:solidFill>
                <a:latin typeface="Courier"/>
              </a:rPr>
              <a:t>round</a:t>
            </a:r>
            <a:r>
              <a:rPr>
                <a:solidFill>
                  <a:srgbClr val="003B4F"/>
                </a:solidFill>
                <a:latin typeface="Courier"/>
              </a:rPr>
              <a:t>(type3_anova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a:t>
            </a:r>
            <a:br/>
            <a:r>
              <a:rPr>
                <a:solidFill>
                  <a:srgbClr val="003B4F"/>
                </a:solidFill>
                <a:latin typeface="Courier"/>
              </a:rPr>
              <a:t>ss_comparison_df</a:t>
            </a:r>
          </a:p>
          <a:p>
            <a:pPr lvl="0" indent="0" marL="0">
              <a:buNone/>
            </a:pPr>
            <a:r>
              <a:rPr/>
              <a:t>✏️ </a:t>
            </a:r>
            <a:r>
              <a:rPr b="1"/>
              <a:t>Your turn:</a:t>
            </a:r>
            <a:r>
              <a:rPr/>
              <a:t> Now compare </a:t>
            </a:r>
            <a:r>
              <a:rPr>
                <a:latin typeface="Courier"/>
              </a:rPr>
              <a:t>ss_comparison_df</a:t>
            </a:r>
            <a:r>
              <a:rPr/>
              <a:t> from this </a:t>
            </a:r>
            <a:r>
              <a:rPr i="1"/>
              <a:t>unbalanced</a:t>
            </a:r>
            <a:r>
              <a:rPr/>
              <a:t> run to </a:t>
            </a:r>
            <a:r>
              <a:rPr>
                <a:latin typeface="Courier"/>
              </a:rPr>
              <a:t>ssb_comparison_df</a:t>
            </a:r>
            <a:r>
              <a:rPr/>
              <a:t> from Part 6. Do the three SS types now disagree with each other? </a:t>
            </a:r>
            <a:r>
              <a:rPr>
                <a:latin typeface="Courier"/>
              </a:rPr>
              <a:t>________________________</a:t>
            </a:r>
          </a:p>
          <a:p>
            <a:pPr lvl="0" indent="0" marL="1270000">
              <a:buNone/>
            </a:pPr>
            <a:r>
              <a:rPr sz="2000" b="1"/>
              <a:t>Tip</a:t>
            </a:r>
          </a:p>
          <a:p>
            <a:pPr lvl="0" indent="0" marL="1270000">
              <a:buNone/>
            </a:pPr>
            <a:r>
              <a:rPr sz="2000" b="1"/>
              <a:t>🚀 If you finish early:</a:t>
            </a:r>
            <a:r>
              <a:rPr sz="2000"/>
              <a:t> Compute the difference in AIC between </a:t>
            </a:r>
            <a:r>
              <a:rPr sz="2000">
                <a:latin typeface="Courier"/>
              </a:rPr>
              <a:t>pb_model</a:t>
            </a:r>
            <a:r>
              <a:rPr sz="2000"/>
              <a:t> (balanced) and </a:t>
            </a:r>
            <a:r>
              <a:rPr sz="2000">
                <a:latin typeface="Courier"/>
              </a:rPr>
              <a:t>pu_model</a:t>
            </a:r>
            <a:r>
              <a:rPr sz="2000"/>
              <a:t> (unbalanced) — they’re not directly comparable since they’re fit to different data, but compare their </a:t>
            </a:r>
            <a:r>
              <a:rPr sz="2000">
                <a:latin typeface="Courier"/>
              </a:rPr>
              <a:t>summary()$r.squared</a:t>
            </a:r>
            <a:r>
              <a:rPr sz="2000"/>
              <a:t> instead. Does using </a:t>
            </a:r>
            <a:r>
              <a:rPr sz="2000" i="1"/>
              <a:t>more</a:t>
            </a:r>
            <a:r>
              <a:rPr sz="2000"/>
              <a:t> (unbalanced) data change how much variance is explained?</a:t>
            </a:r>
          </a:p>
          <a:p>
            <a:pPr lvl="0" indent="0">
              <a:buNone/>
            </a:pPr>
            <a:r>
              <a:rPr>
                <a:solidFill>
                  <a:srgbClr val="5E5E5E"/>
                </a:solidFill>
                <a:latin typeface="Courier"/>
              </a:rPr>
              <a:t># Write your code here: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Writing Up the Results</a:t>
            </a:r>
          </a:p>
        </p:txBody>
      </p:sp>
      <p:sp>
        <p:nvSpPr>
          <p:cNvPr id="3" name="Content Placeholder 2"/>
          <p:cNvSpPr>
            <a:spLocks noGrp="1"/>
          </p:cNvSpPr>
          <p:nvPr>
            <p:ph idx="1"/>
          </p:nvPr>
        </p:nvSpPr>
        <p:spPr/>
        <p:txBody>
          <a:bodyPr/>
          <a:lstStyle/>
          <a:p>
            <a:pPr lvl="0" indent="0" marL="0">
              <a:buNone/>
            </a:pPr>
            <a:r>
              <a:rPr/>
              <a:t>A two-way factorial ANOVA revealed that body mass in penguins was significantly affected by both species and sex. Linear model coefficient estimates indicated that body mass in the reference condition (Adelie females) was some baseline value; males weighed a certain amount more than females on average; Chinstrap and Gentoo penguins each differed from Adelie by their own amount. Post-hoc pairwise comparisons using estimated marginal means with Tukey adjustment showed significant differences between species pairs. Type III sums of squares were used to account for the unbalanced design, with Type I and Type II SS showing similar results for the main effects when the interaction was not the primary focus.</a:t>
            </a:r>
          </a:p>
          <a:p>
            <a:pPr lvl="0" indent="0" marL="0">
              <a:buNone/>
            </a:pPr>
            <a:r>
              <a:rPr/>
              <a:t>✏️ </a:t>
            </a:r>
            <a:r>
              <a:rPr b="1"/>
              <a:t>Your turn:</a:t>
            </a:r>
            <a:r>
              <a:rPr/>
              <a:t> Using your own </a:t>
            </a:r>
            <a:r>
              <a:rPr>
                <a:latin typeface="Courier"/>
              </a:rPr>
              <a:t>pu_model</a:t>
            </a:r>
            <a:r>
              <a:rPr/>
              <a:t> output from Part 7, fill in the specific numbers for this results paragraph — the F-statistics, degrees of freedom, p-values, and coefficient estimates.</a:t>
            </a:r>
          </a:p>
          <a:p>
            <a:pPr lvl="0" indent="0">
              <a:buNone/>
            </a:pPr>
            <a:r>
              <a:rPr>
                <a:latin typeface="Courier"/>
              </a:rPr>
              <a:t>________________________________________________________
________________________________________________________
________________________________________________________</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Build a balanced subsample from an unbalanced dataset</a:t>
            </a:r>
          </a:p>
          <a:p>
            <a:pPr lvl="0"/>
            <a:r>
              <a:rPr/>
              <a:t>☐ Fit a two-way factorial ANOVA with </a:t>
            </a:r>
            <a:r>
              <a:rPr>
                <a:latin typeface="Courier"/>
              </a:rPr>
              <a:t>lm()</a:t>
            </a:r>
            <a:r>
              <a:rPr/>
              <a:t> and interpret main effects and the interaction</a:t>
            </a:r>
          </a:p>
          <a:p>
            <a:pPr lvl="0"/>
            <a:r>
              <a:rPr/>
              <a:t>☐ Check ANOVA assumptions with diagnostic plots, Shapiro-Wilk, and Levene’s test</a:t>
            </a:r>
          </a:p>
          <a:p>
            <a:pPr lvl="0"/>
            <a:r>
              <a:rPr/>
              <a:t>☐ Compute estimated marginal means and pairwise/interaction comparisons with </a:t>
            </a:r>
            <a:r>
              <a:rPr>
                <a:latin typeface="Courier"/>
              </a:rPr>
              <a:t>emmeans()</a:t>
            </a:r>
          </a:p>
          <a:p>
            <a:pPr lvl="0"/>
            <a:r>
              <a:rPr/>
              <a:t>☐ Explain the difference between Type I, Type II, and Type III sums of squares, and when they agree vs. disagree</a:t>
            </a:r>
          </a:p>
          <a:p>
            <a:pPr lvl="0"/>
            <a:r>
              <a:rPr/>
              <a:t>☐ Explain why EMMs differ from simple group means in an unbalanced design</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13_two_way_anova.R</a:t>
            </a:r>
            <a:r>
              <a:rPr sz="2000"/>
              <a:t>)</a:t>
            </a:r>
          </a:p>
          <a:p>
            <a:pPr lvl="0" indent="-342900" marL="342900">
              <a:buAutoNum type="arabicPeriod"/>
            </a:pPr>
            <a:r>
              <a:rPr sz="2000"/>
              <a:t>This worksheet, with your written answers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library(palmerpenguins)</a:t>
            </a:r>
            <a:r>
              <a:rPr/>
              <a:t>, </a:t>
            </a:r>
            <a:r>
              <a:rPr>
                <a:latin typeface="Courier"/>
              </a:rPr>
              <a:t>library(car)</a:t>
            </a:r>
            <a:r>
              <a:rPr/>
              <a:t>, </a:t>
            </a:r>
            <a:r>
              <a:rPr>
                <a:latin typeface="Courier"/>
              </a:rPr>
              <a:t>library(emmeans)</a:t>
            </a:r>
            <a:r>
              <a:rPr/>
              <a:t>, </a:t>
            </a:r>
            <a:r>
              <a:rPr>
                <a:latin typeface="Courier"/>
              </a:rPr>
              <a:t>library(broom)</a:t>
            </a:r>
            <a:r>
              <a:rPr/>
              <a:t>, and </a:t>
            </a:r>
            <a:r>
              <a:rPr>
                <a:latin typeface="Courier"/>
              </a:rPr>
              <a:t>library(tidyverse)</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Two-Way ANOVA</dc:title>
  <dc:creator>Bill Perry</dc:creator>
  <cp:keywords/>
  <dc:description>Hands-on activity: factorial ANOVA, estimated marginal means, and Type I/II/III sums of squares, run on both a balanced and a naturally unbalanced version of the palmerpenguins species-by-sex dataset.</dc:description>
  <dcterms:created xsi:type="dcterms:W3CDTF">2026-08-24T18:46:07Z</dcterms:created>
  <dcterms:modified xsi:type="dcterms:W3CDTF">2026-08-24T18:46:07Z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13</vt:lpwstr>
  </property>
  <property fmtid="{D5CDD505-2E9C-101B-9397-08002B2CF9AE}" pid="13" name="resources">
    <vt:lpwstr/>
  </property>
  <property fmtid="{D5CDD505-2E9C-101B-9397-08002B2CF9AE}" pid="14" name="subtitle">
    <vt:lpwstr>Factorial designs</vt:lpwstr>
  </property>
  <property fmtid="{D5CDD505-2E9C-101B-9397-08002B2CF9AE}" pid="15" name="toc-title">
    <vt:lpwstr>Table of contents</vt:lpwstr>
  </property>
  <property fmtid="{D5CDD505-2E9C-101B-9397-08002B2CF9AE}" pid="16" name="week">
    <vt:lpwstr>7</vt:lpwstr>
  </property>
</Properties>
</file>