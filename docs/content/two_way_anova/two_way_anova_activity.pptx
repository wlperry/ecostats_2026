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CC31"/>
    <a:srgbClr val="70121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726"/>
  </p:normalViewPr>
  <p:slideViewPr>
    <p:cSldViewPr snapToGrid="0" snapToObjects="1">
      <p:cViewPr varScale="1">
        <p:scale>
          <a:sx d="100" n="165"/>
          <a:sy d="100" n="165"/>
        </p:scale>
        <p:origin x="560" y="17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5" Type="http://schemas.openxmlformats.org/officeDocument/2006/relationships/viewProps" Target="viewProps.xml" /><Relationship Id="rId14" Type="http://schemas.openxmlformats.org/officeDocument/2006/relationships/presProps" Target="presProps.xml" /><Relationship Id="rId1" Type="http://schemas.openxmlformats.org/officeDocument/2006/relationships/slideMaster" Target="slideMasters/slideMaster1.xml" /><Relationship Id="rId17" Type="http://schemas.openxmlformats.org/officeDocument/2006/relationships/tableStyles" Target="tableStyles.xml" /><Relationship Id="rId16"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normAutofit/>
          </a:bodyPr>
          <a:lstStyle>
            <a:lvl1pPr>
              <a:defRPr sz="2400"/>
            </a:lvl1pPr>
          </a:lstStyle>
          <a:p>
            <a:r>
              <a:rPr lang="en-US" dirty="0"/>
              <a:t>Click to edit Master title style</a:t>
            </a:r>
          </a:p>
        </p:txBody>
      </p:sp>
      <p:sp>
        <p:nvSpPr>
          <p:cNvPr id="3" name="Subtitle 2"/>
          <p:cNvSpPr>
            <a:spLocks noGrp="1"/>
          </p:cNvSpPr>
          <p:nvPr>
            <p:ph type="subTitle" idx="1"/>
          </p:nvPr>
        </p:nvSpPr>
        <p:spPr>
          <a:xfrm>
            <a:off x="255722" y="565689"/>
            <a:ext cx="6400800" cy="1314450"/>
          </a:xfrm>
        </p:spPr>
        <p:txBody>
          <a:bodyPr>
            <a:normAutofit/>
          </a:bodyPr>
          <a:lstStyle>
            <a:lvl1pPr marL="0" indent="0" algn="ctr">
              <a:buNone/>
              <a:defRPr sz="2000">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normAutofit/>
          </a:bodyPr>
          <a:lstStyle>
            <a:lvl1pPr algn="l">
              <a:defRPr sz="2400"/>
            </a:lvl1pPr>
          </a:lstStyle>
          <a:p>
            <a:r>
              <a:rPr lang="en-US" dirty="0"/>
              <a:t>Click to edit Master title style</a:t>
            </a:r>
          </a:p>
        </p:txBody>
      </p:sp>
      <p:sp>
        <p:nvSpPr>
          <p:cNvPr id="3" name="Content Placeholder 2"/>
          <p:cNvSpPr>
            <a:spLocks noGrp="1"/>
          </p:cNvSpPr>
          <p:nvPr>
            <p:ph idx="1"/>
          </p:nvPr>
        </p:nvSpPr>
        <p:spPr>
          <a:xfrm>
            <a:off x="0" y="614605"/>
            <a:ext cx="9089756" cy="3914289"/>
          </a:xfrm>
        </p:spPr>
        <p:txBody>
          <a:bodyPr>
            <a:normAutofit/>
          </a:bodyPr>
          <a:lstStyle>
            <a:lvl1pPr marL="230188" indent="-230188">
              <a:tabLst/>
              <a:defRPr sz="1800"/>
            </a:lvl1pPr>
            <a:lvl2pPr marL="514350" indent="-284163">
              <a:spcBef>
                <a:spcPts val="0"/>
              </a:spcBef>
              <a:tabLst/>
              <a:defRPr sz="1600"/>
            </a:lvl2pPr>
            <a:lvl3pPr marL="692150" indent="-177800">
              <a:spcBef>
                <a:spcPts val="0"/>
              </a:spcBef>
              <a:tabLst/>
              <a:defRPr sz="1400"/>
            </a:lvl3pPr>
            <a:lvl4pPr marL="914400" indent="-222250">
              <a:spcBef>
                <a:spcPts val="0"/>
              </a:spcBef>
              <a:tabLst/>
              <a:defRPr sz="1400"/>
            </a:lvl4pPr>
            <a:lvl5pPr marL="1146175" indent="-231775">
              <a:spcBef>
                <a:spcPts val="0"/>
              </a:spcBef>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21556"/>
          </a:xfrm>
        </p:spPr>
        <p:txBody>
          <a:bodyPr anchor="t">
            <a:normAutofit/>
          </a:bodyPr>
          <a:lstStyle>
            <a:lvl1pPr algn="l">
              <a:defRPr sz="2400" b="1" cap="all"/>
            </a:lvl1pPr>
          </a:lstStyle>
          <a:p>
            <a:r>
              <a:rPr lang="en-US" dirty="0"/>
              <a:t>Click to edit Master title style</a:t>
            </a:r>
          </a:p>
        </p:txBody>
      </p:sp>
      <p:sp>
        <p:nvSpPr>
          <p:cNvPr id="3" name="Text Placeholder 2"/>
          <p:cNvSpPr>
            <a:spLocks noGrp="1"/>
          </p:cNvSpPr>
          <p:nvPr>
            <p:ph type="body" idx="1"/>
          </p:nvPr>
        </p:nvSpPr>
        <p:spPr>
          <a:xfrm>
            <a:off x="457200" y="1141649"/>
            <a:ext cx="7772400" cy="1125140"/>
          </a:xfrm>
        </p:spPr>
        <p:txBody>
          <a:bodyPr anchor="b">
            <a:normAutofit/>
          </a:bodyPr>
          <a:lstStyle>
            <a:lvl1pPr marL="0" indent="0">
              <a:buNone/>
              <a:defRPr sz="16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lvl1pPr algn="l">
              <a:defRPr b="0">
                <a:solidFill>
                  <a:srgbClr val="FDCC31"/>
                </a:solidFill>
              </a:defRPr>
            </a:lvl1pPr>
          </a:lstStyle>
          <a:p>
            <a:r>
              <a:rPr lang="en-US" dirty="0"/>
              <a:t>Click to edit Master title style</a:t>
            </a:r>
          </a:p>
        </p:txBody>
      </p:sp>
      <p:sp>
        <p:nvSpPr>
          <p:cNvPr id="3" name="Content Placeholder 2"/>
          <p:cNvSpPr>
            <a:spLocks noGrp="1"/>
          </p:cNvSpPr>
          <p:nvPr>
            <p:ph sz="half" idx="1"/>
          </p:nvPr>
        </p:nvSpPr>
        <p:spPr>
          <a:xfrm>
            <a:off x="9040" y="662663"/>
            <a:ext cx="6010759" cy="4480837"/>
          </a:xfrm>
        </p:spPr>
        <p:txBody>
          <a:bodyPr>
            <a:normAutofit/>
          </a:bodyPr>
          <a:lstStyle>
            <a:lvl1pPr marL="230188" indent="-230188">
              <a:tabLst/>
              <a:defRPr sz="1800"/>
            </a:lvl1pPr>
            <a:lvl2pPr marL="460375" indent="-230188">
              <a:tabLst/>
              <a:defRPr sz="1600"/>
            </a:lvl2pPr>
            <a:lvl3pPr marL="630238" indent="-169863">
              <a:tabLst/>
              <a:defRPr sz="1400"/>
            </a:lvl3pPr>
            <a:lvl4pPr marL="914400" indent="-284163">
              <a:tabLst/>
              <a:defRPr sz="1400"/>
            </a:lvl4pPr>
            <a:lvl5pPr marL="1146175" indent="-231775">
              <a:tabLst/>
              <a:defRPr sz="140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29580" y="662664"/>
            <a:ext cx="2790986" cy="4480836"/>
          </a:xfrm>
        </p:spPr>
        <p:txBody>
          <a:bodyPr>
            <a:normAutofit/>
          </a:bodyPr>
          <a:lstStyle>
            <a:lvl1pPr marL="342900" indent="-342900">
              <a:defRPr lang="en-US" sz="1800" kern="1200" dirty="0">
                <a:solidFill>
                  <a:schemeClr val="tx1"/>
                </a:solidFill>
                <a:latin typeface="+mn-lt"/>
                <a:ea typeface="+mn-ea"/>
                <a:cs typeface="+mn-cs"/>
              </a:defRPr>
            </a:lvl1pPr>
            <a:lvl2pPr marL="515937" indent="-285750">
              <a:defRPr lang="en-US" sz="1600" kern="1200" dirty="0">
                <a:solidFill>
                  <a:schemeClr val="tx1"/>
                </a:solidFill>
                <a:latin typeface="+mn-lt"/>
                <a:ea typeface="+mn-ea"/>
                <a:cs typeface="+mn-cs"/>
              </a:defRPr>
            </a:lvl2pPr>
            <a:lvl3pPr marL="746125" indent="-285750">
              <a:defRPr lang="en-US" sz="1400" kern="1200" dirty="0">
                <a:solidFill>
                  <a:schemeClr val="tx1"/>
                </a:solidFill>
                <a:latin typeface="+mn-lt"/>
                <a:ea typeface="+mn-ea"/>
                <a:cs typeface="+mn-cs"/>
              </a:defRPr>
            </a:lvl3pPr>
            <a:lvl4pPr marL="915987" indent="-285750">
              <a:defRPr lang="en-US" sz="1400" kern="1200" dirty="0">
                <a:solidFill>
                  <a:schemeClr val="tx1"/>
                </a:solidFill>
                <a:latin typeface="+mn-lt"/>
                <a:ea typeface="+mn-ea"/>
                <a:cs typeface="+mn-cs"/>
              </a:defRPr>
            </a:lvl4pPr>
            <a:lvl5pPr marL="1200150" indent="-285750">
              <a:defRPr lang="en-US" sz="1400" kern="1200" dirty="0">
                <a:solidFill>
                  <a:schemeClr val="tx1"/>
                </a:solidFill>
                <a:latin typeface="+mn-lt"/>
                <a:ea typeface="+mn-ea"/>
                <a:cs typeface="+mn-cs"/>
              </a:defRPr>
            </a:lvl5pPr>
            <a:lvl6pPr>
              <a:defRPr sz="1350"/>
            </a:lvl6pPr>
            <a:lvl7pPr>
              <a:defRPr sz="1350"/>
            </a:lvl7pPr>
            <a:lvl8pPr>
              <a:defRPr sz="1350"/>
            </a:lvl8pPr>
            <a:lvl9pPr>
              <a:defRPr sz="1350"/>
            </a:lvl9pPr>
          </a:lstStyle>
          <a:p>
            <a:pPr marL="230188" lvl="0" indent="-230188" algn="l" defTabSz="342900" rtl="0" eaLnBrk="1" latinLnBrk="0" hangingPunct="1">
              <a:spcBef>
                <a:spcPct val="20000"/>
              </a:spcBef>
              <a:buFont typeface="Arial"/>
              <a:buChar char="•"/>
              <a:tabLst/>
            </a:pPr>
            <a:r>
              <a:rPr lang="en-US" dirty="0"/>
              <a:t>Click to edit Master text styles</a:t>
            </a:r>
          </a:p>
          <a:p>
            <a:pPr marL="460375" lvl="1" indent="-230188" algn="l" defTabSz="342900" rtl="0" eaLnBrk="1" latinLnBrk="0" hangingPunct="1">
              <a:spcBef>
                <a:spcPct val="20000"/>
              </a:spcBef>
              <a:buFont typeface="Arial"/>
              <a:buChar char="–"/>
              <a:tabLst/>
            </a:pPr>
            <a:r>
              <a:rPr lang="en-US" dirty="0"/>
              <a:t>Second level</a:t>
            </a:r>
          </a:p>
          <a:p>
            <a:pPr marL="630238" lvl="2" indent="-169863" algn="l" defTabSz="342900" rtl="0" eaLnBrk="1" latinLnBrk="0" hangingPunct="1">
              <a:spcBef>
                <a:spcPct val="20000"/>
              </a:spcBef>
              <a:buFont typeface="Arial"/>
              <a:buChar char="•"/>
              <a:tabLst/>
            </a:pPr>
            <a:r>
              <a:rPr lang="en-US" dirty="0"/>
              <a:t>Third level</a:t>
            </a:r>
          </a:p>
          <a:p>
            <a:pPr marL="914400" lvl="3" indent="-284163" algn="l" defTabSz="342900" rtl="0" eaLnBrk="1" latinLnBrk="0" hangingPunct="1">
              <a:spcBef>
                <a:spcPct val="20000"/>
              </a:spcBef>
              <a:buFont typeface="Arial"/>
              <a:buChar char="–"/>
              <a:tabLst/>
            </a:pPr>
            <a:r>
              <a:rPr lang="en-US" dirty="0"/>
              <a:t>Fourth level</a:t>
            </a:r>
          </a:p>
          <a:p>
            <a:pPr marL="1146175" lvl="4" indent="-231775" algn="l" defTabSz="342900" rtl="0" eaLnBrk="1" latinLnBrk="0" hangingPunct="1">
              <a:spcBef>
                <a:spcPct val="20000"/>
              </a:spcBef>
              <a:buFont typeface="Arial"/>
              <a:buChar char="»"/>
              <a:tabLst/>
            </a:pPr>
            <a:r>
              <a:rPr lang="en-US" dirty="0"/>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normAutofit/>
          </a:bodyPr>
          <a:lstStyle>
            <a:lvl1pPr algn="l">
              <a:defRPr sz="2800"/>
            </a:lvl1pPr>
          </a:lstStyle>
          <a:p>
            <a:r>
              <a:rPr lang="en-US" dirty="0"/>
              <a:t>Click to edit Master title style</a:t>
            </a:r>
          </a:p>
        </p:txBody>
      </p:sp>
      <p:sp>
        <p:nvSpPr>
          <p:cNvPr id="3" name="Text Placeholder 2"/>
          <p:cNvSpPr>
            <a:spLocks noGrp="1"/>
          </p:cNvSpPr>
          <p:nvPr>
            <p:ph type="body" idx="1"/>
          </p:nvPr>
        </p:nvSpPr>
        <p:spPr>
          <a:xfrm>
            <a:off x="136201" y="802623"/>
            <a:ext cx="4435799"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136201" y="1282444"/>
            <a:ext cx="4435799" cy="3305054"/>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3514" y="823389"/>
            <a:ext cx="4041775"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53514" y="1303210"/>
            <a:ext cx="4041775" cy="3284288"/>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3/24/25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3/24/25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3/24/25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nchor="t" anchorCtr="0">
            <a:normAutofit/>
          </a:bodyPr>
          <a:lstStyle>
            <a:lvl1pPr algn="l">
              <a:defRPr sz="2400" b="1"/>
            </a:lvl1pPr>
          </a:lstStyle>
          <a:p>
            <a:r>
              <a:rPr lang="en-US"/>
              <a:t>Click to edit Master title style</a:t>
            </a:r>
          </a:p>
        </p:txBody>
      </p:sp>
      <p:sp>
        <p:nvSpPr>
          <p:cNvPr id="3" name="Content Placeholder 2"/>
          <p:cNvSpPr>
            <a:spLocks noGrp="1"/>
          </p:cNvSpPr>
          <p:nvPr>
            <p:ph idx="1"/>
          </p:nvPr>
        </p:nvSpPr>
        <p:spPr>
          <a:xfrm>
            <a:off x="3657600" y="960804"/>
            <a:ext cx="5238426" cy="3806460"/>
          </a:xfrm>
        </p:spPr>
        <p:txBody>
          <a:bodyPr>
            <a:normAutofit/>
          </a:bodyPr>
          <a:lstStyle>
            <a:lvl1pPr>
              <a:defRPr sz="1800"/>
            </a:lvl1pPr>
            <a:lvl2pPr>
              <a:defRPr sz="1600"/>
            </a:lvl2pPr>
            <a:lvl3pPr>
              <a:defRPr sz="1600"/>
            </a:lvl3pPr>
            <a:lvl4pPr>
              <a:defRPr sz="1600"/>
            </a:lvl4pPr>
            <a:lvl5pPr>
              <a:defRPr sz="16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0" y="960803"/>
            <a:ext cx="3541363" cy="3518297"/>
          </a:xfrm>
        </p:spPr>
        <p:txBody>
          <a:bodyPr>
            <a:normAutofit/>
          </a:bodyPr>
          <a:lstStyle>
            <a:lvl1pPr marL="0" indent="0">
              <a:buNone/>
              <a:defRPr sz="16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490" y="102393"/>
            <a:ext cx="8934774" cy="582780"/>
          </a:xfrm>
          <a:prstGeom prst="rect">
            <a:avLst/>
          </a:prstGeom>
          <a:solidFill>
            <a:srgbClr val="70121D"/>
          </a:solidFill>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77489" y="781696"/>
            <a:ext cx="8934773" cy="3914289"/>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3/24/25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2800">
          <a:solidFill>
            <a:srgbClr val="FDCC31"/>
          </a:solidFill>
          <a:latin typeface="+mj-lt"/>
          <a:ea typeface="+mj-ea"/>
          <a:cs typeface="+mj-cs"/>
        </a:defRPr>
      </a:lvl1pPr>
    </p:titleStyle>
    <p:bodyStyle>
      <a:lvl1pPr algn="l" defTabSz="342900" eaLnBrk="1" hangingPunct="1" indent="-342900" latinLnBrk="0" marL="342900" rtl="0">
        <a:spcBef>
          <a:spcPts val="0"/>
        </a:spcBef>
        <a:buFont typeface="Arial"/>
        <a:buChar char="•"/>
        <a:defRPr b="0" kern="1200" sz="1800">
          <a:solidFill>
            <a:schemeClr val="tx1"/>
          </a:solidFill>
          <a:latin typeface="+mn-lt"/>
          <a:ea typeface="+mn-ea"/>
          <a:cs typeface="+mn-cs"/>
        </a:defRPr>
      </a:lvl1pPr>
      <a:lvl2pPr algn="l" defTabSz="342900" eaLnBrk="1" hangingPunct="1" indent="-342900" latinLnBrk="0" marL="685800" rtl="0">
        <a:spcBef>
          <a:spcPts val="0"/>
        </a:spcBef>
        <a:buFont typeface="Arial"/>
        <a:buChar char="–"/>
        <a:defRPr kern="1200" sz="1600">
          <a:solidFill>
            <a:schemeClr val="tx1"/>
          </a:solidFill>
          <a:latin typeface="+mn-lt"/>
          <a:ea typeface="+mn-ea"/>
          <a:cs typeface="+mn-cs"/>
        </a:defRPr>
      </a:lvl2pPr>
      <a:lvl3pPr algn="l" defTabSz="342900" eaLnBrk="1" hangingPunct="1" indent="-342900" latinLnBrk="0" marL="1028700" rtl="0">
        <a:spcBef>
          <a:spcPts val="0"/>
        </a:spcBef>
        <a:buFont typeface="Arial"/>
        <a:buChar char="•"/>
        <a:defRPr kern="1200" sz="1600">
          <a:solidFill>
            <a:schemeClr val="tx1"/>
          </a:solidFill>
          <a:latin typeface="+mn-lt"/>
          <a:ea typeface="+mn-ea"/>
          <a:cs typeface="+mn-cs"/>
        </a:defRPr>
      </a:lvl3pPr>
      <a:lvl4pPr algn="l" defTabSz="342900" eaLnBrk="1" hangingPunct="1" indent="-342900" latinLnBrk="0" marL="1371600" rtl="0">
        <a:spcBef>
          <a:spcPts val="0"/>
        </a:spcBef>
        <a:buFont typeface="Arial"/>
        <a:buChar char="–"/>
        <a:defRPr kern="1200" sz="1600">
          <a:solidFill>
            <a:schemeClr val="tx1"/>
          </a:solidFill>
          <a:latin typeface="+mn-lt"/>
          <a:ea typeface="+mn-ea"/>
          <a:cs typeface="+mn-cs"/>
        </a:defRPr>
      </a:lvl4pPr>
      <a:lvl5pPr algn="l" defTabSz="342900" eaLnBrk="1" hangingPunct="1" indent="-342900" latinLnBrk="0" marL="1714500" rtl="0">
        <a:spcBef>
          <a:spcPts val="0"/>
        </a:spcBef>
        <a:buFont typeface="Arial"/>
        <a:buChar char="»"/>
        <a:defRPr kern="1200" sz="16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lstStyle/>
          <a:p>
            <a:pPr lvl="0" indent="0" marL="0">
              <a:buNone/>
            </a:pPr>
            <a:r>
              <a:rPr/>
              <a:t>Activity: Two-Way ANOVA</a:t>
            </a:r>
          </a:p>
        </p:txBody>
      </p:sp>
      <p:sp>
        <p:nvSpPr>
          <p:cNvPr id="3" name="Subtitle 2"/>
          <p:cNvSpPr>
            <a:spLocks noGrp="1"/>
          </p:cNvSpPr>
          <p:nvPr>
            <p:ph idx="1" type="subTitle"/>
          </p:nvPr>
        </p:nvSpPr>
        <p:spPr>
          <a:xfrm>
            <a:off x="255722" y="565689"/>
            <a:ext cx="6400800" cy="1314450"/>
          </a:xfrm>
        </p:spPr>
        <p:txBody>
          <a:bodyPr/>
          <a:lstStyle/>
          <a:p>
            <a:pPr lvl="0" indent="0" marL="0">
              <a:buNone/>
            </a:pPr>
            <a:r>
              <a:rPr/>
              <a:t>Factorial designs</a:t>
            </a:r>
            <a:br/>
            <a:br/>
            <a:r>
              <a:rPr/>
              <a:t>Bill Perry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Worksheet: Two-Way (Factorial) ANOVA</a:t>
            </a:r>
          </a:p>
        </p:txBody>
      </p:sp>
      <p:sp>
        <p:nvSpPr>
          <p:cNvPr id="3" name="Content Placeholder 2"/>
          <p:cNvSpPr>
            <a:spLocks noGrp="1"/>
          </p:cNvSpPr>
          <p:nvPr>
            <p:ph idx="1"/>
          </p:nvPr>
        </p:nvSpPr>
        <p:spPr/>
        <p:txBody>
          <a:bodyPr/>
          <a:lstStyle/>
          <a:p>
            <a:pPr lvl="0" indent="0" marL="0">
              <a:spcBef>
                <a:spcPts val="3000"/>
              </a:spcBef>
              <a:buNone/>
            </a:pPr>
            <a:r>
              <a:rPr sz="2000" b="1"/>
              <a:t>How to use this worksheet</a:t>
            </a:r>
          </a:p>
          <a:p>
            <a:pPr lvl="0" indent="0" marL="1270000">
              <a:buNone/>
            </a:pPr>
            <a:r>
              <a:rPr sz="2000"/>
              <a:t>Work through each part in order, at your own pace. Type every line of code yourself into a </a:t>
            </a:r>
            <a:r>
              <a:rPr sz="2000" b="1"/>
              <a:t>plain R script</a:t>
            </a:r>
            <a:r>
              <a:rPr sz="2000"/>
              <a:t> — do not copy-paste. Blocks marked </a:t>
            </a:r>
            <a:r>
              <a:rPr sz="2000" b="1"/>
              <a:t>▶ Run this</a:t>
            </a:r>
            <a:r>
              <a:rPr sz="2000"/>
              <a:t> are code you should type and execute. Blocks marked </a:t>
            </a:r>
            <a:r>
              <a:rPr sz="2000" b="1"/>
              <a:t>✏️ Your turn</a:t>
            </a:r>
            <a:r>
              <a:rPr sz="2000"/>
              <a:t> ask you to write, modify, or answer something. Boxes marked </a:t>
            </a:r>
            <a:r>
              <a:rPr sz="2000" b="1"/>
              <a:t>🚀 If you finish early</a:t>
            </a:r>
            <a:r>
              <a:rPr sz="2000"/>
              <a:t> are optional bonus material that goes a bit further than what we covered in lecture.</a:t>
            </a:r>
          </a:p>
          <a:p>
            <a:pPr lvl="0" indent="0" marL="1270000">
              <a:buNone/>
            </a:pPr>
            <a:r>
              <a:rPr sz="2000"/>
              <a:t>This worksheet runs the same species × sex factorial ANOVA on penguin body mass </a:t>
            </a:r>
            <a:r>
              <a:rPr sz="2000" b="1"/>
              <a:t>twice</a:t>
            </a:r>
            <a:r>
              <a:rPr sz="2000"/>
              <a:t> — once on a balanced subsample, once on the full, naturally unbalanced dataset — so you can see directly how imbalance changes the analysis.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1 · Setup and Data</a:t>
            </a:r>
          </a:p>
        </p:txBody>
      </p:sp>
      <p:sp>
        <p:nvSpPr>
          <p:cNvPr id="3" name="Content Placeholder 2"/>
          <p:cNvSpPr>
            <a:spLocks noGrp="1"/>
          </p:cNvSpPr>
          <p:nvPr>
            <p:ph idx="1"/>
          </p:nvPr>
        </p:nvSpPr>
        <p:spPr/>
        <p:txBody>
          <a:bodyPr/>
          <a:lstStyle/>
          <a:p>
            <a:pPr lvl="0" indent="0" marL="0">
              <a:buNone/>
            </a:pPr>
            <a:r>
              <a:rPr b="1"/>
              <a:t>▶ Run this in your Script:</a:t>
            </a:r>
          </a:p>
          <a:p>
            <a:pPr lvl="0" indent="0">
              <a:buNone/>
            </a:pPr>
            <a:r>
              <a:rPr>
                <a:solidFill>
                  <a:srgbClr val="4758AB"/>
                </a:solidFill>
                <a:latin typeface="Courier"/>
              </a:rPr>
              <a:t>library</a:t>
            </a:r>
            <a:r>
              <a:rPr>
                <a:solidFill>
                  <a:srgbClr val="003B4F"/>
                </a:solidFill>
                <a:latin typeface="Courier"/>
              </a:rPr>
              <a:t>(palmerpenguins) </a:t>
            </a:r>
            <a:r>
              <a:rPr>
                <a:solidFill>
                  <a:srgbClr val="5E5E5E"/>
                </a:solidFill>
                <a:latin typeface="Courier"/>
              </a:rPr>
              <a:t># has the data for penguins and they are cute</a:t>
            </a:r>
            <a:br/>
            <a:r>
              <a:rPr>
                <a:solidFill>
                  <a:srgbClr val="4758AB"/>
                </a:solidFill>
                <a:latin typeface="Courier"/>
              </a:rPr>
              <a:t>library</a:t>
            </a:r>
            <a:r>
              <a:rPr>
                <a:solidFill>
                  <a:srgbClr val="003B4F"/>
                </a:solidFill>
                <a:latin typeface="Courier"/>
              </a:rPr>
              <a:t>(car)             </a:t>
            </a:r>
            <a:r>
              <a:rPr>
                <a:solidFill>
                  <a:srgbClr val="5E5E5E"/>
                </a:solidFill>
                <a:latin typeface="Courier"/>
              </a:rPr>
              <a:t># For Levene's test and Type III SS</a:t>
            </a:r>
            <a:br/>
            <a:r>
              <a:rPr>
                <a:solidFill>
                  <a:srgbClr val="4758AB"/>
                </a:solidFill>
                <a:latin typeface="Courier"/>
              </a:rPr>
              <a:t>library</a:t>
            </a:r>
            <a:r>
              <a:rPr>
                <a:solidFill>
                  <a:srgbClr val="003B4F"/>
                </a:solidFill>
                <a:latin typeface="Courier"/>
              </a:rPr>
              <a:t>(emmeans)         </a:t>
            </a:r>
            <a:r>
              <a:rPr>
                <a:solidFill>
                  <a:srgbClr val="5E5E5E"/>
                </a:solidFill>
                <a:latin typeface="Courier"/>
              </a:rPr>
              <a:t># For estimated marginal means</a:t>
            </a:r>
            <a:br/>
            <a:r>
              <a:rPr>
                <a:solidFill>
                  <a:srgbClr val="4758AB"/>
                </a:solidFill>
                <a:latin typeface="Courier"/>
              </a:rPr>
              <a:t>library</a:t>
            </a:r>
            <a:r>
              <a:rPr>
                <a:solidFill>
                  <a:srgbClr val="003B4F"/>
                </a:solidFill>
                <a:latin typeface="Courier"/>
              </a:rPr>
              <a:t>(broom)           </a:t>
            </a:r>
            <a:r>
              <a:rPr>
                <a:solidFill>
                  <a:srgbClr val="5E5E5E"/>
                </a:solidFill>
                <a:latin typeface="Courier"/>
              </a:rPr>
              <a:t># For tidying model outputs</a:t>
            </a:r>
            <a:br/>
            <a:r>
              <a:rPr>
                <a:solidFill>
                  <a:srgbClr val="4758AB"/>
                </a:solidFill>
                <a:latin typeface="Courier"/>
              </a:rPr>
              <a:t>library</a:t>
            </a:r>
            <a:r>
              <a:rPr>
                <a:solidFill>
                  <a:srgbClr val="003B4F"/>
                </a:solidFill>
                <a:latin typeface="Courier"/>
              </a:rPr>
              <a:t>(patchwork)       </a:t>
            </a:r>
            <a:r>
              <a:rPr>
                <a:solidFill>
                  <a:srgbClr val="5E5E5E"/>
                </a:solidFill>
                <a:latin typeface="Courier"/>
              </a:rPr>
              <a:t># For combining plots</a:t>
            </a:r>
            <a:br/>
            <a:r>
              <a:rPr>
                <a:solidFill>
                  <a:srgbClr val="4758AB"/>
                </a:solidFill>
                <a:latin typeface="Courier"/>
              </a:rPr>
              <a:t>library</a:t>
            </a:r>
            <a:r>
              <a:rPr>
                <a:solidFill>
                  <a:srgbClr val="003B4F"/>
                </a:solidFill>
                <a:latin typeface="Courier"/>
              </a:rPr>
              <a:t>(tidyverse)</a:t>
            </a:r>
            <a:br/>
            <a:br/>
            <a:r>
              <a:rPr>
                <a:solidFill>
                  <a:srgbClr val="4758AB"/>
                </a:solidFill>
                <a:latin typeface="Courier"/>
              </a:rPr>
              <a:t>theme_set</a:t>
            </a:r>
            <a:r>
              <a:rPr>
                <a:solidFill>
                  <a:srgbClr val="003B4F"/>
                </a:solidFill>
                <a:latin typeface="Courier"/>
              </a:rPr>
              <a:t>(</a:t>
            </a:r>
            <a:r>
              <a:rPr>
                <a:solidFill>
                  <a:srgbClr val="4758AB"/>
                </a:solidFill>
                <a:latin typeface="Courier"/>
              </a:rPr>
              <a:t>theme_light</a:t>
            </a:r>
            <a:r>
              <a:rPr>
                <a:solidFill>
                  <a:srgbClr val="003B4F"/>
                </a:solidFill>
                <a:latin typeface="Courier"/>
              </a:rPr>
              <a:t>(</a:t>
            </a:r>
            <a:r>
              <a:rPr>
                <a:solidFill>
                  <a:srgbClr val="657422"/>
                </a:solidFill>
                <a:latin typeface="Courier"/>
              </a:rPr>
              <a:t>base_size =</a:t>
            </a:r>
            <a:r>
              <a:rPr>
                <a:solidFill>
                  <a:srgbClr val="003B4F"/>
                </a:solidFill>
                <a:latin typeface="Courier"/>
              </a:rPr>
              <a:t> </a:t>
            </a:r>
            <a:r>
              <a:rPr>
                <a:solidFill>
                  <a:srgbClr val="AD0000"/>
                </a:solidFill>
                <a:latin typeface="Courier"/>
              </a:rPr>
              <a:t>12</a:t>
            </a:r>
            <a:r>
              <a:rPr>
                <a:solidFill>
                  <a:srgbClr val="003B4F"/>
                </a:solidFill>
                <a:latin typeface="Courier"/>
              </a:rPr>
              <a:t>))</a:t>
            </a:r>
            <a:br/>
            <a:br/>
            <a:r>
              <a:rPr>
                <a:solidFill>
                  <a:srgbClr val="003B4F"/>
                </a:solidFill>
                <a:latin typeface="Courier"/>
              </a:rPr>
              <a:t>p_df &lt;- penguins </a:t>
            </a:r>
            <a:r>
              <a:rPr>
                <a:solidFill>
                  <a:srgbClr val="5E5E5E"/>
                </a:solidFill>
                <a:latin typeface="Courier"/>
              </a:rPr>
              <a:t>%&gt;%</a:t>
            </a:r>
            <a:br/>
            <a:r>
              <a:rPr>
                <a:solidFill>
                  <a:srgbClr val="003B4F"/>
                </a:solidFill>
                <a:latin typeface="Courier"/>
              </a:rPr>
              <a:t>  </a:t>
            </a:r>
            <a:r>
              <a:rPr>
                <a:solidFill>
                  <a:srgbClr val="4758AB"/>
                </a:solidFill>
                <a:latin typeface="Courier"/>
              </a:rPr>
              <a:t>select</a:t>
            </a:r>
            <a:r>
              <a:rPr>
                <a:solidFill>
                  <a:srgbClr val="003B4F"/>
                </a:solidFill>
                <a:latin typeface="Courier"/>
              </a:rPr>
              <a:t>(</a:t>
            </a:r>
            <a:r>
              <a:rPr>
                <a:solidFill>
                  <a:srgbClr val="657422"/>
                </a:solidFill>
                <a:latin typeface="Courier"/>
              </a:rPr>
              <a:t>spp =</a:t>
            </a:r>
            <a:r>
              <a:rPr>
                <a:solidFill>
                  <a:srgbClr val="003B4F"/>
                </a:solidFill>
                <a:latin typeface="Courier"/>
              </a:rPr>
              <a:t> species, sex, body_mass_g) </a:t>
            </a:r>
            <a:r>
              <a:rPr>
                <a:solidFill>
                  <a:srgbClr val="5E5E5E"/>
                </a:solidFill>
                <a:latin typeface="Courier"/>
              </a:rPr>
              <a:t>%&gt;%</a:t>
            </a:r>
            <a:br/>
            <a:r>
              <a:rPr>
                <a:solidFill>
                  <a:srgbClr val="003B4F"/>
                </a:solidFill>
                <a:latin typeface="Courier"/>
              </a:rPr>
              <a:t>  </a:t>
            </a:r>
            <a:r>
              <a:rPr>
                <a:solidFill>
                  <a:srgbClr val="4758AB"/>
                </a:solidFill>
                <a:latin typeface="Courier"/>
              </a:rPr>
              <a:t>rename</a:t>
            </a:r>
            <a:r>
              <a:rPr>
                <a:solidFill>
                  <a:srgbClr val="003B4F"/>
                </a:solidFill>
                <a:latin typeface="Courier"/>
              </a:rPr>
              <a:t>(</a:t>
            </a:r>
            <a:r>
              <a:rPr>
                <a:solidFill>
                  <a:srgbClr val="657422"/>
                </a:solidFill>
                <a:latin typeface="Courier"/>
              </a:rPr>
              <a:t>mass_g =</a:t>
            </a:r>
            <a:r>
              <a:rPr>
                <a:solidFill>
                  <a:srgbClr val="003B4F"/>
                </a:solidFill>
                <a:latin typeface="Courier"/>
              </a:rPr>
              <a:t> body_mass_g)</a:t>
            </a:r>
            <a:br/>
            <a:r>
              <a:rPr>
                <a:solidFill>
                  <a:srgbClr val="4758AB"/>
                </a:solidFill>
                <a:latin typeface="Courier"/>
              </a:rPr>
              <a:t>head</a:t>
            </a:r>
            <a:r>
              <a:rPr>
                <a:solidFill>
                  <a:srgbClr val="003B4F"/>
                </a:solidFill>
                <a:latin typeface="Courier"/>
              </a:rPr>
              <a:t>(p_df)</a:t>
            </a:r>
          </a:p>
          <a:p>
            <a:pPr lvl="0" indent="0" marL="0">
              <a:buNone/>
            </a:pPr>
            <a:r>
              <a:rPr b="1"/>
              <a:t>▶ Run this</a:t>
            </a:r>
            <a:r>
              <a:rPr/>
              <a:t> — check for and remove missing values:</a:t>
            </a:r>
          </a:p>
          <a:p>
            <a:pPr lvl="0" indent="0">
              <a:buNone/>
            </a:pPr>
            <a:r>
              <a:rPr>
                <a:solidFill>
                  <a:srgbClr val="003B4F"/>
                </a:solidFill>
                <a:latin typeface="Courier"/>
              </a:rPr>
              <a:t>p_df </a:t>
            </a:r>
            <a:r>
              <a:rPr>
                <a:solidFill>
                  <a:srgbClr val="5E5E5E"/>
                </a:solidFill>
                <a:latin typeface="Courier"/>
              </a:rPr>
              <a:t>%&gt;%</a:t>
            </a:r>
            <a:br/>
            <a:r>
              <a:rPr>
                <a:solidFill>
                  <a:srgbClr val="003B4F"/>
                </a:solidFill>
                <a:latin typeface="Courier"/>
              </a:rPr>
              <a:t>  </a:t>
            </a:r>
            <a:r>
              <a:rPr>
                <a:solidFill>
                  <a:srgbClr val="4758AB"/>
                </a:solidFill>
                <a:latin typeface="Courier"/>
              </a:rPr>
              <a:t>summarise_all</a:t>
            </a:r>
            <a:r>
              <a:rPr>
                <a:solidFill>
                  <a:srgbClr val="003B4F"/>
                </a:solidFill>
                <a:latin typeface="Courier"/>
              </a:rPr>
              <a:t>(</a:t>
            </a:r>
            <a:r>
              <a:rPr>
                <a:solidFill>
                  <a:srgbClr val="5E5E5E"/>
                </a:solidFill>
                <a:latin typeface="Courier"/>
              </a:rPr>
              <a:t>~</a:t>
            </a:r>
            <a:r>
              <a:rPr>
                <a:solidFill>
                  <a:srgbClr val="4758AB"/>
                </a:solidFill>
                <a:latin typeface="Courier"/>
              </a:rPr>
              <a:t>sum</a:t>
            </a:r>
            <a:r>
              <a:rPr>
                <a:solidFill>
                  <a:srgbClr val="003B4F"/>
                </a:solidFill>
                <a:latin typeface="Courier"/>
              </a:rPr>
              <a:t>(</a:t>
            </a:r>
            <a:r>
              <a:rPr>
                <a:solidFill>
                  <a:srgbClr val="4758AB"/>
                </a:solidFill>
                <a:latin typeface="Courier"/>
              </a:rPr>
              <a:t>is.na</a:t>
            </a:r>
            <a:r>
              <a:rPr>
                <a:solidFill>
                  <a:srgbClr val="003B4F"/>
                </a:solidFill>
                <a:latin typeface="Courier"/>
              </a:rPr>
              <a:t>(.)))</a:t>
            </a:r>
            <a:br/>
            <a:br/>
            <a:r>
              <a:rPr>
                <a:solidFill>
                  <a:srgbClr val="003B4F"/>
                </a:solidFill>
                <a:latin typeface="Courier"/>
              </a:rPr>
              <a:t>p_df &lt;- p_df </a:t>
            </a:r>
            <a:r>
              <a:rPr>
                <a:solidFill>
                  <a:srgbClr val="5E5E5E"/>
                </a:solidFill>
                <a:latin typeface="Courier"/>
              </a:rPr>
              <a:t>%&gt;%</a:t>
            </a:r>
            <a:br/>
            <a:r>
              <a:rPr>
                <a:solidFill>
                  <a:srgbClr val="003B4F"/>
                </a:solidFill>
                <a:latin typeface="Courier"/>
              </a:rPr>
              <a:t>  </a:t>
            </a:r>
            <a:r>
              <a:rPr>
                <a:solidFill>
                  <a:srgbClr val="4758AB"/>
                </a:solidFill>
                <a:latin typeface="Courier"/>
              </a:rPr>
              <a:t>filter</a:t>
            </a:r>
            <a:r>
              <a:rPr>
                <a:solidFill>
                  <a:srgbClr val="003B4F"/>
                </a:solidFill>
                <a:latin typeface="Courier"/>
              </a:rPr>
              <a:t>(</a:t>
            </a:r>
            <a:r>
              <a:rPr>
                <a:solidFill>
                  <a:srgbClr val="5E5E5E"/>
                </a:solidFill>
                <a:latin typeface="Courier"/>
              </a:rPr>
              <a:t>!</a:t>
            </a:r>
            <a:r>
              <a:rPr>
                <a:solidFill>
                  <a:srgbClr val="4758AB"/>
                </a:solidFill>
                <a:latin typeface="Courier"/>
              </a:rPr>
              <a:t>is.na</a:t>
            </a:r>
            <a:r>
              <a:rPr>
                <a:solidFill>
                  <a:srgbClr val="003B4F"/>
                </a:solidFill>
                <a:latin typeface="Courier"/>
              </a:rPr>
              <a:t>(mass_g),</a:t>
            </a:r>
            <a:br/>
            <a:r>
              <a:rPr>
                <a:solidFill>
                  <a:srgbClr val="003B4F"/>
                </a:solidFill>
                <a:latin typeface="Courier"/>
              </a:rPr>
              <a:t>         </a:t>
            </a:r>
            <a:r>
              <a:rPr>
                <a:solidFill>
                  <a:srgbClr val="5E5E5E"/>
                </a:solidFill>
                <a:latin typeface="Courier"/>
              </a:rPr>
              <a:t>!</a:t>
            </a:r>
            <a:r>
              <a:rPr>
                <a:solidFill>
                  <a:srgbClr val="4758AB"/>
                </a:solidFill>
                <a:latin typeface="Courier"/>
              </a:rPr>
              <a:t>is.na</a:t>
            </a:r>
            <a:r>
              <a:rPr>
                <a:solidFill>
                  <a:srgbClr val="003B4F"/>
                </a:solidFill>
                <a:latin typeface="Courier"/>
              </a:rPr>
              <a:t>(sex),</a:t>
            </a:r>
            <a:br/>
            <a:r>
              <a:rPr>
                <a:solidFill>
                  <a:srgbClr val="003B4F"/>
                </a:solidFill>
                <a:latin typeface="Courier"/>
              </a:rPr>
              <a:t>         </a:t>
            </a:r>
            <a:r>
              <a:rPr>
                <a:solidFill>
                  <a:srgbClr val="5E5E5E"/>
                </a:solidFill>
                <a:latin typeface="Courier"/>
              </a:rPr>
              <a:t>!</a:t>
            </a:r>
            <a:r>
              <a:rPr>
                <a:solidFill>
                  <a:srgbClr val="4758AB"/>
                </a:solidFill>
                <a:latin typeface="Courier"/>
              </a:rPr>
              <a:t>is.na</a:t>
            </a:r>
            <a:r>
              <a:rPr>
                <a:solidFill>
                  <a:srgbClr val="003B4F"/>
                </a:solidFill>
                <a:latin typeface="Courier"/>
              </a:rPr>
              <a:t>(spp))</a:t>
            </a:r>
            <a:br/>
            <a:r>
              <a:rPr>
                <a:solidFill>
                  <a:srgbClr val="4758AB"/>
                </a:solidFill>
                <a:latin typeface="Courier"/>
              </a:rPr>
              <a:t>head</a:t>
            </a:r>
            <a:r>
              <a:rPr>
                <a:solidFill>
                  <a:srgbClr val="003B4F"/>
                </a:solidFill>
                <a:latin typeface="Courier"/>
              </a:rPr>
              <a:t>(p_df)</a:t>
            </a:r>
          </a:p>
          <a:p>
            <a:pPr lvl="0" indent="0" marL="0">
              <a:buNone/>
            </a:pPr>
            <a:r>
              <a:rPr b="1"/>
              <a:t>▶ Run this</a:t>
            </a:r>
            <a:r>
              <a:rPr/>
              <a:t> — summary statistics by group:</a:t>
            </a:r>
          </a:p>
          <a:p>
            <a:pPr lvl="0" indent="0">
              <a:buNone/>
            </a:pPr>
            <a:r>
              <a:rPr>
                <a:solidFill>
                  <a:srgbClr val="003B4F"/>
                </a:solidFill>
                <a:latin typeface="Courier"/>
              </a:rPr>
              <a:t>p_df </a:t>
            </a:r>
            <a:r>
              <a:rPr>
                <a:solidFill>
                  <a:srgbClr val="5E5E5E"/>
                </a:solidFill>
                <a:latin typeface="Courier"/>
              </a:rPr>
              <a:t>%&gt;%</a:t>
            </a:r>
            <a:br/>
            <a:r>
              <a:rPr>
                <a:solidFill>
                  <a:srgbClr val="003B4F"/>
                </a:solidFill>
                <a:latin typeface="Courier"/>
              </a:rPr>
              <a:t>  </a:t>
            </a:r>
            <a:r>
              <a:rPr>
                <a:solidFill>
                  <a:srgbClr val="4758AB"/>
                </a:solidFill>
                <a:latin typeface="Courier"/>
              </a:rPr>
              <a:t>group_by</a:t>
            </a:r>
            <a:r>
              <a:rPr>
                <a:solidFill>
                  <a:srgbClr val="003B4F"/>
                </a:solidFill>
                <a:latin typeface="Courier"/>
              </a:rPr>
              <a:t>(spp, sex) </a:t>
            </a:r>
            <a:r>
              <a:rPr>
                <a:solidFill>
                  <a:srgbClr val="5E5E5E"/>
                </a:solidFill>
                <a:latin typeface="Courier"/>
              </a:rPr>
              <a:t>%&gt;%</a:t>
            </a:r>
            <a:br/>
            <a:r>
              <a:rPr>
                <a:solidFill>
                  <a:srgbClr val="003B4F"/>
                </a:solidFill>
                <a:latin typeface="Courier"/>
              </a:rPr>
              <a:t>  </a:t>
            </a:r>
            <a:r>
              <a:rPr>
                <a:solidFill>
                  <a:srgbClr val="4758AB"/>
                </a:solidFill>
                <a:latin typeface="Courier"/>
              </a:rPr>
              <a:t>summarise</a:t>
            </a:r>
            <a:r>
              <a:rPr>
                <a:solidFill>
                  <a:srgbClr val="003B4F"/>
                </a:solidFill>
                <a:latin typeface="Courier"/>
              </a:rPr>
              <a:t>(</a:t>
            </a:r>
            <a:br/>
            <a:r>
              <a:rPr>
                <a:solidFill>
                  <a:srgbClr val="003B4F"/>
                </a:solidFill>
                <a:latin typeface="Courier"/>
              </a:rPr>
              <a:t>    </a:t>
            </a:r>
            <a:r>
              <a:rPr>
                <a:solidFill>
                  <a:srgbClr val="657422"/>
                </a:solidFill>
                <a:latin typeface="Courier"/>
              </a:rPr>
              <a:t>mean_mass =</a:t>
            </a:r>
            <a:r>
              <a:rPr>
                <a:solidFill>
                  <a:srgbClr val="003B4F"/>
                </a:solidFill>
                <a:latin typeface="Courier"/>
              </a:rPr>
              <a:t> </a:t>
            </a:r>
            <a:r>
              <a:rPr>
                <a:solidFill>
                  <a:srgbClr val="4758AB"/>
                </a:solidFill>
                <a:latin typeface="Courier"/>
              </a:rPr>
              <a:t>mean</a:t>
            </a:r>
            <a:r>
              <a:rPr>
                <a:solidFill>
                  <a:srgbClr val="003B4F"/>
                </a:solidFill>
                <a:latin typeface="Courier"/>
              </a:rPr>
              <a:t>(mass_g, </a:t>
            </a:r>
            <a:r>
              <a:rPr>
                <a:solidFill>
                  <a:srgbClr val="657422"/>
                </a:solidFill>
                <a:latin typeface="Courier"/>
              </a:rPr>
              <a:t>na.rm =</a:t>
            </a:r>
            <a:r>
              <a:rPr>
                <a:solidFill>
                  <a:srgbClr val="003B4F"/>
                </a:solidFill>
                <a:latin typeface="Courier"/>
              </a:rPr>
              <a:t> </a:t>
            </a:r>
            <a:r>
              <a:rPr>
                <a:solidFill>
                  <a:srgbClr val="8F5902"/>
                </a:solidFill>
                <a:latin typeface="Courier"/>
              </a:rPr>
              <a:t>TRUE</a:t>
            </a:r>
            <a:r>
              <a:rPr>
                <a:solidFill>
                  <a:srgbClr val="003B4F"/>
                </a:solidFill>
                <a:latin typeface="Courier"/>
              </a:rPr>
              <a:t>),</a:t>
            </a:r>
            <a:br/>
            <a:r>
              <a:rPr>
                <a:solidFill>
                  <a:srgbClr val="003B4F"/>
                </a:solidFill>
                <a:latin typeface="Courier"/>
              </a:rPr>
              <a:t>    </a:t>
            </a:r>
            <a:r>
              <a:rPr>
                <a:solidFill>
                  <a:srgbClr val="657422"/>
                </a:solidFill>
                <a:latin typeface="Courier"/>
              </a:rPr>
              <a:t>sd_mass =</a:t>
            </a:r>
            <a:r>
              <a:rPr>
                <a:solidFill>
                  <a:srgbClr val="003B4F"/>
                </a:solidFill>
                <a:latin typeface="Courier"/>
              </a:rPr>
              <a:t> </a:t>
            </a:r>
            <a:r>
              <a:rPr>
                <a:solidFill>
                  <a:srgbClr val="4758AB"/>
                </a:solidFill>
                <a:latin typeface="Courier"/>
              </a:rPr>
              <a:t>sd</a:t>
            </a:r>
            <a:r>
              <a:rPr>
                <a:solidFill>
                  <a:srgbClr val="003B4F"/>
                </a:solidFill>
                <a:latin typeface="Courier"/>
              </a:rPr>
              <a:t>(mass_g, </a:t>
            </a:r>
            <a:r>
              <a:rPr>
                <a:solidFill>
                  <a:srgbClr val="657422"/>
                </a:solidFill>
                <a:latin typeface="Courier"/>
              </a:rPr>
              <a:t>na.rm =</a:t>
            </a:r>
            <a:r>
              <a:rPr>
                <a:solidFill>
                  <a:srgbClr val="003B4F"/>
                </a:solidFill>
                <a:latin typeface="Courier"/>
              </a:rPr>
              <a:t> </a:t>
            </a:r>
            <a:r>
              <a:rPr>
                <a:solidFill>
                  <a:srgbClr val="8F5902"/>
                </a:solidFill>
                <a:latin typeface="Courier"/>
              </a:rPr>
              <a:t>TRUE</a:t>
            </a:r>
            <a:r>
              <a:rPr>
                <a:solidFill>
                  <a:srgbClr val="003B4F"/>
                </a:solidFill>
                <a:latin typeface="Courier"/>
              </a:rPr>
              <a:t>),</a:t>
            </a:r>
            <a:br/>
            <a:r>
              <a:rPr>
                <a:solidFill>
                  <a:srgbClr val="003B4F"/>
                </a:solidFill>
                <a:latin typeface="Courier"/>
              </a:rPr>
              <a:t>    </a:t>
            </a:r>
            <a:r>
              <a:rPr>
                <a:solidFill>
                  <a:srgbClr val="657422"/>
                </a:solidFill>
                <a:latin typeface="Courier"/>
              </a:rPr>
              <a:t>n =</a:t>
            </a:r>
            <a:r>
              <a:rPr>
                <a:solidFill>
                  <a:srgbClr val="003B4F"/>
                </a:solidFill>
                <a:latin typeface="Courier"/>
              </a:rPr>
              <a:t> </a:t>
            </a:r>
            <a:r>
              <a:rPr>
                <a:solidFill>
                  <a:srgbClr val="4758AB"/>
                </a:solidFill>
                <a:latin typeface="Courier"/>
              </a:rPr>
              <a:t>sum</a:t>
            </a:r>
            <a:r>
              <a:rPr>
                <a:solidFill>
                  <a:srgbClr val="003B4F"/>
                </a:solidFill>
                <a:latin typeface="Courier"/>
              </a:rPr>
              <a:t>(</a:t>
            </a:r>
            <a:r>
              <a:rPr>
                <a:solidFill>
                  <a:srgbClr val="5E5E5E"/>
                </a:solidFill>
                <a:latin typeface="Courier"/>
              </a:rPr>
              <a:t>!</a:t>
            </a:r>
            <a:r>
              <a:rPr>
                <a:solidFill>
                  <a:srgbClr val="4758AB"/>
                </a:solidFill>
                <a:latin typeface="Courier"/>
              </a:rPr>
              <a:t>is.na</a:t>
            </a:r>
            <a:r>
              <a:rPr>
                <a:solidFill>
                  <a:srgbClr val="003B4F"/>
                </a:solidFill>
                <a:latin typeface="Courier"/>
              </a:rPr>
              <a:t>(mass_g)),</a:t>
            </a:r>
            <a:br/>
            <a:r>
              <a:rPr>
                <a:solidFill>
                  <a:srgbClr val="003B4F"/>
                </a:solidFill>
                <a:latin typeface="Courier"/>
              </a:rPr>
              <a:t>    </a:t>
            </a:r>
            <a:r>
              <a:rPr>
                <a:solidFill>
                  <a:srgbClr val="657422"/>
                </a:solidFill>
                <a:latin typeface="Courier"/>
              </a:rPr>
              <a:t>se_mass =</a:t>
            </a:r>
            <a:r>
              <a:rPr>
                <a:solidFill>
                  <a:srgbClr val="003B4F"/>
                </a:solidFill>
                <a:latin typeface="Courier"/>
              </a:rPr>
              <a:t> sd_mass</a:t>
            </a:r>
            <a:r>
              <a:rPr>
                <a:solidFill>
                  <a:srgbClr val="5E5E5E"/>
                </a:solidFill>
                <a:latin typeface="Courier"/>
              </a:rPr>
              <a:t>/</a:t>
            </a:r>
            <a:r>
              <a:rPr>
                <a:solidFill>
                  <a:srgbClr val="003B4F"/>
                </a:solidFill>
                <a:latin typeface="Courier"/>
              </a:rPr>
              <a:t>n</a:t>
            </a:r>
            <a:r>
              <a:rPr>
                <a:solidFill>
                  <a:srgbClr val="5E5E5E"/>
                </a:solidFill>
                <a:latin typeface="Courier"/>
              </a:rPr>
              <a:t>^</a:t>
            </a:r>
            <a:r>
              <a:rPr>
                <a:solidFill>
                  <a:srgbClr val="003B4F"/>
                </a:solidFill>
                <a:latin typeface="Courier"/>
              </a:rPr>
              <a:t>.</a:t>
            </a:r>
            <a:r>
              <a:rPr>
                <a:solidFill>
                  <a:srgbClr val="AD0000"/>
                </a:solidFill>
                <a:latin typeface="Courier"/>
              </a:rPr>
              <a:t>5</a:t>
            </a:r>
            <a:r>
              <a:rPr>
                <a:solidFill>
                  <a:srgbClr val="003B4F"/>
                </a:solidFill>
                <a:latin typeface="Courier"/>
              </a:rPr>
              <a:t>,</a:t>
            </a:r>
            <a:br/>
            <a:r>
              <a:rPr>
                <a:solidFill>
                  <a:srgbClr val="003B4F"/>
                </a:solidFill>
                <a:latin typeface="Courier"/>
              </a:rPr>
              <a:t>    </a:t>
            </a:r>
            <a:r>
              <a:rPr>
                <a:solidFill>
                  <a:srgbClr val="657422"/>
                </a:solidFill>
                <a:latin typeface="Courier"/>
              </a:rPr>
              <a:t>.groups =</a:t>
            </a:r>
            <a:r>
              <a:rPr>
                <a:solidFill>
                  <a:srgbClr val="003B4F"/>
                </a:solidFill>
                <a:latin typeface="Courier"/>
              </a:rPr>
              <a:t> </a:t>
            </a:r>
            <a:r>
              <a:rPr>
                <a:solidFill>
                  <a:srgbClr val="20794D"/>
                </a:solidFill>
                <a:latin typeface="Courier"/>
              </a:rPr>
              <a:t>'drop'</a:t>
            </a:r>
            <a:br/>
            <a:r>
              <a:rPr>
                <a:solidFill>
                  <a:srgbClr val="003B4F"/>
                </a:solidFill>
                <a:latin typeface="Courier"/>
              </a:rPr>
              <a:t>  )</a:t>
            </a:r>
          </a:p>
          <a:p>
            <a:pPr lvl="0" indent="0" marL="1270000">
              <a:buNone/>
            </a:pPr>
            <a:r>
              <a:rPr sz="2000" b="1"/>
              <a:t>Tip</a:t>
            </a:r>
          </a:p>
          <a:p>
            <a:pPr lvl="0" indent="0" marL="1270000">
              <a:buNone/>
            </a:pPr>
            <a:r>
              <a:rPr sz="2000" b="1"/>
              <a:t>🚀 If you finish early:</a:t>
            </a:r>
            <a:r>
              <a:rPr sz="2000"/>
              <a:t> How many species and sexes are there? Compute </a:t>
            </a:r>
            <a:r>
              <a:rPr sz="2000">
                <a:latin typeface="Courier"/>
              </a:rPr>
              <a:t>n_distinct()</a:t>
            </a:r>
            <a:r>
              <a:rPr sz="2000"/>
              <a:t> for each column of </a:t>
            </a:r>
            <a:r>
              <a:rPr sz="2000">
                <a:latin typeface="Courier"/>
              </a:rPr>
              <a:t>p_df</a:t>
            </a:r>
            <a:r>
              <a:rPr sz="2000"/>
              <a:t> to confirm.</a:t>
            </a:r>
          </a:p>
          <a:p>
            <a:pPr lvl="0" indent="0">
              <a:buNone/>
            </a:pPr>
            <a:r>
              <a:rPr>
                <a:solidFill>
                  <a:srgbClr val="5E5E5E"/>
                </a:solidFill>
                <a:latin typeface="Courier"/>
              </a:rPr>
              <a:t># Write your code here: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2 · Building a Balanced Dataset</a:t>
            </a:r>
          </a:p>
        </p:txBody>
      </p:sp>
      <p:sp>
        <p:nvSpPr>
          <p:cNvPr id="3" name="Content Placeholder 2"/>
          <p:cNvSpPr>
            <a:spLocks noGrp="1"/>
          </p:cNvSpPr>
          <p:nvPr>
            <p:ph idx="1"/>
          </p:nvPr>
        </p:nvSpPr>
        <p:spPr/>
        <p:txBody>
          <a:bodyPr/>
          <a:lstStyle/>
          <a:p>
            <a:pPr lvl="0" indent="0">
              <a:buNone/>
            </a:pPr>
            <a:r>
              <a:rPr>
                <a:solidFill>
                  <a:srgbClr val="003B4F"/>
                </a:solidFill>
                <a:latin typeface="Courier"/>
              </a:rPr>
              <a:t>original_n &lt;- p_df </a:t>
            </a:r>
            <a:r>
              <a:rPr>
                <a:solidFill>
                  <a:srgbClr val="5E5E5E"/>
                </a:solidFill>
                <a:latin typeface="Courier"/>
              </a:rPr>
              <a:t>%&gt;%</a:t>
            </a:r>
            <a:br/>
            <a:r>
              <a:rPr>
                <a:solidFill>
                  <a:srgbClr val="003B4F"/>
                </a:solidFill>
                <a:latin typeface="Courier"/>
              </a:rPr>
              <a:t>  </a:t>
            </a:r>
            <a:r>
              <a:rPr>
                <a:solidFill>
                  <a:srgbClr val="4758AB"/>
                </a:solidFill>
                <a:latin typeface="Courier"/>
              </a:rPr>
              <a:t>count</a:t>
            </a:r>
            <a:r>
              <a:rPr>
                <a:solidFill>
                  <a:srgbClr val="003B4F"/>
                </a:solidFill>
                <a:latin typeface="Courier"/>
              </a:rPr>
              <a:t>(spp, sex) </a:t>
            </a:r>
            <a:r>
              <a:rPr>
                <a:solidFill>
                  <a:srgbClr val="5E5E5E"/>
                </a:solidFill>
                <a:latin typeface="Courier"/>
              </a:rPr>
              <a:t>%&gt;%</a:t>
            </a:r>
            <a:br/>
            <a:r>
              <a:rPr>
                <a:solidFill>
                  <a:srgbClr val="003B4F"/>
                </a:solidFill>
                <a:latin typeface="Courier"/>
              </a:rPr>
              <a:t>  </a:t>
            </a:r>
            <a:r>
              <a:rPr>
                <a:solidFill>
                  <a:srgbClr val="4758AB"/>
                </a:solidFill>
                <a:latin typeface="Courier"/>
              </a:rPr>
              <a:t>arrange</a:t>
            </a:r>
            <a:r>
              <a:rPr>
                <a:solidFill>
                  <a:srgbClr val="003B4F"/>
                </a:solidFill>
                <a:latin typeface="Courier"/>
              </a:rPr>
              <a:t>(spp, sex)</a:t>
            </a:r>
            <a:br/>
            <a:br/>
            <a:r>
              <a:rPr>
                <a:solidFill>
                  <a:srgbClr val="003B4F"/>
                </a:solidFill>
                <a:latin typeface="Courier"/>
              </a:rPr>
              <a:t>p_df </a:t>
            </a:r>
            <a:r>
              <a:rPr>
                <a:solidFill>
                  <a:srgbClr val="5E5E5E"/>
                </a:solidFill>
                <a:latin typeface="Courier"/>
              </a:rPr>
              <a:t>%&gt;%</a:t>
            </a:r>
            <a:br/>
            <a:r>
              <a:rPr>
                <a:solidFill>
                  <a:srgbClr val="003B4F"/>
                </a:solidFill>
                <a:latin typeface="Courier"/>
              </a:rPr>
              <a:t>  </a:t>
            </a:r>
            <a:r>
              <a:rPr>
                <a:solidFill>
                  <a:srgbClr val="4758AB"/>
                </a:solidFill>
                <a:latin typeface="Courier"/>
              </a:rPr>
              <a:t>count</a:t>
            </a:r>
            <a:r>
              <a:rPr>
                <a:solidFill>
                  <a:srgbClr val="003B4F"/>
                </a:solidFill>
                <a:latin typeface="Courier"/>
              </a:rPr>
              <a:t>(spp, sex) </a:t>
            </a:r>
            <a:r>
              <a:rPr>
                <a:solidFill>
                  <a:srgbClr val="5E5E5E"/>
                </a:solidFill>
                <a:latin typeface="Courier"/>
              </a:rPr>
              <a:t>%&gt;%</a:t>
            </a:r>
            <a:br/>
            <a:r>
              <a:rPr>
                <a:solidFill>
                  <a:srgbClr val="003B4F"/>
                </a:solidFill>
                <a:latin typeface="Courier"/>
              </a:rPr>
              <a:t>  </a:t>
            </a:r>
            <a:r>
              <a:rPr>
                <a:solidFill>
                  <a:srgbClr val="4758AB"/>
                </a:solidFill>
                <a:latin typeface="Courier"/>
              </a:rPr>
              <a:t>pivot_wider</a:t>
            </a:r>
            <a:r>
              <a:rPr>
                <a:solidFill>
                  <a:srgbClr val="003B4F"/>
                </a:solidFill>
                <a:latin typeface="Courier"/>
              </a:rPr>
              <a:t>(</a:t>
            </a:r>
            <a:r>
              <a:rPr>
                <a:solidFill>
                  <a:srgbClr val="657422"/>
                </a:solidFill>
                <a:latin typeface="Courier"/>
              </a:rPr>
              <a:t>names_from =</a:t>
            </a:r>
            <a:r>
              <a:rPr>
                <a:solidFill>
                  <a:srgbClr val="003B4F"/>
                </a:solidFill>
                <a:latin typeface="Courier"/>
              </a:rPr>
              <a:t> sex, </a:t>
            </a:r>
            <a:r>
              <a:rPr>
                <a:solidFill>
                  <a:srgbClr val="657422"/>
                </a:solidFill>
                <a:latin typeface="Courier"/>
              </a:rPr>
              <a:t>values_from =</a:t>
            </a:r>
            <a:r>
              <a:rPr>
                <a:solidFill>
                  <a:srgbClr val="003B4F"/>
                </a:solidFill>
                <a:latin typeface="Courier"/>
              </a:rPr>
              <a:t> n, </a:t>
            </a:r>
            <a:r>
              <a:rPr>
                <a:solidFill>
                  <a:srgbClr val="657422"/>
                </a:solidFill>
                <a:latin typeface="Courier"/>
              </a:rPr>
              <a:t>values_fill =</a:t>
            </a:r>
            <a:r>
              <a:rPr>
                <a:solidFill>
                  <a:srgbClr val="003B4F"/>
                </a:solidFill>
                <a:latin typeface="Courier"/>
              </a:rPr>
              <a:t> </a:t>
            </a:r>
            <a:r>
              <a:rPr>
                <a:solidFill>
                  <a:srgbClr val="AD0000"/>
                </a:solidFill>
                <a:latin typeface="Courier"/>
              </a:rPr>
              <a:t>0</a:t>
            </a:r>
            <a:r>
              <a:rPr>
                <a:solidFill>
                  <a:srgbClr val="003B4F"/>
                </a:solidFill>
                <a:latin typeface="Courier"/>
              </a:rPr>
              <a:t>)</a:t>
            </a:r>
            <a:br/>
            <a:br/>
            <a:r>
              <a:rPr>
                <a:solidFill>
                  <a:srgbClr val="003B4F"/>
                </a:solidFill>
                <a:latin typeface="Courier"/>
              </a:rPr>
              <a:t>min_n &lt;- </a:t>
            </a:r>
            <a:r>
              <a:rPr>
                <a:solidFill>
                  <a:srgbClr val="4758AB"/>
                </a:solidFill>
                <a:latin typeface="Courier"/>
              </a:rPr>
              <a:t>min</a:t>
            </a:r>
            <a:r>
              <a:rPr>
                <a:solidFill>
                  <a:srgbClr val="003B4F"/>
                </a:solidFill>
                <a:latin typeface="Courier"/>
              </a:rPr>
              <a:t>(original_n</a:t>
            </a:r>
            <a:r>
              <a:rPr>
                <a:solidFill>
                  <a:srgbClr val="5E5E5E"/>
                </a:solidFill>
                <a:latin typeface="Courier"/>
              </a:rPr>
              <a:t>$</a:t>
            </a:r>
            <a:r>
              <a:rPr>
                <a:solidFill>
                  <a:srgbClr val="003B4F"/>
                </a:solidFill>
                <a:latin typeface="Courier"/>
              </a:rPr>
              <a:t>n)</a:t>
            </a:r>
            <a:br/>
            <a:r>
              <a:rPr>
                <a:solidFill>
                  <a:srgbClr val="003B4F"/>
                </a:solidFill>
                <a:latin typeface="Courier"/>
              </a:rPr>
              <a:t>min_n</a:t>
            </a:r>
            <a:br/>
            <a:br/>
            <a:r>
              <a:rPr>
                <a:solidFill>
                  <a:srgbClr val="4758AB"/>
                </a:solidFill>
                <a:latin typeface="Courier"/>
              </a:rPr>
              <a:t>set.seed</a:t>
            </a:r>
            <a:r>
              <a:rPr>
                <a:solidFill>
                  <a:srgbClr val="003B4F"/>
                </a:solidFill>
                <a:latin typeface="Courier"/>
              </a:rPr>
              <a:t>(</a:t>
            </a:r>
            <a:r>
              <a:rPr>
                <a:solidFill>
                  <a:srgbClr val="AD0000"/>
                </a:solidFill>
                <a:latin typeface="Courier"/>
              </a:rPr>
              <a:t>123</a:t>
            </a:r>
            <a:r>
              <a:rPr>
                <a:solidFill>
                  <a:srgbClr val="003B4F"/>
                </a:solidFill>
                <a:latin typeface="Courier"/>
              </a:rPr>
              <a:t>) </a:t>
            </a:r>
            <a:r>
              <a:rPr>
                <a:solidFill>
                  <a:srgbClr val="5E5E5E"/>
                </a:solidFill>
                <a:latin typeface="Courier"/>
              </a:rPr>
              <a:t># for reproducibility</a:t>
            </a:r>
            <a:br/>
            <a:r>
              <a:rPr>
                <a:solidFill>
                  <a:srgbClr val="003B4F"/>
                </a:solidFill>
                <a:latin typeface="Courier"/>
              </a:rPr>
              <a:t>pb_df &lt;- p_df </a:t>
            </a:r>
            <a:r>
              <a:rPr>
                <a:solidFill>
                  <a:srgbClr val="5E5E5E"/>
                </a:solidFill>
                <a:latin typeface="Courier"/>
              </a:rPr>
              <a:t>%&gt;%</a:t>
            </a:r>
            <a:br/>
            <a:r>
              <a:rPr>
                <a:solidFill>
                  <a:srgbClr val="003B4F"/>
                </a:solidFill>
                <a:latin typeface="Courier"/>
              </a:rPr>
              <a:t>  </a:t>
            </a:r>
            <a:r>
              <a:rPr>
                <a:solidFill>
                  <a:srgbClr val="4758AB"/>
                </a:solidFill>
                <a:latin typeface="Courier"/>
              </a:rPr>
              <a:t>group_by</a:t>
            </a:r>
            <a:r>
              <a:rPr>
                <a:solidFill>
                  <a:srgbClr val="003B4F"/>
                </a:solidFill>
                <a:latin typeface="Courier"/>
              </a:rPr>
              <a:t>(spp, sex) </a:t>
            </a:r>
            <a:r>
              <a:rPr>
                <a:solidFill>
                  <a:srgbClr val="5E5E5E"/>
                </a:solidFill>
                <a:latin typeface="Courier"/>
              </a:rPr>
              <a:t>%&gt;%</a:t>
            </a:r>
            <a:br/>
            <a:r>
              <a:rPr>
                <a:solidFill>
                  <a:srgbClr val="003B4F"/>
                </a:solidFill>
                <a:latin typeface="Courier"/>
              </a:rPr>
              <a:t>  </a:t>
            </a:r>
            <a:r>
              <a:rPr>
                <a:solidFill>
                  <a:srgbClr val="4758AB"/>
                </a:solidFill>
                <a:latin typeface="Courier"/>
              </a:rPr>
              <a:t>sample_n</a:t>
            </a:r>
            <a:r>
              <a:rPr>
                <a:solidFill>
                  <a:srgbClr val="003B4F"/>
                </a:solidFill>
                <a:latin typeface="Courier"/>
              </a:rPr>
              <a:t>(min_n) </a:t>
            </a:r>
            <a:r>
              <a:rPr>
                <a:solidFill>
                  <a:srgbClr val="5E5E5E"/>
                </a:solidFill>
                <a:latin typeface="Courier"/>
              </a:rPr>
              <a:t>%&gt;%</a:t>
            </a:r>
            <a:br/>
            <a:r>
              <a:rPr>
                <a:solidFill>
                  <a:srgbClr val="003B4F"/>
                </a:solidFill>
                <a:latin typeface="Courier"/>
              </a:rPr>
              <a:t>  </a:t>
            </a:r>
            <a:r>
              <a:rPr>
                <a:solidFill>
                  <a:srgbClr val="4758AB"/>
                </a:solidFill>
                <a:latin typeface="Courier"/>
              </a:rPr>
              <a:t>ungroup</a:t>
            </a:r>
            <a:r>
              <a:rPr>
                <a:solidFill>
                  <a:srgbClr val="003B4F"/>
                </a:solidFill>
                <a:latin typeface="Courier"/>
              </a:rPr>
              <a:t>()</a:t>
            </a:r>
            <a:br/>
            <a:br/>
            <a:r>
              <a:rPr>
                <a:solidFill>
                  <a:srgbClr val="003B4F"/>
                </a:solidFill>
                <a:latin typeface="Courier"/>
              </a:rPr>
              <a:t>balanced_n &lt;- pb_df </a:t>
            </a:r>
            <a:r>
              <a:rPr>
                <a:solidFill>
                  <a:srgbClr val="5E5E5E"/>
                </a:solidFill>
                <a:latin typeface="Courier"/>
              </a:rPr>
              <a:t>%&gt;%</a:t>
            </a:r>
            <a:br/>
            <a:r>
              <a:rPr>
                <a:solidFill>
                  <a:srgbClr val="003B4F"/>
                </a:solidFill>
                <a:latin typeface="Courier"/>
              </a:rPr>
              <a:t>  </a:t>
            </a:r>
            <a:r>
              <a:rPr>
                <a:solidFill>
                  <a:srgbClr val="4758AB"/>
                </a:solidFill>
                <a:latin typeface="Courier"/>
              </a:rPr>
              <a:t>count</a:t>
            </a:r>
            <a:r>
              <a:rPr>
                <a:solidFill>
                  <a:srgbClr val="003B4F"/>
                </a:solidFill>
                <a:latin typeface="Courier"/>
              </a:rPr>
              <a:t>(spp, sex) </a:t>
            </a:r>
            <a:r>
              <a:rPr>
                <a:solidFill>
                  <a:srgbClr val="5E5E5E"/>
                </a:solidFill>
                <a:latin typeface="Courier"/>
              </a:rPr>
              <a:t>%&gt;%</a:t>
            </a:r>
            <a:br/>
            <a:r>
              <a:rPr>
                <a:solidFill>
                  <a:srgbClr val="003B4F"/>
                </a:solidFill>
                <a:latin typeface="Courier"/>
              </a:rPr>
              <a:t>  </a:t>
            </a:r>
            <a:r>
              <a:rPr>
                <a:solidFill>
                  <a:srgbClr val="4758AB"/>
                </a:solidFill>
                <a:latin typeface="Courier"/>
              </a:rPr>
              <a:t>pivot_wider</a:t>
            </a:r>
            <a:r>
              <a:rPr>
                <a:solidFill>
                  <a:srgbClr val="003B4F"/>
                </a:solidFill>
                <a:latin typeface="Courier"/>
              </a:rPr>
              <a:t>(</a:t>
            </a:r>
            <a:r>
              <a:rPr>
                <a:solidFill>
                  <a:srgbClr val="657422"/>
                </a:solidFill>
                <a:latin typeface="Courier"/>
              </a:rPr>
              <a:t>names_from =</a:t>
            </a:r>
            <a:r>
              <a:rPr>
                <a:solidFill>
                  <a:srgbClr val="003B4F"/>
                </a:solidFill>
                <a:latin typeface="Courier"/>
              </a:rPr>
              <a:t> sex, </a:t>
            </a:r>
            <a:r>
              <a:rPr>
                <a:solidFill>
                  <a:srgbClr val="657422"/>
                </a:solidFill>
                <a:latin typeface="Courier"/>
              </a:rPr>
              <a:t>values_from =</a:t>
            </a:r>
            <a:r>
              <a:rPr>
                <a:solidFill>
                  <a:srgbClr val="003B4F"/>
                </a:solidFill>
                <a:latin typeface="Courier"/>
              </a:rPr>
              <a:t> n, </a:t>
            </a:r>
            <a:r>
              <a:rPr>
                <a:solidFill>
                  <a:srgbClr val="657422"/>
                </a:solidFill>
                <a:latin typeface="Courier"/>
              </a:rPr>
              <a:t>values_fill =</a:t>
            </a:r>
            <a:r>
              <a:rPr>
                <a:solidFill>
                  <a:srgbClr val="003B4F"/>
                </a:solidFill>
                <a:latin typeface="Courier"/>
              </a:rPr>
              <a:t> </a:t>
            </a:r>
            <a:r>
              <a:rPr>
                <a:solidFill>
                  <a:srgbClr val="AD0000"/>
                </a:solidFill>
                <a:latin typeface="Courier"/>
              </a:rPr>
              <a:t>0</a:t>
            </a:r>
            <a:r>
              <a:rPr>
                <a:solidFill>
                  <a:srgbClr val="003B4F"/>
                </a:solidFill>
                <a:latin typeface="Courier"/>
              </a:rPr>
              <a:t>)</a:t>
            </a:r>
            <a:br/>
            <a:r>
              <a:rPr>
                <a:solidFill>
                  <a:srgbClr val="003B4F"/>
                </a:solidFill>
                <a:latin typeface="Courier"/>
              </a:rPr>
              <a:t>balanced_n</a:t>
            </a:r>
          </a:p>
          <a:p>
            <a:pPr lvl="0" indent="0">
              <a:buNone/>
            </a:pPr>
            <a:r>
              <a:rPr>
                <a:solidFill>
                  <a:srgbClr val="003B4F"/>
                </a:solidFill>
                <a:latin typeface="Courier"/>
              </a:rPr>
              <a:t>summary_df &lt;- pb_df </a:t>
            </a:r>
            <a:r>
              <a:rPr>
                <a:solidFill>
                  <a:srgbClr val="5E5E5E"/>
                </a:solidFill>
                <a:latin typeface="Courier"/>
              </a:rPr>
              <a:t>%&gt;%</a:t>
            </a:r>
            <a:br/>
            <a:r>
              <a:rPr>
                <a:solidFill>
                  <a:srgbClr val="003B4F"/>
                </a:solidFill>
                <a:latin typeface="Courier"/>
              </a:rPr>
              <a:t>  </a:t>
            </a:r>
            <a:r>
              <a:rPr>
                <a:solidFill>
                  <a:srgbClr val="4758AB"/>
                </a:solidFill>
                <a:latin typeface="Courier"/>
              </a:rPr>
              <a:t>group_by</a:t>
            </a:r>
            <a:r>
              <a:rPr>
                <a:solidFill>
                  <a:srgbClr val="003B4F"/>
                </a:solidFill>
                <a:latin typeface="Courier"/>
              </a:rPr>
              <a:t>(spp, sex) </a:t>
            </a:r>
            <a:r>
              <a:rPr>
                <a:solidFill>
                  <a:srgbClr val="5E5E5E"/>
                </a:solidFill>
                <a:latin typeface="Courier"/>
              </a:rPr>
              <a:t>%&gt;%</a:t>
            </a:r>
            <a:br/>
            <a:r>
              <a:rPr>
                <a:solidFill>
                  <a:srgbClr val="003B4F"/>
                </a:solidFill>
                <a:latin typeface="Courier"/>
              </a:rPr>
              <a:t>  </a:t>
            </a:r>
            <a:r>
              <a:rPr>
                <a:solidFill>
                  <a:srgbClr val="4758AB"/>
                </a:solidFill>
                <a:latin typeface="Courier"/>
              </a:rPr>
              <a:t>summarise</a:t>
            </a:r>
            <a:r>
              <a:rPr>
                <a:solidFill>
                  <a:srgbClr val="003B4F"/>
                </a:solidFill>
                <a:latin typeface="Courier"/>
              </a:rPr>
              <a:t>(</a:t>
            </a:r>
            <a:br/>
            <a:r>
              <a:rPr>
                <a:solidFill>
                  <a:srgbClr val="003B4F"/>
                </a:solidFill>
                <a:latin typeface="Courier"/>
              </a:rPr>
              <a:t>    </a:t>
            </a:r>
            <a:r>
              <a:rPr>
                <a:solidFill>
                  <a:srgbClr val="657422"/>
                </a:solidFill>
                <a:latin typeface="Courier"/>
              </a:rPr>
              <a:t>n =</a:t>
            </a:r>
            <a:r>
              <a:rPr>
                <a:solidFill>
                  <a:srgbClr val="003B4F"/>
                </a:solidFill>
                <a:latin typeface="Courier"/>
              </a:rPr>
              <a:t> </a:t>
            </a:r>
            <a:r>
              <a:rPr>
                <a:solidFill>
                  <a:srgbClr val="4758AB"/>
                </a:solidFill>
                <a:latin typeface="Courier"/>
              </a:rPr>
              <a:t>sum</a:t>
            </a:r>
            <a:r>
              <a:rPr>
                <a:solidFill>
                  <a:srgbClr val="003B4F"/>
                </a:solidFill>
                <a:latin typeface="Courier"/>
              </a:rPr>
              <a:t>(</a:t>
            </a:r>
            <a:r>
              <a:rPr>
                <a:solidFill>
                  <a:srgbClr val="5E5E5E"/>
                </a:solidFill>
                <a:latin typeface="Courier"/>
              </a:rPr>
              <a:t>!</a:t>
            </a:r>
            <a:r>
              <a:rPr>
                <a:solidFill>
                  <a:srgbClr val="4758AB"/>
                </a:solidFill>
                <a:latin typeface="Courier"/>
              </a:rPr>
              <a:t>is.na</a:t>
            </a:r>
            <a:r>
              <a:rPr>
                <a:solidFill>
                  <a:srgbClr val="003B4F"/>
                </a:solidFill>
                <a:latin typeface="Courier"/>
              </a:rPr>
              <a:t>(mass_g)),</a:t>
            </a:r>
            <a:br/>
            <a:r>
              <a:rPr>
                <a:solidFill>
                  <a:srgbClr val="003B4F"/>
                </a:solidFill>
                <a:latin typeface="Courier"/>
              </a:rPr>
              <a:t>    </a:t>
            </a:r>
            <a:r>
              <a:rPr>
                <a:solidFill>
                  <a:srgbClr val="657422"/>
                </a:solidFill>
                <a:latin typeface="Courier"/>
              </a:rPr>
              <a:t>mean_mass =</a:t>
            </a:r>
            <a:r>
              <a:rPr>
                <a:solidFill>
                  <a:srgbClr val="003B4F"/>
                </a:solidFill>
                <a:latin typeface="Courier"/>
              </a:rPr>
              <a:t> </a:t>
            </a:r>
            <a:r>
              <a:rPr>
                <a:solidFill>
                  <a:srgbClr val="4758AB"/>
                </a:solidFill>
                <a:latin typeface="Courier"/>
              </a:rPr>
              <a:t>mean</a:t>
            </a:r>
            <a:r>
              <a:rPr>
                <a:solidFill>
                  <a:srgbClr val="003B4F"/>
                </a:solidFill>
                <a:latin typeface="Courier"/>
              </a:rPr>
              <a:t>(mass_g),</a:t>
            </a:r>
            <a:br/>
            <a:r>
              <a:rPr>
                <a:solidFill>
                  <a:srgbClr val="003B4F"/>
                </a:solidFill>
                <a:latin typeface="Courier"/>
              </a:rPr>
              <a:t>    </a:t>
            </a:r>
            <a:r>
              <a:rPr>
                <a:solidFill>
                  <a:srgbClr val="657422"/>
                </a:solidFill>
                <a:latin typeface="Courier"/>
              </a:rPr>
              <a:t>sd_mass =</a:t>
            </a:r>
            <a:r>
              <a:rPr>
                <a:solidFill>
                  <a:srgbClr val="003B4F"/>
                </a:solidFill>
                <a:latin typeface="Courier"/>
              </a:rPr>
              <a:t> </a:t>
            </a:r>
            <a:r>
              <a:rPr>
                <a:solidFill>
                  <a:srgbClr val="4758AB"/>
                </a:solidFill>
                <a:latin typeface="Courier"/>
              </a:rPr>
              <a:t>sd</a:t>
            </a:r>
            <a:r>
              <a:rPr>
                <a:solidFill>
                  <a:srgbClr val="003B4F"/>
                </a:solidFill>
                <a:latin typeface="Courier"/>
              </a:rPr>
              <a:t>(mass_g),</a:t>
            </a:r>
            <a:br/>
            <a:r>
              <a:rPr>
                <a:solidFill>
                  <a:srgbClr val="003B4F"/>
                </a:solidFill>
                <a:latin typeface="Courier"/>
              </a:rPr>
              <a:t>    </a:t>
            </a:r>
            <a:r>
              <a:rPr>
                <a:solidFill>
                  <a:srgbClr val="657422"/>
                </a:solidFill>
                <a:latin typeface="Courier"/>
              </a:rPr>
              <a:t>se_mass =</a:t>
            </a:r>
            <a:r>
              <a:rPr>
                <a:solidFill>
                  <a:srgbClr val="003B4F"/>
                </a:solidFill>
                <a:latin typeface="Courier"/>
              </a:rPr>
              <a:t> sd_mass</a:t>
            </a:r>
            <a:r>
              <a:rPr>
                <a:solidFill>
                  <a:srgbClr val="5E5E5E"/>
                </a:solidFill>
                <a:latin typeface="Courier"/>
              </a:rPr>
              <a:t>/</a:t>
            </a:r>
            <a:r>
              <a:rPr>
                <a:solidFill>
                  <a:srgbClr val="4758AB"/>
                </a:solidFill>
                <a:latin typeface="Courier"/>
              </a:rPr>
              <a:t>sqrt</a:t>
            </a:r>
            <a:r>
              <a:rPr>
                <a:solidFill>
                  <a:srgbClr val="003B4F"/>
                </a:solidFill>
                <a:latin typeface="Courier"/>
              </a:rPr>
              <a:t>(n),</a:t>
            </a:r>
            <a:br/>
            <a:r>
              <a:rPr>
                <a:solidFill>
                  <a:srgbClr val="003B4F"/>
                </a:solidFill>
                <a:latin typeface="Courier"/>
              </a:rPr>
              <a:t>    </a:t>
            </a:r>
            <a:r>
              <a:rPr>
                <a:solidFill>
                  <a:srgbClr val="657422"/>
                </a:solidFill>
                <a:latin typeface="Courier"/>
              </a:rPr>
              <a:t>.groups =</a:t>
            </a:r>
            <a:r>
              <a:rPr>
                <a:solidFill>
                  <a:srgbClr val="003B4F"/>
                </a:solidFill>
                <a:latin typeface="Courier"/>
              </a:rPr>
              <a:t> </a:t>
            </a:r>
            <a:r>
              <a:rPr>
                <a:solidFill>
                  <a:srgbClr val="20794D"/>
                </a:solidFill>
                <a:latin typeface="Courier"/>
              </a:rPr>
              <a:t>'drop'</a:t>
            </a:r>
            <a:br/>
            <a:r>
              <a:rPr>
                <a:solidFill>
                  <a:srgbClr val="003B4F"/>
                </a:solidFill>
                <a:latin typeface="Courier"/>
              </a:rPr>
              <a:t>  ) </a:t>
            </a:r>
            <a:r>
              <a:rPr>
                <a:solidFill>
                  <a:srgbClr val="5E5E5E"/>
                </a:solidFill>
                <a:latin typeface="Courier"/>
              </a:rPr>
              <a:t>%&gt;%</a:t>
            </a:r>
            <a:br/>
            <a:r>
              <a:rPr>
                <a:solidFill>
                  <a:srgbClr val="003B4F"/>
                </a:solidFill>
                <a:latin typeface="Courier"/>
              </a:rPr>
              <a:t>  </a:t>
            </a:r>
            <a:r>
              <a:rPr>
                <a:solidFill>
                  <a:srgbClr val="4758AB"/>
                </a:solidFill>
                <a:latin typeface="Courier"/>
              </a:rPr>
              <a:t>arrange</a:t>
            </a:r>
            <a:r>
              <a:rPr>
                <a:solidFill>
                  <a:srgbClr val="003B4F"/>
                </a:solidFill>
                <a:latin typeface="Courier"/>
              </a:rPr>
              <a:t>(spp, sex)</a:t>
            </a:r>
            <a:br/>
            <a:r>
              <a:rPr>
                <a:solidFill>
                  <a:srgbClr val="4758AB"/>
                </a:solidFill>
                <a:latin typeface="Courier"/>
              </a:rPr>
              <a:t>print</a:t>
            </a:r>
            <a:r>
              <a:rPr>
                <a:solidFill>
                  <a:srgbClr val="003B4F"/>
                </a:solidFill>
                <a:latin typeface="Courier"/>
              </a:rPr>
              <a:t>(summary_df)</a:t>
            </a:r>
          </a:p>
          <a:p>
            <a:pPr lvl="0" indent="0" marL="0">
              <a:buNone/>
            </a:pPr>
            <a:r>
              <a:rPr/>
              <a:t>✏️ </a:t>
            </a:r>
            <a:r>
              <a:rPr b="1"/>
              <a:t>Your turn:</a:t>
            </a:r>
            <a:r>
              <a:rPr/>
              <a:t> What was </a:t>
            </a:r>
            <a:r>
              <a:rPr>
                <a:latin typeface="Courier"/>
              </a:rPr>
              <a:t>min_n</a:t>
            </a:r>
            <a:r>
              <a:rPr/>
              <a:t>? How many total observations were dropped to force balance? </a:t>
            </a:r>
            <a:r>
              <a:rPr>
                <a:latin typeface="Courier"/>
              </a:rPr>
              <a:t>________________________</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3 · Fitting the Balanced Factorial ANOVA</a:t>
            </a:r>
          </a:p>
        </p:txBody>
      </p:sp>
      <p:sp>
        <p:nvSpPr>
          <p:cNvPr id="3" name="Content Placeholder 2"/>
          <p:cNvSpPr>
            <a:spLocks noGrp="1"/>
          </p:cNvSpPr>
          <p:nvPr>
            <p:ph idx="1"/>
          </p:nvPr>
        </p:nvSpPr>
        <p:spPr/>
        <p:txBody>
          <a:bodyPr/>
          <a:lstStyle/>
          <a:p>
            <a:pPr lvl="0" indent="0" marL="0">
              <a:buNone/>
            </a:pPr>
            <a:r>
              <a:rPr/>
              <a:t>The factorial ANOVA needs the same assumptions checked after fitting the model: independence of observations, normality of residuals, homogeneity of variances.</a:t>
            </a:r>
          </a:p>
          <a:p>
            <a:pPr lvl="0" indent="0" marL="0">
              <a:buNone/>
            </a:pPr>
            <a:r>
              <a:rPr b="1"/>
              <a:t>▶ Run this:</a:t>
            </a:r>
          </a:p>
          <a:p>
            <a:pPr lvl="0" indent="0">
              <a:buNone/>
            </a:pPr>
            <a:r>
              <a:rPr>
                <a:solidFill>
                  <a:srgbClr val="4758AB"/>
                </a:solidFill>
                <a:latin typeface="Courier"/>
              </a:rPr>
              <a:t>options</a:t>
            </a:r>
            <a:r>
              <a:rPr>
                <a:solidFill>
                  <a:srgbClr val="003B4F"/>
                </a:solidFill>
                <a:latin typeface="Courier"/>
              </a:rPr>
              <a:t>(</a:t>
            </a:r>
            <a:r>
              <a:rPr>
                <a:solidFill>
                  <a:srgbClr val="657422"/>
                </a:solidFill>
                <a:latin typeface="Courier"/>
              </a:rPr>
              <a:t>contrasts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20794D"/>
                </a:solidFill>
                <a:latin typeface="Courier"/>
              </a:rPr>
              <a:t>"contr.sum"</a:t>
            </a:r>
            <a:r>
              <a:rPr>
                <a:solidFill>
                  <a:srgbClr val="003B4F"/>
                </a:solidFill>
                <a:latin typeface="Courier"/>
              </a:rPr>
              <a:t>, </a:t>
            </a:r>
            <a:r>
              <a:rPr>
                <a:solidFill>
                  <a:srgbClr val="20794D"/>
                </a:solidFill>
                <a:latin typeface="Courier"/>
              </a:rPr>
              <a:t>"contr.poly"</a:t>
            </a:r>
            <a:r>
              <a:rPr>
                <a:solidFill>
                  <a:srgbClr val="003B4F"/>
                </a:solidFill>
                <a:latin typeface="Courier"/>
              </a:rPr>
              <a:t>))  </a:t>
            </a:r>
            <a:r>
              <a:rPr>
                <a:solidFill>
                  <a:srgbClr val="5E5E5E"/>
                </a:solidFill>
                <a:latin typeface="Courier"/>
              </a:rPr>
              <a:t># for Type III SS</a:t>
            </a:r>
            <a:br/>
            <a:br/>
            <a:r>
              <a:rPr>
                <a:solidFill>
                  <a:srgbClr val="003B4F"/>
                </a:solidFill>
                <a:latin typeface="Courier"/>
              </a:rPr>
              <a:t>pb_model &lt;- </a:t>
            </a:r>
            <a:r>
              <a:rPr>
                <a:solidFill>
                  <a:srgbClr val="4758AB"/>
                </a:solidFill>
                <a:latin typeface="Courier"/>
              </a:rPr>
              <a:t>lm</a:t>
            </a:r>
            <a:r>
              <a:rPr>
                <a:solidFill>
                  <a:srgbClr val="003B4F"/>
                </a:solidFill>
                <a:latin typeface="Courier"/>
              </a:rPr>
              <a:t>(mass_g </a:t>
            </a:r>
            <a:r>
              <a:rPr>
                <a:solidFill>
                  <a:srgbClr val="5E5E5E"/>
                </a:solidFill>
                <a:latin typeface="Courier"/>
              </a:rPr>
              <a:t>~</a:t>
            </a:r>
            <a:r>
              <a:rPr>
                <a:solidFill>
                  <a:srgbClr val="003B4F"/>
                </a:solidFill>
                <a:latin typeface="Courier"/>
              </a:rPr>
              <a:t> spp </a:t>
            </a:r>
            <a:r>
              <a:rPr>
                <a:solidFill>
                  <a:srgbClr val="5E5E5E"/>
                </a:solidFill>
                <a:latin typeface="Courier"/>
              </a:rPr>
              <a:t>*</a:t>
            </a:r>
            <a:r>
              <a:rPr>
                <a:solidFill>
                  <a:srgbClr val="003B4F"/>
                </a:solidFill>
                <a:latin typeface="Courier"/>
              </a:rPr>
              <a:t> sex, </a:t>
            </a:r>
            <a:r>
              <a:rPr>
                <a:solidFill>
                  <a:srgbClr val="657422"/>
                </a:solidFill>
                <a:latin typeface="Courier"/>
              </a:rPr>
              <a:t>data =</a:t>
            </a:r>
            <a:r>
              <a:rPr>
                <a:solidFill>
                  <a:srgbClr val="003B4F"/>
                </a:solidFill>
                <a:latin typeface="Courier"/>
              </a:rPr>
              <a:t> pb_df)</a:t>
            </a:r>
            <a:br/>
            <a:r>
              <a:rPr>
                <a:solidFill>
                  <a:srgbClr val="4758AB"/>
                </a:solidFill>
                <a:latin typeface="Courier"/>
              </a:rPr>
              <a:t>summary</a:t>
            </a:r>
            <a:r>
              <a:rPr>
                <a:solidFill>
                  <a:srgbClr val="003B4F"/>
                </a:solidFill>
                <a:latin typeface="Courier"/>
              </a:rPr>
              <a:t>(pb_model)</a:t>
            </a:r>
            <a:br/>
            <a:br/>
            <a:r>
              <a:rPr>
                <a:solidFill>
                  <a:srgbClr val="4758AB"/>
                </a:solidFill>
                <a:latin typeface="Courier"/>
              </a:rPr>
              <a:t>Anova</a:t>
            </a:r>
            <a:r>
              <a:rPr>
                <a:solidFill>
                  <a:srgbClr val="003B4F"/>
                </a:solidFill>
                <a:latin typeface="Courier"/>
              </a:rPr>
              <a:t>(pb_model, </a:t>
            </a:r>
            <a:r>
              <a:rPr>
                <a:solidFill>
                  <a:srgbClr val="657422"/>
                </a:solidFill>
                <a:latin typeface="Courier"/>
              </a:rPr>
              <a:t>type =</a:t>
            </a:r>
            <a:r>
              <a:rPr>
                <a:solidFill>
                  <a:srgbClr val="003B4F"/>
                </a:solidFill>
                <a:latin typeface="Courier"/>
              </a:rPr>
              <a:t> </a:t>
            </a:r>
            <a:r>
              <a:rPr>
                <a:solidFill>
                  <a:srgbClr val="AD0000"/>
                </a:solidFill>
                <a:latin typeface="Courier"/>
              </a:rPr>
              <a:t>3</a:t>
            </a:r>
            <a:r>
              <a:rPr>
                <a:solidFill>
                  <a:srgbClr val="003B4F"/>
                </a:solidFill>
                <a:latin typeface="Courier"/>
              </a:rPr>
              <a:t>)</a:t>
            </a:r>
          </a:p>
          <a:p>
            <a:pPr lvl="0" indent="0" marL="0">
              <a:buNone/>
            </a:pPr>
            <a:r>
              <a:rPr/>
              <a:t>✏️ </a:t>
            </a:r>
            <a:r>
              <a:rPr b="1"/>
              <a:t>Your turn:</a:t>
            </a:r>
            <a:r>
              <a:rPr/>
              <a:t> Is the species:sex interaction significant? </a:t>
            </a:r>
            <a:r>
              <a:rPr>
                <a:latin typeface="Courier"/>
              </a:rPr>
              <a:t>________________________</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4 · Assumptions and Diagnostics — Balanced Model</a:t>
            </a:r>
          </a:p>
        </p:txBody>
      </p:sp>
      <p:sp>
        <p:nvSpPr>
          <p:cNvPr id="3" name="Content Placeholder 2"/>
          <p:cNvSpPr>
            <a:spLocks noGrp="1"/>
          </p:cNvSpPr>
          <p:nvPr>
            <p:ph idx="1"/>
          </p:nvPr>
        </p:nvSpPr>
        <p:spPr/>
        <p:txBody>
          <a:bodyPr/>
          <a:lstStyle/>
          <a:p>
            <a:pPr lvl="0" indent="0" marL="0">
              <a:buNone/>
            </a:pPr>
            <a:r>
              <a:rPr b="1"/>
              <a:t>▶ Run this</a:t>
            </a:r>
            <a:r>
              <a:rPr/>
              <a:t> — the base R diagnostic plots:</a:t>
            </a:r>
          </a:p>
          <a:p>
            <a:pPr lvl="0" indent="0">
              <a:buNone/>
            </a:pPr>
            <a:r>
              <a:rPr>
                <a:solidFill>
                  <a:srgbClr val="4758AB"/>
                </a:solidFill>
                <a:latin typeface="Courier"/>
              </a:rPr>
              <a:t>par</a:t>
            </a:r>
            <a:r>
              <a:rPr>
                <a:solidFill>
                  <a:srgbClr val="003B4F"/>
                </a:solidFill>
                <a:latin typeface="Courier"/>
              </a:rPr>
              <a:t>(</a:t>
            </a:r>
            <a:r>
              <a:rPr>
                <a:solidFill>
                  <a:srgbClr val="657422"/>
                </a:solidFill>
                <a:latin typeface="Courier"/>
              </a:rPr>
              <a:t>mfrow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AD0000"/>
                </a:solidFill>
                <a:latin typeface="Courier"/>
              </a:rPr>
              <a:t>2</a:t>
            </a:r>
            <a:r>
              <a:rPr>
                <a:solidFill>
                  <a:srgbClr val="003B4F"/>
                </a:solidFill>
                <a:latin typeface="Courier"/>
              </a:rPr>
              <a:t>, </a:t>
            </a:r>
            <a:r>
              <a:rPr>
                <a:solidFill>
                  <a:srgbClr val="AD0000"/>
                </a:solidFill>
                <a:latin typeface="Courier"/>
              </a:rPr>
              <a:t>2</a:t>
            </a:r>
            <a:r>
              <a:rPr>
                <a:solidFill>
                  <a:srgbClr val="003B4F"/>
                </a:solidFill>
                <a:latin typeface="Courier"/>
              </a:rPr>
              <a:t>))</a:t>
            </a:r>
            <a:br/>
            <a:r>
              <a:rPr>
                <a:solidFill>
                  <a:srgbClr val="4758AB"/>
                </a:solidFill>
                <a:latin typeface="Courier"/>
              </a:rPr>
              <a:t>plot</a:t>
            </a:r>
            <a:r>
              <a:rPr>
                <a:solidFill>
                  <a:srgbClr val="003B4F"/>
                </a:solidFill>
                <a:latin typeface="Courier"/>
              </a:rPr>
              <a:t>(pb_model)</a:t>
            </a:r>
            <a:br/>
            <a:r>
              <a:rPr>
                <a:solidFill>
                  <a:srgbClr val="4758AB"/>
                </a:solidFill>
                <a:latin typeface="Courier"/>
              </a:rPr>
              <a:t>par</a:t>
            </a:r>
            <a:r>
              <a:rPr>
                <a:solidFill>
                  <a:srgbClr val="003B4F"/>
                </a:solidFill>
                <a:latin typeface="Courier"/>
              </a:rPr>
              <a:t>(</a:t>
            </a:r>
            <a:r>
              <a:rPr>
                <a:solidFill>
                  <a:srgbClr val="657422"/>
                </a:solidFill>
                <a:latin typeface="Courier"/>
              </a:rPr>
              <a:t>mfrow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AD0000"/>
                </a:solidFill>
                <a:latin typeface="Courier"/>
              </a:rPr>
              <a:t>1</a:t>
            </a:r>
            <a:r>
              <a:rPr>
                <a:solidFill>
                  <a:srgbClr val="003B4F"/>
                </a:solidFill>
                <a:latin typeface="Courier"/>
              </a:rPr>
              <a:t>, </a:t>
            </a:r>
            <a:r>
              <a:rPr>
                <a:solidFill>
                  <a:srgbClr val="AD0000"/>
                </a:solidFill>
                <a:latin typeface="Courier"/>
              </a:rPr>
              <a:t>1</a:t>
            </a:r>
            <a:r>
              <a:rPr>
                <a:solidFill>
                  <a:srgbClr val="003B4F"/>
                </a:solidFill>
                <a:latin typeface="Courier"/>
              </a:rPr>
              <a:t>))</a:t>
            </a:r>
          </a:p>
          <a:p>
            <a:pPr lvl="0" indent="0" marL="0">
              <a:buNone/>
            </a:pPr>
            <a:r>
              <a:rPr b="1"/>
              <a:t>▶ Run this</a:t>
            </a:r>
            <a:r>
              <a:rPr/>
              <a:t> — build a residuals data frame and check normality:</a:t>
            </a:r>
          </a:p>
          <a:p>
            <a:pPr lvl="0" indent="0">
              <a:buNone/>
            </a:pPr>
            <a:r>
              <a:rPr>
                <a:solidFill>
                  <a:srgbClr val="003B4F"/>
                </a:solidFill>
                <a:latin typeface="Courier"/>
              </a:rPr>
              <a:t>pb_resid_df &lt;- </a:t>
            </a:r>
            <a:r>
              <a:rPr>
                <a:solidFill>
                  <a:srgbClr val="4758AB"/>
                </a:solidFill>
                <a:latin typeface="Courier"/>
              </a:rPr>
              <a:t>augment</a:t>
            </a:r>
            <a:r>
              <a:rPr>
                <a:solidFill>
                  <a:srgbClr val="003B4F"/>
                </a:solidFill>
                <a:latin typeface="Courier"/>
              </a:rPr>
              <a:t>(pb_model)</a:t>
            </a:r>
            <a:br/>
            <a:br/>
            <a:r>
              <a:rPr>
                <a:solidFill>
                  <a:srgbClr val="4758AB"/>
                </a:solidFill>
                <a:latin typeface="Courier"/>
              </a:rPr>
              <a:t>ggplot</a:t>
            </a:r>
            <a:r>
              <a:rPr>
                <a:solidFill>
                  <a:srgbClr val="003B4F"/>
                </a:solidFill>
                <a:latin typeface="Courier"/>
              </a:rPr>
              <a:t>(pb_resid_df, </a:t>
            </a:r>
            <a:r>
              <a:rPr>
                <a:solidFill>
                  <a:srgbClr val="4758AB"/>
                </a:solidFill>
                <a:latin typeface="Courier"/>
              </a:rPr>
              <a:t>aes</a:t>
            </a:r>
            <a:r>
              <a:rPr>
                <a:solidFill>
                  <a:srgbClr val="003B4F"/>
                </a:solidFill>
                <a:latin typeface="Courier"/>
              </a:rPr>
              <a:t>(</a:t>
            </a:r>
            <a:r>
              <a:rPr>
                <a:solidFill>
                  <a:srgbClr val="657422"/>
                </a:solidFill>
                <a:latin typeface="Courier"/>
              </a:rPr>
              <a:t>sample =</a:t>
            </a:r>
            <a:r>
              <a:rPr>
                <a:solidFill>
                  <a:srgbClr val="003B4F"/>
                </a:solidFill>
                <a:latin typeface="Courier"/>
              </a:rPr>
              <a:t> .resid)) </a:t>
            </a:r>
            <a:r>
              <a:rPr>
                <a:solidFill>
                  <a:srgbClr val="5E5E5E"/>
                </a:solidFill>
                <a:latin typeface="Courier"/>
              </a:rPr>
              <a:t>+</a:t>
            </a:r>
            <a:br/>
            <a:r>
              <a:rPr>
                <a:solidFill>
                  <a:srgbClr val="003B4F"/>
                </a:solidFill>
                <a:latin typeface="Courier"/>
              </a:rPr>
              <a:t>  </a:t>
            </a:r>
            <a:r>
              <a:rPr>
                <a:solidFill>
                  <a:srgbClr val="4758AB"/>
                </a:solidFill>
                <a:latin typeface="Courier"/>
              </a:rPr>
              <a:t>stat_qq</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stat_qq_line</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title =</a:t>
            </a:r>
            <a:r>
              <a:rPr>
                <a:solidFill>
                  <a:srgbClr val="003B4F"/>
                </a:solidFill>
                <a:latin typeface="Courier"/>
              </a:rPr>
              <a:t> </a:t>
            </a:r>
            <a:r>
              <a:rPr>
                <a:solidFill>
                  <a:srgbClr val="20794D"/>
                </a:solidFill>
                <a:latin typeface="Courier"/>
              </a:rPr>
              <a:t>"Q-Q Plot of Residuals"</a:t>
            </a:r>
            <a:r>
              <a:rPr>
                <a:solidFill>
                  <a:srgbClr val="003B4F"/>
                </a:solidFill>
                <a:latin typeface="Courier"/>
              </a:rPr>
              <a:t>, </a:t>
            </a:r>
            <a:r>
              <a:rPr>
                <a:solidFill>
                  <a:srgbClr val="657422"/>
                </a:solidFill>
                <a:latin typeface="Courier"/>
              </a:rPr>
              <a:t>x =</a:t>
            </a:r>
            <a:r>
              <a:rPr>
                <a:solidFill>
                  <a:srgbClr val="003B4F"/>
                </a:solidFill>
                <a:latin typeface="Courier"/>
              </a:rPr>
              <a:t> </a:t>
            </a:r>
            <a:r>
              <a:rPr>
                <a:solidFill>
                  <a:srgbClr val="20794D"/>
                </a:solidFill>
                <a:latin typeface="Courier"/>
              </a:rPr>
              <a:t>"Theoretical Quantiles"</a:t>
            </a: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"Sample Quantiles"</a:t>
            </a:r>
            <a:r>
              <a:rPr>
                <a:solidFill>
                  <a:srgbClr val="003B4F"/>
                </a:solidFill>
                <a:latin typeface="Courier"/>
              </a:rPr>
              <a:t>)</a:t>
            </a:r>
            <a:br/>
            <a:br/>
            <a:r>
              <a:rPr>
                <a:solidFill>
                  <a:srgbClr val="4758AB"/>
                </a:solidFill>
                <a:latin typeface="Courier"/>
              </a:rPr>
              <a:t>ggplot</a:t>
            </a:r>
            <a:r>
              <a:rPr>
                <a:solidFill>
                  <a:srgbClr val="003B4F"/>
                </a:solidFill>
                <a:latin typeface="Courier"/>
              </a:rPr>
              <a:t>(pb_resid_df,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.resid)) </a:t>
            </a:r>
            <a:r>
              <a:rPr>
                <a:solidFill>
                  <a:srgbClr val="5E5E5E"/>
                </a:solidFill>
                <a:latin typeface="Courier"/>
              </a:rPr>
              <a:t>+</a:t>
            </a:r>
            <a:br/>
            <a:r>
              <a:rPr>
                <a:solidFill>
                  <a:srgbClr val="003B4F"/>
                </a:solidFill>
                <a:latin typeface="Courier"/>
              </a:rPr>
              <a:t>  </a:t>
            </a:r>
            <a:r>
              <a:rPr>
                <a:solidFill>
                  <a:srgbClr val="4758AB"/>
                </a:solidFill>
                <a:latin typeface="Courier"/>
              </a:rPr>
              <a:t>geom_histogram</a:t>
            </a:r>
            <a:r>
              <a:rPr>
                <a:solidFill>
                  <a:srgbClr val="003B4F"/>
                </a:solidFill>
                <a:latin typeface="Courier"/>
              </a:rPr>
              <a:t>(</a:t>
            </a:r>
            <a:r>
              <a:rPr>
                <a:solidFill>
                  <a:srgbClr val="657422"/>
                </a:solidFill>
                <a:latin typeface="Courier"/>
              </a:rPr>
              <a:t>bins =</a:t>
            </a:r>
            <a:r>
              <a:rPr>
                <a:solidFill>
                  <a:srgbClr val="003B4F"/>
                </a:solidFill>
                <a:latin typeface="Courier"/>
              </a:rPr>
              <a:t> </a:t>
            </a:r>
            <a:r>
              <a:rPr>
                <a:solidFill>
                  <a:srgbClr val="AD0000"/>
                </a:solidFill>
                <a:latin typeface="Courier"/>
              </a:rPr>
              <a:t>15</a:t>
            </a:r>
            <a:r>
              <a:rPr>
                <a:solidFill>
                  <a:srgbClr val="003B4F"/>
                </a:solidFill>
                <a:latin typeface="Courier"/>
              </a:rPr>
              <a:t>, </a:t>
            </a:r>
            <a:r>
              <a:rPr>
                <a:solidFill>
                  <a:srgbClr val="657422"/>
                </a:solidFill>
                <a:latin typeface="Courier"/>
              </a:rPr>
              <a:t>fill =</a:t>
            </a:r>
            <a:r>
              <a:rPr>
                <a:solidFill>
                  <a:srgbClr val="003B4F"/>
                </a:solidFill>
                <a:latin typeface="Courier"/>
              </a:rPr>
              <a:t> </a:t>
            </a:r>
            <a:r>
              <a:rPr>
                <a:solidFill>
                  <a:srgbClr val="20794D"/>
                </a:solidFill>
                <a:latin typeface="Courier"/>
              </a:rPr>
              <a:t>"snow"</a:t>
            </a:r>
            <a:r>
              <a:rPr>
                <a:solidFill>
                  <a:srgbClr val="003B4F"/>
                </a:solidFill>
                <a:latin typeface="Courier"/>
              </a:rPr>
              <a:t>, </a:t>
            </a:r>
            <a:r>
              <a:rPr>
                <a:solidFill>
                  <a:srgbClr val="657422"/>
                </a:solidFill>
                <a:latin typeface="Courier"/>
              </a:rPr>
              <a:t>color =</a:t>
            </a:r>
            <a:r>
              <a:rPr>
                <a:solidFill>
                  <a:srgbClr val="003B4F"/>
                </a:solidFill>
                <a:latin typeface="Courier"/>
              </a:rPr>
              <a:t> </a:t>
            </a:r>
            <a:r>
              <a:rPr>
                <a:solidFill>
                  <a:srgbClr val="20794D"/>
                </a:solidFill>
                <a:latin typeface="Courier"/>
              </a:rPr>
              <a:t>"black"</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title =</a:t>
            </a:r>
            <a:r>
              <a:rPr>
                <a:solidFill>
                  <a:srgbClr val="003B4F"/>
                </a:solidFill>
                <a:latin typeface="Courier"/>
              </a:rPr>
              <a:t> </a:t>
            </a:r>
            <a:r>
              <a:rPr>
                <a:solidFill>
                  <a:srgbClr val="20794D"/>
                </a:solidFill>
                <a:latin typeface="Courier"/>
              </a:rPr>
              <a:t>"Histogram of Residuals"</a:t>
            </a:r>
            <a:r>
              <a:rPr>
                <a:solidFill>
                  <a:srgbClr val="003B4F"/>
                </a:solidFill>
                <a:latin typeface="Courier"/>
              </a:rPr>
              <a:t>, </a:t>
            </a:r>
            <a:r>
              <a:rPr>
                <a:solidFill>
                  <a:srgbClr val="657422"/>
                </a:solidFill>
                <a:latin typeface="Courier"/>
              </a:rPr>
              <a:t>x =</a:t>
            </a:r>
            <a:r>
              <a:rPr>
                <a:solidFill>
                  <a:srgbClr val="003B4F"/>
                </a:solidFill>
                <a:latin typeface="Courier"/>
              </a:rPr>
              <a:t> </a:t>
            </a:r>
            <a:r>
              <a:rPr>
                <a:solidFill>
                  <a:srgbClr val="20794D"/>
                </a:solidFill>
                <a:latin typeface="Courier"/>
              </a:rPr>
              <a:t>"Residuals"</a:t>
            </a: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"Count"</a:t>
            </a:r>
            <a:r>
              <a:rPr>
                <a:solidFill>
                  <a:srgbClr val="003B4F"/>
                </a:solidFill>
                <a:latin typeface="Courier"/>
              </a:rPr>
              <a:t>)</a:t>
            </a:r>
            <a:br/>
            <a:br/>
            <a:r>
              <a:rPr>
                <a:solidFill>
                  <a:srgbClr val="4758AB"/>
                </a:solidFill>
                <a:latin typeface="Courier"/>
              </a:rPr>
              <a:t>shapiro.test</a:t>
            </a:r>
            <a:r>
              <a:rPr>
                <a:solidFill>
                  <a:srgbClr val="003B4F"/>
                </a:solidFill>
                <a:latin typeface="Courier"/>
              </a:rPr>
              <a:t>(</a:t>
            </a:r>
            <a:r>
              <a:rPr>
                <a:solidFill>
                  <a:srgbClr val="4758AB"/>
                </a:solidFill>
                <a:latin typeface="Courier"/>
              </a:rPr>
              <a:t>residuals</a:t>
            </a:r>
            <a:r>
              <a:rPr>
                <a:solidFill>
                  <a:srgbClr val="003B4F"/>
                </a:solidFill>
                <a:latin typeface="Courier"/>
              </a:rPr>
              <a:t>(pb_model))</a:t>
            </a:r>
          </a:p>
          <a:p>
            <a:pPr lvl="0" indent="0" marL="0">
              <a:buNone/>
            </a:pPr>
            <a:r>
              <a:rPr b="1"/>
              <a:t>▶ Run this</a:t>
            </a:r>
            <a:r>
              <a:rPr/>
              <a:t> — check homogeneity of variance:</a:t>
            </a:r>
          </a:p>
          <a:p>
            <a:pPr lvl="0" indent="0">
              <a:buNone/>
            </a:pPr>
            <a:r>
              <a:rPr>
                <a:solidFill>
                  <a:srgbClr val="4758AB"/>
                </a:solidFill>
                <a:latin typeface="Courier"/>
              </a:rPr>
              <a:t>leveneTest</a:t>
            </a:r>
            <a:r>
              <a:rPr>
                <a:solidFill>
                  <a:srgbClr val="003B4F"/>
                </a:solidFill>
                <a:latin typeface="Courier"/>
              </a:rPr>
              <a:t>(mass_g </a:t>
            </a:r>
            <a:r>
              <a:rPr>
                <a:solidFill>
                  <a:srgbClr val="5E5E5E"/>
                </a:solidFill>
                <a:latin typeface="Courier"/>
              </a:rPr>
              <a:t>~</a:t>
            </a:r>
            <a:r>
              <a:rPr>
                <a:solidFill>
                  <a:srgbClr val="003B4F"/>
                </a:solidFill>
                <a:latin typeface="Courier"/>
              </a:rPr>
              <a:t> spp </a:t>
            </a:r>
            <a:r>
              <a:rPr>
                <a:solidFill>
                  <a:srgbClr val="5E5E5E"/>
                </a:solidFill>
                <a:latin typeface="Courier"/>
              </a:rPr>
              <a:t>*</a:t>
            </a:r>
            <a:r>
              <a:rPr>
                <a:solidFill>
                  <a:srgbClr val="003B4F"/>
                </a:solidFill>
                <a:latin typeface="Courier"/>
              </a:rPr>
              <a:t> sex, </a:t>
            </a:r>
            <a:r>
              <a:rPr>
                <a:solidFill>
                  <a:srgbClr val="657422"/>
                </a:solidFill>
                <a:latin typeface="Courier"/>
              </a:rPr>
              <a:t>data =</a:t>
            </a:r>
            <a:r>
              <a:rPr>
                <a:solidFill>
                  <a:srgbClr val="003B4F"/>
                </a:solidFill>
                <a:latin typeface="Courier"/>
              </a:rPr>
              <a:t> pb_df)</a:t>
            </a:r>
            <a:br/>
            <a:br/>
            <a:r>
              <a:rPr>
                <a:solidFill>
                  <a:srgbClr val="4758AB"/>
                </a:solidFill>
                <a:latin typeface="Courier"/>
              </a:rPr>
              <a:t>ggplot</a:t>
            </a:r>
            <a:r>
              <a:rPr>
                <a:solidFill>
                  <a:srgbClr val="003B4F"/>
                </a:solidFill>
                <a:latin typeface="Courier"/>
              </a:rPr>
              <a:t>(pb_resid_df,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.fitted, </a:t>
            </a:r>
            <a:r>
              <a:rPr>
                <a:solidFill>
                  <a:srgbClr val="657422"/>
                </a:solidFill>
                <a:latin typeface="Courier"/>
              </a:rPr>
              <a:t>y =</a:t>
            </a:r>
            <a:r>
              <a:rPr>
                <a:solidFill>
                  <a:srgbClr val="003B4F"/>
                </a:solidFill>
                <a:latin typeface="Courier"/>
              </a:rPr>
              <a:t> .resid)) </a:t>
            </a:r>
            <a:r>
              <a:rPr>
                <a:solidFill>
                  <a:srgbClr val="5E5E5E"/>
                </a:solidFill>
                <a:latin typeface="Courier"/>
              </a:rPr>
              <a:t>+</a:t>
            </a:r>
            <a:br/>
            <a:r>
              <a:rPr>
                <a:solidFill>
                  <a:srgbClr val="003B4F"/>
                </a:solidFill>
                <a:latin typeface="Courier"/>
              </a:rPr>
              <a:t>  </a:t>
            </a:r>
            <a:r>
              <a:rPr>
                <a:solidFill>
                  <a:srgbClr val="4758AB"/>
                </a:solidFill>
                <a:latin typeface="Courier"/>
              </a:rPr>
              <a:t>geom_point</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geom_hline</a:t>
            </a:r>
            <a:r>
              <a:rPr>
                <a:solidFill>
                  <a:srgbClr val="003B4F"/>
                </a:solidFill>
                <a:latin typeface="Courier"/>
              </a:rPr>
              <a:t>(</a:t>
            </a:r>
            <a:r>
              <a:rPr>
                <a:solidFill>
                  <a:srgbClr val="657422"/>
                </a:solidFill>
                <a:latin typeface="Courier"/>
              </a:rPr>
              <a:t>yintercept =</a:t>
            </a:r>
            <a:r>
              <a:rPr>
                <a:solidFill>
                  <a:srgbClr val="003B4F"/>
                </a:solidFill>
                <a:latin typeface="Courier"/>
              </a:rPr>
              <a:t> </a:t>
            </a:r>
            <a:r>
              <a:rPr>
                <a:solidFill>
                  <a:srgbClr val="AD0000"/>
                </a:solidFill>
                <a:latin typeface="Courier"/>
              </a:rPr>
              <a:t>0</a:t>
            </a:r>
            <a:r>
              <a:rPr>
                <a:solidFill>
                  <a:srgbClr val="003B4F"/>
                </a:solidFill>
                <a:latin typeface="Courier"/>
              </a:rPr>
              <a:t>, </a:t>
            </a:r>
            <a:r>
              <a:rPr>
                <a:solidFill>
                  <a:srgbClr val="657422"/>
                </a:solidFill>
                <a:latin typeface="Courier"/>
              </a:rPr>
              <a:t>linetype =</a:t>
            </a:r>
            <a:r>
              <a:rPr>
                <a:solidFill>
                  <a:srgbClr val="003B4F"/>
                </a:solidFill>
                <a:latin typeface="Courier"/>
              </a:rPr>
              <a:t> </a:t>
            </a:r>
            <a:r>
              <a:rPr>
                <a:solidFill>
                  <a:srgbClr val="20794D"/>
                </a:solidFill>
                <a:latin typeface="Courier"/>
              </a:rPr>
              <a:t>"dashed"</a:t>
            </a:r>
            <a:r>
              <a:rPr>
                <a:solidFill>
                  <a:srgbClr val="003B4F"/>
                </a:solidFill>
                <a:latin typeface="Courier"/>
              </a:rPr>
              <a:t>, </a:t>
            </a:r>
            <a:r>
              <a:rPr>
                <a:solidFill>
                  <a:srgbClr val="657422"/>
                </a:solidFill>
                <a:latin typeface="Courier"/>
              </a:rPr>
              <a:t>color =</a:t>
            </a:r>
            <a:r>
              <a:rPr>
                <a:solidFill>
                  <a:srgbClr val="003B4F"/>
                </a:solidFill>
                <a:latin typeface="Courier"/>
              </a:rPr>
              <a:t> </a:t>
            </a:r>
            <a:r>
              <a:rPr>
                <a:solidFill>
                  <a:srgbClr val="20794D"/>
                </a:solidFill>
                <a:latin typeface="Courier"/>
              </a:rPr>
              <a:t>"red"</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title =</a:t>
            </a:r>
            <a:r>
              <a:rPr>
                <a:solidFill>
                  <a:srgbClr val="003B4F"/>
                </a:solidFill>
                <a:latin typeface="Courier"/>
              </a:rPr>
              <a:t> </a:t>
            </a:r>
            <a:r>
              <a:rPr>
                <a:solidFill>
                  <a:srgbClr val="20794D"/>
                </a:solidFill>
                <a:latin typeface="Courier"/>
              </a:rPr>
              <a:t>"Residuals vs Fitted Values"</a:t>
            </a:r>
            <a:r>
              <a:rPr>
                <a:solidFill>
                  <a:srgbClr val="003B4F"/>
                </a:solidFill>
                <a:latin typeface="Courier"/>
              </a:rPr>
              <a:t>, </a:t>
            </a:r>
            <a:r>
              <a:rPr>
                <a:solidFill>
                  <a:srgbClr val="657422"/>
                </a:solidFill>
                <a:latin typeface="Courier"/>
              </a:rPr>
              <a:t>x =</a:t>
            </a:r>
            <a:r>
              <a:rPr>
                <a:solidFill>
                  <a:srgbClr val="003B4F"/>
                </a:solidFill>
                <a:latin typeface="Courier"/>
              </a:rPr>
              <a:t> </a:t>
            </a:r>
            <a:r>
              <a:rPr>
                <a:solidFill>
                  <a:srgbClr val="20794D"/>
                </a:solidFill>
                <a:latin typeface="Courier"/>
              </a:rPr>
              <a:t>"Fitted Values"</a:t>
            </a: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"Residuals"</a:t>
            </a:r>
            <a:r>
              <a:rPr>
                <a:solidFill>
                  <a:srgbClr val="003B4F"/>
                </a:solidFill>
                <a:latin typeface="Courier"/>
              </a:rPr>
              <a:t>)</a:t>
            </a:r>
            <a:br/>
            <a:br/>
            <a:r>
              <a:rPr>
                <a:solidFill>
                  <a:srgbClr val="003B4F"/>
                </a:solidFill>
                <a:latin typeface="Courier"/>
              </a:rPr>
              <a:t>pb_resid_group_df &lt;- pb_df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r>
              <a:rPr>
                <a:solidFill>
                  <a:srgbClr val="657422"/>
                </a:solidFill>
                <a:latin typeface="Courier"/>
              </a:rPr>
              <a:t>residuals =</a:t>
            </a:r>
            <a:r>
              <a:rPr>
                <a:solidFill>
                  <a:srgbClr val="003B4F"/>
                </a:solidFill>
                <a:latin typeface="Courier"/>
              </a:rPr>
              <a:t> </a:t>
            </a:r>
            <a:r>
              <a:rPr>
                <a:solidFill>
                  <a:srgbClr val="4758AB"/>
                </a:solidFill>
                <a:latin typeface="Courier"/>
              </a:rPr>
              <a:t>residuals</a:t>
            </a:r>
            <a:r>
              <a:rPr>
                <a:solidFill>
                  <a:srgbClr val="003B4F"/>
                </a:solidFill>
                <a:latin typeface="Courier"/>
              </a:rPr>
              <a:t>(pb_model))</a:t>
            </a:r>
            <a:br/>
            <a:br/>
            <a:r>
              <a:rPr>
                <a:solidFill>
                  <a:srgbClr val="4758AB"/>
                </a:solidFill>
                <a:latin typeface="Courier"/>
              </a:rPr>
              <a:t>ggplot</a:t>
            </a:r>
            <a:r>
              <a:rPr>
                <a:solidFill>
                  <a:srgbClr val="003B4F"/>
                </a:solidFill>
                <a:latin typeface="Courier"/>
              </a:rPr>
              <a:t>(pb_resid_group_df,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a:t>
            </a:r>
            <a:r>
              <a:rPr>
                <a:solidFill>
                  <a:srgbClr val="4758AB"/>
                </a:solidFill>
                <a:latin typeface="Courier"/>
              </a:rPr>
              <a:t>interaction</a:t>
            </a:r>
            <a:r>
              <a:rPr>
                <a:solidFill>
                  <a:srgbClr val="003B4F"/>
                </a:solidFill>
                <a:latin typeface="Courier"/>
              </a:rPr>
              <a:t>(spp, sex), </a:t>
            </a:r>
            <a:r>
              <a:rPr>
                <a:solidFill>
                  <a:srgbClr val="657422"/>
                </a:solidFill>
                <a:latin typeface="Courier"/>
              </a:rPr>
              <a:t>y =</a:t>
            </a:r>
            <a:r>
              <a:rPr>
                <a:solidFill>
                  <a:srgbClr val="003B4F"/>
                </a:solidFill>
                <a:latin typeface="Courier"/>
              </a:rPr>
              <a:t> residuals)) </a:t>
            </a:r>
            <a:r>
              <a:rPr>
                <a:solidFill>
                  <a:srgbClr val="5E5E5E"/>
                </a:solidFill>
                <a:latin typeface="Courier"/>
              </a:rPr>
              <a:t>+</a:t>
            </a:r>
            <a:br/>
            <a:r>
              <a:rPr>
                <a:solidFill>
                  <a:srgbClr val="003B4F"/>
                </a:solidFill>
                <a:latin typeface="Courier"/>
              </a:rPr>
              <a:t>  </a:t>
            </a:r>
            <a:r>
              <a:rPr>
                <a:solidFill>
                  <a:srgbClr val="4758AB"/>
                </a:solidFill>
                <a:latin typeface="Courier"/>
              </a:rPr>
              <a:t>geom_boxplot</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title =</a:t>
            </a:r>
            <a:r>
              <a:rPr>
                <a:solidFill>
                  <a:srgbClr val="003B4F"/>
                </a:solidFill>
                <a:latin typeface="Courier"/>
              </a:rPr>
              <a:t> </a:t>
            </a:r>
            <a:r>
              <a:rPr>
                <a:solidFill>
                  <a:srgbClr val="20794D"/>
                </a:solidFill>
                <a:latin typeface="Courier"/>
              </a:rPr>
              <a:t>"Residuals by Group"</a:t>
            </a:r>
            <a:r>
              <a:rPr>
                <a:solidFill>
                  <a:srgbClr val="003B4F"/>
                </a:solidFill>
                <a:latin typeface="Courier"/>
              </a:rPr>
              <a:t>, </a:t>
            </a:r>
            <a:r>
              <a:rPr>
                <a:solidFill>
                  <a:srgbClr val="657422"/>
                </a:solidFill>
                <a:latin typeface="Courier"/>
              </a:rPr>
              <a:t>x =</a:t>
            </a:r>
            <a:r>
              <a:rPr>
                <a:solidFill>
                  <a:srgbClr val="003B4F"/>
                </a:solidFill>
                <a:latin typeface="Courier"/>
              </a:rPr>
              <a:t> </a:t>
            </a:r>
            <a:r>
              <a:rPr>
                <a:solidFill>
                  <a:srgbClr val="20794D"/>
                </a:solidFill>
                <a:latin typeface="Courier"/>
              </a:rPr>
              <a:t>"Species:Sex Combination"</a:t>
            </a: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"Residuals"</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theme</a:t>
            </a:r>
            <a:r>
              <a:rPr>
                <a:solidFill>
                  <a:srgbClr val="003B4F"/>
                </a:solidFill>
                <a:latin typeface="Courier"/>
              </a:rPr>
              <a:t>(</a:t>
            </a:r>
            <a:r>
              <a:rPr>
                <a:solidFill>
                  <a:srgbClr val="657422"/>
                </a:solidFill>
                <a:latin typeface="Courier"/>
              </a:rPr>
              <a:t>axis.text.x =</a:t>
            </a:r>
            <a:r>
              <a:rPr>
                <a:solidFill>
                  <a:srgbClr val="003B4F"/>
                </a:solidFill>
                <a:latin typeface="Courier"/>
              </a:rPr>
              <a:t> </a:t>
            </a:r>
            <a:r>
              <a:rPr>
                <a:solidFill>
                  <a:srgbClr val="4758AB"/>
                </a:solidFill>
                <a:latin typeface="Courier"/>
              </a:rPr>
              <a:t>element_text</a:t>
            </a:r>
            <a:r>
              <a:rPr>
                <a:solidFill>
                  <a:srgbClr val="003B4F"/>
                </a:solidFill>
                <a:latin typeface="Courier"/>
              </a:rPr>
              <a:t>(</a:t>
            </a:r>
            <a:r>
              <a:rPr>
                <a:solidFill>
                  <a:srgbClr val="657422"/>
                </a:solidFill>
                <a:latin typeface="Courier"/>
              </a:rPr>
              <a:t>angle =</a:t>
            </a:r>
            <a:r>
              <a:rPr>
                <a:solidFill>
                  <a:srgbClr val="003B4F"/>
                </a:solidFill>
                <a:latin typeface="Courier"/>
              </a:rPr>
              <a:t> </a:t>
            </a:r>
            <a:r>
              <a:rPr>
                <a:solidFill>
                  <a:srgbClr val="AD0000"/>
                </a:solidFill>
                <a:latin typeface="Courier"/>
              </a:rPr>
              <a:t>45</a:t>
            </a:r>
            <a:r>
              <a:rPr>
                <a:solidFill>
                  <a:srgbClr val="003B4F"/>
                </a:solidFill>
                <a:latin typeface="Courier"/>
              </a:rPr>
              <a:t>, </a:t>
            </a:r>
            <a:r>
              <a:rPr>
                <a:solidFill>
                  <a:srgbClr val="657422"/>
                </a:solidFill>
                <a:latin typeface="Courier"/>
              </a:rPr>
              <a:t>hjust =</a:t>
            </a:r>
            <a:r>
              <a:rPr>
                <a:solidFill>
                  <a:srgbClr val="003B4F"/>
                </a:solidFill>
                <a:latin typeface="Courier"/>
              </a:rPr>
              <a:t> </a:t>
            </a:r>
            <a:r>
              <a:rPr>
                <a:solidFill>
                  <a:srgbClr val="AD0000"/>
                </a:solidFill>
                <a:latin typeface="Courier"/>
              </a:rPr>
              <a:t>1</a:t>
            </a:r>
            <a:r>
              <a:rPr>
                <a:solidFill>
                  <a:srgbClr val="003B4F"/>
                </a:solidFill>
                <a:latin typeface="Courier"/>
              </a:rPr>
              <a:t>))</a:t>
            </a:r>
          </a:p>
          <a:p>
            <a:pPr lvl="0" indent="0" marL="1270000">
              <a:buNone/>
            </a:pPr>
            <a:r>
              <a:rPr sz="2000" b="1"/>
              <a:t>Tip</a:t>
            </a:r>
          </a:p>
          <a:p>
            <a:pPr lvl="0" indent="0" marL="1270000">
              <a:buNone/>
            </a:pPr>
            <a:r>
              <a:rPr sz="2000" b="1"/>
              <a:t>🚀 If you finish early:</a:t>
            </a:r>
            <a:r>
              <a:rPr sz="2000"/>
              <a:t> Do any of the six species:sex groups have visibly larger residual spread than the others in the last boxplot? Which one(s)?</a:t>
            </a:r>
          </a:p>
          <a:p>
            <a:pPr lvl="0" indent="0">
              <a:buNone/>
            </a:pPr>
            <a:r>
              <a:rPr sz="2000">
                <a:latin typeface="Courier"/>
              </a:rPr>
              <a:t>________________________________________________________</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5 · Estimated Marginal Means and Post-Hoc — Balanced Model</a:t>
            </a:r>
          </a:p>
        </p:txBody>
      </p:sp>
      <p:sp>
        <p:nvSpPr>
          <p:cNvPr id="3" name="Content Placeholder 2"/>
          <p:cNvSpPr>
            <a:spLocks noGrp="1"/>
          </p:cNvSpPr>
          <p:nvPr>
            <p:ph idx="1"/>
          </p:nvPr>
        </p:nvSpPr>
        <p:spPr/>
        <p:txBody>
          <a:bodyPr/>
          <a:lstStyle/>
          <a:p>
            <a:pPr lvl="0" indent="0" marL="0">
              <a:buNone/>
            </a:pPr>
            <a:r>
              <a:rPr b="1"/>
              <a:t>▶ Run this</a:t>
            </a:r>
            <a:r>
              <a:rPr/>
              <a:t> — main effect of species:</a:t>
            </a:r>
          </a:p>
          <a:p>
            <a:pPr lvl="0" indent="0">
              <a:buNone/>
            </a:pPr>
            <a:r>
              <a:rPr>
                <a:solidFill>
                  <a:srgbClr val="003B4F"/>
                </a:solidFill>
                <a:latin typeface="Courier"/>
              </a:rPr>
              <a:t>sppb_emm &lt;- </a:t>
            </a:r>
            <a:r>
              <a:rPr>
                <a:solidFill>
                  <a:srgbClr val="4758AB"/>
                </a:solidFill>
                <a:latin typeface="Courier"/>
              </a:rPr>
              <a:t>emmeans</a:t>
            </a:r>
            <a:r>
              <a:rPr>
                <a:solidFill>
                  <a:srgbClr val="003B4F"/>
                </a:solidFill>
                <a:latin typeface="Courier"/>
              </a:rPr>
              <a:t>(pb_model, </a:t>
            </a:r>
            <a:r>
              <a:rPr>
                <a:solidFill>
                  <a:srgbClr val="5E5E5E"/>
                </a:solidFill>
                <a:latin typeface="Courier"/>
              </a:rPr>
              <a:t>~</a:t>
            </a:r>
            <a:r>
              <a:rPr>
                <a:solidFill>
                  <a:srgbClr val="003B4F"/>
                </a:solidFill>
                <a:latin typeface="Courier"/>
              </a:rPr>
              <a:t> spp)</a:t>
            </a:r>
            <a:br/>
            <a:r>
              <a:rPr>
                <a:solidFill>
                  <a:srgbClr val="003B4F"/>
                </a:solidFill>
                <a:latin typeface="Courier"/>
              </a:rPr>
              <a:t>sppb_emm</a:t>
            </a:r>
            <a:br/>
            <a:r>
              <a:rPr>
                <a:solidFill>
                  <a:srgbClr val="4758AB"/>
                </a:solidFill>
                <a:latin typeface="Courier"/>
              </a:rPr>
              <a:t>pairs</a:t>
            </a:r>
            <a:r>
              <a:rPr>
                <a:solidFill>
                  <a:srgbClr val="003B4F"/>
                </a:solidFill>
                <a:latin typeface="Courier"/>
              </a:rPr>
              <a:t>(sppb_emm)</a:t>
            </a:r>
            <a:br/>
            <a:r>
              <a:rPr>
                <a:solidFill>
                  <a:srgbClr val="4758AB"/>
                </a:solidFill>
                <a:latin typeface="Courier"/>
              </a:rPr>
              <a:t>plot</a:t>
            </a:r>
            <a:r>
              <a:rPr>
                <a:solidFill>
                  <a:srgbClr val="003B4F"/>
                </a:solidFill>
                <a:latin typeface="Courier"/>
              </a:rPr>
              <a:t>(sppb_emm)</a:t>
            </a:r>
          </a:p>
          <a:p>
            <a:pPr lvl="0" indent="0" marL="0">
              <a:buNone/>
            </a:pPr>
            <a:r>
              <a:rPr b="1"/>
              <a:t>▶ Run this</a:t>
            </a:r>
            <a:r>
              <a:rPr/>
              <a:t> — main effect of sex:</a:t>
            </a:r>
          </a:p>
          <a:p>
            <a:pPr lvl="0" indent="0">
              <a:buNone/>
            </a:pPr>
            <a:r>
              <a:rPr>
                <a:solidFill>
                  <a:srgbClr val="003B4F"/>
                </a:solidFill>
                <a:latin typeface="Courier"/>
              </a:rPr>
              <a:t>sexb_emm &lt;- </a:t>
            </a:r>
            <a:r>
              <a:rPr>
                <a:solidFill>
                  <a:srgbClr val="4758AB"/>
                </a:solidFill>
                <a:latin typeface="Courier"/>
              </a:rPr>
              <a:t>emmeans</a:t>
            </a:r>
            <a:r>
              <a:rPr>
                <a:solidFill>
                  <a:srgbClr val="003B4F"/>
                </a:solidFill>
                <a:latin typeface="Courier"/>
              </a:rPr>
              <a:t>(pb_model, </a:t>
            </a:r>
            <a:r>
              <a:rPr>
                <a:solidFill>
                  <a:srgbClr val="5E5E5E"/>
                </a:solidFill>
                <a:latin typeface="Courier"/>
              </a:rPr>
              <a:t>~</a:t>
            </a:r>
            <a:r>
              <a:rPr>
                <a:solidFill>
                  <a:srgbClr val="003B4F"/>
                </a:solidFill>
                <a:latin typeface="Courier"/>
              </a:rPr>
              <a:t> sex)</a:t>
            </a:r>
            <a:br/>
            <a:r>
              <a:rPr>
                <a:solidFill>
                  <a:srgbClr val="003B4F"/>
                </a:solidFill>
                <a:latin typeface="Courier"/>
              </a:rPr>
              <a:t>sexb_emm</a:t>
            </a:r>
            <a:br/>
            <a:r>
              <a:rPr>
                <a:solidFill>
                  <a:srgbClr val="4758AB"/>
                </a:solidFill>
                <a:latin typeface="Courier"/>
              </a:rPr>
              <a:t>pairs</a:t>
            </a:r>
            <a:r>
              <a:rPr>
                <a:solidFill>
                  <a:srgbClr val="003B4F"/>
                </a:solidFill>
                <a:latin typeface="Courier"/>
              </a:rPr>
              <a:t>(sexb_emm)</a:t>
            </a:r>
            <a:br/>
            <a:r>
              <a:rPr>
                <a:solidFill>
                  <a:srgbClr val="4758AB"/>
                </a:solidFill>
                <a:latin typeface="Courier"/>
              </a:rPr>
              <a:t>plot</a:t>
            </a:r>
            <a:r>
              <a:rPr>
                <a:solidFill>
                  <a:srgbClr val="003B4F"/>
                </a:solidFill>
                <a:latin typeface="Courier"/>
              </a:rPr>
              <a:t>(sexb_emm)</a:t>
            </a:r>
          </a:p>
          <a:p>
            <a:pPr lvl="0" indent="0" marL="0">
              <a:buNone/>
            </a:pPr>
            <a:r>
              <a:rPr b="1"/>
              <a:t>▶ Run this</a:t>
            </a:r>
            <a:r>
              <a:rPr/>
              <a:t> — the interaction, compared to raw means:</a:t>
            </a:r>
          </a:p>
          <a:p>
            <a:pPr lvl="0" indent="0">
              <a:buNone/>
            </a:pPr>
            <a:r>
              <a:rPr>
                <a:solidFill>
                  <a:srgbClr val="003B4F"/>
                </a:solidFill>
                <a:latin typeface="Courier"/>
              </a:rPr>
              <a:t>interactionb_emm &lt;- </a:t>
            </a:r>
            <a:r>
              <a:rPr>
                <a:solidFill>
                  <a:srgbClr val="4758AB"/>
                </a:solidFill>
                <a:latin typeface="Courier"/>
              </a:rPr>
              <a:t>emmeans</a:t>
            </a:r>
            <a:r>
              <a:rPr>
                <a:solidFill>
                  <a:srgbClr val="003B4F"/>
                </a:solidFill>
                <a:latin typeface="Courier"/>
              </a:rPr>
              <a:t>(pb_model, </a:t>
            </a:r>
            <a:r>
              <a:rPr>
                <a:solidFill>
                  <a:srgbClr val="5E5E5E"/>
                </a:solidFill>
                <a:latin typeface="Courier"/>
              </a:rPr>
              <a:t>~</a:t>
            </a:r>
            <a:r>
              <a:rPr>
                <a:solidFill>
                  <a:srgbClr val="003B4F"/>
                </a:solidFill>
                <a:latin typeface="Courier"/>
              </a:rPr>
              <a:t> spp </a:t>
            </a:r>
            <a:r>
              <a:rPr>
                <a:solidFill>
                  <a:srgbClr val="5E5E5E"/>
                </a:solidFill>
                <a:latin typeface="Courier"/>
              </a:rPr>
              <a:t>*</a:t>
            </a:r>
            <a:r>
              <a:rPr>
                <a:solidFill>
                  <a:srgbClr val="003B4F"/>
                </a:solidFill>
                <a:latin typeface="Courier"/>
              </a:rPr>
              <a:t> sex)</a:t>
            </a:r>
            <a:br/>
            <a:r>
              <a:rPr>
                <a:solidFill>
                  <a:srgbClr val="003B4F"/>
                </a:solidFill>
                <a:latin typeface="Courier"/>
              </a:rPr>
              <a:t>interactionb_emm</a:t>
            </a:r>
            <a:br/>
            <a:br/>
            <a:r>
              <a:rPr>
                <a:solidFill>
                  <a:srgbClr val="003B4F"/>
                </a:solidFill>
                <a:latin typeface="Courier"/>
              </a:rPr>
              <a:t>pb_df </a:t>
            </a:r>
            <a:r>
              <a:rPr>
                <a:solidFill>
                  <a:srgbClr val="5E5E5E"/>
                </a:solidFill>
                <a:latin typeface="Courier"/>
              </a:rPr>
              <a:t>%&gt;%</a:t>
            </a:r>
            <a:br/>
            <a:r>
              <a:rPr>
                <a:solidFill>
                  <a:srgbClr val="003B4F"/>
                </a:solidFill>
                <a:latin typeface="Courier"/>
              </a:rPr>
              <a:t>  </a:t>
            </a:r>
            <a:r>
              <a:rPr>
                <a:solidFill>
                  <a:srgbClr val="4758AB"/>
                </a:solidFill>
                <a:latin typeface="Courier"/>
              </a:rPr>
              <a:t>group_by</a:t>
            </a:r>
            <a:r>
              <a:rPr>
                <a:solidFill>
                  <a:srgbClr val="003B4F"/>
                </a:solidFill>
                <a:latin typeface="Courier"/>
              </a:rPr>
              <a:t>(spp, sex) </a:t>
            </a:r>
            <a:r>
              <a:rPr>
                <a:solidFill>
                  <a:srgbClr val="5E5E5E"/>
                </a:solidFill>
                <a:latin typeface="Courier"/>
              </a:rPr>
              <a:t>%&gt;%</a:t>
            </a:r>
            <a:br/>
            <a:r>
              <a:rPr>
                <a:solidFill>
                  <a:srgbClr val="003B4F"/>
                </a:solidFill>
                <a:latin typeface="Courier"/>
              </a:rPr>
              <a:t>  </a:t>
            </a:r>
            <a:r>
              <a:rPr>
                <a:solidFill>
                  <a:srgbClr val="4758AB"/>
                </a:solidFill>
                <a:latin typeface="Courier"/>
              </a:rPr>
              <a:t>summarise</a:t>
            </a:r>
            <a:r>
              <a:rPr>
                <a:solidFill>
                  <a:srgbClr val="003B4F"/>
                </a:solidFill>
                <a:latin typeface="Courier"/>
              </a:rPr>
              <a:t>(</a:t>
            </a:r>
            <a:r>
              <a:rPr>
                <a:solidFill>
                  <a:srgbClr val="657422"/>
                </a:solidFill>
                <a:latin typeface="Courier"/>
              </a:rPr>
              <a:t>raw_mean =</a:t>
            </a:r>
            <a:r>
              <a:rPr>
                <a:solidFill>
                  <a:srgbClr val="003B4F"/>
                </a:solidFill>
                <a:latin typeface="Courier"/>
              </a:rPr>
              <a:t> </a:t>
            </a:r>
            <a:r>
              <a:rPr>
                <a:solidFill>
                  <a:srgbClr val="4758AB"/>
                </a:solidFill>
                <a:latin typeface="Courier"/>
              </a:rPr>
              <a:t>mean</a:t>
            </a:r>
            <a:r>
              <a:rPr>
                <a:solidFill>
                  <a:srgbClr val="003B4F"/>
                </a:solidFill>
                <a:latin typeface="Courier"/>
              </a:rPr>
              <a:t>(mass_g), </a:t>
            </a:r>
            <a:r>
              <a:rPr>
                <a:solidFill>
                  <a:srgbClr val="657422"/>
                </a:solidFill>
                <a:latin typeface="Courier"/>
              </a:rPr>
              <a:t>.groups =</a:t>
            </a:r>
            <a:r>
              <a:rPr>
                <a:solidFill>
                  <a:srgbClr val="003B4F"/>
                </a:solidFill>
                <a:latin typeface="Courier"/>
              </a:rPr>
              <a:t> </a:t>
            </a:r>
            <a:r>
              <a:rPr>
                <a:solidFill>
                  <a:srgbClr val="20794D"/>
                </a:solidFill>
                <a:latin typeface="Courier"/>
              </a:rPr>
              <a:t>'drop'</a:t>
            </a: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pivot_wider</a:t>
            </a:r>
            <a:r>
              <a:rPr>
                <a:solidFill>
                  <a:srgbClr val="003B4F"/>
                </a:solidFill>
                <a:latin typeface="Courier"/>
              </a:rPr>
              <a:t>(</a:t>
            </a:r>
            <a:r>
              <a:rPr>
                <a:solidFill>
                  <a:srgbClr val="657422"/>
                </a:solidFill>
                <a:latin typeface="Courier"/>
              </a:rPr>
              <a:t>names_from =</a:t>
            </a:r>
            <a:r>
              <a:rPr>
                <a:solidFill>
                  <a:srgbClr val="003B4F"/>
                </a:solidFill>
                <a:latin typeface="Courier"/>
              </a:rPr>
              <a:t> sex, </a:t>
            </a:r>
            <a:r>
              <a:rPr>
                <a:solidFill>
                  <a:srgbClr val="657422"/>
                </a:solidFill>
                <a:latin typeface="Courier"/>
              </a:rPr>
              <a:t>values_from =</a:t>
            </a:r>
            <a:r>
              <a:rPr>
                <a:solidFill>
                  <a:srgbClr val="003B4F"/>
                </a:solidFill>
                <a:latin typeface="Courier"/>
              </a:rPr>
              <a:t> raw_mean)</a:t>
            </a:r>
            <a:br/>
            <a:br/>
            <a:r>
              <a:rPr>
                <a:solidFill>
                  <a:srgbClr val="4758AB"/>
                </a:solidFill>
                <a:latin typeface="Courier"/>
              </a:rPr>
              <a:t>pairs</a:t>
            </a:r>
            <a:r>
              <a:rPr>
                <a:solidFill>
                  <a:srgbClr val="003B4F"/>
                </a:solidFill>
                <a:latin typeface="Courier"/>
              </a:rPr>
              <a:t>(interactionb_emm)</a:t>
            </a:r>
          </a:p>
          <a:p>
            <a:pPr lvl="0" indent="0" marL="0">
              <a:buNone/>
            </a:pPr>
            <a:r>
              <a:rPr b="1"/>
              <a:t>▶ Run this</a:t>
            </a:r>
            <a:r>
              <a:rPr/>
              <a:t> — compact letter display and an interaction plot:</a:t>
            </a:r>
          </a:p>
          <a:p>
            <a:pPr lvl="0" indent="0">
              <a:buNone/>
            </a:pPr>
            <a:r>
              <a:rPr>
                <a:solidFill>
                  <a:srgbClr val="003B4F"/>
                </a:solidFill>
                <a:latin typeface="Courier"/>
              </a:rPr>
              <a:t>cldb_interaction &lt;- multcomp</a:t>
            </a:r>
            <a:r>
              <a:rPr>
                <a:solidFill>
                  <a:srgbClr val="5E5E5E"/>
                </a:solidFill>
                <a:latin typeface="Courier"/>
              </a:rPr>
              <a:t>::</a:t>
            </a:r>
            <a:r>
              <a:rPr>
                <a:solidFill>
                  <a:srgbClr val="4758AB"/>
                </a:solidFill>
                <a:latin typeface="Courier"/>
              </a:rPr>
              <a:t>cld</a:t>
            </a:r>
            <a:r>
              <a:rPr>
                <a:solidFill>
                  <a:srgbClr val="003B4F"/>
                </a:solidFill>
                <a:latin typeface="Courier"/>
              </a:rPr>
              <a:t>(interactionb_emm,</a:t>
            </a:r>
            <a:br/>
            <a:r>
              <a:rPr>
                <a:solidFill>
                  <a:srgbClr val="003B4F"/>
                </a:solidFill>
                <a:latin typeface="Courier"/>
              </a:rPr>
              <a:t>                       </a:t>
            </a:r>
            <a:r>
              <a:rPr>
                <a:solidFill>
                  <a:srgbClr val="657422"/>
                </a:solidFill>
                <a:latin typeface="Courier"/>
              </a:rPr>
              <a:t>Letters =</a:t>
            </a:r>
            <a:r>
              <a:rPr>
                <a:solidFill>
                  <a:srgbClr val="003B4F"/>
                </a:solidFill>
                <a:latin typeface="Courier"/>
              </a:rPr>
              <a:t> letters,</a:t>
            </a:r>
            <a:br/>
            <a:r>
              <a:rPr>
                <a:solidFill>
                  <a:srgbClr val="003B4F"/>
                </a:solidFill>
                <a:latin typeface="Courier"/>
              </a:rPr>
              <a:t>                       </a:t>
            </a:r>
            <a:r>
              <a:rPr>
                <a:solidFill>
                  <a:srgbClr val="657422"/>
                </a:solidFill>
                <a:latin typeface="Courier"/>
              </a:rPr>
              <a:t>adjust =</a:t>
            </a:r>
            <a:r>
              <a:rPr>
                <a:solidFill>
                  <a:srgbClr val="003B4F"/>
                </a:solidFill>
                <a:latin typeface="Courier"/>
              </a:rPr>
              <a:t> </a:t>
            </a:r>
            <a:r>
              <a:rPr>
                <a:solidFill>
                  <a:srgbClr val="20794D"/>
                </a:solidFill>
                <a:latin typeface="Courier"/>
              </a:rPr>
              <a:t>"sidak"</a:t>
            </a:r>
            <a:r>
              <a:rPr>
                <a:solidFill>
                  <a:srgbClr val="003B4F"/>
                </a:solidFill>
                <a:latin typeface="Courier"/>
              </a:rPr>
              <a:t>)</a:t>
            </a:r>
            <a:br/>
            <a:r>
              <a:rPr>
                <a:solidFill>
                  <a:srgbClr val="003B4F"/>
                </a:solidFill>
                <a:latin typeface="Courier"/>
              </a:rPr>
              <a:t>cldb_df &lt;- </a:t>
            </a:r>
            <a:r>
              <a:rPr>
                <a:solidFill>
                  <a:srgbClr val="4758AB"/>
                </a:solidFill>
                <a:latin typeface="Courier"/>
              </a:rPr>
              <a:t>as.data.frame</a:t>
            </a:r>
            <a:r>
              <a:rPr>
                <a:solidFill>
                  <a:srgbClr val="003B4F"/>
                </a:solidFill>
                <a:latin typeface="Courier"/>
              </a:rPr>
              <a:t>(cldb_interaction) </a:t>
            </a:r>
            <a:r>
              <a:rPr>
                <a:solidFill>
                  <a:srgbClr val="5E5E5E"/>
                </a:solidFill>
                <a:latin typeface="Courier"/>
              </a:rPr>
              <a:t>%&gt;%</a:t>
            </a:r>
            <a:br/>
            <a:r>
              <a:rPr>
                <a:solidFill>
                  <a:srgbClr val="003B4F"/>
                </a:solidFill>
                <a:latin typeface="Courier"/>
              </a:rPr>
              <a:t>  </a:t>
            </a:r>
            <a:r>
              <a:rPr>
                <a:solidFill>
                  <a:srgbClr val="4758AB"/>
                </a:solidFill>
                <a:latin typeface="Courier"/>
              </a:rPr>
              <a:t>arrange</a:t>
            </a:r>
            <a:r>
              <a:rPr>
                <a:solidFill>
                  <a:srgbClr val="003B4F"/>
                </a:solidFill>
                <a:latin typeface="Courier"/>
              </a:rPr>
              <a:t>(spp, sex)</a:t>
            </a:r>
            <a:br/>
            <a:r>
              <a:rPr>
                <a:solidFill>
                  <a:srgbClr val="4758AB"/>
                </a:solidFill>
                <a:latin typeface="Courier"/>
              </a:rPr>
              <a:t>print</a:t>
            </a:r>
            <a:r>
              <a:rPr>
                <a:solidFill>
                  <a:srgbClr val="003B4F"/>
                </a:solidFill>
                <a:latin typeface="Courier"/>
              </a:rPr>
              <a:t>(cldb_df)</a:t>
            </a:r>
            <a:br/>
            <a:br/>
            <a:r>
              <a:rPr>
                <a:solidFill>
                  <a:srgbClr val="4758AB"/>
                </a:solidFill>
                <a:latin typeface="Courier"/>
              </a:rPr>
              <a:t>emmip</a:t>
            </a:r>
            <a:r>
              <a:rPr>
                <a:solidFill>
                  <a:srgbClr val="003B4F"/>
                </a:solidFill>
                <a:latin typeface="Courier"/>
              </a:rPr>
              <a:t>(pb_model, sex </a:t>
            </a:r>
            <a:r>
              <a:rPr>
                <a:solidFill>
                  <a:srgbClr val="5E5E5E"/>
                </a:solidFill>
                <a:latin typeface="Courier"/>
              </a:rPr>
              <a:t>~</a:t>
            </a:r>
            <a:r>
              <a:rPr>
                <a:solidFill>
                  <a:srgbClr val="003B4F"/>
                </a:solidFill>
                <a:latin typeface="Courier"/>
              </a:rPr>
              <a:t> spp, </a:t>
            </a:r>
            <a:r>
              <a:rPr>
                <a:solidFill>
                  <a:srgbClr val="657422"/>
                </a:solidFill>
                <a:latin typeface="Courier"/>
              </a:rPr>
              <a:t>CIs =</a:t>
            </a:r>
            <a:r>
              <a:rPr>
                <a:solidFill>
                  <a:srgbClr val="003B4F"/>
                </a:solidFill>
                <a:latin typeface="Courier"/>
              </a:rPr>
              <a:t> </a:t>
            </a:r>
            <a:r>
              <a:rPr>
                <a:solidFill>
                  <a:srgbClr val="8F5902"/>
                </a:solidFill>
                <a:latin typeface="Courier"/>
              </a:rPr>
              <a:t>TRUE</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title =</a:t>
            </a:r>
            <a:r>
              <a:rPr>
                <a:solidFill>
                  <a:srgbClr val="003B4F"/>
                </a:solidFill>
                <a:latin typeface="Courier"/>
              </a:rPr>
              <a:t> </a:t>
            </a:r>
            <a:r>
              <a:rPr>
                <a:solidFill>
                  <a:srgbClr val="20794D"/>
                </a:solidFill>
                <a:latin typeface="Courier"/>
              </a:rPr>
              <a:t>"Interaction Plot"</a:t>
            </a:r>
            <a:r>
              <a:rPr>
                <a:solidFill>
                  <a:srgbClr val="003B4F"/>
                </a:solidFill>
                <a:latin typeface="Courier"/>
              </a:rPr>
              <a:t>, </a:t>
            </a:r>
            <a:r>
              <a:rPr>
                <a:solidFill>
                  <a:srgbClr val="657422"/>
                </a:solidFill>
                <a:latin typeface="Courier"/>
              </a:rPr>
              <a:t>x =</a:t>
            </a:r>
            <a:r>
              <a:rPr>
                <a:solidFill>
                  <a:srgbClr val="003B4F"/>
                </a:solidFill>
                <a:latin typeface="Courier"/>
              </a:rPr>
              <a:t> </a:t>
            </a:r>
            <a:r>
              <a:rPr>
                <a:solidFill>
                  <a:srgbClr val="20794D"/>
                </a:solidFill>
                <a:latin typeface="Courier"/>
              </a:rPr>
              <a:t>"Species"</a:t>
            </a: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"Body Mass (g)"</a:t>
            </a:r>
            <a:r>
              <a:rPr>
                <a:solidFill>
                  <a:srgbClr val="003B4F"/>
                </a:solidFill>
                <a:latin typeface="Courier"/>
              </a:rPr>
              <a:t>)</a:t>
            </a:r>
          </a:p>
          <a:p>
            <a:pPr lvl="0" indent="0" marL="0">
              <a:buNone/>
            </a:pPr>
            <a:r>
              <a:rPr b="1"/>
              <a:t>▶ Run this</a:t>
            </a:r>
            <a:r>
              <a:rPr/>
              <a:t> — a publication-quality version of that plot:</a:t>
            </a:r>
          </a:p>
          <a:p>
            <a:pPr lvl="0" indent="0">
              <a:buNone/>
            </a:pPr>
            <a:r>
              <a:rPr>
                <a:solidFill>
                  <a:srgbClr val="003B4F"/>
                </a:solidFill>
                <a:latin typeface="Courier"/>
              </a:rPr>
              <a:t>pubb_interaction_df &lt;- </a:t>
            </a:r>
            <a:r>
              <a:rPr>
                <a:solidFill>
                  <a:srgbClr val="4758AB"/>
                </a:solidFill>
                <a:latin typeface="Courier"/>
              </a:rPr>
              <a:t>as.data.frame</a:t>
            </a:r>
            <a:r>
              <a:rPr>
                <a:solidFill>
                  <a:srgbClr val="003B4F"/>
                </a:solidFill>
                <a:latin typeface="Courier"/>
              </a:rPr>
              <a:t>(interactionb_emm)</a:t>
            </a:r>
            <a:br/>
            <a:br/>
            <a:r>
              <a:rPr>
                <a:solidFill>
                  <a:srgbClr val="003B4F"/>
                </a:solidFill>
                <a:latin typeface="Courier"/>
              </a:rPr>
              <a:t>pubb_plot &lt;- </a:t>
            </a:r>
            <a:r>
              <a:rPr>
                <a:solidFill>
                  <a:srgbClr val="4758AB"/>
                </a:solidFill>
                <a:latin typeface="Courier"/>
              </a:rPr>
              <a:t>ggplot</a:t>
            </a:r>
            <a:r>
              <a:rPr>
                <a:solidFill>
                  <a:srgbClr val="003B4F"/>
                </a:solidFill>
                <a:latin typeface="Courier"/>
              </a:rPr>
              <a:t>(pubb_interaction_df,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spp, </a:t>
            </a:r>
            <a:r>
              <a:rPr>
                <a:solidFill>
                  <a:srgbClr val="657422"/>
                </a:solidFill>
                <a:latin typeface="Courier"/>
              </a:rPr>
              <a:t>y =</a:t>
            </a:r>
            <a:r>
              <a:rPr>
                <a:solidFill>
                  <a:srgbClr val="003B4F"/>
                </a:solidFill>
                <a:latin typeface="Courier"/>
              </a:rPr>
              <a:t> emmean,</a:t>
            </a:r>
            <a:br/>
            <a:r>
              <a:rPr>
                <a:solidFill>
                  <a:srgbClr val="003B4F"/>
                </a:solidFill>
                <a:latin typeface="Courier"/>
              </a:rPr>
              <a:t>                                       </a:t>
            </a:r>
            <a:r>
              <a:rPr>
                <a:solidFill>
                  <a:srgbClr val="657422"/>
                </a:solidFill>
                <a:latin typeface="Courier"/>
              </a:rPr>
              <a:t>color =</a:t>
            </a:r>
            <a:r>
              <a:rPr>
                <a:solidFill>
                  <a:srgbClr val="003B4F"/>
                </a:solidFill>
                <a:latin typeface="Courier"/>
              </a:rPr>
              <a:t> sex, </a:t>
            </a:r>
            <a:r>
              <a:rPr>
                <a:solidFill>
                  <a:srgbClr val="657422"/>
                </a:solidFill>
                <a:latin typeface="Courier"/>
              </a:rPr>
              <a:t>group =</a:t>
            </a:r>
            <a:r>
              <a:rPr>
                <a:solidFill>
                  <a:srgbClr val="003B4F"/>
                </a:solidFill>
                <a:latin typeface="Courier"/>
              </a:rPr>
              <a:t> sex)) </a:t>
            </a:r>
            <a:r>
              <a:rPr>
                <a:solidFill>
                  <a:srgbClr val="5E5E5E"/>
                </a:solidFill>
                <a:latin typeface="Courier"/>
              </a:rPr>
              <a:t>+</a:t>
            </a:r>
            <a:br/>
            <a:r>
              <a:rPr>
                <a:solidFill>
                  <a:srgbClr val="003B4F"/>
                </a:solidFill>
                <a:latin typeface="Courier"/>
              </a:rPr>
              <a:t>  </a:t>
            </a:r>
            <a:r>
              <a:rPr>
                <a:solidFill>
                  <a:srgbClr val="4758AB"/>
                </a:solidFill>
                <a:latin typeface="Courier"/>
              </a:rPr>
              <a:t>geom_line</a:t>
            </a:r>
            <a:r>
              <a:rPr>
                <a:solidFill>
                  <a:srgbClr val="003B4F"/>
                </a:solidFill>
                <a:latin typeface="Courier"/>
              </a:rPr>
              <a:t>(</a:t>
            </a:r>
            <a:r>
              <a:rPr>
                <a:solidFill>
                  <a:srgbClr val="657422"/>
                </a:solidFill>
                <a:latin typeface="Courier"/>
              </a:rPr>
              <a:t>linewidth =</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657422"/>
                </a:solidFill>
                <a:latin typeface="Courier"/>
              </a:rPr>
              <a:t>position =</a:t>
            </a:r>
            <a:r>
              <a:rPr>
                <a:solidFill>
                  <a:srgbClr val="003B4F"/>
                </a:solidFill>
                <a:latin typeface="Courier"/>
              </a:rPr>
              <a:t> </a:t>
            </a:r>
            <a:r>
              <a:rPr>
                <a:solidFill>
                  <a:srgbClr val="4758AB"/>
                </a:solidFill>
                <a:latin typeface="Courier"/>
              </a:rPr>
              <a:t>position_dodge</a:t>
            </a:r>
            <a:r>
              <a:rPr>
                <a:solidFill>
                  <a:srgbClr val="003B4F"/>
                </a:solidFill>
                <a:latin typeface="Courier"/>
              </a:rPr>
              <a:t>(</a:t>
            </a:r>
            <a:r>
              <a:rPr>
                <a:solidFill>
                  <a:srgbClr val="657422"/>
                </a:solidFill>
                <a:latin typeface="Courier"/>
              </a:rPr>
              <a:t>width =</a:t>
            </a:r>
            <a:r>
              <a:rPr>
                <a:solidFill>
                  <a:srgbClr val="003B4F"/>
                </a:solidFill>
                <a:latin typeface="Courier"/>
              </a:rPr>
              <a:t> </a:t>
            </a:r>
            <a:r>
              <a:rPr>
                <a:solidFill>
                  <a:srgbClr val="AD0000"/>
                </a:solidFill>
                <a:latin typeface="Courier"/>
              </a:rPr>
              <a:t>0.2</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geom_point</a:t>
            </a:r>
            <a:r>
              <a:rPr>
                <a:solidFill>
                  <a:srgbClr val="003B4F"/>
                </a:solidFill>
                <a:latin typeface="Courier"/>
              </a:rPr>
              <a:t>(</a:t>
            </a:r>
            <a:r>
              <a:rPr>
                <a:solidFill>
                  <a:srgbClr val="657422"/>
                </a:solidFill>
                <a:latin typeface="Courier"/>
              </a:rPr>
              <a:t>size =</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657422"/>
                </a:solidFill>
                <a:latin typeface="Courier"/>
              </a:rPr>
              <a:t>position =</a:t>
            </a:r>
            <a:r>
              <a:rPr>
                <a:solidFill>
                  <a:srgbClr val="003B4F"/>
                </a:solidFill>
                <a:latin typeface="Courier"/>
              </a:rPr>
              <a:t> </a:t>
            </a:r>
            <a:r>
              <a:rPr>
                <a:solidFill>
                  <a:srgbClr val="4758AB"/>
                </a:solidFill>
                <a:latin typeface="Courier"/>
              </a:rPr>
              <a:t>position_dodge</a:t>
            </a:r>
            <a:r>
              <a:rPr>
                <a:solidFill>
                  <a:srgbClr val="003B4F"/>
                </a:solidFill>
                <a:latin typeface="Courier"/>
              </a:rPr>
              <a:t>(</a:t>
            </a:r>
            <a:r>
              <a:rPr>
                <a:solidFill>
                  <a:srgbClr val="657422"/>
                </a:solidFill>
                <a:latin typeface="Courier"/>
              </a:rPr>
              <a:t>width =</a:t>
            </a:r>
            <a:r>
              <a:rPr>
                <a:solidFill>
                  <a:srgbClr val="003B4F"/>
                </a:solidFill>
                <a:latin typeface="Courier"/>
              </a:rPr>
              <a:t> </a:t>
            </a:r>
            <a:r>
              <a:rPr>
                <a:solidFill>
                  <a:srgbClr val="AD0000"/>
                </a:solidFill>
                <a:latin typeface="Courier"/>
              </a:rPr>
              <a:t>0.2</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geom_errorbar</a:t>
            </a:r>
            <a:r>
              <a:rPr>
                <a:solidFill>
                  <a:srgbClr val="003B4F"/>
                </a:solidFill>
                <a:latin typeface="Courier"/>
              </a:rPr>
              <a:t>(</a:t>
            </a:r>
            <a:r>
              <a:rPr>
                <a:solidFill>
                  <a:srgbClr val="4758AB"/>
                </a:solidFill>
                <a:latin typeface="Courier"/>
              </a:rPr>
              <a:t>aes</a:t>
            </a:r>
            <a:r>
              <a:rPr>
                <a:solidFill>
                  <a:srgbClr val="003B4F"/>
                </a:solidFill>
                <a:latin typeface="Courier"/>
              </a:rPr>
              <a:t>(</a:t>
            </a:r>
            <a:r>
              <a:rPr>
                <a:solidFill>
                  <a:srgbClr val="657422"/>
                </a:solidFill>
                <a:latin typeface="Courier"/>
              </a:rPr>
              <a:t>ymin =</a:t>
            </a:r>
            <a:r>
              <a:rPr>
                <a:solidFill>
                  <a:srgbClr val="003B4F"/>
                </a:solidFill>
                <a:latin typeface="Courier"/>
              </a:rPr>
              <a:t> emmean </a:t>
            </a:r>
            <a:r>
              <a:rPr>
                <a:solidFill>
                  <a:srgbClr val="5E5E5E"/>
                </a:solidFill>
                <a:latin typeface="Courier"/>
              </a:rPr>
              <a:t>-</a:t>
            </a:r>
            <a:r>
              <a:rPr>
                <a:solidFill>
                  <a:srgbClr val="003B4F"/>
                </a:solidFill>
                <a:latin typeface="Courier"/>
              </a:rPr>
              <a:t> SE, </a:t>
            </a:r>
            <a:r>
              <a:rPr>
                <a:solidFill>
                  <a:srgbClr val="657422"/>
                </a:solidFill>
                <a:latin typeface="Courier"/>
              </a:rPr>
              <a:t>ymax =</a:t>
            </a:r>
            <a:r>
              <a:rPr>
                <a:solidFill>
                  <a:srgbClr val="003B4F"/>
                </a:solidFill>
                <a:latin typeface="Courier"/>
              </a:rPr>
              <a:t> emmean </a:t>
            </a:r>
            <a:r>
              <a:rPr>
                <a:solidFill>
                  <a:srgbClr val="5E5E5E"/>
                </a:solidFill>
                <a:latin typeface="Courier"/>
              </a:rPr>
              <a:t>+</a:t>
            </a:r>
            <a:r>
              <a:rPr>
                <a:solidFill>
                  <a:srgbClr val="003B4F"/>
                </a:solidFill>
                <a:latin typeface="Courier"/>
              </a:rPr>
              <a:t> SE),</a:t>
            </a:r>
            <a:br/>
            <a:r>
              <a:rPr>
                <a:solidFill>
                  <a:srgbClr val="003B4F"/>
                </a:solidFill>
                <a:latin typeface="Courier"/>
              </a:rPr>
              <a:t>                </a:t>
            </a:r>
            <a:r>
              <a:rPr>
                <a:solidFill>
                  <a:srgbClr val="657422"/>
                </a:solidFill>
                <a:latin typeface="Courier"/>
              </a:rPr>
              <a:t>width =</a:t>
            </a:r>
            <a:r>
              <a:rPr>
                <a:solidFill>
                  <a:srgbClr val="003B4F"/>
                </a:solidFill>
                <a:latin typeface="Courier"/>
              </a:rPr>
              <a:t> </a:t>
            </a:r>
            <a:r>
              <a:rPr>
                <a:solidFill>
                  <a:srgbClr val="AD0000"/>
                </a:solidFill>
                <a:latin typeface="Courier"/>
              </a:rPr>
              <a:t>0.2</a:t>
            </a:r>
            <a:r>
              <a:rPr>
                <a:solidFill>
                  <a:srgbClr val="003B4F"/>
                </a:solidFill>
                <a:latin typeface="Courier"/>
              </a:rPr>
              <a:t>, </a:t>
            </a:r>
            <a:r>
              <a:rPr>
                <a:solidFill>
                  <a:srgbClr val="657422"/>
                </a:solidFill>
                <a:latin typeface="Courier"/>
              </a:rPr>
              <a:t>position =</a:t>
            </a:r>
            <a:r>
              <a:rPr>
                <a:solidFill>
                  <a:srgbClr val="003B4F"/>
                </a:solidFill>
                <a:latin typeface="Courier"/>
              </a:rPr>
              <a:t> </a:t>
            </a:r>
            <a:r>
              <a:rPr>
                <a:solidFill>
                  <a:srgbClr val="4758AB"/>
                </a:solidFill>
                <a:latin typeface="Courier"/>
              </a:rPr>
              <a:t>position_dodge</a:t>
            </a:r>
            <a:r>
              <a:rPr>
                <a:solidFill>
                  <a:srgbClr val="003B4F"/>
                </a:solidFill>
                <a:latin typeface="Courier"/>
              </a:rPr>
              <a:t>(</a:t>
            </a:r>
            <a:r>
              <a:rPr>
                <a:solidFill>
                  <a:srgbClr val="657422"/>
                </a:solidFill>
                <a:latin typeface="Courier"/>
              </a:rPr>
              <a:t>width =</a:t>
            </a:r>
            <a:r>
              <a:rPr>
                <a:solidFill>
                  <a:srgbClr val="003B4F"/>
                </a:solidFill>
                <a:latin typeface="Courier"/>
              </a:rPr>
              <a:t> </a:t>
            </a:r>
            <a:r>
              <a:rPr>
                <a:solidFill>
                  <a:srgbClr val="AD0000"/>
                </a:solidFill>
                <a:latin typeface="Courier"/>
              </a:rPr>
              <a:t>0.2</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x =</a:t>
            </a:r>
            <a:r>
              <a:rPr>
                <a:solidFill>
                  <a:srgbClr val="003B4F"/>
                </a:solidFill>
                <a:latin typeface="Courier"/>
              </a:rPr>
              <a:t> </a:t>
            </a:r>
            <a:r>
              <a:rPr>
                <a:solidFill>
                  <a:srgbClr val="20794D"/>
                </a:solidFill>
                <a:latin typeface="Courier"/>
              </a:rPr>
              <a:t>"Species"</a:t>
            </a: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"Body Mass (g)"</a:t>
            </a:r>
            <a:r>
              <a:rPr>
                <a:solidFill>
                  <a:srgbClr val="003B4F"/>
                </a:solidFill>
                <a:latin typeface="Courier"/>
              </a:rPr>
              <a:t>, </a:t>
            </a:r>
            <a:r>
              <a:rPr>
                <a:solidFill>
                  <a:srgbClr val="657422"/>
                </a:solidFill>
                <a:latin typeface="Courier"/>
              </a:rPr>
              <a:t>color =</a:t>
            </a:r>
            <a:r>
              <a:rPr>
                <a:solidFill>
                  <a:srgbClr val="003B4F"/>
                </a:solidFill>
                <a:latin typeface="Courier"/>
              </a:rPr>
              <a:t> </a:t>
            </a:r>
            <a:r>
              <a:rPr>
                <a:solidFill>
                  <a:srgbClr val="20794D"/>
                </a:solidFill>
                <a:latin typeface="Courier"/>
              </a:rPr>
              <a:t>"Sex"</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theme_light</a:t>
            </a:r>
            <a:r>
              <a:rPr>
                <a:solidFill>
                  <a:srgbClr val="003B4F"/>
                </a:solidFill>
                <a:latin typeface="Courier"/>
              </a:rPr>
              <a:t>()</a:t>
            </a:r>
            <a:br/>
            <a:r>
              <a:rPr>
                <a:solidFill>
                  <a:srgbClr val="003B4F"/>
                </a:solidFill>
                <a:latin typeface="Courier"/>
              </a:rPr>
              <a:t>pubb_plot</a:t>
            </a:r>
          </a:p>
          <a:p>
            <a:pPr lvl="0" indent="0" marL="0">
              <a:buNone/>
            </a:pPr>
            <a:r>
              <a:rPr/>
              <a:t>✏️ </a:t>
            </a:r>
            <a:r>
              <a:rPr b="1"/>
              <a:t>Your turn:</a:t>
            </a:r>
            <a:r>
              <a:rPr/>
              <a:t> Using the compact letter display (</a:t>
            </a:r>
            <a:r>
              <a:rPr>
                <a:latin typeface="Courier"/>
              </a:rPr>
              <a:t>cldb_df</a:t>
            </a:r>
            <a:r>
              <a:rPr/>
              <a:t>), which species/sex combinations are </a:t>
            </a:r>
            <a:r>
              <a:rPr i="1"/>
              <a:t>not</a:t>
            </a:r>
            <a:r>
              <a:rPr/>
              <a:t> significantly different from each other? </a:t>
            </a:r>
            <a:r>
              <a:rPr>
                <a:latin typeface="Courier"/>
              </a:rPr>
              <a:t>________________________</a:t>
            </a:r>
          </a:p>
          <a:p>
            <a:pPr lvl="0" indent="0" marL="1270000">
              <a:buNone/>
            </a:pPr>
            <a:r>
              <a:rPr sz="2000" b="1"/>
              <a:t>Tip</a:t>
            </a:r>
          </a:p>
          <a:p>
            <a:pPr lvl="0" indent="0" marL="1270000">
              <a:buNone/>
            </a:pPr>
            <a:r>
              <a:rPr sz="2000" b="1"/>
              <a:t>🚀 If you finish early:</a:t>
            </a:r>
            <a:r>
              <a:rPr sz="2000"/>
              <a:t> </a:t>
            </a:r>
            <a:r>
              <a:rPr sz="2000">
                <a:latin typeface="Courier"/>
              </a:rPr>
              <a:t>emmip(pb_model, sex ~ spp, ...)</a:t>
            </a:r>
            <a:r>
              <a:rPr sz="2000"/>
              <a:t> plots sex as separate lines across species. Swap the formula to </a:t>
            </a:r>
            <a:r>
              <a:rPr sz="2000">
                <a:latin typeface="Courier"/>
              </a:rPr>
              <a:t>emmip(pb_model, spp ~ sex, CIs = TRUE)</a:t>
            </a:r>
            <a:r>
              <a:rPr sz="2000"/>
              <a:t> instead. How does the plot’s emphasis change?</a:t>
            </a:r>
          </a:p>
          <a:p>
            <a:pPr lvl="0" indent="0">
              <a:buNone/>
            </a:pPr>
            <a:r>
              <a:rPr>
                <a:solidFill>
                  <a:srgbClr val="5E5E5E"/>
                </a:solidFill>
                <a:latin typeface="Courier"/>
              </a:rPr>
              <a:t># Write your code here: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6 · Understanding Sums-of-Squares Types — Balanced Model</a:t>
            </a:r>
          </a:p>
        </p:txBody>
      </p:sp>
      <p:sp>
        <p:nvSpPr>
          <p:cNvPr id="3" name="Content Placeholder 2"/>
          <p:cNvSpPr>
            <a:spLocks noGrp="1"/>
          </p:cNvSpPr>
          <p:nvPr>
            <p:ph idx="1"/>
          </p:nvPr>
        </p:nvSpPr>
        <p:spPr/>
        <p:txBody>
          <a:bodyPr/>
          <a:lstStyle/>
          <a:p>
            <a:pPr lvl="0" indent="0" marL="0">
              <a:buNone/>
            </a:pPr>
            <a:r>
              <a:rPr b="1"/>
              <a:t>▶ Run this</a:t>
            </a:r>
            <a:r>
              <a:rPr/>
              <a:t> — fit and compare all three types of SS:</a:t>
            </a:r>
          </a:p>
          <a:p>
            <a:pPr lvl="0" indent="0">
              <a:buNone/>
            </a:pPr>
            <a:r>
              <a:rPr>
                <a:solidFill>
                  <a:srgbClr val="003B4F"/>
                </a:solidFill>
                <a:latin typeface="Courier"/>
              </a:rPr>
              <a:t>type1b_anova &lt;- </a:t>
            </a:r>
            <a:r>
              <a:rPr>
                <a:solidFill>
                  <a:srgbClr val="4758AB"/>
                </a:solidFill>
                <a:latin typeface="Courier"/>
              </a:rPr>
              <a:t>anova</a:t>
            </a:r>
            <a:r>
              <a:rPr>
                <a:solidFill>
                  <a:srgbClr val="003B4F"/>
                </a:solidFill>
                <a:latin typeface="Courier"/>
              </a:rPr>
              <a:t>(pb_model)          </a:t>
            </a:r>
            <a:r>
              <a:rPr>
                <a:solidFill>
                  <a:srgbClr val="5E5E5E"/>
                </a:solidFill>
                <a:latin typeface="Courier"/>
              </a:rPr>
              <a:t># Type I - order matters!</a:t>
            </a:r>
            <a:br/>
            <a:r>
              <a:rPr>
                <a:solidFill>
                  <a:srgbClr val="003B4F"/>
                </a:solidFill>
                <a:latin typeface="Courier"/>
              </a:rPr>
              <a:t>type1b_anova</a:t>
            </a:r>
            <a:br/>
            <a:br/>
            <a:r>
              <a:rPr>
                <a:solidFill>
                  <a:srgbClr val="003B4F"/>
                </a:solidFill>
                <a:latin typeface="Courier"/>
              </a:rPr>
              <a:t>type2b_anova &lt;- </a:t>
            </a:r>
            <a:r>
              <a:rPr>
                <a:solidFill>
                  <a:srgbClr val="4758AB"/>
                </a:solidFill>
                <a:latin typeface="Courier"/>
              </a:rPr>
              <a:t>Anova</a:t>
            </a:r>
            <a:r>
              <a:rPr>
                <a:solidFill>
                  <a:srgbClr val="003B4F"/>
                </a:solidFill>
                <a:latin typeface="Courier"/>
              </a:rPr>
              <a:t>(pb_model, </a:t>
            </a:r>
            <a:r>
              <a:rPr>
                <a:solidFill>
                  <a:srgbClr val="657422"/>
                </a:solidFill>
                <a:latin typeface="Courier"/>
              </a:rPr>
              <a:t>type =</a:t>
            </a:r>
            <a:r>
              <a:rPr>
                <a:solidFill>
                  <a:srgbClr val="003B4F"/>
                </a:solidFill>
                <a:latin typeface="Courier"/>
              </a:rPr>
              <a:t> </a:t>
            </a:r>
            <a:r>
              <a:rPr>
                <a:solidFill>
                  <a:srgbClr val="AD0000"/>
                </a:solidFill>
                <a:latin typeface="Courier"/>
              </a:rPr>
              <a:t>2</a:t>
            </a:r>
            <a:r>
              <a:rPr>
                <a:solidFill>
                  <a:srgbClr val="003B4F"/>
                </a:solidFill>
                <a:latin typeface="Courier"/>
              </a:rPr>
              <a:t>)  </a:t>
            </a:r>
            <a:r>
              <a:rPr>
                <a:solidFill>
                  <a:srgbClr val="5E5E5E"/>
                </a:solidFill>
                <a:latin typeface="Courier"/>
              </a:rPr>
              <a:t># Type II</a:t>
            </a:r>
            <a:br/>
            <a:r>
              <a:rPr>
                <a:solidFill>
                  <a:srgbClr val="003B4F"/>
                </a:solidFill>
                <a:latin typeface="Courier"/>
              </a:rPr>
              <a:t>type2b_anova</a:t>
            </a:r>
            <a:br/>
            <a:br/>
            <a:r>
              <a:rPr>
                <a:solidFill>
                  <a:srgbClr val="003B4F"/>
                </a:solidFill>
                <a:latin typeface="Courier"/>
              </a:rPr>
              <a:t>type3b_anova &lt;- </a:t>
            </a:r>
            <a:r>
              <a:rPr>
                <a:solidFill>
                  <a:srgbClr val="4758AB"/>
                </a:solidFill>
                <a:latin typeface="Courier"/>
              </a:rPr>
              <a:t>Anova</a:t>
            </a:r>
            <a:r>
              <a:rPr>
                <a:solidFill>
                  <a:srgbClr val="003B4F"/>
                </a:solidFill>
                <a:latin typeface="Courier"/>
              </a:rPr>
              <a:t>(pb_model, </a:t>
            </a:r>
            <a:r>
              <a:rPr>
                <a:solidFill>
                  <a:srgbClr val="657422"/>
                </a:solidFill>
                <a:latin typeface="Courier"/>
              </a:rPr>
              <a:t>type =</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5E5E5E"/>
                </a:solidFill>
                <a:latin typeface="Courier"/>
              </a:rPr>
              <a:t># Type III</a:t>
            </a:r>
            <a:br/>
            <a:r>
              <a:rPr>
                <a:solidFill>
                  <a:srgbClr val="003B4F"/>
                </a:solidFill>
                <a:latin typeface="Courier"/>
              </a:rPr>
              <a:t>type3b_anova</a:t>
            </a:r>
          </a:p>
          <a:p>
            <a:pPr lvl="0" indent="0">
              <a:buNone/>
            </a:pPr>
            <a:r>
              <a:rPr>
                <a:solidFill>
                  <a:srgbClr val="003B4F"/>
                </a:solidFill>
                <a:latin typeface="Courier"/>
              </a:rPr>
              <a:t>ssb_comparison_df &lt;- </a:t>
            </a:r>
            <a:r>
              <a:rPr>
                <a:solidFill>
                  <a:srgbClr val="4758AB"/>
                </a:solidFill>
                <a:latin typeface="Courier"/>
              </a:rPr>
              <a:t>data.frame</a:t>
            </a:r>
            <a:r>
              <a:rPr>
                <a:solidFill>
                  <a:srgbClr val="003B4F"/>
                </a:solidFill>
                <a:latin typeface="Courier"/>
              </a:rPr>
              <a:t>(</a:t>
            </a:r>
            <a:br/>
            <a:r>
              <a:rPr>
                <a:solidFill>
                  <a:srgbClr val="003B4F"/>
                </a:solidFill>
                <a:latin typeface="Courier"/>
              </a:rPr>
              <a:t>  </a:t>
            </a:r>
            <a:r>
              <a:rPr>
                <a:solidFill>
                  <a:srgbClr val="657422"/>
                </a:solidFill>
                <a:latin typeface="Courier"/>
              </a:rPr>
              <a:t>Effect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20794D"/>
                </a:solidFill>
                <a:latin typeface="Courier"/>
              </a:rPr>
              <a:t>"Species"</a:t>
            </a:r>
            <a:r>
              <a:rPr>
                <a:solidFill>
                  <a:srgbClr val="003B4F"/>
                </a:solidFill>
                <a:latin typeface="Courier"/>
              </a:rPr>
              <a:t>, </a:t>
            </a:r>
            <a:r>
              <a:rPr>
                <a:solidFill>
                  <a:srgbClr val="20794D"/>
                </a:solidFill>
                <a:latin typeface="Courier"/>
              </a:rPr>
              <a:t>"Sex"</a:t>
            </a:r>
            <a:r>
              <a:rPr>
                <a:solidFill>
                  <a:srgbClr val="003B4F"/>
                </a:solidFill>
                <a:latin typeface="Courier"/>
              </a:rPr>
              <a:t>, </a:t>
            </a:r>
            <a:r>
              <a:rPr>
                <a:solidFill>
                  <a:srgbClr val="20794D"/>
                </a:solidFill>
                <a:latin typeface="Courier"/>
              </a:rPr>
              <a:t>"Species:Sex"</a:t>
            </a:r>
            <a:r>
              <a:rPr>
                <a:solidFill>
                  <a:srgbClr val="003B4F"/>
                </a:solidFill>
                <a:latin typeface="Courier"/>
              </a:rPr>
              <a:t>),</a:t>
            </a:r>
            <a:br/>
            <a:r>
              <a:rPr>
                <a:solidFill>
                  <a:srgbClr val="003B4F"/>
                </a:solidFill>
                <a:latin typeface="Courier"/>
              </a:rPr>
              <a:t>  </a:t>
            </a:r>
            <a:r>
              <a:rPr>
                <a:solidFill>
                  <a:srgbClr val="657422"/>
                </a:solidFill>
                <a:latin typeface="Courier"/>
              </a:rPr>
              <a:t>Type_I_F =</a:t>
            </a:r>
            <a:r>
              <a:rPr>
                <a:solidFill>
                  <a:srgbClr val="003B4F"/>
                </a:solidFill>
                <a:latin typeface="Courier"/>
              </a:rPr>
              <a:t> </a:t>
            </a:r>
            <a:r>
              <a:rPr>
                <a:solidFill>
                  <a:srgbClr val="4758AB"/>
                </a:solidFill>
                <a:latin typeface="Courier"/>
              </a:rPr>
              <a:t>round</a:t>
            </a:r>
            <a:r>
              <a:rPr>
                <a:solidFill>
                  <a:srgbClr val="003B4F"/>
                </a:solidFill>
                <a:latin typeface="Courier"/>
              </a:rPr>
              <a:t>(type1b_anova</a:t>
            </a:r>
            <a:r>
              <a:rPr>
                <a:solidFill>
                  <a:srgbClr val="5E5E5E"/>
                </a:solidFill>
                <a:latin typeface="Courier"/>
              </a:rPr>
              <a:t>$</a:t>
            </a:r>
            <a:r>
              <a:rPr>
                <a:solidFill>
                  <a:srgbClr val="20794D"/>
                </a:solidFill>
                <a:latin typeface="Courier"/>
              </a:rPr>
              <a:t>`</a:t>
            </a:r>
            <a:r>
              <a:rPr>
                <a:solidFill>
                  <a:srgbClr val="657422"/>
                </a:solidFill>
                <a:latin typeface="Courier"/>
              </a:rPr>
              <a:t>F value</a:t>
            </a:r>
            <a:r>
              <a:rPr>
                <a:solidFill>
                  <a:srgbClr val="20794D"/>
                </a:solidFill>
                <a:latin typeface="Courier"/>
              </a:rPr>
              <a:t>`</a:t>
            </a:r>
            <a:r>
              <a:rPr>
                <a:solidFill>
                  <a:srgbClr val="003B4F"/>
                </a:solidFill>
                <a:latin typeface="Courier"/>
              </a:rPr>
              <a:t>[</a:t>
            </a:r>
            <a:r>
              <a:rPr>
                <a:solidFill>
                  <a:srgbClr val="AD0000"/>
                </a:solidFill>
                <a:latin typeface="Courier"/>
              </a:rPr>
              <a:t>1</a:t>
            </a:r>
            <a:r>
              <a:rPr>
                <a:solidFill>
                  <a:srgbClr val="5E5E5E"/>
                </a:solidFill>
                <a:latin typeface="Courier"/>
              </a:rPr>
              <a:t>:</a:t>
            </a:r>
            <a:r>
              <a:rPr>
                <a:solidFill>
                  <a:srgbClr val="AD0000"/>
                </a:solidFill>
                <a:latin typeface="Courier"/>
              </a:rPr>
              <a:t>3</a:t>
            </a:r>
            <a:r>
              <a:rPr>
                <a:solidFill>
                  <a:srgbClr val="003B4F"/>
                </a:solidFill>
                <a:latin typeface="Courier"/>
              </a:rPr>
              <a:t>], </a:t>
            </a:r>
            <a:r>
              <a:rPr>
                <a:solidFill>
                  <a:srgbClr val="AD0000"/>
                </a:solidFill>
                <a:latin typeface="Courier"/>
              </a:rPr>
              <a:t>2</a:t>
            </a:r>
            <a:r>
              <a:rPr>
                <a:solidFill>
                  <a:srgbClr val="003B4F"/>
                </a:solidFill>
                <a:latin typeface="Courier"/>
              </a:rPr>
              <a:t>),</a:t>
            </a:r>
            <a:br/>
            <a:r>
              <a:rPr>
                <a:solidFill>
                  <a:srgbClr val="003B4F"/>
                </a:solidFill>
                <a:latin typeface="Courier"/>
              </a:rPr>
              <a:t>  </a:t>
            </a:r>
            <a:r>
              <a:rPr>
                <a:solidFill>
                  <a:srgbClr val="657422"/>
                </a:solidFill>
                <a:latin typeface="Courier"/>
              </a:rPr>
              <a:t>Type_II_F =</a:t>
            </a:r>
            <a:r>
              <a:rPr>
                <a:solidFill>
                  <a:srgbClr val="003B4F"/>
                </a:solidFill>
                <a:latin typeface="Courier"/>
              </a:rPr>
              <a:t> </a:t>
            </a:r>
            <a:r>
              <a:rPr>
                <a:solidFill>
                  <a:srgbClr val="4758AB"/>
                </a:solidFill>
                <a:latin typeface="Courier"/>
              </a:rPr>
              <a:t>round</a:t>
            </a:r>
            <a:r>
              <a:rPr>
                <a:solidFill>
                  <a:srgbClr val="003B4F"/>
                </a:solidFill>
                <a:latin typeface="Courier"/>
              </a:rPr>
              <a:t>(type2b_anova</a:t>
            </a:r>
            <a:r>
              <a:rPr>
                <a:solidFill>
                  <a:srgbClr val="5E5E5E"/>
                </a:solidFill>
                <a:latin typeface="Courier"/>
              </a:rPr>
              <a:t>$</a:t>
            </a:r>
            <a:r>
              <a:rPr>
                <a:solidFill>
                  <a:srgbClr val="20794D"/>
                </a:solidFill>
                <a:latin typeface="Courier"/>
              </a:rPr>
              <a:t>`</a:t>
            </a:r>
            <a:r>
              <a:rPr>
                <a:solidFill>
                  <a:srgbClr val="657422"/>
                </a:solidFill>
                <a:latin typeface="Courier"/>
              </a:rPr>
              <a:t>F value</a:t>
            </a:r>
            <a:r>
              <a:rPr>
                <a:solidFill>
                  <a:srgbClr val="20794D"/>
                </a:solidFill>
                <a:latin typeface="Courier"/>
              </a:rPr>
              <a:t>`</a:t>
            </a:r>
            <a:r>
              <a:rPr>
                <a:solidFill>
                  <a:srgbClr val="003B4F"/>
                </a:solidFill>
                <a:latin typeface="Courier"/>
              </a:rPr>
              <a:t>[</a:t>
            </a:r>
            <a:r>
              <a:rPr>
                <a:solidFill>
                  <a:srgbClr val="AD0000"/>
                </a:solidFill>
                <a:latin typeface="Courier"/>
              </a:rPr>
              <a:t>2</a:t>
            </a:r>
            <a:r>
              <a:rPr>
                <a:solidFill>
                  <a:srgbClr val="5E5E5E"/>
                </a:solidFill>
                <a:latin typeface="Courier"/>
              </a:rPr>
              <a:t>:</a:t>
            </a:r>
            <a:r>
              <a:rPr>
                <a:solidFill>
                  <a:srgbClr val="AD0000"/>
                </a:solidFill>
                <a:latin typeface="Courier"/>
              </a:rPr>
              <a:t>4</a:t>
            </a:r>
            <a:r>
              <a:rPr>
                <a:solidFill>
                  <a:srgbClr val="003B4F"/>
                </a:solidFill>
                <a:latin typeface="Courier"/>
              </a:rPr>
              <a:t>], </a:t>
            </a:r>
            <a:r>
              <a:rPr>
                <a:solidFill>
                  <a:srgbClr val="AD0000"/>
                </a:solidFill>
                <a:latin typeface="Courier"/>
              </a:rPr>
              <a:t>2</a:t>
            </a:r>
            <a:r>
              <a:rPr>
                <a:solidFill>
                  <a:srgbClr val="003B4F"/>
                </a:solidFill>
                <a:latin typeface="Courier"/>
              </a:rPr>
              <a:t>),</a:t>
            </a:r>
            <a:br/>
            <a:r>
              <a:rPr>
                <a:solidFill>
                  <a:srgbClr val="003B4F"/>
                </a:solidFill>
                <a:latin typeface="Courier"/>
              </a:rPr>
              <a:t>  </a:t>
            </a:r>
            <a:r>
              <a:rPr>
                <a:solidFill>
                  <a:srgbClr val="657422"/>
                </a:solidFill>
                <a:latin typeface="Courier"/>
              </a:rPr>
              <a:t>Type_III_F =</a:t>
            </a:r>
            <a:r>
              <a:rPr>
                <a:solidFill>
                  <a:srgbClr val="003B4F"/>
                </a:solidFill>
                <a:latin typeface="Courier"/>
              </a:rPr>
              <a:t> </a:t>
            </a:r>
            <a:r>
              <a:rPr>
                <a:solidFill>
                  <a:srgbClr val="4758AB"/>
                </a:solidFill>
                <a:latin typeface="Courier"/>
              </a:rPr>
              <a:t>round</a:t>
            </a:r>
            <a:r>
              <a:rPr>
                <a:solidFill>
                  <a:srgbClr val="003B4F"/>
                </a:solidFill>
                <a:latin typeface="Courier"/>
              </a:rPr>
              <a:t>(type3b_anova</a:t>
            </a:r>
            <a:r>
              <a:rPr>
                <a:solidFill>
                  <a:srgbClr val="5E5E5E"/>
                </a:solidFill>
                <a:latin typeface="Courier"/>
              </a:rPr>
              <a:t>$</a:t>
            </a:r>
            <a:r>
              <a:rPr>
                <a:solidFill>
                  <a:srgbClr val="20794D"/>
                </a:solidFill>
                <a:latin typeface="Courier"/>
              </a:rPr>
              <a:t>`</a:t>
            </a:r>
            <a:r>
              <a:rPr>
                <a:solidFill>
                  <a:srgbClr val="657422"/>
                </a:solidFill>
                <a:latin typeface="Courier"/>
              </a:rPr>
              <a:t>F value</a:t>
            </a:r>
            <a:r>
              <a:rPr>
                <a:solidFill>
                  <a:srgbClr val="20794D"/>
                </a:solidFill>
                <a:latin typeface="Courier"/>
              </a:rPr>
              <a:t>`</a:t>
            </a:r>
            <a:r>
              <a:rPr>
                <a:solidFill>
                  <a:srgbClr val="003B4F"/>
                </a:solidFill>
                <a:latin typeface="Courier"/>
              </a:rPr>
              <a:t>[</a:t>
            </a:r>
            <a:r>
              <a:rPr>
                <a:solidFill>
                  <a:srgbClr val="AD0000"/>
                </a:solidFill>
                <a:latin typeface="Courier"/>
              </a:rPr>
              <a:t>2</a:t>
            </a:r>
            <a:r>
              <a:rPr>
                <a:solidFill>
                  <a:srgbClr val="5E5E5E"/>
                </a:solidFill>
                <a:latin typeface="Courier"/>
              </a:rPr>
              <a:t>:</a:t>
            </a:r>
            <a:r>
              <a:rPr>
                <a:solidFill>
                  <a:srgbClr val="AD0000"/>
                </a:solidFill>
                <a:latin typeface="Courier"/>
              </a:rPr>
              <a:t>4</a:t>
            </a:r>
            <a:r>
              <a:rPr>
                <a:solidFill>
                  <a:srgbClr val="003B4F"/>
                </a:solidFill>
                <a:latin typeface="Courier"/>
              </a:rPr>
              <a:t>], </a:t>
            </a:r>
            <a:r>
              <a:rPr>
                <a:solidFill>
                  <a:srgbClr val="AD0000"/>
                </a:solidFill>
                <a:latin typeface="Courier"/>
              </a:rPr>
              <a:t>2</a:t>
            </a:r>
            <a:r>
              <a:rPr>
                <a:solidFill>
                  <a:srgbClr val="003B4F"/>
                </a:solidFill>
                <a:latin typeface="Courier"/>
              </a:rPr>
              <a:t>)</a:t>
            </a:r>
            <a:br/>
            <a:r>
              <a:rPr>
                <a:solidFill>
                  <a:srgbClr val="003B4F"/>
                </a:solidFill>
                <a:latin typeface="Courier"/>
              </a:rPr>
              <a:t>)</a:t>
            </a:r>
            <a:br/>
            <a:r>
              <a:rPr>
                <a:solidFill>
                  <a:srgbClr val="003B4F"/>
                </a:solidFill>
                <a:latin typeface="Courier"/>
              </a:rPr>
              <a:t>ssb_comparison_df</a:t>
            </a:r>
            <a:br/>
            <a:br/>
            <a:r>
              <a:rPr>
                <a:solidFill>
                  <a:srgbClr val="003B4F"/>
                </a:solidFill>
                <a:latin typeface="Courier"/>
              </a:rPr>
              <a:t>pb_comparison_df &lt;- </a:t>
            </a:r>
            <a:r>
              <a:rPr>
                <a:solidFill>
                  <a:srgbClr val="4758AB"/>
                </a:solidFill>
                <a:latin typeface="Courier"/>
              </a:rPr>
              <a:t>data.frame</a:t>
            </a:r>
            <a:r>
              <a:rPr>
                <a:solidFill>
                  <a:srgbClr val="003B4F"/>
                </a:solidFill>
                <a:latin typeface="Courier"/>
              </a:rPr>
              <a:t>(</a:t>
            </a:r>
            <a:br/>
            <a:r>
              <a:rPr>
                <a:solidFill>
                  <a:srgbClr val="003B4F"/>
                </a:solidFill>
                <a:latin typeface="Courier"/>
              </a:rPr>
              <a:t>  </a:t>
            </a:r>
            <a:r>
              <a:rPr>
                <a:solidFill>
                  <a:srgbClr val="657422"/>
                </a:solidFill>
                <a:latin typeface="Courier"/>
              </a:rPr>
              <a:t>Effect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20794D"/>
                </a:solidFill>
                <a:latin typeface="Courier"/>
              </a:rPr>
              <a:t>"Species"</a:t>
            </a:r>
            <a:r>
              <a:rPr>
                <a:solidFill>
                  <a:srgbClr val="003B4F"/>
                </a:solidFill>
                <a:latin typeface="Courier"/>
              </a:rPr>
              <a:t>, </a:t>
            </a:r>
            <a:r>
              <a:rPr>
                <a:solidFill>
                  <a:srgbClr val="20794D"/>
                </a:solidFill>
                <a:latin typeface="Courier"/>
              </a:rPr>
              <a:t>"Sex"</a:t>
            </a:r>
            <a:r>
              <a:rPr>
                <a:solidFill>
                  <a:srgbClr val="003B4F"/>
                </a:solidFill>
                <a:latin typeface="Courier"/>
              </a:rPr>
              <a:t>, </a:t>
            </a:r>
            <a:r>
              <a:rPr>
                <a:solidFill>
                  <a:srgbClr val="20794D"/>
                </a:solidFill>
                <a:latin typeface="Courier"/>
              </a:rPr>
              <a:t>"Species:Sex"</a:t>
            </a:r>
            <a:r>
              <a:rPr>
                <a:solidFill>
                  <a:srgbClr val="003B4F"/>
                </a:solidFill>
                <a:latin typeface="Courier"/>
              </a:rPr>
              <a:t>),</a:t>
            </a:r>
            <a:br/>
            <a:r>
              <a:rPr>
                <a:solidFill>
                  <a:srgbClr val="003B4F"/>
                </a:solidFill>
                <a:latin typeface="Courier"/>
              </a:rPr>
              <a:t>  </a:t>
            </a:r>
            <a:r>
              <a:rPr>
                <a:solidFill>
                  <a:srgbClr val="657422"/>
                </a:solidFill>
                <a:latin typeface="Courier"/>
              </a:rPr>
              <a:t>Type_I_p =</a:t>
            </a:r>
            <a:r>
              <a:rPr>
                <a:solidFill>
                  <a:srgbClr val="003B4F"/>
                </a:solidFill>
                <a:latin typeface="Courier"/>
              </a:rPr>
              <a:t> </a:t>
            </a:r>
            <a:r>
              <a:rPr>
                <a:solidFill>
                  <a:srgbClr val="4758AB"/>
                </a:solidFill>
                <a:latin typeface="Courier"/>
              </a:rPr>
              <a:t>round</a:t>
            </a:r>
            <a:r>
              <a:rPr>
                <a:solidFill>
                  <a:srgbClr val="003B4F"/>
                </a:solidFill>
                <a:latin typeface="Courier"/>
              </a:rPr>
              <a:t>(type1b_anova</a:t>
            </a:r>
            <a:r>
              <a:rPr>
                <a:solidFill>
                  <a:srgbClr val="5E5E5E"/>
                </a:solidFill>
                <a:latin typeface="Courier"/>
              </a:rPr>
              <a:t>$</a:t>
            </a:r>
            <a:r>
              <a:rPr>
                <a:solidFill>
                  <a:srgbClr val="20794D"/>
                </a:solidFill>
                <a:latin typeface="Courier"/>
              </a:rPr>
              <a:t>`</a:t>
            </a:r>
            <a:r>
              <a:rPr>
                <a:solidFill>
                  <a:srgbClr val="657422"/>
                </a:solidFill>
                <a:latin typeface="Courier"/>
              </a:rPr>
              <a:t>Pr(&gt;F)</a:t>
            </a:r>
            <a:r>
              <a:rPr>
                <a:solidFill>
                  <a:srgbClr val="20794D"/>
                </a:solidFill>
                <a:latin typeface="Courier"/>
              </a:rPr>
              <a:t>`</a:t>
            </a:r>
            <a:r>
              <a:rPr>
                <a:solidFill>
                  <a:srgbClr val="003B4F"/>
                </a:solidFill>
                <a:latin typeface="Courier"/>
              </a:rPr>
              <a:t>[</a:t>
            </a:r>
            <a:r>
              <a:rPr>
                <a:solidFill>
                  <a:srgbClr val="AD0000"/>
                </a:solidFill>
                <a:latin typeface="Courier"/>
              </a:rPr>
              <a:t>1</a:t>
            </a:r>
            <a:r>
              <a:rPr>
                <a:solidFill>
                  <a:srgbClr val="5E5E5E"/>
                </a:solidFill>
                <a:latin typeface="Courier"/>
              </a:rPr>
              <a:t>:</a:t>
            </a:r>
            <a:r>
              <a:rPr>
                <a:solidFill>
                  <a:srgbClr val="AD0000"/>
                </a:solidFill>
                <a:latin typeface="Courier"/>
              </a:rPr>
              <a:t>3</a:t>
            </a:r>
            <a:r>
              <a:rPr>
                <a:solidFill>
                  <a:srgbClr val="003B4F"/>
                </a:solidFill>
                <a:latin typeface="Courier"/>
              </a:rPr>
              <a:t>], </a:t>
            </a:r>
            <a:r>
              <a:rPr>
                <a:solidFill>
                  <a:srgbClr val="AD0000"/>
                </a:solidFill>
                <a:latin typeface="Courier"/>
              </a:rPr>
              <a:t>4</a:t>
            </a:r>
            <a:r>
              <a:rPr>
                <a:solidFill>
                  <a:srgbClr val="003B4F"/>
                </a:solidFill>
                <a:latin typeface="Courier"/>
              </a:rPr>
              <a:t>),</a:t>
            </a:r>
            <a:br/>
            <a:r>
              <a:rPr>
                <a:solidFill>
                  <a:srgbClr val="003B4F"/>
                </a:solidFill>
                <a:latin typeface="Courier"/>
              </a:rPr>
              <a:t>  </a:t>
            </a:r>
            <a:r>
              <a:rPr>
                <a:solidFill>
                  <a:srgbClr val="657422"/>
                </a:solidFill>
                <a:latin typeface="Courier"/>
              </a:rPr>
              <a:t>Type_II_p =</a:t>
            </a:r>
            <a:r>
              <a:rPr>
                <a:solidFill>
                  <a:srgbClr val="003B4F"/>
                </a:solidFill>
                <a:latin typeface="Courier"/>
              </a:rPr>
              <a:t> </a:t>
            </a:r>
            <a:r>
              <a:rPr>
                <a:solidFill>
                  <a:srgbClr val="4758AB"/>
                </a:solidFill>
                <a:latin typeface="Courier"/>
              </a:rPr>
              <a:t>round</a:t>
            </a:r>
            <a:r>
              <a:rPr>
                <a:solidFill>
                  <a:srgbClr val="003B4F"/>
                </a:solidFill>
                <a:latin typeface="Courier"/>
              </a:rPr>
              <a:t>(type2b_anova</a:t>
            </a:r>
            <a:r>
              <a:rPr>
                <a:solidFill>
                  <a:srgbClr val="5E5E5E"/>
                </a:solidFill>
                <a:latin typeface="Courier"/>
              </a:rPr>
              <a:t>$</a:t>
            </a:r>
            <a:r>
              <a:rPr>
                <a:solidFill>
                  <a:srgbClr val="20794D"/>
                </a:solidFill>
                <a:latin typeface="Courier"/>
              </a:rPr>
              <a:t>`</a:t>
            </a:r>
            <a:r>
              <a:rPr>
                <a:solidFill>
                  <a:srgbClr val="657422"/>
                </a:solidFill>
                <a:latin typeface="Courier"/>
              </a:rPr>
              <a:t>Pr(&gt;F)</a:t>
            </a:r>
            <a:r>
              <a:rPr>
                <a:solidFill>
                  <a:srgbClr val="20794D"/>
                </a:solidFill>
                <a:latin typeface="Courier"/>
              </a:rPr>
              <a:t>`</a:t>
            </a:r>
            <a:r>
              <a:rPr>
                <a:solidFill>
                  <a:srgbClr val="003B4F"/>
                </a:solidFill>
                <a:latin typeface="Courier"/>
              </a:rPr>
              <a:t>[</a:t>
            </a:r>
            <a:r>
              <a:rPr>
                <a:solidFill>
                  <a:srgbClr val="AD0000"/>
                </a:solidFill>
                <a:latin typeface="Courier"/>
              </a:rPr>
              <a:t>2</a:t>
            </a:r>
            <a:r>
              <a:rPr>
                <a:solidFill>
                  <a:srgbClr val="5E5E5E"/>
                </a:solidFill>
                <a:latin typeface="Courier"/>
              </a:rPr>
              <a:t>:</a:t>
            </a:r>
            <a:r>
              <a:rPr>
                <a:solidFill>
                  <a:srgbClr val="AD0000"/>
                </a:solidFill>
                <a:latin typeface="Courier"/>
              </a:rPr>
              <a:t>4</a:t>
            </a:r>
            <a:r>
              <a:rPr>
                <a:solidFill>
                  <a:srgbClr val="003B4F"/>
                </a:solidFill>
                <a:latin typeface="Courier"/>
              </a:rPr>
              <a:t>], </a:t>
            </a:r>
            <a:r>
              <a:rPr>
                <a:solidFill>
                  <a:srgbClr val="AD0000"/>
                </a:solidFill>
                <a:latin typeface="Courier"/>
              </a:rPr>
              <a:t>4</a:t>
            </a:r>
            <a:r>
              <a:rPr>
                <a:solidFill>
                  <a:srgbClr val="003B4F"/>
                </a:solidFill>
                <a:latin typeface="Courier"/>
              </a:rPr>
              <a:t>),</a:t>
            </a:r>
            <a:br/>
            <a:r>
              <a:rPr>
                <a:solidFill>
                  <a:srgbClr val="003B4F"/>
                </a:solidFill>
                <a:latin typeface="Courier"/>
              </a:rPr>
              <a:t>  </a:t>
            </a:r>
            <a:r>
              <a:rPr>
                <a:solidFill>
                  <a:srgbClr val="657422"/>
                </a:solidFill>
                <a:latin typeface="Courier"/>
              </a:rPr>
              <a:t>Type_III_p =</a:t>
            </a:r>
            <a:r>
              <a:rPr>
                <a:solidFill>
                  <a:srgbClr val="003B4F"/>
                </a:solidFill>
                <a:latin typeface="Courier"/>
              </a:rPr>
              <a:t> </a:t>
            </a:r>
            <a:r>
              <a:rPr>
                <a:solidFill>
                  <a:srgbClr val="4758AB"/>
                </a:solidFill>
                <a:latin typeface="Courier"/>
              </a:rPr>
              <a:t>round</a:t>
            </a:r>
            <a:r>
              <a:rPr>
                <a:solidFill>
                  <a:srgbClr val="003B4F"/>
                </a:solidFill>
                <a:latin typeface="Courier"/>
              </a:rPr>
              <a:t>(type3b_anova</a:t>
            </a:r>
            <a:r>
              <a:rPr>
                <a:solidFill>
                  <a:srgbClr val="5E5E5E"/>
                </a:solidFill>
                <a:latin typeface="Courier"/>
              </a:rPr>
              <a:t>$</a:t>
            </a:r>
            <a:r>
              <a:rPr>
                <a:solidFill>
                  <a:srgbClr val="20794D"/>
                </a:solidFill>
                <a:latin typeface="Courier"/>
              </a:rPr>
              <a:t>`</a:t>
            </a:r>
            <a:r>
              <a:rPr>
                <a:solidFill>
                  <a:srgbClr val="657422"/>
                </a:solidFill>
                <a:latin typeface="Courier"/>
              </a:rPr>
              <a:t>Pr(&gt;F)</a:t>
            </a:r>
            <a:r>
              <a:rPr>
                <a:solidFill>
                  <a:srgbClr val="20794D"/>
                </a:solidFill>
                <a:latin typeface="Courier"/>
              </a:rPr>
              <a:t>`</a:t>
            </a:r>
            <a:r>
              <a:rPr>
                <a:solidFill>
                  <a:srgbClr val="003B4F"/>
                </a:solidFill>
                <a:latin typeface="Courier"/>
              </a:rPr>
              <a:t>[</a:t>
            </a:r>
            <a:r>
              <a:rPr>
                <a:solidFill>
                  <a:srgbClr val="AD0000"/>
                </a:solidFill>
                <a:latin typeface="Courier"/>
              </a:rPr>
              <a:t>2</a:t>
            </a:r>
            <a:r>
              <a:rPr>
                <a:solidFill>
                  <a:srgbClr val="5E5E5E"/>
                </a:solidFill>
                <a:latin typeface="Courier"/>
              </a:rPr>
              <a:t>:</a:t>
            </a:r>
            <a:r>
              <a:rPr>
                <a:solidFill>
                  <a:srgbClr val="AD0000"/>
                </a:solidFill>
                <a:latin typeface="Courier"/>
              </a:rPr>
              <a:t>4</a:t>
            </a:r>
            <a:r>
              <a:rPr>
                <a:solidFill>
                  <a:srgbClr val="003B4F"/>
                </a:solidFill>
                <a:latin typeface="Courier"/>
              </a:rPr>
              <a:t>], </a:t>
            </a:r>
            <a:r>
              <a:rPr>
                <a:solidFill>
                  <a:srgbClr val="AD0000"/>
                </a:solidFill>
                <a:latin typeface="Courier"/>
              </a:rPr>
              <a:t>4</a:t>
            </a:r>
            <a:r>
              <a:rPr>
                <a:solidFill>
                  <a:srgbClr val="003B4F"/>
                </a:solidFill>
                <a:latin typeface="Courier"/>
              </a:rPr>
              <a:t>)</a:t>
            </a:r>
            <a:br/>
            <a:r>
              <a:rPr>
                <a:solidFill>
                  <a:srgbClr val="003B4F"/>
                </a:solidFill>
                <a:latin typeface="Courier"/>
              </a:rPr>
              <a:t>)</a:t>
            </a:r>
            <a:br/>
            <a:r>
              <a:rPr>
                <a:solidFill>
                  <a:srgbClr val="003B4F"/>
                </a:solidFill>
                <a:latin typeface="Courier"/>
              </a:rPr>
              <a:t>pb_comparison_df</a:t>
            </a:r>
          </a:p>
          <a:p>
            <a:pPr lvl="0" indent="0" marL="0">
              <a:buNone/>
            </a:pPr>
            <a:r>
              <a:rPr/>
              <a:t>✏️ </a:t>
            </a:r>
            <a:r>
              <a:rPr b="1"/>
              <a:t>Your turn:</a:t>
            </a:r>
            <a:r>
              <a:rPr/>
              <a:t> For this </a:t>
            </a:r>
            <a:r>
              <a:rPr i="1"/>
              <a:t>balanced</a:t>
            </a:r>
            <a:r>
              <a:rPr/>
              <a:t> dataset, do the three SS types give the same F-values for the main effects? Is that what you’d expect? </a:t>
            </a:r>
            <a:r>
              <a:rPr>
                <a:latin typeface="Courier"/>
              </a:rPr>
              <a:t>________________________</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7 · The Same Analysis, Unbalanced</a:t>
            </a:r>
          </a:p>
        </p:txBody>
      </p:sp>
      <p:sp>
        <p:nvSpPr>
          <p:cNvPr id="3" name="Content Placeholder 2"/>
          <p:cNvSpPr>
            <a:spLocks noGrp="1"/>
          </p:cNvSpPr>
          <p:nvPr>
            <p:ph idx="1"/>
          </p:nvPr>
        </p:nvSpPr>
        <p:spPr/>
        <p:txBody>
          <a:bodyPr/>
          <a:lstStyle/>
          <a:p>
            <a:pPr lvl="0" indent="0" marL="0">
              <a:buNone/>
            </a:pPr>
            <a:r>
              <a:rPr/>
              <a:t>Now let’s redo the whole analysis on the full, naturally unbalanced </a:t>
            </a:r>
            <a:r>
              <a:rPr>
                <a:latin typeface="Courier"/>
              </a:rPr>
              <a:t>p_df</a:t>
            </a:r>
            <a:r>
              <a:rPr/>
              <a:t> (not the balanced </a:t>
            </a:r>
            <a:r>
              <a:rPr>
                <a:latin typeface="Courier"/>
              </a:rPr>
              <a:t>pb_df</a:t>
            </a:r>
            <a:r>
              <a:rPr/>
              <a:t> subsample) — and see what changes.</a:t>
            </a:r>
          </a:p>
          <a:p>
            <a:pPr lvl="0" indent="0" marL="0">
              <a:buNone/>
            </a:pPr>
            <a:r>
              <a:rPr b="1"/>
              <a:t>▶ Run this</a:t>
            </a:r>
            <a:r>
              <a:rPr/>
              <a:t> — fit the model and check the ANOVA table:</a:t>
            </a:r>
          </a:p>
          <a:p>
            <a:pPr lvl="0" indent="0">
              <a:buNone/>
            </a:pPr>
            <a:r>
              <a:rPr>
                <a:solidFill>
                  <a:srgbClr val="003B4F"/>
                </a:solidFill>
                <a:latin typeface="Courier"/>
              </a:rPr>
              <a:t>pu_model &lt;- </a:t>
            </a:r>
            <a:r>
              <a:rPr>
                <a:solidFill>
                  <a:srgbClr val="4758AB"/>
                </a:solidFill>
                <a:latin typeface="Courier"/>
              </a:rPr>
              <a:t>lm</a:t>
            </a:r>
            <a:r>
              <a:rPr>
                <a:solidFill>
                  <a:srgbClr val="003B4F"/>
                </a:solidFill>
                <a:latin typeface="Courier"/>
              </a:rPr>
              <a:t>(mass_g </a:t>
            </a:r>
            <a:r>
              <a:rPr>
                <a:solidFill>
                  <a:srgbClr val="5E5E5E"/>
                </a:solidFill>
                <a:latin typeface="Courier"/>
              </a:rPr>
              <a:t>~</a:t>
            </a:r>
            <a:r>
              <a:rPr>
                <a:solidFill>
                  <a:srgbClr val="003B4F"/>
                </a:solidFill>
                <a:latin typeface="Courier"/>
              </a:rPr>
              <a:t> spp </a:t>
            </a:r>
            <a:r>
              <a:rPr>
                <a:solidFill>
                  <a:srgbClr val="5E5E5E"/>
                </a:solidFill>
                <a:latin typeface="Courier"/>
              </a:rPr>
              <a:t>*</a:t>
            </a:r>
            <a:r>
              <a:rPr>
                <a:solidFill>
                  <a:srgbClr val="003B4F"/>
                </a:solidFill>
                <a:latin typeface="Courier"/>
              </a:rPr>
              <a:t> sex, </a:t>
            </a:r>
            <a:r>
              <a:rPr>
                <a:solidFill>
                  <a:srgbClr val="657422"/>
                </a:solidFill>
                <a:latin typeface="Courier"/>
              </a:rPr>
              <a:t>data =</a:t>
            </a:r>
            <a:r>
              <a:rPr>
                <a:solidFill>
                  <a:srgbClr val="003B4F"/>
                </a:solidFill>
                <a:latin typeface="Courier"/>
              </a:rPr>
              <a:t> p_df)</a:t>
            </a:r>
            <a:br/>
            <a:r>
              <a:rPr>
                <a:solidFill>
                  <a:srgbClr val="4758AB"/>
                </a:solidFill>
                <a:latin typeface="Courier"/>
              </a:rPr>
              <a:t>summary</a:t>
            </a:r>
            <a:r>
              <a:rPr>
                <a:solidFill>
                  <a:srgbClr val="003B4F"/>
                </a:solidFill>
                <a:latin typeface="Courier"/>
              </a:rPr>
              <a:t>(pu_model)</a:t>
            </a:r>
            <a:br/>
            <a:br/>
            <a:r>
              <a:rPr>
                <a:solidFill>
                  <a:srgbClr val="4758AB"/>
                </a:solidFill>
                <a:latin typeface="Courier"/>
              </a:rPr>
              <a:t>Anova</a:t>
            </a:r>
            <a:r>
              <a:rPr>
                <a:solidFill>
                  <a:srgbClr val="003B4F"/>
                </a:solidFill>
                <a:latin typeface="Courier"/>
              </a:rPr>
              <a:t>(pu_model, </a:t>
            </a:r>
            <a:r>
              <a:rPr>
                <a:solidFill>
                  <a:srgbClr val="657422"/>
                </a:solidFill>
                <a:latin typeface="Courier"/>
              </a:rPr>
              <a:t>type =</a:t>
            </a:r>
            <a:r>
              <a:rPr>
                <a:solidFill>
                  <a:srgbClr val="003B4F"/>
                </a:solidFill>
                <a:latin typeface="Courier"/>
              </a:rPr>
              <a:t> </a:t>
            </a:r>
            <a:r>
              <a:rPr>
                <a:solidFill>
                  <a:srgbClr val="AD0000"/>
                </a:solidFill>
                <a:latin typeface="Courier"/>
              </a:rPr>
              <a:t>3</a:t>
            </a:r>
            <a:r>
              <a:rPr>
                <a:solidFill>
                  <a:srgbClr val="003B4F"/>
                </a:solidFill>
                <a:latin typeface="Courier"/>
              </a:rPr>
              <a:t>)</a:t>
            </a:r>
          </a:p>
          <a:p>
            <a:pPr lvl="0" indent="0" marL="0">
              <a:buNone/>
            </a:pPr>
            <a:r>
              <a:rPr b="1"/>
              <a:t>▶ Run this</a:t>
            </a:r>
            <a:r>
              <a:rPr/>
              <a:t> — diagnostics:</a:t>
            </a:r>
          </a:p>
          <a:p>
            <a:pPr lvl="0" indent="0">
              <a:buNone/>
            </a:pPr>
            <a:r>
              <a:rPr>
                <a:solidFill>
                  <a:srgbClr val="4758AB"/>
                </a:solidFill>
                <a:latin typeface="Courier"/>
              </a:rPr>
              <a:t>par</a:t>
            </a:r>
            <a:r>
              <a:rPr>
                <a:solidFill>
                  <a:srgbClr val="003B4F"/>
                </a:solidFill>
                <a:latin typeface="Courier"/>
              </a:rPr>
              <a:t>(</a:t>
            </a:r>
            <a:r>
              <a:rPr>
                <a:solidFill>
                  <a:srgbClr val="657422"/>
                </a:solidFill>
                <a:latin typeface="Courier"/>
              </a:rPr>
              <a:t>mfrow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AD0000"/>
                </a:solidFill>
                <a:latin typeface="Courier"/>
              </a:rPr>
              <a:t>2</a:t>
            </a:r>
            <a:r>
              <a:rPr>
                <a:solidFill>
                  <a:srgbClr val="003B4F"/>
                </a:solidFill>
                <a:latin typeface="Courier"/>
              </a:rPr>
              <a:t>, </a:t>
            </a:r>
            <a:r>
              <a:rPr>
                <a:solidFill>
                  <a:srgbClr val="AD0000"/>
                </a:solidFill>
                <a:latin typeface="Courier"/>
              </a:rPr>
              <a:t>2</a:t>
            </a:r>
            <a:r>
              <a:rPr>
                <a:solidFill>
                  <a:srgbClr val="003B4F"/>
                </a:solidFill>
                <a:latin typeface="Courier"/>
              </a:rPr>
              <a:t>))</a:t>
            </a:r>
            <a:br/>
            <a:r>
              <a:rPr>
                <a:solidFill>
                  <a:srgbClr val="4758AB"/>
                </a:solidFill>
                <a:latin typeface="Courier"/>
              </a:rPr>
              <a:t>plot</a:t>
            </a:r>
            <a:r>
              <a:rPr>
                <a:solidFill>
                  <a:srgbClr val="003B4F"/>
                </a:solidFill>
                <a:latin typeface="Courier"/>
              </a:rPr>
              <a:t>(pu_model)</a:t>
            </a:r>
            <a:br/>
            <a:r>
              <a:rPr>
                <a:solidFill>
                  <a:srgbClr val="4758AB"/>
                </a:solidFill>
                <a:latin typeface="Courier"/>
              </a:rPr>
              <a:t>par</a:t>
            </a:r>
            <a:r>
              <a:rPr>
                <a:solidFill>
                  <a:srgbClr val="003B4F"/>
                </a:solidFill>
                <a:latin typeface="Courier"/>
              </a:rPr>
              <a:t>(</a:t>
            </a:r>
            <a:r>
              <a:rPr>
                <a:solidFill>
                  <a:srgbClr val="657422"/>
                </a:solidFill>
                <a:latin typeface="Courier"/>
              </a:rPr>
              <a:t>mfrow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AD0000"/>
                </a:solidFill>
                <a:latin typeface="Courier"/>
              </a:rPr>
              <a:t>1</a:t>
            </a:r>
            <a:r>
              <a:rPr>
                <a:solidFill>
                  <a:srgbClr val="003B4F"/>
                </a:solidFill>
                <a:latin typeface="Courier"/>
              </a:rPr>
              <a:t>, </a:t>
            </a:r>
            <a:r>
              <a:rPr>
                <a:solidFill>
                  <a:srgbClr val="AD0000"/>
                </a:solidFill>
                <a:latin typeface="Courier"/>
              </a:rPr>
              <a:t>1</a:t>
            </a:r>
            <a:r>
              <a:rPr>
                <a:solidFill>
                  <a:srgbClr val="003B4F"/>
                </a:solidFill>
                <a:latin typeface="Courier"/>
              </a:rPr>
              <a:t>))</a:t>
            </a:r>
            <a:br/>
            <a:br/>
            <a:r>
              <a:rPr>
                <a:solidFill>
                  <a:srgbClr val="003B4F"/>
                </a:solidFill>
                <a:latin typeface="Courier"/>
              </a:rPr>
              <a:t>pu_resid_df &lt;- </a:t>
            </a:r>
            <a:r>
              <a:rPr>
                <a:solidFill>
                  <a:srgbClr val="4758AB"/>
                </a:solidFill>
                <a:latin typeface="Courier"/>
              </a:rPr>
              <a:t>augment</a:t>
            </a:r>
            <a:r>
              <a:rPr>
                <a:solidFill>
                  <a:srgbClr val="003B4F"/>
                </a:solidFill>
                <a:latin typeface="Courier"/>
              </a:rPr>
              <a:t>(pu_model)</a:t>
            </a:r>
            <a:br/>
            <a:br/>
            <a:r>
              <a:rPr>
                <a:solidFill>
                  <a:srgbClr val="4758AB"/>
                </a:solidFill>
                <a:latin typeface="Courier"/>
              </a:rPr>
              <a:t>ggplot</a:t>
            </a:r>
            <a:r>
              <a:rPr>
                <a:solidFill>
                  <a:srgbClr val="003B4F"/>
                </a:solidFill>
                <a:latin typeface="Courier"/>
              </a:rPr>
              <a:t>(pu_resid_df, </a:t>
            </a:r>
            <a:r>
              <a:rPr>
                <a:solidFill>
                  <a:srgbClr val="4758AB"/>
                </a:solidFill>
                <a:latin typeface="Courier"/>
              </a:rPr>
              <a:t>aes</a:t>
            </a:r>
            <a:r>
              <a:rPr>
                <a:solidFill>
                  <a:srgbClr val="003B4F"/>
                </a:solidFill>
                <a:latin typeface="Courier"/>
              </a:rPr>
              <a:t>(</a:t>
            </a:r>
            <a:r>
              <a:rPr>
                <a:solidFill>
                  <a:srgbClr val="657422"/>
                </a:solidFill>
                <a:latin typeface="Courier"/>
              </a:rPr>
              <a:t>sample =</a:t>
            </a:r>
            <a:r>
              <a:rPr>
                <a:solidFill>
                  <a:srgbClr val="003B4F"/>
                </a:solidFill>
                <a:latin typeface="Courier"/>
              </a:rPr>
              <a:t> .resid)) </a:t>
            </a:r>
            <a:r>
              <a:rPr>
                <a:solidFill>
                  <a:srgbClr val="5E5E5E"/>
                </a:solidFill>
                <a:latin typeface="Courier"/>
              </a:rPr>
              <a:t>+</a:t>
            </a:r>
            <a:br/>
            <a:r>
              <a:rPr>
                <a:solidFill>
                  <a:srgbClr val="003B4F"/>
                </a:solidFill>
                <a:latin typeface="Courier"/>
              </a:rPr>
              <a:t>  </a:t>
            </a:r>
            <a:r>
              <a:rPr>
                <a:solidFill>
                  <a:srgbClr val="4758AB"/>
                </a:solidFill>
                <a:latin typeface="Courier"/>
              </a:rPr>
              <a:t>stat_qq</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stat_qq_line</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title =</a:t>
            </a:r>
            <a:r>
              <a:rPr>
                <a:solidFill>
                  <a:srgbClr val="003B4F"/>
                </a:solidFill>
                <a:latin typeface="Courier"/>
              </a:rPr>
              <a:t> </a:t>
            </a:r>
            <a:r>
              <a:rPr>
                <a:solidFill>
                  <a:srgbClr val="20794D"/>
                </a:solidFill>
                <a:latin typeface="Courier"/>
              </a:rPr>
              <a:t>"Q-Q Plot of Residuals"</a:t>
            </a:r>
            <a:r>
              <a:rPr>
                <a:solidFill>
                  <a:srgbClr val="003B4F"/>
                </a:solidFill>
                <a:latin typeface="Courier"/>
              </a:rPr>
              <a:t>, </a:t>
            </a:r>
            <a:r>
              <a:rPr>
                <a:solidFill>
                  <a:srgbClr val="657422"/>
                </a:solidFill>
                <a:latin typeface="Courier"/>
              </a:rPr>
              <a:t>x =</a:t>
            </a:r>
            <a:r>
              <a:rPr>
                <a:solidFill>
                  <a:srgbClr val="003B4F"/>
                </a:solidFill>
                <a:latin typeface="Courier"/>
              </a:rPr>
              <a:t> </a:t>
            </a:r>
            <a:r>
              <a:rPr>
                <a:solidFill>
                  <a:srgbClr val="20794D"/>
                </a:solidFill>
                <a:latin typeface="Courier"/>
              </a:rPr>
              <a:t>"Theoretical Quantiles"</a:t>
            </a: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"Sample Quantiles"</a:t>
            </a:r>
            <a:r>
              <a:rPr>
                <a:solidFill>
                  <a:srgbClr val="003B4F"/>
                </a:solidFill>
                <a:latin typeface="Courier"/>
              </a:rPr>
              <a:t>)</a:t>
            </a:r>
            <a:br/>
            <a:br/>
            <a:r>
              <a:rPr>
                <a:solidFill>
                  <a:srgbClr val="4758AB"/>
                </a:solidFill>
                <a:latin typeface="Courier"/>
              </a:rPr>
              <a:t>shapiro.test</a:t>
            </a:r>
            <a:r>
              <a:rPr>
                <a:solidFill>
                  <a:srgbClr val="003B4F"/>
                </a:solidFill>
                <a:latin typeface="Courier"/>
              </a:rPr>
              <a:t>(</a:t>
            </a:r>
            <a:r>
              <a:rPr>
                <a:solidFill>
                  <a:srgbClr val="4758AB"/>
                </a:solidFill>
                <a:latin typeface="Courier"/>
              </a:rPr>
              <a:t>residuals</a:t>
            </a:r>
            <a:r>
              <a:rPr>
                <a:solidFill>
                  <a:srgbClr val="003B4F"/>
                </a:solidFill>
                <a:latin typeface="Courier"/>
              </a:rPr>
              <a:t>(pu_model))</a:t>
            </a:r>
            <a:br/>
            <a:br/>
            <a:r>
              <a:rPr>
                <a:solidFill>
                  <a:srgbClr val="4758AB"/>
                </a:solidFill>
                <a:latin typeface="Courier"/>
              </a:rPr>
              <a:t>leveneTest</a:t>
            </a:r>
            <a:r>
              <a:rPr>
                <a:solidFill>
                  <a:srgbClr val="003B4F"/>
                </a:solidFill>
                <a:latin typeface="Courier"/>
              </a:rPr>
              <a:t>(mass_g </a:t>
            </a:r>
            <a:r>
              <a:rPr>
                <a:solidFill>
                  <a:srgbClr val="5E5E5E"/>
                </a:solidFill>
                <a:latin typeface="Courier"/>
              </a:rPr>
              <a:t>~</a:t>
            </a:r>
            <a:r>
              <a:rPr>
                <a:solidFill>
                  <a:srgbClr val="003B4F"/>
                </a:solidFill>
                <a:latin typeface="Courier"/>
              </a:rPr>
              <a:t> spp </a:t>
            </a:r>
            <a:r>
              <a:rPr>
                <a:solidFill>
                  <a:srgbClr val="5E5E5E"/>
                </a:solidFill>
                <a:latin typeface="Courier"/>
              </a:rPr>
              <a:t>*</a:t>
            </a:r>
            <a:r>
              <a:rPr>
                <a:solidFill>
                  <a:srgbClr val="003B4F"/>
                </a:solidFill>
                <a:latin typeface="Courier"/>
              </a:rPr>
              <a:t> sex, </a:t>
            </a:r>
            <a:r>
              <a:rPr>
                <a:solidFill>
                  <a:srgbClr val="657422"/>
                </a:solidFill>
                <a:latin typeface="Courier"/>
              </a:rPr>
              <a:t>data =</a:t>
            </a:r>
            <a:r>
              <a:rPr>
                <a:solidFill>
                  <a:srgbClr val="003B4F"/>
                </a:solidFill>
                <a:latin typeface="Courier"/>
              </a:rPr>
              <a:t> p_df)</a:t>
            </a:r>
          </a:p>
          <a:p>
            <a:pPr lvl="0" indent="0" marL="0">
              <a:buNone/>
            </a:pPr>
            <a:r>
              <a:rPr b="1"/>
              <a:t>▶ Run this</a:t>
            </a:r>
            <a:r>
              <a:rPr/>
              <a:t> — EMMs, pairwise comparisons, and the interaction plot:</a:t>
            </a:r>
          </a:p>
          <a:p>
            <a:pPr lvl="0" indent="0">
              <a:buNone/>
            </a:pPr>
            <a:r>
              <a:rPr>
                <a:solidFill>
                  <a:srgbClr val="003B4F"/>
                </a:solidFill>
                <a:latin typeface="Courier"/>
              </a:rPr>
              <a:t>sppu_emm &lt;- </a:t>
            </a:r>
            <a:r>
              <a:rPr>
                <a:solidFill>
                  <a:srgbClr val="4758AB"/>
                </a:solidFill>
                <a:latin typeface="Courier"/>
              </a:rPr>
              <a:t>emmeans</a:t>
            </a:r>
            <a:r>
              <a:rPr>
                <a:solidFill>
                  <a:srgbClr val="003B4F"/>
                </a:solidFill>
                <a:latin typeface="Courier"/>
              </a:rPr>
              <a:t>(pu_model, </a:t>
            </a:r>
            <a:r>
              <a:rPr>
                <a:solidFill>
                  <a:srgbClr val="5E5E5E"/>
                </a:solidFill>
                <a:latin typeface="Courier"/>
              </a:rPr>
              <a:t>~</a:t>
            </a:r>
            <a:r>
              <a:rPr>
                <a:solidFill>
                  <a:srgbClr val="003B4F"/>
                </a:solidFill>
                <a:latin typeface="Courier"/>
              </a:rPr>
              <a:t> spp)</a:t>
            </a:r>
            <a:br/>
            <a:r>
              <a:rPr>
                <a:solidFill>
                  <a:srgbClr val="003B4F"/>
                </a:solidFill>
                <a:latin typeface="Courier"/>
              </a:rPr>
              <a:t>sppu_emm</a:t>
            </a:r>
            <a:br/>
            <a:r>
              <a:rPr>
                <a:solidFill>
                  <a:srgbClr val="4758AB"/>
                </a:solidFill>
                <a:latin typeface="Courier"/>
              </a:rPr>
              <a:t>pairs</a:t>
            </a:r>
            <a:r>
              <a:rPr>
                <a:solidFill>
                  <a:srgbClr val="003B4F"/>
                </a:solidFill>
                <a:latin typeface="Courier"/>
              </a:rPr>
              <a:t>(sppu_emm)</a:t>
            </a:r>
            <a:br/>
            <a:br/>
            <a:r>
              <a:rPr>
                <a:solidFill>
                  <a:srgbClr val="003B4F"/>
                </a:solidFill>
                <a:latin typeface="Courier"/>
              </a:rPr>
              <a:t>sexu_emm &lt;- </a:t>
            </a:r>
            <a:r>
              <a:rPr>
                <a:solidFill>
                  <a:srgbClr val="4758AB"/>
                </a:solidFill>
                <a:latin typeface="Courier"/>
              </a:rPr>
              <a:t>emmeans</a:t>
            </a:r>
            <a:r>
              <a:rPr>
                <a:solidFill>
                  <a:srgbClr val="003B4F"/>
                </a:solidFill>
                <a:latin typeface="Courier"/>
              </a:rPr>
              <a:t>(pu_model, </a:t>
            </a:r>
            <a:r>
              <a:rPr>
                <a:solidFill>
                  <a:srgbClr val="5E5E5E"/>
                </a:solidFill>
                <a:latin typeface="Courier"/>
              </a:rPr>
              <a:t>~</a:t>
            </a:r>
            <a:r>
              <a:rPr>
                <a:solidFill>
                  <a:srgbClr val="003B4F"/>
                </a:solidFill>
                <a:latin typeface="Courier"/>
              </a:rPr>
              <a:t> sex)</a:t>
            </a:r>
            <a:br/>
            <a:r>
              <a:rPr>
                <a:solidFill>
                  <a:srgbClr val="003B4F"/>
                </a:solidFill>
                <a:latin typeface="Courier"/>
              </a:rPr>
              <a:t>sexu_emm</a:t>
            </a:r>
            <a:br/>
            <a:r>
              <a:rPr>
                <a:solidFill>
                  <a:srgbClr val="4758AB"/>
                </a:solidFill>
                <a:latin typeface="Courier"/>
              </a:rPr>
              <a:t>pairs</a:t>
            </a:r>
            <a:r>
              <a:rPr>
                <a:solidFill>
                  <a:srgbClr val="003B4F"/>
                </a:solidFill>
                <a:latin typeface="Courier"/>
              </a:rPr>
              <a:t>(sexu_emm)</a:t>
            </a:r>
            <a:br/>
            <a:br/>
            <a:r>
              <a:rPr>
                <a:solidFill>
                  <a:srgbClr val="003B4F"/>
                </a:solidFill>
                <a:latin typeface="Courier"/>
              </a:rPr>
              <a:t>interactionu_emm &lt;- </a:t>
            </a:r>
            <a:r>
              <a:rPr>
                <a:solidFill>
                  <a:srgbClr val="4758AB"/>
                </a:solidFill>
                <a:latin typeface="Courier"/>
              </a:rPr>
              <a:t>emmeans</a:t>
            </a:r>
            <a:r>
              <a:rPr>
                <a:solidFill>
                  <a:srgbClr val="003B4F"/>
                </a:solidFill>
                <a:latin typeface="Courier"/>
              </a:rPr>
              <a:t>(pu_model, </a:t>
            </a:r>
            <a:r>
              <a:rPr>
                <a:solidFill>
                  <a:srgbClr val="5E5E5E"/>
                </a:solidFill>
                <a:latin typeface="Courier"/>
              </a:rPr>
              <a:t>~</a:t>
            </a:r>
            <a:r>
              <a:rPr>
                <a:solidFill>
                  <a:srgbClr val="003B4F"/>
                </a:solidFill>
                <a:latin typeface="Courier"/>
              </a:rPr>
              <a:t> spp </a:t>
            </a:r>
            <a:r>
              <a:rPr>
                <a:solidFill>
                  <a:srgbClr val="5E5E5E"/>
                </a:solidFill>
                <a:latin typeface="Courier"/>
              </a:rPr>
              <a:t>*</a:t>
            </a:r>
            <a:r>
              <a:rPr>
                <a:solidFill>
                  <a:srgbClr val="003B4F"/>
                </a:solidFill>
                <a:latin typeface="Courier"/>
              </a:rPr>
              <a:t> sex)</a:t>
            </a:r>
            <a:br/>
            <a:r>
              <a:rPr>
                <a:solidFill>
                  <a:srgbClr val="003B4F"/>
                </a:solidFill>
                <a:latin typeface="Courier"/>
              </a:rPr>
              <a:t>interactionu_emm</a:t>
            </a:r>
            <a:br/>
            <a:br/>
            <a:r>
              <a:rPr>
                <a:solidFill>
                  <a:srgbClr val="5E5E5E"/>
                </a:solidFill>
                <a:latin typeface="Courier"/>
              </a:rPr>
              <a:t># Compare to raw means</a:t>
            </a:r>
            <a:br/>
            <a:r>
              <a:rPr>
                <a:solidFill>
                  <a:srgbClr val="003B4F"/>
                </a:solidFill>
                <a:latin typeface="Courier"/>
              </a:rPr>
              <a:t>p_df </a:t>
            </a:r>
            <a:r>
              <a:rPr>
                <a:solidFill>
                  <a:srgbClr val="5E5E5E"/>
                </a:solidFill>
                <a:latin typeface="Courier"/>
              </a:rPr>
              <a:t>%&gt;%</a:t>
            </a:r>
            <a:br/>
            <a:r>
              <a:rPr>
                <a:solidFill>
                  <a:srgbClr val="003B4F"/>
                </a:solidFill>
                <a:latin typeface="Courier"/>
              </a:rPr>
              <a:t>  </a:t>
            </a:r>
            <a:r>
              <a:rPr>
                <a:solidFill>
                  <a:srgbClr val="4758AB"/>
                </a:solidFill>
                <a:latin typeface="Courier"/>
              </a:rPr>
              <a:t>group_by</a:t>
            </a:r>
            <a:r>
              <a:rPr>
                <a:solidFill>
                  <a:srgbClr val="003B4F"/>
                </a:solidFill>
                <a:latin typeface="Courier"/>
              </a:rPr>
              <a:t>(spp, sex) </a:t>
            </a:r>
            <a:r>
              <a:rPr>
                <a:solidFill>
                  <a:srgbClr val="5E5E5E"/>
                </a:solidFill>
                <a:latin typeface="Courier"/>
              </a:rPr>
              <a:t>%&gt;%</a:t>
            </a:r>
            <a:br/>
            <a:r>
              <a:rPr>
                <a:solidFill>
                  <a:srgbClr val="003B4F"/>
                </a:solidFill>
                <a:latin typeface="Courier"/>
              </a:rPr>
              <a:t>  </a:t>
            </a:r>
            <a:r>
              <a:rPr>
                <a:solidFill>
                  <a:srgbClr val="4758AB"/>
                </a:solidFill>
                <a:latin typeface="Courier"/>
              </a:rPr>
              <a:t>summarise</a:t>
            </a:r>
            <a:r>
              <a:rPr>
                <a:solidFill>
                  <a:srgbClr val="003B4F"/>
                </a:solidFill>
                <a:latin typeface="Courier"/>
              </a:rPr>
              <a:t>(</a:t>
            </a:r>
            <a:r>
              <a:rPr>
                <a:solidFill>
                  <a:srgbClr val="657422"/>
                </a:solidFill>
                <a:latin typeface="Courier"/>
              </a:rPr>
              <a:t>raw_mean =</a:t>
            </a:r>
            <a:r>
              <a:rPr>
                <a:solidFill>
                  <a:srgbClr val="003B4F"/>
                </a:solidFill>
                <a:latin typeface="Courier"/>
              </a:rPr>
              <a:t> </a:t>
            </a:r>
            <a:r>
              <a:rPr>
                <a:solidFill>
                  <a:srgbClr val="4758AB"/>
                </a:solidFill>
                <a:latin typeface="Courier"/>
              </a:rPr>
              <a:t>mean</a:t>
            </a:r>
            <a:r>
              <a:rPr>
                <a:solidFill>
                  <a:srgbClr val="003B4F"/>
                </a:solidFill>
                <a:latin typeface="Courier"/>
              </a:rPr>
              <a:t>(mass_g), </a:t>
            </a:r>
            <a:r>
              <a:rPr>
                <a:solidFill>
                  <a:srgbClr val="657422"/>
                </a:solidFill>
                <a:latin typeface="Courier"/>
              </a:rPr>
              <a:t>.groups =</a:t>
            </a:r>
            <a:r>
              <a:rPr>
                <a:solidFill>
                  <a:srgbClr val="003B4F"/>
                </a:solidFill>
                <a:latin typeface="Courier"/>
              </a:rPr>
              <a:t> </a:t>
            </a:r>
            <a:r>
              <a:rPr>
                <a:solidFill>
                  <a:srgbClr val="20794D"/>
                </a:solidFill>
                <a:latin typeface="Courier"/>
              </a:rPr>
              <a:t>'drop'</a:t>
            </a: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pivot_wider</a:t>
            </a:r>
            <a:r>
              <a:rPr>
                <a:solidFill>
                  <a:srgbClr val="003B4F"/>
                </a:solidFill>
                <a:latin typeface="Courier"/>
              </a:rPr>
              <a:t>(</a:t>
            </a:r>
            <a:r>
              <a:rPr>
                <a:solidFill>
                  <a:srgbClr val="657422"/>
                </a:solidFill>
                <a:latin typeface="Courier"/>
              </a:rPr>
              <a:t>names_from =</a:t>
            </a:r>
            <a:r>
              <a:rPr>
                <a:solidFill>
                  <a:srgbClr val="003B4F"/>
                </a:solidFill>
                <a:latin typeface="Courier"/>
              </a:rPr>
              <a:t> sex, </a:t>
            </a:r>
            <a:r>
              <a:rPr>
                <a:solidFill>
                  <a:srgbClr val="657422"/>
                </a:solidFill>
                <a:latin typeface="Courier"/>
              </a:rPr>
              <a:t>values_from =</a:t>
            </a:r>
            <a:r>
              <a:rPr>
                <a:solidFill>
                  <a:srgbClr val="003B4F"/>
                </a:solidFill>
                <a:latin typeface="Courier"/>
              </a:rPr>
              <a:t> raw_mean)</a:t>
            </a:r>
            <a:br/>
            <a:br/>
            <a:r>
              <a:rPr>
                <a:solidFill>
                  <a:srgbClr val="003B4F"/>
                </a:solidFill>
                <a:latin typeface="Courier"/>
              </a:rPr>
              <a:t>cldu_interaction &lt;- multcomp</a:t>
            </a:r>
            <a:r>
              <a:rPr>
                <a:solidFill>
                  <a:srgbClr val="5E5E5E"/>
                </a:solidFill>
                <a:latin typeface="Courier"/>
              </a:rPr>
              <a:t>::</a:t>
            </a:r>
            <a:r>
              <a:rPr>
                <a:solidFill>
                  <a:srgbClr val="4758AB"/>
                </a:solidFill>
                <a:latin typeface="Courier"/>
              </a:rPr>
              <a:t>cld</a:t>
            </a:r>
            <a:r>
              <a:rPr>
                <a:solidFill>
                  <a:srgbClr val="003B4F"/>
                </a:solidFill>
                <a:latin typeface="Courier"/>
              </a:rPr>
              <a:t>(interactionu_emm,</a:t>
            </a:r>
            <a:br/>
            <a:r>
              <a:rPr>
                <a:solidFill>
                  <a:srgbClr val="003B4F"/>
                </a:solidFill>
                <a:latin typeface="Courier"/>
              </a:rPr>
              <a:t>                       </a:t>
            </a:r>
            <a:r>
              <a:rPr>
                <a:solidFill>
                  <a:srgbClr val="657422"/>
                </a:solidFill>
                <a:latin typeface="Courier"/>
              </a:rPr>
              <a:t>Letters =</a:t>
            </a:r>
            <a:r>
              <a:rPr>
                <a:solidFill>
                  <a:srgbClr val="003B4F"/>
                </a:solidFill>
                <a:latin typeface="Courier"/>
              </a:rPr>
              <a:t> letters,</a:t>
            </a:r>
            <a:br/>
            <a:r>
              <a:rPr>
                <a:solidFill>
                  <a:srgbClr val="003B4F"/>
                </a:solidFill>
                <a:latin typeface="Courier"/>
              </a:rPr>
              <a:t>                       </a:t>
            </a:r>
            <a:r>
              <a:rPr>
                <a:solidFill>
                  <a:srgbClr val="657422"/>
                </a:solidFill>
                <a:latin typeface="Courier"/>
              </a:rPr>
              <a:t>adjust =</a:t>
            </a:r>
            <a:r>
              <a:rPr>
                <a:solidFill>
                  <a:srgbClr val="003B4F"/>
                </a:solidFill>
                <a:latin typeface="Courier"/>
              </a:rPr>
              <a:t> </a:t>
            </a:r>
            <a:r>
              <a:rPr>
                <a:solidFill>
                  <a:srgbClr val="20794D"/>
                </a:solidFill>
                <a:latin typeface="Courier"/>
              </a:rPr>
              <a:t>"sidak"</a:t>
            </a:r>
            <a:r>
              <a:rPr>
                <a:solidFill>
                  <a:srgbClr val="003B4F"/>
                </a:solidFill>
                <a:latin typeface="Courier"/>
              </a:rPr>
              <a:t>)</a:t>
            </a:r>
            <a:br/>
            <a:r>
              <a:rPr>
                <a:solidFill>
                  <a:srgbClr val="003B4F"/>
                </a:solidFill>
                <a:latin typeface="Courier"/>
              </a:rPr>
              <a:t>cldu_df &lt;- </a:t>
            </a:r>
            <a:r>
              <a:rPr>
                <a:solidFill>
                  <a:srgbClr val="4758AB"/>
                </a:solidFill>
                <a:latin typeface="Courier"/>
              </a:rPr>
              <a:t>as.data.frame</a:t>
            </a:r>
            <a:r>
              <a:rPr>
                <a:solidFill>
                  <a:srgbClr val="003B4F"/>
                </a:solidFill>
                <a:latin typeface="Courier"/>
              </a:rPr>
              <a:t>(cldu_interaction) </a:t>
            </a:r>
            <a:r>
              <a:rPr>
                <a:solidFill>
                  <a:srgbClr val="5E5E5E"/>
                </a:solidFill>
                <a:latin typeface="Courier"/>
              </a:rPr>
              <a:t>%&gt;%</a:t>
            </a:r>
            <a:br/>
            <a:r>
              <a:rPr>
                <a:solidFill>
                  <a:srgbClr val="003B4F"/>
                </a:solidFill>
                <a:latin typeface="Courier"/>
              </a:rPr>
              <a:t>  </a:t>
            </a:r>
            <a:r>
              <a:rPr>
                <a:solidFill>
                  <a:srgbClr val="4758AB"/>
                </a:solidFill>
                <a:latin typeface="Courier"/>
              </a:rPr>
              <a:t>arrange</a:t>
            </a:r>
            <a:r>
              <a:rPr>
                <a:solidFill>
                  <a:srgbClr val="003B4F"/>
                </a:solidFill>
                <a:latin typeface="Courier"/>
              </a:rPr>
              <a:t>(spp, sex)</a:t>
            </a:r>
            <a:br/>
            <a:r>
              <a:rPr>
                <a:solidFill>
                  <a:srgbClr val="4758AB"/>
                </a:solidFill>
                <a:latin typeface="Courier"/>
              </a:rPr>
              <a:t>print</a:t>
            </a:r>
            <a:r>
              <a:rPr>
                <a:solidFill>
                  <a:srgbClr val="003B4F"/>
                </a:solidFill>
                <a:latin typeface="Courier"/>
              </a:rPr>
              <a:t>(cldu_df)</a:t>
            </a:r>
            <a:br/>
            <a:br/>
            <a:r>
              <a:rPr>
                <a:solidFill>
                  <a:srgbClr val="4758AB"/>
                </a:solidFill>
                <a:latin typeface="Courier"/>
              </a:rPr>
              <a:t>emmip</a:t>
            </a:r>
            <a:r>
              <a:rPr>
                <a:solidFill>
                  <a:srgbClr val="003B4F"/>
                </a:solidFill>
                <a:latin typeface="Courier"/>
              </a:rPr>
              <a:t>(pu_model, sex </a:t>
            </a:r>
            <a:r>
              <a:rPr>
                <a:solidFill>
                  <a:srgbClr val="5E5E5E"/>
                </a:solidFill>
                <a:latin typeface="Courier"/>
              </a:rPr>
              <a:t>~</a:t>
            </a:r>
            <a:r>
              <a:rPr>
                <a:solidFill>
                  <a:srgbClr val="003B4F"/>
                </a:solidFill>
                <a:latin typeface="Courier"/>
              </a:rPr>
              <a:t> spp, </a:t>
            </a:r>
            <a:r>
              <a:rPr>
                <a:solidFill>
                  <a:srgbClr val="657422"/>
                </a:solidFill>
                <a:latin typeface="Courier"/>
              </a:rPr>
              <a:t>CIs =</a:t>
            </a:r>
            <a:r>
              <a:rPr>
                <a:solidFill>
                  <a:srgbClr val="003B4F"/>
                </a:solidFill>
                <a:latin typeface="Courier"/>
              </a:rPr>
              <a:t> </a:t>
            </a:r>
            <a:r>
              <a:rPr>
                <a:solidFill>
                  <a:srgbClr val="8F5902"/>
                </a:solidFill>
                <a:latin typeface="Courier"/>
              </a:rPr>
              <a:t>TRUE</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title =</a:t>
            </a:r>
            <a:r>
              <a:rPr>
                <a:solidFill>
                  <a:srgbClr val="003B4F"/>
                </a:solidFill>
                <a:latin typeface="Courier"/>
              </a:rPr>
              <a:t> </a:t>
            </a:r>
            <a:r>
              <a:rPr>
                <a:solidFill>
                  <a:srgbClr val="20794D"/>
                </a:solidFill>
                <a:latin typeface="Courier"/>
              </a:rPr>
              <a:t>"Interaction Plot"</a:t>
            </a:r>
            <a:r>
              <a:rPr>
                <a:solidFill>
                  <a:srgbClr val="003B4F"/>
                </a:solidFill>
                <a:latin typeface="Courier"/>
              </a:rPr>
              <a:t>, </a:t>
            </a:r>
            <a:r>
              <a:rPr>
                <a:solidFill>
                  <a:srgbClr val="657422"/>
                </a:solidFill>
                <a:latin typeface="Courier"/>
              </a:rPr>
              <a:t>x =</a:t>
            </a:r>
            <a:r>
              <a:rPr>
                <a:solidFill>
                  <a:srgbClr val="003B4F"/>
                </a:solidFill>
                <a:latin typeface="Courier"/>
              </a:rPr>
              <a:t> </a:t>
            </a:r>
            <a:r>
              <a:rPr>
                <a:solidFill>
                  <a:srgbClr val="20794D"/>
                </a:solidFill>
                <a:latin typeface="Courier"/>
              </a:rPr>
              <a:t>"Species"</a:t>
            </a: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"Body Mass (g)"</a:t>
            </a:r>
            <a:r>
              <a:rPr>
                <a:solidFill>
                  <a:srgbClr val="003B4F"/>
                </a:solidFill>
                <a:latin typeface="Courier"/>
              </a:rPr>
              <a:t>)</a:t>
            </a:r>
          </a:p>
          <a:p>
            <a:pPr lvl="0" indent="0" marL="0">
              <a:buNone/>
            </a:pPr>
            <a:r>
              <a:rPr b="1"/>
              <a:t>▶ Run this</a:t>
            </a:r>
            <a:r>
              <a:rPr/>
              <a:t> — compare all three SS types on the unbalanced data:</a:t>
            </a:r>
          </a:p>
          <a:p>
            <a:pPr lvl="0" indent="0">
              <a:buNone/>
            </a:pPr>
            <a:r>
              <a:rPr>
                <a:solidFill>
                  <a:srgbClr val="003B4F"/>
                </a:solidFill>
                <a:latin typeface="Courier"/>
              </a:rPr>
              <a:t>type1_anova &lt;- </a:t>
            </a:r>
            <a:r>
              <a:rPr>
                <a:solidFill>
                  <a:srgbClr val="4758AB"/>
                </a:solidFill>
                <a:latin typeface="Courier"/>
              </a:rPr>
              <a:t>anova</a:t>
            </a:r>
            <a:r>
              <a:rPr>
                <a:solidFill>
                  <a:srgbClr val="003B4F"/>
                </a:solidFill>
                <a:latin typeface="Courier"/>
              </a:rPr>
              <a:t>(pu_model)</a:t>
            </a:r>
            <a:br/>
            <a:r>
              <a:rPr>
                <a:solidFill>
                  <a:srgbClr val="003B4F"/>
                </a:solidFill>
                <a:latin typeface="Courier"/>
              </a:rPr>
              <a:t>type1_anova</a:t>
            </a:r>
            <a:br/>
            <a:br/>
            <a:r>
              <a:rPr>
                <a:solidFill>
                  <a:srgbClr val="003B4F"/>
                </a:solidFill>
                <a:latin typeface="Courier"/>
              </a:rPr>
              <a:t>type2_anova &lt;- </a:t>
            </a:r>
            <a:r>
              <a:rPr>
                <a:solidFill>
                  <a:srgbClr val="4758AB"/>
                </a:solidFill>
                <a:latin typeface="Courier"/>
              </a:rPr>
              <a:t>Anova</a:t>
            </a:r>
            <a:r>
              <a:rPr>
                <a:solidFill>
                  <a:srgbClr val="003B4F"/>
                </a:solidFill>
                <a:latin typeface="Courier"/>
              </a:rPr>
              <a:t>(pu_model, </a:t>
            </a:r>
            <a:r>
              <a:rPr>
                <a:solidFill>
                  <a:srgbClr val="657422"/>
                </a:solidFill>
                <a:latin typeface="Courier"/>
              </a:rPr>
              <a:t>type =</a:t>
            </a:r>
            <a:r>
              <a:rPr>
                <a:solidFill>
                  <a:srgbClr val="003B4F"/>
                </a:solidFill>
                <a:latin typeface="Courier"/>
              </a:rPr>
              <a:t> </a:t>
            </a:r>
            <a:r>
              <a:rPr>
                <a:solidFill>
                  <a:srgbClr val="AD0000"/>
                </a:solidFill>
                <a:latin typeface="Courier"/>
              </a:rPr>
              <a:t>2</a:t>
            </a:r>
            <a:r>
              <a:rPr>
                <a:solidFill>
                  <a:srgbClr val="003B4F"/>
                </a:solidFill>
                <a:latin typeface="Courier"/>
              </a:rPr>
              <a:t>)</a:t>
            </a:r>
            <a:br/>
            <a:r>
              <a:rPr>
                <a:solidFill>
                  <a:srgbClr val="003B4F"/>
                </a:solidFill>
                <a:latin typeface="Courier"/>
              </a:rPr>
              <a:t>type2_anova</a:t>
            </a:r>
            <a:br/>
            <a:br/>
            <a:r>
              <a:rPr>
                <a:solidFill>
                  <a:srgbClr val="003B4F"/>
                </a:solidFill>
                <a:latin typeface="Courier"/>
              </a:rPr>
              <a:t>type3_anova &lt;- </a:t>
            </a:r>
            <a:r>
              <a:rPr>
                <a:solidFill>
                  <a:srgbClr val="4758AB"/>
                </a:solidFill>
                <a:latin typeface="Courier"/>
              </a:rPr>
              <a:t>Anova</a:t>
            </a:r>
            <a:r>
              <a:rPr>
                <a:solidFill>
                  <a:srgbClr val="003B4F"/>
                </a:solidFill>
                <a:latin typeface="Courier"/>
              </a:rPr>
              <a:t>(pu_model, </a:t>
            </a:r>
            <a:r>
              <a:rPr>
                <a:solidFill>
                  <a:srgbClr val="657422"/>
                </a:solidFill>
                <a:latin typeface="Courier"/>
              </a:rPr>
              <a:t>type =</a:t>
            </a:r>
            <a:r>
              <a:rPr>
                <a:solidFill>
                  <a:srgbClr val="003B4F"/>
                </a:solidFill>
                <a:latin typeface="Courier"/>
              </a:rPr>
              <a:t> </a:t>
            </a:r>
            <a:r>
              <a:rPr>
                <a:solidFill>
                  <a:srgbClr val="AD0000"/>
                </a:solidFill>
                <a:latin typeface="Courier"/>
              </a:rPr>
              <a:t>3</a:t>
            </a:r>
            <a:r>
              <a:rPr>
                <a:solidFill>
                  <a:srgbClr val="003B4F"/>
                </a:solidFill>
                <a:latin typeface="Courier"/>
              </a:rPr>
              <a:t>)</a:t>
            </a:r>
            <a:br/>
            <a:r>
              <a:rPr>
                <a:solidFill>
                  <a:srgbClr val="003B4F"/>
                </a:solidFill>
                <a:latin typeface="Courier"/>
              </a:rPr>
              <a:t>type3_anova</a:t>
            </a:r>
            <a:br/>
            <a:br/>
            <a:r>
              <a:rPr>
                <a:solidFill>
                  <a:srgbClr val="003B4F"/>
                </a:solidFill>
                <a:latin typeface="Courier"/>
              </a:rPr>
              <a:t>ss_comparison_df &lt;- </a:t>
            </a:r>
            <a:r>
              <a:rPr>
                <a:solidFill>
                  <a:srgbClr val="4758AB"/>
                </a:solidFill>
                <a:latin typeface="Courier"/>
              </a:rPr>
              <a:t>data.frame</a:t>
            </a:r>
            <a:r>
              <a:rPr>
                <a:solidFill>
                  <a:srgbClr val="003B4F"/>
                </a:solidFill>
                <a:latin typeface="Courier"/>
              </a:rPr>
              <a:t>(</a:t>
            </a:r>
            <a:br/>
            <a:r>
              <a:rPr>
                <a:solidFill>
                  <a:srgbClr val="003B4F"/>
                </a:solidFill>
                <a:latin typeface="Courier"/>
              </a:rPr>
              <a:t>  </a:t>
            </a:r>
            <a:r>
              <a:rPr>
                <a:solidFill>
                  <a:srgbClr val="657422"/>
                </a:solidFill>
                <a:latin typeface="Courier"/>
              </a:rPr>
              <a:t>Effect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20794D"/>
                </a:solidFill>
                <a:latin typeface="Courier"/>
              </a:rPr>
              <a:t>"Species"</a:t>
            </a:r>
            <a:r>
              <a:rPr>
                <a:solidFill>
                  <a:srgbClr val="003B4F"/>
                </a:solidFill>
                <a:latin typeface="Courier"/>
              </a:rPr>
              <a:t>, </a:t>
            </a:r>
            <a:r>
              <a:rPr>
                <a:solidFill>
                  <a:srgbClr val="20794D"/>
                </a:solidFill>
                <a:latin typeface="Courier"/>
              </a:rPr>
              <a:t>"Sex"</a:t>
            </a:r>
            <a:r>
              <a:rPr>
                <a:solidFill>
                  <a:srgbClr val="003B4F"/>
                </a:solidFill>
                <a:latin typeface="Courier"/>
              </a:rPr>
              <a:t>, </a:t>
            </a:r>
            <a:r>
              <a:rPr>
                <a:solidFill>
                  <a:srgbClr val="20794D"/>
                </a:solidFill>
                <a:latin typeface="Courier"/>
              </a:rPr>
              <a:t>"Species:Sex"</a:t>
            </a:r>
            <a:r>
              <a:rPr>
                <a:solidFill>
                  <a:srgbClr val="003B4F"/>
                </a:solidFill>
                <a:latin typeface="Courier"/>
              </a:rPr>
              <a:t>),</a:t>
            </a:r>
            <a:br/>
            <a:r>
              <a:rPr>
                <a:solidFill>
                  <a:srgbClr val="003B4F"/>
                </a:solidFill>
                <a:latin typeface="Courier"/>
              </a:rPr>
              <a:t>  </a:t>
            </a:r>
            <a:r>
              <a:rPr>
                <a:solidFill>
                  <a:srgbClr val="657422"/>
                </a:solidFill>
                <a:latin typeface="Courier"/>
              </a:rPr>
              <a:t>Type_I_F =</a:t>
            </a:r>
            <a:r>
              <a:rPr>
                <a:solidFill>
                  <a:srgbClr val="003B4F"/>
                </a:solidFill>
                <a:latin typeface="Courier"/>
              </a:rPr>
              <a:t> </a:t>
            </a:r>
            <a:r>
              <a:rPr>
                <a:solidFill>
                  <a:srgbClr val="4758AB"/>
                </a:solidFill>
                <a:latin typeface="Courier"/>
              </a:rPr>
              <a:t>round</a:t>
            </a:r>
            <a:r>
              <a:rPr>
                <a:solidFill>
                  <a:srgbClr val="003B4F"/>
                </a:solidFill>
                <a:latin typeface="Courier"/>
              </a:rPr>
              <a:t>(type1_anova</a:t>
            </a:r>
            <a:r>
              <a:rPr>
                <a:solidFill>
                  <a:srgbClr val="5E5E5E"/>
                </a:solidFill>
                <a:latin typeface="Courier"/>
              </a:rPr>
              <a:t>$</a:t>
            </a:r>
            <a:r>
              <a:rPr>
                <a:solidFill>
                  <a:srgbClr val="20794D"/>
                </a:solidFill>
                <a:latin typeface="Courier"/>
              </a:rPr>
              <a:t>`</a:t>
            </a:r>
            <a:r>
              <a:rPr>
                <a:solidFill>
                  <a:srgbClr val="657422"/>
                </a:solidFill>
                <a:latin typeface="Courier"/>
              </a:rPr>
              <a:t>F value</a:t>
            </a:r>
            <a:r>
              <a:rPr>
                <a:solidFill>
                  <a:srgbClr val="20794D"/>
                </a:solidFill>
                <a:latin typeface="Courier"/>
              </a:rPr>
              <a:t>`</a:t>
            </a:r>
            <a:r>
              <a:rPr>
                <a:solidFill>
                  <a:srgbClr val="003B4F"/>
                </a:solidFill>
                <a:latin typeface="Courier"/>
              </a:rPr>
              <a:t>[</a:t>
            </a:r>
            <a:r>
              <a:rPr>
                <a:solidFill>
                  <a:srgbClr val="AD0000"/>
                </a:solidFill>
                <a:latin typeface="Courier"/>
              </a:rPr>
              <a:t>1</a:t>
            </a:r>
            <a:r>
              <a:rPr>
                <a:solidFill>
                  <a:srgbClr val="5E5E5E"/>
                </a:solidFill>
                <a:latin typeface="Courier"/>
              </a:rPr>
              <a:t>:</a:t>
            </a:r>
            <a:r>
              <a:rPr>
                <a:solidFill>
                  <a:srgbClr val="AD0000"/>
                </a:solidFill>
                <a:latin typeface="Courier"/>
              </a:rPr>
              <a:t>3</a:t>
            </a:r>
            <a:r>
              <a:rPr>
                <a:solidFill>
                  <a:srgbClr val="003B4F"/>
                </a:solidFill>
                <a:latin typeface="Courier"/>
              </a:rPr>
              <a:t>], </a:t>
            </a:r>
            <a:r>
              <a:rPr>
                <a:solidFill>
                  <a:srgbClr val="AD0000"/>
                </a:solidFill>
                <a:latin typeface="Courier"/>
              </a:rPr>
              <a:t>2</a:t>
            </a:r>
            <a:r>
              <a:rPr>
                <a:solidFill>
                  <a:srgbClr val="003B4F"/>
                </a:solidFill>
                <a:latin typeface="Courier"/>
              </a:rPr>
              <a:t>),</a:t>
            </a:r>
            <a:br/>
            <a:r>
              <a:rPr>
                <a:solidFill>
                  <a:srgbClr val="003B4F"/>
                </a:solidFill>
                <a:latin typeface="Courier"/>
              </a:rPr>
              <a:t>  </a:t>
            </a:r>
            <a:r>
              <a:rPr>
                <a:solidFill>
                  <a:srgbClr val="657422"/>
                </a:solidFill>
                <a:latin typeface="Courier"/>
              </a:rPr>
              <a:t>Type_II_F =</a:t>
            </a:r>
            <a:r>
              <a:rPr>
                <a:solidFill>
                  <a:srgbClr val="003B4F"/>
                </a:solidFill>
                <a:latin typeface="Courier"/>
              </a:rPr>
              <a:t> </a:t>
            </a:r>
            <a:r>
              <a:rPr>
                <a:solidFill>
                  <a:srgbClr val="4758AB"/>
                </a:solidFill>
                <a:latin typeface="Courier"/>
              </a:rPr>
              <a:t>round</a:t>
            </a:r>
            <a:r>
              <a:rPr>
                <a:solidFill>
                  <a:srgbClr val="003B4F"/>
                </a:solidFill>
                <a:latin typeface="Courier"/>
              </a:rPr>
              <a:t>(type2_anova</a:t>
            </a:r>
            <a:r>
              <a:rPr>
                <a:solidFill>
                  <a:srgbClr val="5E5E5E"/>
                </a:solidFill>
                <a:latin typeface="Courier"/>
              </a:rPr>
              <a:t>$</a:t>
            </a:r>
            <a:r>
              <a:rPr>
                <a:solidFill>
                  <a:srgbClr val="20794D"/>
                </a:solidFill>
                <a:latin typeface="Courier"/>
              </a:rPr>
              <a:t>`</a:t>
            </a:r>
            <a:r>
              <a:rPr>
                <a:solidFill>
                  <a:srgbClr val="657422"/>
                </a:solidFill>
                <a:latin typeface="Courier"/>
              </a:rPr>
              <a:t>F value</a:t>
            </a:r>
            <a:r>
              <a:rPr>
                <a:solidFill>
                  <a:srgbClr val="20794D"/>
                </a:solidFill>
                <a:latin typeface="Courier"/>
              </a:rPr>
              <a:t>`</a:t>
            </a:r>
            <a:r>
              <a:rPr>
                <a:solidFill>
                  <a:srgbClr val="003B4F"/>
                </a:solidFill>
                <a:latin typeface="Courier"/>
              </a:rPr>
              <a:t>[</a:t>
            </a:r>
            <a:r>
              <a:rPr>
                <a:solidFill>
                  <a:srgbClr val="AD0000"/>
                </a:solidFill>
                <a:latin typeface="Courier"/>
              </a:rPr>
              <a:t>2</a:t>
            </a:r>
            <a:r>
              <a:rPr>
                <a:solidFill>
                  <a:srgbClr val="5E5E5E"/>
                </a:solidFill>
                <a:latin typeface="Courier"/>
              </a:rPr>
              <a:t>:</a:t>
            </a:r>
            <a:r>
              <a:rPr>
                <a:solidFill>
                  <a:srgbClr val="AD0000"/>
                </a:solidFill>
                <a:latin typeface="Courier"/>
              </a:rPr>
              <a:t>4</a:t>
            </a:r>
            <a:r>
              <a:rPr>
                <a:solidFill>
                  <a:srgbClr val="003B4F"/>
                </a:solidFill>
                <a:latin typeface="Courier"/>
              </a:rPr>
              <a:t>], </a:t>
            </a:r>
            <a:r>
              <a:rPr>
                <a:solidFill>
                  <a:srgbClr val="AD0000"/>
                </a:solidFill>
                <a:latin typeface="Courier"/>
              </a:rPr>
              <a:t>2</a:t>
            </a:r>
            <a:r>
              <a:rPr>
                <a:solidFill>
                  <a:srgbClr val="003B4F"/>
                </a:solidFill>
                <a:latin typeface="Courier"/>
              </a:rPr>
              <a:t>),</a:t>
            </a:r>
            <a:br/>
            <a:r>
              <a:rPr>
                <a:solidFill>
                  <a:srgbClr val="003B4F"/>
                </a:solidFill>
                <a:latin typeface="Courier"/>
              </a:rPr>
              <a:t>  </a:t>
            </a:r>
            <a:r>
              <a:rPr>
                <a:solidFill>
                  <a:srgbClr val="657422"/>
                </a:solidFill>
                <a:latin typeface="Courier"/>
              </a:rPr>
              <a:t>Type_III_F =</a:t>
            </a:r>
            <a:r>
              <a:rPr>
                <a:solidFill>
                  <a:srgbClr val="003B4F"/>
                </a:solidFill>
                <a:latin typeface="Courier"/>
              </a:rPr>
              <a:t> </a:t>
            </a:r>
            <a:r>
              <a:rPr>
                <a:solidFill>
                  <a:srgbClr val="4758AB"/>
                </a:solidFill>
                <a:latin typeface="Courier"/>
              </a:rPr>
              <a:t>round</a:t>
            </a:r>
            <a:r>
              <a:rPr>
                <a:solidFill>
                  <a:srgbClr val="003B4F"/>
                </a:solidFill>
                <a:latin typeface="Courier"/>
              </a:rPr>
              <a:t>(type3_anova</a:t>
            </a:r>
            <a:r>
              <a:rPr>
                <a:solidFill>
                  <a:srgbClr val="5E5E5E"/>
                </a:solidFill>
                <a:latin typeface="Courier"/>
              </a:rPr>
              <a:t>$</a:t>
            </a:r>
            <a:r>
              <a:rPr>
                <a:solidFill>
                  <a:srgbClr val="20794D"/>
                </a:solidFill>
                <a:latin typeface="Courier"/>
              </a:rPr>
              <a:t>`</a:t>
            </a:r>
            <a:r>
              <a:rPr>
                <a:solidFill>
                  <a:srgbClr val="657422"/>
                </a:solidFill>
                <a:latin typeface="Courier"/>
              </a:rPr>
              <a:t>F value</a:t>
            </a:r>
            <a:r>
              <a:rPr>
                <a:solidFill>
                  <a:srgbClr val="20794D"/>
                </a:solidFill>
                <a:latin typeface="Courier"/>
              </a:rPr>
              <a:t>`</a:t>
            </a:r>
            <a:r>
              <a:rPr>
                <a:solidFill>
                  <a:srgbClr val="003B4F"/>
                </a:solidFill>
                <a:latin typeface="Courier"/>
              </a:rPr>
              <a:t>[</a:t>
            </a:r>
            <a:r>
              <a:rPr>
                <a:solidFill>
                  <a:srgbClr val="AD0000"/>
                </a:solidFill>
                <a:latin typeface="Courier"/>
              </a:rPr>
              <a:t>2</a:t>
            </a:r>
            <a:r>
              <a:rPr>
                <a:solidFill>
                  <a:srgbClr val="5E5E5E"/>
                </a:solidFill>
                <a:latin typeface="Courier"/>
              </a:rPr>
              <a:t>:</a:t>
            </a:r>
            <a:r>
              <a:rPr>
                <a:solidFill>
                  <a:srgbClr val="AD0000"/>
                </a:solidFill>
                <a:latin typeface="Courier"/>
              </a:rPr>
              <a:t>4</a:t>
            </a:r>
            <a:r>
              <a:rPr>
                <a:solidFill>
                  <a:srgbClr val="003B4F"/>
                </a:solidFill>
                <a:latin typeface="Courier"/>
              </a:rPr>
              <a:t>], </a:t>
            </a:r>
            <a:r>
              <a:rPr>
                <a:solidFill>
                  <a:srgbClr val="AD0000"/>
                </a:solidFill>
                <a:latin typeface="Courier"/>
              </a:rPr>
              <a:t>2</a:t>
            </a:r>
            <a:r>
              <a:rPr>
                <a:solidFill>
                  <a:srgbClr val="003B4F"/>
                </a:solidFill>
                <a:latin typeface="Courier"/>
              </a:rPr>
              <a:t>)</a:t>
            </a:r>
            <a:br/>
            <a:r>
              <a:rPr>
                <a:solidFill>
                  <a:srgbClr val="003B4F"/>
                </a:solidFill>
                <a:latin typeface="Courier"/>
              </a:rPr>
              <a:t>)</a:t>
            </a:r>
            <a:br/>
            <a:r>
              <a:rPr>
                <a:solidFill>
                  <a:srgbClr val="003B4F"/>
                </a:solidFill>
                <a:latin typeface="Courier"/>
              </a:rPr>
              <a:t>ss_comparison_df</a:t>
            </a:r>
          </a:p>
          <a:p>
            <a:pPr lvl="0" indent="0" marL="0">
              <a:buNone/>
            </a:pPr>
            <a:r>
              <a:rPr/>
              <a:t>✏️ </a:t>
            </a:r>
            <a:r>
              <a:rPr b="1"/>
              <a:t>Your turn:</a:t>
            </a:r>
            <a:r>
              <a:rPr/>
              <a:t> Now compare </a:t>
            </a:r>
            <a:r>
              <a:rPr>
                <a:latin typeface="Courier"/>
              </a:rPr>
              <a:t>ss_comparison_df</a:t>
            </a:r>
            <a:r>
              <a:rPr/>
              <a:t> from this </a:t>
            </a:r>
            <a:r>
              <a:rPr i="1"/>
              <a:t>unbalanced</a:t>
            </a:r>
            <a:r>
              <a:rPr/>
              <a:t> run to </a:t>
            </a:r>
            <a:r>
              <a:rPr>
                <a:latin typeface="Courier"/>
              </a:rPr>
              <a:t>ssb_comparison_df</a:t>
            </a:r>
            <a:r>
              <a:rPr/>
              <a:t> from Part 6. Do the three SS types now disagree with each other? </a:t>
            </a:r>
            <a:r>
              <a:rPr>
                <a:latin typeface="Courier"/>
              </a:rPr>
              <a:t>________________________</a:t>
            </a:r>
          </a:p>
          <a:p>
            <a:pPr lvl="0" indent="0" marL="1270000">
              <a:buNone/>
            </a:pPr>
            <a:r>
              <a:rPr sz="2000" b="1"/>
              <a:t>Tip</a:t>
            </a:r>
          </a:p>
          <a:p>
            <a:pPr lvl="0" indent="0" marL="1270000">
              <a:buNone/>
            </a:pPr>
            <a:r>
              <a:rPr sz="2000" b="1"/>
              <a:t>🚀 If you finish early:</a:t>
            </a:r>
            <a:r>
              <a:rPr sz="2000"/>
              <a:t> Compute the difference in AIC between </a:t>
            </a:r>
            <a:r>
              <a:rPr sz="2000">
                <a:latin typeface="Courier"/>
              </a:rPr>
              <a:t>pb_model</a:t>
            </a:r>
            <a:r>
              <a:rPr sz="2000"/>
              <a:t> (balanced) and </a:t>
            </a:r>
            <a:r>
              <a:rPr sz="2000">
                <a:latin typeface="Courier"/>
              </a:rPr>
              <a:t>pu_model</a:t>
            </a:r>
            <a:r>
              <a:rPr sz="2000"/>
              <a:t> (unbalanced) — they’re not directly comparable since they’re fit to different data, but compare their </a:t>
            </a:r>
            <a:r>
              <a:rPr sz="2000">
                <a:latin typeface="Courier"/>
              </a:rPr>
              <a:t>summary()$r.squared</a:t>
            </a:r>
            <a:r>
              <a:rPr sz="2000"/>
              <a:t> instead. Does using </a:t>
            </a:r>
            <a:r>
              <a:rPr sz="2000" i="1"/>
              <a:t>more</a:t>
            </a:r>
            <a:r>
              <a:rPr sz="2000"/>
              <a:t> (unbalanced) data change how much variance is explained?</a:t>
            </a:r>
          </a:p>
          <a:p>
            <a:pPr lvl="0" indent="0">
              <a:buNone/>
            </a:pPr>
            <a:r>
              <a:rPr>
                <a:solidFill>
                  <a:srgbClr val="5E5E5E"/>
                </a:solidFill>
                <a:latin typeface="Courier"/>
              </a:rPr>
              <a:t># Write your code here:</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8 · Writing Up the Results</a:t>
            </a:r>
          </a:p>
        </p:txBody>
      </p:sp>
      <p:sp>
        <p:nvSpPr>
          <p:cNvPr id="3" name="Content Placeholder 2"/>
          <p:cNvSpPr>
            <a:spLocks noGrp="1"/>
          </p:cNvSpPr>
          <p:nvPr>
            <p:ph idx="1"/>
          </p:nvPr>
        </p:nvSpPr>
        <p:spPr/>
        <p:txBody>
          <a:bodyPr/>
          <a:lstStyle/>
          <a:p>
            <a:pPr lvl="0" indent="0" marL="0">
              <a:buNone/>
            </a:pPr>
            <a:r>
              <a:rPr/>
              <a:t>A two-way factorial ANOVA revealed that body mass in penguins was significantly affected by both species and sex. Linear model coefficient estimates indicated that body mass in the reference condition (Adelie females) was some baseline value; males weighed a certain amount more than females on average; Chinstrap and Gentoo penguins each differed from Adelie by their own amount. Post-hoc pairwise comparisons using estimated marginal means with Tukey adjustment showed significant differences between species pairs. Type III sums of squares were used to account for the unbalanced design, with Type I and Type II SS showing similar results for the main effects when the interaction was not the primary focus.</a:t>
            </a:r>
          </a:p>
          <a:p>
            <a:pPr lvl="0" indent="0" marL="0">
              <a:buNone/>
            </a:pPr>
            <a:r>
              <a:rPr/>
              <a:t>✏️ </a:t>
            </a:r>
            <a:r>
              <a:rPr b="1"/>
              <a:t>Your turn:</a:t>
            </a:r>
            <a:r>
              <a:rPr/>
              <a:t> Using your own </a:t>
            </a:r>
            <a:r>
              <a:rPr>
                <a:latin typeface="Courier"/>
              </a:rPr>
              <a:t>pu_model</a:t>
            </a:r>
            <a:r>
              <a:rPr/>
              <a:t> output from Part 7, fill in the specific numbers for this results paragraph — the F-statistics, degrees of freedom, p-values, and coefficient estimates.</a:t>
            </a:r>
          </a:p>
          <a:p>
            <a:pPr lvl="0" indent="0">
              <a:buNone/>
            </a:pPr>
            <a:r>
              <a:rPr>
                <a:latin typeface="Courier"/>
              </a:rPr>
              <a:t>________________________________________________________
________________________________________________________
________________________________________________________</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Review and checkpoint</a:t>
            </a:r>
          </a:p>
        </p:txBody>
      </p:sp>
      <p:sp>
        <p:nvSpPr>
          <p:cNvPr id="3" name="Content Placeholder 2"/>
          <p:cNvSpPr>
            <a:spLocks noGrp="1"/>
          </p:cNvSpPr>
          <p:nvPr>
            <p:ph idx="1"/>
          </p:nvPr>
        </p:nvSpPr>
        <p:spPr/>
        <p:txBody>
          <a:bodyPr/>
          <a:lstStyle/>
          <a:p>
            <a:pPr lvl="0" indent="0" marL="0">
              <a:buNone/>
            </a:pPr>
            <a:r>
              <a:rPr/>
              <a:t>At this point you can:</a:t>
            </a:r>
          </a:p>
          <a:p>
            <a:pPr lvl="0"/>
            <a:r>
              <a:rPr/>
              <a:t>☐ Build a balanced subsample from an unbalanced dataset</a:t>
            </a:r>
          </a:p>
          <a:p>
            <a:pPr lvl="0"/>
            <a:r>
              <a:rPr/>
              <a:t>☐ Fit a two-way factorial ANOVA with </a:t>
            </a:r>
            <a:r>
              <a:rPr>
                <a:latin typeface="Courier"/>
              </a:rPr>
              <a:t>lm()</a:t>
            </a:r>
            <a:r>
              <a:rPr/>
              <a:t> and interpret main effects and the interaction</a:t>
            </a:r>
          </a:p>
          <a:p>
            <a:pPr lvl="0"/>
            <a:r>
              <a:rPr/>
              <a:t>☐ Check ANOVA assumptions with diagnostic plots, Shapiro-Wilk, and Levene’s test</a:t>
            </a:r>
          </a:p>
          <a:p>
            <a:pPr lvl="0"/>
            <a:r>
              <a:rPr/>
              <a:t>☐ Compute estimated marginal means and pairwise/interaction comparisons with </a:t>
            </a:r>
            <a:r>
              <a:rPr>
                <a:latin typeface="Courier"/>
              </a:rPr>
              <a:t>emmeans()</a:t>
            </a:r>
          </a:p>
          <a:p>
            <a:pPr lvl="0"/>
            <a:r>
              <a:rPr/>
              <a:t>☐ Explain the difference between Type I, Type II, and Type III sums of squares, and when they agree vs. disagree</a:t>
            </a:r>
          </a:p>
          <a:p>
            <a:pPr lvl="0"/>
            <a:r>
              <a:rPr/>
              <a:t>☐ Explain why EMMs differ from simple group means in an unbalanced design</a:t>
            </a:r>
          </a:p>
          <a:p>
            <a:pPr lvl="0" indent="0" marL="1270000">
              <a:buNone/>
            </a:pPr>
            <a:r>
              <a:rPr sz="2000" b="1"/>
              <a:t>Note</a:t>
            </a:r>
          </a:p>
          <a:p>
            <a:pPr lvl="0" indent="0" marL="1270000">
              <a:buNone/>
            </a:pPr>
            <a:r>
              <a:rPr sz="2000" b="1"/>
              <a:t>📤 What to turn in before next class</a:t>
            </a:r>
          </a:p>
          <a:p>
            <a:pPr lvl="0" indent="0" marL="1270000">
              <a:buNone/>
            </a:pPr>
            <a:r>
              <a:rPr sz="2000"/>
              <a:t>Upload both of these to the course management system:</a:t>
            </a:r>
          </a:p>
          <a:p>
            <a:pPr lvl="0" indent="-342900" marL="342900">
              <a:buAutoNum type="arabicPeriod"/>
            </a:pPr>
            <a:r>
              <a:rPr sz="2000"/>
              <a:t>Your code — the </a:t>
            </a:r>
            <a:r>
              <a:rPr sz="2000">
                <a:latin typeface="Courier"/>
              </a:rPr>
              <a:t>scripts/</a:t>
            </a:r>
            <a:r>
              <a:rPr sz="2000"/>
              <a:t> folder (or just </a:t>
            </a:r>
            <a:r>
              <a:rPr sz="2000">
                <a:latin typeface="Courier"/>
              </a:rPr>
              <a:t>13_two_way_anova.R</a:t>
            </a:r>
            <a:r>
              <a:rPr sz="2000"/>
              <a:t>)</a:t>
            </a:r>
          </a:p>
          <a:p>
            <a:pPr lvl="0" indent="-342900" marL="342900">
              <a:buAutoNum type="arabicPeriod"/>
            </a:pPr>
            <a:r>
              <a:rPr sz="2000"/>
              <a:t>This worksheet, with your written answers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Getting unstuck</a:t>
            </a:r>
          </a:p>
        </p:txBody>
      </p:sp>
      <p:sp>
        <p:nvSpPr>
          <p:cNvPr id="3" name="Content Placeholder 2"/>
          <p:cNvSpPr>
            <a:spLocks noGrp="1"/>
          </p:cNvSpPr>
          <p:nvPr>
            <p:ph idx="1"/>
          </p:nvPr>
        </p:nvSpPr>
        <p:spPr/>
        <p:txBody>
          <a:bodyPr/>
          <a:lstStyle/>
          <a:p>
            <a:pPr lvl="0" indent="0" marL="0">
              <a:buNone/>
            </a:pPr>
            <a:r>
              <a:rPr/>
              <a:t>When code breaks — and it will, that is normal:</a:t>
            </a:r>
          </a:p>
          <a:p>
            <a:pPr lvl="0" indent="-342900" marL="342900">
              <a:buAutoNum type="arabicPeriod"/>
            </a:pPr>
            <a:r>
              <a:rPr b="1"/>
              <a:t>Read the error message out loud.</a:t>
            </a:r>
            <a:r>
              <a:rPr/>
              <a:t> R usually names the line and the problem.</a:t>
            </a:r>
          </a:p>
          <a:p>
            <a:pPr lvl="0" indent="-342900" marL="342900">
              <a:buAutoNum type="arabicPeriod"/>
            </a:pPr>
            <a:r>
              <a:rPr b="1"/>
              <a:t>Check the usual suspects:</a:t>
            </a:r>
            <a:r>
              <a:rPr/>
              <a:t> did you run </a:t>
            </a:r>
            <a:r>
              <a:rPr>
                <a:latin typeface="Courier"/>
              </a:rPr>
              <a:t>library(palmerpenguins)</a:t>
            </a:r>
            <a:r>
              <a:rPr/>
              <a:t>, </a:t>
            </a:r>
            <a:r>
              <a:rPr>
                <a:latin typeface="Courier"/>
              </a:rPr>
              <a:t>library(car)</a:t>
            </a:r>
            <a:r>
              <a:rPr/>
              <a:t>, </a:t>
            </a:r>
            <a:r>
              <a:rPr>
                <a:latin typeface="Courier"/>
              </a:rPr>
              <a:t>library(emmeans)</a:t>
            </a:r>
            <a:r>
              <a:rPr/>
              <a:t>, </a:t>
            </a:r>
            <a:r>
              <a:rPr>
                <a:latin typeface="Courier"/>
              </a:rPr>
              <a:t>library(broom)</a:t>
            </a:r>
            <a:r>
              <a:rPr/>
              <a:t>, and </a:t>
            </a:r>
            <a:r>
              <a:rPr>
                <a:latin typeface="Courier"/>
              </a:rPr>
              <a:t>library(tidyverse)</a:t>
            </a:r>
            <a:r>
              <a:rPr/>
              <a:t>? Spelling? A missing </a:t>
            </a:r>
            <a:r>
              <a:rPr>
                <a:latin typeface="Courier"/>
              </a:rPr>
              <a:t>)</a:t>
            </a:r>
            <a:r>
              <a:rPr/>
              <a:t> or </a:t>
            </a:r>
            <a:r>
              <a:rPr>
                <a:latin typeface="Courier"/>
              </a:rPr>
              <a:t>%&gt;%</a:t>
            </a:r>
            <a:r>
              <a:rPr/>
              <a:t> at the </a:t>
            </a:r>
            <a:r>
              <a:rPr i="1"/>
              <a:t>start</a:t>
            </a:r>
            <a:r>
              <a:rPr/>
              <a:t> of a line?</a:t>
            </a:r>
          </a:p>
          <a:p>
            <a:pPr lvl="0" indent="-342900" marL="342900">
              <a:buAutoNum type="arabicPeriod"/>
            </a:pPr>
            <a:r>
              <a:rPr>
                <a:latin typeface="Courier"/>
              </a:rPr>
              <a:t>?function_name</a:t>
            </a:r>
            <a:r>
              <a:rPr/>
              <a:t> opens the built-in help page.</a:t>
            </a:r>
          </a:p>
          <a:p>
            <a:pPr lvl="0" indent="-342900" marL="342900">
              <a:buAutoNum type="arabicPeriod"/>
            </a:pPr>
            <a:r>
              <a:rPr b="1"/>
              <a:t>Bring the exact error</a:t>
            </a:r>
            <a:r>
              <a:rPr/>
              <a:t> (copy-paste it) to class or office hours.</a:t>
            </a:r>
          </a:p>
          <a:p>
            <a:pPr lvl="0" indent="0" marL="1270000">
              <a:buNone/>
            </a:pPr>
            <a:r>
              <a:rPr sz="2000"/>
              <a:t>💡 </a:t>
            </a:r>
            <a:r>
              <a:rPr sz="2000" b="1"/>
              <a:t>Key idea:</a:t>
            </a:r>
            <a:r>
              <a:rPr sz="2000"/>
              <a:t> Every working scientist googles error messages daily. Getting stuck is not failing — it is the job.</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Activity: Two-Way ANOVA</dc:title>
  <dc:creator>Bill Perry</dc:creator>
  <cp:keywords/>
  <dc:description>Hands-on activity: factorial ANOVA, estimated marginal means, and Type I/II/III sums of squares, run on both a balanced and a naturally unbalanced version of the palmerpenguins species-by-sex dataset.</dc:description>
  <dcterms:created xsi:type="dcterms:W3CDTF">2026-08-25T18:57:21Z</dcterms:created>
  <dcterms:modified xsi:type="dcterms:W3CDTF">2026-08-25T18:57:21Z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editor">
    <vt:lpwstr>visual</vt:lpwstr>
  </property>
  <property fmtid="{D5CDD505-2E9C-101B-9397-08002B2CF9AE}" pid="6" name="execute">
    <vt:lpwstr/>
  </property>
  <property fmtid="{D5CDD505-2E9C-101B-9397-08002B2CF9AE}" pid="7" name="format">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order">
    <vt:lpwstr>13</vt:lpwstr>
  </property>
  <property fmtid="{D5CDD505-2E9C-101B-9397-08002B2CF9AE}" pid="13" name="resources">
    <vt:lpwstr/>
  </property>
  <property fmtid="{D5CDD505-2E9C-101B-9397-08002B2CF9AE}" pid="14" name="subtitle">
    <vt:lpwstr>Factorial designs</vt:lpwstr>
  </property>
  <property fmtid="{D5CDD505-2E9C-101B-9397-08002B2CF9AE}" pid="15" name="toc-title">
    <vt:lpwstr>Table of contents</vt:lpwstr>
  </property>
  <property fmtid="{D5CDD505-2E9C-101B-9397-08002B2CF9AE}" pid="16" name="week">
    <vt:lpwstr>7</vt:lpwstr>
  </property>
</Properties>
</file>