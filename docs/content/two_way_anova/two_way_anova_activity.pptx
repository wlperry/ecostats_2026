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Factorial (Two-Way)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Factorial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buNone/>
            </a:pPr>
            <a:r>
              <a:rPr/>
              <a:t>The set up and data overview</a:t>
            </a:r>
          </a:p>
          <a:p>
            <a:pPr lvl="0" indent="0">
              <a:buNone/>
            </a:pPr>
            <a:r>
              <a:rPr>
                <a:latin typeface="Courier"/>
              </a:rPr>
              <a:t># A tibble: 6 × 3
  spp    sex    mass_g
  &lt;fct&gt;  &lt;fct&gt;   &lt;int&gt;
1 Adelie male     3750
2 Adelie female   3800
3 Adelie female   3250
4 Adelie &lt;NA&gt;       NA
5 Adelie female   3450
6 Adelie male     3650</a:t>
            </a:r>
          </a:p>
          <a:p>
            <a:pPr lvl="0" indent="0">
              <a:buNone/>
            </a:pPr>
            <a:r>
              <a:rPr>
                <a:latin typeface="Courier"/>
              </a:rPr>
              <a:t># A tibble: 1 × 3
    spp   sex mass_g
  &lt;int&gt; &lt;int&gt;  &lt;int&gt;
1     0    11      2</a:t>
            </a:r>
          </a:p>
          <a:p>
            <a:pPr lvl="0" indent="0">
              <a:buNone/>
            </a:pPr>
            <a:r>
              <a:rPr>
                <a:latin typeface="Courier"/>
              </a:rPr>
              <a:t># A tibble: 6 × 3
  spp    sex    mass_g
  &lt;fct&gt;  &lt;fct&gt;   &lt;int&gt;
1 Adelie male     3750
2 Adelie female   3800
3 Adelie female   3250
4 Adelie female   3450
5 Adelie male     3650
6 Adelie female   3625</a:t>
            </a:r>
          </a:p>
          <a:p>
            <a:pPr lvl="0" indent="0">
              <a:buNone/>
            </a:pPr>
            <a:r>
              <a:rPr>
                <a:latin typeface="Courier"/>
              </a:rPr>
              <a:t># A tibble: 6 × 6
  spp       sex    mean_mass sd_mass     n se_mass
  &lt;fct&gt;     &lt;fct&gt;      &lt;dbl&gt;   &lt;dbl&gt; &lt;int&gt;   &lt;dbl&gt;
1 Adelie    female     3369.    269.    73    31.5
2 Adelie    male       4043.    347.    73    40.6
3 Chinstrap female     3527.    285.    34    48.9
4 Chinstrap male       3939.    362.    34    62.1
5 Gentoo    female     4680.    282.    58    37.0
6 Gentoo    male       5485.    313.    61    40.1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Make a balanced dataframe where samples are all the same</a:t>
            </a:r>
          </a:p>
        </p:txBody>
      </p:sp>
      <p:sp>
        <p:nvSpPr>
          <p:cNvPr id="3" name="Content Placeholder 2"/>
          <p:cNvSpPr>
            <a:spLocks noGrp="1"/>
          </p:cNvSpPr>
          <p:nvPr>
            <p:ph idx="1"/>
          </p:nvPr>
        </p:nvSpPr>
        <p:spPr/>
        <p:txBody>
          <a:bodyPr/>
          <a:lstStyle/>
          <a:p>
            <a:pPr lvl="0" indent="0">
              <a:buNone/>
            </a:pPr>
            <a:r>
              <a:rPr>
                <a:latin typeface="Courier"/>
              </a:rPr>
              <a:t># A tibble: 3 × 3
  spp       female  male
  &lt;fct&gt;      &lt;int&gt; &lt;int&gt;
1 Adelie        73    73
2 Chinstrap     34    34
3 Gentoo        58    61</a:t>
            </a:r>
          </a:p>
          <a:p>
            <a:pPr lvl="0" indent="0">
              <a:buNone/>
            </a:pPr>
            <a:r>
              <a:rPr>
                <a:latin typeface="Courier"/>
              </a:rPr>
              <a:t>[1] 34</a:t>
            </a:r>
          </a:p>
          <a:p>
            <a:pPr lvl="0" indent="0">
              <a:buNone/>
            </a:pPr>
            <a:r>
              <a:rPr>
                <a:latin typeface="Courier"/>
              </a:rPr>
              <a:t># A tibble: 3 × 3
  spp       female  male
  &lt;fct&gt;      &lt;int&gt; &lt;int&gt;
1 Adelie        34    34
2 Chinstrap     34    34
3 Gentoo        34    34</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balanced dataframe</a:t>
            </a:r>
          </a:p>
        </p:txBody>
      </p:sp>
      <p:sp>
        <p:nvSpPr>
          <p:cNvPr id="3" name="Content Placeholder 2"/>
          <p:cNvSpPr>
            <a:spLocks noGrp="1"/>
          </p:cNvSpPr>
          <p:nvPr>
            <p:ph idx="1"/>
          </p:nvPr>
        </p:nvSpPr>
        <p:spPr/>
        <p:txBody>
          <a:bodyPr/>
          <a:lstStyle/>
          <a:p>
            <a:pPr lvl="0" indent="0">
              <a:buNone/>
            </a:pPr>
            <a:r>
              <a:rPr>
                <a:latin typeface="Courier"/>
              </a:rPr>
              <a:t># A tibble: 6 × 6
  spp       sex        n mean_mass sd_mass se_mass
  &lt;fct&gt;     &lt;fct&gt;  &lt;int&gt;     &lt;dbl&gt;   &lt;dbl&gt;   &lt;dbl&gt;
1 Adelie    female    34     3335.    260.    44.5
2 Adelie    male      34     4049.    318.    54.5
3 Chinstrap female    34     3527.    285.    48.9
4 Chinstrap male      34     3939.    362.    62.1
5 Gentoo    female    34     4681.    309.    53.0
6 Gentoo    male      34     5525     274.    47.0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This is the balanced Factorial ANOVA</a:t>
            </a:r>
          </a:p>
        </p:txBody>
      </p:sp>
      <p:sp>
        <p:nvSpPr>
          <p:cNvPr id="3" name="Content Placeholder 2"/>
          <p:cNvSpPr>
            <a:spLocks noGrp="1"/>
          </p:cNvSpPr>
          <p:nvPr>
            <p:ph idx="1"/>
          </p:nvPr>
        </p:nvSpPr>
        <p:spPr/>
        <p:txBody>
          <a:bodyPr/>
          <a:lstStyle/>
          <a:p>
            <a:pPr lvl="0" indent="0" marL="0">
              <a:spcBef>
                <a:spcPts val="3000"/>
              </a:spcBef>
              <a:buNone/>
            </a:pPr>
            <a:r>
              <a:rPr b="1"/>
              <a:t>ANOVA Assumptions</a:t>
            </a:r>
          </a:p>
          <a:p>
            <a:pPr lvl="0" indent="0" marL="0">
              <a:buNone/>
            </a:pPr>
            <a:r>
              <a:rPr/>
              <a:t>In the factorial ANOVA, we need to check several assumptions after fitting the model:</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a:p>
            <a:pPr lvl="0" indent="-342900" marL="342900">
              <a:buAutoNum type="arabicPeriod"/>
            </a:pPr>
            <a:r>
              <a:rPr/>
              <a:t>Homoscedascidity</a:t>
            </a:r>
          </a:p>
          <a:p>
            <a:pPr lvl="0" indent="0" marL="0">
              <a:buNone/>
            </a:pPr>
            <a:r>
              <a:rPr/>
              <a:t>Fit the model</a:t>
            </a:r>
          </a:p>
          <a:p>
            <a:pPr lvl="0" indent="0">
              <a:buNone/>
            </a:pPr>
            <a:r>
              <a:rPr>
                <a:latin typeface="Courier"/>
              </a:rPr>
              <a:t>
Call:
lm(formula = mass_g ~ spp * sex, data = pb_df)
Residuals:
    Min      1Q  Median      3Q     Max 
-827.21 -178.13    6.25  175.00  861.03 
Coefficients:
            Estimate Std. Error t value Pr(&gt;|t|)    
(Intercept)  4175.86      21.23 196.727  &lt; 2e-16 ***
spp1         -484.31      30.02 -16.134  &lt; 2e-16 ***
spp2         -442.77      30.02 -14.750  &lt; 2e-16 ***
sex1         -328.31      21.23 -15.467  &lt; 2e-16 ***
spp1:sex1     -28.68      30.02  -0.955    0.341    
spp2:sex1     122.43      30.02   4.078 6.57e-05 ***
---
Signif. codes:  0 '***' 0.001 '**' 0.01 '*' 0.05 '.' 0.1 ' ' 1
Residual standard error: 303.2 on 198 degrees of freedom
Multiple R-squared:  0.8596,    Adjusted R-squared:  0.856 
F-statistic: 242.4 on 5 and 198 DF,  p-value: &lt; 2.2e-16</a:t>
            </a:r>
          </a:p>
          <a:p>
            <a:pPr lvl="0" indent="0">
              <a:buNone/>
            </a:pPr>
            <a:r>
              <a:rPr>
                <a:latin typeface="Courier"/>
              </a:rPr>
              <a:t>Anova Table (Type III tests)
Response: mass_g
                Sum Sq  Df    F value    Pr(&gt;F)    
(Intercept) 3557308900   1 38701.5271 &lt; 2.2e-16 ***
spp           87725999   2   477.2049 &lt; 2.2e-16 ***
sex           21988483   1   239.2224 &lt; 2.2e-16 ***
spp:sex        1672776   2     9.0994 0.0001657 ***
Residuals     18199467 198                         
---
Signif. codes:  0 '***' 0.001 '**' 0.01 '*' 0.05 '.' 0.1 ' ' 1</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ASSUMPTIONS</a:t>
            </a:r>
          </a:p>
        </p:txBody>
      </p:sp>
      <p:pic>
        <p:nvPicPr>
          <p:cNvPr descr="two_way_anova_activity_files/figure-pptx/model_diagnostic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Check for Normality of Residuals</a:t>
            </a:r>
          </a:p>
          <a:p>
            <a:pPr lvl="0" indent="0">
              <a:buNone/>
            </a:pPr>
            <a:r>
              <a:rPr>
                <a:latin typeface="Courier"/>
              </a:rPr>
              <a:t>
    Shapiro-Wilk normality test
data:  pb_model$residuals
W = 0.99612, p-value = 0.8886</a:t>
            </a:r>
          </a:p>
          <a:p>
            <a:pPr lvl="0" indent="0">
              <a:buNone/>
            </a:pPr>
            <a:r>
              <a:rPr>
                <a:latin typeface="Courier"/>
              </a:rPr>
              <a:t>
    Shapiro-Wilk normality test
data:  residuals(pb_model)
W = 0.99612, p-value = 0.8886</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5  0.7841 0.5622
      198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a:p>
            <a:pPr lvl="0" indent="0">
              <a:buNone/>
            </a:pPr>
            <a:r>
              <a:rPr>
                <a:latin typeface="Courier"/>
              </a:rPr>
              <a:t> spp       emmean   SE  df lower.CL upper.CL
 Adelie      3692 36.8 198     3619     3764
 Chinstrap   3733 36.8 198     3661     3806
 Gentoo      5103 36.8 198     5030     5175
Results are averaged over the levels of: sex 
Confidence level used: 0.95 </a:t>
            </a:r>
          </a:p>
          <a:p>
            <a:pPr lvl="0" indent="0">
              <a:buNone/>
            </a:pPr>
            <a:r>
              <a:rPr>
                <a:latin typeface="Courier"/>
              </a:rPr>
              <a:t> contrast           estimate SE  df t.ratio p.value
 Adelie - Chinstrap    -41.5 52 198  -0.799  0.7041
 Adelie - Gentoo     -1411.4 52 198 -27.145 &lt;0.0001
 Chinstrap - Gentoo  -1369.9 52 198 -26.346 &lt;0.0001
Results are averaged over the levels of: sex 
P value adjustment: tukey method for comparing a family of 3 estimates </a:t>
            </a:r>
          </a:p>
          <a:p>
            <a:pPr lvl="0" indent="0" marL="0">
              <a:spcBef>
                <a:spcPts val="3000"/>
              </a:spcBef>
              <a:buNone/>
            </a:pPr>
            <a:r>
              <a:rPr b="1"/>
              <a:t>Estimated Marginal Means and Effects</a:t>
            </a:r>
          </a:p>
        </p:txBody>
      </p:sp>
      <p:pic>
        <p:nvPicPr>
          <p:cNvPr descr="two_way_anova_activity_files/figure-pptx/emmeans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sex    emmean SE  df lower.CL upper.CL
 female   3848 30 198     3788     3907
 male     4504 30 198     4445     4563
Results are averaged over the levels of: spp 
Confidence level used: 0.95 </a:t>
            </a:r>
          </a:p>
          <a:p>
            <a:pPr lvl="0" indent="0">
              <a:buNone/>
            </a:pPr>
            <a:r>
              <a:rPr>
                <a:latin typeface="Courier"/>
              </a:rPr>
              <a:t> contrast      estimate   SE  df t.ratio p.value
 female - male     -657 42.5 198 -15.467 &lt;0.0001
Results are averaged over the levels of: spp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3335 52 198     3232     3437
 Chinstrap female   3527 52 198     3425     3630
 Gentoo    female   4681 52 198     4578     4783
 Adelie    male     4049 52 198     3946     4151
 Chinstrap male     3939 52 198     3836     4042
 Gentoo    male     5525 52 198     5422     5628
Confidence level used: 0.95 </a:t>
            </a:r>
          </a:p>
          <a:p>
            <a:pPr lvl="0" indent="0">
              <a:buNone/>
            </a:pPr>
            <a:r>
              <a:rPr>
                <a:latin typeface="Courier"/>
              </a:rPr>
              <a:t># A tibble: 3 × 3
  spp       female  male
  &lt;fct&gt;      &lt;dbl&gt; &lt;dbl&gt;
1 Adelie     3335. 4049.
2 Chinstrap  3527. 3939.
3 Gentoo     4681. 5525 </a:t>
            </a:r>
          </a:p>
          <a:p>
            <a:pPr lvl="0" indent="0">
              <a:buNone/>
            </a:pPr>
            <a:r>
              <a:rPr>
                <a:latin typeface="Courier"/>
              </a:rPr>
              <a:t> contrast                          estimate   SE  df t.ratio p.value
 Adelie female - Chinstrap female      -193 73.5 198  -2.620  0.0973
 Adelie female - Gentoo female        -1346 73.5 198 -18.310 &lt;0.0001
 Adelie female - Adelie male           -714 73.5 198  -9.710 &lt;0.0001
 Adelie female - Chinstrap male        -604 73.5 198  -8.220 &lt;0.0001
 Adelie female - Gentoo male          -2190 73.5 198 -29.789 &lt;0.0001
 Chinstrap female - Gentoo female     -1154 73.5 198 -15.690 &lt;0.0001
 Chinstrap female - Adelie male        -521 73.5 198  -7.090 &lt;0.0001
 Chinstrap female - Chinstrap male     -412 73.5 198  -5.600 &lt;0.0001
 Chinstrap female - Gentoo male       -1998 73.5 198 -27.169 &lt;0.0001
 Gentoo female - Adelie male            632 73.5 198   8.600 &lt;0.0001
 Gentoo female - Chinstrap male         742 73.5 198  10.090 &lt;0.0001
 Gentoo female - Gentoo male           -844 73.5 198 -11.480 &lt;0.0001
 Adelie male - Chinstrap male           110 73.5 198   1.490  0.6711
 Adelie male - Gentoo male            -1476 73.5 198 -20.079 &lt;0.0001
 Chinstrap male - Gentoo male         -1586 73.5 198 -21.569 &lt;0.0001
P value adjustment: tukey method for comparing a family of 6 estimates </a:t>
            </a:r>
          </a:p>
          <a:p>
            <a:pPr lvl="0" indent="0">
              <a:buNone/>
            </a:pPr>
            <a:r>
              <a:rPr>
                <a:latin typeface="Courier"/>
              </a:rPr>
              <a:t> spp       sex      emmean       SE  df lower.CL upper.CL .group
 Adelie    female 3334.559 51.99448 198 3196.378 3472.740  a    
 Adelie    male   4048.529 51.99448 198 3910.349 4186.710   b   
 Chinstrap female 3527.206 51.99448 198 3389.025 3665.387  a    
 Chinstrap male   3938.971 51.99448 198 3800.790 4077.151   b   
 Gentoo    female 4680.882 51.99448 198 4542.702 4819.063    c  
 Gentoo    male   5525.000 51.99448 198 5386.819 5663.181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6-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3334.559 51.99448 198 3232.025 3437.093
 Chinstrap female 3527.206 51.99448 198 3424.672 3629.740
 Gentoo    female 4680.882 51.99448 198 4578.348 4783.416
 Adelie    male   4048.529 51.99448 198 3945.995 4151.063
 Chinstrap male   3938.971 51.99448 198 3836.437 4041.505
 Gentoo    male   5525.000 51.99448 198 5422.466 5627.534
Confidence level used: 0.95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This is a plot you might produce for publication</a:t>
            </a:r>
          </a:p>
        </p:txBody>
      </p:sp>
      <p:pic>
        <p:nvPicPr>
          <p:cNvPr descr="two_way_anova_activity_files/figure-pptx/pub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Interaction effect</a:t>
            </a:r>
            <a:r>
              <a:rPr/>
              <a:t>: The interaction between species and sex was [significant/not significant] (F = [value from output], df = 2, [residual df], p = [value from output]), indicating that the difference between males and females [varies/is consistent] across species.</a:t>
            </a:r>
          </a:p>
          <a:p>
            <a:pPr lvl="0" indent="-342900" marL="342900">
              <a:buAutoNum type="arabicPeriod"/>
            </a:pPr>
            <a:r>
              <a:rPr b="1"/>
              <a:t>Model fit</a:t>
            </a:r>
            <a:r>
              <a:rPr/>
              <a:t>: The overall model explains approximately [value]% of the variance in body mass (R-squared = [value]), indicating a good fit to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Understanding Sums of Squares Types</a:t>
            </a:r>
          </a:p>
        </p:txBody>
      </p:sp>
      <p:sp>
        <p:nvSpPr>
          <p:cNvPr id="3" name="Content Placeholder 2"/>
          <p:cNvSpPr>
            <a:spLocks noGrp="1"/>
          </p:cNvSpPr>
          <p:nvPr>
            <p:ph idx="1"/>
          </p:nvPr>
        </p:nvSpPr>
        <p:spPr/>
        <p:txBody>
          <a:bodyPr/>
          <a:lstStyle/>
          <a:p>
            <a:pPr lvl="0" indent="0" marL="0">
              <a:buNone/>
            </a:pPr>
            <a:r>
              <a:rPr/>
              <a:t>When we have balanced designs (equal sample sizes) or want to test different hypotheses, we can use different types of sums of squares. Let’s compare Type I, Type II, and Type III.</a:t>
            </a:r>
          </a:p>
          <a:p>
            <a:pPr lvl="0" indent="0" marL="0">
              <a:spcBef>
                <a:spcPts val="3000"/>
              </a:spcBef>
              <a:buNone/>
            </a:pPr>
            <a:r>
              <a:rPr b="1"/>
              <a:t>Type I Sums of Squares (Sequential)</a:t>
            </a:r>
          </a:p>
          <a:p>
            <a:pPr lvl="0" indent="0">
              <a:buNone/>
            </a:pPr>
            <a:r>
              <a:rPr>
                <a:latin typeface="Courier"/>
              </a:rPr>
              <a:t>Analysis of Variance Table
Response: mass_g
           Df   Sum Sq  Mean Sq  F value    Pr(&gt;F)    
spp         2 87725999 43862999 477.2049 &lt; 2.2e-16 ***
sex         1 21988483 21988483 239.2224 &lt; 2.2e-16 ***
spp:sex     2  1672776   836388   9.0994 0.0001657 ***
Residuals 198 18199467    91916                       
---
Signif. codes:  0 '***' 0.001 '**' 0.01 '*' 0.05 '.' 0.1 ' ' 1</a:t>
            </a:r>
          </a:p>
          <a:p>
            <a:pPr lvl="0" indent="0" marL="0">
              <a:buNone/>
            </a:pPr>
            <a:r>
              <a:rPr/>
              <a:t>Type I SS tests effects in the order they appear in the model. Each term is adjusted for terms that appear before it in the model.</a:t>
            </a:r>
          </a:p>
          <a:p>
            <a:pPr lvl="0" indent="0" marL="0">
              <a:spcBef>
                <a:spcPts val="3000"/>
              </a:spcBef>
              <a:buNone/>
            </a:pPr>
            <a:r>
              <a:rPr b="1"/>
              <a:t>Type II Sums of Squares</a:t>
            </a:r>
          </a:p>
          <a:p>
            <a:pPr lvl="0" indent="0">
              <a:buNone/>
            </a:pPr>
            <a:r>
              <a:rPr>
                <a:latin typeface="Courier"/>
              </a:rPr>
              <a:t>Anova Table (Type II tests)
Response: mass_g
            Sum Sq  Df  F value    Pr(&gt;F)    
spp       87725999   2 477.2049 &lt; 2.2e-16 ***
sex       21988483   1 239.2224 &lt; 2.2e-16 ***
spp:sex    1672776   2   9.0994 0.0001657 ***
Residuals 18199467 198                       
---
Signif. codes:  0 '***' 0.001 '**' 0.01 '*' 0.05 '.' 0.1 ' ' 1</a:t>
            </a:r>
          </a:p>
          <a:p>
            <a:pPr lvl="0" indent="0" marL="0">
              <a:buNone/>
            </a:pPr>
            <a:r>
              <a:rPr/>
              <a:t>Type II SS tests each main effect after adjusting for other main effects, but not for the interaction. This is appropriate when interactions are not significant.</a:t>
            </a:r>
          </a:p>
          <a:p>
            <a:pPr lvl="0" indent="0" marL="0">
              <a:spcBef>
                <a:spcPts val="3000"/>
              </a:spcBef>
              <a:buNone/>
            </a:pPr>
            <a:r>
              <a:rPr b="1"/>
              <a:t>Type III Sums of Squares</a:t>
            </a:r>
          </a:p>
          <a:p>
            <a:pPr lvl="0" indent="0">
              <a:buNone/>
            </a:pPr>
            <a:r>
              <a:rPr>
                <a:latin typeface="Courier"/>
              </a:rPr>
              <a:t>Anova Table (Type III tests)
Response: mass_g
                Sum Sq  Df    F value    Pr(&gt;F)    
(Intercept) 3557308900   1 38701.5271 &lt; 2.2e-16 ***
spp           87725999   2   477.2049 &lt; 2.2e-16 ***
sex           21988483   1   239.2224 &lt; 2.2e-16 ***
spp:sex        1672776   2     9.0994 0.0001657 ***
Residuals     18199467 198                         
---
Signif. codes:  0 '***' 0.001 '**' 0.01 '*' 0.05 '.' 0.1 ' ' 1</a:t>
            </a:r>
          </a:p>
          <a:p>
            <a:pPr lvl="0" indent="0" marL="0">
              <a:buNone/>
            </a:pPr>
            <a:r>
              <a:rPr/>
              <a:t>Type III SS tests each effect after adjusting for all other effects in the model. This is the most conservative approach and is commonly used in unbalanced designs.</a:t>
            </a:r>
          </a:p>
          <a:p>
            <a:pPr lvl="0" indent="0" marL="0">
              <a:spcBef>
                <a:spcPts val="3000"/>
              </a:spcBef>
              <a:buNone/>
            </a:pPr>
            <a:r>
              <a:rPr b="1"/>
              <a:t>Comparing the Three Types</a:t>
            </a:r>
          </a:p>
          <a:p>
            <a:pPr lvl="0" indent="0">
              <a:buNone/>
            </a:pPr>
            <a:r>
              <a:rPr>
                <a:latin typeface="Courier"/>
              </a:rPr>
              <a:t>       Effect Typeb_I_F Typeb_II_F Typeb_III_F
1     Species    477.20     239.22      477.20
2         Sex    239.22       9.10      239.22
3 Species:Sex      9.10         NA        9.10</a:t>
            </a:r>
          </a:p>
          <a:p>
            <a:pPr lvl="0" indent="0">
              <a:buNone/>
            </a:pPr>
            <a:r>
              <a:rPr>
                <a:latin typeface="Courier"/>
              </a:rPr>
              <a:t>       Effect Typeb_I_p Typeb_II_p Typeb_III_p
1     Species     0e+00      0e+00       0e+00
2         Sex     0e+00      2e-04       0e+00
3 Species:Sex     2e-04         NA       2e-04</a:t>
            </a:r>
          </a:p>
          <a:p>
            <a:pPr lvl="0" indent="0" marL="0">
              <a:spcBef>
                <a:spcPts val="3000"/>
              </a:spcBef>
              <a:buNone/>
            </a:pPr>
            <a:r>
              <a:rPr b="1"/>
              <a:t>When Does It Matter?</a:t>
            </a:r>
          </a:p>
          <a:p>
            <a:pPr lvl="0" indent="0" marL="0">
              <a:buNone/>
            </a:pPr>
            <a:r>
              <a:rPr/>
              <a:t>The choice of SS type matters most when:</a:t>
            </a:r>
          </a:p>
          <a:p>
            <a:pPr lvl="0" indent="-342900" marL="342900">
              <a:buAutoNum type="arabicPeriod"/>
            </a:pPr>
            <a:r>
              <a:rPr b="1"/>
              <a:t>Unbalanced designs</a:t>
            </a:r>
            <a:r>
              <a:rPr/>
              <a:t>: When sample sizes differ across groups</a:t>
            </a:r>
          </a:p>
          <a:p>
            <a:pPr lvl="0" indent="-342900" marL="342900">
              <a:buAutoNum type="arabicPeriod"/>
            </a:pPr>
            <a:r>
              <a:rPr b="1"/>
              <a:t>Correlated predictors</a:t>
            </a:r>
            <a:r>
              <a:rPr/>
              <a:t>: When predictors are not orthogonal</a:t>
            </a:r>
          </a:p>
          <a:p>
            <a:pPr lvl="0" indent="-342900" marL="342900">
              <a:buAutoNum type="arabicPeriod"/>
            </a:pPr>
            <a:r>
              <a:rPr b="1"/>
              <a:t>Interactions present</a:t>
            </a:r>
            <a:r>
              <a:rPr/>
              <a:t>: When there are significant interactions</a:t>
            </a:r>
          </a:p>
          <a:p>
            <a:pPr lvl="0" indent="0" marL="0">
              <a:buNone/>
            </a:pPr>
            <a:r>
              <a:rPr/>
              <a:t>For balanced designs (equal sample sizes in all cells), all three types give the same results for main effects.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This is the unbalanced Factorial ANOVA</a:t>
            </a:r>
          </a:p>
        </p:txBody>
      </p:sp>
      <p:sp>
        <p:nvSpPr>
          <p:cNvPr id="3" name="Content Placeholder 2"/>
          <p:cNvSpPr>
            <a:spLocks noGrp="1"/>
          </p:cNvSpPr>
          <p:nvPr>
            <p:ph idx="1"/>
          </p:nvPr>
        </p:nvSpPr>
        <p:spPr/>
        <p:txBody>
          <a:bodyPr/>
          <a:lstStyle/>
          <a:p>
            <a:pPr lvl="0" indent="0" marL="0">
              <a:buNone/>
            </a:pPr>
            <a:r>
              <a:rPr/>
              <a:t>We will work through the exact same data but when it was unbalanced to see the effect that balanced and unbalanced have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ANOVA Assumptions</a:t>
            </a:r>
          </a:p>
          <a:p>
            <a:pPr lvl="0" indent="0" marL="0">
              <a:buNone/>
            </a:pPr>
            <a:r>
              <a:rPr/>
              <a:t>In the factorial ANOVA, we need to check several assumptions after fitting the model:</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a:p>
            <a:pPr lvl="0" indent="0" marL="0">
              <a:buNone/>
            </a:pPr>
            <a:r>
              <a:rPr/>
              <a:t>Fit the model</a:t>
            </a:r>
          </a:p>
          <a:p>
            <a:pPr lvl="0" indent="0">
              <a:buNone/>
            </a:pPr>
            <a:r>
              <a:rPr>
                <a:latin typeface="Courier"/>
              </a:rPr>
              <a:t>
Call:
lm(formula = mass_g ~ spp * sex, data = p_df)
Residuals:
    Min      1Q  Median      3Q     Max 
-827.21 -213.97   11.03  206.51  861.03 
Coefficients:
            Estimate Std. Error t value Pr(&gt;|t|)    
(Intercept)  4173.85      17.85 233.799  &lt; 2e-16 ***
spp1         -467.68      23.18 -20.177  &lt; 2e-16 ***
spp2         -440.76      28.07 -15.702  &lt; 2e-16 ***
sex1         -315.25      17.85 -17.659  &lt; 2e-16 ***
spp1:sex1     -22.08      23.18  -0.952 0.341589    
spp2:sex1     109.37      28.07   3.896 0.000118 ***
---
Signif. codes:  0 '***' 0.001 '**' 0.01 '*' 0.05 '.' 0.1 ' ' 1
Residual standard error: 309.4 on 327 degrees of freedom
Multiple R-squared:  0.8546,    Adjusted R-squared:  0.8524 
F-statistic: 384.3 on 5 and 327 DF,  p-value: &lt; 2.2e-16</a:t>
            </a:r>
          </a:p>
          <a:p>
            <a:pPr lvl="0" indent="0">
              <a:buNone/>
            </a:pPr>
            <a:r>
              <a:rPr>
                <a:latin typeface="Courier"/>
              </a:rPr>
              <a:t>Anova Table (Type III tests)
Response: mass_g
                Sum Sq  Df   F value    Pr(&gt;F)    
(Intercept) 5232595969   1 54661.828 &lt; 2.2e-16 ***
spp          143001222   2   746.924 &lt; 2.2e-16 ***
sex           29851220   1   311.838 &lt; 2.2e-16 ***
spp:sex        1676557   2     8.757 0.0001973 ***
Residuals     31302628 327                        
---
Signif. codes:  0 '***' 0.001 '**' 0.01 '*' 0.05 '.' 0.1 ' ' 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ASSUMPTIONS</a:t>
            </a:r>
          </a:p>
        </p:txBody>
      </p:sp>
      <p:pic>
        <p:nvPicPr>
          <p:cNvPr descr="two_way_anova_activity_files/figure-pptx/model_diagnosticsu-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1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Check for Normality of Residuals</a:t>
            </a:r>
          </a:p>
          <a:p>
            <a:pPr lvl="0" indent="0">
              <a:buNone/>
            </a:pPr>
            <a:r>
              <a:rPr>
                <a:latin typeface="Courier"/>
              </a:rPr>
              <a:t>
    Shapiro-Wilk normality test
data:  pu_model$residuals
W = 0.99776, p-value = 0.9367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5  1.3908 0.2272
      327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3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a:p>
            <a:pPr lvl="0" indent="0">
              <a:buNone/>
            </a:pPr>
            <a:r>
              <a:rPr>
                <a:latin typeface="Courier"/>
              </a:rPr>
              <a:t> spp       emmean   SE  df lower.CL upper.CL
 Adelie      3706 25.6 327     3656     3757
 Chinstrap   3733 37.5 327     3659     3807
 Gentoo      5082 28.4 327     5026     5138
Results are averaged over the levels of: sex 
Confidence level used: 0.95 </a:t>
            </a:r>
          </a:p>
          <a:p>
            <a:pPr lvl="0" indent="0">
              <a:buNone/>
            </a:pPr>
            <a:r>
              <a:rPr>
                <a:latin typeface="Courier"/>
              </a:rPr>
              <a:t> contrast           estimate   SE  df t.ratio p.value
 Adelie - Chinstrap    -26.9 45.4 327  -0.593  0.8241
 Adelie - Gentoo     -1376.1 38.2 327 -36.007 &lt;0.0001
 Chinstrap - Gentoo  -1349.2 47.0 327 -28.682 &lt;0.0001
Results are averaged over the levels of: sex 
P value adjustment: tukey method for comparing a family of 3 estimates </a:t>
            </a:r>
          </a:p>
          <a:p>
            <a:pPr lvl="0" indent="0" marL="0">
              <a:spcBef>
                <a:spcPts val="3000"/>
              </a:spcBef>
              <a:buNone/>
            </a:pPr>
            <a:r>
              <a:rPr b="1"/>
              <a:t>Estimated Marginal Means and Effects</a:t>
            </a:r>
          </a:p>
        </p:txBody>
      </p:sp>
      <p:pic>
        <p:nvPicPr>
          <p:cNvPr descr="two_way_anova_activity_files/figure-pptx/emmeans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sex    emmean   SE  df lower.CL upper.CL
 female   3859 25.3 327     3809     3908
 male     4489 25.2 327     4440     4539
Results are averaged over the levels of: spp 
Confidence level used: 0.95 </a:t>
            </a:r>
          </a:p>
          <a:p>
            <a:pPr lvl="0" indent="0">
              <a:buNone/>
            </a:pPr>
            <a:r>
              <a:rPr>
                <a:latin typeface="Courier"/>
              </a:rPr>
              <a:t> contrast      estimate   SE  df t.ratio p.value
 female - male     -631 35.7 327 -17.659 &lt;0.0001
Results are averaged over the levels of: spp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4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3369 36.2 327     3298     3440
 Chinstrap female   3527 53.1 327     3423     3632
 Gentoo    female   4680 40.6 327     4600     4760
 Adelie    male     4043 36.2 327     3972     4115
 Chinstrap male     3939 53.1 327     3835     4043
 Gentoo    male     5485 39.6 327     5407     5563
Confidence level used: 0.95 </a:t>
            </a:r>
          </a:p>
          <a:p>
            <a:pPr lvl="0" indent="0">
              <a:buNone/>
            </a:pPr>
            <a:r>
              <a:rPr>
                <a:latin typeface="Courier"/>
              </a:rPr>
              <a:t># A tibble: 3 × 3
  spp       female  male
  &lt;fct&gt;      &lt;dbl&gt; &lt;dbl&gt;
1 Adelie     3369. 4043.
2 Chinstrap  3527. 3939.
3 Gentoo     4680. 5485.</a:t>
            </a:r>
          </a:p>
          <a:p>
            <a:pPr lvl="0" indent="0">
              <a:buNone/>
            </a:pPr>
            <a:r>
              <a:rPr>
                <a:latin typeface="Courier"/>
              </a:rPr>
              <a:t> spp       sex      emmean       SE  df lower.CL upper.CL .group
 Adelie    female 3368.836 36.21222 327 3272.980 3464.692  a    
 Adelie    male   4043.493 36.21222 327 3947.637 4139.349   b   
 Chinstrap female 3527.206 53.06120 327 3386.749 3667.662  a    
 Chinstrap male   3938.971 53.06120 327 3798.514 4079.427   b   
 Gentoo    female 4679.741 40.62586 327 4572.202 4787.281    c  
 Gentoo    male   5484.836 39.61427 327 5379.975 5589.698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6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3368.836 36.21222 327 3297.597 3440.074
 Chinstrap female 3527.206 53.06120 327 3422.821 3631.590
 Gentoo    female 4679.741 40.62586 327 4599.820 4759.662
 Adelie    male   4043.493 36.21222 327 3972.255 4114.731
 Chinstrap male   3938.971 53.06120 327 3834.586 4043.355
 Gentoo    male   5484.836 39.61427 327 5406.905 5562.767
Confidence level used: 0.95 </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This is a plot you might produce for publication</a:t>
            </a:r>
          </a:p>
        </p:txBody>
      </p:sp>
      <p:pic>
        <p:nvPicPr>
          <p:cNvPr descr="two_way_anova_activity_files/figure-pptx/pub_plot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species</a:t>
            </a:r>
            <a:r>
              <a:rPr/>
              <a:t>: There was a significant effect of species on body mass (F = [value from output], df = 2, [residual df], p &lt; 0.001). Post-hoc comparisons showed that all three species differed significantly from each other in body mass.</a:t>
            </a:r>
          </a:p>
          <a:p>
            <a:pPr lvl="0" indent="-342900" marL="342900">
              <a:buAutoNum type="arabicPeriod"/>
            </a:pPr>
            <a:r>
              <a:rPr b="1"/>
              <a:t>Interaction effect</a:t>
            </a:r>
            <a:r>
              <a:rPr/>
              <a:t>: The interaction between species and sex was [significant/not significant] (F = [value from output], df = 2, [residual df], p = [value from output]), indicating that the difference between males and females [varies/is consistent] across species.</a:t>
            </a:r>
          </a:p>
          <a:p>
            <a:pPr lvl="0" indent="-342900" marL="342900">
              <a:buAutoNum type="arabicPeriod"/>
            </a:pPr>
            <a:r>
              <a:rPr b="1"/>
              <a:t>Effect sizes and coefficients</a:t>
            </a:r>
            <a:r>
              <a:rPr/>
              <a:t>: The linear model shows that:</a:t>
            </a:r>
          </a:p>
          <a:p>
            <a:pPr lvl="1"/>
            <a:r>
              <a:rPr/>
              <a:t>The intercept (reference level: Adelie, Female) has an estimated body mass of approximately [value] grams</a:t>
            </a:r>
          </a:p>
          <a:p>
            <a:pPr lvl="1"/>
            <a:r>
              <a:rPr/>
              <a:t>Males weigh approximately [value] grams more than females</a:t>
            </a:r>
          </a:p>
          <a:p>
            <a:pPr lvl="1"/>
            <a:r>
              <a:rPr/>
              <a:t>Chinstrap penguins differ from Adelie by approximately [value] grams</a:t>
            </a:r>
          </a:p>
          <a:p>
            <a:pPr lvl="1"/>
            <a:r>
              <a:rPr/>
              <a:t>Gentoo penguins differ from Adelie by approximately [value] grams</a:t>
            </a:r>
          </a:p>
          <a:p>
            <a:pPr lvl="1"/>
            <a:r>
              <a:rPr/>
              <a:t>The interaction terms indicate how the sex difference varies across species</a:t>
            </a:r>
          </a:p>
          <a:p>
            <a:pPr lvl="0" indent="-342900" marL="342900">
              <a:buAutoNum type="arabicPeriod"/>
            </a:pPr>
            <a:r>
              <a:rPr b="1"/>
              <a:t>Model fit</a:t>
            </a:r>
            <a:r>
              <a:rPr/>
              <a:t>: The overall model explains approximately [value]% of the variance in body mass (R-squared = [value]), indicating a good fit to the data.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Understanding Sums of Squares Types</a:t>
            </a:r>
          </a:p>
        </p:txBody>
      </p:sp>
      <p:sp>
        <p:nvSpPr>
          <p:cNvPr id="3" name="Content Placeholder 2"/>
          <p:cNvSpPr>
            <a:spLocks noGrp="1"/>
          </p:cNvSpPr>
          <p:nvPr>
            <p:ph idx="1"/>
          </p:nvPr>
        </p:nvSpPr>
        <p:spPr/>
        <p:txBody>
          <a:bodyPr/>
          <a:lstStyle/>
          <a:p>
            <a:pPr lvl="0" indent="0" marL="0">
              <a:buNone/>
            </a:pPr>
            <a:r>
              <a:rPr/>
              <a:t>When we have unbalanced designs (unequal sample sizes) or want to test different hypotheses, we can use different types of sums of squares. Let’s compare Type I, Type II, and Type III.</a:t>
            </a:r>
          </a:p>
          <a:p>
            <a:pPr lvl="0" indent="0" marL="0">
              <a:spcBef>
                <a:spcPts val="3000"/>
              </a:spcBef>
              <a:buNone/>
            </a:pPr>
            <a:r>
              <a:rPr b="1"/>
              <a:t>Type I Sums of Squares (Sequential)</a:t>
            </a:r>
          </a:p>
          <a:p>
            <a:pPr lvl="0" indent="0">
              <a:buNone/>
            </a:pPr>
            <a:r>
              <a:rPr>
                <a:latin typeface="Courier"/>
              </a:rPr>
              <a:t>Analysis of Variance Table
Response: mass_g
           Df    Sum Sq  Mean Sq F value    Pr(&gt;F)    
spp         2 145190219 72595110 758.358 &lt; 2.2e-16 ***
sex         1  37090262 37090262 387.460 &lt; 2.2e-16 ***
spp:sex     2   1676557   838278   8.757 0.0001973 ***
Residuals 327  31302628    95727                      
---
Signif. codes:  0 '***' 0.001 '**' 0.01 '*' 0.05 '.' 0.1 ' ' 1</a:t>
            </a:r>
          </a:p>
          <a:p>
            <a:pPr lvl="0" indent="0" marL="0">
              <a:buNone/>
            </a:pPr>
            <a:r>
              <a:rPr/>
              <a:t>Type I SS tests effects in the order they appear in the model. Each term is adjusted for terms that appear before it in the model.</a:t>
            </a:r>
          </a:p>
          <a:p>
            <a:pPr lvl="0" indent="0" marL="0">
              <a:spcBef>
                <a:spcPts val="3000"/>
              </a:spcBef>
              <a:buNone/>
            </a:pPr>
            <a:r>
              <a:rPr b="1"/>
              <a:t>Type II Sums of Squares</a:t>
            </a:r>
          </a:p>
          <a:p>
            <a:pPr lvl="0" indent="0">
              <a:buNone/>
            </a:pPr>
            <a:r>
              <a:rPr>
                <a:latin typeface="Courier"/>
              </a:rPr>
              <a:t>Anova Table (Type II tests)
Response: mass_g
             Sum Sq  Df F value    Pr(&gt;F)    
spp       143401584   2 749.016 &lt; 2.2e-16 ***
sex        37090262   1 387.460 &lt; 2.2e-16 ***
spp:sex     1676557   2   8.757 0.0001973 ***
Residuals  31302628 327                      
---
Signif. codes:  0 '***' 0.001 '**' 0.01 '*' 0.05 '.' 0.1 ' ' 1</a:t>
            </a:r>
          </a:p>
          <a:p>
            <a:pPr lvl="0" indent="0" marL="0">
              <a:buNone/>
            </a:pPr>
            <a:r>
              <a:rPr/>
              <a:t>Type II SS tests each main effect after adjusting for other main effects, but not for the interaction. This is appropriate when interactions are not significant.</a:t>
            </a:r>
          </a:p>
          <a:p>
            <a:pPr lvl="0" indent="0" marL="0">
              <a:spcBef>
                <a:spcPts val="3000"/>
              </a:spcBef>
              <a:buNone/>
            </a:pPr>
            <a:r>
              <a:rPr b="1"/>
              <a:t>Type III Sums of Squares</a:t>
            </a:r>
          </a:p>
          <a:p>
            <a:pPr lvl="0" indent="0">
              <a:buNone/>
            </a:pPr>
            <a:r>
              <a:rPr>
                <a:latin typeface="Courier"/>
              </a:rPr>
              <a:t>Anova Table (Type III tests)
Response: mass_g
                Sum Sq  Df   F value    Pr(&gt;F)    
(Intercept) 5232595969   1 54661.828 &lt; 2.2e-16 ***
spp          143001222   2   746.924 &lt; 2.2e-16 ***
sex           29851220   1   311.838 &lt; 2.2e-16 ***
spp:sex        1676557   2     8.757 0.0001973 ***
Residuals     31302628 327                        
---
Signif. codes:  0 '***' 0.001 '**' 0.01 '*' 0.05 '.' 0.1 ' ' 1</a:t>
            </a:r>
          </a:p>
          <a:p>
            <a:pPr lvl="0" indent="0" marL="0">
              <a:buNone/>
            </a:pPr>
            <a:r>
              <a:rPr/>
              <a:t>Type III SS tests each effect after adjusting for all other effects in the model. This is the most conservative approach and is commonly used in unbalanced designs.</a:t>
            </a:r>
          </a:p>
          <a:p>
            <a:pPr lvl="0" indent="0" marL="0">
              <a:spcBef>
                <a:spcPts val="3000"/>
              </a:spcBef>
              <a:buNone/>
            </a:pPr>
            <a:r>
              <a:rPr b="1"/>
              <a:t>Comparing the Three Types</a:t>
            </a:r>
          </a:p>
          <a:p>
            <a:pPr lvl="0" indent="0">
              <a:buNone/>
            </a:pPr>
            <a:r>
              <a:rPr>
                <a:latin typeface="Courier"/>
              </a:rPr>
              <a:t>       Effect Type_I_F Type_II_F Type_III_F
1     Species   758.36    387.46     746.92
2         Sex   387.46      8.76     311.84
3 Species:Sex     8.76        NA       8.76</a:t>
            </a:r>
          </a:p>
          <a:p>
            <a:pPr lvl="0" indent="0">
              <a:buNone/>
            </a:pPr>
            <a:r>
              <a:rPr>
                <a:latin typeface="Courier"/>
              </a:rPr>
              <a:t>       Effect Type_I_p Type_II_p Type_III_p
1     Species    0e+00     0e+00      0e+00
2         Sex    0e+00     2e-04      0e+00
3 Species:Sex    2e-04        NA      2e-04</a:t>
            </a:r>
          </a:p>
          <a:p>
            <a:pPr lvl="0" indent="0" marL="0">
              <a:spcBef>
                <a:spcPts val="3000"/>
              </a:spcBef>
              <a:buNone/>
            </a:pPr>
            <a:r>
              <a:rPr b="1"/>
              <a:t>When Does It Matter?</a:t>
            </a:r>
          </a:p>
          <a:p>
            <a:pPr lvl="0" indent="0" marL="0">
              <a:buNone/>
            </a:pPr>
            <a:r>
              <a:rPr/>
              <a:t>The choice of SS type matters most when:</a:t>
            </a:r>
          </a:p>
          <a:p>
            <a:pPr lvl="0" indent="-342900" marL="342900">
              <a:buAutoNum type="arabicPeriod"/>
            </a:pPr>
            <a:r>
              <a:rPr b="1"/>
              <a:t>Unbalanced designs</a:t>
            </a:r>
            <a:r>
              <a:rPr/>
              <a:t>: When sample sizes differ across groups</a:t>
            </a:r>
          </a:p>
          <a:p>
            <a:pPr lvl="0" indent="-342900" marL="342900">
              <a:buAutoNum type="arabicPeriod"/>
            </a:pPr>
            <a:r>
              <a:rPr b="1"/>
              <a:t>Correlated predictors</a:t>
            </a:r>
            <a:r>
              <a:rPr/>
              <a:t>: When predictors are not orthogonal</a:t>
            </a:r>
          </a:p>
          <a:p>
            <a:pPr lvl="0" indent="-342900" marL="342900">
              <a:buAutoNum type="arabicPeriod"/>
            </a:pPr>
            <a:r>
              <a:rPr b="1"/>
              <a:t>Interactions present</a:t>
            </a:r>
            <a:r>
              <a:rPr/>
              <a:t>: When there are significant interactions</a:t>
            </a:r>
          </a:p>
          <a:p>
            <a:pPr lvl="0" indent="0" marL="0">
              <a:buNone/>
            </a:pPr>
            <a:r>
              <a:rPr/>
              <a:t>For balanced designs (equal sample sizes in all cells), all three types give the same results for main effects.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body mass in penguins was significantly affected by both species (F2,[df] = [F-value], P &lt; 0.001) and sex (F1,[df] = [F-value], P &lt; 0.001). The interaction between species and sex was [significant/not significant] (F2,[df] = [F-value], P = [p-value]). The model explained [value]% of the variance in body mass (adjusted R² = [value]).
Linear model coefficient estimates indicated that body mass in the reference condition (Adelie females) was [value] ± [SE] (estimate ± SE) grams. Males weighed [value] ± [SE] grams more than females on average. Chinstrap penguins differed from Adelie penguins by [value] ± [SE] grams, while Gentoo penguins were [value] ± [SE] grams different from Adelie penguins.
Post-hoc pairwise comparisons using estimated marginal means with Tukey adjustment showed significant differences between all three species pairs (all p &lt; 0.001). The sex difference was consistent across all three species [or varied by species if interaction is significant].
Type III sums of squares were used to account for the unbalanced design, with Type I and Type II SS showing similar results for the main effects.</a:t>
            </a:r>
          </a:p>
          <a:p>
            <a:pPr lvl="0" indent="0" marL="0">
              <a:buNone/>
            </a:pPr>
            <a:r>
              <a:rPr/>
              <a:t>Note: The actual values for the model coefficients and standard errors should be obtained from the model summary output above.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Factorial (Two-Way) ANOVA</dc:title>
  <dc:creator>Bill Perry</dc:creator>
  <cp:keywords/>
  <dc:description>Hands-on activity: factorial ANOVA (penguin mass).</dc:description>
  <dcterms:created xsi:type="dcterms:W3CDTF">2026-08-19T20:19:21Z</dcterms:created>
  <dcterms:modified xsi:type="dcterms:W3CDTF">2026-08-19T20:19:21Z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13</vt:lpwstr>
  </property>
  <property fmtid="{D5CDD505-2E9C-101B-9397-08002B2CF9AE}" pid="10" name="resources">
    <vt:lpwstr/>
  </property>
  <property fmtid="{D5CDD505-2E9C-101B-9397-08002B2CF9AE}" pid="11" name="subtitle">
    <vt:lpwstr>Factorial designs</vt:lpwstr>
  </property>
  <property fmtid="{D5CDD505-2E9C-101B-9397-08002B2CF9AE}" pid="12" name="toc-title">
    <vt:lpwstr>Table of contents</vt:lpwstr>
  </property>
  <property fmtid="{D5CDD505-2E9C-101B-9397-08002B2CF9AE}" pid="13" name="week">
    <vt:lpwstr>8</vt:lpwstr>
  </property>
</Properties>
</file>