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did you run </a:t>
            </a:r>
            <a:r>
              <a:rPr>
                <a:latin typeface="Courier"/>
              </a:rPr>
              <a:t>options(contrasts = c("contr.sum", "contr.poly"))</a:t>
            </a:r>
            <a:r>
              <a:rPr/>
              <a:t> </a:t>
            </a:r>
            <a:r>
              <a:rPr b="1"/>
              <a:t>before</a:t>
            </a:r>
            <a:r>
              <a:rPr/>
              <a:t> fitting the model you pass to </a:t>
            </a:r>
            <a:r>
              <a:rPr>
                <a:latin typeface="Courier"/>
              </a:rPr>
              <a:t>Anova(type = "III")</a:t>
            </a:r>
            <a:r>
              <a:rPr/>
              <a:t>? Are both predictors </a:t>
            </a:r>
            <a:r>
              <a:rPr b="1"/>
              <a:t>factors</a:t>
            </a:r>
            <a:r>
              <a:rPr/>
              <a:t>? Is it </a:t>
            </a:r>
            <a:r>
              <a:rPr>
                <a:latin typeface="Courier"/>
              </a:rPr>
              <a:t>car::Anova()</a:t>
            </a:r>
            <a:r>
              <a:rPr/>
              <a:t> (capital A, Type II/III) rather than </a:t>
            </a:r>
            <a:r>
              <a:rPr>
                <a:latin typeface="Courier"/>
              </a:rPr>
              <a:t>anova()</a:t>
            </a:r>
            <a:r>
              <a:rPr/>
              <a:t> (lower case, Type I)?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2026-09-21T17:50:12Z</dcterms:created>
  <dcterms:modified xsi:type="dcterms:W3CDTF">2026-09-21T17:50:12Z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