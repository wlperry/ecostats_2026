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1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one-way ANOVA: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The 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Post-hoc F-tests — Tukey and others</a:t>
            </a:r>
          </a:p>
          <a:p>
            <a:pPr lvl="0"/>
            <a:r>
              <a:rPr/>
              <a:t>Reporting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One-way ANOVA asks “do these groups differ?” for one factor. Today: what happens when two factors act </a:t>
            </a:r>
            <a:r>
              <a:rPr sz="2000" i="1"/>
              <a:t>together</a:t>
            </a:r>
            <a:r>
              <a:rPr sz="2000"/>
              <a:t> — separately, and possibly interacting?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Factorial ANOVA — the Concept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Designs (2-Way 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ANOVA), but interpretation gets very challenging</a:t>
            </a:r>
          </a:p>
          <a:p>
            <a:pPr lvl="0"/>
            <a:r>
              <a:rPr/>
              <a:t>Most multifactor designs are factorial or nested</a:t>
            </a:r>
          </a:p>
          <a:p>
            <a:pPr lvl="0"/>
            <a:r>
              <a:rPr/>
              <a:t>We’ll cover a 2-factor ANOVA — this could be fertilizer and sunlight for plant biomass produced: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example: a low- vs. high-light treatment might affect biomass; fertilizer might also affect biomass; but under higher light, the high-fertilizer treatment may grow better than expected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10 — The Analysis of Variance, extends to factorial designs like the one covered today.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38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fertilizer bag and a smiling sun icon, each with an arrow pointing down to a small green seedling, illustrating fertilizer and sunlight as two separate factors that can each affect plant biomass.</a:t>
            </a:r>
          </a:p>
        </p:txBody>
      </p:sp>
      <p:pic>
        <p:nvPicPr>
          <p:cNvPr descr="images/clipboard-32707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041400"/>
            <a:ext cx="27813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palmerpenguins R package hex-sticker logo, showing simple cartoon illustrations of the three penguin species (Adelie, Chinstrap, Gentoo) used in this lecture’s dataset.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46200"/>
            <a:ext cx="4432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981700" y="1295400"/>
            <a:ext cx="1587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factorial designs, we look at two types of factor effects:</a:t>
            </a:r>
          </a:p>
          <a:p>
            <a:pPr lvl="0"/>
            <a:r>
              <a:rPr b="1"/>
              <a:t>Main effect of each factor</a:t>
            </a:r>
            <a:r>
              <a:rPr/>
              <a:t> (pooling across the other factor)</a:t>
            </a:r>
          </a:p>
          <a:p>
            <a:pPr lvl="0"/>
            <a:r>
              <a:rPr b="1"/>
              <a:t>Interaction effects</a:t>
            </a:r>
            <a:r>
              <a:rPr/>
              <a:t> — is there a synergistic/antagonistic effect between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Simple grid diagram of a factorial design with Factor A across the columns (levels 1-4) and Factor B down the rows (levels 1-3), with an ‘XX’ marking every cell, showing every combination of the two factors is represented.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Setting Up — the Penguin Data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 b="1"/>
              <a:t>Balanced design:</a:t>
            </a:r>
            <a:r>
              <a:rPr/>
              <a:t> equal sample sizes in all cells</a:t>
            </a:r>
          </a:p>
          <a:p>
            <a:pPr lvl="0"/>
            <a:r>
              <a:rPr b="1"/>
              <a:t>Type III sums of squares</a:t>
            </a:r>
            <a:r>
              <a:rPr/>
              <a:t> for unbiased estimates — if the design is balanced, the choice of SS type doesn’t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— Creating a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penguin data frame is unbalanced — there are unequal samples per cell.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 b="1"/>
                  <a:t>Statistical model: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μ = grand mean, α_i = effect of species i, β_j = effect of sex j, (αβ)_ij = interaction effect, ε_ijk = random error.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two-way-anova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Factorial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2 fixed factors (the focus for today)</a:t>
                </a:r>
              </a:p>
              <a:p>
                <a:pPr lvl="0"/>
                <a:r>
                  <a:rPr b="1"/>
                  <a:t>Model 2</a:t>
                </a:r>
                <a:r>
                  <a:rPr/>
                  <a:t> — 2 random factors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— 1 fixed, 1 random (mixed model) — often nested</a:t>
                </a:r>
              </a:p>
              <a:p>
                <a:pPr lvl="0" indent="0" marL="0">
                  <a:buNone/>
                </a:pPr>
                <a:r>
                  <a:rPr b="1"/>
                  <a:t>Model 1 ANOVA: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formula looks identical to Model 2 and Model 3 — what changes between them is whether α, β are treated as </a:t>
            </a:r>
            <a:r>
              <a:rPr sz="2000" i="1"/>
              <a:t>fixed</a:t>
            </a:r>
            <a:r>
              <a:rPr sz="2000"/>
              <a:t> effects (specific groups you care about) or </a:t>
            </a:r>
            <a:r>
              <a:rPr sz="2000" i="1"/>
              <a:t>random</a:t>
            </a:r>
            <a:r>
              <a:rPr sz="2000"/>
              <a:t> effects (a sample from a larger population of possible groups).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Main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k-th observation from the j-th and i-th combination of B and A (sex j of species i)</a:t>
                </a:r>
              </a:p>
              <a:p>
                <a:pPr lvl="0"/>
                <a:r>
                  <a:rPr/>
                  <a:t>μ: overall mean (overall mass)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effect of the i-th level of A, pooling across all levels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“species i” penguins and the overall mean)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Every effect in this model is defined as a deviation from a mean — the grand mean, or a group mean. This is exactly the same logic as a t-test or one-way ANOVA, just with more terms.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j-th level of B, pooling across all levels of A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“sex j” penguins and the overall mean)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interaction of level i of A and level j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</m:oMath>
                </a14:m>
                <a:r>
                  <a:rPr/>
                  <a:t>. Does the effect of B depend on the level of A? (Is the effect of sex different across the 3 species?)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interaction term is what’s </a:t>
            </a:r>
            <a:r>
              <a:rPr sz="2000" i="1"/>
              <a:t>left over</a:t>
            </a:r>
            <a:r>
              <a:rPr sz="2000"/>
              <a:t> after you subtract out both main effects and the grand mean — it’s literally “the part the additive model can’t explain.”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is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random variable measuring variance in y across </a:t>
                </a:r>
                <a:r>
                  <a:rPr i="1"/>
                  <a:t>all possible</a:t>
                </a:r>
                <a:r>
                  <a:rPr/>
                  <a:t> levels of B, pooling across A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a random variable measuring variance of the interaction between A and B across all possible levels of B (“is the effect of A consistent across all possible levels of B that could have been chosen?”)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Fixed vs. random isn’t about the </a:t>
            </a:r>
            <a:r>
              <a:rPr sz="2000" i="1"/>
              <a:t>data</a:t>
            </a:r>
            <a:r>
              <a:rPr sz="2000"/>
              <a:t> — it’s about the </a:t>
            </a:r>
            <a:r>
              <a:rPr sz="2000" i="1"/>
              <a:t>question</a:t>
            </a:r>
            <a:r>
              <a:rPr sz="2000"/>
              <a:t>. Are you interested in these specific 3 species (fixed), or in “species” as a general source of variation (random)?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Estimated Marginal Means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further, we need to define estimated marginal means (EMMs)</a:t>
            </a:r>
          </a:p>
          <a:p>
            <a:pPr lvl="0"/>
            <a:r>
              <a:rPr b="1"/>
              <a:t>Balanced data:</a:t>
            </a:r>
            <a:r>
              <a:rPr/>
              <a:t> it’s just the means of the groups — easy</a:t>
            </a:r>
          </a:p>
          <a:p>
            <a:pPr lvl="0"/>
            <a:r>
              <a:rPr b="1"/>
              <a:t>Unbalanced data:</a:t>
            </a:r>
            <a:r>
              <a:rPr/>
              <a:t> it’s the mean of </a:t>
            </a:r>
            <a:r>
              <a:rPr i="1"/>
              <a:t>cell means</a:t>
            </a:r>
            <a:r>
              <a:rPr/>
              <a:t>, not a simple average of all raw observations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Balanced data: just the means of the groups</a:t>
            </a:r>
          </a:p>
          <a:p>
            <a:pPr lvl="0"/>
            <a:r>
              <a:rPr/>
              <a:t>Unbalanced data: mean of cell means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
## 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Two-Way ANOVA Table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the difference between each observation and its cell mean, summed over all observations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(p−1)(q−1)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Residual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pq(n−1)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pqn − 1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A and the overall mean</a:t>
                </a:r>
              </a:p>
              <a:p>
                <a:pPr lvl="0"/>
                <a:r>
                  <a:rPr/>
                  <a:t>If A is species, take the EMMs for factor A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two-way ANOVA table listing Source (A, B, AB, Residual, Total), each with its sum-of-squares formula, degrees of freedom (p-1, q-1, (p-1)(q-1), pq(n-1), pqn-1), and mean-square formula.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of penguin body mass cell means and marginal (emmean) values by species (rows: Adelie, Chinstrap, Gentoo) and sex (columns: female, male), used to compute SS_A from the species row means.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B and the overall mean</a:t>
                </a:r>
              </a:p>
              <a:p>
                <a:pPr lvl="0"/>
                <a:r>
                  <a:rPr/>
                  <a:t>If B is sex, take the EMMs for factor B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(Source, SS, df, MS for A, B, AB, Residual, Total) repeated here for computing SS_B.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SS_B from the sex column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cell means minus marginal means plus the overall mean.</a:t>
                </a:r>
              </a:p>
            </p:txBody>
          </p:sp>
        </mc:Choice>
      </mc:AlternateContent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5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with the AB (interaction) row outlined in red, highlighting its sum-of-squares, degrees of freedom (p-1)(q-1), and mean-square formulas.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SS_AB from how each cell mean deviates from its row and column marginal means.</a:t>
            </a:r>
          </a:p>
        </p:txBody>
      </p:sp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F-Ratio Calculations</a:t></a:r></a:p></p:txBody></p:sp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converts to MS; F-ratio calculations differ depending on whether factors are fixed, random, or mixed.</a:t></a:r></a:p></p:txBody></p:sp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A, B fixed</a:t></a:r></a:p></a:txBody><a:tcPr /></a:tc><a:tc><a:txBody><a:bodyPr /><a:lstStyle /><a:p><a:pPr lvl="0" indent="0" marL="0" algn="l"><a:buNone /></a:pPr><a:r><a:rPr /><a:t>A, B random</a:t></a:r></a:p></a:txBody><a:tcPr /></a:tc><a:tc><a:txBody><a:bodyPr /><a:lstStyle /><a:p><a:pPr lvl="0" indent="0" marL="0" algn="l"><a:buNone /></a:pPr><a:r><a:rPr /><a:t>A fixed, B random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AB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Both Factors Fixed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 are tested in a two-way factorial ANOVA: A, B, A×B. </a:t>
                </a:r>
                <a:r>
                  <a:rPr b="1"/>
                  <a:t>Both factors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q</m:t>
                        </m:r>
                      </m:sub>
                    </m:sSub>
                  </m:oMath>
                </a14:m>
                <a:r>
                  <a:rPr/>
                  <a:t> (no difference in marginal means of B, pooling across A)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interaction effect)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These are exactly the two main-effect hypotheses from a one-way ANOVA, plus one new hypothesis just for the interaction.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Mixed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hypotheses: A, B, A×B. </a:t>
                </a:r>
                <a:r>
                  <a:rPr b="1"/>
                  <a:t>One fixed, one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levels of B that could have been used)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interaction between all levels of A and B that could have been used)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Notice the switch from “means are equal” (fixed) to “variance is zero” (random) — that’s the fundamental difference in what a random-effect hypothesis is even asking.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Fitting the Balanced Model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try the example with the </a:t>
            </a:r>
            <a:r>
              <a:rPr>
                <a:latin typeface="Courier"/>
              </a:rPr>
              <a:t>palmerpenguins</a:t>
            </a:r>
            <a:r>
              <a:rPr/>
              <a:t> package data:</a:t>
            </a:r>
          </a:p>
          <a:p>
            <a:pPr lvl="0"/>
            <a:r>
              <a:rPr/>
              <a:t>Effect of species and sex on </a:t>
            </a:r>
            <a:r>
              <a:rPr>
                <a:latin typeface="Courier"/>
              </a:rPr>
              <a:t>body_mass_g</a:t>
            </a:r>
          </a:p>
          <a:p>
            <a:pPr lvl="0"/>
            <a:r>
              <a:rPr/>
              <a:t>3 species (Factor A)</a:t>
            </a:r>
          </a:p>
          <a:p>
            <a:pPr lvl="0"/>
            <a:r>
              <a:rPr/>
              <a:t>2 sexes (Factor B)</a:t>
            </a:r>
          </a:p>
          <a:p>
            <a:pPr lvl="0"/>
            <a:r>
              <a:rPr/>
              <a:t>34 replicates in each cell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16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effect:</a:t>
            </a:r>
            <a:r>
              <a:rPr/>
              <a:t> tested after adjusting for sex and interaction</a:t>
            </a:r>
          </a:p>
          <a:p>
            <a:pPr lvl="0"/>
            <a:r>
              <a:rPr b="1"/>
              <a:t>Sex effect:</a:t>
            </a:r>
            <a:r>
              <a:rPr/>
              <a:t> tested after adjusting for species and interaction</a:t>
            </a:r>
          </a:p>
          <a:p>
            <a:pPr lvl="0"/>
            <a:r>
              <a:rPr b="1"/>
              <a:t>Interaction:</a:t>
            </a:r>
            <a:r>
              <a:rPr/>
              <a:t>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Effect Sizes (partial eta-squared):
##        Effect Partial_Eta_Sq
## 1     Species         0.8282
## 2         Sex         0.5471
## 3 Interaction         0.0842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Which effect size, and why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η</m:t>
                          </m:r>
                        </m:e>
                        <m:sub>
                          <m:r>
                            <m:t>p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Partial</a:t>
                </a:r>
                <a:r>
                  <a:rPr sz="2000"/>
                  <a:t> η² asks “of the variation this effect </a:t>
                </a:r>
                <a:r>
                  <a:rPr sz="2000" i="1"/>
                  <a:t>could</a:t>
                </a:r>
                <a:r>
                  <a:rPr sz="2000"/>
                  <a:t> explain, how much does it?” Plain η² divides by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/>
                  <a:t> instead.</a:t>
                </a:r>
              </a:p>
              <a:p>
                <a:pPr lvl="0" indent="0" marL="1270000">
                  <a:buNone/>
                </a:pPr>
                <a:r>
                  <a:rPr sz="2000"/>
                  <a:t>They agree only when a design is balanced. </a:t>
                </a:r>
                <a:r>
                  <a:rPr sz="2000" b="1"/>
                  <a:t>Type III sums of squares do not add up to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 b="1"/>
                  <a:t> in an unbalanced design</a:t>
                </a:r>
                <a:r>
                  <a:rPr sz="2000"/>
                  <a:t> — so dividing by their sum gives a number that is neither η² nor η²ₚ. Partial η² is well defined either way, which is why we use it throughout this lecture.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standard diagnostic plots, built automatically with </a:t>
            </a:r>
            <a:r>
              <a:rPr>
                <a:latin typeface="Courier"/>
              </a:rPr>
              <a:t>ggfortify::autoplot()</a:t>
            </a:r>
            <a:r>
              <a:rPr/>
              <a:t>.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Four standard regression diagnostic plots for the two-way ANOVA model, arranged 2x2: residuals vs. fitted, normal Q-Q, scale-location, and residuals vs. leverage, generated automatically with ggfortify::autoplot().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Formal Tests — Normality and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formal tests of normality of residuals and homogeneity of variances.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EMMs and Post-Hoc for the Balanced Model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Computing EMMs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"Species pairwise comparisons:"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F-Test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interaction is significant, we test the overall interaction and ignore the main effects!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Interaction Plot</a:t>
            </a:r>
          </a:p>
        </p:txBody>
      </p:sp>
      <p:pic>
        <p:nvPicPr>
          <p:cNvPr descr="two_way_anova_lecture_files/figure-pptx/two-way-anova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Unbalanced Designs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challenge of unbalanced data:</a:t>
                </a:r>
                <a:r>
                  <a:rPr/>
                  <a:t> real-world data is often unbalanced — unequal sample sizes across groups, missing data patterns, natural variation in sampling.</a:t>
                </a:r>
              </a:p>
              <a:p>
                <a:pPr lvl="0" indent="0" marL="0">
                  <a:buNone/>
                </a:pPr>
                <a:r>
                  <a:rPr b="1"/>
                  <a:t>Key issues:</a:t>
                </a:r>
                <a:r>
                  <a:rPr/>
                  <a:t> Type I, II, and III SS give different results; order of terms matters for Type I SS; marginal means ≠ simple averages, so interpretation becomes complex.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but parameter estimation differs!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pic>
        <p:nvPicPr>
          <p:cNvPr descr="two_way_anova_lecture_files/figure-pptx/two-way-anova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(Sequential)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 SS (Species -&gt; Sex -&gt;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-&gt; Species -&gt;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 SS works — sequential decomposition:</a:t>
            </a:r>
          </a:p>
          <a:p>
            <a:pPr lvl="0" indent="-342900" marL="342900">
              <a:buAutoNum type="arabicPeriod"/>
            </a:pPr>
            <a:r>
              <a:rPr/>
              <a:t>First term gets all SS it can explain</a:t>
            </a:r>
          </a:p>
          <a:p>
            <a:pPr lvl="0" indent="-342900" marL="342900">
              <a:buAutoNum type="arabicPeriod"/>
            </a:pPr>
            <a:r>
              <a:rPr/>
              <a:t>Second term gets SS after removing the first</a:t>
            </a:r>
          </a:p>
          <a:p>
            <a:pPr lvl="0" indent="-342900" marL="342900">
              <a:buAutoNum type="arabicPeriod"/>
            </a:pPr>
            <a:r>
              <a:rPr/>
              <a:t>Third term gets SS after removing the first two</a:t>
            </a:r>
          </a:p>
          <a:p>
            <a:pPr lvl="0" indent="0" marL="0">
              <a:buNone/>
            </a:pPr>
            <a:r>
              <a:rPr b="1"/>
              <a:t>Problems with unbalanced data:</a:t>
            </a:r>
            <a:r>
              <a:rPr/>
              <a:t> order dependency, biased if factors are correlated, not invariant to coding.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III SS works — marginal decomposition:</a:t>
            </a:r>
            <a:r>
              <a:rPr/>
              <a:t> each effect tested after adjusting for all others.</a:t>
            </a:r>
          </a:p>
          <a:p>
            <a:pPr lvl="0" indent="0" marL="0">
              <a:buNone/>
            </a:pPr>
            <a:r>
              <a:rPr b="1"/>
              <a:t>Advantages:</a:t>
            </a:r>
            <a:r>
              <a:rPr/>
              <a:t> order invariant, tests hypotheses about unweighted means, standard in most software.</a:t>
            </a:r>
          </a:p>
          <a:p>
            <a:pPr lvl="0" indent="0" marL="0">
              <a:buNone/>
            </a:pPr>
            <a:r>
              <a:rPr b="1"/>
              <a:t>Disadvantages:</a:t>
            </a:r>
            <a:r>
              <a:rPr/>
              <a:t> lower power with missing cells, tests may not be orthogonal, requires careful interpretation.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(partial eta-squared, Type III):"
##        Effect Partial_Eta_Sq
## 1     Species         0.8204
## 2         Sex         0.4881
## 3 Interaction         0.0508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Calculation,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    38878897
## 
## Sum of main effects: 184069116
## Actual between SS:   183957038
## 
## Difference (design is not orthogonal): -112078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Main effects don’t add up to the between-groups SS here because the effects aren’t orthogonal in an unbalanced design — proof that “unbalanced” really does change the arithmetic, not just the p-values.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EMMs and Diagnostics — the Unbalanced Model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Sex effect (female - male, grams)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Diagnostic Plots — Unbalanced Design</a:t>
            </a:r>
          </a:p>
        </p:txBody>
      </p:sp>
      <p:pic>
        <p:nvPicPr>
          <p:cNvPr descr="two_way_anova_lecture_files/figure-pptx/two-way-anova-3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660400"/>
            <a:ext cx="44704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"Levene's test:"
## Levene's Test for Homogeneity of Variance (center = median)
##        Df F value Pr(&gt;F)
## group   5  1.3908 0.2272
##       327
## [1] "Residual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Comparing Balanced vs. Unbalanced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Side-by-Side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pic>
        <p:nvPicPr>
          <p:cNvPr descr="two_way_anova_lecture_files/figure-pptx/two-way-anova-3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Summary and Best Practices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Unbalanced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Challenges:</a:t>
            </a:r>
            <a:r>
              <a:rPr/>
              <a:t> Type I SS depends on order; simple means ≠ EMMs; reduced power for interactions; complex interpretation.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use Type III SS for main effects; report EMMs, not simple means; check assumptions carefully; consider the impact of imbalance.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  <a:r>
              <a:rPr/>
              <a:t> sample sizes per cell, type of SS used, 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  <a:r>
              <a:rPr/>
              <a:t> show actual data points, include error bars, 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  <a:r>
              <a:rPr/>
              <a:t> focus on effect sizes, consider practical significance, acknowledge limitations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design for balance when possible, randomize allocation, plan for attrition.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accept imbalance as reality, use Type III SS, report EMMs, consider covariates (ANCOVA).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Statistical software defaults</a:t>
            </a:r>
          </a:p>
          <a:p>
            <a:pPr lvl="0"/>
            <a:r>
              <a:rPr sz="2000"/>
              <a:t>R: Type I (sequential)</a:t>
            </a:r>
          </a:p>
          <a:p>
            <a:pPr lvl="0"/>
            <a:r>
              <a:rPr sz="2000"/>
              <a:t>SAS: Type III (marginal)</a:t>
            </a:r>
          </a:p>
          <a:p>
            <a:pPr lvl="0"/>
            <a:r>
              <a:rPr sz="2000"/>
              <a:t>SPSS: Type III (marginal)</a:t>
            </a:r>
          </a:p>
          <a:p>
            <a:pPr lvl="0" indent="0" marL="1270000">
              <a:buNone/>
            </a:pPr>
            <a:r>
              <a:rPr sz="2000"/>
              <a:t>Always specify which type you’re using!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Fitted a </a:t>
            </a:r>
            <a:r>
              <a:rPr b="1"/>
              <a:t>factorial</a:t>
            </a:r>
            <a:r>
              <a:rPr/>
              <a:t> model with two categorical predictors — </a:t>
            </a:r>
            <a:r>
              <a:rPr>
                <a:latin typeface="Courier"/>
              </a:rPr>
              <a:t>body_mass_g ~ species * sex</a:t>
            </a:r>
          </a:p>
          <a:p>
            <a:pPr lvl="0"/>
            <a:r>
              <a:rPr/>
              <a:t>Separated </a:t>
            </a:r>
            <a:r>
              <a:rPr b="1"/>
              <a:t>main effects</a:t>
            </a:r>
            <a:r>
              <a:rPr/>
              <a:t> from the </a:t>
            </a:r>
            <a:r>
              <a:rPr b="1"/>
              <a:t>interaction</a:t>
            </a:r>
            <a:r>
              <a:rPr/>
              <a:t>, and saw that an interaction means “the effect of one factor depends on the level of the other”</a:t>
            </a:r>
          </a:p>
          <a:p>
            <a:pPr lvl="0"/>
            <a:r>
              <a:rPr/>
              <a:t>Used </a:t>
            </a:r>
            <a:r>
              <a:rPr b="1"/>
              <a:t>estimated marginal means</a:t>
            </a:r>
            <a:r>
              <a:rPr/>
              <a:t> instead of raw group averages, because with unequal cell sizes those are not the same thing</a:t>
            </a:r>
          </a:p>
          <a:p>
            <a:pPr lvl="0"/>
            <a:r>
              <a:rPr/>
              <a:t>Met </a:t>
            </a:r>
            <a:r>
              <a:rPr b="1"/>
              <a:t>Type I, II and III sums of squares</a:t>
            </a:r>
            <a:r>
              <a:rPr/>
              <a:t>, and saw them give identical answers on a balanced design and different answers on an unbalanced one</a:t>
            </a:r>
          </a:p>
          <a:p>
            <a:pPr lvl="0"/>
            <a:r>
              <a:rPr/>
              <a:t>Set </a:t>
            </a:r>
            <a:r>
              <a:rPr>
                <a:latin typeface="Courier"/>
              </a:rPr>
              <a:t>contr.sum</a:t>
            </a:r>
            <a:r>
              <a:rPr/>
              <a:t> contrasts </a:t>
            </a:r>
            <a:r>
              <a:rPr b="1"/>
              <a:t>before</a:t>
            </a:r>
            <a:r>
              <a:rPr/>
              <a:t> asking for Type III — without that step R silently returns the wrong main-effect tests</a:t>
            </a:r>
          </a:p>
          <a:p>
            <a:pPr lvl="0"/>
            <a:r>
              <a:rPr/>
              <a:t>Reported </a:t>
            </a:r>
            <a:r>
              <a:rPr b="1"/>
              <a:t>partial η²</a:t>
            </a:r>
            <a:r>
              <a:rPr/>
              <a:t> as the effect size that stays well defined either way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Read the interaction first</a:t>
            </a:r>
          </a:p>
          <a:p>
            <a:pPr lvl="0" indent="0" marL="1270000">
              <a:buNone/>
            </a:pPr>
            <a:r>
              <a:rPr sz="2000"/>
              <a:t>If the interaction is significant, a main effect is a </a:t>
            </a:r>
            <a:r>
              <a:rPr sz="2000" i="1"/>
              <a:t>average across conditions that behave differently</a:t>
            </a:r>
            <a:r>
              <a:rPr sz="2000"/>
              <a:t> — often not a meaningful quantity. Interpret the interaction, then use simple effects (</a:t>
            </a:r>
            <a:r>
              <a:rPr sz="2000">
                <a:latin typeface="Courier"/>
              </a:rPr>
              <a:t>emmeans(model, ~ sex | species)</a:t>
            </a:r>
            <a:r>
              <a:rPr sz="2000"/>
              <a:t>) rather than reporting the main effect as if it applied everywhere.</a:t>
            </a:r>
          </a:p>
          <a:p>
            <a:pPr lvl="0" indent="0" marL="1270000">
              <a:buNone/>
            </a:pPr>
            <a:r>
              <a:rPr sz="2000"/>
              <a:t>R even warns you: </a:t>
            </a:r>
            <a:r>
              <a:rPr sz="2000" i="1"/>
              <a:t>“Results may be misleading due to involvement in interactions.”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one idea to keep</a:t>
            </a:r>
          </a:p>
          <a:p>
            <a:pPr lvl="0" indent="0" marL="1270000">
              <a:buNone/>
            </a:pPr>
            <a:r>
              <a:rPr sz="2000" b="1"/>
              <a:t>Balance is a property of your design, not your analysis.</a:t>
            </a:r>
            <a:r>
              <a:rPr sz="2000"/>
              <a:t> A balanced design makes the two factors orthogonal, so each one’s sum of squares is unambiguous. Imbalance makes them share variance — and then </a:t>
            </a:r>
            <a:r>
              <a:rPr sz="2000" i="1"/>
              <a:t>how</a:t>
            </a:r>
            <a:r>
              <a:rPr sz="2000"/>
              <a:t> you allocate that shared variance (Type I vs III) becomes a decision you have to make and defend.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Nested ANOVA</a:t>
            </a:r>
          </a:p>
          <a:p>
            <a:pPr lvl="0"/>
            <a:r>
              <a:rPr sz="2000"/>
              <a:t>When one factor is nested inside another rather than crossed with it</a:t>
            </a:r>
          </a:p>
          <a:p>
            <a:pPr lvl="0"/>
            <a:r>
              <a:rPr sz="2000"/>
              <a:t>Subsamples, and the right error term to test against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did you run </a:t>
            </a:r>
            <a:r>
              <a:rPr>
                <a:latin typeface="Courier"/>
              </a:rPr>
              <a:t>options(contrasts = c("contr.sum", "contr.poly"))</a:t>
            </a:r>
            <a:r>
              <a:rPr/>
              <a:t> </a:t>
            </a:r>
            <a:r>
              <a:rPr b="1"/>
              <a:t>before</a:t>
            </a:r>
            <a:r>
              <a:rPr/>
              <a:t> fitting the model you pass to </a:t>
            </a:r>
            <a:r>
              <a:rPr>
                <a:latin typeface="Courier"/>
              </a:rPr>
              <a:t>Anova(type = "III")</a:t>
            </a:r>
            <a:r>
              <a:rPr/>
              <a:t>? Are both predictors </a:t>
            </a:r>
            <a:r>
              <a:rPr b="1"/>
              <a:t>factors</a:t>
            </a:r>
            <a:r>
              <a:rPr/>
              <a:t>? Is it </a:t>
            </a:r>
            <a:r>
              <a:rPr>
                <a:latin typeface="Courier"/>
              </a:rPr>
              <a:t>car::Anova()</a:t>
            </a:r>
            <a:r>
              <a:rPr/>
              <a:t> (capital A, Type II/III) rather than </a:t>
            </a:r>
            <a:r>
              <a:rPr>
                <a:latin typeface="Courier"/>
              </a:rPr>
              <a:t>anova()</a:t>
            </a:r>
            <a:r>
              <a:rPr/>
              <a:t> (lower case, Type I)?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Two-Way ANOVA</dc:title>
  <dc:creator>Bill Perry</dc:creator>
  <cp:keywords/>
  <dc:description>Factorial (two-factor) ANOVA, main effects and interactions, estimated marginal means, Type I/II/III sums of squares, and balanced vs. unbalanced designs — on the palmerpenguins species-by-sex dataset.</dc:description>
  <dcterms:created xsi:type="dcterms:W3CDTF">2026-10-09T19:51:54Z</dcterms:created>
  <dcterms:modified xsi:type="dcterms:W3CDTF">2026-10-09T19:51:54Z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13</vt:lpwstr>
  </property>
  <property fmtid="{D5CDD505-2E9C-101B-9397-08002B2CF9AE}" pid="14" name="resources">
    <vt:lpwstr/>
  </property>
  <property fmtid="{D5CDD505-2E9C-101B-9397-08002B2CF9AE}" pid="15" name="subtitle">
    <vt:lpwstr>Factorial designs</vt:lpwstr>
  </property>
  <property fmtid="{D5CDD505-2E9C-101B-9397-08002B2CF9AE}" pid="16" name="toc-title">
    <vt:lpwstr>Table of contents</vt:lpwstr>
  </property>
  <property fmtid="{D5CDD505-2E9C-101B-9397-08002B2CF9AE}" pid="17" name="week">
    <vt:lpwstr>9</vt:lpwstr>
  </property>
</Properties>
</file>