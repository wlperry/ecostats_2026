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38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fertilizer bag and a smiling sun icon, each with an arrow pointing down to a small green seedling, illustrating fertilizer and sunlight as two separate factors that can each affect plant biomass.</a:t>
            </a:r>
          </a:p>
        </p:txBody>
      </p:sp>
      <p:pic>
        <p:nvPicPr>
          <p:cNvPr descr="images/clipboard-32707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041400"/>
            <a:ext cx="27813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palmerpenguins R package hex-sticker logo, showing simple cartoon illustrations of the three penguin species (Adelie, Chinstrap, Gentoo) used in this lecture’s dataset.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46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981700" y="1295400"/>
            <a:ext cx="1587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Simple grid diagram of a factorial design with Factor A across the columns (levels 1-4) and Factor B down the rows (levels 1-3), with an ‘XX’ marking every cell, showing every combination of the two factors is represented.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two-way-anova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two-way ANOVA table listing Source (A, B, AB, Residual, Total), each with its sum-of-squares formula, degrees of freedom (p-1, q-1, (p-1)(q-1), pq(n-1), pqn-1), and mean-square formula.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of penguin body mass cell means and marginal (emmean) values by species (rows: Adelie, Chinstrap, Gentoo) and sex (columns: female, male), used to compute SS_A from the species row means.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(Source, SS, df, MS for A, B, AB, Residual, Total) repeated here for computing SS_B.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SS_B from the sex column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with the AB (interaction) row outlined in red, highlighting its sum-of-squares, degrees of freedom (p-1)(q-1), and mean-square formulas.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SS_AB from how each cell mean deviates from its row and column marginal means.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16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Effect Sizes (partial eta-squared):
##        Effect Partial_Eta_Sq
## 1     Species         0.8282
## 2         Sex         0.5471
## 3 Interaction         0.0842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Which effect size, and why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η</m:t>
                          </m:r>
                        </m:e>
                        <m:sub>
                          <m:r>
                            <m:t>p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Partial</a:t>
                </a:r>
                <a:r>
                  <a:rPr sz="2000"/>
                  <a:t> η² asks “of the variation this effect </a:t>
                </a:r>
                <a:r>
                  <a:rPr sz="2000" i="1"/>
                  <a:t>could</a:t>
                </a:r>
                <a:r>
                  <a:rPr sz="2000"/>
                  <a:t> explain, how much does it?” Plain η² divides by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/>
                  <a:t> instead.</a:t>
                </a:r>
              </a:p>
              <a:p>
                <a:pPr lvl="0" indent="0" marL="1270000">
                  <a:buNone/>
                </a:pPr>
                <a:r>
                  <a:rPr sz="2000"/>
                  <a:t>They agree only when a design is balanced. </a:t>
                </a:r>
                <a:r>
                  <a:rPr sz="2000" b="1"/>
                  <a:t>Type III sums of squares do not add up to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 b="1"/>
                  <a:t> in an unbalanced design</a:t>
                </a:r>
                <a:r>
                  <a:rPr sz="2000"/>
                  <a:t> — so dividing by their sum gives a number that is neither η² nor η²ₚ. Partial η² is well defined either way, which is why we use it throughout this lecture.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Four standard regression diagnostic plots for the two-way ANOVA model, arranged 2x2: residuals vs. fitted, normal Q-Q, scale-location, and residuals vs. leverage, generated automatically with ggfortify::autoplot().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two-way-anova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two-way-anova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(partial eta-squared, Type III):"
##        Effect Partial_Eta_Sq
## 1     Species         0.8204
## 2         Sex         0.4881
## 3 Interaction         0.0508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    38878897
## 
## Sum of main effects: 184069116
## Actual between SS:   183957038
## 
## Difference (design is not orthogonal):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(female - male, grams)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two-way-anova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two-way-anova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Fitted a </a:t>
            </a:r>
            <a:r>
              <a:rPr b="1"/>
              <a:t>factorial</a:t>
            </a:r>
            <a:r>
              <a:rPr/>
              <a:t> model with two categorical predictors — </a:t>
            </a:r>
            <a:r>
              <a:rPr>
                <a:latin typeface="Courier"/>
              </a:rPr>
              <a:t>body_mass_g ~ species * sex</a:t>
            </a:r>
          </a:p>
          <a:p>
            <a:pPr lvl="0"/>
            <a:r>
              <a:rPr/>
              <a:t>Separated </a:t>
            </a:r>
            <a:r>
              <a:rPr b="1"/>
              <a:t>main effects</a:t>
            </a:r>
            <a:r>
              <a:rPr/>
              <a:t> from the </a:t>
            </a:r>
            <a:r>
              <a:rPr b="1"/>
              <a:t>interaction</a:t>
            </a:r>
            <a:r>
              <a:rPr/>
              <a:t>, and saw that an interaction means “the effect of one factor depends on the level of the other”</a:t>
            </a:r>
          </a:p>
          <a:p>
            <a:pPr lvl="0"/>
            <a:r>
              <a:rPr/>
              <a:t>Used </a:t>
            </a:r>
            <a:r>
              <a:rPr b="1"/>
              <a:t>estimated marginal means</a:t>
            </a:r>
            <a:r>
              <a:rPr/>
              <a:t> instead of raw group averages, because with unequal cell sizes those are not the same thing</a:t>
            </a:r>
          </a:p>
          <a:p>
            <a:pPr lvl="0"/>
            <a:r>
              <a:rPr/>
              <a:t>Met </a:t>
            </a:r>
            <a:r>
              <a:rPr b="1"/>
              <a:t>Type I, II and III sums of squares</a:t>
            </a:r>
            <a:r>
              <a:rPr/>
              <a:t>, and saw them give identical answers on a balanced design and different answers on an unbalanced one</a:t>
            </a:r>
          </a:p>
          <a:p>
            <a:pPr lvl="0"/>
            <a:r>
              <a:rPr/>
              <a:t>Set </a:t>
            </a:r>
            <a:r>
              <a:rPr>
                <a:latin typeface="Courier"/>
              </a:rPr>
              <a:t>contr.sum</a:t>
            </a:r>
            <a:r>
              <a:rPr/>
              <a:t> contrasts </a:t>
            </a:r>
            <a:r>
              <a:rPr b="1"/>
              <a:t>before</a:t>
            </a:r>
            <a:r>
              <a:rPr/>
              <a:t> asking for Type III — without that step R silently returns the wrong main-effect tests</a:t>
            </a:r>
          </a:p>
          <a:p>
            <a:pPr lvl="0"/>
            <a:r>
              <a:rPr/>
              <a:t>Reported </a:t>
            </a:r>
            <a:r>
              <a:rPr b="1"/>
              <a:t>partial η²</a:t>
            </a:r>
            <a:r>
              <a:rPr/>
              <a:t> as the effect size that stays well defined either way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Read the interaction first</a:t>
            </a:r>
          </a:p>
          <a:p>
            <a:pPr lvl="0" indent="0" marL="1270000">
              <a:buNone/>
            </a:pPr>
            <a:r>
              <a:rPr sz="2000"/>
              <a:t>If the interaction is significant, a main effect is a </a:t>
            </a:r>
            <a:r>
              <a:rPr sz="2000" i="1"/>
              <a:t>average across conditions that behave differently</a:t>
            </a:r>
            <a:r>
              <a:rPr sz="2000"/>
              <a:t> — often not a meaningful quantity. Interpret the interaction, then use simple effects (</a:t>
            </a:r>
            <a:r>
              <a:rPr sz="2000">
                <a:latin typeface="Courier"/>
              </a:rPr>
              <a:t>emmeans(model, ~ sex | species)</a:t>
            </a:r>
            <a:r>
              <a:rPr sz="2000"/>
              <a:t>) rather than reporting the main effect as if it applied everywhere.</a:t>
            </a:r>
          </a:p>
          <a:p>
            <a:pPr lvl="0" indent="0" marL="1270000">
              <a:buNone/>
            </a:pPr>
            <a:r>
              <a:rPr sz="2000"/>
              <a:t>R even warns you: </a:t>
            </a:r>
            <a:r>
              <a:rPr sz="2000" i="1"/>
              <a:t>“Results may be misleading due to involvement in interactions.”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one idea to keep</a:t>
            </a:r>
          </a:p>
          <a:p>
            <a:pPr lvl="0" indent="0" marL="1270000">
              <a:buNone/>
            </a:pPr>
            <a:r>
              <a:rPr sz="2000" b="1"/>
              <a:t>Balance is a property of your design, not your analysis.</a:t>
            </a:r>
            <a:r>
              <a:rPr sz="2000"/>
              <a:t> A balanced design makes the two factors orthogonal, so each one’s sum of squares is unambiguous. Imbalance makes them share variance — and then </a:t>
            </a:r>
            <a:r>
              <a:rPr sz="2000" i="1"/>
              <a:t>how</a:t>
            </a:r>
            <a:r>
              <a:rPr sz="2000"/>
              <a:t> you allocate that shared variance (Type I vs III) becomes a decision you have to make and defend.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Nested ANOVA</a:t>
            </a:r>
          </a:p>
          <a:p>
            <a:pPr lvl="0"/>
            <a:r>
              <a:rPr sz="2000"/>
              <a:t>When one factor is nested inside another rather than crossed with it</a:t>
            </a:r>
          </a:p>
          <a:p>
            <a:pPr lvl="0"/>
            <a:r>
              <a:rPr sz="2000"/>
              <a:t>Subsamples, and the right error term to test against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did you run </a:t>
            </a:r>
            <a:r>
              <a:rPr>
                <a:latin typeface="Courier"/>
              </a:rPr>
              <a:t>options(contrasts = c("contr.sum", "contr.poly"))</a:t>
            </a:r>
            <a:r>
              <a:rPr/>
              <a:t> </a:t>
            </a:r>
            <a:r>
              <a:rPr b="1"/>
              <a:t>before</a:t>
            </a:r>
            <a:r>
              <a:rPr/>
              <a:t> fitting the model you pass to </a:t>
            </a:r>
            <a:r>
              <a:rPr>
                <a:latin typeface="Courier"/>
              </a:rPr>
              <a:t>Anova(type = "III")</a:t>
            </a:r>
            <a:r>
              <a:rPr/>
              <a:t>? Are both predictors </a:t>
            </a:r>
            <a:r>
              <a:rPr b="1"/>
              <a:t>factors</a:t>
            </a:r>
            <a:r>
              <a:rPr/>
              <a:t>? Is it </a:t>
            </a:r>
            <a:r>
              <a:rPr>
                <a:latin typeface="Courier"/>
              </a:rPr>
              <a:t>car::Anova()</a:t>
            </a:r>
            <a:r>
              <a:rPr/>
              <a:t> (capital A, Type II/III) rather than </a:t>
            </a:r>
            <a:r>
              <a:rPr>
                <a:latin typeface="Courier"/>
              </a:rPr>
              <a:t>anova()</a:t>
            </a:r>
            <a:r>
              <a:rPr/>
              <a:t> (lower case, Type I)?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2026-09-15T02:09:11Z</dcterms:created>
  <dcterms:modified xsi:type="dcterms:W3CDTF">2026-09-15T02:09:11Z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13</vt:lpwstr>
  </property>
  <property fmtid="{D5CDD505-2E9C-101B-9397-08002B2CF9AE}" pid="14" name="resources">
    <vt:lpwstr/>
  </property>
  <property fmtid="{D5CDD505-2E9C-101B-9397-08002B2CF9AE}" pid="15" name="subtitle">
    <vt:lpwstr>Factorial designs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