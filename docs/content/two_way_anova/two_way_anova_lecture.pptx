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1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jp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Two-Way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designs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 last time — one-way ANOVA:</a:t>
            </a:r>
          </a:p>
          <a:p>
            <a:pPr lvl="0"/>
            <a:r>
              <a:rPr/>
              <a:t>Analysis of variance: single and multi-factor designs</a:t>
            </a:r>
          </a:p>
          <a:p>
            <a:pPr lvl="0"/>
            <a:r>
              <a:rPr/>
              <a:t>Examples: diatoms, circadian rhythms</a:t>
            </a:r>
          </a:p>
          <a:p>
            <a:pPr lvl="0"/>
            <a:r>
              <a:rPr/>
              <a:t>Predictor variables: fixed vs. random</a:t>
            </a:r>
          </a:p>
          <a:p>
            <a:pPr lvl="0"/>
            <a:r>
              <a:rPr/>
              <a:t>The ANOVA model</a:t>
            </a:r>
          </a:p>
          <a:p>
            <a:pPr lvl="0"/>
            <a:r>
              <a:rPr/>
              <a:t>Analysis and partitioning of variance</a:t>
            </a:r>
          </a:p>
          <a:p>
            <a:pPr lvl="0"/>
            <a:r>
              <a:rPr/>
              <a:t>Null hypothesis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Post-hoc F-tests — Tukey and others</a:t>
            </a:r>
          </a:p>
          <a:p>
            <a:pPr lvl="0"/>
            <a:r>
              <a:rPr/>
              <a:t>Reporting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last lecture</a:t>
            </a:r>
          </a:p>
          <a:p>
            <a:pPr lvl="0" indent="0" marL="1270000">
              <a:buNone/>
            </a:pPr>
            <a:r>
              <a:rPr sz="2000"/>
              <a:t>One-way ANOVA asks “do these groups differ?” for one factor. Today: what happens when two factors act </a:t>
            </a:r>
            <a:r>
              <a:rPr sz="2000" i="1"/>
              <a:t>together</a:t>
            </a:r>
            <a:r>
              <a:rPr sz="2000"/>
              <a:t> — separately, and possibly interacting?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84900" y="660400"/>
            <a:ext cx="26543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XKCD comic listing p-value ranges with increasingly tongue-in-cheek interpretations, from ‘Highly Significant’ at p under 0.03 down through ‘On the edge of significance’ and ‘Hey, look at this interesting subgroup analysis’ at p &gt;= 0.1, captioned ‘If all else fails, use significant at a p&gt;0.05 level and hope no one notices’ — a joke about p-hacking and misusing significance thresholds.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Factorial ANOVA — the Concept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Two-Factor Designs (2-Way ANOVA)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Very common in ecology</a:t>
            </a:r>
          </a:p>
          <a:p>
            <a:pPr lvl="0"/>
            <a:r>
              <a:rPr/>
              <a:t>Can have more factors (e.g., 3-way ANOVA), but interpretation gets very challenging</a:t>
            </a:r>
          </a:p>
          <a:p>
            <a:pPr lvl="0"/>
            <a:r>
              <a:rPr/>
              <a:t>Most multifactor designs are factorial or nested</a:t>
            </a:r>
          </a:p>
          <a:p>
            <a:pPr lvl="0"/>
            <a:r>
              <a:rPr/>
              <a:t>We’ll cover a 2-factor ANOVA — this could be fertilizer and sunlight for plant biomass produced:</a:t>
            </a:r>
          </a:p>
          <a:p>
            <a:pPr lvl="1"/>
            <a:r>
              <a:rPr/>
              <a:t>each can have an effect independently</a:t>
            </a:r>
          </a:p>
          <a:p>
            <a:pPr lvl="1"/>
            <a:r>
              <a:rPr/>
              <a:t>the effect of one factor may interact with the other factor</a:t>
            </a:r>
          </a:p>
          <a:p>
            <a:pPr lvl="1"/>
            <a:r>
              <a:rPr/>
              <a:t>example: a low- vs. high-light treatment might affect biomass; fertilizer might also affect biomass; but under higher light, the high-fertilizer treatment may grow better than expected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Gotelli &amp; Ellison, </a:t>
            </a:r>
            <a:r>
              <a:rPr sz="2000" i="1"/>
              <a:t>A Primer of Ecological Statistics</a:t>
            </a:r>
            <a:r>
              <a:rPr sz="2000"/>
              <a:t>, Ch. 10 — The Analysis of Variance, extends to factorial designs like the one covered today.</a:t>
            </a:r>
          </a:p>
        </p:txBody>
      </p:sp>
      <p:pic>
        <p:nvPicPr>
          <p:cNvPr descr="images/clipboard-32872725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38200"/>
            <a:ext cx="2781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of a fertilizer bag and a smiling sun icon, each with an arrow pointing down to a small green seedling, illustrating fertilizer and sunlight as two separate factors that can each affect plant biomass.</a:t>
            </a:r>
          </a:p>
        </p:txBody>
      </p:sp>
      <p:pic>
        <p:nvPicPr>
          <p:cNvPr descr="images/clipboard-32707833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1041400"/>
            <a:ext cx="27813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palmerpenguins R package hex-sticker logo, showing simple cartoon illustrations of the three penguin species (Adelie, Chinstrap, Gentoo) used in this lecture’s dataset.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ANOVA: Design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two factors:</a:t>
            </a:r>
          </a:p>
          <a:p>
            <a:pPr lvl="0"/>
            <a:r>
              <a:rPr b="1"/>
              <a:t>Factorial/crossed:</a:t>
            </a:r>
            <a:r>
              <a:rPr/>
              <a:t> every level of B in every level of A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346200"/>
            <a:ext cx="44323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Cartoon illustration of the three penguin species used in this lecture’s dataset, each labeled: Chinstrap, Gentoo, and Adelie.</a:t>
            </a:r>
          </a:p>
        </p:txBody>
      </p:sp>
      <p:pic>
        <p:nvPicPr>
          <p:cNvPr descr="images/clipboard-273769091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981700" y="1295400"/>
            <a:ext cx="15875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contrasting a crossed design, where both levels of Factor 1 (A, B) connect to every level of Factor 2 (a, b, c, d), against a nested design below it, where each level of Factor 1 connects only to its own subset of (random) Factor 2 levels, both feeding into individual observations (Schielzth &amp; Nakagawa 2013).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Effect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factorial designs, we look at two types of factor effects:</a:t>
            </a:r>
          </a:p>
          <a:p>
            <a:pPr lvl="0"/>
            <a:r>
              <a:rPr b="1"/>
              <a:t>Main effect of each factor</a:t>
            </a:r>
            <a:r>
              <a:rPr/>
              <a:t> (pooling across the other factor)</a:t>
            </a:r>
          </a:p>
          <a:p>
            <a:pPr lvl="0"/>
            <a:r>
              <a:rPr b="1"/>
              <a:t>Interaction effects</a:t>
            </a:r>
            <a:r>
              <a:rPr/>
              <a:t> — is there a synergistic/antagonistic effect between factors?</a:t>
            </a:r>
          </a:p>
        </p:txBody>
      </p:sp>
      <p:pic>
        <p:nvPicPr>
          <p:cNvPr descr="images/clipboard-12528660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Simple grid diagram of a factorial design with Factor A across the columns (levels 1-4) and Factor B down the rows (levels 1-3), with an ‘XX’ marking every cell, showing every combination of the two factors is represented.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Setting Up — the Penguin Data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Two-way ANOVA examines:</a:t>
            </a:r>
          </a:p>
          <a:p>
            <a:pPr lvl="0"/>
            <a:r>
              <a:rPr/>
              <a:t>Main effect of Factor A (Species)</a:t>
            </a:r>
          </a:p>
          <a:p>
            <a:pPr lvl="0"/>
            <a:r>
              <a:rPr/>
              <a:t>Main effect of Factor B (Sex)</a:t>
            </a:r>
          </a:p>
          <a:p>
            <a:pPr lvl="0"/>
            <a:r>
              <a:rPr/>
              <a:t>Interaction between A × B</a:t>
            </a:r>
          </a:p>
          <a:p>
            <a:pPr lvl="0"/>
            <a:r>
              <a:rPr b="1"/>
              <a:t>Balanced design:</a:t>
            </a:r>
            <a:r>
              <a:rPr/>
              <a:t> equal sample sizes in all cells</a:t>
            </a:r>
          </a:p>
          <a:p>
            <a:pPr lvl="0"/>
            <a:r>
              <a:rPr b="1"/>
              <a:t>Type III sums of squares</a:t>
            </a:r>
            <a:r>
              <a:rPr/>
              <a:t> for unbiased estimates — if the design is balanced, the choice of SS type doesn’t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73     3369.    269.    31.5
## 2 Adelie    male      73     4043.    347.    40.6
## 3 Chinstrap female    34     3527.    285.    48.9
## 4 Chinstrap male      34     3939.    362.    62.1
## 5 Gentoo    female    58     4680.    282.    37.0
## 6 Gentoo    male      61     5485.    313.    40.1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Preparation — Creating a Balanced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penguin data frame is unbalanced — there are unequal samples per cell.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 × 3
##   species   female  male
##   &lt;fct&gt;      &lt;int&gt; &lt;int&gt;
## 1 Adelie        73    73
## 2 Chinstrap     34    34
## 3 Gentoo        58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Minimum n = 34
## # A tibble: 3 × 3
##   species   female  male
##   &lt;fct&gt;      &lt;int&gt; &lt;int&gt;
## 1 Adelie        34    34
## 2 Chinstrap     34    34
## 3 Gentoo        34    34</a:t>
                </a:r>
              </a:p>
              <a:p>
                <a:pPr lvl="0" indent="0" marL="0">
                  <a:buNone/>
                </a:pPr>
                <a:r>
                  <a:rPr b="1"/>
                  <a:t>Statistical model: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μ = grand mean, α_i = effect of species i, β_j = effect of sex j, (αβ)_ij = interaction effect, ε_ijk = random error.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34     3335.    260.    44.5
## 2 Adelie    male      34     4049.    318.    54.5
## 3 Chinstrap female    34     3527.    285.    48.9
## 4 Chinstrap male      34     3939.    362.    62.1
## 5 Gentoo    female    34     4681.    309.    53.0
## 6 Gentoo    male      34     5525     274.    47.0</a:t>
            </a:r>
          </a:p>
        </p:txBody>
      </p:sp>
      <p:pic>
        <p:nvPicPr>
          <p:cNvPr descr="two_way_anova_lecture_files/figure-pptx/two-way-anova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63700"/>
            <a:ext cx="2781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The Factorial 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Factorial designs can be of 3 types:</a:t>
                </a:r>
              </a:p>
              <a:p>
                <a:pPr lvl="0"/>
                <a:r>
                  <a:rPr b="1"/>
                  <a:t>Model 1</a:t>
                </a:r>
                <a:r>
                  <a:rPr/>
                  <a:t> — 2 fixed factors (the focus for today)</a:t>
                </a:r>
              </a:p>
              <a:p>
                <a:pPr lvl="0"/>
                <a:r>
                  <a:rPr b="1"/>
                  <a:t>Model 2</a:t>
                </a:r>
                <a:r>
                  <a:rPr/>
                  <a:t> — 2 random factors</a:t>
                </a:r>
              </a:p>
              <a:p>
                <a:pPr lvl="0"/>
                <a:r>
                  <a:rPr b="1"/>
                  <a:t>Model 3</a:t>
                </a:r>
                <a:r>
                  <a:rPr/>
                  <a:t> — 1 fixed, 1 random (mixed model) — often nested</a:t>
                </a:r>
              </a:p>
              <a:p>
                <a:pPr lvl="0" indent="0" marL="0">
                  <a:buNone/>
                </a:pPr>
                <a:r>
                  <a:rPr b="1"/>
                  <a:t>Model 1 ANOVA: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The formula looks identical to Model 2 and Model 3 — what changes between them is whether α, β are treated as </a:t>
            </a:r>
            <a:r>
              <a:rPr sz="2000" i="1"/>
              <a:t>fixed</a:t>
            </a:r>
            <a:r>
              <a:rPr sz="2000"/>
              <a:t> effects (specific groups you care about) or </a:t>
            </a:r>
            <a:r>
              <a:rPr sz="2000" i="1"/>
              <a:t>random</a:t>
            </a:r>
            <a:r>
              <a:rPr sz="2000"/>
              <a:t> effects (a sample from a larger population of possible groups).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Model Components — the Main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value of the k-th observation from the j-th and i-th combination of B and A (sex j of species i)</a:t>
                </a:r>
              </a:p>
              <a:p>
                <a:pPr lvl="0"/>
                <a:r>
                  <a:rPr/>
                  <a:t>μ: overall mean (overall mass)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: effect of the i-th level of A, pooling across all levels of B —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r>
                      <m:t>μ</m:t>
                    </m:r>
                  </m:oMath>
                </a14:m>
                <a:r>
                  <a:rPr/>
                  <a:t> (difference between the average mass of all “species i” penguins and the overall mean)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Every effect in this model is defined as a deviation from a mean — the grand mean, or a group mean. This is exactly the same logic as a t-test or one-way ANOVA, just with more terms.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Model Components — the Interaction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effect of the j-th level of B, pooling across all levels of A —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r>
                      <m:t>μ</m:t>
                    </m:r>
                  </m:oMath>
                </a14:m>
                <a:r>
                  <a:rPr/>
                  <a:t> (difference between the average mass of all “sex j” penguins and the overall mean)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effect of the interaction of level i of A and level j of B —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μ</m:t>
                    </m:r>
                  </m:oMath>
                </a14:m>
                <a:r>
                  <a:rPr/>
                  <a:t>. Does the effect of B depend on the level of A? (Is the effect of sex different across the 3 species?)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interaction term is what’s </a:t>
            </a:r>
            <a:r>
              <a:rPr sz="2000" i="1"/>
              <a:t>left over</a:t>
            </a:r>
            <a:r>
              <a:rPr sz="2000"/>
              <a:t> after you subtract out both main effects and the grand mean — it’s literally “the part the additive model can’t explain.”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Model Types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Model 2 ANOVA is rare in ecology</a:t>
                </a:r>
              </a:p>
              <a:p>
                <a:pPr lvl="0"/>
                <a:r>
                  <a:rPr b="1"/>
                  <a:t>Model 3 interpretation is different: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random variable measuring variance in y across </a:t>
                </a:r>
                <a:r>
                  <a:rPr i="1"/>
                  <a:t>all possible</a:t>
                </a:r>
                <a:r>
                  <a:rPr/>
                  <a:t> levels of B, pooling across A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a random variable measuring variance of the interaction between A and B across all possible levels of B (“is the effect of A consistent across all possible levels of B that could have been chosen?”)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Fixed vs. random isn’t about the </a:t>
            </a:r>
            <a:r>
              <a:rPr sz="2000" i="1"/>
              <a:t>data</a:t>
            </a:r>
            <a:r>
              <a:rPr sz="2000"/>
              <a:t> — it’s about the </a:t>
            </a:r>
            <a:r>
              <a:rPr sz="2000" i="1"/>
              <a:t>question</a:t>
            </a:r>
            <a:r>
              <a:rPr sz="2000"/>
              <a:t>. Are you interested in these specific 3 species (fixed), or in “species” as a general source of variation (random)?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Estimated Marginal Means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—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further, we need to define estimated marginal means (EMMs)</a:t>
            </a:r>
          </a:p>
          <a:p>
            <a:pPr lvl="0"/>
            <a:r>
              <a:rPr b="1"/>
              <a:t>Balanced data:</a:t>
            </a:r>
            <a:r>
              <a:rPr/>
              <a:t> it’s just the means of the groups — easy</a:t>
            </a:r>
          </a:p>
          <a:p>
            <a:pPr lvl="0"/>
            <a:r>
              <a:rPr b="1"/>
              <a:t>Unbalanced data:</a:t>
            </a:r>
            <a:r>
              <a:rPr/>
              <a:t> it’s the mean of </a:t>
            </a:r>
            <a:r>
              <a:rPr i="1"/>
              <a:t>cell means</a:t>
            </a:r>
            <a:r>
              <a:rPr/>
              <a:t>, not a simple average of all raw observations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
## 
## 
## Regular means (WRONG for marginal means):
## # A tibble: 3 × 3
##   species   total_n regular_mean
##   &lt;fct&gt;       &lt;int&gt;        &lt;dbl&gt;
## 1 Adelie        146        3706.
## 2 Chinstrap      68        3733.
## 3 Gentoo        119        5092.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Estimated Marginal Means for Species (CORRECT):
## # A tibble: 3 × 3
##   species   emm_mean calculation                   
##   &lt;fct&gt;        &lt;dbl&gt; &lt;chr&gt;                         
## 1 Adelie       3706. (3368.8 + 4043.5) / 2 = 3706.2
## 2 Chinstrap    3733. (3527.2 + 3939) / 2 = 3733.1  
## 3 Gentoo       5082. (4679.7 + 5484.8) / 2 = 5082.3
## 
## 
## Comparison showing EMM calculation:
## # A tibble: 3 × 6
##   species   cell_mean_female cell_mean_male species_emm regular_mean difference
##   &lt;fct&gt;                &lt;dbl&gt;          &lt;dbl&gt;       &lt;dbl&gt;        &lt;dbl&gt;      &lt;dbl&gt;
## 1 Adelie               3369.          4043.       3706.        3706.   4.55e-13
## 2 Chinstrap            3527.          3939.       3733.        3733.   0       
## 3 Gentoo               4680.          5485.       5082.        5092.  -1.01e+ 1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— Sex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Balanced data: just the means of the groups</a:t>
            </a:r>
          </a:p>
          <a:p>
            <a:pPr lvl="0"/>
            <a:r>
              <a:rPr/>
              <a:t>Unbalanced data: mean of cell means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Regular means sex (WRONG for marginal means):
## # A tibble: 2 × 3
##   sex    total_n regular_mean
##   &lt;fct&gt;    &lt;int&gt;        &lt;dbl&gt;
## 1 female     165        3862.
## 2 male       168        4546.
## 
## 
## Estimated Marginal Means for Sex (CORRECT):
## # A tibble: 2 × 3
##   sex    emm_mean calculation                            
##   &lt;fct&gt;     &lt;dbl&gt; &lt;chr&gt;                                  
## 1 female    3859. (3368.8 + 3527.2 + 4679.7) / 3 = 3858.6
## 2 male      4489. (4043.5 + 3939 + 5484.8) / 3 = 4489.1
## 
## 
## Comparison showing difference between regular and marginal means:
## # A tibble: 2 × 5
##   sex    total_n regular_mean emm_mean difference
##   &lt;fct&gt;    &lt;int&gt;        &lt;dbl&gt;    &lt;dbl&gt;      &lt;dbl&gt;
## 1 female     165        3862.    3859.      -3.68
## 2 male       168        4546.    4489.     -56.6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The Two-Way ANOVA Table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ANOVA Table Structure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A</m:t>
                        </m:r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∑</m:t>
                    </m:r>
                    <m:r>
                      <m:rPr>
                        <m:sty m:val="p"/>
                      </m:rPr>
                      <m:t>(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the difference between each observation and its cell mean, summed over all observations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00"/>
                <a:gridCol w="1384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− 1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 − 1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(p−1)(q−1)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Residual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pq(n−1)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pqn − 1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SSA: Factor A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 is the SS of differences between each marginal mean of A and the overall mean</a:t>
                </a:r>
              </a:p>
              <a:p>
                <a:pPr lvl="0"/>
                <a:r>
                  <a:rPr/>
                  <a:t>If A is species, take the EMMs for factor A and subtract from the overall mean</a:t>
                </a:r>
              </a:p>
            </p:txBody>
          </p:sp>
        </mc:Choice>
      </mc:AlternateContent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55800"/>
            <a:ext cx="2781300" cy="137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Full two-way ANOVA table listing Source (A, B, AB, Residual, Total), each with its sum-of-squares formula, degrees of freedom (p-1, q-1, (p-1)(q-1), pq(n-1), pqn-1), and mean-square formula.</a:t>
            </a:r>
          </a:p>
        </p:txBody>
      </p:sp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22500"/>
            <a:ext cx="27813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Table of penguin body mass cell means and marginal (emmean) values by species (rows: Adelie, Chinstrap, Gentoo) and sex (columns: female, male), used to compute SS_A from the species row means.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SSB: Factor B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B</m:t>
                        </m:r>
                      </m:sub>
                    </m:sSub>
                  </m:oMath>
                </a14:m>
                <a:r>
                  <a:rPr/>
                  <a:t> is the SS of differences between each marginal mean of B and the overall mean</a:t>
                </a:r>
              </a:p>
              <a:p>
                <a:pPr lvl="0"/>
                <a:r>
                  <a:rPr/>
                  <a:t>If B is sex, take the EMMs for factor B and subtract from the overall mean</a:t>
                </a:r>
              </a:p>
            </p:txBody>
          </p:sp>
        </mc:Choice>
      </mc:AlternateContent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55800"/>
            <a:ext cx="2781300" cy="137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two-way ANOVA table (Source, SS, df, MS for A, B, AB, Residual, Total) repeated here for computing SS_B.</a:t>
            </a:r>
          </a:p>
        </p:txBody>
      </p:sp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22500"/>
            <a:ext cx="27813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penguin body-mass cell-means and marginal-means table repeated here, used to compute SS_B from the sex column means.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SSAB: Interaction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A</m:t>
                        </m:r>
                        <m:r>
                          <m:t>B</m:t>
                        </m:r>
                      </m:sub>
                    </m:sSub>
                  </m:oMath>
                </a14:m>
                <a:r>
                  <a:rPr/>
                  <a:t> is the SS of cell means minus marginal means plus the overall mean.</a:t>
                </a:r>
              </a:p>
            </p:txBody>
          </p:sp>
        </mc:Choice>
      </mc:AlternateContent>
      <p:pic>
        <p:nvPicPr>
          <p:cNvPr descr="images/clipboard-34859902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55800"/>
            <a:ext cx="2781300" cy="135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two-way ANOVA table with the AB (interaction) row outlined in red, highlighting its sum-of-squares, degrees of freedom (p-1)(q-1), and mean-square formulas.</a:t>
            </a:r>
          </a:p>
        </p:txBody>
      </p:sp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22500"/>
            <a:ext cx="27813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penguin body-mass cell-means and marginal-means table repeated here, used to compute SS_AB from how each cell mean deviates from its row and column marginal means.</a:t>
            </a:r>
          </a:p>
        </p:txBody>
      </p:sp>
    </p:spTree>
  </p:cSld>
</p:sld>
</file>

<file path=ppt/slides/slide2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602780" /></a:xfrm><a:solidFill><a:srgbClr val="70121D" /></a:solidFill></p:spPr><p:txBody><a:bodyPr /><a:lstStyle /><a:p><a:pPr lvl="0" indent="0" marL="0"><a:buNone /></a:pPr><a:r><a:rPr /><a:t>F-Ratio Calculations</a:t></a:r></a:p></p:txBody></p:sp><p:sp><p:nvSpPr><p:cNvPr id="3" name="Content Placeholder 2" /><p:cNvSpPr><a:spLocks noGrp="1" /></p:cNvSpPr><p:nvPr><p:ph idx="1" sz="half" /></p:nvPr></p:nvSpPr><p:spPr /><p:txBody><a:bodyPr /><a:lstStyle /><a:p><a:pPr lvl="0" indent="0" marL="0"><a:buNone /></a:pPr><a:r><a:rPr /><a:t>SS converts to MS; F-ratio calculations differ depending on whether factors are fixed, random, or mixed.</a:t></a:r></a:p></p:txBody></p:sp><p:graphicFrame><p:nvGraphicFramePr><p:cNvPr id="6" name="Content Placeholder 5" /><p:cNvGraphicFramePr><a:graphicFrameLocks noGrp="1" /></p:cNvGraphicFramePr><p:nvPr><p:ph idx="1" /></p:nvPr></p:nvGraphicFramePr><p:xfrm><a:off x="6121400" y="660400" /><a:ext cx="2781300" cy="4470400" /></p:xfrm><a:graphic><a:graphicData uri="http://schemas.openxmlformats.org/drawingml/2006/table"><a:tbl><a:tblPr firstRow="1" bandRow="1"><a:tableStyleId>{5C22544A-7EE6-4342-B048-85BDC9FD1C3A}</a:tableStyleId></a:tblPr><a:tblGrid><a:gridCol w="685800" /><a:gridCol w="685800" /><a:gridCol w="685800" /><a:gridCol w="685800" /></a:tblGrid><a:tr h="0"><a:tc><a:txBody><a:bodyPr /><a:lstStyle /><a:p><a:pPr lvl="0" indent="0" marL="0" algn="l"><a:buNone /></a:pPr><a:r><a:rPr /><a:t>Source</a:t></a:r></a:p></a:txBody><a:tcPr /></a:tc><a:tc><a:txBody><a:bodyPr /><a:lstStyle /><a:p><a:pPr lvl="0" indent="0" marL="0" algn="l"><a:buNone /></a:pPr><a:r><a:rPr /><a:t>A, B fixed</a:t></a:r></a:p></a:txBody><a:tcPr /></a:tc><a:tc><a:txBody><a:bodyPr /><a:lstStyle /><a:p><a:pPr lvl="0" indent="0" marL="0" algn="l"><a:buNone /></a:pPr><a:r><a:rPr /><a:t>A, B random</a:t></a:r></a:p></a:txBody><a:tcPr /></a:tc><a:tc><a:txBody><a:bodyPr /><a:lstStyle /><a:p><a:pPr lvl="0" indent="0" marL="0" algn="l"><a:buNone /></a:pPr><a:r><a:rPr /><a:t>A fixed, B random</a:t></a:r></a:p></a:txBody><a:tcPr /></a:tc></a:tr><a:tr h="0"><a:tc><a:txBody><a:bodyPr /><a:lstStyle /><a:p><a:pPr lvl="0" indent="0" marL="0" algn="l"><a:buNone /></a:pPr><a:r><a:rPr /><a:t>A</a:t></a:r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A</m:t></m:r></m:sub></m:sSub><m:r><m:rPr><m:sty m:val="p" /></m:rPr><m:t>/</m:t></m:r><m:r><m:t>M</m:t></m:r><m:sSub><m:e><m:r><m:t>S</m:t></m:r></m:e><m:sub><m:r><m:t>R</m:t></m:r><m:r><m:t>e</m:t></m:r><m:r><m:t>s</m:t></m:r></m:sub></m:sSub></m:oMath></a14:m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A</m:t></m:r></m:sub></m:sSub><m:r><m:rPr><m:sty m:val="p" /></m:rPr><m:t>/</m:t></m:r><m:r><m:t>M</m:t></m:r><m:sSub><m:e><m:r><m:t>S</m:t></m:r></m:e><m:sub><m:r><m:t>A</m:t></m:r><m:r><m:t>B</m:t></m:r></m:sub></m:sSub></m:oMath></a14:m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A</m:t></m:r></m:sub></m:sSub><m:r><m:rPr><m:sty m:val="p" /></m:rPr><m:t>/</m:t></m:r><m:r><m:t>M</m:t></m:r><m:sSub><m:e><m:r><m:t>S</m:t></m:r></m:e><m:sub><m:r><m:t>A</m:t></m:r><m:r><m:t>B</m:t></m:r></m:sub></m:sSub></m:oMath></a14:m></a:p></a:txBody></a:tc></a:tr><a:tr h="0"><a:tc><a:txBody><a:bodyPr /><a:lstStyle /><a:p><a:pPr lvl="0" indent="0" marL="0" algn="l"><a:buNone /></a:pPr><a:r><a:rPr /><a:t>B</a:t></a:r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B</m:t></m:r></m:sub></m:sSub><m:r><m:rPr><m:sty m:val="p" /></m:rPr><m:t>/</m:t></m:r><m:r><m:t>M</m:t></m:r><m:sSub><m:e><m:r><m:t>S</m:t></m:r></m:e><m:sub><m:r><m:t>R</m:t></m:r><m:r><m:t>e</m:t></m:r><m:r><m:t>s</m:t></m:r></m:sub></m:sSub></m:oMath></a14:m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B</m:t></m:r></m:sub></m:sSub><m:r><m:rPr><m:sty m:val="p" /></m:rPr><m:t>/</m:t></m:r><m:r><m:t>M</m:t></m:r><m:sSub><m:e><m:r><m:t>S</m:t></m:r></m:e><m:sub><m:r><m:t>A</m:t></m:r><m:r><m:t>B</m:t></m:r></m:sub></m:sSub></m:oMath></a14:m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B</m:t></m:r></m:sub></m:sSub><m:r><m:rPr><m:sty m:val="p" /></m:rPr><m:t>/</m:t></m:r><m:r><m:t>M</m:t></m:r><m:sSub><m:e><m:r><m:t>S</m:t></m:r></m:e><m:sub><m:r><m:t>A</m:t></m:r><m:r><m:t>B</m:t></m:r></m:sub></m:sSub></m:oMath></a14:m></a:p></a:txBody></a:tc></a:tr><a:tr h="0"><a:tc><a:txBody><a:bodyPr /><a:lstStyle /><a:p><a:pPr lvl="0" indent="0" marL="0" algn="l"><a:buNone /></a:pPr><a:r><a:rPr /><a:t>AB</a:t></a:r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A</m:t></m:r><m:r><m:t>B</m:t></m:r></m:sub></m:sSub><m:r><m:rPr><m:sty m:val="p" /></m:rPr><m:t>/</m:t></m:r><m:r><m:t>M</m:t></m:r><m:sSub><m:e><m:r><m:t>S</m:t></m:r></m:e><m:sub><m:r><m:t>R</m:t></m:r><m:r><m:t>e</m:t></m:r><m:r><m:t>s</m:t></m:r></m:sub></m:sSub></m:oMath></a14:m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A</m:t></m:r><m:r><m:t>B</m:t></m:r></m:sub></m:sSub><m:r><m:rPr><m:sty m:val="p" /></m:rPr><m:t>/</m:t></m:r><m:r><m:t>M</m:t></m:r><m:sSub><m:e><m:r><m:t>S</m:t></m:r></m:e><m:sub><m:r><m:t>R</m:t></m:r><m:r><m:t>e</m:t></m:r><m:r><m:t>s</m:t></m:r></m:sub></m:sSub></m:oMath></a14:m></a:p></a:txBody></a:tc><a:tc><a:txBody><a:bodyPr /><a:lstStyle /><a:p><a:pPr lvl="0" indent="0" marL="0" algn="l"><a:buNone /></a:pPr><a14:m><m:oMath xmlns:m="http://schemas.openxmlformats.org/officeDocument/2006/math"><m:r><m:t>M</m:t></m:r><m:sSub><m:e><m:r><m:t>S</m:t></m:r></m:e><m:sub><m:r><m:t>A</m:t></m:r><m:r><m:t>B</m:t></m:r></m:sub></m:sSub><m:r><m:rPr><m:sty m:val="p" /></m:rPr><m:t>/</m:t></m:r><m:r><m:t>M</m:t></m:r><m:sSub><m:e><m:r><m:t>S</m:t></m:r></m:e><m:sub><m:r><m:t>R</m:t></m:r><m:r><m:t>e</m:t></m:r><m:r><m:t>s</m:t></m:r></m:sub></m:sSub></m:oMath></a14:m></a:p></a:txBody></a:tc></a:tr></a:tbl></a:graphicData></a:graphic></p:graphicFrame></p:spTree></p:cSld>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Hypotheses — Both Factors Fixed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 hypotheses are tested in a two-way factorial ANOVA: A, B, A×B. </a:t>
                </a:r>
                <a:r>
                  <a:rPr b="1"/>
                  <a:t>Both factors fixed: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(no difference in marginal means of A, pooling across B)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q</m:t>
                        </m:r>
                      </m:sub>
                    </m:sSub>
                  </m:oMath>
                </a14:m>
                <a:r>
                  <a:rPr/>
                  <a:t> (no difference in marginal means of B, pooling across A)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(no interaction effect)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These are exactly the two main-effect hypotheses from a one-way ANOVA, plus one new hypothesis just for the interaction.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Hypotheses — Mixed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 hypotheses: A, B, A×B. </a:t>
                </a:r>
                <a:r>
                  <a:rPr b="1"/>
                  <a:t>One fixed, one random: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(no difference in marginal means of A, pooling across B)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m:t>σ</m:t>
                        </m:r>
                      </m:e>
                      <m:sub>
                        <m:r>
                          <m:t>B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(no added variance due to levels of B that could have been used)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m:t>σ</m:t>
                        </m:r>
                      </m:e>
                      <m:sub>
                        <m:r>
                          <m:t>A</m:t>
                        </m:r>
                        <m:r>
                          <m:t>B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(no added variance due to interaction between all levels of A and B that could have been used)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Notice the switch from “means are equal” (fixed) to “variance is zero” (random) — that’s the fundamental difference in what a random-effect hypothesis is even asking.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Fitting the Balanced Model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Example Study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try the example with the </a:t>
            </a:r>
            <a:r>
              <a:rPr>
                <a:latin typeface="Courier"/>
              </a:rPr>
              <a:t>palmerpenguins</a:t>
            </a:r>
            <a:r>
              <a:rPr/>
              <a:t> package data:</a:t>
            </a:r>
          </a:p>
          <a:p>
            <a:pPr lvl="0"/>
            <a:r>
              <a:rPr/>
              <a:t>Effect of species and sex on </a:t>
            </a:r>
            <a:r>
              <a:rPr>
                <a:latin typeface="Courier"/>
              </a:rPr>
              <a:t>body_mass_g</a:t>
            </a:r>
          </a:p>
          <a:p>
            <a:pPr lvl="0"/>
            <a:r>
              <a:rPr/>
              <a:t>3 species (Factor A)</a:t>
            </a:r>
          </a:p>
          <a:p>
            <a:pPr lvl="0"/>
            <a:r>
              <a:rPr/>
              <a:t>2 sexes (Factor B)</a:t>
            </a:r>
          </a:p>
          <a:p>
            <a:pPr lvl="0"/>
            <a:r>
              <a:rPr/>
              <a:t>34 replicates in each cell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16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Cartoon illustration of the three penguin species used in this lecture’s dataset, each labeled: Chinstrap, Gentoo, and Adelie.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Two-Way ANOVA with 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lm(formula = body_mass_g ~ species * sex, data = balanced_df)
## 
## Residuals:
##     Min      1Q  Median      3Q     Max 
## -827.21 -178.13    6.25  175.00  861.03 
## 
## Coefficients:
##               Estimate Std. Error t value Pr(&gt;|t|)    
## (Intercept)    4175.86      21.23 196.727  &lt; 2e-16 ***
## species1       -484.31      30.02 -16.134  &lt; 2e-16 ***
## species2       -442.77      30.02 -14.750  &lt; 2e-16 ***
## sex1           -328.31      21.23 -15.467  &lt; 2e-16 ***
## species1:sex1   -28.68      30.02  -0.955    0.341    
## species2:sex1   122.43      30.02   4.078 6.57e-05 ***
## ---
## Signif. codes:  0 '***' 0.001 '**' 0.01 '*' 0.05 '.' 0.1 ' ' 1
## 
## Residual standard error: 303.2 on 198 degrees of freedom
## Multiple R-squared:  0.8596, Adjusted R-squared:  0.856 
## F-statistic: 242.4 on 5 and 198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III Sums of Squares ANOVA:
## Anova Table (Type III tests)
## 
## Response: body_mass_g
##                 Sum Sq  Df    F value    Pr(&gt;F)    
## (Intercept) 3557308900   1 38701.5271 &lt; 2.2e-16 ***
## species       87725999   2   477.2049 &lt; 2.2e-16 ***
## sex           21988483   1   239.2224 &lt; 2.2e-16 ***
## species:sex    1672776   2     9.0994 0.0001657 ***
## Residuals     18199467 198                         
## ---
## Signif. codes:  0 '***' 0.001 '**' 0.01 '*' 0.05 '.' 0.1 ' ' 1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Type III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test each effect after adjusting for all other effects in the model:</a:t>
            </a:r>
          </a:p>
          <a:p>
            <a:pPr lvl="0"/>
            <a:r>
              <a:rPr b="1"/>
              <a:t>Species effect:</a:t>
            </a:r>
            <a:r>
              <a:rPr/>
              <a:t> tested after adjusting for sex and interaction</a:t>
            </a:r>
          </a:p>
          <a:p>
            <a:pPr lvl="0"/>
            <a:r>
              <a:rPr b="1"/>
              <a:t>Sex effect:</a:t>
            </a:r>
            <a:r>
              <a:rPr/>
              <a:t> tested after adjusting for species and interaction</a:t>
            </a:r>
          </a:p>
          <a:p>
            <a:pPr lvl="0"/>
            <a:r>
              <a:rPr b="1"/>
              <a:t>Interaction:</a:t>
            </a:r>
            <a:r>
              <a:rPr/>
              <a:t> tested after adjusting for both main effects</a:t>
            </a:r>
          </a:p>
          <a:p>
            <a:pPr lvl="0" indent="0" marL="0">
              <a:buNone/>
            </a:pPr>
            <a:r>
              <a:rPr/>
              <a:t>This is especially important for unbalanced designs, but we’re using it here for consistency with the next analysis.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Effect Sizes (partial eta-squared):
##        Effect Partial_Eta_Sq
## 1     Species         0.8282
## 2         Sex         0.5471
## 3 Interaction         0.0842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📖 Which effect size, and why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η</m:t>
                          </m:r>
                        </m:e>
                        <m:sub>
                          <m:r>
                            <m:t>p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f</m:t>
                              </m:r>
                              <m:r>
                                <m:t>f</m:t>
                              </m:r>
                              <m:r>
                                <m:t>e</m:t>
                              </m:r>
                              <m:r>
                                <m:t>c</m:t>
                              </m:r>
                              <m: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f</m:t>
                              </m:r>
                              <m:r>
                                <m:t>f</m:t>
                              </m:r>
                              <m:r>
                                <m:t>e</m:t>
                              </m:r>
                              <m:r>
                                <m:t>c</m:t>
                              </m:r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 b="1"/>
                  <a:t>Partial</a:t>
                </a:r>
                <a:r>
                  <a:rPr sz="2000"/>
                  <a:t> η² asks “of the variation this effect </a:t>
                </a:r>
                <a:r>
                  <a:rPr sz="2000" i="1"/>
                  <a:t>could</a:t>
                </a:r>
                <a:r>
                  <a:rPr sz="2000"/>
                  <a:t> explain, how much does it?” Plain η² divides by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 sz="2000"/>
                  <a:t> instead.</a:t>
                </a:r>
              </a:p>
              <a:p>
                <a:pPr lvl="0" indent="0" marL="1270000">
                  <a:buNone/>
                </a:pPr>
                <a:r>
                  <a:rPr sz="2000"/>
                  <a:t>They agree only when a design is balanced. </a:t>
                </a:r>
                <a:r>
                  <a:rPr sz="2000" b="1"/>
                  <a:t>Type III sums of squares do not add up to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 sz="2000" b="1"/>
                  <a:t> in an unbalanced design</a:t>
                </a:r>
                <a:r>
                  <a:rPr sz="2000"/>
                  <a:t> — so dividing by their sum gives a number that is neither η² nor η²ₚ. Partial η² is well defined either way, which is why we use it throughout this lecture.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four standard diagnostic plots, built automatically with </a:t>
            </a:r>
            <a:r>
              <a:rPr>
                <a:latin typeface="Courier"/>
              </a:rPr>
              <a:t>ggfortify::autoplot()</a:t>
            </a:r>
            <a:r>
              <a:rPr/>
              <a:t>.</a:t>
            </a:r>
          </a:p>
        </p:txBody>
      </p:sp>
      <p:pic>
        <p:nvPicPr>
          <p:cNvPr descr="images/assumpt_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47800"/>
            <a:ext cx="27813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Four standard regression diagnostic plots for the two-way ANOVA model, arranged 2x2: residuals vs. fitted, normal Q-Q, scale-location, and residuals vs. leverage, generated automatically with ggfortify::autoplot().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Formal Tests — Normality and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formal tests of normality of residuals and homogeneity of variances.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Shapiro-Wilk Normality Test:
## 
##  Shapiro-Wilk normality test
## 
## data:  residuals(anova_model)
## W = 0.99612, p-value = 0.8886
## Levene's Test for Homogeneity:
## Levene's Test for Homogeneity of Variance (center = median)
##        Df F value Pr(&gt;F)
## group   5  0.7841 0.5622
##       198
## Number of outliers (|z| &gt; 3): 0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EMMs and Post-Hoc for the Balanced Model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Computing EMMs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Species EMMs:
##  species   emmean   SE  df lower.CL upper.CL
##  Adelie      3692 36.8 198     3619     3764
##  Chinstrap   3733 36.8 198     3661     3806
##  Gentoo      5103 36.8 198     5030     5175
## 
## Results are averaged over the levels of: sex 
## Confidence level used: 0.95
## Sex EMMs:
##  sex    emmean SE  df lower.CL upper.CL
##  female   3848 30 198     3788     3907
##  male     4504 30 198     4445     4563
## 
## Results are averaged over the levels of: species 
## Confidence level used: 0.95
## Species by Sex EMMs:
##  species   sex    emmean SE  df lower.CL upper.CL
##  Adelie    female   3335 52 198     3232     3437
##  Chinstrap female   3527 52 198     3425     3630
##  Gentoo    female   4681 52 198     4578     4783
##  Adelie    male     4049 52 198     3946     4151
##  Chinstrap male     3939 52 198     3836     4042
##  Gentoo    male     5525 52 198     5422     5628
## 
## Confidence level used: 0.95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"Species pairwise comparisons:"
##  contrast           estimate SE  df t.ratio p.value
##  Adelie - Chinstrap    -41.5 52 198  -0.799  0.7041
##  Adelie - Gentoo     -1411.4 52 198 -27.145 &lt;0.0001
##  Chinstrap - Gentoo  -1369.9 52 198 -26.346 &lt;0.0001
## 
## Results are averaged over the levels of: sex 
## P value adjustment: tukey method for comparing a family of 3 estimates
## [1] "Species comparisons within sex:"
## sex = female:
##  contrast           estimate   SE  df t.ratio p.value
##  Adelie - Chinstrap     -193 73.5 198  -2.620  0.0256
##  Adelie - Gentoo       -1346 73.5 198 -18.310 &lt;0.0001
##  Chinstrap - Gentoo    -1154 73.5 198 -15.690 &lt;0.0001
## 
## sex = male:
##  contrast           estimate   SE  df t.ratio p.value
##  Adelie - Chinstrap      110 73.5 198   1.490  0.2979
##  Adelie - Gentoo       -1476 73.5 198 -20.079 &lt;0.0001
##  Chinstrap - Gentoo    -1586 73.5 198 -21.569 &lt;0.0001
## 
## P value adjustment: tukey method for comparing a family of 3 estimates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Post F-Test of the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the interaction is significant, we test the overall interaction and ignore the main effects!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3334.559 51.99448 198 3196.378 3472.740  a    
##  Adelie    male   4048.529 51.99448 198 3910.349 4186.710   b   
##  Chinstrap female 3527.206 51.99448 198 3389.025 3665.387  a    
##  Chinstrap male   3938.971 51.99448 198 3800.790 4077.151   b   
##  Gentoo    female 4680.882 51.99448 198 4542.702 4819.063    c  
##  Gentoo    male   5525.000 51.99448 198 5386.819 5663.181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Interaction Plot</a:t>
            </a:r>
          </a:p>
        </p:txBody>
      </p:sp>
      <p:pic>
        <p:nvPicPr>
          <p:cNvPr descr="two_way_anova_lecture_files/figure-pptx/two-way-anova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Unbalanced Designs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challenge of unbalanced data:</a:t>
                </a:r>
                <a:r>
                  <a:rPr/>
                  <a:t> real-world data is often unbalanced — unequal sample sizes across groups, missing data patterns, natural variation in sampling.</a:t>
                </a:r>
              </a:p>
              <a:p>
                <a:pPr lvl="0" indent="0" marL="0">
                  <a:buNone/>
                </a:pPr>
                <a:r>
                  <a:rPr b="1"/>
                  <a:t>Key issues:</a:t>
                </a:r>
                <a:r>
                  <a:rPr/>
                  <a:t> Type I, II, and III SS give different results; order of terms matters for Type I SS; marginal means ≠ simple averages, so interpretation becomes complex.</a:t>
                </a:r>
              </a:p>
              <a:p>
                <a:pPr lvl="0" indent="0" marL="0">
                  <a:buNone/>
                </a:pPr>
                <a:r>
                  <a:rPr/>
                  <a:t>Statistical model (same as balanced):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— but parameter estimation differs!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"Unbalanced sample sizes:"
## # A tibble: 6 × 3
##   species   sex        n
##   &lt;fct&gt;     &lt;fct&gt;  &lt;int&gt;
## 1 Adelie    female    73
## 2 Adelie    male      73
## 3 Chinstrap female    34
## 4 Chinstrap male      34
## 5 Gentoo    female    58
## 6 Gentoo    male      61
## [1] "Total N = 333"
## [1] "Imbalance ratio = 2.15"</a:t>
                </a:r>
              </a:p>
            </p:txBody>
          </p:sp>
        </mc:Choice>
      </mc:AlternateContent>
      <p:pic>
        <p:nvPicPr>
          <p:cNvPr descr="two_way_anova_lecture_files/figure-pptx/two-way-anova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63700"/>
            <a:ext cx="2781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 (Sequential)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 SS (Species -&gt; Sex -&gt; Interaction):
## Analysis of Variance Table
## 
## Response: body_mass_g
##              Df    Sum Sq  Mean Sq F value    Pr(&gt;F)    
## species       2 145190219 72595110 758.358 &lt; 2.2e-16 ***
## sex           1  37090262 37090262 387.460 &lt; 2.2e-16 ***
## species:sex   2   1676557   838278   8.757 0.0001973 ***
## Residuals   327  31302628    95727                      
## ---
## Signif. codes:  0 '***' 0.001 '**' 0.01 '*' 0.05 '.' 0.1 ' ' 1
## 
## 
## Type I SS (Sex -&gt; Species -&gt; Interaction):
## Analysis of Variance Table
## 
## Response: body_mass_g
##              Df    Sum Sq  Mean Sq F value    Pr(&gt;F)    
## sex           1  38878897 38878897 406.145 &lt; 2.2e-16 ***
## species       2 143401584 71700792 749.016 &lt; 2.2e-16 ***
## sex:species   2   1676557   838278   8.757 0.0001973 ***
## Residuals   327  31302628    95727                      
## ---
## Signif. codes:  0 '***' 0.001 '**' 0.01 '*' 0.05 '.' 0.1 ' ' 1
## 
## 
## Type I SS depends on order:
##    Effect Order1_SS Order2_SS
## 1 Species 145190219 143401584
## 2     Sex  37090262  38878897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Type I SS works — sequential decomposition:</a:t>
            </a:r>
          </a:p>
          <a:p>
            <a:pPr lvl="0" indent="-342900" marL="342900">
              <a:buAutoNum type="arabicPeriod"/>
            </a:pPr>
            <a:r>
              <a:rPr/>
              <a:t>First term gets all SS it can explain</a:t>
            </a:r>
          </a:p>
          <a:p>
            <a:pPr lvl="0" indent="-342900" marL="342900">
              <a:buAutoNum type="arabicPeriod"/>
            </a:pPr>
            <a:r>
              <a:rPr/>
              <a:t>Second term gets SS after removing the first</a:t>
            </a:r>
          </a:p>
          <a:p>
            <a:pPr lvl="0" indent="-342900" marL="342900">
              <a:buAutoNum type="arabicPeriod"/>
            </a:pPr>
            <a:r>
              <a:rPr/>
              <a:t>Third term gets SS after removing the first two</a:t>
            </a:r>
          </a:p>
          <a:p>
            <a:pPr lvl="0" indent="0" marL="0">
              <a:buNone/>
            </a:pPr>
            <a:r>
              <a:rPr b="1"/>
              <a:t>Problems with unbalanced data:</a:t>
            </a:r>
            <a:r>
              <a:rPr/>
              <a:t> order dependency, biased if factors are correlated, not invariant to coding.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"Type III Sums of Squares:"
## Anova Table (Type III tests)
## 
## Response: body_mass_g
##                 Sum Sq  Df   F value    Pr(&gt;F)    
## (Intercept) 5232595969   1 54661.828 &lt; 2.2e-16 ***
## species      143001222   2   746.924 &lt; 2.2e-16 ***
## sex           29851220   1   311.838 &lt; 2.2e-16 ***
## species:sex    1676557   2     8.757 0.0001973 ***
## Residuals     31302628 327                        
## ---
## Signif. codes:  0 '***' 0.001 '**' 0.01 '*' 0.05 '.' 0.1 ' ' 1
## [1] "Comparison of F-values:"
##        Effect Type_I_F Type_III_F
## 1     Species   758.36     746.92
## 2         Sex   387.46     311.84
## 3 Interaction     8.76       8.76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Type III SS works — marginal decomposition:</a:t>
            </a:r>
            <a:r>
              <a:rPr/>
              <a:t> each effect tested after adjusting for all others.</a:t>
            </a:r>
          </a:p>
          <a:p>
            <a:pPr lvl="0" indent="0" marL="0">
              <a:buNone/>
            </a:pPr>
            <a:r>
              <a:rPr b="1"/>
              <a:t>Advantages:</a:t>
            </a:r>
            <a:r>
              <a:rPr/>
              <a:t> order invariant, tests hypotheses about unweighted means, standard in most software.</a:t>
            </a:r>
          </a:p>
          <a:p>
            <a:pPr lvl="0" indent="0" marL="0">
              <a:buNone/>
            </a:pPr>
            <a:r>
              <a:rPr b="1"/>
              <a:t>Disadvantages:</a:t>
            </a:r>
            <a:r>
              <a:rPr/>
              <a:t> lower power with missing cells, tests may not be orthogonal, requires careful interpretation.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"Effect Sizes (partial eta-squared, Type III):"
##        Effect Partial_Eta_Sq
## 1     Species         0.8204
## 2         Sex         0.4881
## 3 Interaction         0.0508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SS Calculation,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"Grand mean: 4207.1"
## [1] "Total SS: 215259666"
## [1] "Between-groups SS: 183957038"
## [1] "Within-groups SS: 31302628"
## [1] "Check: Between + Within = 215259666"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SS(Species alone): 145190219
## SS(Sex alone):     38878897
## 
## Sum of main effects: 184069116
## Actual between SS:   183957038
## 
## Difference (design is not orthogonal): -112078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Main effects don’t add up to the between-groups SS here because the effects aren’t orthogonal in an unbalanced design — proof that “unbalanced” really does change the arithmetic, not just the p-values.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EMMs and Diagnostics — the Unbalanced Model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—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Species EMMs (model-based):
##  species   emmean   SE  df lower.CL upper.CL
##  Adelie      3706 25.6 327     3656     3757
##  Chinstrap   3733 37.5 327     3659     3807
##  Gentoo      5082 28.4 327     5026     5138
## 
## Results are averaged over the levels of: sex 
## Confidence level used: 0.95
## 
## 
## Sex EMMs (model-based):
##  sex    emmean   SE  df lower.CL upper.CL
##  female   3859 25.3 327     3809     3908
##  male     4489 25.2 327     4440     4539
## 
## Results are averaged over the levels of: species 
## Confidence level used: 0.95
##  contrast                          estimate   SE  df t.ratio p.value
##  Adelie female - Chinstrap female      -193 73.5 198  -2.620  0.0973
##  Adelie female - Gentoo female        -1346 73.5 198 -18.310 &lt;0.0001
##  Adelie female - Adelie male           -714 73.5 198  -9.710 &lt;0.0001
##  Adelie female - Chinstrap male        -604 73.5 198  -8.220 &lt;0.0001
##  Adelie female - Gentoo male          -2190 73.5 198 -29.789 &lt;0.0001
##  Chinstrap female - Gentoo female     -1154 73.5 198 -15.690 &lt;0.0001
##  Chinstrap female - Adelie male        -521 73.5 198  -7.090 &lt;0.0001
##  Chinstrap female - Chinstrap male     -412 73.5 198  -5.600 &lt;0.0001
##  Chinstrap female - Gentoo male       -1998 73.5 198 -27.169 &lt;0.0001
##  Gentoo female - Adelie male            632 73.5 198   8.600 &lt;0.0001
##  Gentoo female - Chinstrap male         742 73.5 198  10.090 &lt;0.0001
##  Gentoo female - Gentoo male           -844 73.5 198 -11.480 &lt;0.0001
##  Adelie male - Chinstrap male           110 73.5 198   1.490  0.6711
##  Adelie male - Gentoo male            -1476 73.5 198 -20.079 &lt;0.0001
##  Chinstrap male - Gentoo male         -1586 73.5 198 -21.569 &lt;0.0001
## 
## P value adjustment: tukey method for comparing a family of 6 estimates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3368.836 36.21222 327 3272.980 3464.692  a    
##  Adelie    male   4043.493 36.21222 327 3947.637 4139.349   b   
##  Chinstrap female 3527.206 53.06120 327 3386.749 3667.662  a    
##  Chinstrap male   3938.971 53.06120 327 3798.514 4079.427   b   
##  Gentoo    female 4679.741 40.62586 327 4572.202 4787.281    c  
##  Gentoo    male   5484.836 39.61427 327 5379.975 5589.698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Pairwise Comparisons —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Species pairwise comparisons (Tukey):
##  contrast           estimate   SE  df t.ratio p.value
##  Adelie - Chinstrap    -26.9 45.4 327  -0.593  0.8241
##  Adelie - Gentoo     -1376.1 38.2 327 -36.007 &lt;0.0001
##  Chinstrap - Gentoo  -1349.2 47.0 327 -28.682 &lt;0.0001
## 
## Results are averaged over the levels of: sex 
## P value adjustment: tukey method for comparing a family of 3 estimates
## 
## 
## Sex effect within each species:
## species = Adelie:
##  contrast      estimate   SE  df t.ratio p.value
##  female - male     -675 51.2 327 -13.174 &lt;0.0001
## 
## species = Chinstrap:
##  contrast      estimate   SE  df t.ratio p.value
##  female - male     -412 75.0 327  -5.487 &lt;0.0001
## 
## species = Gentoo:
##  contrast      estimate   SE  df t.ratio p.value
##  female - male     -805 56.7 327 -14.188 &lt;0.0001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Sex effect (female - male, grams) by species:
##     Species Sex_Effect
## 1    Adelie       -675
## 2 Chinstrap       -412
## 3    Gentoo       -805
## 
## 
## Interaction interpretation:
## [1] "Sex effects differ across species"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Diagnostic Plots — Unbalanced Design</a:t>
            </a:r>
          </a:p>
        </p:txBody>
      </p:sp>
      <p:pic>
        <p:nvPicPr>
          <p:cNvPr descr="two_way_anova_lecture_files/figure-pptx/two-way-anova-3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660400"/>
            <a:ext cx="44704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"Shapiro-Wilk test:"
## 
##  Shapiro-Wilk normality test
## 
## data:  residuals(model_u)
## W = 0.99776, p-value = 0.9367
## [1] "Levene's test:"
## Levene's Test for Homogeneity of Variance (center = median)
##        Df F value Pr(&gt;F)
## group   5  1.3908 0.2272
##       327
## [1] "Residual SD by group:"
## # A tibble: 6 × 3
##   species   sex    sd_resid
##   &lt;fct&gt;     &lt;fct&gt;     &lt;dbl&gt;
## 1 Adelie    female     269.
## 2 Adelie    male       347.
## 3 Chinstrap female     285.
## 4 Chinstrap male       362.
## 5 Gentoo    female     282.
## 6 Gentoo    male       313.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Comparing Balanced vs. Unbalanced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Side-by-Side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Balanced vs Unbalanced Results:
##        Effect Balanced_F Balanced_p Unbalanced_F Unbalanced_p
## 1     Species     477.20      0e+00       746.92        0e+00
## 2         Sex     239.22      0e+00       311.84        0e+00
## 3 Interaction       9.10      2e-04         8.76        2e-04
## 
## 
## Sample sizes:
## Balanced total N: 204
## Unbalanced total N: 333
## Data discarded: 129 observations</a:t>
            </a:r>
          </a:p>
        </p:txBody>
      </p:sp>
      <p:pic>
        <p:nvPicPr>
          <p:cNvPr descr="two_way_anova_lecture_files/figure-pptx/two-way-anova-3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63700"/>
            <a:ext cx="2781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Summary and Best Practices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— Unbalanced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Challenges:</a:t>
            </a:r>
            <a:r>
              <a:rPr/>
              <a:t> Type I SS depends on order; simple means ≠ EMMs; reduced power for interactions; complex interpretation.</a:t>
            </a:r>
          </a:p>
          <a:p>
            <a:pPr lvl="0" indent="0" marL="0">
              <a:buNone/>
            </a:pPr>
            <a:r>
              <a:rPr b="1"/>
              <a:t>Solutions:</a:t>
            </a:r>
            <a:r>
              <a:rPr/>
              <a:t> use Type III SS for main effects; report EMMs, not simple means; check assumptions carefully; consider the impact of imbalance.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Recommendations:</a:t>
            </a:r>
          </a:p>
          <a:p>
            <a:pPr lvl="0" indent="-342900" marL="342900">
              <a:buAutoNum type="arabicPeriod"/>
            </a:pPr>
            <a:r>
              <a:rPr b="1"/>
              <a:t>Always report:</a:t>
            </a:r>
            <a:r>
              <a:rPr/>
              <a:t> sample sizes per cell, type of SS used, EMMs with CIs</a:t>
            </a:r>
          </a:p>
          <a:p>
            <a:pPr lvl="0" indent="-342900" marL="342900">
              <a:buAutoNum type="arabicPeriod"/>
            </a:pPr>
            <a:r>
              <a:rPr b="1"/>
              <a:t>Visualization:</a:t>
            </a:r>
            <a:r>
              <a:rPr/>
              <a:t> show actual data points, include error bars, note unequal sample sizes</a:t>
            </a:r>
          </a:p>
          <a:p>
            <a:pPr lvl="0" indent="-342900" marL="342900">
              <a:buAutoNum type="arabicPeriod"/>
            </a:pPr>
            <a:r>
              <a:rPr b="1"/>
              <a:t>Interpretation:</a:t>
            </a:r>
            <a:r>
              <a:rPr/>
              <a:t> focus on effect sizes, consider practical significance, acknowledge limitations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experimental studies:</a:t>
            </a:r>
            <a:r>
              <a:rPr/>
              <a:t> design for balance when possible, randomize allocation, plan for attrition.</a:t>
            </a:r>
          </a:p>
          <a:p>
            <a:pPr lvl="0" indent="0" marL="0">
              <a:buNone/>
            </a:pPr>
            <a:r>
              <a:rPr b="1"/>
              <a:t>For observational studies:</a:t>
            </a:r>
            <a:r>
              <a:rPr/>
              <a:t> accept imbalance as reality, use Type III SS, report EMMs, consider covariates (ANCOVA).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Statistical software defaults</a:t>
            </a:r>
          </a:p>
          <a:p>
            <a:pPr lvl="0"/>
            <a:r>
              <a:rPr sz="2000"/>
              <a:t>R: Type I (sequential)</a:t>
            </a:r>
          </a:p>
          <a:p>
            <a:pPr lvl="0"/>
            <a:r>
              <a:rPr sz="2000"/>
              <a:t>SAS: Type III (marginal)</a:t>
            </a:r>
          </a:p>
          <a:p>
            <a:pPr lvl="0"/>
            <a:r>
              <a:rPr sz="2000"/>
              <a:t>SPSS: Type III (marginal)</a:t>
            </a:r>
          </a:p>
          <a:p>
            <a:pPr lvl="0" indent="0" marL="1270000">
              <a:buNone/>
            </a:pPr>
            <a:r>
              <a:rPr sz="2000"/>
              <a:t>Always specify which type you’re using!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Fitted a </a:t>
            </a:r>
            <a:r>
              <a:rPr b="1"/>
              <a:t>factorial</a:t>
            </a:r>
            <a:r>
              <a:rPr/>
              <a:t> model with two categorical predictors — </a:t>
            </a:r>
            <a:r>
              <a:rPr>
                <a:latin typeface="Courier"/>
              </a:rPr>
              <a:t>body_mass_g ~ species * sex</a:t>
            </a:r>
          </a:p>
          <a:p>
            <a:pPr lvl="0"/>
            <a:r>
              <a:rPr/>
              <a:t>Separated </a:t>
            </a:r>
            <a:r>
              <a:rPr b="1"/>
              <a:t>main effects</a:t>
            </a:r>
            <a:r>
              <a:rPr/>
              <a:t> from the </a:t>
            </a:r>
            <a:r>
              <a:rPr b="1"/>
              <a:t>interaction</a:t>
            </a:r>
            <a:r>
              <a:rPr/>
              <a:t>, and saw that an interaction means “the effect of one factor depends on the level of the other”</a:t>
            </a:r>
          </a:p>
          <a:p>
            <a:pPr lvl="0"/>
            <a:r>
              <a:rPr/>
              <a:t>Used </a:t>
            </a:r>
            <a:r>
              <a:rPr b="1"/>
              <a:t>estimated marginal means</a:t>
            </a:r>
            <a:r>
              <a:rPr/>
              <a:t> instead of raw group averages, because with unequal cell sizes those are not the same thing</a:t>
            </a:r>
          </a:p>
          <a:p>
            <a:pPr lvl="0"/>
            <a:r>
              <a:rPr/>
              <a:t>Met </a:t>
            </a:r>
            <a:r>
              <a:rPr b="1"/>
              <a:t>Type I, II and III sums of squares</a:t>
            </a:r>
            <a:r>
              <a:rPr/>
              <a:t>, and saw them give identical answers on a balanced design and different answers on an unbalanced one</a:t>
            </a:r>
          </a:p>
          <a:p>
            <a:pPr lvl="0"/>
            <a:r>
              <a:rPr/>
              <a:t>Set </a:t>
            </a:r>
            <a:r>
              <a:rPr>
                <a:latin typeface="Courier"/>
              </a:rPr>
              <a:t>contr.sum</a:t>
            </a:r>
            <a:r>
              <a:rPr/>
              <a:t> contrasts </a:t>
            </a:r>
            <a:r>
              <a:rPr b="1"/>
              <a:t>before</a:t>
            </a:r>
            <a:r>
              <a:rPr/>
              <a:t> asking for Type III — without that step R silently returns the wrong main-effect tests</a:t>
            </a:r>
          </a:p>
          <a:p>
            <a:pPr lvl="0"/>
            <a:r>
              <a:rPr/>
              <a:t>Reported </a:t>
            </a:r>
            <a:r>
              <a:rPr b="1"/>
              <a:t>partial η²</a:t>
            </a:r>
            <a:r>
              <a:rPr/>
              <a:t> as the effect size that stays well defined either way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Read the interaction first</a:t>
            </a:r>
          </a:p>
          <a:p>
            <a:pPr lvl="0" indent="0" marL="1270000">
              <a:buNone/>
            </a:pPr>
            <a:r>
              <a:rPr sz="2000"/>
              <a:t>If the interaction is significant, a main effect is a </a:t>
            </a:r>
            <a:r>
              <a:rPr sz="2000" i="1"/>
              <a:t>average across conditions that behave differently</a:t>
            </a:r>
            <a:r>
              <a:rPr sz="2000"/>
              <a:t> — often not a meaningful quantity. Interpret the interaction, then use simple effects (</a:t>
            </a:r>
            <a:r>
              <a:rPr sz="2000">
                <a:latin typeface="Courier"/>
              </a:rPr>
              <a:t>emmeans(model, ~ sex | species)</a:t>
            </a:r>
            <a:r>
              <a:rPr sz="2000"/>
              <a:t>) rather than reporting the main effect as if it applied everywhere.</a:t>
            </a:r>
          </a:p>
          <a:p>
            <a:pPr lvl="0" indent="0" marL="1270000">
              <a:buNone/>
            </a:pPr>
            <a:r>
              <a:rPr sz="2000"/>
              <a:t>R even warns you: </a:t>
            </a:r>
            <a:r>
              <a:rPr sz="2000" i="1"/>
              <a:t>“Results may be misleading due to involvement in interactions.”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one idea to keep</a:t>
            </a:r>
          </a:p>
          <a:p>
            <a:pPr lvl="0" indent="0" marL="1270000">
              <a:buNone/>
            </a:pPr>
            <a:r>
              <a:rPr sz="2000" b="1"/>
              <a:t>Balance is a property of your design, not your analysis.</a:t>
            </a:r>
            <a:r>
              <a:rPr sz="2000"/>
              <a:t> A balanced design makes the two factors orthogonal, so each one’s sum of squares is unambiguous. Imbalance makes them share variance — and then </a:t>
            </a:r>
            <a:r>
              <a:rPr sz="2000" i="1"/>
              <a:t>how</a:t>
            </a:r>
            <a:r>
              <a:rPr sz="2000"/>
              <a:t> you allocate that shared variance (Type I vs III) becomes a decision you have to make and defend.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Nested ANOVA</a:t>
            </a:r>
          </a:p>
          <a:p>
            <a:pPr lvl="0"/>
            <a:r>
              <a:rPr sz="2000"/>
              <a:t>When one factor is nested inside another rather than crossed with it</a:t>
            </a:r>
          </a:p>
          <a:p>
            <a:pPr lvl="0"/>
            <a:r>
              <a:rPr sz="2000"/>
              <a:t>Subsamples, and the right error term to test against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Two-Way ANOVA</dc:title>
  <dc:creator>Bill Perry</dc:creator>
  <cp:keywords/>
  <dc:description>Factorial (two-factor) ANOVA, main effects and interactions, estimated marginal means, Type I/II/III sums of squares, and balanced vs. unbalanced designs — on the palmerpenguins species-by-sex dataset.</dc:description>
  <dcterms:created xsi:type="dcterms:W3CDTF">2026-10-26T21:13:47Z</dcterms:created>
  <dcterms:modified xsi:type="dcterms:W3CDTF">2026-10-26T21:13:47Z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13</vt:lpwstr>
  </property>
  <property fmtid="{D5CDD505-2E9C-101B-9397-08002B2CF9AE}" pid="14" name="resources">
    <vt:lpwstr/>
  </property>
  <property fmtid="{D5CDD505-2E9C-101B-9397-08002B2CF9AE}" pid="15" name="subtitle">
    <vt:lpwstr>Factorial designs</vt:lpwstr>
  </property>
  <property fmtid="{D5CDD505-2E9C-101B-9397-08002B2CF9AE}" pid="16" name="toc-title">
    <vt:lpwstr>Table of contents</vt:lpwstr>
  </property>
  <property fmtid="{D5CDD505-2E9C-101B-9397-08002B2CF9AE}" pid="17" name="week">
    <vt:lpwstr>9</vt:lpwstr>
  </property>
</Properties>
</file>