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T-Tests: One, Two, Paired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Comparing means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T-Tests — One, Two, Paired</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Load and De-Pseudoreplicate the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br/>
            <a:r>
              <a:rPr>
                <a:solidFill>
                  <a:srgbClr val="003B4F"/>
                </a:solidFill>
                <a:latin typeface="Courier"/>
              </a:rPr>
              <a:t>pine_df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length.xlsx"</a:t>
            </a:r>
            <a:r>
              <a:rPr>
                <a:solidFill>
                  <a:srgbClr val="003B4F"/>
                </a:solidFill>
                <a:latin typeface="Courier"/>
              </a:rPr>
              <a:t>)</a:t>
            </a:r>
            <a:b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br/>
            <a:r>
              <a:rPr>
                <a:solidFill>
                  <a:srgbClr val="4758AB"/>
                </a:solidFill>
                <a:latin typeface="Courier"/>
              </a:rPr>
              <a:t>head</a:t>
            </a:r>
            <a:r>
              <a:rPr>
                <a:solidFill>
                  <a:srgbClr val="003B4F"/>
                </a:solidFill>
                <a:latin typeface="Courier"/>
              </a:rPr>
              <a:t>(pine_df)</a:t>
            </a:r>
          </a:p>
          <a:p>
            <a:pPr lvl="0" indent="0" marL="0">
              <a:buNone/>
            </a:pPr>
            <a:r>
              <a:rPr/>
              <a:t>✏️ </a:t>
            </a:r>
            <a:r>
              <a:rPr b="1"/>
              <a:t>Your turn:</a:t>
            </a:r>
            <a:r>
              <a:rPr/>
              <a:t> What is our true sample unit here — needles? branches? trees? sides? Why does that matter for how we analyze this data?</a:t>
            </a:r>
          </a:p>
          <a:p>
            <a:pPr lvl="0" indent="0">
              <a:buNone/>
            </a:pPr>
            <a:r>
              <a:rPr>
                <a:latin typeface="Courier"/>
              </a:rPr>
              <a:t>________________________________________________________</a:t>
            </a:r>
          </a:p>
          <a:p>
            <a:pPr lvl="0" indent="0" marL="0">
              <a:buNone/>
            </a:pPr>
            <a:r>
              <a:rPr/>
              <a:t>We need to average the sunny and shady sides so the data is not pseudoreplicated — multiple needles per tree side are not independent observations.</a:t>
            </a:r>
          </a:p>
          <a:p>
            <a:pPr lvl="0" indent="0" marL="0">
              <a:buNone/>
            </a:pPr>
            <a:r>
              <a:rPr b="1"/>
              <a:t>▶ Run this:</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ps_shady_df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(tree_no)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p>
          <a:p>
            <a:pPr lvl="0" indent="0" marL="1270000">
              <a:buNone/>
            </a:pPr>
            <a:r>
              <a:rPr sz="2000"/>
              <a:t>⚠️ </a:t>
            </a:r>
            <a:r>
              <a:rPr sz="2000" b="1"/>
              <a:t>Watch out!</a:t>
            </a:r>
            <a:r>
              <a:rPr sz="2000"/>
              <a:t> </a:t>
            </a:r>
            <a:r>
              <a:rPr sz="2000">
                <a:latin typeface="Courier"/>
              </a:rPr>
              <a:t>class_pine needle length switched.xlsx</a:t>
            </a:r>
            <a:r>
              <a:rPr sz="2000"/>
              <a:t> has corrected </a:t>
            </a:r>
            <a:r>
              <a:rPr sz="2000">
                <a:latin typeface="Courier"/>
              </a:rPr>
              <a:t>sunny</a:t>
            </a:r>
            <a:r>
              <a:rPr sz="2000"/>
              <a:t>/</a:t>
            </a:r>
            <a:r>
              <a:rPr sz="2000">
                <a:latin typeface="Courier"/>
              </a:rPr>
              <a:t>shady</a:t>
            </a:r>
            <a:r>
              <a:rPr sz="2000"/>
              <a:t> labels compared to the original file. From here on we use </a:t>
            </a:r>
            <a:r>
              <a:rPr sz="2000" b="1">
                <a:latin typeface="Courier"/>
              </a:rPr>
              <a:t>ps_df</a:t>
            </a:r>
            <a:r>
              <a:rPr sz="2000"/>
              <a:t> — it’s the version that matches the field notes.</a:t>
            </a:r>
          </a:p>
          <a:p>
            <a:pPr lvl="0" indent="0" marL="1270000">
              <a:buNone/>
            </a:pPr>
            <a:r>
              <a:rPr sz="2000" b="1"/>
              <a:t>Tip</a:t>
            </a:r>
          </a:p>
          <a:p>
            <a:pPr lvl="0" indent="0" marL="1270000">
              <a:buNone/>
            </a:pPr>
            <a:r>
              <a:rPr sz="2000" b="1"/>
              <a:t>🚀 If you finish early:</a:t>
            </a:r>
            <a:r>
              <a:rPr sz="2000"/>
              <a:t> Write a </a:t>
            </a:r>
            <a:r>
              <a:rPr sz="2000">
                <a:latin typeface="Courier"/>
              </a:rPr>
              <a:t>group_by()</a:t>
            </a:r>
            <a:r>
              <a:rPr sz="2000"/>
              <a:t> + </a:t>
            </a:r>
            <a:r>
              <a:rPr sz="2000">
                <a:latin typeface="Courier"/>
              </a:rPr>
              <a:t>summarize()</a:t>
            </a:r>
            <a:r>
              <a:rPr sz="2000"/>
              <a:t> pipeline that gets </a:t>
            </a:r>
            <a:r>
              <a:rPr sz="2000">
                <a:latin typeface="Courier"/>
              </a:rPr>
              <a:t>n</a:t>
            </a:r>
            <a:r>
              <a:rPr sz="2000"/>
              <a:t>, </a:t>
            </a:r>
            <a:r>
              <a:rPr sz="2000">
                <a:latin typeface="Courier"/>
              </a:rPr>
              <a:t>mean_length</a:t>
            </a:r>
            <a:r>
              <a:rPr sz="2000"/>
              <a:t>, </a:t>
            </a:r>
            <a:r>
              <a:rPr sz="2000">
                <a:latin typeface="Courier"/>
              </a:rPr>
              <a:t>sd_length</a:t>
            </a:r>
            <a:r>
              <a:rPr sz="2000"/>
              <a:t>, and </a:t>
            </a:r>
            <a:r>
              <a:rPr sz="2000">
                <a:latin typeface="Courier"/>
              </a:rPr>
              <a:t>se_length</a:t>
            </a:r>
            <a:r>
              <a:rPr sz="2000"/>
              <a:t> for </a:t>
            </a:r>
            <a:r>
              <a:rPr sz="2000">
                <a:latin typeface="Courier"/>
              </a:rPr>
              <a:t>ps_df</a:t>
            </a:r>
            <a:r>
              <a:rPr sz="2000"/>
              <a:t>, grouped by </a:t>
            </a:r>
            <a:r>
              <a:rPr sz="2000">
                <a:latin typeface="Courier"/>
              </a:rPr>
              <a:t>side</a:t>
            </a:r>
            <a:r>
              <a:rPr sz="2000"/>
              <a:t> — the same summary the lecture built as </a:t>
            </a:r>
            <a:r>
              <a:rPr sz="2000">
                <a:latin typeface="Courier"/>
              </a:rPr>
              <a:t>stats_df</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Testing Framework</a:t>
            </a:r>
          </a:p>
        </p:txBody>
      </p:sp>
      <p:sp>
        <p:nvSpPr>
          <p:cNvPr id="3" name="Content Placeholder 2"/>
          <p:cNvSpPr>
            <a:spLocks noGrp="1"/>
          </p:cNvSpPr>
          <p:nvPr>
            <p:ph idx="1"/>
          </p:nvPr>
        </p:nvSpPr>
        <p:spPr/>
        <p:txBody>
          <a:bodyPr/>
          <a:lstStyle/>
          <a:p>
            <a:pPr lvl="0" indent="0" marL="0">
              <a:buNone/>
            </a:pPr>
            <a:r>
              <a:rPr/>
              <a:t>Every t-test starts the same way: state H₀ and Hₐ, and pick α </a:t>
            </a:r>
            <a:r>
              <a:rPr i="1"/>
              <a:t>before</a:t>
            </a:r>
            <a:r>
              <a:rPr/>
              <a:t> you look at the result.</a:t>
            </a:r>
          </a:p>
          <a:p>
            <a:pPr lvl="0" indent="0" marL="0">
              <a:buNone/>
            </a:pPr>
            <a:r>
              <a:rPr/>
              <a:t>✏️ </a:t>
            </a:r>
            <a:r>
              <a:rPr b="1"/>
              <a:t>Your turn:</a:t>
            </a:r>
            <a:r>
              <a:rPr/>
              <a:t> For the question “Do needle lengths differ between the sunny and shady sides?”, write out:</a:t>
            </a:r>
          </a:p>
          <a:p>
            <a:pPr lvl="0" indent="0">
              <a:buNone/>
            </a:pPr>
            <a:r>
              <a:rPr>
                <a:latin typeface="Courier"/>
              </a:rPr>
              <a:t>H0 = ________________________________________________________
Ha = ________________________________________________________
alpha = ________</a:t>
            </a:r>
          </a:p>
          <a:p>
            <a:pPr lvl="0" indent="0" marL="0">
              <a:buNone/>
            </a:pPr>
            <a:r>
              <a:rPr/>
              <a:t>✏️ </a:t>
            </a:r>
            <a:r>
              <a:rPr b="1"/>
              <a:t>Your turn:</a:t>
            </a:r>
            <a:r>
              <a:rPr/>
              <a:t> In your own words, what does a p-value actually tell you? (Hint: it is a statement about the data </a:t>
            </a:r>
            <a:r>
              <a:rPr i="1"/>
              <a:t>given</a:t>
            </a:r>
            <a:r>
              <a:rPr/>
              <a:t> H₀ — not a statement about whether H₀ is true.)</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A two-sample t-test on 14 degrees of freedom produces an observed t-statistic of 2.31. Use </a:t>
            </a:r>
            <a:r>
              <a:rPr sz="2000">
                <a:latin typeface="Courier"/>
              </a:rPr>
              <a:t>2 * (1 - pt(2.31, df = 14))</a:t>
            </a:r>
            <a:r>
              <a:rPr sz="2000"/>
              <a:t> to compute the two-tailed p-value by hand, then compare it to the p-value table from lecture (p &lt; 0.05 = moderate-to-strong evidence). Is H₀ rejected at α = 0.05?</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One-Sample t-Test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one-sample t-test compares a sample mean to a specific hypothesized value. Let’s test whether the mean needle length on the shady side is 15mm.</a:t>
                </a:r>
              </a:p>
              <a:p>
                <a:pPr lvl="0" indent="0" marL="0">
                  <a:buNone/>
                </a:pPr>
                <a:r>
                  <a:rPr/>
                  <a:t>✏️ </a:t>
                </a:r>
                <a:r>
                  <a:rPr b="1"/>
                  <a:t>Your turn:</a:t>
                </a:r>
                <a:r>
                  <a:rPr/>
                  <a:t> Before testing, write the hypotheses:</a:t>
                </a:r>
              </a:p>
              <a:p>
                <a:pPr lvl="0" indent="0">
                  <a:buNone/>
                </a:pPr>
                <a:r>
                  <a:rPr>
                    <a:latin typeface="Courier"/>
                  </a:rPr>
                  <a:t>H0: mu = _____ (the mean needle length on the shady side is _____ mm)
Ha: mu ≠ _____ (the mean needle length on the shady side is not _____ mm)</a:t>
                </a:r>
              </a:p>
              <a:p>
                <a:pPr lvl="0" indent="0" marL="0">
                  <a:buNone/>
                </a:pPr>
                <a:r>
                  <a:rPr b="1"/>
                  <a:t>Check assumptions first — normality:</a:t>
                </a:r>
              </a:p>
              <a:p>
                <a:pPr lvl="0" indent="0" marL="0">
                  <a:buNone/>
                </a:pPr>
                <a:r>
                  <a:rPr b="1"/>
                  <a:t>▶ Run this:</a:t>
                </a:r>
              </a:p>
              <a:p>
                <a:pPr lvl="0" indent="0">
                  <a:buNone/>
                </a:pPr>
                <a:r>
                  <a:rPr>
                    <a:solidFill>
                      <a:srgbClr val="5E5E5E"/>
                    </a:solidFill>
                    <a:latin typeface="Courier"/>
                  </a:rPr>
                  <a:t># The test below is about the SHADY side, so check normality of that group</a:t>
                </a:r>
                <a:br/>
                <a:r>
                  <a:rPr>
                    <a:solidFill>
                      <a:srgbClr val="5E5E5E"/>
                    </a:solidFill>
                    <a:latin typeface="Courier"/>
                  </a:rPr>
                  <a:t># -- not the two sides pooled together.</a:t>
                </a:r>
                <a:br/>
                <a:r>
                  <a:rPr>
                    <a:solidFill>
                      <a:srgbClr val="4758AB"/>
                    </a:solidFill>
                    <a:latin typeface="Courier"/>
                  </a:rPr>
                  <a:t>qqPlot</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"QQ Plot — shady side needle length"</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p>
              <a:p>
                <a:pPr lvl="0" indent="0" marL="0">
                  <a:buNone/>
                </a:pPr>
                <a:r>
                  <a:rPr/>
                  <a:t>✏️ </a:t>
                </a:r>
                <a:r>
                  <a:rPr b="1"/>
                  <a:t>Your turn:</a:t>
                </a:r>
                <a:r>
                  <a:rPr/>
                  <a:t> For the Shapiro-Wilk test, what is the null hypothesis? Do we want a significant or a non-significant result here? </a:t>
                </a:r>
                <a:r>
                  <a:rPr>
                    <a:latin typeface="Courier"/>
                  </a:rPr>
                  <a:t>________________________</a:t>
                </a:r>
              </a:p>
              <a:p>
                <a:pPr lvl="0" indent="0" marL="0">
                  <a:buNone/>
                </a:pPr>
                <a:r>
                  <a:rPr/>
                  <a:t>✏️ </a:t>
                </a:r>
                <a:r>
                  <a:rPr b="1"/>
                  <a:t>Your turn:</a:t>
                </a:r>
                <a:r>
                  <a:rPr/>
                  <a:t> Why do we check the shady side on its own rather than </a:t>
                </a:r>
                <a:r>
                  <a:rPr>
                    <a:latin typeface="Courier"/>
                  </a:rPr>
                  <a:t>ps_df$length_mm</a:t>
                </a:r>
                <a:r>
                  <a:rPr/>
                  <a:t> (both sides pooled)? What would pooling two groups with different means do to the shape of the distribution? </a:t>
                </a:r>
                <a:r>
                  <a:rPr>
                    <a:latin typeface="Courier"/>
                  </a:rPr>
                  <a:t>________________________</a:t>
                </a:r>
              </a:p>
              <a:p>
                <a:pPr lvl="0" indent="0" marL="0">
                  <a:buNone/>
                </a:pPr>
                <a:r>
                  <a:rPr b="1"/>
                  <a:t>Check assumptions — outliers:</a:t>
                </a:r>
              </a:p>
              <a:p>
                <a:pPr lvl="0" indent="0" marL="0">
                  <a:buNone/>
                </a:pPr>
                <a:r>
                  <a:rPr b="1"/>
                  <a:t>▶ Run this:</a:t>
                </a:r>
              </a:p>
              <a:p>
                <a:pPr lvl="0" indent="0">
                  <a:buNone/>
                </a:pPr>
                <a:r>
                  <a:rPr>
                    <a:solidFill>
                      <a:srgbClr val="003B4F"/>
                    </a:solidFill>
                    <a:latin typeface="Courier"/>
                  </a:rPr>
                  <a:t>ps_df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length_mm,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"Length (mm)"</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r>
                  <a:rPr>
                    <a:solidFill>
                      <a:srgbClr val="003B4F"/>
                    </a:solidFill>
                    <a:latin typeface="Courier"/>
                  </a:rPr>
                  <a:t>)</a:t>
                </a:r>
              </a:p>
              <a:p>
                <a:pPr lvl="0" indent="0" marL="0">
                  <a:buNone/>
                </a:pPr>
                <a:r>
                  <a:rPr b="1"/>
                  <a:t>Run the one-sample t-test:</a:t>
                </a:r>
              </a:p>
              <a:p>
                <a:pPr lvl="0" indent="0" marL="0">
                  <a:buNone/>
                </a:pPr>
                <a:r>
                  <a:rPr b="1"/>
                  <a:t>▶ Run this:</a:t>
                </a:r>
              </a:p>
              <a:p>
                <a:pPr lvl="0" indent="0">
                  <a:buNone/>
                </a:pPr>
                <a:r>
                  <a:rPr>
                    <a:solidFill>
                      <a:srgbClr val="003B4F"/>
                    </a:solidFill>
                    <a:latin typeface="Courier"/>
                  </a:rPr>
                  <a:t>ps_shade_mean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(ps_shade_mean,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br/>
                <a:r>
                  <a:rPr>
                    <a:solidFill>
                      <a:srgbClr val="003B4F"/>
                    </a:solidFill>
                    <a:latin typeface="Courier"/>
                  </a:rPr>
                  <a:t>t_test_result &lt;- </a:t>
                </a:r>
                <a:r>
                  <a:rPr>
                    <a:solidFill>
                      <a:srgbClr val="4758AB"/>
                    </a:solidFill>
                    <a:latin typeface="Courier"/>
                  </a:rPr>
                  <a:t>t.test</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003B4F"/>
                    </a:solidFill>
                    <a:latin typeface="Courier"/>
                  </a:rPr>
                  <a:t>t_test_result</a:t>
                </a:r>
              </a:p>
              <a:p>
                <a:pPr lvl="0" indent="0" marL="0">
                  <a:buNone/>
                </a:pPr>
                <a:r>
                  <a:rPr/>
                  <a:t>✏️ </a:t>
                </a:r>
                <a:r>
                  <a:rPr b="1"/>
                  <a:t>Your turn:</a:t>
                </a:r>
                <a:r>
                  <a:rPr/>
                  <a:t> Interpret the test result:</a:t>
                </a:r>
              </a:p>
              <a:p>
                <a:pPr lvl="0" indent="-342900" marL="342900">
                  <a:buAutoNum type="arabicPeriod"/>
                </a:pPr>
                <a:r>
                  <a:rPr/>
                  <a:t>What was the null hypothesis?</a:t>
                </a:r>
              </a:p>
              <a:p>
                <a:pPr lvl="0" indent="-342900" marL="342900">
                  <a:buAutoNum type="arabicPeriod"/>
                </a:pPr>
                <a:r>
                  <a:rPr/>
                  <a:t>What was the alternative hypothesis?</a:t>
                </a:r>
              </a:p>
              <a:p>
                <a:pPr lvl="0" indent="-342900" marL="342900">
                  <a:buAutoNum type="arabicPeriod"/>
                </a:pPr>
                <a:r>
                  <a:rPr/>
                  <a:t>What does the p-value tell us?</a:t>
                </a:r>
              </a:p>
              <a:p>
                <a:pPr lvl="0" indent="-342900" marL="342900">
                  <a:buAutoNum type="arabicPeriod"/>
                </a:pPr>
                <a:r>
                  <a:rPr/>
                  <a:t>Should we reject or fail to reject the null hypothesis at α = 0.05?</a:t>
                </a:r>
              </a:p>
              <a:p>
                <a:pPr lvl="0" indent="-342900" marL="342900">
                  <a:buAutoNum type="arabicPeriod"/>
                </a:pPr>
                <a:r>
                  <a:rPr/>
                  <a:t>What is the practical interpretation of this result for botanists?</a:t>
                </a:r>
              </a:p>
              <a:p>
                <a:pPr lvl="0" indent="0">
                  <a:buNone/>
                </a:pPr>
                <a:r>
                  <a:rPr>
                    <a:latin typeface="Courier"/>
                  </a:rPr>
                  <a:t>________________________________________________________</a:t>
                </a:r>
              </a:p>
              <a:p>
                <a:pPr lvl="0" indent="0" marL="0">
                  <a:buNone/>
                </a:pPr>
                <a:r>
                  <a:rPr/>
                  <a:t>✏️ </a:t>
                </a:r>
                <a:r>
                  <a:rPr b="1"/>
                  <a:t>Your turn:</a:t>
                </a:r>
                <a:r>
                  <a:rPr/>
                  <a:t> Write a properly formatted results sentence: “A one-sample t-test at α = 0.05 showed that the mean needle length (shady side) (M = …, SD = …) [was/was not] significantly different from the expected 15mm, t(…) = …, p = …”</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 — calculate the 95% confidence interval by hand:</a:t>
                </a:r>
              </a:p>
              <a:p>
                <a:pPr lvl="0" indent="0" marL="1270000">
                  <a:buNone/>
                </a:pPr>
                <a14:m>
                  <m:oMathPara xmlns:m="http://schemas.openxmlformats.org/officeDocument/2006/math">
                    <m:oMathParaPr>
                      <m:jc m:val="center"/>
                    </m:oMathParaPr>
                    <m:oMath>
                      <m:r>
                        <m:t>95</m:t>
                      </m:r>
                      <m:r>
                        <m:rPr>
                          <m:sty m:val="p"/>
                        </m:rPr>
                        <m:t>%</m:t>
                      </m:r>
                      <m:r>
                        <m:rPr>
                          <m:nor/>
                          <m:sty m:val="p"/>
                        </m:rPr>
                        <m:t> CI</m:t>
                      </m:r>
                      <m:r>
                        <m:rPr>
                          <m:sty m:val="p"/>
                        </m:rPr>
                        <m:t>=</m:t>
                      </m:r>
                      <m:acc>
                        <m:accPr>
                          <m:chr m:val="‾"/>
                        </m:accPr>
                        <m:e>
                          <m:r>
                            <m:t>x</m:t>
                          </m:r>
                        </m:e>
                      </m:acc>
                      <m:r>
                        <m:rPr>
                          <m:sty m:val="p"/>
                        </m:rPr>
                        <m:t>±</m:t>
                      </m:r>
                      <m:sSub>
                        <m:e>
                          <m:r>
                            <m:t>t</m:t>
                          </m:r>
                        </m:e>
                        <m:sub>
                          <m:r>
                            <m:t>α</m:t>
                          </m:r>
                          <m:r>
                            <m:rPr>
                              <m:sty m:val="p"/>
                            </m:rPr>
                            <m:t>/</m:t>
                          </m:r>
                          <m:r>
                            <m:t>2</m:t>
                          </m:r>
                          <m:r>
                            <m:rPr>
                              <m:sty m:val="p"/>
                            </m:rPr>
                            <m:t>,</m:t>
                          </m:r>
                          <m:r>
                            <m:t>n</m:t>
                          </m:r>
                          <m:r>
                            <m:rPr>
                              <m:sty m:val="p"/>
                            </m:rPr>
                            <m:t>−</m:t>
                          </m:r>
                          <m:r>
                            <m:t>1</m:t>
                          </m:r>
                        </m:sub>
                      </m:sSub>
                      <m:r>
                        <m:rPr>
                          <m:sty m:val="p"/>
                        </m:rPr>
                        <m:t>×</m:t>
                      </m:r>
                      <m:f>
                        <m:fPr>
                          <m:type m:val="bar"/>
                        </m:fPr>
                        <m:num>
                          <m:r>
                            <m:t>s</m:t>
                          </m:r>
                        </m:num>
                        <m:den>
                          <m:rad>
                            <m:radPr>
                              <m:degHide m:val="on"/>
                            </m:radPr>
                            <m:deg/>
                            <m:e>
                              <m:r>
                                <m:t>n</m:t>
                              </m:r>
                            </m:e>
                          </m:rad>
                        </m:den>
                      </m:f>
                    </m:oMath>
                  </m:oMathPara>
                </a14:m>
              </a:p>
              <a:p>
                <a:pPr lvl="0" indent="0">
                  <a:buNone/>
                </a:pPr>
                <a:r>
                  <a:rPr>
                    <a:solidFill>
                      <a:srgbClr val="003B4F"/>
                    </a:solidFill>
                    <a:latin typeface="Courier"/>
                  </a:rPr>
                  <a:t>shady_mean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shady_se   &lt;- </a:t>
                </a:r>
                <a:r>
                  <a:rPr>
                    <a:solidFill>
                      <a:srgbClr val="4758AB"/>
                    </a:solidFill>
                    <a:latin typeface="Courier"/>
                  </a:rPr>
                  <a:t>sd</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r>
                  <a:rPr>
                    <a:solidFill>
                      <a:srgbClr val="5E5E5E"/>
                    </a:solidFill>
                    <a:latin typeface="Courier"/>
                  </a:rPr>
                  <a:t>^</a:t>
                </a:r>
                <a:r>
                  <a:rPr>
                    <a:solidFill>
                      <a:srgbClr val="003B4F"/>
                    </a:solidFill>
                    <a:latin typeface="Courier"/>
                  </a:rPr>
                  <a:t>.</a:t>
                </a:r>
                <a:r>
                  <a:rPr>
                    <a:solidFill>
                      <a:srgbClr val="AD0000"/>
                    </a:solidFill>
                    <a:latin typeface="Courier"/>
                  </a:rPr>
                  <a:t>5</a:t>
                </a:r>
                <a:br/>
                <a:r>
                  <a:rPr>
                    <a:solidFill>
                      <a:srgbClr val="003B4F"/>
                    </a:solidFill>
                    <a:latin typeface="Courier"/>
                  </a:rPr>
                  <a:t>shady_n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a:t>
                </a:r>
                <a:br/>
                <a:br/>
                <a:r>
                  <a:rPr>
                    <a:solidFill>
                      <a:srgbClr val="003B4F"/>
                    </a:solidFill>
                    <a:latin typeface="Courier"/>
                  </a:rPr>
                  <a:t>t_critical &lt;- </a:t>
                </a:r>
                <a:r>
                  <a:rPr>
                    <a:solidFill>
                      <a:srgbClr val="4758AB"/>
                    </a:solidFill>
                    <a:latin typeface="Courier"/>
                  </a:rPr>
                  <a:t>qt</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657422"/>
                    </a:solidFill>
                    <a:latin typeface="Courier"/>
                  </a:rPr>
                  <a:t>df =</a:t>
                </a:r>
                <a:r>
                  <a:rPr>
                    <a:solidFill>
                      <a:srgbClr val="003B4F"/>
                    </a:solidFill>
                    <a:latin typeface="Courier"/>
                  </a:rPr>
                  <a:t> shady_n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shady_ci_lower &lt;- shady_mean </a:t>
                </a:r>
                <a:r>
                  <a:rPr>
                    <a:solidFill>
                      <a:srgbClr val="5E5E5E"/>
                    </a:solidFill>
                    <a:latin typeface="Courier"/>
                  </a:rPr>
                  <a:t>-</a:t>
                </a:r>
                <a:r>
                  <a:rPr>
                    <a:solidFill>
                      <a:srgbClr val="003B4F"/>
                    </a:solidFill>
                    <a:latin typeface="Courier"/>
                  </a:rPr>
                  <a:t> t_critical </a:t>
                </a:r>
                <a:r>
                  <a:rPr>
                    <a:solidFill>
                      <a:srgbClr val="5E5E5E"/>
                    </a:solidFill>
                    <a:latin typeface="Courier"/>
                  </a:rPr>
                  <a:t>*</a:t>
                </a:r>
                <a:r>
                  <a:rPr>
                    <a:solidFill>
                      <a:srgbClr val="003B4F"/>
                    </a:solidFill>
                    <a:latin typeface="Courier"/>
                  </a:rPr>
                  <a:t> shady_se</a:t>
                </a:r>
                <a:br/>
                <a:r>
                  <a:rPr>
                    <a:solidFill>
                      <a:srgbClr val="003B4F"/>
                    </a:solidFill>
                    <a:latin typeface="Courier"/>
                  </a:rPr>
                  <a:t>shady_ci_upper &lt;- shady_mean </a:t>
                </a:r>
                <a:r>
                  <a:rPr>
                    <a:solidFill>
                      <a:srgbClr val="5E5E5E"/>
                    </a:solidFill>
                    <a:latin typeface="Courier"/>
                  </a:rPr>
                  <a:t>+</a:t>
                </a:r>
                <a:r>
                  <a:rPr>
                    <a:solidFill>
                      <a:srgbClr val="003B4F"/>
                    </a:solidFill>
                    <a:latin typeface="Courier"/>
                  </a:rPr>
                  <a:t> t_critical </a:t>
                </a:r>
                <a:r>
                  <a:rPr>
                    <a:solidFill>
                      <a:srgbClr val="5E5E5E"/>
                    </a:solidFill>
                    <a:latin typeface="Courier"/>
                  </a:rPr>
                  <a:t>*</a:t>
                </a:r>
                <a:r>
                  <a:rPr>
                    <a:solidFill>
                      <a:srgbClr val="003B4F"/>
                    </a:solidFill>
                    <a:latin typeface="Courier"/>
                  </a:rPr>
                  <a:t> shady_se</a:t>
                </a:r>
                <a:br/>
                <a:br/>
                <a:r>
                  <a:rPr>
                    <a:solidFill>
                      <a:srgbClr val="4758AB"/>
                    </a:solidFill>
                    <a:latin typeface="Courier"/>
                  </a:rPr>
                  <a:t>cat</a:t>
                </a:r>
                <a:r>
                  <a:rPr>
                    <a:solidFill>
                      <a:srgbClr val="003B4F"/>
                    </a:solidFill>
                    <a:latin typeface="Courier"/>
                  </a:rPr>
                  <a:t>(</a:t>
                </a:r>
                <a:r>
                  <a:rPr>
                    <a:solidFill>
                      <a:srgbClr val="20794D"/>
                    </a:solidFill>
                    <a:latin typeface="Courier"/>
                  </a:rPr>
                  <a:t>"95% CI for shady mean length:"</a:t>
                </a:r>
                <a:r>
                  <a:rPr>
                    <a:solidFill>
                      <a:srgbClr val="003B4F"/>
                    </a:solidFill>
                    <a:latin typeface="Courier"/>
                  </a:rPr>
                  <a:t>, </a:t>
                </a:r>
                <a:r>
                  <a:rPr>
                    <a:solidFill>
                      <a:srgbClr val="4758AB"/>
                    </a:solidFill>
                    <a:latin typeface="Courier"/>
                  </a:rPr>
                  <a:t>round</a:t>
                </a:r>
                <a:r>
                  <a:rPr>
                    <a:solidFill>
                      <a:srgbClr val="003B4F"/>
                    </a:solidFill>
                    <a:latin typeface="Courier"/>
                  </a:rPr>
                  <a:t>(shady_ci_lower,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(shady_ci_upper,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1270000">
                  <a:buNone/>
                </a:pPr>
                <a:r>
                  <a:rPr sz="2000"/>
                  <a:t>Does 15mm fall inside or outside this interval? How does that relate to your t-test conclusion above?</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Two-Sample t-Test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two-sample t-test compares means from two independent groups — here, needle length on the sunny vs. shady sides.</a:t>
                </a:r>
              </a:p>
              <a:p>
                <a:pPr lvl="0" indent="0" marL="0">
                  <a:buNone/>
                </a:pPr>
                <a:r>
                  <a:rPr/>
                  <a:t>✏️ </a:t>
                </a:r>
                <a:r>
                  <a:rPr b="1"/>
                  <a:t>Your turn:</a:t>
                </a:r>
                <a:r>
                  <a:rPr/>
                  <a:t> Write the hypotheses for this comparison:</a:t>
                </a:r>
              </a:p>
              <a:p>
                <a:pPr lvl="0" indent="0">
                  <a:buNone/>
                </a:pPr>
                <a:r>
                  <a:rPr>
                    <a:latin typeface="Courier"/>
                  </a:rPr>
                  <a:t>H0 = ________________________________________________________
Ha = ________________________________________________________</a:t>
                </a:r>
              </a:p>
              <a:p>
                <a:pPr lvl="0" indent="0" marL="0">
                  <a:buNone/>
                </a:pPr>
                <a:r>
                  <a:rPr b="1"/>
                  <a:t>Summary statistics and a first look:</a:t>
                </a:r>
              </a:p>
              <a:p>
                <a:pPr lvl="0" indent="0" marL="0">
                  <a:buNone/>
                </a:pPr>
                <a:r>
                  <a:rPr b="1"/>
                  <a:t>▶ Run this:</a:t>
                </a:r>
              </a:p>
              <a:p>
                <a:pPr lvl="0" indent="0">
                  <a:buNone/>
                </a:pPr>
                <a:r>
                  <a:rPr>
                    <a:solidFill>
                      <a:srgbClr val="003B4F"/>
                    </a:solidFill>
                    <a:latin typeface="Courier"/>
                  </a:rPr>
                  <a:t>group_summary &lt;- ps_df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group_summary</a:t>
                </a:r>
                <a:br/>
                <a:br/>
                <a:r>
                  <a:rPr>
                    <a:solidFill>
                      <a:srgbClr val="003B4F"/>
                    </a:solidFill>
                    <a:latin typeface="Courier"/>
                  </a:rPr>
                  <a:t>group_summary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difference =</a:t>
                </a:r>
                <a:r>
                  <a:rPr>
                    <a:solidFill>
                      <a:srgbClr val="003B4F"/>
                    </a:solidFill>
                    <a:latin typeface="Courier"/>
                  </a:rPr>
                  <a:t> mean_length[side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a:t>
                </a:r>
                <a:r>
                  <a:rPr>
                    <a:solidFill>
                      <a:srgbClr val="003B4F"/>
                    </a:solidFill>
                    <a:latin typeface="Courier"/>
                  </a:rPr>
                  <a:t> mean_length[side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p>
              <a:p>
                <a:pPr lvl="0" indent="0" marL="0">
                  <a:buNone/>
                </a:pPr>
                <a:r>
                  <a:rPr b="1"/>
                  <a:t>▶ Run this</a:t>
                </a:r>
                <a:r>
                  <a:rPr/>
                  <a:t> — plot the mean ± SE directly:</a:t>
                </a:r>
              </a:p>
              <a:p>
                <a:pPr lvl="0" indent="0">
                  <a:buNone/>
                </a:pPr>
                <a:r>
                  <a:rPr>
                    <a:solidFill>
                      <a:srgbClr val="4758AB"/>
                    </a:solidFill>
                    <a:latin typeface="Courier"/>
                  </a:rPr>
                  <a:t>ggplot</a:t>
                </a:r>
                <a:r>
                  <a:rPr>
                    <a:solidFill>
                      <a:srgbClr val="003B4F"/>
                    </a:solidFill>
                    <a:latin typeface="Courier"/>
                  </a:rPr>
                  <a:t>(ps_df,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length_mm,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Length (mm)"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theme_classic</a:t>
                </a:r>
                <a:r>
                  <a:rPr>
                    <a:solidFill>
                      <a:srgbClr val="003B4F"/>
                    </a:solidFill>
                    <a:latin typeface="Courier"/>
                  </a:rPr>
                  <a:t>()</a:t>
                </a:r>
              </a:p>
              <a:p>
                <a:pPr lvl="0" indent="0" marL="0">
                  <a:buNone/>
                </a:pPr>
                <a:r>
                  <a:rPr b="1"/>
                  <a:t>Check assumptions — normality by group:</a:t>
                </a:r>
              </a:p>
              <a:p>
                <a:pPr lvl="0" indent="0" marL="0">
                  <a:buNone/>
                </a:pPr>
                <a:r>
                  <a:rPr b="1"/>
                  <a:t>▶ Run this:</a:t>
                </a:r>
              </a:p>
              <a:p>
                <a:pPr lvl="0" indent="0">
                  <a:buNone/>
                </a:pPr>
                <a:r>
                  <a:rPr>
                    <a:solidFill>
                      <a:srgbClr val="003B4F"/>
                    </a:solidFill>
                    <a:latin typeface="Courier"/>
                  </a:rPr>
                  <a:t>normality_results &lt;- ps_df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(length_mm)</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(length_mm)</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normality_results</a:t>
                </a:r>
              </a:p>
              <a:p>
                <a:pPr lvl="0" indent="0" marL="0">
                  <a:buNone/>
                </a:pPr>
                <a:r>
                  <a:rPr b="1"/>
                  <a:t>Check assumptions — equal variances:</a:t>
                </a:r>
              </a:p>
              <a:p>
                <a:pPr lvl="0" indent="0" marL="0">
                  <a:buNone/>
                </a:pPr>
                <a:r>
                  <a:rPr b="1"/>
                  <a:t>▶ Run this:</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factor</a:t>
                </a:r>
                <a:r>
                  <a:rPr>
                    <a:solidFill>
                      <a:srgbClr val="003B4F"/>
                    </a:solidFill>
                    <a:latin typeface="Courier"/>
                  </a:rPr>
                  <a:t>(side), </a:t>
                </a:r>
                <a:r>
                  <a:rPr>
                    <a:solidFill>
                      <a:srgbClr val="657422"/>
                    </a:solidFill>
                    <a:latin typeface="Courier"/>
                  </a:rPr>
                  <a:t>data =</a:t>
                </a:r>
                <a:r>
                  <a:rPr>
                    <a:solidFill>
                      <a:srgbClr val="003B4F"/>
                    </a:solidFill>
                    <a:latin typeface="Courier"/>
                  </a:rPr>
                  <a:t> ps_df)</a:t>
                </a:r>
                <a:br/>
                <a:r>
                  <a:rPr>
                    <a:solidFill>
                      <a:srgbClr val="003B4F"/>
                    </a:solidFill>
                    <a:latin typeface="Courier"/>
                  </a:rPr>
                  <a:t>levene_result</a:t>
                </a:r>
              </a:p>
              <a:p>
                <a:pPr lvl="0" indent="0" marL="0">
                  <a:buNone/>
                </a:pPr>
                <a:r>
                  <a:rPr/>
                  <a:t>✏️ </a:t>
                </a:r>
                <a:r>
                  <a:rPr b="1"/>
                  <a:t>Your turn:</a:t>
                </a:r>
                <a:r>
                  <a:rPr/>
                  <a:t> What is the null hypothesis of Levene’s test? Do we want it to be significant or non-significant? Based on your result, should you use the standard t-test or Welch’s t-test? </a:t>
                </a:r>
                <a:r>
                  <a:rPr>
                    <a:latin typeface="Courier"/>
                  </a:rPr>
                  <a:t>________________________</a:t>
                </a:r>
              </a:p>
              <a:p>
                <a:pPr lvl="0" indent="0" marL="0">
                  <a:buNone/>
                </a:pPr>
                <a:r>
                  <a:rPr b="1"/>
                  <a:t>Run both versions of the two-sample t-test:</a:t>
                </a:r>
              </a:p>
              <a:p>
                <a:pPr lvl="0" indent="0" marL="0">
                  <a:buNone/>
                </a:pPr>
                <a:r>
                  <a:rPr b="1"/>
                  <a:t>▶ Run this:</a:t>
                </a:r>
              </a:p>
              <a:p>
                <a:pPr lvl="0" indent="0">
                  <a:buNone/>
                </a:pPr>
                <a:r>
                  <a:rPr>
                    <a:solidFill>
                      <a:srgbClr val="5E5E5E"/>
                    </a:solidFill>
                    <a:latin typeface="Courier"/>
                  </a:rPr>
                  <a:t># Standard t-test (equal variances assumed)</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ps_df,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"Standard two-sample t-test:"</a:t>
                </a: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br/>
                <a:br/>
                <a:r>
                  <a:rPr>
                    <a:solidFill>
                      <a:srgbClr val="5E5E5E"/>
                    </a:solidFill>
                    <a:latin typeface="Courier"/>
                  </a:rPr>
                  <a:t># Welch's t-test (unequal variances allowed)</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ps_df,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"Welch's two-sample t-test:"</a:t>
                </a: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0">
                  <a:buNone/>
                </a:pPr>
                <a:r>
                  <a:rPr/>
                  <a:t>✏️ </a:t>
                </a:r>
                <a:r>
                  <a:rPr b="1"/>
                  <a:t>Your turn:</a:t>
                </a:r>
                <a:r>
                  <a:rPr/>
                  <a:t> Compare the two results — the t-statistic, degrees of freedom, and p-value. Are your conclusions the same either way? </a:t>
                </a:r>
                <a:r>
                  <a:rPr>
                    <a:latin typeface="Courier"/>
                  </a:rPr>
                  <a:t>________________________</a:t>
                </a:r>
              </a:p>
              <a:p>
                <a:pPr lvl="0" indent="0" marL="0">
                  <a:buNone/>
                </a:pPr>
                <a:r>
                  <a:rPr/>
                  <a:t>✏️ </a:t>
                </a:r>
                <a:r>
                  <a:rPr b="1"/>
                  <a:t>Your turn:</a:t>
                </a:r>
                <a:r>
                  <a:rPr/>
                  <a:t> Write a properly formatted results sentence: “A two-tailed, two-sample t-test at α = 0.05 showed [a significant/no significant] difference in needle length between sunny (M = …, SD = …) and shady (M = …, SD = …) sides, t(…) = …, p = …”</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 — calculate the two-sample t-statistic by hand</a:t>
                </a:r>
                <a:r>
                  <a:rPr sz="2000"/>
                  <a:t> and confirm it matches </a:t>
                </a:r>
                <a:r>
                  <a:rPr sz="2000">
                    <a:latin typeface="Courier"/>
                  </a:rPr>
                  <a:t>t.test()</a:t>
                </a:r>
                <a:r>
                  <a:rPr sz="2000"/>
                  <a:t>:</a:t>
                </a:r>
              </a:p>
              <a:p>
                <a:pPr lvl="0" indent="0" marL="1270000">
                  <a:buNone/>
                </a:pPr>
                <a14:m>
                  <m:oMathPara xmlns:m="http://schemas.openxmlformats.org/officeDocument/2006/math">
                    <m:oMathParaPr>
                      <m:jc m:val="center"/>
                    </m:oMathParaPr>
                    <m:o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sSub>
                            <m:e>
                              <m:r>
                                <m:t>S</m:t>
                              </m:r>
                            </m:e>
                            <m:sub>
                              <m:r>
                                <m:t>p</m:t>
                              </m:r>
                            </m:sub>
                          </m:sSub>
                          <m:rad>
                            <m:radPr>
                              <m:degHide m:val="on"/>
                            </m:radPr>
                            <m:deg/>
                            <m:e>
                              <m:f>
                                <m:fPr>
                                  <m:type m:val="bar"/>
                                </m:fPr>
                                <m:num>
                                  <m:r>
                                    <m:t>1</m:t>
                                  </m:r>
                                </m:num>
                                <m:den>
                                  <m:sSub>
                                    <m:e>
                                      <m:r>
                                        <m:t>n</m:t>
                                      </m:r>
                                    </m:e>
                                    <m:sub>
                                      <m:r>
                                        <m:t>1</m:t>
                                      </m:r>
                                    </m:sub>
                                  </m:sSub>
                                </m:den>
                              </m:f>
                              <m:r>
                                <m:rPr>
                                  <m:sty m:val="p"/>
                                </m:rPr>
                                <m:t>+</m:t>
                              </m:r>
                              <m:f>
                                <m:fPr>
                                  <m:type m:val="bar"/>
                                </m:fPr>
                                <m:num>
                                  <m:r>
                                    <m:t>1</m:t>
                                  </m:r>
                                </m:num>
                                <m:den>
                                  <m:sSub>
                                    <m:e>
                                      <m:r>
                                        <m:t>n</m:t>
                                      </m:r>
                                    </m:e>
                                    <m:sub>
                                      <m:r>
                                        <m:t>2</m:t>
                                      </m:r>
                                    </m:sub>
                                  </m:sSub>
                                </m:den>
                              </m:f>
                            </m:e>
                          </m:rad>
                        </m:den>
                      </m:f>
                    </m:oMath>
                  </m:oMathPara>
                </a14:m>
              </a:p>
              <a:p>
                <a:pPr lvl="0" indent="0">
                  <a:buNone/>
                </a:pP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(ps_shady_df</a:t>
                </a:r>
                <a:r>
                  <a:rPr>
                    <a:solidFill>
                      <a:srgbClr val="5E5E5E"/>
                    </a:solidFill>
                    <a:latin typeface="Courier"/>
                  </a:rPr>
                  <a:t>$</a:t>
                </a:r>
                <a:r>
                  <a:rPr>
                    <a:solidFill>
                      <a:srgbClr val="003B4F"/>
                    </a:solidFill>
                    <a:latin typeface="Courier"/>
                  </a:rPr>
                  <a:t>length_mm)); 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s1 &lt;- </a:t>
                </a:r>
                <a:r>
                  <a:rPr>
                    <a:solidFill>
                      <a:srgbClr val="4758AB"/>
                    </a:solidFill>
                    <a:latin typeface="Courier"/>
                  </a:rPr>
                  <a:t>sd</a:t>
                </a:r>
                <a:r>
                  <a:rPr>
                    <a:solidFill>
                      <a:srgbClr val="003B4F"/>
                    </a:solidFill>
                    <a:latin typeface="Courier"/>
                  </a:rPr>
                  <a:t>(ps_shady_df</a:t>
                </a:r>
                <a:r>
                  <a:rPr>
                    <a:solidFill>
                      <a:srgbClr val="5E5E5E"/>
                    </a:solidFill>
                    <a:latin typeface="Courier"/>
                  </a:rPr>
                  <a:t>$</a:t>
                </a:r>
                <a:r>
                  <a:rPr>
                    <a:solidFill>
                      <a:srgbClr val="003B4F"/>
                    </a:solidFill>
                    <a:latin typeface="Courier"/>
                  </a:rPr>
                  <a:t>length_mm); s2 &lt;- </a:t>
                </a:r>
                <a:r>
                  <a:rPr>
                    <a:solidFill>
                      <a:srgbClr val="4758AB"/>
                    </a:solidFill>
                    <a:latin typeface="Courier"/>
                  </a:rPr>
                  <a:t>sd</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br/>
                <a:r>
                  <a:rPr>
                    <a:solidFill>
                      <a:srgbClr val="003B4F"/>
                    </a:solidFill>
                    <a:latin typeface="Courier"/>
                  </a:rPr>
                  <a:t>sp &lt;- </a:t>
                </a:r>
                <a:r>
                  <a:rPr>
                    <a:solidFill>
                      <a:srgbClr val="4758AB"/>
                    </a:solidFill>
                    <a:latin typeface="Courier"/>
                  </a:rPr>
                  <a:t>sqrt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s1</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s2</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t_by_hand &lt;- (</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br/>
                <a:r>
                  <a:rPr>
                    <a:solidFill>
                      <a:srgbClr val="003B4F"/>
                    </a:solidFill>
                    <a:latin typeface="Courier"/>
                  </a:rPr>
                  <a:t>  (sp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t_by_hand</a:t>
                </a:r>
              </a:p>
              <a:p>
                <a:pPr lvl="0" indent="0" marL="1270000">
                  <a:buNone/>
                </a:pPr>
                <a:r>
                  <a:rPr sz="2000"/>
                  <a:t>Does </a:t>
                </a:r>
                <a:r>
                  <a:rPr sz="2000">
                    <a:latin typeface="Courier"/>
                  </a:rPr>
                  <a:t>t_by_hand</a:t>
                </a:r>
                <a:r>
                  <a:rPr sz="2000"/>
                  <a:t> match the </a:t>
                </a:r>
                <a:r>
                  <a:rPr sz="2000">
                    <a:latin typeface="Courier"/>
                  </a:rPr>
                  <a:t>t</a:t>
                </a:r>
                <a:r>
                  <a:rPr sz="2000"/>
                  <a:t> value from your standard </a:t>
                </a:r>
                <a:r>
                  <a:rPr sz="2000">
                    <a:latin typeface="Courier"/>
                  </a:rPr>
                  <a:t>t.test()</a:t>
                </a:r>
                <a:r>
                  <a:rPr sz="2000"/>
                  <a:t> output above?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Paired t-Test</a:t>
            </a:r>
          </a:p>
        </p:txBody>
      </p:sp>
      <p:sp>
        <p:nvSpPr>
          <p:cNvPr id="3" name="Content Placeholder 2"/>
          <p:cNvSpPr>
            <a:spLocks noGrp="1"/>
          </p:cNvSpPr>
          <p:nvPr>
            <p:ph idx="1"/>
          </p:nvPr>
        </p:nvSpPr>
        <p:spPr/>
        <p:txBody>
          <a:bodyPr/>
          <a:lstStyle/>
          <a:p>
            <a:pPr lvl="0" indent="0" marL="0">
              <a:buNone/>
            </a:pPr>
            <a:r>
              <a:rPr/>
              <a:t>A paired t-test compares two measurements taken from the </a:t>
            </a:r>
            <a:r>
              <a:rPr i="1"/>
              <a:t>same</a:t>
            </a:r>
            <a:r>
              <a:rPr/>
              <a:t> subject — here, the sunny and shady side of the </a:t>
            </a:r>
            <a:r>
              <a:rPr i="1"/>
              <a:t>same</a:t>
            </a:r>
            <a:r>
              <a:rPr/>
              <a:t> tree. It uses the differences between pairs as the data, and is generally more powerful than a two-sample test because it removes tree-to-tree variation from the noise.</a:t>
            </a:r>
          </a:p>
          <a:p>
            <a:pPr lvl="0" indent="0" marL="0">
              <a:buNone/>
            </a:pPr>
            <a:r>
              <a:rPr b="1"/>
              <a:t>▶ Run this:</a:t>
            </a:r>
          </a:p>
          <a:p>
            <a:pPr lvl="0" indent="0">
              <a:buNone/>
            </a:pPr>
            <a:r>
              <a:rPr>
                <a:solidFill>
                  <a:srgbClr val="003B4F"/>
                </a:solidFill>
                <a:latin typeface="Courier"/>
              </a:rPr>
              <a:t>ps_wide_df &lt;- ps_df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names_from =</a:t>
            </a:r>
            <a:r>
              <a:rPr>
                <a:solidFill>
                  <a:srgbClr val="003B4F"/>
                </a:solidFill>
                <a:latin typeface="Courier"/>
              </a:rPr>
              <a:t> </a:t>
            </a:r>
            <a:r>
              <a:rPr>
                <a:solidFill>
                  <a:srgbClr val="20794D"/>
                </a:solidFill>
                <a:latin typeface="Courier"/>
              </a:rPr>
              <a:t>"side"</a:t>
            </a:r>
            <a:r>
              <a:rPr>
                <a:solidFill>
                  <a:srgbClr val="003B4F"/>
                </a:solidFill>
                <a:latin typeface="Courier"/>
              </a:rPr>
              <a:t>,</a:t>
            </a:r>
            <a:br/>
            <a:r>
              <a:rPr>
                <a:solidFill>
                  <a:srgbClr val="003B4F"/>
                </a:solidFill>
                <a:latin typeface="Courier"/>
              </a:rPr>
              <a:t>    </a:t>
            </a:r>
            <a:r>
              <a:rPr>
                <a:solidFill>
                  <a:srgbClr val="657422"/>
                </a:solidFill>
                <a:latin typeface="Courier"/>
              </a:rPr>
              <a:t>values_from =</a:t>
            </a:r>
            <a:r>
              <a:rPr>
                <a:solidFill>
                  <a:srgbClr val="003B4F"/>
                </a:solidFill>
                <a:latin typeface="Courier"/>
              </a:rPr>
              <a:t> length_mm</a:t>
            </a:r>
            <a:br/>
            <a:r>
              <a:rPr>
                <a:solidFill>
                  <a:srgbClr val="003B4F"/>
                </a:solidFill>
                <a:latin typeface="Courier"/>
              </a:rPr>
              <a:t>  )</a:t>
            </a:r>
            <a:br/>
            <a:br/>
            <a:r>
              <a:rPr>
                <a:solidFill>
                  <a:srgbClr val="003B4F"/>
                </a:solidFill>
                <a:latin typeface="Courier"/>
              </a:rPr>
              <a:t>paired_t_test_result &lt;- </a:t>
            </a:r>
            <a:r>
              <a:rPr>
                <a:solidFill>
                  <a:srgbClr val="4758AB"/>
                </a:solidFill>
                <a:latin typeface="Courier"/>
              </a:rPr>
              <a:t>t.test</a:t>
            </a:r>
            <a:r>
              <a:rPr>
                <a:solidFill>
                  <a:srgbClr val="003B4F"/>
                </a:solidFill>
                <a:latin typeface="Courier"/>
              </a:rPr>
              <a:t>(ps_wide_df</a:t>
            </a:r>
            <a:r>
              <a:rPr>
                <a:solidFill>
                  <a:srgbClr val="5E5E5E"/>
                </a:solidFill>
                <a:latin typeface="Courier"/>
              </a:rPr>
              <a:t>$</a:t>
            </a:r>
            <a:r>
              <a:rPr>
                <a:solidFill>
                  <a:srgbClr val="003B4F"/>
                </a:solidFill>
                <a:latin typeface="Courier"/>
              </a:rPr>
              <a:t>sunny, ps_wide_df</a:t>
            </a:r>
            <a:r>
              <a:rPr>
                <a:solidFill>
                  <a:srgbClr val="5E5E5E"/>
                </a:solidFill>
                <a:latin typeface="Courier"/>
              </a:rPr>
              <a:t>$</a:t>
            </a:r>
            <a:r>
              <a:rPr>
                <a:solidFill>
                  <a:srgbClr val="003B4F"/>
                </a:solidFill>
                <a:latin typeface="Courier"/>
              </a:rPr>
              <a:t>shady,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paired_t_test_result</a:t>
            </a:r>
          </a:p>
          <a:p>
            <a:pPr lvl="0" indent="0" marL="0">
              <a:buNone/>
            </a:pPr>
            <a:r>
              <a:rPr/>
              <a:t>✏️ </a:t>
            </a:r>
            <a:r>
              <a:rPr b="1"/>
              <a:t>Your turn:</a:t>
            </a:r>
            <a:r>
              <a:rPr/>
              <a:t> What does pairing control for here that the two-sample test in Part 4 does not? </a:t>
            </a:r>
            <a:r>
              <a:rPr>
                <a:latin typeface="Courier"/>
              </a:rPr>
              <a:t>________________________</a:t>
            </a:r>
          </a:p>
          <a:p>
            <a:pPr lvl="0" indent="0" marL="1270000">
              <a:buNone/>
            </a:pPr>
            <a:r>
              <a:rPr sz="2000" b="1"/>
              <a:t>Tip</a:t>
            </a:r>
          </a:p>
          <a:p>
            <a:pPr lvl="0" indent="0" marL="1270000">
              <a:buNone/>
            </a:pPr>
            <a:r>
              <a:rPr sz="2000" b="1"/>
              <a:t>🚀 If you finish early — compare the paired and two-sample p-values side by side: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"Two-sample p-value:"</a:t>
            </a:r>
            <a:r>
              <a:rPr>
                <a:solidFill>
                  <a:srgbClr val="003B4F"/>
                </a:solidFill>
                <a:latin typeface="Courier"/>
              </a:rPr>
              <a:t>, t_test_result</a:t>
            </a:r>
            <a:r>
              <a:rPr>
                <a:solidFill>
                  <a:srgbClr val="5E5E5E"/>
                </a:solidFill>
                <a:latin typeface="Courier"/>
              </a:rPr>
              <a:t>$</a:t>
            </a:r>
            <a:r>
              <a:rPr>
                <a:solidFill>
                  <a:srgbClr val="003B4F"/>
                </a:solidFill>
                <a:latin typeface="Courier"/>
              </a:rPr>
              <a:t>p.value,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"Paired p-value:     "</a:t>
            </a:r>
            <a:r>
              <a:rPr>
                <a:solidFill>
                  <a:srgbClr val="003B4F"/>
                </a:solidFill>
                <a:latin typeface="Courier"/>
              </a:rPr>
              <a:t>, paired_t_test_result</a:t>
            </a:r>
            <a:r>
              <a:rPr>
                <a:solidFill>
                  <a:srgbClr val="5E5E5E"/>
                </a:solidFill>
                <a:latin typeface="Courier"/>
              </a:rPr>
              <a:t>$</a:t>
            </a:r>
            <a:r>
              <a:rPr>
                <a:solidFill>
                  <a:srgbClr val="003B4F"/>
                </a:solidFill>
                <a:latin typeface="Courier"/>
              </a:rPr>
              <a:t>p.value,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1270000">
              <a:buNone/>
            </a:pPr>
            <a:r>
              <a:rPr sz="2000"/>
              <a:t>Which p-value is smaller? Does that match the lecture’s claim that a paired design is “generally more powerful because it controls for individual variation”?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Communicating Results and Reflection</a:t>
            </a:r>
          </a:p>
        </p:txBody>
      </p:sp>
      <p:sp>
        <p:nvSpPr>
          <p:cNvPr id="3" name="Content Placeholder 2"/>
          <p:cNvSpPr>
            <a:spLocks noGrp="1"/>
          </p:cNvSpPr>
          <p:nvPr>
            <p:ph idx="1"/>
          </p:nvPr>
        </p:nvSpPr>
        <p:spPr/>
        <p:txBody>
          <a:bodyPr/>
          <a:lstStyle/>
          <a:p>
            <a:pPr lvl="0" indent="0" marL="0">
              <a:buNone/>
            </a:pPr>
            <a:r>
              <a:rPr/>
              <a:t>In scientific writing, statistical results are reported clearly and consistently. Standard formats:</a:t>
            </a:r>
          </a:p>
          <a:p>
            <a:pPr lvl="0"/>
            <a:r>
              <a:rPr b="1"/>
              <a:t>One-sample:</a:t>
            </a:r>
            <a:r>
              <a:rPr/>
              <a:t> “A one-sample t-test showed that the mean needle length on the shady side (M = [mean], SD = [sd]) was [significantly/not significantly] different from 15mm, t([df]) = [t-value], p = [p-value].”</a:t>
            </a:r>
          </a:p>
          <a:p>
            <a:pPr lvl="0"/>
            <a:r>
              <a:rPr b="1"/>
              <a:t>Two-sample:</a:t>
            </a:r>
            <a:r>
              <a:rPr/>
              <a:t> “A two-sample t-test revealed that pine needle lengths on the sunny side (M = [mean1], SD = [sd1]) were [significantly/not significantly] [longer/shorter] than on the shady side (M = [mean2], SD = [sd2]), t([df]) = [t-value], p = [p-value].”</a:t>
            </a:r>
          </a:p>
          <a:p>
            <a:pPr lvl="0" indent="0" marL="0">
              <a:buNone/>
            </a:pPr>
            <a:r>
              <a:rPr/>
              <a:t>✏️ </a:t>
            </a:r>
            <a:r>
              <a:rPr b="1"/>
              <a:t>Your turn:</a:t>
            </a:r>
            <a:r>
              <a:rPr/>
              <a:t> Write all three results statements — one-sample, two-sample (or Welch’s), and paired — using your own numbers from Parts 3–5.</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Reflection Questions</a:t>
            </a:r>
          </a:p>
        </p:txBody>
      </p:sp>
      <p:sp>
        <p:nvSpPr>
          <p:cNvPr id="3" name="Content Placeholder 2"/>
          <p:cNvSpPr>
            <a:spLocks noGrp="1"/>
          </p:cNvSpPr>
          <p:nvPr>
            <p:ph idx="1"/>
          </p:nvPr>
        </p:nvSpPr>
        <p:spPr/>
        <p:txBody>
          <a:bodyPr/>
          <a:lstStyle/>
          <a:p>
            <a:pPr lvl="0" indent="-342900" marL="342900">
              <a:buAutoNum type="arabicPeriod"/>
            </a:pPr>
            <a:r>
              <a:rPr/>
              <a:t>How does the t-distribution differ from the normal distribution, and why does this matter for small samples?</a:t>
            </a:r>
          </a:p>
          <a:p>
            <a:pPr lvl="0" indent="-342900" marL="342900">
              <a:buAutoNum type="arabicPeriod"/>
            </a:pPr>
            <a:r>
              <a:rPr/>
              <a:t>What assumptions must be met to use a t-test, and what alternatives exist if these assumptions are violated?</a:t>
            </a:r>
          </a:p>
          <a:p>
            <a:pPr lvl="0" indent="-342900" marL="342900">
              <a:buAutoNum type="arabicPeriod"/>
            </a:pPr>
            <a:r>
              <a:rPr/>
              <a:t>What is the difference between statistical significance and practical importance?</a:t>
            </a:r>
          </a:p>
          <a:p>
            <a:pPr lvl="0" indent="-342900" marL="342900">
              <a:buAutoNum type="arabicPeriod"/>
            </a:pPr>
            <a:r>
              <a:rPr/>
              <a:t>How would the confidence interval change if we used a 99% confidence level instead of 95%?</a:t>
            </a:r>
          </a:p>
          <a:p>
            <a:pPr lvl="0" indent="-342900" marL="342900">
              <a:buAutoNum type="arabicPeriod"/>
            </a:pPr>
            <a:r>
              <a:rPr/>
              <a:t>How would you explain the concept of a p-value to someone with no statistical background?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State H₀, Hₐ, and α </a:t>
            </a:r>
            <a:r>
              <a:rPr i="1"/>
              <a:t>before</a:t>
            </a:r>
            <a:r>
              <a:rPr/>
              <a:t> running a test</a:t>
            </a:r>
          </a:p>
          <a:p>
            <a:pPr lvl="0"/>
            <a:r>
              <a:rPr/>
              <a:t>☐ Check normality with a QQ plot and the Shapiro-Wilk test</a:t>
            </a:r>
          </a:p>
          <a:p>
            <a:pPr lvl="0"/>
            <a:r>
              <a:rPr/>
              <a:t>☐ Check equal variances with Levene’s test</a:t>
            </a:r>
          </a:p>
          <a:p>
            <a:pPr lvl="0"/>
            <a:r>
              <a:rPr/>
              <a:t>☐ Run and interpret a one-sample t-test, including its confidence interval</a:t>
            </a:r>
          </a:p>
          <a:p>
            <a:pPr lvl="0"/>
            <a:r>
              <a:rPr/>
              <a:t>☐ Choose between a standard and Welch’s two-sample t-test based on Levene’s test</a:t>
            </a:r>
          </a:p>
          <a:p>
            <a:pPr lvl="0"/>
            <a:r>
              <a:rPr/>
              <a:t>☐ Run and interpret a paired t-test, and explain why it’s often more powerful</a:t>
            </a:r>
          </a:p>
          <a:p>
            <a:pPr lvl="0"/>
            <a:r>
              <a:rPr/>
              <a:t>☐ Write a properly formatted results sentence for each test type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06_t_tests.R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Take-Home Extension — Mouse Body Mass and the Island Rule</a:t>
            </a:r>
          </a:p>
        </p:txBody>
      </p:sp>
      <p:sp>
        <p:nvSpPr>
          <p:cNvPr id="3" name="Content Placeholder 2"/>
          <p:cNvSpPr>
            <a:spLocks noGrp="1"/>
          </p:cNvSpPr>
          <p:nvPr>
            <p:ph idx="1"/>
          </p:nvPr>
        </p:nvSpPr>
        <p:spPr/>
        <p:txBody>
          <a:bodyPr/>
          <a:lstStyle/>
          <a:p>
            <a:pPr lvl="0" indent="0" marL="0">
              <a:buNone/>
            </a:pPr>
            <a:r>
              <a:rPr i="1"/>
              <a:t>Due Monday, September 28 — before the Power &amp; Error class.</a:t>
            </a:r>
          </a:p>
          <a:p>
            <a:pPr lvl="0" indent="0" marL="0">
              <a:buNone/>
            </a:pPr>
            <a:r>
              <a:rPr/>
              <a:t>Everything below uses the exact same tests you just ran in Parts 3 and 4 — a one-sample and a two-sample t-test — on a new dataset and a new question. This time you decide which version of each test to run and defend that choice yourself; nobody walks you through it step by step.</a:t>
            </a:r>
          </a:p>
          <a:p>
            <a:pPr lvl="0" indent="0" marL="0">
              <a:spcBef>
                <a:spcPts val="3000"/>
              </a:spcBef>
              <a:buNone/>
            </a:pPr>
            <a:r>
              <a:rPr b="1"/>
              <a:t>Background</a:t>
            </a:r>
          </a:p>
          <a:p>
            <a:pPr lvl="0" indent="0" marL="0">
              <a:buNone/>
            </a:pPr>
            <a:r>
              <a:rPr/>
              <a:t>The </a:t>
            </a:r>
            <a:r>
              <a:rPr b="1"/>
              <a:t>Island Rule</a:t>
            </a:r>
            <a:r>
              <a:rPr/>
              <a:t> predicts that when mainland species colonize islands, small-bodied species — like rodents — tend to evolve larger body size, released from mainland predation and competition pressure. Below are body mass measurements for deer mice trapped on Sidney Island (an island population) and near Vancouver, BC (a mainland population).</a:t>
            </a:r>
          </a:p>
          <a:p>
            <a:pPr lvl="0" indent="0" marL="0">
              <a:buNone/>
            </a:pPr>
            <a:r>
              <a:rPr b="1"/>
              <a:t>▶ Run this:</a:t>
            </a:r>
          </a:p>
          <a:p>
            <a:pPr lvl="0" indent="0">
              <a:buNone/>
            </a:pPr>
            <a:r>
              <a:rPr>
                <a:solidFill>
                  <a:srgbClr val="003B4F"/>
                </a:solidFill>
                <a:latin typeface="Courier"/>
              </a:rPr>
              <a:t>mice_df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a:t>
            </a:r>
            <a:br/>
            <a:r>
              <a:rPr>
                <a:solidFill>
                  <a:srgbClr val="4758AB"/>
                </a:solidFill>
                <a:latin typeface="Courier"/>
              </a:rPr>
              <a:t>head</a:t>
            </a:r>
            <a:r>
              <a:rPr>
                <a:solidFill>
                  <a:srgbClr val="003B4F"/>
                </a:solidFill>
                <a:latin typeface="Courier"/>
              </a:rPr>
              <a:t>(mice_df)</a:t>
            </a:r>
          </a:p>
          <a:p>
            <a:pPr lvl="0" indent="0" marL="0">
              <a:spcBef>
                <a:spcPts val="3000"/>
              </a:spcBef>
              <a:buNone/>
            </a:pPr>
            <a:r>
              <a:rPr b="1"/>
              <a:t>Task A · One-Sample Question</a:t>
            </a:r>
          </a:p>
          <a:p>
            <a:pPr lvl="0" indent="0" marL="0">
              <a:buNone/>
            </a:pPr>
            <a:r>
              <a:rPr b="1"/>
              <a:t>Question:</a:t>
            </a:r>
            <a:r>
              <a:rPr/>
              <a:t> Do island mice (Sidney Island) differ from a “typical” continental deer mouse body mass of 19 g?</a:t>
            </a:r>
          </a:p>
          <a:p>
            <a:pPr lvl="0" indent="0" marL="0">
              <a:buNone/>
            </a:pPr>
            <a:r>
              <a:rPr/>
              <a:t>✏️ </a:t>
            </a:r>
            <a:r>
              <a:rPr b="1"/>
              <a:t>Your turn:</a:t>
            </a:r>
            <a:r>
              <a:rPr/>
              <a:t> Write your hypotheses, decide which test is appropriate and justify your choice, then write and run the code, and interpret the result.</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Task B · Two-Sample Question</a:t>
            </a:r>
          </a:p>
          <a:p>
            <a:pPr lvl="0" indent="0" marL="0">
              <a:buNone/>
            </a:pPr>
            <a:r>
              <a:rPr b="1"/>
              <a:t>Question:</a:t>
            </a:r>
            <a:r>
              <a:rPr/>
              <a:t> Does mouse body mass differ between the island (Sidney Island) and mainland (Vancouver) populations?</a:t>
            </a:r>
          </a:p>
          <a:p>
            <a:pPr lvl="0" indent="0" marL="0">
              <a:buNone/>
            </a:pPr>
            <a:r>
              <a:rPr/>
              <a:t>✏️ </a:t>
            </a:r>
            <a:r>
              <a:rPr b="1"/>
              <a:t>Your turn:</a:t>
            </a:r>
            <a:r>
              <a:rPr/>
              <a:t> Same process — hypotheses, test choice and justification, code, and interpretation. (Hint: in Part 4 you used Levene’s test to decide between the standard and Welch’s two-sample t-test — do that check again here, on your own, before picking one.)</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summarizing island vs. mainland body mass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Sept 28</a:t>
            </a:r>
          </a:p>
          <a:p>
            <a:pPr lvl="0" indent="0" marL="1270000">
              <a:buNone/>
            </a:pPr>
            <a:r>
              <a:rPr sz="2000"/>
              <a:t>Your write-up should include, for both Task A and Task B:</a:t>
            </a:r>
          </a:p>
          <a:p>
            <a:pPr lvl="0"/>
            <a:r>
              <a:rPr sz="2000"/>
              <a:t>☐ The question</a:t>
            </a:r>
          </a:p>
          <a:p>
            <a:pPr lvl="0"/>
            <a:r>
              <a:rPr sz="2000"/>
              <a:t>☐ Your hypotheses</a:t>
            </a:r>
          </a:p>
          <a:p>
            <a:pPr lvl="0"/>
            <a:r>
              <a:rPr sz="2000"/>
              <a:t>☐ Which test you used, and your justification for choosing it</a:t>
            </a:r>
          </a:p>
          <a:p>
            <a:pPr lvl="0"/>
            <a:r>
              <a:rPr sz="2000"/>
              <a:t>☐ The code and its output</a:t>
            </a:r>
          </a:p>
          <a:p>
            <a:pPr lvl="0"/>
            <a:r>
              <a:rPr sz="2000"/>
              <a:t>☐ Your interpretation of the result</a:t>
            </a:r>
          </a:p>
          <a:p>
            <a:pPr lvl="0"/>
            <a:r>
              <a:rPr sz="2000"/>
              <a:t>☐ A final figure showing the result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and </a:t>
            </a:r>
            <a:r>
              <a:rPr>
                <a:latin typeface="Courier"/>
              </a:rPr>
              <a:t>library(readxl)</a:t>
            </a:r>
            <a:r>
              <a:rPr/>
              <a:t>? Spelling? A missing </a:t>
            </a:r>
            <a:r>
              <a:rPr>
                <a:latin typeface="Courier"/>
              </a:rPr>
              <a:t>)</a:t>
            </a:r>
            <a:r>
              <a:rPr/>
              <a:t> or </a:t>
            </a:r>
            <a:r>
              <a:rPr>
                <a:latin typeface="Courier"/>
              </a:rPr>
              <a:t>|&gt;</a:t>
            </a:r>
            <a:r>
              <a:rPr/>
              <a:t>/</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T-Tests: One, Two, Paired</dc:title>
  <dc:creator>Bill Perry</dc:creator>
  <cp:keywords/>
  <dc:description>Hands-on worksheet: hypothesis testing framework, assumption checks, and one-sample, two-sample (Student’s and Welch’s), and paired t-tests on the class pine needle dataset.</dc:description>
  <dcterms:created xsi:type="dcterms:W3CDTF">2026-08-28T18:20:18Z</dcterms:created>
  <dcterms:modified xsi:type="dcterms:W3CDTF">2026-08-28T18:20:18Z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6</vt:lpwstr>
  </property>
  <property fmtid="{D5CDD505-2E9C-101B-9397-08002B2CF9AE}" pid="13" name="resources">
    <vt:lpwstr/>
  </property>
  <property fmtid="{D5CDD505-2E9C-101B-9397-08002B2CF9AE}" pid="14" name="subtitle">
    <vt:lpwstr>Comparing means</vt:lpwstr>
  </property>
  <property fmtid="{D5CDD505-2E9C-101B-9397-08002B2CF9AE}" pid="15" name="toc-title">
    <vt:lpwstr>Table of contents</vt:lpwstr>
  </property>
  <property fmtid="{D5CDD505-2E9C-101B-9397-08002B2CF9AE}" pid="16" name="week">
    <vt:lpwstr>4</vt:lpwstr>
  </property>
</Properties>
</file>