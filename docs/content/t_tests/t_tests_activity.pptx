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T-Tests — One, Two, Paired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De-Pseudoreplicate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our true sample unit here — needles? branches? trees? sides? Why does that matter for how we analyze this data?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/>
              <a:t>We need to average the sunny and shady sides so the data is not pseudoreplicated — multiple needles per tree side are not independent observations.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corrected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compared to the original file. From here on we use </a:t>
            </a:r>
            <a:r>
              <a:rPr sz="2000" b="1">
                <a:latin typeface="Courier"/>
              </a:rPr>
              <a:t>ps_df</a:t>
            </a:r>
            <a:r>
              <a:rPr sz="2000"/>
              <a:t> — it’s the version that matches the field notes.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pipeline that gets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mean_length</a:t>
            </a:r>
            <a:r>
              <a:rPr sz="2000"/>
              <a:t>, </a:t>
            </a:r>
            <a:r>
              <a:rPr sz="2000">
                <a:latin typeface="Courier"/>
              </a:rPr>
              <a:t>sd_length</a:t>
            </a:r>
            <a:r>
              <a:rPr sz="2000"/>
              <a:t>, and </a:t>
            </a:r>
            <a:r>
              <a:rPr sz="2000">
                <a:latin typeface="Courier"/>
              </a:rPr>
              <a:t>se_length</a:t>
            </a:r>
            <a:r>
              <a:rPr sz="2000"/>
              <a:t> for </a:t>
            </a:r>
            <a:r>
              <a:rPr sz="2000">
                <a:latin typeface="Courier"/>
              </a:rPr>
              <a:t>ps_df</a:t>
            </a:r>
            <a:r>
              <a:rPr sz="2000"/>
              <a:t>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summary the lecture built as </a:t>
            </a:r>
            <a:r>
              <a:rPr sz="2000">
                <a:latin typeface="Courier"/>
              </a:rPr>
              <a:t>stats_df</a:t>
            </a:r>
            <a:r>
              <a:rPr sz="2000"/>
              <a:t>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t-test starts the same way: state H₀ and Hₐ, and pick α </a:t>
            </a:r>
            <a:r>
              <a:rPr i="1"/>
              <a:t>before</a:t>
            </a:r>
            <a:r>
              <a:rPr/>
              <a:t> you look at the result.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 out: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a p-value actually tell you? (Hint: it is a statement about the data </a:t>
            </a:r>
            <a:r>
              <a:rPr i="1"/>
              <a:t>given</a:t>
            </a:r>
            <a:r>
              <a:rPr/>
              <a:t> H₀ — not a statement about whether H₀ is true.)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 two-sample t-test on 14 degrees of freedom produces an observed t-statistic of 2.31. Use </a:t>
            </a:r>
            <a:r>
              <a:rPr sz="2000">
                <a:latin typeface="Courier"/>
              </a:rPr>
              <a:t>2 * (1 - pt(2.31, df = 14))</a:t>
            </a:r>
            <a:r>
              <a:rPr sz="2000"/>
              <a:t> to compute the two-tailed p-value by hand, then compare it to the p-value table from lecture (p &lt; 0.05 = moderate-to-strong evidence). Is H₀ rejected at α = 0.05?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One-Sample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one-sample t-test compares a sample mean to a specific hypothesized value. Let’s test whether the mean needle length on the shady side is 15mm.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Before testing, write the hypotheses: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H0: mu = _____ (the mean needle length on the shady side is _____ mm)
Ha: mu ≠ _____ (the mean needle length on the shady side is not _____ mm)</a:t>
                </a:r>
              </a:p>
              <a:p>
                <a:pPr lvl="0" indent="0" marL="0">
                  <a:buNone/>
                </a:pPr>
                <a:r>
                  <a:rPr b="1"/>
                  <a:t>Check assumptions first — normality: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qqPlot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"QQ Plot for length of pine needles"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Quantiles"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For the Shapiro-Wilk test, what is the null hypothesis? Do we want a significant or a non-significant result here?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Check assumptions — outliers: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geom_boxplot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fill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 b="1"/>
                  <a:t>Run the one-sample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ps_shade_mean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mu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Interpret the test result: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null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was the alternative hypothesis?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the p-value tell us?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Should we reject or fail to reject the null hypothesis at α = 0.05?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is the practical interpretation of this result for botanists?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one-sample t-test at α = 0.05 showed that the mean needle length (shady side) (M = …, SD = …) [was/was not] significantly different from the expected 15mm,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95% confidence interval by hand: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for shady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1270000">
                  <a:buNone/>
                </a:pPr>
                <a:r>
                  <a:rPr sz="2000"/>
                  <a:t>Does 15mm fall inside or outside this interval? How does that relate to your t-test conclusion above?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Two-Sample t-Test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two-sample t-test compares means from two independent groups — here, needle length on the sunny vs. shady sides.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the hypotheses for this comparison: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H0 = ________________________________________________________
Ha = ________________________________________________________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Summary statistics and a first look: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mean_length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      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se_length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sd_length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group_summary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difference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mean_length[side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plot the mean ± SE directly: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(ps_df,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"point"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stat_summary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fun.data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mean_se,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geom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"errorbar"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"side"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theme_classic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Check assumptions — normality by group: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 &lt;- ps_df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group_by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(side)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summarize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shapiro_stat   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statistic,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shapiro_p_value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shapiro.test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p.value,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normal_distribution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if_else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(shapiro_p_value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"Non-normal"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normality_results</a:t>
                </a:r>
              </a:p>
              <a:p>
                <a:pPr lvl="0" indent="0" marL="0">
                  <a:buNone/>
                </a:pPr>
                <a:r>
                  <a:rPr b="1"/>
                  <a:t>Check assumptions — equal variances: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leveneTest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levene_result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What is the null hypothesis of Levene’s test? Do we want it to be significant or non-significant? Based on your result, should you use the standard t-test or Welch’s t-test?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 b="1"/>
                  <a:t>Run both versions of the two-sample t-test: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Standard t-test (equal variances assumed)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(t_test_result)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Welch's t-test (unequal variances allowed)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welch_test_result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(length_mm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ps_df,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var.equal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"Welch's two-sample t-test:"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(welch_test_result)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Compare the two results — the t-statistic, degrees of freedom, and p-value. Are your conclusions the same either way?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Write a properly formatted results sentence: “A two-tailed, two-sample t-test at α = 0.05 showed [a significant/no significant] difference in needle length between sunny (M = …, SD = …) and shady (M = …, SD = …) sides, t(…) = …, p = …”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________________________________________________________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 — calculate the two-sample t-statistic by hand</a:t>
                </a:r>
                <a:r>
                  <a:rPr sz="2000"/>
                  <a:t> and confirm it matches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: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(ps_shady_df); n2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s1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length_mm); s2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sp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s2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n2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 &lt;- 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(sp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n1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n2))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t_by_hand</a:t>
                </a:r>
              </a:p>
              <a:p>
                <a:pPr lvl="0" indent="0" marL="1270000">
                  <a:buNone/>
                </a:pPr>
                <a:r>
                  <a:rPr sz="2000"/>
                  <a:t>Does </a:t>
                </a:r>
                <a:r>
                  <a:rPr sz="2000">
                    <a:latin typeface="Courier"/>
                  </a:rPr>
                  <a:t>t_by_hand</a:t>
                </a:r>
                <a:r>
                  <a:rPr sz="2000"/>
                  <a:t> match the </a:t>
                </a:r>
                <a:r>
                  <a:rPr sz="2000">
                    <a:latin typeface="Courier"/>
                  </a:rPr>
                  <a:t>t</a:t>
                </a:r>
                <a:r>
                  <a:rPr sz="2000"/>
                  <a:t> value from your standard </a:t>
                </a:r>
                <a:r>
                  <a:rPr sz="2000">
                    <a:latin typeface="Courier"/>
                  </a:rPr>
                  <a:t>t.test()</a:t>
                </a:r>
                <a:r>
                  <a:rPr sz="2000"/>
                  <a:t> output above?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Paired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t-test compares two measurements taken from the </a:t>
            </a:r>
            <a:r>
              <a:rPr i="1"/>
              <a:t>same</a:t>
            </a:r>
            <a:r>
              <a:rPr/>
              <a:t> subject — here, the sunny and shady side of the </a:t>
            </a:r>
            <a:r>
              <a:rPr i="1"/>
              <a:t>same</a:t>
            </a:r>
            <a:r>
              <a:rPr/>
              <a:t> tree. It uses the differences between pairs as the data, and is generally more powerful than a two-sample test because it removes tree-to-tree variation from the noise.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pairing control for here that the two-sample test in Part 4 does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 — compare the paired and two-sample p-values side by side: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p-value:"</a:t>
            </a:r>
            <a:r>
              <a:rPr>
                <a:solidFill>
                  <a:srgbClr val="003B4F"/>
                </a:solidFill>
                <a:latin typeface="Courier"/>
              </a:rPr>
              <a:t>, 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p-value:     "</a:t>
            </a:r>
            <a:r>
              <a:rPr>
                <a:solidFill>
                  <a:srgbClr val="003B4F"/>
                </a:solidFill>
                <a:latin typeface="Courier"/>
              </a:rPr>
              <a:t>, paired_t_test_result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Which p-value is smaller? Does that match the lecture’s claim that a paired design is “generally more powerful because it controls for individual variation”?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Communicating Results and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statistical results are reported clearly and consistently. Standard formats:</a:t>
            </a:r>
          </a:p>
          <a:p>
            <a:pPr lvl="0"/>
            <a:r>
              <a:rPr b="1"/>
              <a:t>One-sample:</a:t>
            </a:r>
            <a:r>
              <a:rPr/>
              <a:t> “A one-sample t-test showed that the mean needle length on the shady side (M = [mean], SD = [sd]) was [significantly/not significantly] different from 15mm, t([df]) = [t-value], p = [p-value].”</a:t>
            </a:r>
          </a:p>
          <a:p>
            <a:pPr lvl="0"/>
            <a:r>
              <a:rPr b="1"/>
              <a:t>Two-sample:</a:t>
            </a:r>
            <a:r>
              <a:rPr/>
              <a:t>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all three results statements — one-sample, two-sample (or Welch’s), and paired — using your own numbers from Parts 3–5.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
________________________________________________________
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Check normality with a QQ plot and the Shapiro-Wilk test</a:t>
            </a:r>
          </a:p>
          <a:p>
            <a:pPr lvl="0"/>
            <a:r>
              <a:rPr/>
              <a:t>☐ Check equal variances with Levene’s test</a:t>
            </a:r>
          </a:p>
          <a:p>
            <a:pPr lvl="0"/>
            <a:r>
              <a:rPr/>
              <a:t>☐ Run and interpret a one-sample t-test, including its confidence interval</a:t>
            </a:r>
          </a:p>
          <a:p>
            <a:pPr lvl="0"/>
            <a:r>
              <a:rPr/>
              <a:t>☐ Choose between a standard and Welch’s two-sample t-test based on Levene’s test</a:t>
            </a:r>
          </a:p>
          <a:p>
            <a:pPr lvl="0"/>
            <a:r>
              <a:rPr/>
              <a:t>☐ Run and interpret a paired t-test, and explain why it’s often more powerful</a:t>
            </a:r>
          </a:p>
          <a:p>
            <a:pPr lvl="0"/>
            <a:r>
              <a:rPr/>
              <a:t>☐ Write a properly formatted results sentence for each test type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06_t_tests.R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/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T-Tests: One, Two, Paired</dc:title>
  <dc:creator>Bill Perry</dc:creator>
  <cp:keywords/>
  <dc:description>Hands-on worksheet: hypothesis testing framework, assumption checks, and one-sample, two-sample (Student’s and Welch’s), and paired t-tests on the class pine needle dataset.</dc:description>
  <dcterms:created xsi:type="dcterms:W3CDTF">2026-08-21T18:22:39Z</dcterms:created>
  <dcterms:modified xsi:type="dcterms:W3CDTF">2026-08-21T18:22:39Z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Comparing means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