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T-Tests: One, Two, Paired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means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 6: T-Tests — One, Two, Paired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in order, at your own pace. Type every line of code yourself into a </a:t>
            </a:r>
            <a:r>
              <a:rPr sz="2000" b="1"/>
              <a:t>plain R script</a:t>
            </a:r>
            <a:r>
              <a:rPr sz="2000"/>
              <a:t> — do not copy-paste. Blocks marked </a:t>
            </a:r>
            <a:r>
              <a:rPr sz="2000" b="1"/>
              <a:t>▶ Run this</a:t>
            </a:r>
            <a:r>
              <a:rPr sz="2000"/>
              <a:t> are code you should type and execute. Blocks marked </a:t>
            </a:r>
            <a:r>
              <a:rPr sz="2000" b="1"/>
              <a:t>✏️ Your turn</a:t>
            </a:r>
            <a:r>
              <a:rPr sz="2000"/>
              <a:t> ask you to write, modify, or answer something. Boxes marked </a:t>
            </a:r>
            <a:r>
              <a:rPr sz="2000" b="1"/>
              <a:t>🚀 If you finish early</a:t>
            </a:r>
            <a:r>
              <a:rPr sz="2000"/>
              <a:t> are optional bonus material that goes a bit further than what we covered in lecture.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Setup — Load and De-Pseudoreplicate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</a:t>
            </a:r>
            <a:r>
              <a:rPr>
                <a:solidFill>
                  <a:srgbClr val="5E5E5E"/>
                </a:solidFill>
                <a:latin typeface="Courier"/>
              </a:rPr>
              <a:t># For diagnostic tests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      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"data/class_pine needle length.xlsx"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pine_switch_df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"data/class_pine needle length switched.xlsx"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(pine_df)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is our true sample unit here — needles? branches? trees? sides? Why does that matter for how we analyze this data?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</a:t>
            </a:r>
          </a:p>
          <a:p>
            <a:pPr lvl="0" indent="0" marL="0">
              <a:buNone/>
            </a:pPr>
            <a:r>
              <a:rPr/>
              <a:t>We need to average the sunny and shady sides so the data is not pseudoreplicated — multiple needles per tree side are not independent observations.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p_df &lt;- pine_df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(group, tree_no, tree_char, 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ps_df &lt;- pine_switch_df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(group, tree_no, tree_char, 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ps_shady_df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ps_sunny_df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(ps_shady_df)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(tree_no)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</a:t>
            </a:r>
            <a:r>
              <a:rPr sz="2000">
                <a:latin typeface="Courier"/>
              </a:rPr>
              <a:t>class_pine needle length switched.xlsx</a:t>
            </a:r>
            <a:r>
              <a:rPr sz="2000"/>
              <a:t> has corrected </a:t>
            </a:r>
            <a:r>
              <a:rPr sz="2000">
                <a:latin typeface="Courier"/>
              </a:rPr>
              <a:t>sunny</a:t>
            </a:r>
            <a:r>
              <a:rPr sz="2000"/>
              <a:t>/</a:t>
            </a:r>
            <a:r>
              <a:rPr sz="2000">
                <a:latin typeface="Courier"/>
              </a:rPr>
              <a:t>shady</a:t>
            </a:r>
            <a:r>
              <a:rPr sz="2000"/>
              <a:t> labels compared to the original file. From here on we use </a:t>
            </a:r>
            <a:r>
              <a:rPr sz="2000" b="1">
                <a:latin typeface="Courier"/>
              </a:rPr>
              <a:t>ps_df</a:t>
            </a:r>
            <a:r>
              <a:rPr sz="2000"/>
              <a:t> — it’s the version that matches the field notes.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Write a </a:t>
            </a:r>
            <a:r>
              <a:rPr sz="2000">
                <a:latin typeface="Courier"/>
              </a:rPr>
              <a:t>group_by()</a:t>
            </a:r>
            <a:r>
              <a:rPr sz="2000"/>
              <a:t> + </a:t>
            </a:r>
            <a:r>
              <a:rPr sz="2000">
                <a:latin typeface="Courier"/>
              </a:rPr>
              <a:t>summarize()</a:t>
            </a:r>
            <a:r>
              <a:rPr sz="2000"/>
              <a:t> pipeline that gets </a:t>
            </a:r>
            <a:r>
              <a:rPr sz="2000">
                <a:latin typeface="Courier"/>
              </a:rPr>
              <a:t>n</a:t>
            </a:r>
            <a:r>
              <a:rPr sz="2000"/>
              <a:t>, </a:t>
            </a:r>
            <a:r>
              <a:rPr sz="2000">
                <a:latin typeface="Courier"/>
              </a:rPr>
              <a:t>mean_length</a:t>
            </a:r>
            <a:r>
              <a:rPr sz="2000"/>
              <a:t>, </a:t>
            </a:r>
            <a:r>
              <a:rPr sz="2000">
                <a:latin typeface="Courier"/>
              </a:rPr>
              <a:t>sd_length</a:t>
            </a:r>
            <a:r>
              <a:rPr sz="2000"/>
              <a:t>, and </a:t>
            </a:r>
            <a:r>
              <a:rPr sz="2000">
                <a:latin typeface="Courier"/>
              </a:rPr>
              <a:t>se_length</a:t>
            </a:r>
            <a:r>
              <a:rPr sz="2000"/>
              <a:t> for </a:t>
            </a:r>
            <a:r>
              <a:rPr sz="2000">
                <a:latin typeface="Courier"/>
              </a:rPr>
              <a:t>ps_df</a:t>
            </a:r>
            <a:r>
              <a:rPr sz="2000"/>
              <a:t>, grouped by </a:t>
            </a:r>
            <a:r>
              <a:rPr sz="2000">
                <a:latin typeface="Courier"/>
              </a:rPr>
              <a:t>side</a:t>
            </a:r>
            <a:r>
              <a:rPr sz="2000"/>
              <a:t> — the same summary the lecture built as </a:t>
            </a:r>
            <a:r>
              <a:rPr sz="2000">
                <a:latin typeface="Courier"/>
              </a:rPr>
              <a:t>stats_df</a:t>
            </a:r>
            <a:r>
              <a:rPr sz="2000"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Hypothesis Testing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t-test starts the same way: state H₀ and Hₐ, and pick α </a:t>
            </a:r>
            <a:r>
              <a:rPr i="1"/>
              <a:t>before</a:t>
            </a:r>
            <a:r>
              <a:rPr/>
              <a:t> you look at the result.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For the question “Do needle lengths differ between the sunny and shady sides?”, write out:</a:t>
            </a:r>
          </a:p>
          <a:p>
            <a:pPr lvl="0" indent="0">
              <a:buNone/>
            </a:pPr>
            <a:r>
              <a:rPr>
                <a:latin typeface="Courier"/>
              </a:rPr>
              <a:t>H0 = ________________________________________________________
Ha = ________________________________________________________
alpha = ________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your own words, what does a p-value actually tell you? (Hint: it is a statement about the data </a:t>
            </a:r>
            <a:r>
              <a:rPr i="1"/>
              <a:t>given</a:t>
            </a:r>
            <a:r>
              <a:rPr/>
              <a:t> H₀ — not a statement about whether H₀ is true.)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A two-sample t-test on 14 degrees of freedom produces an observed t-statistic of 2.31. Use </a:t>
            </a:r>
            <a:r>
              <a:rPr sz="2000">
                <a:latin typeface="Courier"/>
              </a:rPr>
              <a:t>2 * (1 - pt(2.31, df = 14))</a:t>
            </a:r>
            <a:r>
              <a:rPr sz="2000"/>
              <a:t> to compute the two-tailed p-value by hand, then compare it to the p-value table from lecture (p &lt; 0.05 = moderate-to-strong evidence). Is H₀ rejected at α = 0.05?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One-Sample t-Test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one-sample t-test compares a sample mean to a specific hypothesized value. Let’s test whether the mean needle length on the shady side is 15mm.</a:t>
                </a:r>
              </a:p>
              <a:p>
                <a:pPr lvl="0" indent="0" marL="0">
                  <a:buNone/>
                </a:pPr>
                <a:r>
                  <a:rPr/>
                  <a:t>✏️ </a:t>
                </a:r>
                <a:r>
                  <a:rPr b="1"/>
                  <a:t>Your turn:</a:t>
                </a:r>
                <a:r>
                  <a:rPr/>
                  <a:t> Before testing, write the hypotheses: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H0: mu = _____ (the mean needle length on the shady side is _____ mm)
Ha: mu ≠ _____ (the mean needle length on the shady side is not _____ mm)</a:t>
                </a:r>
              </a:p>
              <a:p>
                <a:pPr lvl="0" indent="0" marL="0">
                  <a:buNone/>
                </a:pPr>
                <a:r>
                  <a:rPr b="1"/>
                  <a:t>Check assumptions first — normality:</a:t>
                </a:r>
              </a:p>
              <a:p>
                <a:pPr lvl="0" indent="0" marL="0">
                  <a:buNone/>
                </a:pPr>
                <a:r>
                  <a:rPr b="1"/>
                  <a:t>▶ Run this: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qqPlot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main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"QQ Plot for length of pine needles"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ylab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"Sample Quantiles"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shapiro.test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length_mm)</a:t>
                </a:r>
              </a:p>
              <a:p>
                <a:pPr lvl="0" indent="0" marL="0">
                  <a:buNone/>
                </a:pPr>
                <a:r>
                  <a:rPr/>
                  <a:t>✏️ </a:t>
                </a:r>
                <a:r>
                  <a:rPr b="1"/>
                  <a:t>Your turn:</a:t>
                </a:r>
                <a:r>
                  <a:rPr/>
                  <a:t> For the Shapiro-Wilk test, what is the null hypothesis? Do we want a significant or a non-significant result here? </a:t>
                </a:r>
                <a:r>
                  <a:rPr>
                    <a:latin typeface="Courier"/>
                  </a:rPr>
                  <a:t>________________________</a:t>
                </a:r>
              </a:p>
              <a:p>
                <a:pPr lvl="0" indent="0" marL="0">
                  <a:buNone/>
                </a:pPr>
                <a:r>
                  <a:rPr b="1"/>
                  <a:t>Check assumptions — outliers:</a:t>
                </a:r>
              </a:p>
              <a:p>
                <a:pPr lvl="0" indent="0" marL="0">
                  <a:buNone/>
                </a:pPr>
                <a:r>
                  <a:rPr b="1"/>
                  <a:t>▶ Run this: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ps_df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%&gt;%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ggplot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aes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x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side,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y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length_mm,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fill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side))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geom_boxplot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labs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x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"side"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y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"Length (mm)"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fill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"side"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</a:p>
              <a:p>
                <a:pPr lvl="0" indent="0" marL="0">
                  <a:buNone/>
                </a:pPr>
                <a:r>
                  <a:rPr b="1"/>
                  <a:t>Run the one-sample t-test:</a:t>
                </a:r>
              </a:p>
              <a:p>
                <a:pPr lvl="0" indent="0" marL="0">
                  <a:buNone/>
                </a:pPr>
                <a:r>
                  <a:rPr b="1"/>
                  <a:t>▶ Run this: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ps_shade_mean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na.rm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8F5902"/>
                    </a:solidFill>
                    <a:latin typeface="Courier"/>
                  </a:rPr>
                  <a:t>TRUE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cat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"Mean:"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round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(ps_shade_mean,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),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"mm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\n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t_test_result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t.test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mu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t_test_result</a:t>
                </a:r>
              </a:p>
              <a:p>
                <a:pPr lvl="0" indent="0" marL="0">
                  <a:buNone/>
                </a:pPr>
                <a:r>
                  <a:rPr/>
                  <a:t>✏️ </a:t>
                </a:r>
                <a:r>
                  <a:rPr b="1"/>
                  <a:t>Your turn:</a:t>
                </a:r>
                <a:r>
                  <a:rPr/>
                  <a:t> Interpret the test result: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What was the null hypothesis?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What was the alternative hypothesis?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What does the p-value tell us?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Should we reject or fail to reject the null hypothesis at α = 0.05?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What is the practical interpretation of this result for botanists?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________________________________________________________</a:t>
                </a:r>
              </a:p>
              <a:p>
                <a:pPr lvl="0" indent="0" marL="0">
                  <a:buNone/>
                </a:pPr>
                <a:r>
                  <a:rPr/>
                  <a:t>✏️ </a:t>
                </a:r>
                <a:r>
                  <a:rPr b="1"/>
                  <a:t>Your turn:</a:t>
                </a:r>
                <a:r>
                  <a:rPr/>
                  <a:t> Write a properly formatted results sentence: “A one-sample t-test at α = 0.05 showed that the mean needle length (shady side) (M = …, SD = …) [was/was not] significantly different from the expected 15mm, t(…) = …, p = …”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________________________________________________________</a:t>
                </a:r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 b="1"/>
                  <a:t>🚀 If you finish early — calculate the 95% confidence interval by hand:</a:t>
                </a:r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95</m:t>
                      </m:r>
                      <m:r>
                        <m:rPr>
                          <m:sty m:val="p"/>
                        </m:rPr>
                        <m:t>%</m:t>
                      </m:r>
                      <m:r>
                        <m:rPr>
                          <m:nor/>
                          <m:sty m:val="p"/>
                        </m:rPr>
                        <m:t> CI</m:t>
                      </m:r>
                      <m:r>
                        <m:rPr>
                          <m:sty m:val="p"/>
                        </m:rPr>
                        <m:t>=</m:t>
                      </m:r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±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×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shady_mean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na.rm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8F5902"/>
                    </a:solidFill>
                    <a:latin typeface="Courier"/>
                  </a:rPr>
                  <a:t>TRUE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shady_se  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na.rm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8F5902"/>
                    </a:solidFill>
                    <a:latin typeface="Courier"/>
                  </a:rPr>
                  <a:t>TRUE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sum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!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is.na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length_mm))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^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.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5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shady_n   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sum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!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is.na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length_mm))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t_critical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qt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0.975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df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shady_n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shady_ci_lower &lt;- shady_mean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t_critical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shady_se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shady_ci_upper &lt;- shady_mean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t_critical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shady_se</a:t>
                </a:r>
                <a:br/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cat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"95% CI for shady mean length:"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round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(shady_ci_lower,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),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"to"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round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(shady_ci_upper,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),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"mm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\n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</a:p>
              <a:p>
                <a:pPr lvl="0" indent="0" marL="1270000">
                  <a:buNone/>
                </a:pPr>
                <a:r>
                  <a:rPr sz="2000"/>
                  <a:t>Does 15mm fall inside or outside this interval? How does that relate to your t-test conclusion above?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Two-Sample t-Test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two-sample t-test compares means from two independent groups — here, needle length on the sunny vs. shady sides.</a:t>
                </a:r>
              </a:p>
              <a:p>
                <a:pPr lvl="0" indent="0" marL="0">
                  <a:buNone/>
                </a:pPr>
                <a:r>
                  <a:rPr/>
                  <a:t>✏️ </a:t>
                </a:r>
                <a:r>
                  <a:rPr b="1"/>
                  <a:t>Your turn:</a:t>
                </a:r>
                <a:r>
                  <a:rPr/>
                  <a:t> Write the hypotheses for this comparison: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H0 = ________________________________________________________
Ha = ________________________________________________________</a:t>
                </a:r>
              </a:p>
              <a:p>
                <a:pPr lvl="0" indent="0" marL="0">
                  <a:buNone/>
                </a:pPr>
                <a:r>
                  <a:rPr b="1"/>
                  <a:t>Summary statistics and a first look:</a:t>
                </a:r>
              </a:p>
              <a:p>
                <a:pPr lvl="0" indent="0" marL="0">
                  <a:buNone/>
                </a:pPr>
                <a:r>
                  <a:rPr b="1"/>
                  <a:t>▶ Run this: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group_summary &lt;- ps_df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%&gt;%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group_by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(side)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%&gt;%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summarize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mean_length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(length_mm),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sd_length  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(length_mm),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n          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se_length  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sd_length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sqrt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(n)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group_summary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group_summary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%&gt;%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summarize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difference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mean_length[side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==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"shady"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]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mean_length[side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==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"sunny"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])</a:t>
                </a:r>
              </a:p>
              <a:p>
                <a:pPr lvl="0" indent="0" marL="0">
                  <a:buNone/>
                </a:pPr>
                <a:r>
                  <a:rPr b="1"/>
                  <a:t>▶ Run this</a:t>
                </a:r>
                <a:r>
                  <a:rPr/>
                  <a:t> — plot the mean ± SE directly: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ggplot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(ps_df,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aes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x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side,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y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length_mm,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color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side))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stat_summary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fun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mean,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geom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"point"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stat_summary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fun.data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mean_se,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geom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"errorbar"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width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0.2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labs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x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"side"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y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"Mean Length (mm)"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theme_classic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()</a:t>
                </a:r>
              </a:p>
              <a:p>
                <a:pPr lvl="0" indent="0" marL="0">
                  <a:buNone/>
                </a:pPr>
                <a:r>
                  <a:rPr b="1"/>
                  <a:t>Check assumptions — normality by group:</a:t>
                </a:r>
              </a:p>
              <a:p>
                <a:pPr lvl="0" indent="0" marL="0">
                  <a:buNone/>
                </a:pPr>
                <a:r>
                  <a:rPr b="1"/>
                  <a:t>▶ Run this: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normality_results &lt;- ps_df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%&gt;%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group_by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(side)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%&gt;%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summarize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shapiro_stat   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shapiro.test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(length_mm)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statistic,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shapiro_p_value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shapiro.test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(length_mm)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p.value,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normal_distribution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if_else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(shapiro_p_value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&gt;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0.05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"Normal"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"Non-normal"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normality_results</a:t>
                </a:r>
              </a:p>
              <a:p>
                <a:pPr lvl="0" indent="0" marL="0">
                  <a:buNone/>
                </a:pPr>
                <a:r>
                  <a:rPr b="1"/>
                  <a:t>Check assumptions — equal variances:</a:t>
                </a:r>
              </a:p>
              <a:p>
                <a:pPr lvl="0" indent="0" marL="0">
                  <a:buNone/>
                </a:pPr>
                <a:r>
                  <a:rPr b="1"/>
                  <a:t>▶ Run this: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levene_result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leveneTest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(length_mm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~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side,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data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ps_df)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levene_result</a:t>
                </a:r>
              </a:p>
              <a:p>
                <a:pPr lvl="0" indent="0" marL="0">
                  <a:buNone/>
                </a:pPr>
                <a:r>
                  <a:rPr/>
                  <a:t>✏️ </a:t>
                </a:r>
                <a:r>
                  <a:rPr b="1"/>
                  <a:t>Your turn:</a:t>
                </a:r>
                <a:r>
                  <a:rPr/>
                  <a:t> What is the null hypothesis of Levene’s test? Do we want it to be significant or non-significant? Based on your result, should you use the standard t-test or Welch’s t-test? </a:t>
                </a:r>
                <a:r>
                  <a:rPr>
                    <a:latin typeface="Courier"/>
                  </a:rPr>
                  <a:t>________________________</a:t>
                </a:r>
              </a:p>
              <a:p>
                <a:pPr lvl="0" indent="0" marL="0">
                  <a:buNone/>
                </a:pPr>
                <a:r>
                  <a:rPr b="1"/>
                  <a:t>Run both versions of the two-sample t-test:</a:t>
                </a:r>
              </a:p>
              <a:p>
                <a:pPr lvl="0" indent="0" marL="0">
                  <a:buNone/>
                </a:pPr>
                <a:r>
                  <a:rPr b="1"/>
                  <a:t>▶ Run this: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5E5E5E"/>
                    </a:solidFill>
                    <a:latin typeface="Courier"/>
                  </a:rPr>
                  <a:t># Standard t-test (equal variances assumed)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t_test_result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t.test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(length_mm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~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side,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data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ps_df,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var.equal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8F5902"/>
                    </a:solidFill>
                    <a:latin typeface="Courier"/>
                  </a:rPr>
                  <a:t>TRUE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print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"Standard two-sample t-test:"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print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(t_test_result)</a:t>
                </a:r>
                <a:br/>
                <a:br/>
                <a:r>
                  <a:rPr>
                    <a:solidFill>
                      <a:srgbClr val="5E5E5E"/>
                    </a:solidFill>
                    <a:latin typeface="Courier"/>
                  </a:rPr>
                  <a:t># Welch's t-test (unequal variances allowed)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welch_test_result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t.test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(length_mm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~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side,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data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ps_df,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var.equal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8F5902"/>
                    </a:solidFill>
                    <a:latin typeface="Courier"/>
                  </a:rPr>
                  <a:t>FALSE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print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"Welch's two-sample t-test:"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print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(welch_test_result)</a:t>
                </a:r>
              </a:p>
              <a:p>
                <a:pPr lvl="0" indent="0" marL="0">
                  <a:buNone/>
                </a:pPr>
                <a:r>
                  <a:rPr/>
                  <a:t>✏️ </a:t>
                </a:r>
                <a:r>
                  <a:rPr b="1"/>
                  <a:t>Your turn:</a:t>
                </a:r>
                <a:r>
                  <a:rPr/>
                  <a:t> Compare the two results — the t-statistic, degrees of freedom, and p-value. Are your conclusions the same either way? </a:t>
                </a:r>
                <a:r>
                  <a:rPr>
                    <a:latin typeface="Courier"/>
                  </a:rPr>
                  <a:t>________________________</a:t>
                </a:r>
              </a:p>
              <a:p>
                <a:pPr lvl="0" indent="0" marL="0">
                  <a:buNone/>
                </a:pPr>
                <a:r>
                  <a:rPr/>
                  <a:t>✏️ </a:t>
                </a:r>
                <a:r>
                  <a:rPr b="1"/>
                  <a:t>Your turn:</a:t>
                </a:r>
                <a:r>
                  <a:rPr/>
                  <a:t> Write a properly formatted results sentence: “A two-tailed, two-sample t-test at α = 0.05 showed [a significant/no significant] difference in needle length between sunny (M = …, SD = …) and shady (M = …, SD = …) sides, t(…) = …, p = …”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________________________________________________________</a:t>
                </a:r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 b="1"/>
                  <a:t>🚀 If you finish early — calculate the two-sample t-statistic by hand</a:t>
                </a:r>
                <a:r>
                  <a:rPr sz="2000"/>
                  <a:t> and confirm it matches </a:t>
                </a:r>
                <a:r>
                  <a:rPr sz="2000">
                    <a:latin typeface="Courier"/>
                  </a:rPr>
                  <a:t>t.test()</a:t>
                </a:r>
                <a:r>
                  <a:rPr sz="2000"/>
                  <a:t>:</a:t>
                </a:r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p</m:t>
                              </m:r>
                            </m:sub>
                          </m:sSub>
                          <m:rad>
                            <m:radPr>
                              <m:degHide m:val="on"/>
                            </m:radPr>
                            <m:deg/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n1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nrow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(ps_shady_df); n2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nrow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(ps_sunny_df)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s1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length_mm); s2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(ps_sunny_df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length_mm)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sp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sqrt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(((n1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s1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^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2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(n2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s2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^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2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(n1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n2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2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t_by_hand &lt;- (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(ps_sunny_df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length_mm))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(sp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sqrt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n1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n2))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t_by_hand</a:t>
                </a:r>
              </a:p>
              <a:p>
                <a:pPr lvl="0" indent="0" marL="1270000">
                  <a:buNone/>
                </a:pPr>
                <a:r>
                  <a:rPr sz="2000"/>
                  <a:t>Does </a:t>
                </a:r>
                <a:r>
                  <a:rPr sz="2000">
                    <a:latin typeface="Courier"/>
                  </a:rPr>
                  <a:t>t_by_hand</a:t>
                </a:r>
                <a:r>
                  <a:rPr sz="2000"/>
                  <a:t> match the </a:t>
                </a:r>
                <a:r>
                  <a:rPr sz="2000">
                    <a:latin typeface="Courier"/>
                  </a:rPr>
                  <a:t>t</a:t>
                </a:r>
                <a:r>
                  <a:rPr sz="2000"/>
                  <a:t> value from your standard </a:t>
                </a:r>
                <a:r>
                  <a:rPr sz="2000">
                    <a:latin typeface="Courier"/>
                  </a:rPr>
                  <a:t>t.test()</a:t>
                </a:r>
                <a:r>
                  <a:rPr sz="2000"/>
                  <a:t> output above?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Paired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paired t-test compares two measurements taken from the </a:t>
            </a:r>
            <a:r>
              <a:rPr i="1"/>
              <a:t>same</a:t>
            </a:r>
            <a:r>
              <a:rPr/>
              <a:t> subject — here, the sunny and shady side of the </a:t>
            </a:r>
            <a:r>
              <a:rPr i="1"/>
              <a:t>same</a:t>
            </a:r>
            <a:r>
              <a:rPr/>
              <a:t> tree. It uses the differences between pairs as the data, and is generally more powerful than a two-sample test because it removes tree-to-tree variation from the noise.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ps_wide_df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length_mm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paired_t_test_result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(ps_wide_df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sunny, ps_wide_df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shady, </a:t>
            </a:r>
            <a:r>
              <a:rPr>
                <a:solidFill>
                  <a:srgbClr val="657422"/>
                </a:solidFill>
                <a:latin typeface="Courier"/>
              </a:rPr>
              <a:t>paired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paired_t_test_result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does pairing control for here that the two-sample test in Part 4 does not?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 — compare the paired and two-sample p-values side by side: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"Two-sample p-value:"</a:t>
            </a:r>
            <a:r>
              <a:rPr>
                <a:solidFill>
                  <a:srgbClr val="003B4F"/>
                </a:solidFill>
                <a:latin typeface="Courier"/>
              </a:rPr>
              <a:t>, t_test_result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"Paired p-value:     "</a:t>
            </a:r>
            <a:r>
              <a:rPr>
                <a:solidFill>
                  <a:srgbClr val="003B4F"/>
                </a:solidFill>
                <a:latin typeface="Courier"/>
              </a:rPr>
              <a:t>, paired_t_test_result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Which p-value is smaller? Does that match the lecture’s claim that a paired design is “generally more powerful because it controls for individual variation”?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Communicating Results and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scientific writing, statistical results are reported clearly and consistently. Standard formats:</a:t>
            </a:r>
          </a:p>
          <a:p>
            <a:pPr lvl="0"/>
            <a:r>
              <a:rPr b="1"/>
              <a:t>One-sample:</a:t>
            </a:r>
            <a:r>
              <a:rPr/>
              <a:t> “A one-sample t-test showed that the mean needle length on the shady side (M = [mean], SD = [sd]) was [significantly/not significantly] different from 15mm, t([df]) = [t-value], p = [p-value].”</a:t>
            </a:r>
          </a:p>
          <a:p>
            <a:pPr lvl="0"/>
            <a:r>
              <a:rPr b="1"/>
              <a:t>Two-sample:</a:t>
            </a:r>
            <a:r>
              <a:rPr/>
              <a:t> “A two-sample t-test revealed that pine needle lengths on the sunny side (M = [mean1], SD = [sd1]) were [significantly/not significantly] [longer/shorter] than on the shady side (M = [mean2], SD = [sd2]), t([df]) = [t-value], p = [p-value].”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all three results statements — one-sample, two-sample (or Welch’s), and paired — using your own numbers from Parts 3–5.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
________________________________________________________
________________________________________________________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Reflection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How does the t-distribution differ from the normal distribution, and why does this matter for small samples?</a:t>
            </a:r>
          </a:p>
          <a:p>
            <a:pPr lvl="0" indent="-342900" marL="342900">
              <a:buAutoNum type="arabicPeriod"/>
            </a:pPr>
            <a:r>
              <a:rPr/>
              <a:t>What assumptions must be met to use a t-test, and what alternatives exist if these assumptions are violated?</a:t>
            </a:r>
          </a:p>
          <a:p>
            <a:pPr lvl="0" indent="-342900" marL="342900">
              <a:buAutoNum type="arabicPeriod"/>
            </a:pPr>
            <a:r>
              <a:rPr/>
              <a:t>What is the difference between statistical significance and practical importance?</a:t>
            </a:r>
          </a:p>
          <a:p>
            <a:pPr lvl="0" indent="-342900" marL="342900">
              <a:buAutoNum type="arabicPeriod"/>
            </a:pPr>
            <a:r>
              <a:rPr/>
              <a:t>How would the confidence interval change if we used a 99% confidence level instead of 95%?</a:t>
            </a:r>
          </a:p>
          <a:p>
            <a:pPr lvl="0" indent="-342900" marL="342900">
              <a:buAutoNum type="arabicPeriod"/>
            </a:pPr>
            <a:r>
              <a:rPr/>
              <a:t>How would you explain the concept of a p-value to someone with no statistical background?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can:</a:t>
            </a:r>
          </a:p>
          <a:p>
            <a:pPr lvl="0"/>
            <a:r>
              <a:rPr/>
              <a:t>☐ State H₀, Hₐ, and α </a:t>
            </a:r>
            <a:r>
              <a:rPr i="1"/>
              <a:t>before</a:t>
            </a:r>
            <a:r>
              <a:rPr/>
              <a:t> running a test</a:t>
            </a:r>
          </a:p>
          <a:p>
            <a:pPr lvl="0"/>
            <a:r>
              <a:rPr/>
              <a:t>☐ Check normality with a QQ plot and the Shapiro-Wilk test</a:t>
            </a:r>
          </a:p>
          <a:p>
            <a:pPr lvl="0"/>
            <a:r>
              <a:rPr/>
              <a:t>☐ Check equal variances with Levene’s test</a:t>
            </a:r>
          </a:p>
          <a:p>
            <a:pPr lvl="0"/>
            <a:r>
              <a:rPr/>
              <a:t>☐ Run and interpret a one-sample t-test, including its confidence interval</a:t>
            </a:r>
          </a:p>
          <a:p>
            <a:pPr lvl="0"/>
            <a:r>
              <a:rPr/>
              <a:t>☐ Choose between a standard and Welch’s two-sample t-test based on Levene’s test</a:t>
            </a:r>
          </a:p>
          <a:p>
            <a:pPr lvl="0"/>
            <a:r>
              <a:rPr/>
              <a:t>☐ Run and interpret a paired t-test, and explain why it’s often more powerful</a:t>
            </a:r>
          </a:p>
          <a:p>
            <a:pPr lvl="0"/>
            <a:r>
              <a:rPr/>
              <a:t>☐ Write a properly formatted results sentence for each test type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📤 What to turn in before next class</a:t>
            </a:r>
          </a:p>
          <a:p>
            <a:pPr lvl="0" indent="0" marL="1270000">
              <a:buNone/>
            </a:pPr>
            <a:r>
              <a:rPr sz="2000"/>
              <a:t>Upload both of these to the course management system:</a:t>
            </a:r>
          </a:p>
          <a:p>
            <a:pPr lvl="0" indent="-342900" marL="342900">
              <a:buAutoNum type="arabicPeriod"/>
            </a:pPr>
            <a:r>
              <a:rPr sz="2000"/>
              <a:t>Your code — the </a:t>
            </a:r>
            <a:r>
              <a:rPr sz="2000">
                <a:latin typeface="Courier"/>
              </a:rPr>
              <a:t>scripts/</a:t>
            </a:r>
            <a:r>
              <a:rPr sz="2000"/>
              <a:t> folder (or just </a:t>
            </a:r>
            <a:r>
              <a:rPr sz="2000">
                <a:latin typeface="Courier"/>
              </a:rPr>
              <a:t>06_t_tests.R</a:t>
            </a:r>
            <a:r>
              <a:rPr sz="2000"/>
              <a:t>)</a:t>
            </a:r>
          </a:p>
          <a:p>
            <a:pPr lvl="0" indent="-342900" marL="342900">
              <a:buAutoNum type="arabicPeriod"/>
            </a:pPr>
            <a:r>
              <a:rPr sz="2000"/>
              <a:t>This worksheet, with your written answers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run </a:t>
            </a:r>
            <a:r>
              <a:rPr>
                <a:latin typeface="Courier"/>
              </a:rPr>
              <a:t>library(tidyverse)</a:t>
            </a:r>
            <a:r>
              <a:rPr/>
              <a:t>, </a:t>
            </a:r>
            <a:r>
              <a:rPr>
                <a:latin typeface="Courier"/>
              </a:rPr>
              <a:t>library(car)</a:t>
            </a:r>
            <a:r>
              <a:rPr/>
              <a:t>, and </a:t>
            </a:r>
            <a:r>
              <a:rPr>
                <a:latin typeface="Courier"/>
              </a:rPr>
              <a:t>library(readxl)</a:t>
            </a:r>
            <a:r>
              <a:rPr/>
              <a:t>?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|&gt;</a:t>
            </a:r>
            <a:r>
              <a:rPr/>
              <a:t>/</a:t>
            </a:r>
            <a:r>
              <a:rPr>
                <a:latin typeface="Courier"/>
              </a:rPr>
              <a:t>%&gt;%</a:t>
            </a:r>
            <a:r>
              <a:rPr/>
              <a:t> at the </a:t>
            </a:r>
            <a:r>
              <a:rPr i="1"/>
              <a:t>start</a:t>
            </a:r>
            <a:r>
              <a:rPr/>
              <a:t> of a line?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built-in help page.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T-Tests: One, Two, Paired</dc:title>
  <dc:creator>Bill Perry</dc:creator>
  <cp:keywords/>
  <dc:description>Hands-on worksheet: hypothesis testing framework, assumption checks, and one-sample, two-sample (Student’s and Welch’s), and paired t-tests on the class pine needle dataset.</dc:description>
  <dcterms:created xsi:type="dcterms:W3CDTF">2026-08-20T19:16:32Z</dcterms:created>
  <dcterms:modified xsi:type="dcterms:W3CDTF">2026-08-20T19:16:32Z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6</vt:lpwstr>
  </property>
  <property fmtid="{D5CDD505-2E9C-101B-9397-08002B2CF9AE}" pid="13" name="resources">
    <vt:lpwstr/>
  </property>
  <property fmtid="{D5CDD505-2E9C-101B-9397-08002B2CF9AE}" pid="14" name="subtitle">
    <vt:lpwstr>Comparing means</vt:lpwstr>
  </property>
  <property fmtid="{D5CDD505-2E9C-101B-9397-08002B2CF9AE}" pid="15" name="toc-title">
    <vt:lpwstr>Table of contents</vt:lpwstr>
  </property>
  <property fmtid="{D5CDD505-2E9C-101B-9397-08002B2CF9AE}" pid="16" name="week">
    <vt:lpwstr>3</vt:lpwstr>
  </property>
</Properties>
</file>