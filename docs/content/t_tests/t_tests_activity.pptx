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time?</a:t>
            </a:r>
          </a:p>
          <a:p>
            <a:pPr lvl="0" indent="0" marL="0">
              <a:buNone/>
            </a:pPr>
            <a:r>
              <a:rPr/>
              <a:t>In our previous activity, we:</a:t>
            </a:r>
          </a:p>
          <a:p>
            <a:pPr lvl="0"/>
            <a:r>
              <a:rPr/>
              <a:t>Created and interpreted frequency distributions (histograms)</a:t>
            </a:r>
          </a:p>
          <a:p>
            <a:pPr lvl="0"/>
            <a:r>
              <a:rPr/>
              <a:t>Compared data between groups using side-by-side histograms</a:t>
            </a:r>
          </a:p>
          <a:p>
            <a:pPr lvl="0"/>
            <a:r>
              <a:rPr/>
              <a:t>Explored how sample size affects our understanding of populations</a:t>
            </a:r>
          </a:p>
          <a:p>
            <a:pPr lvl="0"/>
            <a:r>
              <a:rPr/>
              <a:t>Created density plots and calculated probabilities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 indent="0" marL="0">
              <a:buNone/>
            </a:pPr>
            <a:r>
              <a:rPr/>
              <a:t>Today we’ll focus on:</a:t>
            </a:r>
          </a:p>
          <a:p>
            <a:pPr lvl="0"/>
            <a:r>
              <a:rPr/>
              <a:t>t-distribution and when to use it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Conducting </a:t>
            </a:r>
            <a:r>
              <a:rPr b="1"/>
              <a:t>one-sample and two-sample t-tests</a:t>
            </a:r>
          </a:p>
          <a:p>
            <a:pPr lvl="0"/>
            <a:r>
              <a:rPr b="1"/>
              <a:t>Understanding statistical assumptions and their importance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First, let’s load the packages and data we’ll be using: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
Attaching package: 'car'
The following object is masked from 'package:dplyr':
    recode
The following object is masked from 'package:purrr':
    some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issue we have is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our sample unit? branches? needles? trees? sides?</a:t>
            </a:r>
          </a:p>
          <a:p>
            <a:pPr lvl="0"/>
            <a:r>
              <a:rPr/>
              <a:t>We need to get the averages of the data so it is no psudoreplicated!</a:t>
            </a:r>
          </a:p>
          <a:p>
            <a:pPr lvl="0"/>
            <a:r>
              <a:rPr/>
              <a:t>We will group data by group, tree, tree_char, side and take the averages and save the average as length_mm</a:t>
            </a:r>
          </a:p>
          <a:p>
            <a:pPr lvl="0"/>
            <a:r>
              <a:rPr/>
              <a:t>We will also need to make dataframes of sunny and shady side of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we need to average the sunny and shady sides as these are all pseudoreplicated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five                             1 tree_1    shady      20.3
2 big_fat_fecund_female_fish       2 tree_2    shady      15.4
3 bill                             3 tree_3    shady      16.7
4 ciabatta                         5 tree_5    shady      19.1
5 moose_walkin                     7 tree_7    shady      20.7
6 fake_data                        8 tree_8    shady      17.4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Summary data</a:t>
            </a:r>
          </a:p>
          <a:p>
            <a:pPr lvl="0" indent="0" marL="1270000">
              <a:buNone/>
            </a:pPr>
            <a:r>
              <a:rPr sz="2000"/>
              <a:t>Let’s create summary data of needle lengths from each side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 YOU THINK OF AN EASIER WAY?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Creating Histograms</a:t>
            </a:r>
          </a:p>
          <a:p>
            <a:pPr lvl="0" indent="0" marL="1270000">
              <a:buNone/>
            </a:pPr>
            <a:r>
              <a:rPr sz="2000"/>
              <a:t>Let’s create histograms of needle lengths from each lake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needle_box_plot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Exploring data a different way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see variation in a different way and how groups measured data on sunny and shady sides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pd &lt;-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spaghett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3: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a t-test, we need to check if our data meets the necessary assumptions: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The data should be approximately normally distributed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should be independent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: Outliers can heavily influence t-test results</a:t>
            </a:r>
          </a:p>
          <a:p>
            <a:pPr lvl="0" indent="0" marL="0">
              <a:buNone/>
            </a:pPr>
            <a:r>
              <a:rPr/>
              <a:t>Let’s check the normality assumption for shady needle lengths:</a:t>
            </a:r>
          </a:p>
          <a:p>
            <a:pPr lvl="0" indent="0" marL="1270000">
              <a:buNone/>
            </a:pPr>
            <a:r>
              <a:rPr sz="2000" b="1"/>
              <a:t>Practice Exercise 2: Checking Normality of all data but does not do by group!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QQ plot to check normality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plots compare our data to a theoretical normal distribution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Points should roughly follow the line if data is normally distributed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8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 on all data</a:t>
            </a:r>
          </a:p>
          <a:p>
            <a:pPr lvl="0" indent="0" marL="0">
              <a:buNone/>
            </a:pPr>
            <a:r>
              <a:rPr/>
              <a:t>What do we look at here and how do we interpret?</a:t>
            </a:r>
          </a:p>
          <a:p>
            <a:pPr lvl="0" indent="0" marL="0">
              <a:buNone/>
            </a:pPr>
            <a:r>
              <a:rPr/>
              <a:t>Hoping for non significant!!!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Also perform a formal test of normality using the Shapiro-Wilk 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Null hypothesis: Data is normally distributed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p &gt; 0.05, we don't reject the assumption of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pine needle lengths on sunny side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Test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sunny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QQ plots with GGPLOT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ggplot which you are more familiar with to also do qqPlots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Plots for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activity_files/figure-pptx/ggplot_qqplot_combin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you can do this a lot easier with piping of the data…</a:t>
            </a:r>
          </a:p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everything in R and is sometimes frustrating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wwe are using an ifelse test which is a great oneliner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for Equal Variances of Sunny and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a boxplot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</p:txBody>
      </p:sp>
      <p:pic>
        <p:nvPicPr>
          <p:cNvPr descr="t_tests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to interpret these results:</a:t>
            </a:r>
          </a:p>
          <a:p>
            <a:pPr lvl="0"/>
            <a:r>
              <a:rPr sz="2000"/>
              <a:t>The QQ plot: Points should follow the straight line if data is normally distributed</a:t>
            </a:r>
          </a:p>
          <a:p>
            <a:pPr lvl="0"/>
            <a:r>
              <a:rPr sz="2000"/>
              <a:t>Shapiro-Wilk test: If p &gt; 0.05, we don’t reject the assumption of normality</a:t>
            </a:r>
          </a:p>
          <a:p>
            <a:pPr lvl="0"/>
            <a:r>
              <a:rPr sz="2000"/>
              <a:t>Boxplot: Look for points beyond the whiskers as potential outliers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One-Sample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one-sample t-test compares a sample mean to a specific value.</a:t>
            </a:r>
          </a:p>
          <a:p>
            <a:pPr lvl="0" indent="0" marL="0">
              <a:buNone/>
            </a:pPr>
            <a:r>
              <a:rPr/>
              <a:t>Let’s test if the mean needle length on the shady side is 15 or not?</a:t>
            </a:r>
          </a:p>
          <a:p>
            <a:pPr lvl="0" indent="0" marL="1270000">
              <a:buNone/>
            </a:pPr>
            <a:r>
              <a:rPr sz="2000" b="1"/>
              <a:t>Practice Exercise: One-Sample t-Test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of shady needles?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17.60561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17.60561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visualization of the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shady_mean,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"H0: μ = 15"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ps_shade_mean,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"One-Sample t-Test: Shady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"t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format.pval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 H0: μ = 15mm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 H1: μ ≠ 15mm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 (Is p &lt; 0.05?)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biologists?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gives us a range of plausible values for the population mean.</a:t>
                </a:r>
              </a:p>
              <a:p>
                <a:pPr lvl="0" indent="0" marL="0">
                  <a:buNone/>
                </a:pPr>
                <a:r>
                  <a:rPr/>
                  <a:t>For a 95% confidence interval using the t-distribution: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the sample mean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critical t-value with n-1 degrees of freedom</a:t>
                </a:r>
              </a:p>
              <a:p>
                <a:pPr lvl="0" indent="0" marL="1270000">
                  <a:buNone/>
                </a:pPr>
                <a:r>
                  <a:rPr sz="2000" b="1"/>
                  <a:t>Practice Exercise 4: Calculating Confidence Intervals</a:t>
                </a:r>
              </a:p>
              <a:p>
                <a:pPr lvl="0" indent="0" marL="1270000">
                  <a:buNone/>
                </a:pPr>
                <a:r>
                  <a:rPr sz="2000"/>
                  <a:t>Let’s calculate the 95% confidence interval for shady needle lengths: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Extract sample statistics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shady_stats &lt;- ps_shady_df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Find the critical t-value for 95% confidence with n-1 degrees of freedom</a:t>
                </a:r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qt(0.975, df) gives the t-value for a 95% confidence interval (two-tailed)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"Critical t-value for"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-1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"degrees of freedom:"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(t_critical,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Critical t-value for 7 degrees of freedom: 2.365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the confidence interval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Confidence Interval for Shady needle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Confidence Interval for Shady needle mean length: 15.5 to 19.7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Compare this to a confidence interval using the normal approximation (z = 1.96)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normal approximation:"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CI using normal approximation: 15.9 to 19.3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Visualize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geom_errorbar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z_ci_lower,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ymax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z_ci_upper),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shady_mean),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Needle Length with 95% Confidence Interval"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subtitle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NULL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  <p:pic>
        <p:nvPicPr>
          <p:cNvPr descr="t_tests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Two-Sample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two-sample t-test compares means from two independent groups.</a:t>
            </a:r>
          </a:p>
          <a:p>
            <a:pPr lvl="0" indent="0" marL="0">
              <a:buNone/>
            </a:pPr>
            <a:r>
              <a:rPr/>
              <a:t>Let’s compare needle lengths between sunny and shady sides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Summarize pine needle data by wind exposure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 a the plot of needle lengths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to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let’s conduct the two-sample t-test: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Two-Sample t-Test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Calculate the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Welch’s Two Sample T Test when variance is unequal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pair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length_mm by side
t = 2.7818, df = 7, p-value = 0.02723
alternative hypothesis: true mean difference is not equal to 0
95 percent confidence interval:
 0.2178092 2.6868652
sample estimates:
mean difference 
       1.452337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Visualize the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results with a mean and error bar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se_length),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 marL="127000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8: Communicating Statistical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it’s important to report statistical results clearly and consistently.</a:t>
            </a:r>
          </a:p>
          <a:p>
            <a:pPr lvl="0" indent="0" marL="0">
              <a:buNone/>
            </a:pPr>
            <a:r>
              <a:rPr/>
              <a:t>Here’s a standard format for reporting t-test results:</a:t>
            </a:r>
          </a:p>
          <a:p>
            <a:pPr lvl="0" indent="0" marL="0">
              <a:buNone/>
            </a:pPr>
            <a:r>
              <a:rPr/>
              <a:t>For a one-sample t-test: “A one-sample t-test showed that the mean needle length shady side (M = [mean], SD = [sd]) was [significantly/not significantly] different from 15 mm, t([df]) = [t-value], p = [p-value].”</a:t>
            </a:r>
          </a:p>
          <a:p>
            <a:pPr lvl="0" indent="0" marL="0">
              <a:buNone/>
            </a:pPr>
            <a:r>
              <a:rPr/>
              <a:t>For a two-sample t-test: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1270000">
              <a:buNone/>
            </a:pPr>
            <a:r>
              <a:rPr sz="2000" b="1"/>
              <a:t>Practice Exercise 8: Writing Statistical Results</a:t>
            </a:r>
          </a:p>
          <a:p>
            <a:pPr lvl="0" indent="0" marL="1270000">
              <a:buNone/>
            </a:pPr>
            <a:r>
              <a:rPr sz="2000"/>
              <a:t>Write properly formatted statements reporting the results of:</a:t>
            </a:r>
          </a:p>
          <a:p>
            <a:pPr lvl="0" indent="-342900" marL="342900">
              <a:buAutoNum type="arabicPeriod"/>
            </a:pPr>
            <a:r>
              <a:rPr sz="2000"/>
              <a:t>The one-sample t-test comparing mean shady needle lenght to 15mm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pine needle lengths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needle lengths between sides</a:t>
            </a:r>
          </a:p>
          <a:p>
            <a:pPr lvl="0" indent="0" marL="1270000">
              <a:buNone/>
            </a:pPr>
            <a:r>
              <a:rPr sz="2000"/>
              <a:t>Remember to include:</a:t>
            </a:r>
          </a:p>
          <a:p>
            <a:pPr lvl="0"/>
            <a:r>
              <a:rPr sz="2000"/>
              <a:t>Means and standard deviations for each group</a:t>
            </a:r>
          </a:p>
          <a:p>
            <a:pPr lvl="0"/>
            <a:r>
              <a:rPr sz="2000"/>
              <a:t>The t-value with degrees of freedom</a:t>
            </a:r>
          </a:p>
          <a:p>
            <a:pPr lvl="0"/>
            <a:r>
              <a:rPr sz="2000"/>
              <a:t>The p-value and whether the result is significant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Hands-on activity: running t-tests in R.</dc:description>
  <dcterms:created xsi:type="dcterms:W3CDTF">2026-08-20T14:36:45Z</dcterms:created>
  <dcterms:modified xsi:type="dcterms:W3CDTF">2026-08-20T14:36:45Z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