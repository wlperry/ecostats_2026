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themes_functions/r_themes_and_functions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</a:t>
            </a:r>
            <a:br/>
            <a:r>
              <a:rPr sz="2000"/>
              <a:t>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 and </a:t>
            </a:r>
            <a:r>
              <a:rPr sz="2000" b="1"/>
              <a:t>degrees of freedom</a:t>
            </a:r>
          </a:p>
          <a:p>
            <a:pPr lvl="0" indent="-342900" marL="342900">
              <a:buAutoNum type="arabicPeriod"/>
            </a:pPr>
            <a:r>
              <a:rPr sz="2000"/>
              <a:t>One-sample t-test — two-tailed and one-tailed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One </a:t>
            </a:r>
            <a:r>
              <a:rPr>
                <a:latin typeface="Courier"/>
              </a:rPr>
              <a:t>source()</a:t>
            </a:r>
            <a:r>
              <a:rPr/>
              <a:t> Line, Two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qqPlot(), leveneTest()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Bartell_Shingledecker… grac…         1 sunny             18.4            0.79
 2 Bartell_Shingledecker… grac…         2 sunny             12.5            0.99
 3 Bartell_Shingledecker… grac…         3 sunny             17.7            1.12
 4 Bartell_Shingledecker… grac…         4 sunny             14.0            0.94
 5 Bartell_Shingledecker… grac…         5 sunny             14.2            1   
 6 Bartell_Shingledecker… grac…         6 sunny             19.2            0.99
 7 Bartell_Shingledecker… grac…         7 sunny             10.9            0.81
 8 Bartell_Shingledecker… grac…         8 sunny             17.3            1.29
 9 Bartell_Shingledecker… grac…         1 shady             16.6            0.75
10 Bartell_Shingledecker… grac…         2 shady             17.0            0.84
# ℹ 54 more rows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Download the tools script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just gave you</a:t>
            </a:r>
          </a:p>
          <a:p>
            <a:pPr lvl="0"/>
            <a:r>
              <a:rPr sz="2000">
                <a:latin typeface="Courier"/>
              </a:rPr>
              <a:t>theme_regular()</a:t>
            </a:r>
            <a:r>
              <a:rPr sz="2000"/>
              <a:t> — the publication theme from the Graphing lecture</a:t>
            </a:r>
          </a:p>
          <a:p>
            <a:pPr lvl="0"/>
            <a:r>
              <a:rPr sz="2000">
                <a:latin typeface="Courier"/>
              </a:rPr>
              <a:t>summary_stats()</a:t>
            </a:r>
            <a:r>
              <a:rPr sz="2000"/>
              <a:t> — hand it a column of numbers, get back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</a:t>
            </a:r>
            <a:r>
              <a:rPr sz="2000"/>
              <a:t>, </a:t>
            </a:r>
            <a:r>
              <a:rPr sz="2000">
                <a:latin typeface="Courier"/>
              </a:rPr>
              <a:t>sd</a:t>
            </a:r>
            <a:r>
              <a:rPr sz="2000"/>
              <a:t>, </a:t>
            </a:r>
            <a:r>
              <a:rPr sz="2000">
                <a:latin typeface="Courier"/>
              </a:rPr>
              <a:t>se</a:t>
            </a:r>
            <a:r>
              <a:rPr sz="2000"/>
              <a:t> and a 95% CI</a:t>
            </a:r>
          </a:p>
          <a:p>
            <a:pPr lvl="0" indent="0" marL="1270000">
              <a:buNone/>
            </a:pPr>
            <a:r>
              <a:rPr sz="2000"/>
              <a:t>Save the file in a </a:t>
            </a:r>
            <a:r>
              <a:rPr sz="2000" b="1">
                <a:latin typeface="Courier"/>
              </a:rPr>
              <a:t>themes_functions/</a:t>
            </a:r>
            <a:r>
              <a:rPr sz="2000"/>
              <a:t> folder in your project and this exact line works. One line at the top of a script, and both tools are available for the rest of the semester — fix the theme once, and every figure in every script updates.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Spread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raw_box_plot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raw_box_plot</a:t>
            </a:r>
          </a:p>
        </p:txBody>
      </p:sp>
      <p:pic>
        <p:nvPicPr>
          <p:cNvPr descr="t_tests_lecture_files/figure-pptx/t-tests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Start where the data start</a:t>
            </a:r>
          </a:p>
          <a:p>
            <a:pPr lvl="0" indent="0" marL="1270000">
              <a:buNone/>
            </a:pPr>
            <a:r>
              <a:rPr sz="2000"/>
              <a:t>This is </a:t>
            </a:r>
            <a:r>
              <a:rPr sz="2000" b="1"/>
              <a:t>every needle we measured</a:t>
            </a:r>
            <a:r>
              <a:rPr sz="2000"/>
              <a:t> — all 64 rows, 32 per side, exactly as they came out of the field. Before we do anything clever, look at it.</a:t>
            </a:r>
          </a:p>
          <a:p>
            <a:pPr lvl="0" indent="0" marL="1270000">
              <a:buNone/>
            </a:pPr>
            <a:r>
              <a:rPr sz="2000"/>
              <a:t>Wide spread. Heavy overlap. Nothing obviously going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jitter here?</a:t>
            </a:r>
          </a:p>
          <a:p>
            <a:pPr lvl="0" indent="0" marL="1270000">
              <a:buNone/>
            </a:pPr>
            <a:r>
              <a:rPr sz="2000"/>
              <a:t>32 needles land on a single x value,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would stack them into a line and hide the duplicates. </a:t>
            </a:r>
            <a:r>
              <a:rPr sz="2000">
                <a:latin typeface="Courier"/>
              </a:rPr>
              <a:t>position_jitter()</a:t>
            </a:r>
            <a:r>
              <a:rPr sz="2000"/>
              <a:t> nudges them sideways so you can see how many there are.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raw_mean_se_plot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raw_mean_se_plot</a:t>
            </a:r>
          </a:p>
        </p:txBody>
      </p:sp>
      <p:pic>
        <p:nvPicPr>
          <p:cNvPr descr="t_tests_lecture_files/figure-pptx/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Those error bars are a lie</a:t>
            </a:r>
          </a:p>
          <a:p>
            <a:pPr lvl="0" indent="0" marL="1270000">
              <a:buNone/>
            </a:pPr>
            <a:r>
              <a:rPr sz="2000"/>
              <a:t>They look </a:t>
            </a:r>
            <a:r>
              <a:rPr sz="2000" b="1"/>
              <a:t>tight</a:t>
            </a:r>
            <a:r>
              <a:rPr sz="2000"/>
              <a:t> — and tight error bars feel like strong evidence. They are computed as SD / √n with </a:t>
            </a:r>
            <a:r>
              <a:rPr sz="2000" b="1"/>
              <a:t>n = 32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But we did not measure 32 independent things per side. We measured </a:t>
            </a:r>
            <a:r>
              <a:rPr sz="2000" b="1"/>
              <a:t>4 trees</a:t>
            </a:r>
            <a:r>
              <a:rPr sz="2000"/>
              <a:t>, eight times each. The 32 is fake, so the precision is fake.</a:t>
            </a:r>
          </a:p>
          <a:p>
            <a:pPr lvl="0" indent="0" marL="1270000">
              <a:buNone/>
            </a:pPr>
            <a:r>
              <a:rPr sz="2000"/>
              <a:t>Hold this picture in your head. We are going to fix it on the next slide and then look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</a:t>
            </a:r>
            <a:br/>
            <a:r>
              <a:rPr sz="2000"/>
              <a:t>Treating every needle as independent would inflate our sample size and our confidence</a:t>
            </a:r>
            <a:br/>
            <a:r>
              <a:rPr sz="2000"/>
              <a:t>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64 rows became 8</a:t>
            </a:r>
          </a:p>
          <a:p>
            <a:pPr lvl="0" indent="0" marL="1270000">
              <a:buNone/>
            </a:pPr>
            <a:r>
              <a:rPr sz="2000"/>
              <a:t>That is not data loss — it is the correct sample size. </a:t>
            </a:r>
            <a:r>
              <a:rPr sz="2000" b="1"/>
              <a:t>n = 4 trees per side.</a:t>
            </a:r>
            <a:r>
              <a:rPr sz="2000"/>
              <a:t> Every degree of freedom today comes from that 4.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Long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 mean    sd    se
  &lt;chr&gt; &lt;int&gt; &lt;dbl&gt; &lt;dbl&gt; &lt;dbl&gt;
1 shady     4  14.1  2.02 1.01 
2 sunny     4  15.2  1.57 0.786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the block you typed in the Probability activity.</a:t>
            </a:r>
          </a:p>
          <a:p>
            <a:pPr lvl="0" indent="0" marL="1270000">
              <a:buNone/>
            </a:pPr>
            <a:r>
              <a:rPr sz="2000"/>
              <a:t>Four lines of </a:t>
            </a:r>
            <a:r>
              <a:rPr sz="2000">
                <a:latin typeface="Courier"/>
              </a:rPr>
              <a:t>summarize()</a:t>
            </a:r>
            <a:r>
              <a:rPr sz="2000"/>
              <a:t> that you will want again in </a:t>
            </a:r>
            <a:r>
              <a:rPr sz="2000" i="1"/>
              <a:t>every</a:t>
            </a:r>
            <a:r>
              <a:rPr sz="2000"/>
              <a:t> analysis for the rest of the course — correlation, regression, ANOVA, all of it.</a:t>
            </a:r>
          </a:p>
          <a:p>
            <a:pPr lvl="0" indent="0" marL="1270000">
              <a:buNone/>
            </a:pPr>
            <a:r>
              <a:rPr sz="2000"/>
              <a:t>Which is exactly why we turned it into a function.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</a:t>
            </a:r>
            <a:r>
              <a:rPr>
                <a:latin typeface="Courier"/>
              </a:rPr>
              <a:t>summary_stats()</a:t>
            </a:r>
            <a:r>
              <a:rPr/>
              <a:t>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 of numbers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    n  mean    sd    se ci_lower ci_upper
  &lt;int&gt; &lt;dbl&gt; &lt;dbl&gt; &lt;dbl&gt;    &lt;dbl&gt;    &lt;dbl&gt;
1     8  14.7  1.77 0.627     13.2     16.1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by group -- group_by() as usual, then reframe()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se ci_lower ci_upper
  &lt;chr&gt; &lt;int&gt; &lt;dbl&gt; &lt;dbl&gt; &lt;dbl&gt;    &lt;dbl&gt;    &lt;dbl&gt;
1 shady     4  14.1  2.02 1.01      10.9     17.3
2 sunny     4  15.2  1.57 0.786     12.7     17.7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different column, no retyping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 se ci_lower ci_upper
  &lt;chr&gt; &lt;int&gt; &lt;dbl&gt; &lt;dbl&gt;  &lt;dbl&gt;    &lt;dbl&gt;    &lt;dbl&gt;
1 shady    32  1.00 0.208 0.0368    0.929     1.08
2 sunny    32  1.15 0.192 0.0339    1.08      1.21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summary_stats()</a:t>
            </a:r>
            <a:r>
              <a:rPr sz="2000"/>
              <a:t> is the same </a:t>
            </a:r>
            <a:r>
              <a:rPr sz="2000">
                <a:latin typeface="Courier"/>
              </a:rPr>
              <a:t>summarize()</a:t>
            </a:r>
            <a:r>
              <a:rPr sz="2000"/>
              <a:t> block, packaged once and </a:t>
            </a:r>
            <a:r>
              <a:rPr sz="2000">
                <a:latin typeface="Courier"/>
              </a:rPr>
              <a:t>source()</a:t>
            </a:r>
            <a:r>
              <a:rPr sz="2000"/>
              <a:t>d forever. It also hands back </a:t>
            </a:r>
            <a:r>
              <a:rPr sz="2000">
                <a:latin typeface="Courier"/>
              </a:rPr>
              <a:t>ci_lower</a:t>
            </a:r>
            <a:r>
              <a:rPr sz="2000"/>
              <a:t> and </a:t>
            </a:r>
            <a:r>
              <a:rPr sz="2000">
                <a:latin typeface="Courier"/>
              </a:rPr>
              <a:t>ci_upper</a:t>
            </a:r>
            <a:r>
              <a:rPr sz="2000"/>
              <a:t> — the 95% confidence interval we build by hand later this lecture.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 new notation</a:t>
            </a:r>
            <a:r>
              <a:rPr sz="2000"/>
              <a:t> inside it. It takes a column of numbers, calls it </a:t>
            </a:r>
            <a:r>
              <a:rPr sz="2000">
                <a:latin typeface="Courier"/>
              </a:rPr>
              <a:t>x</a:t>
            </a:r>
            <a:r>
              <a:rPr sz="2000"/>
              <a:t>, and computes exactly what you computed on the last slide.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</a:t>
            </a:r>
            <a:r>
              <a:rPr sz="2000" b="1">
                <a:latin typeface="Courier"/>
              </a:rPr>
              <a:t>reframe()</a:t>
            </a:r>
            <a:r>
              <a:rPr sz="2000" b="1"/>
              <a:t> and not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wants </a:t>
            </a:r>
            <a:r>
              <a:rPr sz="2000" b="1"/>
              <a:t>one value</a:t>
            </a:r>
            <a:r>
              <a:rPr sz="2000"/>
              <a:t> per group. </a:t>
            </a:r>
            <a:r>
              <a:rPr sz="2000">
                <a:latin typeface="Courier"/>
              </a:rPr>
              <a:t>summary_stats()</a:t>
            </a:r>
            <a:r>
              <a:rPr sz="2000"/>
              <a:t> hands back a whole </a:t>
            </a:r>
            <a:r>
              <a:rPr sz="2000" b="1"/>
              <a:t>row</a:t>
            </a:r>
            <a:r>
              <a:rPr sz="2000"/>
              <a:t> — six columns at once — so we use </a:t>
            </a:r>
            <a:r>
              <a:rPr sz="2000">
                <a:latin typeface="Courier"/>
              </a:rPr>
              <a:t>reframe()</a:t>
            </a:r>
            <a:r>
              <a:rPr sz="2000"/>
              <a:t>, which allows that. Same </a:t>
            </a:r>
            <a:r>
              <a:rPr sz="2000">
                <a:latin typeface="Courier"/>
              </a:rPr>
              <a:t>group_by()</a:t>
            </a:r>
            <a:r>
              <a:rPr sz="2000"/>
              <a:t> you already know in front of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 · The means did not move. The error bars did.</a:t>
            </a:r>
          </a:p>
          <a:p>
            <a:pPr lvl="0" indent="0" marL="1270000">
              <a:buNone/>
            </a:pPr>
            <a:r>
              <a:rPr sz="2000"/>
              <a:t>Averaging changed the </a:t>
            </a:r>
            <a:r>
              <a:rPr sz="2000" b="1"/>
              <a:t>means not at all</a:t>
            </a:r>
            <a:r>
              <a:rPr sz="2000"/>
              <a:t> and </a:t>
            </a:r>
            <a:r>
              <a:rPr sz="2000" b="1"/>
              <a:t>doubled the standard errors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cost of pseudoreplication, in one table. The raw plot was not more precise — it was just wrong about how much we knew.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mean_se_plot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mean_se_plot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 jitter needed now</a:t>
            </a:r>
          </a:p>
          <a:p>
            <a:pPr lvl="0" indent="0" marL="1270000">
              <a:buNone/>
            </a:pPr>
            <a:r>
              <a:rPr sz="2000"/>
              <a:t>Four points per side,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is enough. And a boxplot of four numbers is a thin thing — which is exactly why we plot the points in front of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</a:p>
          <a:p>
            <a:pPr lvl="0" indent="0" marL="1270000">
              <a:buNone/>
            </a:pPr>
            <a:r>
              <a:rPr sz="2000"/>
              <a:t>Hold that thought — it is the whole story of today’s last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test you will ever run starts with the same five lines, </a:t>
            </a:r>
            <a:r>
              <a:rPr b="1"/>
              <a:t>in this order</a:t>
            </a:r>
            <a:r>
              <a:rPr/>
              <a:t>, written down </a:t>
            </a:r>
            <a:r>
              <a:rPr i="1"/>
              <a:t>before</a:t>
            </a:r>
            <a:r>
              <a:rPr/>
              <a:t> you look at the output:</a:t>
            </a:r>
          </a:p>
          <a:p>
            <a:pPr lvl="0" indent="-342900" marL="342900">
              <a:buAutoNum type="arabicPeriod"/>
            </a:pPr>
            <a:r>
              <a:rPr b="1"/>
              <a:t>Question</a:t>
            </a:r>
            <a:r>
              <a:rPr/>
              <a:t> — the biology, in plain English. </a:t>
            </a:r>
            <a:r>
              <a:rPr i="1"/>
              <a:t>Does the sunny side of a pine tree grow longer needles than the shady side?</a:t>
            </a:r>
          </a:p>
          <a:p>
            <a:pPr lvl="0" indent="-342900" marL="342900">
              <a:buAutoNum type="arabicPeriod"/>
            </a:pPr>
            <a:r>
              <a:rPr b="1"/>
              <a:t>Prediction</a:t>
            </a:r>
            <a:r>
              <a:rPr/>
              <a:t> — what you expect to see, and why. </a:t>
            </a:r>
            <a:r>
              <a:rPr i="1"/>
              <a:t>Sunny needles will be longer, because more light means more photosynthate available for growth.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“no effect,” the thing the test actually evaluates. </a:t>
            </a:r>
            <a:r>
              <a:rPr i="1"/>
              <a:t>H₀: μ</a:t>
            </a:r>
            <a:r>
              <a:rPr i="1" baseline="-25000"/>
              <a:t>sunny</a:t>
            </a:r>
            <a:r>
              <a:rPr i="1"/>
              <a:t> =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what is true if H₀ is not. </a:t>
            </a:r>
            <a:r>
              <a:rPr i="1"/>
              <a:t>Hₐ: μ</a:t>
            </a:r>
            <a:r>
              <a:rPr i="1" baseline="-25000"/>
              <a:t>sunny</a:t>
            </a:r>
            <a:r>
              <a:rPr i="1"/>
              <a:t> ≠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your threshold, chosen up front. Typically </a:t>
            </a:r>
            <a:r>
              <a:rPr b="1"/>
              <a:t>α = 0.05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prediction and the alternative are not the same thing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prediction</a:t>
            </a:r>
            <a:r>
              <a:rPr sz="2000"/>
              <a:t> is directional and biological — </a:t>
            </a:r>
            <a:r>
              <a:rPr sz="2000" i="1"/>
              <a:t>sunny is longer</a:t>
            </a:r>
            <a:r>
              <a:rPr sz="2000"/>
              <a:t>. The </a:t>
            </a:r>
            <a:r>
              <a:rPr sz="2000" b="1"/>
              <a:t>alternative hypothesis</a:t>
            </a:r>
            <a:r>
              <a:rPr sz="2000"/>
              <a:t> here is two-tailed — </a:t>
            </a:r>
            <a:r>
              <a:rPr sz="2000" i="1"/>
              <a:t>they differ</a:t>
            </a:r>
            <a:r>
              <a:rPr sz="2000"/>
              <a:t>, either way.</a:t>
            </a:r>
          </a:p>
          <a:p>
            <a:pPr lvl="0" indent="0" marL="1270000">
              <a:buNone/>
            </a:pPr>
            <a:r>
              <a:rPr sz="2000"/>
              <a:t>If your prediction is genuinely directional and you commit to it beforehand, you can run a one-tailed test. Deciding that </a:t>
            </a:r>
            <a:r>
              <a:rPr sz="2000" i="1"/>
              <a:t>after</a:t>
            </a:r>
            <a:r>
              <a:rPr sz="2000"/>
              <a:t> seeing the data is cheating.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0.05 –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0.01 –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0.001 –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Table-reading example — not our data</a:t>
            </a:r>
          </a:p>
          <a:p>
            <a:pPr lvl="0" indent="0" marL="1270000">
              <a:buNone/>
            </a:pPr>
            <a:r>
              <a:rPr sz="2000"/>
              <a:t>A study with </a:t>
            </a:r>
            <a:r>
              <a:rPr sz="2000" b="1"/>
              <a:t>n = 8</a:t>
            </a:r>
            <a:r>
              <a:rPr sz="2000"/>
              <a:t> has </a:t>
            </a:r>
            <a:r>
              <a:rPr sz="2000" b="1"/>
              <a:t>df = n − 1 = 7</a:t>
            </a:r>
            <a:r>
              <a:rPr sz="2000"/>
              <a:t>. That is the row highlighted in the table beside this slide, and the only reason 8 and 7 appear together here.</a:t>
            </a:r>
          </a:p>
          <a:p>
            <a:pPr lvl="0"/>
            <a:r>
              <a:rPr sz="2000"/>
              <a:t>95% of the observations fall to the left of </a:t>
            </a:r>
            <a:r>
              <a:rPr sz="2000" b="1"/>
              <a:t>t = 1.895</a:t>
            </a:r>
          </a:p>
          <a:p>
            <a:pPr lvl="0"/>
            <a:r>
              <a:rPr sz="2000"/>
              <a:t>5% fall outside, in the one tail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 indent="0" marL="0">
              <a:buNone/>
            </a:pPr>
            <a:r>
              <a:rPr/>
              <a:t>Same table-reading example — </a:t>
            </a:r>
            <a:r>
              <a:rPr b="1"/>
              <a:t>n = 8, so df = 7</a:t>
            </a:r>
            <a:r>
              <a:rPr/>
              <a:t>:</a:t>
            </a:r>
          </a:p>
          <a:p>
            <a:pPr lvl="0"/>
            <a:r>
              <a:rPr/>
              <a:t>95% of the observations lie between </a:t>
            </a:r>
            <a:r>
              <a:rPr b="1"/>
              <a:t>t = −2.365 and t = 2.365</a:t>
            </a:r>
            <a:r>
              <a:rPr/>
              <a:t>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</a:t>
            </a:r>
            <a:br/>
            <a:r>
              <a:rPr sz="2000"/>
              <a:t>— splitting 5% into two tails means each tail only gets 2.5%.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Key Idea · Degrees of Freedom, Once and For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df means:</a:t>
            </a:r>
            <a:r>
              <a:rPr/>
              <a:t> the number of values that were free to vary once you estimated a mean. Estimate one mean from n numbers and you spend one df — the last value is pinned down by the others.</a:t>
            </a:r>
          </a:p>
          <a:p>
            <a:pPr lvl="0" indent="0" marL="0">
              <a:buNone/>
            </a:pPr>
            <a:r>
              <a:rPr b="1"/>
              <a:t>So you lose one df for every mean you estimate.</a:t>
            </a:r>
          </a:p>
          <a:p>
            <a:pPr lvl="0" indent="0" marL="0">
              <a:buNone/>
            </a:pPr>
            <a:r>
              <a:rPr/>
              <a:t>Our data: </a:t>
            </a:r>
            <a:r>
              <a:rPr b="1"/>
              <a:t>4 trees, one shady side and one sunny side each.</a:t>
            </a:r>
          </a:p>
          <a:p>
            <a:pPr lvl="0"/>
            <a:r>
              <a:rPr b="1"/>
              <a:t>One-sample t-test</a:t>
            </a:r>
            <a:r>
              <a:rPr/>
              <a:t> — one group, one mean estimated </a:t>
            </a:r>
            <a:r>
              <a:rPr b="1"/>
              <a:t>df = n − 1 = 4 − 1 = 3</a:t>
            </a:r>
            <a:r>
              <a:rPr/>
              <a:t> (4 shady tree means, compared to a fixed number like 15 mm)</a:t>
            </a:r>
          </a:p>
          <a:p>
            <a:pPr lvl="0"/>
            <a:r>
              <a:rPr b="1"/>
              <a:t>Two-sample t-test</a:t>
            </a:r>
            <a:r>
              <a:rPr/>
              <a:t> — two groups, </a:t>
            </a:r>
            <a:r>
              <a:rPr b="1"/>
              <a:t>two</a:t>
            </a:r>
            <a:r>
              <a:rPr/>
              <a:t> means estimated </a:t>
            </a:r>
            <a:r>
              <a:rPr b="1"/>
              <a:t>df = n₁ + n₂ − 2 = 4 + 4 − 2 = 6</a:t>
            </a:r>
            <a:r>
              <a:rPr/>
              <a:t> (8 tree means in total, minus one for each group mean)</a:t>
            </a:r>
          </a:p>
          <a:p>
            <a:pPr lvl="0"/>
            <a:r>
              <a:rPr b="1"/>
              <a:t>Paired t-test</a:t>
            </a:r>
            <a:r>
              <a:rPr/>
              <a:t> — you first collapse each tree to </a:t>
            </a:r>
            <a:r>
              <a:rPr b="1"/>
              <a:t>one difference</a:t>
            </a:r>
            <a:r>
              <a:rPr/>
              <a:t>, then it is a one-sample test on those differences </a:t>
            </a:r>
            <a:r>
              <a:rPr b="1"/>
              <a:t>df = n</a:t>
            </a:r>
            <a:r>
              <a:rPr b="1" baseline="-25000"/>
              <a:t>pairs</a:t>
            </a:r>
            <a:r>
              <a:rPr b="1"/>
              <a:t> − 1 = 4 − 1 = 3</a:t>
            </a:r>
            <a:r>
              <a:rPr/>
              <a:t> (4 differences, not 8 values)</a:t>
            </a:r>
          </a:p>
          <a:p>
            <a:pPr lvl="0"/>
            <a:r>
              <a:rPr b="1"/>
              <a:t>Welch’s t-test</a:t>
            </a:r>
            <a:r>
              <a:rPr/>
              <a:t> — the odd one out. df comes from the Welch–Satterthwaite equation, is usually </a:t>
            </a:r>
            <a:r>
              <a:rPr b="1"/>
              <a:t>not a whole number</a:t>
            </a:r>
            <a:r>
              <a:rPr/>
              <a:t>, and is always ≤ the Student’s df. Here: </a:t>
            </a:r>
            <a:r>
              <a:rPr b="1"/>
              <a:t>df ≈ 5.66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965200"/>
                <a:gridCol w="850900"/>
                <a:gridCol w="482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n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 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One-sample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the one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both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n₁ + n₂ − 2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differences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  <a:r>
                        <a:rPr baseline="-25000"/>
                        <a:t>pairs</a:t>
                      </a:r>
                      <a:r>
                        <a:rPr/>
                        <a:t>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Welch’s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both groups, penalised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Welch–Satterthwaite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≈ 5.66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0.975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Our own shady-side trees — n = 4, so df = 3: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10.91210 17.32978</a:t>
                </a:r>
              </a:p>
              <a:p>
                <a:pPr lvl="0" indent="0" marL="0">
                  <a:buNone/>
                </a:pPr>
                <a:r>
                  <a:rPr/>
                  <a:t>And the same interval, for free, from the function we sourced: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summary_stats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1 × 6
      n  mean    sd    se ci_lower ci_upper
  &lt;int&gt; &lt;dbl&gt; &lt;dbl&gt; &lt;dbl&gt;    &lt;dbl&gt;    &lt;dbl&gt;
1     4  14.1  2.02  1.01     10.9     17.3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Four trees is a </a:t>
            </a:r>
            <a:r>
              <a:rPr sz="2000" b="1" i="1"/>
              <a:t>wide</a:t>
            </a:r>
            <a:r>
              <a:rPr sz="2000" b="1"/>
              <a:t> interval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df = 3</a:t>
            </a:r>
            <a:r>
              <a:rPr sz="2000"/>
              <a:t> the critical t is </a:t>
            </a:r>
            <a:r>
              <a:rPr sz="2000" b="1"/>
              <a:t>3.182</a:t>
            </a:r>
            <a:r>
              <a:rPr sz="2000"/>
              <a:t>, not 1.96 and not the 2.365 highlighted in the table image (that is df = 7).</a:t>
            </a:r>
          </a:p>
          <a:p>
            <a:pPr lvl="0" indent="0" marL="1270000">
              <a:buNone/>
            </a:pPr>
            <a:r>
              <a:rPr sz="2000"/>
              <a:t>Small n costs you twice: a bigger multiplier </a:t>
            </a:r>
            <a:r>
              <a:rPr sz="2000" i="1"/>
              <a:t>and</a:t>
            </a:r>
            <a:r>
              <a:rPr sz="2000"/>
              <a:t> a bigger standard error.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t-test, df = n − 1)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t-test, df = n₁ + n₂ − 2)</a:t>
            </a:r>
          </a:p>
          <a:p>
            <a:pPr lvl="1"/>
            <a:r>
              <a:rPr/>
              <a:t>“Is the average </a:t>
            </a:r>
            <a:r>
              <a:rPr i="1"/>
              <a:t>change within</a:t>
            </a:r>
            <a:r>
              <a:rPr/>
              <a:t> a subject different from zero?” </a:t>
            </a:r>
            <a:r>
              <a:rPr i="1"/>
              <a:t>(paired t-test, df = n</a:t>
            </a:r>
            <a:r>
              <a:rPr i="1" baseline="-25000"/>
              <a:t>pairs</a:t>
            </a:r>
            <a:r>
              <a:rPr i="1"/>
              <a:t> − 1)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three questions does our pine needle design actually ask?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Question, Prediction,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mean needle length on the shady side different from the 15 mm reported for this species?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Shady needles are shorter than 15 mm, because they are light-limited.</a:t>
            </a:r>
          </a:p>
          <a:p>
            <a:pPr lvl="0"/>
            <a:r>
              <a:rPr b="1"/>
              <a:t>H₀:</a:t>
            </a:r>
            <a:r>
              <a:rPr/>
              <a:t> μ = 15 mm</a:t>
            </a:r>
          </a:p>
          <a:p>
            <a:pPr lvl="0"/>
            <a:r>
              <a:rPr b="1"/>
              <a:t>Hₐ:</a:t>
            </a:r>
            <a:r>
              <a:rPr/>
              <a:t> μ ≠ 15 mm (two-tailed)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are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One group — the 4 shady tree means. One mean estimated.</a:t>
            </a:r>
          </a:p>
          <a:p>
            <a:pPr lvl="0" indent="0" marL="1270000">
              <a:buNone/>
            </a:pPr>
            <a:r>
              <a:rPr sz="2000" b="1"/>
              <a:t>df = n − 1 = 4 − 1 = 3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check -- not the two sides pooled.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line support normality; points that curve away — especially in the tails — are a warning sign.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qqPlot()</a:t>
            </a:r>
            <a:r>
              <a:rPr sz="2000"/>
              <a:t> from </a:t>
            </a:r>
            <a:r>
              <a:rPr sz="2000" b="1"/>
              <a:t>car</a:t>
            </a:r>
            <a:r>
              <a:rPr sz="2000"/>
              <a:t> adds a shaded confidence envelope automatically.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Plot, Base 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base R version -- same idea, no packages, no envelope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Same idea, no package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qqnorm()</a:t>
            </a:r>
            <a:r>
              <a:rPr sz="2000"/>
              <a:t> + </a:t>
            </a:r>
            <a:r>
              <a:rPr sz="2000">
                <a:latin typeface="Courier"/>
              </a:rPr>
              <a:t>qqline()</a:t>
            </a:r>
            <a:r>
              <a:rPr sz="2000"/>
              <a:t> gives you the same picture as </a:t>
            </a:r>
            <a:r>
              <a:rPr sz="2000">
                <a:latin typeface="Courier"/>
              </a:rPr>
              <a:t>qqPlot()</a:t>
            </a:r>
            <a:r>
              <a:rPr sz="2000"/>
              <a:t>, just without the shaded envelope. Either is fine.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4 points, this is a sanity check, not proof</a:t>
            </a:r>
          </a:p>
          <a:p>
            <a:pPr lvl="0" indent="0" marL="1270000">
              <a:buNone/>
            </a:pPr>
            <a:r>
              <a:rPr sz="2000"/>
              <a:t>Four points will look “fine” on almost any QQ plot.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Reuse the plot you already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box_plot</a:t>
            </a:r>
            <a:r>
              <a:rPr sz="2000"/>
              <a:t> was built once in Part 1 — no reason to retype it. Points beyond the whiskers are potential outliers; always look before you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</a:t>
            </a:r>
            <a:r>
              <a:rPr sz="2000" b="1">
                <a:latin typeface="Courier"/>
              </a:rPr>
              <a:t>df = 3</a:t>
            </a:r>
            <a:r>
              <a:rPr sz="2000" b="1"/>
              <a:t> in that output</a:t>
            </a:r>
          </a:p>
          <a:p>
            <a:pPr lvl="0" indent="0" marL="1270000">
              <a:buNone/>
            </a:pPr>
            <a:r>
              <a:rPr sz="2000"/>
              <a:t>R is telling you exactly what the Degrees of Freedom slide said: 4 shady trees, one mean estimated, </a:t>
            </a:r>
            <a:r>
              <a:rPr sz="2000" b="1"/>
              <a:t>df = 4 − 1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Interpret it</a:t>
            </a:r>
          </a:p>
          <a:p>
            <a:pPr lvl="0" indent="-342900" marL="342900">
              <a:buAutoNum type="arabicPeriod"/>
            </a:pPr>
            <a:r>
              <a:rPr sz="2000"/>
              <a:t>What was H₀? What was Hₐ?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Reject or fail to reject at α = 0.05?</a:t>
            </a:r>
          </a:p>
          <a:p>
            <a:pPr lvl="0" indent="-342900" marL="342900">
              <a:buAutoNum type="arabicPeriod"/>
            </a:pPr>
            <a:r>
              <a:rPr sz="2000"/>
              <a:t>What does that mean for a botanist?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Variation — the Same Test, One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prediction was </a:t>
            </a:r>
            <a:r>
              <a:rPr b="1"/>
              <a:t>directional</a:t>
            </a:r>
            <a:r>
              <a:rPr/>
              <a:t>: shady needles are </a:t>
            </a:r>
            <a:r>
              <a:rPr i="1"/>
              <a:t>shorter</a:t>
            </a:r>
            <a:r>
              <a:rPr/>
              <a:t> than 15 mm. If we commit to that </a:t>
            </a:r>
            <a:r>
              <a:rPr b="1"/>
              <a:t>before</a:t>
            </a:r>
            <a:r>
              <a:rPr/>
              <a:t> collecting data, we can run a one-tailed test.</a:t>
            </a:r>
          </a:p>
          <a:p>
            <a:pPr lvl="0"/>
            <a:r>
              <a:rPr b="1"/>
              <a:t>H₀:</a:t>
            </a:r>
            <a:r>
              <a:rPr/>
              <a:t> μ ≥ 15</a:t>
            </a:r>
          </a:p>
          <a:p>
            <a:pPr lvl="0"/>
            <a:r>
              <a:rPr b="1"/>
              <a:t>Hₐ:</a:t>
            </a:r>
            <a:r>
              <a:rPr/>
              <a:t> μ &lt; 15 — all 5% of α in the </a:t>
            </a:r>
            <a:r>
              <a:rPr i="1"/>
              <a:t>lower</a:t>
            </a:r>
            <a:r>
              <a:rPr/>
              <a:t> tail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one_tailed_model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one_tailed_model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0.2237
alternative hypothesis: true mean is less than 15
95 percent confidence interval:
     -Inf 16.49382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alternative = "less"</a:t>
            </a:r>
            <a:r>
              <a:rPr sz="2000"/>
              <a:t> or </a:t>
            </a:r>
            <a:r>
              <a:rPr sz="2000">
                <a:latin typeface="Courier"/>
              </a:rPr>
              <a:t>"greater"</a:t>
            </a:r>
            <a:r>
              <a:rPr sz="2000"/>
              <a:t> is the </a:t>
            </a:r>
            <a:r>
              <a:rPr sz="2000" i="1"/>
              <a:t>only</a:t>
            </a:r>
            <a:r>
              <a:rPr sz="2000"/>
              <a:t> thing that changed. Same data, same t, same </a:t>
            </a:r>
            <a:r>
              <a:rPr sz="2000" b="1"/>
              <a:t>df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Compare the two p-values:</a:t>
            </a:r>
          </a:p>
          <a:p>
            <a:pPr lvl="0" indent="0" marL="1270000">
              <a:buNone/>
            </a:pPr>
            <a:r>
              <a:rPr sz="2000" b="1"/>
              <a:t>Exactly half.</a:t>
            </a:r>
            <a:r>
              <a:rPr sz="2000"/>
              <a:t> All of α now sits in one tail, so the observed t only has to beat one cutoff instead of two.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Notice the confidence interval changed too</a:t>
            </a:r>
          </a:p>
          <a:p>
            <a:pPr lvl="0" indent="0" marL="1270000">
              <a:buNone/>
            </a:pPr>
            <a:r>
              <a:rPr sz="2000"/>
              <a:t>It now runs from </a:t>
            </a:r>
            <a:r>
              <a:rPr sz="2000" b="1"/>
              <a:t>−Inf</a:t>
            </a:r>
            <a:r>
              <a:rPr sz="2000"/>
              <a:t> to an upper bound. A one-tailed test makes no claim in the direction you ruled 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vs. Two-Tailed — What It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the critical values from Part 3. At </a:t>
            </a:r>
            <a:r>
              <a:rPr b="1"/>
              <a:t>df = 3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two-tailed,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3.182446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one-tailed, 5% in one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2.353363</a:t>
            </a:r>
          </a:p>
          <a:p>
            <a:pPr lvl="0" indent="0" marL="0">
              <a:buNone/>
            </a:pPr>
            <a:r>
              <a:rPr/>
              <a:t>The one-tailed cutoff (</a:t>
            </a:r>
            <a:r>
              <a:rPr b="1"/>
              <a:t>2.353</a:t>
            </a:r>
            <a:r>
              <a:rPr/>
              <a:t>) is </a:t>
            </a:r>
            <a:r>
              <a:rPr i="1"/>
              <a:t>closer to zero</a:t>
            </a:r>
            <a:r>
              <a:rPr/>
              <a:t> than the two-tailed cutoff (</a:t>
            </a:r>
            <a:r>
              <a:rPr b="1"/>
              <a:t>3.182</a:t>
            </a:r>
            <a:r>
              <a:rPr/>
              <a:t>). That is the extra power — a smaller t will 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rule that makes one-tailed tests honest</a:t>
            </a:r>
          </a:p>
          <a:p>
            <a:pPr lvl="0" indent="0" marL="1270000">
              <a:buNone/>
            </a:pPr>
            <a:r>
              <a:rPr sz="2000"/>
              <a:t>You must pick the direction </a:t>
            </a:r>
            <a:r>
              <a:rPr sz="2000" b="1"/>
              <a:t>before you see the data</a:t>
            </a:r>
            <a:r>
              <a:rPr sz="2000"/>
              <a:t>, on biological grounds, and you must accept that a result in the </a:t>
            </a:r>
            <a:r>
              <a:rPr sz="2000" i="1"/>
              <a:t>other</a:t>
            </a:r>
            <a:r>
              <a:rPr sz="2000"/>
              <a:t> direction tells you nothing — no matter how big it is.</a:t>
            </a:r>
          </a:p>
          <a:p>
            <a:pPr lvl="0" indent="0" marL="1270000">
              <a:buNone/>
            </a:pPr>
            <a:r>
              <a:rPr sz="2000"/>
              <a:t>Choosing the tail after looking at your means is not a one-tailed test. It is a two-tailed test with the p-value secretly halved.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One-Tailed, the Wrong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run the same one-tailed test the other way and watch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"greater"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0.7763
alternative hypothesis: true mean is greater than 15
95 percent confidence interval:
 11.74806      Inf
sample estimates:
mean of x 
 14.12094 </a:t>
            </a:r>
          </a:p>
          <a:p>
            <a:pPr lvl="0" indent="0" marL="0">
              <a:buNone/>
            </a:pPr>
            <a:r>
              <a:rPr/>
              <a:t>Same data, same t = −0.87, and now </a:t>
            </a:r>
            <a:r>
              <a:rPr b="1"/>
              <a:t>p = 0.776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is one-tailed defensible?</a:t>
            </a:r>
          </a:p>
          <a:p>
            <a:pPr lvl="0" indent="0" marL="1270000">
              <a:buNone/>
            </a:pPr>
            <a:r>
              <a:rPr sz="2000"/>
              <a:t>When the opposite result would lead to the </a:t>
            </a:r>
            <a:r>
              <a:rPr sz="2000" b="1"/>
              <a:t>same action</a:t>
            </a:r>
            <a:r>
              <a:rPr sz="2000"/>
              <a:t> as no result. A drug that makes patients worse and a drug that does nothing are both “do not approve.”</a:t>
            </a:r>
          </a:p>
          <a:p>
            <a:pPr lvl="0" indent="0" marL="1270000">
              <a:buNone/>
            </a:pPr>
            <a:r>
              <a:rPr sz="2000"/>
              <a:t>For our pine needles, “sunny is longer” and “shady is longer” are </a:t>
            </a:r>
            <a:r>
              <a:rPr sz="2000" i="1"/>
              <a:t>both</a:t>
            </a:r>
            <a:r>
              <a:rPr sz="2000"/>
              <a:t> interesting biology. </a:t>
            </a:r>
            <a:r>
              <a:rPr sz="2000" b="1"/>
              <a:t>Two-tailed is the honest default.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curve is drawn with </a:t>
            </a:r>
            <a:r>
              <a:rPr sz="2000" b="1"/>
              <a:t>df = 3</a:t>
            </a:r>
            <a:r>
              <a:rPr sz="2000"/>
              <a:t>, straight out of </a:t>
            </a:r>
            <a:r>
              <a:rPr sz="2000">
                <a:latin typeface="Courier"/>
              </a:rPr>
              <a:t>one_sample_model</a:t>
            </a:r>
            <a:r>
              <a:rPr sz="2000"/>
              <a:t> — not from a textbook example. The critical value is 3.182, which is why a wide, short-tailed picture like this needs a big t to reach significance.</a:t>
            </a:r>
          </a:p>
          <a:p>
            <a:pPr lvl="0" indent="0" marL="1270000">
              <a:buNone/>
            </a:pPr>
            <a:r>
              <a:rPr sz="2000"/>
              <a:t>The green line (our observed t) sits </a:t>
            </a:r>
            <a:r>
              <a:rPr sz="2000" i="1"/>
              <a:t>inside</a:t>
            </a:r>
            <a:r>
              <a:rPr sz="2000"/>
              <a:t> the dashed lines — that is what “fail to reject” looks like.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relabelled onto the millimetre scale instead of the t scale.</a:t>
            </a:r>
          </a:p>
          <a:p>
            <a:pPr lvl="0" indent="0" marL="1270000">
              <a:buNone/>
            </a:pPr>
            <a:r>
              <a:rPr sz="2000"/>
              <a:t>The blue line is H₀ (15 mm), the green line is our sample mean. The green line sits </a:t>
            </a:r>
            <a:r>
              <a:rPr sz="2000" b="1"/>
              <a:t>inside</a:t>
            </a:r>
            <a:r>
              <a:rPr sz="2000"/>
              <a:t> the dashed critical values, so 15 mm is a perfectly plausible population mean for these four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/>
            <a:r>
              <a:rPr/>
              <a:t>Does the 95% CI from </a:t>
            </a:r>
            <a:r>
              <a:rPr>
                <a:latin typeface="Courier"/>
              </a:rPr>
              <a:t>summary_stats()</a:t>
            </a:r>
            <a:r>
              <a:rPr/>
              <a:t> contain 15 mm — and does that agree with the p-value?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</a:t>
            </a:r>
            <a:r>
              <a:rPr sz="2000" b="1"/>
              <a:t>two-tailed</a:t>
            </a:r>
            <a:r>
              <a:rPr sz="2000"/>
              <a:t>, one-sample t-test at α = 0.05 showed that the mean needle length (… mm, SD = …) [was/was not] significantly different from the expected 15 mm, </a:t>
            </a:r>
            <a:r>
              <a:rPr sz="2000" b="1"/>
              <a:t>t(3)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Two things you must always report: the </a:t>
            </a:r>
            <a:r>
              <a:rPr sz="2000" b="1"/>
              <a:t>degrees of freedom</a:t>
            </a:r>
            <a:r>
              <a:rPr sz="2000"/>
              <a:t>, in parentheses after </a:t>
            </a:r>
            <a:r>
              <a:rPr sz="2000" b="1"/>
              <a:t>t</a:t>
            </a:r>
            <a:r>
              <a:rPr sz="2000"/>
              <a:t>, and whether the test was </a:t>
            </a:r>
            <a:r>
              <a:rPr sz="2000" b="1"/>
              <a:t>one- or two-tailed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Do needles differ in length between the sunny and shady sides?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Sunny needles are longer — more light, more growth.</a:t>
            </a:r>
          </a:p>
          <a:p>
            <a:pPr lvl="0"/>
            <a:r>
              <a:rPr b="1"/>
              <a:t>H₀: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= μ</a:t>
            </a:r>
            <a:r>
              <a:rPr baseline="-25000"/>
              <a:t>sunny</a:t>
            </a:r>
          </a:p>
          <a:p>
            <a:pPr lvl="0"/>
            <a:r>
              <a:rPr b="1"/>
              <a:t>Hₐ: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≠ μ</a:t>
            </a:r>
            <a:r>
              <a:rPr baseline="-25000"/>
              <a:t>sunny</a:t>
            </a:r>
            <a:r>
              <a:rPr/>
              <a:t> (direction not specified)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/>
              <a:t>A two-sample t-test compares means from two </a:t>
            </a:r>
            <a:r>
              <a:rPr b="1"/>
              <a:t>independent</a:t>
            </a:r>
            <a:r>
              <a:rPr/>
              <a:t> groups.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Two groups, </a:t>
            </a:r>
            <a:r>
              <a:rPr sz="2000" b="1"/>
              <a:t>two</a:t>
            </a:r>
            <a:r>
              <a:rPr sz="2000"/>
              <a:t> means estimated from 8 tree means.</a:t>
            </a:r>
          </a:p>
          <a:p>
            <a:pPr lvl="0" indent="0" marL="1270000">
              <a:buNone/>
            </a:pPr>
            <a:r>
              <a:rPr sz="2000" b="1"/>
              <a:t>df = n₁ + n₂ − 2 = 4 + 4 − 2 = 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df is sitting right inside the formula</a:t>
            </a:r>
          </a:p>
          <a:p>
            <a:pPr lvl="0" indent="0" marL="1270000">
              <a:buNone/>
            </a:pPr>
            <a:r>
              <a:rPr sz="2000"/>
              <a:t>Look at the denominator of the pooled variance: </a:t>
            </a:r>
            <a:r>
              <a:rPr sz="2000" b="1"/>
              <a:t>n₁ + n₂ − 2</a:t>
            </a:r>
            <a:r>
              <a:rPr sz="2000"/>
              <a:t>. That </a:t>
            </a:r>
            <a:r>
              <a:rPr sz="2000" i="1"/>
              <a:t>is</a:t>
            </a:r>
            <a:r>
              <a:rPr sz="2000"/>
              <a:t> the degrees of freedom. It is the divisor that turns two sums of squares into one variance estimate, and the same number then indexes the t-distribution you compare your t to.</a:t>
            </a:r>
          </a:p>
          <a:p>
            <a:pPr lvl="0" indent="0" marL="1270000">
              <a:buNone/>
            </a:pPr>
            <a:r>
              <a:rPr sz="2000"/>
              <a:t>df is not a rule to memorise — it is whatever you divided by.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 — Comparing Two Means.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Normality by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0.674
2 sunny     0.516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group separately</a:t>
            </a:r>
          </a:p>
          <a:p>
            <a:pPr lvl="0" indent="0" marL="1270000">
              <a:buNone/>
            </a:pPr>
            <a:r>
              <a:rPr sz="2000"/>
              <a:t>For a two-sample test the normality assumption is about the </a:t>
            </a:r>
            <a:r>
              <a:rPr sz="2000" i="1"/>
              <a:t>residuals within each group</a:t>
            </a:r>
            <a:r>
              <a:rPr sz="2000"/>
              <a:t>, so test each side on its own — never the pooled column.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Levene’s test is “the variances are equal.”</a:t>
            </a:r>
          </a:p>
          <a:p>
            <a:pPr lvl="0" indent="0" marL="1270000">
              <a:buNone/>
            </a:pPr>
            <a:r>
              <a:rPr sz="2000"/>
              <a:t>You </a:t>
            </a:r>
            <a:r>
              <a:rPr sz="2000" i="1"/>
              <a:t>want</a:t>
            </a:r>
            <a:r>
              <a:rPr sz="2000"/>
              <a:t> a non-significant result. If p &gt; 0.05, the standard (Student’s) t-test is fine. If p &lt; 0.05, use Welch’s.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needs the grouping variable as a factor.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(Student’s) — 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two_sample_model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— unequal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welch_model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welch_model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 b="1"/>
              <a:t>Higher power</a:t>
            </a:r>
            <a:r>
              <a:rPr/>
              <a:t> when the equal-variance assumption is met</a:t>
            </a:r>
          </a:p>
          <a:p>
            <a:pPr lvl="0"/>
            <a:r>
              <a:rPr b="1"/>
              <a:t>df = n₁ + n₂ − 2 = 6</a:t>
            </a:r>
            <a:r>
              <a:rPr/>
              <a:t> — a whole number, every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 b="1"/>
              <a:t>df from the Welch–Satterthwaite equation</a:t>
            </a:r>
            <a:r>
              <a:rPr/>
              <a:t> — typically </a:t>
            </a:r>
            <a:r>
              <a:rPr i="1"/>
              <a:t>not</a:t>
            </a:r>
            <a:r>
              <a:rPr/>
              <a:t> a whole number, and always smaller than n₁ + n₂ − 2. Here </a:t>
            </a:r>
            <a:r>
              <a:rPr b="1"/>
              <a:t>df ≈ 5.66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fractional df is the price of the robustness</a:t>
            </a:r>
            <a:r>
              <a:rPr sz="2000"/>
              <a:t> — Welch’s buys safety by spending degrees of freedom.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</a:t>
            </a:r>
            <a:r>
              <a:rPr sz="2000" b="1"/>
              <a:t>t(6)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For Welch’s you report the fractional df exactly as R gives it: </a:t>
            </a:r>
            <a:r>
              <a:rPr sz="2000" b="1"/>
              <a:t>t(5.66)</a:t>
            </a:r>
            <a:r>
              <a:rPr sz="2000"/>
              <a:t> = …</a:t>
            </a:r>
          </a:p>
        </p:txBody>
      </p:sp>
      <p:pic>
        <p:nvPicPr>
          <p:cNvPr descr="t_tests_lecture_files/figure-pptx/t-tests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 or matched pair</a:t>
            </a:r>
          </a:p>
          <a:p>
            <a:pPr lvl="0"/>
            <a:r>
              <a:rPr/>
              <a:t>Tests whether the </a:t>
            </a:r>
            <a:r>
              <a:rPr b="1"/>
              <a:t>mean difference</a:t>
            </a:r>
            <a:r>
              <a:rPr/>
              <a:t> between paired observations equals zero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removes subject-to-subject variation from the noise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4 trees → </a:t>
            </a:r>
            <a:r>
              <a:rPr sz="2000" b="1"/>
              <a:t>4 differences</a:t>
            </a:r>
            <a:r>
              <a:rPr sz="2000"/>
              <a:t> → one mean difference estimated.</a:t>
            </a:r>
          </a:p>
          <a:p>
            <a:pPr lvl="0" indent="0" marL="1270000">
              <a:buNone/>
            </a:pPr>
            <a:r>
              <a:rPr sz="2000" b="1"/>
              <a:t>df = n</a:t>
            </a:r>
            <a:r>
              <a:rPr sz="2000" b="1" baseline="-25000"/>
              <a:t>pairs</a:t>
            </a:r>
            <a:r>
              <a:rPr sz="2000" b="1"/>
              <a:t> − 1 = 4 − 1 = 3</a:t>
            </a:r>
          </a:p>
          <a:p>
            <a:pPr lvl="0" indent="0" marL="1270000">
              <a:buNone/>
            </a:pPr>
            <a:r>
              <a:rPr sz="2000"/>
              <a:t>Not 6. The 8 numbers became 4 the moment you subtracted.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direction you report is backwards.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-- the SAME order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two-sample test used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,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 − 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295400"/>
            <a:ext cx="3746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line is one tree. All four shift the same way — that consistency is exactly what the paired test measures and the two-sample test cannot see.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 — Why the Design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And notice it did that on half the degrees of freedom</a:t>
            </a:r>
          </a:p>
          <a:p>
            <a:pPr lvl="0" indent="0" marL="1270000">
              <a:buNone/>
            </a:pPr>
            <a:r>
              <a:rPr sz="2000"/>
              <a:t>3 instead of 6 — because it is working with 4 differences, not 8 values. A smaller df makes significance </a:t>
            </a:r>
            <a:r>
              <a:rPr sz="2000" i="1"/>
              <a:t>harder</a:t>
            </a:r>
            <a:r>
              <a:rPr sz="2000"/>
              <a:t> to reach. It still won by a mile, because the noise it removed mattered far more than the df it gave up.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two-sample test is not just less powerful, it is answering a question our design never asked.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the idea that makes the df finally click. Treat the </a:t>
            </a:r>
            <a:r>
              <a:rPr b="1"/>
              <a:t>shady side as each tree’s own control</a:t>
            </a:r>
            <a:r>
              <a:rPr/>
              <a:t>, and compute one difference per tree: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diff_df &lt;- p_wide_df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sunny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shady)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team       shady sunny difference
  &lt;chr&gt;      &lt;dbl&gt; &lt;dbl&gt;      &lt;dbl&gt;
1 botany      16.1  17.3      1.16 
2 grace_jace  15.4  15.5      0.146
3 one         13.2  14.2      0.968
4 waterbugs   11.7  13.8      2.10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tree is its own control</a:t>
            </a:r>
          </a:p>
          <a:p>
            <a:pPr lvl="0" indent="0" marL="1270000">
              <a:buNone/>
            </a:pPr>
            <a:r>
              <a:rPr sz="2000"/>
              <a:t>The shady side accounts for everything about that particular tree — its genetics, its soil, its water, its team’s measuring technique. Subtracting removes all of it at once, and what is left is the effect of </a:t>
            </a:r>
            <a:r>
              <a:rPr sz="2000" i="1"/>
              <a:t>sun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This is the same logic as a before/after design, and it is the seed of the blocked designs you will meet in ANOVA.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 — Same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throw away the pairing language entirely and run a plain </a:t>
            </a:r>
            <a:r>
              <a:rPr b="1"/>
              <a:t>one-sample t-test on those 4 differences, against μ = 0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(diff_df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diff_df$difference
t = 2.7227, df = 3, p-value = 0.07238
alternative hypothesis: true mean is not equal to 0
95 percent confidence interval:
 -0.1846147  2.3714897
sample estimates:
mean of x 
 1.093438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Identical. Same t, same df, same p.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t.test(sunny, shady, paired = TRUE)</a:t>
            </a:r>
            <a:r>
              <a:rPr sz="2000"/>
              <a:t> and </a:t>
            </a:r>
            <a:r>
              <a:rPr sz="2000">
                <a:latin typeface="Courier"/>
              </a:rPr>
              <a:t>t.test(sunny - shady, mu = 0)</a:t>
            </a:r>
            <a:r>
              <a:rPr sz="2000"/>
              <a:t> are </a:t>
            </a:r>
            <a:r>
              <a:rPr sz="2000" b="1"/>
              <a:t>the same test</a:t>
            </a:r>
            <a:r>
              <a:rPr sz="2000"/>
              <a:t>. </a:t>
            </a:r>
            <a:r>
              <a:rPr sz="2000">
                <a:latin typeface="Courier"/>
              </a:rPr>
              <a:t>paired = TRUE</a:t>
            </a:r>
            <a:r>
              <a:rPr sz="2000"/>
              <a:t> is nothing more than a convenience that does the subtraction for you.</a:t>
            </a:r>
          </a:p>
          <a:p>
            <a:pPr lvl="0" indent="0" marL="1270000">
              <a:buNone/>
            </a:pPr>
            <a:r>
              <a:rPr sz="2000"/>
              <a:t>That is why the paired df is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 = 3</a:t>
            </a:r>
            <a:r>
              <a:rPr sz="2000"/>
              <a:t> and not n₁ + n₂ − 2 = 6: once you subtract, you genuinely only have </a:t>
            </a:r>
            <a:r>
              <a:rPr sz="2000" b="1"/>
              <a:t>four numbers</a:t>
            </a:r>
            <a:r>
              <a:rPr sz="2000"/>
              <a:t>. A one-sample test on four numbers has 3 df. Always.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— the data (or, for a paired test, the </a:t>
            </a:r>
            <a:r>
              <a:rPr b="1"/>
              <a:t>differences</a:t>
            </a:r>
            <a:r>
              <a:rPr/>
              <a:t>) come from a normally distributed population</a:t>
            </a:r>
          </a:p>
          <a:p>
            <a:pPr lvl="0" indent="-342900" marL="342900">
              <a:buAutoNum type="arabicPeriod"/>
            </a:pPr>
            <a:r>
              <a:rPr b="1"/>
              <a:t>Equal variances</a:t>
            </a:r>
            <a:r>
              <a:rPr/>
              <a:t> — two-sample tests only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—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No outliers</a:t>
            </a:r>
            <a:r>
              <a:rPr/>
              <a:t> — extreme values can dominate a small sample</a:t>
            </a:r>
          </a:p>
          <a:p>
            <a:pPr lvl="0" indent="0" marL="0">
              <a:buNone/>
            </a:pPr>
            <a:r>
              <a:rPr/>
              <a:t>What do we do if our data violate these?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root)</a:t>
            </a:r>
          </a:p>
          <a:p>
            <a:pPr lvl="0"/>
            <a:r>
              <a:rPr/>
              <a:t>Non-parametric tests — Mann-Whitney U for two samples, Wilcoxon signed-rank for paired</a:t>
            </a:r>
          </a:p>
          <a:p>
            <a:pPr lvl="0"/>
            <a:r>
              <a:rPr/>
              <a:t>Robust methods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Note the paired case</a:t>
            </a:r>
          </a:p>
          <a:p>
            <a:pPr lvl="0" indent="0" marL="1270000">
              <a:buNone/>
            </a:pPr>
            <a:r>
              <a:rPr sz="2000"/>
              <a:t>You check normality of the </a:t>
            </a:r>
            <a:r>
              <a:rPr sz="2000" b="1"/>
              <a:t>differences</a:t>
            </a:r>
            <a:r>
              <a:rPr sz="2000"/>
              <a:t>, not of the two groups. Which follows directly from the last slide — the differences </a:t>
            </a:r>
            <a:r>
              <a:rPr sz="2000" i="1"/>
              <a:t>are</a:t>
            </a:r>
            <a:r>
              <a:rPr sz="2000"/>
              <a:t> the data.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 we:</a:t>
            </a:r>
          </a:p>
          <a:p>
            <a:pPr lvl="0" indent="-342900" marL="342900">
              <a:buAutoNum type="arabicPeriod"/>
            </a:pPr>
            <a:r>
              <a:rPr/>
              <a:t>Went from question → prediction → H₀ / Hₐ → α, before looking at output</a:t>
            </a:r>
          </a:p>
          <a:p>
            <a:pPr lvl="0" indent="-342900" marL="342900">
              <a:buAutoNum type="arabicPeriod"/>
            </a:pPr>
            <a:r>
              <a:rPr/>
              <a:t>Tested assumptions — QQ plot, Shapiro-Wilk, Levene’s</a:t>
            </a:r>
          </a:p>
          <a:p>
            <a:pPr lvl="0" indent="-342900" marL="342900">
              <a:buAutoNum type="arabicPeriod"/>
            </a:pPr>
            <a:r>
              <a:rPr/>
              <a:t>Ran one-sample (two- and one-tailed), two-sample (Student’s and Welch’s), and paired t-tests</a:t>
            </a:r>
          </a:p>
          <a:p>
            <a:pPr lvl="0" indent="-342900" marL="342900">
              <a:buAutoNum type="arabicPeriod"/>
            </a:pPr>
            <a:r>
              <a:rPr/>
              <a:t>Saw that a paired test is a one-sample test on the differences</a:t>
            </a:r>
          </a:p>
          <a:p>
            <a:pPr lvl="0" indent="-342900" marL="342900">
              <a:buAutoNum type="arabicPeriod"/>
            </a:pPr>
            <a:r>
              <a:rPr/>
              <a:t>Learned to read and report </a:t>
            </a:r>
            <a:r>
              <a:rPr b="1"/>
              <a:t>t(df) = …, p =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Degrees of freedom — the one-line version</a:t>
            </a:r>
          </a:p>
          <a:p>
            <a:pPr lvl="0"/>
            <a:r>
              <a:rPr sz="2000"/>
              <a:t>One-sample: </a:t>
            </a:r>
            <a:r>
              <a:rPr sz="2000" b="1"/>
              <a:t>n − 1</a:t>
            </a:r>
            <a:r>
              <a:rPr sz="2000"/>
              <a:t> = 3</a:t>
            </a:r>
          </a:p>
          <a:p>
            <a:pPr lvl="0"/>
            <a:r>
              <a:rPr sz="2000"/>
              <a:t>Two-sample: </a:t>
            </a:r>
            <a:r>
              <a:rPr sz="2000" b="1"/>
              <a:t>n₁ + n₂ − 2</a:t>
            </a:r>
            <a:r>
              <a:rPr sz="2000"/>
              <a:t> = 6</a:t>
            </a:r>
          </a:p>
          <a:p>
            <a:pPr lvl="0"/>
            <a:r>
              <a:rPr sz="2000"/>
              <a:t>Paired: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</a:t>
            </a:r>
            <a:r>
              <a:rPr sz="2000"/>
              <a:t> = 3</a:t>
            </a:r>
          </a:p>
          <a:p>
            <a:pPr lvl="0"/>
            <a:r>
              <a:rPr sz="2000"/>
              <a:t>Welch’s: fractional, ≤ n₁ + n₂ − 2 ≈ 5.66</a:t>
            </a:r>
          </a:p>
          <a:p>
            <a:pPr lvl="0" indent="0" marL="1270000">
              <a:buNone/>
            </a:pPr>
            <a:r>
              <a:rPr sz="2000"/>
              <a:t>n is </a:t>
            </a:r>
            <a:r>
              <a:rPr sz="2000" b="1"/>
              <a:t>trees</a:t>
            </a:r>
            <a:r>
              <a:rPr sz="2000"/>
              <a:t>, never needles. You lose one df per mean you estimate.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you test</a:t>
            </a:r>
          </a:p>
          <a:p>
            <a:pPr lvl="0"/>
            <a:r>
              <a:rPr sz="2000"/>
              <a:t>Plot the data before you test</a:t>
            </a:r>
          </a:p>
          <a:p>
            <a:pPr lvl="0"/>
            <a:r>
              <a:rPr sz="2000"/>
              <a:t>Match the test to the </a:t>
            </a:r>
            <a:r>
              <a:rPr sz="2000" b="1"/>
              <a:t>design</a:t>
            </a:r>
            <a:r>
              <a:rPr sz="2000"/>
              <a:t>, not to the p-value you want</a:t>
            </a:r>
          </a:p>
          <a:p>
            <a:pPr lvl="0"/>
            <a:r>
              <a:rPr sz="2000"/>
              <a:t>Non-parametric alternatives are coming up next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and degrees of freedom made explicit — on the pine needle data the class collected.</dc:description>
  <dcterms:created xsi:type="dcterms:W3CDTF">2026-10-19T16:30:27Z</dcterms:created>
  <dcterms:modified xsi:type="dcterms:W3CDTF">2026-10-19T16:30:27Z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