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9" Type="http://schemas.openxmlformats.org/officeDocument/2006/relationships/viewProps" Target="viewProps.xml" /><Relationship Id="rId4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1" Type="http://schemas.openxmlformats.org/officeDocument/2006/relationships/tableStyles" Target="tableStyles.xml" /><Relationship Id="rId5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data/pine_data.csv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6.png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8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jp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4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T-Tests: One, Two, Paired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means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time:</a:t>
            </a:r>
          </a:p>
          <a:p>
            <a:pPr lvl="0"/>
            <a:r>
              <a:rPr/>
              <a:t>Histograms / frequency distributions</a:t>
            </a:r>
          </a:p>
          <a:p>
            <a:pPr lvl="0"/>
            <a:r>
              <a:rPr/>
              <a:t>Probability distribution functions (PDFs)</a:t>
            </a:r>
          </a:p>
          <a:p>
            <a:pPr lvl="0"/>
            <a:r>
              <a:rPr/>
              <a:t>Z-scores and t-scores</a:t>
            </a:r>
          </a:p>
          <a:p>
            <a:pPr lvl="0"/>
            <a:r>
              <a:rPr/>
              <a:t>Tests of means using t-tests: one sample, two sample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last lecture</a:t>
            </a:r>
          </a:p>
          <a:p>
            <a:pPr lvl="0" indent="0" marL="1270000">
              <a:buNone/>
            </a:pPr>
            <a:r>
              <a:rPr sz="2000"/>
              <a:t>A t-score is just a z-score computed with the </a:t>
            </a:r>
            <a:r>
              <a:rPr sz="2000" i="1"/>
              <a:t>sample</a:t>
            </a:r>
            <a:r>
              <a:rPr sz="2000"/>
              <a:t> standard deviation instead of the population standard deviation — that substitution is why we need the t-distribution at all. Today we put it to work.</a:t>
            </a:r>
          </a:p>
        </p:txBody>
      </p:sp>
      <p:pic>
        <p:nvPicPr>
          <p:cNvPr descr="images/clipboard-5365283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34100" y="660400"/>
            <a:ext cx="27432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large circle labeled ‘population’ with dots representing individuals and Greek-letter parameters (mu, sigma, sigma-squared), with orange arrows showing a subset of dots being drawn down into a small circle labeled ‘sample’ with its statistics (y-bar, s, s-squared), illustrating that a sample is used to estimate unknown population parameters.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Hypothesis testing framework</a:t>
            </a:r>
          </a:p>
          <a:p>
            <a:pPr lvl="0" indent="-342900" marL="342900">
              <a:buAutoNum type="arabicPeriod"/>
            </a:pPr>
            <a:r>
              <a:rPr sz="2000"/>
              <a:t>The t-distribution</a:t>
            </a:r>
          </a:p>
          <a:p>
            <a:pPr lvl="0" indent="-342900" marL="342900">
              <a:buAutoNum type="arabicPeriod"/>
            </a:pPr>
            <a:r>
              <a:rPr sz="2000"/>
              <a:t>One-sample t-test</a:t>
            </a:r>
          </a:p>
          <a:p>
            <a:pPr lvl="0" indent="-342900" marL="342900">
              <a:buAutoNum type="arabicPeriod"/>
            </a:pPr>
            <a:r>
              <a:rPr sz="2000"/>
              <a:t>Two-sample t-test (Student’s and Welch’s)</a:t>
            </a:r>
          </a:p>
          <a:p>
            <a:pPr lvl="0" indent="-342900" marL="342900">
              <a:buAutoNum type="arabicPeriod"/>
            </a:pPr>
            <a:r>
              <a:rPr sz="2000"/>
              <a:t>Paired t-test</a:t>
            </a:r>
          </a:p>
          <a:p>
            <a:pPr lvl="0" indent="-342900" marL="342900">
              <a:buAutoNum type="arabicPeriod"/>
            </a:pPr>
            <a:r>
              <a:rPr sz="2000"/>
              <a:t>Checking assumptions throughout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Our Data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Setup — Loading Our Pine Needle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</a:t>
            </a:r>
            <a:r>
              <a:rPr>
                <a:solidFill>
                  <a:srgbClr val="5E5E5E"/>
                </a:solidFill>
                <a:latin typeface="Courier"/>
              </a:rPr>
              <a:t># For diagnostic tests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"data/pine_data.csv"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64
Columns: 6
$ source_file      &lt;chr&gt; "Bartell_Shingledecker_tree_needle_data_2026.csv", "B…
$ team             &lt;chr&gt; "grace_jace", "grace_jace", "grace_jace", "grace_jace…
$ replicate        &lt;dbl&gt; 1, 2, 3, 4, 5, 6, 7, 8, 1, 2, 3, 4, 5, 6, 7, 8, 1, 2,…
$ side             &lt;chr&gt; "sunny", "sunny", "sunny", "sunny", "sunny", "sunny",…
$ needle_length_mm &lt;dbl&gt; 18.44, 12.48, 17.73, 13.98, 14.18, 19.17, 10.92, 17.3…
$ needle_width_mm  &lt;dbl&gt; 0.79, 0.99, 1.12, 0.94, 1.00, 0.99, 0.81, 1.29, 0.75,…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Download the data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For two sample T-tests, degrees of freedom = n₁ + n₂ − 2. Once we average the needles up to one value per tree side (next slide), we have </a:t>
            </a:r>
            <a:r>
              <a:rPr sz="2000" b="1"/>
              <a:t>4 trees per side</a:t>
            </a:r>
            <a:r>
              <a:rPr sz="2000"/>
              <a:t> — so df = 4 + 4 − 2 = </a:t>
            </a:r>
            <a:r>
              <a:rPr sz="2000" b="1"/>
              <a:t>6</a:t>
            </a:r>
            <a:r>
              <a:rPr sz="2000"/>
              <a:t>. Note that n is the number of </a:t>
            </a:r>
            <a:r>
              <a:rPr sz="2000" i="1"/>
              <a:t>trees</a:t>
            </a:r>
            <a:r>
              <a:rPr sz="2000"/>
              <a:t>, not needles.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Recap</a:t>
            </a:r>
          </a:p>
          <a:p>
            <a:pPr lvl="0" indent="0" marL="1270000">
              <a:buNone/>
            </a:pPr>
            <a:r>
              <a:rPr sz="2000"/>
              <a:t>This is the data </a:t>
            </a:r>
            <a:r>
              <a:rPr sz="2000" b="1"/>
              <a:t>you</a:t>
            </a:r>
            <a:r>
              <a:rPr sz="2000"/>
              <a:t> collected: </a:t>
            </a:r>
            <a:r>
              <a:rPr sz="2000">
                <a:latin typeface="Courier"/>
              </a:rPr>
              <a:t>team</a:t>
            </a:r>
            <a:r>
              <a:rPr sz="2000"/>
              <a:t> is your field team (one tree each), </a:t>
            </a:r>
            <a:r>
              <a:rPr sz="2000">
                <a:latin typeface="Courier"/>
              </a:rPr>
              <a:t>side</a:t>
            </a:r>
            <a:r>
              <a:rPr sz="2000"/>
              <a:t> is sunny vs. shady, </a:t>
            </a:r>
            <a:r>
              <a:rPr sz="2000">
                <a:latin typeface="Courier"/>
              </a:rPr>
              <a:t>replicate</a:t>
            </a:r>
            <a:r>
              <a:rPr sz="2000"/>
              <a:t> is which of the 8 needles, and </a:t>
            </a:r>
            <a:r>
              <a:rPr sz="2000">
                <a:latin typeface="Courier"/>
              </a:rPr>
              <a:t>needle_length_mm</a:t>
            </a:r>
            <a:r>
              <a:rPr sz="2000"/>
              <a:t> is the measurement.</a:t>
            </a:r>
          </a:p>
          <a:p>
            <a:pPr lvl="0" indent="0" marL="1270000">
              <a:buNone/>
            </a:pPr>
            <a:r>
              <a:rPr sz="2000"/>
              <a:t>64 rows — but only </a:t>
            </a:r>
            <a:r>
              <a:rPr sz="2000" b="1"/>
              <a:t>4 trees</a:t>
            </a:r>
            <a:r>
              <a:rPr sz="2000"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Averaging Out Pseudoreplication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8 needles from one side of one tree are pseudoreplicates —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average them so each tree/side is ONE data point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p_df &lt;- 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(team, 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needle_length_mm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shady_df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sunny_df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8 × 3
  team       side  needle_length_mm
  &lt;chr&gt;      &lt;chr&gt;            &lt;dbl&gt;
1 botany     shady             16.1
2 botany     sunny             17.3
3 grace_jace shady             15.4
4 grace_jace sunny             15.5
5 one        shady             13.2
6 one        sunny             14.2
7 waterbugs  shady             11.7
8 waterbugs  sunny             13.8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Why average first?</a:t>
            </a:r>
            <a:r>
              <a:rPr sz="2000"/>
              <a:t> The true experimental unit here is </a:t>
            </a:r>
            <a:r>
              <a:rPr sz="2000" i="1"/>
              <a:t>tree side</a:t>
            </a:r>
            <a:r>
              <a:rPr sz="2000"/>
              <a:t>, not </a:t>
            </a:r>
            <a:r>
              <a:rPr sz="2000" i="1"/>
              <a:t>needle</a:t>
            </a:r>
            <a:r>
              <a:rPr sz="2000"/>
              <a:t>. Treating every needle as independent would inflate our sample size and our confidence — the same pseudoreplication trap from Getting Started.</a:t>
            </a:r>
          </a:p>
          <a:p>
            <a:pPr lvl="0" indent="0" marL="1270000">
              <a:buNone/>
            </a:pPr>
            <a:r>
              <a:rPr sz="2000"/>
              <a:t>This is exactly the </a:t>
            </a:r>
            <a:r>
              <a:rPr sz="2000" b="1"/>
              <a:t>two-stage summary</a:t>
            </a:r>
            <a:r>
              <a:rPr sz="2000"/>
              <a:t> from Describing Your Data: </a:t>
            </a:r>
            <a:r>
              <a:rPr sz="2000">
                <a:latin typeface="Courier"/>
              </a:rPr>
              <a:t>group_by()</a:t>
            </a:r>
            <a:r>
              <a:rPr sz="2000"/>
              <a:t> down to the unit you actually replicated, </a:t>
            </a:r>
            <a:r>
              <a:rPr sz="2000" i="1"/>
              <a:t>then</a:t>
            </a:r>
            <a:r>
              <a:rPr sz="2000"/>
              <a:t> analyse. Everything from here on runs on one number per tree side.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stats_df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003B4F"/>
                </a:solidFill>
                <a:latin typeface="Courier"/>
              </a:rPr>
              <a:t>.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count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mean_length sd_length se_length count
  &lt;chr&gt;       &lt;dbl&gt;     &lt;dbl&gt;     &lt;dbl&gt; &lt;int&gt;
1 shady        14.1      2.02     1.01      4
2 sunny        15.2      1.57     0.786     4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Data We’ll Test — </a:t>
            </a:r>
            <a:r>
              <a:rPr>
                <a:latin typeface="Courier"/>
              </a:rPr>
              <a:t>p_df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p_plot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(side,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team,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team))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team,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team))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caption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"One point per team's tree"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p_plot</a:t>
            </a:r>
          </a:p>
        </p:txBody>
      </p:sp>
      <p:pic>
        <p:nvPicPr>
          <p:cNvPr descr="t_tests_lecture_files/figure-pptx/t-tests-0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270000"/>
            <a:ext cx="4064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Goals for today, using </a:t>
            </a:r>
            <a:r>
              <a:rPr b="1">
                <a:latin typeface="Courier"/>
              </a:rPr>
              <a:t>p_df</a:t>
            </a:r>
            <a:r>
              <a:rPr b="1"/>
              <a:t>: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t-distributions</a:t>
            </a:r>
          </a:p>
          <a:p>
            <a:pPr lvl="0"/>
            <a:r>
              <a:rPr/>
              <a:t>One-sample, two-sample, and paired t-tests</a:t>
            </a:r>
          </a:p>
          <a:p>
            <a:pPr lvl="0"/>
            <a:r>
              <a:rPr/>
              <a:t>Assumption tests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Look at the lines before we test anything</a:t>
            </a:r>
          </a:p>
          <a:p>
            <a:pPr lvl="0" indent="0" marL="1270000">
              <a:buNone/>
            </a:pPr>
            <a:r>
              <a:rPr sz="2000"/>
              <a:t>The boxes overlap a lot. But </a:t>
            </a:r>
            <a:r>
              <a:rPr sz="2000" b="1"/>
              <a:t>every line slopes the same way.</a:t>
            </a:r>
            <a:r>
              <a:rPr sz="2000"/>
              <a:t> Hold that thought — it is the whole story of today’s last section.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Hypothesis Testing Framework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Hypothesis Testing — the Key Components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(H₀)</a:t>
            </a:r>
            <a:r>
              <a:rPr/>
              <a:t> — typically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(Hₐ)</a:t>
            </a:r>
            <a:r>
              <a:rPr/>
              <a:t> —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 —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 — probability of observing our result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 — threshold for rejecting H₀, typically 0.05</a:t>
            </a:r>
          </a:p>
          <a:p>
            <a:pPr lvl="0" indent="0" marL="0">
              <a:buNone/>
            </a:pPr>
            <a:r>
              <a:rPr b="1"/>
              <a:t>Decision rule:</a:t>
            </a:r>
            <a:r>
              <a:rPr/>
              <a:t> Reject H₀ if p-value &lt; α.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4 — Framing and Testing Hypotheses (Statistical Significance and P-Values).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Logic of a Statistical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test assesses the likelihood of the null hypothesis being true.</a:t>
            </a:r>
          </a:p>
          <a:p>
            <a:pPr lvl="0"/>
            <a:r>
              <a:rPr/>
              <a:t>If H₀ is likely false, Hₐ is assumed correct</a:t>
            </a:r>
          </a:p>
          <a:p>
            <a:pPr lvl="0"/>
            <a:r>
              <a:rPr/>
              <a:t>More precisely: the long-run probability of obtaining our sample value (or a more extreme one) </a:t>
            </a:r>
            <a:r>
              <a:rPr b="1"/>
              <a:t>if the null hypothesis is true</a:t>
            </a:r>
          </a:p>
          <a:p>
            <a:pPr lvl="0"/>
            <a:r>
              <a:rPr/>
              <a:t>Written p(data | H₀) — the probability of the data, </a:t>
            </a:r>
            <a:r>
              <a:rPr i="1"/>
              <a:t>given</a:t>
            </a:r>
            <a:r>
              <a:rPr/>
              <a:t> H₀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p(data | H₀) is </a:t>
            </a:r>
            <a:r>
              <a:rPr sz="2000" b="1"/>
              <a:t>not</a:t>
            </a:r>
            <a:r>
              <a:rPr sz="2000"/>
              <a:t> the same as p(H₀ | data). A t-test never tells you the probability that H₀ is true — only how surprising your data would be if it were.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4300"/>
                <a:gridCol w="1384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p-value range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Interpretation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 &gt; 0.10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evidence against H₀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0.05 &lt; p &lt; 0.10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Weak evidence against H₀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0.01 &lt; p &lt; 0.05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Moderate evidence against H₀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0.001 &lt; p &lt; 0.01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Strong evidence against H₀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 &lt; 0.001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Very strong evidence against H₀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The t-Distribution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One-Tailed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One-tailed questions ask about the area of the distribution to the left (or right) of a certain value, for a one-sample test.</a:t>
            </a:r>
          </a:p>
          <a:p>
            <a:pPr lvl="0" indent="0" marL="0">
              <a:buNone/>
            </a:pPr>
            <a:r>
              <a:rPr i="1"/>
              <a:t>Worked example for reading the table — n = 8, df = 7:</a:t>
            </a:r>
          </a:p>
          <a:p>
            <a:pPr lvl="0"/>
            <a:r>
              <a:rPr/>
              <a:t>n = 8 (df = 7) — 95% of the observations found to the left</a:t>
            </a:r>
          </a:p>
          <a:p>
            <a:pPr lvl="0"/>
            <a:r>
              <a:rPr/>
              <a:t>t = 1.895 (5% are outside)</a:t>
            </a:r>
          </a:p>
          <a:p>
            <a:pPr lvl="0" indent="0" marL="0">
              <a:buNone/>
            </a:pPr>
            <a:r>
              <a:rPr/>
              <a:t>(Our own data has 4 trees per side, so df = 3 for a paired test and df = 6 for a two-sample test. Same table, different row.)</a:t>
            </a:r>
          </a:p>
        </p:txBody>
      </p:sp>
      <p:pic>
        <p:nvPicPr>
          <p:cNvPr descr="images/clipboard-18224654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447800"/>
            <a:ext cx="4432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Bell-shaped t-distribution curve with the area to the left of the critical value shaded, illustrating a one-tailed cutoff where the shaded region represents the proportion of the distribution below that t-value (here t = 1.895 at df = 7).</a:t>
            </a:r>
          </a:p>
        </p:txBody>
      </p:sp>
      <p:pic>
        <p:nvPicPr>
          <p:cNvPr descr="images/clipboard-410316591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397000"/>
            <a:ext cx="40386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Student’s t critical-value table with the one-tail 0.05 column and df = 7 row highlighted, intersecting at the critical value 1.895, the value used for a one-tailed test at alpha = 0.05.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Two-Tailed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Two-tailed questions refer to the area </a:t>
            </a:r>
            <a:r>
              <a:rPr i="1"/>
              <a:t>between</a:t>
            </a:r>
            <a:r>
              <a:rPr/>
              <a:t> certain values.</a:t>
            </a:r>
          </a:p>
          <a:p>
            <a:pPr lvl="0"/>
            <a:r>
              <a:rPr/>
              <a:t>n = 8 (df = 7), 95% of the observations are between t = −2.365 and t = 2.365 (2.5% outside on each side)</a:t>
            </a:r>
          </a:p>
          <a:p>
            <a:pPr lvl="0"/>
            <a:r>
              <a:rPr/>
              <a:t>Compare to the one-tailed cutoff: t = 1.895 (5% outside)</a:t>
            </a:r>
          </a:p>
        </p:txBody>
      </p:sp>
      <p:pic>
        <p:nvPicPr>
          <p:cNvPr descr="images/clipboard-223474015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397000"/>
            <a:ext cx="4432300" cy="254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Bell-shaped t-distribution curve with both tails shaded beyond the critical values (here t = -2.365 and t = 2.365 at df = 7), illustrating a two-tailed cutoff where the two shaded regions together represent the proportion of the distribution outside that range.</a:t>
            </a:r>
          </a:p>
        </p:txBody>
      </p:sp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397000"/>
            <a:ext cx="40386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Student’s t critical-value table with the two-tail 0.05 column and df = 7 row highlighted, intersecting at the critical value 2.365, the value used for a two-tailed test/95% confidence interval at alpha = 0.05.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The two-tailed critical value is </a:t>
            </a:r>
            <a:r>
              <a:rPr sz="2000" i="1"/>
              <a:t>farther</a:t>
            </a:r>
            <a:r>
              <a:rPr sz="2000"/>
              <a:t> from zero than the one-tailed value — splitting 5% into two tails means each tail only gets 2.5%.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Calculating a Confidence Interval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Using a two-sided test: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CI</m:t>
                      </m:r>
                      <m:r>
                        <m:rPr>
                          <m:sty m:val="p"/>
                        </m:rPr>
                        <m:t>=</m:t>
                      </m:r>
                      <m:acc>
                        <m:accPr>
                          <m:chr m:val="‾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±</m:t>
                      </m:r>
                      <m:r>
                        <m:t>t</m:t>
                      </m:r>
                      <m:r>
                        <m:rPr>
                          <m:sty m:val="p"/>
                        </m:rPr>
                        <m:t>⋅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By hand, for an example Sample A</a:t>
                </a:r>
                <a:r>
                  <a:rPr/>
                  <a:t> (mean 17.6, s = 2.51, n = 8, so df = 7 — the row highlighted in the table):</a:t>
                </a:r>
              </a:p>
              <a:p>
                <a:pPr lvl="0"/>
                <a:r>
                  <a:rPr/>
                  <a:t>95% CI = 17.6 ± 2.365 × (2.51 / 8^0.5) = ± 2.10</a:t>
                </a:r>
              </a:p>
              <a:p>
                <a:pPr lvl="0"/>
                <a:r>
                  <a:rPr/>
                  <a:t>The 95% CI is between 15.50 and 19.70</a:t>
                </a:r>
              </a:p>
              <a:p>
                <a:pPr lvl="0" indent="0" marL="0">
                  <a:buNone/>
                </a:pPr>
                <a:r>
                  <a:rPr b="1"/>
                  <a:t>Now our own shady-side trees</a:t>
                </a:r>
                <a:r>
                  <a:rPr/>
                  <a:t> (n = 4, so df = 3, and the critical t is much larger):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n_shady   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sum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!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is.na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needle_length_mm))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mean_shady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mean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needle_length_mm)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se_shady  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needle_length_mm)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sqrt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(n_shady)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t_crit    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qt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0.975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df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n_shady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cat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"n ="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n_shady,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 t crit ="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round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(t_crit,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\n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n = 4  t crit = 3.182 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cat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"95% CI:"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round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(mean_shady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t_crit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se_shady,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2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"to"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  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round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(mean_shady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t_crit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se_shady,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2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"mm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\n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95% CI: 10.91 to 17.33 mm</a:t>
                </a:r>
              </a:p>
              <a:p>
                <a:pPr lvl="0" indent="0" marL="1270000">
                  <a:buNone/>
                </a:pPr>
                <a:r>
                  <a:rPr sz="2000" b="1"/>
                  <a:t>Warning</a:t>
                </a:r>
              </a:p>
              <a:p>
                <a:pPr lvl="0" indent="0" marL="1270000">
                  <a:buNone/>
                </a:pPr>
                <a:r>
                  <a:rPr sz="2000" b="1"/>
                  <a:t>⚠️ Four trees is a </a:t>
                </a:r>
                <a:r>
                  <a:rPr sz="2000" b="1" i="1"/>
                  <a:t>wide</a:t>
                </a:r>
                <a:r>
                  <a:rPr sz="2000" b="1"/>
                  <a:t> interval</a:t>
                </a:r>
              </a:p>
              <a:p>
                <a:pPr lvl="0" indent="0" marL="1270000">
                  <a:buNone/>
                </a:pPr>
                <a:r>
                  <a:rPr sz="2000"/>
                  <a:t>With df = 3 the critical t is </a:t>
                </a:r>
                <a:r>
                  <a:rPr sz="2000" b="1"/>
                  <a:t>3.182</a:t>
                </a:r>
                <a:r>
                  <a:rPr sz="2000"/>
                  <a:t>, not 1.96. Small n costs you twice: a bigger multiplier </a:t>
                </a:r>
                <a:r>
                  <a:rPr sz="2000" i="1"/>
                  <a:t>and</a:t>
                </a:r>
                <a:r>
                  <a:rPr sz="2000"/>
                  <a:t> a bigger SE.</a:t>
                </a:r>
              </a:p>
            </p:txBody>
          </p:sp>
        </mc:Choice>
      </mc:AlternateContent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65300"/>
            <a:ext cx="2781300" cy="1765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Student’s t critical-value table with the two-tail 0.05 column and df = 7 row highlighted, intersecting at the critical value 2.365, the value used for a two-tailed test/95% confidence interval at alpha = 0.05.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Applications of the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Can assess confidence that the population mean is within a certain range</a:t>
            </a:r>
          </a:p>
          <a:p>
            <a:pPr lvl="0"/>
            <a:r>
              <a:rPr/>
              <a:t>Can use the t-distribution to ask:</a:t>
            </a:r>
          </a:p>
          <a:p>
            <a:pPr lvl="1"/>
            <a:r>
              <a:rPr/>
              <a:t>“What is the probability of getting a sample with mean = ȳ from a population with mean = µ?” </a:t>
            </a:r>
            <a:r>
              <a:rPr i="1"/>
              <a:t>(1-sample t-test)</a:t>
            </a:r>
          </a:p>
          <a:p>
            <a:pPr lvl="1"/>
            <a:r>
              <a:rPr/>
              <a:t>“What is the probability that two samples came from the same population?” </a:t>
            </a:r>
            <a:r>
              <a:rPr i="1"/>
              <a:t>(2-sample t-test)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Before the next slide: which of these two questions do you think a one-sample t-test answers, and which needs a two-sample t-test?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One-Sample T-Test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One-Sample T-Test — Hypotheses and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want to test if the mean needle length on the shady side differs from 15mm.</a:t>
            </a:r>
          </a:p>
          <a:p>
            <a:pPr lvl="0" indent="0" marL="0">
              <a:buNone/>
            </a:pPr>
            <a:r>
              <a:rPr b="1"/>
              <a:t>Activity: define hypotheses and identify assumptions</a:t>
            </a:r>
          </a:p>
          <a:p>
            <a:pPr lvl="0"/>
            <a:r>
              <a:rPr/>
              <a:t>H₀: μ = 15 (the mean needle length on the shady side is 15mm)</a:t>
            </a:r>
          </a:p>
          <a:p>
            <a:pPr lvl="0"/>
            <a:r>
              <a:rPr/>
              <a:t>Hₐ: μ ≠ 15 (the mean needle length on the shady side is not 15mm)</a:t>
            </a:r>
          </a:p>
          <a:p>
            <a:pPr lvl="0" indent="0" marL="0">
              <a:buNone/>
            </a:pPr>
            <a:r>
              <a:rPr b="1"/>
              <a:t>Assumptions for a t-test:</a:t>
            </a:r>
          </a:p>
          <a:p>
            <a:pPr lvl="0" indent="-342900" marL="342900">
              <a:buAutoNum type="arabicPeriod"/>
            </a:pPr>
            <a:r>
              <a:rPr/>
              <a:t>Data is normally distributed</a:t>
            </a:r>
          </a:p>
          <a:p>
            <a:pPr lvl="0" indent="-342900" marL="342900">
              <a:buAutoNum type="arabicPeriod"/>
            </a:pPr>
            <a:r>
              <a:rPr/>
              <a:t>Observations are independent</a:t>
            </a:r>
          </a:p>
          <a:p>
            <a:pPr lvl="0" indent="-342900" marL="342900">
              <a:buAutoNum type="arabicPeriod"/>
            </a:pPr>
            <a:r>
              <a:rPr/>
              <a:t>No significant outliers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11, covers the one-sample t-test as the simplest hypothesis test on a normally distributed variable.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Normality — QQ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one-sample test below is on the SHADY side, so that is the group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whose normality we need to check -- not the two sides pooled together.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qqPlot</a:t>
            </a:r>
            <a:r>
              <a:rPr>
                <a:solidFill>
                  <a:srgbClr val="003B4F"/>
                </a:solidFill>
                <a:latin typeface="Courier"/>
              </a:rPr>
              <a:t>(shady_df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"QQ Plot — shady side needle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t_tests_lecture_files/figure-pptx/t-tests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270000"/>
            <a:ext cx="4064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4 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Points that hug the blue line support normality; points that curve away — especially in the tails — are a warning sign.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Checking Normality — Shapiro-Wilk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shady_df$needle_length_mm
W = 0.94326, p-value = 0.6743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H₀ for Shapiro-Wilk is “the data ARE normal.”</a:t>
            </a:r>
            <a:r>
              <a:rPr sz="2000"/>
              <a:t> A </a:t>
            </a:r>
            <a:r>
              <a:rPr sz="2000" i="1"/>
              <a:t>non-significant</a:t>
            </a:r>
            <a:r>
              <a:rPr sz="2000"/>
              <a:t> result (p &gt; 0.05) is what we’re hoping for here — it means we fail to reject normality.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With n = 4, this test proves almost nothing</a:t>
            </a:r>
          </a:p>
          <a:p>
            <a:pPr lvl="0" indent="0" marL="1270000">
              <a:buNone/>
            </a:pPr>
            <a:r>
              <a:rPr sz="2000"/>
              <a:t>Shapiro-Wilk on four numbers has essentially no power — it will pass almost anything. A high p-value here is </a:t>
            </a:r>
            <a:r>
              <a:rPr sz="2000" b="1"/>
              <a:t>not</a:t>
            </a:r>
            <a:r>
              <a:rPr sz="2000"/>
              <a:t> evidence that the data are normal; it is evidence that we don’t have enough data to tell.</a:t>
            </a:r>
          </a:p>
          <a:p>
            <a:pPr lvl="0" indent="0" marL="1270000">
              <a:buNone/>
            </a:pPr>
            <a:r>
              <a:rPr sz="2000"/>
              <a:t>Run it, report it, but lean on the QQ plot, the biology, and the design — not on a p-value from four points.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Why the shady side only?</a:t>
            </a:r>
          </a:p>
          <a:p>
            <a:pPr lvl="0" indent="0" marL="1270000">
              <a:buNone/>
            </a:pPr>
            <a:r>
              <a:rPr sz="2000"/>
              <a:t>We test the group the hypothesis is about. Pooling shady and sunny would mix two distributions with different means, which can look non-normal even when each group is perfectly normal.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for Outliers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shady_sunny_plot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shady_sunny_plot</a:t>
            </a:r>
          </a:p>
        </p:txBody>
      </p:sp>
      <p:pic>
        <p:nvPicPr>
          <p:cNvPr descr="t_tests_lecture_files/figure-pptx/t-tests-0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270000"/>
            <a:ext cx="4064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Points beyond the whiskers are potential outliers — always look before you test.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Practice Exercise 1: One-sample t-test</a:t>
            </a:r>
          </a:p>
          <a:p>
            <a:pPr lvl="0" indent="0" marL="1270000">
              <a:buNone/>
            </a:pPr>
            <a:r>
              <a:rPr sz="2000"/>
              <a:t>Let’s perform a one-sample t-test to determine if the mean needle length on the shady side differs from 15mm: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(shady_mean,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Mean: 14.1 mm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One Sample t-test
data:  shady_df$needle_length_mm
t = -0.87183, df = 3, p-value = 0.4475
alternative hypothesis: true mean is not equal to 15
95 percent confidence interval:
 10.91210 17.32978
sample estimates:
mean of x 
 14.12094 </a:t>
            </a:r>
          </a:p>
          <a:p>
            <a:pPr lvl="0" indent="0" marL="1270000">
              <a:buNone/>
            </a:pPr>
            <a:r>
              <a:rPr sz="2000"/>
              <a:t>Interpret this test result by answering these questions:</a:t>
            </a:r>
          </a:p>
          <a:p>
            <a:pPr lvl="0" indent="-342900" marL="342900">
              <a:buAutoNum type="arabicPeriod"/>
            </a:pPr>
            <a:r>
              <a:rPr sz="2000"/>
              <a:t>What was the null hypothesis?</a:t>
            </a:r>
          </a:p>
          <a:p>
            <a:pPr lvl="0" indent="-342900" marL="342900">
              <a:buAutoNum type="arabicPeriod"/>
            </a:pPr>
            <a:r>
              <a:rPr sz="2000"/>
              <a:t>What was the alternative hypothesis?</a:t>
            </a:r>
          </a:p>
          <a:p>
            <a:pPr lvl="0" indent="-342900" marL="342900">
              <a:buAutoNum type="arabicPeriod"/>
            </a:pPr>
            <a:r>
              <a:rPr sz="2000"/>
              <a:t>What does the p-value tell us?</a:t>
            </a:r>
          </a:p>
          <a:p>
            <a:pPr lvl="0" indent="-342900" marL="342900">
              <a:buAutoNum type="arabicPeriod"/>
            </a:pPr>
            <a:r>
              <a:rPr sz="2000"/>
              <a:t>Should we reject or fail to reject the null hypothesis at α = 0.05?</a:t>
            </a:r>
          </a:p>
          <a:p>
            <a:pPr lvl="0" indent="-342900" marL="342900">
              <a:buAutoNum type="arabicPeriod"/>
            </a:pPr>
            <a:r>
              <a:rPr sz="2000"/>
              <a:t>What is the practical interpretation of this result for botanists?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Visualizing the One-Sample Test — t Scale</a:t>
            </a:r>
          </a:p>
        </p:txBody>
      </p:sp>
      <p:pic>
        <p:nvPicPr>
          <p:cNvPr descr="t_tests_lecture_files/figure-pptx/t-tests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" y="660400"/>
            <a:ext cx="47498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green line (our observed t) falls inside the red rejection region — that’s what “significant” looks like on a t-distribution.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Visualizing the One-Sample Test — Original Units</a:t>
            </a:r>
          </a:p>
        </p:txBody>
      </p:sp>
      <p:pic>
        <p:nvPicPr>
          <p:cNvPr descr="t_tests_lecture_files/figure-pptx/t-tests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2600" y="660400"/>
            <a:ext cx="50292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Same test, same conclusion — just relabeled onto the millimeter scale instead of the t scale. The blue line (H₀ = 15) sits outside the sample’s plausible range.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the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Activity: interpret the t-test results</a:t>
            </a:r>
          </a:p>
          <a:p>
            <a:pPr lvl="0"/>
            <a:r>
              <a:rPr/>
              <a:t>What does the p-value tell us?</a:t>
            </a:r>
          </a:p>
          <a:p>
            <a:pPr lvl="0"/>
            <a:r>
              <a:rPr/>
              <a:t>Should we reject or fail to reject the null hypothesis?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How to report this result in a scientific paper</a:t>
            </a:r>
          </a:p>
          <a:p>
            <a:pPr lvl="0" indent="0" marL="1270000">
              <a:buNone/>
            </a:pPr>
            <a:r>
              <a:rPr sz="2000"/>
              <a:t>“A one-sample t-test at α = 0.05 showed that the mean needle length (… mm, SD = …) [was/was not] significantly different from the expected 15mm, t(…) = …, p = …”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Two-Sample T-Test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Two-Sample T-Tests —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 — what is the probability that population X is the same as population Y?</a:t>
            </a:r>
          </a:p>
          <a:p>
            <a:pPr lvl="0" indent="0" marL="0">
              <a:buNone/>
            </a:pPr>
            <a:r>
              <a:rPr/>
              <a:t>How would you assess this question using what we learned?</a:t>
            </a:r>
          </a:p>
          <a:p>
            <a:pPr lvl="0" indent="0" marL="0">
              <a:buNone/>
            </a:pPr>
            <a:r>
              <a:rPr/>
              <a:t>This is what we will do with the needle length again…</a:t>
            </a:r>
          </a:p>
        </p:txBody>
      </p:sp>
      <p:pic>
        <p:nvPicPr>
          <p:cNvPr descr="images/two_branch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two separate green pine branches side by side, each with needle clusters, representing the two independent samples (populations X and Y) being compared in a two-sample t-test.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Two Samples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the probability that population X is the same as population Y?</a:t>
            </a:r>
          </a:p>
          <a:p>
            <a:pPr lvl="0" indent="0" marL="0">
              <a:buNone/>
            </a:pPr>
            <a:r>
              <a:rPr/>
              <a:t>How would you assess this question using what we learned?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shady_sunny_plot</a:t>
            </a:r>
          </a:p>
        </p:txBody>
      </p:sp>
      <p:pic>
        <p:nvPicPr>
          <p:cNvPr descr="t_tests_lecture_files/figure-pptx/t-tests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76800" y="1295400"/>
            <a:ext cx="3784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Based on the boxplot alone, what would you guess the two-sample t-test will conclude about needle length on the two sides?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Formulating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Practice Exercise 2: Formulating hypotheses</a:t>
            </a:r>
          </a:p>
          <a:p>
            <a:pPr lvl="0" indent="0" marL="1270000">
              <a:buNone/>
            </a:pPr>
            <a:r>
              <a:rPr sz="2000"/>
              <a:t>For the following research question about needle lengths, write the null and alternative hypotheses:</a:t>
            </a:r>
          </a:p>
          <a:p>
            <a:pPr lvl="0" indent="0" marL="1270000">
              <a:buNone/>
            </a:pPr>
            <a:r>
              <a:rPr sz="2000"/>
              <a:t>Are needle lengths on shady and sunny sides different?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H0 =
Ha =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Two-Sample T-Test Framework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Now let’s compare needle lengths from the two sides.</a:t>
                </a:r>
              </a:p>
              <a:p>
                <a:pPr lvl="0" indent="0" marL="0">
                  <a:buNone/>
                </a:pPr>
                <a:r>
                  <a:rPr b="1"/>
                  <a:t>Question:</a:t>
                </a:r>
                <a:r>
                  <a:rPr/>
                  <a:t> Is there a significant difference in needle length between the sides?</a:t>
                </a:r>
              </a:p>
              <a:p>
                <a:pPr lvl="0" indent="0" marL="0">
                  <a:buNone/>
                </a:pPr>
                <a:r>
                  <a:rPr/>
                  <a:t>This requires a two-sample t-test, which compares means from two independent groups.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t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2</m:t>
                              </m:r>
                            </m:sub>
                          </m:sSub>
                        </m:num>
                        <m:den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p</m:t>
                              </m:r>
                            </m:sub>
                          </m:sSub>
                          <m:rad>
                            <m:radPr>
                              <m:degHide m:val="on"/>
                            </m:radPr>
                            <m:deg/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1</m:t>
                                  </m:r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1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1</m:t>
                                  </m:r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2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rad>
                        </m:den>
                      </m:f>
                    </m:oMath>
                  </m:oMathPara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Where:</a:t>
                </a:r>
              </a:p>
              <a:p>
                <a:pPr lvl="0"/>
                <a:r>
                  <a:rPr/>
                  <a:t>x̄₁, x̄₂: sample means of the two groups</a:t>
                </a:r>
              </a:p>
              <a:p>
                <a:pPr lvl="0"/>
                <a:r>
                  <a:rPr/>
                  <a:t>s²ₚ: </a:t>
                </a:r>
                <a:r>
                  <a:rPr b="1"/>
                  <a:t>pooled variance</a:t>
                </a:r>
                <a:r>
                  <a:rPr/>
                  <a:t> = [(n₁−1)s₁² + (n₂−1)s₂²] / (n₁+n₂−2)</a:t>
                </a:r>
              </a:p>
              <a:p>
                <a:pPr lvl="0"/>
                <a:r>
                  <a:rPr/>
                  <a:t>Sₚ = √s²ₚ: the </a:t>
                </a:r>
                <a:r>
                  <a:rPr b="1"/>
                  <a:t>pooled standard deviation</a:t>
                </a:r>
                <a:r>
                  <a:rPr/>
                  <a:t> (that’s what appears in the formula)</a:t>
                </a:r>
              </a:p>
              <a:p>
                <a:pPr lvl="0"/>
                <a:r>
                  <a:rPr/>
                  <a:t>n₁, n₂: sample sizes of the two groups</a:t>
                </a:r>
              </a:p>
              <a:p>
                <a:pPr lvl="0"/>
                <a:r>
                  <a:rPr/>
                  <a:t>Sₚ√(1/n₁ + 1/n₂): the </a:t>
                </a:r>
                <a:r>
                  <a:rPr b="1"/>
                  <a:t>standard error of the difference</a:t>
                </a:r>
                <a:r>
                  <a:rPr/>
                  <a:t> — the whole denominator, not just the square-root term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t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SIGNAL</m:t>
                          </m:r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NOISE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📖 Reference</a:t>
                </a:r>
              </a:p>
              <a:p>
                <a:pPr lvl="0" indent="0" marL="1270000">
                  <a:buNone/>
                </a:pPr>
                <a:r>
                  <a:rPr sz="2000"/>
                  <a:t>Whitlock &amp; Schluter, Ch. 12 — Comparing Two Means.</a:t>
                </a:r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Practice Exercise 3: Calculate summary statistics grouped by side</a:t>
            </a:r>
          </a:p>
          <a:p>
            <a:pPr lvl="0" indent="0" marL="1270000">
              <a:buNone/>
            </a:pPr>
            <a:r>
              <a:rPr sz="2000"/>
              <a:t>Before conducting the test, we need to understand the data for each group.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group_summary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 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group_summary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5
  side  mean_length sd_length     n se_length
  &lt;chr&gt;       &lt;dbl&gt;     &lt;dbl&gt; &lt;int&gt;     &lt;dbl&gt;
1 shady        14.1      2.02     4     1.01 
2 sunny        15.2      1.57     4     0.786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Practice Exercise 4: Effect size</a:t>
            </a:r>
          </a:p>
          <a:p>
            <a:pPr lvl="0" indent="0" marL="1270000">
              <a:buNone/>
            </a:pPr>
            <a:r>
              <a:rPr sz="2000"/>
              <a:t>We could also look at the difference in means: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group_summary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difference =</a:t>
            </a:r>
            <a:r>
              <a:rPr>
                <a:solidFill>
                  <a:srgbClr val="003B4F"/>
                </a:solidFill>
                <a:latin typeface="Courier"/>
              </a:rPr>
              <a:t> mean_length[side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mean_length[side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1 × 1
  difference
       &lt;dbl&gt;
1      -1.09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Plotting Mean ± SE Directly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Practice Exercise 5: Using ggplot to get a summary plot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ggplot</a:t>
            </a:r>
            <a:r>
              <a:rPr sz="2000"/>
              <a:t> can compute and plot the mean and standard error directly: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needle_mean_se_plot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needle_mean_se_plot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Assumptions for a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two-sample t-test, we need to check:</a:t>
            </a:r>
          </a:p>
          <a:p>
            <a:pPr lvl="0" indent="-342900" marL="342900">
              <a:buAutoNum type="arabicPeriod"/>
            </a:pPr>
            <a:r>
              <a:rPr/>
              <a:t>Normality within each group</a:t>
            </a:r>
          </a:p>
          <a:p>
            <a:pPr lvl="0" indent="-342900" marL="342900">
              <a:buAutoNum type="arabicPeriod"/>
            </a:pPr>
            <a:r>
              <a:rPr/>
              <a:t>Equal variances between groups (for the standard t-test)</a:t>
            </a:r>
          </a:p>
          <a:p>
            <a:pPr lvl="0" indent="-342900" marL="342900">
              <a:buAutoNum type="arabicPeriod"/>
            </a:pPr>
            <a:r>
              <a:rPr/>
              <a:t>Independent observations</a:t>
            </a:r>
          </a:p>
          <a:p>
            <a:pPr lvl="0" indent="0" marL="0">
              <a:buNone/>
            </a:pPr>
            <a:r>
              <a:rPr/>
              <a:t>If assumptions are violated:</a:t>
            </a:r>
          </a:p>
          <a:p>
            <a:pPr lvl="0"/>
            <a:r>
              <a:rPr/>
              <a:t>Welch’s t-test (unequal variances)</a:t>
            </a:r>
          </a:p>
          <a:p>
            <a:pPr lvl="0"/>
            <a:r>
              <a:rPr/>
              <a:t>Non-parametric alternatives (Mann-Whitney U test)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13 — Handling Violations of Assumptions, covers non-parametric alternatives when normality or equal variance fails.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6: Separate Group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Practice Exercise 6: separate group data</a:t>
            </a:r>
          </a:p>
          <a:p>
            <a:pPr lvl="0" indent="0" marL="1270000">
              <a:buNone/>
            </a:pPr>
            <a:r>
              <a:rPr sz="2000"/>
              <a:t>Note you need to test each group separately for normality — first, split the data: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(shady_df)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4 × 3
  team       side  needle_length_mm
  &lt;chr&gt;      &lt;chr&gt;            &lt;dbl&gt;
1 botany     shady             16.1
2 grace_jace shady             15.4
3 one        shady             13.2
4 waterbugs  shady             11.7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(sunny_df)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4 × 3
  team       side  needle_length_mm
  &lt;chr&gt;      &lt;chr&gt;            &lt;dbl&gt;
1 botany     sunny             17.3
2 grace_jace sunny             15.5
3 one        sunny             14.2
4 waterbugs  sunny             13.8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7: Combined Normality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Practice Exercise 7: test normality at one time</a:t>
            </a:r>
          </a:p>
          <a:p>
            <a:pPr lvl="0" indent="0" marL="1270000">
              <a:buNone/>
            </a:pPr>
            <a:r>
              <a:rPr sz="2000"/>
              <a:t>There are always a lot of ways to do this in R: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normality_results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shapiro_stat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(needle_length_mm)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shapiro_p_value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(needle_length_mm)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normal_distribution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(shapiro_p_value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"Normal"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"Non-normal"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normality_results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4
  side  shapiro_stat shapiro_p_value normal_distribution
  &lt;chr&gt;        &lt;dbl&gt;           &lt;dbl&gt; &lt;chr&gt;              
1 shady        0.943           0.674 Normal             
2 sunny        0.916           0.516 Normal             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8: Test Equal Variances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Practice Exercise 8: test equal variances</a:t>
            </a:r>
          </a:p>
          <a:p>
            <a:pPr lvl="0" indent="0" marL="1270000">
              <a:buNone/>
            </a:pPr>
            <a:r>
              <a:rPr sz="2000"/>
              <a:t>Levene’s test can be done on the original data frame.</a:t>
            </a:r>
          </a:p>
          <a:p>
            <a:pPr lvl="0" indent="0" marL="1270000">
              <a:buNone/>
            </a:pPr>
            <a:r>
              <a:rPr sz="2000" b="1"/>
              <a:t>Note:</a:t>
            </a:r>
            <a:r>
              <a:rPr sz="2000"/>
              <a:t> the Levene’s test result should be </a:t>
            </a:r>
            <a:r>
              <a:rPr sz="2000" b="1"/>
              <a:t>NOT significant</a:t>
            </a:r>
            <a:r>
              <a:rPr sz="2000"/>
              <a:t> — what is the null hypothesis here?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leveneTest needs the grouping variable as a factor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levene_result &lt;- </a:t>
            </a: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(side),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"Levene's Test for Homogeneity of Variance:"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"Levene's Test for Homogeneity of Variance:"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(levene_result)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Levene's Test for Homogeneity of Variance (center = median)
      Df F value Pr(&gt;F)
group  1  0.6355 0.4557
       6               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Conducting the Two-Sample T-Test — Standard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/>
            <a:r>
              <a:rPr/>
              <a:t>H₀: μ₁ = μ₂ (the needle lengths do not differ)</a:t>
            </a:r>
          </a:p>
          <a:p>
            <a:pPr lvl="0"/>
            <a:r>
              <a:rPr/>
              <a:t>Hₐ: μ₁ ≠ μ₂ (the mean needle lengths differ — direction not specified)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 b="1"/>
              <a:t>Standard t-test (equal variances)</a:t>
            </a:r>
          </a:p>
          <a:p>
            <a:pPr lvl="0"/>
            <a:r>
              <a:rPr/>
              <a:t>Welch’s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Use var.equal = TRUE for standard t-test,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var.equal = FALSE for Welch's t-test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needle_length_mm by side
t = -0.85529, df = 6, p-value = 0.4252
alternative hypothesis: true difference in means between group shady and group sunny is not equal to 0
95 percent confidence interval:
 -4.221663  2.034788
sample estimates:
mean in group shady mean in group sunny 
           14.12094            15.21438 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Conducting the Two-Sample T-Test — Welch’s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/>
            <a:r>
              <a:rPr/>
              <a:t>H₀: μ₁ = μ₂ (the needle lengths do not differ)</a:t>
            </a:r>
          </a:p>
          <a:p>
            <a:pPr lvl="0"/>
            <a:r>
              <a:rPr/>
              <a:t>Hₐ: μ₁ ≠ μ₂ (the mean needle lengths differ — direction not specified)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/>
              <a:t>Standard t-test (equal variances)</a:t>
            </a:r>
          </a:p>
          <a:p>
            <a:pPr lvl="0"/>
            <a:r>
              <a:rPr b="1"/>
              <a:t>Welch’s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"Welch's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"Welch's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needle_length_mm by side
t = -0.85529, df = 5.6627, p-value = 0.4271
alternative hypothesis: true difference in means between group shady and group sunny is not equal to 0
95 percent confidence interval:
 -4.267394  2.080519
sample estimates:
mean in group shady mean in group sunny 
           14.12094            15.21438 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Standard vs. 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Standard t-test (Student’s t-test)</a:t>
            </a:r>
          </a:p>
          <a:p>
            <a:pPr lvl="0"/>
            <a:r>
              <a:rPr b="1"/>
              <a:t>Assumes equal variances</a:t>
            </a:r>
            <a:r>
              <a:rPr/>
              <a:t> between groups</a:t>
            </a:r>
          </a:p>
          <a:p>
            <a:pPr lvl="0"/>
            <a:r>
              <a:rPr/>
              <a:t>Uses a </a:t>
            </a:r>
            <a:r>
              <a:rPr b="1"/>
              <a:t>pooled variance estimate</a:t>
            </a:r>
            <a:r>
              <a:rPr/>
              <a:t> combining both groups</a:t>
            </a:r>
          </a:p>
          <a:p>
            <a:pPr lvl="0"/>
            <a:r>
              <a:rPr/>
              <a:t>Has </a:t>
            </a:r>
            <a:r>
              <a:rPr b="1"/>
              <a:t>higher statistical power</a:t>
            </a:r>
            <a:r>
              <a:rPr/>
              <a:t> when the equal-variance assumption is met</a:t>
            </a:r>
          </a:p>
          <a:p>
            <a:pPr lvl="0"/>
            <a:r>
              <a:rPr/>
              <a:t>Degrees of freedom = n₁ + n₂ − 2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Welch’s t-test</a:t>
            </a:r>
          </a:p>
          <a:p>
            <a:pPr lvl="0"/>
            <a:r>
              <a:rPr b="1"/>
              <a:t>Does not assume equal variances</a:t>
            </a:r>
            <a:r>
              <a:rPr/>
              <a:t> (the “unequal variances t-test”)</a:t>
            </a:r>
          </a:p>
          <a:p>
            <a:pPr lvl="0"/>
            <a:r>
              <a:rPr/>
              <a:t>Uses </a:t>
            </a:r>
            <a:r>
              <a:rPr b="1"/>
              <a:t>separate variance estimates</a:t>
            </a:r>
            <a:r>
              <a:rPr/>
              <a:t> for each group</a:t>
            </a:r>
          </a:p>
          <a:p>
            <a:pPr lvl="0"/>
            <a:r>
              <a:rPr/>
              <a:t>More </a:t>
            </a:r>
            <a:r>
              <a:rPr b="1"/>
              <a:t>robust</a:t>
            </a:r>
            <a:r>
              <a:rPr/>
              <a:t> when group variances differ</a:t>
            </a:r>
          </a:p>
          <a:p>
            <a:pPr lvl="0"/>
            <a:r>
              <a:rPr/>
              <a:t>Uses the </a:t>
            </a:r>
            <a:r>
              <a:rPr b="1"/>
              <a:t>Welch-Satterthwaite equation</a:t>
            </a:r>
            <a:r>
              <a:rPr/>
              <a:t> — df is typically non-integer and smaller than the standard t-test’s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Interpret the results of the two-sample t-test</a:t>
            </a:r>
          </a:p>
          <a:p>
            <a:pPr lvl="0" indent="0" marL="0">
              <a:buNone/>
            </a:pPr>
            <a:r>
              <a:rPr/>
              <a:t>What can we conclude about needle lengths on the sunny vs. shady sides?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How to report this result in a scientific paper</a:t>
            </a:r>
          </a:p>
          <a:p>
            <a:pPr lvl="0" indent="0" marL="1270000">
              <a:buNone/>
            </a:pPr>
            <a:r>
              <a:rPr sz="2000"/>
              <a:t>“A two-tailed, two-sample t-test at α = 0.05 showed [a significant/no significant] difference in needle length between sunny (M = …, SD = …) and shady (M = …, SD = …) sides of pine trees, t(…) = …, p = …”</a:t>
            </a:r>
          </a:p>
        </p:txBody>
      </p:sp>
      <p:pic>
        <p:nvPicPr>
          <p:cNvPr descr="t_tests_lecture_files/figure-pptx/t-tests-2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87500"/>
            <a:ext cx="27813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Paired T-Test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Does a Paired T-Test Tell Us?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Paired t-test:</a:t>
            </a:r>
          </a:p>
          <a:p>
            <a:pPr lvl="0"/>
            <a:r>
              <a:rPr/>
              <a:t>Compares two measurements from the same subjects or matched pairs</a:t>
            </a:r>
          </a:p>
          <a:p>
            <a:pPr lvl="0"/>
            <a:r>
              <a:rPr/>
              <a:t>Tests whether the mean difference between paired observations equals zero</a:t>
            </a:r>
          </a:p>
          <a:p>
            <a:pPr lvl="0"/>
            <a:r>
              <a:rPr/>
              <a:t>Examples: before/after measurements on the same individuals, left vs. right measurements, matched case-control studies</a:t>
            </a:r>
          </a:p>
          <a:p>
            <a:pPr lvl="0"/>
            <a:r>
              <a:rPr/>
              <a:t>Uses the </a:t>
            </a:r>
            <a:r>
              <a:rPr i="1"/>
              <a:t>differences</a:t>
            </a:r>
            <a:r>
              <a:rPr/>
              <a:t> between pairs as the data</a:t>
            </a:r>
          </a:p>
          <a:p>
            <a:pPr lvl="0"/>
            <a:r>
              <a:rPr/>
              <a:t>Generally more powerful, because it controls for individual variation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Order matters for the sign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t.test(shady, sunny, paired = TRUE)</a:t>
            </a:r>
            <a:r>
              <a:rPr sz="2000"/>
              <a:t> computes </a:t>
            </a:r>
            <a:r>
              <a:rPr sz="2000" b="1"/>
              <a:t>shady − sunny</a:t>
            </a:r>
            <a:r>
              <a:rPr sz="2000"/>
              <a:t>. Reverse the arguments and </a:t>
            </a:r>
            <a:r>
              <a:rPr sz="2000">
                <a:latin typeface="Courier"/>
              </a:rPr>
              <a:t>t</a:t>
            </a:r>
            <a:r>
              <a:rPr sz="2000"/>
              <a:t> flips sign — the p-value is identical, but the story you tell about direction is backwards. Always state which way you subtracted.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12, section on the paired design.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p_wide_df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needle_length_mm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shady first, then sunny — the SAME order the two-sample test used,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so the two t-statistics are directly comparable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paired_t_test_result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(p_wide_df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shady, p_wide_df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sunny,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"Paired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"Paired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(paired_t_test_result)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Paired t-test
data:  p_wide_df$shady and p_wide_df$sunny
t = -2.7227, df = 3, p-value = 0.07238
alternative hypothesis: true mean difference is not equal to 0
95 percent confidence interval:
 -2.3714897  0.1846147
sample estimates:
mean difference 
      -1.093438 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Same Data, Two Different Answers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Look carefully at what just happened — </a:t>
            </a:r>
            <a:r>
              <a:rPr b="1"/>
              <a:t>both tests used exactly the same 8 numbers</a:t>
            </a:r>
            <a:r>
              <a:rPr/>
              <a:t>, and both measured shady − sunny: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4900"/>
                <a:gridCol w="1104900"/>
                <a:gridCol w="1104900"/>
                <a:gridCol w="1104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Two-sample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−0.855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0.425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Paired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−2.723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0.072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estimated difference (</a:t>
            </a:r>
            <a:r>
              <a:rPr b="1"/>
              <a:t>−1.09 mm</a:t>
            </a:r>
            <a:r>
              <a:rPr/>
              <a:t> — shady needles shorter). Same data. The p-value dropped by a factor of </a:t>
            </a:r>
            <a:r>
              <a:rPr b="1"/>
              <a:t>almost six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Why?</a:t>
            </a:r>
          </a:p>
          <a:p>
            <a:pPr lvl="0"/>
            <a:r>
              <a:rPr/>
              <a:t>The </a:t>
            </a:r>
            <a:r>
              <a:rPr b="1"/>
              <a:t>two-sample</a:t>
            </a:r>
            <a:r>
              <a:rPr/>
              <a:t> test throws the pairing away. Tree-to-tree variation (some teams’ trees just have longer needles than others) lands in the </a:t>
            </a:r>
            <a:r>
              <a:rPr i="1"/>
              <a:t>noise</a:t>
            </a:r>
            <a:r>
              <a:rPr/>
              <a:t>, swamping the signal.</a:t>
            </a:r>
          </a:p>
          <a:p>
            <a:pPr lvl="0"/>
            <a:r>
              <a:rPr/>
              <a:t>The </a:t>
            </a:r>
            <a:r>
              <a:rPr b="1"/>
              <a:t>paired</a:t>
            </a:r>
            <a:r>
              <a:rPr/>
              <a:t> test looks only at the shady−sunny difference </a:t>
            </a:r>
            <a:r>
              <a:rPr i="1"/>
              <a:t>within each tree</a:t>
            </a:r>
            <a:r>
              <a:rPr/>
              <a:t>, so tree-to-tree variation cancels out entirely.</a:t>
            </a:r>
          </a:p>
          <a:p>
            <a:pPr lvl="0" indent="0" marL="0">
              <a:buNone/>
            </a:pPr>
            <a:r>
              <a:rPr/>
              <a:t>Notice the paired test has </a:t>
            </a:r>
            <a:r>
              <a:rPr b="1"/>
              <a:t>half the degrees of freedom</a:t>
            </a:r>
            <a:r>
              <a:rPr/>
              <a:t> (3 vs 6) — it is working with 4 differences, not 8 values. It still does far better, because the noise it removed mattered more than the df it gave up.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This is about sensitivity, not about 0.05</a:t>
            </a:r>
          </a:p>
          <a:p>
            <a:pPr lvl="0" indent="0" marL="1270000">
              <a:buNone/>
            </a:pPr>
            <a:r>
              <a:rPr sz="2000"/>
              <a:t>Neither test crosses α = 0.05, so neither “wins” by the usual rule. That is not the point. The point is that </a:t>
            </a:r>
            <a:r>
              <a:rPr sz="2000" b="1"/>
              <a:t>the correct test extracted six times more evidence from the identical measurements</a:t>
            </a:r>
            <a:r>
              <a:rPr sz="2000"/>
              <a:t> — and with only 4 trees, that is the difference between a study that could detect this effect and one that never could.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These data are paired by design</a:t>
            </a:r>
            <a:r>
              <a:rPr sz="2000"/>
              <a:t> — each team measured both sides of the </a:t>
            </a:r>
            <a:r>
              <a:rPr sz="2000" i="1"/>
              <a:t>same</a:t>
            </a:r>
            <a:r>
              <a:rPr sz="2000"/>
              <a:t> tree. The paired test is the correct one here. The two-sample test is not just less powerful, it is answering a question our design never asked.</a:t>
            </a:r>
          </a:p>
        </p:txBody>
      </p:sp>
      <p:pic>
        <p:nvPicPr>
          <p:cNvPr descr="t_tests_lecture_files/figure-pptx/t-tests-2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76800" y="1295400"/>
            <a:ext cx="3784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Going On?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that there is a lot of variation </a:t>
            </a:r>
            <a:r>
              <a:rPr i="1"/>
              <a:t>within</a:t>
            </a:r>
            <a:r>
              <a:rPr/>
              <a:t> trees, but the trend is the same across trees.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p_plot</a:t>
            </a:r>
          </a:p>
        </p:txBody>
      </p:sp>
      <p:pic>
        <p:nvPicPr>
          <p:cNvPr descr="t_tests_lecture_files/figure-pptx/t-tests-2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76800" y="1295400"/>
            <a:ext cx="3784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Assumptions and Wrap-Up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assumptions for t-tests:</a:t>
            </a:r>
          </a:p>
          <a:p>
            <a:pPr lvl="0" indent="-342900" marL="342900">
              <a:buAutoNum type="arabicPeriod"/>
            </a:pPr>
            <a:r>
              <a:rPr/>
              <a:t>Normality — data comes from normally distributed populations</a:t>
            </a:r>
          </a:p>
          <a:p>
            <a:pPr lvl="0" indent="-342900" marL="342900">
              <a:buAutoNum type="arabicPeriod"/>
            </a:pPr>
            <a:r>
              <a:rPr/>
              <a:t>Equal variances (for two-sample tests)</a:t>
            </a:r>
          </a:p>
          <a:p>
            <a:pPr lvl="0" indent="-342900" marL="342900">
              <a:buAutoNum type="arabicPeriod"/>
            </a:pPr>
            <a:r>
              <a:rPr/>
              <a:t>Independence — observations are independent</a:t>
            </a:r>
          </a:p>
          <a:p>
            <a:pPr lvl="0" indent="-342900" marL="342900">
              <a:buAutoNum type="arabicPeriod"/>
            </a:pPr>
            <a:r>
              <a:rPr/>
              <a:t>No outliers — extreme values can influence results</a:t>
            </a:r>
          </a:p>
          <a:p>
            <a:pPr lvl="0" indent="0" marL="0">
              <a:buNone/>
            </a:pPr>
            <a:r>
              <a:rPr/>
              <a:t>What can we do if our data violates these assumptions?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Alternatives when assumptions are violated:</a:t>
            </a:r>
          </a:p>
          <a:p>
            <a:pPr lvl="0"/>
            <a:r>
              <a:rPr/>
              <a:t>Data transformation (log, square root, etc.)</a:t>
            </a:r>
          </a:p>
          <a:p>
            <a:pPr lvl="0"/>
            <a:r>
              <a:rPr/>
              <a:t>Non-parametric tests</a:t>
            </a:r>
          </a:p>
          <a:p>
            <a:pPr lvl="0"/>
            <a:r>
              <a:rPr/>
              <a:t>Robust statistical methods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lecture, we’ve:</a:t>
            </a:r>
          </a:p>
          <a:p>
            <a:pPr lvl="0" indent="-342900" marL="342900">
              <a:buAutoNum type="arabicPeriod"/>
            </a:pPr>
            <a:r>
              <a:rPr/>
              <a:t>Formulated hypotheses about pine needle length</a:t>
            </a:r>
          </a:p>
          <a:p>
            <a:pPr lvl="0" indent="-342900" marL="342900">
              <a:buAutoNum type="arabicPeriod"/>
            </a:pPr>
            <a:r>
              <a:rPr/>
              <a:t>Tested assumptions for parametric tests</a:t>
            </a:r>
          </a:p>
          <a:p>
            <a:pPr lvl="0" indent="-342900" marL="342900">
              <a:buAutoNum type="arabicPeriod"/>
            </a:pPr>
            <a:r>
              <a:rPr/>
              <a:t>Conducted one-sample, two-sample, and paired t-tests</a:t>
            </a:r>
          </a:p>
          <a:p>
            <a:pPr lvl="0" indent="-342900" marL="342900">
              <a:buAutoNum type="arabicPeriod"/>
            </a:pPr>
            <a:r>
              <a:rPr/>
              <a:t>Visualized data using appropriate methods</a:t>
            </a:r>
          </a:p>
          <a:p>
            <a:pPr lvl="0" indent="-342900" marL="342900">
              <a:buAutoNum type="arabicPeriod"/>
            </a:pPr>
            <a:r>
              <a:rPr/>
              <a:t>Learned how to interpret and report t-test results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Key takeaways</a:t>
            </a:r>
          </a:p>
          <a:p>
            <a:pPr lvl="0"/>
            <a:r>
              <a:rPr sz="2000"/>
              <a:t>Always check assumptions before conducting tests</a:t>
            </a:r>
          </a:p>
          <a:p>
            <a:pPr lvl="0"/>
            <a:r>
              <a:rPr sz="2000"/>
              <a:t>Visualize your data to understand patterns</a:t>
            </a:r>
          </a:p>
          <a:p>
            <a:pPr lvl="0"/>
            <a:r>
              <a:rPr sz="2000"/>
              <a:t>Report results comprehensively</a:t>
            </a:r>
          </a:p>
          <a:p>
            <a:pPr lvl="0"/>
            <a:r>
              <a:rPr sz="2000"/>
              <a:t>Consider alternatives when assumptions are violated — non-parametric tests, coming up soon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T-Tests: One, Two, Paired</dc:title>
  <dc:creator>Bill Perry</dc:creator>
  <cp:keywords/>
  <dc:description>The hypothesis-testing framework, the t-distribution, and one-sample, two-sample (Student’s and Welch’s), and paired t-tests — with assumption checks — on the pine needle data the class collected.</dc:description>
  <dcterms:created xsi:type="dcterms:W3CDTF">2026-09-09T18:07:23Z</dcterms:created>
  <dcterms:modified xsi:type="dcterms:W3CDTF">2026-09-09T18:07:23Z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6</vt:lpwstr>
  </property>
  <property fmtid="{D5CDD505-2E9C-101B-9397-08002B2CF9AE}" pid="14" name="resources">
    <vt:lpwstr/>
  </property>
  <property fmtid="{D5CDD505-2E9C-101B-9397-08002B2CF9AE}" pid="15" name="subtitle">
    <vt:lpwstr>Comparing means</vt:lpwstr>
  </property>
  <property fmtid="{D5CDD505-2E9C-101B-9397-08002B2CF9AE}" pid="16" name="toc-title">
    <vt:lpwstr>Table of contents</vt:lpwstr>
  </property>
  <property fmtid="{D5CDD505-2E9C-101B-9397-08002B2CF9AE}" pid="17" name="week">
    <vt:lpwstr>4</vt:lpwstr>
  </property>
</Properties>
</file>