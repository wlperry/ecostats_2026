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pine_data.csv" TargetMode="External" /><Relationship Id="rId3" Type="http://schemas.openxmlformats.org/officeDocument/2006/relationships/hyperlink" Target="themes_functions/r_themes_and_functions.R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8.png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8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T-Tests: One, Two, Paired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means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time:</a:t>
            </a:r>
          </a:p>
          <a:p>
            <a:pPr lvl="0"/>
            <a:r>
              <a:rPr/>
              <a:t>Histograms / frequency distributions</a:t>
            </a:r>
          </a:p>
          <a:p>
            <a:pPr lvl="0"/>
            <a:r>
              <a:rPr/>
              <a:t>Probability distribution functions (PDFs)</a:t>
            </a:r>
          </a:p>
          <a:p>
            <a:pPr lvl="0"/>
            <a:r>
              <a:rPr/>
              <a:t>Z-scores and t-scores</a:t>
            </a:r>
          </a:p>
          <a:p>
            <a:pPr lvl="0"/>
            <a:r>
              <a:rPr/>
              <a:t>Tests of means using t-tests: one sample, two sample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last lecture</a:t>
            </a:r>
          </a:p>
          <a:p>
            <a:pPr lvl="0" indent="0" marL="1270000">
              <a:buNone/>
            </a:pPr>
            <a:r>
              <a:rPr sz="2000"/>
              <a:t>A t-score is just a z-score computed with the </a:t>
            </a:r>
            <a:r>
              <a:rPr sz="2000" i="1"/>
              <a:t>sample</a:t>
            </a:r>
            <a:r>
              <a:rPr sz="2000"/>
              <a:t> standard deviation instead of the population standard deviation</a:t>
            </a:r>
            <a:br/>
            <a:r>
              <a:rPr sz="2000"/>
              <a:t>— that substitution is why we need the t-distribution at all. Today we put it to work.</a:t>
            </a:r>
          </a:p>
        </p:txBody>
      </p:sp>
      <p:pic>
        <p:nvPicPr>
          <p:cNvPr descr="images/clipboard-536528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34100" y="660400"/>
            <a:ext cx="27432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of a large circle labeled ‘population’ with dots representing individuals and Greek-letter parameters (mu, sigma, sigma-squared), with orange arrows showing a subset of dots being drawn down into a small circle labeled ‘sample’ with its statistics (y-bar, s, s-squared), illustrating that a sample is used to estimate unknown population parameters.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Hypothesis testing framework</a:t>
            </a:r>
          </a:p>
          <a:p>
            <a:pPr lvl="0" indent="-342900" marL="342900">
              <a:buAutoNum type="arabicPeriod"/>
            </a:pPr>
            <a:r>
              <a:rPr sz="2000"/>
              <a:t>The t-distribution and </a:t>
            </a:r>
            <a:r>
              <a:rPr sz="2000" b="1"/>
              <a:t>degrees of freedom</a:t>
            </a:r>
          </a:p>
          <a:p>
            <a:pPr lvl="0" indent="-342900" marL="342900">
              <a:buAutoNum type="arabicPeriod"/>
            </a:pPr>
            <a:r>
              <a:rPr sz="2000"/>
              <a:t>One-sample t-test — two-tailed and one-tailed</a:t>
            </a:r>
          </a:p>
          <a:p>
            <a:pPr lvl="0" indent="-342900" marL="342900">
              <a:buAutoNum type="arabicPeriod"/>
            </a:pPr>
            <a:r>
              <a:rPr sz="2000"/>
              <a:t>Two-sample t-test (Student’s and Welch’s)</a:t>
            </a:r>
          </a:p>
          <a:p>
            <a:pPr lvl="0" indent="-342900" marL="342900">
              <a:buAutoNum type="arabicPeriod"/>
            </a:pPr>
            <a:r>
              <a:rPr sz="2000"/>
              <a:t>Paired t-test</a:t>
            </a:r>
          </a:p>
          <a:p>
            <a:pPr lvl="0" indent="-342900" marL="342900">
              <a:buAutoNum type="arabicPeriod"/>
            </a:pPr>
            <a:r>
              <a:rPr sz="2000"/>
              <a:t>Checking assumptions throughout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Our Data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Setup — One </a:t>
            </a:r>
            <a:r>
              <a:rPr>
                <a:latin typeface="Courier"/>
              </a:rPr>
              <a:t>source()</a:t>
            </a:r>
            <a:r>
              <a:rPr/>
              <a:t> Line, Two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</a:t>
            </a:r>
            <a:r>
              <a:rPr>
                <a:solidFill>
                  <a:srgbClr val="5E5E5E"/>
                </a:solidFill>
                <a:latin typeface="Courier"/>
              </a:rPr>
              <a:t># qqPlot(), leveneTest()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"themes_functions/r_themes_and_functions.R"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6
   source_file            team  replicate side  needle_length_mm needle_width_mm
   &lt;chr&gt;                  &lt;chr&gt;     &lt;dbl&gt; &lt;chr&gt;            &lt;dbl&gt;           &lt;dbl&gt;
 1 Bartell_Shingledecker… grac…         1 sunny             18.4            0.79
 2 Bartell_Shingledecker… grac…         2 sunny             12.5            0.99
 3 Bartell_Shingledecker… grac…         3 sunny             17.7            1.12
 4 Bartell_Shingledecker… grac…         4 sunny             14.0            0.94
 5 Bartell_Shingledecker… grac…         5 sunny             14.2            1   
 6 Bartell_Shingledecker… grac…         6 sunny             19.2            0.99
 7 Bartell_Shingledecker… grac…         7 sunny             10.9            0.81
 8 Bartell_Shingledecker… grac…         8 sunny             17.3            1.29
 9 Bartell_Shingledecker… grac…         1 shady             16.6            0.75
10 Bartell_Shingledecker… grac…         2 shady             17.0            0.84
# ℹ 54 more rows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Download the data</a:t>
            </a:r>
            <a:r>
              <a:rPr/>
              <a:t> </a:t>
            </a:r>
            <a:r>
              <a:rPr>
                <a:hlinkClick r:id="rId3"/>
              </a:rPr>
              <a:t>📥 Download the tools script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What </a:t>
            </a:r>
            <a:r>
              <a:rPr sz="2000" b="1">
                <a:latin typeface="Courier"/>
              </a:rPr>
              <a:t>source()</a:t>
            </a:r>
            <a:r>
              <a:rPr sz="2000" b="1"/>
              <a:t> just gave you</a:t>
            </a:r>
          </a:p>
          <a:p>
            <a:pPr lvl="0"/>
            <a:r>
              <a:rPr sz="2000">
                <a:latin typeface="Courier"/>
              </a:rPr>
              <a:t>theme_regular()</a:t>
            </a:r>
            <a:r>
              <a:rPr sz="2000"/>
              <a:t> — the publication theme from the Graphing lecture</a:t>
            </a:r>
          </a:p>
          <a:p>
            <a:pPr lvl="0"/>
            <a:r>
              <a:rPr sz="2000">
                <a:latin typeface="Courier"/>
              </a:rPr>
              <a:t>summary_stats()</a:t>
            </a:r>
            <a:r>
              <a:rPr sz="2000"/>
              <a:t> — hand it a column of numbers, get back </a:t>
            </a:r>
            <a:r>
              <a:rPr sz="2000">
                <a:latin typeface="Courier"/>
              </a:rPr>
              <a:t>n</a:t>
            </a:r>
            <a:r>
              <a:rPr sz="2000"/>
              <a:t>, </a:t>
            </a:r>
            <a:r>
              <a:rPr sz="2000">
                <a:latin typeface="Courier"/>
              </a:rPr>
              <a:t>mean</a:t>
            </a:r>
            <a:r>
              <a:rPr sz="2000"/>
              <a:t>, </a:t>
            </a:r>
            <a:r>
              <a:rPr sz="2000">
                <a:latin typeface="Courier"/>
              </a:rPr>
              <a:t>sd</a:t>
            </a:r>
            <a:r>
              <a:rPr sz="2000"/>
              <a:t>, </a:t>
            </a:r>
            <a:r>
              <a:rPr sz="2000">
                <a:latin typeface="Courier"/>
              </a:rPr>
              <a:t>se</a:t>
            </a:r>
            <a:r>
              <a:rPr sz="2000"/>
              <a:t> and a 95% CI</a:t>
            </a:r>
          </a:p>
          <a:p>
            <a:pPr lvl="0" indent="0" marL="1270000">
              <a:buNone/>
            </a:pPr>
            <a:r>
              <a:rPr sz="2000"/>
              <a:t>Save the file in a </a:t>
            </a:r>
            <a:r>
              <a:rPr sz="2000" b="1">
                <a:latin typeface="Courier"/>
              </a:rPr>
              <a:t>themes_functions/</a:t>
            </a:r>
            <a:r>
              <a:rPr sz="2000"/>
              <a:t> folder in your project and this exact line works. One line at the top of a script, and both tools are available for the rest of the semester — fix the theme once, and every figure in every script updates.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Recap</a:t>
            </a:r>
          </a:p>
          <a:p>
            <a:pPr lvl="0" indent="0" marL="1270000">
              <a:buNone/>
            </a:pPr>
            <a:r>
              <a:rPr sz="2000"/>
              <a:t>This is the data </a:t>
            </a:r>
            <a:r>
              <a:rPr sz="2000" b="1"/>
              <a:t>you</a:t>
            </a:r>
            <a:r>
              <a:rPr sz="2000"/>
              <a:t> collected: </a:t>
            </a:r>
            <a:r>
              <a:rPr sz="2000">
                <a:latin typeface="Courier"/>
              </a:rPr>
              <a:t>team</a:t>
            </a:r>
            <a:r>
              <a:rPr sz="2000"/>
              <a:t> is your field team (one tree each), </a:t>
            </a:r>
            <a:r>
              <a:rPr sz="2000">
                <a:latin typeface="Courier"/>
              </a:rPr>
              <a:t>side</a:t>
            </a:r>
            <a:r>
              <a:rPr sz="2000"/>
              <a:t> is sunny vs. shady, </a:t>
            </a:r>
            <a:r>
              <a:rPr sz="2000">
                <a:latin typeface="Courier"/>
              </a:rPr>
              <a:t>replicate</a:t>
            </a:r>
            <a:r>
              <a:rPr sz="2000"/>
              <a:t> is which of the 8 needles.</a:t>
            </a:r>
          </a:p>
          <a:p>
            <a:pPr lvl="0" indent="0" marL="1270000">
              <a:buNone/>
            </a:pPr>
            <a:r>
              <a:rPr sz="2000"/>
              <a:t>64 rows — but only </a:t>
            </a:r>
            <a:r>
              <a:rPr sz="2000" b="1"/>
              <a:t>4 trees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 at All the Data — Spread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raw_box_plot &lt;- 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0.08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raw_box_plot</a:t>
            </a:r>
          </a:p>
        </p:txBody>
      </p:sp>
      <p:pic>
        <p:nvPicPr>
          <p:cNvPr descr="t_tests_lecture_files/figure-pptx/t-tests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Start where the data start</a:t>
            </a:r>
          </a:p>
          <a:p>
            <a:pPr lvl="0" indent="0" marL="1270000">
              <a:buNone/>
            </a:pPr>
            <a:r>
              <a:rPr sz="2000"/>
              <a:t>This is </a:t>
            </a:r>
            <a:r>
              <a:rPr sz="2000" b="1"/>
              <a:t>every needle we measured</a:t>
            </a:r>
            <a:r>
              <a:rPr sz="2000"/>
              <a:t> — all 64 rows, 32 per side, exactly as they came out of the field. Before we do anything clever, look at it.</a:t>
            </a:r>
          </a:p>
          <a:p>
            <a:pPr lvl="0" indent="0" marL="1270000">
              <a:buNone/>
            </a:pPr>
            <a:r>
              <a:rPr sz="2000"/>
              <a:t>Wide spread. Heavy overlap. Nothing obviously going on.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Why jitter here?</a:t>
            </a:r>
          </a:p>
          <a:p>
            <a:pPr lvl="0" indent="0" marL="1270000">
              <a:buNone/>
            </a:pPr>
            <a:r>
              <a:rPr sz="2000"/>
              <a:t>32 needles land on a single x value, so plain </a:t>
            </a:r>
            <a:r>
              <a:rPr sz="2000">
                <a:latin typeface="Courier"/>
              </a:rPr>
              <a:t>geom_point()</a:t>
            </a:r>
            <a:r>
              <a:rPr sz="2000"/>
              <a:t> would stack them into a line and hide the duplicates. </a:t>
            </a:r>
            <a:r>
              <a:rPr sz="2000">
                <a:latin typeface="Courier"/>
              </a:rPr>
              <a:t>position_jitter()</a:t>
            </a:r>
            <a:r>
              <a:rPr sz="2000"/>
              <a:t> nudges them sideways so you can see how many there are.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 at All the Data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raw_mean_se_plot &lt;- 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raw_mean_se_plot</a:t>
            </a:r>
          </a:p>
        </p:txBody>
      </p:sp>
      <p:pic>
        <p:nvPicPr>
          <p:cNvPr descr="t_tests_lecture_files/figure-pptx/t-tests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Those error bars are a lie</a:t>
            </a:r>
          </a:p>
          <a:p>
            <a:pPr lvl="0" indent="0" marL="1270000">
              <a:buNone/>
            </a:pPr>
            <a:r>
              <a:rPr sz="2000"/>
              <a:t>They look </a:t>
            </a:r>
            <a:r>
              <a:rPr sz="2000" b="1"/>
              <a:t>tight</a:t>
            </a:r>
            <a:r>
              <a:rPr sz="2000"/>
              <a:t> — and tight error bars feel like strong evidence. They are computed as SD / √n with </a:t>
            </a:r>
            <a:r>
              <a:rPr sz="2000" b="1"/>
              <a:t>n = 32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But we did not measure 32 independent things per side. We measured </a:t>
            </a:r>
            <a:r>
              <a:rPr sz="2000" b="1"/>
              <a:t>4 trees</a:t>
            </a:r>
            <a:r>
              <a:rPr sz="2000"/>
              <a:t>, eight times each. The 32 is fake, so the precision is fake.</a:t>
            </a:r>
          </a:p>
          <a:p>
            <a:pPr lvl="0" indent="0" marL="1270000">
              <a:buNone/>
            </a:pPr>
            <a:r>
              <a:rPr sz="2000"/>
              <a:t>Hold this picture in your head. We are going to fix it on the next slide and then look again.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Averaging Out Pseudoreplication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8 needles from one side of one tree are pseudoreplicates —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average them so each tree/side is ONE data point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needle_length_mm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shady_df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sunny_df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3
  team       side  needle_length_mm
  &lt;chr&gt;      &lt;chr&gt;            &lt;dbl&gt;
1 botany     shady             16.1
2 botany     sunny             17.3
3 grace_jace shady             15.4
4 grace_jace sunny             15.5
5 one        shady             13.2
6 one        sunny             14.2
7 waterbugs  shady             11.7
8 waterbugs  sunny             13.8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Why average first?</a:t>
            </a:r>
            <a:r>
              <a:rPr sz="2000"/>
              <a:t> The true experimental unit here is </a:t>
            </a:r>
            <a:r>
              <a:rPr sz="2000" i="1"/>
              <a:t>tree side</a:t>
            </a:r>
            <a:r>
              <a:rPr sz="2000"/>
              <a:t>, not </a:t>
            </a:r>
            <a:r>
              <a:rPr sz="2000" i="1"/>
              <a:t>needle</a:t>
            </a:r>
            <a:r>
              <a:rPr sz="2000"/>
              <a:t>.</a:t>
            </a:r>
            <a:br/>
            <a:r>
              <a:rPr sz="2000"/>
              <a:t>Treating every needle as independent would inflate our sample size and our confidence</a:t>
            </a:r>
            <a:br/>
            <a:r>
              <a:rPr sz="2000"/>
              <a:t>— the same pseudoreplication trap from Getting Started.</a:t>
            </a:r>
          </a:p>
          <a:p>
            <a:pPr lvl="0" indent="0" marL="1270000">
              <a:buNone/>
            </a:pPr>
            <a:r>
              <a:rPr sz="2000"/>
              <a:t>This is the </a:t>
            </a:r>
            <a:r>
              <a:rPr sz="2000" b="1"/>
              <a:t>two-stage summary</a:t>
            </a:r>
            <a:r>
              <a:rPr sz="2000"/>
              <a:t> from Describing Your Data: </a:t>
            </a:r>
            <a:r>
              <a:rPr sz="2000">
                <a:latin typeface="Courier"/>
              </a:rPr>
              <a:t>group_by()</a:t>
            </a:r>
            <a:r>
              <a:rPr sz="2000"/>
              <a:t> down to the unit you actually replicated, </a:t>
            </a:r>
            <a:r>
              <a:rPr sz="2000" i="1"/>
              <a:t>then</a:t>
            </a:r>
            <a:r>
              <a:rPr sz="2000"/>
              <a:t> analyse.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64 rows became 8</a:t>
            </a:r>
          </a:p>
          <a:p>
            <a:pPr lvl="0" indent="0" marL="1270000">
              <a:buNone/>
            </a:pPr>
            <a:r>
              <a:rPr sz="2000"/>
              <a:t>That is not data loss — it is the correct sample size. </a:t>
            </a:r>
            <a:r>
              <a:rPr sz="2000" b="1"/>
              <a:t>n = 4 trees per side.</a:t>
            </a:r>
            <a:r>
              <a:rPr sz="2000"/>
              <a:t> Every degree of freedom today comes from that 4.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Statistics — the Long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stats_df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  =</a:t>
            </a:r>
            <a:r>
              <a:rPr>
                <a:solidFill>
                  <a:srgbClr val="003B4F"/>
                </a:solidFill>
                <a:latin typeface="Courier"/>
              </a:rPr>
              <a:t> sd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 mean    sd    se
  &lt;chr&gt; &lt;int&gt; &lt;dbl&gt; &lt;dbl&gt; &lt;dbl&gt;
1 shady     4  14.1  2.02 1.01 
2 sunny     4  15.2  1.57 0.786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This is the block you typed in the Probability activity.</a:t>
            </a:r>
          </a:p>
          <a:p>
            <a:pPr lvl="0" indent="0" marL="1270000">
              <a:buNone/>
            </a:pPr>
            <a:r>
              <a:rPr sz="2000"/>
              <a:t>Four lines of </a:t>
            </a:r>
            <a:r>
              <a:rPr sz="2000">
                <a:latin typeface="Courier"/>
              </a:rPr>
              <a:t>summarize()</a:t>
            </a:r>
            <a:r>
              <a:rPr sz="2000"/>
              <a:t> that you will want again in </a:t>
            </a:r>
            <a:r>
              <a:rPr sz="2000" i="1"/>
              <a:t>every</a:t>
            </a:r>
            <a:r>
              <a:rPr sz="2000"/>
              <a:t> analysis for the rest of the course — correlation, regression, ANOVA, all of it.</a:t>
            </a:r>
          </a:p>
          <a:p>
            <a:pPr lvl="0" indent="0" marL="1270000">
              <a:buNone/>
            </a:pPr>
            <a:r>
              <a:rPr sz="2000"/>
              <a:t>Which is exactly why we turned it into a function.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Statistics — the </a:t>
            </a:r>
            <a:r>
              <a:rPr>
                <a:latin typeface="Courier"/>
              </a:rPr>
              <a:t>summary_stats()</a:t>
            </a:r>
            <a:r>
              <a:rPr/>
              <a:t>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group of numbers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6
      n  mean    sd    se ci_lower ci_upper
  &lt;int&gt; &lt;dbl&gt; &lt;dbl&gt; &lt;dbl&gt;    &lt;dbl&gt;    &lt;dbl&gt;
1     8  14.7  1.77 0.627     13.2     16.1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by group -- group_by() as usual, then reframe()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side      n  mean    sd    se ci_lower ci_upper
  &lt;chr&gt; &lt;int&gt; &lt;dbl&gt; &lt;dbl&gt; &lt;dbl&gt;    &lt;dbl&gt;    &lt;dbl&gt;
1 shady     4  14.1  2.02 1.01      10.9     17.3
2 sunny     4  15.2  1.57 0.786     12.7     17.7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different column, no retyping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(needle_width_mm))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side      n  mean    sd     se ci_lower ci_upper
  &lt;chr&gt; &lt;int&gt; &lt;dbl&gt; &lt;dbl&gt;  &lt;dbl&gt;    &lt;dbl&gt;    &lt;dbl&gt;
1 shady    32  1.00 0.208 0.0368    0.929     1.08
2 sunny    32  1.15 0.192 0.0339    1.08      1.21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summary_stats()</a:t>
            </a:r>
            <a:r>
              <a:rPr sz="2000"/>
              <a:t> is the same </a:t>
            </a:r>
            <a:r>
              <a:rPr sz="2000">
                <a:latin typeface="Courier"/>
              </a:rPr>
              <a:t>summarize()</a:t>
            </a:r>
            <a:r>
              <a:rPr sz="2000"/>
              <a:t> block, packaged once and </a:t>
            </a:r>
            <a:r>
              <a:rPr sz="2000">
                <a:latin typeface="Courier"/>
              </a:rPr>
              <a:t>source()</a:t>
            </a:r>
            <a:r>
              <a:rPr sz="2000"/>
              <a:t>d forever. It also hands back </a:t>
            </a:r>
            <a:r>
              <a:rPr sz="2000">
                <a:latin typeface="Courier"/>
              </a:rPr>
              <a:t>ci_lower</a:t>
            </a:r>
            <a:r>
              <a:rPr sz="2000"/>
              <a:t> and </a:t>
            </a:r>
            <a:r>
              <a:rPr sz="2000">
                <a:latin typeface="Courier"/>
              </a:rPr>
              <a:t>ci_upper</a:t>
            </a:r>
            <a:r>
              <a:rPr sz="2000"/>
              <a:t> — the 95% confidence interval we build by hand later this lecture.</a:t>
            </a:r>
          </a:p>
          <a:p>
            <a:pPr lvl="0" indent="0" marL="1270000">
              <a:buNone/>
            </a:pPr>
            <a:r>
              <a:rPr sz="2000"/>
              <a:t>There is </a:t>
            </a:r>
            <a:r>
              <a:rPr sz="2000" b="1"/>
              <a:t>no new notation</a:t>
            </a:r>
            <a:r>
              <a:rPr sz="2000"/>
              <a:t> inside it. It takes a column of numbers, calls it </a:t>
            </a:r>
            <a:r>
              <a:rPr sz="2000">
                <a:latin typeface="Courier"/>
              </a:rPr>
              <a:t>x</a:t>
            </a:r>
            <a:r>
              <a:rPr sz="2000"/>
              <a:t>, and computes exactly what you computed on the last slide.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Why </a:t>
            </a:r>
            <a:r>
              <a:rPr sz="2000" b="1">
                <a:latin typeface="Courier"/>
              </a:rPr>
              <a:t>reframe()</a:t>
            </a:r>
            <a:r>
              <a:rPr sz="2000" b="1"/>
              <a:t> and not </a:t>
            </a:r>
            <a:r>
              <a:rPr sz="2000" b="1">
                <a:latin typeface="Courier"/>
              </a:rPr>
              <a:t>summarize()</a:t>
            </a:r>
            <a:r>
              <a:rPr sz="2000" b="1"/>
              <a:t>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summarize()</a:t>
            </a:r>
            <a:r>
              <a:rPr sz="2000"/>
              <a:t> wants </a:t>
            </a:r>
            <a:r>
              <a:rPr sz="2000" b="1"/>
              <a:t>one value</a:t>
            </a:r>
            <a:r>
              <a:rPr sz="2000"/>
              <a:t> per group. </a:t>
            </a:r>
            <a:r>
              <a:rPr sz="2000">
                <a:latin typeface="Courier"/>
              </a:rPr>
              <a:t>summary_stats()</a:t>
            </a:r>
            <a:r>
              <a:rPr sz="2000"/>
              <a:t> hands back a whole </a:t>
            </a:r>
            <a:r>
              <a:rPr sz="2000" b="1"/>
              <a:t>row</a:t>
            </a:r>
            <a:r>
              <a:rPr sz="2000"/>
              <a:t> — six columns at once — so we use </a:t>
            </a:r>
            <a:r>
              <a:rPr sz="2000">
                <a:latin typeface="Courier"/>
              </a:rPr>
              <a:t>reframe()</a:t>
            </a:r>
            <a:r>
              <a:rPr sz="2000"/>
              <a:t>, which allows that. Same </a:t>
            </a:r>
            <a:r>
              <a:rPr sz="2000">
                <a:latin typeface="Courier"/>
              </a:rPr>
              <a:t>group_by()</a:t>
            </a:r>
            <a:r>
              <a:rPr sz="2000"/>
              <a:t> you already know in front of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Two Plots, After Averaging — Boxplot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box_plot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box_plot</a:t>
            </a:r>
          </a:p>
        </p:txBody>
      </p:sp>
      <p:pic>
        <p:nvPicPr>
          <p:cNvPr descr="t_tests_lecture_files/figure-pptx/t-tests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Key idea · The means did not move. The error bars did.</a:t>
            </a:r>
          </a:p>
          <a:p>
            <a:pPr lvl="0" indent="0" marL="1270000">
              <a:buNone/>
            </a:pPr>
            <a:r>
              <a:rPr sz="2000"/>
              <a:t>Averaging changed the </a:t>
            </a:r>
            <a:r>
              <a:rPr sz="2000" b="1"/>
              <a:t>means not at all</a:t>
            </a:r>
            <a:r>
              <a:rPr sz="2000"/>
              <a:t> and </a:t>
            </a:r>
            <a:r>
              <a:rPr sz="2000" b="1"/>
              <a:t>doubled the standard errors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That is the whole cost of pseudoreplication, in one table. The raw plot was not more precise — it was just wrong about how much we knew.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Two Plots, After Averaging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mean_se_plot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mean_se_plot</a:t>
            </a:r>
          </a:p>
        </p:txBody>
      </p:sp>
      <p:pic>
        <p:nvPicPr>
          <p:cNvPr descr="t_tests_lecture_files/figure-pptx/t-tests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 jitter needed now</a:t>
            </a:r>
          </a:p>
          <a:p>
            <a:pPr lvl="0" indent="0" marL="1270000">
              <a:buNone/>
            </a:pPr>
            <a:r>
              <a:rPr sz="2000"/>
              <a:t>Four points per side, so plain </a:t>
            </a:r>
            <a:r>
              <a:rPr sz="2000">
                <a:latin typeface="Courier"/>
              </a:rPr>
              <a:t>geom_point()</a:t>
            </a:r>
            <a:r>
              <a:rPr sz="2000"/>
              <a:t> is enough. And a boxplot of four numbers is a thin thing — which is exactly why we plot the points in front of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Pairing Is Hiding in Plain Sight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slope_plot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team))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slope_plot</a:t>
            </a:r>
          </a:p>
        </p:txBody>
      </p:sp>
      <p:pic>
        <p:nvPicPr>
          <p:cNvPr descr="t_tests_lecture_files/figure-pptx/t-tests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Look at the lines before we test anything</a:t>
            </a:r>
          </a:p>
          <a:p>
            <a:pPr lvl="0" indent="0" marL="1270000">
              <a:buNone/>
            </a:pPr>
            <a:r>
              <a:rPr sz="2000"/>
              <a:t>The boxes overlap a lot. But </a:t>
            </a:r>
            <a:r>
              <a:rPr sz="2000" b="1"/>
              <a:t>every line slopes the same way.</a:t>
            </a:r>
          </a:p>
          <a:p>
            <a:pPr lvl="0" indent="0" marL="1270000">
              <a:buNone/>
            </a:pPr>
            <a:r>
              <a:rPr sz="2000"/>
              <a:t>Hold that thought — it is the whole story of today’s last section.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Hypothesis Testing Framework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Hypothesis Testing — the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test you will ever run starts with the same five lines, </a:t>
            </a:r>
            <a:r>
              <a:rPr b="1"/>
              <a:t>in this order</a:t>
            </a:r>
            <a:r>
              <a:rPr/>
              <a:t>, written down </a:t>
            </a:r>
            <a:r>
              <a:rPr i="1"/>
              <a:t>before</a:t>
            </a:r>
            <a:r>
              <a:rPr/>
              <a:t> you look at the output:</a:t>
            </a:r>
          </a:p>
          <a:p>
            <a:pPr lvl="0" indent="-342900" marL="342900">
              <a:buAutoNum type="arabicPeriod"/>
            </a:pPr>
            <a:r>
              <a:rPr b="1"/>
              <a:t>Question</a:t>
            </a:r>
            <a:r>
              <a:rPr/>
              <a:t> — the biology, in plain English. </a:t>
            </a:r>
            <a:r>
              <a:rPr i="1"/>
              <a:t>Does the sunny side of a pine tree grow longer needles than the shady side?</a:t>
            </a:r>
          </a:p>
          <a:p>
            <a:pPr lvl="0" indent="-342900" marL="342900">
              <a:buAutoNum type="arabicPeriod"/>
            </a:pPr>
            <a:r>
              <a:rPr b="1"/>
              <a:t>Prediction</a:t>
            </a:r>
            <a:r>
              <a:rPr/>
              <a:t> — what you expect to see, and why. </a:t>
            </a:r>
            <a:r>
              <a:rPr i="1"/>
              <a:t>Sunny needles will be longer, because more light means more photosynthate available for growth.</a:t>
            </a:r>
          </a:p>
          <a:p>
            <a:pPr lvl="0" indent="-342900" marL="342900">
              <a:buAutoNum type="arabicPeriod"/>
            </a:pPr>
            <a:r>
              <a:rPr b="1"/>
              <a:t>Null hypothesis (H₀)</a:t>
            </a:r>
            <a:r>
              <a:rPr/>
              <a:t> — “no effect,” the thing the test actually evaluates. </a:t>
            </a:r>
            <a:r>
              <a:rPr i="1"/>
              <a:t>H₀: μ</a:t>
            </a:r>
            <a:r>
              <a:rPr i="1" baseline="-25000"/>
              <a:t>sunny</a:t>
            </a:r>
            <a:r>
              <a:rPr i="1"/>
              <a:t> = μ</a:t>
            </a:r>
            <a:r>
              <a:rPr i="1" baseline="-25000"/>
              <a:t>shady</a:t>
            </a:r>
          </a:p>
          <a:p>
            <a:pPr lvl="0" indent="-342900" marL="342900">
              <a:buAutoNum type="arabicPeriod"/>
            </a:pPr>
            <a:r>
              <a:rPr b="1"/>
              <a:t>Alternative hypothesis (Hₐ)</a:t>
            </a:r>
            <a:r>
              <a:rPr/>
              <a:t> — what is true if H₀ is not. </a:t>
            </a:r>
            <a:r>
              <a:rPr i="1"/>
              <a:t>Hₐ: μ</a:t>
            </a:r>
            <a:r>
              <a:rPr i="1" baseline="-25000"/>
              <a:t>sunny</a:t>
            </a:r>
            <a:r>
              <a:rPr i="1"/>
              <a:t> ≠ μ</a:t>
            </a:r>
            <a:r>
              <a:rPr i="1" baseline="-25000"/>
              <a:t>shady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 — your threshold, chosen up front. Typically </a:t>
            </a:r>
            <a:r>
              <a:rPr b="1"/>
              <a:t>α = 0.05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Decision rule:</a:t>
            </a:r>
            <a:r>
              <a:rPr/>
              <a:t> reject H₀ if p &lt; α.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prediction and the alternative are not the same thing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 b="1"/>
              <a:t>prediction</a:t>
            </a:r>
            <a:r>
              <a:rPr sz="2000"/>
              <a:t> is directional and biological — </a:t>
            </a:r>
            <a:r>
              <a:rPr sz="2000" i="1"/>
              <a:t>sunny is longer</a:t>
            </a:r>
            <a:r>
              <a:rPr sz="2000"/>
              <a:t>. The </a:t>
            </a:r>
            <a:r>
              <a:rPr sz="2000" b="1"/>
              <a:t>alternative hypothesis</a:t>
            </a:r>
            <a:r>
              <a:rPr sz="2000"/>
              <a:t> here is two-tailed — </a:t>
            </a:r>
            <a:r>
              <a:rPr sz="2000" i="1"/>
              <a:t>they differ</a:t>
            </a:r>
            <a:r>
              <a:rPr sz="2000"/>
              <a:t>, either way.</a:t>
            </a:r>
          </a:p>
          <a:p>
            <a:pPr lvl="0" indent="0" marL="1270000">
              <a:buNone/>
            </a:pPr>
            <a:r>
              <a:rPr sz="2000"/>
              <a:t>If your prediction is genuinely directional and you commit to it beforehand, you can run a one-tailed test. Deciding that </a:t>
            </a:r>
            <a:r>
              <a:rPr sz="2000" i="1"/>
              <a:t>after</a:t>
            </a:r>
            <a:r>
              <a:rPr sz="2000"/>
              <a:t> seeing the data is cheating.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4 — Framing and Testing Hypotheses.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Logic of a Statistical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test assesses the likelihood of the null hypothesis being true.</a:t>
            </a:r>
          </a:p>
          <a:p>
            <a:pPr lvl="0"/>
            <a:r>
              <a:rPr/>
              <a:t>If H₀ is likely false, Hₐ is assumed correct</a:t>
            </a:r>
          </a:p>
          <a:p>
            <a:pPr lvl="0"/>
            <a:r>
              <a:rPr/>
              <a:t>More precisely: the long-run probability of obtaining our sample value (or a more extreme one) </a:t>
            </a:r>
            <a:r>
              <a:rPr b="1"/>
              <a:t>if the null hypothesis is true</a:t>
            </a:r>
          </a:p>
          <a:p>
            <a:pPr lvl="0"/>
            <a:r>
              <a:rPr/>
              <a:t>Written p(data | H₀) — the probability of the data, </a:t>
            </a:r>
            <a:r>
              <a:rPr i="1"/>
              <a:t>given</a:t>
            </a:r>
            <a:r>
              <a:rPr/>
              <a:t> H₀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p(data | H₀) is </a:t>
            </a:r>
            <a:r>
              <a:rPr sz="2000" b="1"/>
              <a:t>not</a:t>
            </a:r>
            <a:r>
              <a:rPr sz="2000"/>
              <a:t> the same as p(H₀ | data). A t-test never tells you the probability that H₀ is true — only how surprising your data would be if it were.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00"/>
                <a:gridCol w="1384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&gt; 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evidence against H₀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0.05 – 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Weak evidence against H₀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0.01 – 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Moderate evidence against H₀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0.001 – 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Strong evidence against H₀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Very strong evidence against H₀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The t-Distribution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One-tailed questions ask about the area of the distribution to the left (or right) of a certain value.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Table-reading example — not our data</a:t>
            </a:r>
          </a:p>
          <a:p>
            <a:pPr lvl="0" indent="0" marL="1270000">
              <a:buNone/>
            </a:pPr>
            <a:r>
              <a:rPr sz="2000"/>
              <a:t>A study with </a:t>
            </a:r>
            <a:r>
              <a:rPr sz="2000" b="1"/>
              <a:t>n = 8</a:t>
            </a:r>
            <a:r>
              <a:rPr sz="2000"/>
              <a:t> has </a:t>
            </a:r>
            <a:r>
              <a:rPr sz="2000" b="1"/>
              <a:t>df = n − 1 = 7</a:t>
            </a:r>
            <a:r>
              <a:rPr sz="2000"/>
              <a:t>. That is the row highlighted in the table beside this slide, and the only reason 8 and 7 appear together here.</a:t>
            </a:r>
          </a:p>
          <a:p>
            <a:pPr lvl="0"/>
            <a:r>
              <a:rPr sz="2000"/>
              <a:t>95% of the observations fall to the left of </a:t>
            </a:r>
            <a:r>
              <a:rPr sz="2000" b="1"/>
              <a:t>t = 1.895</a:t>
            </a:r>
          </a:p>
          <a:p>
            <a:pPr lvl="0"/>
            <a:r>
              <a:rPr sz="2000"/>
              <a:t>5% fall outside, in the one tail</a:t>
            </a:r>
          </a:p>
        </p:txBody>
      </p:sp>
      <p:pic>
        <p:nvPicPr>
          <p:cNvPr descr="images/clipboard-18224654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478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Bell-shaped t-distribution curve with the area to the left of the critical value shaded, illustrating a one-tailed cutoff where the shaded region represents the proportion of the distribution below that t-value (here t = 1.895 at df = 7).</a:t>
            </a:r>
          </a:p>
        </p:txBody>
      </p:sp>
      <p:pic>
        <p:nvPicPr>
          <p:cNvPr descr="images/clipboard-41031659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397000"/>
            <a:ext cx="4038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Student’s t critical-value table with the one-tail 0.05 column and df = 7 row highlighted, intersecting at the critical value 1.895, the value used for a one-tailed test at alpha = 0.05.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Two-tailed questions refer to the area </a:t>
            </a:r>
            <a:r>
              <a:rPr i="1"/>
              <a:t>between</a:t>
            </a:r>
            <a:r>
              <a:rPr/>
              <a:t> certain values.</a:t>
            </a:r>
          </a:p>
          <a:p>
            <a:pPr lvl="0" indent="0" marL="0">
              <a:buNone/>
            </a:pPr>
            <a:r>
              <a:rPr/>
              <a:t>Same table-reading example — </a:t>
            </a:r>
            <a:r>
              <a:rPr b="1"/>
              <a:t>n = 8, so df = 7</a:t>
            </a:r>
            <a:r>
              <a:rPr/>
              <a:t>:</a:t>
            </a:r>
          </a:p>
          <a:p>
            <a:pPr lvl="0"/>
            <a:r>
              <a:rPr/>
              <a:t>95% of the observations lie between </a:t>
            </a:r>
            <a:r>
              <a:rPr b="1"/>
              <a:t>t = −2.365 and t = 2.365</a:t>
            </a:r>
            <a:r>
              <a:rPr/>
              <a:t> (2.5% outside on each side)</a:t>
            </a:r>
          </a:p>
          <a:p>
            <a:pPr lvl="0"/>
            <a:r>
              <a:rPr/>
              <a:t>Compare to the one-tailed cutoff: t = 1.895 (5% outside)</a:t>
            </a:r>
          </a:p>
        </p:txBody>
      </p:sp>
      <p:pic>
        <p:nvPicPr>
          <p:cNvPr descr="images/clipboard-223474015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397000"/>
            <a:ext cx="44323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Bell-shaped t-distribution curve with both tails shaded beyond the critical values (here t = -2.365 and t = 2.365 at df = 7), illustrating a two-tailed cutoff where the two shaded regions together represent the proportion of the distribution outside that range.</a:t>
            </a:r>
          </a:p>
        </p:txBody>
      </p:sp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397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Student’s t critical-value table with the two-tail 0.05 column and df = 7 row highlighted, intersecting at the critical value 2.365, the value used for a two-tailed test/95% confidence interval at alpha = 0.05.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The two-tailed critical value is </a:t>
            </a:r>
            <a:r>
              <a:rPr sz="2000" i="1"/>
              <a:t>farther</a:t>
            </a:r>
            <a:r>
              <a:rPr sz="2000"/>
              <a:t> from zero than the one-tailed value</a:t>
            </a:r>
            <a:br/>
            <a:r>
              <a:rPr sz="2000"/>
              <a:t>— splitting 5% into two tails means each tail only gets 2.5%.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✅ Key Idea · Degrees of Freedom, Once and For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df means:</a:t>
            </a:r>
            <a:r>
              <a:rPr/>
              <a:t> the number of values that were free to vary once you estimated a mean. Estimate one mean from n numbers and you spend one df — the last value is pinned down by the others.</a:t>
            </a:r>
          </a:p>
          <a:p>
            <a:pPr lvl="0" indent="0" marL="0">
              <a:buNone/>
            </a:pPr>
            <a:r>
              <a:rPr b="1"/>
              <a:t>So you lose one df for every mean you estimate.</a:t>
            </a:r>
          </a:p>
          <a:p>
            <a:pPr lvl="0" indent="0" marL="0">
              <a:buNone/>
            </a:pPr>
            <a:r>
              <a:rPr/>
              <a:t>Our data: </a:t>
            </a:r>
            <a:r>
              <a:rPr b="1"/>
              <a:t>4 trees, one shady side and one sunny side each.</a:t>
            </a:r>
          </a:p>
          <a:p>
            <a:pPr lvl="0"/>
            <a:r>
              <a:rPr b="1"/>
              <a:t>One-sample t-test</a:t>
            </a:r>
            <a:r>
              <a:rPr/>
              <a:t> — one group, one mean estimated </a:t>
            </a:r>
            <a:r>
              <a:rPr b="1"/>
              <a:t>df = n − 1 = 4 − 1 = 3</a:t>
            </a:r>
            <a:r>
              <a:rPr/>
              <a:t> (4 shady tree means, compared to a fixed number like 15 mm)</a:t>
            </a:r>
          </a:p>
          <a:p>
            <a:pPr lvl="0"/>
            <a:r>
              <a:rPr b="1"/>
              <a:t>Two-sample t-test</a:t>
            </a:r>
            <a:r>
              <a:rPr/>
              <a:t> — two groups, </a:t>
            </a:r>
            <a:r>
              <a:rPr b="1"/>
              <a:t>two</a:t>
            </a:r>
            <a:r>
              <a:rPr/>
              <a:t> means estimated </a:t>
            </a:r>
            <a:r>
              <a:rPr b="1"/>
              <a:t>df = n₁ + n₂ − 2 = 4 + 4 − 2 = 6</a:t>
            </a:r>
            <a:r>
              <a:rPr/>
              <a:t> (8 tree means in total, minus one for each group mean)</a:t>
            </a:r>
          </a:p>
          <a:p>
            <a:pPr lvl="0"/>
            <a:r>
              <a:rPr b="1"/>
              <a:t>Paired t-test</a:t>
            </a:r>
            <a:r>
              <a:rPr/>
              <a:t> — you first collapse each tree to </a:t>
            </a:r>
            <a:r>
              <a:rPr b="1"/>
              <a:t>one difference</a:t>
            </a:r>
            <a:r>
              <a:rPr/>
              <a:t>, then it is a one-sample test on those differences </a:t>
            </a:r>
            <a:r>
              <a:rPr b="1"/>
              <a:t>df = n</a:t>
            </a:r>
            <a:r>
              <a:rPr b="1" baseline="-25000"/>
              <a:t>pairs</a:t>
            </a:r>
            <a:r>
              <a:rPr b="1"/>
              <a:t> − 1 = 4 − 1 = 3</a:t>
            </a:r>
            <a:r>
              <a:rPr/>
              <a:t> (4 differences, not 8 values)</a:t>
            </a:r>
          </a:p>
          <a:p>
            <a:pPr lvl="0"/>
            <a:r>
              <a:rPr b="1"/>
              <a:t>Welch’s t-test</a:t>
            </a:r>
            <a:r>
              <a:rPr/>
              <a:t> — the odd one out. df comes from the Welch–Satterthwaite equation, is usually </a:t>
            </a:r>
            <a:r>
              <a:rPr b="1"/>
              <a:t>not a whole number</a:t>
            </a:r>
            <a:r>
              <a:rPr/>
              <a:t>, and is always ≤ the Student’s df. Here: </a:t>
            </a:r>
            <a:r>
              <a:rPr b="1"/>
              <a:t>df ≈ 5.66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/>
                <a:gridCol w="965200"/>
                <a:gridCol w="850900"/>
                <a:gridCol w="482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n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df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Our 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One-sample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trees in the one group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 − 1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Two-sample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trees in both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n₁ + n₂ − 2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  <a:r>
                        <a:rPr baseline="-25000"/>
                        <a:t>pairs</a:t>
                      </a:r>
                      <a:r>
                        <a:rPr/>
                        <a:t> − 1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Welch’s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both groups, penalised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Welch–Satterthwaite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≈ 5.66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a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a two-sided test: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CI</m:t>
                      </m:r>
                      <m:r>
                        <m:rPr>
                          <m:sty m:val="p"/>
                        </m:rPr>
                        <m:t>=</m:t>
                      </m:r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±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0.975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Our own shady-side trees — n = 4, so df = 3: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n_shady  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!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is.na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needle_length_mm))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mean_shady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needle_length_mm)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se_shady 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needle_length_mm)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(n_shady)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t_crit    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df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n_shady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mean_shady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t_crit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se_shady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10.91210 17.32978</a:t>
                </a:r>
              </a:p>
              <a:p>
                <a:pPr lvl="0" indent="0" marL="0">
                  <a:buNone/>
                </a:pPr>
                <a:r>
                  <a:rPr/>
                  <a:t>And the same interval, for free, from the function we sourced: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summary_stats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needle_length_mm)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1 × 6
      n  mean    sd    se ci_lower ci_upper
  &lt;int&gt; &lt;dbl&gt; &lt;dbl&gt; &lt;dbl&gt;    &lt;dbl&gt;    &lt;dbl&gt;
1     4  14.1  2.02  1.01     10.9     17.3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Four trees is a </a:t>
            </a:r>
            <a:r>
              <a:rPr sz="2000" b="1" i="1"/>
              <a:t>wide</a:t>
            </a:r>
            <a:r>
              <a:rPr sz="2000" b="1"/>
              <a:t> interval</a:t>
            </a:r>
          </a:p>
          <a:p>
            <a:pPr lvl="0" indent="0" marL="1270000">
              <a:buNone/>
            </a:pPr>
            <a:r>
              <a:rPr sz="2000"/>
              <a:t>With </a:t>
            </a:r>
            <a:r>
              <a:rPr sz="2000" b="1"/>
              <a:t>df = 3</a:t>
            </a:r>
            <a:r>
              <a:rPr sz="2000"/>
              <a:t> the critical t is </a:t>
            </a:r>
            <a:r>
              <a:rPr sz="2000" b="1"/>
              <a:t>3.182</a:t>
            </a:r>
            <a:r>
              <a:rPr sz="2000"/>
              <a:t>, not 1.96 and not the 2.365 highlighted in the table image (that is df = 7).</a:t>
            </a:r>
          </a:p>
          <a:p>
            <a:pPr lvl="0" indent="0" marL="1270000">
              <a:buNone/>
            </a:pPr>
            <a:r>
              <a:rPr sz="2000"/>
              <a:t>Small n costs you twice: a bigger multiplier </a:t>
            </a:r>
            <a:r>
              <a:rPr sz="2000" i="1"/>
              <a:t>and</a:t>
            </a:r>
            <a:r>
              <a:rPr sz="2000"/>
              <a:t> a bigger standard error.</a:t>
            </a:r>
          </a:p>
        </p:txBody>
      </p:sp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397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Student’s t critical-value table with the two-tail 0.05 column and df = 7 row highlighted, intersecting at the critical value 2.365, the value used for a two-tailed test/95% confidence interval at alpha = 0.05.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Applications of the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Can assess confidence that the population mean is within a certain range</a:t>
            </a:r>
          </a:p>
          <a:p>
            <a:pPr lvl="0"/>
            <a:r>
              <a:rPr/>
              <a:t>Can use the t-distribution to ask:</a:t>
            </a:r>
          </a:p>
          <a:p>
            <a:pPr lvl="1"/>
            <a:r>
              <a:rPr/>
              <a:t>“What is the probability of getting a sample with mean = ȳ from a population with mean = µ?” </a:t>
            </a:r>
            <a:r>
              <a:rPr i="1"/>
              <a:t>(1-sample t-test, df = n − 1)</a:t>
            </a:r>
          </a:p>
          <a:p>
            <a:pPr lvl="1"/>
            <a:r>
              <a:rPr/>
              <a:t>“What is the probability that two samples came from the same population?” </a:t>
            </a:r>
            <a:r>
              <a:rPr i="1"/>
              <a:t>(2-sample t-test, df = n₁ + n₂ − 2)</a:t>
            </a:r>
          </a:p>
          <a:p>
            <a:pPr lvl="1"/>
            <a:r>
              <a:rPr/>
              <a:t>“Is the average </a:t>
            </a:r>
            <a:r>
              <a:rPr i="1"/>
              <a:t>change within</a:t>
            </a:r>
            <a:r>
              <a:rPr/>
              <a:t> a subject different from zero?” </a:t>
            </a:r>
            <a:r>
              <a:rPr i="1"/>
              <a:t>(paired t-test, df = n</a:t>
            </a:r>
            <a:r>
              <a:rPr i="1" baseline="-25000"/>
              <a:t>pairs</a:t>
            </a:r>
            <a:r>
              <a:rPr i="1"/>
              <a:t> − 1)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Before the next slide: which of these three questions does our pine needle design actually ask?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One-Sample T-Test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One-Sample T-Test — Question, Prediction,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Question:</a:t>
            </a:r>
            <a:r>
              <a:rPr/>
              <a:t> Is the mean needle length on the shady side different from the 15 mm reported for this species?</a:t>
            </a:r>
          </a:p>
          <a:p>
            <a:pPr lvl="0" indent="0" marL="0">
              <a:buNone/>
            </a:pPr>
            <a:r>
              <a:rPr b="1"/>
              <a:t>Prediction:</a:t>
            </a:r>
            <a:r>
              <a:rPr/>
              <a:t> Shady needles are shorter than 15 mm, because they are light-limited.</a:t>
            </a:r>
          </a:p>
          <a:p>
            <a:pPr lvl="0"/>
            <a:r>
              <a:rPr b="1"/>
              <a:t>H₀:</a:t>
            </a:r>
            <a:r>
              <a:rPr/>
              <a:t> μ = 15 mm</a:t>
            </a:r>
          </a:p>
          <a:p>
            <a:pPr lvl="0"/>
            <a:r>
              <a:rPr b="1"/>
              <a:t>Hₐ:</a:t>
            </a:r>
            <a:r>
              <a:rPr/>
              <a:t> μ ≠ 15 mm (two-tailed)</a:t>
            </a:r>
          </a:p>
          <a:p>
            <a:pPr lvl="0"/>
            <a:r>
              <a:rPr b="1"/>
              <a:t>α</a:t>
            </a:r>
            <a:r>
              <a:rPr/>
              <a:t> = 0.05</a:t>
            </a:r>
          </a:p>
          <a:p>
            <a:pPr lvl="0" indent="0" marL="0">
              <a:buNone/>
            </a:pPr>
            <a:r>
              <a:rPr b="1"/>
              <a:t>Assumptions for a t-test:</a:t>
            </a:r>
          </a:p>
          <a:p>
            <a:pPr lvl="0" indent="-342900" marL="342900">
              <a:buAutoNum type="arabicPeriod"/>
            </a:pPr>
            <a:r>
              <a:rPr/>
              <a:t>Data are normally distributed</a:t>
            </a:r>
          </a:p>
          <a:p>
            <a:pPr lvl="0" indent="-342900" marL="342900">
              <a:buAutoNum type="arabicPeriod"/>
            </a:pPr>
            <a:r>
              <a:rPr/>
              <a:t>Observations are independent</a:t>
            </a:r>
          </a:p>
          <a:p>
            <a:pPr lvl="0" indent="-342900" marL="342900">
              <a:buAutoNum type="arabicPeriod"/>
            </a:pPr>
            <a:r>
              <a:rPr/>
              <a:t>No significant outliers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Degrees of freedom here</a:t>
            </a:r>
          </a:p>
          <a:p>
            <a:pPr lvl="0" indent="0" marL="1270000">
              <a:buNone/>
            </a:pPr>
            <a:r>
              <a:rPr sz="2000"/>
              <a:t>One group — the 4 shady tree means. One mean estimated.</a:t>
            </a:r>
          </a:p>
          <a:p>
            <a:pPr lvl="0" indent="0" marL="1270000">
              <a:buNone/>
            </a:pPr>
            <a:r>
              <a:rPr sz="2000" b="1"/>
              <a:t>df = n − 1 = 4 − 1 = 3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11, covers the one-sample t-test as the simplest hypothesis test on a normally distributed variable.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Normality — QQ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one-sample test is on the SHADY side, so that is the group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whose normality we check -- not the two sides pooled.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qqPlot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</p:txBody>
      </p:sp>
      <p:pic>
        <p:nvPicPr>
          <p:cNvPr descr="t_tests_lecture_files/figure-pptx/t-tests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270000"/>
            <a:ext cx="35433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4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Points that hug the line support normality; points that curve away — especially in the tails — are a warning sign.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qqPlot()</a:t>
            </a:r>
            <a:r>
              <a:rPr sz="2000"/>
              <a:t> from </a:t>
            </a:r>
            <a:r>
              <a:rPr sz="2000" b="1"/>
              <a:t>car</a:t>
            </a:r>
            <a:r>
              <a:rPr sz="2000"/>
              <a:t> adds a shaded confidence envelope automatically.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Normality — QQ Plot, Base 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base R version -- same idea, no packages, no envelope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qqnorm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qqline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</p:txBody>
      </p:sp>
      <p:pic>
        <p:nvPicPr>
          <p:cNvPr descr="t_tests_lecture_files/figure-pptx/t-tests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270000"/>
            <a:ext cx="35433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Same idea, no package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qqnorm()</a:t>
            </a:r>
            <a:r>
              <a:rPr sz="2000"/>
              <a:t> + </a:t>
            </a:r>
            <a:r>
              <a:rPr sz="2000">
                <a:latin typeface="Courier"/>
              </a:rPr>
              <a:t>qqline()</a:t>
            </a:r>
            <a:r>
              <a:rPr sz="2000"/>
              <a:t> gives you the same picture as </a:t>
            </a:r>
            <a:r>
              <a:rPr sz="2000">
                <a:latin typeface="Courier"/>
              </a:rPr>
              <a:t>qqPlot()</a:t>
            </a:r>
            <a:r>
              <a:rPr sz="2000"/>
              <a:t>, just without the shaded envelope. Either is fine.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With 4 points, this is a sanity check, not proof</a:t>
            </a:r>
          </a:p>
          <a:p>
            <a:pPr lvl="0" indent="0" marL="1270000">
              <a:buNone/>
            </a:pPr>
            <a:r>
              <a:rPr sz="2000"/>
              <a:t>Four points will look “fine” on almost any QQ plot.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Normality —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shady_df$needle_length_mm
W = 0.94326, p-value = 0.6743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H₀ for Shapiro-Wilk is “the data ARE normal.”</a:t>
            </a:r>
            <a:r>
              <a:rPr sz="2000"/>
              <a:t> A </a:t>
            </a:r>
            <a:r>
              <a:rPr sz="2000" i="1"/>
              <a:t>non-significant</a:t>
            </a:r>
            <a:r>
              <a:rPr sz="2000"/>
              <a:t> result (p &gt; 0.05) is what we’re hoping for — it means we fail to reject normality.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With n = 4, this test proves almost nothing</a:t>
            </a:r>
          </a:p>
          <a:p>
            <a:pPr lvl="0" indent="0" marL="1270000">
              <a:buNone/>
            </a:pPr>
            <a:r>
              <a:rPr sz="2000"/>
              <a:t>Shapiro-Wilk on four numbers has essentially no power — it will pass almost anything. A high p-value here is </a:t>
            </a:r>
            <a:r>
              <a:rPr sz="2000" b="1"/>
              <a:t>not</a:t>
            </a:r>
            <a:r>
              <a:rPr sz="2000"/>
              <a:t> evidence that the data are normal; it is evidence that we don’t have enough data to tell.</a:t>
            </a:r>
          </a:p>
          <a:p>
            <a:pPr lvl="0" indent="0" marL="1270000">
              <a:buNone/>
            </a:pPr>
            <a:r>
              <a:rPr sz="2000"/>
              <a:t>Run it, report it, but lean on the QQ plot, the biology, and the design.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Why the shady side only?</a:t>
            </a:r>
          </a:p>
          <a:p>
            <a:pPr lvl="0" indent="0" marL="1270000">
              <a:buNone/>
            </a:pPr>
            <a:r>
              <a:rPr sz="2000"/>
              <a:t>We test the group the hypothesis is about. Pooling shady and sunny would mix two distributions with different means, which can look non-normal even when each group is perfectly normal.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Outliers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box_plot</a:t>
            </a:r>
          </a:p>
        </p:txBody>
      </p:sp>
      <p:pic>
        <p:nvPicPr>
          <p:cNvPr descr="t_tests_lecture_files/figure-pptx/t-tests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3771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Reuse the plot you already made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box_plot</a:t>
            </a:r>
            <a:r>
              <a:rPr sz="2000"/>
              <a:t> was built once in Part 1 — no reason to retype it. Points beyond the whiskers are potential outliers; always look before you test.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the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one_sample_model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one_sample_model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shady_df$needle_length_mm
t = -0.87183, df = 3, p-value = 0.4475
alternative hypothesis: true mean is not equal to 15
95 percent confidence interval:
 10.91210 17.32978
sample estimates:
mean of x 
 14.12094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Read </a:t>
            </a:r>
            <a:r>
              <a:rPr sz="2000" b="1">
                <a:latin typeface="Courier"/>
              </a:rPr>
              <a:t>df = 3</a:t>
            </a:r>
            <a:r>
              <a:rPr sz="2000" b="1"/>
              <a:t> in that output</a:t>
            </a:r>
          </a:p>
          <a:p>
            <a:pPr lvl="0" indent="0" marL="1270000">
              <a:buNone/>
            </a:pPr>
            <a:r>
              <a:rPr sz="2000"/>
              <a:t>R is telling you exactly what the Degrees of Freedom slide said: 4 shady trees, one mean estimated, </a:t>
            </a:r>
            <a:r>
              <a:rPr sz="2000" b="1"/>
              <a:t>df = 4 − 1 = 3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Interpret it</a:t>
            </a:r>
          </a:p>
          <a:p>
            <a:pPr lvl="0" indent="-342900" marL="342900">
              <a:buAutoNum type="arabicPeriod"/>
            </a:pPr>
            <a:r>
              <a:rPr sz="2000"/>
              <a:t>What was H₀? What was Hₐ?</a:t>
            </a:r>
          </a:p>
          <a:p>
            <a:pPr lvl="0" indent="-342900" marL="342900">
              <a:buAutoNum type="arabicPeriod"/>
            </a:pPr>
            <a:r>
              <a:rPr sz="2000"/>
              <a:t>What does the p-value tell us?</a:t>
            </a:r>
          </a:p>
          <a:p>
            <a:pPr lvl="0" indent="-342900" marL="342900">
              <a:buAutoNum type="arabicPeriod"/>
            </a:pPr>
            <a:r>
              <a:rPr sz="2000"/>
              <a:t>Reject or fail to reject at α = 0.05?</a:t>
            </a:r>
          </a:p>
          <a:p>
            <a:pPr lvl="0" indent="-342900" marL="342900">
              <a:buAutoNum type="arabicPeriod"/>
            </a:pPr>
            <a:r>
              <a:rPr sz="2000"/>
              <a:t>What does that mean for a botanist?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One-Tailed Variation — the Same Test, One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prediction was </a:t>
            </a:r>
            <a:r>
              <a:rPr b="1"/>
              <a:t>directional</a:t>
            </a:r>
            <a:r>
              <a:rPr/>
              <a:t>: shady needles are </a:t>
            </a:r>
            <a:r>
              <a:rPr i="1"/>
              <a:t>shorter</a:t>
            </a:r>
            <a:r>
              <a:rPr/>
              <a:t> than 15 mm. If we commit to that </a:t>
            </a:r>
            <a:r>
              <a:rPr b="1"/>
              <a:t>before</a:t>
            </a:r>
            <a:r>
              <a:rPr/>
              <a:t> collecting data, we can run a one-tailed test.</a:t>
            </a:r>
          </a:p>
          <a:p>
            <a:pPr lvl="0"/>
            <a:r>
              <a:rPr b="1"/>
              <a:t>H₀:</a:t>
            </a:r>
            <a:r>
              <a:rPr/>
              <a:t> μ ≥ 15</a:t>
            </a:r>
          </a:p>
          <a:p>
            <a:pPr lvl="0"/>
            <a:r>
              <a:rPr b="1"/>
              <a:t>Hₐ:</a:t>
            </a:r>
            <a:r>
              <a:rPr/>
              <a:t> μ &lt; 15 — all 5% of α in the </a:t>
            </a:r>
            <a:r>
              <a:rPr i="1"/>
              <a:t>lower</a:t>
            </a:r>
            <a:r>
              <a:rPr/>
              <a:t> tail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one_tailed_model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one_tailed_model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shady_df$needle_length_mm
t = -0.87183, df = 3, p-value = 0.2237
alternative hypothesis: true mean is less than 15
95 percent confidence interval:
     -Inf 16.49382
sample estimates:
mean of x 
 14.12094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alternative = "less"</a:t>
            </a:r>
            <a:r>
              <a:rPr sz="2000"/>
              <a:t> or </a:t>
            </a:r>
            <a:r>
              <a:rPr sz="2000">
                <a:latin typeface="Courier"/>
              </a:rPr>
              <a:t>"greater"</a:t>
            </a:r>
            <a:r>
              <a:rPr sz="2000"/>
              <a:t> is the </a:t>
            </a:r>
            <a:r>
              <a:rPr sz="2000" i="1"/>
              <a:t>only</a:t>
            </a:r>
            <a:r>
              <a:rPr sz="2000"/>
              <a:t> thing that changed. Same data, same t, same </a:t>
            </a:r>
            <a:r>
              <a:rPr sz="2000" b="1"/>
              <a:t>df = 3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Compare the two p-values:</a:t>
            </a:r>
          </a:p>
          <a:p>
            <a:pPr lvl="0" indent="0" marL="1270000">
              <a:buNone/>
            </a:pPr>
            <a:r>
              <a:rPr sz="2000" b="1"/>
              <a:t>Exactly half.</a:t>
            </a:r>
            <a:r>
              <a:rPr sz="2000"/>
              <a:t> All of α now sits in one tail, so the observed t only has to beat one cutoff instead of two.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Notice the confidence interval changed too</a:t>
            </a:r>
          </a:p>
          <a:p>
            <a:pPr lvl="0" indent="0" marL="1270000">
              <a:buNone/>
            </a:pPr>
            <a:r>
              <a:rPr sz="2000"/>
              <a:t>It now runs from </a:t>
            </a:r>
            <a:r>
              <a:rPr sz="2000" b="1"/>
              <a:t>−Inf</a:t>
            </a:r>
            <a:r>
              <a:rPr sz="2000"/>
              <a:t> to an upper bound. A one-tailed test makes no claim in the direction you ruled out.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One-Tailed vs. Two-Tailed — What It Costs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Remember the critical values from Part 3. At </a:t>
            </a:r>
            <a:r>
              <a:rPr b="1"/>
              <a:t>df = 3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two-tailed, 2.5% in each tail</a:t>
            </a:r>
          </a:p>
          <a:p>
            <a:pPr lvl="0" indent="0">
              <a:buNone/>
            </a:pPr>
            <a:r>
              <a:rPr>
                <a:latin typeface="Courier"/>
              </a:rPr>
              <a:t>[1] 3.182446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one-tailed, 5% in one tail</a:t>
            </a:r>
          </a:p>
          <a:p>
            <a:pPr lvl="0" indent="0">
              <a:buNone/>
            </a:pPr>
            <a:r>
              <a:rPr>
                <a:latin typeface="Courier"/>
              </a:rPr>
              <a:t>[1] 2.353363</a:t>
            </a:r>
          </a:p>
          <a:p>
            <a:pPr lvl="0" indent="0" marL="0">
              <a:buNone/>
            </a:pPr>
            <a:r>
              <a:rPr/>
              <a:t>The one-tailed cutoff (</a:t>
            </a:r>
            <a:r>
              <a:rPr b="1"/>
              <a:t>2.353</a:t>
            </a:r>
            <a:r>
              <a:rPr/>
              <a:t>) is </a:t>
            </a:r>
            <a:r>
              <a:rPr i="1"/>
              <a:t>closer to zero</a:t>
            </a:r>
            <a:r>
              <a:rPr/>
              <a:t> than the two-tailed cutoff (</a:t>
            </a:r>
            <a:r>
              <a:rPr b="1"/>
              <a:t>3.182</a:t>
            </a:r>
            <a:r>
              <a:rPr/>
              <a:t>). That is the extra power — a smaller t will do.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The rule that makes one-tailed tests honest</a:t>
            </a:r>
          </a:p>
          <a:p>
            <a:pPr lvl="0" indent="0" marL="1270000">
              <a:buNone/>
            </a:pPr>
            <a:r>
              <a:rPr sz="2000"/>
              <a:t>You must pick the direction </a:t>
            </a:r>
            <a:r>
              <a:rPr sz="2000" b="1"/>
              <a:t>before you see the data</a:t>
            </a:r>
            <a:r>
              <a:rPr sz="2000"/>
              <a:t>, on biological grounds, and you must accept that a result in the </a:t>
            </a:r>
            <a:r>
              <a:rPr sz="2000" i="1"/>
              <a:t>other</a:t>
            </a:r>
            <a:r>
              <a:rPr sz="2000"/>
              <a:t> direction tells you nothing — no matter how big it is.</a:t>
            </a:r>
          </a:p>
          <a:p>
            <a:pPr lvl="0" indent="0" marL="1270000">
              <a:buNone/>
            </a:pPr>
            <a:r>
              <a:rPr sz="2000"/>
              <a:t>Choosing the tail after looking at your means is not a one-tailed test. It is a two-tailed test with the p-value secretly halved.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One-Tailed, the Wrong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But run the same one-tailed test the other way and watch what happens: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"greater"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shady_df$needle_length_mm
t = -0.87183, df = 3, p-value = 0.7763
alternative hypothesis: true mean is greater than 15
95 percent confidence interval:
 11.74806      Inf
sample estimates:
mean of x 
 14.12094 </a:t>
            </a:r>
          </a:p>
          <a:p>
            <a:pPr lvl="0" indent="0" marL="0">
              <a:buNone/>
            </a:pPr>
            <a:r>
              <a:rPr/>
              <a:t>Same data, same t = −0.87, and now </a:t>
            </a:r>
            <a:r>
              <a:rPr b="1"/>
              <a:t>p = 0.776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When is one-tailed defensible?</a:t>
            </a:r>
          </a:p>
          <a:p>
            <a:pPr lvl="0" indent="0" marL="1270000">
              <a:buNone/>
            </a:pPr>
            <a:r>
              <a:rPr sz="2000"/>
              <a:t>When the opposite result would lead to the </a:t>
            </a:r>
            <a:r>
              <a:rPr sz="2000" b="1"/>
              <a:t>same action</a:t>
            </a:r>
            <a:r>
              <a:rPr sz="2000"/>
              <a:t> as no result. A drug that makes patients worse and a drug that does nothing are both “do not approve.”</a:t>
            </a:r>
          </a:p>
          <a:p>
            <a:pPr lvl="0" indent="0" marL="1270000">
              <a:buNone/>
            </a:pPr>
            <a:r>
              <a:rPr sz="2000"/>
              <a:t>For our pine needles, “sunny is longer” and “shady is longer” are </a:t>
            </a:r>
            <a:r>
              <a:rPr sz="2000" i="1"/>
              <a:t>both</a:t>
            </a:r>
            <a:r>
              <a:rPr sz="2000"/>
              <a:t> interesting biology. </a:t>
            </a:r>
            <a:r>
              <a:rPr sz="2000" b="1"/>
              <a:t>Two-tailed is the honest default.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Visualizing the One-Sample Test — t Scale</a:t>
            </a:r>
          </a:p>
        </p:txBody>
      </p:sp>
      <p:pic>
        <p:nvPicPr>
          <p:cNvPr descr="t_tests_lecture_files/figure-pptx/t-tests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" y="660400"/>
            <a:ext cx="50673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This curve is drawn with </a:t>
            </a:r>
            <a:r>
              <a:rPr sz="2000" b="1"/>
              <a:t>df = 3</a:t>
            </a:r>
            <a:r>
              <a:rPr sz="2000"/>
              <a:t>, straight out of </a:t>
            </a:r>
            <a:r>
              <a:rPr sz="2000">
                <a:latin typeface="Courier"/>
              </a:rPr>
              <a:t>one_sample_model</a:t>
            </a:r>
            <a:r>
              <a:rPr sz="2000"/>
              <a:t> — not from a textbook example. The critical value is 3.182, which is why a wide, short-tailed picture like this needs a big t to reach significance.</a:t>
            </a:r>
          </a:p>
          <a:p>
            <a:pPr lvl="0" indent="0" marL="1270000">
              <a:buNone/>
            </a:pPr>
            <a:r>
              <a:rPr sz="2000"/>
              <a:t>The green line (our observed t) sits </a:t>
            </a:r>
            <a:r>
              <a:rPr sz="2000" i="1"/>
              <a:t>inside</a:t>
            </a:r>
            <a:r>
              <a:rPr sz="2000"/>
              <a:t> the dashed lines — that is what “fail to reject” looks like.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Visualizing the One-Sample Test — Original Units</a:t>
            </a:r>
          </a:p>
        </p:txBody>
      </p:sp>
      <p:pic>
        <p:nvPicPr>
          <p:cNvPr descr="t_tests_lecture_files/figure-pptx/t-tests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" y="660400"/>
            <a:ext cx="50673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Same test, same conclusion — just relabelled onto the millimetre scale instead of the t scale.</a:t>
            </a:r>
          </a:p>
          <a:p>
            <a:pPr lvl="0" indent="0" marL="1270000">
              <a:buNone/>
            </a:pPr>
            <a:r>
              <a:rPr sz="2000"/>
              <a:t>The blue line is H₀ (15 mm), the green line is our sample mean. The green line sits </a:t>
            </a:r>
            <a:r>
              <a:rPr sz="2000" b="1"/>
              <a:t>inside</a:t>
            </a:r>
            <a:r>
              <a:rPr sz="2000"/>
              <a:t> the dashed critical values, so 15 mm is a perfectly plausible population mean for these four trees.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Activity: interpret the t-test results</a:t>
            </a:r>
          </a:p>
          <a:p>
            <a:pPr lvl="0"/>
            <a:r>
              <a:rPr/>
              <a:t>What does the p-value tell us?</a:t>
            </a:r>
          </a:p>
          <a:p>
            <a:pPr lvl="0"/>
            <a:r>
              <a:rPr/>
              <a:t>Should we reject or fail to reject the null hypothesis?</a:t>
            </a:r>
          </a:p>
          <a:p>
            <a:pPr lvl="0"/>
            <a:r>
              <a:rPr/>
              <a:t>Does the 95% CI from </a:t>
            </a:r>
            <a:r>
              <a:rPr>
                <a:latin typeface="Courier"/>
              </a:rPr>
              <a:t>summary_stats()</a:t>
            </a:r>
            <a:r>
              <a:rPr/>
              <a:t> contain 15 mm — and does that agree with the p-value?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How to report this result in a scientific paper</a:t>
            </a:r>
          </a:p>
          <a:p>
            <a:pPr lvl="0" indent="0" marL="1270000">
              <a:buNone/>
            </a:pPr>
            <a:r>
              <a:rPr sz="2000"/>
              <a:t>“A </a:t>
            </a:r>
            <a:r>
              <a:rPr sz="2000" b="1"/>
              <a:t>two-tailed</a:t>
            </a:r>
            <a:r>
              <a:rPr sz="2000"/>
              <a:t>, one-sample t-test at α = 0.05 showed that the mean needle length (… mm, SD = …) [was/was not] significantly different from the expected 15 mm, </a:t>
            </a:r>
            <a:r>
              <a:rPr sz="2000" b="1"/>
              <a:t>t(3)</a:t>
            </a:r>
            <a:r>
              <a:rPr sz="2000"/>
              <a:t> = …, p = …”</a:t>
            </a:r>
          </a:p>
          <a:p>
            <a:pPr lvl="0" indent="0" marL="1270000">
              <a:buNone/>
            </a:pPr>
            <a:r>
              <a:rPr sz="2000"/>
              <a:t>Two things you must always report: the </a:t>
            </a:r>
            <a:r>
              <a:rPr sz="2000" b="1"/>
              <a:t>degrees of freedom</a:t>
            </a:r>
            <a:r>
              <a:rPr sz="2000"/>
              <a:t>, in parentheses after </a:t>
            </a:r>
            <a:r>
              <a:rPr sz="2000" b="1"/>
              <a:t>t</a:t>
            </a:r>
            <a:r>
              <a:rPr sz="2000"/>
              <a:t>, and whether the test was </a:t>
            </a:r>
            <a:r>
              <a:rPr sz="2000" b="1"/>
              <a:t>one- or two-tailed</a:t>
            </a:r>
            <a:r>
              <a:rPr sz="2000"/>
              <a:t>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Two-Sample T-Test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Two-Sample T-Tests — 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Question:</a:t>
            </a:r>
            <a:r>
              <a:rPr/>
              <a:t> Do needles differ in length between the sunny and shady sides?</a:t>
            </a:r>
          </a:p>
          <a:p>
            <a:pPr lvl="0" indent="0" marL="0">
              <a:buNone/>
            </a:pPr>
            <a:r>
              <a:rPr b="1"/>
              <a:t>Prediction:</a:t>
            </a:r>
            <a:r>
              <a:rPr/>
              <a:t> Sunny needles are longer — more light, more growth.</a:t>
            </a:r>
          </a:p>
          <a:p>
            <a:pPr lvl="0"/>
            <a:r>
              <a:rPr b="1"/>
              <a:t>H₀:</a:t>
            </a:r>
            <a:r>
              <a:rPr/>
              <a:t> μ</a:t>
            </a:r>
            <a:r>
              <a:rPr baseline="-25000"/>
              <a:t>shady</a:t>
            </a:r>
            <a:r>
              <a:rPr/>
              <a:t> = μ</a:t>
            </a:r>
            <a:r>
              <a:rPr baseline="-25000"/>
              <a:t>sunny</a:t>
            </a:r>
          </a:p>
          <a:p>
            <a:pPr lvl="0"/>
            <a:r>
              <a:rPr b="1"/>
              <a:t>Hₐ:</a:t>
            </a:r>
            <a:r>
              <a:rPr/>
              <a:t> μ</a:t>
            </a:r>
            <a:r>
              <a:rPr baseline="-25000"/>
              <a:t>shady</a:t>
            </a:r>
            <a:r>
              <a:rPr/>
              <a:t> ≠ μ</a:t>
            </a:r>
            <a:r>
              <a:rPr baseline="-25000"/>
              <a:t>sunny</a:t>
            </a:r>
            <a:r>
              <a:rPr/>
              <a:t> (direction not specified)</a:t>
            </a:r>
          </a:p>
          <a:p>
            <a:pPr lvl="0"/>
            <a:r>
              <a:rPr b="1"/>
              <a:t>α</a:t>
            </a:r>
            <a:r>
              <a:rPr/>
              <a:t> = 0.05</a:t>
            </a:r>
          </a:p>
          <a:p>
            <a:pPr lvl="0" indent="0" marL="0">
              <a:buNone/>
            </a:pPr>
            <a:r>
              <a:rPr/>
              <a:t>A two-sample t-test compares means from two </a:t>
            </a:r>
            <a:r>
              <a:rPr b="1"/>
              <a:t>independent</a:t>
            </a:r>
            <a:r>
              <a:rPr/>
              <a:t> groups.</a:t>
            </a:r>
          </a:p>
        </p:txBody>
      </p:sp>
      <p:pic>
        <p:nvPicPr>
          <p:cNvPr descr="images/two_branch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of two separate green pine branches side by side, each with needle clusters, representing the two independent samples (populations X and Y) being compared in a two-sample t-test.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Degrees of freedom here</a:t>
            </a:r>
          </a:p>
          <a:p>
            <a:pPr lvl="0" indent="0" marL="1270000">
              <a:buNone/>
            </a:pPr>
            <a:r>
              <a:rPr sz="2000"/>
              <a:t>Two groups, </a:t>
            </a:r>
            <a:r>
              <a:rPr sz="2000" b="1"/>
              <a:t>two</a:t>
            </a:r>
            <a:r>
              <a:rPr sz="2000"/>
              <a:t> means estimated from 8 tree means.</a:t>
            </a:r>
          </a:p>
          <a:p>
            <a:pPr lvl="0" indent="0" marL="1270000">
              <a:buNone/>
            </a:pPr>
            <a:r>
              <a:rPr sz="2000" b="1"/>
              <a:t>df = n₁ + n₂ − 2 = 4 + 4 − 2 = 6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Two-Sample T-Test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SIGNAL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NOISE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Where:</a:t>
                </a:r>
              </a:p>
              <a:p>
                <a:pPr lvl="0"/>
                <a:r>
                  <a:rPr/>
                  <a:t>x̄₁, x̄₂: sample means of the two groups</a:t>
                </a:r>
              </a:p>
              <a:p>
                <a:pPr lvl="0"/>
                <a:r>
                  <a:rPr/>
                  <a:t>s²ₚ: </a:t>
                </a:r>
                <a:r>
                  <a:rPr b="1"/>
                  <a:t>pooled variance</a:t>
                </a:r>
                <a:r>
                  <a:rPr/>
                  <a:t> = [(n₁−1)s₁² + (n₂−1)s₂²] / (n₁+n₂−2)</a:t>
                </a:r>
              </a:p>
              <a:p>
                <a:pPr lvl="0"/>
                <a:r>
                  <a:rPr/>
                  <a:t>Sₚ = √s²ₚ: the </a:t>
                </a:r>
                <a:r>
                  <a:rPr b="1"/>
                  <a:t>pooled standard deviation</a:t>
                </a:r>
              </a:p>
              <a:p>
                <a:pPr lvl="0"/>
                <a:r>
                  <a:rPr/>
                  <a:t>Sₚ√(1/n₁ + 1/n₂): the </a:t>
                </a:r>
                <a:r>
                  <a:rPr b="1"/>
                  <a:t>standard error of the difference</a:t>
                </a:r>
                <a:r>
                  <a:rPr/>
                  <a:t> — the whole denominator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df is sitting right inside the formula</a:t>
            </a:r>
          </a:p>
          <a:p>
            <a:pPr lvl="0" indent="0" marL="1270000">
              <a:buNone/>
            </a:pPr>
            <a:r>
              <a:rPr sz="2000"/>
              <a:t>Look at the denominator of the pooled variance: </a:t>
            </a:r>
            <a:r>
              <a:rPr sz="2000" b="1"/>
              <a:t>n₁ + n₂ − 2</a:t>
            </a:r>
            <a:r>
              <a:rPr sz="2000"/>
              <a:t>. That </a:t>
            </a:r>
            <a:r>
              <a:rPr sz="2000" i="1"/>
              <a:t>is</a:t>
            </a:r>
            <a:r>
              <a:rPr sz="2000"/>
              <a:t> the degrees of freedom. It is the divisor that turns two sums of squares into one variance estimate, and the same number then indexes the t-distribution you compare your t to.</a:t>
            </a:r>
          </a:p>
          <a:p>
            <a:pPr lvl="0" indent="0" marL="1270000">
              <a:buNone/>
            </a:pPr>
            <a:r>
              <a:rPr sz="2000"/>
              <a:t>df is not a rule to memorise — it is whatever you divided by.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12 — Comparing Two Means.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Assumptions — Normality by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shapiro_p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side  shapiro_p
  &lt;chr&gt;     &lt;dbl&gt;
1 shady     0.674
2 sunny     0.516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Each group separately</a:t>
            </a:r>
          </a:p>
          <a:p>
            <a:pPr lvl="0" indent="0" marL="1270000">
              <a:buNone/>
            </a:pPr>
            <a:r>
              <a:rPr sz="2000"/>
              <a:t>For a two-sample test the normality assumption is about the </a:t>
            </a:r>
            <a:r>
              <a:rPr sz="2000" i="1"/>
              <a:t>residuals within each group</a:t>
            </a:r>
            <a:r>
              <a:rPr sz="2000"/>
              <a:t>, so test each side on its own — never the pooled column.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Assumptions — Equal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(side),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0.6355 0.4557
       6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H₀ for Levene’s test is “the variances are equal.”</a:t>
            </a:r>
          </a:p>
          <a:p>
            <a:pPr lvl="0" indent="0" marL="1270000">
              <a:buNone/>
            </a:pPr>
            <a:r>
              <a:rPr sz="2000"/>
              <a:t>You </a:t>
            </a:r>
            <a:r>
              <a:rPr sz="2000" i="1"/>
              <a:t>want</a:t>
            </a:r>
            <a:r>
              <a:rPr sz="2000"/>
              <a:t> a non-significant result. If p &gt; 0.05, the standard (Student’s) t-test is fine. If p &lt; 0.05, use Welch’s.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leveneTest()</a:t>
            </a:r>
            <a:r>
              <a:rPr sz="2000"/>
              <a:t> needs the grouping variable as a factor.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(Student’s) — equal variances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two_sample_model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two_sample_model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needle_length_mm by side
t = -0.85529, df = 6, p-value = 0.4252
alternative hypothesis: true difference in means between group shady and group sunny is not equal to 0
95 percent confidence interval:
 -4.221663  2.034788
sample estimates:
mean in group shady mean in group sunny 
           14.12094            15.21438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Welch’s — unequal variances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welch_model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welch_model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needle_length_mm by side
t = -0.85529, df = 5.6627, p-value = 0.4271
alternative hypothesis: true difference in means between group shady and group sunny is not equal to 0
95 percent confidence interval:
 -4.267394  2.080519
sample estimates:
mean in group shady mean in group sunny 
           14.12094            15.21438 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Standard vs. 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t-test (Student’s)</a:t>
            </a:r>
          </a:p>
          <a:p>
            <a:pPr lvl="0"/>
            <a:r>
              <a:rPr b="1"/>
              <a:t>Assumes equal variances</a:t>
            </a:r>
            <a:r>
              <a:rPr/>
              <a:t> between groups</a:t>
            </a:r>
          </a:p>
          <a:p>
            <a:pPr lvl="0"/>
            <a:r>
              <a:rPr/>
              <a:t>Uses a </a:t>
            </a:r>
            <a:r>
              <a:rPr b="1"/>
              <a:t>pooled variance estimate</a:t>
            </a:r>
            <a:r>
              <a:rPr/>
              <a:t> combining both groups</a:t>
            </a:r>
          </a:p>
          <a:p>
            <a:pPr lvl="0"/>
            <a:r>
              <a:rPr b="1"/>
              <a:t>Higher power</a:t>
            </a:r>
            <a:r>
              <a:rPr/>
              <a:t> when the equal-variance assumption is met</a:t>
            </a:r>
          </a:p>
          <a:p>
            <a:pPr lvl="0"/>
            <a:r>
              <a:rPr b="1"/>
              <a:t>df = n₁ + n₂ − 2 = 6</a:t>
            </a:r>
            <a:r>
              <a:rPr/>
              <a:t> — a whole number, every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Welch’s t-test</a:t>
            </a:r>
          </a:p>
          <a:p>
            <a:pPr lvl="0"/>
            <a:r>
              <a:rPr b="1"/>
              <a:t>Does not assume equal variances</a:t>
            </a:r>
          </a:p>
          <a:p>
            <a:pPr lvl="0"/>
            <a:r>
              <a:rPr/>
              <a:t>Uses </a:t>
            </a:r>
            <a:r>
              <a:rPr b="1"/>
              <a:t>separate variance estimates</a:t>
            </a:r>
            <a:r>
              <a:rPr/>
              <a:t> for each group</a:t>
            </a:r>
          </a:p>
          <a:p>
            <a:pPr lvl="0"/>
            <a:r>
              <a:rPr/>
              <a:t>More </a:t>
            </a:r>
            <a:r>
              <a:rPr b="1"/>
              <a:t>robust</a:t>
            </a:r>
            <a:r>
              <a:rPr/>
              <a:t> when group variances differ</a:t>
            </a:r>
          </a:p>
          <a:p>
            <a:pPr lvl="0"/>
            <a:r>
              <a:rPr b="1"/>
              <a:t>df from the Welch–Satterthwaite equation</a:t>
            </a:r>
            <a:r>
              <a:rPr/>
              <a:t> — typically </a:t>
            </a:r>
            <a:r>
              <a:rPr i="1"/>
              <a:t>not</a:t>
            </a:r>
            <a:r>
              <a:rPr/>
              <a:t> a whole number, and always smaller than n₁ + n₂ − 2. Here </a:t>
            </a:r>
            <a:r>
              <a:rPr b="1"/>
              <a:t>df ≈ 5.66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The fractional df is the price of the robustness</a:t>
            </a:r>
            <a:r>
              <a:rPr sz="2000"/>
              <a:t> — Welch’s buys safety by spending degrees of freedom.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can we conclude about needle lengths on the sunny vs. shady sides?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How to report this result in a scientific paper</a:t>
            </a:r>
          </a:p>
          <a:p>
            <a:pPr lvl="0" indent="0" marL="1270000">
              <a:buNone/>
            </a:pPr>
            <a:r>
              <a:rPr sz="2000"/>
              <a:t>“A two-tailed, two-sample t-test at α = 0.05 showed [a significant/no significant] difference in needle length between sunny (M = …, SD = …) and shady (M = …, SD = …) sides of pine trees, </a:t>
            </a:r>
            <a:r>
              <a:rPr sz="2000" b="1"/>
              <a:t>t(6)</a:t>
            </a:r>
            <a:r>
              <a:rPr sz="2000"/>
              <a:t> = …, p = …”</a:t>
            </a:r>
          </a:p>
          <a:p>
            <a:pPr lvl="0" indent="0" marL="1270000">
              <a:buNone/>
            </a:pPr>
            <a:r>
              <a:rPr sz="2000"/>
              <a:t>For Welch’s you report the fractional df exactly as R gives it: </a:t>
            </a:r>
            <a:r>
              <a:rPr sz="2000" b="1"/>
              <a:t>t(5.66)</a:t>
            </a:r>
            <a:r>
              <a:rPr sz="2000"/>
              <a:t> = …</a:t>
            </a:r>
          </a:p>
        </p:txBody>
      </p:sp>
      <p:pic>
        <p:nvPicPr>
          <p:cNvPr descr="t_tests_lecture_files/figure-pptx/t-tests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63700"/>
            <a:ext cx="2781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Paired T-Test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a Paired T-Test Tell 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Paired t-test:</a:t>
            </a:r>
          </a:p>
          <a:p>
            <a:pPr lvl="0"/>
            <a:r>
              <a:rPr/>
              <a:t>Compares two measurements from the same subject or matched pair</a:t>
            </a:r>
          </a:p>
          <a:p>
            <a:pPr lvl="0"/>
            <a:r>
              <a:rPr/>
              <a:t>Tests whether the </a:t>
            </a:r>
            <a:r>
              <a:rPr b="1"/>
              <a:t>mean difference</a:t>
            </a:r>
            <a:r>
              <a:rPr/>
              <a:t> between paired observations equals zero</a:t>
            </a:r>
          </a:p>
          <a:p>
            <a:pPr lvl="0"/>
            <a:r>
              <a:rPr/>
              <a:t>Uses the </a:t>
            </a:r>
            <a:r>
              <a:rPr i="1"/>
              <a:t>differences</a:t>
            </a:r>
            <a:r>
              <a:rPr/>
              <a:t> between pairs as the data</a:t>
            </a:r>
          </a:p>
          <a:p>
            <a:pPr lvl="0"/>
            <a:r>
              <a:rPr/>
              <a:t>Generally more powerful, because it removes subject-to-subject variation from the noise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Degrees of freedom here</a:t>
            </a:r>
          </a:p>
          <a:p>
            <a:pPr lvl="0" indent="0" marL="1270000">
              <a:buNone/>
            </a:pPr>
            <a:r>
              <a:rPr sz="2000"/>
              <a:t>4 trees → </a:t>
            </a:r>
            <a:r>
              <a:rPr sz="2000" b="1"/>
              <a:t>4 differences</a:t>
            </a:r>
            <a:r>
              <a:rPr sz="2000"/>
              <a:t> → one mean difference estimated.</a:t>
            </a:r>
          </a:p>
          <a:p>
            <a:pPr lvl="0" indent="0" marL="1270000">
              <a:buNone/>
            </a:pPr>
            <a:r>
              <a:rPr sz="2000" b="1"/>
              <a:t>df = n</a:t>
            </a:r>
            <a:r>
              <a:rPr sz="2000" b="1" baseline="-25000"/>
              <a:t>pairs</a:t>
            </a:r>
            <a:r>
              <a:rPr sz="2000" b="1"/>
              <a:t> − 1 = 4 − 1 = 3</a:t>
            </a:r>
          </a:p>
          <a:p>
            <a:pPr lvl="0" indent="0" marL="1270000">
              <a:buNone/>
            </a:pPr>
            <a:r>
              <a:rPr sz="2000"/>
              <a:t>Not 6. The 8 numbers became 4 the moment you subtracted.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Order matters for the sign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t.test(shady, sunny, paired = TRUE)</a:t>
            </a:r>
            <a:r>
              <a:rPr sz="2000"/>
              <a:t> computes </a:t>
            </a:r>
            <a:r>
              <a:rPr sz="2000" b="1"/>
              <a:t>shady − sunny</a:t>
            </a:r>
            <a:r>
              <a:rPr sz="2000"/>
              <a:t>. Reverse the arguments and </a:t>
            </a:r>
            <a:r>
              <a:rPr sz="2000">
                <a:latin typeface="Courier"/>
              </a:rPr>
              <a:t>t</a:t>
            </a:r>
            <a:r>
              <a:rPr sz="2000"/>
              <a:t> flips sign — the p-value is identical, but the direction you report is backwards.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p_wide_df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side,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needle_length_mm)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shady first, then sunny -- the SAME order the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two-sample test used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paired_model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paired_model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p_wide_df$shady and p_wide_df$sunny
t = -2.7227, df = 3, p-value = 0.07238
alternative hypothesis: true mean difference is not equal to 0
95 percent confidence interval:
 -2.3714897  0.1846147
sample estimates:
mean difference 
      -1.093438 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Same Data, Two Different Answers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Both tests used exactly the same 8 numbers</a:t>
            </a:r>
            <a:r>
              <a:rPr/>
              <a:t>, and both measured shady − sunny: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Two-sample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−0.855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−2.723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estimated difference (</a:t>
            </a:r>
            <a:r>
              <a:rPr b="1"/>
              <a:t>−1.09 mm</a:t>
            </a:r>
            <a:r>
              <a:rPr/>
              <a:t>, shady needles shorter). Same data. The p-value dropped by a factor of </a:t>
            </a:r>
            <a:r>
              <a:rPr b="1"/>
              <a:t>almost six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Why?</a:t>
            </a:r>
          </a:p>
          <a:p>
            <a:pPr lvl="0"/>
            <a:r>
              <a:rPr/>
              <a:t>The </a:t>
            </a:r>
            <a:r>
              <a:rPr b="1"/>
              <a:t>two-sample</a:t>
            </a:r>
            <a:r>
              <a:rPr/>
              <a:t> test throws the pairing away. Tree-to-tree variation (some teams’ trees just have longer needles) lands in the </a:t>
            </a:r>
            <a:r>
              <a:rPr i="1"/>
              <a:t>noise</a:t>
            </a:r>
            <a:r>
              <a:rPr/>
              <a:t>, swamping the signal.</a:t>
            </a:r>
          </a:p>
          <a:p>
            <a:pPr lvl="0"/>
            <a:r>
              <a:rPr/>
              <a:t>The </a:t>
            </a:r>
            <a:r>
              <a:rPr b="1"/>
              <a:t>paired</a:t>
            </a:r>
            <a:r>
              <a:rPr/>
              <a:t> test looks only at the shady − sunny difference </a:t>
            </a:r>
            <a:r>
              <a:rPr i="1"/>
              <a:t>within each tree</a:t>
            </a:r>
            <a:r>
              <a:rPr/>
              <a:t>, so tree-to-tree variation cancels out entirely.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slope_plot</a:t>
            </a:r>
          </a:p>
        </p:txBody>
      </p:sp>
      <p:pic>
        <p:nvPicPr>
          <p:cNvPr descr="t_tests_lecture_files/figure-pptx/t-tests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295400"/>
            <a:ext cx="3746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line is one tree. All four shift the same way — that consistency is exactly what the paired test measures and the two-sample test cannot see.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Two Different Answers — Why the Design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And notice it did that on half the degrees of freedom</a:t>
            </a:r>
          </a:p>
          <a:p>
            <a:pPr lvl="0" indent="0" marL="1270000">
              <a:buNone/>
            </a:pPr>
            <a:r>
              <a:rPr sz="2000"/>
              <a:t>3 instead of 6 — because it is working with 4 differences, not 8 values. A smaller df makes significance </a:t>
            </a:r>
            <a:r>
              <a:rPr sz="2000" i="1"/>
              <a:t>harder</a:t>
            </a:r>
            <a:r>
              <a:rPr sz="2000"/>
              <a:t> to reach. It still won by a mile, because the noise it removed mattered far more than the df it gave up.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These data are paired by design</a:t>
            </a:r>
            <a:r>
              <a:rPr sz="2000"/>
              <a:t> — each team measured both sides of the </a:t>
            </a:r>
            <a:r>
              <a:rPr sz="2000" i="1"/>
              <a:t>same</a:t>
            </a:r>
            <a:r>
              <a:rPr sz="2000"/>
              <a:t> tree. The two-sample test is not just less powerful, it is answering a question our design never asked.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✅ A Paired Test </a:t>
            </a:r>
            <a:r>
              <a:rPr i="1"/>
              <a:t>Is</a:t>
            </a:r>
            <a:r>
              <a:rPr/>
              <a:t> a One-Sample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is the idea that makes the df finally click. Treat the </a:t>
            </a:r>
            <a:r>
              <a:rPr b="1"/>
              <a:t>shady side as each tree’s own control</a:t>
            </a:r>
            <a:r>
              <a:rPr/>
              <a:t>, and compute one difference per tree: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diff_df &lt;- p_wide_df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difference =</a:t>
            </a:r>
            <a:r>
              <a:rPr>
                <a:solidFill>
                  <a:srgbClr val="003B4F"/>
                </a:solidFill>
                <a:latin typeface="Courier"/>
              </a:rPr>
              <a:t> sunny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shady)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diff_df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4
  team       shady sunny difference
  &lt;chr&gt;      &lt;dbl&gt; &lt;dbl&gt;      &lt;dbl&gt;
1 botany      16.1  17.3      1.16 
2 grace_jace  15.4  15.5      0.146
3 one         13.2  14.2      0.968
4 waterbugs   11.7  13.8      2.10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Each tree is its own control</a:t>
            </a:r>
          </a:p>
          <a:p>
            <a:pPr lvl="0" indent="0" marL="1270000">
              <a:buNone/>
            </a:pPr>
            <a:r>
              <a:rPr sz="2000"/>
              <a:t>The shady side accounts for everything about that particular tree — its genetics, its soil, its water, its team’s measuring technique. Subtracting removes all of it at once, and what is left is the effect of </a:t>
            </a:r>
            <a:r>
              <a:rPr sz="2000" i="1"/>
              <a:t>sun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This is the same logic as a before/after design, and it is the seed of the blocked designs you will meet in ANOVA.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✅ A Paired Test </a:t>
            </a:r>
            <a:r>
              <a:rPr i="1"/>
              <a:t>Is</a:t>
            </a:r>
            <a:r>
              <a:rPr/>
              <a:t> a One-Sample Test — Same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throw away the pairing language entirely and run a plain </a:t>
            </a:r>
            <a:r>
              <a:rPr b="1"/>
              <a:t>one-sample t-test on those 4 differences, against μ = 0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diff_model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(diff_df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difference,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diff_model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diff_df$difference
t = 2.7227, df = 3, p-value = 0.07238
alternative hypothesis: true mean is not equal to 0
95 percent confidence interval:
 -0.1846147  2.3714897
sample estimates:
mean of x 
 1.093438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Identical. Same t, same df, same p.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t.test(sunny, shady, paired = TRUE)</a:t>
            </a:r>
            <a:r>
              <a:rPr sz="2000"/>
              <a:t> and </a:t>
            </a:r>
            <a:r>
              <a:rPr sz="2000">
                <a:latin typeface="Courier"/>
              </a:rPr>
              <a:t>t.test(sunny - shady, mu = 0)</a:t>
            </a:r>
            <a:r>
              <a:rPr sz="2000"/>
              <a:t> are </a:t>
            </a:r>
            <a:r>
              <a:rPr sz="2000" b="1"/>
              <a:t>the same test</a:t>
            </a:r>
            <a:r>
              <a:rPr sz="2000"/>
              <a:t>. </a:t>
            </a:r>
            <a:r>
              <a:rPr sz="2000">
                <a:latin typeface="Courier"/>
              </a:rPr>
              <a:t>paired = TRUE</a:t>
            </a:r>
            <a:r>
              <a:rPr sz="2000"/>
              <a:t> is nothing more than a convenience that does the subtraction for you.</a:t>
            </a:r>
          </a:p>
          <a:p>
            <a:pPr lvl="0" indent="0" marL="1270000">
              <a:buNone/>
            </a:pPr>
            <a:r>
              <a:rPr sz="2000"/>
              <a:t>That is why the paired df is </a:t>
            </a:r>
            <a:r>
              <a:rPr sz="2000" b="1"/>
              <a:t>n</a:t>
            </a:r>
            <a:r>
              <a:rPr sz="2000" b="1" baseline="-25000"/>
              <a:t>pairs</a:t>
            </a:r>
            <a:r>
              <a:rPr sz="2000" b="1"/>
              <a:t> − 1 = 3</a:t>
            </a:r>
            <a:r>
              <a:rPr sz="2000"/>
              <a:t> and not n₁ + n₂ − 2 = 6: once you subtract, you genuinely only have </a:t>
            </a:r>
            <a:r>
              <a:rPr sz="2000" b="1"/>
              <a:t>four numbers</a:t>
            </a:r>
            <a:r>
              <a:rPr sz="2000"/>
              <a:t>. A one-sample test on four numbers has 3 df. Always.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Assumptions and Wrap-Up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assumptions for t-tests: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 — the data (or, for a paired test, the </a:t>
            </a:r>
            <a:r>
              <a:rPr b="1"/>
              <a:t>differences</a:t>
            </a:r>
            <a:r>
              <a:rPr/>
              <a:t>) come from a normally distributed population</a:t>
            </a:r>
          </a:p>
          <a:p>
            <a:pPr lvl="0" indent="-342900" marL="342900">
              <a:buAutoNum type="arabicPeriod"/>
            </a:pPr>
            <a:r>
              <a:rPr b="1"/>
              <a:t>Equal variances</a:t>
            </a:r>
            <a:r>
              <a:rPr/>
              <a:t> — two-sample tests only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 —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No outliers</a:t>
            </a:r>
            <a:r>
              <a:rPr/>
              <a:t> — extreme values can dominate a small sample</a:t>
            </a:r>
          </a:p>
          <a:p>
            <a:pPr lvl="0" indent="0" marL="0">
              <a:buNone/>
            </a:pPr>
            <a:r>
              <a:rPr/>
              <a:t>What do we do if our data violate these?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Alternatives when assumptions are violated:</a:t>
            </a:r>
          </a:p>
          <a:p>
            <a:pPr lvl="0"/>
            <a:r>
              <a:rPr/>
              <a:t>Data transformation (log, square root)</a:t>
            </a:r>
          </a:p>
          <a:p>
            <a:pPr lvl="0"/>
            <a:r>
              <a:rPr/>
              <a:t>Non-parametric tests — Mann-Whitney U for two samples, Wilcoxon signed-rank for paired</a:t>
            </a:r>
          </a:p>
          <a:p>
            <a:pPr lvl="0"/>
            <a:r>
              <a:rPr/>
              <a:t>Robust methods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Note the paired case</a:t>
            </a:r>
          </a:p>
          <a:p>
            <a:pPr lvl="0" indent="0" marL="1270000">
              <a:buNone/>
            </a:pPr>
            <a:r>
              <a:rPr sz="2000"/>
              <a:t>You check normality of the </a:t>
            </a:r>
            <a:r>
              <a:rPr sz="2000" b="1"/>
              <a:t>differences</a:t>
            </a:r>
            <a:r>
              <a:rPr sz="2000"/>
              <a:t>, not of the two groups. Which follows directly from the last slide — the differences </a:t>
            </a:r>
            <a:r>
              <a:rPr sz="2000" i="1"/>
              <a:t>are</a:t>
            </a:r>
            <a:r>
              <a:rPr sz="2000"/>
              <a:t> the data.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 we:</a:t>
            </a:r>
          </a:p>
          <a:p>
            <a:pPr lvl="0" indent="-342900" marL="342900">
              <a:buAutoNum type="arabicPeriod"/>
            </a:pPr>
            <a:r>
              <a:rPr/>
              <a:t>Went from question → prediction → H₀ / Hₐ → α, before looking at output</a:t>
            </a:r>
          </a:p>
          <a:p>
            <a:pPr lvl="0" indent="-342900" marL="342900">
              <a:buAutoNum type="arabicPeriod"/>
            </a:pPr>
            <a:r>
              <a:rPr/>
              <a:t>Tested assumptions — QQ plot, Shapiro-Wilk, Levene’s</a:t>
            </a:r>
          </a:p>
          <a:p>
            <a:pPr lvl="0" indent="-342900" marL="342900">
              <a:buAutoNum type="arabicPeriod"/>
            </a:pPr>
            <a:r>
              <a:rPr/>
              <a:t>Ran one-sample (two- and one-tailed), two-sample (Student’s and Welch’s), and paired t-tests</a:t>
            </a:r>
          </a:p>
          <a:p>
            <a:pPr lvl="0" indent="-342900" marL="342900">
              <a:buAutoNum type="arabicPeriod"/>
            </a:pPr>
            <a:r>
              <a:rPr/>
              <a:t>Saw that a paired test is a one-sample test on the differences</a:t>
            </a:r>
          </a:p>
          <a:p>
            <a:pPr lvl="0" indent="-342900" marL="342900">
              <a:buAutoNum type="arabicPeriod"/>
            </a:pPr>
            <a:r>
              <a:rPr/>
              <a:t>Learned to read and report </a:t>
            </a:r>
            <a:r>
              <a:rPr b="1"/>
              <a:t>t(df) = …, p =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Degrees of freedom — the one-line version</a:t>
            </a:r>
          </a:p>
          <a:p>
            <a:pPr lvl="0"/>
            <a:r>
              <a:rPr sz="2000"/>
              <a:t>One-sample: </a:t>
            </a:r>
            <a:r>
              <a:rPr sz="2000" b="1"/>
              <a:t>n − 1</a:t>
            </a:r>
            <a:r>
              <a:rPr sz="2000"/>
              <a:t> = 3</a:t>
            </a:r>
          </a:p>
          <a:p>
            <a:pPr lvl="0"/>
            <a:r>
              <a:rPr sz="2000"/>
              <a:t>Two-sample: </a:t>
            </a:r>
            <a:r>
              <a:rPr sz="2000" b="1"/>
              <a:t>n₁ + n₂ − 2</a:t>
            </a:r>
            <a:r>
              <a:rPr sz="2000"/>
              <a:t> = 6</a:t>
            </a:r>
          </a:p>
          <a:p>
            <a:pPr lvl="0"/>
            <a:r>
              <a:rPr sz="2000"/>
              <a:t>Paired: </a:t>
            </a:r>
            <a:r>
              <a:rPr sz="2000" b="1"/>
              <a:t>n</a:t>
            </a:r>
            <a:r>
              <a:rPr sz="2000" b="1" baseline="-25000"/>
              <a:t>pairs</a:t>
            </a:r>
            <a:r>
              <a:rPr sz="2000" b="1"/>
              <a:t> − 1</a:t>
            </a:r>
            <a:r>
              <a:rPr sz="2000"/>
              <a:t> = 3</a:t>
            </a:r>
          </a:p>
          <a:p>
            <a:pPr lvl="0"/>
            <a:r>
              <a:rPr sz="2000"/>
              <a:t>Welch’s: fractional, ≤ n₁ + n₂ − 2 ≈ 5.66</a:t>
            </a:r>
          </a:p>
          <a:p>
            <a:pPr lvl="0" indent="0" marL="1270000">
              <a:buNone/>
            </a:pPr>
            <a:r>
              <a:rPr sz="2000"/>
              <a:t>n is </a:t>
            </a:r>
            <a:r>
              <a:rPr sz="2000" b="1"/>
              <a:t>trees</a:t>
            </a:r>
            <a:r>
              <a:rPr sz="2000"/>
              <a:t>, never needles. You lose one df per mean you estimate.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Key takeaways</a:t>
            </a:r>
          </a:p>
          <a:p>
            <a:pPr lvl="0"/>
            <a:r>
              <a:rPr sz="2000"/>
              <a:t>Always check assumptions before you test</a:t>
            </a:r>
          </a:p>
          <a:p>
            <a:pPr lvl="0"/>
            <a:r>
              <a:rPr sz="2000"/>
              <a:t>Plot the data before you test</a:t>
            </a:r>
          </a:p>
          <a:p>
            <a:pPr lvl="0"/>
            <a:r>
              <a:rPr sz="2000"/>
              <a:t>Match the test to the </a:t>
            </a:r>
            <a:r>
              <a:rPr sz="2000" b="1"/>
              <a:t>design</a:t>
            </a:r>
            <a:r>
              <a:rPr sz="2000"/>
              <a:t>, not to the p-value you want</a:t>
            </a:r>
          </a:p>
          <a:p>
            <a:pPr lvl="0"/>
            <a:r>
              <a:rPr sz="2000"/>
              <a:t>Non-parametric alternatives are coming up next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T-Tests: One, Two, Paired</dc:title>
  <dc:creator>Bill Perry</dc:creator>
  <cp:keywords/>
  <dc:description>The hypothesis-testing framework, the t-distribution, and one-sample, two-sample (Student’s and Welch’s), and paired t-tests — with assumption checks and degrees of freedom made explicit — on the pine needle data the class collected.</dc:description>
  <dcterms:created xsi:type="dcterms:W3CDTF">2026-10-09T19:51:40Z</dcterms:created>
  <dcterms:modified xsi:type="dcterms:W3CDTF">2026-10-09T19:51:40Z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Comparing means</vt:lpwstr>
  </property>
  <property fmtid="{D5CDD505-2E9C-101B-9397-08002B2CF9AE}" pid="16" name="toc-title">
    <vt:lpwstr>Table of contents</vt:lpwstr>
  </property>
  <property fmtid="{D5CDD505-2E9C-101B-9397-08002B2CF9AE}" pid="17" name="week">
    <vt:lpwstr>4</vt:lpwstr>
  </property>
</Properties>
</file>