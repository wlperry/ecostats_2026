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Our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</a:t>
            </a:r>
            <a:r>
              <a:rPr sz="2000" b="1"/>
              <a:t>4 trees per side</a:t>
            </a:r>
            <a:r>
              <a:rPr sz="2000"/>
              <a:t> — so df = 4 + 4 − 2 = </a:t>
            </a:r>
            <a:r>
              <a:rPr sz="2000" b="1"/>
              <a:t>6</a:t>
            </a:r>
            <a:r>
              <a:rPr sz="2000"/>
              <a:t>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needles, and </a:t>
            </a:r>
            <a:r>
              <a:rPr sz="2000">
                <a:latin typeface="Courier"/>
              </a:rPr>
              <a:t>needle_length_mm</a:t>
            </a:r>
            <a:r>
              <a:rPr sz="2000"/>
              <a:t> is the measurement.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exactly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 Everything from here on runs on one number per tree side.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14.1      2.02     1.01      4
2 sunny        15.2      1.57     0.786    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 point per team's tree"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  <a:r>
              <a:rPr sz="2000"/>
              <a:t> Hold that thought — it is the whole story of today’s last section.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 indent="0" marL="0">
              <a:buNone/>
            </a:pPr>
            <a:r>
              <a:rPr i="1"/>
              <a:t>Worked example for reading the table — n = 8, df = 7: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  <a:p>
            <a:pPr lvl="0" indent="0" marL="0">
              <a:buNone/>
            </a:pPr>
            <a:r>
              <a:rPr/>
              <a:t>(Our own data has 4 trees per side, so df = 3 for a paired test and df = 6 for a two-sample test. Same table, different row.)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By hand, for an example Sample A</a:t>
                </a:r>
                <a:r>
                  <a:rPr/>
                  <a:t> (mean 17.6, s = 2.51, n = 8, so df = 7 — the row highlighted in the table):</a:t>
                </a:r>
              </a:p>
              <a:p>
                <a:pPr lvl="0"/>
                <a:r>
                  <a:rPr/>
                  <a:t>95% CI =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 indent="0" marL="0">
                  <a:buNone/>
                </a:pPr>
                <a:r>
                  <a:rPr b="1"/>
                  <a:t>Now our own shady-side trees</a:t>
                </a:r>
                <a:r>
                  <a:rPr/>
                  <a:t> (n = 4, so df = 3, and the critical t is much larger):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n_shady,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 t crit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n = 4  t crit = 3.182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95% CI: 10.91 to 17.33 mm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⚠️ Four trees is a </a:t>
                </a:r>
                <a:r>
                  <a:rPr sz="2000" b="1" i="1"/>
                  <a:t>wide</a:t>
                </a:r>
                <a:r>
                  <a:rPr sz="2000" b="1"/>
                  <a:t> interval</a:t>
                </a:r>
              </a:p>
              <a:p>
                <a:pPr lvl="0" indent="0" marL="1270000">
                  <a:buNone/>
                </a:pPr>
                <a:r>
                  <a:rPr sz="2000"/>
                  <a:t>With df = 3 the critical t is </a:t>
                </a:r>
                <a:r>
                  <a:rPr sz="2000" b="1"/>
                  <a:t>3.182</a:t>
                </a:r>
                <a:r>
                  <a:rPr sz="2000"/>
                  <a:t>, not 1.96. Small n costs you twice: a bigger multiplier </a:t>
                </a:r>
                <a:r>
                  <a:rPr sz="2000" i="1"/>
                  <a:t>and</a:t>
                </a:r>
                <a:r>
                  <a:rPr sz="2000"/>
                  <a:t> a bigger SE.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t-tests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 — not on a p-value from four points.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(shady_mean,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14.1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14.1      2.02     4     1.01 
2 sunny        15.2      1.57     4     0.786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-1.09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shady             16.1
2 grace_jace shady             15.4
3 one        shady             13.2
4 waterbugs  shady             11.7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sunny             17.3
2 grace_jace sunny             15.5
3 one        sunny             14.2
4 waterbugs  sunny             13.8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0.943           0.674 Normal             
2 sunny        0.916           0.516 Normal            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story you tell about direction is backwards. Always state which way you subtracted.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— the SAME order the two-sample test used,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the two t-statistics are directly comparable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 —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 than others)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0">
              <a:buNone/>
            </a:pPr>
            <a:r>
              <a:rPr/>
              <a:t>Notice the paired test has </a:t>
            </a:r>
            <a:r>
              <a:rPr b="1"/>
              <a:t>half the degrees of freedom</a:t>
            </a:r>
            <a:r>
              <a:rPr/>
              <a:t> (3 vs 6) — it is working with 4 differences, not 8 values. It still does far better, because the noise it removed mattered more than the df it gave 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about sensitivity, not about 0.05</a:t>
            </a:r>
          </a:p>
          <a:p>
            <a:pPr lvl="0" indent="0" marL="1270000">
              <a:buNone/>
            </a:pPr>
            <a:r>
              <a:rPr sz="2000"/>
              <a:t>Neither test crosses α = 0.05, so neither “wins” by the usual rule. That is not the point. The point is that </a:t>
            </a:r>
            <a:r>
              <a:rPr sz="2000" b="1"/>
              <a:t>the correct test extracted six times more evidence from the identical measurements</a:t>
            </a:r>
            <a:r>
              <a:rPr sz="2000"/>
              <a:t> — and with only 4 trees, that is the difference between a study that could detect this effect and one that never could.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here. The two-sample test is not just less powerful, it is answering a question our design never asked.</a:t>
            </a:r>
          </a:p>
        </p:txBody>
      </p:sp>
      <p:pic>
        <p:nvPicPr>
          <p:cNvPr descr="t_tests_lecture_files/figure-pptx/t-tes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pine needle data the class collected.</dc:description>
  <dcterms:created xsi:type="dcterms:W3CDTF">2026-09-16T01:36:18Z</dcterms:created>
  <dcterms:modified xsi:type="dcterms:W3CDTF">2026-09-16T01:36:18Z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