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time:</a:t>
            </a:r>
          </a:p>
          <a:p>
            <a:pPr lvl="0"/>
            <a:r>
              <a:rPr/>
              <a:t>Histograms / frequency distributions</a:t>
            </a:r>
          </a:p>
          <a:p>
            <a:pPr lvl="0"/>
            <a:r>
              <a:rPr/>
              <a:t>Probability distribution functions (PDFs)</a:t>
            </a:r>
          </a:p>
          <a:p>
            <a:pPr lvl="0"/>
            <a:r>
              <a:rPr/>
              <a:t>Z-scores and t-scores</a:t>
            </a:r>
          </a:p>
          <a:p>
            <a:pPr lvl="0"/>
            <a:r>
              <a:rPr/>
              <a:t>Tests of means using t-tests: one sample, two sample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t-score is just a z-score computed with the </a:t>
            </a:r>
            <a:r>
              <a:rPr sz="2000" i="1"/>
              <a:t>sample</a:t>
            </a:r>
            <a:r>
              <a:rPr sz="2000"/>
              <a:t> standard deviation instead of the population standard deviation — that substitution is why we need the t-distribution at all. Today we put it to work.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34100" y="660400"/>
            <a:ext cx="2743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with dots representing individuals and Greek-letter parameters (mu, sigma, sigma-squared), with orange arrows showing a subset of dots being drawn down into a small circle labeled ‘sample’ with its statistics (y-bar, s, s-squared), illustrating that a sample is used to estimate unknown population parameters.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Hypothesis testing framework</a:t>
            </a:r>
          </a:p>
          <a:p>
            <a:pPr lvl="0" indent="-342900" marL="342900">
              <a:buAutoNum type="arabicPeriod"/>
            </a:pPr>
            <a:r>
              <a:rPr sz="2000"/>
              <a:t>The t-distribution</a:t>
            </a:r>
          </a:p>
          <a:p>
            <a:pPr lvl="0" indent="-342900" marL="342900">
              <a:buAutoNum type="arabicPeriod"/>
            </a:pPr>
            <a:r>
              <a:rPr sz="2000"/>
              <a:t>One-sample t-test</a:t>
            </a:r>
          </a:p>
          <a:p>
            <a:pPr lvl="0" indent="-342900" marL="342900">
              <a:buAutoNum type="arabicPeriod"/>
            </a:pPr>
            <a:r>
              <a:rPr sz="2000"/>
              <a:t>Two-sample t-test (Student’s and Welch’s)</a:t>
            </a:r>
          </a:p>
          <a:p>
            <a:pPr lvl="0" indent="-342900" marL="342900">
              <a:buAutoNum type="arabicPeriod"/>
            </a:pPr>
            <a:r>
              <a:rPr sz="2000"/>
              <a:t>Paired t-test</a:t>
            </a:r>
          </a:p>
          <a:p>
            <a:pPr lvl="0" indent="-342900" marL="342900">
              <a:buAutoNum type="arabicPeriod"/>
            </a:pPr>
            <a:r>
              <a:rPr sz="2000"/>
              <a:t>Checking assumptions throughout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Data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Setup — Loading the Class Pine Needle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      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pine_switch_df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 switched.xlsx"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361
Columns: 5
$ group     &lt;chr&gt; "five", "five", "five", "five", "five", "five", "five", "fiv…
$ tree_no   &lt;dbl&gt; 1, 1, 1, 1, 1, 1, 1, 1, 1, 1, 1, 1, 1, 1, 1, 1, 1, 1, 1, 1, …
$ tree_char &lt;chr&gt; "tree_1", "tree_1", "tree_1", "tree_1", "tree_1", "tree_1", …
$ side      &lt;chr&gt; "sunny", "sunny", "sunny", "sunny", "sunny", "sunny", "sunny…
$ length_mm &lt;dbl&gt; 22.66, 21.14, 18.55, 18.65, 20.99, 18.94, 19.75, 18.46, 20.5…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two sample T-tests, degrees of freedom = n₁ + n₂ − 2. Once we average the needles up to one value per tree side (next slide), we have 8 trees per side — so df = 8 + 8 − 2 = 14. Note that n is the number of </a:t>
            </a:r>
            <a:r>
              <a:rPr sz="2000" i="1"/>
              <a:t>trees</a:t>
            </a:r>
            <a:r>
              <a:rPr sz="2000"/>
              <a:t>, not needles.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</a:t>
            </a:r>
            <a:r>
              <a:rPr sz="2000"/>
              <a:t> is the class team, </a:t>
            </a:r>
            <a:r>
              <a:rPr sz="2000">
                <a:latin typeface="Courier"/>
              </a:rPr>
              <a:t>tree_no</a:t>
            </a:r>
            <a:r>
              <a:rPr sz="2000"/>
              <a:t>/</a:t>
            </a:r>
            <a:r>
              <a:rPr sz="2000">
                <a:latin typeface="Courier"/>
              </a:rPr>
              <a:t>tree_char</a:t>
            </a:r>
            <a:r>
              <a:rPr sz="2000"/>
              <a:t> identify the tree, </a:t>
            </a:r>
            <a:r>
              <a:rPr sz="2000">
                <a:latin typeface="Courier"/>
              </a:rPr>
              <a:t>side</a:t>
            </a:r>
            <a:r>
              <a:rPr sz="2000"/>
              <a:t> is sunny vs. shady, </a:t>
            </a:r>
            <a:r>
              <a:rPr sz="2000">
                <a:latin typeface="Courier"/>
              </a:rPr>
              <a:t>length_mm</a:t>
            </a:r>
            <a:r>
              <a:rPr sz="2000"/>
              <a:t> is the needle length.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Averaging Out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Multiple needles per tree side are pseudoreplicates —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average them so each tree/side is ONE data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ps_df &lt;- pine_switch_df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ps_shady_df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ps_sunny_df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average first?</a:t>
            </a:r>
            <a:r>
              <a:rPr sz="2000"/>
              <a:t> The true experimental unit here is </a:t>
            </a:r>
            <a:r>
              <a:rPr sz="2000" i="1"/>
              <a:t>tree side</a:t>
            </a:r>
            <a:r>
              <a:rPr sz="2000"/>
              <a:t>, not </a:t>
            </a:r>
            <a:r>
              <a:rPr sz="2000" i="1"/>
              <a:t>needle</a:t>
            </a:r>
            <a:r>
              <a:rPr sz="2000"/>
              <a:t>. Treating every needle as independent would inflate our sample size and our confidence — the same pseudoreplication trap from earlier in the course.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 — Two Versions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p_plot</a:t>
            </a:r>
          </a:p>
        </p:txBody>
      </p:sp>
      <p:pic>
        <p:nvPicPr>
          <p:cNvPr descr="t_tests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class_pine needle length switched.xlsx</a:t>
            </a:r>
            <a:r>
              <a:rPr sz="2000"/>
              <a:t> has the </a:t>
            </a:r>
            <a:r>
              <a:rPr sz="2000">
                <a:latin typeface="Courier"/>
              </a:rPr>
              <a:t>sunny</a:t>
            </a:r>
            <a:r>
              <a:rPr sz="2000"/>
              <a:t>/</a:t>
            </a:r>
            <a:r>
              <a:rPr sz="2000">
                <a:latin typeface="Courier"/>
              </a:rPr>
              <a:t>shady</a:t>
            </a:r>
            <a:r>
              <a:rPr sz="2000"/>
              <a:t> labels swapped relative to the original file. From here on, </a:t>
            </a:r>
            <a:r>
              <a:rPr sz="2000" b="1">
                <a:latin typeface="Courier"/>
              </a:rPr>
              <a:t>ps_df</a:t>
            </a:r>
            <a:r>
              <a:rPr sz="2000"/>
              <a:t> (the switched version) is the dataset we’ll actually test — it’s the one that matches the field notes.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 We’ll Test — </a:t>
            </a:r>
            <a:r>
              <a:rPr>
                <a:latin typeface="Courier"/>
              </a:rPr>
              <a:t>ps_df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needles switched"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t_tests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Goals for today, using </a:t>
            </a:r>
            <a:r>
              <a:rPr b="1">
                <a:latin typeface="Courier"/>
              </a:rPr>
              <a:t>ps_df</a:t>
            </a:r>
            <a:r>
              <a:rPr b="1"/>
              <a:t>: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t-distributions</a:t>
            </a:r>
          </a:p>
          <a:p>
            <a:pPr lvl="0"/>
            <a:r>
              <a:rPr/>
              <a:t>One-sample, two-sample, and paired t-tests</a:t>
            </a:r>
          </a:p>
          <a:p>
            <a:pPr lvl="0"/>
            <a:r>
              <a:rPr/>
              <a:t>Assumption tests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— the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 — typically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 —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 —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— probability of observing our result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 — threshold for rejecting H₀, typically 0.05</a:t>
            </a:r>
          </a:p>
          <a:p>
            <a:pPr lvl="0" indent="0" marL="0">
              <a:buNone/>
            </a:pPr>
            <a:r>
              <a:rPr b="1"/>
              <a:t>Decision rule:</a:t>
            </a:r>
            <a:r>
              <a:rPr/>
              <a:t> Reject H₀ if p-value &lt; α.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4 — Framing and Testing Hypotheses (Statistical Significance and P-Values).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 of a Statistical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test assesses the likelihood of the null hypothesis being true.</a:t>
            </a:r>
          </a:p>
          <a:p>
            <a:pPr lvl="0"/>
            <a:r>
              <a:rPr/>
              <a:t>If H₀ is likely false, Hₐ is assumed correct</a:t>
            </a:r>
          </a:p>
          <a:p>
            <a:pPr lvl="0"/>
            <a:r>
              <a:rPr/>
              <a:t>More precisely: the long-run probability of obtaining our sample value (or a more extreme one) </a:t>
            </a:r>
            <a:r>
              <a:rPr b="1"/>
              <a:t>if the null hypothesis is true</a:t>
            </a:r>
          </a:p>
          <a:p>
            <a:pPr lvl="0"/>
            <a:r>
              <a:rPr/>
              <a:t>Written p(data | H₀) — the probability of the data, </a:t>
            </a:r>
            <a:r>
              <a:rPr i="1"/>
              <a:t>given</a:t>
            </a:r>
            <a:r>
              <a:rPr/>
              <a:t> H₀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p(data | H₀) is </a:t>
            </a:r>
            <a:r>
              <a:rPr sz="2000" b="1"/>
              <a:t>not</a:t>
            </a:r>
            <a:r>
              <a:rPr sz="2000"/>
              <a:t> the same as p(H₀ | data). A t-test never tells you the probability that H₀ is true — only how surprising your data would be if it were.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p-value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&gt;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0.05 &lt; p &lt;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Weak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0.01 &lt; p &lt;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Moderate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0.001 &lt; p &lt; 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Strong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Very strong evidence against H₀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t-Distribution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 ask about the area of the distribution to the left (or right) of a certain value, for a one-sample test.</a:t>
            </a:r>
          </a:p>
          <a:p>
            <a:pPr lvl="0"/>
            <a:r>
              <a:rPr/>
              <a:t>n = 8 (df = 7) — 95% of the observations found to the left</a:t>
            </a:r>
          </a:p>
          <a:p>
            <a:pPr lvl="0"/>
            <a:r>
              <a:rPr/>
              <a:t>t 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47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the area to the left of the critical value shaded, illustrating a one-tailed cutoff where the shaded region represents the proportion of the distribution below that t-value (here t = 1.895 at df = 7).</a:t>
            </a:r>
          </a:p>
        </p:txBody>
      </p:sp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one-tail 0.05 column and df = 7 row highlighted, intersecting at the critical value 1.895, the value used for a one-tailed test at alpha = 0.05.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the area </a:t>
            </a:r>
            <a:r>
              <a:rPr i="1"/>
              <a:t>between</a:t>
            </a:r>
            <a:r>
              <a:rPr/>
              <a:t> certain values.</a:t>
            </a:r>
          </a:p>
          <a:p>
            <a:pPr lvl="0"/>
            <a:r>
              <a:rPr/>
              <a:t>n = 8 (df = 7), 95% of the observations are between t = −2.365 and t = 2.365 (2.5% outside on each side)</a:t>
            </a:r>
          </a:p>
          <a:p>
            <a:pPr lvl="0"/>
            <a:r>
              <a:rPr/>
              <a:t>Compare to the one-tailed cutoff: t = 1.895 (5%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both tails shaded beyond the critical values (here t = -2.365 and t = 2.365 at df = 7), illustrating a two-tailed cutoff where the two shaded regions together represent the proportion of the distribution outside that range.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two-tailed critical value is </a:t>
            </a:r>
            <a:r>
              <a:rPr sz="2000" i="1"/>
              <a:t>farther</a:t>
            </a:r>
            <a:r>
              <a:rPr sz="2000"/>
              <a:t> from zero than the one-tailed value — splitting 5% into two tails means each tail only gets 2.5%.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a Confidence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a two-sided test: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95% CI, Sample A: 17.6 ± 2.365 × (2.51 / 8^0.5) = ± 2.10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2.1”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</a:t>
                </a:r>
                <a:r>
                  <a:rPr sz="2000" i="1"/>
                  <a:t>Analysis of Biological Data</a:t>
                </a:r>
                <a:r>
                  <a:rPr sz="2000"/>
                  <a:t>, Ch. 11 — Inference for a Normal Population.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Applications of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assess confidence that the population mean is within a certain range</a:t>
            </a:r>
          </a:p>
          <a:p>
            <a:pPr lvl="0"/>
            <a:r>
              <a:rPr/>
              <a:t>Can use the t-distribution to ask:</a:t>
            </a:r>
          </a:p>
          <a:p>
            <a:pPr lvl="1"/>
            <a:r>
              <a:rPr/>
              <a:t>“What is the probability of getting a sample with mean = ȳ from a population with mean = µ?” </a:t>
            </a:r>
            <a:r>
              <a:rPr i="1"/>
              <a:t>(1-sample t-test)</a:t>
            </a:r>
          </a:p>
          <a:p>
            <a:pPr lvl="1"/>
            <a:r>
              <a:rPr/>
              <a:t>“What is the probability that two samples came from the same population?” </a:t>
            </a:r>
            <a:r>
              <a:rPr i="1"/>
              <a:t>(2-sample 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Before the next slide: which of these two questions do you think a one-sample t-test answers, and which needs a two-sample t-test?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One-Sample T-Test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One-Sample T-Test — Hypotheses and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the shady side differs from 15mm.</a:t>
            </a:r>
          </a:p>
          <a:p>
            <a:pPr lvl="0" indent="0" marL="0">
              <a:buNone/>
            </a:pPr>
            <a:r>
              <a:rPr b="1"/>
              <a:t>Activity: define hypotheses and identify assumptions</a:t>
            </a:r>
          </a:p>
          <a:p>
            <a:pPr lvl="0"/>
            <a:r>
              <a:rPr/>
              <a:t>H₀: μ = 15 (the mean needle length on the shady side is 15mm)</a:t>
            </a:r>
          </a:p>
          <a:p>
            <a:pPr lvl="0"/>
            <a:r>
              <a:rPr/>
              <a:t>Hₐ: μ ≠ 15 (the mean needle length on the shady side is not 15mm)</a:t>
            </a:r>
          </a:p>
          <a:p>
            <a:pPr lvl="0" indent="0" marL="0">
              <a:buNone/>
            </a:pPr>
            <a:r>
              <a:rPr b="1"/>
              <a:t>Assumptions for a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11, covers the one-sample t-test as the simplest hypothesis test on a normally distributed variable.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one-sample test below is on the SHADY side, so that is the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whose normality we need to check -- not the two sides pooled together.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— shady side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t_tests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7 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Points that hug the blue line support normality; points that curve away — especially in the tails — are a warning sign.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ps_shady_df$length_mm
W = 0.96639, p-value = 0.8683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Shapiro-Wilk is “the data ARE normal.”</a:t>
            </a:r>
            <a:r>
              <a:rPr sz="2000"/>
              <a:t> A </a:t>
            </a:r>
            <a:r>
              <a:rPr sz="2000" i="1"/>
              <a:t>non-significant</a:t>
            </a:r>
            <a:r>
              <a:rPr sz="2000"/>
              <a:t> result (p &gt; 0.05) is what we’re hoping for here — it means we fail to reject normality.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the shady side only?</a:t>
            </a:r>
          </a:p>
          <a:p>
            <a:pPr lvl="0" indent="0" marL="1270000">
              <a:buNone/>
            </a:pPr>
            <a:r>
              <a:rPr sz="2000"/>
              <a:t>We test the group the hypothesis is about. Pooling shady and sunny would mix two distributions with different means, which can look non-normal even when each group is perfectly normal.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t_tests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Points beyond the whiskers are potential outliers — always look before you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15mm: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t Scale</a:t>
            </a:r>
          </a:p>
        </p:txBody>
      </p:sp>
      <p:pic>
        <p:nvPicPr>
          <p:cNvPr descr="t_tests_lecture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60400"/>
            <a:ext cx="4749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green line (our observed t) falls inside the red rejection region — that’s what “significant” looks like on a t-distribution.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Original Units</a:t>
            </a:r>
          </a:p>
        </p:txBody>
      </p:sp>
      <p:pic>
        <p:nvPicPr>
          <p:cNvPr descr="t_tests_lecture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2600" y="660400"/>
            <a:ext cx="5029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test, same conclusion — just relabeled onto the millimeter scale instead of the t scale. The blue line (H₀ = 15) sits outside the sample’s plausible range.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one-sample t-test at α = 0.05 showed that the mean needle length (… mm, SD = …) [was/was not] significantly different from the expected 15mm, t(…) = …, p = …”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Two-Sample T-Test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T-Tests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 — what is the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  <a:p>
            <a:pPr lvl="0" indent="0" marL="0">
              <a:buNone/>
            </a:pPr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two separate green pine branches side by side, each with needle clusters, representing the two independent samples (populations X and Y) being compared in a two-sample t-test.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the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t_tests_lecture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Based on the boxplot alone, what would you guess the two-sample t-test will conclude about needle length on the two sides?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 about needle lengths, write the null and alternative hypotheses:</a:t>
            </a:r>
          </a:p>
          <a:p>
            <a:pPr lvl="0" indent="0" marL="1270000">
              <a:buNone/>
            </a:pPr>
            <a:r>
              <a:rPr sz="2000"/>
              <a:t>Are needle lengths on shady and sunny sides different?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H0 =
Ha =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 let’s compare needle lengths from the two sides.</a:t>
                </a:r>
              </a:p>
              <a:p>
                <a:pPr lvl="0" indent="0" marL="0">
                  <a:buNone/>
                </a:pPr>
                <a:r>
                  <a:rPr b="1"/>
                  <a:t>Question:</a:t>
                </a:r>
                <a:r>
                  <a:rPr/>
                  <a:t> 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t-test, which compares means from two independent groups.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x̄₁, x̄₂: sample means of the two groups</a:t>
                </a:r>
              </a:p>
              <a:p>
                <a:pPr lvl="0"/>
                <a:r>
                  <a:rPr/>
                  <a:t>s²ₚ: </a:t>
                </a:r>
                <a:r>
                  <a:rPr b="1"/>
                  <a:t>pooled variance</a:t>
                </a:r>
                <a:r>
                  <a:rPr/>
                  <a:t> = [(n₁−1)s₁² + (n₂−1)s₂²] / (n₁+n₂−2)</a:t>
                </a:r>
              </a:p>
              <a:p>
                <a:pPr lvl="0"/>
                <a:r>
                  <a:rPr/>
                  <a:t>Sₚ = √s²ₚ: the </a:t>
                </a:r>
                <a:r>
                  <a:rPr b="1"/>
                  <a:t>pooled standard deviation</a:t>
                </a:r>
                <a:r>
                  <a:rPr/>
                  <a:t> (that’s what appears in the formula)</a:t>
                </a:r>
              </a:p>
              <a:p>
                <a:pPr lvl="0"/>
                <a:r>
                  <a:rPr/>
                  <a:t>n₁, n₂: sample sizes of the two groups</a:t>
                </a:r>
              </a:p>
              <a:p>
                <a:pPr lvl="0"/>
                <a:r>
                  <a:rPr/>
                  <a:t>Sₚ√(1/n₁ + 1/n₂): the </a:t>
                </a:r>
                <a:r>
                  <a:rPr b="1"/>
                  <a:t>standard error of the difference</a:t>
                </a:r>
                <a:r>
                  <a:rPr/>
                  <a:t> — the whole denominator, not just the square-root term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SIGNAL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NOISE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12 — Comparing Two Means.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3: Calculate summary statistics grouped by side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Plotting Mean ± SE Directly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5: Using ggplot to get a summary plot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ggplot</a:t>
            </a:r>
            <a:r>
              <a:rPr sz="2000"/>
              <a:t> can compute and plot the mean and standard error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Assumptions for a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the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 — Handling Violations of Assumptions, covers non-parametric alternatives when normality or equal variance fails.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6: separate group data</a:t>
            </a:r>
          </a:p>
          <a:p>
            <a:pPr lvl="0" indent="0" marL="1270000">
              <a:buNone/>
            </a:pPr>
            <a:r>
              <a:rPr sz="2000"/>
              <a:t>Note you need to test each group separately for normality — first, split the data: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7: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8: test equal variances</a:t>
            </a:r>
          </a:p>
          <a:p>
            <a:pPr lvl="0" indent="0" marL="1270000">
              <a:buNone/>
            </a:pPr>
            <a:r>
              <a:rPr sz="2000"/>
              <a:t>Levene’s test can be done on the original data frame.</a:t>
            </a:r>
          </a:p>
          <a:p>
            <a:pPr lvl="0" indent="0" marL="1270000">
              <a:buNone/>
            </a:pPr>
            <a:r>
              <a:rPr sz="2000" b="1"/>
              <a:t>Note:</a:t>
            </a:r>
            <a:r>
              <a:rPr sz="2000"/>
              <a:t> the Levene’s test result should be </a:t>
            </a:r>
            <a:r>
              <a:rPr sz="2000" b="1"/>
              <a:t>NOT significant</a:t>
            </a:r>
            <a:r>
              <a:rPr sz="2000"/>
              <a:t> — what is the null hypothesis here?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leveneTest needs the grouping variable as a factor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 — Standard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/>
            <a:r>
              <a:rPr/>
              <a:t>H₀: μ₁ = μ₂ (the needle lengths do not differ)</a:t>
            </a:r>
          </a:p>
          <a:p>
            <a:pPr lvl="0"/>
            <a:r>
              <a:rPr/>
              <a:t>Hₐ: μ₁ ≠ μ₂ (the mean needle lengths differ — direction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var.equal = TRUE for standard t-test,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var.equal = FALSE for Welch's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 — Welch’s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/>
            <a:r>
              <a:rPr/>
              <a:t>H₀: μ₁ = μ₂ (the needle lengths do not differ)</a:t>
            </a:r>
          </a:p>
          <a:p>
            <a:pPr lvl="0"/>
            <a:r>
              <a:rPr/>
              <a:t>Hₐ: μ₁ ≠ μ₂ (the mean needle lengths differ — direction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"Welch's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vs. 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groups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combining both groups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equal-variance assumption is met</a:t>
            </a:r>
          </a:p>
          <a:p>
            <a:pPr lvl="0"/>
            <a:r>
              <a:rPr/>
              <a:t>Degrees of freedom = n₁ + n₂ − 2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(the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differ</a:t>
            </a:r>
          </a:p>
          <a:p>
            <a:pPr lvl="0"/>
            <a:r>
              <a:rPr/>
              <a:t>Uses the </a:t>
            </a:r>
            <a:r>
              <a:rPr b="1"/>
              <a:t>Welch-Satterthwaite equation</a:t>
            </a:r>
            <a:r>
              <a:rPr/>
              <a:t> — df is typically non-integer and smaller than the standard t-test’s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needle lengths on the sunny vs. shady sides?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two-tailed, two-sample t-test at α = 0.05 showed [a significant/no significant] difference in needle length between sunny (M = …, SD = …) and shady (M = …, SD = …) sides of pine trees, t(…) = …, p = …”</a:t>
            </a:r>
          </a:p>
        </p:txBody>
      </p:sp>
      <p:pic>
        <p:nvPicPr>
          <p:cNvPr descr="t_tests_lecture_files/figure-pptx/unnamed-chunk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Paired T-Test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a Paired T-Test Tell 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Paired t-test:</a:t>
            </a:r>
          </a:p>
          <a:p>
            <a:pPr lvl="0"/>
            <a:r>
              <a:rPr/>
              <a:t>Compares two measurements from the same subjects or matched pairs</a:t>
            </a:r>
          </a:p>
          <a:p>
            <a:pPr lvl="0"/>
            <a:r>
              <a:rPr/>
              <a:t>Tests whether the mean difference between paired observations equals zero</a:t>
            </a:r>
          </a:p>
          <a:p>
            <a:pPr lvl="0"/>
            <a:r>
              <a:rPr/>
              <a:t>Examples: before/after measurements on the same individuals, left vs. right measurements, matched case-control studies</a:t>
            </a:r>
          </a:p>
          <a:p>
            <a:pPr lvl="0"/>
            <a:r>
              <a:rPr/>
              <a:t>Uses the </a:t>
            </a:r>
            <a:r>
              <a:rPr i="1"/>
              <a:t>differences</a:t>
            </a:r>
            <a:r>
              <a:rPr/>
              <a:t> between pairs as the data</a:t>
            </a:r>
          </a:p>
          <a:p>
            <a:pPr lvl="0"/>
            <a:r>
              <a:rPr/>
              <a:t>Generally more powerful, because it controls for individual variation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12, section on the paired design.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"Paired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"Paired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carefully at what just happened — </a:t>
            </a:r>
            <a:r>
              <a:rPr b="1"/>
              <a:t>both tests used exactly the same 16 numbers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876300"/>
                <a:gridCol w="876300"/>
                <a:gridCol w="876300"/>
                <a:gridCol w="876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Conclusion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1.128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0.278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Not</a:t>
                      </a:r>
                      <a:r>
                        <a:rPr/>
                        <a:t> significant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−2.782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Significant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difference?</a:t>
            </a:r>
          </a:p>
          <a:p>
            <a:pPr lvl="0"/>
            <a:r>
              <a:rPr/>
              <a:t>The </a:t>
            </a:r>
            <a:r>
              <a:rPr b="1"/>
              <a:t>two-sample</a:t>
            </a:r>
            <a:r>
              <a:rPr/>
              <a:t> test throws the pairing away. Tree-to-tree variation (some teams’ trees just have longer needles) lands in the </a:t>
            </a:r>
            <a:r>
              <a:rPr i="1"/>
              <a:t>noise</a:t>
            </a:r>
            <a:r>
              <a:rPr/>
              <a:t>, swamping the signal.</a:t>
            </a:r>
          </a:p>
          <a:p>
            <a:pPr lvl="0"/>
            <a:r>
              <a:rPr/>
              <a:t>The </a:t>
            </a:r>
            <a:r>
              <a:rPr b="1"/>
              <a:t>paired</a:t>
            </a:r>
            <a:r>
              <a:rPr/>
              <a:t> test looks only at the shady−sunny difference </a:t>
            </a:r>
            <a:r>
              <a:rPr i="1"/>
              <a:t>within each tree</a:t>
            </a:r>
            <a:r>
              <a:rPr/>
              <a:t>, so tree-to-tree variation cancels out entirely.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These data are paired by design</a:t>
            </a:r>
            <a:r>
              <a:rPr sz="2000"/>
              <a:t> — each team measured both sides of the </a:t>
            </a:r>
            <a:r>
              <a:rPr sz="2000" i="1"/>
              <a:t>same</a:t>
            </a:r>
            <a:r>
              <a:rPr sz="2000"/>
              <a:t> tree. The paired test is the correct one here; the two-sample test is the wrong tool, and it would have made us miss a real effect.</a:t>
            </a:r>
          </a:p>
        </p:txBody>
      </p:sp>
      <p:pic>
        <p:nvPicPr>
          <p:cNvPr descr="t_tests_lecture_files/figure-pptx/unnamed-chunk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Going 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there is a lot of variation </a:t>
            </a:r>
            <a:r>
              <a:rPr i="1"/>
              <a:t>within</a:t>
            </a:r>
            <a:r>
              <a:rPr/>
              <a:t> trees, but the trend is the same across trees.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t_tests_lecture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Assumptions and Wrap-Up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 —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 —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 —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one-sample, two-sample, and paired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Key takeaways</a:t>
            </a:r>
          </a:p>
          <a:p>
            <a:pPr lvl="0"/>
            <a:r>
              <a:rPr sz="2000"/>
              <a:t>Always check assumptions before conducting tests</a:t>
            </a:r>
          </a:p>
          <a:p>
            <a:pPr lvl="0"/>
            <a:r>
              <a:rPr sz="2000"/>
              <a:t>Visualize your data to understand patterns</a:t>
            </a:r>
          </a:p>
          <a:p>
            <a:pPr lvl="0"/>
            <a:r>
              <a:rPr sz="2000"/>
              <a:t>Report results comprehensively</a:t>
            </a:r>
          </a:p>
          <a:p>
            <a:pPr lvl="0"/>
            <a:r>
              <a:rPr sz="2000"/>
              <a:t>Consider alternatives when assumptions are violated — non-parametric tests, coming up soon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T-Tests: One, Two, Paired</dc:title>
  <dc:creator>Bill Perry</dc:creator>
  <cp:keywords/>
  <dc:description>The hypothesis-testing framework, the t-distribution, and one-sample, two-sample (Student’s and Welch’s), and paired t-tests — with assumption checks — on the class pine needle dataset.</dc:description>
  <dcterms:created xsi:type="dcterms:W3CDTF">2026-09-01T20:22:19Z</dcterms:created>
  <dcterms:modified xsi:type="dcterms:W3CDTF">2026-09-01T20:22:19Z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Comparing means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