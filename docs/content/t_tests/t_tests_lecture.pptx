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6.png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 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</a:t>
            </a:r>
          </a:p>
          <a:p>
            <a:pPr lvl="0" indent="-342900" marL="342900">
              <a:buAutoNum type="arabicPeriod"/>
            </a:pPr>
            <a:r>
              <a:rPr sz="2000"/>
              <a:t>One-sample t-test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Loading Our Pine Needle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two sample T-tests, degrees of freedom = n₁ + n₂ − 2. Once we average the needles up to one value per tree side (next slide), we have </a:t>
            </a:r>
            <a:r>
              <a:rPr sz="2000" b="1"/>
              <a:t>4 trees per side</a:t>
            </a:r>
            <a:r>
              <a:rPr sz="2000"/>
              <a:t> — so df = 4 + 4 − 2 = </a:t>
            </a:r>
            <a:r>
              <a:rPr sz="2000" b="1"/>
              <a:t>6</a:t>
            </a:r>
            <a:r>
              <a:rPr sz="2000"/>
              <a:t>. Note that n is the number of </a:t>
            </a:r>
            <a:r>
              <a:rPr sz="2000" i="1"/>
              <a:t>trees</a:t>
            </a:r>
            <a:r>
              <a:rPr sz="2000"/>
              <a:t>, not needles.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needles, and </a:t>
            </a:r>
            <a:r>
              <a:rPr sz="2000">
                <a:latin typeface="Courier"/>
              </a:rPr>
              <a:t>needle_length_mm</a:t>
            </a:r>
            <a:r>
              <a:rPr sz="2000"/>
              <a:t> is the measurement.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 Treating every needle as independent would inflate our sample size and our confidence 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exactly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 Everything from here on runs on one number per tree side.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14.1      2.02     1.01      4
2 sunny        15.2      1.57     0.786     4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We’ll Test — </a:t>
            </a:r>
            <a:r>
              <a:rPr>
                <a:latin typeface="Courier"/>
              </a:rPr>
              <a:t>p_df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 point per team's tree"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Goals for today, using </a:t>
            </a:r>
            <a:r>
              <a:rPr b="1">
                <a:latin typeface="Courier"/>
              </a:rPr>
              <a:t>p_df</a:t>
            </a:r>
            <a:r>
              <a:rPr b="1"/>
              <a:t>: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t-distributions</a:t>
            </a:r>
          </a:p>
          <a:p>
            <a:pPr lvl="0"/>
            <a:r>
              <a:rPr/>
              <a:t>One-sample, two-sample, and paired t-tests</a:t>
            </a:r>
          </a:p>
          <a:p>
            <a:pPr lvl="0"/>
            <a:r>
              <a:rPr/>
              <a:t>Assumption tests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  <a:r>
              <a:rPr sz="2000"/>
              <a:t> Hold that thought — it is the whole story of today’s last section.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typically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 —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— probability of observing our result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threshold for rejecting H₀, typically 0.05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p-value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 (Statistical Significance and P-Values).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p-value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 &lt; p &lt;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0.01 &lt; p &lt;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0.001 &lt; p &lt;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value, for a one-sample test.</a:t>
            </a:r>
          </a:p>
          <a:p>
            <a:pPr lvl="0" indent="0" marL="0">
              <a:buNone/>
            </a:pPr>
            <a:r>
              <a:rPr i="1"/>
              <a:t>Worked example for reading the table — n = 8, df = 7:</a:t>
            </a:r>
          </a:p>
          <a:p>
            <a:pPr lvl="0"/>
            <a:r>
              <a:rPr/>
              <a:t>n = 8 (df = 7) — 95% of the observations found to the left</a:t>
            </a:r>
          </a:p>
          <a:p>
            <a:pPr lvl="0"/>
            <a:r>
              <a:rPr/>
              <a:t>t = 1.895 (5% are outside)</a:t>
            </a:r>
          </a:p>
          <a:p>
            <a:pPr lvl="0" indent="0" marL="0">
              <a:buNone/>
            </a:pPr>
            <a:r>
              <a:rPr/>
              <a:t>(Our own data has 4 trees per side, so df = 3 for a paired test and df = 6 for a two-sample test. Same table, different row.)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/>
            <a:r>
              <a:rPr/>
              <a:t>n = 8 (df = 7), 95% of the observations are between t = −2.365 and t = 2.365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 — splitting 5% into two tails means each tail only gets 2.5%.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By hand, for an example Sample A</a:t>
                </a:r>
                <a:r>
                  <a:rPr/>
                  <a:t> (mean 17.6, s = 2.51, n = 8, so df = 7 — the row highlighted in the table):</a:t>
                </a:r>
              </a:p>
              <a:p>
                <a:pPr lvl="0"/>
                <a:r>
                  <a:rPr/>
                  <a:t>95% CI = 17.6 ± 2.365 × (2.51 / 8^0.5) = ± 2.10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 indent="0" marL="0">
                  <a:buNone/>
                </a:pPr>
                <a:r>
                  <a:rPr b="1"/>
                  <a:t>Now our own shady-side trees</a:t>
                </a:r>
                <a:r>
                  <a:rPr/>
                  <a:t> (n = 4, so df = 3, and the critical t is much larger):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"n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n_shady,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 t crit ="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n = 4  t crit = 3.182 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95% CI: 10.91 to 17.33 mm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⚠️ Four trees is a </a:t>
                </a:r>
                <a:r>
                  <a:rPr sz="2000" b="1" i="1"/>
                  <a:t>wide</a:t>
                </a:r>
                <a:r>
                  <a:rPr sz="2000" b="1"/>
                  <a:t> interval</a:t>
                </a:r>
              </a:p>
              <a:p>
                <a:pPr lvl="0" indent="0" marL="1270000">
                  <a:buNone/>
                </a:pPr>
                <a:r>
                  <a:rPr sz="2000"/>
                  <a:t>With df = 3 the critical t is </a:t>
                </a:r>
                <a:r>
                  <a:rPr sz="2000" b="1"/>
                  <a:t>3.182</a:t>
                </a:r>
                <a:r>
                  <a:rPr sz="2000"/>
                  <a:t>, not 1.96. Small n costs you twice: a bigger multiplier </a:t>
                </a:r>
                <a:r>
                  <a:rPr sz="2000" i="1"/>
                  <a:t>and</a:t>
                </a:r>
                <a:r>
                  <a:rPr sz="2000"/>
                  <a:t> a bigger SE.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two questions do you think a one-sample t-test answers, and which needs a two-sample t-test?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Hypotheses and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the shady side differs from 15mm.</a:t>
            </a:r>
          </a:p>
          <a:p>
            <a:pPr lvl="0" indent="0" marL="0">
              <a:buNone/>
            </a:pPr>
            <a:r>
              <a:rPr b="1"/>
              <a:t>Activity: define hypotheses and identify assumptions</a:t>
            </a:r>
          </a:p>
          <a:p>
            <a:pPr lvl="0"/>
            <a:r>
              <a:rPr/>
              <a:t>H₀: μ = 15 (the mean needle length on the shady side is 15mm)</a:t>
            </a:r>
          </a:p>
          <a:p>
            <a:pPr lvl="0"/>
            <a:r>
              <a:rPr/>
              <a:t>Hₐ: μ ≠ 15 (the mean needle length on the shady side is not 15mm)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below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need to check -- not the two sides pooled together.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— shady side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t_tests_lecture_files/figure-pptx/t-tests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blue line support normality; points that curve away — especially in the tails — are a warning sign.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here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 — not on a p-value from four points.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Points beyond the whiskers are potential outliers — always look before you test.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(shady_mean,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14.1 mm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5000" y="660400"/>
            <a:ext cx="4749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green line (our observed t) falls inside the red rejection region — that’s what “significant” looks like on a t-distribution.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2600" y="660400"/>
            <a:ext cx="5029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relabeled onto the millimeter scale instead of the t scale. The blue line (H₀ = 15) sits outside the sample’s plausible range.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one-sample t-test at α = 0.05 showed that the mean needle length (… mm, SD = …) [was/was not] significantly different from the expected 15mm, t(…) = …, p = …”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 — 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  <a:p>
            <a:pPr lvl="0" indent="0" marL="0">
              <a:buNone/>
            </a:pPr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the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Based on the boxplot alone, what would you guess the two-sample t-test will conclude about needle length on the two sides?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 about needle lengths, write the null and alternative hypotheses:</a:t>
            </a:r>
          </a:p>
          <a:p>
            <a:pPr lvl="0" indent="0" marL="1270000">
              <a:buNone/>
            </a:pPr>
            <a:r>
              <a:rPr sz="2000"/>
              <a:t>Are needle lengths on shady and sunny sides different?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H0 =
Ha =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 let’s compare needle lengths from the two sides.</a:t>
                </a:r>
              </a:p>
              <a:p>
                <a:pPr lvl="0" indent="0" marL="0">
                  <a:buNone/>
                </a:pPr>
                <a:r>
                  <a:rPr b="1"/>
                  <a:t>Question:</a:t>
                </a:r>
                <a:r>
                  <a:rPr/>
                  <a:t> 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t-test, which compares means from two independent groups.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  <a:r>
                  <a:rPr/>
                  <a:t> (that’s what appears in the formula)</a:t>
                </a:r>
              </a:p>
              <a:p>
                <a:pPr lvl="0"/>
                <a:r>
                  <a:rPr/>
                  <a:t>n₁, n₂: sample sizes of the two groups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denominator, not just the square-root term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12 — Comparing Two Means.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3: Calculate summary statistics grouped by side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 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14.1      2.02     4     1.01 
2 sunny        15.2      1.57     4     0.786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-1.09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Plotting Mean ± SE Directly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5: Using ggplot to get a summary plot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ggplot</a:t>
            </a:r>
            <a:r>
              <a:rPr sz="2000"/>
              <a:t> can compute and plot the mean and standard error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Assumptions for a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the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covers non-parametric alternatives when normality or equal variance fails.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6: separate group data</a:t>
            </a:r>
          </a:p>
          <a:p>
            <a:pPr lvl="0" indent="0" marL="1270000">
              <a:buNone/>
            </a:pPr>
            <a:r>
              <a:rPr sz="2000"/>
              <a:t>Note you need to test each group separately for normality — first, split the data: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shady             16.1
2 grace_jace shady             15.4
3 one        shady             13.2
4 waterbugs  shady             11.7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team       side  needle_length_mm
  &lt;chr&gt;      &lt;chr&gt;            &lt;dbl&gt;
1 botany     sunny             17.3
2 grace_jace sunny             15.5
3 one        sunny             14.2
4 waterbugs  sunny             13.8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7: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normality_results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0.943           0.674 Normal             
2 sunny        0.916           0.516 Normal             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Practice Exercise 8: test equal variances</a:t>
            </a:r>
          </a:p>
          <a:p>
            <a:pPr lvl="0" indent="0" marL="1270000">
              <a:buNone/>
            </a:pPr>
            <a:r>
              <a:rPr sz="2000"/>
              <a:t>Levene’s test can be done on the original data frame.</a:t>
            </a:r>
          </a:p>
          <a:p>
            <a:pPr lvl="0" indent="0" marL="1270000">
              <a:buNone/>
            </a:pPr>
            <a:r>
              <a:rPr sz="2000" b="1"/>
              <a:t>Note:</a:t>
            </a:r>
            <a:r>
              <a:rPr sz="2000"/>
              <a:t> the Levene’s test result should be </a:t>
            </a:r>
            <a:r>
              <a:rPr sz="2000" b="1"/>
              <a:t>NOT significant</a:t>
            </a:r>
            <a:r>
              <a:rPr sz="2000"/>
              <a:t> — what is the null hypothesis here?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leveneTest needs the grouping variable as a factor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Standard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Use var.equal = TRUE for standard t-test,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var.equal = FALSE for Welch's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 — Welch’s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/>
            <a:r>
              <a:rPr/>
              <a:t>H₀: μ₁ = μ₂ (the needle lengths do not differ)</a:t>
            </a:r>
          </a:p>
          <a:p>
            <a:pPr lvl="0"/>
            <a:r>
              <a:rPr/>
              <a:t>Hₐ: μ₁ ≠ μ₂ (the mean needle lengths differ — direction not specified)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"Welch's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equal-variance assumption is met</a:t>
            </a:r>
          </a:p>
          <a:p>
            <a:pPr lvl="0"/>
            <a:r>
              <a:rPr/>
              <a:t>Degrees of freedom = n₁ + n₂ − 2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(the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/>
              <a:t>Uses the </a:t>
            </a:r>
            <a:r>
              <a:rPr b="1"/>
              <a:t>Welch-Satterthwaite equation</a:t>
            </a:r>
            <a:r>
              <a:rPr/>
              <a:t> — df is typically non-integer and smaller than the standard t-test’s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t(…) = …, p = …”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61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subjects or matched pairs</a:t>
            </a:r>
          </a:p>
          <a:p>
            <a:pPr lvl="0"/>
            <a:r>
              <a:rPr/>
              <a:t>Tests whether the mean difference between paired observations equals zero</a:t>
            </a:r>
          </a:p>
          <a:p>
            <a:pPr lvl="0"/>
            <a:r>
              <a:rPr/>
              <a:t>Examples: before/after measurements on the same individuals, left vs. right measurements, matched case-control studies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controls for individual variation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story you tell about direction is backwards. Always state which way you subtracted.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12, section on the paired design.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— the SAME order the two-sample test used,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the two t-statistics are directly comparable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"Paired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"Paired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carefully at what just happened — </a:t>
            </a: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 —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 than others)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shady−sunny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  <a:p>
            <a:pPr lvl="0" indent="0" marL="0">
              <a:buNone/>
            </a:pPr>
            <a:r>
              <a:rPr/>
              <a:t>Notice the paired test has </a:t>
            </a:r>
            <a:r>
              <a:rPr b="1"/>
              <a:t>half the degrees of freedom</a:t>
            </a:r>
            <a:r>
              <a:rPr/>
              <a:t> (3 vs 6) — it is working with 4 differences, not 8 values. It still does far better, because the noise it removed mattered more than the df it gave up.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about sensitivity, not about 0.05</a:t>
            </a:r>
          </a:p>
          <a:p>
            <a:pPr lvl="0" indent="0" marL="1270000">
              <a:buNone/>
            </a:pPr>
            <a:r>
              <a:rPr sz="2000"/>
              <a:t>Neither test crosses α = 0.05, so neither “wins” by the usual rule. That is not the point. The point is that </a:t>
            </a:r>
            <a:r>
              <a:rPr sz="2000" b="1"/>
              <a:t>the correct test extracted six times more evidence from the identical measurements</a:t>
            </a:r>
            <a:r>
              <a:rPr sz="2000"/>
              <a:t> — and with only 4 trees, that is the difference between a study that could detect this effect and one that never could.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paired test is the correct one here. The two-sample test is not just less powerful, it is answering a question our design never asked.</a:t>
            </a:r>
          </a:p>
        </p:txBody>
      </p:sp>
      <p:pic>
        <p:nvPicPr>
          <p:cNvPr descr="t_tests_lecture_files/figure-pptx/t-tests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Going 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there is a lot of variation </a:t>
            </a:r>
            <a:r>
              <a:rPr i="1"/>
              <a:t>within</a:t>
            </a:r>
            <a:r>
              <a:rPr/>
              <a:t> trees, but the trend is the same across trees.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p_plot</a:t>
            </a:r>
          </a:p>
        </p:txBody>
      </p:sp>
      <p:pic>
        <p:nvPicPr>
          <p:cNvPr descr="t_tests_lecture_files/figure-pptx/t-tests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76800" y="1295400"/>
            <a:ext cx="3784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 —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 —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 —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one-sample, two-sample, and paired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conducting tests</a:t>
            </a:r>
          </a:p>
          <a:p>
            <a:pPr lvl="0"/>
            <a:r>
              <a:rPr sz="2000"/>
              <a:t>Visualize your data to understand patterns</a:t>
            </a:r>
          </a:p>
          <a:p>
            <a:pPr lvl="0"/>
            <a:r>
              <a:rPr sz="2000"/>
              <a:t>Report results comprehensively</a:t>
            </a:r>
          </a:p>
          <a:p>
            <a:pPr lvl="0"/>
            <a:r>
              <a:rPr sz="2000"/>
              <a:t>Consider alternatives when assumptions are violated — non-parametric tests, coming up soon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— on the pine needle data the class collected.</dc:description>
  <dcterms:created xsi:type="dcterms:W3CDTF">2026-09-15T02:08:57Z</dcterms:created>
  <dcterms:modified xsi:type="dcterms:W3CDTF">2026-09-15T02:08:57Z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