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 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Loading the Class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   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361
Columns: 5
$ group     &lt;chr&gt; "five", "five", "five", "five", "five", "five", "five", "fiv…
$ tree_no   &lt;dbl&gt; 1, 1, 1, 1, 1, 1, 1, 1, 1, 1, 1, 1, 1, 1, 1, 1, 1, 1, 1, 1, …
$ tree_char &lt;chr&gt; "tree_1", "tree_1", "tree_1", "tree_1", "tree_1", "tree_1", …
$ side      &lt;chr&gt; "sunny", "sunny", "sunny", "sunny", "sunny", "sunny", "sunny…
$ length_mm &lt;dbl&gt; 22.66, 21.14, 18.55, 18.65, 20.99, 18.94, 19.75, 18.46, 20.5…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two sample T-tests, degrees of freedom = n₁ + n₂ − 2. With 8 needles per side, df = 8 + 8 − 2 = 14.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</a:t>
            </a:r>
            <a:r>
              <a:rPr sz="2000"/>
              <a:t> is the class team, </a:t>
            </a:r>
            <a:r>
              <a:rPr sz="2000">
                <a:latin typeface="Courier"/>
              </a:rPr>
              <a:t>tree_no</a:t>
            </a:r>
            <a:r>
              <a:rPr sz="2000"/>
              <a:t>/</a:t>
            </a:r>
            <a:r>
              <a:rPr sz="2000">
                <a:latin typeface="Courier"/>
              </a:rPr>
              <a:t>tree_char</a:t>
            </a:r>
            <a:r>
              <a:rPr sz="2000"/>
              <a:t> identify the tree,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length_mm</a:t>
            </a:r>
            <a:r>
              <a:rPr sz="2000"/>
              <a:t> is the needle length.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Multiple needles per tree side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 Treating every needle as independent would inflate our sample size and our confidence — the same pseudoreplication trap from earlier in the course.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— Two Versions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class_pine needle length switched.xlsx</a:t>
            </a:r>
            <a:r>
              <a:rPr sz="2000"/>
              <a:t> has the </a:t>
            </a:r>
            <a:r>
              <a:rPr sz="2000">
                <a:latin typeface="Courier"/>
              </a:rPr>
              <a:t>sunny</a:t>
            </a:r>
            <a:r>
              <a:rPr sz="2000"/>
              <a:t>/</a:t>
            </a:r>
            <a:r>
              <a:rPr sz="2000">
                <a:latin typeface="Courier"/>
              </a:rPr>
              <a:t>shady</a:t>
            </a:r>
            <a:r>
              <a:rPr sz="2000"/>
              <a:t> labels swapped relative to the original file. From here on, </a:t>
            </a:r>
            <a:r>
              <a:rPr sz="2000" b="1">
                <a:latin typeface="Courier"/>
              </a:rPr>
              <a:t>ps_df</a:t>
            </a:r>
            <a:r>
              <a:rPr sz="2000"/>
              <a:t> (the switched version) is the dataset we’ll actually test — it’s the one that matches the field notes.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We’ll Test — </a:t>
            </a:r>
            <a:r>
              <a:rPr>
                <a:latin typeface="Courier"/>
              </a:rPr>
              <a:t>ps_df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 switched"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Goals for today, using </a:t>
            </a:r>
            <a:r>
              <a:rPr b="1">
                <a:latin typeface="Courier"/>
              </a:rPr>
              <a:t>ps_df</a:t>
            </a:r>
            <a:r>
              <a:rPr b="1"/>
              <a:t>: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t-distributions</a:t>
            </a:r>
          </a:p>
          <a:p>
            <a:pPr lvl="0"/>
            <a:r>
              <a:rPr/>
              <a:t>One-sample, two-sample, and paired t-tests</a:t>
            </a:r>
          </a:p>
          <a:p>
            <a:pPr lvl="0"/>
            <a:r>
              <a:rPr/>
              <a:t>Assumption tests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typically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 —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— probability of observing our result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threshold for rejecting H₀, typically 0.05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p-value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 (Statistical Significance and P-Values).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 &lt; p &lt;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 &lt; p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 &lt; p &lt;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value, for a one-sample test.</a:t>
            </a:r>
          </a:p>
          <a:p>
            <a:pPr lvl="0"/>
            <a:r>
              <a:rPr/>
              <a:t>n = 8 (df = 7) — 95% of the observations found to the left</a:t>
            </a:r>
          </a:p>
          <a:p>
            <a:pPr lvl="0"/>
            <a:r>
              <a:rPr/>
              <a:t>t 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/>
            <a:r>
              <a:rPr/>
              <a:t>n = 8 (df = 7), 95% of the observations are between t = −2.365 and t = 2.365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 — splitting 5% into two tails means each tail only gets 2.5%.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95% CI, Sample A: 17.6 ± 2.365 × (2.51 / 8^0.5) = ± 2.10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2.1”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</a:t>
                </a:r>
                <a:r>
                  <a:rPr sz="2000" i="1"/>
                  <a:t>Analysis of Biological Data</a:t>
                </a:r>
                <a:r>
                  <a:rPr sz="2000"/>
                  <a:t>, Ch. 11 — Inference for a Normal Population.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two questions do you think a one-sample t-test answers, and which needs a two-sample t-test?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Hypotheses and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the shady side differs from 15mm.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/>
            <a:r>
              <a:rPr/>
              <a:t>H₀: μ = 15 (the mean needle length on the shady side is 15mm)</a:t>
            </a:r>
          </a:p>
          <a:p>
            <a:pPr lvl="0"/>
            <a:r>
              <a:rPr/>
              <a:t>Hₐ: μ ≠ 15 (the mean needle length on the shady side is not 15mm)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blue line support normality; points that curve away — especially in the tails — are a warning sign.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here — it means we fail to reject normality.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Points beyond the whiskers are potential outliers — always look before you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60400"/>
            <a:ext cx="4749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green line (our observed t) falls inside the red rejection region — that’s what “significant” looks like on a t-distribution.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2600" y="660400"/>
            <a:ext cx="5029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relabeled onto the millimeter scale instead of the t scale. The blue line (H₀ = 15) sits outside the sample’s plausible range.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one-sample t-test at α = 0.05 showed that the mean needle length (… mm, SD = …) [was/was not] significantly different from the expected 15mm,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 — 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Based on the boxplot alone, what would you guess the two-sample t-test will conclude about needle length on the two sides?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 about needle lengths, write the null and alternative hypotheses:</a:t>
            </a:r>
          </a:p>
          <a:p>
            <a:pPr lvl="0" indent="0" marL="1270000">
              <a:buNone/>
            </a:pPr>
            <a:r>
              <a:rPr sz="2000"/>
              <a:t>Are needle lengths on shady and sunny sides different?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H0 =
Ha =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let’s compare needle lengths from the two sides.</a:t>
                </a:r>
              </a:p>
              <a:p>
                <a:pPr lvl="0" indent="0" marL="0">
                  <a:buNone/>
                </a:pPr>
                <a:r>
                  <a:rPr b="1"/>
                  <a:t>Question:</a:t>
                </a:r>
                <a:r>
                  <a:rPr/>
                  <a:t> 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t-test, which compares means from two independent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pooled variance = [(n₁−1)s₁² + (n₂−1)s₂²] / (n₁+n₂−2)</a:t>
                </a:r>
              </a:p>
              <a:p>
                <a:pPr lvl="0"/>
                <a:r>
                  <a:rPr/>
                  <a:t>n₁, n₂: sample sizes of the two groups</a:t>
                </a:r>
              </a:p>
              <a:p>
                <a:pPr lvl="0"/>
                <a:r>
                  <a:rPr/>
                  <a:t>√(1/n₁ + 1/n₂): the pooled standard error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12 — Comparing Two Means.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3: Calculate summary statistics grouped by side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Plotting Mean ± SE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5: Using ggplot to get a summary plot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ggplot</a:t>
            </a:r>
            <a:r>
              <a:rPr sz="2000"/>
              <a:t> can compute and plot the mean and standard error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a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the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covers non-parametric alternatives when normality or equal variance fails.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6: separate group data</a:t>
            </a:r>
          </a:p>
          <a:p>
            <a:pPr lvl="0" indent="0" marL="1270000">
              <a:buNone/>
            </a:pPr>
            <a:r>
              <a:rPr sz="2000"/>
              <a:t>Note you need to test each group separately for normality — first, split the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7: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8: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 frame.</a:t>
            </a:r>
          </a:p>
          <a:p>
            <a:pPr lvl="0" indent="0" marL="1270000">
              <a:buNone/>
            </a:pPr>
            <a:r>
              <a:rPr sz="2000" b="1"/>
              <a:t>Note:</a:t>
            </a:r>
            <a:r>
              <a:rPr sz="2000"/>
              <a:t> the Levene’s test result should be </a:t>
            </a:r>
            <a:r>
              <a:rPr sz="2000" b="1"/>
              <a:t>NOT significant</a:t>
            </a:r>
            <a:r>
              <a:rPr sz="2000"/>
              <a:t> — what is the null hypothesis here?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var.equal = TRUE for standard t-test,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 = FALSE for Welch's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Welch’s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equal-variance assumption is met</a:t>
            </a:r>
          </a:p>
          <a:p>
            <a:pPr lvl="0"/>
            <a:r>
              <a:rPr/>
              <a:t>Degrees of freedom = n₁ + n₂ − 2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(the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/>
              <a:t>Uses the </a:t>
            </a:r>
            <a:r>
              <a:rPr b="1"/>
              <a:t>Welch-Satterthwaite equation</a:t>
            </a:r>
            <a:r>
              <a:rPr/>
              <a:t> — df is typically non-integer and smaller than the standard t-test’s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t(…) = …, p = …”</a:t>
            </a:r>
          </a:p>
        </p:txBody>
      </p:sp>
      <p:pic>
        <p:nvPicPr>
          <p:cNvPr descr="t_tests_lecture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subjects or matched pairs</a:t>
            </a:r>
          </a:p>
          <a:p>
            <a:pPr lvl="0"/>
            <a:r>
              <a:rPr/>
              <a:t>Tests whether the mean difference between paired observations equals zero</a:t>
            </a:r>
          </a:p>
          <a:p>
            <a:pPr lvl="0"/>
            <a:r>
              <a:rPr/>
              <a:t>Examples: before/after measurements on the same individuals, left vs. right measurements, matched case-control studies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controls for individual variation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12, section on the paired design.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Going 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there is a lot of variation </a:t>
            </a:r>
            <a:r>
              <a:rPr i="1"/>
              <a:t>within</a:t>
            </a:r>
            <a:r>
              <a:rPr/>
              <a:t> trees, but the trend is the same across trees.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 —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 —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 —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one-sample, two-sample, and paired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conducting tests</a:t>
            </a:r>
          </a:p>
          <a:p>
            <a:pPr lvl="0"/>
            <a:r>
              <a:rPr sz="2000"/>
              <a:t>Visualize your data to understand patterns</a:t>
            </a:r>
          </a:p>
          <a:p>
            <a:pPr lvl="0"/>
            <a:r>
              <a:rPr sz="2000"/>
              <a:t>Report results comprehensively</a:t>
            </a:r>
          </a:p>
          <a:p>
            <a:pPr lvl="0"/>
            <a:r>
              <a:rPr sz="2000"/>
              <a:t>Consider alternatives when assumptions are violated — non-parametric tests, coming up soon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T-Tests: One, Two, Paired</dc:title>
  <dc:creator>Bill Perry</dc:creator>
  <cp:keywords/>
  <dc:description>The hypothesis-testing framework, the t-distribution, and one-sample, two-sample (Student’s and Welch’s), and paired t-tests — with assumption checks — on the class pine needle dataset.</dc:description>
  <dcterms:created xsi:type="dcterms:W3CDTF">2026-08-20T19:16:30Z</dcterms:created>
  <dcterms:modified xsi:type="dcterms:W3CDTF">2026-08-20T19:16:30Z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6</vt:lpwstr>
  </property>
  <property fmtid="{D5CDD505-2E9C-101B-9397-08002B2CF9AE}" pid="12" name="resources">
    <vt:lpwstr/>
  </property>
  <property fmtid="{D5CDD505-2E9C-101B-9397-08002B2CF9AE}" pid="13" name="subtitle">
    <vt:lpwstr>Comparing means</vt:lpwstr>
  </property>
  <property fmtid="{D5CDD505-2E9C-101B-9397-08002B2CF9AE}" pid="14" name="toc-title">
    <vt:lpwstr>Table of contents</vt:lpwstr>
  </property>
  <property fmtid="{D5CDD505-2E9C-101B-9397-08002B2CF9AE}" pid="15" name="week">
    <vt:lpwstr>3</vt:lpwstr>
  </property>
</Properties>
</file>