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Power and Type I &amp; II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average by </a:t>
            </a:r>
            <a:r>
              <a:rPr>
                <a:latin typeface="Courier"/>
              </a:rPr>
              <a:t>group</a:t>
            </a:r>
            <a:r>
              <a:rPr/>
              <a:t>,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tree_char</a:t>
            </a:r>
            <a:r>
              <a:rPr/>
              <a:t>, and </a:t>
            </a:r>
            <a:r>
              <a:rPr>
                <a:latin typeface="Courier"/>
              </a:rPr>
              <a:t>side</a:t>
            </a:r>
            <a:r>
              <a:rPr/>
              <a:t> before doing anything else?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test anything, review the framework from lecture: H₀, Hₐ, and α are all decided </a:t>
            </a:r>
            <a:r>
              <a:rPr i="1"/>
              <a:t>before</a:t>
            </a:r>
            <a:r>
              <a:rPr/>
              <a:t> you look at the data.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what’s the difference between a Type I error and a Type II error?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With df = 14 and a two-tailed α = 0.05, find the critical t-value with </a:t>
            </a:r>
            <a:r>
              <a:rPr sz="2000">
                <a:latin typeface="Courier"/>
              </a:rPr>
              <a:t>qt(0.975, df = 14)</a:t>
            </a:r>
            <a:r>
              <a:rPr sz="2000"/>
              <a:t>. Then use </a:t>
            </a:r>
            <a:r>
              <a:rPr sz="2000">
                <a:latin typeface="Courier"/>
              </a:rPr>
              <a:t>pt()</a:t>
            </a:r>
            <a:r>
              <a:rPr sz="2000"/>
              <a:t> to find the p-value for an observed t of 2.8 on the same df: </a:t>
            </a:r>
            <a:r>
              <a:rPr sz="2000">
                <a:latin typeface="Courier"/>
              </a:rPr>
              <a:t>2 * (1 - pt(2.8, df = 14))</a:t>
            </a:r>
            <a:r>
              <a:rPr sz="2000"/>
              <a:t>. Is 2.8 inside or outside the rejection region?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Exploratory Data Analysis and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distribution: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effect size (difference in means):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histogram, do the two distributions look like they overlap a lot, or are they clearly separated? Does that match the size of the </a:t>
            </a:r>
            <a:r>
              <a:rPr>
                <a:latin typeface="Courier"/>
              </a:rPr>
              <a:t>difference</a:t>
            </a:r>
            <a:r>
              <a:rPr/>
              <a:t> you just calculated?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Recompute </a:t>
            </a:r>
            <a:r>
              <a:rPr sz="2000">
                <a:latin typeface="Courier"/>
              </a:rPr>
              <a:t>pine_summary</a:t>
            </a:r>
            <a:r>
              <a:rPr sz="2000"/>
              <a:t>, but group by </a:t>
            </a:r>
            <a:r>
              <a:rPr sz="2000">
                <a:latin typeface="Courier"/>
              </a:rPr>
              <a:t>group</a:t>
            </a:r>
            <a:r>
              <a:rPr sz="2000"/>
              <a:t> (field team) instead of </a:t>
            </a:r>
            <a:r>
              <a:rPr sz="2000">
                <a:latin typeface="Courier"/>
              </a:rPr>
              <a:t>side</a:t>
            </a:r>
            <a:r>
              <a:rPr sz="2000"/>
              <a:t>. Do all teams show a similar mean and spread, or does one team look different?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Hₐ: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 the standard t-test (equal variances) and Welch’s t-test (unequal variances) depends on a Levene’s test result — review the T-Tests worksheet if you need a refresher.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t-statistic, degrees of freedom, and p-value? Do you reject or fail to reject H₀ at α = 0.05?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  df = ________  p = ________
Decision: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var.equal = FALSE</a:t>
            </a:r>
            <a:r>
              <a:rPr sz="2000"/>
              <a:t> (Welch’s t-test) and compare the p-value to the standard version above. How different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Statistical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is the probability of detecting a true effect — rejecting H₀ when it is actually false. A power analysis is typically done to determine the required sample size before a study, to evaluate whether a completed study’s sample size was adequate, or to find the minimum detectable effect size for a given sample. </a:t>
                </a:r>
                <a:r>
                  <a:rPr b="1"/>
                  <a:t>80% power is generally considered acceptable.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power to detect a 1mm difference: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Is the power above 80%? If our study is underpowered, what are two things we could change to increase power?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</a:t>
                </a:r>
                <a:r>
                  <a:rPr sz="2000">
                    <a:latin typeface="Courier"/>
                  </a:rPr>
                  <a:t>power.t.test()</a:t>
                </a:r>
                <a:r>
                  <a:rPr sz="2000"/>
                  <a:t> can also solve for </a:t>
                </a:r>
                <a:r>
                  <a:rPr sz="2000" b="1"/>
                  <a:t>sample size</a:t>
                </a:r>
                <a:r>
                  <a:rPr sz="2000"/>
                  <a:t> instead of power — leave </a:t>
                </a:r>
                <a:r>
                  <a:rPr sz="2000">
                    <a:latin typeface="Courier"/>
                  </a:rPr>
                  <a:t>n</a:t>
                </a:r>
                <a:r>
                  <a:rPr sz="2000"/>
                  <a:t> out and add </a:t>
                </a:r>
                <a:r>
                  <a:rPr sz="2000">
                    <a:latin typeface="Courier"/>
                  </a:rPr>
                  <a:t>power = 0.80</a:t>
                </a:r>
                <a:r>
                  <a:rPr sz="2000"/>
                  <a:t> instead. How many needles per side would you need to reliably (80% power) detect a 1mm difference?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power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0.80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present a plot with the mean and standard error to represent the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custom theme you can reuse on any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Run the whole </a:t>
            </a:r>
            <a:r>
              <a:rPr sz="2000">
                <a:latin typeface="Courier"/>
              </a:rPr>
              <a:t>theme_class &lt;- function(...) {...}</a:t>
            </a:r>
            <a:r>
              <a:rPr sz="2000"/>
              <a:t> block at once (select it all and run) — running just the inside line by line will fail, since those lines only make sense as part of the function.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your theme to the plot (note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&lt;-</a:t>
            </a:r>
            <a:r>
              <a:rPr/>
              <a:t>, so the original </a:t>
            </a:r>
            <a:r>
              <a:rPr>
                <a:latin typeface="Courier"/>
              </a:rPr>
              <a:t>pine_mean_se</a:t>
            </a:r>
            <a:r>
              <a:rPr/>
              <a:t> object is untouched):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put it all together with proper labels, a fixed y-axis range, and custom colors: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± 1 SE)"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hex-ish color names in </a:t>
            </a:r>
            <a:r>
              <a:rPr>
                <a:latin typeface="Courier"/>
              </a:rPr>
              <a:t>values =</a:t>
            </a:r>
            <a:r>
              <a:rPr/>
              <a:t> to two colors of your own choosing (e.g., </a:t>
            </a:r>
            <a:r>
              <a:rPr>
                <a:latin typeface="Courier"/>
              </a:rPr>
              <a:t>"darkblue"</a:t>
            </a:r>
            <a:r>
              <a:rPr/>
              <a:t>, </a:t>
            </a:r>
            <a:r>
              <a:rPr>
                <a:latin typeface="Courier"/>
              </a:rPr>
              <a:t>"darkorange"</a:t>
            </a:r>
            <a:r>
              <a:rPr/>
              <a:t>).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pine_mean_se</a:t>
            </a:r>
            <a:r>
              <a:rPr sz="2000"/>
              <a:t> currently uses </a:t>
            </a:r>
            <a:r>
              <a:rPr sz="2000">
                <a:latin typeface="Courier"/>
              </a:rPr>
              <a:t>color =</a:t>
            </a:r>
            <a:r>
              <a:rPr sz="2000"/>
              <a:t>, which only affects points and error bars — not a filled shape. Build a boxplot version using </a:t>
            </a:r>
            <a:r>
              <a:rPr sz="2000">
                <a:latin typeface="Courier"/>
              </a:rPr>
              <a:t>aes(side, length_mm, fill = side)</a:t>
            </a:r>
            <a:r>
              <a:rPr sz="2000"/>
              <a:t> + </a:t>
            </a:r>
            <a:r>
              <a:rPr sz="2000">
                <a:latin typeface="Courier"/>
              </a:rPr>
              <a:t>geom_boxplot()</a:t>
            </a:r>
            <a:r>
              <a:rPr sz="2000"/>
              <a:t> +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with the same </a:t>
            </a:r>
            <a:r>
              <a:rPr sz="2000">
                <a:latin typeface="Courier"/>
              </a:rPr>
              <a:t>labels</a:t>
            </a:r>
            <a:r>
              <a:rPr sz="2000"/>
              <a:t>/</a:t>
            </a:r>
            <a:r>
              <a:rPr sz="2000">
                <a:latin typeface="Courier"/>
              </a:rPr>
              <a:t>values</a:t>
            </a:r>
            <a:r>
              <a:rPr sz="2000"/>
              <a:t> pattern.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Reviewed Type I and Type II error and statistical power</a:t>
            </a:r>
          </a:p>
          <a:p>
            <a:pPr lvl="0" indent="-342900" marL="342900">
              <a:buAutoNum type="arabicPeriod"/>
            </a:pPr>
            <a:r>
              <a:rPr/>
              <a:t>Conducted a two-sample t-test</a:t>
            </a:r>
          </a:p>
          <a:p>
            <a:pPr lvl="0" indent="-342900" marL="342900">
              <a:buAutoNum type="arabicPeriod"/>
            </a:pPr>
            <a:r>
              <a:rPr/>
              <a:t>Calculated statistical power for our observed effect size</a:t>
            </a:r>
          </a:p>
          <a:p>
            <a:pPr lvl="0" indent="-342900" marL="342900">
              <a:buAutoNum type="arabicPeriod"/>
            </a:pPr>
            <a:r>
              <a:rPr/>
              <a:t>Built a publication-quality mean ± SE plot with a custom theme and custom colors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comprehensively, including effect size and power when relevant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confidence intervals that a t-test alone doesn’t tell us?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power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Explain the difference between a Type I and a Type II error</a:t>
            </a:r>
          </a:p>
          <a:p>
            <a:pPr lvl="0"/>
            <a:r>
              <a:rPr/>
              <a:t>☐ Run and interpret a two-sample t-test</a:t>
            </a:r>
          </a:p>
          <a:p>
            <a:pPr lvl="0"/>
            <a:r>
              <a:rPr/>
              <a:t>☐ Calculate statistical power (and required sample size) with </a:t>
            </a:r>
            <a:r>
              <a:rPr>
                <a:latin typeface="Courier"/>
              </a:rPr>
              <a:t>power.t.test()</a:t>
            </a:r>
          </a:p>
          <a:p>
            <a:pPr lvl="0"/>
            <a:r>
              <a:rPr/>
              <a:t>☐ Build a mean ± SE plot with a reusable custom theme and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07_power_and_error.R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Power and Type I &amp; II Error</dc:title>
  <dc:creator>Bill Perry</dc:creator>
  <cp:keywords/>
  <dc:description>Hands-on activity: p-values and errors, statistical power, and a publication-quality mean ± SE plot with custom colors, on the class pine needle dataset.</dc:description>
  <dcterms:created xsi:type="dcterms:W3CDTF">2026-08-28T18:19:41Z</dcterms:created>
  <dcterms:modified xsi:type="dcterms:W3CDTF">2026-08-28T18:19:41Z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