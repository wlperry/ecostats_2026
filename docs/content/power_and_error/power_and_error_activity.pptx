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Activity: Power and Type I &amp; II Error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Power and error rates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Worksheet: Power and Type I &amp; II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in order, at your own pace. Type every line of code yourself into a </a:t>
            </a:r>
            <a:r>
              <a:rPr sz="2000" b="1"/>
              <a:t>plain R script</a:t>
            </a:r>
            <a:r>
              <a:rPr sz="2000"/>
              <a:t> — do not copy-paste. Blocks marked </a:t>
            </a:r>
            <a:r>
              <a:rPr sz="2000" b="1"/>
              <a:t>▶ Run this</a:t>
            </a:r>
            <a:r>
              <a:rPr sz="2000"/>
              <a:t> are code you should type and execute. Blocks marked </a:t>
            </a:r>
            <a:r>
              <a:rPr sz="2000" b="1"/>
              <a:t>✏️ Your turn</a:t>
            </a:r>
            <a:r>
              <a:rPr sz="2000"/>
              <a:t> ask you to write, modify, or answer something. Boxes marked </a:t>
            </a:r>
            <a:r>
              <a:rPr sz="2000" b="1"/>
              <a:t>🚀 If you finish early</a:t>
            </a:r>
            <a:r>
              <a:rPr sz="2000"/>
              <a:t> are optional bonus material that goes a bit further than what we covered in lecture.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Setup — Load and Explore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   </a:t>
            </a:r>
            <a:r>
              <a:rPr>
                <a:solidFill>
                  <a:srgbClr val="5E5E5E"/>
                </a:solidFill>
                <a:latin typeface="Courier"/>
              </a:rPr>
              <a:t># For diagnostic tests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 </a:t>
            </a:r>
            <a:r>
              <a:rPr>
                <a:solidFill>
                  <a:srgbClr val="5E5E5E"/>
                </a:solidFill>
                <a:latin typeface="Courier"/>
              </a:rPr>
              <a:t># For data manipulation and visualization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pine_switch_df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"data/class_pine needle length switched.xlsx"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(pine_switch_df)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ps_df &lt;- pine_switch_df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(group, tree_no, tree_char, 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ps_shady_df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ps_sunny_df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(ps_df)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Why do we average by </a:t>
            </a:r>
            <a:r>
              <a:rPr>
                <a:latin typeface="Courier"/>
              </a:rPr>
              <a:t>group</a:t>
            </a:r>
            <a:r>
              <a:rPr/>
              <a:t>, </a:t>
            </a:r>
            <a:r>
              <a:rPr>
                <a:latin typeface="Courier"/>
              </a:rPr>
              <a:t>tree_no</a:t>
            </a:r>
            <a:r>
              <a:rPr/>
              <a:t>, </a:t>
            </a:r>
            <a:r>
              <a:rPr>
                <a:latin typeface="Courier"/>
              </a:rPr>
              <a:t>tree_char</a:t>
            </a:r>
            <a:r>
              <a:rPr/>
              <a:t>, and </a:t>
            </a:r>
            <a:r>
              <a:rPr>
                <a:latin typeface="Courier"/>
              </a:rPr>
              <a:t>side</a:t>
            </a:r>
            <a:r>
              <a:rPr/>
              <a:t> before doing anything else?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Hypothesis Testing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test anything, review the framework from lecture: H₀, Hₐ, and α are all decided </a:t>
            </a:r>
            <a:r>
              <a:rPr i="1"/>
              <a:t>before</a:t>
            </a:r>
            <a:r>
              <a:rPr/>
              <a:t> you look at the data.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For the question “Do needle lengths differ between the sunny and shady sides?”, write:</a:t>
            </a:r>
          </a:p>
          <a:p>
            <a:pPr lvl="0" indent="0">
              <a:buNone/>
            </a:pPr>
            <a:r>
              <a:rPr>
                <a:latin typeface="Courier"/>
              </a:rPr>
              <a:t>H0 = ________________________________________________________
Ha = ________________________________________________________
alpha = ________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one sentence, what’s the difference between a Type I error and a Type II error?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With df = 14 and a two-tailed α = 0.05, find the critical t-value with </a:t>
            </a:r>
            <a:r>
              <a:rPr sz="2000">
                <a:latin typeface="Courier"/>
              </a:rPr>
              <a:t>qt(0.975, df = 14)</a:t>
            </a:r>
            <a:r>
              <a:rPr sz="2000"/>
              <a:t>. Then use </a:t>
            </a:r>
            <a:r>
              <a:rPr sz="2000">
                <a:latin typeface="Courier"/>
              </a:rPr>
              <a:t>pt()</a:t>
            </a:r>
            <a:r>
              <a:rPr sz="2000"/>
              <a:t> to find the p-value for an observed t of 2.8 on the same df: </a:t>
            </a:r>
            <a:r>
              <a:rPr sz="2000">
                <a:latin typeface="Courier"/>
              </a:rPr>
              <a:t>2 * (1 - pt(2.8, df = 14))</a:t>
            </a:r>
            <a:r>
              <a:rPr sz="2000"/>
              <a:t>. Is 2.8 inside or outside the rejection region?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Exploratory Data Analysis and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pine_summary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 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(n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t_critical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 </a:t>
            </a:r>
            <a:r>
              <a:rPr>
                <a:solidFill>
                  <a:srgbClr val="5E5E5E"/>
                </a:solidFill>
                <a:latin typeface="Courier"/>
              </a:rPr>
              <a:t># 95% CI uses 0.975 (two-tailed)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ci_lower    =</a:t>
            </a:r>
            <a:r>
              <a:rPr>
                <a:solidFill>
                  <a:srgbClr val="003B4F"/>
                </a:solidFill>
                <a:latin typeface="Courier"/>
              </a:rPr>
              <a:t> mean_length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t_critical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se_length,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ci_upper    =</a:t>
            </a:r>
            <a:r>
              <a:rPr>
                <a:solidFill>
                  <a:srgbClr val="003B4F"/>
                </a:solidFill>
                <a:latin typeface="Courier"/>
              </a:rPr>
              <a:t> mean_length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t_critical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se_length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(pine_summary)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visualize the distribution: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Pine Needle Lengths"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"Frequency"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the effect size (difference in means):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pine_summary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difference =</a:t>
            </a:r>
            <a:r>
              <a:rPr>
                <a:solidFill>
                  <a:srgbClr val="003B4F"/>
                </a:solidFill>
                <a:latin typeface="Courier"/>
              </a:rPr>
              <a:t> mean_length[side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mean_length[side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Looking at the histogram, do the two distributions look like they overlap a lot, or are they clearly separated? Does that match the size of the </a:t>
            </a:r>
            <a:r>
              <a:rPr>
                <a:latin typeface="Courier"/>
              </a:rPr>
              <a:t>difference</a:t>
            </a:r>
            <a:r>
              <a:rPr/>
              <a:t> you just calculated?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Recompute </a:t>
            </a:r>
            <a:r>
              <a:rPr sz="2000">
                <a:latin typeface="Courier"/>
              </a:rPr>
              <a:t>pine_summary</a:t>
            </a:r>
            <a:r>
              <a:rPr sz="2000"/>
              <a:t>, but group by </a:t>
            </a:r>
            <a:r>
              <a:rPr sz="2000">
                <a:latin typeface="Courier"/>
              </a:rPr>
              <a:t>group</a:t>
            </a:r>
            <a:r>
              <a:rPr sz="2000"/>
              <a:t> (field team) instead of </a:t>
            </a:r>
            <a:r>
              <a:rPr sz="2000">
                <a:latin typeface="Courier"/>
              </a:rPr>
              <a:t>side</a:t>
            </a:r>
            <a:r>
              <a:rPr sz="2000"/>
              <a:t>. Do all teams show a similar mean and spread, or does one team look different?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H₀: μ₁ = μ₂ (the mean needle lengths are equal)</a:t>
            </a:r>
          </a:p>
          <a:p>
            <a:pPr lvl="0" indent="0" marL="0">
              <a:buNone/>
            </a:pPr>
            <a:r>
              <a:rPr/>
              <a:t>Hₐ: μ₁ ≠ μ₂ (the mean needle lengths are different)</a:t>
            </a:r>
          </a:p>
          <a:p>
            <a:pPr lvl="0" indent="0" marL="0">
              <a:buNone/>
            </a:pPr>
            <a:r>
              <a:rPr/>
              <a:t>Deciding between the standard t-test (equal variances) and Welch’s t-test (unequal variances) depends on a Levene’s test result — review the T-Tests worksheet if you need a refresher.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t_test_result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ps_df,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"Standard two-sample t-test:"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(t_test_result)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is the t-statistic, degrees of freedom, and p-value? Do you reject or fail to reject H₀ at α = 0.05?</a:t>
            </a:r>
          </a:p>
          <a:p>
            <a:pPr lvl="0" indent="0">
              <a:buNone/>
            </a:pPr>
            <a:r>
              <a:rPr>
                <a:latin typeface="Courier"/>
              </a:rPr>
              <a:t>t = ________  df = ________  p = ________
Decision: 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Rerun the test with </a:t>
            </a:r>
            <a:r>
              <a:rPr sz="2000">
                <a:latin typeface="Courier"/>
              </a:rPr>
              <a:t>var.equal = FALSE</a:t>
            </a:r>
            <a:r>
              <a:rPr sz="2000"/>
              <a:t> (Welch’s t-test) and compare the p-value to the standard version above. How different are they?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Statistical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Statistical power is the probability of detecting a true effect — rejecting H₀ when it is actually false. A power analysis is typically done to determine the required sample size before a study, to evaluate whether a completed study’s sample size was adequate, or to find the minimum detectable effect size for a given sample. </a:t>
                </a:r>
                <a:r>
                  <a:rPr b="1"/>
                  <a:t>80% power is generally considered acceptable.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sSubSup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sSubSup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▶ Run this</a:t>
                </a:r>
                <a:r>
                  <a:rPr/>
                  <a:t> — power to detect a 1mm difference: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side_diff &lt;-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sunny_n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nrow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(ps_sunny_df)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shady_n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nrow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sun_sd_pooled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sqrt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((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var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(ps_sunny_df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(sunny_n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       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var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(ps_shady_df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(shady_n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         (sunny_n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shady_n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2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sun_effect_size &lt;- side_diff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sun_sd_pooled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sun_df &lt;- sunny_n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shady_n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2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sun_alpha &lt;-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0.05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sun_power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power.t.test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min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(sunny_n, shady_n),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delta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side_diff,     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Raw difference, not effect size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sd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sun_sd_pooled,     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Use pooled SD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sig.level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sun_alpha,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type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"two.sample"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alternative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"two.sided"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"Sample sizes:"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paste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"Sunny:"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sunny_n,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"Shady:"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shady_n))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paste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"Pooled SD:"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round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(sun_sd_pooled,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3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)))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paste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"Effect size (Cohen's d):"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round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(sun_effect_size,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3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)))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"Power analysis results:"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print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(sun_power)</a:t>
                </a:r>
              </a:p>
              <a:p>
                <a:pPr lvl="0" indent="0" marL="0">
                  <a:buNone/>
                </a:pPr>
                <a:r>
                  <a:rPr/>
                  <a:t>✏️ </a:t>
                </a:r>
                <a:r>
                  <a:rPr b="1"/>
                  <a:t>Your turn:</a:t>
                </a:r>
                <a:r>
                  <a:rPr/>
                  <a:t> Is the power above 80%? If our study is underpowered, what are two things we could change to increase power? </a:t>
                </a:r>
                <a:r>
                  <a:rPr>
                    <a:latin typeface="Courier"/>
                  </a:rPr>
                  <a:t>________________________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🚀 If you finish early:</a:t>
                </a:r>
                <a:r>
                  <a:rPr sz="2000"/>
                  <a:t> </a:t>
                </a:r>
                <a:r>
                  <a:rPr sz="2000">
                    <a:latin typeface="Courier"/>
                  </a:rPr>
                  <a:t>power.t.test()</a:t>
                </a:r>
                <a:r>
                  <a:rPr sz="2000"/>
                  <a:t> can also solve for </a:t>
                </a:r>
                <a:r>
                  <a:rPr sz="2000" b="1"/>
                  <a:t>sample size</a:t>
                </a:r>
                <a:r>
                  <a:rPr sz="2000"/>
                  <a:t> instead of power — leave </a:t>
                </a:r>
                <a:r>
                  <a:rPr sz="2000">
                    <a:latin typeface="Courier"/>
                  </a:rPr>
                  <a:t>n</a:t>
                </a:r>
                <a:r>
                  <a:rPr sz="2000"/>
                  <a:t> out and add </a:t>
                </a:r>
                <a:r>
                  <a:rPr sz="2000">
                    <a:latin typeface="Courier"/>
                  </a:rPr>
                  <a:t>power = 0.80</a:t>
                </a:r>
                <a:r>
                  <a:rPr sz="2000"/>
                  <a:t> instead. How many needles per side would you need to reliably (80% power) detect a 1mm difference?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power.t.test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delta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side_diff,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sd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sun_sd_pooled,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sig.level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sun_alpha,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power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0.80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type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"two.sample"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alternative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"two.sided"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A Publication-Quality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Typically we present a plot with the mean and standard error to represent the data.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pine_mean_se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(side,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"mean_se"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pine_mean_se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a custom theme you can reuse on any plot: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theme_class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base_family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"Sans"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panel.background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element_rect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plot.background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element_rect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panel.grid.major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"blank"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panel.grid.minor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"blank"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axis.text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axis.title.x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axis.title.y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axis.text.x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angle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vjust =</a:t>
            </a:r>
            <a:r>
              <a:rPr>
                <a:solidFill>
                  <a:srgbClr val="003B4F"/>
                </a:solidFill>
                <a:latin typeface="Courier"/>
              </a:rPr>
              <a:t> .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.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axis.text.y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axis.ticks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axis.line.x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"solid"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axis.line.y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"solid"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legend.text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legend.title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legend.position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"right"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legend.key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element_rect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legend.background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element_rect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panel.border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plot.title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2.12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plot.caption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1.12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Run the whole </a:t>
            </a:r>
            <a:r>
              <a:rPr sz="2000">
                <a:latin typeface="Courier"/>
              </a:rPr>
              <a:t>theme_class &lt;- function(...) {...}</a:t>
            </a:r>
            <a:r>
              <a:rPr sz="2000"/>
              <a:t> block at once (select it all and run) — running just the inside line by line will fail, since those lines only make sense as part of the function.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apply your theme to the plot (note </a:t>
            </a:r>
            <a:r>
              <a:rPr>
                <a:latin typeface="Courier"/>
              </a:rPr>
              <a:t>+</a:t>
            </a:r>
            <a:r>
              <a:rPr/>
              <a:t>, not </a:t>
            </a:r>
            <a:r>
              <a:rPr>
                <a:latin typeface="Courier"/>
              </a:rPr>
              <a:t>&lt;-</a:t>
            </a:r>
            <a:r>
              <a:rPr/>
              <a:t>, so the original </a:t>
            </a:r>
            <a:r>
              <a:rPr>
                <a:latin typeface="Courier"/>
              </a:rPr>
              <a:t>pine_mean_se</a:t>
            </a:r>
            <a:r>
              <a:rPr/>
              <a:t> object is untouched):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pine_mean_se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theme_class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put it all together with proper labels, a fixed y-axis range, and custom colors: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pine_mean_se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(side,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"mean_se"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Length (mm ± 1 SE)"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coord_cartesian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theme_class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"Shady 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"Sunny Side"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"darkgreen"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"coral"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pine_mean_se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the two hex-ish color names in </a:t>
            </a:r>
            <a:r>
              <a:rPr>
                <a:latin typeface="Courier"/>
              </a:rPr>
              <a:t>values =</a:t>
            </a:r>
            <a:r>
              <a:rPr/>
              <a:t> to two colors of your own choosing (e.g., </a:t>
            </a:r>
            <a:r>
              <a:rPr>
                <a:latin typeface="Courier"/>
              </a:rPr>
              <a:t>"darkblue"</a:t>
            </a:r>
            <a:r>
              <a:rPr/>
              <a:t>, </a:t>
            </a:r>
            <a:r>
              <a:rPr>
                <a:latin typeface="Courier"/>
              </a:rPr>
              <a:t>"darkorange"</a:t>
            </a:r>
            <a:r>
              <a:rPr/>
              <a:t>). Re-run and confirm the plot updates.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</a:t>
            </a:r>
            <a:r>
              <a:rPr sz="2000">
                <a:latin typeface="Courier"/>
              </a:rPr>
              <a:t>pine_mean_se</a:t>
            </a:r>
            <a:r>
              <a:rPr sz="2000"/>
              <a:t> currently uses </a:t>
            </a:r>
            <a:r>
              <a:rPr sz="2000">
                <a:latin typeface="Courier"/>
              </a:rPr>
              <a:t>color =</a:t>
            </a:r>
            <a:r>
              <a:rPr sz="2000"/>
              <a:t>, which only affects points and error bars — not a filled shape. Build a boxplot version using </a:t>
            </a:r>
            <a:r>
              <a:rPr sz="2000">
                <a:latin typeface="Courier"/>
              </a:rPr>
              <a:t>aes(side, length_mm, fill = side)</a:t>
            </a:r>
            <a:r>
              <a:rPr sz="2000"/>
              <a:t> + </a:t>
            </a:r>
            <a:r>
              <a:rPr sz="2000">
                <a:latin typeface="Courier"/>
              </a:rPr>
              <a:t>geom_boxplot()</a:t>
            </a:r>
            <a:r>
              <a:rPr sz="2000"/>
              <a:t> + </a:t>
            </a:r>
            <a:r>
              <a:rPr sz="2000">
                <a:latin typeface="Courier"/>
              </a:rPr>
              <a:t>scale_fill_manual()</a:t>
            </a:r>
            <a:r>
              <a:rPr sz="2000"/>
              <a:t> with the same </a:t>
            </a:r>
            <a:r>
              <a:rPr sz="2000">
                <a:latin typeface="Courier"/>
              </a:rPr>
              <a:t>labels</a:t>
            </a:r>
            <a:r>
              <a:rPr sz="2000"/>
              <a:t>/</a:t>
            </a:r>
            <a:r>
              <a:rPr sz="2000">
                <a:latin typeface="Courier"/>
              </a:rPr>
              <a:t>values</a:t>
            </a:r>
            <a:r>
              <a:rPr sz="2000"/>
              <a:t> pattern.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activity, we’ve:</a:t>
            </a:r>
          </a:p>
          <a:p>
            <a:pPr lvl="0" indent="-342900" marL="342900">
              <a:buAutoNum type="arabicPeriod"/>
            </a:pPr>
            <a:r>
              <a:rPr/>
              <a:t>Formulated hypotheses about pine needle length</a:t>
            </a:r>
          </a:p>
          <a:p>
            <a:pPr lvl="0" indent="-342900" marL="342900">
              <a:buAutoNum type="arabicPeriod"/>
            </a:pPr>
            <a:r>
              <a:rPr/>
              <a:t>Reviewed Type I and Type II error and statistical power</a:t>
            </a:r>
          </a:p>
          <a:p>
            <a:pPr lvl="0" indent="-342900" marL="342900">
              <a:buAutoNum type="arabicPeriod"/>
            </a:pPr>
            <a:r>
              <a:rPr/>
              <a:t>Conducted a two-sample t-test</a:t>
            </a:r>
          </a:p>
          <a:p>
            <a:pPr lvl="0" indent="-342900" marL="342900">
              <a:buAutoNum type="arabicPeriod"/>
            </a:pPr>
            <a:r>
              <a:rPr/>
              <a:t>Calculated statistical power for our observed effect size</a:t>
            </a:r>
          </a:p>
          <a:p>
            <a:pPr lvl="0" indent="-342900" marL="342900">
              <a:buAutoNum type="arabicPeriod"/>
            </a:pPr>
            <a:r>
              <a:rPr/>
              <a:t>Built a publication-quality mean ± SE plot with a custom theme and custom colors</a:t>
            </a:r>
          </a:p>
          <a:p>
            <a:pPr lvl="0" indent="0" marL="0">
              <a:buNone/>
            </a:pPr>
            <a:r>
              <a:rPr b="1"/>
              <a:t>Key takeaways:</a:t>
            </a:r>
          </a:p>
          <a:p>
            <a:pPr lvl="0"/>
            <a:r>
              <a:rPr/>
              <a:t>Always check assumptions before conducting tests</a:t>
            </a:r>
          </a:p>
          <a:p>
            <a:pPr lvl="0"/>
            <a:r>
              <a:rPr/>
              <a:t>Visualize your data to understand patterns</a:t>
            </a:r>
          </a:p>
          <a:p>
            <a:pPr lvl="0"/>
            <a:r>
              <a:rPr/>
              <a:t>Report results comprehensively, including effect size and power when relevant</a:t>
            </a:r>
          </a:p>
          <a:p>
            <a:pPr lvl="0"/>
            <a:r>
              <a:rPr/>
              <a:t>Consider alternatives when assumptions are violated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Reflection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How does sample size affect our confidence in estimating the population mean?</a:t>
            </a:r>
          </a:p>
          <a:p>
            <a:pPr lvl="0" indent="-342900" marL="342900">
              <a:buAutoNum type="arabicPeriod"/>
            </a:pPr>
            <a:r>
              <a:rPr/>
              <a:t>Why is the t-distribution more appropriate than the normal distribution when working with small samples?</a:t>
            </a:r>
          </a:p>
          <a:p>
            <a:pPr lvl="0" indent="-342900" marL="342900">
              <a:buAutoNum type="arabicPeriod"/>
            </a:pPr>
            <a:r>
              <a:rPr/>
              <a:t>When comparing two populations, what can we learn from confidence intervals that a t-test alone doesn’t tell us?</a:t>
            </a:r>
          </a:p>
          <a:p>
            <a:pPr lvl="0" indent="-342900" marL="342900">
              <a:buAutoNum type="arabicPeriod"/>
            </a:pPr>
            <a:r>
              <a:rPr/>
              <a:t>How would you explain the concept of statistical power to someone who has never taken a statistics course?</a:t>
            </a:r>
          </a:p>
          <a:p>
            <a:pPr lvl="0" indent="-342900" marL="342900">
              <a:buAutoNum type="arabicPeriod"/>
            </a:pPr>
            <a:r>
              <a:rPr/>
              <a:t>What do we do if assumptions fail?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State H₀, Hₐ, and α </a:t>
            </a:r>
            <a:r>
              <a:rPr i="1"/>
              <a:t>before</a:t>
            </a:r>
            <a:r>
              <a:rPr/>
              <a:t> running a test</a:t>
            </a:r>
          </a:p>
          <a:p>
            <a:pPr lvl="0"/>
            <a:r>
              <a:rPr/>
              <a:t>☐ Explain the difference between a Type I and a Type II error</a:t>
            </a:r>
          </a:p>
          <a:p>
            <a:pPr lvl="0"/>
            <a:r>
              <a:rPr/>
              <a:t>☐ Run and interpret a two-sample t-test</a:t>
            </a:r>
          </a:p>
          <a:p>
            <a:pPr lvl="0"/>
            <a:r>
              <a:rPr/>
              <a:t>☐ Calculate statistical power (and required sample size) with </a:t>
            </a:r>
            <a:r>
              <a:rPr>
                <a:latin typeface="Courier"/>
              </a:rPr>
              <a:t>power.t.test()</a:t>
            </a:r>
          </a:p>
          <a:p>
            <a:pPr lvl="0"/>
            <a:r>
              <a:rPr/>
              <a:t>☐ Build a mean ± SE plot with a reusable custom theme and </a:t>
            </a:r>
            <a:r>
              <a:rPr>
                <a:latin typeface="Courier"/>
              </a:rPr>
              <a:t>scale_color_manual()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📤 What to turn in before next class</a:t>
            </a:r>
          </a:p>
          <a:p>
            <a:pPr lvl="0" indent="0" marL="1270000">
              <a:buNone/>
            </a:pPr>
            <a:r>
              <a:rPr sz="2000"/>
              <a:t>Upload both of these to the course management system:</a:t>
            </a:r>
          </a:p>
          <a:p>
            <a:pPr lvl="0" indent="-342900" marL="342900">
              <a:buAutoNum type="arabicPeriod"/>
            </a:pPr>
            <a:r>
              <a:rPr sz="2000"/>
              <a:t>Your code — the </a:t>
            </a:r>
            <a:r>
              <a:rPr sz="2000">
                <a:latin typeface="Courier"/>
              </a:rPr>
              <a:t>scripts/</a:t>
            </a:r>
            <a:r>
              <a:rPr sz="2000"/>
              <a:t> folder (or just </a:t>
            </a:r>
            <a:r>
              <a:rPr sz="2000">
                <a:latin typeface="Courier"/>
              </a:rPr>
              <a:t>07_power_and_error.R</a:t>
            </a:r>
            <a:r>
              <a:rPr sz="2000"/>
              <a:t>)</a:t>
            </a:r>
          </a:p>
          <a:p>
            <a:pPr lvl="0" indent="-342900" marL="342900">
              <a:buAutoNum type="arabicPeriod"/>
            </a:pPr>
            <a:r>
              <a:rPr sz="2000"/>
              <a:t>This worksheet, with your written answers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run </a:t>
            </a:r>
            <a:r>
              <a:rPr>
                <a:latin typeface="Courier"/>
              </a:rPr>
              <a:t>library(tidyverse)</a:t>
            </a:r>
            <a:r>
              <a:rPr/>
              <a:t>, </a:t>
            </a:r>
            <a:r>
              <a:rPr>
                <a:latin typeface="Courier"/>
              </a:rPr>
              <a:t>library(car)</a:t>
            </a:r>
            <a:r>
              <a:rPr/>
              <a:t>, and </a:t>
            </a:r>
            <a:r>
              <a:rPr>
                <a:latin typeface="Courier"/>
              </a:rPr>
              <a:t>library(readxl)</a:t>
            </a:r>
            <a:r>
              <a:rPr/>
              <a:t>?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%&gt;%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Activity: Power and Type I &amp; II Error</dc:title>
  <dc:creator>Bill Perry</dc:creator>
  <cp:keywords/>
  <dc:description>Hands-on activity: p-values and errors, statistical power, and a publication-quality mean ± SE plot with custom colors, on the class pine needle dataset.</dc:description>
  <dcterms:created xsi:type="dcterms:W3CDTF">2026-08-25T18:56:34Z</dcterms:created>
  <dcterms:modified xsi:type="dcterms:W3CDTF">2026-08-25T18:56:34Z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7</vt:lpwstr>
  </property>
  <property fmtid="{D5CDD505-2E9C-101B-9397-08002B2CF9AE}" pid="13" name="resources">
    <vt:lpwstr/>
  </property>
  <property fmtid="{D5CDD505-2E9C-101B-9397-08002B2CF9AE}" pid="14" name="subtitle">
    <vt:lpwstr>Power and error rates</vt:lpwstr>
  </property>
  <property fmtid="{D5CDD505-2E9C-101B-9397-08002B2CF9AE}" pid="15" name="toc-title">
    <vt:lpwstr>Table of contents</vt:lpwstr>
  </property>
  <property fmtid="{D5CDD505-2E9C-101B-9397-08002B2CF9AE}" pid="16" name="week">
    <vt:lpwstr>4</vt:lpwstr>
  </property>
</Properties>
</file>