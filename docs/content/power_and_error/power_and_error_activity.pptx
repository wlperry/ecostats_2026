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Type I &amp; II Error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error rates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6: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 in activity 5?</a:t>
            </a:r>
          </a:p>
          <a:p>
            <a:pPr lvl="0"/>
            <a:r>
              <a:rPr/>
              <a:t>Understanding standard normal distributions and z-scores</a:t>
            </a:r>
          </a:p>
          <a:p>
            <a:pPr lvl="0"/>
            <a:r>
              <a:rPr/>
              <a:t>Calculating and interpreting standard error</a:t>
            </a:r>
          </a:p>
          <a:p>
            <a:pPr lvl="0"/>
            <a:r>
              <a:rPr/>
              <a:t>Creating confidence intervals</a:t>
            </a:r>
          </a:p>
          <a:p>
            <a:pPr lvl="0"/>
            <a:r>
              <a:rPr/>
              <a:t>Working with the Student’s t-distribution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focus:</a:t>
            </a:r>
          </a:p>
          <a:p>
            <a:pPr lvl="0"/>
            <a:r>
              <a:rPr/>
              <a:t>Review more r code</a:t>
            </a:r>
          </a:p>
          <a:p>
            <a:pPr lvl="0"/>
            <a:r>
              <a:rPr/>
              <a:t>understand α alpha and </a:t>
            </a:r>
            <a:r>
              <a:rPr b="1"/>
              <a:t>β</a:t>
            </a:r>
            <a:r>
              <a:rPr/>
              <a:t> beta errors</a:t>
            </a:r>
          </a:p>
          <a:p>
            <a:pPr lvl="0"/>
            <a:r>
              <a:rPr/>
              <a:t>do more</a:t>
            </a:r>
          </a:p>
          <a:p>
            <a:pPr lvl="1"/>
            <a:r>
              <a:rPr/>
              <a:t>1 sample t tests</a:t>
            </a:r>
          </a:p>
          <a:p>
            <a:pPr lvl="1"/>
            <a:r>
              <a:rPr/>
              <a:t>2 sample t tests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carData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Conflicts ────────────────────────────────────────── tidyverse_conflicts() ──
✖ dplyr::filter() masks stats::filter()
✖ dplyr::lag()    masks stats::lag()
✖ dplyr::recode() masks car::recode()
✖ purrr::some()   masks car::some()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(pine_switch_df)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tree_no tree_char side  length_mm
  &lt;chr&gt;   &lt;dbl&gt; &lt;chr&gt;     &lt;chr&gt;     &lt;dbl&gt;
1 five        1 tree_1    sunny      22.7
2 five        1 tree_1    sunny      21.1
3 five        1 tree_1    sunny      18.6
4 five        1 tree_1    sunny      18.6
5 five        1 tree_1    sunny      21.0
6 five        1 tree_1    sunny      18.9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# Groups:   group, tree_no, tree_char [3]
  group                      tree_no tree_char side  length_mm
  &lt;chr&gt;                        &lt;dbl&gt; &lt;chr&gt;     &lt;chr&gt;     &lt;dbl&gt;
1 big_fat_fecund_female_fish       2 tree_2    shady      15.4
2 big_fat_fecund_female_fish       2 tree_2    sunny      13.2
3 bill                             3 tree_3    shady      16.7
4 bill                             3 tree_3    sunny      16.0
5 ciabatta                         5 tree_5    shady      19.1
6 ciabatta                         5 tree_5    sunny      17.7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hypothesis tests, we should always explore our data to understand its characteristics.</a:t>
            </a:r>
          </a:p>
          <a:p>
            <a:pPr lvl="0" indent="0" marL="0">
              <a:buNone/>
            </a:pPr>
            <a:r>
              <a:rPr/>
              <a:t>Let’s calculate summary statistics and create visualizations.</a:t>
            </a:r>
          </a:p>
          <a:p>
            <a:pPr lvl="0" indent="0" marL="0">
              <a:buNone/>
            </a:pPr>
            <a:r>
              <a:rPr b="1"/>
              <a:t>Activity: Calculate basic summary statistics for pine needle length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Calculate summary statistics for pine needle length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Hint: Use summarize() function to calculate mean, sd, n, etc.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summary table for all pine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t_critical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95% CI uses 0.975 (two-tailed)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(pine_summary)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side  mean_length sd_length     n se_length t_critical ci_lower ci_upper
  &lt;chr&gt;       &lt;dbl&gt;     &lt;dbl&gt; &lt;int&gt;     &lt;dbl&gt;      &lt;dbl&gt;    &lt;dbl&gt;    &lt;dbl&gt;
1 shady        17.6      2.51     8     0.886       2.36     15.5     19.7
2 sunny        16.2      2.64     8     0.934       2.36     13.9     18.4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calculate summary statistics by wind exposure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Visualizing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Create visualizations of pine needle length</a:t>
            </a:r>
          </a:p>
          <a:p>
            <a:pPr lvl="0" indent="0" marL="0">
              <a:buNone/>
            </a:pPr>
            <a:r>
              <a:rPr/>
              <a:t>Create a histogram and a boxplot to visualize the distribution of pine needle length values.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data visualization helps us understand:</a:t>
            </a:r>
          </a:p>
          <a:p>
            <a:pPr lvl="0"/>
            <a:r>
              <a:rPr/>
              <a:t>The central tendency</a:t>
            </a:r>
          </a:p>
          <a:p>
            <a:pPr lvl="0"/>
            <a:r>
              <a:rPr/>
              <a:t>The spread of the data</a:t>
            </a:r>
          </a:p>
          <a:p>
            <a:pPr lvl="0"/>
            <a:r>
              <a:rPr/>
              <a:t>Potential outliers</a:t>
            </a:r>
          </a:p>
          <a:p>
            <a:pPr lvl="0"/>
            <a:r>
              <a:rPr/>
              <a:t>Shape of distribution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Task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Create a histogram of pine needle length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Hint: Use ggplot() and geom_histogram()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Histogram of all pine needle lengths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Pine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ower_and_error_activity_files/figure-pptx/visual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can you do this by side to see both plots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Effect size or difference in means?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Exercise: Calculate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-1.45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Conduct a two-sample t-test</a:t>
            </a:r>
          </a:p>
          <a:p>
            <a:pPr lvl="0" indent="0" marL="0">
              <a:buNone/>
            </a:pPr>
            <a:r>
              <a:rPr/>
              <a:t>Now we can compare the mean pine needle lengths between sunny and shady sides.</a:t>
            </a:r>
          </a:p>
          <a:p>
            <a:pPr lvl="0" indent="0" marL="0">
              <a:buNone/>
            </a:pPr>
            <a:r>
              <a:rPr/>
              <a:t>H₀: μ₁ = μ₂ (The mean needle lengths are equal)</a:t>
            </a:r>
          </a:p>
          <a:p>
            <a:pPr lvl="0" indent="0" marL="0">
              <a:buNone/>
            </a:pPr>
            <a:r>
              <a:rPr/>
              <a:t>H₁: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Based on our Levene’s test result.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Statistical power represents the probability of detecting a true effect (rejecting the null hypothesis when it is false). In this case, with a power of 97%, there’s a 97% chance of detecting a true difference of 30 units between the means of the two groups if such a difference actually exists.</a:t>
                </a:r>
              </a:p>
              <a:p>
                <a:pPr lvl="0" indent="0" marL="0">
                  <a:buNone/>
                </a:pPr>
                <a:r>
                  <a:rPr/>
                  <a:t>A power analysis like this is typically done for one of these purposes: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Before data collection to determine required sample size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After a study to evaluate if the sample size was adequate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To determine the minimum detectable effect size with the given sample</a:t>
                </a:r>
              </a:p>
              <a:p>
                <a:pPr lvl="0" indent="0" marL="0">
                  <a:buNone/>
                </a:pPr>
                <a:r>
                  <a:rPr/>
                  <a:t>With 97% power, this test has excellent ability to detect the specified effect size. Generally, </a:t>
                </a:r>
                <a:r>
                  <a:rPr b="1"/>
                  <a:t>80% power is considered acceptable</a:t>
                </a:r>
                <a:r>
                  <a:rPr/>
                  <a:t>, so 97% indicates a very well-powered study for detecting a difference of 30mm between the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power for detecting a 1 mm difference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side_diff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Get sample sizes # note assumes no missing values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sunny_n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pooled standard deviation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sun_sd_pooled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Cohen's d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sun_effect_size &lt;- side_diff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degrees of freedom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sun_df &lt;- 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Set significance level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sun_alpha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power (fixed parameters)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sun_power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(sunny_n, shady_n),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Raw difference, not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pooled SD, not side_diff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0.05, not 0.5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Display results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sizes:"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"Sample sizes:"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sunny_n,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"Sunny: 8 Shady: 8"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"Pooled SD:"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(sun_sd_pooled,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"Pooled SD: 2.575"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"Effect size (Cohen's d):"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(sun_effect_size,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"Effect size (Cohen's d): 0.388"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"Power analysis results:"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"Power analysis results:"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(sun_power)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 Two-sample t test power calculation 
              n = 8
          delta = 1
             sd = 2.575237
      sig.level = 0.05
          power = 0.1083557
    alternative = two.sided
NOTE: n is number in *each* group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to make a final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Typically we will make a plot that has the mean and standard error on it to represent the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Your task is to make a more publication quality final plot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geom=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</p:txBody>
      </p:sp>
      <p:pic>
        <p:nvPicPr>
          <p:cNvPr descr="power_and_error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make a new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you can customize a plot with your own theme</a:t>
            </a:r>
          </a:p>
          <a:p>
            <a:pPr lvl="0" indent="0" marL="0">
              <a:buNone/>
            </a:pPr>
            <a:r>
              <a:rPr/>
              <a:t>Run this block or ctrl/command + enter on the very start of the code as running inside the function fails.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your custom theme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theme_class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 PLOT FILL AND GRIDS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panel.background=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plot.background=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removes the grid 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X and Y LABELS APPEARANCE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text on ticks and overrides all below if not 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axis.title.x=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x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axis.title.y=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y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angle=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hjust=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for X tick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5E5E5E"/>
                </a:solidFill>
                <a:latin typeface="Courier"/>
              </a:rPr>
              <a:t># for Y tick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plot.title = element_text(hjust = 0.5, colour="black", size=22, face="bold"),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AXES LINES AND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LEGEND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TEXT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POSITION AND JUSTIFICATION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legend.justification=c(0.1,1),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legend.position=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REMOVE BOX BEHIND LEGEND SYMBOLS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legend.key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REMOVE LEGEND BOX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PLOT BOX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panel.border = element_rect(color = "black", fill = NA, size=2),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turn off an element element_blank()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vjust=</a:t>
            </a:r>
            <a:r>
              <a:rPr>
                <a:solidFill>
                  <a:srgbClr val="AD0000"/>
                </a:solidFill>
                <a:latin typeface="Courier"/>
              </a:rPr>
              <a:t>2.12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vjust=</a:t>
            </a:r>
            <a:r>
              <a:rPr>
                <a:solidFill>
                  <a:srgbClr val="AD0000"/>
                </a:solidFill>
                <a:latin typeface="Courier"/>
              </a:rPr>
              <a:t>1.12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apply your theme to the plot above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add things to an existing plot as we go.. and it is not over writing the plot as we are not using the </a:t>
            </a:r>
            <a:r>
              <a:rPr>
                <a:latin typeface="Courier"/>
              </a:rPr>
              <a:t>&lt;-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power_and_error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Further modifications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geom=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 \u00B1 1 SE)"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</p:txBody>
      </p:sp>
      <p:pic>
        <p:nvPicPr>
          <p:cNvPr descr="power_and_error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a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completing the activities, discuss these questions with your group:</a:t>
            </a:r>
          </a:p>
          <a:p>
            <a:pPr lvl="0" indent="-342900" marL="342900">
              <a:buAutoNum type="arabicPeriod"/>
            </a:pPr>
            <a:r>
              <a:rPr/>
              <a:t>How does sample size affect our confidence in estimating the population mean?</a:t>
            </a:r>
          </a:p>
          <a:p>
            <a:pPr lvl="0" indent="-342900" marL="342900">
              <a:buAutoNum type="arabicPeriod"/>
            </a:pPr>
            <a:r>
              <a:rPr/>
              <a:t>Why is the t-distribution more appropriate than the normal distribution when working with small samples?</a:t>
            </a:r>
          </a:p>
          <a:p>
            <a:pPr lvl="0" indent="-342900" marL="342900">
              <a:buAutoNum type="arabicPeriod"/>
            </a:pPr>
            <a:r>
              <a:rPr/>
              <a:t>When comparing two populations, what can we learn from looking at confidence intervals versus performing a t-test?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statistical significance to someone who has never taken a statistics course?</a:t>
            </a:r>
          </a:p>
          <a:p>
            <a:pPr lvl="0" indent="-342900" marL="342900">
              <a:buAutoNum type="arabicPeriod"/>
            </a:pPr>
            <a:r>
              <a:rPr/>
              <a:t>What do we do if assumptions FAIL!!!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and Type I &amp; II Error</dc:title>
  <dc:creator>Bill Perry</dc:creator>
  <cp:keywords/>
  <dc:description>Hands-on activity: power and error rates.</dc:description>
  <dcterms:created xsi:type="dcterms:W3CDTF">2026-08-20T14:36:46Z</dcterms:created>
  <dcterms:modified xsi:type="dcterms:W3CDTF">2026-08-20T14:36:46Z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Power and error rates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