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data/pine_data.csv" TargetMode="External" /><Relationship Id="rId3" Type="http://schemas.openxmlformats.org/officeDocument/2006/relationships/hyperlink" Target="data/horned_lizards.csv" TargetMode="External" /><Relationship Id="rId4" Type="http://schemas.openxmlformats.org/officeDocument/2006/relationships/hyperlink" Target="data/08_power_and_error.R"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Power and Type I &amp; II Error</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Errors and power</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Where We Left Off</a:t>
            </a:r>
          </a:p>
        </p:txBody>
      </p:sp>
      <p:sp>
        <p:nvSpPr>
          <p:cNvPr id="3" name="Content Placeholder 2"/>
          <p:cNvSpPr>
            <a:spLocks noGrp="1"/>
          </p:cNvSpPr>
          <p:nvPr>
            <p:ph idx="1" sz="half"/>
          </p:nvPr>
        </p:nvSpPr>
        <p:spPr/>
        <p:txBody>
          <a:bodyPr/>
          <a:lstStyle/>
          <a:p>
            <a:pPr lvl="0" indent="0" marL="0">
              <a:buNone/>
            </a:pPr>
            <a:r>
              <a:rPr/>
              <a:t>Covered last time:</a:t>
            </a:r>
          </a:p>
          <a:p>
            <a:pPr lvl="0"/>
            <a:r>
              <a:rPr/>
              <a:t>Statistical inference fundamentals</a:t>
            </a:r>
          </a:p>
          <a:p>
            <a:pPr lvl="0"/>
            <a:r>
              <a:rPr/>
              <a:t>Hypothesis testing principles</a:t>
            </a:r>
          </a:p>
          <a:p>
            <a:pPr lvl="0"/>
            <a:r>
              <a:rPr/>
              <a:t>T-distributions</a:t>
            </a:r>
          </a:p>
          <a:p>
            <a:pPr lvl="0"/>
            <a:r>
              <a:rPr/>
              <a:t>One-sample, two-sample, and paired t-tests</a:t>
            </a:r>
          </a:p>
          <a:p>
            <a:pPr lvl="0" indent="0" marL="1270000">
              <a:buNone/>
            </a:pPr>
            <a:r>
              <a:rPr sz="2000" b="1"/>
              <a:t>Note</a:t>
            </a:r>
          </a:p>
          <a:p>
            <a:pPr lvl="0" indent="0" marL="1270000">
              <a:buNone/>
            </a:pPr>
            <a:r>
              <a:rPr sz="2000" b="1"/>
              <a:t>✅ Key idea from last lecture</a:t>
            </a:r>
          </a:p>
          <a:p>
            <a:pPr lvl="0" indent="0" marL="1270000">
              <a:buNone/>
            </a:pPr>
            <a:r>
              <a:rPr sz="2000"/>
              <a:t>A t-test gives you a p-value and a decision — reject or fail to reject H₀. Today asks the next question: how good is that decision, and how often could it be wrong?</a:t>
            </a:r>
          </a:p>
        </p:txBody>
      </p:sp>
      <p:pic>
        <p:nvPicPr>
          <p:cNvPr descr="images/clipboard-536528302.png" id="0" name="Picture 1"/>
          <p:cNvPicPr>
            <a:picLocks noGrp="1" noChangeAspect="1"/>
          </p:cNvPicPr>
          <p:nvPr/>
        </p:nvPicPr>
        <p:blipFill>
          <a:blip r:embed="rId2"/>
          <a:stretch>
            <a:fillRect/>
          </a:stretch>
        </p:blipFill>
        <p:spPr bwMode="auto">
          <a:xfrm>
            <a:off x="6134100" y="660400"/>
            <a:ext cx="2743200" cy="39624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Diagram of a large circle labeled ‘population’ full of dots with Greek-letter parameters (mu, sigma, sigma-squared), with orange arrows drawing a subset of dots down into a small circle labeled ‘sample’ with its statistics (y-bar, s, s-squared), illustrating that a sample is used to estimate unknown population parameters.</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Today’s objectives</a:t>
            </a:r>
          </a:p>
          <a:p>
            <a:pPr lvl="0" indent="-342900" marL="342900">
              <a:buAutoNum type="arabicPeriod"/>
            </a:pPr>
            <a:r>
              <a:rPr sz="2000"/>
              <a:t>Two ways to be wrong: Type I &amp; Type II error</a:t>
            </a:r>
          </a:p>
          <a:p>
            <a:pPr lvl="0" indent="-342900" marL="342900">
              <a:buAutoNum type="arabicPeriod"/>
            </a:pPr>
            <a:r>
              <a:rPr sz="2000"/>
              <a:t>Statistical power, and what changes it</a:t>
            </a:r>
          </a:p>
          <a:p>
            <a:pPr lvl="0" indent="-342900" marL="342900">
              <a:buAutoNum type="arabicPeriod"/>
            </a:pPr>
            <a:r>
              <a:rPr sz="2000"/>
              <a:t>Power calculated two ways — </a:t>
            </a:r>
            <a:r>
              <a:rPr sz="2000" b="1"/>
              <a:t>a priori</a:t>
            </a:r>
            <a:r>
              <a:rPr sz="2000"/>
              <a:t> (before data collection) and </a:t>
            </a:r>
            <a:r>
              <a:rPr sz="2000" b="1"/>
              <a:t>retrospectively</a:t>
            </a:r>
          </a:p>
          <a:p>
            <a:pPr lvl="0" indent="-342900" marL="342900">
              <a:buAutoNum type="arabicPeriod"/>
            </a:pPr>
            <a:r>
              <a:rPr sz="2000"/>
              <a:t>The </a:t>
            </a:r>
            <a:r>
              <a:rPr sz="2000">
                <a:latin typeface="Courier"/>
              </a:rPr>
              <a:t>pwr</a:t>
            </a:r>
            <a:r>
              <a:rPr sz="2000"/>
              <a:t> package, and why it beats a hand-rolled workaround for unequal group sizes</a:t>
            </a:r>
          </a:p>
          <a:p>
            <a:pPr lvl="0" indent="-342900" marL="342900">
              <a:buAutoNum type="arabicPeriod"/>
            </a:pPr>
            <a:r>
              <a:rPr sz="2000"/>
              <a:t>Error bars and pseudoreplication, revisited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Two Ways to Be Wrong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The Decision Table</a:t>
            </a:r>
          </a:p>
        </p:txBody>
      </p:sp>
      <p:sp>
        <p:nvSpPr>
          <p:cNvPr id="3" name="Text Placeholder 2"/>
          <p:cNvSpPr>
            <a:spLocks noGrp="1"/>
          </p:cNvSpPr>
          <p:nvPr>
            <p:ph idx="1" type="body"/>
          </p:nvPr>
        </p:nvSpPr>
        <p:spPr/>
        <p:txBody>
          <a:bodyPr/>
          <a:lstStyle/>
          <a:p>
            <a:pPr lvl="0" indent="0" marL="0">
              <a:buNone/>
            </a:pPr>
            <a:r>
              <a:rPr/>
              <a:t>Even a well-run study can reach the wrong conclusion. Crossing the </a:t>
            </a:r>
            <a:r>
              <a:rPr i="1"/>
              <a:t>statistical decision</a:t>
            </a:r>
            <a:r>
              <a:rPr/>
              <a:t> against the </a:t>
            </a:r>
            <a:r>
              <a:rPr i="1"/>
              <a:t>unknown truth</a:t>
            </a:r>
            <a:r>
              <a:rPr/>
              <a:t> gives exactly four outcomes:</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1155700"/>
                <a:gridCol w="1638300"/>
                <a:gridCol w="1638300"/>
              </a:tblGrid>
              <a:tr h="0">
                <a:tc>
                  <a:txBody>
                    <a:bodyPr/>
                    <a:lstStyle/>
                    <a:p>
                      <a:endParaRPr/>
                    </a:p>
                  </a:txBody>
                  <a:tcPr/>
                </a:tc>
                <a:tc>
                  <a:txBody>
                    <a:bodyPr/>
                    <a:lstStyle/>
                    <a:p>
                      <a:pPr lvl="0" indent="0" marL="0">
                        <a:buNone/>
                      </a:pPr>
                      <a:r>
                        <a:rPr/>
                        <a:t>H₀ actually true (no real effect)</a:t>
                      </a:r>
                    </a:p>
                  </a:txBody>
                  <a:tcPr/>
                </a:tc>
                <a:tc>
                  <a:txBody>
                    <a:bodyPr/>
                    <a:lstStyle/>
                    <a:p>
                      <a:pPr lvl="0" indent="0" marL="0">
                        <a:buNone/>
                      </a:pPr>
                      <a:r>
                        <a:rPr/>
                        <a:t>H₀ actually false (real effect)</a:t>
                      </a:r>
                    </a:p>
                  </a:txBody>
                  <a:tcPr/>
                </a:tc>
              </a:tr>
              <a:tr h="0">
                <a:tc>
                  <a:txBody>
                    <a:bodyPr/>
                    <a:lstStyle/>
                    <a:p>
                      <a:pPr lvl="0" indent="0" marL="0">
                        <a:buNone/>
                      </a:pPr>
                      <a:r>
                        <a:rPr b="1"/>
                        <a:t>Reject H₀</a:t>
                      </a:r>
                    </a:p>
                  </a:txBody>
                </a:tc>
                <a:tc>
                  <a:txBody>
                    <a:bodyPr/>
                    <a:lstStyle/>
                    <a:p>
                      <a:pPr lvl="0" indent="0" marL="0">
                        <a:buNone/>
                      </a:pPr>
                      <a:r>
                        <a:rPr/>
                        <a:t>Type I error — rate </a:t>
                      </a:r>
                      <a:r>
                        <a:rPr b="1"/>
                        <a:t>α</a:t>
                      </a:r>
                    </a:p>
                  </a:txBody>
                </a:tc>
                <a:tc>
                  <a:txBody>
                    <a:bodyPr/>
                    <a:lstStyle/>
                    <a:p>
                      <a:pPr lvl="0" indent="0" marL="0">
                        <a:buNone/>
                      </a:pPr>
                      <a:r>
                        <a:rPr/>
                        <a:t>Correct decision</a:t>
                      </a:r>
                    </a:p>
                  </a:txBody>
                </a:tc>
              </a:tr>
              <a:tr h="0">
                <a:tc>
                  <a:txBody>
                    <a:bodyPr/>
                    <a:lstStyle/>
                    <a:p>
                      <a:pPr lvl="0" indent="0" marL="0">
                        <a:buNone/>
                      </a:pPr>
                      <a:r>
                        <a:rPr b="1"/>
                        <a:t>Fail to reject H₀</a:t>
                      </a:r>
                    </a:p>
                  </a:txBody>
                </a:tc>
                <a:tc>
                  <a:txBody>
                    <a:bodyPr/>
                    <a:lstStyle/>
                    <a:p>
                      <a:pPr lvl="0" indent="0" marL="0">
                        <a:buNone/>
                      </a:pPr>
                      <a:r>
                        <a:rPr/>
                        <a:t>Correct decision</a:t>
                      </a:r>
                    </a:p>
                  </a:txBody>
                </a:tc>
                <a:tc>
                  <a:txBody>
                    <a:bodyPr/>
                    <a:lstStyle/>
                    <a:p>
                      <a:pPr lvl="0" indent="0" marL="0">
                        <a:buNone/>
                      </a:pPr>
                      <a:r>
                        <a:rPr/>
                        <a:t>Type II error — rate </a:t>
                      </a:r>
                      <a:r>
                        <a:rPr b="1"/>
                        <a:t>β</a:t>
                      </a:r>
                    </a:p>
                  </a:txBody>
                </a:tc>
              </a:tr>
            </a:tbl>
          </a:graphicData>
        </a:graphic>
      </p:graphicFrame>
      <p:sp>
        <p:nvSpPr>
          <p:cNvPr id="4" name="Content Placeholder 3"/>
          <p:cNvSpPr>
            <a:spLocks noGrp="1"/>
          </p:cNvSpPr>
          <p:nvPr>
            <p:ph idx="2" sz="half"/>
          </p:nvPr>
        </p:nvSpPr>
        <p:spPr/>
        <p:txBody>
          <a:bodyPr/>
          <a:lstStyle/>
          <a:p>
            <a:pPr lvl="0"/>
            <a:r>
              <a:rPr b="1"/>
              <a:t>Type I error (α):</a:t>
            </a:r>
            <a:r>
              <a:rPr/>
              <a:t> you found an effect that isn’t real — a false positive</a:t>
            </a:r>
          </a:p>
          <a:p>
            <a:pPr lvl="0"/>
            <a:r>
              <a:rPr b="1"/>
              <a:t>Type II error (β):</a:t>
            </a:r>
            <a:r>
              <a:rPr/>
              <a:t> you missed an effect that is real — a false negative</a:t>
            </a:r>
          </a:p>
          <a:p>
            <a:pPr lvl="0"/>
            <a:r>
              <a:rPr b="1"/>
              <a:t>Power = 1 − β:</a:t>
            </a:r>
            <a:r>
              <a:rPr/>
              <a:t> the probability of correctly rejecting a false H₀</a:t>
            </a:r>
          </a:p>
          <a:p>
            <a:pPr lvl="0"/>
            <a:r>
              <a:rPr/>
              <a:t>α is set </a:t>
            </a:r>
            <a:r>
              <a:rPr b="1"/>
              <a:t>before</a:t>
            </a:r>
            <a:r>
              <a:rPr/>
              <a:t> data collection — it is a policy about acceptable false-positive risk, not something read off a p-value afterward</a:t>
            </a:r>
          </a:p>
          <a:p>
            <a:pPr lvl="0" indent="0" marL="1270000">
              <a:buNone/>
            </a:pPr>
            <a:r>
              <a:rPr sz="2000" b="1"/>
              <a:t>Note</a:t>
            </a:r>
          </a:p>
          <a:p>
            <a:pPr lvl="0" indent="0" marL="1270000">
              <a:buNone/>
            </a:pPr>
            <a:r>
              <a:rPr sz="2000" b="1"/>
              <a:t>📖 Reference</a:t>
            </a:r>
          </a:p>
          <a:p>
            <a:pPr lvl="0" indent="0" marL="1270000">
              <a:buNone/>
            </a:pPr>
            <a:r>
              <a:rPr sz="2000"/>
              <a:t>Gotelli &amp; Ellison, </a:t>
            </a:r>
            <a:r>
              <a:rPr sz="2000" i="1"/>
              <a:t>A Primer of Ecological Statistics</a:t>
            </a:r>
            <a:r>
              <a:rPr sz="2000"/>
              <a:t>, Ch. 4 — Framing and Testing Hypotheses, covers the decision table and both error types. Whitlock &amp; Schluter, </a:t>
            </a:r>
            <a:r>
              <a:rPr sz="2000" i="1"/>
              <a:t>Analysis of Biological Data</a:t>
            </a:r>
            <a:r>
              <a:rPr sz="2000"/>
              <a:t>, Ch. 6 — Hypothesis Testing, is the same material from the other textbook.</a:t>
            </a:r>
          </a:p>
        </p:txBody>
      </p:sp>
      <p:sp>
        <p:nvSpPr>
          <p:cNvPr id="5" name="Text Placeholder 4"/>
          <p:cNvSpPr>
            <a:spLocks noGrp="1"/>
          </p:cNvSpPr>
          <p:nvPr>
            <p:ph idx="3" sz="quarter" type="body"/>
          </p:nvPr>
        </p:nvSpPr>
        <p:spPr/>
        <p:txBody>
          <a:bodyPr/>
          <a:lstStyle/>
          <a:p>
            <a:pPr lvl="0" indent="0" marL="1270000">
              <a:buNone/>
            </a:pPr>
            <a:r>
              <a:rPr sz="2000" b="1"/>
              <a:t>Tip</a:t>
            </a:r>
          </a:p>
          <a:p>
            <a:pPr lvl="0" indent="0" marL="1270000">
              <a:buNone/>
            </a:pPr>
            <a:r>
              <a:rPr sz="2000" b="1"/>
              <a:t>🖐 Which type of error, if any?</a:t>
            </a:r>
          </a:p>
          <a:p>
            <a:pPr lvl="0" indent="-342900" marL="342900">
              <a:buAutoNum type="arabicPeriod"/>
            </a:pPr>
            <a:r>
              <a:rPr sz="2000"/>
              <a:t>A study concludes sunny-side pine needles are longer, when really there is no difference.</a:t>
            </a:r>
          </a:p>
          <a:p>
            <a:pPr lvl="0" indent="-342900" marL="342900">
              <a:buAutoNum type="arabicPeriod"/>
            </a:pPr>
            <a:r>
              <a:rPr sz="2000"/>
              <a:t>A study fails to detect a real horn-length difference between surviving and predated lizards, and concludes there is none.</a:t>
            </a:r>
          </a:p>
          <a:p>
            <a:pPr lvl="0" indent="-342900" marL="342900">
              <a:buAutoNum type="arabicPeriod"/>
            </a:pPr>
            <a:r>
              <a:rPr sz="2000"/>
              <a:t>A study correctly detects that predated lizards have shorter horns.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Seeing α and β</a:t>
            </a:r>
          </a:p>
        </p:txBody>
      </p:sp>
      <p:sp>
        <p:nvSpPr>
          <p:cNvPr id="3" name="Content Placeholder 2"/>
          <p:cNvSpPr>
            <a:spLocks noGrp="1"/>
          </p:cNvSpPr>
          <p:nvPr>
            <p:ph idx="1" sz="half"/>
          </p:nvPr>
        </p:nvSpPr>
        <p:spPr/>
        <p:txBody>
          <a:bodyPr/>
          <a:lstStyle/>
          <a:p>
            <a:pPr lvl="0"/>
            <a:r>
              <a:rPr b="1"/>
              <a:t>Black curve</a:t>
            </a:r>
            <a:r>
              <a:rPr/>
              <a:t> — distribution of the test statistic </a:t>
            </a:r>
            <a:r>
              <a:rPr i="1"/>
              <a:t>if H₀ is true</a:t>
            </a:r>
          </a:p>
          <a:p>
            <a:pPr lvl="0"/>
            <a:r>
              <a:rPr b="1"/>
              <a:t>Green curve</a:t>
            </a:r>
            <a:r>
              <a:rPr/>
              <a:t> — distribution </a:t>
            </a:r>
            <a:r>
              <a:rPr i="1"/>
              <a:t>if Hₐ is true</a:t>
            </a:r>
            <a:r>
              <a:rPr/>
              <a:t>, shifted by an assumed effect size</a:t>
            </a:r>
          </a:p>
          <a:p>
            <a:pPr lvl="0"/>
            <a:r>
              <a:rPr b="1"/>
              <a:t>Red areas (α/2 each)</a:t>
            </a:r>
            <a:r>
              <a:rPr/>
              <a:t> — both tails of the null curve beyond the critical values: Type I error, α total</a:t>
            </a:r>
          </a:p>
          <a:p>
            <a:pPr lvl="0"/>
            <a:r>
              <a:rPr b="1"/>
              <a:t>Blue area (β)</a:t>
            </a:r>
            <a:r>
              <a:rPr/>
              <a:t> — alternative curve between the critical values: Type II error</a:t>
            </a:r>
          </a:p>
          <a:p>
            <a:pPr lvl="0"/>
            <a:r>
              <a:rPr b="1"/>
              <a:t>Power (1 − β)</a:t>
            </a:r>
            <a:r>
              <a:rPr/>
              <a:t> — the rest of the green curve, beyond the critical value</a:t>
            </a:r>
          </a:p>
          <a:p>
            <a:pPr lvl="0" indent="0" marL="0">
              <a:buNone/>
            </a:pPr>
            <a:r>
              <a:rPr/>
              <a:t>You live on only </a:t>
            </a:r>
            <a:r>
              <a:rPr b="1"/>
              <a:t>one</a:t>
            </a:r>
            <a:r>
              <a:rPr/>
              <a:t> curve — you just don’t know which. α comes from the black curve and β from the green one, so α + β need not equal 1.</a:t>
            </a:r>
          </a:p>
          <a:p>
            <a:pPr lvl="0" indent="0" marL="0">
              <a:buNone/>
            </a:pPr>
            <a:r>
              <a:rPr/>
              <a:t>Moving the critical values trades one error for the other. For a fixed sample size, </a:t>
            </a:r>
            <a:r>
              <a:rPr b="1"/>
              <a:t>you cannot shrink both at once.</a:t>
            </a:r>
          </a:p>
        </p:txBody>
      </p:sp>
      <p:pic>
        <p:nvPicPr>
          <p:cNvPr descr="power_and_error_lecture_files/figure-pptx/power-and-error-01-1.png" id="0" name="Picture 1"/>
          <p:cNvPicPr>
            <a:picLocks noGrp="1" noChangeAspect="1"/>
          </p:cNvPicPr>
          <p:nvPr/>
        </p:nvPicPr>
        <p:blipFill>
          <a:blip r:embed="rId2"/>
          <a:stretch>
            <a:fillRect/>
          </a:stretch>
        </p:blipFill>
        <p:spPr bwMode="auto">
          <a:xfrm>
            <a:off x="6121400" y="1955800"/>
            <a:ext cx="2781300" cy="18923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Statistical Power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Is Power, and What Moves It</a:t>
            </a:r>
          </a:p>
        </p:txBody>
      </p:sp>
      <p:sp>
        <p:nvSpPr>
          <p:cNvPr id="3" name="Content Placeholder 2"/>
          <p:cNvSpPr>
            <a:spLocks noGrp="1"/>
          </p:cNvSpPr>
          <p:nvPr>
            <p:ph idx="1" sz="half"/>
          </p:nvPr>
        </p:nvSpPr>
        <p:spPr/>
        <p:txBody>
          <a:bodyPr/>
          <a:lstStyle/>
          <a:p>
            <a:pPr lvl="0" indent="0" marL="0">
              <a:buNone/>
            </a:pPr>
            <a:r>
              <a:rPr b="1"/>
              <a:t>Statistical power</a:t>
            </a:r>
            <a:r>
              <a:rPr/>
              <a:t> is the probability of detecting a true effect — of rejecting H₀ when it really is false. 80% power means an 80% chance of finding a real effect of a given size.</a:t>
            </a:r>
          </a:p>
          <a:p>
            <a:pPr lvl="0" indent="0" marL="0">
              <a:buNone/>
            </a:pPr>
            <a:r>
              <a:rPr/>
              <a:t>Power increases with:</a:t>
            </a:r>
          </a:p>
          <a:p>
            <a:pPr lvl="0"/>
            <a:r>
              <a:rPr b="1"/>
              <a:t>Larger sample size (n)</a:t>
            </a:r>
          </a:p>
          <a:p>
            <a:pPr lvl="0"/>
            <a:r>
              <a:rPr b="1"/>
              <a:t>Larger effect size</a:t>
            </a:r>
            <a:r>
              <a:rPr/>
              <a:t> — a bigger true difference</a:t>
            </a:r>
          </a:p>
          <a:p>
            <a:pPr lvl="0"/>
            <a:r>
              <a:rPr b="1"/>
              <a:t>Lower variability</a:t>
            </a:r>
            <a:r>
              <a:rPr/>
              <a:t> in the data</a:t>
            </a:r>
          </a:p>
          <a:p>
            <a:pPr lvl="0"/>
            <a:r>
              <a:rPr b="1"/>
              <a:t>Higher α</a:t>
            </a:r>
            <a:r>
              <a:rPr/>
              <a:t> — a more lenient significance threshold</a:t>
            </a:r>
          </a:p>
          <a:p>
            <a:pPr lvl="0" indent="0" marL="0">
              <a:buNone/>
            </a:pPr>
            <a:r>
              <a:rPr/>
              <a:t>A power analysis is typically run for one of three purposes:</a:t>
            </a:r>
          </a:p>
          <a:p>
            <a:pPr lvl="0" indent="-342900" marL="342900">
              <a:buAutoNum type="arabicPeriod"/>
            </a:pPr>
            <a:r>
              <a:rPr b="1"/>
              <a:t>Before data collection</a:t>
            </a:r>
            <a:r>
              <a:rPr/>
              <a:t>, to determine the sample size a study needs — by far the most useful</a:t>
            </a:r>
          </a:p>
          <a:p>
            <a:pPr lvl="0" indent="-342900" marL="342900">
              <a:buAutoNum type="arabicPeriod"/>
            </a:pPr>
            <a:r>
              <a:rPr b="1"/>
              <a:t>After a study</a:t>
            </a:r>
            <a:r>
              <a:rPr/>
              <a:t>, to evaluate whether its sample size was adequate</a:t>
            </a:r>
          </a:p>
          <a:p>
            <a:pPr lvl="0" indent="-342900" marL="342900">
              <a:buAutoNum type="arabicPeriod"/>
            </a:pPr>
            <a:r>
              <a:rPr/>
              <a:t>To find the minimum effect size a given sample could realistically detect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Key idea</a:t>
            </a:r>
          </a:p>
          <a:p>
            <a:pPr lvl="0" indent="0" marL="1270000">
              <a:buNone/>
            </a:pPr>
            <a:r>
              <a:rPr sz="2000" b="1"/>
              <a:t>80% power is the usual convention</a:t>
            </a:r>
            <a:r>
              <a:rPr sz="2000"/>
              <a:t> for an adequately powered study. Everything in this lecture asks: for a given effect, n, and α, what is 1 − β?</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Effect Size, Recap</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Cohen’s d, and Cohen’s Own Benchmarks</a:t>
            </a:r>
          </a:p>
        </p:txBody>
      </p:sp>
      <p:sp>
        <p:nvSpPr>
          <p:cNvPr id="3" name="Content Placeholder 2"/>
          <p:cNvSpPr>
            <a:spLocks noGrp="1"/>
          </p:cNvSpPr>
          <p:nvPr>
            <p:ph idx="1" sz="half"/>
          </p:nvPr>
        </p:nvSpPr>
        <p:spPr/>
        <p:txBody>
          <a:bodyPr/>
          <a:lstStyle/>
          <a:p>
            <a:pPr lvl="0" indent="0" marL="0">
              <a:buNone/>
            </a:pPr>
            <a:r>
              <a:rPr/>
              <a:t>You met </a:t>
            </a:r>
            <a:r>
              <a:rPr b="1"/>
              <a:t>Cohen’s d</a:t>
            </a:r>
            <a:r>
              <a:rPr/>
              <a:t> in the Non-Parametric worksheet: the difference between means, divided by the pooled standard deviation. It is unitless, so it is comparable across studies — and it is exactly what </a:t>
            </a:r>
            <a:r>
              <a:rPr>
                <a:latin typeface="Courier"/>
              </a:rPr>
              <a:t>pwr</a:t>
            </a:r>
            <a:r>
              <a:rPr/>
              <a:t> and </a:t>
            </a:r>
            <a:r>
              <a:rPr>
                <a:latin typeface="Courier"/>
              </a:rPr>
              <a:t>power.t.test()</a:t>
            </a:r>
            <a:r>
              <a:rPr/>
              <a:t>-style functions want as input.</a:t>
            </a:r>
          </a:p>
          <a:p>
            <a:pPr lvl="0" indent="0">
              <a:buNone/>
            </a:pPr>
            <a:r>
              <a:rPr>
                <a:solidFill>
                  <a:srgbClr val="4758AB"/>
                </a:solidFill>
                <a:latin typeface="Courier"/>
              </a:rPr>
              <a:t>cohen.ES</a:t>
            </a:r>
            <a:r>
              <a:rPr>
                <a:solidFill>
                  <a:srgbClr val="003B4F"/>
                </a:solidFill>
                <a:latin typeface="Courier"/>
              </a:rPr>
              <a:t>(</a:t>
            </a:r>
            <a:r>
              <a:rPr>
                <a:solidFill>
                  <a:srgbClr val="657422"/>
                </a:solidFill>
                <a:latin typeface="Courier"/>
              </a:rPr>
              <a:t>test =</a:t>
            </a:r>
            <a:r>
              <a:rPr>
                <a:solidFill>
                  <a:srgbClr val="003B4F"/>
                </a:solidFill>
                <a:latin typeface="Courier"/>
              </a:rPr>
              <a:t> </a:t>
            </a:r>
            <a:r>
              <a:rPr>
                <a:solidFill>
                  <a:srgbClr val="20794D"/>
                </a:solidFill>
                <a:latin typeface="Courier"/>
              </a:rPr>
              <a:t>"t"</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20794D"/>
                </a:solidFill>
                <a:latin typeface="Courier"/>
              </a:rPr>
              <a:t>"small"</a:t>
            </a:r>
            <a:r>
              <a:rPr>
                <a:solidFill>
                  <a:srgbClr val="003B4F"/>
                </a:solidFill>
                <a:latin typeface="Courier"/>
              </a:rPr>
              <a:t>)</a:t>
            </a:r>
            <a:r>
              <a:rPr>
                <a:solidFill>
                  <a:srgbClr val="5E5E5E"/>
                </a:solidFill>
                <a:latin typeface="Courier"/>
              </a:rPr>
              <a:t>$</a:t>
            </a:r>
            <a:r>
              <a:rPr>
                <a:solidFill>
                  <a:srgbClr val="003B4F"/>
                </a:solidFill>
                <a:latin typeface="Courier"/>
              </a:rPr>
              <a:t>effect.size</a:t>
            </a:r>
          </a:p>
          <a:p>
            <a:pPr lvl="0" indent="0">
              <a:buNone/>
            </a:pPr>
            <a:r>
              <a:rPr>
                <a:latin typeface="Courier"/>
              </a:rPr>
              <a:t>[1] 0.2</a:t>
            </a:r>
          </a:p>
          <a:p>
            <a:pPr lvl="0" indent="0">
              <a:buNone/>
            </a:pPr>
            <a:r>
              <a:rPr>
                <a:solidFill>
                  <a:srgbClr val="4758AB"/>
                </a:solidFill>
                <a:latin typeface="Courier"/>
              </a:rPr>
              <a:t>cohen.ES</a:t>
            </a:r>
            <a:r>
              <a:rPr>
                <a:solidFill>
                  <a:srgbClr val="003B4F"/>
                </a:solidFill>
                <a:latin typeface="Courier"/>
              </a:rPr>
              <a:t>(</a:t>
            </a:r>
            <a:r>
              <a:rPr>
                <a:solidFill>
                  <a:srgbClr val="657422"/>
                </a:solidFill>
                <a:latin typeface="Courier"/>
              </a:rPr>
              <a:t>test =</a:t>
            </a:r>
            <a:r>
              <a:rPr>
                <a:solidFill>
                  <a:srgbClr val="003B4F"/>
                </a:solidFill>
                <a:latin typeface="Courier"/>
              </a:rPr>
              <a:t> </a:t>
            </a:r>
            <a:r>
              <a:rPr>
                <a:solidFill>
                  <a:srgbClr val="20794D"/>
                </a:solidFill>
                <a:latin typeface="Courier"/>
              </a:rPr>
              <a:t>"t"</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20794D"/>
                </a:solidFill>
                <a:latin typeface="Courier"/>
              </a:rPr>
              <a:t>"medium"</a:t>
            </a:r>
            <a:r>
              <a:rPr>
                <a:solidFill>
                  <a:srgbClr val="003B4F"/>
                </a:solidFill>
                <a:latin typeface="Courier"/>
              </a:rPr>
              <a:t>)</a:t>
            </a:r>
            <a:r>
              <a:rPr>
                <a:solidFill>
                  <a:srgbClr val="5E5E5E"/>
                </a:solidFill>
                <a:latin typeface="Courier"/>
              </a:rPr>
              <a:t>$</a:t>
            </a:r>
            <a:r>
              <a:rPr>
                <a:solidFill>
                  <a:srgbClr val="003B4F"/>
                </a:solidFill>
                <a:latin typeface="Courier"/>
              </a:rPr>
              <a:t>effect.size</a:t>
            </a:r>
          </a:p>
          <a:p>
            <a:pPr lvl="0" indent="0">
              <a:buNone/>
            </a:pPr>
            <a:r>
              <a:rPr>
                <a:latin typeface="Courier"/>
              </a:rPr>
              <a:t>[1] 0.5</a:t>
            </a:r>
          </a:p>
          <a:p>
            <a:pPr lvl="0" indent="0">
              <a:buNone/>
            </a:pPr>
            <a:r>
              <a:rPr>
                <a:solidFill>
                  <a:srgbClr val="4758AB"/>
                </a:solidFill>
                <a:latin typeface="Courier"/>
              </a:rPr>
              <a:t>cohen.ES</a:t>
            </a:r>
            <a:r>
              <a:rPr>
                <a:solidFill>
                  <a:srgbClr val="003B4F"/>
                </a:solidFill>
                <a:latin typeface="Courier"/>
              </a:rPr>
              <a:t>(</a:t>
            </a:r>
            <a:r>
              <a:rPr>
                <a:solidFill>
                  <a:srgbClr val="657422"/>
                </a:solidFill>
                <a:latin typeface="Courier"/>
              </a:rPr>
              <a:t>test =</a:t>
            </a:r>
            <a:r>
              <a:rPr>
                <a:solidFill>
                  <a:srgbClr val="003B4F"/>
                </a:solidFill>
                <a:latin typeface="Courier"/>
              </a:rPr>
              <a:t> </a:t>
            </a:r>
            <a:r>
              <a:rPr>
                <a:solidFill>
                  <a:srgbClr val="20794D"/>
                </a:solidFill>
                <a:latin typeface="Courier"/>
              </a:rPr>
              <a:t>"t"</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20794D"/>
                </a:solidFill>
                <a:latin typeface="Courier"/>
              </a:rPr>
              <a:t>"large"</a:t>
            </a:r>
            <a:r>
              <a:rPr>
                <a:solidFill>
                  <a:srgbClr val="003B4F"/>
                </a:solidFill>
                <a:latin typeface="Courier"/>
              </a:rPr>
              <a:t>)</a:t>
            </a:r>
            <a:r>
              <a:rPr>
                <a:solidFill>
                  <a:srgbClr val="5E5E5E"/>
                </a:solidFill>
                <a:latin typeface="Courier"/>
              </a:rPr>
              <a:t>$</a:t>
            </a:r>
            <a:r>
              <a:rPr>
                <a:solidFill>
                  <a:srgbClr val="003B4F"/>
                </a:solidFill>
                <a:latin typeface="Courier"/>
              </a:rPr>
              <a:t>effect.size</a:t>
            </a:r>
          </a:p>
          <a:p>
            <a:pPr lvl="0" indent="0">
              <a:buNone/>
            </a:pPr>
            <a:r>
              <a:rPr>
                <a:latin typeface="Courier"/>
              </a:rPr>
              <a:t>[1] 0.8</a:t>
            </a:r>
          </a:p>
          <a:p>
            <a:pPr lvl="0" indent="0" marL="0">
              <a:buNone/>
            </a:pPr>
            <a:r>
              <a:rPr/>
              <a:t>Jacob Cohen himself proposed these as rough, field-general benchmarks — not a substitute for a real pilot estimate when you have one.</a:t>
            </a:r>
          </a:p>
        </p:txBody>
      </p:sp>
      <p:graphicFrame>
        <p:nvGraphicFramePr>
          <p:cNvPr id="6" name="Content Placeholder 5"/>
          <p:cNvGraphicFramePr>
            <a:graphicFrameLocks noGrp="1"/>
          </p:cNvGraphicFramePr>
          <p:nvPr>
            <p:ph idx="1"/>
          </p:nvPr>
        </p:nvGraphicFramePr>
        <p:xfrm>
          <a:off x="6121400" y="660400"/>
          <a:ext cx="2781300" cy="4470400"/>
        </p:xfrm>
        <a:graphic>
          <a:graphicData uri="http://schemas.openxmlformats.org/drawingml/2006/table">
            <a:tbl>
              <a:tblPr firstRow="1" bandRow="1">
                <a:tableStyleId>{5C22544A-7EE6-4342-B048-85BDC9FD1C3A}</a:tableStyleId>
              </a:tblPr>
              <a:tblGrid>
                <a:gridCol w="1384300"/>
                <a:gridCol w="1384300"/>
              </a:tblGrid>
              <a:tr h="0">
                <a:tc>
                  <a:txBody>
                    <a:bodyPr/>
                    <a:lstStyle/>
                    <a:p>
                      <a:pPr lvl="0" indent="0" marL="0">
                        <a:buNone/>
                      </a:pPr>
                      <a:r>
                        <a:rPr/>
                        <a:t>Size</a:t>
                      </a:r>
                    </a:p>
                  </a:txBody>
                  <a:tcPr/>
                </a:tc>
                <a:tc>
                  <a:txBody>
                    <a:bodyPr/>
                    <a:lstStyle/>
                    <a:p>
                      <a:pPr lvl="0" indent="0" marL="0">
                        <a:buNone/>
                      </a:pPr>
                      <a:r>
                        <a:rPr/>
                        <a:t>d</a:t>
                      </a:r>
                    </a:p>
                  </a:txBody>
                  <a:tcPr/>
                </a:tc>
              </a:tr>
              <a:tr h="0">
                <a:tc>
                  <a:txBody>
                    <a:bodyPr/>
                    <a:lstStyle/>
                    <a:p>
                      <a:pPr lvl="0" indent="0" marL="0">
                        <a:buNone/>
                      </a:pPr>
                      <a:r>
                        <a:rPr/>
                        <a:t>Small</a:t>
                      </a:r>
                    </a:p>
                  </a:txBody>
                </a:tc>
                <a:tc>
                  <a:txBody>
                    <a:bodyPr/>
                    <a:lstStyle/>
                    <a:p>
                      <a:pPr lvl="0" indent="0" marL="0">
                        <a:buNone/>
                      </a:pPr>
                      <a:r>
                        <a:rPr/>
                        <a:t>0.2</a:t>
                      </a:r>
                    </a:p>
                  </a:txBody>
                </a:tc>
              </a:tr>
              <a:tr h="0">
                <a:tc>
                  <a:txBody>
                    <a:bodyPr/>
                    <a:lstStyle/>
                    <a:p>
                      <a:pPr lvl="0" indent="0" marL="0">
                        <a:buNone/>
                      </a:pPr>
                      <a:r>
                        <a:rPr/>
                        <a:t>Medium</a:t>
                      </a:r>
                    </a:p>
                  </a:txBody>
                </a:tc>
                <a:tc>
                  <a:txBody>
                    <a:bodyPr/>
                    <a:lstStyle/>
                    <a:p>
                      <a:pPr lvl="0" indent="0" marL="0">
                        <a:buNone/>
                      </a:pPr>
                      <a:r>
                        <a:rPr/>
                        <a:t>0.5</a:t>
                      </a:r>
                    </a:p>
                  </a:txBody>
                </a:tc>
              </a:tr>
              <a:tr h="0">
                <a:tc>
                  <a:txBody>
                    <a:bodyPr/>
                    <a:lstStyle/>
                    <a:p>
                      <a:pPr lvl="0" indent="0" marL="0">
                        <a:buNone/>
                      </a:pPr>
                      <a:r>
                        <a:rPr/>
                        <a:t>Large</a:t>
                      </a:r>
                    </a:p>
                  </a:txBody>
                </a:tc>
                <a:tc>
                  <a:txBody>
                    <a:bodyPr/>
                    <a:lstStyle/>
                    <a:p>
                      <a:pPr lvl="0" indent="0" marL="0">
                        <a:buNone/>
                      </a:pPr>
                      <a:r>
                        <a:rPr/>
                        <a:t>0.8</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Seeing Power: Two Real Datasets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Low Power and High Power, Side by Side</a:t>
            </a:r>
          </a:p>
        </p:txBody>
      </p:sp>
      <p:sp>
        <p:nvSpPr>
          <p:cNvPr id="3" name="Content Placeholder 2"/>
          <p:cNvSpPr>
            <a:spLocks noGrp="1"/>
          </p:cNvSpPr>
          <p:nvPr>
            <p:ph idx="1" sz="half"/>
          </p:nvPr>
        </p:nvSpPr>
        <p:spPr/>
        <p:txBody>
          <a:bodyPr/>
          <a:lstStyle/>
          <a:p>
            <a:pPr lvl="0" indent="0" marL="0">
              <a:buNone/>
            </a:pPr>
            <a:r>
              <a:rPr/>
              <a:t>Two two-sample comparisons, two very different amounts of power:</a:t>
            </a:r>
          </a:p>
          <a:p>
            <a:pPr lvl="0"/>
            <a:r>
              <a:rPr b="1"/>
              <a:t>Pine needles</a:t>
            </a:r>
            <a:r>
              <a:rPr/>
              <a:t> — our own class data, 4 trees per side</a:t>
            </a:r>
          </a:p>
          <a:p>
            <a:pPr lvl="0"/>
            <a:r>
              <a:rPr b="1"/>
              <a:t>Horned lizards</a:t>
            </a:r>
            <a:r>
              <a:rPr/>
              <a:t> — squamosal horn length of lizards that survived shrike predation vs. those that were killed (Young et al., the running example of Whitlock &amp; Schluter Ch. 12 — Comparing Two Means)</a:t>
            </a:r>
          </a:p>
          <a:p>
            <a:pPr lvl="0" indent="0">
              <a:buNone/>
            </a:pPr>
            <a:r>
              <a:rPr>
                <a:solidFill>
                  <a:srgbClr val="003B4F"/>
                </a:solidFill>
                <a:latin typeface="Courier"/>
              </a:rPr>
              <a:t>pine_df &lt;- </a:t>
            </a:r>
            <a:r>
              <a:rPr>
                <a:solidFill>
                  <a:srgbClr val="4758AB"/>
                </a:solidFill>
                <a:latin typeface="Courier"/>
              </a:rPr>
              <a:t>read_csv</a:t>
            </a:r>
            <a:r>
              <a:rPr>
                <a:solidFill>
                  <a:srgbClr val="003B4F"/>
                </a:solidFill>
                <a:latin typeface="Courier"/>
              </a:rPr>
              <a:t>(</a:t>
            </a:r>
            <a:r>
              <a:rPr>
                <a:solidFill>
                  <a:srgbClr val="20794D"/>
                </a:solidFill>
                <a:latin typeface="Courier"/>
              </a:rPr>
              <a:t>"data/pine_data.csv"</a:t>
            </a:r>
            <a:r>
              <a:rPr>
                <a:solidFill>
                  <a:srgbClr val="003B4F"/>
                </a:solidFill>
                <a:latin typeface="Courier"/>
              </a:rPr>
              <a:t>)</a:t>
            </a:r>
            <a:br/>
            <a:br/>
            <a:r>
              <a:rPr>
                <a:solidFill>
                  <a:srgbClr val="003B4F"/>
                </a:solidFill>
                <a:latin typeface="Courier"/>
              </a:rPr>
              <a:t>p_df &lt;- pine_df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(team, side)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needle_length_mm =</a:t>
            </a:r>
            <a:r>
              <a:rPr>
                <a:solidFill>
                  <a:srgbClr val="003B4F"/>
                </a:solidFill>
                <a:latin typeface="Courier"/>
              </a:rPr>
              <a:t> </a:t>
            </a:r>
            <a:r>
              <a:rPr>
                <a:solidFill>
                  <a:srgbClr val="4758AB"/>
                </a:solidFill>
                <a:latin typeface="Courier"/>
              </a:rPr>
              <a:t>mean</a:t>
            </a:r>
            <a:r>
              <a:rPr>
                <a:solidFill>
                  <a:srgbClr val="003B4F"/>
                </a:solidFill>
                <a:latin typeface="Courier"/>
              </a:rPr>
              <a:t>(needle_length_mm,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.groups =</a:t>
            </a:r>
            <a:r>
              <a:rPr>
                <a:solidFill>
                  <a:srgbClr val="003B4F"/>
                </a:solidFill>
                <a:latin typeface="Courier"/>
              </a:rPr>
              <a:t> </a:t>
            </a:r>
            <a:r>
              <a:rPr>
                <a:solidFill>
                  <a:srgbClr val="20794D"/>
                </a:solidFill>
                <a:latin typeface="Courier"/>
              </a:rPr>
              <a:t>"drop"</a:t>
            </a:r>
            <a:br/>
            <a:r>
              <a:rPr>
                <a:solidFill>
                  <a:srgbClr val="003B4F"/>
                </a:solidFill>
                <a:latin typeface="Courier"/>
              </a:rPr>
              <a:t>  )</a:t>
            </a:r>
            <a:br/>
            <a:br/>
            <a:r>
              <a:rPr>
                <a:solidFill>
                  <a:srgbClr val="003B4F"/>
                </a:solidFill>
                <a:latin typeface="Courier"/>
              </a:rPr>
              <a:t>lizard_df &lt;- </a:t>
            </a:r>
            <a:r>
              <a:rPr>
                <a:solidFill>
                  <a:srgbClr val="4758AB"/>
                </a:solidFill>
                <a:latin typeface="Courier"/>
              </a:rPr>
              <a:t>read_csv</a:t>
            </a:r>
            <a:r>
              <a:rPr>
                <a:solidFill>
                  <a:srgbClr val="003B4F"/>
                </a:solidFill>
                <a:latin typeface="Courier"/>
              </a:rPr>
              <a:t>(</a:t>
            </a:r>
            <a:r>
              <a:rPr>
                <a:solidFill>
                  <a:srgbClr val="20794D"/>
                </a:solidFill>
                <a:latin typeface="Courier"/>
              </a:rPr>
              <a:t>"data/horned_lizards.csv"</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(squamosal_horn_length_mm))</a:t>
            </a:r>
            <a:br/>
            <a:br/>
            <a:r>
              <a:rPr>
                <a:solidFill>
                  <a:srgbClr val="003B4F"/>
                </a:solidFill>
                <a:latin typeface="Courier"/>
              </a:rPr>
              <a:t>p_df </a:t>
            </a:r>
            <a:r>
              <a:rPr>
                <a:solidFill>
                  <a:srgbClr val="5E5E5E"/>
                </a:solidFill>
                <a:latin typeface="Courier"/>
              </a:rPr>
              <a:t>%&gt;%</a:t>
            </a:r>
            <a:r>
              <a:rPr>
                <a:solidFill>
                  <a:srgbClr val="003B4F"/>
                </a:solidFill>
                <a:latin typeface="Courier"/>
              </a:rPr>
              <a:t> </a:t>
            </a:r>
            <a:r>
              <a:rPr>
                <a:solidFill>
                  <a:srgbClr val="4758AB"/>
                </a:solidFill>
                <a:latin typeface="Courier"/>
              </a:rPr>
              <a:t>group_by</a:t>
            </a:r>
            <a:r>
              <a:rPr>
                <a:solidFill>
                  <a:srgbClr val="003B4F"/>
                </a:solidFill>
                <a:latin typeface="Courier"/>
              </a:rPr>
              <a:t>(side) </a:t>
            </a:r>
            <a:r>
              <a:rPr>
                <a:solidFill>
                  <a:srgbClr val="5E5E5E"/>
                </a:solidFill>
                <a:latin typeface="Courier"/>
              </a:rPr>
              <a:t>%&gt;%</a:t>
            </a:r>
            <a:r>
              <a:rPr>
                <a:solidFill>
                  <a:srgbClr val="003B4F"/>
                </a:solidFill>
                <a:latin typeface="Courier"/>
              </a:rPr>
              <a:t> </a:t>
            </a:r>
            <a:r>
              <a:rPr>
                <a:solidFill>
                  <a:srgbClr val="4758AB"/>
                </a:solidFill>
                <a:latin typeface="Courier"/>
              </a:rPr>
              <a:t>reframe</a:t>
            </a:r>
            <a:r>
              <a:rPr>
                <a:solidFill>
                  <a:srgbClr val="003B4F"/>
                </a:solidFill>
                <a:latin typeface="Courier"/>
              </a:rPr>
              <a:t>(</a:t>
            </a:r>
            <a:r>
              <a:rPr>
                <a:solidFill>
                  <a:srgbClr val="4758AB"/>
                </a:solidFill>
                <a:latin typeface="Courier"/>
              </a:rPr>
              <a:t>summary_stats</a:t>
            </a:r>
            <a:r>
              <a:rPr>
                <a:solidFill>
                  <a:srgbClr val="003B4F"/>
                </a:solidFill>
                <a:latin typeface="Courier"/>
              </a:rPr>
              <a:t>(needle_length_mm))</a:t>
            </a:r>
          </a:p>
          <a:p>
            <a:pPr lvl="0" indent="0">
              <a:buNone/>
            </a:pPr>
            <a:r>
              <a:rPr>
                <a:latin typeface="Courier"/>
              </a:rPr>
              <a:t># A tibble: 2 × 7
  side      n  mean    sd    se ci_lower ci_upper
  &lt;chr&gt; &lt;int&gt; &lt;dbl&gt; &lt;dbl&gt; &lt;dbl&gt;    &lt;dbl&gt;    &lt;dbl&gt;
1 shady     4  14.1  2.02 1.01      10.9     17.3
2 sunny     4  15.2  1.57 0.786     12.7     17.7</a:t>
            </a:r>
          </a:p>
          <a:p>
            <a:pPr lvl="0" indent="0">
              <a:buNone/>
            </a:pPr>
            <a:r>
              <a:rPr>
                <a:solidFill>
                  <a:srgbClr val="003B4F"/>
                </a:solidFill>
                <a:latin typeface="Courier"/>
              </a:rPr>
              <a:t>lizard_df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(survival) </a:t>
            </a:r>
            <a:r>
              <a:rPr>
                <a:solidFill>
                  <a:srgbClr val="5E5E5E"/>
                </a:solidFill>
                <a:latin typeface="Courier"/>
              </a:rPr>
              <a:t>%&gt;%</a:t>
            </a:r>
            <a:br/>
            <a:r>
              <a:rPr>
                <a:solidFill>
                  <a:srgbClr val="003B4F"/>
                </a:solidFill>
                <a:latin typeface="Courier"/>
              </a:rPr>
              <a:t>  </a:t>
            </a:r>
            <a:r>
              <a:rPr>
                <a:solidFill>
                  <a:srgbClr val="4758AB"/>
                </a:solidFill>
                <a:latin typeface="Courier"/>
              </a:rPr>
              <a:t>reframe</a:t>
            </a:r>
            <a:r>
              <a:rPr>
                <a:solidFill>
                  <a:srgbClr val="003B4F"/>
                </a:solidFill>
                <a:latin typeface="Courier"/>
              </a:rPr>
              <a:t>(</a:t>
            </a:r>
            <a:r>
              <a:rPr>
                <a:solidFill>
                  <a:srgbClr val="4758AB"/>
                </a:solidFill>
                <a:latin typeface="Courier"/>
              </a:rPr>
              <a:t>summary_stats</a:t>
            </a:r>
            <a:r>
              <a:rPr>
                <a:solidFill>
                  <a:srgbClr val="003B4F"/>
                </a:solidFill>
                <a:latin typeface="Courier"/>
              </a:rPr>
              <a:t>(squamosal_horn_length_mm))</a:t>
            </a:r>
          </a:p>
          <a:p>
            <a:pPr lvl="0" indent="0">
              <a:buNone/>
            </a:pPr>
            <a:r>
              <a:rPr>
                <a:latin typeface="Courier"/>
              </a:rPr>
              <a:t># A tibble: 2 × 7
  survival     n  mean    sd    se ci_lower ci_upper
  &lt;chr&gt;    &lt;int&gt; &lt;dbl&gt; &lt;dbl&gt; &lt;dbl&gt;    &lt;dbl&gt;    &lt;dbl&gt;
1 killed      30  22.0  2.71 0.495     21.0     23.0
2 living     154  24.3  2.63 0.212     23.9     24.7</a:t>
            </a:r>
          </a:p>
          <a:p>
            <a:pPr lvl="0" indent="0" marL="0">
              <a:buNone/>
            </a:pPr>
            <a:r>
              <a:rPr>
                <a:hlinkClick r:id="rId2"/>
              </a:rPr>
              <a:t>📥 Download the pine data</a:t>
            </a:r>
            <a:r>
              <a:rPr/>
              <a:t> </a:t>
            </a:r>
            <a:r>
              <a:rPr>
                <a:hlinkClick r:id="rId3"/>
              </a:rPr>
              <a:t>📥 Download the lizard data</a:t>
            </a:r>
            <a:r>
              <a:rPr/>
              <a:t> </a:t>
            </a:r>
            <a:r>
              <a:rPr>
                <a:hlinkClick r:id="rId4"/>
              </a:rPr>
              <a:t>📥 Script skeleton (.R)</a:t>
            </a:r>
          </a:p>
        </p:txBody>
      </p:sp>
      <p:sp>
        <p:nvSpPr>
          <p:cNvPr id="4" name="Content Placeholder 3"/>
          <p:cNvSpPr>
            <a:spLocks noGrp="1"/>
          </p:cNvSpPr>
          <p:nvPr>
            <p:ph idx="2" sz="half"/>
          </p:nvPr>
        </p:nvSpPr>
        <p:spPr/>
        <p:txBody>
          <a:bodyPr/>
          <a:lstStyle/>
          <a:p>
            <a:pPr lvl="0" indent="0">
              <a:buNone/>
            </a:pPr>
            <a:r>
              <a:rPr>
                <a:solidFill>
                  <a:srgbClr val="003B4F"/>
                </a:solidFill>
                <a:latin typeface="Courier"/>
              </a:rPr>
              <a:t>d_unpaired &lt;- </a:t>
            </a:r>
            <a:r>
              <a:rPr>
                <a:solidFill>
                  <a:srgbClr val="4758AB"/>
                </a:solidFill>
                <a:latin typeface="Courier"/>
              </a:rPr>
              <a:t>cohens_d</a:t>
            </a:r>
            <a:r>
              <a:rPr>
                <a:solidFill>
                  <a:srgbClr val="003B4F"/>
                </a:solidFill>
                <a:latin typeface="Courier"/>
              </a:rPr>
              <a:t>(needle_length_mm </a:t>
            </a:r>
            <a:r>
              <a:rPr>
                <a:solidFill>
                  <a:srgbClr val="5E5E5E"/>
                </a:solidFill>
                <a:latin typeface="Courier"/>
              </a:rPr>
              <a:t>~</a:t>
            </a:r>
            <a:r>
              <a:rPr>
                <a:solidFill>
                  <a:srgbClr val="003B4F"/>
                </a:solidFill>
                <a:latin typeface="Courier"/>
              </a:rPr>
              <a:t> side, </a:t>
            </a:r>
            <a:r>
              <a:rPr>
                <a:solidFill>
                  <a:srgbClr val="657422"/>
                </a:solidFill>
                <a:latin typeface="Courier"/>
              </a:rPr>
              <a:t>data =</a:t>
            </a:r>
            <a:r>
              <a:rPr>
                <a:solidFill>
                  <a:srgbClr val="003B4F"/>
                </a:solidFill>
                <a:latin typeface="Courier"/>
              </a:rPr>
              <a:t> p_df)</a:t>
            </a:r>
            <a:br/>
            <a:r>
              <a:rPr>
                <a:solidFill>
                  <a:srgbClr val="003B4F"/>
                </a:solidFill>
                <a:latin typeface="Courier"/>
              </a:rPr>
              <a:t>d_unpaired</a:t>
            </a:r>
          </a:p>
          <a:p>
            <a:pPr lvl="0" indent="0">
              <a:buNone/>
            </a:pPr>
            <a:r>
              <a:rPr>
                <a:latin typeface="Courier"/>
              </a:rPr>
              <a:t>Cohen's d |        95% CI
-------------------------
-0.60     | [-2.01, 0.84]
- Estimated using pooled SD.</a:t>
            </a:r>
          </a:p>
          <a:p>
            <a:pPr lvl="0" indent="0">
              <a:buNone/>
            </a:pPr>
            <a:r>
              <a:rPr>
                <a:solidFill>
                  <a:srgbClr val="003B4F"/>
                </a:solidFill>
                <a:latin typeface="Courier"/>
              </a:rPr>
              <a:t>p_wide_df &lt;- p_df </a:t>
            </a:r>
            <a:r>
              <a:rPr>
                <a:solidFill>
                  <a:srgbClr val="5E5E5E"/>
                </a:solidFill>
                <a:latin typeface="Courier"/>
              </a:rPr>
              <a:t>%&gt;%</a:t>
            </a:r>
            <a:br/>
            <a:r>
              <a:rPr>
                <a:solidFill>
                  <a:srgbClr val="003B4F"/>
                </a:solidFill>
                <a:latin typeface="Courier"/>
              </a:rPr>
              <a:t>  </a:t>
            </a:r>
            <a:r>
              <a:rPr>
                <a:solidFill>
                  <a:srgbClr val="4758AB"/>
                </a:solidFill>
                <a:latin typeface="Courier"/>
              </a:rPr>
              <a:t>pivot_wider</a:t>
            </a:r>
            <a:r>
              <a:rPr>
                <a:solidFill>
                  <a:srgbClr val="003B4F"/>
                </a:solidFill>
                <a:latin typeface="Courier"/>
              </a:rPr>
              <a:t>(</a:t>
            </a:r>
            <a:r>
              <a:rPr>
                <a:solidFill>
                  <a:srgbClr val="657422"/>
                </a:solidFill>
                <a:latin typeface="Courier"/>
              </a:rPr>
              <a:t>names_from =</a:t>
            </a:r>
            <a:r>
              <a:rPr>
                <a:solidFill>
                  <a:srgbClr val="003B4F"/>
                </a:solidFill>
                <a:latin typeface="Courier"/>
              </a:rPr>
              <a:t> side, </a:t>
            </a:r>
            <a:r>
              <a:rPr>
                <a:solidFill>
                  <a:srgbClr val="657422"/>
                </a:solidFill>
                <a:latin typeface="Courier"/>
              </a:rPr>
              <a:t>values_from =</a:t>
            </a:r>
            <a:r>
              <a:rPr>
                <a:solidFill>
                  <a:srgbClr val="003B4F"/>
                </a:solidFill>
                <a:latin typeface="Courier"/>
              </a:rPr>
              <a:t> needle_length_mm)</a:t>
            </a:r>
            <a:br/>
            <a:r>
              <a:rPr>
                <a:solidFill>
                  <a:srgbClr val="003B4F"/>
                </a:solidFill>
                <a:latin typeface="Courier"/>
              </a:rPr>
              <a:t>d_paired &lt;- </a:t>
            </a:r>
            <a:r>
              <a:rPr>
                <a:solidFill>
                  <a:srgbClr val="4758AB"/>
                </a:solidFill>
                <a:latin typeface="Courier"/>
              </a:rPr>
              <a:t>cohens_d</a:t>
            </a:r>
            <a:r>
              <a:rPr>
                <a:solidFill>
                  <a:srgbClr val="003B4F"/>
                </a:solidFill>
                <a:latin typeface="Courier"/>
              </a:rPr>
              <a:t>(p_wide_df</a:t>
            </a:r>
            <a:r>
              <a:rPr>
                <a:solidFill>
                  <a:srgbClr val="5E5E5E"/>
                </a:solidFill>
                <a:latin typeface="Courier"/>
              </a:rPr>
              <a:t>$</a:t>
            </a:r>
            <a:r>
              <a:rPr>
                <a:solidFill>
                  <a:srgbClr val="003B4F"/>
                </a:solidFill>
                <a:latin typeface="Courier"/>
              </a:rPr>
              <a:t>shady, p_wide_df</a:t>
            </a:r>
            <a:r>
              <a:rPr>
                <a:solidFill>
                  <a:srgbClr val="5E5E5E"/>
                </a:solidFill>
                <a:latin typeface="Courier"/>
              </a:rPr>
              <a:t>$</a:t>
            </a:r>
            <a:r>
              <a:rPr>
                <a:solidFill>
                  <a:srgbClr val="003B4F"/>
                </a:solidFill>
                <a:latin typeface="Courier"/>
              </a:rPr>
              <a:t>sunny, </a:t>
            </a:r>
            <a:r>
              <a:rPr>
                <a:solidFill>
                  <a:srgbClr val="657422"/>
                </a:solidFill>
                <a:latin typeface="Courier"/>
              </a:rPr>
              <a:t>paired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d_paired</a:t>
            </a:r>
          </a:p>
          <a:p>
            <a:pPr lvl="0" indent="0">
              <a:buNone/>
            </a:pPr>
            <a:r>
              <a:rPr>
                <a:latin typeface="Courier"/>
              </a:rPr>
              <a:t>Cohen's d |        95% CI
-------------------------
-1.36     | [-2.74, 0.10]</a:t>
            </a:r>
          </a:p>
          <a:p>
            <a:pPr lvl="0" indent="0">
              <a:buNone/>
            </a:pPr>
            <a:r>
              <a:rPr>
                <a:solidFill>
                  <a:srgbClr val="003B4F"/>
                </a:solidFill>
                <a:latin typeface="Courier"/>
              </a:rPr>
              <a:t>d_lizard &lt;- </a:t>
            </a:r>
            <a:r>
              <a:rPr>
                <a:solidFill>
                  <a:srgbClr val="4758AB"/>
                </a:solidFill>
                <a:latin typeface="Courier"/>
              </a:rPr>
              <a:t>cohens_d</a:t>
            </a:r>
            <a:r>
              <a:rPr>
                <a:solidFill>
                  <a:srgbClr val="003B4F"/>
                </a:solidFill>
                <a:latin typeface="Courier"/>
              </a:rPr>
              <a:t>(squamosal_horn_length_mm </a:t>
            </a:r>
            <a:r>
              <a:rPr>
                <a:solidFill>
                  <a:srgbClr val="5E5E5E"/>
                </a:solidFill>
                <a:latin typeface="Courier"/>
              </a:rPr>
              <a:t>~</a:t>
            </a:r>
            <a:r>
              <a:rPr>
                <a:solidFill>
                  <a:srgbClr val="003B4F"/>
                </a:solidFill>
                <a:latin typeface="Courier"/>
              </a:rPr>
              <a:t> survival, </a:t>
            </a:r>
            <a:r>
              <a:rPr>
                <a:solidFill>
                  <a:srgbClr val="657422"/>
                </a:solidFill>
                <a:latin typeface="Courier"/>
              </a:rPr>
              <a:t>data =</a:t>
            </a:r>
            <a:r>
              <a:rPr>
                <a:solidFill>
                  <a:srgbClr val="003B4F"/>
                </a:solidFill>
                <a:latin typeface="Courier"/>
              </a:rPr>
              <a:t> lizard_df)</a:t>
            </a:r>
            <a:br/>
            <a:r>
              <a:rPr>
                <a:solidFill>
                  <a:srgbClr val="003B4F"/>
                </a:solidFill>
                <a:latin typeface="Courier"/>
              </a:rPr>
              <a:t>d_lizard</a:t>
            </a:r>
          </a:p>
          <a:p>
            <a:pPr lvl="0" indent="0">
              <a:buNone/>
            </a:pPr>
            <a:r>
              <a:rPr>
                <a:latin typeface="Courier"/>
              </a:rPr>
              <a:t>Cohen's d |         95% CI
--------------------------
-0.87     | [-1.27, -0.47]
- Estimated using pooled SD.</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Comparison</a:t>
            </a:r>
          </a:p>
        </p:txBody>
      </p:sp>
      <p:pic>
        <p:nvPicPr>
          <p:cNvPr descr="power_and_error_lecture_files/figure-pptx/power-and-error-05-1.png" id="0" name="Picture 1"/>
          <p:cNvPicPr>
            <a:picLocks noGrp="1" noChangeAspect="1"/>
          </p:cNvPicPr>
          <p:nvPr/>
        </p:nvPicPr>
        <p:blipFill>
          <a:blip r:embed="rId2"/>
          <a:stretch>
            <a:fillRect/>
          </a:stretch>
        </p:blipFill>
        <p:spPr bwMode="auto">
          <a:xfrm>
            <a:off x="0" y="647700"/>
            <a:ext cx="9080500" cy="38481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a:t>
            </a:r>
          </a:p>
          <a:p>
            <a:pPr lvl="0" indent="0" marL="1270000">
              <a:buNone/>
            </a:pPr>
            <a:r>
              <a:rPr sz="2000" b="1"/>
              <a:t>✅ Key idea</a:t>
            </a:r>
          </a:p>
          <a:p>
            <a:pPr lvl="0" indent="0" marL="1270000">
              <a:buNone/>
            </a:pPr>
            <a:r>
              <a:rPr sz="2000"/>
              <a:t>Same statistical machinery, same kind of test, wildly different power — because sample size and effect-size-relative-to-noise differ. Nothing about the </a:t>
            </a:r>
            <a:r>
              <a:rPr sz="2000" i="1"/>
              <a:t>pine</a:t>
            </a:r>
            <a:r>
              <a:rPr sz="2000"/>
              <a:t> data is broken; it simply cannot see an effect this size with 4 trees per side.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A Priori Power: Planning Before You Collect Data</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Question to Ask </a:t>
            </a:r>
            <a:r>
              <a:rPr i="1"/>
              <a:t>Before</a:t>
            </a:r>
            <a:r>
              <a:rPr/>
              <a:t> the Field Season</a:t>
            </a:r>
          </a:p>
        </p:txBody>
      </p:sp>
      <p:sp>
        <p:nvSpPr>
          <p:cNvPr id="3" name="Content Placeholder 2"/>
          <p:cNvSpPr>
            <a:spLocks noGrp="1"/>
          </p:cNvSpPr>
          <p:nvPr>
            <p:ph idx="1" sz="half"/>
          </p:nvPr>
        </p:nvSpPr>
        <p:spPr/>
        <p:txBody>
          <a:bodyPr/>
          <a:lstStyle/>
          <a:p>
            <a:pPr lvl="0" indent="0" marL="0">
              <a:buNone/>
            </a:pPr>
            <a:r>
              <a:rPr/>
              <a:t>The most useful power analysis happens </a:t>
            </a:r>
            <a:r>
              <a:rPr b="1"/>
              <a:t>before you collect a single data point</a:t>
            </a:r>
            <a:r>
              <a:rPr/>
              <a:t>: guess or borrow an effect size, then ask what sample size would give you 80% power.</a:t>
            </a:r>
          </a:p>
          <a:p>
            <a:pPr lvl="0" indent="0">
              <a:buNone/>
            </a:pPr>
            <a:r>
              <a:rPr>
                <a:solidFill>
                  <a:srgbClr val="4758AB"/>
                </a:solidFill>
                <a:latin typeface="Courier"/>
              </a:rPr>
              <a:t>pwr.t.test</a:t>
            </a:r>
            <a:r>
              <a:rPr>
                <a:solidFill>
                  <a:srgbClr val="003B4F"/>
                </a:solidFill>
                <a:latin typeface="Courier"/>
              </a:rPr>
              <a:t>(</a:t>
            </a:r>
            <a:br/>
            <a:r>
              <a:rPr>
                <a:solidFill>
                  <a:srgbClr val="003B4F"/>
                </a:solidFill>
                <a:latin typeface="Courier"/>
              </a:rPr>
              <a:t>  </a:t>
            </a:r>
            <a:r>
              <a:rPr>
                <a:solidFill>
                  <a:srgbClr val="657422"/>
                </a:solidFill>
                <a:latin typeface="Courier"/>
              </a:rPr>
              <a:t>d =</a:t>
            </a:r>
            <a:r>
              <a:rPr>
                <a:solidFill>
                  <a:srgbClr val="003B4F"/>
                </a:solidFill>
                <a:latin typeface="Courier"/>
              </a:rPr>
              <a:t> d_unpaired</a:t>
            </a:r>
            <a:r>
              <a:rPr>
                <a:solidFill>
                  <a:srgbClr val="5E5E5E"/>
                </a:solidFill>
                <a:latin typeface="Courier"/>
              </a:rPr>
              <a:t>$</a:t>
            </a:r>
            <a:r>
              <a:rPr>
                <a:solidFill>
                  <a:srgbClr val="003B4F"/>
                </a:solidFill>
                <a:latin typeface="Courier"/>
              </a:rPr>
              <a:t>Cohens_d,</a:t>
            </a:r>
            <a:br/>
            <a:r>
              <a:rPr>
                <a:solidFill>
                  <a:srgbClr val="003B4F"/>
                </a:solidFill>
                <a:latin typeface="Courier"/>
              </a:rPr>
              <a:t>  </a:t>
            </a:r>
            <a:r>
              <a:rPr>
                <a:solidFill>
                  <a:srgbClr val="657422"/>
                </a:solidFill>
                <a:latin typeface="Courier"/>
              </a:rPr>
              <a:t>power =</a:t>
            </a:r>
            <a:r>
              <a:rPr>
                <a:solidFill>
                  <a:srgbClr val="003B4F"/>
                </a:solidFill>
                <a:latin typeface="Courier"/>
              </a:rPr>
              <a:t> </a:t>
            </a:r>
            <a:r>
              <a:rPr>
                <a:solidFill>
                  <a:srgbClr val="AD0000"/>
                </a:solidFill>
                <a:latin typeface="Courier"/>
              </a:rPr>
              <a:t>0.80</a:t>
            </a:r>
            <a:r>
              <a:rPr>
                <a:solidFill>
                  <a:srgbClr val="003B4F"/>
                </a:solidFill>
                <a:latin typeface="Courier"/>
              </a:rPr>
              <a:t>,</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"two.sample"</a:t>
            </a:r>
            <a:br/>
            <a:r>
              <a:rPr>
                <a:solidFill>
                  <a:srgbClr val="003B4F"/>
                </a:solidFill>
                <a:latin typeface="Courier"/>
              </a:rPr>
              <a:t>)</a:t>
            </a:r>
          </a:p>
          <a:p>
            <a:pPr lvl="0" indent="0">
              <a:buNone/>
            </a:pPr>
            <a:r>
              <a:rPr>
                <a:latin typeface="Courier"/>
              </a:rPr>
              <a:t>
     Two-sample t test power calculation 
              n = 43.89921
              d = 0.6047825
      sig.level = 0.05
          power = 0.8
    alternative = two.sided
NOTE: n is number in *each* group</a:t>
            </a:r>
          </a:p>
          <a:p>
            <a:pPr lvl="0" indent="0" marL="0">
              <a:buNone/>
            </a:pPr>
            <a:r>
              <a:rPr b="1"/>
              <a:t>44 trees per side</a:t>
            </a:r>
            <a:r>
              <a:rPr/>
              <a:t> (always round </a:t>
            </a:r>
            <a:r>
              <a:rPr>
                <a:latin typeface="Courier"/>
              </a:rPr>
              <a:t>n</a:t>
            </a:r>
            <a:r>
              <a:rPr/>
              <a:t> up). We collected 4.</a:t>
            </a:r>
          </a:p>
          <a:p>
            <a:pPr lvl="0" indent="0" marL="0">
              <a:buNone/>
            </a:pPr>
            <a:r>
              <a:rPr/>
              <a:t>And that d came from just 4 trees — its 95% CI (shady − sunny) runs from -2.01 to 0.84, which includes zero. An a priori n is only as good as the effect size you feed it; published values or a conservative guess are often safer than a tiny pilot.</a:t>
            </a:r>
          </a:p>
          <a:p>
            <a:pPr lvl="0" indent="0" marL="1270000">
              <a:buNone/>
            </a:pPr>
            <a:r>
              <a:rPr sz="2000" b="1"/>
              <a:t>Note</a:t>
            </a:r>
          </a:p>
          <a:p>
            <a:pPr lvl="0" indent="0" marL="1270000">
              <a:buNone/>
            </a:pPr>
            <a:r>
              <a:rPr sz="2000" b="1"/>
              <a:t>📖 Reference</a:t>
            </a:r>
          </a:p>
          <a:p>
            <a:pPr lvl="0" indent="0" marL="1270000">
              <a:buNone/>
            </a:pPr>
            <a:r>
              <a:rPr sz="2000"/>
              <a:t>Whitlock &amp; Schluter, Ch. 14 — Designing Experiments, and Gotelli &amp; Ellison, Ch. 4, both cover planning sample size before a study.</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This is why “we found no difference” is usually the wrong conclusion</a:t>
            </a:r>
          </a:p>
          <a:p>
            <a:pPr lvl="0" indent="0" marL="1270000">
              <a:buNone/>
            </a:pPr>
            <a:r>
              <a:rPr sz="2000"/>
              <a:t>A non-significant result from an underpowered study does not mean there is no effect. It means </a:t>
            </a:r>
            <a:r>
              <a:rPr sz="2000" b="1"/>
              <a:t>the study could never have found one.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5 · A Priori Power for a Smaller Effect</a:t>
            </a:r>
          </a:p>
        </p:txBody>
      </p:sp>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b="1"/>
              <a:t>🖐 Your turn — run this</a:t>
            </a:r>
          </a:p>
          <a:p>
            <a:pPr lvl="0" indent="0" marL="1270000">
              <a:buNone/>
            </a:pPr>
            <a:r>
              <a:rPr sz="2000"/>
              <a:t>The horned lizards gave us a </a:t>
            </a:r>
            <a:r>
              <a:rPr sz="2000" i="1"/>
              <a:t>large</a:t>
            </a:r>
            <a:r>
              <a:rPr sz="2000"/>
              <a:t> effect (d ≈ 0.87). Suppose instead you are planning a </a:t>
            </a:r>
            <a:r>
              <a:rPr sz="2000" b="1"/>
              <a:t>new</a:t>
            </a:r>
            <a:r>
              <a:rPr sz="2000"/>
              <a:t> study where you only expect a </a:t>
            </a:r>
            <a:r>
              <a:rPr sz="2000" i="1"/>
              <a:t>medium</a:t>
            </a:r>
            <a:r>
              <a:rPr sz="2000"/>
              <a:t> effect (d = 0.5, Cohen’s own benchmark). Assuming </a:t>
            </a:r>
            <a:r>
              <a:rPr sz="2000" b="1"/>
              <a:t>equal</a:t>
            </a:r>
            <a:r>
              <a:rPr sz="2000"/>
              <a:t> group sizes, how many lizards per group would you need for 80% power?</a:t>
            </a:r>
          </a:p>
          <a:p>
            <a:pPr lvl="0" indent="0">
              <a:buNone/>
            </a:pPr>
            <a:r>
              <a:rPr>
                <a:solidFill>
                  <a:srgbClr val="4758AB"/>
                </a:solidFill>
                <a:latin typeface="Courier"/>
              </a:rPr>
              <a:t>pwr.t.test</a:t>
            </a:r>
            <a:r>
              <a:rPr>
                <a:solidFill>
                  <a:srgbClr val="003B4F"/>
                </a:solidFill>
                <a:latin typeface="Courier"/>
              </a:rPr>
              <a:t>(</a:t>
            </a:r>
            <a:r>
              <a:rPr>
                <a:solidFill>
                  <a:srgbClr val="657422"/>
                </a:solidFill>
                <a:latin typeface="Courier"/>
              </a:rPr>
              <a:t>d =</a:t>
            </a:r>
            <a:r>
              <a:rPr>
                <a:solidFill>
                  <a:srgbClr val="003B4F"/>
                </a:solidFill>
                <a:latin typeface="Courier"/>
              </a:rPr>
              <a:t> </a:t>
            </a:r>
            <a:r>
              <a:rPr>
                <a:solidFill>
                  <a:srgbClr val="AD0000"/>
                </a:solidFill>
                <a:latin typeface="Courier"/>
              </a:rPr>
              <a:t>0.5</a:t>
            </a:r>
            <a:r>
              <a:rPr>
                <a:solidFill>
                  <a:srgbClr val="003B4F"/>
                </a:solidFill>
                <a:latin typeface="Courier"/>
              </a:rPr>
              <a:t>, </a:t>
            </a:r>
            <a:r>
              <a:rPr>
                <a:solidFill>
                  <a:srgbClr val="657422"/>
                </a:solidFill>
                <a:latin typeface="Courier"/>
              </a:rPr>
              <a:t>power =</a:t>
            </a:r>
            <a:r>
              <a:rPr>
                <a:solidFill>
                  <a:srgbClr val="003B4F"/>
                </a:solidFill>
                <a:latin typeface="Courier"/>
              </a:rPr>
              <a:t> </a:t>
            </a:r>
            <a:r>
              <a:rPr>
                <a:solidFill>
                  <a:srgbClr val="AD0000"/>
                </a:solidFill>
                <a:latin typeface="Courier"/>
              </a:rPr>
              <a:t>0.80</a:t>
            </a: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"two.sample"</a:t>
            </a:r>
            <a:r>
              <a:rPr>
                <a:solidFill>
                  <a:srgbClr val="003B4F"/>
                </a:solidFill>
                <a:latin typeface="Courier"/>
              </a:rPr>
              <a:t>)</a:t>
            </a:r>
          </a:p>
          <a:p>
            <a:pPr lvl="0" indent="0">
              <a:buNone/>
            </a:pPr>
            <a:r>
              <a:rPr sz="2000">
                <a:latin typeface="Courier"/>
              </a:rPr>
              <a:t>
     Two-sample t test power calculation 
              n = 63.76561
              d = 0.5
      sig.level = 0.05
          power = 0.8
    alternative = two.sided
NOTE: n is number in *each* group</a:t>
            </a:r>
          </a:p>
          <a:p>
            <a:pPr lvl="0" indent="0" marL="1270000">
              <a:buNone/>
            </a:pPr>
            <a:r>
              <a:rPr sz="2000"/>
              <a:t>How does that n compare to the 44 trees per side the pine study needed?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The </a:t>
            </a:r>
            <a:r>
              <a:rPr>
                <a:latin typeface="Courier"/>
              </a:rPr>
              <a:t>pwr</a:t>
            </a:r>
            <a:r>
              <a:rPr/>
              <a:t> Package, and Unequal Group Sizes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When Your Two Groups Aren’t the Same Size</a:t>
            </a:r>
          </a:p>
        </p:txBody>
      </p:sp>
      <p:sp>
        <p:nvSpPr>
          <p:cNvPr id="3" name="Content Placeholder 2"/>
          <p:cNvSpPr>
            <a:spLocks noGrp="1"/>
          </p:cNvSpPr>
          <p:nvPr>
            <p:ph idx="1" sz="half"/>
          </p:nvPr>
        </p:nvSpPr>
        <p:spPr/>
        <p:txBody>
          <a:bodyPr/>
          <a:lstStyle/>
          <a:p>
            <a:pPr lvl="0" indent="0" marL="0">
              <a:buNone/>
            </a:pPr>
            <a:r>
              <a:rPr>
                <a:latin typeface="Courier"/>
              </a:rPr>
              <a:t>pwr</a:t>
            </a:r>
            <a:r>
              <a:rPr/>
              <a:t> generalizes power analysis beyond the two-sample t-test — </a:t>
            </a:r>
            <a:r>
              <a:rPr>
                <a:latin typeface="Courier"/>
              </a:rPr>
              <a:t>pwr.anova.test()</a:t>
            </a:r>
            <a:r>
              <a:rPr/>
              <a:t>, </a:t>
            </a:r>
            <a:r>
              <a:rPr>
                <a:latin typeface="Courier"/>
              </a:rPr>
              <a:t>pwr.r.test()</a:t>
            </a:r>
            <a:r>
              <a:rPr/>
              <a:t>, and </a:t>
            </a:r>
            <a:r>
              <a:rPr>
                <a:latin typeface="Courier"/>
              </a:rPr>
              <a:t>pwr.chisq.test()</a:t>
            </a:r>
            <a:r>
              <a:rPr/>
              <a:t> cover ANOVA, correlation, and categorical data, all with the same interface, for later units.</a:t>
            </a:r>
          </a:p>
          <a:p>
            <a:pPr lvl="0" indent="0" marL="0">
              <a:buNone/>
            </a:pPr>
            <a:r>
              <a:rPr/>
              <a:t>Right now, the feature we need is </a:t>
            </a:r>
            <a:r>
              <a:rPr>
                <a:latin typeface="Courier"/>
              </a:rPr>
              <a:t>pwr.t2n.test()</a:t>
            </a:r>
            <a:r>
              <a:rPr/>
              <a:t> — it takes the </a:t>
            </a:r>
            <a:r>
              <a:rPr b="1"/>
              <a:t>two actual group sizes</a:t>
            </a:r>
            <a:r>
              <a:rPr/>
              <a:t> directly. No averaging, no workaround:</a:t>
            </a:r>
          </a:p>
          <a:p>
            <a:pPr lvl="0" indent="0">
              <a:buNone/>
            </a:pPr>
            <a:r>
              <a:rPr>
                <a:solidFill>
                  <a:srgbClr val="4758AB"/>
                </a:solidFill>
                <a:latin typeface="Courier"/>
              </a:rPr>
              <a:t>pwr.t2n.test</a:t>
            </a:r>
            <a:r>
              <a:rPr>
                <a:solidFill>
                  <a:srgbClr val="003B4F"/>
                </a:solidFill>
                <a:latin typeface="Courier"/>
              </a:rPr>
              <a:t>(</a:t>
            </a:r>
            <a:br/>
            <a:r>
              <a:rPr>
                <a:solidFill>
                  <a:srgbClr val="003B4F"/>
                </a:solidFill>
                <a:latin typeface="Courier"/>
              </a:rPr>
              <a:t>  </a:t>
            </a:r>
            <a:r>
              <a:rPr>
                <a:solidFill>
                  <a:srgbClr val="657422"/>
                </a:solidFill>
                <a:latin typeface="Courier"/>
              </a:rPr>
              <a:t>n1 =</a:t>
            </a:r>
            <a:r>
              <a:rPr>
                <a:solidFill>
                  <a:srgbClr val="003B4F"/>
                </a:solidFill>
                <a:latin typeface="Courier"/>
              </a:rPr>
              <a:t> </a:t>
            </a:r>
            <a:r>
              <a:rPr>
                <a:solidFill>
                  <a:srgbClr val="4758AB"/>
                </a:solidFill>
                <a:latin typeface="Courier"/>
              </a:rPr>
              <a:t>sum</a:t>
            </a:r>
            <a:r>
              <a:rPr>
                <a:solidFill>
                  <a:srgbClr val="003B4F"/>
                </a:solidFill>
                <a:latin typeface="Courier"/>
              </a:rPr>
              <a:t>(lizard_df</a:t>
            </a:r>
            <a:r>
              <a:rPr>
                <a:solidFill>
                  <a:srgbClr val="5E5E5E"/>
                </a:solidFill>
                <a:latin typeface="Courier"/>
              </a:rPr>
              <a:t>$</a:t>
            </a:r>
            <a:r>
              <a:rPr>
                <a:solidFill>
                  <a:srgbClr val="003B4F"/>
                </a:solidFill>
                <a:latin typeface="Courier"/>
              </a:rPr>
              <a:t>survival </a:t>
            </a:r>
            <a:r>
              <a:rPr>
                <a:solidFill>
                  <a:srgbClr val="5E5E5E"/>
                </a:solidFill>
                <a:latin typeface="Courier"/>
              </a:rPr>
              <a:t>==</a:t>
            </a:r>
            <a:r>
              <a:rPr>
                <a:solidFill>
                  <a:srgbClr val="003B4F"/>
                </a:solidFill>
                <a:latin typeface="Courier"/>
              </a:rPr>
              <a:t> </a:t>
            </a:r>
            <a:r>
              <a:rPr>
                <a:solidFill>
                  <a:srgbClr val="20794D"/>
                </a:solidFill>
                <a:latin typeface="Courier"/>
              </a:rPr>
              <a:t>"living"</a:t>
            </a:r>
            <a:r>
              <a:rPr>
                <a:solidFill>
                  <a:srgbClr val="003B4F"/>
                </a:solidFill>
                <a:latin typeface="Courier"/>
              </a:rPr>
              <a:t>),</a:t>
            </a:r>
            <a:br/>
            <a:r>
              <a:rPr>
                <a:solidFill>
                  <a:srgbClr val="003B4F"/>
                </a:solidFill>
                <a:latin typeface="Courier"/>
              </a:rPr>
              <a:t>  </a:t>
            </a:r>
            <a:r>
              <a:rPr>
                <a:solidFill>
                  <a:srgbClr val="657422"/>
                </a:solidFill>
                <a:latin typeface="Courier"/>
              </a:rPr>
              <a:t>n2 =</a:t>
            </a:r>
            <a:r>
              <a:rPr>
                <a:solidFill>
                  <a:srgbClr val="003B4F"/>
                </a:solidFill>
                <a:latin typeface="Courier"/>
              </a:rPr>
              <a:t> </a:t>
            </a:r>
            <a:r>
              <a:rPr>
                <a:solidFill>
                  <a:srgbClr val="4758AB"/>
                </a:solidFill>
                <a:latin typeface="Courier"/>
              </a:rPr>
              <a:t>sum</a:t>
            </a:r>
            <a:r>
              <a:rPr>
                <a:solidFill>
                  <a:srgbClr val="003B4F"/>
                </a:solidFill>
                <a:latin typeface="Courier"/>
              </a:rPr>
              <a:t>(lizard_df</a:t>
            </a:r>
            <a:r>
              <a:rPr>
                <a:solidFill>
                  <a:srgbClr val="5E5E5E"/>
                </a:solidFill>
                <a:latin typeface="Courier"/>
              </a:rPr>
              <a:t>$</a:t>
            </a:r>
            <a:r>
              <a:rPr>
                <a:solidFill>
                  <a:srgbClr val="003B4F"/>
                </a:solidFill>
                <a:latin typeface="Courier"/>
              </a:rPr>
              <a:t>survival </a:t>
            </a:r>
            <a:r>
              <a:rPr>
                <a:solidFill>
                  <a:srgbClr val="5E5E5E"/>
                </a:solidFill>
                <a:latin typeface="Courier"/>
              </a:rPr>
              <a:t>==</a:t>
            </a:r>
            <a:r>
              <a:rPr>
                <a:solidFill>
                  <a:srgbClr val="003B4F"/>
                </a:solidFill>
                <a:latin typeface="Courier"/>
              </a:rPr>
              <a:t> </a:t>
            </a:r>
            <a:r>
              <a:rPr>
                <a:solidFill>
                  <a:srgbClr val="20794D"/>
                </a:solidFill>
                <a:latin typeface="Courier"/>
              </a:rPr>
              <a:t>"killed"</a:t>
            </a:r>
            <a:r>
              <a:rPr>
                <a:solidFill>
                  <a:srgbClr val="003B4F"/>
                </a:solidFill>
                <a:latin typeface="Courier"/>
              </a:rPr>
              <a:t>),</a:t>
            </a:r>
            <a:br/>
            <a:r>
              <a:rPr>
                <a:solidFill>
                  <a:srgbClr val="003B4F"/>
                </a:solidFill>
                <a:latin typeface="Courier"/>
              </a:rPr>
              <a:t>  </a:t>
            </a:r>
            <a:r>
              <a:rPr>
                <a:solidFill>
                  <a:srgbClr val="657422"/>
                </a:solidFill>
                <a:latin typeface="Courier"/>
              </a:rPr>
              <a:t>d =</a:t>
            </a:r>
            <a:r>
              <a:rPr>
                <a:solidFill>
                  <a:srgbClr val="003B4F"/>
                </a:solidFill>
                <a:latin typeface="Courier"/>
              </a:rPr>
              <a:t> d_lizard</a:t>
            </a:r>
            <a:r>
              <a:rPr>
                <a:solidFill>
                  <a:srgbClr val="5E5E5E"/>
                </a:solidFill>
                <a:latin typeface="Courier"/>
              </a:rPr>
              <a:t>$</a:t>
            </a:r>
            <a:r>
              <a:rPr>
                <a:solidFill>
                  <a:srgbClr val="003B4F"/>
                </a:solidFill>
                <a:latin typeface="Courier"/>
              </a:rPr>
              <a:t>Cohens_d,</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br/>
            <a:r>
              <a:rPr>
                <a:solidFill>
                  <a:srgbClr val="003B4F"/>
                </a:solidFill>
                <a:latin typeface="Courier"/>
              </a:rPr>
              <a:t>)</a:t>
            </a:r>
          </a:p>
          <a:p>
            <a:pPr lvl="0" indent="0">
              <a:buNone/>
            </a:pPr>
            <a:r>
              <a:rPr>
                <a:latin typeface="Courier"/>
              </a:rPr>
              <a:t>
     t test power calculation 
             n1 = 154
             n2 = 30
              d = 0.8679866
      sig.level = 0.05
          power = 0.9910174
    alternative = two.sided</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 The old workaround</a:t>
            </a:r>
          </a:p>
          <a:p>
            <a:pPr lvl="0" indent="0" marL="1270000">
              <a:buNone/>
            </a:pPr>
            <a:r>
              <a:rPr sz="2000"/>
              <a:t>Before </a:t>
            </a:r>
            <a:r>
              <a:rPr sz="2000">
                <a:latin typeface="Courier"/>
              </a:rPr>
              <a:t>pwr.t2n.test()</a:t>
            </a:r>
            <a:r>
              <a:rPr sz="2000"/>
              <a:t>, an unbalanced design forced you to fake a single n — usually the </a:t>
            </a:r>
            <a:r>
              <a:rPr sz="2000" b="1"/>
              <a:t>harmonic mean</a:t>
            </a:r>
            <a:r>
              <a:rPr sz="2000"/>
              <a:t> of n₁ and n₂ — and feed that to a function built for equal groups. It is an approximation. </a:t>
            </a:r>
            <a:r>
              <a:rPr sz="2000">
                <a:latin typeface="Courier"/>
              </a:rPr>
              <a:t>pwr.t2n.test()</a:t>
            </a:r>
            <a:r>
              <a:rPr sz="2000"/>
              <a:t> uses both real sample sizes directly and is the better tool whenever n₁ ≠ n₂.</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Retrospective (Post-Hoc) Power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Computing Power From What You Actually Observed</a:t>
            </a:r>
          </a:p>
        </p:txBody>
      </p:sp>
      <p:sp>
        <p:nvSpPr>
          <p:cNvPr id="3" name="Content Placeholder 2"/>
          <p:cNvSpPr>
            <a:spLocks noGrp="1"/>
          </p:cNvSpPr>
          <p:nvPr>
            <p:ph idx="1" sz="half"/>
          </p:nvPr>
        </p:nvSpPr>
        <p:spPr/>
        <p:txBody>
          <a:bodyPr/>
          <a:lstStyle/>
          <a:p>
            <a:pPr lvl="0" indent="0" marL="0">
              <a:buNone/>
            </a:pPr>
            <a:r>
              <a:rPr/>
              <a:t>The other direction: </a:t>
            </a:r>
            <a:r>
              <a:rPr b="1"/>
              <a:t>after</a:t>
            </a:r>
            <a:r>
              <a:rPr/>
              <a:t> a study, ask what power your actual n and observed effect size gave you.</a:t>
            </a:r>
          </a:p>
          <a:p>
            <a:pPr lvl="0" indent="0">
              <a:buNone/>
            </a:pPr>
            <a:r>
              <a:rPr>
                <a:solidFill>
                  <a:srgbClr val="4758AB"/>
                </a:solidFill>
                <a:latin typeface="Courier"/>
              </a:rPr>
              <a:t>pwr.t.test</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AD0000"/>
                </a:solidFill>
                <a:latin typeface="Courier"/>
              </a:rPr>
              <a:t>4</a:t>
            </a:r>
            <a:r>
              <a:rPr>
                <a:solidFill>
                  <a:srgbClr val="003B4F"/>
                </a:solidFill>
                <a:latin typeface="Courier"/>
              </a:rPr>
              <a:t>,</a:t>
            </a:r>
            <a:br/>
            <a:r>
              <a:rPr>
                <a:solidFill>
                  <a:srgbClr val="003B4F"/>
                </a:solidFill>
                <a:latin typeface="Courier"/>
              </a:rPr>
              <a:t>  </a:t>
            </a:r>
            <a:r>
              <a:rPr>
                <a:solidFill>
                  <a:srgbClr val="657422"/>
                </a:solidFill>
                <a:latin typeface="Courier"/>
              </a:rPr>
              <a:t>d =</a:t>
            </a:r>
            <a:r>
              <a:rPr>
                <a:solidFill>
                  <a:srgbClr val="003B4F"/>
                </a:solidFill>
                <a:latin typeface="Courier"/>
              </a:rPr>
              <a:t> d_unpaired</a:t>
            </a:r>
            <a:r>
              <a:rPr>
                <a:solidFill>
                  <a:srgbClr val="5E5E5E"/>
                </a:solidFill>
                <a:latin typeface="Courier"/>
              </a:rPr>
              <a:t>$</a:t>
            </a:r>
            <a:r>
              <a:rPr>
                <a:solidFill>
                  <a:srgbClr val="003B4F"/>
                </a:solidFill>
                <a:latin typeface="Courier"/>
              </a:rPr>
              <a:t>Cohens_d,</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"two.sample"</a:t>
            </a:r>
            <a:br/>
            <a:r>
              <a:rPr>
                <a:solidFill>
                  <a:srgbClr val="003B4F"/>
                </a:solidFill>
                <a:latin typeface="Courier"/>
              </a:rPr>
              <a:t>)</a:t>
            </a:r>
          </a:p>
          <a:p>
            <a:pPr lvl="0" indent="0">
              <a:buNone/>
            </a:pPr>
            <a:r>
              <a:rPr>
                <a:latin typeface="Courier"/>
              </a:rPr>
              <a:t>
     Two-sample t test power calculation 
              n = 4
              d = 0.6047825
      sig.level = 0.05
          power = 0.112253
    alternative = two.sided
NOTE: n is number in *each* group</a:t>
            </a:r>
          </a:p>
          <a:p>
            <a:pPr lvl="0" indent="0" marL="0">
              <a:buNone/>
            </a:pPr>
            <a:r>
              <a:rPr b="1"/>
              <a:t>11% power.</a:t>
            </a:r>
            <a:r>
              <a:rPr/>
              <a:t> Even if the pine difference is completely real, an unpaired study with 4 trees per side would </a:t>
            </a:r>
            <a:r>
              <a:rPr b="1"/>
              <a:t>miss it about 9 times out of 10.</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A warning about “post-hoc power”</a:t>
            </a:r>
          </a:p>
          <a:p>
            <a:pPr lvl="0" indent="0" marL="1270000">
              <a:buNone/>
            </a:pPr>
            <a:r>
              <a:rPr sz="2000"/>
              <a:t>Computing power </a:t>
            </a:r>
            <a:r>
              <a:rPr sz="2000" i="1"/>
              <a:t>from the effect size you observed</a:t>
            </a:r>
            <a:r>
              <a:rPr sz="2000"/>
              <a:t> is a known trap. It is fine for what we used it for here: </a:t>
            </a:r>
            <a:r>
              <a:rPr sz="2000" b="1"/>
              <a:t>planning the next study.</a:t>
            </a:r>
          </a:p>
          <a:p>
            <a:pPr lvl="0" indent="0" marL="1270000">
              <a:buNone/>
            </a:pPr>
            <a:r>
              <a:rPr sz="2000"/>
              <a:t>It is </a:t>
            </a:r>
            <a:r>
              <a:rPr sz="2000" b="1"/>
              <a:t>not</a:t>
            </a:r>
            <a:r>
              <a:rPr sz="2000"/>
              <a:t> a valid way to explain away a non-significant result — observed power is just a re-expression of the p-value you already have. “Our result was non-significant, but we had low power” says the same thing twice.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6 · Retrospective Power for the Paired Design</a:t>
            </a:r>
          </a:p>
        </p:txBody>
      </p:sp>
      <p:sp>
        <p:nvSpPr>
          <p:cNvPr id="3" name="Content Placeholder 2"/>
          <p:cNvSpPr>
            <a:spLocks noGrp="1"/>
          </p:cNvSpPr>
          <p:nvPr>
            <p:ph idx="1"/>
          </p:nvPr>
        </p:nvSpPr>
        <p:spPr/>
        <p:txBody>
          <a:bodyPr/>
          <a:lstStyle/>
          <a:p>
            <a:pPr lvl="0" indent="0" marL="1270000">
              <a:buNone/>
            </a:pPr>
            <a:r>
              <a:rPr sz="2000" b="1"/>
              <a:t>Tip</a:t>
            </a:r>
          </a:p>
          <a:p>
            <a:pPr lvl="0" indent="0" marL="1270000">
              <a:buNone/>
            </a:pPr>
            <a:r>
              <a:rPr sz="2000" b="1"/>
              <a:t>🖐 Your turn — run this</a:t>
            </a:r>
          </a:p>
          <a:p>
            <a:pPr lvl="0" indent="0" marL="1270000">
              <a:buNone/>
            </a:pPr>
            <a:r>
              <a:rPr sz="2000"/>
              <a:t>You already calculated </a:t>
            </a:r>
            <a:r>
              <a:rPr sz="2000">
                <a:latin typeface="Courier"/>
              </a:rPr>
              <a:t>d_paired</a:t>
            </a:r>
            <a:r>
              <a:rPr sz="2000"/>
              <a:t> in Part 4 (the same four trees, paired instead of unpaired). Compute the retrospective power of the </a:t>
            </a:r>
            <a:r>
              <a:rPr sz="2000" b="1"/>
              <a:t>paired</a:t>
            </a:r>
            <a:r>
              <a:rPr sz="2000"/>
              <a:t> design at n = 4, the same way Part 7 just did for the unpaired one.</a:t>
            </a:r>
          </a:p>
          <a:p>
            <a:pPr lvl="0" indent="0">
              <a:buNone/>
            </a:pPr>
            <a:r>
              <a:rPr>
                <a:solidFill>
                  <a:srgbClr val="4758AB"/>
                </a:solidFill>
                <a:latin typeface="Courier"/>
              </a:rPr>
              <a:t>pwr.t.test</a:t>
            </a:r>
            <a:r>
              <a:rPr>
                <a:solidFill>
                  <a:srgbClr val="003B4F"/>
                </a:solidFill>
                <a:latin typeface="Courier"/>
              </a:rPr>
              <a:t>(</a:t>
            </a:r>
            <a:r>
              <a:rPr>
                <a:solidFill>
                  <a:srgbClr val="657422"/>
                </a:solidFill>
                <a:latin typeface="Courier"/>
              </a:rPr>
              <a:t>n =</a:t>
            </a:r>
            <a:r>
              <a:rPr>
                <a:solidFill>
                  <a:srgbClr val="003B4F"/>
                </a:solidFill>
                <a:latin typeface="Courier"/>
              </a:rPr>
              <a:t> </a:t>
            </a:r>
            <a:r>
              <a:rPr>
                <a:solidFill>
                  <a:srgbClr val="AD0000"/>
                </a:solidFill>
                <a:latin typeface="Courier"/>
              </a:rPr>
              <a:t>4</a:t>
            </a:r>
            <a:r>
              <a:rPr>
                <a:solidFill>
                  <a:srgbClr val="003B4F"/>
                </a:solidFill>
                <a:latin typeface="Courier"/>
              </a:rPr>
              <a:t>, </a:t>
            </a:r>
            <a:r>
              <a:rPr>
                <a:solidFill>
                  <a:srgbClr val="657422"/>
                </a:solidFill>
                <a:latin typeface="Courier"/>
              </a:rPr>
              <a:t>d =</a:t>
            </a:r>
            <a:r>
              <a:rPr>
                <a:solidFill>
                  <a:srgbClr val="003B4F"/>
                </a:solidFill>
                <a:latin typeface="Courier"/>
              </a:rPr>
              <a:t> d_paired</a:t>
            </a:r>
            <a:r>
              <a:rPr>
                <a:solidFill>
                  <a:srgbClr val="5E5E5E"/>
                </a:solidFill>
                <a:latin typeface="Courier"/>
              </a:rPr>
              <a:t>$</a:t>
            </a:r>
            <a:r>
              <a:rPr>
                <a:solidFill>
                  <a:srgbClr val="003B4F"/>
                </a:solidFill>
                <a:latin typeface="Courier"/>
              </a:rPr>
              <a:t>Cohens_d,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"paired"</a:t>
            </a:r>
            <a:r>
              <a:rPr>
                <a:solidFill>
                  <a:srgbClr val="003B4F"/>
                </a:solidFill>
                <a:latin typeface="Courier"/>
              </a:rPr>
              <a:t>)</a:t>
            </a:r>
          </a:p>
          <a:p>
            <a:pPr lvl="0" indent="0">
              <a:buNone/>
            </a:pPr>
            <a:r>
              <a:rPr sz="2000">
                <a:latin typeface="Courier"/>
              </a:rPr>
              <a:t>
     Paired t test power calculation 
              n = 4
              d = 1.361371
      sig.level = 0.05
          power = 0.4635201
    alternative = two.sided
NOTE: n is number of *pairs*</a:t>
            </a:r>
          </a:p>
          <a:p>
            <a:pPr lvl="0" indent="0" marL="1270000">
              <a:buNone/>
            </a:pPr>
            <a:r>
              <a:rPr sz="2000"/>
              <a:t>How much higher is it than the unpaired 11%?</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Pairing Buys You Power</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Whole Economics of the Study</a:t>
            </a:r>
          </a:p>
        </p:txBody>
      </p:sp>
      <p:sp>
        <p:nvSpPr>
          <p:cNvPr id="3" name="Content Placeholder 2"/>
          <p:cNvSpPr>
            <a:spLocks noGrp="1"/>
          </p:cNvSpPr>
          <p:nvPr>
            <p:ph idx="1" sz="half"/>
          </p:nvPr>
        </p:nvSpPr>
        <p:spPr/>
        <p:txBody>
          <a:bodyPr/>
          <a:lstStyle/>
          <a:p>
            <a:pPr lvl="0" indent="0" marL="0">
              <a:buNone/>
            </a:pPr>
            <a:r>
              <a:rPr/>
              <a:t>Pairing does not just give a smaller p-value — it changes what the study needed to begin with.</a:t>
            </a:r>
          </a:p>
          <a:p>
            <a:pPr lvl="0" indent="0">
              <a:buNone/>
            </a:pPr>
            <a:r>
              <a:rPr>
                <a:solidFill>
                  <a:srgbClr val="4758AB"/>
                </a:solidFill>
                <a:latin typeface="Courier"/>
              </a:rPr>
              <a:t>pwr.t.test</a:t>
            </a:r>
            <a:r>
              <a:rPr>
                <a:solidFill>
                  <a:srgbClr val="003B4F"/>
                </a:solidFill>
                <a:latin typeface="Courier"/>
              </a:rPr>
              <a:t>(</a:t>
            </a:r>
            <a:br/>
            <a:r>
              <a:rPr>
                <a:solidFill>
                  <a:srgbClr val="003B4F"/>
                </a:solidFill>
                <a:latin typeface="Courier"/>
              </a:rPr>
              <a:t>  </a:t>
            </a:r>
            <a:r>
              <a:rPr>
                <a:solidFill>
                  <a:srgbClr val="657422"/>
                </a:solidFill>
                <a:latin typeface="Courier"/>
              </a:rPr>
              <a:t>d =</a:t>
            </a:r>
            <a:r>
              <a:rPr>
                <a:solidFill>
                  <a:srgbClr val="003B4F"/>
                </a:solidFill>
                <a:latin typeface="Courier"/>
              </a:rPr>
              <a:t> d_paired</a:t>
            </a:r>
            <a:r>
              <a:rPr>
                <a:solidFill>
                  <a:srgbClr val="5E5E5E"/>
                </a:solidFill>
                <a:latin typeface="Courier"/>
              </a:rPr>
              <a:t>$</a:t>
            </a:r>
            <a:r>
              <a:rPr>
                <a:solidFill>
                  <a:srgbClr val="003B4F"/>
                </a:solidFill>
                <a:latin typeface="Courier"/>
              </a:rPr>
              <a:t>Cohens_d,</a:t>
            </a:r>
            <a:br/>
            <a:r>
              <a:rPr>
                <a:solidFill>
                  <a:srgbClr val="003B4F"/>
                </a:solidFill>
                <a:latin typeface="Courier"/>
              </a:rPr>
              <a:t>  </a:t>
            </a:r>
            <a:r>
              <a:rPr>
                <a:solidFill>
                  <a:srgbClr val="657422"/>
                </a:solidFill>
                <a:latin typeface="Courier"/>
              </a:rPr>
              <a:t>power =</a:t>
            </a:r>
            <a:r>
              <a:rPr>
                <a:solidFill>
                  <a:srgbClr val="003B4F"/>
                </a:solidFill>
                <a:latin typeface="Courier"/>
              </a:rPr>
              <a:t> </a:t>
            </a:r>
            <a:r>
              <a:rPr>
                <a:solidFill>
                  <a:srgbClr val="AD0000"/>
                </a:solidFill>
                <a:latin typeface="Courier"/>
              </a:rPr>
              <a:t>0.80</a:t>
            </a:r>
            <a:r>
              <a:rPr>
                <a:solidFill>
                  <a:srgbClr val="003B4F"/>
                </a:solidFill>
                <a:latin typeface="Courier"/>
              </a:rPr>
              <a:t>,</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"paired"</a:t>
            </a:r>
            <a:br/>
            <a:r>
              <a:rPr>
                <a:solidFill>
                  <a:srgbClr val="003B4F"/>
                </a:solidFill>
                <a:latin typeface="Courier"/>
              </a:rPr>
              <a:t>)</a:t>
            </a:r>
          </a:p>
          <a:p>
            <a:pPr lvl="0" indent="0">
              <a:buNone/>
            </a:pPr>
            <a:r>
              <a:rPr>
                <a:latin typeface="Courier"/>
              </a:rPr>
              <a:t>
     Paired t test power calculation 
              n = 6.406838
              d = 1.361371
      sig.level = 0.05
          power = 0.8
    alternative = two.sided
NOTE: n is number of *pairs*</a:t>
            </a:r>
          </a:p>
          <a:p>
            <a:pPr lvl="0" indent="0" marL="0">
              <a:buNone/>
            </a:pPr>
            <a:r>
              <a:rPr b="1"/>
              <a:t>7 trees, total</a:t>
            </a:r>
            <a:r>
              <a:rPr/>
              <a:t> — for 80% power, paired.</a:t>
            </a:r>
          </a:p>
        </p:txBody>
      </p:sp>
      <p:graphicFrame>
        <p:nvGraphicFramePr>
          <p:cNvPr id="6" name="Content Placeholder 5"/>
          <p:cNvGraphicFramePr>
            <a:graphicFrameLocks noGrp="1"/>
          </p:cNvGraphicFramePr>
          <p:nvPr>
            <p:ph idx="1"/>
          </p:nvPr>
        </p:nvGraphicFramePr>
        <p:xfrm>
          <a:off x="6121400" y="660400"/>
          <a:ext cx="2781300" cy="4470400"/>
        </p:xfrm>
        <a:graphic>
          <a:graphicData uri="http://schemas.openxmlformats.org/drawingml/2006/table">
            <a:tbl>
              <a:tblPr firstRow="1" bandRow="1">
                <a:tableStyleId>{5C22544A-7EE6-4342-B048-85BDC9FD1C3A}</a:tableStyleId>
              </a:tblPr>
              <a:tblGrid>
                <a:gridCol w="927100"/>
                <a:gridCol w="927100"/>
                <a:gridCol w="927100"/>
              </a:tblGrid>
              <a:tr h="0">
                <a:tc>
                  <a:txBody>
                    <a:bodyPr/>
                    <a:lstStyle/>
                    <a:p>
                      <a:pPr lvl="0" indent="0" marL="0">
                        <a:buNone/>
                      </a:pPr>
                      <a:r>
                        <a:rPr/>
                        <a:t>Design</a:t>
                      </a:r>
                    </a:p>
                  </a:txBody>
                  <a:tcPr/>
                </a:tc>
                <a:tc>
                  <a:txBody>
                    <a:bodyPr/>
                    <a:lstStyle/>
                    <a:p>
                      <a:pPr lvl="0" indent="0" marL="0">
                        <a:buNone/>
                      </a:pPr>
                      <a:r>
                        <a:rPr/>
                        <a:t>Power at n = 4</a:t>
                      </a:r>
                    </a:p>
                  </a:txBody>
                  <a:tcPr/>
                </a:tc>
                <a:tc>
                  <a:txBody>
                    <a:bodyPr/>
                    <a:lstStyle/>
                    <a:p>
                      <a:pPr lvl="0" indent="0" marL="0">
                        <a:buNone/>
                      </a:pPr>
                      <a:r>
                        <a:rPr/>
                        <a:t>Trees for 80% power</a:t>
                      </a:r>
                    </a:p>
                  </a:txBody>
                  <a:tcPr/>
                </a:tc>
              </a:tr>
              <a:tr h="0">
                <a:tc>
                  <a:txBody>
                    <a:bodyPr/>
                    <a:lstStyle/>
                    <a:p>
                      <a:pPr lvl="0" indent="0" marL="0">
                        <a:buNone/>
                      </a:pPr>
                      <a:r>
                        <a:rPr/>
                        <a:t>Unpaired</a:t>
                      </a:r>
                    </a:p>
                  </a:txBody>
                </a:tc>
                <a:tc>
                  <a:txBody>
                    <a:bodyPr/>
                    <a:lstStyle/>
                    <a:p>
                      <a:pPr lvl="0" indent="0" marL="0">
                        <a:buNone/>
                      </a:pPr>
                      <a:r>
                        <a:rPr/>
                        <a:t>11%</a:t>
                      </a:r>
                    </a:p>
                  </a:txBody>
                </a:tc>
                <a:tc>
                  <a:txBody>
                    <a:bodyPr/>
                    <a:lstStyle/>
                    <a:p>
                      <a:pPr lvl="0" indent="0" marL="0">
                        <a:buNone/>
                      </a:pPr>
                      <a:r>
                        <a:rPr/>
                        <a:t>44 per side (88 trees)</a:t>
                      </a:r>
                    </a:p>
                  </a:txBody>
                </a:tc>
              </a:tr>
              <a:tr h="0">
                <a:tc>
                  <a:txBody>
                    <a:bodyPr/>
                    <a:lstStyle/>
                    <a:p>
                      <a:pPr lvl="0" indent="0" marL="0">
                        <a:buNone/>
                      </a:pPr>
                      <a:r>
                        <a:rPr/>
                        <a:t>Paired</a:t>
                      </a:r>
                    </a:p>
                  </a:txBody>
                </a:tc>
                <a:tc>
                  <a:txBody>
                    <a:bodyPr/>
                    <a:lstStyle/>
                    <a:p>
                      <a:pPr lvl="0" indent="0" marL="0">
                        <a:buNone/>
                      </a:pPr>
                      <a:r>
                        <a:rPr/>
                        <a:t>46%</a:t>
                      </a:r>
                    </a:p>
                  </a:txBody>
                </a:tc>
                <a:tc>
                  <a:txBody>
                    <a:bodyPr/>
                    <a:lstStyle/>
                    <a:p>
                      <a:pPr lvl="0" indent="0" marL="0">
                        <a:buNone/>
                      </a:pPr>
                      <a:r>
                        <a:rPr/>
                        <a:t>7 total</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9 · Error Bars, Revisited</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SD, SE, and CI Answer Different Questions</a:t>
            </a:r>
          </a:p>
        </p:txBody>
      </p:sp>
      <p:sp>
        <p:nvSpPr>
          <p:cNvPr id="3" name="Content Placeholder 2"/>
          <p:cNvSpPr>
            <a:spLocks noGrp="1"/>
          </p:cNvSpPr>
          <p:nvPr>
            <p:ph idx="1" sz="half"/>
          </p:nvPr>
        </p:nvSpPr>
        <p:spPr/>
        <p:txBody>
          <a:bodyPr/>
          <a:lstStyle/>
          <a:p>
            <a:pPr lvl="0"/>
            <a:r>
              <a:rPr b="1"/>
              <a:t>Standard deviation (SD)</a:t>
            </a:r>
            <a:r>
              <a:rPr/>
              <a:t> — spread of the raw data</a:t>
            </a:r>
          </a:p>
          <a:p>
            <a:pPr lvl="0"/>
            <a:r>
              <a:rPr b="1"/>
              <a:t>Standard error (SE)</a:t>
            </a:r>
            <a:r>
              <a:rPr/>
              <a:t> — precision of the </a:t>
            </a:r>
            <a:r>
              <a:rPr i="1"/>
              <a:t>mean</a:t>
            </a:r>
            <a:r>
              <a:rPr/>
              <a:t>, </a:t>
            </a:r>
            <a:r>
              <a:rPr>
                <a:latin typeface="Courier"/>
              </a:rPr>
              <a:t>SD / sqrt(n)</a:t>
            </a:r>
          </a:p>
          <a:p>
            <a:pPr lvl="0"/>
            <a:r>
              <a:rPr b="1"/>
              <a:t>95% confidence interval (CI)</a:t>
            </a:r>
            <a:r>
              <a:rPr/>
              <a:t> — plausible range for the true mean, built from SE and the t-distribution</a:t>
            </a:r>
          </a:p>
          <a:p>
            <a:pPr lvl="0" indent="0" marL="0">
              <a:buNone/>
            </a:pPr>
            <a:r>
              <a:rPr>
                <a:latin typeface="Courier"/>
              </a:rPr>
              <a:t>summary_stats()</a:t>
            </a:r>
            <a:r>
              <a:rPr/>
              <a:t> gives you all three from one call. A </a:t>
            </a:r>
            <a:r>
              <a:rPr b="1"/>
              <a:t>large sample doesn’t shrink SD</a:t>
            </a:r>
            <a:r>
              <a:rPr/>
              <a:t> — it shrinks SE and the CI, because you’re now estimating the mean more precisely, not describing less variable lizards.</a:t>
            </a:r>
          </a:p>
        </p:txBody>
      </p:sp>
      <p:pic>
        <p:nvPicPr>
          <p:cNvPr descr="power_and_error_lecture_files/figure-pptx/power-and-error-12-1.png" id="0" name="Picture 1"/>
          <p:cNvPicPr>
            <a:picLocks noGrp="1" noChangeAspect="1"/>
          </p:cNvPicPr>
          <p:nvPr/>
        </p:nvPicPr>
        <p:blipFill>
          <a:blip r:embed="rId2"/>
          <a:stretch>
            <a:fillRect/>
          </a:stretch>
        </p:blipFill>
        <p:spPr bwMode="auto">
          <a:xfrm>
            <a:off x="6121400" y="2057400"/>
            <a:ext cx="2781300" cy="16637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10 · Pseudoreplication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Sampling and Pseudoreplication</a:t>
            </a:r>
          </a:p>
        </p:txBody>
      </p:sp>
      <p:sp>
        <p:nvSpPr>
          <p:cNvPr id="3" name="Content Placeholder 2"/>
          <p:cNvSpPr>
            <a:spLocks noGrp="1"/>
          </p:cNvSpPr>
          <p:nvPr>
            <p:ph idx="1" sz="half"/>
          </p:nvPr>
        </p:nvSpPr>
        <p:spPr/>
        <p:txBody>
          <a:bodyPr/>
          <a:lstStyle/>
          <a:p>
            <a:pPr lvl="0" indent="0" marL="0">
              <a:buNone/>
            </a:pPr>
            <a:r>
              <a:rPr b="1"/>
              <a:t>Pseudoreplication</a:t>
            </a:r>
            <a:r>
              <a:rPr/>
              <a:t> occurs when measurements that are not independent are analyzed as if they were.</a:t>
            </a:r>
          </a:p>
          <a:p>
            <a:pPr lvl="0"/>
            <a:r>
              <a:rPr/>
              <a:t>Measuring the same individual multiple times</a:t>
            </a:r>
          </a:p>
          <a:p>
            <a:pPr lvl="0"/>
            <a:r>
              <a:rPr/>
              <a:t>Treating multiple fish from the same tank as independent</a:t>
            </a:r>
          </a:p>
          <a:p>
            <a:pPr lvl="0"/>
            <a:r>
              <a:rPr/>
              <a:t>Using multiple data points from a single site</a:t>
            </a:r>
          </a:p>
          <a:p>
            <a:pPr lvl="0" indent="0" marL="0">
              <a:buNone/>
            </a:pPr>
            <a:r>
              <a:rPr/>
              <a:t>It results in underestimated standard errors and inflated Type I error rates — it makes a study look more precise, and more significant, than it actually is.</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We have been doing this all along</a:t>
            </a:r>
          </a:p>
          <a:p>
            <a:pPr lvl="0" indent="0" marL="1270000">
              <a:buNone/>
            </a:pPr>
            <a:r>
              <a:rPr sz="2000"/>
              <a:t>Our pine needle data has 64 rows. Analyzed as 64 independent needles it would look like a large, well-powered study. Analyzed honestly — </a:t>
            </a:r>
            <a:r>
              <a:rPr sz="2000" b="1"/>
              <a:t>4 trees</a:t>
            </a:r>
            <a:r>
              <a:rPr sz="2000"/>
              <a:t> — it has 11% power unpaired, 46% paired.</a:t>
            </a:r>
          </a:p>
          <a:p>
            <a:pPr lvl="0" indent="0" marL="1270000">
              <a:buNone/>
            </a:pPr>
            <a:r>
              <a:rPr sz="2000"/>
              <a:t>Pseudoreplication would not have made the study better. It would only have made us </a:t>
            </a:r>
            <a:r>
              <a:rPr sz="2000" b="1"/>
              <a:t>believe</a:t>
            </a:r>
            <a:r>
              <a:rPr sz="2000"/>
              <a:t> it was.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Pseudoreplicated vs. True Replication</a:t>
            </a:r>
          </a:p>
        </p:txBody>
      </p:sp>
      <p:pic>
        <p:nvPicPr>
          <p:cNvPr descr="power_and_error_lecture_files/figure-pptx/power-and-error-13-1.png" id="0" name="Picture 1"/>
          <p:cNvPicPr>
            <a:picLocks noGrp="1" noChangeAspect="1"/>
          </p:cNvPicPr>
          <p:nvPr/>
        </p:nvPicPr>
        <p:blipFill>
          <a:blip r:embed="rId2"/>
          <a:stretch>
            <a:fillRect/>
          </a:stretch>
        </p:blipFill>
        <p:spPr bwMode="auto">
          <a:xfrm>
            <a:off x="139700" y="609600"/>
            <a:ext cx="8801100" cy="39116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Aside · The 0.05 Debate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 Number That Was Always Meant to Be a Guideline</a:t>
            </a:r>
          </a:p>
        </p:txBody>
      </p:sp>
      <p:sp>
        <p:nvSpPr>
          <p:cNvPr id="3" name="Content Placeholder 2"/>
          <p:cNvSpPr>
            <a:spLocks noGrp="1"/>
          </p:cNvSpPr>
          <p:nvPr>
            <p:ph idx="1" sz="half"/>
          </p:nvPr>
        </p:nvSpPr>
        <p:spPr/>
        <p:txBody>
          <a:bodyPr/>
          <a:lstStyle/>
          <a:p>
            <a:pPr lvl="0" indent="0" marL="1270000">
              <a:buNone/>
            </a:pPr>
            <a:r>
              <a:rPr sz="2000"/>
              <a:t>“If p is between 0.1 and 0.9 there is certainly no reason to suspect the hypothesis tested. If it is below 0.02 it is strongly indicated that the hypothesis fails to account for the whole of the facts. We shall not often be astray if we draw a conventional line at .05 …”</a:t>
            </a:r>
          </a:p>
          <a:p>
            <a:pPr lvl="0" indent="0" marL="0">
              <a:buNone/>
            </a:pPr>
            <a:r>
              <a:rPr/>
              <a:t>— R.A. Fisher, on the p-value as an informal measure of discrepancy between data and H₀</a:t>
            </a:r>
          </a:p>
          <a:p>
            <a:pPr lvl="0" indent="0" marL="0">
              <a:buNone/>
            </a:pPr>
            <a:r>
              <a:rPr/>
              <a:t>Fisher proposed 0.05 as a rough guideline, not a bright line. Modern critiques of “statistical significance” as a binary pass/fail argue power and effect size deserve at least as much attention as whether p cleared 0.05.</a:t>
            </a:r>
          </a:p>
        </p:txBody>
      </p:sp>
      <p:pic>
        <p:nvPicPr>
          <p:cNvPr descr="images/clipboard-3329723408.png" id="0" name="Picture 1"/>
          <p:cNvPicPr>
            <a:picLocks noGrp="1" noChangeAspect="1"/>
          </p:cNvPicPr>
          <p:nvPr/>
        </p:nvPicPr>
        <p:blipFill>
          <a:blip r:embed="rId2"/>
          <a:stretch>
            <a:fillRect/>
          </a:stretch>
        </p:blipFill>
        <p:spPr bwMode="auto">
          <a:xfrm>
            <a:off x="6121400" y="1219200"/>
            <a:ext cx="2781300" cy="2844800"/>
          </a:xfrm>
          <a:prstGeom prst="rect">
            <a:avLst/>
          </a:prstGeom>
          <a:noFill/>
          <a:ln w="9525">
            <a:noFill/>
            <a:headEnd/>
            <a:tailEnd/>
          </a:ln>
        </p:spPr>
      </p:pic>
      <p:sp>
        <p:nvSpPr>
          <p:cNvPr id="1" name="TextBox 3"/>
          <p:cNvSpPr txBox="1"/>
          <p:nvPr>
            <p:ph idx="1"/>
          </p:nvPr>
        </p:nvSpPr>
        <p:spPr>
          <a:xfrm>
            <a:off x="6121400" y="4622800"/>
            <a:ext cx="2781300" cy="508000"/>
          </a:xfrm>
          <a:prstGeom prst="rect">
            <a:avLst/>
          </a:prstGeom>
          <a:noFill/>
        </p:spPr>
        <p:txBody>
          <a:bodyPr/>
          <a:lstStyle/>
          <a:p>
            <a:pPr lvl="0" indent="0" marL="0" algn="ctr">
              <a:buNone/>
            </a:pPr>
            <a:r>
              <a:rPr/>
              <a:t>Screenshot of a Nature comment article titled ‘Scientists rise up against statistical significance,’ by Valentin Amrhein, Sander Greenland, Blake McShane and 800+ signatories, illustrated with a cartoon of two scientists shelving a book labeled ‘Statistical Significance’ in a dusty cabinet of retired scientific relics like phlogiston and spontaneous generation, symbolizing calls to retire strict significance thresholds.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Summary and Key Takeaways</a:t>
            </a:r>
          </a:p>
        </p:txBody>
      </p:sp>
      <p:sp>
        <p:nvSpPr>
          <p:cNvPr id="3" name="Content Placeholder 2"/>
          <p:cNvSpPr>
            <a:spLocks noGrp="1"/>
          </p:cNvSpPr>
          <p:nvPr>
            <p:ph idx="1" sz="half"/>
          </p:nvPr>
        </p:nvSpPr>
        <p:spPr/>
        <p:txBody>
          <a:bodyPr/>
          <a:lstStyle/>
          <a:p>
            <a:pPr lvl="0" indent="0" marL="0">
              <a:buNone/>
            </a:pPr>
            <a:r>
              <a:rPr b="1"/>
              <a:t>Key concepts covered:</a:t>
            </a:r>
          </a:p>
          <a:p>
            <a:pPr lvl="0" indent="-342900" marL="342900">
              <a:buAutoNum type="arabicPeriod"/>
            </a:pPr>
            <a:r>
              <a:rPr b="1"/>
              <a:t>Type I (α)</a:t>
            </a:r>
            <a:r>
              <a:rPr/>
              <a:t> and </a:t>
            </a:r>
            <a:r>
              <a:rPr b="1"/>
              <a:t>Type II (β)</a:t>
            </a:r>
            <a:r>
              <a:rPr/>
              <a:t> error — the two ways a decision can be wrong; power = 1 − β</a:t>
            </a:r>
          </a:p>
          <a:p>
            <a:pPr lvl="0" indent="-342900" marL="342900">
              <a:buAutoNum type="arabicPeriod"/>
            </a:pPr>
            <a:r>
              <a:rPr b="1"/>
              <a:t>Power</a:t>
            </a:r>
            <a:r>
              <a:rPr/>
              <a:t> rises with larger n, larger effect size, lower variability, and higher α</a:t>
            </a:r>
          </a:p>
          <a:p>
            <a:pPr lvl="0" indent="-342900" marL="342900">
              <a:buAutoNum type="arabicPeriod"/>
            </a:pPr>
            <a:r>
              <a:rPr b="1"/>
              <a:t>A priori power</a:t>
            </a:r>
            <a:r>
              <a:rPr/>
              <a:t> (before data collection) tells you the n a study needs — the most useful use of this whole toolkit</a:t>
            </a:r>
          </a:p>
          <a:p>
            <a:pPr lvl="0" indent="-342900" marL="342900">
              <a:buAutoNum type="arabicPeriod"/>
            </a:pPr>
            <a:r>
              <a:rPr b="1"/>
              <a:t>Retrospective power</a:t>
            </a:r>
            <a:r>
              <a:rPr/>
              <a:t> tells you what your finished study could have detected — useful for planning the next one, not for excusing a null result</a:t>
            </a:r>
          </a:p>
        </p:txBody>
      </p:sp>
      <p:sp>
        <p:nvSpPr>
          <p:cNvPr id="4" name="Content Placeholder 3"/>
          <p:cNvSpPr>
            <a:spLocks noGrp="1"/>
          </p:cNvSpPr>
          <p:nvPr>
            <p:ph idx="2" sz="half"/>
          </p:nvPr>
        </p:nvSpPr>
        <p:spPr/>
        <p:txBody>
          <a:bodyPr/>
          <a:lstStyle/>
          <a:p>
            <a:pPr lvl="0" indent="-342900" marL="342900">
              <a:buAutoNum startAt="5" type="arabicPeriod"/>
            </a:pPr>
            <a:r>
              <a:rPr/>
              <a:t>The </a:t>
            </a:r>
            <a:r>
              <a:rPr b="1">
                <a:latin typeface="Courier"/>
              </a:rPr>
              <a:t>pwr</a:t>
            </a:r>
            <a:r>
              <a:rPr/>
              <a:t> package generalizes power analysis, and </a:t>
            </a:r>
            <a:r>
              <a:rPr>
                <a:latin typeface="Courier"/>
              </a:rPr>
              <a:t>pwr.t2n.test()</a:t>
            </a:r>
            <a:r>
              <a:rPr/>
              <a:t> handles unequal group sizes directly</a:t>
            </a:r>
          </a:p>
          <a:p>
            <a:pPr lvl="0" indent="-342900" marL="342900">
              <a:buAutoNum startAt="5" type="arabicPeriod"/>
            </a:pPr>
            <a:r>
              <a:rPr b="1"/>
              <a:t>Pairing</a:t>
            </a:r>
            <a:r>
              <a:rPr/>
              <a:t> a design can be worth far more than adding raw sample size</a:t>
            </a:r>
          </a:p>
          <a:p>
            <a:pPr lvl="0" indent="-342900" marL="342900">
              <a:buAutoNum startAt="5" type="arabicPeriod"/>
            </a:pPr>
            <a:r>
              <a:rPr b="1"/>
              <a:t>SD, SE, and CI</a:t>
            </a:r>
            <a:r>
              <a:rPr/>
              <a:t> answer three different questions about the same data</a:t>
            </a:r>
          </a:p>
          <a:p>
            <a:pPr lvl="0" indent="-342900" marL="342900">
              <a:buAutoNum startAt="5" type="arabicPeriod"/>
            </a:pPr>
            <a:r>
              <a:rPr b="1"/>
              <a:t>Pseudoreplication</a:t>
            </a:r>
            <a:r>
              <a:rPr/>
              <a:t> inflates apparent precision by treating non-independent measurements as independent replicates</a:t>
            </a:r>
          </a:p>
          <a:p>
            <a:pPr lvl="0" indent="0" marL="1270000">
              <a:buNone/>
            </a:pPr>
            <a:r>
              <a:rPr sz="2000" b="1"/>
              <a:t>Note</a:t>
            </a:r>
          </a:p>
          <a:p>
            <a:pPr lvl="0" indent="0" marL="1270000">
              <a:buNone/>
            </a:pPr>
            <a:r>
              <a:rPr sz="2000" b="1"/>
              <a:t>📖 References</a:t>
            </a:r>
          </a:p>
          <a:p>
            <a:pPr lvl="0" indent="0" marL="1270000">
              <a:buNone/>
            </a:pPr>
            <a:r>
              <a:rPr sz="2000"/>
              <a:t>Gotelli &amp; Ellison, Ch. 4 — Framing and Testing Hypotheses (errors and power); Whitlock &amp; Schluter, Ch. 6 — Hypothesis Testing, and Ch. 14 — Designing Experiments (sample size and power planning).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Power and Type I &amp; II Error</dc:title>
  <dc:creator>Bill Perry</dc:creator>
  <cp:keywords/>
  <dc:description>Type I/II error, effect size, and statistical power — calculated a priori (before data collection) and retrospectively — using the pwr package, on the class pine needle data and the horned lizard predation dataset from Whitlock &amp; Schluter, Ch. 12. Error bars and pseudoreplication, revisited.</dc:description>
  <dcterms:created xsi:type="dcterms:W3CDTF">2026-10-09T19:50:56Z</dcterms:created>
  <dcterms:modified xsi:type="dcterms:W3CDTF">2026-10-09T19:50:56Z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8</vt:lpwstr>
  </property>
  <property fmtid="{D5CDD505-2E9C-101B-9397-08002B2CF9AE}" pid="14" name="resources">
    <vt:lpwstr/>
  </property>
  <property fmtid="{D5CDD505-2E9C-101B-9397-08002B2CF9AE}" pid="15" name="subtitle">
    <vt:lpwstr>Errors and power</vt:lpwstr>
  </property>
  <property fmtid="{D5CDD505-2E9C-101B-9397-08002B2CF9AE}" pid="16" name="toc-title">
    <vt:lpwstr>Table of contents</vt:lpwstr>
  </property>
  <property fmtid="{D5CDD505-2E9C-101B-9397-08002B2CF9AE}" pid="17" name="week">
    <vt:lpwstr>5</vt:lpwstr>
  </property>
</Properties>
</file>