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data/pine_data.csv" TargetMode="Externa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Power and Type I &amp; II Error</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Errors and power</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Statistical inference fundamentals</a:t>
            </a:r>
          </a:p>
          <a:p>
            <a:pPr lvl="0"/>
            <a:r>
              <a:rPr/>
              <a:t>Hypothesis testing principles</a:t>
            </a:r>
          </a:p>
          <a:p>
            <a:pPr lvl="0"/>
            <a:r>
              <a:rPr/>
              <a:t>T-distributions</a:t>
            </a:r>
          </a:p>
          <a:p>
            <a:pPr lvl="0"/>
            <a:r>
              <a:rPr/>
              <a:t>One-sample, two-sample, and paired t-tests</a:t>
            </a:r>
          </a:p>
          <a:p>
            <a:pPr lvl="0" indent="0" marL="1270000">
              <a:buNone/>
            </a:pPr>
            <a:r>
              <a:rPr sz="2000" b="1"/>
              <a:t>Note</a:t>
            </a:r>
          </a:p>
          <a:p>
            <a:pPr lvl="0" indent="0" marL="1270000">
              <a:buNone/>
            </a:pPr>
            <a:r>
              <a:rPr sz="2000" b="1"/>
              <a:t>✅ Key idea from last lecture</a:t>
            </a:r>
          </a:p>
          <a:p>
            <a:pPr lvl="0" indent="0" marL="1270000">
              <a:buNone/>
            </a:pPr>
            <a:r>
              <a:rPr sz="2000"/>
              <a:t>A t-test gives you a p-value and a decision — reject or fail to reject H₀. Today asks the next question: how good is that decision, and how often could it be wrong?</a:t>
            </a:r>
          </a:p>
        </p:txBody>
      </p:sp>
      <p:pic>
        <p:nvPicPr>
          <p:cNvPr descr="images/clipboard-536528302.png" id="0" name="Picture 1"/>
          <p:cNvPicPr>
            <a:picLocks noGrp="1" noChangeAspect="1"/>
          </p:cNvPicPr>
          <p:nvPr/>
        </p:nvPicPr>
        <p:blipFill>
          <a:blip r:embed="rId2"/>
          <a:stretch>
            <a:fillRect/>
          </a:stretch>
        </p:blipFill>
        <p:spPr bwMode="auto">
          <a:xfrm>
            <a:off x="6134100" y="660400"/>
            <a:ext cx="27432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a large circle labeled ‘population’ full of dots with Greek-letter parameters (mu, sigma, sigma-squared), with orange arrows drawing a subset of dots down into a small circle labeled ‘sample’ with its statistics (y-bar, s, s-squared), illustrating that a sample is used to estimate unknown population parameters.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Today’s objectives</a:t>
            </a:r>
          </a:p>
          <a:p>
            <a:pPr lvl="0" indent="-342900" marL="342900">
              <a:buAutoNum type="arabicPeriod"/>
            </a:pPr>
            <a:r>
              <a:rPr sz="2000"/>
              <a:t>Brief review</a:t>
            </a:r>
          </a:p>
          <a:p>
            <a:pPr lvl="0" indent="-342900" marL="342900">
              <a:buAutoNum type="arabicPeriod"/>
            </a:pPr>
            <a:r>
              <a:rPr sz="2000"/>
              <a:t>Hypothesis tests for two populations</a:t>
            </a:r>
          </a:p>
          <a:p>
            <a:pPr lvl="0" indent="-342900" marL="342900">
              <a:buAutoNum type="arabicPeriod"/>
            </a:pPr>
            <a:r>
              <a:rPr sz="2000"/>
              <a:t>Assumptions of parametric tests</a:t>
            </a:r>
          </a:p>
          <a:p>
            <a:pPr lvl="0" indent="-342900" marL="342900">
              <a:buAutoNum type="arabicPeriod"/>
            </a:pPr>
            <a:r>
              <a:rPr sz="2000"/>
              <a:t>Power of parametric tests</a:t>
            </a:r>
          </a:p>
          <a:p>
            <a:pPr lvl="0" indent="-342900" marL="342900">
              <a:buAutoNum type="arabicPeriod"/>
            </a:pPr>
            <a:r>
              <a:rPr sz="2000"/>
              <a:t>Introduction to non-parametric tests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Statistical Hypothesis Testing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Statistical Hypothesis Testing</a:t>
            </a:r>
          </a:p>
        </p:txBody>
      </p:sp>
      <p:sp>
        <p:nvSpPr>
          <p:cNvPr id="3" name="Content Placeholder 2"/>
          <p:cNvSpPr>
            <a:spLocks noGrp="1"/>
          </p:cNvSpPr>
          <p:nvPr>
            <p:ph idx="1" sz="half"/>
          </p:nvPr>
        </p:nvSpPr>
        <p:spPr/>
        <p:txBody>
          <a:bodyPr/>
          <a:lstStyle/>
          <a:p>
            <a:pPr lvl="0"/>
            <a:r>
              <a:rPr/>
              <a:t>Major goal of statistics: inferences about populations from samples</a:t>
            </a:r>
          </a:p>
          <a:p>
            <a:pPr lvl="1"/>
            <a:r>
              <a:rPr/>
              <a:t>assign a degree of confidence to inferences</a:t>
            </a:r>
          </a:p>
          <a:p>
            <a:pPr lvl="0"/>
            <a:r>
              <a:rPr/>
              <a:t>Statistical hypothesis testing: a formalized approach to inference</a:t>
            </a:r>
          </a:p>
          <a:p>
            <a:pPr lvl="0"/>
            <a:r>
              <a:rPr/>
              <a:t>Hypotheses ask whether samples come from populations with certain properties</a:t>
            </a:r>
          </a:p>
          <a:p>
            <a:pPr lvl="0"/>
            <a:r>
              <a:rPr/>
              <a:t>Often interested in questions about population means — but other questions are of interest too</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4 — Framing and Testing Hypotheses.</a:t>
            </a:r>
          </a:p>
        </p:txBody>
      </p:sp>
      <p:pic>
        <p:nvPicPr>
          <p:cNvPr descr="images/pine_tree.png" id="0" name="Picture 1"/>
          <p:cNvPicPr>
            <a:picLocks noGrp="1" noChangeAspect="1"/>
          </p:cNvPicPr>
          <p:nvPr/>
        </p:nvPicPr>
        <p:blipFill>
          <a:blip r:embed="rId2"/>
          <a:stretch>
            <a:fillRect/>
          </a:stretch>
        </p:blipFill>
        <p:spPr bwMode="auto">
          <a:xfrm>
            <a:off x="6121400" y="12573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a mature pine tree with a gently leaning trunk and broad, layered branches of green needle clusters against a transparent background.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Hypothesis Components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Hypothesis Components</a:t>
            </a:r>
          </a:p>
        </p:txBody>
      </p:sp>
      <p:sp>
        <p:nvSpPr>
          <p:cNvPr id="3" name="Content Placeholder 2"/>
          <p:cNvSpPr>
            <a:spLocks noGrp="1"/>
          </p:cNvSpPr>
          <p:nvPr>
            <p:ph idx="1" sz="half"/>
          </p:nvPr>
        </p:nvSpPr>
        <p:spPr/>
        <p:txBody>
          <a:bodyPr/>
          <a:lstStyle/>
          <a:p>
            <a:pPr lvl="0" indent="0" marL="0">
              <a:buNone/>
            </a:pPr>
            <a:r>
              <a:rPr/>
              <a:t>Useful hypotheses rely on specifying:</a:t>
            </a:r>
          </a:p>
          <a:p>
            <a:pPr lvl="0"/>
            <a:r>
              <a:rPr b="1"/>
              <a:t>H₀</a:t>
            </a:r>
            <a:r>
              <a:rPr/>
              <a:t> — the hypothesis of “no effect”</a:t>
            </a:r>
          </a:p>
          <a:p>
            <a:pPr lvl="1"/>
            <a:r>
              <a:rPr/>
              <a:t>two samples from populations with the same mean</a:t>
            </a:r>
          </a:p>
          <a:p>
            <a:pPr lvl="1"/>
            <a:r>
              <a:rPr/>
              <a:t>or a sample is from a population of mean = X</a:t>
            </a:r>
          </a:p>
          <a:p>
            <a:pPr lvl="0"/>
            <a:r>
              <a:rPr b="1"/>
              <a:t>Hₐ</a:t>
            </a:r>
            <a:r>
              <a:rPr/>
              <a:t> (research or alternate hypothesis)</a:t>
            </a:r>
          </a:p>
          <a:p>
            <a:pPr lvl="1"/>
            <a:r>
              <a:rPr/>
              <a:t>the opposite of H₀</a:t>
            </a:r>
          </a:p>
          <a:p>
            <a:pPr lvl="1"/>
            <a:r>
              <a:rPr/>
              <a:t>predicts an effect of x on y</a:t>
            </a:r>
          </a:p>
          <a:p>
            <a:pPr lvl="1"/>
            <a:r>
              <a:rPr i="1"/>
              <a:t>but does NOT suggest a direction</a:t>
            </a:r>
            <a:r>
              <a:rPr/>
              <a:t> — that’s a prediction</a:t>
            </a:r>
          </a:p>
        </p:txBody>
      </p:sp>
      <p:pic>
        <p:nvPicPr>
          <p:cNvPr descr="images/two_branches.jp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two separate green pine branches side by side, symbolizing the two groups or hypotheses (H0 vs. Ha) being compared.</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Hypothesis Examples</a:t>
            </a:r>
          </a:p>
        </p:txBody>
      </p:sp>
      <p:sp>
        <p:nvSpPr>
          <p:cNvPr id="3" name="Content Placeholder 2"/>
          <p:cNvSpPr>
            <a:spLocks noGrp="1"/>
          </p:cNvSpPr>
          <p:nvPr>
            <p:ph idx="1" sz="half"/>
          </p:nvPr>
        </p:nvSpPr>
        <p:spPr/>
        <p:txBody>
          <a:bodyPr/>
          <a:lstStyle/>
          <a:p>
            <a:pPr lvl="0" indent="0" marL="0">
              <a:buNone/>
            </a:pPr>
            <a:r>
              <a:rPr/>
              <a:t>Together, H₀ and Hₐ encompass all possible outcomes:</a:t>
            </a:r>
          </a:p>
          <a:p>
            <a:pPr lvl="0"/>
            <a:r>
              <a:rPr/>
              <a:t>H₀: µ = 0, Hₐ: µ ≠ 0 — mean equals 0 or it does not</a:t>
            </a:r>
          </a:p>
          <a:p>
            <a:pPr lvl="0"/>
            <a:r>
              <a:rPr/>
              <a:t>H₀: µ = 35, Hₐ: µ ≠ 35 — mean equals 35 or it does not</a:t>
            </a:r>
          </a:p>
          <a:p>
            <a:pPr lvl="0"/>
            <a:r>
              <a:rPr/>
              <a:t>H₀: µ₁ = µ₂, Hₐ: µ₁ ≠ µ₂ — mean of population 1 equals mean of population 2, or it does not</a:t>
            </a:r>
          </a:p>
          <a:p>
            <a:pPr lvl="0"/>
            <a:r>
              <a:rPr/>
              <a:t>H₀: µ &gt; 0, Hₐ: µ ≤ 0 — can be </a:t>
            </a:r>
            <a:r>
              <a:rPr b="1"/>
              <a:t>directional</a:t>
            </a:r>
            <a:r>
              <a:rPr/>
              <a:t>: mean is greater than 0, or mean is not greater than 0</a:t>
            </a:r>
          </a:p>
          <a:p>
            <a:pPr lvl="1"/>
            <a:r>
              <a:rPr/>
              <a:t>this becomes a one-sided test, since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two separate green pine branches side by side, symbolizing the two groups or hypotheses (H0 vs. Ha) being compared.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P-Values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Statistical Testing Framework</a:t>
            </a:r>
          </a:p>
        </p:txBody>
      </p:sp>
      <p:sp>
        <p:nvSpPr>
          <p:cNvPr id="3" name="Content Placeholder 2"/>
          <p:cNvSpPr>
            <a:spLocks noGrp="1"/>
          </p:cNvSpPr>
          <p:nvPr>
            <p:ph idx="1" sz="half"/>
          </p:nvPr>
        </p:nvSpPr>
        <p:spPr/>
        <p:txBody>
          <a:bodyPr/>
          <a:lstStyle/>
          <a:p>
            <a:pPr lvl="0" indent="0" marL="0">
              <a:buNone/>
            </a:pPr>
            <a:r>
              <a:rPr/>
              <a:t>Statistical tests assess the likelihood of the null hypothesis being true.</a:t>
            </a:r>
          </a:p>
          <a:p>
            <a:pPr lvl="0"/>
            <a:r>
              <a:rPr/>
              <a:t>If H₀ is likely false, Hₐ is assumed correct</a:t>
            </a:r>
          </a:p>
          <a:p>
            <a:pPr lvl="0"/>
            <a:r>
              <a:rPr/>
              <a:t>More precisely: the long-run probability of obtaining our sample value (or a more extreme one) </a:t>
            </a:r>
            <a:r>
              <a:rPr b="1"/>
              <a:t>if the null hypothesis is true</a:t>
            </a:r>
          </a:p>
          <a:p>
            <a:pPr lvl="1"/>
            <a:r>
              <a:rPr/>
              <a:t>p(data | H₀) — the probability of observing the data given that H₀ is true</a:t>
            </a:r>
          </a:p>
        </p:txBody>
      </p:sp>
      <p:pic>
        <p:nvPicPr>
          <p:cNvPr descr="images/two_branches.jp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two separate green pine branches side by side, symbolizing the two groups or hypotheses (H0 vs. Ha) being compared.</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P-Values</a:t>
            </a:r>
          </a:p>
        </p:txBody>
      </p:sp>
      <p:sp>
        <p:nvSpPr>
          <p:cNvPr id="3" name="Content Placeholder 2"/>
          <p:cNvSpPr>
            <a:spLocks noGrp="1"/>
          </p:cNvSpPr>
          <p:nvPr>
            <p:ph idx="1" sz="half"/>
          </p:nvPr>
        </p:nvSpPr>
        <p:spPr/>
        <p:txBody>
          <a:bodyPr/>
          <a:lstStyle/>
          <a:p>
            <a:pPr lvl="0" indent="0" marL="0">
              <a:buNone/>
            </a:pPr>
            <a:r>
              <a:rPr/>
              <a:t>Hypothesis tests are expressed as a p-value (0 = never, 1 = always).</a:t>
            </a:r>
          </a:p>
          <a:p>
            <a:pPr lvl="0" indent="0" marL="0">
              <a:buNone/>
            </a:pPr>
            <a:r>
              <a:rPr/>
              <a:t>Interpret a p-value as: the probability of obtaining a sample value of the statistic (or a more extreme one) if H₀ is true.</a:t>
            </a:r>
          </a:p>
          <a:p>
            <a:pPr lvl="0"/>
            <a:r>
              <a:rPr b="1"/>
              <a:t>High p-value:</a:t>
            </a:r>
            <a:r>
              <a:rPr/>
              <a:t> high probability of obtaining our sample statistic under H₀</a:t>
            </a:r>
          </a:p>
          <a:p>
            <a:pPr lvl="1"/>
            <a:r>
              <a:rPr/>
              <a:t>if H₀ were true, you would frequently observe data similar to your sample</a:t>
            </a:r>
          </a:p>
          <a:p>
            <a:pPr lvl="1"/>
            <a:r>
              <a:rPr/>
              <a:t>your observed results are quite compatible with what H₀ predicts</a:t>
            </a:r>
          </a:p>
          <a:p>
            <a:pPr lvl="0"/>
            <a:r>
              <a:rPr b="1"/>
              <a:t>Low p-value:</a:t>
            </a:r>
            <a:r>
              <a:rPr/>
              <a:t> low probability of obtaining our sample statistic under H₀</a:t>
            </a:r>
          </a:p>
          <a:p>
            <a:pPr lvl="1"/>
            <a:r>
              <a:rPr/>
              <a:t>if H₀ were true, you would rarely observe data this extreme</a:t>
            </a:r>
          </a:p>
          <a:p>
            <a:pPr lvl="1"/>
            <a:r>
              <a:rPr/>
              <a:t>your results are unusual under H₀ — either you witnessed a rare event, or H₀ may be incorrect</a:t>
            </a:r>
          </a:p>
        </p:txBody>
      </p:sp>
      <p:pic>
        <p:nvPicPr>
          <p:cNvPr descr="images/two_branches.jp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two separate green pine branches side by side, symbolizing the two groups or hypotheses (H0 vs. Ha) being compared.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P-Value Interpretation</a:t>
            </a:r>
          </a:p>
        </p:txBody>
      </p:sp>
      <p:sp>
        <p:nvSpPr>
          <p:cNvPr id="3" name="Content Placeholder 2"/>
          <p:cNvSpPr>
            <a:spLocks noGrp="1"/>
          </p:cNvSpPr>
          <p:nvPr>
            <p:ph idx="1" sz="half"/>
          </p:nvPr>
        </p:nvSpPr>
        <p:spPr/>
        <p:txBody>
          <a:bodyPr/>
          <a:lstStyle/>
          <a:p>
            <a:pPr lvl="0" indent="0" marL="0">
              <a:buNone/>
            </a:pPr>
            <a:r>
              <a:rPr/>
              <a:t>Statistical test results:</a:t>
            </a:r>
          </a:p>
          <a:p>
            <a:pPr lvl="0"/>
            <a:r>
              <a:rPr/>
              <a:t>p = 0.3 means that if I repeated the study 100 times, I would get this (or a more extreme) result due to chance </a:t>
            </a:r>
            <a:r>
              <a:rPr b="1"/>
              <a:t>30 times</a:t>
            </a:r>
          </a:p>
          <a:p>
            <a:pPr lvl="0"/>
            <a:r>
              <a:rPr/>
              <a:t>p = 0.03 means that if I repeated the study 100 times, I would get this (or a more extreme) result due to chance </a:t>
            </a:r>
            <a:r>
              <a:rPr b="1"/>
              <a:t>3 times</a:t>
            </a:r>
          </a:p>
          <a:p>
            <a:pPr lvl="0" indent="0" marL="0">
              <a:buNone/>
            </a:pPr>
            <a:r>
              <a:rPr i="1"/>
              <a:t>Which p-value suggests H₀ is likely false?</a:t>
            </a:r>
          </a:p>
          <a:p>
            <a:pPr lvl="0" indent="0" marL="0">
              <a:buNone/>
            </a:pPr>
            <a:r>
              <a:rPr b="1"/>
              <a:t>At what point do we reject H₀?</a:t>
            </a:r>
          </a:p>
          <a:p>
            <a:pPr lvl="0" indent="0" marL="0">
              <a:buNone/>
            </a:pPr>
            <a:r>
              <a:rPr/>
              <a:t>p &lt; 0.05 is the conventional “significance threshold” (α = alpha).</a:t>
            </a:r>
          </a:p>
          <a:p>
            <a:pPr lvl="0" indent="0" marL="0">
              <a:buNone/>
            </a:pPr>
            <a:r>
              <a:rPr/>
              <a:t>p &lt; 0.05 means: if H₀ is true and we repeated the study 100 times, we would get this (or a more extreme) result less than 5 times due to chance.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α is chosen </a:t>
            </a:r>
            <a:r>
              <a:rPr sz="2000" i="1"/>
              <a:t>before</a:t>
            </a:r>
            <a:r>
              <a:rPr sz="2000"/>
              <a:t> data collection. It’s a policy about how much Type I error risk you’re willing to accept — not something you pick after seeing the p-value.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Significance Levels and Interpretation</a:t>
            </a:r>
          </a:p>
        </p:txBody>
      </p:sp>
      <p:sp>
        <p:nvSpPr>
          <p:cNvPr id="3" name="Content Placeholder 2"/>
          <p:cNvSpPr>
            <a:spLocks noGrp="1"/>
          </p:cNvSpPr>
          <p:nvPr>
            <p:ph idx="1" sz="half"/>
          </p:nvPr>
        </p:nvSpPr>
        <p:spPr/>
        <p:txBody>
          <a:bodyPr/>
          <a:lstStyle/>
          <a:p>
            <a:pPr lvl="0"/>
            <a:r>
              <a:rPr b="1"/>
              <a:t>α is the rate at which we will reject a true null hypothesis (Type I error rate)</a:t>
            </a:r>
          </a:p>
          <a:p>
            <a:pPr lvl="0"/>
            <a:r>
              <a:rPr/>
              <a:t>Lowering α lowers the likelihood of incorrectly rejecting a true H₀ (e.g., 0.01, 0.001)</a:t>
            </a:r>
          </a:p>
          <a:p>
            <a:pPr lvl="0"/>
            <a:r>
              <a:rPr i="1"/>
              <a:t>Both hypotheses and α are specified BEFORE data collection and analysis</a:t>
            </a:r>
          </a:p>
          <a:p>
            <a:pPr lvl="0" indent="0" marL="0">
              <a:buNone/>
            </a:pPr>
            <a:r>
              <a:rPr/>
              <a:t>Traditionally, α = 0.05 is used as the cutoff for rejecting H₀. There is nothing magical about 0.05 — actual p-values should be reported, and α still needs to be decided prior to the study.</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1384300"/>
                <a:gridCol w="13843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H₀ — data appear consistent with H₀</a:t>
                      </a:r>
                    </a:p>
                  </a:txBody>
                </a:tc>
              </a:tr>
              <a:tr h="0">
                <a:tc>
                  <a:txBody>
                    <a:bodyPr/>
                    <a:lstStyle/>
                    <a:p>
                      <a:pPr lvl="0" indent="0" marL="0">
                        <a:buNone/>
                      </a:pPr>
                      <a:r>
                        <a:rPr/>
                        <a:t>0.05 &lt; P &lt; 0.10</a:t>
                      </a:r>
                    </a:p>
                  </a:txBody>
                </a:tc>
                <a:tc>
                  <a:txBody>
                    <a:bodyPr/>
                    <a:lstStyle/>
                    <a:p>
                      <a:pPr lvl="0" indent="0" marL="0">
                        <a:buNone/>
                      </a:pPr>
                      <a:r>
                        <a:rPr/>
                        <a:t>Weak evidence against H₀ in favor of Hₐ</a:t>
                      </a:r>
                    </a:p>
                  </a:txBody>
                </a:tc>
              </a:tr>
              <a:tr h="0">
                <a:tc>
                  <a:txBody>
                    <a:bodyPr/>
                    <a:lstStyle/>
                    <a:p>
                      <a:pPr lvl="0" indent="0" marL="0">
                        <a:buNone/>
                      </a:pPr>
                      <a:r>
                        <a:rPr/>
                        <a:t>0.01 &lt; P &lt; 0.05</a:t>
                      </a:r>
                    </a:p>
                  </a:txBody>
                </a:tc>
                <a:tc>
                  <a:txBody>
                    <a:bodyPr/>
                    <a:lstStyle/>
                    <a:p>
                      <a:pPr lvl="0" indent="0" marL="0">
                        <a:buNone/>
                      </a:pPr>
                      <a:r>
                        <a:rPr/>
                        <a:t>Moderate evidence against H₀ in favor of Hₐ</a:t>
                      </a:r>
                    </a:p>
                  </a:txBody>
                </a:tc>
              </a:tr>
              <a:tr h="0">
                <a:tc>
                  <a:txBody>
                    <a:bodyPr/>
                    <a:lstStyle/>
                    <a:p>
                      <a:pPr lvl="0" indent="0" marL="0">
                        <a:buNone/>
                      </a:pPr>
                      <a:r>
                        <a:rPr/>
                        <a:t>0.001 &lt; P &lt; 0.01</a:t>
                      </a:r>
                    </a:p>
                  </a:txBody>
                </a:tc>
                <a:tc>
                  <a:txBody>
                    <a:bodyPr/>
                    <a:lstStyle/>
                    <a:p>
                      <a:pPr lvl="0" indent="0" marL="0">
                        <a:buNone/>
                      </a:pPr>
                      <a:r>
                        <a:rPr/>
                        <a:t>Strong evidence against H₀ in favor of Hₐ</a:t>
                      </a:r>
                    </a:p>
                  </a:txBody>
                </a:tc>
              </a:tr>
              <a:tr h="0">
                <a:tc>
                  <a:txBody>
                    <a:bodyPr/>
                    <a:lstStyle/>
                    <a:p>
                      <a:pPr lvl="0" indent="0" marL="0">
                        <a:buNone/>
                      </a:pPr>
                      <a:r>
                        <a:rPr/>
                        <a:t>P &lt; 0.001</a:t>
                      </a:r>
                    </a:p>
                  </a:txBody>
                </a:tc>
                <a:tc>
                  <a:txBody>
                    <a:bodyPr/>
                    <a:lstStyle/>
                    <a:p>
                      <a:pPr lvl="0" indent="0" marL="0">
                        <a:buNone/>
                      </a:pPr>
                      <a:r>
                        <a:rPr/>
                        <a:t>Very strong evidence against H₀ in favor of Hₐ</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p &lt; 0.05: strong evidence against H₀</a:t>
            </a:r>
          </a:p>
          <a:p>
            <a:pPr lvl="0"/>
            <a:r>
              <a:rPr/>
              <a:t>0.05 ≤ p &lt; 0.10: moderate evidence against H₀</a:t>
            </a:r>
          </a:p>
          <a:p>
            <a:pPr lvl="0"/>
            <a:r>
              <a:rPr/>
              <a:t>p ≥ 0.10: insufficient evidence against H₀</a:t>
            </a:r>
          </a:p>
          <a:p>
            <a:pPr lvl="0" indent="0" marL="0">
              <a:buNone/>
            </a:pPr>
            <a:r>
              <a:rPr b="1"/>
              <a:t>Common misinterpretations:</a:t>
            </a:r>
          </a:p>
          <a:p>
            <a:pPr lvl="0"/>
            <a:r>
              <a:rPr/>
              <a:t>p-value is </a:t>
            </a:r>
            <a:r>
              <a:rPr b="1"/>
              <a:t>NOT</a:t>
            </a:r>
            <a:r>
              <a:rPr/>
              <a:t> the probability that H₀ is true</a:t>
            </a:r>
          </a:p>
          <a:p>
            <a:pPr lvl="0"/>
            <a:r>
              <a:rPr/>
              <a:t>p-value is </a:t>
            </a:r>
            <a:r>
              <a:rPr b="1"/>
              <a:t>NOT</a:t>
            </a:r>
            <a:r>
              <a:rPr/>
              <a:t> the probability that results occurred by chance</a:t>
            </a:r>
          </a:p>
          <a:p>
            <a:pPr lvl="0"/>
            <a:r>
              <a:rPr/>
              <a:t>Statistical significance ≠ practical significance</a:t>
            </a:r>
          </a:p>
          <a:p>
            <a:pPr lvl="0" indent="0" marL="0">
              <a:buNone/>
            </a:pPr>
            <a:r>
              <a:rPr/>
              <a:t>Note there’s a difference in how the hypotheses are stated for a one-sample vs. a two-sample t-test.</a:t>
            </a:r>
          </a:p>
        </p:txBody>
      </p:sp>
      <p:pic>
        <p:nvPicPr>
          <p:cNvPr descr="power_and_error_lecture_files/figure-pptx/power-and-error-01-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Historical Context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Historical Context</a:t>
            </a:r>
          </a:p>
        </p:txBody>
      </p:sp>
      <p:pic>
        <p:nvPicPr>
          <p:cNvPr descr="images/clipboard-3329723408.png" id="0" name="Picture 1"/>
          <p:cNvPicPr>
            <a:picLocks noGrp="1" noChangeAspect="1"/>
          </p:cNvPicPr>
          <p:nvPr/>
        </p:nvPicPr>
        <p:blipFill>
          <a:blip r:embed="rId2"/>
          <a:stretch>
            <a:fillRect/>
          </a:stretch>
        </p:blipFill>
        <p:spPr bwMode="auto">
          <a:xfrm>
            <a:off x="2870200" y="609600"/>
            <a:ext cx="3327400" cy="3403600"/>
          </a:xfrm>
          <a:prstGeom prst="rect">
            <a:avLst/>
          </a:prstGeom>
          <a:noFill/>
          <a:ln w="9525">
            <a:noFill/>
            <a:headEnd/>
            <a:tailEnd/>
          </a:ln>
        </p:spPr>
      </p:pic>
      <p:sp>
        <p:nvSpPr>
          <p:cNvPr id="1" name="TextBox 3"/>
          <p:cNvSpPr txBox="1"/>
          <p:nvPr>
            <p:ph idx="1"/>
          </p:nvPr>
        </p:nvSpPr>
        <p:spPr>
          <a:xfrm>
            <a:off x="0" y="4013200"/>
            <a:ext cx="9080500" cy="508000"/>
          </a:xfrm>
          <a:prstGeom prst="rect">
            <a:avLst/>
          </a:prstGeom>
          <a:noFill/>
        </p:spPr>
        <p:txBody>
          <a:bodyPr/>
          <a:lstStyle/>
          <a:p>
            <a:pPr lvl="0" indent="0" marL="0" algn="ctr">
              <a:buNone/>
            </a:pPr>
            <a:r>
              <a:rPr/>
              <a:t>Screenshot of a Nature comment article titled ‘Scientists rise up against statistical significance,’ by Valentin Amrhein, Sander Greenland, Blake McShane and 800+ signatories, illustrated with a cartoon of two scientists shelving a book labeled ‘Statistical Significance’ in a dusty cabinet of retired scientific relics like phlogiston and spontaneous generation, symbolizing calls to retire strict significance thresholds.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Fisher’s Perspective</a:t>
            </a:r>
          </a:p>
        </p:txBody>
      </p:sp>
      <p:sp>
        <p:nvSpPr>
          <p:cNvPr id="3" name="Content Placeholder 2"/>
          <p:cNvSpPr>
            <a:spLocks noGrp="1"/>
          </p:cNvSpPr>
          <p:nvPr>
            <p:ph idx="1" sz="half"/>
          </p:nvPr>
        </p:nvSpPr>
        <p:spPr/>
        <p:txBody>
          <a:bodyPr/>
          <a:lstStyle/>
          <a:p>
            <a:pPr lvl="0" indent="0" marL="1270000">
              <a:buNone/>
            </a:pPr>
            <a:r>
              <a:rPr sz="2000"/>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r>
              <a:rPr/>
              <a:t>— R.A. Fisher, on the p-value as an informal measure of discrepancy between data and H₀</a:t>
            </a:r>
          </a:p>
        </p:txBody>
      </p:sp>
      <p:pic>
        <p:nvPicPr>
          <p:cNvPr descr="images/clipboard-694363384.png" id="0" name="Picture 1"/>
          <p:cNvPicPr>
            <a:picLocks noGrp="1" noChangeAspect="1"/>
          </p:cNvPicPr>
          <p:nvPr/>
        </p:nvPicPr>
        <p:blipFill>
          <a:blip r:embed="rId2"/>
          <a:stretch>
            <a:fillRect/>
          </a:stretch>
        </p:blipFill>
        <p:spPr bwMode="auto">
          <a:xfrm>
            <a:off x="6121400" y="1371600"/>
            <a:ext cx="2781300" cy="25400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Vintage black-and-white photo of an older bearded man in glasses smoking a pipe outdoors, believed to depict R.A. Fisher, whose quote on interpreting p-values appears alongside it.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Decision Errors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These are called “decision errors”</a:t>
            </a:r>
          </a:p>
          <a:p>
            <a:pPr lvl="0"/>
            <a:r>
              <a:rPr/>
              <a:t>There are two types of decision errors</a:t>
            </a:r>
          </a:p>
          <a:p>
            <a:pPr lvl="0"/>
            <a:r>
              <a:rPr/>
              <a:t>We want to know the probability of making each of them</a:t>
            </a:r>
          </a:p>
          <a:p>
            <a:pPr lvl="0" indent="0" marL="1270000">
              <a:buNone/>
            </a:pPr>
            <a:r>
              <a:rPr sz="2000" b="1"/>
              <a:t>Note</a:t>
            </a:r>
          </a:p>
          <a:p>
            <a:pPr lvl="0" indent="0" marL="1270000">
              <a:buNone/>
            </a:pPr>
            <a:r>
              <a:rPr sz="2000" b="1"/>
              <a:t>📖 Reference</a:t>
            </a:r>
          </a:p>
          <a:p>
            <a:pPr lvl="0" indent="0" marL="1270000">
              <a:buNone/>
            </a:pPr>
            <a:r>
              <a:rPr sz="2000"/>
              <a:t>Gotelli &amp; Ellison, Ch. 4 — the “Errors in Hypothesis Testing” section covers exactly this material.</a:t>
            </a:r>
          </a:p>
        </p:txBody>
      </p:sp>
      <p:pic>
        <p:nvPicPr>
          <p:cNvPr descr="images/clipboard-1430957016.png" id="0" name="Picture 1"/>
          <p:cNvPicPr>
            <a:picLocks noGrp="1" noChangeAspect="1"/>
          </p:cNvPicPr>
          <p:nvPr/>
        </p:nvPicPr>
        <p:blipFill>
          <a:blip r:embed="rId2"/>
          <a:stretch>
            <a:fillRect/>
          </a:stretch>
        </p:blipFill>
        <p:spPr bwMode="auto">
          <a:xfrm>
            <a:off x="6121400" y="1816100"/>
            <a:ext cx="2781300" cy="16510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2x2 decision-error table crossing population situation (Effect exists vs. No Effect) with statistical conclusion (Reject H0 vs. Fail to Reject H0): correct decisions on the diagonal, a red-outlined ‘False Negative / Type II Error’ cell (fail to reject when an effect exists), and a red-outlined ‘False Positive / Type I Error’ cell (reject when no effect exists).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Concept</a:t>
            </a:r>
          </a:p>
        </p:txBody>
      </p:sp>
      <p:sp>
        <p:nvSpPr>
          <p:cNvPr id="3" name="Content Placeholder 2"/>
          <p:cNvSpPr>
            <a:spLocks noGrp="1"/>
          </p:cNvSpPr>
          <p:nvPr>
            <p:ph idx="1" sz="half"/>
          </p:nvPr>
        </p:nvSpPr>
        <p:spPr/>
        <p:txBody>
          <a:bodyPr/>
          <a:lstStyle/>
          <a:p>
            <a:pPr lvl="0"/>
            <a:r>
              <a:rPr b="1"/>
              <a:t>Type I error rate, α</a:t>
            </a:r>
            <a:r>
              <a:rPr/>
              <a:t>: wrongly reject H₀ when it’s true</a:t>
            </a:r>
          </a:p>
          <a:p>
            <a:pPr lvl="1"/>
            <a:r>
              <a:rPr/>
              <a:t>α = 0.05 means a Type I error rate of 5%</a:t>
            </a:r>
          </a:p>
          <a:p>
            <a:pPr lvl="0"/>
            <a:r>
              <a:rPr b="1"/>
              <a:t>Type II error rate, β</a:t>
            </a:r>
            <a:r>
              <a:rPr/>
              <a:t>: wrongly fail to reject H₀ when it’s false</a:t>
            </a:r>
          </a:p>
          <a:p>
            <a:pPr lvl="0"/>
            <a:r>
              <a:rPr b="1"/>
              <a:t>Power = 1 − β</a:t>
            </a:r>
            <a:r>
              <a:rPr/>
              <a:t>: the probability of correctly rejecting H₀ when Hₐ is true</a:t>
            </a:r>
          </a:p>
          <a:p>
            <a:pPr lvl="0"/>
            <a:r>
              <a:rPr/>
              <a:t>Inverse relationship between Type I and Type II error — but not a straightforward one</a:t>
            </a:r>
          </a:p>
          <a:p>
            <a:pPr lvl="0"/>
            <a:r>
              <a:rPr/>
              <a:t>Can result from chance — a sample not representative of the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651000"/>
            <a:ext cx="2781300" cy="19685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overlapping bell curves labeled H0 (Null Hypothesis) and H1 (Your Hypothesis), with a dashed vertical decision line where the small area of the H0 curve past the line is shaded teal and labeled alpha/Type I error, and the area of the H1 curve before the line is shaded orange and labeled beta/Type II error.</a:t>
            </a:r>
          </a:p>
        </p:txBody>
      </p:sp>
      <p:sp>
        <p:nvSpPr>
          <p:cNvPr id="4" name="Content Placeholder 3"/>
          <p:cNvSpPr>
            <a:spLocks noGrp="1"/>
          </p:cNvSpPr>
          <p:nvPr>
            <p:ph idx="2" sz="half"/>
          </p:nvPr>
        </p:nvSpPr>
        <p:spPr/>
        <p:txBody>
          <a:bodyPr/>
          <a:lstStyle/>
          <a:p>
            <a:pPr lvl="0" indent="0" marL="0">
              <a:buNone/>
            </a:pPr>
            <a:r>
              <a:rPr/>
              <a:t>the dotted line is α = 0.05</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Illustrated</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 larger sample size, larger effect size, lower variability, higher α level</a:t>
            </a:r>
          </a:p>
          <a:p>
            <a:pPr lvl="0" indent="0" marL="0">
              <a:buNone/>
            </a:pPr>
            <a:r>
              <a:rPr/>
              <a:t>The farther apart the means, or the lower the variance, the lower the β error — i.e., the higher the power.</a:t>
            </a:r>
          </a:p>
        </p:txBody>
      </p:sp>
      <p:pic>
        <p:nvPicPr>
          <p:cNvPr descr="images/clipboard-3204206464.png" id="0" name="Picture 1"/>
          <p:cNvPicPr>
            <a:picLocks noGrp="1" noChangeAspect="1"/>
          </p:cNvPicPr>
          <p:nvPr/>
        </p:nvPicPr>
        <p:blipFill>
          <a:blip r:embed="rId2"/>
          <a:stretch>
            <a:fillRect/>
          </a:stretch>
        </p:blipFill>
        <p:spPr bwMode="auto">
          <a:xfrm>
            <a:off x="6121400" y="1600200"/>
            <a:ext cx="2781300" cy="20828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Humorous side-by-side photo illustration: ‘Type I error (false positive)’ shows a doctor telling a male patient ‘You’re pregnant,’ and ‘Type II error (false negative)’ shows a doctor telling a visibly pregnant woman ‘You’re not pregnant.’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From Real Distributions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r>
              <a:rPr/>
              <a:t> — rejecting H₀ when it’s actually true. Probability = α.</a:t>
            </a:r>
          </a:p>
          <a:p>
            <a:pPr lvl="0" indent="0" marL="0">
              <a:buNone/>
            </a:pPr>
            <a:r>
              <a:rPr b="1"/>
              <a:t>Type II Error (False Negative)</a:t>
            </a:r>
            <a:r>
              <a:rPr/>
              <a:t> — failing to reject H₀ when it’s actually false. Probability = β.</a:t>
            </a:r>
          </a:p>
          <a:p>
            <a:pPr lvl="0" indent="0" marL="0">
              <a:buNone/>
            </a:pPr>
            <a:r>
              <a:rPr b="1"/>
              <a:t>Statistical Power = 1 − β</a:t>
            </a:r>
            <a:r>
              <a:rPr/>
              <a:t> — increases with larger sample size, larger effect size, lower variability, higher α level.</a:t>
            </a:r>
          </a:p>
          <a:p>
            <a:pPr lvl="0" indent="0" marL="0">
              <a:buNone/>
            </a:pPr>
            <a:r>
              <a:rPr/>
              <a:t>The farther apart the means, or the lower the variance, the lower the β error — i.e., the higher the power.</a:t>
            </a:r>
          </a:p>
        </p:txBody>
      </p:sp>
      <p:pic>
        <p:nvPicPr>
          <p:cNvPr descr="power_and_error_lecture_files/figure-pptx/power-and-error-02-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Practice Exercise: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one, and concludes there is no effect.</a:t>
            </a:r>
          </a:p>
          <a:p>
            <a:pPr lvl="0" indent="-342900" marL="342900">
              <a:buAutoNum type="arabicPeriod"/>
            </a:pPr>
            <a:r>
              <a:rPr sz="2000"/>
              <a:t>Let’s calculate the power of our t-test to detect a 1g difference in mass between sampling sites:</a:t>
            </a:r>
          </a:p>
          <a:p>
            <a:pPr lvl="0"/>
            <a:r>
              <a:rPr sz="2000" b="1"/>
              <a:t>Pooled standard deviation</a:t>
            </a:r>
            <a:r>
              <a:rPr sz="2000"/>
              <a:t> — the combined standard deviation of both groups, weighted by their respective degrees of freedom</a:t>
            </a:r>
          </a:p>
          <a:p>
            <a:pPr lvl="0"/>
            <a:r>
              <a:rPr sz="2000" b="1"/>
              <a:t>Cohen’s d</a:t>
            </a:r>
            <a:r>
              <a:rPr sz="2000"/>
              <a:t> — the standardized difference between means; here assuming a difference of 1 unit (g)</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br/>
            <a:r>
              <a:rPr>
                <a:solidFill>
                  <a:srgbClr val="003B4F"/>
                </a:solidFill>
                <a:latin typeface="Courier"/>
              </a:rPr>
              <a:t>m_df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br/>
            <a:r>
              <a:rPr>
                <a:solidFill>
                  <a:srgbClr val="003B4F"/>
                </a:solidFill>
                <a:latin typeface="Courier"/>
              </a:rPr>
              <a:t>sidney_df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 </a:t>
            </a:r>
            <a:r>
              <a:rPr>
                <a:solidFill>
                  <a:srgbClr val="5E5E5E"/>
                </a:solidFill>
                <a:latin typeface="Courier"/>
              </a:rPr>
              <a:t>==</a:t>
            </a:r>
            <a:r>
              <a:rPr>
                <a:solidFill>
                  <a:srgbClr val="003B4F"/>
                </a:solidFill>
                <a:latin typeface="Courier"/>
              </a:rPr>
              <a:t> </a:t>
            </a:r>
            <a:r>
              <a:rPr>
                <a:solidFill>
                  <a:srgbClr val="20794D"/>
                </a:solidFill>
                <a:latin typeface="Courier"/>
              </a:rPr>
              <a:t>"Sidney Island"</a:t>
            </a:r>
            <a:r>
              <a:rPr>
                <a:solidFill>
                  <a:srgbClr val="003B4F"/>
                </a:solidFill>
                <a:latin typeface="Courier"/>
              </a:rPr>
              <a:t>)</a:t>
            </a:r>
            <a:br/>
            <a:r>
              <a:rPr>
                <a:solidFill>
                  <a:srgbClr val="003B4F"/>
                </a:solidFill>
                <a:latin typeface="Courier"/>
              </a:rPr>
              <a:t>vancouver_df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 </a:t>
            </a:r>
            <a:r>
              <a:rPr>
                <a:solidFill>
                  <a:srgbClr val="5E5E5E"/>
                </a:solidFill>
                <a:latin typeface="Courier"/>
              </a:rPr>
              <a:t>==</a:t>
            </a:r>
            <a:r>
              <a:rPr>
                <a:solidFill>
                  <a:srgbClr val="003B4F"/>
                </a:solidFill>
                <a:latin typeface="Courier"/>
              </a:rPr>
              <a:t> </a:t>
            </a:r>
            <a:r>
              <a:rPr>
                <a:solidFill>
                  <a:srgbClr val="20794D"/>
                </a:solidFill>
                <a:latin typeface="Courier"/>
              </a:rPr>
              <a:t>"Vancouver"</a:t>
            </a:r>
            <a:r>
              <a:rPr>
                <a:solidFill>
                  <a:srgbClr val="003B4F"/>
                </a:solidFill>
                <a:latin typeface="Courier"/>
              </a:rPr>
              <a:t>)</a:t>
            </a:r>
            <a:br/>
            <a:br/>
            <a:r>
              <a:rPr>
                <a:solidFill>
                  <a:srgbClr val="003B4F"/>
                </a:solidFill>
                <a:latin typeface="Courier"/>
              </a:rPr>
              <a:t>n1 &lt;- </a:t>
            </a:r>
            <a:r>
              <a:rPr>
                <a:solidFill>
                  <a:srgbClr val="4758AB"/>
                </a:solidFill>
                <a:latin typeface="Courier"/>
              </a:rPr>
              <a:t>nrow</a:t>
            </a:r>
            <a:r>
              <a:rPr>
                <a:solidFill>
                  <a:srgbClr val="003B4F"/>
                </a:solidFill>
                <a:latin typeface="Courier"/>
              </a:rPr>
              <a:t>(sidney_df)</a:t>
            </a:r>
            <a:br/>
            <a:r>
              <a:rPr>
                <a:solidFill>
                  <a:srgbClr val="003B4F"/>
                </a:solidFill>
                <a:latin typeface="Courier"/>
              </a:rPr>
              <a:t>n2 &lt;- </a:t>
            </a:r>
            <a:r>
              <a:rPr>
                <a:solidFill>
                  <a:srgbClr val="4758AB"/>
                </a:solidFill>
                <a:latin typeface="Courier"/>
              </a:rPr>
              <a:t>nrow</a:t>
            </a:r>
            <a:r>
              <a:rPr>
                <a:solidFill>
                  <a:srgbClr val="003B4F"/>
                </a:solidFill>
                <a:latin typeface="Courier"/>
              </a:rPr>
              <a:t>(vancouver_df)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(sidney_df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var</a:t>
            </a:r>
            <a:r>
              <a:rPr>
                <a:solidFill>
                  <a:srgbClr val="003B4F"/>
                </a:solidFill>
                <a:latin typeface="Courier"/>
              </a:rPr>
              <a:t>(vancouver_df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delta = 0.423: the standardized effect size (Cohen's d)</a:t>
            </a:r>
            <a:br/>
            <a:r>
              <a:rPr>
                <a:solidFill>
                  <a:srgbClr val="003B4F"/>
                </a:solidFill>
                <a:latin typeface="Courier"/>
              </a:rPr>
              <a:t>effect_size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r>
              <a:rPr>
                <a:solidFill>
                  <a:srgbClr val="003B4F"/>
                </a:solidFill>
                <a:latin typeface="Courier"/>
              </a:rPr>
              <a:t>power</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Statistical Power</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if We Calculated Power for the Pine Needles You Measured?</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pine_df &lt;- </a:t>
            </a:r>
            <a:r>
              <a:rPr>
                <a:solidFill>
                  <a:srgbClr val="4758AB"/>
                </a:solidFill>
                <a:latin typeface="Courier"/>
              </a:rPr>
              <a:t>read_csv</a:t>
            </a:r>
            <a:r>
              <a:rPr>
                <a:solidFill>
                  <a:srgbClr val="003B4F"/>
                </a:solidFill>
                <a:latin typeface="Courier"/>
              </a:rPr>
              <a:t>(</a:t>
            </a:r>
            <a:r>
              <a:rPr>
                <a:solidFill>
                  <a:srgbClr val="20794D"/>
                </a:solidFill>
                <a:latin typeface="Courier"/>
              </a:rPr>
              <a:t>"data/pine_data.csv"</a:t>
            </a:r>
            <a:r>
              <a:rPr>
                <a:solidFill>
                  <a:srgbClr val="003B4F"/>
                </a:solidFill>
                <a:latin typeface="Courier"/>
              </a:rPr>
              <a:t>)</a:t>
            </a:r>
            <a:br/>
            <a:br/>
            <a:r>
              <a:rPr>
                <a:solidFill>
                  <a:srgbClr val="5E5E5E"/>
                </a:solidFill>
                <a:latin typeface="Courier"/>
              </a:rPr>
              <a:t># the two-stage summary again: one value per tree per side</a:t>
            </a:r>
            <a:br/>
            <a:r>
              <a:rPr>
                <a:solidFill>
                  <a:srgbClr val="003B4F"/>
                </a:solidFill>
                <a:latin typeface="Courier"/>
              </a:rPr>
              <a:t>p_df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needle_length_mm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003B4F"/>
                </a:solidFill>
                <a:latin typeface="Courier"/>
              </a:rPr>
              <a:t>shady_df &lt;- p_df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r>
              <a:rPr>
                <a:solidFill>
                  <a:srgbClr val="003B4F"/>
                </a:solidFill>
                <a:latin typeface="Courier"/>
              </a:rPr>
              <a:t>sunny_df &lt;- p_df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pine_n &lt;- </a:t>
            </a:r>
            <a:r>
              <a:rPr>
                <a:solidFill>
                  <a:srgbClr val="4758AB"/>
                </a:solidFill>
                <a:latin typeface="Courier"/>
              </a:rPr>
              <a:t>nrow</a:t>
            </a:r>
            <a:r>
              <a:rPr>
                <a:solidFill>
                  <a:srgbClr val="003B4F"/>
                </a:solidFill>
                <a:latin typeface="Courier"/>
              </a:rPr>
              <a:t>(shady_df)</a:t>
            </a:r>
            <a:br/>
            <a:br/>
            <a:r>
              <a:rPr>
                <a:solidFill>
                  <a:srgbClr val="003B4F"/>
                </a:solidFill>
                <a:latin typeface="Courier"/>
              </a:rPr>
              <a:t>pine_sd_pooled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(shady_df</a:t>
            </a:r>
            <a:r>
              <a:rPr>
                <a:solidFill>
                  <a:srgbClr val="5E5E5E"/>
                </a:solidFill>
                <a:latin typeface="Courier"/>
              </a:rPr>
              <a:t>$</a:t>
            </a:r>
            <a:r>
              <a:rPr>
                <a:solidFill>
                  <a:srgbClr val="003B4F"/>
                </a:solidFill>
                <a:latin typeface="Courier"/>
              </a:rPr>
              <a:t>needle_length_mm) </a:t>
            </a:r>
            <a:r>
              <a:rPr>
                <a:solidFill>
                  <a:srgbClr val="5E5E5E"/>
                </a:solidFill>
                <a:latin typeface="Courier"/>
              </a:rPr>
              <a:t>*</a:t>
            </a:r>
            <a:r>
              <a:rPr>
                <a:solidFill>
                  <a:srgbClr val="003B4F"/>
                </a:solidFill>
                <a:latin typeface="Courier"/>
              </a:rPr>
              <a:t> (pine_n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var</a:t>
            </a:r>
            <a:r>
              <a:rPr>
                <a:solidFill>
                  <a:srgbClr val="003B4F"/>
                </a:solidFill>
                <a:latin typeface="Courier"/>
              </a:rPr>
              <a:t>(sunny_df</a:t>
            </a:r>
            <a:r>
              <a:rPr>
                <a:solidFill>
                  <a:srgbClr val="5E5E5E"/>
                </a:solidFill>
                <a:latin typeface="Courier"/>
              </a:rPr>
              <a:t>$</a:t>
            </a:r>
            <a:r>
              <a:rPr>
                <a:solidFill>
                  <a:srgbClr val="003B4F"/>
                </a:solidFill>
                <a:latin typeface="Courier"/>
              </a:rPr>
              <a:t>needle_length_mm) </a:t>
            </a:r>
            <a:r>
              <a:rPr>
                <a:solidFill>
                  <a:srgbClr val="5E5E5E"/>
                </a:solidFill>
                <a:latin typeface="Courier"/>
              </a:rPr>
              <a:t>*</a:t>
            </a:r>
            <a:r>
              <a:rPr>
                <a:solidFill>
                  <a:srgbClr val="003B4F"/>
                </a:solidFill>
                <a:latin typeface="Courier"/>
              </a:rPr>
              <a:t> (pine_n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pine_n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003B4F"/>
                </a:solidFill>
                <a:latin typeface="Courier"/>
              </a:rPr>
              <a:t>observed_diff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(shady_df</a:t>
            </a:r>
            <a:r>
              <a:rPr>
                <a:solidFill>
                  <a:srgbClr val="5E5E5E"/>
                </a:solidFill>
                <a:latin typeface="Courier"/>
              </a:rPr>
              <a:t>$</a:t>
            </a:r>
            <a:r>
              <a:rPr>
                <a:solidFill>
                  <a:srgbClr val="003B4F"/>
                </a:solidFill>
                <a:latin typeface="Courier"/>
              </a:rPr>
              <a:t>needle_length_mm) </a:t>
            </a:r>
            <a:r>
              <a:rPr>
                <a:solidFill>
                  <a:srgbClr val="5E5E5E"/>
                </a:solidFill>
                <a:latin typeface="Courier"/>
              </a:rPr>
              <a:t>-</a:t>
            </a:r>
            <a:br/>
            <a:r>
              <a:rPr>
                <a:solidFill>
                  <a:srgbClr val="003B4F"/>
                </a:solidFill>
                <a:latin typeface="Courier"/>
              </a:rPr>
              <a:t>                     </a:t>
            </a:r>
            <a:r>
              <a:rPr>
                <a:solidFill>
                  <a:srgbClr val="4758AB"/>
                </a:solidFill>
                <a:latin typeface="Courier"/>
              </a:rPr>
              <a:t>mean</a:t>
            </a:r>
            <a:r>
              <a:rPr>
                <a:solidFill>
                  <a:srgbClr val="003B4F"/>
                </a:solidFill>
                <a:latin typeface="Courier"/>
              </a:rPr>
              <a:t>(sunny_df</a:t>
            </a:r>
            <a:r>
              <a:rPr>
                <a:solidFill>
                  <a:srgbClr val="5E5E5E"/>
                </a:solidFill>
                <a:latin typeface="Courier"/>
              </a:rPr>
              <a:t>$</a:t>
            </a:r>
            <a:r>
              <a:rPr>
                <a:solidFill>
                  <a:srgbClr val="003B4F"/>
                </a:solidFill>
                <a:latin typeface="Courier"/>
              </a:rPr>
              <a:t>needle_length_mm))</a:t>
            </a:r>
            <a:br/>
            <a:br/>
            <a:r>
              <a:rPr>
                <a:solidFill>
                  <a:srgbClr val="4758AB"/>
                </a:solidFill>
                <a:latin typeface="Courier"/>
              </a:rPr>
              <a:t>cat</a:t>
            </a:r>
            <a:r>
              <a:rPr>
                <a:solidFill>
                  <a:srgbClr val="003B4F"/>
                </a:solidFill>
                <a:latin typeface="Courier"/>
              </a:rPr>
              <a:t>(</a:t>
            </a:r>
            <a:r>
              <a:rPr>
                <a:solidFill>
                  <a:srgbClr val="20794D"/>
                </a:solidFill>
                <a:latin typeface="Courier"/>
              </a:rPr>
              <a:t>"Trees per side:"</a:t>
            </a:r>
            <a:r>
              <a:rPr>
                <a:solidFill>
                  <a:srgbClr val="003B4F"/>
                </a:solidFill>
                <a:latin typeface="Courier"/>
              </a:rPr>
              <a:t>, pine_n,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Trees per side: 4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"Observed difference:"</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Observed difference: 1.09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(pine_sd_pooled,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Pooled SD: 1.81 mm</a:t>
            </a:r>
          </a:p>
          <a:p>
            <a:pPr lvl="0" indent="0" marL="0">
              <a:buNone/>
            </a:pPr>
            <a:r>
              <a:rPr>
                <a:hlinkClick r:id="rId2"/>
              </a:rPr>
              <a:t>📥 Download the data</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cohens_d &lt;- observed_diff </a:t>
            </a:r>
            <a:r>
              <a:rPr>
                <a:solidFill>
                  <a:srgbClr val="5E5E5E"/>
                </a:solidFill>
                <a:latin typeface="Courier"/>
              </a:rPr>
              <a:t>/</a:t>
            </a:r>
            <a:r>
              <a:rPr>
                <a:solidFill>
                  <a:srgbClr val="003B4F"/>
                </a:solidFill>
                <a:latin typeface="Courier"/>
              </a:rPr>
              <a:t> pine_sd_pooled</a:t>
            </a:r>
            <a:br/>
            <a:r>
              <a:rPr>
                <a:solidFill>
                  <a:srgbClr val="4758AB"/>
                </a:solidFill>
                <a:latin typeface="Courier"/>
              </a:rPr>
              <a:t>cat</a:t>
            </a:r>
            <a:r>
              <a:rPr>
                <a:solidFill>
                  <a:srgbClr val="003B4F"/>
                </a:solidFill>
                <a:latin typeface="Courier"/>
              </a:rPr>
              <a:t>(</a:t>
            </a:r>
            <a:r>
              <a:rPr>
                <a:solidFill>
                  <a:srgbClr val="20794D"/>
                </a:solidFill>
                <a:latin typeface="Courier"/>
              </a:rPr>
              <a:t>"Cohen's d ="</a:t>
            </a:r>
            <a:r>
              <a:rPr>
                <a:solidFill>
                  <a:srgbClr val="003B4F"/>
                </a:solidFill>
                <a:latin typeface="Courier"/>
              </a:rPr>
              <a:t>, </a:t>
            </a:r>
            <a:r>
              <a:rPr>
                <a:solidFill>
                  <a:srgbClr val="4758AB"/>
                </a:solidFill>
                <a:latin typeface="Courier"/>
              </a:rPr>
              <a:t>round</a:t>
            </a:r>
            <a:r>
              <a:rPr>
                <a:solidFill>
                  <a:srgbClr val="003B4F"/>
                </a:solidFill>
                <a:latin typeface="Courier"/>
              </a:rPr>
              <a:t>(cohens_d,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Cohen's d = 0.6 </a:t>
            </a:r>
          </a:p>
          <a:p>
            <a:pPr lvl="0" indent="0">
              <a:buNone/>
            </a:pPr>
            <a:r>
              <a:rPr>
                <a:solidFill>
                  <a:srgbClr val="003B4F"/>
                </a:solidFill>
                <a:latin typeface="Courier"/>
              </a:rPr>
              <a:t>pine_power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pine_n,</a:t>
            </a:r>
            <a:br/>
            <a:r>
              <a:rPr>
                <a:solidFill>
                  <a:srgbClr val="003B4F"/>
                </a:solidFill>
                <a:latin typeface="Courier"/>
              </a:rPr>
              <a:t>                           </a:t>
            </a:r>
            <a:r>
              <a:rPr>
                <a:solidFill>
                  <a:srgbClr val="657422"/>
                </a:solidFill>
                <a:latin typeface="Courier"/>
              </a:rPr>
              <a:t>delta =</a:t>
            </a:r>
            <a:r>
              <a:rPr>
                <a:solidFill>
                  <a:srgbClr val="003B4F"/>
                </a:solidFill>
                <a:latin typeface="Courier"/>
              </a:rPr>
              <a:t> cohens_d,</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"Power to detect it:"</a:t>
            </a:r>
            <a:r>
              <a:rPr>
                <a:solidFill>
                  <a:srgbClr val="003B4F"/>
                </a:solidFill>
                <a:latin typeface="Courier"/>
              </a:rPr>
              <a:t>, </a:t>
            </a:r>
            <a:r>
              <a:rPr>
                <a:solidFill>
                  <a:srgbClr val="4758AB"/>
                </a:solidFill>
                <a:latin typeface="Courier"/>
              </a:rPr>
              <a:t>round</a:t>
            </a:r>
            <a:r>
              <a:rPr>
                <a:solidFill>
                  <a:srgbClr val="003B4F"/>
                </a:solidFill>
                <a:latin typeface="Courier"/>
              </a:rPr>
              <a:t>(pine_power</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Power to detect it: 0.109 </a:t>
            </a:r>
          </a:p>
          <a:p>
            <a:pPr lvl="0" indent="0" marL="1270000">
              <a:buNone/>
            </a:pPr>
            <a:r>
              <a:rPr sz="2000" b="1"/>
              <a:t>Important</a:t>
            </a:r>
          </a:p>
          <a:p>
            <a:pPr lvl="0" indent="0" marL="1270000">
              <a:buNone/>
            </a:pPr>
            <a:r>
              <a:rPr sz="2000" b="1"/>
              <a:t>⚠️ 11% power</a:t>
            </a:r>
          </a:p>
          <a:p>
            <a:pPr lvl="0" indent="0" marL="1270000">
              <a:buNone/>
            </a:pPr>
            <a:r>
              <a:rPr sz="2000"/>
              <a:t>Even if this difference is completely real, an unpaired study with 4 trees per side would </a:t>
            </a:r>
            <a:r>
              <a:rPr sz="2000" b="1"/>
              <a:t>miss it about 9 times out of 10.</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How Many Trees Would We Have Needed?</a:t>
            </a:r>
          </a:p>
        </p:txBody>
      </p:sp>
      <p:sp>
        <p:nvSpPr>
          <p:cNvPr id="3" name="Content Placeholder 2"/>
          <p:cNvSpPr>
            <a:spLocks noGrp="1"/>
          </p:cNvSpPr>
          <p:nvPr>
            <p:ph idx="1" sz="half"/>
          </p:nvPr>
        </p:nvSpPr>
        <p:spPr/>
        <p:txBody>
          <a:bodyPr/>
          <a:lstStyle/>
          <a:p>
            <a:pPr lvl="0" indent="0" marL="0">
              <a:buNone/>
            </a:pPr>
            <a:r>
              <a:rPr/>
              <a:t>Turn the calculation around: instead of asking “what power do we have?”, ask </a:t>
            </a:r>
            <a:r>
              <a:rPr b="1"/>
              <a:t>“what n would we need?”</a:t>
            </a:r>
            <a:r>
              <a:rPr/>
              <a:t> This is the version you should run </a:t>
            </a:r>
            <a:r>
              <a:rPr i="1"/>
              <a:t>before</a:t>
            </a:r>
            <a:r>
              <a:rPr/>
              <a:t> collecting anything.</a:t>
            </a:r>
          </a:p>
          <a:p>
            <a:pPr lvl="0" indent="0">
              <a:buNone/>
            </a:pPr>
            <a:r>
              <a:rPr>
                <a:solidFill>
                  <a:srgbClr val="5E5E5E"/>
                </a:solidFill>
                <a:latin typeface="Courier"/>
              </a:rPr>
              <a:t># n per side for the conventional 80% power, unpaired</a:t>
            </a:r>
            <a:br/>
            <a:r>
              <a:rPr>
                <a:solidFill>
                  <a:srgbClr val="4758AB"/>
                </a:solidFill>
                <a:latin typeface="Courier"/>
              </a:rPr>
              <a:t>power.t.test</a:t>
            </a:r>
            <a:r>
              <a:rPr>
                <a:solidFill>
                  <a:srgbClr val="003B4F"/>
                </a:solidFill>
                <a:latin typeface="Courier"/>
              </a:rPr>
              <a:t>(</a:t>
            </a:r>
            <a:r>
              <a:rPr>
                <a:solidFill>
                  <a:srgbClr val="657422"/>
                </a:solidFill>
                <a:latin typeface="Courier"/>
              </a:rPr>
              <a:t>delta =</a:t>
            </a:r>
            <a:r>
              <a:rPr>
                <a:solidFill>
                  <a:srgbClr val="003B4F"/>
                </a:solidFill>
                <a:latin typeface="Courier"/>
              </a:rPr>
              <a:t> cohens_d,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r>
              <a:rPr>
                <a:solidFill>
                  <a:srgbClr val="5E5E5E"/>
                </a:solidFill>
                <a:latin typeface="Courier"/>
              </a:rPr>
              <a:t>$</a:t>
            </a:r>
            <a:r>
              <a:rPr>
                <a:solidFill>
                  <a:srgbClr val="003B4F"/>
                </a:solidFill>
                <a:latin typeface="Courier"/>
              </a:rPr>
              <a:t>n</a:t>
            </a:r>
          </a:p>
          <a:p>
            <a:pPr lvl="0" indent="0">
              <a:buNone/>
            </a:pPr>
            <a:r>
              <a:rPr>
                <a:latin typeface="Courier"/>
              </a:rPr>
              <a:t>[1] 43.89932</a:t>
            </a:r>
          </a:p>
          <a:p>
            <a:pPr lvl="0" indent="0" marL="0">
              <a:buNone/>
            </a:pPr>
            <a:r>
              <a:rPr b="1"/>
              <a:t>44 trees per side.</a:t>
            </a:r>
            <a:r>
              <a:rPr/>
              <a:t> We collected four.</a:t>
            </a:r>
          </a:p>
          <a:p>
            <a:pPr lvl="0" indent="0" marL="1270000">
              <a:buNone/>
            </a:pPr>
            <a:r>
              <a:rPr sz="2000" b="1"/>
              <a:t>Note</a:t>
            </a:r>
          </a:p>
          <a:p>
            <a:pPr lvl="0" indent="0" marL="1270000">
              <a:buNone/>
            </a:pPr>
            <a:r>
              <a:rPr sz="2000" b="1"/>
              <a:t>📖 Reference</a:t>
            </a:r>
          </a:p>
          <a:p>
            <a:pPr lvl="0" indent="0" marL="1270000">
              <a:buNone/>
            </a:pPr>
            <a:r>
              <a:rPr sz="2000"/>
              <a:t>Whitlock &amp; Schluter, Ch. 14 — Designing Experiments, includes planning the sample size needed for a study.</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This is why “we found no difference” is usually the wrong conclusion</a:t>
            </a:r>
          </a:p>
          <a:p>
            <a:pPr lvl="0" indent="0" marL="1270000">
              <a:buNone/>
            </a:pPr>
            <a:r>
              <a:rPr sz="2000"/>
              <a:t>A non-significant result from an underpowered study does not mean there is no effect. It means </a:t>
            </a:r>
            <a:r>
              <a:rPr sz="2000" b="1"/>
              <a:t>the study could never have found one.</a:t>
            </a:r>
          </a:p>
          <a:p>
            <a:pPr lvl="0" indent="0" marL="1270000">
              <a:buNone/>
            </a:pPr>
            <a:r>
              <a:rPr sz="2000"/>
              <a:t>“Absence of evidence is not evidence of absence” — but only if you actually check your power.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Pairing Buys You Power — Here Is How Much</a:t>
            </a:r>
          </a:p>
        </p:txBody>
      </p:sp>
      <p:sp>
        <p:nvSpPr>
          <p:cNvPr id="3" name="Content Placeholder 2"/>
          <p:cNvSpPr>
            <a:spLocks noGrp="1"/>
          </p:cNvSpPr>
          <p:nvPr>
            <p:ph idx="1" sz="half"/>
          </p:nvPr>
        </p:nvSpPr>
        <p:spPr/>
        <p:txBody>
          <a:bodyPr/>
          <a:lstStyle/>
          <a:p>
            <a:pPr lvl="0" indent="0" marL="0">
              <a:buNone/>
            </a:pPr>
            <a:r>
              <a:rPr/>
              <a:t>The paired design does not just give a smaller p-value. It changes the </a:t>
            </a:r>
            <a:r>
              <a:rPr b="1"/>
              <a:t>whole economics of the study.</a:t>
            </a:r>
          </a:p>
          <a:p>
            <a:pPr lvl="0" indent="0">
              <a:buNone/>
            </a:pPr>
            <a:r>
              <a:rPr>
                <a:solidFill>
                  <a:srgbClr val="003B4F"/>
                </a:solidFill>
                <a:latin typeface="Courier"/>
              </a:rPr>
              <a:t>p_wide_df &lt;- p_df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side, </a:t>
            </a:r>
            <a:r>
              <a:rPr>
                <a:solidFill>
                  <a:srgbClr val="657422"/>
                </a:solidFill>
                <a:latin typeface="Courier"/>
              </a:rPr>
              <a:t>values_from =</a:t>
            </a:r>
            <a:r>
              <a:rPr>
                <a:solidFill>
                  <a:srgbClr val="003B4F"/>
                </a:solidFill>
                <a:latin typeface="Courier"/>
              </a:rPr>
              <a:t> needle_length_mm)</a:t>
            </a:r>
            <a:br/>
            <a:br/>
            <a:r>
              <a:rPr>
                <a:solidFill>
                  <a:srgbClr val="003B4F"/>
                </a:solidFill>
                <a:latin typeface="Courier"/>
              </a:rPr>
              <a:t>diffs &lt;- p_wide_df</a:t>
            </a:r>
            <a:r>
              <a:rPr>
                <a:solidFill>
                  <a:srgbClr val="5E5E5E"/>
                </a:solidFill>
                <a:latin typeface="Courier"/>
              </a:rPr>
              <a:t>$</a:t>
            </a:r>
            <a:r>
              <a:rPr>
                <a:solidFill>
                  <a:srgbClr val="003B4F"/>
                </a:solidFill>
                <a:latin typeface="Courier"/>
              </a:rPr>
              <a:t>shady </a:t>
            </a:r>
            <a:r>
              <a:rPr>
                <a:solidFill>
                  <a:srgbClr val="5E5E5E"/>
                </a:solidFill>
                <a:latin typeface="Courier"/>
              </a:rPr>
              <a:t>-</a:t>
            </a:r>
            <a:r>
              <a:rPr>
                <a:solidFill>
                  <a:srgbClr val="003B4F"/>
                </a:solidFill>
                <a:latin typeface="Courier"/>
              </a:rPr>
              <a:t> p_wide_df</a:t>
            </a:r>
            <a:r>
              <a:rPr>
                <a:solidFill>
                  <a:srgbClr val="5E5E5E"/>
                </a:solidFill>
                <a:latin typeface="Courier"/>
              </a:rPr>
              <a:t>$</a:t>
            </a:r>
            <a:r>
              <a:rPr>
                <a:solidFill>
                  <a:srgbClr val="003B4F"/>
                </a:solidFill>
                <a:latin typeface="Courier"/>
              </a:rPr>
              <a:t>sunny</a:t>
            </a:r>
            <a:br/>
            <a:r>
              <a:rPr>
                <a:solidFill>
                  <a:srgbClr val="003B4F"/>
                </a:solidFill>
                <a:latin typeface="Courier"/>
              </a:rPr>
              <a:t>dz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(diffs)) </a:t>
            </a:r>
            <a:r>
              <a:rPr>
                <a:solidFill>
                  <a:srgbClr val="5E5E5E"/>
                </a:solidFill>
                <a:latin typeface="Courier"/>
              </a:rPr>
              <a:t>/</a:t>
            </a:r>
            <a:r>
              <a:rPr>
                <a:solidFill>
                  <a:srgbClr val="003B4F"/>
                </a:solidFill>
                <a:latin typeface="Courier"/>
              </a:rPr>
              <a:t> </a:t>
            </a:r>
            <a:r>
              <a:rPr>
                <a:solidFill>
                  <a:srgbClr val="4758AB"/>
                </a:solidFill>
                <a:latin typeface="Courier"/>
              </a:rPr>
              <a:t>sd</a:t>
            </a:r>
            <a:r>
              <a:rPr>
                <a:solidFill>
                  <a:srgbClr val="003B4F"/>
                </a:solidFill>
                <a:latin typeface="Courier"/>
              </a:rPr>
              <a:t>(diffs)      </a:t>
            </a:r>
            <a:r>
              <a:rPr>
                <a:solidFill>
                  <a:srgbClr val="5E5E5E"/>
                </a:solidFill>
                <a:latin typeface="Courier"/>
              </a:rPr>
              <a:t># effect size for the DIFFERENCES</a:t>
            </a:r>
            <a:br/>
            <a:br/>
            <a:r>
              <a:rPr>
                <a:solidFill>
                  <a:srgbClr val="4758AB"/>
                </a:solidFill>
                <a:latin typeface="Courier"/>
              </a:rPr>
              <a:t>cat</a:t>
            </a:r>
            <a:r>
              <a:rPr>
                <a:solidFill>
                  <a:srgbClr val="003B4F"/>
                </a:solidFill>
                <a:latin typeface="Courier"/>
              </a:rPr>
              <a:t>(</a:t>
            </a:r>
            <a:r>
              <a:rPr>
                <a:solidFill>
                  <a:srgbClr val="20794D"/>
                </a:solidFill>
                <a:latin typeface="Courier"/>
              </a:rPr>
              <a:t>"Differences:"</a:t>
            </a:r>
            <a:r>
              <a:rPr>
                <a:solidFill>
                  <a:srgbClr val="003B4F"/>
                </a:solidFill>
                <a:latin typeface="Courier"/>
              </a:rPr>
              <a:t>, </a:t>
            </a:r>
            <a:r>
              <a:rPr>
                <a:solidFill>
                  <a:srgbClr val="4758AB"/>
                </a:solidFill>
                <a:latin typeface="Courier"/>
              </a:rPr>
              <a:t>round</a:t>
            </a:r>
            <a:r>
              <a:rPr>
                <a:solidFill>
                  <a:srgbClr val="003B4F"/>
                </a:solidFill>
                <a:latin typeface="Courier"/>
              </a:rPr>
              <a:t>(diffs,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Differences: -1.16 -0.15 -0.97 -2.1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"Cohen's dz ="</a:t>
            </a:r>
            <a:r>
              <a:rPr>
                <a:solidFill>
                  <a:srgbClr val="003B4F"/>
                </a:solidFill>
                <a:latin typeface="Courier"/>
              </a:rPr>
              <a:t>, </a:t>
            </a:r>
            <a:r>
              <a:rPr>
                <a:solidFill>
                  <a:srgbClr val="4758AB"/>
                </a:solidFill>
                <a:latin typeface="Courier"/>
              </a:rPr>
              <a:t>round</a:t>
            </a:r>
            <a:r>
              <a:rPr>
                <a:solidFill>
                  <a:srgbClr val="003B4F"/>
                </a:solidFill>
                <a:latin typeface="Courier"/>
              </a:rPr>
              <a:t>(dz,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Cohen's dz = 1.36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"Paired power at n = 4:"</a:t>
            </a:r>
            <a:r>
              <a:rPr>
                <a:solidFill>
                  <a:srgbClr val="003B4F"/>
                </a:solidFill>
                <a:latin typeface="Courier"/>
              </a:rPr>
              <a:t>,</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delta =</a:t>
            </a:r>
            <a:r>
              <a:rPr>
                <a:solidFill>
                  <a:srgbClr val="003B4F"/>
                </a:solidFill>
                <a:latin typeface="Courier"/>
              </a:rPr>
              <a:t> dz,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r>
              <a:rPr>
                <a:solidFill>
                  <a:srgbClr val="003B4F"/>
                </a:solidFill>
                <a:latin typeface="Courier"/>
              </a:rPr>
              <a:t>)</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Paired power at n = 4: 0.464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"Trees needed for 80% power, paired:"</a:t>
            </a:r>
            <a:r>
              <a:rPr>
                <a:solidFill>
                  <a:srgbClr val="003B4F"/>
                </a:solidFill>
                <a:latin typeface="Courier"/>
              </a:rPr>
              <a:t>,</a:t>
            </a:r>
            <a:br/>
            <a:r>
              <a:rPr>
                <a:solidFill>
                  <a:srgbClr val="003B4F"/>
                </a:solidFill>
                <a:latin typeface="Courier"/>
              </a:rPr>
              <a:t>    </a:t>
            </a:r>
            <a:r>
              <a:rPr>
                <a:solidFill>
                  <a:srgbClr val="4758AB"/>
                </a:solidFill>
                <a:latin typeface="Courier"/>
              </a:rPr>
              <a:t>ceiling</a:t>
            </a:r>
            <a:r>
              <a:rPr>
                <a:solidFill>
                  <a:srgbClr val="003B4F"/>
                </a:solidFill>
                <a:latin typeface="Courier"/>
              </a:rPr>
              <a:t>(</a:t>
            </a:r>
            <a:r>
              <a:rPr>
                <a:solidFill>
                  <a:srgbClr val="4758AB"/>
                </a:solidFill>
                <a:latin typeface="Courier"/>
              </a:rPr>
              <a:t>power.t.test</a:t>
            </a:r>
            <a:r>
              <a:rPr>
                <a:solidFill>
                  <a:srgbClr val="003B4F"/>
                </a:solidFill>
                <a:latin typeface="Courier"/>
              </a:rPr>
              <a:t>(</a:t>
            </a:r>
            <a:r>
              <a:rPr>
                <a:solidFill>
                  <a:srgbClr val="657422"/>
                </a:solidFill>
                <a:latin typeface="Courier"/>
              </a:rPr>
              <a:t>delta =</a:t>
            </a:r>
            <a:r>
              <a:rPr>
                <a:solidFill>
                  <a:srgbClr val="003B4F"/>
                </a:solidFill>
                <a:latin typeface="Courier"/>
              </a:rPr>
              <a:t> dz,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Trees needed for 80% power, paired: 7 </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pPr lvl="0" indent="0" marL="0">
                        <a:buNone/>
                      </a:pPr>
                      <a:r>
                        <a:rPr/>
                        <a:t>Design</a:t>
                      </a:r>
                    </a:p>
                  </a:txBody>
                  <a:tcPr/>
                </a:tc>
                <a:tc>
                  <a:txBody>
                    <a:bodyPr/>
                    <a:lstStyle/>
                    <a:p>
                      <a:pPr lvl="0" indent="0" marL="0">
                        <a:buNone/>
                      </a:pPr>
                      <a:r>
                        <a:rPr/>
                        <a:t>Power at n = 4</a:t>
                      </a:r>
                    </a:p>
                  </a:txBody>
                  <a:tcPr/>
                </a:tc>
                <a:tc>
                  <a:txBody>
                    <a:bodyPr/>
                    <a:lstStyle/>
                    <a:p>
                      <a:pPr lvl="0" indent="0" marL="0">
                        <a:buNone/>
                      </a:pPr>
                      <a:r>
                        <a:rPr/>
                        <a:t>Trees for 80%</a:t>
                      </a:r>
                    </a:p>
                  </a:txBody>
                  <a:tcPr/>
                </a:tc>
              </a:tr>
              <a:tr h="0">
                <a:tc>
                  <a:txBody>
                    <a:bodyPr/>
                    <a:lstStyle/>
                    <a:p>
                      <a:pPr lvl="0" indent="0" marL="0">
                        <a:buNone/>
                      </a:pPr>
                      <a:r>
                        <a:rPr/>
                        <a:t>Unpaired</a:t>
                      </a:r>
                    </a:p>
                  </a:txBody>
                </a:tc>
                <a:tc>
                  <a:txBody>
                    <a:bodyPr/>
                    <a:lstStyle/>
                    <a:p>
                      <a:pPr lvl="0" indent="0" marL="0">
                        <a:buNone/>
                      </a:pPr>
                      <a:r>
                        <a:rPr/>
                        <a:t>11%</a:t>
                      </a:r>
                    </a:p>
                  </a:txBody>
                </a:tc>
                <a:tc>
                  <a:txBody>
                    <a:bodyPr/>
                    <a:lstStyle/>
                    <a:p>
                      <a:pPr lvl="0" indent="0" marL="0">
                        <a:buNone/>
                      </a:pPr>
                      <a:r>
                        <a:rPr b="1"/>
                        <a:t>44 per side</a:t>
                      </a:r>
                    </a:p>
                  </a:txBody>
                </a:tc>
              </a:tr>
              <a:tr h="0">
                <a:tc>
                  <a:txBody>
                    <a:bodyPr/>
                    <a:lstStyle/>
                    <a:p>
                      <a:pPr lvl="0" indent="0" marL="0">
                        <a:buNone/>
                      </a:pPr>
                      <a:r>
                        <a:rPr/>
                        <a:t>Paired</a:t>
                      </a:r>
                    </a:p>
                  </a:txBody>
                </a:tc>
                <a:tc>
                  <a:txBody>
                    <a:bodyPr/>
                    <a:lstStyle/>
                    <a:p>
                      <a:pPr lvl="0" indent="0" marL="0">
                        <a:buNone/>
                      </a:pPr>
                      <a:r>
                        <a:rPr/>
                        <a:t>46%</a:t>
                      </a:r>
                    </a:p>
                  </a:txBody>
                </a:tc>
                <a:tc>
                  <a:txBody>
                    <a:bodyPr/>
                    <a:lstStyle/>
                    <a:p>
                      <a:pPr lvl="0" indent="0" marL="0">
                        <a:buNone/>
                      </a:pPr>
                      <a:r>
                        <a:rPr b="1"/>
                        <a:t>7 total</a:t>
                      </a:r>
                    </a:p>
                  </a:txBody>
                </a:tc>
              </a:tr>
            </a:tbl>
          </a:graphicData>
        </a:graphic>
      </p:graphicFrame>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Power?</a:t>
            </a:r>
          </a:p>
        </p:txBody>
      </p:sp>
      <p:sp>
        <p:nvSpPr>
          <p:cNvPr id="3" name="Content Placeholder 2"/>
          <p:cNvSpPr>
            <a:spLocks noGrp="1"/>
          </p:cNvSpPr>
          <p:nvPr>
            <p:ph idx="1" sz="half"/>
          </p:nvPr>
        </p:nvSpPr>
        <p:spPr/>
        <p:txBody>
          <a:bodyPr/>
          <a:lstStyle/>
          <a:p>
            <a:pPr lvl="0" indent="0" marL="0">
              <a:buNone/>
            </a:pPr>
            <a:r>
              <a:rPr/>
              <a:t>Statistical power is the probability of detecting a true effect — of rejecting the null hypothesis when it really is false. Power of 80% means an 80% chance of finding a difference of a given size, </a:t>
            </a:r>
            <a:r>
              <a:rPr b="1"/>
              <a:t>if that difference is actually there.</a:t>
            </a:r>
          </a:p>
          <a:p>
            <a:pPr lvl="0" indent="0" marL="0">
              <a:buNone/>
            </a:pPr>
            <a:r>
              <a:rPr/>
              <a:t>A power analysis is typically done for one of these purposes:</a:t>
            </a:r>
          </a:p>
          <a:p>
            <a:pPr lvl="0" indent="-342900" marL="342900">
              <a:buAutoNum type="arabicPeriod"/>
            </a:pPr>
            <a:r>
              <a:rPr b="1"/>
              <a:t>Before data collection</a:t>
            </a:r>
            <a:r>
              <a:rPr/>
              <a:t>, to determine required sample size — by far the most useful</a:t>
            </a:r>
          </a:p>
          <a:p>
            <a:pPr lvl="0" indent="-342900" marL="342900">
              <a:buAutoNum type="arabicPeriod"/>
            </a:pPr>
            <a:r>
              <a:rPr/>
              <a:t>After a study, to evaluate whether the sample size was adequate</a:t>
            </a:r>
          </a:p>
          <a:p>
            <a:pPr lvl="0" indent="-342900" marL="342900">
              <a:buAutoNum type="arabicPeriod"/>
            </a:pPr>
            <a:r>
              <a:rPr/>
              <a:t>To determine the minimum detectable effect size with the sample you have</a:t>
            </a:r>
          </a:p>
          <a:p>
            <a:pPr lvl="0" indent="0" marL="1270000">
              <a:buNone/>
            </a:pPr>
            <a:r>
              <a:rPr sz="2000" b="1"/>
              <a:t>Note</a:t>
            </a:r>
          </a:p>
          <a:p>
            <a:pPr lvl="0" indent="0" marL="1270000">
              <a:buNone/>
            </a:pPr>
            <a:r>
              <a:rPr sz="2000" b="1"/>
              <a:t>✅ Key idea</a:t>
            </a:r>
          </a:p>
          <a:p>
            <a:pPr lvl="0" indent="0" marL="1270000">
              <a:buNone/>
            </a:pPr>
            <a:r>
              <a:rPr sz="2000" b="1"/>
              <a:t>80% power is the usual convention</a:t>
            </a:r>
            <a:r>
              <a:rPr sz="2000"/>
              <a:t> for an adequately powered study. Our unpaired pine analysis has 11%, and our paired analysis 46% — both below it. This is a </a:t>
            </a:r>
            <a:r>
              <a:rPr sz="2000" i="1"/>
              <a:t>pilot study</a:t>
            </a:r>
            <a:r>
              <a:rPr sz="2000"/>
              <a:t>: enough to estimate an effect size and plan a real one, not enough to settle the question.</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A warning about “post-hoc power”</a:t>
            </a:r>
          </a:p>
          <a:p>
            <a:pPr lvl="0" indent="0" marL="1270000">
              <a:buNone/>
            </a:pPr>
            <a:r>
              <a:rPr sz="2000"/>
              <a:t>Computing power </a:t>
            </a:r>
            <a:r>
              <a:rPr sz="2000" i="1"/>
              <a:t>from the effect size you observed</a:t>
            </a:r>
            <a:r>
              <a:rPr sz="2000"/>
              <a:t> — which is exactly what we just did — is a known trap. It is fine for what we used it for: </a:t>
            </a:r>
            <a:r>
              <a:rPr sz="2000" b="1"/>
              <a:t>planning the next study</a:t>
            </a:r>
            <a:r>
              <a:rPr sz="2000"/>
              <a:t>.</a:t>
            </a:r>
          </a:p>
          <a:p>
            <a:pPr lvl="0" indent="0" marL="1270000">
              <a:buNone/>
            </a:pPr>
            <a:r>
              <a:rPr sz="2000"/>
              <a:t>It is </a:t>
            </a:r>
            <a:r>
              <a:rPr sz="2000" b="1"/>
              <a:t>not</a:t>
            </a:r>
            <a:r>
              <a:rPr sz="2000"/>
              <a:t> a valid way to explain away a non-significant result, because observed power is just a re-expression of the p-value. If someone reports “our result was non-significant but we had low power,” they have said the same thing twice.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Error Bars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 shows precision of the mean</a:t>
            </a:r>
          </a:p>
          <a:p>
            <a:pPr lvl="0" indent="-342900" marL="342900">
              <a:buAutoNum type="arabicPeriod"/>
            </a:pPr>
            <a:r>
              <a:rPr b="1"/>
              <a:t>Standard Deviation (SD)</a:t>
            </a:r>
            <a:r>
              <a:rPr/>
              <a:t> — shows variability in the data</a:t>
            </a:r>
          </a:p>
          <a:p>
            <a:pPr lvl="0" indent="-342900" marL="342900">
              <a:buAutoNum type="arabicPeriod"/>
            </a:pPr>
            <a:r>
              <a:rPr b="1"/>
              <a:t>Confidence Interval (CI)</a:t>
            </a:r>
            <a:r>
              <a:rPr/>
              <a:t> — shows the plausible range for a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power_and_error_lecture_files/figure-pptx/power-and-error-08-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Pseudoreplication</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a:p>
            <a:pPr lvl="0" indent="0" marL="1270000">
              <a:buNone/>
            </a:pPr>
            <a:r>
              <a:rPr sz="2000" b="1"/>
              <a:t>Important</a:t>
            </a:r>
          </a:p>
          <a:p>
            <a:pPr lvl="0" indent="0" marL="1270000">
              <a:buNone/>
            </a:pPr>
            <a:r>
              <a:rPr sz="2000" b="1"/>
              <a:t>We have been doing this all along</a:t>
            </a:r>
          </a:p>
          <a:p>
            <a:pPr lvl="0" indent="0" marL="1270000">
              <a:buNone/>
            </a:pPr>
            <a:r>
              <a:rPr sz="2000"/>
              <a:t>Our pine needle data has 64 rows. Analysed as 64 independent needles it would look like a large, well-powered study. Analysed honestly — </a:t>
            </a:r>
            <a:r>
              <a:rPr sz="2000" b="1"/>
              <a:t>4 trees</a:t>
            </a:r>
            <a:r>
              <a:rPr sz="2000"/>
              <a:t> — it has 11% power unpaired, 46% paired.</a:t>
            </a:r>
          </a:p>
          <a:p>
            <a:pPr lvl="0" indent="0" marL="1270000">
              <a:buNone/>
            </a:pPr>
            <a:r>
              <a:rPr sz="2000"/>
              <a:t>Pseudoreplication would not have made the study better. It would only have made us </a:t>
            </a:r>
            <a:r>
              <a:rPr sz="2000" b="1"/>
              <a:t>believe</a:t>
            </a:r>
            <a:r>
              <a:rPr sz="2000"/>
              <a:t> it was.</a:t>
            </a:r>
          </a:p>
        </p:txBody>
      </p:sp>
      <p:pic>
        <p:nvPicPr>
          <p:cNvPr descr="power_and_error_lecture_files/figure-pptx/power-and-error-09-1.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and Key Takeaways</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the Type I error rate</a:t>
            </a:r>
          </a:p>
        </p:txBody>
      </p:sp>
      <p:sp>
        <p:nvSpPr>
          <p:cNvPr id="4" name="Content Placeholder 3"/>
          <p:cNvSpPr>
            <a:spLocks noGrp="1"/>
          </p:cNvSpPr>
          <p:nvPr>
            <p:ph idx="2" sz="half"/>
          </p:nvPr>
        </p:nvSpPr>
        <p:spPr/>
        <p:txBody>
          <a:bodyPr/>
          <a:lstStyle/>
          <a:p>
            <a:pPr lvl="0" indent="-342900" marL="342900">
              <a:buAutoNum startAt="3" type="arabicPeriod"/>
            </a:pPr>
            <a:r>
              <a:rPr b="1"/>
              <a:t>Type I and Type II errors</a:t>
            </a:r>
            <a:r>
              <a:rPr/>
              <a:t> represent different kinds of mistakes</a:t>
            </a:r>
          </a:p>
          <a:p>
            <a:pPr lvl="1"/>
            <a:r>
              <a:rPr/>
              <a:t>Type I (α): false positive — rejecting a true H₀</a:t>
            </a:r>
          </a:p>
          <a:p>
            <a:pPr lvl="1"/>
            <a:r>
              <a:rPr/>
              <a:t>Type II (β): false negative — failing to reject a false H₀</a:t>
            </a:r>
          </a:p>
          <a:p>
            <a:pPr lvl="1"/>
            <a:r>
              <a:rPr/>
              <a:t>Statistical power = 1 − β</a:t>
            </a:r>
          </a:p>
          <a:p>
            <a:pPr lvl="0" indent="-342900" marL="342900">
              <a:buAutoNum startAt="3"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startAt="3"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Power and Type I &amp; II Error</dc:title>
  <dc:creator>Bill Perry</dc:creator>
  <cp:keywords/>
  <dc:description>P-values and the hypothesis-testing framework, Type I/II error, effect size, statistical power, error bars, and pseudoreplication — on the mouse-mass and pine needle datasets.</dc:description>
  <dcterms:created xsi:type="dcterms:W3CDTF">2026-09-14T16:08:33Z</dcterms:created>
  <dcterms:modified xsi:type="dcterms:W3CDTF">2026-09-14T16:08:33Z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8</vt:lpwstr>
  </property>
  <property fmtid="{D5CDD505-2E9C-101B-9397-08002B2CF9AE}" pid="14" name="resources">
    <vt:lpwstr/>
  </property>
  <property fmtid="{D5CDD505-2E9C-101B-9397-08002B2CF9AE}" pid="15" name="subtitle">
    <vt:lpwstr>Errors and power</vt:lpwstr>
  </property>
  <property fmtid="{D5CDD505-2E9C-101B-9397-08002B2CF9AE}" pid="16" name="toc-title">
    <vt:lpwstr>Table of contents</vt:lpwstr>
  </property>
  <property fmtid="{D5CDD505-2E9C-101B-9397-08002B2CF9AE}" pid="17" name="week">
    <vt:lpwstr>5</vt:lpwstr>
  </property>
</Properties>
</file>