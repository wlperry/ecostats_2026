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power-and-error-0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the two-stage summary again: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shady_df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sunny_df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pine_n &lt;- </a:t>
            </a:r>
            <a:r>
              <a:rPr>
                <a:solidFill>
                  <a:srgbClr val="4758AB"/>
                </a:solidFill>
                <a:latin typeface="Courier"/>
              </a:rPr>
              <a:t>nrow</a:t>
            </a:r>
            <a:r>
              <a:rPr>
                <a:solidFill>
                  <a:srgbClr val="003B4F"/>
                </a:solidFill>
                <a:latin typeface="Courier"/>
              </a:rPr>
              <a:t>(shady_df)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(sunny_df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br/>
            <a:r>
              <a:rPr>
                <a:solidFill>
                  <a:srgbClr val="003B4F"/>
                </a:solidFill>
                <a:latin typeface="Courier"/>
              </a:rPr>
              <a:t>                     </a:t>
            </a:r>
            <a:r>
              <a:rPr>
                <a:solidFill>
                  <a:srgbClr val="4758AB"/>
                </a:solidFill>
                <a:latin typeface="Courier"/>
              </a:rPr>
              <a:t>mean</a:t>
            </a:r>
            <a:r>
              <a:rPr>
                <a:solidFill>
                  <a:srgbClr val="003B4F"/>
                </a:solidFill>
                <a:latin typeface="Courier"/>
              </a:rPr>
              <a:t>(sunny_df</a:t>
            </a:r>
            <a:r>
              <a:rPr>
                <a:solidFill>
                  <a:srgbClr val="5E5E5E"/>
                </a:solidFill>
                <a:latin typeface="Courier"/>
              </a:rPr>
              <a:t>$</a:t>
            </a:r>
            <a:r>
              <a:rPr>
                <a:solidFill>
                  <a:srgbClr val="003B4F"/>
                </a:solidFill>
                <a:latin typeface="Courier"/>
              </a:rPr>
              <a:t>needle_length_mm))</a:t>
            </a:r>
            <a:br/>
            <a:br/>
            <a:r>
              <a:rPr>
                <a:solidFill>
                  <a:srgbClr val="4758AB"/>
                </a:solidFill>
                <a:latin typeface="Courier"/>
              </a:rPr>
              <a:t>cat</a:t>
            </a:r>
            <a:r>
              <a:rPr>
                <a:solidFill>
                  <a:srgbClr val="003B4F"/>
                </a:solidFill>
                <a:latin typeface="Courier"/>
              </a:rPr>
              <a:t>(</a:t>
            </a:r>
            <a:r>
              <a:rPr>
                <a:solidFill>
                  <a:srgbClr val="20794D"/>
                </a:solidFill>
                <a:latin typeface="Courier"/>
              </a:rPr>
              <a:t>"Trees per side:"</a:t>
            </a:r>
            <a:r>
              <a:rPr>
                <a:solidFill>
                  <a:srgbClr val="003B4F"/>
                </a:solidFill>
                <a:latin typeface="Courier"/>
              </a:rPr>
              <a:t>, pine_n,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per side: 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"Observed difference:"</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Observed difference: 1.09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Pooled SD: 1.81 mm</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cohens_d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"Cohen's d ="</a:t>
            </a:r>
            <a:r>
              <a:rPr>
                <a:solidFill>
                  <a:srgbClr val="003B4F"/>
                </a:solidFill>
                <a:latin typeface="Courier"/>
              </a:rPr>
              <a:t>, </a:t>
            </a:r>
            <a:r>
              <a:rPr>
                <a:solidFill>
                  <a:srgbClr val="4758AB"/>
                </a:solidFill>
                <a:latin typeface="Courier"/>
              </a:rPr>
              <a:t>round</a:t>
            </a:r>
            <a:r>
              <a:rPr>
                <a:solidFill>
                  <a:srgbClr val="003B4F"/>
                </a:solidFill>
                <a:latin typeface="Courier"/>
              </a:rPr>
              <a:t>(cohens_d,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 = 0.6 </a:t>
            </a:r>
          </a:p>
          <a:p>
            <a:pPr lvl="0" indent="0">
              <a:buNone/>
            </a:pPr>
            <a:r>
              <a:rPr>
                <a:solidFill>
                  <a:srgbClr val="003B4F"/>
                </a:solidFill>
                <a:latin typeface="Courier"/>
              </a:rPr>
              <a:t>pine_power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pine_n,</a:t>
            </a:r>
            <a:br/>
            <a:r>
              <a:rPr>
                <a:solidFill>
                  <a:srgbClr val="003B4F"/>
                </a:solidFill>
                <a:latin typeface="Courier"/>
              </a:rPr>
              <a:t>                           </a:t>
            </a:r>
            <a:r>
              <a:rPr>
                <a:solidFill>
                  <a:srgbClr val="657422"/>
                </a:solidFill>
                <a:latin typeface="Courier"/>
              </a:rPr>
              <a:t>delta =</a:t>
            </a:r>
            <a:r>
              <a:rPr>
                <a:solidFill>
                  <a:srgbClr val="003B4F"/>
                </a:solidFill>
                <a:latin typeface="Courier"/>
              </a:rPr>
              <a:t> cohens_d,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to detect it:"</a:t>
            </a:r>
            <a:r>
              <a:rPr>
                <a:solidFill>
                  <a:srgbClr val="003B4F"/>
                </a:solidFill>
                <a:latin typeface="Courier"/>
              </a:rPr>
              <a:t>, </a:t>
            </a:r>
            <a:r>
              <a:rPr>
                <a:solidFill>
                  <a:srgbClr val="4758AB"/>
                </a:solidFill>
                <a:latin typeface="Courier"/>
              </a:rPr>
              <a:t>round</a:t>
            </a:r>
            <a:r>
              <a:rPr>
                <a:solidFill>
                  <a:srgbClr val="003B4F"/>
                </a:solidFill>
                <a:latin typeface="Courier"/>
              </a:rPr>
              <a:t>(pine_power</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to detect it: 0.109 </a:t>
            </a:r>
          </a:p>
          <a:p>
            <a:pPr lvl="0" indent="0" marL="1270000">
              <a:buNone/>
            </a:pPr>
            <a:r>
              <a:rPr sz="2000" b="1"/>
              <a:t>Important</a:t>
            </a:r>
          </a:p>
          <a:p>
            <a:pPr lvl="0" indent="0" marL="1270000">
              <a:buNone/>
            </a:pPr>
            <a:r>
              <a:rPr sz="2000" b="1"/>
              <a:t>⚠️ 11% power</a:t>
            </a:r>
          </a:p>
          <a:p>
            <a:pPr lvl="0" indent="0" marL="1270000">
              <a:buNone/>
            </a:pPr>
            <a:r>
              <a:rPr sz="2000"/>
              <a:t>Even if this difference is completely real, an unpaired study with 4 trees per side would </a:t>
            </a:r>
            <a:r>
              <a:rPr sz="2000" b="1"/>
              <a:t>miss it about 9 times out of 10.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Many Trees Would We Have Needed?</a:t>
            </a:r>
          </a:p>
        </p:txBody>
      </p:sp>
      <p:sp>
        <p:nvSpPr>
          <p:cNvPr id="3" name="Content Placeholder 2"/>
          <p:cNvSpPr>
            <a:spLocks noGrp="1"/>
          </p:cNvSpPr>
          <p:nvPr>
            <p:ph idx="1" sz="half"/>
          </p:nvPr>
        </p:nvSpPr>
        <p:spPr/>
        <p:txBody>
          <a:bodyPr/>
          <a:lstStyle/>
          <a:p>
            <a:pPr lvl="0" indent="0" marL="0">
              <a:buNone/>
            </a:pPr>
            <a:r>
              <a:rPr/>
              <a:t>Turn the calculation around: instead of asking “what power do we have?”, ask </a:t>
            </a:r>
            <a:r>
              <a:rPr b="1"/>
              <a:t>“what n would we need?”</a:t>
            </a:r>
            <a:r>
              <a:rPr/>
              <a:t> This is the version you should run </a:t>
            </a:r>
            <a:r>
              <a:rPr i="1"/>
              <a:t>before</a:t>
            </a:r>
            <a:r>
              <a:rPr/>
              <a:t> collecting anything.</a:t>
            </a:r>
          </a:p>
          <a:p>
            <a:pPr lvl="0" indent="0">
              <a:buNone/>
            </a:pPr>
            <a:r>
              <a:rPr>
                <a:solidFill>
                  <a:srgbClr val="5E5E5E"/>
                </a:solidFill>
                <a:latin typeface="Courier"/>
              </a:rPr>
              <a:t># n per side for the conventional 80% power, unpaired</a:t>
            </a:r>
            <a:b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cohens_d,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43.89932</a:t>
            </a:r>
          </a:p>
          <a:p>
            <a:pPr lvl="0" indent="0" marL="0">
              <a:buNone/>
            </a:pPr>
            <a:r>
              <a:rPr b="1"/>
              <a:t>44 trees per side.</a:t>
            </a:r>
            <a:r>
              <a:rPr/>
              <a:t> We collected four.</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a:p>
            <a:pPr lvl="0" indent="0" marL="1270000">
              <a:buNone/>
            </a:pPr>
            <a:r>
              <a:rPr sz="2000"/>
              <a:t>“Absence of evidence is not evidence of absence” — but only if you actually check your power.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Pairing Buys You Power — Here Is How Much</a:t>
            </a:r>
          </a:p>
        </p:txBody>
      </p:sp>
      <p:sp>
        <p:nvSpPr>
          <p:cNvPr id="3" name="Content Placeholder 2"/>
          <p:cNvSpPr>
            <a:spLocks noGrp="1"/>
          </p:cNvSpPr>
          <p:nvPr>
            <p:ph idx="1" sz="half"/>
          </p:nvPr>
        </p:nvSpPr>
        <p:spPr/>
        <p:txBody>
          <a:bodyPr/>
          <a:lstStyle/>
          <a:p>
            <a:pPr lvl="0" indent="0" marL="0">
              <a:buNone/>
            </a:pPr>
            <a:r>
              <a:rPr/>
              <a:t>The paired design does not just give a smaller p-value. It changes the </a:t>
            </a:r>
            <a:r>
              <a:rPr b="1"/>
              <a:t>whole economics of the study.</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diffs &lt;- p_wide_df</a:t>
            </a:r>
            <a:r>
              <a:rPr>
                <a:solidFill>
                  <a:srgbClr val="5E5E5E"/>
                </a:solidFill>
                <a:latin typeface="Courier"/>
              </a:rPr>
              <a:t>$</a:t>
            </a:r>
            <a:r>
              <a:rPr>
                <a:solidFill>
                  <a:srgbClr val="003B4F"/>
                </a:solidFill>
                <a:latin typeface="Courier"/>
              </a:rPr>
              <a:t>shady </a:t>
            </a:r>
            <a:r>
              <a:rPr>
                <a:solidFill>
                  <a:srgbClr val="5E5E5E"/>
                </a:solidFill>
                <a:latin typeface="Courier"/>
              </a:rPr>
              <a:t>-</a:t>
            </a:r>
            <a:r>
              <a:rPr>
                <a:solidFill>
                  <a:srgbClr val="003B4F"/>
                </a:solidFill>
                <a:latin typeface="Courier"/>
              </a:rPr>
              <a:t> p_wide_df</a:t>
            </a:r>
            <a:r>
              <a:rPr>
                <a:solidFill>
                  <a:srgbClr val="5E5E5E"/>
                </a:solidFill>
                <a:latin typeface="Courier"/>
              </a:rPr>
              <a:t>$</a:t>
            </a:r>
            <a:r>
              <a:rPr>
                <a:solidFill>
                  <a:srgbClr val="003B4F"/>
                </a:solidFill>
                <a:latin typeface="Courier"/>
              </a:rPr>
              <a:t>sunny</a:t>
            </a:r>
            <a:br/>
            <a:r>
              <a:rPr>
                <a:solidFill>
                  <a:srgbClr val="003B4F"/>
                </a:solidFill>
                <a:latin typeface="Courier"/>
              </a:rPr>
              <a:t>dz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(diffs)) </a:t>
            </a:r>
            <a:r>
              <a:rPr>
                <a:solidFill>
                  <a:srgbClr val="5E5E5E"/>
                </a:solidFill>
                <a:latin typeface="Courier"/>
              </a:rPr>
              <a:t>/</a:t>
            </a:r>
            <a:r>
              <a:rPr>
                <a:solidFill>
                  <a:srgbClr val="003B4F"/>
                </a:solidFill>
                <a:latin typeface="Courier"/>
              </a:rPr>
              <a:t> </a:t>
            </a:r>
            <a:r>
              <a:rPr>
                <a:solidFill>
                  <a:srgbClr val="4758AB"/>
                </a:solidFill>
                <a:latin typeface="Courier"/>
              </a:rPr>
              <a:t>sd</a:t>
            </a:r>
            <a:r>
              <a:rPr>
                <a:solidFill>
                  <a:srgbClr val="003B4F"/>
                </a:solidFill>
                <a:latin typeface="Courier"/>
              </a:rPr>
              <a:t>(diffs)      </a:t>
            </a:r>
            <a:r>
              <a:rPr>
                <a:solidFill>
                  <a:srgbClr val="5E5E5E"/>
                </a:solidFill>
                <a:latin typeface="Courier"/>
              </a:rPr>
              <a:t># effect size for the DIFFERENCES</a:t>
            </a:r>
            <a:br/>
            <a:br/>
            <a:r>
              <a:rPr>
                <a:solidFill>
                  <a:srgbClr val="4758AB"/>
                </a:solidFill>
                <a:latin typeface="Courier"/>
              </a:rPr>
              <a:t>cat</a:t>
            </a:r>
            <a:r>
              <a:rPr>
                <a:solidFill>
                  <a:srgbClr val="003B4F"/>
                </a:solidFill>
                <a:latin typeface="Courier"/>
              </a:rPr>
              <a:t>(</a:t>
            </a:r>
            <a:r>
              <a:rPr>
                <a:solidFill>
                  <a:srgbClr val="20794D"/>
                </a:solidFill>
                <a:latin typeface="Courier"/>
              </a:rPr>
              <a:t>"Differences:"</a:t>
            </a:r>
            <a:r>
              <a:rPr>
                <a:solidFill>
                  <a:srgbClr val="003B4F"/>
                </a:solidFill>
                <a:latin typeface="Courier"/>
              </a:rPr>
              <a:t>, </a:t>
            </a:r>
            <a:r>
              <a:rPr>
                <a:solidFill>
                  <a:srgbClr val="4758AB"/>
                </a:solidFill>
                <a:latin typeface="Courier"/>
              </a:rPr>
              <a:t>round</a:t>
            </a:r>
            <a:r>
              <a:rPr>
                <a:solidFill>
                  <a:srgbClr val="003B4F"/>
                </a:solidFill>
                <a:latin typeface="Courier"/>
              </a:rPr>
              <a:t>(diffs,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Differences: -1.16 -0.15 -0.97 -2.1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dz ="</a:t>
            </a:r>
            <a:r>
              <a:rPr>
                <a:solidFill>
                  <a:srgbClr val="003B4F"/>
                </a:solidFill>
                <a:latin typeface="Courier"/>
              </a:rPr>
              <a:t>, </a:t>
            </a:r>
            <a:r>
              <a:rPr>
                <a:solidFill>
                  <a:srgbClr val="4758AB"/>
                </a:solidFill>
                <a:latin typeface="Courier"/>
              </a:rPr>
              <a:t>round</a:t>
            </a:r>
            <a:r>
              <a:rPr>
                <a:solidFill>
                  <a:srgbClr val="003B4F"/>
                </a:solidFill>
                <a:latin typeface="Courier"/>
              </a:rPr>
              <a:t>(dz,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dz = 1.36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"Paired power at n = 4:"</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Paired power at n = 4: 0.464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"Trees needed for 80% power, paired:"</a:t>
            </a:r>
            <a:r>
              <a:rPr>
                <a:solidFill>
                  <a:srgbClr val="003B4F"/>
                </a:solidFill>
                <a:latin typeface="Courier"/>
              </a:rPr>
              <a:t>,</a:t>
            </a:r>
            <a:br/>
            <a:r>
              <a:rPr>
                <a:solidFill>
                  <a:srgbClr val="003B4F"/>
                </a:solidFill>
                <a:latin typeface="Courier"/>
              </a:rPr>
              <a:t>    </a:t>
            </a:r>
            <a:r>
              <a:rPr>
                <a:solidFill>
                  <a:srgbClr val="4758AB"/>
                </a:solidFill>
                <a:latin typeface="Courier"/>
              </a:rPr>
              <a:t>ceiling</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needed for 80% power, paired: 7 </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b="1"/>
                        <a:t>44 per side</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b="1"/>
                        <a:t>7 total</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is the probability of detecting a true effect — of rejecting the null hypothesis when it really is false. Power of 80% means an 80% chance of finding a difference of a given size, </a:t>
            </a:r>
            <a:r>
              <a:rPr b="1"/>
              <a:t>if that difference is actually there.</a:t>
            </a:r>
          </a:p>
          <a:p>
            <a:pPr lvl="0" indent="0" marL="0">
              <a:buNone/>
            </a:pPr>
            <a:r>
              <a:rPr/>
              <a:t>A power analysis is typically done for one of these purposes:</a:t>
            </a:r>
          </a:p>
          <a:p>
            <a:pPr lvl="0" indent="-342900" marL="342900">
              <a:buAutoNum type="arabicPeriod"/>
            </a:pPr>
            <a:r>
              <a:rPr b="1"/>
              <a:t>Before data collection</a:t>
            </a:r>
            <a:r>
              <a:rPr/>
              <a:t>, to determine required sample size — by far the most useful</a:t>
            </a:r>
          </a:p>
          <a:p>
            <a:pPr lvl="0" indent="-342900" marL="342900">
              <a:buAutoNum type="arabicPeriod"/>
            </a:pPr>
            <a:r>
              <a:rPr/>
              <a:t>After a study, to evaluate whether the sample size was adequate</a:t>
            </a:r>
          </a:p>
          <a:p>
            <a:pPr lvl="0" indent="-342900" marL="342900">
              <a:buAutoNum type="arabicPeriod"/>
            </a:pPr>
            <a:r>
              <a:rPr/>
              <a:t>To determine the minimum detectable effect size with the sample you have</a:t>
            </a:r>
          </a:p>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Our unpaired pine analysis has 11%, and our paired analysis 46% — both below it. This is a </a:t>
            </a:r>
            <a:r>
              <a:rPr sz="2000" i="1"/>
              <a:t>pilot study</a:t>
            </a:r>
            <a:r>
              <a:rPr sz="2000"/>
              <a:t>: enough to estimate an effect size and plan a real one, not enough to settle the question.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 which is exactly what we just did — is a known trap. It is fine for what we used it for: </a:t>
            </a:r>
            <a:r>
              <a:rPr sz="2000" b="1"/>
              <a:t>planning the next study</a:t>
            </a:r>
            <a:r>
              <a:rPr sz="2000"/>
              <a:t>.</a:t>
            </a:r>
          </a:p>
          <a:p>
            <a:pPr lvl="0" indent="0" marL="1270000">
              <a:buNone/>
            </a:pPr>
            <a:r>
              <a:rPr sz="2000"/>
              <a:t>It is </a:t>
            </a:r>
            <a:r>
              <a:rPr sz="2000" b="1"/>
              <a:t>not</a:t>
            </a:r>
            <a:r>
              <a:rPr sz="2000"/>
              <a:t> a valid way to explain away a non-significant result, because observed power is just a re-expression of the p-value. If someone reports “our result was non-significant but we had low power,” they have said the same thing twice.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power-and-error-08-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Analysed as 64 independent needles it would look like a large, well-powered study. Analysed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pic>
        <p:nvPicPr>
          <p:cNvPr descr="power_and_error_lecture_files/figure-pptx/power-and-error-09-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pine needle datasets.</dc:description>
  <dcterms:created xsi:type="dcterms:W3CDTF">2026-09-15T02:08:14Z</dcterms:created>
  <dcterms:modified xsi:type="dcterms:W3CDTF">2026-09-15T02:08:14Z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