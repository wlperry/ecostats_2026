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data/horned_lizards.csv" TargetMode="External" /><Relationship Id="rId4" Type="http://schemas.openxmlformats.org/officeDocument/2006/relationships/hyperlink" Target="data/08_power_and_error.R"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Two ways to be wrong: Type I &amp; Type II error</a:t>
            </a:r>
          </a:p>
          <a:p>
            <a:pPr lvl="0" indent="-342900" marL="342900">
              <a:buAutoNum type="arabicPeriod"/>
            </a:pPr>
            <a:r>
              <a:rPr sz="2000"/>
              <a:t>Statistical power, and what changes it</a:t>
            </a:r>
          </a:p>
          <a:p>
            <a:pPr lvl="0" indent="-342900" marL="342900">
              <a:buAutoNum type="arabicPeriod"/>
            </a:pPr>
            <a:r>
              <a:rPr sz="2000"/>
              <a:t>Power calculated two ways — </a:t>
            </a:r>
            <a:r>
              <a:rPr sz="2000" b="1"/>
              <a:t>a priori</a:t>
            </a:r>
            <a:r>
              <a:rPr sz="2000"/>
              <a:t> (before data collection) and </a:t>
            </a:r>
            <a:r>
              <a:rPr sz="2000" b="1"/>
              <a:t>retrospectively</a:t>
            </a:r>
          </a:p>
          <a:p>
            <a:pPr lvl="0" indent="-342900" marL="342900">
              <a:buAutoNum type="arabicPeriod"/>
            </a:pPr>
            <a:r>
              <a:rPr sz="2000"/>
              <a:t>The </a:t>
            </a:r>
            <a:r>
              <a:rPr sz="2000">
                <a:latin typeface="Courier"/>
              </a:rPr>
              <a:t>pwr</a:t>
            </a:r>
            <a:r>
              <a:rPr sz="2000"/>
              <a:t> package, and why it beats a hand-rolled workaround for unequal group sizes</a:t>
            </a:r>
          </a:p>
          <a:p>
            <a:pPr lvl="0" indent="-342900" marL="342900">
              <a:buAutoNum type="arabicPeriod"/>
            </a:pPr>
            <a:r>
              <a:rPr sz="2000"/>
              <a:t>Error bars and pseudoreplication, revisited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Two Ways to Be Wrong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Decision Table</a:t>
            </a:r>
          </a:p>
        </p:txBody>
      </p:sp>
      <p:sp>
        <p:nvSpPr>
          <p:cNvPr id="3" name="Text Placeholder 2"/>
          <p:cNvSpPr>
            <a:spLocks noGrp="1"/>
          </p:cNvSpPr>
          <p:nvPr>
            <p:ph idx="1" type="body"/>
          </p:nvPr>
        </p:nvSpPr>
        <p:spPr/>
        <p:txBody>
          <a:bodyPr/>
          <a:lstStyle/>
          <a:p>
            <a:pPr lvl="0" indent="0" marL="0">
              <a:buNone/>
            </a:pPr>
            <a:r>
              <a:rPr/>
              <a:t>Even a well-run study can reach the wrong conclusion. Crossing the </a:t>
            </a:r>
            <a:r>
              <a:rPr i="1"/>
              <a:t>statistical decision</a:t>
            </a:r>
            <a:r>
              <a:rPr/>
              <a:t> against the </a:t>
            </a:r>
            <a:r>
              <a:rPr i="1"/>
              <a:t>unknown truth</a:t>
            </a:r>
            <a:r>
              <a:rPr/>
              <a:t> gives exactly four outcomes: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155700"/>
                <a:gridCol w="1638300"/>
                <a:gridCol w="1638300"/>
              </a:tblGrid>
              <a:tr h="0">
                <a:tc>
                  <a:txBody>
                    <a:bodyPr/>
                    <a:lstStyle/>
                    <a:p>
                      <a:endParaRPr/>
                    </a:p>
                  </a:txBody>
                  <a:tcPr/>
                </a:tc>
                <a:tc>
                  <a:txBody>
                    <a:bodyPr/>
                    <a:lstStyle/>
                    <a:p>
                      <a:pPr lvl="0" indent="0" marL="0">
                        <a:buNone/>
                      </a:pPr>
                      <a:r>
                        <a:rPr/>
                        <a:t>H₀ actually true (no real effect)</a:t>
                      </a:r>
                    </a:p>
                  </a:txBody>
                  <a:tcPr/>
                </a:tc>
                <a:tc>
                  <a:txBody>
                    <a:bodyPr/>
                    <a:lstStyle/>
                    <a:p>
                      <a:pPr lvl="0" indent="0" marL="0">
                        <a:buNone/>
                      </a:pPr>
                      <a:r>
                        <a:rPr/>
                        <a:t>H₀ actually false (real effect)</a:t>
                      </a:r>
                    </a:p>
                  </a:txBody>
                  <a:tcPr/>
                </a:tc>
              </a:tr>
              <a:tr h="0">
                <a:tc>
                  <a:txBody>
                    <a:bodyPr/>
                    <a:lstStyle/>
                    <a:p>
                      <a:pPr lvl="0" indent="0" marL="0">
                        <a:buNone/>
                      </a:pPr>
                      <a:r>
                        <a:rPr b="1"/>
                        <a:t>Reject H₀</a:t>
                      </a:r>
                    </a:p>
                  </a:txBody>
                </a:tc>
                <a:tc>
                  <a:txBody>
                    <a:bodyPr/>
                    <a:lstStyle/>
                    <a:p>
                      <a:pPr lvl="0" indent="0" marL="0">
                        <a:buNone/>
                      </a:pPr>
                      <a:r>
                        <a:rPr/>
                        <a:t>Type I error — rate </a:t>
                      </a:r>
                      <a:r>
                        <a:rPr b="1"/>
                        <a:t>α</a:t>
                      </a:r>
                    </a:p>
                  </a:txBody>
                </a:tc>
                <a:tc>
                  <a:txBody>
                    <a:bodyPr/>
                    <a:lstStyle/>
                    <a:p>
                      <a:pPr lvl="0" indent="0" marL="0">
                        <a:buNone/>
                      </a:pPr>
                      <a:r>
                        <a:rPr/>
                        <a:t>Correct decision</a:t>
                      </a:r>
                    </a:p>
                  </a:txBody>
                </a:tc>
              </a:tr>
              <a:tr h="0">
                <a:tc>
                  <a:txBody>
                    <a:bodyPr/>
                    <a:lstStyle/>
                    <a:p>
                      <a:pPr lvl="0" indent="0" marL="0">
                        <a:buNone/>
                      </a:pPr>
                      <a:r>
                        <a:rPr b="1"/>
                        <a:t>Fail to reject H₀</a:t>
                      </a:r>
                    </a:p>
                  </a:txBody>
                </a:tc>
                <a:tc>
                  <a:txBody>
                    <a:bodyPr/>
                    <a:lstStyle/>
                    <a:p>
                      <a:pPr lvl="0" indent="0" marL="0">
                        <a:buNone/>
                      </a:pPr>
                      <a:r>
                        <a:rPr/>
                        <a:t>Correct decision</a:t>
                      </a:r>
                    </a:p>
                  </a:txBody>
                </a:tc>
                <a:tc>
                  <a:txBody>
                    <a:bodyPr/>
                    <a:lstStyle/>
                    <a:p>
                      <a:pPr lvl="0" indent="0" marL="0">
                        <a:buNone/>
                      </a:pPr>
                      <a:r>
                        <a:rPr/>
                        <a:t>Type II error — rate </a:t>
                      </a:r>
                      <a:r>
                        <a:rPr b="1"/>
                        <a:t>β</a:t>
                      </a:r>
                    </a:p>
                  </a:txBody>
                </a:tc>
              </a:tr>
            </a:tbl>
          </a:graphicData>
        </a:graphic>
      </p:graphicFrame>
      <p:sp>
        <p:nvSpPr>
          <p:cNvPr id="4" name="Content Placeholder 3"/>
          <p:cNvSpPr>
            <a:spLocks noGrp="1"/>
          </p:cNvSpPr>
          <p:nvPr>
            <p:ph idx="2" sz="half"/>
          </p:nvPr>
        </p:nvSpPr>
        <p:spPr/>
        <p:txBody>
          <a:bodyPr/>
          <a:lstStyle/>
          <a:p>
            <a:pPr lvl="0"/>
            <a:r>
              <a:rPr b="1"/>
              <a:t>Type I error (α):</a:t>
            </a:r>
            <a:r>
              <a:rPr/>
              <a:t> you found an effect that isn’t real — a false positive</a:t>
            </a:r>
          </a:p>
          <a:p>
            <a:pPr lvl="0"/>
            <a:r>
              <a:rPr b="1"/>
              <a:t>Type II error (β):</a:t>
            </a:r>
            <a:r>
              <a:rPr/>
              <a:t> you missed an effect that is real — a false negative</a:t>
            </a:r>
          </a:p>
          <a:p>
            <a:pPr lvl="0"/>
            <a:r>
              <a:rPr b="1"/>
              <a:t>Power = 1 − β:</a:t>
            </a:r>
            <a:r>
              <a:rPr/>
              <a:t> the probability of correctly rejecting a false H₀</a:t>
            </a:r>
          </a:p>
          <a:p>
            <a:pPr lvl="0"/>
            <a:r>
              <a:rPr/>
              <a:t>α is set </a:t>
            </a:r>
            <a:r>
              <a:rPr b="1"/>
              <a:t>before</a:t>
            </a:r>
            <a:r>
              <a:rPr/>
              <a:t> data collection — it is a policy about acceptable false-positive risk, not something read off a p-value afterward</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 covers the decision table and both error types. Whitlock &amp; Schluter, </a:t>
            </a:r>
            <a:r>
              <a:rPr sz="2000" i="1"/>
              <a:t>Analysis of Biological Data</a:t>
            </a:r>
            <a:r>
              <a:rPr sz="2000"/>
              <a:t>, Ch. 6 — Hypothesis Testing, is the same material from the other textbook.</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Which type of error, if any?</a:t>
            </a:r>
          </a:p>
          <a:p>
            <a:pPr lvl="0" indent="-342900" marL="342900">
              <a:buAutoNum type="arabicPeriod"/>
            </a:pPr>
            <a:r>
              <a:rPr sz="2000"/>
              <a:t>A study concludes sunny-side pine needles are longer, when really there is no difference.</a:t>
            </a:r>
          </a:p>
          <a:p>
            <a:pPr lvl="0" indent="-342900" marL="342900">
              <a:buAutoNum type="arabicPeriod"/>
            </a:pPr>
            <a:r>
              <a:rPr sz="2000"/>
              <a:t>A study fails to detect a real horn-length difference between surviving and predated lizards, and concludes there is none.</a:t>
            </a:r>
          </a:p>
          <a:p>
            <a:pPr lvl="0" indent="-342900" marL="342900">
              <a:buAutoNum type="arabicPeriod"/>
            </a:pPr>
            <a:r>
              <a:rPr sz="2000"/>
              <a:t>A study correctly detects that predated lizards have shorter horns.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Seeing α and β</a:t>
            </a:r>
          </a:p>
        </p:txBody>
      </p:sp>
      <p:sp>
        <p:nvSpPr>
          <p:cNvPr id="3" name="Content Placeholder 2"/>
          <p:cNvSpPr>
            <a:spLocks noGrp="1"/>
          </p:cNvSpPr>
          <p:nvPr>
            <p:ph idx="1" sz="half"/>
          </p:nvPr>
        </p:nvSpPr>
        <p:spPr/>
        <p:txBody>
          <a:bodyPr/>
          <a:lstStyle/>
          <a:p>
            <a:pPr lvl="0"/>
            <a:r>
              <a:rPr b="1"/>
              <a:t>Black curve</a:t>
            </a:r>
            <a:r>
              <a:rPr/>
              <a:t> — distribution of the test statistic </a:t>
            </a:r>
            <a:r>
              <a:rPr i="1"/>
              <a:t>if H₀ is true</a:t>
            </a:r>
          </a:p>
          <a:p>
            <a:pPr lvl="0"/>
            <a:r>
              <a:rPr b="1"/>
              <a:t>Green curve</a:t>
            </a:r>
            <a:r>
              <a:rPr/>
              <a:t> — distribution </a:t>
            </a:r>
            <a:r>
              <a:rPr i="1"/>
              <a:t>if Hₐ is true</a:t>
            </a:r>
            <a:r>
              <a:rPr/>
              <a:t>, shifted by an assumed effect size</a:t>
            </a:r>
          </a:p>
          <a:p>
            <a:pPr lvl="0"/>
            <a:r>
              <a:rPr b="1"/>
              <a:t>Red areas (α/2 each)</a:t>
            </a:r>
            <a:r>
              <a:rPr/>
              <a:t> — both tails of the null curve beyond the critical values: Type I error, α total</a:t>
            </a:r>
          </a:p>
          <a:p>
            <a:pPr lvl="0"/>
            <a:r>
              <a:rPr b="1"/>
              <a:t>Blue area (β)</a:t>
            </a:r>
            <a:r>
              <a:rPr/>
              <a:t> — alternative curve between the critical values: Type II error</a:t>
            </a:r>
          </a:p>
          <a:p>
            <a:pPr lvl="0"/>
            <a:r>
              <a:rPr b="1"/>
              <a:t>Power (1 − β)</a:t>
            </a:r>
            <a:r>
              <a:rPr/>
              <a:t> — the rest of the green curve, beyond the critical value</a:t>
            </a:r>
          </a:p>
          <a:p>
            <a:pPr lvl="0" indent="0" marL="0">
              <a:buNone/>
            </a:pPr>
            <a:r>
              <a:rPr/>
              <a:t>You live on only </a:t>
            </a:r>
            <a:r>
              <a:rPr b="1"/>
              <a:t>one</a:t>
            </a:r>
            <a:r>
              <a:rPr/>
              <a:t> curve — you just don’t know which. α comes from the black curve and β from the green one, so α + β need not equal 1.</a:t>
            </a:r>
          </a:p>
          <a:p>
            <a:pPr lvl="0" indent="0" marL="0">
              <a:buNone/>
            </a:pPr>
            <a:r>
              <a:rPr/>
              <a:t>Moving the critical values trades one error for the other. For a fixed sample size, </a:t>
            </a:r>
            <a:r>
              <a:rPr b="1"/>
              <a:t>you cannot shrink both at once.</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955800"/>
            <a:ext cx="2781300" cy="1892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Statistical Power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 and What Moves It</a:t>
            </a:r>
          </a:p>
        </p:txBody>
      </p:sp>
      <p:sp>
        <p:nvSpPr>
          <p:cNvPr id="3" name="Content Placeholder 2"/>
          <p:cNvSpPr>
            <a:spLocks noGrp="1"/>
          </p:cNvSpPr>
          <p:nvPr>
            <p:ph idx="1" sz="half"/>
          </p:nvPr>
        </p:nvSpPr>
        <p:spPr/>
        <p:txBody>
          <a:bodyPr/>
          <a:lstStyle/>
          <a:p>
            <a:pPr lvl="0" indent="0" marL="0">
              <a:buNone/>
            </a:pPr>
            <a:r>
              <a:rPr b="1"/>
              <a:t>Statistical power</a:t>
            </a:r>
            <a:r>
              <a:rPr/>
              <a:t> is the probability of detecting a true effect — of rejecting H₀ when it really is false. 80% power means an 80% chance of finding a real effect of a given size.</a:t>
            </a:r>
          </a:p>
          <a:p>
            <a:pPr lvl="0" indent="0" marL="0">
              <a:buNone/>
            </a:pPr>
            <a:r>
              <a:rPr/>
              <a:t>Power increases with:</a:t>
            </a:r>
          </a:p>
          <a:p>
            <a:pPr lvl="0"/>
            <a:r>
              <a:rPr b="1"/>
              <a:t>Larger sample size (n)</a:t>
            </a:r>
          </a:p>
          <a:p>
            <a:pPr lvl="0"/>
            <a:r>
              <a:rPr b="1"/>
              <a:t>Larger effect size</a:t>
            </a:r>
            <a:r>
              <a:rPr/>
              <a:t> — a bigger true difference</a:t>
            </a:r>
          </a:p>
          <a:p>
            <a:pPr lvl="0"/>
            <a:r>
              <a:rPr b="1"/>
              <a:t>Lower variability</a:t>
            </a:r>
            <a:r>
              <a:rPr/>
              <a:t> in the data</a:t>
            </a:r>
          </a:p>
          <a:p>
            <a:pPr lvl="0"/>
            <a:r>
              <a:rPr b="1"/>
              <a:t>Higher α</a:t>
            </a:r>
            <a:r>
              <a:rPr/>
              <a:t> — a more lenient significance threshold</a:t>
            </a:r>
          </a:p>
          <a:p>
            <a:pPr lvl="0" indent="0" marL="0">
              <a:buNone/>
            </a:pPr>
            <a:r>
              <a:rPr/>
              <a:t>A power analysis is typically run for one of three purposes:</a:t>
            </a:r>
          </a:p>
          <a:p>
            <a:pPr lvl="0" indent="-342900" marL="342900">
              <a:buAutoNum type="arabicPeriod"/>
            </a:pPr>
            <a:r>
              <a:rPr b="1"/>
              <a:t>Before data collection</a:t>
            </a:r>
            <a:r>
              <a:rPr/>
              <a:t>, to determine the sample size a study needs — by far the most useful</a:t>
            </a:r>
          </a:p>
          <a:p>
            <a:pPr lvl="0" indent="-342900" marL="342900">
              <a:buAutoNum type="arabicPeriod"/>
            </a:pPr>
            <a:r>
              <a:rPr b="1"/>
              <a:t>After a study</a:t>
            </a:r>
            <a:r>
              <a:rPr/>
              <a:t>, to evaluate whether its sample size was adequate</a:t>
            </a:r>
          </a:p>
          <a:p>
            <a:pPr lvl="0" indent="-342900" marL="342900">
              <a:buAutoNum type="arabicPeriod"/>
            </a:pPr>
            <a:r>
              <a:rPr/>
              <a:t>To find the minimum effect size a given sample could realistically detect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Everything in this lecture asks: for a given effect, n, and α, what is 1 − β?</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Effect Size, Recap</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Cohen’s d, and Cohen’s Own Benchmarks</a:t>
            </a:r>
          </a:p>
        </p:txBody>
      </p:sp>
      <p:sp>
        <p:nvSpPr>
          <p:cNvPr id="3" name="Content Placeholder 2"/>
          <p:cNvSpPr>
            <a:spLocks noGrp="1"/>
          </p:cNvSpPr>
          <p:nvPr>
            <p:ph idx="1" sz="half"/>
          </p:nvPr>
        </p:nvSpPr>
        <p:spPr/>
        <p:txBody>
          <a:bodyPr/>
          <a:lstStyle/>
          <a:p>
            <a:pPr lvl="0" indent="0" marL="0">
              <a:buNone/>
            </a:pPr>
            <a:r>
              <a:rPr/>
              <a:t>You met </a:t>
            </a:r>
            <a:r>
              <a:rPr b="1"/>
              <a:t>Cohen’s d</a:t>
            </a:r>
            <a:r>
              <a:rPr/>
              <a:t> in the Non-Parametric worksheet: the difference between means, divided by the pooled standard deviation. It is unitless, so it is comparable across studies — and it is exactly what </a:t>
            </a:r>
            <a:r>
              <a:rPr>
                <a:latin typeface="Courier"/>
              </a:rPr>
              <a:t>pwr</a:t>
            </a:r>
            <a:r>
              <a:rPr/>
              <a:t> and </a:t>
            </a:r>
            <a:r>
              <a:rPr>
                <a:latin typeface="Courier"/>
              </a:rPr>
              <a:t>power.t.test()</a:t>
            </a:r>
            <a:r>
              <a:rPr/>
              <a:t>-style functions want as input.</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"small"</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0.2</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"medium"</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0.5</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"large"</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0.8</a:t>
            </a:r>
          </a:p>
          <a:p>
            <a:pPr lvl="0" indent="0" marL="0">
              <a:buNone/>
            </a:pPr>
            <a:r>
              <a:rPr/>
              <a:t>Jacob Cohen himself proposed these as rough, field-general benchmarks — not a substitute for a real pilot estimate when you have one.</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Size</a:t>
                      </a:r>
                    </a:p>
                  </a:txBody>
                  <a:tcPr/>
                </a:tc>
                <a:tc>
                  <a:txBody>
                    <a:bodyPr/>
                    <a:lstStyle/>
                    <a:p>
                      <a:pPr lvl="0" indent="0" marL="0">
                        <a:buNone/>
                      </a:pPr>
                      <a:r>
                        <a:rPr/>
                        <a:t>d</a:t>
                      </a:r>
                    </a:p>
                  </a:txBody>
                  <a:tcPr/>
                </a:tc>
              </a:tr>
              <a:tr h="0">
                <a:tc>
                  <a:txBody>
                    <a:bodyPr/>
                    <a:lstStyle/>
                    <a:p>
                      <a:pPr lvl="0" indent="0" marL="0">
                        <a:buNone/>
                      </a:pPr>
                      <a:r>
                        <a:rPr/>
                        <a:t>Small</a:t>
                      </a:r>
                    </a:p>
                  </a:txBody>
                </a:tc>
                <a:tc>
                  <a:txBody>
                    <a:bodyPr/>
                    <a:lstStyle/>
                    <a:p>
                      <a:pPr lvl="0" indent="0" marL="0">
                        <a:buNone/>
                      </a:pPr>
                      <a:r>
                        <a:rPr/>
                        <a:t>0.2</a:t>
                      </a:r>
                    </a:p>
                  </a:txBody>
                </a:tc>
              </a:tr>
              <a:tr h="0">
                <a:tc>
                  <a:txBody>
                    <a:bodyPr/>
                    <a:lstStyle/>
                    <a:p>
                      <a:pPr lvl="0" indent="0" marL="0">
                        <a:buNone/>
                      </a:pPr>
                      <a:r>
                        <a:rPr/>
                        <a:t>Medium</a:t>
                      </a:r>
                    </a:p>
                  </a:txBody>
                </a:tc>
                <a:tc>
                  <a:txBody>
                    <a:bodyPr/>
                    <a:lstStyle/>
                    <a:p>
                      <a:pPr lvl="0" indent="0" marL="0">
                        <a:buNone/>
                      </a:pPr>
                      <a:r>
                        <a:rPr/>
                        <a:t>0.5</a:t>
                      </a:r>
                    </a:p>
                  </a:txBody>
                </a:tc>
              </a:tr>
              <a:tr h="0">
                <a:tc>
                  <a:txBody>
                    <a:bodyPr/>
                    <a:lstStyle/>
                    <a:p>
                      <a:pPr lvl="0" indent="0" marL="0">
                        <a:buNone/>
                      </a:pPr>
                      <a:r>
                        <a:rPr/>
                        <a:t>Large</a:t>
                      </a:r>
                    </a:p>
                  </a:txBody>
                </a:tc>
                <a:tc>
                  <a:txBody>
                    <a:bodyPr/>
                    <a:lstStyle/>
                    <a:p>
                      <a:pPr lvl="0" indent="0" marL="0">
                        <a:buNone/>
                      </a:pPr>
                      <a:r>
                        <a:rPr/>
                        <a:t>0.8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Seeing Power: Two Real Datasets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Low Power and High Power, Side by Side</a:t>
            </a:r>
          </a:p>
        </p:txBody>
      </p:sp>
      <p:sp>
        <p:nvSpPr>
          <p:cNvPr id="3" name="Content Placeholder 2"/>
          <p:cNvSpPr>
            <a:spLocks noGrp="1"/>
          </p:cNvSpPr>
          <p:nvPr>
            <p:ph idx="1" sz="half"/>
          </p:nvPr>
        </p:nvSpPr>
        <p:spPr/>
        <p:txBody>
          <a:bodyPr/>
          <a:lstStyle/>
          <a:p>
            <a:pPr lvl="0" indent="0" marL="0">
              <a:buNone/>
            </a:pPr>
            <a:r>
              <a:rPr/>
              <a:t>Two two-sample comparisons, two very different amounts of power:</a:t>
            </a:r>
          </a:p>
          <a:p>
            <a:pPr lvl="0"/>
            <a:r>
              <a:rPr b="1"/>
              <a:t>Pine needles</a:t>
            </a:r>
            <a:r>
              <a:rPr/>
              <a:t> — our own class data, 4 trees per side</a:t>
            </a:r>
          </a:p>
          <a:p>
            <a:pPr lvl="0"/>
            <a:r>
              <a:rPr b="1"/>
              <a:t>Horned lizards</a:t>
            </a:r>
            <a:r>
              <a:rPr/>
              <a:t> — squamosal horn length of lizards that survived shrike predation vs. those that were killed (Young et al., the running example of Whitlock &amp; Schluter Ch. 12 — Comparing Two Means)</a:t>
            </a:r>
          </a:p>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br/>
            <a:br/>
            <a:r>
              <a:rPr>
                <a:solidFill>
                  <a:srgbClr val="003B4F"/>
                </a:solidFill>
                <a:latin typeface="Courier"/>
              </a:rPr>
              <a:t>lizard_df &lt;- </a:t>
            </a:r>
            <a:r>
              <a:rPr>
                <a:solidFill>
                  <a:srgbClr val="4758AB"/>
                </a:solidFill>
                <a:latin typeface="Courier"/>
              </a:rPr>
              <a:t>read_csv</a:t>
            </a:r>
            <a:r>
              <a:rPr>
                <a:solidFill>
                  <a:srgbClr val="003B4F"/>
                </a:solidFill>
                <a:latin typeface="Courier"/>
              </a:rPr>
              <a:t>(</a:t>
            </a:r>
            <a:r>
              <a:rPr>
                <a:solidFill>
                  <a:srgbClr val="20794D"/>
                </a:solidFill>
                <a:latin typeface="Courier"/>
              </a:rPr>
              <a:t>"data/horned_lizards.csv"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(squamosal_horn_length_mm))</a:t>
            </a:r>
            <a:br/>
            <a:br/>
            <a:r>
              <a:rPr>
                <a:solidFill>
                  <a:srgbClr val="003B4F"/>
                </a:solidFill>
                <a:latin typeface="Courier"/>
              </a:rPr>
              <a:t>p_df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(needle_length_mm))</a:t>
            </a:r>
          </a:p>
          <a:p>
            <a:pPr lvl="0" indent="0">
              <a:buNone/>
            </a:pPr>
            <a:r>
              <a:rPr>
                <a:latin typeface="Courier"/>
              </a:rPr>
              <a:t># A tibble: 2 × 7
  side      n  mean    sd    se ci_lower ci_upper
  &lt;chr&gt; &lt;int&gt; &lt;dbl&gt; &lt;dbl&gt; &lt;dbl&gt;    &lt;dbl&gt;    &lt;dbl&gt;
1 shady     4  14.1  2.02 1.01      10.9     17.3
2 sunny     4  15.2  1.57 0.786     12.7     17.7</a:t>
            </a:r>
          </a:p>
          <a:p>
            <a:pPr lvl="0" indent="0">
              <a:buNone/>
            </a:pPr>
            <a:r>
              <a:rPr>
                <a:solidFill>
                  <a:srgbClr val="003B4F"/>
                </a:solidFill>
                <a:latin typeface="Courier"/>
              </a:rPr>
              <a:t>lizard_df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(survival) </a:t>
            </a:r>
            <a:r>
              <a:rPr>
                <a:solidFill>
                  <a:srgbClr val="5E5E5E"/>
                </a:solidFill>
                <a:latin typeface="Courier"/>
              </a:rPr>
              <a:t>%&gt;%</a:t>
            </a:r>
            <a:b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(squamosal_horn_length_mm))</a:t>
            </a:r>
          </a:p>
          <a:p>
            <a:pPr lvl="0" indent="0">
              <a:buNone/>
            </a:pPr>
            <a:r>
              <a:rPr>
                <a:latin typeface="Courier"/>
              </a:rPr>
              <a:t># A tibble: 2 × 7
  survival     n  mean    sd    se ci_lower ci_upper
  &lt;chr&gt;    &lt;int&gt; &lt;dbl&gt; &lt;dbl&gt; &lt;dbl&gt;    &lt;dbl&gt;    &lt;dbl&gt;
1 killed      30  22.0  2.71 0.495     21.0     23.0
2 living     154  24.3  2.63 0.212     23.9     24.7</a:t>
            </a:r>
          </a:p>
          <a:p>
            <a:pPr lvl="0" indent="0" marL="0">
              <a:buNone/>
            </a:pPr>
            <a:r>
              <a:rPr>
                <a:hlinkClick r:id="rId2"/>
              </a:rPr>
              <a:t>📥 Download the pine data</a:t>
            </a:r>
            <a:r>
              <a:rPr/>
              <a:t> </a:t>
            </a:r>
            <a:r>
              <a:rPr>
                <a:hlinkClick r:id="rId3"/>
              </a:rPr>
              <a:t>📥 Download the lizard data</a:t>
            </a:r>
            <a:r>
              <a:rPr/>
              <a:t> </a:t>
            </a:r>
            <a:r>
              <a:rPr>
                <a:hlinkClick r:id="rId4"/>
              </a:rPr>
              <a:t>📥 Script skeleton (.R)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d_unpaired &lt;- </a:t>
            </a:r>
            <a:r>
              <a:rPr>
                <a:solidFill>
                  <a:srgbClr val="4758AB"/>
                </a:solidFill>
                <a:latin typeface="Courier"/>
              </a:rPr>
              <a:t>cohens_d</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p_df)</a:t>
            </a:r>
            <a:br/>
            <a:r>
              <a:rPr>
                <a:solidFill>
                  <a:srgbClr val="003B4F"/>
                </a:solidFill>
                <a:latin typeface="Courier"/>
              </a:rPr>
              <a:t>d_unpaired</a:t>
            </a:r>
          </a:p>
          <a:p>
            <a:pPr lvl="0" indent="0">
              <a:buNone/>
            </a:pPr>
            <a:r>
              <a:rPr>
                <a:latin typeface="Courier"/>
              </a:rPr>
              <a:t>Cohen's d |        95% CI
-------------------------
-0.60     | [-2.01, 0.84]
- Estimated using pooled SD.</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r>
              <a:rPr>
                <a:solidFill>
                  <a:srgbClr val="003B4F"/>
                </a:solidFill>
                <a:latin typeface="Courier"/>
              </a:rPr>
              <a:t>d_paired &lt;- </a:t>
            </a:r>
            <a:r>
              <a:rPr>
                <a:solidFill>
                  <a:srgbClr val="4758AB"/>
                </a:solidFill>
                <a:latin typeface="Courier"/>
              </a:rPr>
              <a:t>cohens_d</a:t>
            </a:r>
            <a:r>
              <a:rPr>
                <a:solidFill>
                  <a:srgbClr val="003B4F"/>
                </a:solidFill>
                <a:latin typeface="Courier"/>
              </a:rPr>
              <a:t>(p_wide_df</a:t>
            </a:r>
            <a:r>
              <a:rPr>
                <a:solidFill>
                  <a:srgbClr val="5E5E5E"/>
                </a:solidFill>
                <a:latin typeface="Courier"/>
              </a:rPr>
              <a:t>$</a:t>
            </a:r>
            <a:r>
              <a:rPr>
                <a:solidFill>
                  <a:srgbClr val="003B4F"/>
                </a:solidFill>
                <a:latin typeface="Courier"/>
              </a:rPr>
              <a:t>shady, p_wide_df</a:t>
            </a:r>
            <a:r>
              <a:rPr>
                <a:solidFill>
                  <a:srgbClr val="5E5E5E"/>
                </a:solidFill>
                <a:latin typeface="Courier"/>
              </a:rPr>
              <a:t>$</a:t>
            </a:r>
            <a:r>
              <a:rPr>
                <a:solidFill>
                  <a:srgbClr val="003B4F"/>
                </a:solidFill>
                <a:latin typeface="Courier"/>
              </a:rPr>
              <a:t>sunny,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d_paired</a:t>
            </a:r>
          </a:p>
          <a:p>
            <a:pPr lvl="0" indent="0">
              <a:buNone/>
            </a:pPr>
            <a:r>
              <a:rPr>
                <a:latin typeface="Courier"/>
              </a:rPr>
              <a:t>Cohen's d |        95% CI
-------------------------
-1.36     | [-2.74, 0.10]</a:t>
            </a:r>
          </a:p>
          <a:p>
            <a:pPr lvl="0" indent="0">
              <a:buNone/>
            </a:pPr>
            <a:r>
              <a:rPr>
                <a:solidFill>
                  <a:srgbClr val="003B4F"/>
                </a:solidFill>
                <a:latin typeface="Courier"/>
              </a:rPr>
              <a:t>d_lizard &lt;- </a:t>
            </a:r>
            <a:r>
              <a:rPr>
                <a:solidFill>
                  <a:srgbClr val="4758AB"/>
                </a:solidFill>
                <a:latin typeface="Courier"/>
              </a:rPr>
              <a:t>cohens_d</a:t>
            </a:r>
            <a:r>
              <a:rPr>
                <a:solidFill>
                  <a:srgbClr val="003B4F"/>
                </a:solidFill>
                <a:latin typeface="Courier"/>
              </a:rPr>
              <a:t>(squamosal_horn_length_mm </a:t>
            </a:r>
            <a:r>
              <a:rPr>
                <a:solidFill>
                  <a:srgbClr val="5E5E5E"/>
                </a:solidFill>
                <a:latin typeface="Courier"/>
              </a:rPr>
              <a:t>~</a:t>
            </a:r>
            <a:r>
              <a:rPr>
                <a:solidFill>
                  <a:srgbClr val="003B4F"/>
                </a:solidFill>
                <a:latin typeface="Courier"/>
              </a:rPr>
              <a:t> survival, </a:t>
            </a:r>
            <a:r>
              <a:rPr>
                <a:solidFill>
                  <a:srgbClr val="657422"/>
                </a:solidFill>
                <a:latin typeface="Courier"/>
              </a:rPr>
              <a:t>data =</a:t>
            </a:r>
            <a:r>
              <a:rPr>
                <a:solidFill>
                  <a:srgbClr val="003B4F"/>
                </a:solidFill>
                <a:latin typeface="Courier"/>
              </a:rPr>
              <a:t> lizard_df)</a:t>
            </a:r>
            <a:br/>
            <a:r>
              <a:rPr>
                <a:solidFill>
                  <a:srgbClr val="003B4F"/>
                </a:solidFill>
                <a:latin typeface="Courier"/>
              </a:rPr>
              <a:t>d_lizard</a:t>
            </a:r>
          </a:p>
          <a:p>
            <a:pPr lvl="0" indent="0">
              <a:buNone/>
            </a:pPr>
            <a:r>
              <a:rPr>
                <a:latin typeface="Courier"/>
              </a:rPr>
              <a:t>Cohen's d |         95% CI
--------------------------
-0.87     | [-1.27, -0.47]
- Estimated using pooled SD.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Comparison</a:t>
            </a:r>
          </a:p>
        </p:txBody>
      </p:sp>
      <p:pic>
        <p:nvPicPr>
          <p:cNvPr descr="power_and_error_lecture_files/figure-pptx/power-and-error-05-1.png" id="0" name="Picture 1"/>
          <p:cNvPicPr>
            <a:picLocks noGrp="1" noChangeAspect="1"/>
          </p:cNvPicPr>
          <p:nvPr/>
        </p:nvPicPr>
        <p:blipFill>
          <a:blip r:embed="rId2"/>
          <a:stretch>
            <a:fillRect/>
          </a:stretch>
        </p:blipFill>
        <p:spPr bwMode="auto">
          <a:xfrm>
            <a:off x="0" y="647700"/>
            <a:ext cx="9080500" cy="38481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Key idea</a:t>
            </a:r>
          </a:p>
          <a:p>
            <a:pPr lvl="0" indent="0" marL="1270000">
              <a:buNone/>
            </a:pPr>
            <a:r>
              <a:rPr sz="2000"/>
              <a:t>Same statistical machinery, same kind of test, wildly different power — because sample size and effect-size-relative-to-noise differ. Nothing about the </a:t>
            </a:r>
            <a:r>
              <a:rPr sz="2000" i="1"/>
              <a:t>pine</a:t>
            </a:r>
            <a:r>
              <a:rPr sz="2000"/>
              <a:t> data is broken; it simply cannot see an effect this size with 4 trees per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A Priori Power: Planning Before You Collect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Question to Ask </a:t>
            </a:r>
            <a:r>
              <a:rPr i="1"/>
              <a:t>Before</a:t>
            </a:r>
            <a:r>
              <a:rPr/>
              <a:t> the Field Season</a:t>
            </a:r>
          </a:p>
        </p:txBody>
      </p:sp>
      <p:sp>
        <p:nvSpPr>
          <p:cNvPr id="3" name="Content Placeholder 2"/>
          <p:cNvSpPr>
            <a:spLocks noGrp="1"/>
          </p:cNvSpPr>
          <p:nvPr>
            <p:ph idx="1" sz="half"/>
          </p:nvPr>
        </p:nvSpPr>
        <p:spPr/>
        <p:txBody>
          <a:bodyPr/>
          <a:lstStyle/>
          <a:p>
            <a:pPr lvl="0" indent="0" marL="0">
              <a:buNone/>
            </a:pPr>
            <a:r>
              <a:rPr/>
              <a:t>The most useful power analysis happens </a:t>
            </a:r>
            <a:r>
              <a:rPr b="1"/>
              <a:t>before you collect a single data point</a:t>
            </a:r>
            <a:r>
              <a:rPr/>
              <a:t>: guess or borrow an effect size, then ask what sample size would give you 80% power.</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43.89921
              d = 0.6047825
      sig.level = 0.05
          power = 0.8
    alternative = two.sided
NOTE: n is number in *each* group</a:t>
            </a:r>
          </a:p>
          <a:p>
            <a:pPr lvl="0" indent="0" marL="0">
              <a:buNone/>
            </a:pPr>
            <a:r>
              <a:rPr b="1"/>
              <a:t>44 trees per side</a:t>
            </a:r>
            <a:r>
              <a:rPr/>
              <a:t> (always round </a:t>
            </a:r>
            <a:r>
              <a:rPr>
                <a:latin typeface="Courier"/>
              </a:rPr>
              <a:t>n</a:t>
            </a:r>
            <a:r>
              <a:rPr/>
              <a:t> up). We collected 4.</a:t>
            </a:r>
          </a:p>
          <a:p>
            <a:pPr lvl="0" indent="0" marL="0">
              <a:buNone/>
            </a:pPr>
            <a:r>
              <a:rPr/>
              <a:t>And that d came from just 4 trees — its 95% CI (shady − sunny) runs from -2.01 to 0.84, which includes zero. An a priori n is only as good as the effect size you feed it; published values or a conservative guess are often safer than a tiny pilot.</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and Gotelli &amp; Ellison, Ch. 4, both cover planning sample size before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5 · A Priori Power for a Smaller Effect</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The horned lizards gave us a </a:t>
            </a:r>
            <a:r>
              <a:rPr sz="2000" i="1"/>
              <a:t>large</a:t>
            </a:r>
            <a:r>
              <a:rPr sz="2000"/>
              <a:t> effect (d ≈ 0.87). Suppose instead you are planning a </a:t>
            </a:r>
            <a:r>
              <a:rPr sz="2000" b="1"/>
              <a:t>new</a:t>
            </a:r>
            <a:r>
              <a:rPr sz="2000"/>
              <a:t> study where you only expect a </a:t>
            </a:r>
            <a:r>
              <a:rPr sz="2000" i="1"/>
              <a:t>medium</a:t>
            </a:r>
            <a:r>
              <a:rPr sz="2000"/>
              <a:t> effect (d = 0.5, Cohen’s own benchmark). Assuming </a:t>
            </a:r>
            <a:r>
              <a:rPr sz="2000" b="1"/>
              <a:t>equal</a:t>
            </a:r>
            <a:r>
              <a:rPr sz="2000"/>
              <a:t> group sizes, how many lizards per group would you need for 80% power?</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p>
          <a:p>
            <a:pPr lvl="0" indent="0">
              <a:buNone/>
            </a:pPr>
            <a:r>
              <a:rPr sz="2000">
                <a:latin typeface="Courier"/>
              </a:rPr>
              <a:t>
     Two-sample t test power calculation 
              n = 63.76561
              d = 0.5
      sig.level = 0.05
          power = 0.8
    alternative = two.sided
NOTE: n is number in *each* group</a:t>
            </a:r>
          </a:p>
          <a:p>
            <a:pPr lvl="0" indent="0" marL="1270000">
              <a:buNone/>
            </a:pPr>
            <a:r>
              <a:rPr sz="2000"/>
              <a:t>How does that n compare to the 44 trees per side the pine study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The </a:t>
            </a:r>
            <a:r>
              <a:rPr>
                <a:latin typeface="Courier"/>
              </a:rPr>
              <a:t>pwr</a:t>
            </a:r>
            <a:r>
              <a:rPr/>
              <a:t> Package, and Unequal Group Sizes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Your Two Groups Aren’t the Same Size</a:t>
            </a:r>
          </a:p>
        </p:txBody>
      </p:sp>
      <p:sp>
        <p:nvSpPr>
          <p:cNvPr id="3" name="Content Placeholder 2"/>
          <p:cNvSpPr>
            <a:spLocks noGrp="1"/>
          </p:cNvSpPr>
          <p:nvPr>
            <p:ph idx="1" sz="half"/>
          </p:nvPr>
        </p:nvSpPr>
        <p:spPr/>
        <p:txBody>
          <a:bodyPr/>
          <a:lstStyle/>
          <a:p>
            <a:pPr lvl="0" indent="0" marL="0">
              <a:buNone/>
            </a:pPr>
            <a:r>
              <a:rPr>
                <a:latin typeface="Courier"/>
              </a:rPr>
              <a:t>pwr</a:t>
            </a:r>
            <a:r>
              <a:rPr/>
              <a:t> generalizes power analysis beyond the two-sample t-test — </a:t>
            </a:r>
            <a:r>
              <a:rPr>
                <a:latin typeface="Courier"/>
              </a:rPr>
              <a:t>pwr.anova.test()</a:t>
            </a:r>
            <a:r>
              <a:rPr/>
              <a:t>, </a:t>
            </a:r>
            <a:r>
              <a:rPr>
                <a:latin typeface="Courier"/>
              </a:rPr>
              <a:t>pwr.r.test()</a:t>
            </a:r>
            <a:r>
              <a:rPr/>
              <a:t>, and </a:t>
            </a:r>
            <a:r>
              <a:rPr>
                <a:latin typeface="Courier"/>
              </a:rPr>
              <a:t>pwr.chisq.test()</a:t>
            </a:r>
            <a:r>
              <a:rPr/>
              <a:t> cover ANOVA, correlation, and categorical data, all with the same interface, for later units.</a:t>
            </a:r>
          </a:p>
          <a:p>
            <a:pPr lvl="0" indent="0" marL="0">
              <a:buNone/>
            </a:pPr>
            <a:r>
              <a:rPr/>
              <a:t>Right now, the feature we need is </a:t>
            </a:r>
            <a:r>
              <a:rPr>
                <a:latin typeface="Courier"/>
              </a:rPr>
              <a:t>pwr.t2n.test()</a:t>
            </a:r>
            <a:r>
              <a:rPr/>
              <a:t> — it takes the </a:t>
            </a:r>
            <a:r>
              <a:rPr b="1"/>
              <a:t>two actual group sizes</a:t>
            </a:r>
            <a:r>
              <a:rPr/>
              <a:t> directly. No averaging, no workaround:</a:t>
            </a:r>
          </a:p>
          <a:p>
            <a:pPr lvl="0" indent="0">
              <a:buNone/>
            </a:pPr>
            <a:r>
              <a:rPr>
                <a:solidFill>
                  <a:srgbClr val="4758AB"/>
                </a:solidFill>
                <a:latin typeface="Courier"/>
              </a:rPr>
              <a:t>pwr.t2n.test</a:t>
            </a:r>
            <a:r>
              <a:rPr>
                <a:solidFill>
                  <a:srgbClr val="003B4F"/>
                </a:solidFill>
                <a:latin typeface="Courier"/>
              </a:rPr>
              <a:t>(</a:t>
            </a:r>
            <a:br/>
            <a:r>
              <a:rPr>
                <a:solidFill>
                  <a:srgbClr val="003B4F"/>
                </a:solidFill>
                <a:latin typeface="Courier"/>
              </a:rPr>
              <a:t>  </a:t>
            </a:r>
            <a:r>
              <a:rPr>
                <a:solidFill>
                  <a:srgbClr val="657422"/>
                </a:solidFill>
                <a:latin typeface="Courier"/>
              </a:rPr>
              <a:t>n1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"living"</a:t>
            </a:r>
            <a:r>
              <a:rPr>
                <a:solidFill>
                  <a:srgbClr val="003B4F"/>
                </a:solidFill>
                <a:latin typeface="Courier"/>
              </a:rPr>
              <a:t>),</a:t>
            </a:r>
            <a:br/>
            <a:r>
              <a:rPr>
                <a:solidFill>
                  <a:srgbClr val="003B4F"/>
                </a:solidFill>
                <a:latin typeface="Courier"/>
              </a:rPr>
              <a:t>  </a:t>
            </a:r>
            <a:r>
              <a:rPr>
                <a:solidFill>
                  <a:srgbClr val="657422"/>
                </a:solidFill>
                <a:latin typeface="Courier"/>
              </a:rPr>
              <a:t>n2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"killed"</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d_lizard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br/>
            <a:r>
              <a:rPr>
                <a:solidFill>
                  <a:srgbClr val="003B4F"/>
                </a:solidFill>
                <a:latin typeface="Courier"/>
              </a:rPr>
              <a:t>)</a:t>
            </a:r>
          </a:p>
          <a:p>
            <a:pPr lvl="0" indent="0">
              <a:buNone/>
            </a:pPr>
            <a:r>
              <a:rPr>
                <a:latin typeface="Courier"/>
              </a:rPr>
              <a:t>
     t test power calculation 
             n1 = 154
             n2 = 30
              d = 0.8679866
      sig.level = 0.05
          power = 0.9910174
    alternative = two.sided</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old workaround</a:t>
            </a:r>
          </a:p>
          <a:p>
            <a:pPr lvl="0" indent="0" marL="1270000">
              <a:buNone/>
            </a:pPr>
            <a:r>
              <a:rPr sz="2000"/>
              <a:t>Before </a:t>
            </a:r>
            <a:r>
              <a:rPr sz="2000">
                <a:latin typeface="Courier"/>
              </a:rPr>
              <a:t>pwr.t2n.test()</a:t>
            </a:r>
            <a:r>
              <a:rPr sz="2000"/>
              <a:t>, an unbalanced design forced you to fake a single n — usually the </a:t>
            </a:r>
            <a:r>
              <a:rPr sz="2000" b="1"/>
              <a:t>harmonic mean</a:t>
            </a:r>
            <a:r>
              <a:rPr sz="2000"/>
              <a:t> of n₁ and n₂ — and feed that to a function built for equal groups. It is an approximation. </a:t>
            </a:r>
            <a:r>
              <a:rPr sz="2000">
                <a:latin typeface="Courier"/>
              </a:rPr>
              <a:t>pwr.t2n.test()</a:t>
            </a:r>
            <a:r>
              <a:rPr sz="2000"/>
              <a:t> uses both real sample sizes directly and is the better tool whenever n₁ ≠ n₂.</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Retrospective (Post-Hoc) Power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Power From What You Actually Observed</a:t>
            </a:r>
          </a:p>
        </p:txBody>
      </p:sp>
      <p:sp>
        <p:nvSpPr>
          <p:cNvPr id="3" name="Content Placeholder 2"/>
          <p:cNvSpPr>
            <a:spLocks noGrp="1"/>
          </p:cNvSpPr>
          <p:nvPr>
            <p:ph idx="1" sz="half"/>
          </p:nvPr>
        </p:nvSpPr>
        <p:spPr/>
        <p:txBody>
          <a:bodyPr/>
          <a:lstStyle/>
          <a:p>
            <a:pPr lvl="0" indent="0" marL="0">
              <a:buNone/>
            </a:pPr>
            <a:r>
              <a:rPr/>
              <a:t>The other direction: </a:t>
            </a:r>
            <a:r>
              <a:rPr b="1"/>
              <a:t>after</a:t>
            </a:r>
            <a:r>
              <a:rPr/>
              <a:t> a study, ask what power your actual n and observed effect size gave you.</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
              d = 0.6047825
      sig.level = 0.05
          power = 0.112253
    alternative = two.sided
NOTE: n is number in *each* group</a:t>
            </a:r>
          </a:p>
          <a:p>
            <a:pPr lvl="0" indent="0" marL="0">
              <a:buNone/>
            </a:pPr>
            <a:r>
              <a:rPr b="1"/>
              <a:t>11% power.</a:t>
            </a:r>
            <a:r>
              <a:rPr/>
              <a:t> Even if the pine difference is completely real, an unpaired study with 4 trees per side would </a:t>
            </a:r>
            <a:r>
              <a:rPr b="1"/>
              <a:t>miss it about 9 times out of 10.</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is a known trap. It is fine for what we used it for here: </a:t>
            </a:r>
            <a:r>
              <a:rPr sz="2000" b="1"/>
              <a:t>planning the next study.</a:t>
            </a:r>
          </a:p>
          <a:p>
            <a:pPr lvl="0" indent="0" marL="1270000">
              <a:buNone/>
            </a:pPr>
            <a:r>
              <a:rPr sz="2000"/>
              <a:t>It is </a:t>
            </a:r>
            <a:r>
              <a:rPr sz="2000" b="1"/>
              <a:t>not</a:t>
            </a:r>
            <a:r>
              <a:rPr sz="2000"/>
              <a:t> a valid way to explain away a non-significant result — observed power is just a re-expression of the p-value you already have. “Our result was non-significant, but we had low power” says the same thing twice.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6 · Retrospective Power for the Paired Design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You already calculated </a:t>
            </a:r>
            <a:r>
              <a:rPr sz="2000">
                <a:latin typeface="Courier"/>
              </a:rPr>
              <a:t>d_paired</a:t>
            </a:r>
            <a:r>
              <a:rPr sz="2000"/>
              <a:t> in Part 4 (the same four trees, paired instead of unpaired). Compute the retrospective power of the </a:t>
            </a:r>
            <a:r>
              <a:rPr sz="2000" b="1"/>
              <a:t>paired</a:t>
            </a:r>
            <a:r>
              <a:rPr sz="2000"/>
              <a:t> design at n = 4, the same way Part 7 just did for the unpaired one.</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p>
          <a:p>
            <a:pPr lvl="0" indent="0">
              <a:buNone/>
            </a:pPr>
            <a:r>
              <a:rPr sz="2000">
                <a:latin typeface="Courier"/>
              </a:rPr>
              <a:t>
     Paired t test power calculation 
              n = 4
              d = 1.361371
      sig.level = 0.05
          power = 0.4635201
    alternative = two.sided
NOTE: n is number of *pairs*</a:t>
            </a:r>
          </a:p>
          <a:p>
            <a:pPr lvl="0" indent="0" marL="1270000">
              <a:buNone/>
            </a:pPr>
            <a:r>
              <a:rPr sz="2000"/>
              <a:t>How much higher is it than the unpaired 11%?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Pairing Buys You Power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Whole Economics of the Study</a:t>
            </a:r>
          </a:p>
        </p:txBody>
      </p:sp>
      <p:sp>
        <p:nvSpPr>
          <p:cNvPr id="3" name="Content Placeholder 2"/>
          <p:cNvSpPr>
            <a:spLocks noGrp="1"/>
          </p:cNvSpPr>
          <p:nvPr>
            <p:ph idx="1" sz="half"/>
          </p:nvPr>
        </p:nvSpPr>
        <p:spPr/>
        <p:txBody>
          <a:bodyPr/>
          <a:lstStyle/>
          <a:p>
            <a:pPr lvl="0" indent="0" marL="0">
              <a:buNone/>
            </a:pPr>
            <a:r>
              <a:rPr/>
              <a:t>Pairing does not just give a smaller p-value — it changes what the study needed to begin with.</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p>
          <a:p>
            <a:pPr lvl="0" indent="0">
              <a:buNone/>
            </a:pPr>
            <a:r>
              <a:rPr>
                <a:latin typeface="Courier"/>
              </a:rPr>
              <a:t>
     Paired t test power calculation 
              n = 6.406838
              d = 1.361371
      sig.level = 0.05
          power = 0.8
    alternative = two.sided
NOTE: n is number of *pairs*</a:t>
            </a:r>
          </a:p>
          <a:p>
            <a:pPr lvl="0" indent="0" marL="0">
              <a:buNone/>
            </a:pPr>
            <a:r>
              <a:rPr b="1"/>
              <a:t>7 trees, total</a:t>
            </a:r>
            <a:r>
              <a:rPr/>
              <a:t> — for 80% power, paired.</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 power</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a:t>44 per side (88 trees)</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a:t>7 total</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Error Bars, Revisited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SD, SE, and CI Answer Different Questions</a:t>
            </a:r>
          </a:p>
        </p:txBody>
      </p:sp>
      <p:sp>
        <p:nvSpPr>
          <p:cNvPr id="3" name="Content Placeholder 2"/>
          <p:cNvSpPr>
            <a:spLocks noGrp="1"/>
          </p:cNvSpPr>
          <p:nvPr>
            <p:ph idx="1" sz="half"/>
          </p:nvPr>
        </p:nvSpPr>
        <p:spPr/>
        <p:txBody>
          <a:bodyPr/>
          <a:lstStyle/>
          <a:p>
            <a:pPr lvl="0"/>
            <a:r>
              <a:rPr b="1"/>
              <a:t>Standard deviation (SD)</a:t>
            </a:r>
            <a:r>
              <a:rPr/>
              <a:t> — spread of the raw data</a:t>
            </a:r>
          </a:p>
          <a:p>
            <a:pPr lvl="0"/>
            <a:r>
              <a:rPr b="1"/>
              <a:t>Standard error (SE)</a:t>
            </a:r>
            <a:r>
              <a:rPr/>
              <a:t> — precision of the </a:t>
            </a:r>
            <a:r>
              <a:rPr i="1"/>
              <a:t>mean</a:t>
            </a:r>
            <a:r>
              <a:rPr/>
              <a:t>, </a:t>
            </a:r>
            <a:r>
              <a:rPr>
                <a:latin typeface="Courier"/>
              </a:rPr>
              <a:t>SD / sqrt(n)</a:t>
            </a:r>
          </a:p>
          <a:p>
            <a:pPr lvl="0"/>
            <a:r>
              <a:rPr b="1"/>
              <a:t>95% confidence interval (CI)</a:t>
            </a:r>
            <a:r>
              <a:rPr/>
              <a:t> — plausible range for the true mean, built from SE and the t-distribution</a:t>
            </a:r>
          </a:p>
          <a:p>
            <a:pPr lvl="0" indent="0" marL="0">
              <a:buNone/>
            </a:pPr>
            <a:r>
              <a:rPr>
                <a:latin typeface="Courier"/>
              </a:rPr>
              <a:t>summary_stats()</a:t>
            </a:r>
            <a:r>
              <a:rPr/>
              <a:t> gives you all three from one call. A </a:t>
            </a:r>
            <a:r>
              <a:rPr b="1"/>
              <a:t>large sample doesn’t shrink SD</a:t>
            </a:r>
            <a:r>
              <a:rPr/>
              <a:t> — it shrinks SE and the CI, because you’re now estimating the mean more precisely, not describing less variable lizards.</a:t>
            </a:r>
          </a:p>
        </p:txBody>
      </p:sp>
      <p:pic>
        <p:nvPicPr>
          <p:cNvPr descr="power_and_error_lecture_files/figure-pptx/power-and-error-12-1.png" id="0" name="Picture 1"/>
          <p:cNvPicPr>
            <a:picLocks noGrp="1" noChangeAspect="1"/>
          </p:cNvPicPr>
          <p:nvPr/>
        </p:nvPicPr>
        <p:blipFill>
          <a:blip r:embed="rId2"/>
          <a:stretch>
            <a:fillRect/>
          </a:stretch>
        </p:blipFill>
        <p:spPr bwMode="auto">
          <a:xfrm>
            <a:off x="6121400" y="2057400"/>
            <a:ext cx="2781300" cy="16637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Pseudoreplication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a:t>It results in underestimated standard errors and inflated Type I error rates — it makes a study look more precise, and more significant, than it actually is.</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Analyzed as 64 independent needles it would look like a large, well-powered study. Analyzed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Pseudoreplicated vs. True Replication</a:t>
            </a:r>
          </a:p>
        </p:txBody>
      </p:sp>
      <p:pic>
        <p:nvPicPr>
          <p:cNvPr descr="power_and_error_lecture_files/figure-pptx/power-and-error-13-1.png" id="0" name="Picture 1"/>
          <p:cNvPicPr>
            <a:picLocks noGrp="1" noChangeAspect="1"/>
          </p:cNvPicPr>
          <p:nvPr/>
        </p:nvPicPr>
        <p:blipFill>
          <a:blip r:embed="rId2"/>
          <a:stretch>
            <a:fillRect/>
          </a:stretch>
        </p:blipFill>
        <p:spPr bwMode="auto">
          <a:xfrm>
            <a:off x="139700" y="609600"/>
            <a:ext cx="8801100" cy="3911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Aside · The 0.05 Debate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Number That Was Always Meant to Be a Guideline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a:p>
            <a:pPr lvl="0" indent="0" marL="0">
              <a:buNone/>
            </a:pPr>
            <a:r>
              <a:rPr/>
              <a:t>Fisher proposed 0.05 as a rough guideline, not a bright line. Modern critiques of “statistical significance” as a binary pass/fail argue power and effect size deserve at least as much attention as whether p cleared 0.05.</a:t>
            </a:r>
          </a:p>
        </p:txBody>
      </p:sp>
      <p:pic>
        <p:nvPicPr>
          <p:cNvPr descr="images/clipboard-3329723408.png" id="0" name="Picture 1"/>
          <p:cNvPicPr>
            <a:picLocks noGrp="1" noChangeAspect="1"/>
          </p:cNvPicPr>
          <p:nvPr/>
        </p:nvPicPr>
        <p:blipFill>
          <a:blip r:embed="rId2"/>
          <a:stretch>
            <a:fillRect/>
          </a:stretch>
        </p:blipFill>
        <p:spPr bwMode="auto">
          <a:xfrm>
            <a:off x="6121400" y="1219200"/>
            <a:ext cx="2781300" cy="2844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Type I (α)</a:t>
            </a:r>
            <a:r>
              <a:rPr/>
              <a:t> and </a:t>
            </a:r>
            <a:r>
              <a:rPr b="1"/>
              <a:t>Type II (β)</a:t>
            </a:r>
            <a:r>
              <a:rPr/>
              <a:t> error — the two ways a decision can be wrong; power = 1 − β</a:t>
            </a:r>
          </a:p>
          <a:p>
            <a:pPr lvl="0" indent="-342900" marL="342900">
              <a:buAutoNum type="arabicPeriod"/>
            </a:pPr>
            <a:r>
              <a:rPr b="1"/>
              <a:t>Power</a:t>
            </a:r>
            <a:r>
              <a:rPr/>
              <a:t> rises with larger n, larger effect size, lower variability, and higher α</a:t>
            </a:r>
          </a:p>
          <a:p>
            <a:pPr lvl="0" indent="-342900" marL="342900">
              <a:buAutoNum type="arabicPeriod"/>
            </a:pPr>
            <a:r>
              <a:rPr b="1"/>
              <a:t>A priori power</a:t>
            </a:r>
            <a:r>
              <a:rPr/>
              <a:t> (before data collection) tells you the n a study needs — the most useful use of this whole toolkit</a:t>
            </a:r>
          </a:p>
          <a:p>
            <a:pPr lvl="0" indent="-342900" marL="342900">
              <a:buAutoNum type="arabicPeriod"/>
            </a:pPr>
            <a:r>
              <a:rPr b="1"/>
              <a:t>Retrospective power</a:t>
            </a:r>
            <a:r>
              <a:rPr/>
              <a:t> tells you what your finished study could have detected — useful for planning the next one, not for excusing a null result</a:t>
            </a:r>
          </a:p>
        </p:txBody>
      </p:sp>
      <p:sp>
        <p:nvSpPr>
          <p:cNvPr id="4" name="Content Placeholder 3"/>
          <p:cNvSpPr>
            <a:spLocks noGrp="1"/>
          </p:cNvSpPr>
          <p:nvPr>
            <p:ph idx="2" sz="half"/>
          </p:nvPr>
        </p:nvSpPr>
        <p:spPr/>
        <p:txBody>
          <a:bodyPr/>
          <a:lstStyle/>
          <a:p>
            <a:pPr lvl="0" indent="-342900" marL="342900">
              <a:buAutoNum startAt="5" type="arabicPeriod"/>
            </a:pPr>
            <a:r>
              <a:rPr/>
              <a:t>The </a:t>
            </a:r>
            <a:r>
              <a:rPr b="1">
                <a:latin typeface="Courier"/>
              </a:rPr>
              <a:t>pwr</a:t>
            </a:r>
            <a:r>
              <a:rPr/>
              <a:t> package generalizes power analysis, and </a:t>
            </a:r>
            <a:r>
              <a:rPr>
                <a:latin typeface="Courier"/>
              </a:rPr>
              <a:t>pwr.t2n.test()</a:t>
            </a:r>
            <a:r>
              <a:rPr/>
              <a:t> handles unequal group sizes directly</a:t>
            </a:r>
          </a:p>
          <a:p>
            <a:pPr lvl="0" indent="-342900" marL="342900">
              <a:buAutoNum startAt="5" type="arabicPeriod"/>
            </a:pPr>
            <a:r>
              <a:rPr b="1"/>
              <a:t>Pairing</a:t>
            </a:r>
            <a:r>
              <a:rPr/>
              <a:t> a design can be worth far more than adding raw sample size</a:t>
            </a:r>
          </a:p>
          <a:p>
            <a:pPr lvl="0" indent="-342900" marL="342900">
              <a:buAutoNum startAt="5" type="arabicPeriod"/>
            </a:pPr>
            <a:r>
              <a:rPr b="1"/>
              <a:t>SD, SE, and CI</a:t>
            </a:r>
            <a:r>
              <a:rPr/>
              <a:t> answer three different questions about the same data</a:t>
            </a:r>
          </a:p>
          <a:p>
            <a:pPr lvl="0" indent="-342900" marL="342900">
              <a:buAutoNum startAt="5" type="arabicPeriod"/>
            </a:pPr>
            <a:r>
              <a:rPr b="1"/>
              <a:t>Pseudoreplication</a:t>
            </a:r>
            <a:r>
              <a:rPr/>
              <a:t> inflates apparent precision by treating non-independent measurements as independent replicates</a:t>
            </a:r>
          </a:p>
          <a:p>
            <a:pPr lvl="0" indent="0" marL="1270000">
              <a:buNone/>
            </a:pPr>
            <a:r>
              <a:rPr sz="2000" b="1"/>
              <a:t>Note</a:t>
            </a:r>
          </a:p>
          <a:p>
            <a:pPr lvl="0" indent="0" marL="1270000">
              <a:buNone/>
            </a:pPr>
            <a:r>
              <a:rPr sz="2000" b="1"/>
              <a:t>📖 References</a:t>
            </a:r>
          </a:p>
          <a:p>
            <a:pPr lvl="0" indent="0" marL="1270000">
              <a:buNone/>
            </a:pPr>
            <a:r>
              <a:rPr sz="2000"/>
              <a:t>Gotelli &amp; Ellison, Ch. 4 — Framing and Testing Hypotheses (errors and power); Whitlock &amp; Schluter, Ch. 6 — Hypothesis Testing, and Ch. 14 — Designing Experiments (sample size and power planning).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Type I/II error, effect size, and statistical power — calculated a priori (before data collection) and retrospectively — using the pwr package, on the class pine needle data and the horned lizard predation dataset from Whitlock &amp; Schluter, Ch. 12. Error bars and pseudoreplication, revisited.</dc:description>
  <dcterms:created xsi:type="dcterms:W3CDTF">2026-09-30T15:13:02Z</dcterms:created>
  <dcterms:modified xsi:type="dcterms:W3CDTF">2026-09-30T15:13:02Z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