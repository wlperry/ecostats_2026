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Wrangling Your Data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Quantiles, range, and IQR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skimr</a:t>
            </a:r>
            <a:r>
              <a:rPr sz="2000"/>
              <a:t> — a fast full-dataset overview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shady and sunny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n_s</a:t>
            </a:r>
            <a:r>
              <a:rPr sz="2000"/>
              <a:t> codes shady (</a:t>
            </a:r>
            <a:r>
              <a:rPr sz="2000">
                <a:latin typeface="Courier"/>
              </a:rPr>
              <a:t>n</a:t>
            </a:r>
            <a:r>
              <a:rPr sz="2000"/>
              <a:t>) vs. sunny (</a:t>
            </a:r>
            <a:r>
              <a:rPr sz="2000">
                <a:latin typeface="Courier"/>
              </a:rPr>
              <a:t>s</a:t>
            </a:r>
            <a:r>
              <a:rPr sz="2000"/>
              <a:t>); </a:t>
            </a:r>
            <a:r>
              <a:rPr sz="2000">
                <a:latin typeface="Courier"/>
              </a:rPr>
              <a:t>group</a:t>
            </a:r>
            <a:r>
              <a:rPr sz="2000"/>
              <a:t> is the field team name.</a:t>
            </a:r>
            <a:br/>
            <a:r>
              <a:rPr sz="2000"/>
              <a:t>Four teams, four trees, six needles per side.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disproportionately affects the mean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</a:t>
                </a:r>
                <a:br/>
                <a:r>
                  <a:rPr/>
                  <a:t>Is that a fair summary?</a:t>
                </a:r>
                <a:br/>
                <a:r>
                  <a:rPr/>
                  <a:t>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</a:t>
                </a:r>
                <a:br/>
                <a:r>
                  <a:rPr sz="2000"/>
                  <a:t>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one side's values out as a vector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shady_lengths</a:t>
            </a:r>
          </a:p>
          <a:p>
            <a:pPr lvl="0" indent="0">
              <a:buNone/>
            </a:pPr>
            <a:r>
              <a:rPr>
                <a:latin typeface="Courier"/>
              </a:rPr>
              <a:t> [1] 20 21 23 25 21 16 19 18 20 23 21 18 20 21 23 25 21 16 19 18 20 23 21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20.41667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. </a:t>
            </a:r>
            <a:r>
              <a:rPr sz="2000">
                <a:latin typeface="Courier"/>
              </a:rPr>
              <a:t>pull()</a:t>
            </a:r>
            <a:r>
              <a:rPr sz="2000"/>
              <a:t> extracts one column as a plain </a:t>
            </a:r>
            <a:r>
              <a:rPr sz="2000" b="1"/>
              <a:t>vector</a:t>
            </a:r>
            <a:r>
              <a:rPr sz="2000"/>
              <a:t>, not a data frame.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(s</a:t>
            </a:r>
            <a:r>
              <a:rPr baseline="30000"/>
              <a:t>2</a:t>
            </a:r>
            <a:r>
              <a:rPr/>
              <a:t>) and Standard Deviation (sd)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 as the standard deviation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/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</a:t>
                </a:r>
              </a:p>
              <a:p>
                <a:pPr lvl="0"/>
                <a:r>
                  <a:rPr sz="2000"/>
                  <a:t>hard to interpret directly.</a:t>
                </a:r>
              </a:p>
              <a:p>
                <a:pPr lvl="0"/>
                <a:r>
                  <a:rPr sz="2000"/>
                  <a:t>Standard deviation (SD) is why we usually report it instead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5.992754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2.44801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3.644928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1.909169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/>
            <a:r>
              <a:rPr sz="2000"/>
              <a:t>For roughly normal data:</a:t>
            </a:r>
          </a:p>
          <a:p>
            <a:pPr lvl="1"/>
            <a:r>
              <a:rPr sz="2000"/>
              <a:t>~68% of values fall within mean ± 1 SD</a:t>
            </a:r>
          </a:p>
          <a:p>
            <a:pPr lvl="1"/>
            <a:r>
              <a:rPr sz="2000"/>
              <a:t>~95% within mean ± 2 SD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Quantiles, Range, and IQR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(shady_lengths)              </a:t>
            </a:r>
            <a:r>
              <a:rPr>
                <a:solidFill>
                  <a:srgbClr val="5E5E5E"/>
                </a:solidFill>
                <a:latin typeface="Courier"/>
              </a:rPr>
              <a:t># min and max</a:t>
            </a:r>
          </a:p>
          <a:p>
            <a:pPr lvl="0" indent="0">
              <a:buNone/>
            </a:pPr>
            <a:r>
              <a:rPr>
                <a:latin typeface="Courier"/>
              </a:rPr>
              <a:t>[1] 16 25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(shady_lengths)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(shady_lengths)  </a:t>
            </a:r>
            <a:r>
              <a:rPr>
                <a:solidFill>
                  <a:srgbClr val="5E5E5E"/>
                </a:solidFill>
                <a:latin typeface="Courier"/>
              </a:rPr>
              <a:t># range as a single number</a:t>
            </a:r>
          </a:p>
          <a:p>
            <a:pPr lvl="0" indent="0">
              <a:buNone/>
            </a:pPr>
            <a:r>
              <a:rPr>
                <a:latin typeface="Courier"/>
              </a:rPr>
              <a:t>[1] 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(shady_lengths)           </a:t>
            </a:r>
            <a:r>
              <a:rPr>
                <a:solidFill>
                  <a:srgbClr val="5E5E5E"/>
                </a:solidFill>
                <a:latin typeface="Courier"/>
              </a:rPr>
              <a:t># 0/25/50/75/100th percentiles</a:t>
            </a:r>
          </a:p>
          <a:p>
            <a:pPr lvl="0" indent="0">
              <a:buNone/>
            </a:pPr>
            <a:r>
              <a:rPr>
                <a:latin typeface="Courier"/>
              </a:rPr>
              <a:t>   0%   25%   50%   75%  100% 
16.00 18.75 20.50 21.50 25.00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(shady_lengths)                </a:t>
            </a:r>
            <a:r>
              <a:rPr>
                <a:solidFill>
                  <a:srgbClr val="5E5E5E"/>
                </a:solidFill>
                <a:latin typeface="Courier"/>
              </a:rPr>
              <a:t># 75th percentile minus 25th</a:t>
            </a:r>
          </a:p>
          <a:p>
            <a:pPr lvl="0" indent="0">
              <a:buNone/>
            </a:pPr>
            <a:r>
              <a:rPr>
                <a:latin typeface="Courier"/>
              </a:rPr>
              <a:t>[1] 2.75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shady_lengths))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IQR</a:t>
            </a:r>
            <a:r>
              <a:rPr sz="2000"/>
              <a:t> is the range of the </a:t>
            </a:r>
            <a:r>
              <a:rPr sz="2000" i="1"/>
              <a:t>middle 50%</a:t>
            </a:r>
            <a:r>
              <a:rPr sz="2000"/>
              <a:t> of the data — it ignores the most extreme quarter on each end, which makes it robust to outliers the same way the median 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quantile()</a:t>
            </a:r>
            <a:r>
              <a:rPr sz="2000"/>
              <a:t>’s 50th percentile is exactly the median. </a:t>
            </a:r>
            <a:r>
              <a:rPr sz="2000">
                <a:latin typeface="Courier"/>
              </a:rPr>
              <a:t>IQR()</a:t>
            </a:r>
            <a:r>
              <a:rPr sz="2000"/>
              <a:t> is just </a:t>
            </a:r>
            <a:r>
              <a:rPr sz="2000">
                <a:latin typeface="Courier"/>
              </a:rPr>
              <a:t>quantile(x, 0.75) - quantile(x, 0.25)</a:t>
            </a:r>
            <a:r>
              <a:rPr sz="2000"/>
              <a:t> computed for you.</a:t>
            </a:r>
          </a:p>
          <a:p>
            <a:pPr lvl="0" indent="0" marL="1270000">
              <a:buNone/>
            </a:pPr>
            <a:r>
              <a:rPr sz="2000"/>
              <a:t>📖 R4DS §12 — EDA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 — Why This Matters for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   0%   25%   50%   75%  100% 
12.00 13.75 15.00 16.00 19.00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Preview</a:t>
            </a:r>
          </a:p>
          <a:p>
            <a:pPr lvl="0" indent="0" marL="1270000">
              <a:buNone/>
            </a:pPr>
            <a:r>
              <a:rPr sz="2000"/>
              <a:t>The box in a boxplot </a:t>
            </a:r>
            <a:r>
              <a:rPr sz="2000" b="1"/>
              <a:t>is</a:t>
            </a:r>
            <a:r>
              <a:rPr sz="2000"/>
              <a:t> the IQR — its bottom and top edges are the 25th and 75th percentiles you just computed. The boxplots you’ll build in Graphing Effectively are these five numbers, drawn.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vector has 5 slots, but 2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length()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counts every slot — including NAs!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as n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wrong_n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0.931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note base r rounding is really odd - use round_half_up from janitor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length()</a:t>
            </a:r>
            <a:r>
              <a:rPr sz="2000"/>
              <a:t> happily returns 5 when only 3 values are real — a silent, common error.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/>
              <a:t>📖 R4DS §18 — Missing Values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(sunny_lengths))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n_shady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n_sunny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se_shady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(shady_lengths) 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(sunny_lengths)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0.39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sqrt(length(x))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med_l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se_l   &lt;- sd_l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Shady side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n_l,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Shady side ---
 n      = 24 
 Mean   = 20.42 
 Median = 20.5 
 SD     = 2.45 
 SE     = 0.5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clean, labeled output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Copy-pasting this block for every group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Every Column, One Command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machine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pine_df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609600"/>
                <a:gridCol w="863600"/>
                <a:gridCol w="241300"/>
                <a:gridCol w="241300"/>
                <a:gridCol w="368300"/>
                <a:gridCol w="558800"/>
                <a:gridCol w="673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n_s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700"/>
                <a:gridCol w="558800"/>
                <a:gridCol w="774700"/>
                <a:gridCol w="330200"/>
                <a:gridCol w="279400"/>
                <a:gridCol w="165100"/>
                <a:gridCol w="330200"/>
                <a:gridCol w="279400"/>
                <a:gridCol w="330200"/>
                <a:gridCol w="279400"/>
                <a:gridCol w="330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tree_no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3.53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▆▇▅▆▃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gives you n, missing count, mean, SD, and a tiny inline histogram for </a:t>
            </a:r>
            <a:r>
              <a:rPr sz="2000" b="1"/>
              <a:t>every numeric column</a:t>
            </a:r>
            <a:r>
              <a:rPr sz="2000"/>
              <a:t> — and counts for every character column — in one call. It’s the fastest way to sanity-check a dataset the moment you load it.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Doesn’t Replace, Just Speeds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idea, restricted to numeric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(length_mm, tree_no)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select(pine_df, length_mm…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700"/>
                <a:gridCol w="558800"/>
                <a:gridCol w="774700"/>
                <a:gridCol w="330200"/>
                <a:gridCol w="279400"/>
                <a:gridCol w="165100"/>
                <a:gridCol w="330200"/>
                <a:gridCol w="279400"/>
                <a:gridCol w="330200"/>
                <a:gridCol w="279400"/>
                <a:gridCol w="330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3.53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▆▇▅▆▃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tree_no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▇▇▁▇▇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skim()</a:t>
            </a:r>
            <a:r>
              <a:rPr sz="2000"/>
              <a:t> is a first look, not a final answer.</a:t>
            </a:r>
          </a:p>
          <a:p>
            <a:pPr lvl="0"/>
            <a:r>
              <a:rPr sz="2000"/>
              <a:t>you can pipe groups into it to show that </a:t>
            </a:r>
            <a:r>
              <a:rPr sz="2000">
                <a:latin typeface="Courier"/>
              </a:rPr>
              <a:t>length_mm</a:t>
            </a:r>
            <a:r>
              <a:rPr sz="2000"/>
              <a:t> should be split by </a:t>
            </a:r>
            <a:r>
              <a:rPr sz="2000">
                <a:latin typeface="Courier"/>
              </a:rPr>
              <a:t>n_s</a:t>
            </a:r>
          </a:p>
          <a:p>
            <a:pPr lvl="1"/>
            <a:r>
              <a:rPr sz="2000"/>
              <a:t>for real per-group comparisons, you still need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next.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n_s</a:t>
            </a:r>
            <a:r>
              <a:rPr sz="2000"/>
              <a:t> take?)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n_s       n mean_mm med_mm sd_mm se_mm
  &lt;chr&gt; &lt;int&gt;   &lt;dbl&gt;  &lt;dbl&gt; &lt;dbl&gt; &lt;dbl&gt;
1 n        24    20.4   20.5  2.45  0.5 
2 s        24    14.9   15    1.91  0.39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group_by(n_s)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/>
            <a:r>
              <a:rPr/>
              <a:t>A column you just created (</a:t>
            </a:r>
            <a:r>
              <a:rPr>
                <a:latin typeface="Courier"/>
              </a:rPr>
              <a:t>sd_mm</a:t>
            </a:r>
            <a:r>
              <a:rPr/>
              <a:t>) can feed the next one (</a:t>
            </a:r>
            <a:r>
              <a:rPr>
                <a:latin typeface="Courier"/>
              </a:rPr>
              <a:t>se_mm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R4DS §3.5 —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group       n_s       n mean_mm se_mm
  &lt;chr&gt;       &lt;chr&gt; &lt;int&gt;   &lt;dbl&gt; &lt;dbl&gt;
1 cephalopods n         6    21    1.24
2 cephalopods s         6    15    0.58
3 crayfish    n         6    21    1.24
4 crayfish    s         6    15    0.58
5 salmon      n         6    19.8  0.79
6 salmon      s         6    12.8  0.4 
7 snail       n         6    19.8  0.79
8 snail       s         6    16.8  0.6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group_by(group, n_s)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shady-vs-sunny pattern, or do some disagree?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Bringing Back </a:t>
            </a:r>
            <a:r>
              <a:rPr>
                <a:latin typeface="Courier"/>
              </a:rPr>
              <a:t>case_when()</a:t>
            </a:r>
            <a:r>
              <a:rPr/>
              <a:t> from Wrangling Your Data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Summarizing the Categories You Built Last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grouping by the </a:t>
            </a:r>
            <a:r>
              <a:rPr sz="2000">
                <a:latin typeface="Courier"/>
              </a:rPr>
              <a:t>size_class</a:t>
            </a:r>
            <a:r>
              <a:rPr sz="2000"/>
              <a:t> bins (</a:t>
            </a:r>
            <a:r>
              <a:rPr sz="2000">
                <a:latin typeface="Courier"/>
              </a:rPr>
              <a:t>"short"</a:t>
            </a:r>
            <a:r>
              <a:rPr sz="2000"/>
              <a:t>/</a:t>
            </a:r>
            <a:r>
              <a:rPr sz="2000">
                <a:latin typeface="Courier"/>
              </a:rPr>
              <a:t>"medium"</a:t>
            </a:r>
            <a:r>
              <a:rPr sz="2000"/>
              <a:t>/</a:t>
            </a:r>
            <a:r>
              <a:rPr sz="2000">
                <a:latin typeface="Courier"/>
              </a:rPr>
              <a:t>"long"</a:t>
            </a:r>
            <a:r>
              <a:rPr sz="2000"/>
              <a:t>) from Wrangling Your Data’s </a:t>
            </a:r>
            <a:r>
              <a:rPr sz="2000">
                <a:latin typeface="Courier"/>
              </a:rPr>
              <a:t>case_when()</a:t>
            </a:r>
            <a:r>
              <a:rPr sz="2000"/>
              <a:t>. How many rows will the summary have?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size_class_stats_df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(size_class)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size_class_stats_df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size_class     n mean_mm se_mm
  &lt;chr&gt;      &lt;int&gt;   &lt;dbl&gt; &lt;dbl&gt;
1 long          16    21.8  0.42
2 medium        17    17.3  0.28
3 short         15    13.7  0.3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and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chain together like any other verbs — you don’t need to save the </a:t>
            </a:r>
            <a:r>
              <a:rPr sz="2000">
                <a:latin typeface="Courier"/>
              </a:rPr>
              <a:t>case_when()</a:t>
            </a:r>
            <a:r>
              <a:rPr sz="2000"/>
              <a:t> column separately first. This is the wrangling → describing pipeline in one block.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by hand, with real formulas</a:t>
            </a:r>
          </a:p>
          <a:p>
            <a:pPr lvl="0"/>
            <a:r>
              <a:rPr/>
              <a:t>Computed </a:t>
            </a:r>
            <a:r>
              <a:rPr b="1"/>
              <a:t>quantiles</a:t>
            </a:r>
            <a:r>
              <a:rPr/>
              <a:t>, </a:t>
            </a:r>
            <a:r>
              <a:rPr b="1"/>
              <a:t>range</a:t>
            </a:r>
            <a:r>
              <a:rPr/>
              <a:t>, and </a:t>
            </a:r>
            <a:r>
              <a:rPr b="1"/>
              <a:t>IQR</a:t>
            </a:r>
            <a:r>
              <a:rPr/>
              <a:t> — and saw the IQR is literally the boxplot’s box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length()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Got a fast full-dataset overview with </a:t>
            </a:r>
            <a:r>
              <a:rPr b="1">
                <a:latin typeface="Courier"/>
              </a:rPr>
              <a:t>skimr::skim()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 — including the </a:t>
            </a:r>
            <a:r>
              <a:rPr>
                <a:latin typeface="Courier"/>
              </a:rPr>
              <a:t>case_when()</a:t>
            </a:r>
            <a:r>
              <a:rPr/>
              <a:t> categories from Wrangling Your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n_s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group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Graphing Effectively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Describing Your Data</dc:title>
  <dc:creator>Bill Perry</dc:creator>
  <cp:keywords/>
  <dc:description>Mean, median, variance, standard deviation, and standard error; quantiles, range, and IQR; the length() trap and the sum(!is.na()) fix; a fast full-dataset overview with skimr; and getting tidy per-group summaries with group_by() + summarize() — all on the pine needle dataset.</dc:description>
  <dcterms:created xsi:type="dcterms:W3CDTF">2026-08-25T18:54:23Z</dcterms:created>
  <dcterms:modified xsi:type="dcterms:W3CDTF">2026-08-25T18:54:23Z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3</vt:lpwstr>
  </property>
  <property fmtid="{D5CDD505-2E9C-101B-9397-08002B2CF9AE}" pid="12" name="resources">
    <vt:lpwstr/>
  </property>
  <property fmtid="{D5CDD505-2E9C-101B-9397-08002B2CF9AE}" pid="13" name="subtitle">
    <vt:lpwstr>Mean, spread, counting correctly, and group summaries</vt:lpwstr>
  </property>
  <property fmtid="{D5CDD505-2E9C-101B-9397-08002B2CF9AE}" pid="14" name="toc-title">
    <vt:lpwstr>Table of contents</vt:lpwstr>
  </property>
  <property fmtid="{D5CDD505-2E9C-101B-9397-08002B2CF9AE}" pid="15" name="week">
    <vt:lpwstr>2</vt:lpwstr>
  </property>
</Properties>
</file>