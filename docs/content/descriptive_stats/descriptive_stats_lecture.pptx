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Describing Your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spread, counting correctly, and group summaries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 you:</a:t>
            </a:r>
          </a:p>
          <a:p>
            <a:pPr lvl="0"/>
            <a:r>
              <a:rPr/>
              <a:t>Imported data two ways (</a:t>
            </a:r>
            <a:r>
              <a:rPr>
                <a:latin typeface="Courier"/>
              </a:rPr>
              <a:t>read_csv()</a:t>
            </a:r>
            <a:r>
              <a:rPr/>
              <a:t>, </a:t>
            </a:r>
            <a:r>
              <a:rPr>
                <a:latin typeface="Courier"/>
              </a:rPr>
              <a:t>read_excel()</a:t>
            </a:r>
            <a:r>
              <a:rPr/>
              <a:t>)</a:t>
            </a:r>
          </a:p>
          <a:p>
            <a:pPr lvl="0"/>
            <a:r>
              <a:rPr/>
              <a:t>Wrangled with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</a:p>
          <a:p>
            <a:pPr lvl="0"/>
            <a:r>
              <a:rPr/>
              <a:t>Caught duplicate rows with </a:t>
            </a:r>
            <a:r>
              <a:rPr>
                <a:latin typeface="Courier"/>
              </a:rPr>
              <a:t>distinct()</a:t>
            </a:r>
          </a:p>
          <a:p>
            <a:pPr lvl="0"/>
            <a:r>
              <a:rPr/>
              <a:t>Saved a new file with </a:t>
            </a:r>
            <a:r>
              <a:rPr>
                <a:latin typeface="Courier"/>
              </a:rPr>
              <a:t>write_csv()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Wrangling Your Data</a:t>
            </a:r>
          </a:p>
          <a:p>
            <a:pPr lvl="0" indent="0" marL="1270000">
              <a:buNone/>
            </a:pPr>
            <a:r>
              <a:rPr sz="2000"/>
              <a:t>You can reshape a dataset and hand off a clean file. Today we start </a:t>
            </a:r>
            <a:r>
              <a:rPr sz="2000" b="1"/>
              <a:t>describing</a:t>
            </a:r>
            <a:r>
              <a:rPr sz="2000"/>
              <a:t> it — the step that comes before any formal 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Mean and median</a:t>
            </a:r>
          </a:p>
          <a:p>
            <a:pPr lvl="0" indent="-342900" marL="342900">
              <a:buAutoNum type="arabicPeriod"/>
            </a:pPr>
            <a:r>
              <a:rPr sz="2000"/>
              <a:t>Variance and standard deviation</a:t>
            </a:r>
          </a:p>
          <a:p>
            <a:pPr lvl="0" indent="-342900" marL="342900">
              <a:buAutoNum type="arabicPeriod"/>
            </a:pPr>
            <a:r>
              <a:rPr sz="2000"/>
              <a:t>Quantiles, range, and IQR</a:t>
            </a:r>
          </a:p>
          <a:p>
            <a:pPr lvl="0" indent="-342900" marL="342900">
              <a:buAutoNum type="arabicPeriod"/>
            </a:pPr>
            <a:r>
              <a:rPr sz="2000"/>
              <a:t>The </a:t>
            </a:r>
            <a:r>
              <a:rPr sz="2000">
                <a:latin typeface="Courier"/>
              </a:rPr>
              <a:t>length()</a:t>
            </a:r>
            <a:r>
              <a:rPr sz="2000"/>
              <a:t> trap — and the fix</a:t>
            </a:r>
          </a:p>
          <a:p>
            <a:pPr lvl="0" indent="-342900" marL="342900">
              <a:buAutoNum type="arabicPeriod"/>
            </a:pPr>
            <a:r>
              <a:rPr sz="2000"/>
              <a:t>Standard error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skimr</a:t>
            </a:r>
            <a:r>
              <a:rPr sz="2000"/>
              <a:t> — a fast full-dataset overview</a:t>
            </a:r>
          </a:p>
          <a:p>
            <a:pPr lvl="0" indent="-342900" marL="342900">
              <a:buAutoNum type="arabicPeriod"/>
            </a:pP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Question, Revisited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Question, Revisited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H₀:</a:t>
            </a:r>
            <a:r>
              <a:rPr/>
              <a:t> No difference in needle length between the shady and sunny sides</a:t>
            </a:r>
          </a:p>
          <a:p>
            <a:pPr lvl="0"/>
            <a:r>
              <a:rPr b="1"/>
              <a:t>Hₐ:</a:t>
            </a:r>
            <a:r>
              <a:rPr/>
              <a:t> Needle length differs between the two sides</a:t>
            </a:r>
          </a:p>
          <a:p>
            <a:pPr lvl="0" indent="0" marL="0">
              <a:buNone/>
            </a:pPr>
            <a:r>
              <a:rPr/>
              <a:t>Before we can formally </a:t>
            </a:r>
            <a:r>
              <a:rPr i="1"/>
              <a:t>test</a:t>
            </a:r>
            <a:r>
              <a:rPr/>
              <a:t> that with statistics, we need to </a:t>
            </a:r>
            <a:r>
              <a:rPr i="1"/>
              <a:t>describe</a:t>
            </a:r>
            <a:r>
              <a:rPr/>
              <a:t> what we actually measured.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Plan for this unit</a:t>
            </a:r>
          </a:p>
          <a:p>
            <a:pPr lvl="0" indent="-342900" marL="342900">
              <a:buAutoNum type="arabicPeriod"/>
            </a:pPr>
            <a:r>
              <a:rPr sz="2000" b="1"/>
              <a:t>Today</a:t>
            </a:r>
            <a:r>
              <a:rPr sz="2000"/>
              <a:t> — describe the data: center, spread, and group summaries</a:t>
            </a:r>
          </a:p>
          <a:p>
            <a:pPr lvl="0" indent="-342900" marL="342900">
              <a:buAutoNum type="arabicPeriod"/>
            </a:pPr>
            <a:r>
              <a:rPr sz="2000" b="1"/>
              <a:t>A later module</a:t>
            </a:r>
            <a:r>
              <a:rPr sz="2000"/>
              <a:t> — formally test H₀ vs. Hₐ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codes shady (</a:t>
            </a:r>
            <a:r>
              <a:rPr sz="2000">
                <a:latin typeface="Courier"/>
              </a:rPr>
              <a:t>n</a:t>
            </a:r>
            <a:r>
              <a:rPr sz="2000"/>
              <a:t>) vs. sunny (</a:t>
            </a:r>
            <a:r>
              <a:rPr sz="2000">
                <a:latin typeface="Courier"/>
              </a:rPr>
              <a:t>s</a:t>
            </a:r>
            <a:r>
              <a:rPr sz="2000"/>
              <a:t>); </a:t>
            </a:r>
            <a:r>
              <a:rPr sz="2000">
                <a:latin typeface="Courier"/>
              </a:rPr>
              <a:t>group</a:t>
            </a:r>
            <a:r>
              <a:rPr sz="2000"/>
              <a:t> is the field team name. Four teams, four trees, six needles per side.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Mean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Mean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every value,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it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  <a:r>
                  <a:rPr/>
                  <a:t> Values 5, 6, 7, 8, </a:t>
                </a:r>
                <a:r>
                  <a:rPr b="1"/>
                  <a:t>50</a:t>
                </a:r>
                <a:r>
                  <a:rPr/>
                  <a:t> → mean = 15.2. Is that a fair summary? Not really — the outlier dominates.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✅ Why it matters</a:t>
                </a:r>
              </a:p>
              <a:p>
                <a:pPr lvl="0" indent="0" marL="1270000">
                  <a:buNone/>
                </a:pPr>
                <a:r>
                  <a:rPr sz="2000"/>
                  <a:t>The mean is the most commonly reported statistic — and it’s the number every t-test, ANOVA, and regression is ultimately built around.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one side's values out as a vector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shady_lengths</a:t>
            </a:r>
          </a:p>
          <a:p>
            <a:pPr lvl="0" indent="0">
              <a:buNone/>
            </a:pPr>
            <a:r>
              <a:rPr>
                <a:latin typeface="Courier"/>
              </a:rPr>
              <a:t> [1] 20 21 23 25 21 16 19 18 20 23 21 18 20 21 23 25 21 16 19 18 20 23 21 18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20.41667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New pattern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filter()</a:t>
            </a:r>
            <a:r>
              <a:rPr sz="2000"/>
              <a:t> picks </a:t>
            </a:r>
            <a:r>
              <a:rPr sz="2000" b="1"/>
              <a:t>rows</a:t>
            </a:r>
            <a:r>
              <a:rPr sz="2000"/>
              <a:t>. </a:t>
            </a:r>
            <a:r>
              <a:rPr sz="2000">
                <a:latin typeface="Courier"/>
              </a:rPr>
              <a:t>pull()</a:t>
            </a:r>
            <a:r>
              <a:rPr sz="2000"/>
              <a:t> extracts one column as a plain </a:t>
            </a:r>
            <a:r>
              <a:rPr sz="2000" b="1"/>
              <a:t>vector</a:t>
            </a:r>
            <a:r>
              <a:rPr sz="2000"/>
              <a:t>, not a data frame.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Median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Median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once the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around by outliers — it’s </a:t>
            </a:r>
            <a:r>
              <a:rPr b="1"/>
              <a:t>robust</a:t>
            </a:r>
          </a:p>
          <a:p>
            <a:pPr lvl="0"/>
            <a:r>
              <a:rPr/>
              <a:t>If mean ≫ median → right-skewed data</a:t>
            </a:r>
          </a:p>
          <a:p>
            <a:pPr lvl="0"/>
            <a:r>
              <a:rPr/>
              <a:t>If mean ≈ median → roughly symmetric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sunny_lengths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(n_s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Report mean </a:t>
            </a:r>
            <a:r>
              <a:rPr sz="2000" i="1"/>
              <a:t>and</a:t>
            </a:r>
            <a:r>
              <a:rPr sz="2000"/>
              <a:t> median together the first time you look at a new variable — a big gap between them is a signal worth investigating.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Variance and Standard Deviation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Variance and Standard Deviation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  <m:r>
                        <m:t>  </m:t>
                      </m:r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Distance of each value from the mean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it — makes everything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Average those squared distances (over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)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Square root</a:t>
                </a:r>
                <a:r>
                  <a:rPr/>
                  <a:t> brings variance back into the original units</a:t>
                </a:r>
              </a:p>
              <a:p>
                <a:pPr lvl="0" indent="0" marL="0">
                  <a:buNone/>
                </a:pPr>
                <a:r>
                  <a:rPr b="1"/>
                  <a:t>Larger spread = larger variance and SD.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/>
                  <a:t>Variance is in </a:t>
                </a:r>
                <a:r>
                  <a:rPr sz="2000" i="1"/>
                  <a:t>squared</a:t>
                </a:r>
                <a:r>
                  <a:rPr sz="2000"/>
                  <a:t> units (mm²) — hard to interpret directly. SD is why we usually report it instead.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5.992754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2.44801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3.644928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1.909169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Rule of thumb</a:t>
            </a:r>
          </a:p>
          <a:p>
            <a:pPr lvl="0" indent="0" marL="1270000">
              <a:buNone/>
            </a:pPr>
            <a:r>
              <a:rPr sz="2000"/>
              <a:t>For roughly normal data: ~68% of values fall within mean ± 1 SD, ~95% within mean ± 2 SD.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4b · Quantiles, Range, and IQR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Quantiles, Range, and IQR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range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</a:t>
            </a:r>
            <a:r>
              <a:rPr>
                <a:solidFill>
                  <a:srgbClr val="5E5E5E"/>
                </a:solidFill>
                <a:latin typeface="Courier"/>
              </a:rPr>
              <a:t># min and max</a:t>
            </a:r>
          </a:p>
          <a:p>
            <a:pPr lvl="0" indent="0">
              <a:buNone/>
            </a:pPr>
            <a:r>
              <a:rPr>
                <a:latin typeface="Courier"/>
              </a:rPr>
              <a:t>[1] 16 25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max</a:t>
            </a:r>
            <a:r>
              <a:rPr>
                <a:solidFill>
                  <a:srgbClr val="003B4F"/>
                </a:solidFill>
                <a:latin typeface="Courier"/>
              </a:rPr>
              <a:t>(shady_lengths)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min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# range as a single number</a:t>
            </a:r>
          </a:p>
          <a:p>
            <a:pPr lvl="0" indent="0">
              <a:buNone/>
            </a:pPr>
            <a:r>
              <a:rPr>
                <a:latin typeface="Courier"/>
              </a:rPr>
              <a:t>[1] 9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</a:t>
            </a:r>
            <a:r>
              <a:rPr>
                <a:solidFill>
                  <a:srgbClr val="5E5E5E"/>
                </a:solidFill>
                <a:latin typeface="Courier"/>
              </a:rPr>
              <a:t># 0/25/50/75/100th percentiles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16.00 18.75 20.50 21.50 25.00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(shady_lengths)                </a:t>
            </a:r>
            <a:r>
              <a:rPr>
                <a:solidFill>
                  <a:srgbClr val="5E5E5E"/>
                </a:solidFill>
                <a:latin typeface="Courier"/>
              </a:rPr>
              <a:t># 75th percentile minus 25th</a:t>
            </a:r>
          </a:p>
          <a:p>
            <a:pPr lvl="0" indent="0">
              <a:buNone/>
            </a:pPr>
            <a:r>
              <a:rPr>
                <a:latin typeface="Courier"/>
              </a:rPr>
              <a:t>[1] 2.75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IQR</a:t>
            </a:r>
            <a:r>
              <a:rPr sz="2000"/>
              <a:t> is the range of the </a:t>
            </a:r>
            <a:r>
              <a:rPr sz="2000" i="1"/>
              <a:t>middle 50%</a:t>
            </a:r>
            <a:r>
              <a:rPr sz="2000"/>
              <a:t> of the data — it ignores the most extreme quarter on each end, which makes it robust to outliers the same way the median is.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quantile()</a:t>
            </a:r>
            <a:r>
              <a:rPr sz="2000"/>
              <a:t>’s 50th percentile is exactly the median. </a:t>
            </a:r>
            <a:r>
              <a:rPr sz="2000">
                <a:latin typeface="Courier"/>
              </a:rPr>
              <a:t>IQR()</a:t>
            </a:r>
            <a:r>
              <a:rPr sz="2000"/>
              <a:t> is just </a:t>
            </a:r>
            <a:r>
              <a:rPr sz="2000">
                <a:latin typeface="Courier"/>
              </a:rPr>
              <a:t>quantile(x, 0.75) - quantile(x, 0.25)</a:t>
            </a:r>
            <a:r>
              <a:rPr sz="2000"/>
              <a:t> computed for you.</a:t>
            </a:r>
          </a:p>
          <a:p>
            <a:pPr lvl="0" indent="0" marL="1270000">
              <a:buNone/>
            </a:pPr>
            <a:r>
              <a:rPr sz="2000"/>
              <a:t>📖 R4DS §12 — EDA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Quantiles — Why This Matters for Graphing Effectively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quantile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   0%   25%   50%   75%  100% 
12.00 13.75 15.00 16.00 19.00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IQR</a:t>
            </a:r>
            <a:r>
              <a:rPr>
                <a:solidFill>
                  <a:srgbClr val="003B4F"/>
                </a:solidFill>
                <a:latin typeface="Courier"/>
              </a:rPr>
              <a:t>(sunny_lengths)</a:t>
            </a:r>
          </a:p>
          <a:p>
            <a:pPr lvl="0" indent="0">
              <a:buNone/>
            </a:pPr>
            <a:r>
              <a:rPr>
                <a:latin typeface="Courier"/>
              </a:rPr>
              <a:t>[1] 2.25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Preview</a:t>
            </a:r>
          </a:p>
          <a:p>
            <a:pPr lvl="0" indent="0" marL="1270000">
              <a:buNone/>
            </a:pPr>
            <a:r>
              <a:rPr sz="2000"/>
              <a:t>The box in a boxplot </a:t>
            </a:r>
            <a:r>
              <a:rPr sz="2000" b="1"/>
              <a:t>is</a:t>
            </a:r>
            <a:r>
              <a:rPr sz="2000"/>
              <a:t> the IQR — its bottom and top edges are the 25th and 75th percentiles you just computed. The boxplots you’ll build in Graphing Effectively are these five numbers, drawn.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 vector has 5 slots, but 2 are </a:t>
            </a:r>
            <a:r>
              <a:rPr sz="2000">
                <a:latin typeface="Courier"/>
              </a:rPr>
              <a:t>NA</a:t>
            </a:r>
            <a:r>
              <a:rPr sz="2000"/>
              <a:t>. What does </a:t>
            </a:r>
            <a:r>
              <a:rPr sz="2000">
                <a:latin typeface="Courier"/>
              </a:rPr>
              <a:t>length()</a:t>
            </a:r>
            <a:r>
              <a:rPr sz="2000"/>
              <a:t> return? What </a:t>
            </a:r>
            <a:r>
              <a:rPr sz="2000" i="1"/>
              <a:t>should</a:t>
            </a:r>
            <a:r>
              <a:rPr sz="2000"/>
              <a:t> your sample size be for a mean or SE calculation?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counts every slot — including NAs!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   </a:t>
            </a:r>
            <a:r>
              <a:rPr>
                <a:solidFill>
                  <a:srgbClr val="5E5E5E"/>
                </a:solidFill>
                <a:latin typeface="Courier"/>
              </a:rPr>
              <a:t># how many are missing?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>
                <a:latin typeface="Courier"/>
              </a:rPr>
              <a:t>is.na(x)</a:t>
            </a:r>
            <a:r>
              <a:rPr sz="2000"/>
              <a:t> —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missing</a:t>
            </a:r>
          </a:p>
          <a:p>
            <a:pPr lvl="0"/>
            <a:r>
              <a:rPr sz="2000" b="1">
                <a:latin typeface="Courier"/>
              </a:rPr>
              <a:t>!is.na(x)</a:t>
            </a:r>
            <a:r>
              <a:rPr sz="2000"/>
              <a:t> — the flip: </a:t>
            </a:r>
            <a:r>
              <a:rPr sz="2000">
                <a:latin typeface="Courier"/>
              </a:rPr>
              <a:t>TRUE</a:t>
            </a:r>
            <a:r>
              <a:rPr sz="2000"/>
              <a:t> where a value is real</a:t>
            </a:r>
          </a:p>
          <a:p>
            <a:pPr lvl="0"/>
            <a:r>
              <a:rPr sz="2000" b="1">
                <a:latin typeface="Courier"/>
              </a:rPr>
              <a:t>sum(!is.na(x))</a:t>
            </a:r>
            <a:r>
              <a:rPr sz="2000"/>
              <a:t> — counts the real values = the correct </a:t>
            </a:r>
            <a:r>
              <a:rPr sz="2000" i="1"/>
              <a:t>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length()</a:t>
            </a:r>
            <a:r>
              <a:rPr/>
              <a:t> Trap — Why It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Using length() as n silently gives the WRONG answer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wrong_n  &lt;- </a:t>
            </a:r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wrong_se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(wrong_n)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wrong_n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(wrong_se,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will </a:t>
            </a:r>
            <a:r>
              <a:rPr sz="2000" b="1"/>
              <a:t>not</a:t>
            </a:r>
            <a:r>
              <a:rPr sz="2000"/>
              <a:t> warn you. </a:t>
            </a:r>
            <a:r>
              <a:rPr sz="2000">
                <a:latin typeface="Courier"/>
              </a:rPr>
              <a:t>length()</a:t>
            </a:r>
            <a:r>
              <a:rPr sz="2000"/>
              <a:t> happily returns 5 when only 3 values are real — a silent, common error.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 </a:t>
            </a:r>
            <a:r>
              <a:rPr>
                <a:solidFill>
                  <a:srgbClr val="5E5E5E"/>
                </a:solidFill>
                <a:latin typeface="Courier"/>
              </a:rPr>
              <a:t># TRUE where NA</a:t>
            </a:r>
          </a:p>
          <a:p>
            <a:pPr lvl="0" indent="0">
              <a:buNone/>
            </a:pPr>
            <a:r>
              <a:rPr>
                <a:latin typeface="Courier"/>
              </a:rPr>
              <a:t>[1] FALSE FALSE  TRUE FALSE  TRUE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         </a:t>
            </a:r>
            <a:r>
              <a:rPr>
                <a:solidFill>
                  <a:srgbClr val="5E5E5E"/>
                </a:solidFill>
                <a:latin typeface="Courier"/>
              </a:rPr>
              <a:t># flipped: TRUE where real</a:t>
            </a:r>
          </a:p>
          <a:p>
            <a:pPr lvl="0" indent="0">
              <a:buNone/>
            </a:pPr>
            <a:r>
              <a:rPr>
                <a:latin typeface="Courier"/>
              </a:rPr>
              <a:t>[1]  TRUE  TRUE FALSE  TRUE FALSE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   </a:t>
            </a:r>
            <a:r>
              <a:rPr>
                <a:solidFill>
                  <a:srgbClr val="5E5E5E"/>
                </a:solidFill>
                <a:latin typeface="Courier"/>
              </a:rPr>
              <a:t># count the TRUEs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for </a:t>
            </a:r>
            <a:r>
              <a:rPr sz="2000" i="1"/>
              <a:t>n</a:t>
            </a:r>
            <a:r>
              <a:rPr sz="2000"/>
              <a:t> every time you compute an SE — even when you’re sure there are no missing values. Field data rarely stays that clean.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it works, step by step: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missing value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!is.na(x)</a:t>
            </a:r>
            <a:r>
              <a:rPr/>
              <a:t> →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sum(...)</a:t>
            </a:r>
            <a:r>
              <a:rPr/>
              <a:t> → adds up the </a:t>
            </a:r>
            <a:r>
              <a:rPr>
                <a:latin typeface="Courier"/>
              </a:rPr>
              <a:t>TRUE</a:t>
            </a:r>
            <a:r>
              <a:rPr/>
              <a:t>s (</a:t>
            </a:r>
            <a:r>
              <a:rPr>
                <a:latin typeface="Courier"/>
              </a:rPr>
              <a:t>TRUE</a:t>
            </a:r>
            <a:r>
              <a:rPr/>
              <a:t> = 1)</a:t>
            </a:r>
          </a:p>
          <a:p>
            <a:pPr lvl="0" indent="0" marL="0">
              <a:buNone/>
            </a:pPr>
            <a:r>
              <a:rPr/>
              <a:t>📖 R4DS §18 — Missing Values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Fix — Applied to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Applied to our real data — even with no NAs, make it a habit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n_shady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n_sunny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(sunny_lengths))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n_shady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n_sunny</a:t>
            </a:r>
          </a:p>
          <a:p>
            <a:pPr lvl="0" indent="0">
              <a:buNone/>
            </a:pPr>
            <a:r>
              <a:rPr>
                <a:latin typeface="Courier"/>
              </a:rPr>
              <a:t>[1] 24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Even when you’re confident a column has zero missing values, run it through </a:t>
            </a:r>
            <a:r>
              <a:rPr sz="2000">
                <a:latin typeface="Courier"/>
              </a:rPr>
              <a:t>sum(!is.na())</a:t>
            </a:r>
            <a:r>
              <a:rPr sz="2000"/>
              <a:t> anyway — it costs nothing and field data rarely stays clean for long.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Standard Error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Error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you know the </a:t>
                </a:r>
                <a:r>
                  <a:rPr b="1"/>
                  <a:t>mean</a:t>
                </a:r>
                <a:r>
                  <a:rPr/>
                  <a:t> — not the spread of raw data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grows: more data → a more precise estimate of the mean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whenever we’re making a claim about a group mean.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se_shady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(shady_lengths) 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(n_shady)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se_sunny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(sunny_lengths)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(n_sunny)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0.39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sqrt(length(x))</a:t>
            </a:r>
            <a:r>
              <a:rPr sz="2000"/>
              <a:t> and </a:t>
            </a:r>
            <a:r>
              <a:rPr sz="2000">
                <a:latin typeface="Courier"/>
              </a:rPr>
              <a:t>sqrt(sum(!is.na(x)))</a:t>
            </a:r>
            <a:r>
              <a:rPr sz="2000"/>
              <a:t> give the </a:t>
            </a:r>
            <a:r>
              <a:rPr sz="2000" i="1"/>
              <a:t>same</a:t>
            </a:r>
            <a:r>
              <a:rPr sz="2000"/>
              <a:t> answer only when there are zero missing values. Don’t assume — check.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All Stats, One Group, Base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n_l  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(shady_lengths))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med_l  &lt;- 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(shady_lengths,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se_l   &lt;- sd_l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(n_l)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Shady side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"n      ="</a:t>
            </a:r>
            <a:r>
              <a:rPr>
                <a:solidFill>
                  <a:srgbClr val="003B4F"/>
                </a:solidFill>
                <a:latin typeface="Courier"/>
              </a:rPr>
              <a:t>, n_l,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"Mean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(mean_l,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"Median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(med_l,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"SD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"SE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Shady side ---
 n      = 24 
 Mean   = 20.42 
 Median = 20.5 
 SD     = 2.45 
 SE     = 0.5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Every function takes </a:t>
            </a:r>
            <a:r>
              <a:rPr>
                <a:latin typeface="Courier"/>
              </a:rPr>
              <a:t>na.rm = TRUE</a:t>
            </a:r>
          </a:p>
          <a:p>
            <a:pPr lvl="0"/>
            <a:r>
              <a:rPr>
                <a:latin typeface="Courier"/>
              </a:rPr>
              <a:t>cat()</a:t>
            </a:r>
            <a:r>
              <a:rPr/>
              <a:t> prints clean, labeled output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Copy-pasting this block for every group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exists to remove.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6b · </a:t>
            </a:r>
            <a:r>
              <a:rPr>
                <a:latin typeface="Courier"/>
              </a:rPr>
              <a:t>skimr</a:t>
            </a:r>
            <a:r>
              <a:rPr/>
              <a:t> — a Fast Full-Dataset Overview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Every Column, One Command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"skimr"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once per machine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pine_df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character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character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3600"/>
                <a:gridCol w="609600"/>
                <a:gridCol w="863600"/>
                <a:gridCol w="241300"/>
                <a:gridCol w="241300"/>
                <a:gridCol w="368300"/>
                <a:gridCol w="558800"/>
                <a:gridCol w="6731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empty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n_unique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whitespace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n_s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sun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gives you n, missing count, mean, SD, and a tiny inline histogram for </a:t>
            </a:r>
            <a:r>
              <a:rPr sz="2000" b="1"/>
              <a:t>every numeric column</a:t>
            </a:r>
            <a:r>
              <a:rPr sz="2000"/>
              <a:t> — and counts for every character column — in one call. It’s the fastest way to sanity-check a dataset the moment you load it.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skimr</a:t>
            </a:r>
            <a:r>
              <a:rPr/>
              <a:t> — Doesn’t Replace, Just Speeds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Same idea, restricted to numeric columns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(length_mm, tree_no)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select(pine_df, length_mm…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48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4700"/>
                <a:gridCol w="558800"/>
                <a:gridCol w="774700"/>
                <a:gridCol w="330200"/>
                <a:gridCol w="279400"/>
                <a:gridCol w="165100"/>
                <a:gridCol w="330200"/>
                <a:gridCol w="279400"/>
                <a:gridCol w="330200"/>
                <a:gridCol w="279400"/>
                <a:gridCol w="330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length_mm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3.53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17.5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▆▇▅▆▃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tree_no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1.75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▇▇▁▇▇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skim()</a:t>
            </a:r>
            <a:r>
              <a:rPr sz="2000"/>
              <a:t> is a first look, not a final answer. It doesn’t know that </a:t>
            </a:r>
            <a:r>
              <a:rPr sz="2000">
                <a:latin typeface="Courier"/>
              </a:rPr>
              <a:t>length_mm</a:t>
            </a:r>
            <a:r>
              <a:rPr sz="2000"/>
              <a:t> should be split by </a:t>
            </a:r>
            <a:r>
              <a:rPr sz="2000">
                <a:latin typeface="Courier"/>
              </a:rPr>
              <a:t>n_s</a:t>
            </a:r>
            <a:r>
              <a:rPr sz="2000"/>
              <a:t> — for real per-group comparisons, you still need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, next.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Tidy Group Stats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the result have? (Hint: how many values does </a:t>
            </a:r>
            <a:r>
              <a:rPr sz="2000">
                <a:latin typeface="Courier"/>
              </a:rPr>
              <a:t>n_s</a:t>
            </a:r>
            <a:r>
              <a:rPr sz="2000"/>
              <a:t> take?)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side_stats_df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med_mm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median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side_stats_df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n_s       n mean_mm med_mm sd_mm se_mm
  &lt;chr&gt; &lt;int&gt;   &lt;dbl&gt;  &lt;dbl&gt; &lt;dbl&gt; &lt;dbl&gt;
1 n        24    20.4   20.5  2.45  0.5 
2 s        24    14.9   15    1.91  0.39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group_by(n_s)</a:t>
            </a:r>
            <a:r>
              <a:rPr/>
              <a:t> splits the data by side</a:t>
            </a:r>
          </a:p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each group to </a:t>
            </a:r>
            <a:r>
              <a:rPr b="1"/>
              <a:t>one row</a:t>
            </a:r>
            <a:r>
              <a:rPr/>
              <a:t> of stats</a:t>
            </a:r>
          </a:p>
          <a:p>
            <a:pPr lvl="0"/>
            <a:r>
              <a:rPr/>
              <a:t>Both groups, one clean table — no copy-paste</a:t>
            </a:r>
          </a:p>
          <a:p>
            <a:pPr lvl="0"/>
            <a:r>
              <a:rPr/>
              <a:t>A column you just created (</a:t>
            </a:r>
            <a:r>
              <a:rPr>
                <a:latin typeface="Courier"/>
              </a:rPr>
              <a:t>sd_mm</a:t>
            </a:r>
            <a:r>
              <a:rPr/>
              <a:t>) can feed the next one (</a:t>
            </a:r>
            <a:r>
              <a:rPr>
                <a:latin typeface="Courier"/>
              </a:rPr>
              <a:t>se_mm</a:t>
            </a:r>
            <a:r>
              <a:rPr/>
              <a:t>)</a:t>
            </a:r>
          </a:p>
          <a:p>
            <a:pPr lvl="0" indent="0" marL="0">
              <a:buNone/>
            </a:pPr>
            <a:r>
              <a:rPr/>
              <a:t>📖 R4DS §3.5 — </a:t>
            </a:r>
            <a:r>
              <a:rPr>
                <a:latin typeface="Courier"/>
              </a:rPr>
              <a:t>summarize()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Grouping by More Than One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team_stats_df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(group, n_s)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team_stats_df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5
  group       n_s       n mean_mm se_mm
  &lt;chr&gt;       &lt;chr&gt; &lt;int&gt;   &lt;dbl&gt; &lt;dbl&gt;
1 cephalopods n         6    21    1.24
2 cephalopods s         6    15    0.58
3 crayfish    n         6    21    1.24
4 crayfish    s         6    15    0.58
5 salmon      n         6    19.8  0.79
6 salmon      s         6    12.8  0.4 
7 snail       n         6    19.8  0.79
8 snail       s         6    16.8  0.6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group_by(group, n_s)</a:t>
            </a:r>
            <a:r>
              <a:rPr/>
              <a:t> splits by </a:t>
            </a:r>
            <a:r>
              <a:rPr b="1"/>
              <a:t>field team, then side</a:t>
            </a:r>
            <a:r>
              <a:rPr/>
              <a:t> — one row per combination</a:t>
            </a:r>
          </a:p>
          <a:p>
            <a:pPr lvl="0"/>
            <a:r>
              <a:rPr>
                <a:latin typeface="Courier"/>
              </a:rPr>
              <a:t>.groups = "drop"</a:t>
            </a:r>
            <a:r>
              <a:rPr/>
              <a:t> turns off the grouping once you’re done — good habit, avoids surprises later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Four teams × two sides = 8 rows. Does every team show the same shady-vs-sunny pattern, or do some disagree?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7b · Bringing Back </a:t>
            </a:r>
            <a:r>
              <a:rPr>
                <a:latin typeface="Courier"/>
              </a:rPr>
              <a:t>case_when()</a:t>
            </a:r>
            <a:r>
              <a:rPr/>
              <a:t> from Wrangling Your Data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Summarizing the Categories You Built Last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grouping by the </a:t>
            </a:r>
            <a:r>
              <a:rPr sz="2000">
                <a:latin typeface="Courier"/>
              </a:rPr>
              <a:t>size_class</a:t>
            </a:r>
            <a:r>
              <a:rPr sz="2000"/>
              <a:t> bins (</a:t>
            </a:r>
            <a:r>
              <a:rPr sz="2000">
                <a:latin typeface="Courier"/>
              </a:rPr>
              <a:t>"short"</a:t>
            </a:r>
            <a:r>
              <a:rPr sz="2000"/>
              <a:t>/</a:t>
            </a:r>
            <a:r>
              <a:rPr sz="2000">
                <a:latin typeface="Courier"/>
              </a:rPr>
              <a:t>"medium"</a:t>
            </a:r>
            <a:r>
              <a:rPr sz="2000"/>
              <a:t>/</a:t>
            </a:r>
            <a:r>
              <a:rPr sz="2000">
                <a:latin typeface="Courier"/>
              </a:rPr>
              <a:t>"long"</a:t>
            </a:r>
            <a:r>
              <a:rPr sz="2000"/>
              <a:t>) from Wrangling Your Data’s </a:t>
            </a:r>
            <a:r>
              <a:rPr sz="2000">
                <a:latin typeface="Courier"/>
              </a:rPr>
              <a:t>case_when()</a:t>
            </a:r>
            <a:r>
              <a:rPr sz="2000"/>
              <a:t>. How many rows will the summary have?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size_class_stats_df &lt;- pine_df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"short"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length_mm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"medium"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"long"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(size_class)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se_mm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size_class_stats_df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size_class     n mean_mm se_mm
  &lt;chr&gt;      &lt;int&gt;   &lt;dbl&gt; &lt;dbl&gt;
1 long          16    21.8  0.42
2 medium        17    17.3  0.28
3 short         15    13.7  0.3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and </a:t>
            </a:r>
            <a:r>
              <a:rPr sz="2000">
                <a:latin typeface="Courier"/>
              </a:rPr>
              <a:t>group_by()</a:t>
            </a:r>
            <a:r>
              <a:rPr sz="2000"/>
              <a:t> + </a:t>
            </a:r>
            <a:r>
              <a:rPr sz="2000">
                <a:latin typeface="Courier"/>
              </a:rPr>
              <a:t>summarize()</a:t>
            </a:r>
            <a:r>
              <a:rPr sz="2000"/>
              <a:t> chain together like any other verbs — you don’t need to save the </a:t>
            </a:r>
            <a:r>
              <a:rPr sz="2000">
                <a:latin typeface="Courier"/>
              </a:rPr>
              <a:t>case_when()</a:t>
            </a:r>
            <a:r>
              <a:rPr sz="2000"/>
              <a:t> column separately first. This is the wrangling → describing pipeline in one block.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Computed </a:t>
            </a:r>
            <a:r>
              <a:rPr b="1"/>
              <a:t>mean</a:t>
            </a:r>
            <a:r>
              <a:rPr/>
              <a:t> and </a:t>
            </a:r>
            <a:r>
              <a:rPr b="1"/>
              <a:t>median</a:t>
            </a:r>
            <a:r>
              <a:rPr/>
              <a:t>, and know why they can disagree</a:t>
            </a:r>
          </a:p>
          <a:p>
            <a:pPr lvl="0"/>
            <a:r>
              <a:rPr/>
              <a:t>Computed </a:t>
            </a:r>
            <a:r>
              <a:rPr b="1"/>
              <a:t>variance</a:t>
            </a:r>
            <a:r>
              <a:rPr/>
              <a:t> and </a:t>
            </a:r>
            <a:r>
              <a:rPr b="1"/>
              <a:t>SD</a:t>
            </a:r>
            <a:r>
              <a:rPr/>
              <a:t> by hand, with real formulas</a:t>
            </a:r>
          </a:p>
          <a:p>
            <a:pPr lvl="0"/>
            <a:r>
              <a:rPr/>
              <a:t>Computed </a:t>
            </a:r>
            <a:r>
              <a:rPr b="1"/>
              <a:t>quantiles</a:t>
            </a:r>
            <a:r>
              <a:rPr/>
              <a:t>, </a:t>
            </a:r>
            <a:r>
              <a:rPr b="1"/>
              <a:t>range</a:t>
            </a:r>
            <a:r>
              <a:rPr/>
              <a:t>, and </a:t>
            </a:r>
            <a:r>
              <a:rPr b="1"/>
              <a:t>IQR</a:t>
            </a:r>
            <a:r>
              <a:rPr/>
              <a:t> — and saw the IQR is literally the boxplot’s box</a:t>
            </a:r>
          </a:p>
          <a:p>
            <a:pPr lvl="0"/>
            <a:r>
              <a:rPr/>
              <a:t>Found the </a:t>
            </a:r>
            <a:r>
              <a:rPr b="1">
                <a:latin typeface="Courier"/>
              </a:rPr>
              <a:t>length()</a:t>
            </a:r>
            <a:r>
              <a:rPr b="1"/>
              <a:t> trap</a:t>
            </a:r>
            <a:r>
              <a:rPr/>
              <a:t> and fixed it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Computed </a:t>
            </a:r>
            <a:r>
              <a:rPr b="1"/>
              <a:t>SE</a:t>
            </a:r>
            <a:r>
              <a:rPr/>
              <a:t> and know how it differs from SD</a:t>
            </a:r>
          </a:p>
          <a:p>
            <a:pPr lvl="0"/>
            <a:r>
              <a:rPr/>
              <a:t>Got a fast full-dataset overview with </a:t>
            </a:r>
            <a:r>
              <a:rPr b="1">
                <a:latin typeface="Courier"/>
              </a:rPr>
              <a:t>skimr::skim()</a:t>
            </a:r>
          </a:p>
          <a:p>
            <a:pPr lvl="0"/>
            <a:r>
              <a:rPr/>
              <a:t>Used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to get every group’s stats in one table — including the </a:t>
            </a:r>
            <a:r>
              <a:rPr>
                <a:latin typeface="Courier"/>
              </a:rPr>
              <a:t>case_when()</a:t>
            </a:r>
            <a:r>
              <a:rPr/>
              <a:t> categories from Wrangling Your Data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compute n, mean, SD, and SE for </a:t>
            </a:r>
            <a:r>
              <a:rPr sz="2000">
                <a:latin typeface="Courier"/>
              </a:rPr>
              <a:t>length_mm</a:t>
            </a:r>
            <a:r>
              <a:rPr sz="2000"/>
              <a:t> grouped by </a:t>
            </a:r>
            <a:r>
              <a:rPr sz="2000">
                <a:latin typeface="Courier"/>
              </a:rPr>
              <a:t>n_s</a:t>
            </a:r>
            <a:r>
              <a:rPr sz="2000"/>
              <a:t>, and again grouped by </a:t>
            </a:r>
            <a:r>
              <a:rPr sz="2000">
                <a:latin typeface="Courier"/>
              </a:rPr>
              <a:t>group</a:t>
            </a:r>
            <a:r>
              <a:rPr sz="2000"/>
              <a:t>. Save the summary table with </a:t>
            </a:r>
            <a:r>
              <a:rPr sz="2000">
                <a:latin typeface="Courier"/>
              </a:rPr>
              <a:t>write_csv()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Graphing Effectively</a:t>
            </a:r>
          </a:p>
          <a:p>
            <a:pPr lvl="0"/>
            <a:r>
              <a:rPr sz="2000"/>
              <a:t>Boxplots and jittered points, done right</a:t>
            </a:r>
          </a:p>
          <a:p>
            <a:pPr lvl="0"/>
            <a:r>
              <a:rPr sz="2000"/>
              <a:t>Plotting mean ± SE directly with </a:t>
            </a:r>
            <a:r>
              <a:rPr sz="2000">
                <a:latin typeface="Courier"/>
              </a:rPr>
              <a:t>stat_summary()</a:t>
            </a:r>
          </a:p>
          <a:p>
            <a:pPr lvl="0"/>
            <a:r>
              <a:rPr sz="2000"/>
              <a:t>Faceting, themes, and </a:t>
            </a:r>
            <a:r>
              <a:rPr sz="2000">
                <a:latin typeface="Courier"/>
              </a:rPr>
              <a:t>ggsave()</a:t>
            </a:r>
            <a:r>
              <a:rPr sz="2000"/>
              <a:t> for a publication-ready figure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Did you forget </a:t>
            </a:r>
            <a:r>
              <a:rPr>
                <a:latin typeface="Courier"/>
              </a:rPr>
              <a:t>na.rm = TRUE</a:t>
            </a:r>
            <a:r>
              <a:rPr/>
              <a:t>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Describing Your Data</dc:title>
  <dc:creator>Bill Perry</dc:creator>
  <cp:keywords/>
  <dc:description>Mean, median, variance, standard deviation, and standard error; quantiles, range, and IQR; the length() trap and the sum(!is.na()) fix; a fast full-dataset overview with skimr; and getting tidy per-group summaries with group_by() + summarize() — all on the pine needle dataset.</dc:description>
  <dcterms:created xsi:type="dcterms:W3CDTF">2026-08-21T18:40:28Z</dcterms:created>
  <dcterms:modified xsi:type="dcterms:W3CDTF">2026-08-21T18:40:28Z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3</vt:lpwstr>
  </property>
  <property fmtid="{D5CDD505-2E9C-101B-9397-08002B2CF9AE}" pid="12" name="resources">
    <vt:lpwstr/>
  </property>
  <property fmtid="{D5CDD505-2E9C-101B-9397-08002B2CF9AE}" pid="13" name="subtitle">
    <vt:lpwstr>Mean, spread, counting correctly, and group summaries</vt:lpwstr>
  </property>
  <property fmtid="{D5CDD505-2E9C-101B-9397-08002B2CF9AE}" pid="14" name="toc-title">
    <vt:lpwstr>Table of contents</vt:lpwstr>
  </property>
  <property fmtid="{D5CDD505-2E9C-101B-9397-08002B2CF9AE}" pid="15" name="week">
    <vt:lpwstr>2</vt:lpwstr>
  </property>
</Properties>
</file>