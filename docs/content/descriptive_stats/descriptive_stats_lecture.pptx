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EDA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EDA.html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ummarize" TargetMode="External" /><Relationship Id="rId3" Type="http://schemas.openxmlformats.org/officeDocument/2006/relationships/hyperlink" Target="https://r4ds.hadley.nz/data-transform.html#sec-summarize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#sec-summarize" TargetMode="External" /><Relationship Id="rId4" Type="http://schemas.openxmlformats.org/officeDocument/2006/relationships/hyperlink" Target="https://r4ds.hadley.nz/data-transform.html#sec-summarize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numbers.html" TargetMode="External" /><Relationship Id="rId7" Type="http://schemas.openxmlformats.org/officeDocument/2006/relationships/hyperlink" Target="https://r4ds.hadley.nz/missing-values.html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shady and sunny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side</a:t>
            </a:r>
            <a:r>
              <a:rPr sz="2000"/>
              <a:t> is </a:t>
            </a:r>
            <a:r>
              <a:rPr sz="2000">
                <a:latin typeface="Courier"/>
              </a:rPr>
              <a:t>"shady"</a:t>
            </a:r>
            <a:r>
              <a:rPr sz="2000"/>
              <a:t> or </a:t>
            </a:r>
            <a:r>
              <a:rPr sz="2000">
                <a:latin typeface="Courier"/>
              </a:rPr>
              <a:t>"sunny"</a:t>
            </a:r>
            <a:r>
              <a:rPr sz="2000"/>
              <a:t>; </a:t>
            </a:r>
            <a:r>
              <a:rPr sz="2000">
                <a:latin typeface="Courier"/>
              </a:rPr>
              <a:t>team</a:t>
            </a:r>
            <a:r>
              <a:rPr sz="2000"/>
              <a:t> is the field team name.</a:t>
            </a:r>
            <a:br/>
            <a:r>
              <a:rPr sz="2000"/>
              <a:t>Four teams, four trees, eight needles per side — 64 rows, but only 4 trees.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disproportionately affects the mean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</a:t>
                </a:r>
                <a:br/>
                <a:r>
                  <a:rPr/>
                  <a:t>Is that a fair summary?</a:t>
                </a:r>
                <a:br/>
                <a:r>
                  <a:rPr/>
                  <a:t>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</a:t>
                </a:r>
                <a:br/>
                <a:r>
                  <a:rPr sz="2000"/>
                  <a:t>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one side's rows -- still a data frame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mean_mm
    &lt;dbl&gt;
1    14.1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 and gives back a data frame. </a:t>
            </a:r>
            <a:r>
              <a:rPr sz="2000">
                <a:latin typeface="Courier"/>
              </a:rPr>
              <a:t>summarize()</a:t>
            </a:r>
            <a:r>
              <a:rPr sz="2000"/>
              <a:t> collapses that data frame to </a:t>
            </a:r>
            <a:r>
              <a:rPr sz="2000" b="1"/>
              <a:t>one row</a:t>
            </a:r>
            <a:r>
              <a:rPr sz="2000"/>
              <a:t> of statistics — so we stay in data frames the whole way, exactly like every other analysis this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mean as a measure of location.</a:t>
            </a:r>
            <a:br/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Statistics: Measures of Location and Spread.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14.2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15.4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median and why a robust measure of location matters with skewed data.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(s</a:t>
            </a:r>
            <a:r>
              <a:rPr baseline="30000"/>
              <a:t>2</a:t>
            </a:r>
            <a:r>
              <a:rPr/>
              <a:t>) and Standard Deviation (sd)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 as the standard deviation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/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</a:t>
                </a:r>
              </a:p>
              <a:p>
                <a:pPr lvl="0"/>
                <a:r>
                  <a:rPr sz="2000"/>
                  <a:t>hard to interpret directly.</a:t>
                </a:r>
              </a:p>
              <a:p>
                <a:pPr lvl="0"/>
                <a:r>
                  <a:rPr sz="2000"/>
                  <a:t>Standard deviation (SD) is why we usually report it instead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7.74  2.78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6.73  2.59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/>
            <a:r>
              <a:rPr sz="2000"/>
              <a:t>For roughly normal data:</a:t>
            </a:r>
          </a:p>
          <a:p>
            <a:pPr lvl="1"/>
            <a:r>
              <a:rPr sz="2000"/>
              <a:t>~68% of values fall within mean ± 1 SD</a:t>
            </a:r>
          </a:p>
          <a:p>
            <a:pPr lvl="1"/>
            <a:r>
              <a:rPr sz="2000"/>
              <a:t>~95% within mean ± 2 SD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variance, standard deviation, and the coefficient of variation.</a:t>
            </a:r>
            <a:br/>
            <a:r>
              <a:rPr sz="2000"/>
              <a:t>Gotelli &amp; Ellison, Ch. 3 — Summary Statistics, for the same measures of spread.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     </a:t>
            </a:r>
            <a:r>
              <a:rPr>
                <a:solidFill>
                  <a:srgbClr val="5E5E5E"/>
                </a:solidFill>
                <a:latin typeface="Courier"/>
              </a:rPr>
              <a:t># the five numbers 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5E5E5E"/>
                </a:solidFill>
                <a:latin typeface="Courier"/>
              </a:rPr>
              <a:t># boxplot draws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range_mm =</a:t>
            </a:r>
            <a:r>
              <a:rPr>
                <a:solidFill>
                  <a:srgbClr val="003B4F"/>
                </a:solidFill>
                <a:latin typeface="Courier"/>
              </a:rPr>
              <a:t> max_mm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min_mm,            </a:t>
            </a:r>
            <a:r>
              <a:rPr>
                <a:solidFill>
                  <a:srgbClr val="5E5E5E"/>
                </a:solidFill>
                <a:latin typeface="Courier"/>
              </a:rPr>
              <a:t># max minus min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       </a:t>
            </a:r>
            <a:r>
              <a:rPr>
                <a:solidFill>
                  <a:srgbClr val="5E5E5E"/>
                </a:solidFill>
                <a:latin typeface="Courier"/>
              </a:rPr>
              <a:t># q75 minus q25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min_mm q25_mm med_mm q75_mm max_mm range_mm iqr_mm
   &lt;dbl&gt;  &lt;dbl&gt;  &lt;dbl&gt;  &lt;dbl&gt;  &lt;dbl&gt;    &lt;dbl&gt;  &lt;dbl&gt;
1   7.23   11.7   14.2   15.8   20.7     13.5   4.07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(shady_df,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med_mm</a:t>
            </a:r>
            <a:r>
              <a:rPr sz="2000"/>
              <a:t> and </a:t>
            </a:r>
            <a:r>
              <a:rPr sz="2000">
                <a:latin typeface="Courier"/>
              </a:rPr>
              <a:t>q50</a:t>
            </a:r>
            <a:r>
              <a:rPr sz="2000"/>
              <a:t> are the same number. </a:t>
            </a:r>
            <a:r>
              <a:rPr sz="2000">
                <a:latin typeface="Courier"/>
              </a:rPr>
              <a:t>iqr_mm</a:t>
            </a:r>
            <a:r>
              <a:rPr sz="2000"/>
              <a:t> is just </a:t>
            </a:r>
            <a:r>
              <a:rPr sz="2000">
                <a:latin typeface="Courier"/>
              </a:rPr>
              <a:t>q75_mm - q25_mm</a:t>
            </a:r>
            <a:r>
              <a:rPr sz="2000"/>
              <a:t>, computed for you. And because </a:t>
            </a:r>
            <a:r>
              <a:rPr sz="2000">
                <a:latin typeface="Courier"/>
              </a:rPr>
              <a:t>shady_df</a:t>
            </a:r>
            <a:r>
              <a:rPr sz="2000"/>
              <a:t> is a data frame, it drops straight into </a:t>
            </a:r>
            <a:r>
              <a:rPr sz="2000">
                <a:latin typeface="Courier"/>
              </a:rPr>
              <a:t>ggplot()</a:t>
            </a:r>
            <a:r>
              <a:rPr sz="2000"/>
              <a:t> — no special handling.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q25_mm q75_mm iqr_mm
   &lt;dbl&gt;  &lt;dbl&gt;  &lt;dbl&gt;
1   13.2   17.3   4.14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the boxplot and the five-number summary behind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data frame has 5 rows, but 2 values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n()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rows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row — including NAs!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 rows missing
  &lt;int&gt;   &lt;int&gt;
1     5      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n()</a:t>
            </a:r>
            <a:r>
              <a:rPr sz="2000"/>
              <a:t> — counts </a:t>
            </a:r>
            <a:r>
              <a:rPr sz="2000" b="1"/>
              <a:t>rows</a:t>
            </a:r>
            <a:r>
              <a:rPr sz="2000"/>
              <a:t>, whether or not the value is there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n() as your sample size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wrong_n right_n sd_mm wrong_se right_se
    &lt;int&gt;   &lt;int&gt; &lt;dbl&gt;    &lt;dbl&gt;    &lt;dbl&gt;
1       5       3  2.08    0.931     1.20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n()</a:t>
            </a:r>
            <a:r>
              <a:rPr sz="2000"/>
              <a:t> happily returns 5 when only 3 values are real — a silent, common error, and the two SEs above differ because of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(length_mm),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is_real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length_mm is_missing is_real
      &lt;dbl&gt; &lt;lgl&gt;      &lt;lgl&gt;  
1         4 FALSE      TRUE   
2         3 FALSE      TRUE   
3        NA TRUE       FALSE  
4         7 FALSE      TRUE   
5        NA TRUE       FALSE  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n_real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n_real
   &lt;int&gt;
1     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sum(!is.na(needle_length_mm))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never </a:t>
            </a:r>
            <a:r>
              <a:rPr sz="2000">
                <a:latin typeface="Courier"/>
              </a:rPr>
              <a:t>n()</a:t>
            </a:r>
            <a:r>
              <a:rPr sz="2000"/>
              <a:t>.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shows the two logical columns; </a:t>
            </a:r>
            <a:r>
              <a:rPr>
                <a:latin typeface="Courier"/>
              </a:rPr>
              <a:t>summarize()</a:t>
            </a:r>
            <a:r>
              <a:rPr/>
              <a:t> collapses them to the count.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2.78  0.49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2.59  0.46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sqrt(n())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is the chapter for the standard error and the sampling distribution of the mean.</a:t>
            </a:r>
            <a:br/>
            <a:r>
              <a:rPr sz="2000"/>
              <a:t>Gotelli &amp; Ellison, Ch. 3 — Summary Statistics, covers the standard error alongside the standard deviation.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One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   n mean_mm med_mm sd_mm se_mm
  &lt;int&gt;   &lt;dbl&gt;  &lt;dbl&gt; &lt;dbl&gt; &lt;dbl&gt;
1    32    14.1   14.2  2.78  0.49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/>
              <a:t>One row out, already labeled — and it is a data frame, so it pipes onward into </a:t>
            </a:r>
            <a:r>
              <a:rPr>
                <a:latin typeface="Courier"/>
              </a:rPr>
              <a:t>write_csv()</a:t>
            </a:r>
            <a:r>
              <a:rPr/>
              <a:t> or </a:t>
            </a:r>
            <a:r>
              <a:rPr>
                <a:latin typeface="Courier"/>
              </a:rPr>
              <a:t>ggplot()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</a:t>
            </a:r>
            <a:r>
              <a:rPr sz="2000">
                <a:latin typeface="Courier"/>
              </a:rPr>
              <a:t>shady_df</a:t>
            </a:r>
            <a:r>
              <a:rPr sz="2000"/>
              <a:t> and again for </a:t>
            </a:r>
            <a:r>
              <a:rPr sz="2000">
                <a:latin typeface="Courier"/>
              </a:rPr>
              <a:t>sunny_df</a:t>
            </a:r>
            <a:r>
              <a:rPr sz="2000"/>
              <a:t>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source_file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replicate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▇▃▇▃▇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  <a:r>
              <a:rPr sz="2000"/>
              <a:t> is this habit written out at length.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needle_le…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skim()</a:t>
            </a:r>
            <a:r>
              <a:rPr sz="2000"/>
              <a:t> is a first look, not a final answer.</a:t>
            </a:r>
          </a:p>
          <a:p>
            <a:pPr lvl="0"/>
            <a:r>
              <a:rPr sz="2000"/>
              <a:t>you can pipe groups into it to show that </a:t>
            </a:r>
            <a:r>
              <a:rPr sz="2000">
                <a:latin typeface="Courier"/>
              </a:rPr>
              <a:t>needle_length_mm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side</a:t>
            </a:r>
          </a:p>
          <a:p>
            <a:pPr lvl="1"/>
            <a:r>
              <a:rPr sz="2000"/>
              <a:t>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mean_mm med_mm sd_mm se_mm
  &lt;chr&gt; &lt;int&gt;   &lt;dbl&gt;  &lt;dbl&gt; &lt;dbl&gt; &lt;dbl&gt;
1 shady    32    14.1   14.2  2.78  0.49
2 sunny    32    15.2   15.4  2.59  0.46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Round last, not first</a:t>
            </a:r>
          </a:p>
          <a:p>
            <a:pPr lvl="0" indent="0" marL="1270000">
              <a:buNone/>
            </a:pPr>
            <a:r>
              <a:rPr sz="2000"/>
              <a:t>Tempting to write </a:t>
            </a:r>
            <a:r>
              <a:rPr sz="2000">
                <a:latin typeface="Courier"/>
              </a:rPr>
              <a:t>se_mm = sd_mm / sqrt(n)</a:t>
            </a:r>
            <a:r>
              <a:rPr sz="2000"/>
              <a:t> and reuse the column above. Don’t — </a:t>
            </a:r>
            <a:r>
              <a:rPr sz="2000">
                <a:latin typeface="Courier"/>
              </a:rPr>
              <a:t>sd_mm</a:t>
            </a:r>
            <a:r>
              <a:rPr sz="2000"/>
              <a:t> has already been </a:t>
            </a:r>
            <a:r>
              <a:rPr sz="2000" b="1"/>
              <a:t>rounded</a:t>
            </a:r>
            <a:r>
              <a:rPr sz="2000"/>
              <a:t>, so the SE inherits that error. Compute from the raw values every time; round only what you print.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team       side      n mean_mm se_mm
  &lt;chr&gt;      &lt;chr&gt; &lt;int&gt;   &lt;dbl&gt; &lt;dbl&gt;
1 botany     shady     8    16.2  0.94
2 botany     sunny     8    17.3  0.44
3 grace_jace shady     8    15.4  0.61
4 grace_jace sunny     8    15.5  1.07
5 one        shady     8    13.2  0.78
6 one        sunny     8    14.2  0.63
7 waterbugs  shady     8    11.7  0.82
8 waterbugs  sunny     8    13.8  0.96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group_by(team, side)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shady-vs-sunny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7c · The </a:t>
            </a:r>
            <a:r>
              <a:rPr i="1"/>
              <a:t>n</a:t>
            </a:r>
            <a:r>
              <a:rPr/>
              <a:t> You Report Is a Choice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again at that </a:t>
            </a:r>
            <a:r>
              <a:rPr>
                <a:latin typeface="Courier"/>
              </a:rPr>
              <a:t>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side summary reported </a:t>
            </a:r>
            <a:r>
              <a:rPr b="1"/>
              <a:t>n = 32 per side</a:t>
            </a:r>
            <a:r>
              <a:rPr/>
              <a:t>. But where did 32 come from?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(side, team)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side  team           n
  &lt;chr&gt; &lt;chr&gt;      &lt;int&gt;
1 shady botany         8
2 shady grace_jace     8
3 shady one            8
4 shady waterbugs      8
5 sunny botany         8
6 sunny grace_jace     8
7 sunny one            8
8 sunny waterbugs      8</a:t>
            </a:r>
          </a:p>
          <a:p>
            <a:pPr lvl="0" indent="0" marL="0">
              <a:buNone/>
            </a:pPr>
            <a:r>
              <a:rPr/>
              <a:t>32 needles per side — but only </a:t>
            </a:r>
            <a:r>
              <a:rPr b="1"/>
              <a:t>4 trees</a:t>
            </a:r>
            <a:r>
              <a:rPr/>
              <a:t>. We measured 8 needles from each tree and then counted them as 8 independent facts about sun exposure.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This is the pseudoreplication from Getting Started, in a summary table.</a:t>
            </a:r>
            <a:r>
              <a:rPr sz="2000"/>
              <a:t> The </a:t>
            </a:r>
            <a:r>
              <a:rPr sz="2000">
                <a:latin typeface="Courier"/>
              </a:rPr>
              <a:t>n</a:t>
            </a:r>
            <a:r>
              <a:rPr sz="2000"/>
              <a:t> in your table is a claim about how much independent evidence you have. Right now that claim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Ask of every </a:t>
            </a:r>
            <a:r>
              <a:rPr sz="2000">
                <a:latin typeface="Courier"/>
              </a:rPr>
              <a:t>n</a:t>
            </a:r>
            <a:r>
              <a:rPr sz="2000"/>
              <a:t>: </a:t>
            </a:r>
            <a:r>
              <a:rPr sz="2000" b="1"/>
              <a:t>“n of what?”</a:t>
            </a:r>
            <a:br/>
            <a:r>
              <a:rPr sz="2000"/>
              <a:t>n = 32 needles is true.</a:t>
            </a:r>
            <a:br/>
            <a:r>
              <a:rPr sz="2000"/>
              <a:t>n = 32 </a:t>
            </a:r>
            <a:r>
              <a:rPr sz="2000" i="1"/>
              <a:t>independent measurements of sun exposure</a:t>
            </a:r>
            <a:r>
              <a:rPr sz="2000"/>
              <a:t> is not.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two-stage summary — the right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Stage 1</a:t>
            </a:r>
            <a:r>
              <a:rPr/>
              <a:t> — collapse each tree to one number: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Stage 2</a:t>
            </a:r>
            <a:r>
              <a:rPr/>
              <a:t> — now summarize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side_correct_df &lt;- team_means_df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n_trees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(team_mean_mm)),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(team_mean_mm),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(team_mean_mm)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(n_trees),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side_correct_df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side  n_trees mean_mm se_mm
  &lt;chr&gt;   &lt;int&gt;   &lt;dbl&gt; &lt;dbl&gt;
1 shady       4    14.1  1.01
2 sunny       4    15.2  0.79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</a:t>
            </a:r>
            <a:r>
              <a:rPr sz="2000" b="1"/>
              <a:t>twice</a:t>
            </a:r>
            <a:r>
              <a:rPr sz="2000"/>
              <a:t>: once to get down to the unit you actually replicated, once to describe those units.</a:t>
            </a:r>
          </a:p>
          <a:p>
            <a:pPr lvl="0" indent="0" marL="1270000">
              <a:buNone/>
            </a:pPr>
            <a:r>
              <a:rPr sz="2000"/>
              <a:t>You will use this pattern for the rest of the course.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changed, and what didn’t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900"/>
                <a:gridCol w="1993900"/>
                <a:gridCol w="1993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(n = 32 needles)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correct (n = 4 trees)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14.12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15.21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0.79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Coming in Week 4</a:t>
            </a:r>
          </a:p>
          <a:p>
            <a:pPr lvl="0" indent="0" marL="1270000">
              <a:buNone/>
            </a:pPr>
            <a:r>
              <a:rPr sz="2000"/>
              <a:t>An SE that is twice as big makes a difference that is much harder to call real. That is exactly what we will see when we run the t-test — and why the </a:t>
            </a:r>
            <a:r>
              <a:rPr sz="2000" b="1"/>
              <a:t>paired</a:t>
            </a:r>
            <a:r>
              <a:rPr sz="2000"/>
              <a:t> test, which respects the tree structure, is the honest one.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See It — Boxplot with Mean ± SE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Number Today Has a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 shows the middle 50% of 32 needles. The error bar shows the mean ± 1 SE. Which will be </a:t>
            </a:r>
            <a:r>
              <a:rPr sz="2000" b="1"/>
              <a:t>narrower</a:t>
            </a:r>
            <a:r>
              <a:rPr sz="2000"/>
              <a:t>, and why?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1 — spread of all 64 needles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2 — each team's mean, faded, behind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3 — mean and standard error, on 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stat_summary()</a:t>
            </a:r>
            <a:r>
              <a:rPr sz="2000"/>
              <a:t> computes a statistic </a:t>
            </a:r>
            <a:r>
              <a:rPr sz="2000" b="1"/>
              <a:t>while plotting</a:t>
            </a:r>
            <a:r>
              <a:rPr sz="2000"/>
              <a:t> — no summary table needed first. </a:t>
            </a:r>
            <a:r>
              <a:rPr sz="2000">
                <a:latin typeface="Courier"/>
              </a:rPr>
              <a:t>fun = mean</a:t>
            </a:r>
            <a:r>
              <a:rPr sz="2000"/>
              <a:t> draws the mean;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draws mean ± 1 SE.</a:t>
            </a:r>
          </a:p>
        </p:txBody>
      </p:sp>
      <p:pic>
        <p:nvPicPr>
          <p:cNvPr descr="descriptive_stats_lecture_files/figure-pptx/descriptive-stats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Those Error Bars Are the Naive 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honest_plot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"Team 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plot on the previous slide fed </a:t>
            </a:r>
            <a:r>
              <a:rPr sz="2000">
                <a:latin typeface="Courier"/>
              </a:rPr>
              <a:t>stat_summary()</a:t>
            </a:r>
            <a:r>
              <a:rPr sz="2000"/>
              <a:t> all </a:t>
            </a:r>
            <a:r>
              <a:rPr sz="2000" b="1"/>
              <a:t>32 needles</a:t>
            </a:r>
            <a:r>
              <a:rPr sz="2000"/>
              <a:t> per side, so it drew the </a:t>
            </a:r>
            <a:r>
              <a:rPr sz="2000" b="1"/>
              <a:t>n = 32</a:t>
            </a:r>
            <a:r>
              <a:rPr sz="2000"/>
              <a:t> SE — the pseudoreplicated one. Feed it the </a:t>
            </a:r>
            <a:r>
              <a:rPr sz="2000" b="1"/>
              <a:t>4 team means</a:t>
            </a:r>
            <a:r>
              <a:rPr sz="2000"/>
              <a:t> instead and the error bars widen to the honest </a:t>
            </a:r>
            <a:r>
              <a:rPr sz="2000" b="1"/>
              <a:t>n = 4</a:t>
            </a:r>
            <a:r>
              <a:rPr sz="2000"/>
              <a:t>.</a:t>
            </a:r>
          </a:p>
        </p:txBody>
      </p:sp>
      <p:pic>
        <p:nvPicPr>
          <p:cNvPr descr="descriptive_stats_lecture_files/figure-pptx/descriptive-stats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for each group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n()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/>
            <a:r>
              <a:rPr/>
              <a:t>Learned to ask </a:t>
            </a:r>
            <a:r>
              <a:rPr b="1"/>
              <a:t>“n of what?”</a:t>
            </a:r>
            <a:r>
              <a:rPr/>
              <a:t>, and used a </a:t>
            </a:r>
            <a:r>
              <a:rPr b="1"/>
              <a:t>two-stage summary</a:t>
            </a:r>
            <a:r>
              <a:rPr/>
              <a:t> to report the n we actually replicated</a:t>
            </a:r>
          </a:p>
          <a:p>
            <a:pPr lvl="0"/>
            <a:r>
              <a:rPr/>
              <a:t>Drew the whole thing: a boxplot with </a:t>
            </a:r>
            <a:r>
              <a:rPr b="1">
                <a:latin typeface="Courier"/>
              </a:rPr>
              <a:t>stat_summary()</a:t>
            </a:r>
            <a:r>
              <a:rPr/>
              <a:t> mean ± SE, and saw the error bars change when the n changes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needle_length_mm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side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team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3</a:t>
            </a:r>
            <a:r>
              <a:rPr/>
              <a:t>, Describing Data (mean, median, variance, SD, quantiles) and </a:t>
            </a:r>
            <a:r>
              <a:rPr b="1"/>
              <a:t>Ch. 4</a:t>
            </a:r>
            <a:r>
              <a:rPr/>
              <a:t>, Estimating with Uncertainty (the standard error and what it does </a:t>
            </a:r>
            <a:r>
              <a:rPr i="1"/>
              <a:t>not</a:t>
            </a:r>
            <a:r>
              <a:rPr/>
              <a:t> measure)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Statistics: Measures of Location and Spread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2 — Displaying Data, for the boxplot and the five-number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§3.5 — Groups and </a:t>
            </a:r>
            <a:r>
              <a:rPr sz="2000">
                <a:hlinkClick r:id="rId4"/>
                <a:latin typeface="Courier"/>
              </a:rPr>
              <a:t>summarize()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</a:p>
          <a:p>
            <a:pPr lvl="0"/>
            <a:r>
              <a:rPr sz="2000">
                <a:hlinkClick r:id="rId6"/>
              </a:rPr>
              <a:t>§13 — Numbers</a:t>
            </a:r>
            <a:r>
              <a:rPr sz="2000"/>
              <a:t> — counts and summary functions</a:t>
            </a:r>
          </a:p>
          <a:p>
            <a:pPr lvl="0"/>
            <a:r>
              <a:rPr sz="2000">
                <a:hlinkClick r:id="rId7"/>
              </a:rPr>
              <a:t>§18 — Missing values</a:t>
            </a:r>
            <a:r>
              <a:rPr sz="2000"/>
              <a:t> — the </a:t>
            </a:r>
            <a:r>
              <a:rPr sz="2000">
                <a:latin typeface="Courier"/>
              </a:rPr>
              <a:t>n()</a:t>
            </a:r>
            <a:r>
              <a:rPr sz="2000"/>
              <a:t> trap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2026-09-30T01:00:45Z</dcterms:created>
  <dcterms:modified xsi:type="dcterms:W3CDTF">2026-09-30T01:00:45Z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Mean, spread, counting correctly, and group summaries</vt:lpwstr>
  </property>
  <property fmtid="{D5CDD505-2E9C-101B-9397-08002B2CF9AE}" pid="16" name="toc-title">
    <vt:lpwstr>Table of contents</vt:lpwstr>
  </property>
  <property fmtid="{D5CDD505-2E9C-101B-9397-08002B2CF9AE}" pid="17" name="week">
    <vt:lpwstr>2</vt:lpwstr>
  </property>
</Properties>
</file>