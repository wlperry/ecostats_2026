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3" Type="http://schemas.openxmlformats.org/officeDocument/2006/relationships/viewProps" Target="viewProps.xml" /><Relationship Id="rId4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5" Type="http://schemas.openxmlformats.org/officeDocument/2006/relationships/tableStyles" Target="tableStyles.xml" /><Relationship Id="rId4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EDA.html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.html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EDA.html" TargetMode="Externa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.html#sec-summarize" TargetMode="External" /><Relationship Id="rId3" Type="http://schemas.openxmlformats.org/officeDocument/2006/relationships/hyperlink" Target="https://r4ds.hadley.nz/data-transform.html#sec-summarize" TargetMode="Externa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" TargetMode="External" /><Relationship Id="rId3" Type="http://schemas.openxmlformats.org/officeDocument/2006/relationships/hyperlink" Target="https://r4ds.hadley.nz/data-transform.html#sec-summarize" TargetMode="External" /><Relationship Id="rId4" Type="http://schemas.openxmlformats.org/officeDocument/2006/relationships/hyperlink" Target="https://r4ds.hadley.nz/data-transform.html#sec-summarize" TargetMode="External" /><Relationship Id="rId5" Type="http://schemas.openxmlformats.org/officeDocument/2006/relationships/hyperlink" Target="https://r4ds.hadley.nz/EDA.html" TargetMode="External" /><Relationship Id="rId6" Type="http://schemas.openxmlformats.org/officeDocument/2006/relationships/hyperlink" Target="https://r4ds.hadley.nz/numbers.html" TargetMode="External" /><Relationship Id="rId7" Type="http://schemas.openxmlformats.org/officeDocument/2006/relationships/hyperlink" Target="https://r4ds.hadley.nz/missing-values.html" TargetMode="Externa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4ds.hadley.nz/workflow-help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Describing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spread, counting correctly, and group summaries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Imported data two ways (</a:t>
            </a:r>
            <a:r>
              <a:rPr>
                <a:latin typeface="Courier"/>
              </a:rPr>
              <a:t>read_csv()</a:t>
            </a:r>
            <a:r>
              <a:rPr/>
              <a:t>, </a:t>
            </a:r>
            <a:r>
              <a:rPr>
                <a:latin typeface="Courier"/>
              </a:rPr>
              <a:t>read_excel()</a:t>
            </a:r>
            <a:r>
              <a:rPr/>
              <a:t>)</a:t>
            </a:r>
          </a:p>
          <a:p>
            <a:pPr lvl="0"/>
            <a:r>
              <a:rPr/>
              <a:t>Wrangled with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/>
              <a:t>Caught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Saved a new file with </a:t>
            </a:r>
            <a:r>
              <a:rPr>
                <a:latin typeface="Courier"/>
              </a:rPr>
              <a:t>write_csv()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Wrangling Your Data</a:t>
            </a:r>
          </a:p>
          <a:p>
            <a:pPr lvl="0" indent="0" marL="1270000">
              <a:buNone/>
            </a:pPr>
            <a:r>
              <a:rPr sz="2000"/>
              <a:t>You can reshape a dataset and hand off a clean file. Today we start </a:t>
            </a:r>
            <a:r>
              <a:rPr sz="2000" b="1"/>
              <a:t>describing</a:t>
            </a:r>
            <a:r>
              <a:rPr sz="2000"/>
              <a:t> it — the step that comes before any formal test.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Mean and median</a:t>
            </a:r>
          </a:p>
          <a:p>
            <a:pPr lvl="0" indent="-342900" marL="342900">
              <a:buAutoNum type="arabicPeriod"/>
            </a:pPr>
            <a:r>
              <a:rPr sz="2000"/>
              <a:t>Variance and standard deviation</a:t>
            </a:r>
          </a:p>
          <a:p>
            <a:pPr lvl="0" indent="-342900" marL="342900">
              <a:buAutoNum type="arabicPeriod"/>
            </a:pPr>
            <a:r>
              <a:rPr sz="2000"/>
              <a:t>Quantiles, range, and IQR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— and the fix</a:t>
            </a:r>
          </a:p>
          <a:p>
            <a:pPr lvl="0" indent="-342900" marL="342900">
              <a:buAutoNum type="arabicPeriod"/>
            </a:pPr>
            <a:r>
              <a:rPr sz="2000"/>
              <a:t>Standard error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skimr</a:t>
            </a:r>
            <a:r>
              <a:rPr sz="2000"/>
              <a:t> — a fast full-dataset overview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Our Question, Revisited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Question, Revisited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H₀:</a:t>
            </a:r>
            <a:r>
              <a:rPr/>
              <a:t> No difference in needle length between the shady and sunny sides</a:t>
            </a:r>
          </a:p>
          <a:p>
            <a:pPr lvl="0"/>
            <a:r>
              <a:rPr b="1"/>
              <a:t>Hₐ:</a:t>
            </a:r>
            <a:r>
              <a:rPr/>
              <a:t> Needle length differs between the two sides</a:t>
            </a:r>
          </a:p>
          <a:p>
            <a:pPr lvl="0" indent="0" marL="0">
              <a:buNone/>
            </a:pPr>
            <a:r>
              <a:rPr/>
              <a:t>Before we can formally </a:t>
            </a:r>
            <a:r>
              <a:rPr i="1"/>
              <a:t>test</a:t>
            </a:r>
            <a:r>
              <a:rPr/>
              <a:t> that with statistics, we need to </a:t>
            </a:r>
            <a:r>
              <a:rPr i="1"/>
              <a:t>describe</a:t>
            </a:r>
            <a:r>
              <a:rPr/>
              <a:t> what we actually measured.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Plan for this unit</a:t>
            </a:r>
          </a:p>
          <a:p>
            <a:pPr lvl="0" indent="-342900" marL="342900">
              <a:buAutoNum type="arabicPeriod"/>
            </a:pPr>
            <a:r>
              <a:rPr sz="2000" b="1"/>
              <a:t>Today</a:t>
            </a:r>
            <a:r>
              <a:rPr sz="2000"/>
              <a:t> — describe the data: center, spread, and group summaries</a:t>
            </a:r>
          </a:p>
          <a:p>
            <a:pPr lvl="0" indent="-342900" marL="342900">
              <a:buAutoNum type="arabicPeriod"/>
            </a:pPr>
            <a:r>
              <a:rPr sz="2000" b="1"/>
              <a:t>A later module</a:t>
            </a:r>
            <a:r>
              <a:rPr sz="2000"/>
              <a:t> — formally test H₀ vs. Hₐ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side</a:t>
            </a:r>
            <a:r>
              <a:rPr sz="2000"/>
              <a:t> is </a:t>
            </a:r>
            <a:r>
              <a:rPr sz="2000">
                <a:latin typeface="Courier"/>
              </a:rPr>
              <a:t>"shady"</a:t>
            </a:r>
            <a:r>
              <a:rPr sz="2000"/>
              <a:t> or </a:t>
            </a:r>
            <a:r>
              <a:rPr sz="2000">
                <a:latin typeface="Courier"/>
              </a:rPr>
              <a:t>"sunny"</a:t>
            </a:r>
            <a:r>
              <a:rPr sz="2000"/>
              <a:t>; </a:t>
            </a:r>
            <a:r>
              <a:rPr sz="2000">
                <a:latin typeface="Courier"/>
              </a:rPr>
              <a:t>team</a:t>
            </a:r>
            <a:r>
              <a:rPr sz="2000"/>
              <a:t> is the field team name.</a:t>
            </a:r>
            <a:br/>
            <a:r>
              <a:rPr sz="2000"/>
              <a:t>Four teams, four trees, eight needles per side — 64 rows, but only 4 trees.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Mean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every value,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disproportionately affects the mean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  <a:r>
                  <a:rPr/>
                  <a:t> Values 5, 6, 7, 8, </a:t>
                </a:r>
                <a:r>
                  <a:rPr b="1"/>
                  <a:t>50</a:t>
                </a:r>
                <a:r>
                  <a:rPr/>
                  <a:t> → mean = 15.2.</a:t>
                </a:r>
                <a:br/>
                <a:r>
                  <a:rPr/>
                  <a:t>Is that a fair summary?</a:t>
                </a:r>
                <a:br/>
                <a:r>
                  <a:rPr/>
                  <a:t>Not really — the outlier dominates.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✅ Why it matters</a:t>
                </a:r>
              </a:p>
              <a:p>
                <a:pPr lvl="0" indent="0" marL="1270000">
                  <a:buNone/>
                </a:pPr>
                <a:r>
                  <a:rPr sz="2000"/>
                  <a:t>The mean is the most commonly reported statistic</a:t>
                </a:r>
                <a:br/>
                <a:r>
                  <a:rPr sz="2000"/>
                  <a:t>— and it’s the number every t-test, ANOVA, and regression is ultimately built around.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one side's rows -- still a data frame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mean_mm
    &lt;dbl&gt;
1    14.1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New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filter()</a:t>
            </a:r>
            <a:r>
              <a:rPr sz="2000"/>
              <a:t> picks </a:t>
            </a:r>
            <a:r>
              <a:rPr sz="2000" b="1"/>
              <a:t>rows</a:t>
            </a:r>
            <a:r>
              <a:rPr sz="2000"/>
              <a:t> and gives back a data frame. </a:t>
            </a:r>
            <a:r>
              <a:rPr sz="2000">
                <a:latin typeface="Courier"/>
              </a:rPr>
              <a:t>summarize()</a:t>
            </a:r>
            <a:r>
              <a:rPr sz="2000"/>
              <a:t> collapses that data frame to </a:t>
            </a:r>
            <a:r>
              <a:rPr sz="2000" b="1"/>
              <a:t>one row</a:t>
            </a:r>
            <a:r>
              <a:rPr sz="2000"/>
              <a:t> of statistics — so we stay in data frames the whole way, exactly like every other analysis this term.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3 — Describing Data, on the mean as a measure of location.</a:t>
            </a:r>
            <a:br/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3 — Summary Statistics: Measures of Location and Spread.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Median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once the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around by outliers — it’s </a:t>
            </a:r>
            <a:r>
              <a:rPr b="1"/>
              <a:t>robust</a:t>
            </a:r>
          </a:p>
          <a:p>
            <a:pPr lvl="0"/>
            <a:r>
              <a:rPr/>
              <a:t>If mean ≫ median → right-skewed data</a:t>
            </a:r>
          </a:p>
          <a:p>
            <a:pPr lvl="0"/>
            <a:r>
              <a:rPr/>
              <a:t>If mean ≈ median → roughly symmetric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med_mm
   &lt;dbl&gt;
1   14.2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med_mm
   &lt;dbl&gt;
1   15.4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Report mean </a:t>
            </a:r>
            <a:r>
              <a:rPr sz="2000" i="1"/>
              <a:t>and</a:t>
            </a:r>
            <a:r>
              <a:rPr sz="2000"/>
              <a:t> median together the first time you look at a new variable — a big gap between them is a signal worth investigating.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3 — Describing Data, on the median and why a robust measure of location matters with skewed data.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Variance (s</a:t>
            </a:r>
            <a:r>
              <a:rPr baseline="30000"/>
              <a:t>2</a:t>
            </a:r>
            <a:r>
              <a:rPr/>
              <a:t>) and Standard Deviation (sd)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t>  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Distance of each value from the mean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it — makes everything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Average those squared distances (over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)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 root</a:t>
                </a:r>
                <a:r>
                  <a:rPr/>
                  <a:t> brings variance back into the original units as the standard deviation</a:t>
                </a:r>
              </a:p>
              <a:p>
                <a:pPr lvl="0" indent="0" marL="0">
                  <a:buNone/>
                </a:pPr>
                <a:r>
                  <a:rPr b="1"/>
                  <a:t>Larger spread = larger variance and SD.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/>
                <a:r>
                  <a:rPr sz="2000"/>
                  <a:t>Variance is in </a:t>
                </a:r>
                <a:r>
                  <a:rPr sz="2000" i="1"/>
                  <a:t>squared</a:t>
                </a:r>
                <a:r>
                  <a:rPr sz="2000"/>
                  <a:t> units (mm²)</a:t>
                </a:r>
              </a:p>
              <a:p>
                <a:pPr lvl="0"/>
                <a:r>
                  <a:rPr sz="2000"/>
                  <a:t>hard to interpret directly.</a:t>
                </a:r>
              </a:p>
              <a:p>
                <a:pPr lvl="0"/>
                <a:r>
                  <a:rPr sz="2000"/>
                  <a:t>Standard deviation (SD) is why we usually report it instead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sd_mm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2
  var_mm sd_mm
   &lt;dbl&gt; &lt;dbl&gt;
1   7.74  2.78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sd_mm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2
  var_mm sd_mm
   &lt;dbl&gt; &lt;dbl&gt;
1   6.73  2.59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Rule of thumb</a:t>
            </a:r>
          </a:p>
          <a:p>
            <a:pPr lvl="0"/>
            <a:r>
              <a:rPr sz="2000"/>
              <a:t>For roughly normal data:</a:t>
            </a:r>
          </a:p>
          <a:p>
            <a:pPr lvl="1"/>
            <a:r>
              <a:rPr sz="2000"/>
              <a:t>~68% of values fall within mean ± 1 SD</a:t>
            </a:r>
          </a:p>
          <a:p>
            <a:pPr lvl="1"/>
            <a:r>
              <a:rPr sz="2000"/>
              <a:t>~95% within mean ± 2 SD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3 — Describing Data, on variance, standard deviation, and the coefficient of variation.</a:t>
            </a:r>
            <a:br/>
            <a:r>
              <a:rPr sz="2000"/>
              <a:t>Gotelli &amp; Ellison, Ch. 3 — Summary Statistics, for the same measures of spread.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4b · Quantiles, Range, and IQR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Quantiles, Range, and IQR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min_mm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(needle_length_mm),      </a:t>
            </a:r>
            <a:r>
              <a:rPr>
                <a:solidFill>
                  <a:srgbClr val="5E5E5E"/>
                </a:solidFill>
                <a:latin typeface="Courier"/>
              </a:rPr>
              <a:t># the five numbers 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q25_mm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),   </a:t>
            </a:r>
            <a:r>
              <a:rPr>
                <a:solidFill>
                  <a:srgbClr val="5E5E5E"/>
                </a:solidFill>
                <a:latin typeface="Courier"/>
              </a:rPr>
              <a:t># boxplot draws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q75_mm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max_mm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range_mm =</a:t>
            </a:r>
            <a:r>
              <a:rPr>
                <a:solidFill>
                  <a:srgbClr val="003B4F"/>
                </a:solidFill>
                <a:latin typeface="Courier"/>
              </a:rPr>
              <a:t> max_mm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min_mm,            </a:t>
            </a:r>
            <a:r>
              <a:rPr>
                <a:solidFill>
                  <a:srgbClr val="5E5E5E"/>
                </a:solidFill>
                <a:latin typeface="Courier"/>
              </a:rPr>
              <a:t># max minus min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iqr_mm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IQR</a:t>
            </a:r>
            <a:r>
              <a:rPr>
                <a:solidFill>
                  <a:srgbClr val="003B4F"/>
                </a:solidFill>
                <a:latin typeface="Courier"/>
              </a:rPr>
              <a:t>(needle_length_mm)       </a:t>
            </a:r>
            <a:r>
              <a:rPr>
                <a:solidFill>
                  <a:srgbClr val="5E5E5E"/>
                </a:solidFill>
                <a:latin typeface="Courier"/>
              </a:rPr>
              <a:t># q75 minus q25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7
  min_mm q25_mm med_mm q75_mm max_mm range_mm iqr_mm
   &lt;dbl&gt;  &lt;dbl&gt;  &lt;dbl&gt;  &lt;dbl&gt;  &lt;dbl&gt;    &lt;dbl&gt;  &lt;dbl&gt;
1   7.23   11.7   14.2   15.8   20.7     13.5   4.07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box_plot_1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(shady_df,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 b="1"/>
              <a:t>IQR</a:t>
            </a:r>
            <a:r>
              <a:rPr sz="2000"/>
              <a:t> is the range of the </a:t>
            </a:r>
            <a:r>
              <a:rPr sz="2000" i="1"/>
              <a:t>middle 50%</a:t>
            </a:r>
            <a:r>
              <a:rPr sz="2000"/>
              <a:t> of the data — it ignores the most extreme quarter on each end, which makes it robust to outliers the same way the median 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med_mm</a:t>
            </a:r>
            <a:r>
              <a:rPr sz="2000"/>
              <a:t> and </a:t>
            </a:r>
            <a:r>
              <a:rPr sz="2000">
                <a:latin typeface="Courier"/>
              </a:rPr>
              <a:t>q50</a:t>
            </a:r>
            <a:r>
              <a:rPr sz="2000"/>
              <a:t> are the same number. </a:t>
            </a:r>
            <a:r>
              <a:rPr sz="2000">
                <a:latin typeface="Courier"/>
              </a:rPr>
              <a:t>iqr_mm</a:t>
            </a:r>
            <a:r>
              <a:rPr sz="2000"/>
              <a:t> is just </a:t>
            </a:r>
            <a:r>
              <a:rPr sz="2000">
                <a:latin typeface="Courier"/>
              </a:rPr>
              <a:t>q75_mm - q25_mm</a:t>
            </a:r>
            <a:r>
              <a:rPr sz="2000"/>
              <a:t>, computed for you. And because </a:t>
            </a:r>
            <a:r>
              <a:rPr sz="2000">
                <a:latin typeface="Courier"/>
              </a:rPr>
              <a:t>shady_df</a:t>
            </a:r>
            <a:r>
              <a:rPr sz="2000"/>
              <a:t> is a data frame, it drops straight into </a:t>
            </a:r>
            <a:r>
              <a:rPr sz="2000">
                <a:latin typeface="Courier"/>
              </a:rPr>
              <a:t>ggplot()</a:t>
            </a:r>
            <a:r>
              <a:rPr sz="2000"/>
              <a:t> — no special handling.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§10 — Exploratory data analysis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box_plot_1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Quantiles — Why This Matters for Graphing Effectively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q25_mm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q75_mm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iqr_mm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IQR</a:t>
            </a:r>
            <a:r>
              <a:rPr>
                <a:solidFill>
                  <a:srgbClr val="003B4F"/>
                </a:solidFill>
                <a:latin typeface="Courier"/>
              </a:rPr>
              <a:t>(needle_length_mm)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q25_mm q75_mm iqr_mm
   &lt;dbl&gt;  &lt;dbl&gt;  &lt;dbl&gt;
1   13.2   17.3   4.14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Preview</a:t>
            </a:r>
          </a:p>
          <a:p>
            <a:pPr lvl="0" indent="0" marL="1270000">
              <a:buNone/>
            </a:pPr>
            <a:r>
              <a:rPr sz="2000"/>
              <a:t>The box in a boxplot </a:t>
            </a:r>
            <a:r>
              <a:rPr sz="2000" b="1"/>
              <a:t>is</a:t>
            </a:r>
            <a:r>
              <a:rPr sz="2000"/>
              <a:t> the IQR — its bottom and top edges are the 25th and 75th percentiles you just computed. The boxplots you’ll build in Graphing Effectively are these five numbers, drawn.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on the boxplot and the five-number summary behind it.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A data frame has 5 rows, but 2 values are </a:t>
            </a:r>
            <a:r>
              <a:rPr sz="2000">
                <a:latin typeface="Courier"/>
              </a:rPr>
              <a:t>NA</a:t>
            </a:r>
            <a:r>
              <a:rPr sz="2000"/>
              <a:t>. What does </a:t>
            </a:r>
            <a:r>
              <a:rPr sz="2000">
                <a:latin typeface="Courier"/>
              </a:rPr>
              <a:t>n()</a:t>
            </a:r>
            <a:r>
              <a:rPr sz="2000"/>
              <a:t> return? What </a:t>
            </a:r>
            <a:r>
              <a:rPr sz="2000" i="1"/>
              <a:t>should</a:t>
            </a:r>
            <a:r>
              <a:rPr sz="2000"/>
              <a:t> your sample size be for a mean or SE calculation?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na_demo_df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rows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every row — including NAs!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missing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    </a:t>
            </a:r>
            <a:r>
              <a:rPr>
                <a:solidFill>
                  <a:srgbClr val="5E5E5E"/>
                </a:solidFill>
                <a:latin typeface="Courier"/>
              </a:rPr>
              <a:t># how many are missing?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2
   rows missing
  &lt;int&gt;   &lt;int&gt;
1     5       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n()</a:t>
            </a:r>
            <a:r>
              <a:rPr sz="2000"/>
              <a:t> — counts </a:t>
            </a:r>
            <a:r>
              <a:rPr sz="2000" b="1"/>
              <a:t>rows</a:t>
            </a:r>
            <a:r>
              <a:rPr sz="2000"/>
              <a:t>, whether or not the value is there</a:t>
            </a:r>
          </a:p>
          <a:p>
            <a:pPr lvl="0"/>
            <a:r>
              <a:rPr sz="2000" b="1">
                <a:latin typeface="Courier"/>
              </a:rPr>
              <a:t>is.na(x)</a:t>
            </a:r>
            <a:r>
              <a:rPr sz="2000"/>
              <a:t> —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missing</a:t>
            </a:r>
          </a:p>
          <a:p>
            <a:pPr lvl="0"/>
            <a:r>
              <a:rPr sz="2000" b="1">
                <a:latin typeface="Courier"/>
              </a:rPr>
              <a:t>!is.na(x)</a:t>
            </a:r>
            <a:r>
              <a:rPr sz="2000"/>
              <a:t> — the flip: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real</a:t>
            </a:r>
          </a:p>
          <a:p>
            <a:pPr lvl="0"/>
            <a:r>
              <a:rPr sz="2000" b="1">
                <a:latin typeface="Courier"/>
              </a:rPr>
              <a:t>sum(!is.na(x))</a:t>
            </a:r>
            <a:r>
              <a:rPr sz="2000"/>
              <a:t> — counts the real values = the correct </a:t>
            </a:r>
            <a:r>
              <a:rPr sz="2000" i="1"/>
              <a:t>n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length()</a:t>
            </a:r>
            <a:r>
              <a:rPr/>
              <a:t> Trap — Why It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Using n() as your sample size silently gives the WRONG answer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wrong_n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right_n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wrong_se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right_se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(right_n),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5
  wrong_n right_n sd_mm wrong_se right_se
    &lt;int&gt;   &lt;int&gt; &lt;dbl&gt;    &lt;dbl&gt;    &lt;dbl&gt;
1       5       3  2.08    0.931     1.20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R will </a:t>
            </a:r>
            <a:r>
              <a:rPr sz="2000" b="1"/>
              <a:t>not</a:t>
            </a:r>
            <a:r>
              <a:rPr sz="2000"/>
              <a:t> warn you. </a:t>
            </a:r>
            <a:r>
              <a:rPr sz="2000">
                <a:latin typeface="Courier"/>
              </a:rPr>
              <a:t>n()</a:t>
            </a:r>
            <a:r>
              <a:rPr sz="2000"/>
              <a:t> happily returns 5 when only 3 values are real — a silent, common error, and the two SEs above differ because of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is_missing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(length_mm),    </a:t>
            </a:r>
            <a:r>
              <a:rPr>
                <a:solidFill>
                  <a:srgbClr val="5E5E5E"/>
                </a:solidFill>
                <a:latin typeface="Courier"/>
              </a:rPr>
              <a:t># TRUE where NA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is_real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    </a:t>
            </a:r>
            <a:r>
              <a:rPr>
                <a:solidFill>
                  <a:srgbClr val="5E5E5E"/>
                </a:solidFill>
                <a:latin typeface="Courier"/>
              </a:rPr>
              <a:t># flipped: TRUE where real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 × 3
  length_mm is_missing is_real
      &lt;dbl&gt; &lt;lgl&gt;      &lt;lgl&gt;  
1         4 FALSE      TRUE   
2         3 FALSE      TRUE   
3        NA TRUE       FALSE  
4         7 FALSE      TRUE   
5        NA TRUE       FALSE  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n_real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(length_mm)))   </a:t>
            </a:r>
            <a:r>
              <a:rPr>
                <a:solidFill>
                  <a:srgbClr val="5E5E5E"/>
                </a:solidFill>
                <a:latin typeface="Courier"/>
              </a:rPr>
              <a:t># count the TRUEs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n_real
   &lt;int&gt;
1      3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</a:t>
            </a:r>
            <a:r>
              <a:rPr sz="2000">
                <a:latin typeface="Courier"/>
              </a:rPr>
              <a:t>sum(!is.na(needle_length_mm))</a:t>
            </a:r>
            <a:r>
              <a:rPr sz="2000"/>
              <a:t> for </a:t>
            </a:r>
            <a:r>
              <a:rPr sz="2000" i="1"/>
              <a:t>n</a:t>
            </a:r>
            <a:r>
              <a:rPr sz="2000"/>
              <a:t> every time you compute an SE — never </a:t>
            </a:r>
            <a:r>
              <a:rPr sz="2000">
                <a:latin typeface="Courier"/>
              </a:rPr>
              <a:t>n()</a:t>
            </a:r>
            <a:r>
              <a:rPr sz="2000"/>
              <a:t>. Even when you’re sure there are no missing values. Field data rarely stays that clean.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it works, step by step: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missing value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!is.na(x)</a:t>
            </a:r>
            <a:r>
              <a:rPr/>
              <a:t> → flips it to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sum(...)</a:t>
            </a:r>
            <a:r>
              <a:rPr/>
              <a:t> → adds up the </a:t>
            </a:r>
            <a:r>
              <a:rPr>
                <a:latin typeface="Courier"/>
              </a:rPr>
              <a:t>TRUE</a:t>
            </a:r>
            <a:r>
              <a:rPr/>
              <a:t>s (</a:t>
            </a:r>
            <a:r>
              <a:rPr>
                <a:latin typeface="Courier"/>
              </a:rPr>
              <a:t>TRUE</a:t>
            </a:r>
            <a:r>
              <a:rPr/>
              <a:t> = 1)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shows the two logical columns; </a:t>
            </a:r>
            <a:r>
              <a:rPr>
                <a:latin typeface="Courier"/>
              </a:rPr>
              <a:t>summarize()</a:t>
            </a:r>
            <a:r>
              <a:rPr/>
              <a:t> collapses them to the count.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§18 — Missing values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Applied to Real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Applied to our real data — even with no NAs, make it a habit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    n
  &lt;int&gt;
1    32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    n
  &lt;int&gt;
1    32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Even when you’re confident a column has zero missing values, run it through </a:t>
            </a:r>
            <a:r>
              <a:rPr sz="2000">
                <a:latin typeface="Courier"/>
              </a:rPr>
              <a:t>sum(!is.na())</a:t>
            </a:r>
            <a:r>
              <a:rPr sz="2000"/>
              <a:t> anyway — it costs nothing and field data rarely stays clean for long.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Standard Error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Standard Error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you know the </a:t>
                </a:r>
                <a:r>
                  <a:rPr b="1"/>
                  <a:t>mean</a:t>
                </a:r>
                <a:r>
                  <a:rPr/>
                  <a:t> — not the spread of raw data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grows: more data → a more precise estimate of the mean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whenever we’re making a claim about a group mean.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    n sd_mm se_mm
  &lt;int&gt; &lt;dbl&gt; &lt;dbl&gt;
1    32  2.78  0.49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    n sd_mm se_mm
  &lt;int&gt; &lt;dbl&gt; &lt;dbl&gt;
1    32  2.59  0.46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sqrt(n())</a:t>
            </a:r>
            <a:r>
              <a:rPr sz="2000"/>
              <a:t> and </a:t>
            </a:r>
            <a:r>
              <a:rPr sz="2000">
                <a:latin typeface="Courier"/>
              </a:rPr>
              <a:t>sqrt(sum(!is.na(x)))</a:t>
            </a:r>
            <a:r>
              <a:rPr sz="2000"/>
              <a:t> give the </a:t>
            </a:r>
            <a:r>
              <a:rPr sz="2000" i="1"/>
              <a:t>same</a:t>
            </a:r>
            <a:r>
              <a:rPr sz="2000"/>
              <a:t> answer only when there are zero missing values. Don’t assume — check.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4 — Estimating with Uncertainty, is the chapter for the standard error and the sampling distribution of the mean.</a:t>
            </a:r>
            <a:br/>
            <a:r>
              <a:rPr sz="2000"/>
              <a:t>Gotelli &amp; Ellison, Ch. 3 — Summary Statistics, covers the standard error alongside the standard deviation.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All Stats, One Group, One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5
      n mean_mm med_mm sd_mm se_mm
  &lt;int&gt;   &lt;dbl&gt;  &lt;dbl&gt; &lt;dbl&gt; &lt;dbl&gt;
1    32    14.1   14.2  2.78  0.49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Every function takes </a:t>
            </a:r>
            <a:r>
              <a:rPr>
                <a:latin typeface="Courier"/>
              </a:rPr>
              <a:t>na.rm = TRUE</a:t>
            </a:r>
          </a:p>
          <a:p>
            <a:pPr lvl="0"/>
            <a:r>
              <a:rPr/>
              <a:t>One row out, already labeled — and it is a data frame, so it pipes onward into </a:t>
            </a:r>
            <a:r>
              <a:rPr>
                <a:latin typeface="Courier"/>
              </a:rPr>
              <a:t>write_csv()</a:t>
            </a:r>
            <a:r>
              <a:rPr/>
              <a:t> or </a:t>
            </a:r>
            <a:r>
              <a:rPr>
                <a:latin typeface="Courier"/>
              </a:rPr>
              <a:t>ggplot()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Running this once for </a:t>
            </a:r>
            <a:r>
              <a:rPr sz="2000">
                <a:latin typeface="Courier"/>
              </a:rPr>
              <a:t>shady_df</a:t>
            </a:r>
            <a:r>
              <a:rPr sz="2000"/>
              <a:t> and again for </a:t>
            </a:r>
            <a:r>
              <a:rPr sz="2000">
                <a:latin typeface="Courier"/>
              </a:rPr>
              <a:t>sunny_df</a:t>
            </a:r>
            <a:r>
              <a:rPr sz="2000"/>
              <a:t> is exactly the repetition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exists to remove.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6b · </a:t>
            </a:r>
            <a:r>
              <a:rPr>
                <a:latin typeface="Courier"/>
              </a:rPr>
              <a:t>skimr</a:t>
            </a:r>
            <a:r>
              <a:rPr/>
              <a:t> — a Fast Full-Dataset Overview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skimr</a:t>
            </a:r>
            <a:r>
              <a:rPr/>
              <a:t> — Every Column, One Command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"skimr"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once per machine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pine_df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character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character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/>
                <a:gridCol w="609600"/>
                <a:gridCol w="863600"/>
                <a:gridCol w="241300"/>
                <a:gridCol w="241300"/>
                <a:gridCol w="368300"/>
                <a:gridCol w="558800"/>
                <a:gridCol w="6731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empty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n_unique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whitespace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source_file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/>
                <a:gridCol w="508000"/>
                <a:gridCol w="711200"/>
                <a:gridCol w="304800"/>
                <a:gridCol w="254000"/>
                <a:gridCol w="254000"/>
                <a:gridCol w="304800"/>
                <a:gridCol w="304800"/>
                <a:gridCol w="304800"/>
                <a:gridCol w="304800"/>
                <a:gridCol w="304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replicate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2.31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▇▃▇▃▇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needle_length_mm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20.71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▁▅▇▇▂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needle_width_mm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1.58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▃▅▇▅▁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skim()</a:t>
            </a:r>
            <a:r>
              <a:rPr sz="2000"/>
              <a:t> gives you n, missing count, mean, SD, and a tiny inline histogram for </a:t>
            </a:r>
            <a:r>
              <a:rPr sz="2000" b="1"/>
              <a:t>every numeric column</a:t>
            </a:r>
            <a:r>
              <a:rPr sz="2000"/>
              <a:t> — and counts for every character column — in one call. It’s the fastest way to sanity-check a dataset the moment you load it.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§10 — Exploratory data analysis</a:t>
            </a:r>
            <a:r>
              <a:rPr sz="2000"/>
              <a:t> is this habit written out at length.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skimr</a:t>
            </a:r>
            <a:r>
              <a:rPr/>
              <a:t> — Doesn’t Replace, Just Speeds 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idea, restricted to numeric columns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(needle_length_mm, needle_width_mm)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select(pine_df, needle_le…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/>
                <a:gridCol w="508000"/>
                <a:gridCol w="711200"/>
                <a:gridCol w="304800"/>
                <a:gridCol w="254000"/>
                <a:gridCol w="254000"/>
                <a:gridCol w="304800"/>
                <a:gridCol w="304800"/>
                <a:gridCol w="304800"/>
                <a:gridCol w="304800"/>
                <a:gridCol w="304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needle_length_mm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20.71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▁▅▇▇▂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needle_width_mm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1.58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▃▅▇▅▁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skim()</a:t>
            </a:r>
            <a:r>
              <a:rPr sz="2000"/>
              <a:t> is a first look, not a final answer.</a:t>
            </a:r>
          </a:p>
          <a:p>
            <a:pPr lvl="0"/>
            <a:r>
              <a:rPr sz="2000"/>
              <a:t>you can pipe groups into it to show that </a:t>
            </a:r>
            <a:r>
              <a:rPr sz="2000">
                <a:latin typeface="Courier"/>
              </a:rPr>
              <a:t>needle_length_mm</a:t>
            </a:r>
            <a:r>
              <a:rPr sz="2000"/>
              <a:t> should be split by </a:t>
            </a:r>
            <a:r>
              <a:rPr sz="2000">
                <a:latin typeface="Courier"/>
              </a:rPr>
              <a:t>side</a:t>
            </a:r>
          </a:p>
          <a:p>
            <a:pPr lvl="1"/>
            <a:r>
              <a:rPr sz="2000"/>
              <a:t>for real per-group comparisons, you still need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, next.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the result have? (Hint: how many values does </a:t>
            </a:r>
            <a:r>
              <a:rPr sz="2000">
                <a:latin typeface="Courier"/>
              </a:rPr>
              <a:t>side</a:t>
            </a:r>
            <a:r>
              <a:rPr sz="2000"/>
              <a:t> take?)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side_stats_df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side      n mean_mm med_mm sd_mm se_mm
  &lt;chr&gt; &lt;int&gt;   &lt;dbl&gt;  &lt;dbl&gt; &lt;dbl&gt; &lt;dbl&gt;
1 shady    32    14.1   14.2  2.78  0.49
2 sunny    32    15.2   15.4  2.59  0.46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group_by(side)</a:t>
            </a:r>
            <a:r>
              <a:rPr/>
              <a:t> splits the data by side</a:t>
            </a:r>
          </a:p>
          <a:p>
            <a:pPr lvl="0"/>
            <a:r>
              <a:rPr>
                <a:latin typeface="Courier"/>
              </a:rPr>
              <a:t>summarize()</a:t>
            </a:r>
            <a:r>
              <a:rPr/>
              <a:t> collapses each group to </a:t>
            </a:r>
            <a:r>
              <a:rPr b="1"/>
              <a:t>one row</a:t>
            </a:r>
            <a:r>
              <a:rPr/>
              <a:t> of stats</a:t>
            </a:r>
          </a:p>
          <a:p>
            <a:pPr lvl="0"/>
            <a:r>
              <a:rPr/>
              <a:t>Both groups, one clean table — no copy-paste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Round last, not first</a:t>
            </a:r>
          </a:p>
          <a:p>
            <a:pPr lvl="0" indent="0" marL="1270000">
              <a:buNone/>
            </a:pPr>
            <a:r>
              <a:rPr sz="2000"/>
              <a:t>Tempting to write </a:t>
            </a:r>
            <a:r>
              <a:rPr sz="2000">
                <a:latin typeface="Courier"/>
              </a:rPr>
              <a:t>se_mm = sd_mm / sqrt(n)</a:t>
            </a:r>
            <a:r>
              <a:rPr sz="2000"/>
              <a:t> and reuse the column above. Don’t — </a:t>
            </a:r>
            <a:r>
              <a:rPr sz="2000">
                <a:latin typeface="Courier"/>
              </a:rPr>
              <a:t>sd_mm</a:t>
            </a:r>
            <a:r>
              <a:rPr sz="2000"/>
              <a:t> has already been </a:t>
            </a:r>
            <a:r>
              <a:rPr sz="2000" b="1"/>
              <a:t>rounded</a:t>
            </a:r>
            <a:r>
              <a:rPr sz="2000"/>
              <a:t>, so the SE inherits that error. Compute from the raw values every time; round only what you print.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§3.5 — </a:t>
            </a:r>
            <a:r>
              <a:rPr>
                <a:hlinkClick r:id="rId3"/>
                <a:latin typeface="Courier"/>
              </a:rPr>
              <a:t>summarize()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Grouping by More Than One Variable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team_stats_df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5
  team       side      n mean_mm se_mm
  &lt;chr&gt;      &lt;chr&gt; &lt;int&gt;   &lt;dbl&gt; &lt;dbl&gt;
1 botany     shady     8    16.2  0.94
2 botany     sunny     8    17.3  0.44
3 grace_jace shady     8    15.4  0.61
4 grace_jace sunny     8    15.5  1.07
5 one        shady     8    13.2  0.78
6 one        sunny     8    14.2  0.63
7 waterbugs  shady     8    11.7  0.82
8 waterbugs  sunny     8    13.8  0.96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group_by(team, side)</a:t>
            </a:r>
            <a:r>
              <a:rPr/>
              <a:t> splits by </a:t>
            </a:r>
            <a:r>
              <a:rPr b="1"/>
              <a:t>field team, then side</a:t>
            </a:r>
            <a:r>
              <a:rPr/>
              <a:t> — one row per combination</a:t>
            </a:r>
          </a:p>
          <a:p>
            <a:pPr lvl="0"/>
            <a:r>
              <a:rPr>
                <a:latin typeface="Courier"/>
              </a:rPr>
              <a:t>.groups = "drop"</a:t>
            </a:r>
            <a:r>
              <a:rPr/>
              <a:t> turns off the grouping once you’re done — good habit, avoids surprises later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Four teams × two sides = 8 rows. Does every team show the same shady-vs-sunny pattern, or do some disagree?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7c · The </a:t>
            </a:r>
            <a:r>
              <a:rPr i="1"/>
              <a:t>n</a:t>
            </a:r>
            <a:r>
              <a:rPr/>
              <a:t> You Report Is a Choice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again at that </a:t>
            </a:r>
            <a:r>
              <a:rPr>
                <a:latin typeface="Courier"/>
              </a:rPr>
              <a:t>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Our side summary reported </a:t>
            </a:r>
            <a:r>
              <a:rPr b="1"/>
              <a:t>n = 32 per side</a:t>
            </a:r>
            <a:r>
              <a:rPr/>
              <a:t>. But where did 32 come from?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(side, team)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3
  side  team           n
  &lt;chr&gt; &lt;chr&gt;      &lt;int&gt;
1 shady botany         8
2 shady grace_jace     8
3 shady one            8
4 shady waterbugs      8
5 sunny botany         8
6 sunny grace_jace     8
7 sunny one            8
8 sunny waterbugs      8</a:t>
            </a:r>
          </a:p>
          <a:p>
            <a:pPr lvl="0" indent="0" marL="0">
              <a:buNone/>
            </a:pPr>
            <a:r>
              <a:rPr/>
              <a:t>32 needles per side — but only </a:t>
            </a:r>
            <a:r>
              <a:rPr b="1"/>
              <a:t>4 trees</a:t>
            </a:r>
            <a:r>
              <a:rPr/>
              <a:t>. We measured 8 needles from each tree and then counted them as 8 independent facts about sun exposure.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This is the pseudoreplication from Getting Started, in a summary table.</a:t>
            </a:r>
            <a:r>
              <a:rPr sz="2000"/>
              <a:t> The </a:t>
            </a:r>
            <a:r>
              <a:rPr sz="2000">
                <a:latin typeface="Courier"/>
              </a:rPr>
              <a:t>n</a:t>
            </a:r>
            <a:r>
              <a:rPr sz="2000"/>
              <a:t> in your table is a claim about how much independent evidence you have. Right now that claim is wrong.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Ask of every </a:t>
            </a:r>
            <a:r>
              <a:rPr sz="2000">
                <a:latin typeface="Courier"/>
              </a:rPr>
              <a:t>n</a:t>
            </a:r>
            <a:r>
              <a:rPr sz="2000"/>
              <a:t>: </a:t>
            </a:r>
            <a:r>
              <a:rPr sz="2000" b="1"/>
              <a:t>“n of what?”</a:t>
            </a:r>
            <a:br/>
            <a:r>
              <a:rPr sz="2000"/>
              <a:t>n = 32 needles is true.</a:t>
            </a:r>
            <a:br/>
            <a:r>
              <a:rPr sz="2000"/>
              <a:t>n = 32 </a:t>
            </a:r>
            <a:r>
              <a:rPr sz="2000" i="1"/>
              <a:t>independent measurements of sun exposure</a:t>
            </a:r>
            <a:r>
              <a:rPr sz="2000"/>
              <a:t> is not.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two-stage summary — the right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Stage 1</a:t>
            </a:r>
            <a:r>
              <a:rPr/>
              <a:t> — collapse each tree to one number: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team_means_df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team_mean_mm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Stage 2</a:t>
            </a:r>
            <a:r>
              <a:rPr/>
              <a:t> — now summarize </a:t>
            </a:r>
            <a:r>
              <a:rPr i="1"/>
              <a:t>those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side_correct_df &lt;- team_means_df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n_trees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(team_mean_mm)),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(team_mean_mm),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(team_mean_mm)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(n_trees),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side_correct_df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side  n_trees mean_mm se_mm
  &lt;chr&gt;   &lt;int&gt;   &lt;dbl&gt; &lt;dbl&gt;
1 shady       4    14.1  1.01
2 sunny       4    15.2  0.79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</a:t>
            </a:r>
            <a:r>
              <a:rPr sz="2000" b="1"/>
              <a:t>twice</a:t>
            </a:r>
            <a:r>
              <a:rPr sz="2000"/>
              <a:t>: once to get down to the unit you actually replicated, once to describe those units.</a:t>
            </a:r>
          </a:p>
          <a:p>
            <a:pPr lvl="0" indent="0" marL="1270000">
              <a:buNone/>
            </a:pPr>
            <a:r>
              <a:rPr sz="2000"/>
              <a:t>You will use this pattern for the rest of the course.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changed, and what didn’t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60071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3900"/>
                <a:gridCol w="1993900"/>
                <a:gridCol w="19939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naive (n = 32 needles)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correct (n = 4 trees)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mean, 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14.12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14.12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mean, 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15.21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SE, 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SE, 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0.79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Coming in Week 4</a:t>
            </a:r>
          </a:p>
          <a:p>
            <a:pPr lvl="0" indent="0" marL="1270000">
              <a:buNone/>
            </a:pPr>
            <a:r>
              <a:rPr sz="2000"/>
              <a:t>An SE that is twice as big makes a difference that is much harder to call real. That is exactly what we will see when we run the t-test — and why the </a:t>
            </a:r>
            <a:r>
              <a:rPr sz="2000" b="1"/>
              <a:t>paired</a:t>
            </a:r>
            <a:r>
              <a:rPr sz="2000"/>
              <a:t> test, which respects the tree structure, is the honest one.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7b · See It — Boxplot with Mean ± SE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Every Number Today Has a Picture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box shows the middle 50% of 32 needles. The error bar shows the mean ± 1 SE. Which will be </a:t>
            </a:r>
            <a:r>
              <a:rPr sz="2000" b="1"/>
              <a:t>narrower</a:t>
            </a:r>
            <a:r>
              <a:rPr sz="2000"/>
              <a:t>, and why?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1 — spread of all 64 needles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2 — each team's mean, faded, behind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team_means_df,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team_mean_mm,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position_dodge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3 — mean and standard error, on top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New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stat_summary()</a:t>
            </a:r>
            <a:r>
              <a:rPr sz="2000"/>
              <a:t> computes a statistic </a:t>
            </a:r>
            <a:r>
              <a:rPr sz="2000" b="1"/>
              <a:t>while plotting</a:t>
            </a:r>
            <a:r>
              <a:rPr sz="2000"/>
              <a:t> — no summary table needed first. </a:t>
            </a:r>
            <a:r>
              <a:rPr sz="2000">
                <a:latin typeface="Courier"/>
              </a:rPr>
              <a:t>fun = mean</a:t>
            </a:r>
            <a:r>
              <a:rPr sz="2000"/>
              <a:t> draws the mean; </a:t>
            </a:r>
            <a:r>
              <a:rPr sz="2000">
                <a:latin typeface="Courier"/>
              </a:rPr>
              <a:t>fun.data = mean_se</a:t>
            </a:r>
            <a:r>
              <a:rPr sz="2000"/>
              <a:t> draws mean ± 1 SE.</a:t>
            </a:r>
          </a:p>
        </p:txBody>
      </p:sp>
      <p:pic>
        <p:nvPicPr>
          <p:cNvPr descr="descriptive_stats_lecture_files/figure-pptx/descriptive-stats-2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But Those Error Bars Are the Naive Ones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honest_plot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(team_means_df,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team_mean_mm))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position_dodge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"Team mean 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The plot on the previous slide fed </a:t>
            </a:r>
            <a:r>
              <a:rPr sz="2000">
                <a:latin typeface="Courier"/>
              </a:rPr>
              <a:t>stat_summary()</a:t>
            </a:r>
            <a:r>
              <a:rPr sz="2000"/>
              <a:t> all </a:t>
            </a:r>
            <a:r>
              <a:rPr sz="2000" b="1"/>
              <a:t>32 needles</a:t>
            </a:r>
            <a:r>
              <a:rPr sz="2000"/>
              <a:t> per side, so it drew the </a:t>
            </a:r>
            <a:r>
              <a:rPr sz="2000" b="1"/>
              <a:t>n = 32</a:t>
            </a:r>
            <a:r>
              <a:rPr sz="2000"/>
              <a:t> SE — the pseudoreplicated one. Feed it the </a:t>
            </a:r>
            <a:r>
              <a:rPr sz="2000" b="1"/>
              <a:t>4 team means</a:t>
            </a:r>
            <a:r>
              <a:rPr sz="2000"/>
              <a:t> instead and the error bars widen to the honest </a:t>
            </a:r>
            <a:r>
              <a:rPr sz="2000" b="1"/>
              <a:t>n = 4</a:t>
            </a:r>
            <a:r>
              <a:rPr sz="2000"/>
              <a:t>.</a:t>
            </a:r>
          </a:p>
        </p:txBody>
      </p:sp>
      <p:pic>
        <p:nvPicPr>
          <p:cNvPr descr="descriptive_stats_lecture_files/figure-pptx/descriptive-stats-2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Computed </a:t>
            </a:r>
            <a:r>
              <a:rPr b="1"/>
              <a:t>mean</a:t>
            </a:r>
            <a:r>
              <a:rPr/>
              <a:t> and </a:t>
            </a:r>
            <a:r>
              <a:rPr b="1"/>
              <a:t>median</a:t>
            </a:r>
            <a:r>
              <a:rPr/>
              <a:t>, and know why they can disagree</a:t>
            </a:r>
          </a:p>
          <a:p>
            <a:pPr lvl="0"/>
            <a:r>
              <a:rPr/>
              <a:t>Computed </a:t>
            </a:r>
            <a:r>
              <a:rPr b="1"/>
              <a:t>variance</a:t>
            </a:r>
            <a:r>
              <a:rPr/>
              <a:t> and </a:t>
            </a:r>
            <a:r>
              <a:rPr b="1"/>
              <a:t>SD</a:t>
            </a:r>
            <a:r>
              <a:rPr/>
              <a:t> for each group with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/>
              <a:t>Computed </a:t>
            </a:r>
            <a:r>
              <a:rPr b="1"/>
              <a:t>quantiles</a:t>
            </a:r>
            <a:r>
              <a:rPr/>
              <a:t>, </a:t>
            </a:r>
            <a:r>
              <a:rPr b="1"/>
              <a:t>range</a:t>
            </a:r>
            <a:r>
              <a:rPr/>
              <a:t>, and </a:t>
            </a:r>
            <a:r>
              <a:rPr b="1"/>
              <a:t>IQR</a:t>
            </a:r>
            <a:r>
              <a:rPr/>
              <a:t> — and saw the IQR is literally the boxplot’s box</a:t>
            </a:r>
          </a:p>
          <a:p>
            <a:pPr lvl="0"/>
            <a:r>
              <a:rPr/>
              <a:t>Found the </a:t>
            </a:r>
            <a:r>
              <a:rPr b="1">
                <a:latin typeface="Courier"/>
              </a:rPr>
              <a:t>n()</a:t>
            </a:r>
            <a:r>
              <a:rPr b="1"/>
              <a:t> trap</a:t>
            </a:r>
            <a:r>
              <a:rPr/>
              <a:t> and fixed it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Computed </a:t>
            </a:r>
            <a:r>
              <a:rPr b="1"/>
              <a:t>SE</a:t>
            </a:r>
            <a:r>
              <a:rPr/>
              <a:t> and know how it differs from SD</a:t>
            </a:r>
          </a:p>
          <a:p>
            <a:pPr lvl="0"/>
            <a:r>
              <a:rPr/>
              <a:t>Got a fast full-dataset overview with </a:t>
            </a:r>
            <a:r>
              <a:rPr b="1">
                <a:latin typeface="Courier"/>
              </a:rPr>
              <a:t>skimr::skim()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to get every group’s stats in one table</a:t>
            </a:r>
          </a:p>
          <a:p>
            <a:pPr lvl="0"/>
            <a:r>
              <a:rPr/>
              <a:t>Learned to ask </a:t>
            </a:r>
            <a:r>
              <a:rPr b="1"/>
              <a:t>“n of what?”</a:t>
            </a:r>
            <a:r>
              <a:rPr/>
              <a:t>, and used a </a:t>
            </a:r>
            <a:r>
              <a:rPr b="1"/>
              <a:t>two-stage summary</a:t>
            </a:r>
            <a:r>
              <a:rPr/>
              <a:t> to report the n we actually replicated</a:t>
            </a:r>
          </a:p>
          <a:p>
            <a:pPr lvl="0"/>
            <a:r>
              <a:rPr/>
              <a:t>Drew the whole thing: a boxplot with </a:t>
            </a:r>
            <a:r>
              <a:rPr b="1">
                <a:latin typeface="Courier"/>
              </a:rPr>
              <a:t>stat_summary()</a:t>
            </a:r>
            <a:r>
              <a:rPr/>
              <a:t> mean ± SE, and saw the error bars change when the n changes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compute n, mean, SD, and SE for </a:t>
            </a:r>
            <a:r>
              <a:rPr sz="2000">
                <a:latin typeface="Courier"/>
              </a:rPr>
              <a:t>needle_length_mm</a:t>
            </a:r>
            <a:r>
              <a:rPr sz="2000"/>
              <a:t> grouped by </a:t>
            </a:r>
            <a:r>
              <a:rPr sz="2000">
                <a:latin typeface="Courier"/>
              </a:rPr>
              <a:t>side</a:t>
            </a:r>
            <a:r>
              <a:rPr sz="2000"/>
              <a:t>, and again grouped by </a:t>
            </a:r>
            <a:r>
              <a:rPr sz="2000">
                <a:latin typeface="Courier"/>
              </a:rPr>
              <a:t>team</a:t>
            </a:r>
            <a:r>
              <a:rPr sz="2000"/>
              <a:t>. Save the summary table with </a:t>
            </a:r>
            <a:r>
              <a:rPr sz="2000">
                <a:latin typeface="Courier"/>
              </a:rPr>
              <a:t>write_csv()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Graphing Effectively</a:t>
            </a:r>
          </a:p>
          <a:p>
            <a:pPr lvl="0"/>
            <a:r>
              <a:rPr sz="2000"/>
              <a:t>Boxplots and jittered points, done right</a:t>
            </a:r>
          </a:p>
          <a:p>
            <a:pPr lvl="0"/>
            <a:r>
              <a:rPr sz="2000"/>
              <a:t>Plotting mean ± SE directly with </a:t>
            </a:r>
            <a:r>
              <a:rPr sz="2000">
                <a:latin typeface="Courier"/>
              </a:rPr>
              <a:t>stat_summary()</a:t>
            </a:r>
          </a:p>
          <a:p>
            <a:pPr lvl="0"/>
            <a:r>
              <a:rPr sz="2000"/>
              <a:t>Faceting, themes, and </a:t>
            </a:r>
            <a:r>
              <a:rPr sz="2000">
                <a:latin typeface="Courier"/>
              </a:rPr>
              <a:t>ggsave()</a:t>
            </a:r>
            <a:r>
              <a:rPr sz="2000"/>
              <a:t> for a publication-ready figure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posted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Whitlock &amp; Schluter</a:t>
            </a:r>
            <a:r>
              <a:rPr/>
              <a:t>, </a:t>
            </a:r>
            <a:r>
              <a:rPr i="1"/>
              <a:t>The Analysis of Biological Data</a:t>
            </a:r>
            <a:r>
              <a:rPr/>
              <a:t> — </a:t>
            </a:r>
            <a:r>
              <a:rPr b="1"/>
              <a:t>Ch. 3</a:t>
            </a:r>
            <a:r>
              <a:rPr/>
              <a:t>, Describing Data (mean, median, variance, SD, quantiles) and </a:t>
            </a:r>
            <a:r>
              <a:rPr b="1"/>
              <a:t>Ch. 4</a:t>
            </a:r>
            <a:r>
              <a:rPr/>
              <a:t>, Estimating with Uncertainty (the standard error and what it does </a:t>
            </a:r>
            <a:r>
              <a:rPr i="1"/>
              <a:t>not</a:t>
            </a:r>
            <a:r>
              <a:rPr/>
              <a:t> measure)</a:t>
            </a:r>
          </a:p>
          <a:p>
            <a:pPr lvl="0"/>
            <a:r>
              <a:rPr b="1"/>
              <a:t>Gotelli &amp; Ellison</a:t>
            </a:r>
            <a:r>
              <a:rPr/>
              <a:t>, </a:t>
            </a:r>
            <a:r>
              <a:rPr i="1"/>
              <a:t>A Primer of Ecological Statistics</a:t>
            </a:r>
            <a:r>
              <a:rPr/>
              <a:t> — </a:t>
            </a:r>
            <a:r>
              <a:rPr b="1"/>
              <a:t>Ch. 3</a:t>
            </a:r>
            <a:r>
              <a:rPr/>
              <a:t>, Summary Statistics: Measures of Location and Spread</a:t>
            </a:r>
          </a:p>
          <a:p>
            <a:pPr lvl="0" indent="0" marL="0">
              <a:buNone/>
            </a:pPr>
            <a:r>
              <a:rPr b="1"/>
              <a:t>If you want more:</a:t>
            </a:r>
          </a:p>
          <a:p>
            <a:pPr lvl="0"/>
            <a:r>
              <a:rPr/>
              <a:t>Whitlock &amp; Schluter, Ch. 2 — Displaying Data, for the boxplot and the five-number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 indent="0" marL="1270000">
              <a:buNone/>
            </a:pPr>
            <a:r>
              <a:rPr sz="2000"/>
              <a:t>Free online at </a:t>
            </a:r>
            <a:r>
              <a:rPr sz="2000">
                <a:hlinkClick r:id="rId2"/>
              </a:rPr>
              <a:t>r4ds.hadley.nz</a:t>
            </a:r>
            <a:r>
              <a:rPr sz="2000"/>
              <a:t>:</a:t>
            </a:r>
          </a:p>
          <a:p>
            <a:pPr lvl="0"/>
            <a:r>
              <a:rPr sz="2000">
                <a:hlinkClick r:id="rId3"/>
              </a:rPr>
              <a:t>§3.5 — Groups and </a:t>
            </a:r>
            <a:r>
              <a:rPr sz="2000">
                <a:hlinkClick r:id="rId4"/>
                <a:latin typeface="Courier"/>
              </a:rPr>
              <a:t>summarize()</a:t>
            </a:r>
          </a:p>
          <a:p>
            <a:pPr lvl="0"/>
            <a:r>
              <a:rPr sz="2000">
                <a:hlinkClick r:id="rId5"/>
              </a:rPr>
              <a:t>§10 — Exploratory data analysis</a:t>
            </a:r>
          </a:p>
          <a:p>
            <a:pPr lvl="0"/>
            <a:r>
              <a:rPr sz="2000">
                <a:hlinkClick r:id="rId6"/>
              </a:rPr>
              <a:t>§13 — Numbers</a:t>
            </a:r>
            <a:r>
              <a:rPr sz="2000"/>
              <a:t> — counts and summary functions</a:t>
            </a:r>
          </a:p>
          <a:p>
            <a:pPr lvl="0"/>
            <a:r>
              <a:rPr sz="2000">
                <a:hlinkClick r:id="rId7"/>
              </a:rPr>
              <a:t>§18 — Missing values</a:t>
            </a:r>
            <a:r>
              <a:rPr sz="2000"/>
              <a:t> — the </a:t>
            </a:r>
            <a:r>
              <a:rPr sz="2000">
                <a:latin typeface="Courier"/>
              </a:rPr>
              <a:t>n()</a:t>
            </a:r>
            <a:r>
              <a:rPr sz="2000"/>
              <a:t> trap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Spelling? Did you forget </a:t>
            </a:r>
            <a:r>
              <a:rPr>
                <a:latin typeface="Courier"/>
              </a:rPr>
              <a:t>na.rm = TRUE</a:t>
            </a:r>
            <a:r>
              <a:rPr/>
              <a:t>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§8 — Workflow: getting help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Describing Your Data</dc:title>
  <dc:creator>Bill Perry</dc:creator>
  <cp:keywords/>
  <dc:description>Mean, median, variance, standard deviation, and standard error; quantiles, range, and IQR; the length() trap and the sum(!is.na()) fix; a fast full-dataset overview with skimr; and getting tidy per-group summaries with group_by() + summarize() — all on the pine needle dataset.</dc:description>
  <dcterms:created xsi:type="dcterms:W3CDTF">2026-09-21T17:09:44Z</dcterms:created>
  <dcterms:modified xsi:type="dcterms:W3CDTF">2026-09-21T17:09:44Z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3</vt:lpwstr>
  </property>
  <property fmtid="{D5CDD505-2E9C-101B-9397-08002B2CF9AE}" pid="14" name="resources">
    <vt:lpwstr/>
  </property>
  <property fmtid="{D5CDD505-2E9C-101B-9397-08002B2CF9AE}" pid="15" name="subtitle">
    <vt:lpwstr>Mean, spread, counting correctly, and group summaries</vt:lpwstr>
  </property>
  <property fmtid="{D5CDD505-2E9C-101B-9397-08002B2CF9AE}" pid="16" name="toc-title">
    <vt:lpwstr>Table of contents</vt:lpwstr>
  </property>
  <property fmtid="{D5CDD505-2E9C-101B-9397-08002B2CF9AE}" pid="17" name="week">
    <vt:lpwstr>2</vt:lpwstr>
  </property>
</Properties>
</file>