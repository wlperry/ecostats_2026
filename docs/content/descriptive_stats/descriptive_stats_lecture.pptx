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shady (</a:t>
            </a:r>
            <a:r>
              <a:rPr sz="2000">
                <a:latin typeface="Courier"/>
              </a:rPr>
              <a:t>n</a:t>
            </a:r>
            <a:r>
              <a:rPr sz="2000"/>
              <a:t>) vs. sunny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</a:t>
            </a:r>
            <a:br/>
            <a:r>
              <a:rPr sz="2000"/>
              <a:t>Four teams, four trees, six needles per side.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   </a:t>
            </a:r>
            <a:r>
              <a:rPr>
                <a:solidFill>
                  <a:srgbClr val="5E5E5E"/>
                </a:solidFill>
                <a:latin typeface="Courier"/>
              </a:rPr>
              <a:t># min and max</a:t>
            </a:r>
          </a:p>
          <a:p>
            <a:pPr lvl="0" indent="0">
              <a:buNone/>
            </a:pPr>
            <a:r>
              <a:rPr>
                <a:latin typeface="Courier"/>
              </a:rPr>
              <a:t>[1] 16 25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(shady_lengths)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# range as a single number</a:t>
            </a:r>
          </a:p>
          <a:p>
            <a:pPr lvl="0" indent="0">
              <a:buNone/>
            </a:pPr>
            <a:r>
              <a:rPr>
                <a:latin typeface="Courier"/>
              </a:rPr>
              <a:t>[1] 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</a:t>
            </a:r>
            <a:r>
              <a:rPr>
                <a:solidFill>
                  <a:srgbClr val="5E5E5E"/>
                </a:solidFill>
                <a:latin typeface="Courier"/>
              </a:rPr>
              <a:t># 0/25/50/75/100th percentiles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16.00 18.75 20.50 21.50 25.00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     </a:t>
            </a:r>
            <a:r>
              <a:rPr>
                <a:solidFill>
                  <a:srgbClr val="5E5E5E"/>
                </a:solidFill>
                <a:latin typeface="Courier"/>
              </a:rPr>
              <a:t># 75th percentile minus 25th</a:t>
            </a:r>
          </a:p>
          <a:p>
            <a:pPr lvl="0" indent="0">
              <a:buNone/>
            </a:pPr>
            <a:r>
              <a:rPr>
                <a:latin typeface="Courier"/>
              </a:rPr>
              <a:t>[1] 2.75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shady_lengths))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quantile()</a:t>
            </a:r>
            <a:r>
              <a:rPr sz="2000"/>
              <a:t>’s 50th percentile is exactly the median. </a:t>
            </a:r>
            <a:r>
              <a:rPr sz="2000">
                <a:latin typeface="Courier"/>
              </a:rPr>
              <a:t>IQR()</a:t>
            </a:r>
            <a:r>
              <a:rPr sz="2000"/>
              <a:t> is just </a:t>
            </a:r>
            <a:r>
              <a:rPr sz="2000">
                <a:latin typeface="Courier"/>
              </a:rPr>
              <a:t>quantile(x, 0.75) - quantile(x, 0.25)</a:t>
            </a:r>
            <a:r>
              <a:rPr sz="2000"/>
              <a:t> computed for you.</a:t>
            </a:r>
          </a:p>
          <a:p>
            <a:pPr lvl="0" indent="0" marL="1270000">
              <a:buNone/>
            </a:pPr>
            <a:r>
              <a:rPr sz="2000"/>
              <a:t>📖 R4DS §12 — EDA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12.00 13.75 15.00 16.00 19.00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note base r rounding is really odd - use round_half_up from janitor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n_shady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n_sunny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se_shady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Shady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Shady side ---
 n      = 24 
 Mean   = 20.42 
 Median = 20.5 
 SD     = 2.45 
 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n_s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(length_mm, tree_no)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length_mm…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n_s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Wrangling Your Data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Summarizing the Categories You Built Last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grouping by the </a:t>
            </a:r>
            <a:r>
              <a:rPr sz="2000">
                <a:latin typeface="Courier"/>
              </a:rPr>
              <a:t>size_class</a:t>
            </a:r>
            <a:r>
              <a:rPr sz="2000"/>
              <a:t> bins (</a:t>
            </a:r>
            <a:r>
              <a:rPr sz="2000">
                <a:latin typeface="Courier"/>
              </a:rPr>
              <a:t>"short"</a:t>
            </a:r>
            <a:r>
              <a:rPr sz="2000"/>
              <a:t>/</a:t>
            </a:r>
            <a:r>
              <a:rPr sz="2000">
                <a:latin typeface="Courier"/>
              </a:rPr>
              <a:t>"medium"</a:t>
            </a:r>
            <a:r>
              <a:rPr sz="2000"/>
              <a:t>/</a:t>
            </a:r>
            <a:r>
              <a:rPr sz="2000">
                <a:latin typeface="Courier"/>
              </a:rPr>
              <a:t>"long"</a:t>
            </a:r>
            <a:r>
              <a:rPr sz="2000"/>
              <a:t>) from Wrangling Your Data’s </a:t>
            </a:r>
            <a:r>
              <a:rPr sz="2000">
                <a:latin typeface="Courier"/>
              </a:rPr>
              <a:t>case_when()</a:t>
            </a:r>
            <a:r>
              <a:rPr sz="2000"/>
              <a:t>. How many rows will the summary have?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size_class     n mean_mm se_mm
  &lt;chr&gt;      &lt;int&gt;   &lt;dbl&gt; &lt;dbl&gt;
1 long          16    21.8  0.42
2 medium        17    17.3  0.28
3 short         15    13.7  0.3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and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chain together like any other verbs — you don’t need to save the </a:t>
            </a:r>
            <a:r>
              <a:rPr sz="2000">
                <a:latin typeface="Courier"/>
              </a:rPr>
              <a:t>case_when()</a:t>
            </a:r>
            <a:r>
              <a:rPr sz="2000"/>
              <a:t> column separately first. This is the wrangling → describing pipeline in one block.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 — including the </a:t>
            </a:r>
            <a:r>
              <a:rPr>
                <a:latin typeface="Courier"/>
              </a:rPr>
              <a:t>case_when()</a:t>
            </a:r>
            <a:r>
              <a:rPr/>
              <a:t> categories from Wrangling Your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2026-08-26T17:12:04Z</dcterms:created>
  <dcterms:modified xsi:type="dcterms:W3CDTF">2026-08-26T17:12:04Z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resources">
    <vt:lpwstr/>
  </property>
  <property fmtid="{D5CDD505-2E9C-101B-9397-08002B2CF9AE}" pid="13" name="subtitle">
    <vt:lpwstr>Mean, spread, counting correctly, and group summaries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