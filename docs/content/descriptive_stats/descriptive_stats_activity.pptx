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3: Describing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split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lee_lengths 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wind_lengths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needles are in </a:t>
            </a:r>
            <a:r>
              <a:rPr>
                <a:latin typeface="Courier"/>
              </a:rPr>
              <a:t>lee_lengths</a:t>
            </a:r>
            <a:r>
              <a:rPr/>
              <a:t>? In </a:t>
            </a:r>
            <a:r>
              <a:rPr>
                <a:latin typeface="Courier"/>
              </a:rPr>
              <a:t>wind_lengths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Mean and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each side, is the mean close to the median, or far from it? What would a big gap suggest about the shape of the data?</a:t>
            </a:r>
          </a:p>
          <a:p>
            <a:pPr lvl="0" indent="0">
              <a:buNone/>
            </a:pPr>
            <a:r>
              <a:rPr>
                <a:latin typeface="Courier"/>
              </a:rPr>
              <a:t>Lee   — mean vs. median: ________________________
Wind  — mean vs. median: 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Variance and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side has more spread in its needle lengths — lee or windward? How do you know?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Explain in your own words why </a:t>
            </a:r>
            <a:r>
              <a:rPr>
                <a:latin typeface="Courier"/>
              </a:rPr>
              <a:t>length(x)</a:t>
            </a:r>
            <a:r>
              <a:rPr/>
              <a:t> gives the wrong answer for a sample size when there are missing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right_n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(right_n)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right_se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Are </a:t>
            </a:r>
            <a:r>
              <a:rPr>
                <a:latin typeface="Courier"/>
              </a:rPr>
              <a:t>wrong_se</a:t>
            </a:r>
            <a:r>
              <a:rPr/>
              <a:t> and </a:t>
            </a:r>
            <a:r>
              <a:rPr>
                <a:latin typeface="Courier"/>
              </a:rPr>
              <a:t>right_se</a:t>
            </a:r>
            <a:r>
              <a:rPr/>
              <a:t> the same number? Why or why not?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third </a:t>
            </a:r>
            <a:r>
              <a:rPr sz="2000">
                <a:latin typeface="Courier"/>
              </a:rPr>
              <a:t>NA</a:t>
            </a:r>
            <a:r>
              <a:rPr sz="2000"/>
              <a:t> to </a:t>
            </a:r>
            <a:r>
              <a:rPr sz="2000">
                <a:latin typeface="Courier"/>
              </a:rPr>
              <a:t>x</a:t>
            </a:r>
            <a:r>
              <a:rPr sz="2000"/>
              <a:t> and rerun both calculations. What happens to </a:t>
            </a:r>
            <a:r>
              <a:rPr sz="2000">
                <a:latin typeface="Courier"/>
              </a:rPr>
              <a:t>wrong_se</a:t>
            </a:r>
            <a:r>
              <a:rPr sz="2000"/>
              <a:t> and </a:t>
            </a:r>
            <a:r>
              <a:rPr sz="2000">
                <a:latin typeface="Courier"/>
              </a:rPr>
              <a:t>right_se</a:t>
            </a:r>
            <a:r>
              <a:rPr sz="2000"/>
              <a:t> this time?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Standard error, on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n_lee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n_wind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(wind_lengths))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(n_lee)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(wind_lengths)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(n_wind)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se_lee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se_wind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explain the difference between what SD tells you and what SE tells you.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(lee_lengths))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(lee_lengths,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 Mean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 SD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Copy this block and adapt it to compute the same five numbers for </a:t>
            </a:r>
            <a:r>
              <a:rPr>
                <a:latin typeface="Courier"/>
              </a:rPr>
              <a:t>wind_lengths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</a:t>
            </a:r>
            <a:r>
              <a:rPr>
                <a:latin typeface="Courier"/>
              </a:rPr>
              <a:t>mean_mm</a:t>
            </a:r>
            <a:r>
              <a:rPr/>
              <a:t> and </a:t>
            </a:r>
            <a:r>
              <a:rPr>
                <a:latin typeface="Courier"/>
              </a:rPr>
              <a:t>se_mm</a:t>
            </a:r>
            <a:r>
              <a:rPr/>
              <a:t> values match the ones you calculated by hand in Parts 2 and 5? </a:t>
            </a:r>
            <a:r>
              <a:rPr>
                <a:latin typeface="Courier"/>
              </a:rPr>
              <a:t>Y / N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Now group by </a:t>
            </a:r>
            <a:r>
              <a:rPr>
                <a:latin typeface="Courier"/>
              </a:rPr>
              <a:t>group</a:t>
            </a:r>
            <a:r>
              <a:rPr/>
              <a:t> (the field team) instead of </a:t>
            </a:r>
            <a:r>
              <a:rPr>
                <a:latin typeface="Courier"/>
              </a:rPr>
              <a:t>n_s</a:t>
            </a:r>
            <a:r>
              <a:rPr/>
              <a:t>, and compute the same five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Group by </a:t>
            </a:r>
            <a:r>
              <a:rPr sz="2000" i="1"/>
              <a:t>both</a:t>
            </a:r>
            <a:r>
              <a:rPr sz="2000"/>
              <a:t> </a:t>
            </a:r>
            <a:r>
              <a:rPr sz="2000">
                <a:latin typeface="Courier"/>
              </a:rPr>
              <a:t>group</a:t>
            </a:r>
            <a:r>
              <a:rPr sz="2000"/>
              <a:t> and </a:t>
            </a:r>
            <a:r>
              <a:rPr sz="2000">
                <a:latin typeface="Courier"/>
              </a:rPr>
              <a:t>n_s</a:t>
            </a:r>
            <a:r>
              <a:rPr sz="2000"/>
              <a:t> at once (</a:t>
            </a:r>
            <a:r>
              <a:rPr sz="2000">
                <a:latin typeface="Courier"/>
              </a:rPr>
              <a:t>group_by(group, n_s)</a:t>
            </a:r>
            <a:r>
              <a:rPr sz="2000"/>
              <a:t>). How many rows does the result have, and why?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Save your summary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(side_stats_df,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"data/pine_needles_side_stats.csv"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summary table should be there.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Compute mean and median, and explain when they disagree</a:t>
            </a:r>
          </a:p>
          <a:p>
            <a:pPr lvl="0"/>
            <a:r>
              <a:rPr/>
              <a:t>☐ Compute variance and SD by hand from a vector</a:t>
            </a:r>
          </a:p>
          <a:p>
            <a:pPr lvl="0"/>
            <a:r>
              <a:rPr/>
              <a:t>☐ Explain the </a:t>
            </a:r>
            <a:r>
              <a:rPr>
                <a:latin typeface="Courier"/>
              </a:rPr>
              <a:t>length()</a:t>
            </a:r>
            <a:r>
              <a:rPr/>
              <a:t> trap and fix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☐ Compute SE and explain how it differs from SD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n, mean, SD, and SE for every group at once</a:t>
            </a:r>
          </a:p>
          <a:p>
            <a:pPr lvl="0"/>
            <a:r>
              <a:rPr/>
              <a:t>☐ Save a summary table with </a:t>
            </a:r>
            <a:r>
              <a:rPr>
                <a:latin typeface="Courier"/>
              </a:rPr>
              <a:t>write_csv()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03_descriptive_stats.R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Describing Your Data</dc:title>
  <dc:creator>Bill Perry</dc:creator>
  <cp:keywords/>
  <dc:description>Hands-on worksheet: mean, median, variance, SD, SE, the length() trap, and group_by() + summarize().</dc:description>
  <dcterms:created xsi:type="dcterms:W3CDTF">2026-08-19T22:22:40Z</dcterms:created>
  <dcterms:modified xsi:type="dcterms:W3CDTF">2026-08-19T22:22:40Z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Mean, spread, counting correctly, and group summaries</vt:lpwstr>
  </property>
  <property fmtid="{D5CDD505-2E9C-101B-9397-08002B2CF9AE}" pid="15" name="toc-title">
    <vt:lpwstr>Table of contents</vt:lpwstr>
  </property>
  <property fmtid="{D5CDD505-2E9C-101B-9397-08002B2CF9AE}" pid="16" name="week">
    <vt:lpwstr>2</vt:lpwstr>
  </property>
</Properties>
</file>