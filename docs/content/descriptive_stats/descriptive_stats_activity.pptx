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Describing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split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shady_lengths 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needles are in </a:t>
            </a:r>
            <a:r>
              <a:rPr>
                <a:latin typeface="Courier"/>
              </a:rPr>
              <a:t>shady_lengths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  <a:br/>
            <a:br/>
            <a:r>
              <a:rPr/>
              <a:t>In </a:t>
            </a:r>
            <a:r>
              <a:rPr>
                <a:latin typeface="Courier"/>
              </a:rPr>
              <a:t>sunny_lengths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Mean and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each side, is the mean close to the median, or far from it? What would a big gap suggest about the shape of the data?</a:t>
            </a:r>
          </a:p>
          <a:p>
            <a:pPr lvl="0" indent="0">
              <a:buNone/>
            </a:pPr>
            <a:r>
              <a:rPr>
                <a:latin typeface="Courier"/>
              </a:rPr>
              <a:t>
Shady — mean vs. median: ________________________
Sunny — mean vs. median: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Variance and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side has more spread in its needle lengths — shady or sunny?</a:t>
            </a:r>
            <a:br/>
            <a:r>
              <a:rPr/>
              <a:t>How do you know?</a:t>
            </a:r>
            <a:br/>
            <a:br/>
            <a:r>
              <a:rPr>
                <a:latin typeface="Courier"/>
              </a:rPr>
              <a:t>______________________________________________________________________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(shady_lengths)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Compute the same four things for </a:t>
            </a:r>
            <a:r>
              <a:rPr>
                <a:latin typeface="Courier"/>
              </a:rPr>
              <a:t>sunny_lengths</a:t>
            </a:r>
            <a:r>
              <a:rPr/>
              <a:t>. Which side has the wider IQR?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>
              <a:buNone/>
            </a:pPr>
            <a:r>
              <a:rPr>
                <a:latin typeface="Courier"/>
              </a:rPr>
              <a:t>
Wider IQR: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Confirm that </a:t>
            </a:r>
            <a:r>
              <a:rPr sz="2000">
                <a:latin typeface="Courier"/>
              </a:rPr>
              <a:t>IQR(shady_lengths)</a:t>
            </a:r>
            <a:r>
              <a:rPr sz="2000"/>
              <a:t> equals </a:t>
            </a:r>
            <a:r>
              <a:rPr sz="2000">
                <a:latin typeface="Courier"/>
              </a:rPr>
              <a:t>quantile(shady_lengths, 0.75) - quantile(shady_lengths, 0.25)</a:t>
            </a:r>
            <a:r>
              <a:rPr sz="2000"/>
              <a:t> by computing both and comparing.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Explain in your own words why </a:t>
            </a:r>
            <a:r>
              <a:rPr>
                <a:latin typeface="Courier"/>
              </a:rPr>
              <a:t>length(x)</a:t>
            </a:r>
            <a:r>
              <a:rPr/>
              <a:t> gives the wrong answer for a sample size when there are missing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
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right_n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</a:t>
            </a:r>
            <a:r>
              <a:rPr>
                <a:latin typeface="Courier"/>
              </a:rPr>
              <a:t>wrong_se</a:t>
            </a:r>
            <a:r>
              <a:rPr/>
              <a:t> and </a:t>
            </a:r>
            <a:r>
              <a:rPr>
                <a:latin typeface="Courier"/>
              </a:rPr>
              <a:t>right_se</a:t>
            </a:r>
            <a:r>
              <a:rPr/>
              <a:t> the same number? Why or why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third </a:t>
            </a:r>
            <a:r>
              <a:rPr sz="2000">
                <a:latin typeface="Courier"/>
              </a:rPr>
              <a:t>NA</a:t>
            </a:r>
            <a:r>
              <a:rPr sz="2000"/>
              <a:t> to </a:t>
            </a:r>
            <a:r>
              <a:rPr sz="2000">
                <a:latin typeface="Courier"/>
              </a:rPr>
              <a:t>x</a:t>
            </a:r>
            <a:r>
              <a:rPr sz="2000"/>
              <a:t> and rerun both calculations. What happens to </a:t>
            </a:r>
            <a:r>
              <a:rPr sz="2000">
                <a:latin typeface="Courier"/>
              </a:rPr>
              <a:t>wrong_se</a:t>
            </a:r>
            <a:r>
              <a:rPr sz="2000"/>
              <a:t> and </a:t>
            </a:r>
            <a:r>
              <a:rPr sz="2000">
                <a:latin typeface="Courier"/>
              </a:rPr>
              <a:t>right_se</a:t>
            </a:r>
            <a:r>
              <a:rPr sz="2000"/>
              <a:t> this time?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Standard error, on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n_shady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se_shady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se_shady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explain the difference between what SD tells you and what SE tells you.</a:t>
            </a:r>
          </a:p>
          <a:p>
            <a:pPr lvl="0" indent="0">
              <a:buNone/>
            </a:pPr>
            <a:r>
              <a:rPr>
                <a:latin typeface="Courier"/>
              </a:rPr>
              <a:t>
________________________________________________________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SD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this block and adapt it to compute the same five numbers for </a:t>
            </a:r>
            <a:r>
              <a:rPr>
                <a:latin typeface="Courier"/>
              </a:rPr>
              <a:t>sunny_lengths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(run </a:t>
            </a:r>
            <a:r>
              <a:rPr>
                <a:latin typeface="Courier"/>
              </a:rPr>
              <a:t>install.packages("skimr")</a:t>
            </a:r>
            <a:r>
              <a:rPr/>
              <a:t> first, one time only, if you haven’t already):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Find </a:t>
            </a:r>
            <a:r>
              <a:rPr>
                <a:latin typeface="Courier"/>
              </a:rPr>
              <a:t>length_mm</a:t>
            </a:r>
            <a:r>
              <a:rPr/>
              <a:t> in the </a:t>
            </a:r>
            <a:r>
              <a:rPr>
                <a:latin typeface="Courier"/>
              </a:rPr>
              <a:t>skim()</a:t>
            </a:r>
            <a:r>
              <a:rPr/>
              <a:t> output. Do its mean and SD match what you calculated by hand in Parts 2 and 3?</a:t>
            </a:r>
            <a:br/>
            <a:br/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skim()</a:t>
            </a:r>
            <a:r>
              <a:rPr/>
              <a:t> show you for a character column (like </a:t>
            </a:r>
            <a:r>
              <a:rPr>
                <a:latin typeface="Courier"/>
              </a:rPr>
              <a:t>group</a:t>
            </a:r>
            <a:r>
              <a:rPr/>
              <a:t> or </a:t>
            </a:r>
            <a:r>
              <a:rPr>
                <a:latin typeface="Courier"/>
              </a:rPr>
              <a:t>n_s</a:t>
            </a:r>
            <a:r>
              <a:rPr/>
              <a:t>) that it doesn’t show for a numeric one?</a:t>
            </a:r>
            <a:br/>
            <a:r>
              <a:rPr>
                <a:latin typeface="Courier"/>
              </a:rPr>
              <a:t>____________________________________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</a:t>
            </a:r>
            <a:r>
              <a:rPr>
                <a:latin typeface="Courier"/>
              </a:rPr>
              <a:t>mean_mm</a:t>
            </a:r>
            <a:r>
              <a:rPr/>
              <a:t> and </a:t>
            </a:r>
            <a:r>
              <a:rPr>
                <a:latin typeface="Courier"/>
              </a:rPr>
              <a:t>se_mm</a:t>
            </a:r>
            <a:r>
              <a:rPr/>
              <a:t> values match the ones you calculated by hand in Parts 2 and 5?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Now group by </a:t>
            </a:r>
            <a:r>
              <a:rPr>
                <a:latin typeface="Courier"/>
              </a:rPr>
              <a:t>group</a:t>
            </a:r>
            <a:r>
              <a:rPr/>
              <a:t> (the field team) instead of </a:t>
            </a:r>
            <a:r>
              <a:rPr>
                <a:latin typeface="Courier"/>
              </a:rPr>
              <a:t>n_s</a:t>
            </a:r>
            <a:r>
              <a:rPr/>
              <a:t>, and compute the same five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Group by </a:t>
            </a:r>
            <a:r>
              <a:rPr sz="2000" i="1"/>
              <a:t>both</a:t>
            </a:r>
            <a:r>
              <a:rPr sz="2000"/>
              <a:t> </a:t>
            </a:r>
            <a:r>
              <a:rPr sz="2000">
                <a:latin typeface="Courier"/>
              </a:rPr>
              <a:t>group</a:t>
            </a:r>
            <a:r>
              <a:rPr sz="2000"/>
              <a:t> and </a:t>
            </a:r>
            <a:r>
              <a:rPr sz="2000">
                <a:latin typeface="Courier"/>
              </a:rPr>
              <a:t>n_s</a:t>
            </a:r>
            <a:r>
              <a:rPr sz="2000"/>
              <a:t> at once (</a:t>
            </a:r>
            <a:r>
              <a:rPr sz="2000">
                <a:latin typeface="Courier"/>
              </a:rPr>
              <a:t>group_by(group, n_s)</a:t>
            </a:r>
            <a:r>
              <a:rPr sz="2000"/>
              <a:t>). How many rows does the result have, and why?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</a:t>
            </a:r>
            <a:r>
              <a:rPr>
                <a:latin typeface="Courier"/>
              </a:rPr>
              <a:t>size_class</a:t>
            </a:r>
            <a:r>
              <a:rPr/>
              <a:t> has the largest </a:t>
            </a:r>
            <a:r>
              <a:rPr>
                <a:latin typeface="Courier"/>
              </a:rPr>
              <a:t>n</a:t>
            </a:r>
            <a:r>
              <a:rPr/>
              <a:t>?</a:t>
            </a:r>
            <a:br/>
            <a:r>
              <a:rPr/>
              <a:t>Does that match what you’d expect from the cutoffs (16 and 20)?</a:t>
            </a:r>
            <a:br/>
            <a:br/>
            <a:r>
              <a:rPr>
                <a:latin typeface="Courier"/>
              </a:rPr>
              <a:t>__________________________________________________________________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summary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(side_stats_df,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"data/pine_needles_side_stats.csv"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summary table should be there.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Compute mean and median, and explain when they disagree</a:t>
            </a:r>
          </a:p>
          <a:p>
            <a:pPr lvl="0"/>
            <a:r>
              <a:rPr/>
              <a:t>☐ Compute variance and SD by hand from a vector</a:t>
            </a:r>
          </a:p>
          <a:p>
            <a:pPr lvl="0"/>
            <a:r>
              <a:rPr/>
              <a:t>☐ Compute quantiles, range, and IQR, and explain how IQR relates to a boxplot</a:t>
            </a:r>
          </a:p>
          <a:p>
            <a:pPr lvl="0"/>
            <a:r>
              <a:rPr/>
              <a:t>☐ Explain the </a:t>
            </a:r>
            <a:r>
              <a:rPr>
                <a:latin typeface="Courier"/>
              </a:rPr>
              <a:t>length()</a:t>
            </a:r>
            <a:r>
              <a:rPr/>
              <a:t> trap and fix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☐ Compute SE and explain how it differs from SD</a:t>
            </a:r>
          </a:p>
          <a:p>
            <a:pPr lvl="0"/>
            <a:r>
              <a:rPr/>
              <a:t>☐ Get a full-dataset overview with </a:t>
            </a:r>
            <a:r>
              <a:rPr>
                <a:latin typeface="Courier"/>
              </a:rPr>
              <a:t>skimr::skim()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n, mean, SD, and SE for every group at once — including </a:t>
            </a:r>
            <a:r>
              <a:rPr>
                <a:latin typeface="Courier"/>
              </a:rPr>
              <a:t>case_when()</a:t>
            </a:r>
            <a:r>
              <a:rPr/>
              <a:t> categories</a:t>
            </a:r>
          </a:p>
          <a:p>
            <a:pPr lvl="0"/>
            <a:r>
              <a:rPr/>
              <a:t>☐ Save a summary table with </a:t>
            </a:r>
            <a:r>
              <a:rPr>
                <a:latin typeface="Courier"/>
              </a:rPr>
              <a:t>write_csv()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</a:t>
            </a:r>
            <a:br/>
            <a:br/>
            <a:r>
              <a:rPr/>
              <a:t>Ran cleanly? </a:t>
            </a:r>
            <a:r>
              <a:rPr>
                <a:latin typeface="Courier"/>
              </a:rPr>
              <a:t>Y / N</a:t>
            </a:r>
            <a:br/>
            <a:br/>
            <a:r>
              <a:rPr/>
              <a:t>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03_descriptive_stats.R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Describing Your Data</dc:title>
  <dc:creator>Bill Perry</dc:creator>
  <cp:keywords/>
  <dc:description>Hands-on worksheet: mean, median, variance, SD, SE, quantiles/range/IQR, the length() trap, a fast skimr overview, and group_by() + summarize() — including the case_when() categories from Wrangling Your Data.</dc:description>
  <dcterms:created xsi:type="dcterms:W3CDTF">2026-08-28T18:17:15Z</dcterms:created>
  <dcterms:modified xsi:type="dcterms:W3CDTF">2026-08-28T18:17:15Z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Mean, spread, counting correctly, and group summaries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