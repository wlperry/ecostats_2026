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Activity: Describing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Mean, spread, counting correctly, and group summaries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Worksheet: Describing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 indent="0" marL="1270000">
              <a:buNone/>
            </a:pPr>
            <a:r>
              <a:rPr sz="2000"/>
              <a:t>Work through each part in order, at your own pace. Type every line of code yourself into a </a:t>
            </a:r>
            <a:r>
              <a:rPr sz="2000" b="1"/>
              <a:t>plain R script</a:t>
            </a:r>
            <a:r>
              <a:rPr sz="2000"/>
              <a:t> — do not copy-paste. Blocks marked </a:t>
            </a:r>
            <a:r>
              <a:rPr sz="2000" b="1"/>
              <a:t>▶ Run this</a:t>
            </a:r>
            <a:r>
              <a:rPr sz="2000"/>
              <a:t> are code you should type and execute. Blocks marked </a:t>
            </a:r>
            <a:r>
              <a:rPr sz="2000" b="1"/>
              <a:t>✏️ Your turn</a:t>
            </a:r>
            <a:r>
              <a:rPr sz="2000"/>
              <a:t> ask you to write, modify, or answer something. Boxes marked </a:t>
            </a:r>
            <a:r>
              <a:rPr sz="2000" b="1"/>
              <a:t>🚀 If you finish early</a:t>
            </a:r>
            <a:r>
              <a:rPr sz="2000"/>
              <a:t> are optional bonus material.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and split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in your Script: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shady_lengths 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sunny_lengths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(n_s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(length_mm)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needles are in </a:t>
            </a:r>
            <a:r>
              <a:rPr>
                <a:latin typeface="Courier"/>
              </a:rPr>
              <a:t>shady_lengths</a:t>
            </a:r>
            <a:r>
              <a:rPr/>
              <a:t>? In </a:t>
            </a:r>
            <a:r>
              <a:rPr>
                <a:latin typeface="Courier"/>
              </a:rPr>
              <a:t>sunny_lengths</a:t>
            </a:r>
            <a:r>
              <a:rPr/>
              <a:t>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Mean and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(sunny_lengths)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For each side, is the mean close to the median, or far from it? What would a big gap suggest about the shape of the data?</a:t>
            </a:r>
          </a:p>
          <a:p>
            <a:pPr lvl="0" indent="0">
              <a:buNone/>
            </a:pPr>
            <a:r>
              <a:rPr>
                <a:latin typeface="Courier"/>
              </a:rPr>
              <a:t>Shady — mean vs. median: ________________________
Sunny — mean vs. median: ________________________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Variance and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(sunny_lengths)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(sunny_lengths)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side has more spread in its needle lengths — shady or sunny? How do you know?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3b · Quantiles, range, and IQR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range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(shady_lengths)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(shady_lengths)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Compute the same four things for </a:t>
            </a:r>
            <a:r>
              <a:rPr>
                <a:latin typeface="Courier"/>
              </a:rPr>
              <a:t>sunny_lengths</a:t>
            </a:r>
            <a:r>
              <a:rPr/>
              <a:t>. Which side has the wider IQR?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Wider IQR: 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Confirm that </a:t>
            </a:r>
            <a:r>
              <a:rPr sz="2000">
                <a:latin typeface="Courier"/>
              </a:rPr>
              <a:t>IQR(shady_lengths)</a:t>
            </a:r>
            <a:r>
              <a:rPr sz="2000"/>
              <a:t> equals </a:t>
            </a:r>
            <a:r>
              <a:rPr sz="2000">
                <a:latin typeface="Courier"/>
              </a:rPr>
              <a:t>quantile(shady_lengths, 0.75) - quantile(shady_lengths, 0.25)</a:t>
            </a:r>
            <a:r>
              <a:rPr sz="2000"/>
              <a:t> by computing both and comparing.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The </a:t>
            </a:r>
            <a:r>
              <a:rPr>
                <a:latin typeface="Courier"/>
              </a:rPr>
              <a:t>length()</a:t>
            </a:r>
            <a:r>
              <a:rPr/>
              <a:t>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Explain in your own words why </a:t>
            </a:r>
            <a:r>
              <a:rPr>
                <a:latin typeface="Courier"/>
              </a:rPr>
              <a:t>length(x)</a:t>
            </a:r>
            <a:r>
              <a:rPr/>
              <a:t> gives the wrong answer for a sample size when there are missing values.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wrong_n 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right_n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right_se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(right_n)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wrong_se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right_se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Are </a:t>
            </a:r>
            <a:r>
              <a:rPr>
                <a:latin typeface="Courier"/>
              </a:rPr>
              <a:t>wrong_se</a:t>
            </a:r>
            <a:r>
              <a:rPr/>
              <a:t> and </a:t>
            </a:r>
            <a:r>
              <a:rPr>
                <a:latin typeface="Courier"/>
              </a:rPr>
              <a:t>right_se</a:t>
            </a:r>
            <a:r>
              <a:rPr/>
              <a:t> the same number? Why or why not?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Add a third </a:t>
            </a:r>
            <a:r>
              <a:rPr sz="2000">
                <a:latin typeface="Courier"/>
              </a:rPr>
              <a:t>NA</a:t>
            </a:r>
            <a:r>
              <a:rPr sz="2000"/>
              <a:t> to </a:t>
            </a:r>
            <a:r>
              <a:rPr sz="2000">
                <a:latin typeface="Courier"/>
              </a:rPr>
              <a:t>x</a:t>
            </a:r>
            <a:r>
              <a:rPr sz="2000"/>
              <a:t> and rerun both calculations. What happens to </a:t>
            </a:r>
            <a:r>
              <a:rPr sz="2000">
                <a:latin typeface="Courier"/>
              </a:rPr>
              <a:t>wrong_se</a:t>
            </a:r>
            <a:r>
              <a:rPr sz="2000"/>
              <a:t> and </a:t>
            </a:r>
            <a:r>
              <a:rPr sz="2000">
                <a:latin typeface="Courier"/>
              </a:rPr>
              <a:t>right_se</a:t>
            </a:r>
            <a:r>
              <a:rPr sz="2000"/>
              <a:t> this time?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Standard error, on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n_shady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(shady_lengths))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n_sunny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(sunny_lengths))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se_shady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(shady_lengths) 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(n_shady)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(sunny_lengths)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(n_sunny)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se_shady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se_sunny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one sentence, explain the difference between what SD tells you and what SE tells you.</a:t>
            </a:r>
          </a:p>
          <a:p>
            <a:pPr lvl="0" indent="0">
              <a:buNone/>
            </a:pPr>
            <a:r>
              <a:rPr>
                <a:latin typeface="Courier"/>
              </a:rPr>
              <a:t>________________________________________________________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All stats, one group, base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n_l   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(shady_lengths))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mean_l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(shady_lengths,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med_l 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sd_l  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(shady_lengths,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se_l   &lt;- sd_l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(n_l)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="</a:t>
            </a:r>
            <a:r>
              <a:rPr>
                <a:solidFill>
                  <a:srgbClr val="003B4F"/>
                </a:solidFill>
                <a:latin typeface="Courier"/>
              </a:rPr>
              <a:t>, n_l, </a:t>
            </a:r>
            <a:r>
              <a:rPr>
                <a:solidFill>
                  <a:srgbClr val="20794D"/>
                </a:solidFill>
                <a:latin typeface="Courier"/>
              </a:rPr>
              <a:t>" Mean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 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 SD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 SE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(se_l,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Copy this block and adapt it to compute the same five numbers for </a:t>
            </a:r>
            <a:r>
              <a:rPr>
                <a:latin typeface="Courier"/>
              </a:rPr>
              <a:t>sunny_lengths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6b · </a:t>
            </a:r>
            <a:r>
              <a:rPr>
                <a:latin typeface="Courier"/>
              </a:rPr>
              <a:t>skimr</a:t>
            </a:r>
            <a:r>
              <a:rPr/>
              <a:t> — a fast full-dataset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</a:t>
            </a:r>
            <a:r>
              <a:rPr/>
              <a:t> (run </a:t>
            </a:r>
            <a:r>
              <a:rPr>
                <a:latin typeface="Courier"/>
              </a:rPr>
              <a:t>install.packages("skimr")</a:t>
            </a:r>
            <a:r>
              <a:rPr/>
              <a:t> first, one time only, if you haven’t already):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Find </a:t>
            </a:r>
            <a:r>
              <a:rPr>
                <a:latin typeface="Courier"/>
              </a:rPr>
              <a:t>length_mm</a:t>
            </a:r>
            <a:r>
              <a:rPr/>
              <a:t> in the </a:t>
            </a:r>
            <a:r>
              <a:rPr>
                <a:latin typeface="Courier"/>
              </a:rPr>
              <a:t>skim()</a:t>
            </a:r>
            <a:r>
              <a:rPr/>
              <a:t> output. Do its mean and SD match what you calculated by hand in Parts 2 and 3? </a:t>
            </a:r>
            <a:r>
              <a:rPr>
                <a:latin typeface="Courier"/>
              </a:rPr>
              <a:t>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</a:t>
            </a:r>
            <a:r>
              <a:rPr>
                <a:latin typeface="Courier"/>
              </a:rPr>
              <a:t>skim()</a:t>
            </a:r>
            <a:r>
              <a:rPr/>
              <a:t> show you for a character column (like </a:t>
            </a:r>
            <a:r>
              <a:rPr>
                <a:latin typeface="Courier"/>
              </a:rPr>
              <a:t>group</a:t>
            </a:r>
            <a:r>
              <a:rPr/>
              <a:t> or </a:t>
            </a:r>
            <a:r>
              <a:rPr>
                <a:latin typeface="Courier"/>
              </a:rPr>
              <a:t>n_s</a:t>
            </a:r>
            <a:r>
              <a:rPr/>
              <a:t>) that it doesn’t show for a numeric one?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Tidy group stats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side_stats_df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(n_s)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med_mm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side_stats_df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the </a:t>
            </a:r>
            <a:r>
              <a:rPr>
                <a:latin typeface="Courier"/>
              </a:rPr>
              <a:t>mean_mm</a:t>
            </a:r>
            <a:r>
              <a:rPr/>
              <a:t> and </a:t>
            </a:r>
            <a:r>
              <a:rPr>
                <a:latin typeface="Courier"/>
              </a:rPr>
              <a:t>se_mm</a:t>
            </a:r>
            <a:r>
              <a:rPr/>
              <a:t> values match the ones you calculated by hand in Parts 2 and 5? </a:t>
            </a:r>
            <a:r>
              <a:rPr>
                <a:latin typeface="Courier"/>
              </a:rPr>
              <a:t>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Now group by </a:t>
            </a:r>
            <a:r>
              <a:rPr>
                <a:latin typeface="Courier"/>
              </a:rPr>
              <a:t>group</a:t>
            </a:r>
            <a:r>
              <a:rPr/>
              <a:t> (the field team) instead of </a:t>
            </a:r>
            <a:r>
              <a:rPr>
                <a:latin typeface="Courier"/>
              </a:rPr>
              <a:t>n_s</a:t>
            </a:r>
            <a:r>
              <a:rPr/>
              <a:t>, and compute the same five statistics.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🚀 If you finish early:</a:t>
            </a:r>
            <a:r>
              <a:rPr sz="2000"/>
              <a:t> Group by </a:t>
            </a:r>
            <a:r>
              <a:rPr sz="2000" i="1"/>
              <a:t>both</a:t>
            </a:r>
            <a:r>
              <a:rPr sz="2000"/>
              <a:t> </a:t>
            </a:r>
            <a:r>
              <a:rPr sz="2000">
                <a:latin typeface="Courier"/>
              </a:rPr>
              <a:t>group</a:t>
            </a:r>
            <a:r>
              <a:rPr sz="2000"/>
              <a:t> and </a:t>
            </a:r>
            <a:r>
              <a:rPr sz="2000">
                <a:latin typeface="Courier"/>
              </a:rPr>
              <a:t>n_s</a:t>
            </a:r>
            <a:r>
              <a:rPr sz="2000"/>
              <a:t> at once (</a:t>
            </a:r>
            <a:r>
              <a:rPr sz="2000">
                <a:latin typeface="Courier"/>
              </a:rPr>
              <a:t>group_by(group, n_s)</a:t>
            </a:r>
            <a:r>
              <a:rPr sz="2000"/>
              <a:t>). How many rows does the result have, and why?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7b · Bringing back </a:t>
            </a:r>
            <a:r>
              <a:rPr>
                <a:latin typeface="Courier"/>
              </a:rPr>
              <a:t>case_when()</a:t>
            </a:r>
            <a:r>
              <a:rPr/>
              <a:t> from Wrangling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size_class_stats_df &lt;- pine_df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(size_class)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 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(length_mm)),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se_mm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size_class_stats_df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</a:t>
            </a:r>
            <a:r>
              <a:rPr>
                <a:latin typeface="Courier"/>
              </a:rPr>
              <a:t>size_class</a:t>
            </a:r>
            <a:r>
              <a:rPr/>
              <a:t> has the largest </a:t>
            </a:r>
            <a:r>
              <a:rPr>
                <a:latin typeface="Courier"/>
              </a:rPr>
              <a:t>n</a:t>
            </a:r>
            <a:r>
              <a:rPr/>
              <a:t>? Does that match what you’d expect from the cutoffs (16 and 20)? </a:t>
            </a:r>
            <a:r>
              <a:rPr>
                <a:latin typeface="Courier"/>
              </a:rPr>
              <a:t>________________________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Save your 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(side_stats_df, </a:t>
            </a:r>
            <a:r>
              <a:rPr>
                <a:solidFill>
                  <a:srgbClr val="20794D"/>
                </a:solidFill>
                <a:latin typeface="Courier"/>
              </a:rPr>
              <a:t>"data/pine_needles_side_stats.csv"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Check your </a:t>
            </a:r>
            <a:r>
              <a:rPr>
                <a:latin typeface="Courier"/>
              </a:rPr>
              <a:t>data/</a:t>
            </a:r>
            <a:r>
              <a:rPr/>
              <a:t> folder — the summary table should be there.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can:</a:t>
            </a:r>
          </a:p>
          <a:p>
            <a:pPr lvl="0"/>
            <a:r>
              <a:rPr/>
              <a:t>☐ Compute mean and median, and explain when they disagree</a:t>
            </a:r>
          </a:p>
          <a:p>
            <a:pPr lvl="0"/>
            <a:r>
              <a:rPr/>
              <a:t>☐ Compute variance and SD by hand from a vector</a:t>
            </a:r>
          </a:p>
          <a:p>
            <a:pPr lvl="0"/>
            <a:r>
              <a:rPr/>
              <a:t>☐ Compute quantiles, range, and IQR, and explain how IQR relates to a boxplot</a:t>
            </a:r>
          </a:p>
          <a:p>
            <a:pPr lvl="0"/>
            <a:r>
              <a:rPr/>
              <a:t>☐ Explain the </a:t>
            </a:r>
            <a:r>
              <a:rPr>
                <a:latin typeface="Courier"/>
              </a:rPr>
              <a:t>length()</a:t>
            </a:r>
            <a:r>
              <a:rPr/>
              <a:t> trap and fix it with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/>
              <a:t>☐ Compute SE and explain how it differs from SD</a:t>
            </a:r>
          </a:p>
          <a:p>
            <a:pPr lvl="0"/>
            <a:r>
              <a:rPr/>
              <a:t>☐ Get a full-dataset overview with </a:t>
            </a:r>
            <a:r>
              <a:rPr>
                <a:latin typeface="Courier"/>
              </a:rPr>
              <a:t>skimr::skim()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to get n, mean, SD, and SE for every group at once — including </a:t>
            </a:r>
            <a:r>
              <a:rPr>
                <a:latin typeface="Courier"/>
              </a:rPr>
              <a:t>case_when()</a:t>
            </a:r>
            <a:r>
              <a:rPr/>
              <a:t> categories</a:t>
            </a:r>
          </a:p>
          <a:p>
            <a:pPr lvl="0"/>
            <a:r>
              <a:rPr/>
              <a:t>☐ Save a summary table with </a:t>
            </a:r>
            <a:r>
              <a:rPr>
                <a:latin typeface="Courier"/>
              </a:rPr>
              <a:t>write_csv()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Ran cleanly? </a:t>
            </a:r>
            <a:r>
              <a:rPr>
                <a:latin typeface="Courier"/>
              </a:rPr>
              <a:t>Y / N</a:t>
            </a:r>
            <a:r>
              <a:rPr/>
              <a:t> — if not, the error was: </a:t>
            </a:r>
            <a:r>
              <a:rPr>
                <a:latin typeface="Courier"/>
              </a:rPr>
              <a:t>________________________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📤 What to turn in before next class</a:t>
            </a:r>
          </a:p>
          <a:p>
            <a:pPr lvl="0" indent="0" marL="1270000">
              <a:buNone/>
            </a:pPr>
            <a:r>
              <a:rPr sz="2000"/>
              <a:t>Upload both of these to the course management system:</a:t>
            </a:r>
          </a:p>
          <a:p>
            <a:pPr lvl="0" indent="-342900" marL="342900">
              <a:buAutoNum type="arabicPeriod"/>
            </a:pPr>
            <a:r>
              <a:rPr sz="2000"/>
              <a:t>Your code — the </a:t>
            </a:r>
            <a:r>
              <a:rPr sz="2000">
                <a:latin typeface="Courier"/>
              </a:rPr>
              <a:t>scripts/</a:t>
            </a:r>
            <a:r>
              <a:rPr sz="2000"/>
              <a:t> folder (or just </a:t>
            </a:r>
            <a:r>
              <a:rPr sz="2000">
                <a:latin typeface="Courier"/>
              </a:rPr>
              <a:t>03_descriptive_stats.R</a:t>
            </a:r>
            <a:r>
              <a:rPr sz="2000"/>
              <a:t>)</a:t>
            </a:r>
          </a:p>
          <a:p>
            <a:pPr lvl="0" indent="-342900" marL="342900">
              <a:buAutoNum type="arabicPeriod"/>
            </a:pPr>
            <a:r>
              <a:rPr sz="2000"/>
              <a:t>This worksheet, with your written answers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 b="1"/>
              <a:t>Read the error message out loud.</a:t>
            </a:r>
            <a:r>
              <a:rPr/>
              <a:t> R usually names the line and the problem.</a:t>
            </a:r>
          </a:p>
          <a:p>
            <a:pPr lvl="0" indent="-342900" marL="342900">
              <a:buAutoNum type="arabicPeriod"/>
            </a:pPr>
            <a:r>
              <a:rPr b="1"/>
              <a:t>Check the usual suspects:</a:t>
            </a:r>
            <a:r>
              <a:rPr/>
              <a:t> did you run </a:t>
            </a:r>
            <a:r>
              <a:rPr>
                <a:latin typeface="Courier"/>
              </a:rPr>
              <a:t>library(tidyverse)</a:t>
            </a:r>
            <a:r>
              <a:rPr/>
              <a:t>? Spelling? Did you forget </a:t>
            </a:r>
            <a:r>
              <a:rPr>
                <a:latin typeface="Courier"/>
              </a:rPr>
              <a:t>na.rm = TRUE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built-in help page.</a:t>
            </a:r>
          </a:p>
          <a:p>
            <a:pPr lvl="0" indent="-342900" marL="342900">
              <a:buAutoNum type="arabicPeriod"/>
            </a:pPr>
            <a:r>
              <a:rPr b="1"/>
              <a:t>Bring the exact error</a:t>
            </a:r>
            <a:r>
              <a:rPr/>
              <a:t> (copy-paste it) to class or office hours.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Activity: Describing Your Data</dc:title>
  <dc:creator>Bill Perry</dc:creator>
  <cp:keywords/>
  <dc:description>Hands-on worksheet: mean, median, variance, SD, SE, quantiles/range/IQR, the length() trap, a fast skimr overview, and group_by() + summarize() — including the case_when() categories from Wrangling Your Data.</dc:description>
  <dcterms:created xsi:type="dcterms:W3CDTF">2026-08-21T18:40:22Z</dcterms:created>
  <dcterms:modified xsi:type="dcterms:W3CDTF">2026-08-21T18:40:22Z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3</vt:lpwstr>
  </property>
  <property fmtid="{D5CDD505-2E9C-101B-9397-08002B2CF9AE}" pid="13" name="resources">
    <vt:lpwstr/>
  </property>
  <property fmtid="{D5CDD505-2E9C-101B-9397-08002B2CF9AE}" pid="14" name="subtitle">
    <vt:lpwstr>Mean, spread, counting correctly, and group summaries</vt:lpwstr>
  </property>
  <property fmtid="{D5CDD505-2E9C-101B-9397-08002B2CF9AE}" pid="15" name="toc-title">
    <vt:lpwstr>Table of contents</vt:lpwstr>
  </property>
  <property fmtid="{D5CDD505-2E9C-101B-9397-08002B2CF9AE}" pid="16" name="week">
    <vt:lpwstr>2</vt:lpwstr>
  </property>
</Properties>
</file>