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2" Type="http://schemas.openxmlformats.org/officeDocument/2006/relationships/viewProps" Target="viewProps.xml" /><Relationship Id="rId61" Type="http://schemas.openxmlformats.org/officeDocument/2006/relationships/presProps" Target="presProps.xml" /><Relationship Id="rId1" Type="http://schemas.openxmlformats.org/officeDocument/2006/relationships/slideMaster" Target="slideMasters/slideMaster1.xml" /><Relationship Id="rId64" Type="http://schemas.openxmlformats.org/officeDocument/2006/relationships/tableStyles" Target="tableStyles.xml" /><Relationship Id="rId6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Generalized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Generalized linear models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SETUP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Generalized Linear Models Activity</a:t>
            </a:r>
          </a:p>
        </p:txBody>
      </p:sp>
      <p:sp>
        <p:nvSpPr>
          <p:cNvPr id="3" name="Content Placeholder 2"/>
          <p:cNvSpPr>
            <a:spLocks noGrp="1"/>
          </p:cNvSpPr>
          <p:nvPr>
            <p:ph idx="1"/>
          </p:nvPr>
        </p:nvSpPr>
        <p:spPr/>
        <p:txBody>
          <a:bodyPr/>
          <a:lstStyle/>
          <a:p>
            <a:pPr lvl="0" indent="0" marL="0">
              <a:spcBef>
                <a:spcPts val="3000"/>
              </a:spcBef>
              <a:buNone/>
            </a:pPr>
            <a:r>
              <a:rPr b="1"/>
              <a:t>Generalized Linear Models (GLMs) extend linear models to handle different types of response variables:</a:t>
            </a:r>
          </a:p>
          <a:p>
            <a:pPr lvl="0"/>
            <a:r>
              <a:rPr b="1"/>
              <a:t>Normal distribution</a:t>
            </a:r>
            <a:r>
              <a:rPr/>
              <a:t>: Continuous data (like regular ANOVA/regression)</a:t>
            </a:r>
          </a:p>
          <a:p>
            <a:pPr lvl="0"/>
            <a:r>
              <a:rPr b="1"/>
              <a:t>Poisson distribution</a:t>
            </a:r>
            <a:r>
              <a:rPr/>
              <a:t>: Count data</a:t>
            </a:r>
          </a:p>
          <a:p>
            <a:pPr lvl="0"/>
            <a:r>
              <a:rPr b="1"/>
              <a:t>Binomial distribution</a:t>
            </a:r>
            <a:r>
              <a:rPr/>
              <a:t>: Binary data (presence/absence, success/failure)</a:t>
            </a:r>
          </a:p>
          <a:p>
            <a:pPr lvl="0"/>
            <a:r>
              <a:rPr b="1"/>
              <a:t>Gamma distribution</a:t>
            </a:r>
            <a:r>
              <a:rPr/>
              <a:t>: Positive continuous data</a:t>
            </a:r>
          </a:p>
          <a:p>
            <a:pPr lvl="0"/>
            <a:r>
              <a:rPr b="1"/>
              <a:t>Negative binomial</a:t>
            </a:r>
            <a:r>
              <a:rPr/>
              <a:t>: Overdispersed count data</a:t>
            </a:r>
          </a:p>
          <a:p>
            <a:pPr lvl="0" indent="0" marL="0">
              <a:spcBef>
                <a:spcPts val="3000"/>
              </a:spcBef>
              <a:buNone/>
            </a:pPr>
            <a:r>
              <a:rPr b="1"/>
              <a:t>The Three Components of GLMs</a:t>
            </a:r>
          </a:p>
          <a:p>
            <a:pPr lvl="0" indent="-342900" marL="342900">
              <a:buAutoNum type="arabicPeriod"/>
            </a:pPr>
            <a:r>
              <a:rPr b="1"/>
              <a:t>Random component</a:t>
            </a:r>
            <a:r>
              <a:rPr/>
              <a:t>: The response variable and its probability distribution</a:t>
            </a:r>
          </a:p>
          <a:p>
            <a:pPr lvl="0" indent="-342900" marL="342900">
              <a:buAutoNum type="arabicPeriod"/>
            </a:pPr>
            <a:r>
              <a:rPr b="1"/>
              <a:t>Systematic component</a:t>
            </a:r>
            <a:r>
              <a:rPr/>
              <a:t>: The predictor variables (continuous or categorical)</a:t>
            </a:r>
          </a:p>
          <a:p>
            <a:pPr lvl="0" indent="-342900" marL="342900">
              <a:buAutoNum type="arabicPeriod"/>
            </a:pPr>
            <a:r>
              <a:rPr b="1"/>
              <a:t>Link function</a:t>
            </a:r>
            <a:r>
              <a:rPr/>
              <a:t>: Connects expected value of Y to predictor variables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How to approach the problem</a:t>
            </a:r>
          </a:p>
        </p:txBody>
      </p:sp>
      <p:sp>
        <p:nvSpPr>
          <p:cNvPr id="3" name="Content Placeholder 2"/>
          <p:cNvSpPr>
            <a:spLocks noGrp="1"/>
          </p:cNvSpPr>
          <p:nvPr>
            <p:ph idx="1"/>
          </p:nvPr>
        </p:nvSpPr>
        <p:spPr/>
        <p:txBody>
          <a:bodyPr/>
          <a:lstStyle/>
          <a:p>
            <a:pPr lvl="0"/>
            <a:r>
              <a:rPr b="1"/>
              <a:t>What is the question?</a:t>
            </a:r>
          </a:p>
          <a:p>
            <a:pPr lvl="1"/>
            <a:r>
              <a:rPr/>
              <a:t>unclear data mining can lead to lost time</a:t>
            </a:r>
          </a:p>
          <a:p>
            <a:pPr lvl="0"/>
            <a:r>
              <a:rPr b="1"/>
              <a:t>Data Variable type</a:t>
            </a:r>
            <a:r>
              <a:rPr/>
              <a:t>: what does the data look like - types of variable read in</a:t>
            </a:r>
          </a:p>
          <a:p>
            <a:pPr lvl="0"/>
            <a:r>
              <a:rPr b="1"/>
              <a:t>Data Completeness</a:t>
            </a:r>
            <a:r>
              <a:rPr/>
              <a:t>: Is there a lot of sparcity</a:t>
            </a:r>
          </a:p>
          <a:p>
            <a:pPr lvl="0"/>
            <a:r>
              <a:rPr b="1"/>
              <a:t>Data Structure</a:t>
            </a:r>
            <a:r>
              <a:rPr/>
              <a:t>: what does the data look like graphically</a:t>
            </a:r>
          </a:p>
          <a:p>
            <a:pPr lvl="0"/>
            <a:r>
              <a:rPr b="1"/>
              <a:t>Model Choice:</a:t>
            </a:r>
            <a:r>
              <a:rPr/>
              <a:t> what is the right model to analyze the data to answer your question</a:t>
            </a:r>
          </a:p>
          <a:p>
            <a:pPr lvl="0"/>
            <a:r>
              <a:rPr b="1"/>
              <a:t>Model Run:</a:t>
            </a:r>
            <a:r>
              <a:rPr/>
              <a:t> run model - summary</a:t>
            </a:r>
          </a:p>
          <a:p>
            <a:pPr lvl="0"/>
            <a:r>
              <a:rPr b="1"/>
              <a:t>Model Assumptions</a:t>
            </a:r>
            <a:r>
              <a:rPr/>
              <a:t>: test early before you get excited and bend the rules</a:t>
            </a:r>
          </a:p>
          <a:p>
            <a:pPr lvl="0"/>
            <a:r>
              <a:rPr b="1"/>
              <a:t>Model Statistics</a:t>
            </a:r>
            <a:r>
              <a:rPr/>
              <a:t> : run the final stats</a:t>
            </a:r>
          </a:p>
          <a:p>
            <a:pPr lvl="0"/>
            <a:r>
              <a:rPr/>
              <a:t>Model Followup tests: post F pairwise comparisons or others</a:t>
            </a:r>
          </a:p>
          <a:p>
            <a:pPr lvl="0"/>
            <a:r>
              <a:rPr b="1"/>
              <a:t>Graphical display of results:</a:t>
            </a:r>
            <a:r>
              <a:rPr/>
              <a:t> highlighting the data and statistics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Part 1: Gaussian GLM</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The simplest form of GLM uses a normal (Gaussian) distribution with an identity link function. This is equivalent to standard ANOVA</a:t>
                </a:r>
              </a:p>
              <a:p>
                <a:pPr lvl="0" indent="0" marL="0">
                  <a:buNone/>
                </a:pPr>
                <a:r>
                  <a:rPr/>
                  <a:t>Let’s compare a standard linear model and a Gaussian GLM</a:t>
                </a:r>
              </a:p>
              <a:p>
                <a:pPr lvl="0" indent="0" marL="0">
                  <a:spcBef>
                    <a:spcPts val="3000"/>
                  </a:spcBef>
                  <a:buNone/>
                </a:pPr>
                <a:r>
                  <a:rPr b="1"/>
                  <a:t>Island Biogeography Data</a:t>
                </a:r>
              </a:p>
              <a:p>
                <a:pPr lvl="0" indent="0" marL="0">
                  <a:buNone/>
                </a:pPr>
                <a:r>
                  <a:rPr/>
                  <a:t>The </a:t>
                </a:r>
                <a:r>
                  <a:rPr>
                    <a:latin typeface="Courier"/>
                  </a:rPr>
                  <a:t>gala</a:t>
                </a:r>
                <a:r>
                  <a:rPr/>
                  <a:t> dataframe from the </a:t>
                </a:r>
                <a:r>
                  <a:rPr>
                    <a:latin typeface="Courier"/>
                  </a:rPr>
                  <a:t>faraway</a:t>
                </a:r>
                <a:r>
                  <a:rPr/>
                  <a:t> package contains data on 30 Galapagos islands, testing MacArthur-Wilson’s theory of island biogeography.</a:t>
                </a:r>
              </a:p>
              <a:p>
                <a:pPr lvl="0"/>
                <a:r>
                  <a:rPr b="1"/>
                  <a:t>Variables in the dataframe:</a:t>
                </a:r>
              </a:p>
              <a:p>
                <a:pPr lvl="1"/>
                <a:r>
                  <a:rPr>
                    <a:latin typeface="Courier"/>
                  </a:rPr>
                  <a:t>spp</a:t>
                </a:r>
                <a:r>
                  <a:rPr/>
                  <a:t>Number of plant species (count data)</a:t>
                </a:r>
              </a:p>
              <a:p>
                <a:pPr lvl="1"/>
                <a:r>
                  <a:rPr>
                    <a:latin typeface="Courier"/>
                  </a:rPr>
                  <a:t>endemics</a:t>
                </a:r>
                <a:r>
                  <a:rPr/>
                  <a:t>Number of endemic species (count data)</a:t>
                </a:r>
              </a:p>
              <a:p>
                <a:pPr lvl="1"/>
                <a:r>
                  <a:rPr>
                    <a:latin typeface="Courier"/>
                  </a:rPr>
                  <a:t>area</a:t>
                </a:r>
                <a:r>
                  <a:rPr/>
                  <a:t>Island area (km²)</a:t>
                </a:r>
              </a:p>
              <a:p>
                <a:pPr lvl="1"/>
                <a:r>
                  <a:rPr>
                    <a:latin typeface="Courier"/>
                  </a:rPr>
                  <a:t>elevation -</a:t>
                </a:r>
                <a:r>
                  <a:rPr/>
                  <a:t>Maximum elevation (m)</a:t>
                </a:r>
              </a:p>
              <a:p>
                <a:pPr lvl="1"/>
                <a:r>
                  <a:rPr>
                    <a:latin typeface="Courier"/>
                  </a:rPr>
                  <a:t>Nearest</a:t>
                </a:r>
                <a:r>
                  <a:rPr/>
                  <a:t> - Distance to nearest island (km)</a:t>
                </a:r>
              </a:p>
              <a:p>
                <a:pPr lvl="1"/>
                <a:r>
                  <a:rPr>
                    <a:latin typeface="Courier"/>
                  </a:rPr>
                  <a:t>scruz</a:t>
                </a:r>
                <a:r>
                  <a:rPr/>
                  <a:t> - Distance to Santa Cruz island (km)</a:t>
                </a:r>
              </a:p>
              <a:p>
                <a:pPr lvl="1"/>
                <a:r>
                  <a:rPr>
                    <a:latin typeface="Courier"/>
                  </a:rPr>
                  <a:t>adjacent</a:t>
                </a:r>
                <a:r>
                  <a:rPr/>
                  <a:t> - area of adjacent island (km²)</a:t>
                </a:r>
              </a:p>
              <a:p>
                <a:pPr lvl="0" indent="0" marL="0">
                  <a:spcBef>
                    <a:spcPts val="3000"/>
                  </a:spcBef>
                  <a:buNone/>
                </a:pPr>
                <a:r>
                  <a:rPr b="1"/>
                  <a:t>The data - variable types</a:t>
                </a:r>
              </a:p>
              <a:p>
                <a:pPr lvl="0" indent="0">
                  <a:buNone/>
                </a:pPr>
                <a:r>
                  <a:rPr>
                    <a:latin typeface="Courier"/>
                  </a:rPr>
                  <a:t>             spp endemics  area elevation nearest size_cat
Baltra        58       23 25.09       346     0.6   medium
Bartolome     31       21  1.24       109     0.6   medium
Caldwell       3        3  0.21       114     2.8    small
Champion      25        9  0.10        46     1.9    small
Coamano        2        1  0.05        77     1.9    small
Daphne.Major  18       11  0.34       119     8.0    small
Daphne.Minor  24        0  0.08        93     6.0    small
Darwin        10        7  2.33       168    34.1   medium
Eden           8        4  0.03        71     0.4    small
Enderby        2        2  0.18       112     2.6    small</a:t>
                </a:r>
              </a:p>
              <a:p>
                <a:pPr lvl="0" indent="0" marL="0">
                  <a:spcBef>
                    <a:spcPts val="3000"/>
                  </a:spcBef>
                  <a:buNone/>
                </a:pPr>
                <a:r>
                  <a:rPr b="1"/>
                  <a:t>Data completeness</a:t>
                </a:r>
              </a:p>
              <a:p>
                <a:pPr lvl="0" indent="0" marL="0">
                  <a:spcBef>
                    <a:spcPts val="3000"/>
                  </a:spcBef>
                  <a:buNone/>
                </a:pPr>
                <a:r>
                  <a:rPr b="1"/>
                  <a:t>The Formula for Geometric Mean (GM)</a:t>
                </a:r>
              </a:p>
              <a:p>
                <a:pPr lvl="0"/>
                <a:r>
                  <a:rPr/>
                  <a:t>The geometric mean is the </a:t>
                </a:r>
                <a:r>
                  <a:rPr i="1"/>
                  <a:t>n</a:t>
                </a:r>
                <a:r>
                  <a:rPr/>
                  <a:t>-th root of the </a:t>
                </a:r>
                <a:r>
                  <a:rPr i="1"/>
                  <a:t>product</a:t>
                </a:r>
                <a:r>
                  <a:rPr/>
                  <a:t> of </a:t>
                </a:r>
                <a:r>
                  <a:rPr i="1"/>
                  <a:t>n</a:t>
                </a:r>
                <a:r>
                  <a:rPr/>
                  <a:t> numbers.</a:t>
                </a:r>
                <a:r>
                  <a:rPr baseline="30000"/>
                  <a:t>2</a:t>
                </a:r>
              </a:p>
              <a:p>
                <a:pPr lvl="0"/>
                <a:r>
                  <a:rPr/>
                  <a:t>For a set of numbers </a:t>
                </a:r>
                <a14:m>
                  <m:oMath xmlns:m="http://schemas.openxmlformats.org/officeDocument/2006/math">
                    <m:sSub>
                      <m:e>
                        <m:r>
                          <m:t>x</m:t>
                        </m:r>
                      </m:e>
                      <m:sub>
                        <m:r>
                          <m:t>1</m:t>
                        </m:r>
                      </m:sub>
                    </m:sSub>
                    <m:r>
                      <m:rPr>
                        <m:sty m:val="p"/>
                      </m:rPr>
                      <m:t>,</m:t>
                    </m:r>
                    <m:sSub>
                      <m:e>
                        <m:r>
                          <m:t>x</m:t>
                        </m:r>
                      </m:e>
                      <m:sub>
                        <m:r>
                          <m:t>2</m:t>
                        </m:r>
                      </m:sub>
                    </m:sSub>
                    <m:r>
                      <m:rPr>
                        <m:sty m:val="p"/>
                      </m:rPr>
                      <m:t>,</m:t>
                    </m:r>
                    <m:r>
                      <m:rPr>
                        <m:sty m:val="p"/>
                      </m:rPr>
                      <m:t>.</m:t>
                    </m:r>
                    <m:r>
                      <m:rPr>
                        <m:sty m:val="p"/>
                      </m:rPr>
                      <m:t>.</m:t>
                    </m:r>
                    <m:r>
                      <m:rPr>
                        <m:sty m:val="p"/>
                      </m:rPr>
                      <m:t>.</m:t>
                    </m:r>
                    <m:r>
                      <m:rPr>
                        <m:sty m:val="p"/>
                      </m:rPr>
                      <m:t>,</m:t>
                    </m:r>
                    <m:sSub>
                      <m:e>
                        <m:r>
                          <m:t>x</m:t>
                        </m:r>
                      </m:e>
                      <m:sub>
                        <m:r>
                          <m:t>n</m:t>
                        </m:r>
                      </m:sub>
                    </m:sSub>
                  </m:oMath>
                </a14:m>
                <a:r>
                  <a:rPr/>
                  <a:t>, the formula is:</a:t>
                </a:r>
              </a:p>
              <a:p>
                <a:pPr lvl="0"/>
                <a14:m>
                  <m:oMath xmlns:m="http://schemas.openxmlformats.org/officeDocument/2006/math">
                    <m:r>
                      <m:t>G</m:t>
                    </m:r>
                    <m:r>
                      <m:t>M</m:t>
                    </m:r>
                    <m:r>
                      <m:rPr>
                        <m:sty m:val="p"/>
                      </m:rPr>
                      <m:t>=</m:t>
                    </m:r>
                    <m:rad>
                      <m:deg>
                        <m:r>
                          <m:t>n</m:t>
                        </m:r>
                      </m:deg>
                      <m:e>
                        <m:sSub>
                          <m:e>
                            <m:r>
                              <m:t>x</m:t>
                            </m:r>
                          </m:e>
                          <m:sub>
                            <m:r>
                              <m:t>1</m:t>
                            </m:r>
                          </m:sub>
                        </m:sSub>
                        <m:r>
                          <m:rPr>
                            <m:sty m:val="p"/>
                          </m:rPr>
                          <m:t>⋅</m:t>
                        </m:r>
                        <m:sSub>
                          <m:e>
                            <m:r>
                              <m:t>x</m:t>
                            </m:r>
                          </m:e>
                          <m:sub>
                            <m:r>
                              <m:t>2</m:t>
                            </m:r>
                          </m:sub>
                        </m:sSub>
                        <m:r>
                          <m:rPr>
                            <m:sty m:val="p"/>
                          </m:rPr>
                          <m:t>⋅</m:t>
                        </m:r>
                        <m:r>
                          <m:rPr>
                            <m:sty m:val="p"/>
                          </m:rPr>
                          <m:t>…</m:t>
                        </m:r>
                        <m:r>
                          <m:rPr>
                            <m:sty m:val="p"/>
                          </m:rPr>
                          <m:t>⋅</m:t>
                        </m:r>
                        <m:sSub>
                          <m:e>
                            <m:r>
                              <m:t>x</m:t>
                            </m:r>
                          </m:e>
                          <m:sub>
                            <m:r>
                              <m:t>n</m:t>
                            </m:r>
                          </m:sub>
                        </m:sSub>
                      </m:e>
                    </m:rad>
                  </m:oMath>
                </a14:m>
              </a:p>
            </p:txBody>
          </p:sp>
        </mc:Choice>
      </mc:AlternateContent>
      <p:graphicFrame>
        <p:nvGraphicFramePr>
          <p:cNvPr id="6" name="Content Placeholder 5"/>
          <p:cNvGraphicFramePr>
            <a:graphicFrameLocks noGrp="1"/>
          </p:cNvGraphicFramePr>
          <p:nvPr>
            <p:ph idx="1"/>
          </p:nvPr>
        </p:nvGraphicFramePr>
        <p:xfrm>
          <a:off x="3657600" y="952500"/>
          <a:ext cx="5232400" cy="3289300"/>
        </p:xfrm>
        <a:graphic>
          <a:graphicData uri="http://schemas.openxmlformats.org/drawingml/2006/table">
            <a:tbl>
              <a:tblPr firstRow="0" bandRow="1">
                <a:tableStyleId>{5C22544A-7EE6-4342-B048-85BDC9FD1C3A}</a:tableStyleId>
              </a:tblPr>
              <a:tblGrid>
                <a:gridCol w="2616200"/>
                <a:gridCol w="2616200"/>
              </a:tblGrid>
              <a:tr h="0">
                <a:tc>
                  <a:txBody>
                    <a:bodyPr/>
                    <a:lstStyle/>
                    <a:p>
                      <a:pPr lvl="0" indent="0" marL="0" algn="l">
                        <a:buNone/>
                      </a:pPr>
                      <a:r>
                        <a:rPr/>
                        <a:t>Name</a:t>
                      </a:r>
                    </a:p>
                  </a:txBody>
                </a:tc>
                <a:tc>
                  <a:txBody>
                    <a:bodyPr/>
                    <a:lstStyle/>
                    <a:p>
                      <a:pPr lvl="0" indent="0" marL="0" algn="l">
                        <a:buNone/>
                      </a:pPr>
                      <a:r>
                        <a:rPr/>
                        <a:t>Piped data</a:t>
                      </a:r>
                    </a:p>
                  </a:txBody>
                </a:tc>
              </a:tr>
              <a:tr h="0">
                <a:tc>
                  <a:txBody>
                    <a:bodyPr/>
                    <a:lstStyle/>
                    <a:p>
                      <a:pPr lvl="0" indent="0" marL="0" algn="l">
                        <a:buNone/>
                      </a:pPr>
                      <a:r>
                        <a:rPr/>
                        <a:t>Number of rows</a:t>
                      </a:r>
                    </a:p>
                  </a:txBody>
                </a:tc>
                <a:tc>
                  <a:txBody>
                    <a:bodyPr/>
                    <a:lstStyle/>
                    <a:p>
                      <a:pPr lvl="0" indent="0" marL="0" algn="l">
                        <a:buNone/>
                      </a:pPr>
                      <a:r>
                        <a:rPr/>
                        <a:t>29</a:t>
                      </a:r>
                    </a:p>
                  </a:txBody>
                </a:tc>
              </a:tr>
              <a:tr h="0">
                <a:tc>
                  <a:txBody>
                    <a:bodyPr/>
                    <a:lstStyle/>
                    <a:p>
                      <a:pPr lvl="0" indent="0" marL="0" algn="l">
                        <a:buNone/>
                      </a:pPr>
                      <a:r>
                        <a:rPr/>
                        <a:t>Number of columns</a:t>
                      </a:r>
                    </a:p>
                  </a:txBody>
                </a:tc>
                <a:tc>
                  <a:txBody>
                    <a:bodyPr/>
                    <a:lstStyle/>
                    <a:p>
                      <a:pPr lvl="0" indent="0" marL="0" algn="l">
                        <a:buNone/>
                      </a:pPr>
                      <a:r>
                        <a:rPr/>
                        <a:t>8</a:t>
                      </a:r>
                    </a:p>
                  </a:txBody>
                </a:tc>
              </a:tr>
              <a:tr h="0">
                <a:tc>
                  <a:txBody>
                    <a:bodyPr/>
                    <a:lstStyle/>
                    <a:p>
                      <a:pPr lvl="0" indent="0" marL="0" algn="l">
                        <a:buNone/>
                      </a:pPr>
                      <a:r>
                        <a:rPr/>
                        <a:t>_______________________</a:t>
                      </a:r>
                    </a:p>
                  </a:txBody>
                </a:tc>
                <a:tc>
                  <a:txBody>
                    <a:bodyPr/>
                    <a:lstStyle/>
                    <a:p>
                      <a:endParaRPr/>
                    </a:p>
                  </a:txBody>
                </a:tc>
              </a:tr>
              <a:tr h="0">
                <a:tc>
                  <a:txBody>
                    <a:bodyPr/>
                    <a:lstStyle/>
                    <a:p>
                      <a:pPr lvl="0" indent="0" marL="0" algn="l">
                        <a:buNone/>
                      </a:pPr>
                      <a:r>
                        <a:rPr/>
                        <a:t>Column type frequency:</a:t>
                      </a:r>
                    </a:p>
                  </a:txBody>
                </a:tc>
                <a:tc>
                  <a:txBody>
                    <a:bodyPr/>
                    <a:lstStyle/>
                    <a:p>
                      <a:endParaRPr/>
                    </a:p>
                  </a:txBody>
                </a:tc>
              </a:tr>
              <a:tr h="0">
                <a:tc>
                  <a:txBody>
                    <a:bodyPr/>
                    <a:lstStyle/>
                    <a:p>
                      <a:pPr lvl="0" indent="0" marL="0" algn="l">
                        <a:buNone/>
                      </a:pPr>
                      <a:r>
                        <a:rPr/>
                        <a:t>factor</a:t>
                      </a:r>
                    </a:p>
                  </a:txBody>
                </a:tc>
                <a:tc>
                  <a:txBody>
                    <a:bodyPr/>
                    <a:lstStyle/>
                    <a:p>
                      <a:pPr lvl="0" indent="0" marL="0" algn="l">
                        <a:buNone/>
                      </a:pPr>
                      <a:r>
                        <a:rPr/>
                        <a:t>1</a:t>
                      </a:r>
                    </a:p>
                  </a:txBody>
                </a:tc>
              </a:tr>
              <a:tr h="0">
                <a:tc>
                  <a:txBody>
                    <a:bodyPr/>
                    <a:lstStyle/>
                    <a:p>
                      <a:pPr lvl="0" indent="0" marL="0" algn="l">
                        <a:buNone/>
                      </a:pPr>
                      <a:r>
                        <a:rPr/>
                        <a:t>numeric</a:t>
                      </a:r>
                    </a:p>
                  </a:txBody>
                </a:tc>
                <a:tc>
                  <a:txBody>
                    <a:bodyPr/>
                    <a:lstStyle/>
                    <a:p>
                      <a:pPr lvl="0" indent="0" marL="0" algn="l">
                        <a:buNone/>
                      </a:pPr>
                      <a:r>
                        <a:rPr/>
                        <a:t>7</a:t>
                      </a:r>
                    </a:p>
                  </a:txBody>
                </a:tc>
              </a:tr>
              <a:tr h="0">
                <a:tc>
                  <a:txBody>
                    <a:bodyPr/>
                    <a:lstStyle/>
                    <a:p>
                      <a:pPr lvl="0" indent="0" marL="0" algn="l">
                        <a:buNone/>
                      </a:pPr>
                      <a:r>
                        <a:rPr/>
                        <a:t>________________________</a:t>
                      </a:r>
                    </a:p>
                  </a:txBody>
                </a:tc>
                <a:tc>
                  <a:txBody>
                    <a:bodyPr/>
                    <a:lstStyle/>
                    <a:p>
                      <a:endParaRPr/>
                    </a:p>
                  </a:txBody>
                </a:tc>
              </a:tr>
              <a:tr h="0">
                <a:tc>
                  <a:txBody>
                    <a:bodyPr/>
                    <a:lstStyle/>
                    <a:p>
                      <a:pPr lvl="0" indent="0" marL="0" algn="l">
                        <a:buNone/>
                      </a:pPr>
                      <a:r>
                        <a:rPr/>
                        <a:t>Group variables</a:t>
                      </a:r>
                    </a:p>
                  </a:txBody>
                </a:tc>
                <a:tc>
                  <a:txBody>
                    <a:bodyPr/>
                    <a:lstStyle/>
                    <a:p>
                      <a:pPr lvl="0" indent="0" marL="0" algn="l">
                        <a:buNone/>
                      </a:pPr>
                      <a:r>
                        <a:rPr/>
                        <a:t>None</a:t>
                      </a:r>
                    </a:p>
                  </a:txBody>
                </a:tc>
              </a:tr>
            </a:tbl>
          </a:graphicData>
        </a:graphic>
      </p:graphicFrame>
      <p:sp>
        <p:nvSpPr>
          <p:cNvPr id="1" name="TextBox 3"/>
          <p:cNvSpPr txBox="1"/>
          <p:nvPr>
            <p:ph idx="1"/>
          </p:nvPr>
        </p:nvSpPr>
        <p:spPr>
          <a:xfrm>
            <a:off x="3657600" y="4241800"/>
            <a:ext cx="5232400" cy="508000"/>
          </a:xfrm>
          <a:prstGeom prst="rect">
            <a:avLst/>
          </a:prstGeom>
          <a:noFill/>
        </p:spPr>
        <p:txBody>
          <a:bodyPr/>
          <a:lstStyle/>
          <a:p>
            <a:pPr lvl="0" indent="0" marL="0" algn="ctr">
              <a:buNone/>
            </a:pPr>
            <a:r>
              <a:rPr/>
              <a:t>Data summary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Variable type: factor</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914400"/>
                <a:gridCol w="660400"/>
                <a:gridCol w="914400"/>
                <a:gridCol w="520700"/>
                <a:gridCol w="584200"/>
                <a:gridCol w="1638300"/>
              </a:tblGrid>
              <a:tr h="0">
                <a:tc>
                  <a:txBody>
                    <a:bodyPr/>
                    <a:lstStyle/>
                    <a:p>
                      <a:pPr lvl="0" indent="0" marL="0" algn="l">
                        <a:buNone/>
                      </a:pPr>
                      <a:r>
                        <a:rPr/>
                        <a:t>skim_variable</a:t>
                      </a:r>
                    </a:p>
                  </a:txBody>
                  <a:tcPr/>
                </a:tc>
                <a:tc>
                  <a:txBody>
                    <a:bodyPr/>
                    <a:lstStyle/>
                    <a:p>
                      <a:pPr lvl="0" indent="0" marL="0" algn="r">
                        <a:buNone/>
                      </a:pPr>
                      <a:r>
                        <a:rPr/>
                        <a:t>n_missing</a:t>
                      </a:r>
                    </a:p>
                  </a:txBody>
                  <a:tcPr/>
                </a:tc>
                <a:tc>
                  <a:txBody>
                    <a:bodyPr/>
                    <a:lstStyle/>
                    <a:p>
                      <a:pPr lvl="0" indent="0" marL="0" algn="r">
                        <a:buNone/>
                      </a:pPr>
                      <a:r>
                        <a:rPr/>
                        <a:t>complete_rate</a:t>
                      </a:r>
                    </a:p>
                  </a:txBody>
                  <a:tcPr/>
                </a:tc>
                <a:tc>
                  <a:txBody>
                    <a:bodyPr/>
                    <a:lstStyle/>
                    <a:p>
                      <a:pPr lvl="0" indent="0" marL="0" algn="l">
                        <a:buNone/>
                      </a:pPr>
                      <a:r>
                        <a:rPr/>
                        <a:t>ordered</a:t>
                      </a:r>
                    </a:p>
                  </a:txBody>
                  <a:tcPr/>
                </a:tc>
                <a:tc>
                  <a:txBody>
                    <a:bodyPr/>
                    <a:lstStyle/>
                    <a:p>
                      <a:pPr lvl="0" indent="0" marL="0" algn="r">
                        <a:buNone/>
                      </a:pPr>
                      <a:r>
                        <a:rPr/>
                        <a:t>n_unique</a:t>
                      </a:r>
                    </a:p>
                  </a:txBody>
                  <a:tcPr/>
                </a:tc>
                <a:tc>
                  <a:txBody>
                    <a:bodyPr/>
                    <a:lstStyle/>
                    <a:p>
                      <a:pPr lvl="0" indent="0" marL="0" algn="l">
                        <a:buNone/>
                      </a:pPr>
                      <a:r>
                        <a:rPr/>
                        <a:t>top_counts</a:t>
                      </a:r>
                    </a:p>
                  </a:txBody>
                  <a:tcPr/>
                </a:tc>
              </a:tr>
              <a:tr h="0">
                <a:tc>
                  <a:txBody>
                    <a:bodyPr/>
                    <a:lstStyle/>
                    <a:p>
                      <a:pPr lvl="0" indent="0" marL="0" algn="l">
                        <a:buNone/>
                      </a:pPr>
                      <a:r>
                        <a:rPr/>
                        <a:t>size_cat</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l">
                        <a:buNone/>
                      </a:pPr>
                      <a:r>
                        <a:rPr/>
                        <a:t>FALSE</a:t>
                      </a:r>
                    </a:p>
                  </a:txBody>
                </a:tc>
                <a:tc>
                  <a:txBody>
                    <a:bodyPr/>
                    <a:lstStyle/>
                    <a:p>
                      <a:pPr lvl="0" indent="0" marL="0" algn="r">
                        <a:buNone/>
                      </a:pPr>
                      <a:r>
                        <a:rPr/>
                        <a:t>3</a:t>
                      </a:r>
                    </a:p>
                  </a:txBody>
                </a:tc>
                <a:tc>
                  <a:txBody>
                    <a:bodyPr/>
                    <a:lstStyle/>
                    <a:p>
                      <a:pPr lvl="0" indent="0" marL="0" algn="l">
                        <a:buNone/>
                      </a:pPr>
                      <a:r>
                        <a:rPr/>
                        <a:t>med: 12, sma: 11, lar: 6</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Variable type: numeric</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800100"/>
                <a:gridCol w="571500"/>
                <a:gridCol w="800100"/>
                <a:gridCol w="393700"/>
                <a:gridCol w="393700"/>
                <a:gridCol w="342900"/>
                <a:gridCol w="342900"/>
                <a:gridCol w="393700"/>
                <a:gridCol w="393700"/>
                <a:gridCol w="457200"/>
                <a:gridCol w="342900"/>
              </a:tblGrid>
              <a:tr h="0">
                <a:tc>
                  <a:txBody>
                    <a:bodyPr/>
                    <a:lstStyle/>
                    <a:p>
                      <a:pPr lvl="0" indent="0" marL="0" algn="l">
                        <a:buNone/>
                      </a:pPr>
                      <a:r>
                        <a:rPr/>
                        <a:t>skim_variable</a:t>
                      </a:r>
                    </a:p>
                  </a:txBody>
                  <a:tcPr/>
                </a:tc>
                <a:tc>
                  <a:txBody>
                    <a:bodyPr/>
                    <a:lstStyle/>
                    <a:p>
                      <a:pPr lvl="0" indent="0" marL="0" algn="r">
                        <a:buNone/>
                      </a:pPr>
                      <a:r>
                        <a:rPr/>
                        <a:t>n_missing</a:t>
                      </a:r>
                    </a:p>
                  </a:txBody>
                  <a:tcPr/>
                </a:tc>
                <a:tc>
                  <a:txBody>
                    <a:bodyPr/>
                    <a:lstStyle/>
                    <a:p>
                      <a:pPr lvl="0" indent="0" marL="0" algn="r">
                        <a:buNone/>
                      </a:pPr>
                      <a:r>
                        <a:rPr/>
                        <a:t>complete_rate</a:t>
                      </a:r>
                    </a:p>
                  </a:txBody>
                  <a:tcPr/>
                </a:tc>
                <a:tc>
                  <a:txBody>
                    <a:bodyPr/>
                    <a:lstStyle/>
                    <a:p>
                      <a:pPr lvl="0" indent="0" marL="0" algn="r">
                        <a:buNone/>
                      </a:pPr>
                      <a:r>
                        <a:rPr/>
                        <a:t>mean</a:t>
                      </a:r>
                    </a:p>
                  </a:txBody>
                  <a:tcPr/>
                </a:tc>
                <a:tc>
                  <a:txBody>
                    <a:bodyPr/>
                    <a:lstStyle/>
                    <a:p>
                      <a:pPr lvl="0" indent="0" marL="0" algn="r">
                        <a:buNone/>
                      </a:pPr>
                      <a:r>
                        <a:rPr/>
                        <a:t>sd</a:t>
                      </a:r>
                    </a:p>
                  </a:txBody>
                  <a:tcPr/>
                </a:tc>
                <a:tc>
                  <a:txBody>
                    <a:bodyPr/>
                    <a:lstStyle/>
                    <a:p>
                      <a:pPr lvl="0" indent="0" marL="0" algn="r">
                        <a:buNone/>
                      </a:pPr>
                      <a:r>
                        <a:rPr/>
                        <a:t>p0</a:t>
                      </a:r>
                    </a:p>
                  </a:txBody>
                  <a:tcPr/>
                </a:tc>
                <a:tc>
                  <a:txBody>
                    <a:bodyPr/>
                    <a:lstStyle/>
                    <a:p>
                      <a:pPr lvl="0" indent="0" marL="0" algn="r">
                        <a:buNone/>
                      </a:pPr>
                      <a:r>
                        <a:rPr/>
                        <a:t>p25</a:t>
                      </a:r>
                    </a:p>
                  </a:txBody>
                  <a:tcPr/>
                </a:tc>
                <a:tc>
                  <a:txBody>
                    <a:bodyPr/>
                    <a:lstStyle/>
                    <a:p>
                      <a:pPr lvl="0" indent="0" marL="0" algn="r">
                        <a:buNone/>
                      </a:pPr>
                      <a:r>
                        <a:rPr/>
                        <a:t>p50</a:t>
                      </a:r>
                    </a:p>
                  </a:txBody>
                  <a:tcPr/>
                </a:tc>
                <a:tc>
                  <a:txBody>
                    <a:bodyPr/>
                    <a:lstStyle/>
                    <a:p>
                      <a:pPr lvl="0" indent="0" marL="0" algn="r">
                        <a:buNone/>
                      </a:pPr>
                      <a:r>
                        <a:rPr/>
                        <a:t>p75</a:t>
                      </a:r>
                    </a:p>
                  </a:txBody>
                  <a:tcPr/>
                </a:tc>
                <a:tc>
                  <a:txBody>
                    <a:bodyPr/>
                    <a:lstStyle/>
                    <a:p>
                      <a:pPr lvl="0" indent="0" marL="0" algn="r">
                        <a:buNone/>
                      </a:pPr>
                      <a:r>
                        <a:rPr/>
                        <a:t>p100</a:t>
                      </a:r>
                    </a:p>
                  </a:txBody>
                  <a:tcPr/>
                </a:tc>
                <a:tc>
                  <a:txBody>
                    <a:bodyPr/>
                    <a:lstStyle/>
                    <a:p>
                      <a:pPr lvl="0" indent="0" marL="0" algn="l">
                        <a:buNone/>
                      </a:pPr>
                      <a:r>
                        <a:rPr/>
                        <a:t>hist</a:t>
                      </a:r>
                    </a:p>
                  </a:txBody>
                  <a:tcPr/>
                </a:tc>
              </a:tr>
              <a:tr h="0">
                <a:tc>
                  <a:txBody>
                    <a:bodyPr/>
                    <a:lstStyle/>
                    <a:p>
                      <a:pPr lvl="0" indent="0" marL="0" algn="l">
                        <a:buNone/>
                      </a:pPr>
                      <a:r>
                        <a:rPr/>
                        <a:t>spp</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76.21</a:t>
                      </a:r>
                    </a:p>
                  </a:txBody>
                </a:tc>
                <a:tc>
                  <a:txBody>
                    <a:bodyPr/>
                    <a:lstStyle/>
                    <a:p>
                      <a:pPr lvl="0" indent="0" marL="0" algn="r">
                        <a:buNone/>
                      </a:pPr>
                      <a:r>
                        <a:rPr/>
                        <a:t>105.25</a:t>
                      </a:r>
                    </a:p>
                  </a:txBody>
                </a:tc>
                <a:tc>
                  <a:txBody>
                    <a:bodyPr/>
                    <a:lstStyle/>
                    <a:p>
                      <a:pPr lvl="0" indent="0" marL="0" algn="r">
                        <a:buNone/>
                      </a:pPr>
                      <a:r>
                        <a:rPr/>
                        <a:t>2.00</a:t>
                      </a:r>
                    </a:p>
                  </a:txBody>
                </a:tc>
                <a:tc>
                  <a:txBody>
                    <a:bodyPr/>
                    <a:lstStyle/>
                    <a:p>
                      <a:pPr lvl="0" indent="0" marL="0" algn="r">
                        <a:buNone/>
                      </a:pPr>
                      <a:r>
                        <a:rPr/>
                        <a:t>12.00</a:t>
                      </a:r>
                    </a:p>
                  </a:txBody>
                </a:tc>
                <a:tc>
                  <a:txBody>
                    <a:bodyPr/>
                    <a:lstStyle/>
                    <a:p>
                      <a:pPr lvl="0" indent="0" marL="0" algn="r">
                        <a:buNone/>
                      </a:pPr>
                      <a:r>
                        <a:rPr/>
                        <a:t>40.00</a:t>
                      </a:r>
                    </a:p>
                  </a:txBody>
                </a:tc>
                <a:tc>
                  <a:txBody>
                    <a:bodyPr/>
                    <a:lstStyle/>
                    <a:p>
                      <a:pPr lvl="0" indent="0" marL="0" algn="r">
                        <a:buNone/>
                      </a:pPr>
                      <a:r>
                        <a:rPr/>
                        <a:t>93.00</a:t>
                      </a:r>
                    </a:p>
                  </a:txBody>
                </a:tc>
                <a:tc>
                  <a:txBody>
                    <a:bodyPr/>
                    <a:lstStyle/>
                    <a:p>
                      <a:pPr lvl="0" indent="0" marL="0" algn="r">
                        <a:buNone/>
                      </a:pPr>
                      <a:r>
                        <a:rPr/>
                        <a:t>444.00</a:t>
                      </a:r>
                    </a:p>
                  </a:txBody>
                </a:tc>
                <a:tc>
                  <a:txBody>
                    <a:bodyPr/>
                    <a:lstStyle/>
                    <a:p>
                      <a:pPr lvl="0" indent="0" marL="0" algn="l">
                        <a:buNone/>
                      </a:pPr>
                      <a:r>
                        <a:rPr/>
                        <a:t>▇▂▁▁▁</a:t>
                      </a:r>
                    </a:p>
                  </a:txBody>
                </a:tc>
              </a:tr>
              <a:tr h="0">
                <a:tc>
                  <a:txBody>
                    <a:bodyPr/>
                    <a:lstStyle/>
                    <a:p>
                      <a:pPr lvl="0" indent="0" marL="0" algn="l">
                        <a:buNone/>
                      </a:pPr>
                      <a:r>
                        <a:rPr/>
                        <a:t>endemics</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23.93</a:t>
                      </a:r>
                    </a:p>
                  </a:txBody>
                </a:tc>
                <a:tc>
                  <a:txBody>
                    <a:bodyPr/>
                    <a:lstStyle/>
                    <a:p>
                      <a:pPr lvl="0" indent="0" marL="0" algn="r">
                        <a:buNone/>
                      </a:pPr>
                      <a:r>
                        <a:rPr/>
                        <a:t>25.05</a:t>
                      </a:r>
                    </a:p>
                  </a:txBody>
                </a:tc>
                <a:tc>
                  <a:txBody>
                    <a:bodyPr/>
                    <a:lstStyle/>
                    <a:p>
                      <a:pPr lvl="0" indent="0" marL="0" algn="r">
                        <a:buNone/>
                      </a:pPr>
                      <a:r>
                        <a:rPr/>
                        <a:t>0.00</a:t>
                      </a:r>
                    </a:p>
                  </a:txBody>
                </a:tc>
                <a:tc>
                  <a:txBody>
                    <a:bodyPr/>
                    <a:lstStyle/>
                    <a:p>
                      <a:pPr lvl="0" indent="0" marL="0" algn="r">
                        <a:buNone/>
                      </a:pPr>
                      <a:r>
                        <a:rPr/>
                        <a:t>7.00</a:t>
                      </a:r>
                    </a:p>
                  </a:txBody>
                </a:tc>
                <a:tc>
                  <a:txBody>
                    <a:bodyPr/>
                    <a:lstStyle/>
                    <a:p>
                      <a:pPr lvl="0" indent="0" marL="0" algn="r">
                        <a:buNone/>
                      </a:pPr>
                      <a:r>
                        <a:rPr/>
                        <a:t>17.00</a:t>
                      </a:r>
                    </a:p>
                  </a:txBody>
                </a:tc>
                <a:tc>
                  <a:txBody>
                    <a:bodyPr/>
                    <a:lstStyle/>
                    <a:p>
                      <a:pPr lvl="0" indent="0" marL="0" algn="r">
                        <a:buNone/>
                      </a:pPr>
                      <a:r>
                        <a:rPr/>
                        <a:t>30.00</a:t>
                      </a:r>
                    </a:p>
                  </a:txBody>
                </a:tc>
                <a:tc>
                  <a:txBody>
                    <a:bodyPr/>
                    <a:lstStyle/>
                    <a:p>
                      <a:pPr lvl="0" indent="0" marL="0" algn="r">
                        <a:buNone/>
                      </a:pPr>
                      <a:r>
                        <a:rPr/>
                        <a:t>95.00</a:t>
                      </a:r>
                    </a:p>
                  </a:txBody>
                </a:tc>
                <a:tc>
                  <a:txBody>
                    <a:bodyPr/>
                    <a:lstStyle/>
                    <a:p>
                      <a:pPr lvl="0" indent="0" marL="0" algn="l">
                        <a:buNone/>
                      </a:pPr>
                      <a:r>
                        <a:rPr/>
                        <a:t>▇▅▁▁▁</a:t>
                      </a:r>
                    </a:p>
                  </a:txBody>
                </a:tc>
              </a:tr>
              <a:tr h="0">
                <a:tc>
                  <a:txBody>
                    <a:bodyPr/>
                    <a:lstStyle/>
                    <a:p>
                      <a:pPr lvl="0" indent="0" marL="0" algn="l">
                        <a:buNone/>
                      </a:pPr>
                      <a:r>
                        <a:rPr/>
                        <a:t>area</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109.72</a:t>
                      </a:r>
                    </a:p>
                  </a:txBody>
                </a:tc>
                <a:tc>
                  <a:txBody>
                    <a:bodyPr/>
                    <a:lstStyle/>
                    <a:p>
                      <a:pPr lvl="0" indent="0" marL="0" algn="r">
                        <a:buNone/>
                      </a:pPr>
                      <a:r>
                        <a:rPr/>
                        <a:t>235.81</a:t>
                      </a:r>
                    </a:p>
                  </a:txBody>
                </a:tc>
                <a:tc>
                  <a:txBody>
                    <a:bodyPr/>
                    <a:lstStyle/>
                    <a:p>
                      <a:pPr lvl="0" indent="0" marL="0" algn="r">
                        <a:buNone/>
                      </a:pPr>
                      <a:r>
                        <a:rPr/>
                        <a:t>0.01</a:t>
                      </a:r>
                    </a:p>
                  </a:txBody>
                </a:tc>
                <a:tc>
                  <a:txBody>
                    <a:bodyPr/>
                    <a:lstStyle/>
                    <a:p>
                      <a:pPr lvl="0" indent="0" marL="0" algn="r">
                        <a:buNone/>
                      </a:pPr>
                      <a:r>
                        <a:rPr/>
                        <a:t>0.23</a:t>
                      </a:r>
                    </a:p>
                  </a:txBody>
                </a:tc>
                <a:tc>
                  <a:txBody>
                    <a:bodyPr/>
                    <a:lstStyle/>
                    <a:p>
                      <a:pPr lvl="0" indent="0" marL="0" algn="r">
                        <a:buNone/>
                      </a:pPr>
                      <a:r>
                        <a:rPr/>
                        <a:t>2.33</a:t>
                      </a:r>
                    </a:p>
                  </a:txBody>
                </a:tc>
                <a:tc>
                  <a:txBody>
                    <a:bodyPr/>
                    <a:lstStyle/>
                    <a:p>
                      <a:pPr lvl="0" indent="0" marL="0" algn="r">
                        <a:buNone/>
                      </a:pPr>
                      <a:r>
                        <a:rPr/>
                        <a:t>58.27</a:t>
                      </a:r>
                    </a:p>
                  </a:txBody>
                </a:tc>
                <a:tc>
                  <a:txBody>
                    <a:bodyPr/>
                    <a:lstStyle/>
                    <a:p>
                      <a:pPr lvl="0" indent="0" marL="0" algn="r">
                        <a:buNone/>
                      </a:pPr>
                      <a:r>
                        <a:rPr/>
                        <a:t>903.82</a:t>
                      </a:r>
                    </a:p>
                  </a:txBody>
                </a:tc>
                <a:tc>
                  <a:txBody>
                    <a:bodyPr/>
                    <a:lstStyle/>
                    <a:p>
                      <a:pPr lvl="0" indent="0" marL="0" algn="l">
                        <a:buNone/>
                      </a:pPr>
                      <a:r>
                        <a:rPr/>
                        <a:t>▇▁▁▁▁</a:t>
                      </a:r>
                    </a:p>
                  </a:txBody>
                </a:tc>
              </a:tr>
              <a:tr h="0">
                <a:tc>
                  <a:txBody>
                    <a:bodyPr/>
                    <a:lstStyle/>
                    <a:p>
                      <a:pPr lvl="0" indent="0" marL="0" algn="l">
                        <a:buNone/>
                      </a:pPr>
                      <a:r>
                        <a:rPr/>
                        <a:t>elevation</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321.86</a:t>
                      </a:r>
                    </a:p>
                  </a:txBody>
                </a:tc>
                <a:tc>
                  <a:txBody>
                    <a:bodyPr/>
                    <a:lstStyle/>
                    <a:p>
                      <a:pPr lvl="0" indent="0" marL="0" algn="r">
                        <a:buNone/>
                      </a:pPr>
                      <a:r>
                        <a:rPr/>
                        <a:t>343.31</a:t>
                      </a:r>
                    </a:p>
                  </a:txBody>
                </a:tc>
                <a:tc>
                  <a:txBody>
                    <a:bodyPr/>
                    <a:lstStyle/>
                    <a:p>
                      <a:pPr lvl="0" indent="0" marL="0" algn="r">
                        <a:buNone/>
                      </a:pPr>
                      <a:r>
                        <a:rPr/>
                        <a:t>25.00</a:t>
                      </a:r>
                    </a:p>
                  </a:txBody>
                </a:tc>
                <a:tc>
                  <a:txBody>
                    <a:bodyPr/>
                    <a:lstStyle/>
                    <a:p>
                      <a:pPr lvl="0" indent="0" marL="0" algn="r">
                        <a:buNone/>
                      </a:pPr>
                      <a:r>
                        <a:rPr/>
                        <a:t>94.00</a:t>
                      </a:r>
                    </a:p>
                  </a:txBody>
                </a:tc>
                <a:tc>
                  <a:txBody>
                    <a:bodyPr/>
                    <a:lstStyle/>
                    <a:p>
                      <a:pPr lvl="0" indent="0" marL="0" algn="r">
                        <a:buNone/>
                      </a:pPr>
                      <a:r>
                        <a:rPr/>
                        <a:t>186.00</a:t>
                      </a:r>
                    </a:p>
                  </a:txBody>
                </a:tc>
                <a:tc>
                  <a:txBody>
                    <a:bodyPr/>
                    <a:lstStyle/>
                    <a:p>
                      <a:pPr lvl="0" indent="0" marL="0" algn="r">
                        <a:buNone/>
                      </a:pPr>
                      <a:r>
                        <a:rPr/>
                        <a:t>367.00</a:t>
                      </a:r>
                    </a:p>
                  </a:txBody>
                </a:tc>
                <a:tc>
                  <a:txBody>
                    <a:bodyPr/>
                    <a:lstStyle/>
                    <a:p>
                      <a:pPr lvl="0" indent="0" marL="0" algn="r">
                        <a:buNone/>
                      </a:pPr>
                      <a:r>
                        <a:rPr/>
                        <a:t>1494.00</a:t>
                      </a:r>
                    </a:p>
                  </a:txBody>
                </a:tc>
                <a:tc>
                  <a:txBody>
                    <a:bodyPr/>
                    <a:lstStyle/>
                    <a:p>
                      <a:pPr lvl="0" indent="0" marL="0" algn="l">
                        <a:buNone/>
                      </a:pPr>
                      <a:r>
                        <a:rPr/>
                        <a:t>▇▂▂▁▁</a:t>
                      </a:r>
                    </a:p>
                  </a:txBody>
                </a:tc>
              </a:tr>
              <a:tr h="0">
                <a:tc>
                  <a:txBody>
                    <a:bodyPr/>
                    <a:lstStyle/>
                    <a:p>
                      <a:pPr lvl="0" indent="0" marL="0" algn="l">
                        <a:buNone/>
                      </a:pPr>
                      <a:r>
                        <a:rPr/>
                        <a:t>nearest</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10.38</a:t>
                      </a:r>
                    </a:p>
                  </a:txBody>
                </a:tc>
                <a:tc>
                  <a:txBody>
                    <a:bodyPr/>
                    <a:lstStyle/>
                    <a:p>
                      <a:pPr lvl="0" indent="0" marL="0" algn="r">
                        <a:buNone/>
                      </a:pPr>
                      <a:r>
                        <a:rPr/>
                        <a:t>14.42</a:t>
                      </a:r>
                    </a:p>
                  </a:txBody>
                </a:tc>
                <a:tc>
                  <a:txBody>
                    <a:bodyPr/>
                    <a:lstStyle/>
                    <a:p>
                      <a:pPr lvl="0" indent="0" marL="0" algn="r">
                        <a:buNone/>
                      </a:pPr>
                      <a:r>
                        <a:rPr/>
                        <a:t>0.20</a:t>
                      </a:r>
                    </a:p>
                  </a:txBody>
                </a:tc>
                <a:tc>
                  <a:txBody>
                    <a:bodyPr/>
                    <a:lstStyle/>
                    <a:p>
                      <a:pPr lvl="0" indent="0" marL="0" algn="r">
                        <a:buNone/>
                      </a:pPr>
                      <a:r>
                        <a:rPr/>
                        <a:t>1.10</a:t>
                      </a:r>
                    </a:p>
                  </a:txBody>
                </a:tc>
                <a:tc>
                  <a:txBody>
                    <a:bodyPr/>
                    <a:lstStyle/>
                    <a:p>
                      <a:pPr lvl="0" indent="0" marL="0" algn="r">
                        <a:buNone/>
                      </a:pPr>
                      <a:r>
                        <a:rPr/>
                        <a:t>3.30</a:t>
                      </a:r>
                    </a:p>
                  </a:txBody>
                </a:tc>
                <a:tc>
                  <a:txBody>
                    <a:bodyPr/>
                    <a:lstStyle/>
                    <a:p>
                      <a:pPr lvl="0" indent="0" marL="0" algn="r">
                        <a:buNone/>
                      </a:pPr>
                      <a:r>
                        <a:rPr/>
                        <a:t>10.70</a:t>
                      </a:r>
                    </a:p>
                  </a:txBody>
                </a:tc>
                <a:tc>
                  <a:txBody>
                    <a:bodyPr/>
                    <a:lstStyle/>
                    <a:p>
                      <a:pPr lvl="0" indent="0" marL="0" algn="r">
                        <a:buNone/>
                      </a:pPr>
                      <a:r>
                        <a:rPr/>
                        <a:t>47.40</a:t>
                      </a:r>
                    </a:p>
                  </a:txBody>
                </a:tc>
                <a:tc>
                  <a:txBody>
                    <a:bodyPr/>
                    <a:lstStyle/>
                    <a:p>
                      <a:pPr lvl="0" indent="0" marL="0" algn="l">
                        <a:buNone/>
                      </a:pPr>
                      <a:r>
                        <a:rPr/>
                        <a:t>▇▁▁▂▁</a:t>
                      </a:r>
                    </a:p>
                  </a:txBody>
                </a:tc>
              </a:tr>
              <a:tr h="0">
                <a:tc>
                  <a:txBody>
                    <a:bodyPr/>
                    <a:lstStyle/>
                    <a:p>
                      <a:pPr lvl="0" indent="0" marL="0" algn="l">
                        <a:buNone/>
                      </a:pPr>
                      <a:r>
                        <a:rPr/>
                        <a:t>scruz</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57.97</a:t>
                      </a:r>
                    </a:p>
                  </a:txBody>
                </a:tc>
                <a:tc>
                  <a:txBody>
                    <a:bodyPr/>
                    <a:lstStyle/>
                    <a:p>
                      <a:pPr lvl="0" indent="0" marL="0" algn="r">
                        <a:buNone/>
                      </a:pPr>
                      <a:r>
                        <a:rPr/>
                        <a:t>69.01</a:t>
                      </a:r>
                    </a:p>
                  </a:txBody>
                </a:tc>
                <a:tc>
                  <a:txBody>
                    <a:bodyPr/>
                    <a:lstStyle/>
                    <a:p>
                      <a:pPr lvl="0" indent="0" marL="0" algn="r">
                        <a:buNone/>
                      </a:pPr>
                      <a:r>
                        <a:rPr/>
                        <a:t>0.00</a:t>
                      </a:r>
                    </a:p>
                  </a:txBody>
                </a:tc>
                <a:tc>
                  <a:txBody>
                    <a:bodyPr/>
                    <a:lstStyle/>
                    <a:p>
                      <a:pPr lvl="0" indent="0" marL="0" algn="r">
                        <a:buNone/>
                      </a:pPr>
                      <a:r>
                        <a:rPr/>
                        <a:t>10.70</a:t>
                      </a:r>
                    </a:p>
                  </a:txBody>
                </a:tc>
                <a:tc>
                  <a:txBody>
                    <a:bodyPr/>
                    <a:lstStyle/>
                    <a:p>
                      <a:pPr lvl="0" indent="0" marL="0" algn="r">
                        <a:buNone/>
                      </a:pPr>
                      <a:r>
                        <a:rPr/>
                        <a:t>47.40</a:t>
                      </a:r>
                    </a:p>
                  </a:txBody>
                </a:tc>
                <a:tc>
                  <a:txBody>
                    <a:bodyPr/>
                    <a:lstStyle/>
                    <a:p>
                      <a:pPr lvl="0" indent="0" marL="0" algn="r">
                        <a:buNone/>
                      </a:pPr>
                      <a:r>
                        <a:rPr/>
                        <a:t>85.90</a:t>
                      </a:r>
                    </a:p>
                  </a:txBody>
                </a:tc>
                <a:tc>
                  <a:txBody>
                    <a:bodyPr/>
                    <a:lstStyle/>
                    <a:p>
                      <a:pPr lvl="0" indent="0" marL="0" algn="r">
                        <a:buNone/>
                      </a:pPr>
                      <a:r>
                        <a:rPr/>
                        <a:t>290.20</a:t>
                      </a:r>
                    </a:p>
                  </a:txBody>
                </a:tc>
                <a:tc>
                  <a:txBody>
                    <a:bodyPr/>
                    <a:lstStyle/>
                    <a:p>
                      <a:pPr lvl="0" indent="0" marL="0" algn="l">
                        <a:buNone/>
                      </a:pPr>
                      <a:r>
                        <a:rPr/>
                        <a:t>▇▃▁▁▁</a:t>
                      </a:r>
                    </a:p>
                  </a:txBody>
                </a:tc>
              </a:tr>
              <a:tr h="0">
                <a:tc>
                  <a:txBody>
                    <a:bodyPr/>
                    <a:lstStyle/>
                    <a:p>
                      <a:pPr lvl="0" indent="0" marL="0" algn="l">
                        <a:buNone/>
                      </a:pPr>
                      <a:r>
                        <a:rPr/>
                        <a:t>adjacent</a:t>
                      </a:r>
                    </a:p>
                  </a:txBody>
                </a:tc>
                <a:tc>
                  <a:txBody>
                    <a:bodyPr/>
                    <a:lstStyle/>
                    <a:p>
                      <a:pPr lvl="0" indent="0" marL="0" algn="r">
                        <a:buNone/>
                      </a:pPr>
                      <a:r>
                        <a:rPr/>
                        <a:t>0</a:t>
                      </a:r>
                    </a:p>
                  </a:txBody>
                </a:tc>
                <a:tc>
                  <a:txBody>
                    <a:bodyPr/>
                    <a:lstStyle/>
                    <a:p>
                      <a:pPr lvl="0" indent="0" marL="0" algn="r">
                        <a:buNone/>
                      </a:pPr>
                      <a:r>
                        <a:rPr/>
                        <a:t>1</a:t>
                      </a:r>
                    </a:p>
                  </a:txBody>
                </a:tc>
                <a:tc>
                  <a:txBody>
                    <a:bodyPr/>
                    <a:lstStyle/>
                    <a:p>
                      <a:pPr lvl="0" indent="0" marL="0" algn="r">
                        <a:buNone/>
                      </a:pPr>
                      <a:r>
                        <a:rPr/>
                        <a:t>248.22</a:t>
                      </a:r>
                    </a:p>
                  </a:txBody>
                </a:tc>
                <a:tc>
                  <a:txBody>
                    <a:bodyPr/>
                    <a:lstStyle/>
                    <a:p>
                      <a:pPr lvl="0" indent="0" marL="0" algn="r">
                        <a:buNone/>
                      </a:pPr>
                      <a:r>
                        <a:rPr/>
                        <a:t>876.89</a:t>
                      </a:r>
                    </a:p>
                  </a:txBody>
                </a:tc>
                <a:tc>
                  <a:txBody>
                    <a:bodyPr/>
                    <a:lstStyle/>
                    <a:p>
                      <a:pPr lvl="0" indent="0" marL="0" algn="r">
                        <a:buNone/>
                      </a:pPr>
                      <a:r>
                        <a:rPr/>
                        <a:t>0.03</a:t>
                      </a:r>
                    </a:p>
                  </a:txBody>
                </a:tc>
                <a:tc>
                  <a:txBody>
                    <a:bodyPr/>
                    <a:lstStyle/>
                    <a:p>
                      <a:pPr lvl="0" indent="0" marL="0" algn="r">
                        <a:buNone/>
                      </a:pPr>
                      <a:r>
                        <a:rPr/>
                        <a:t>0.52</a:t>
                      </a:r>
                    </a:p>
                  </a:txBody>
                </a:tc>
                <a:tc>
                  <a:txBody>
                    <a:bodyPr/>
                    <a:lstStyle/>
                    <a:p>
                      <a:pPr lvl="0" indent="0" marL="0" algn="r">
                        <a:buNone/>
                      </a:pPr>
                      <a:r>
                        <a:rPr/>
                        <a:t>2.33</a:t>
                      </a:r>
                    </a:p>
                  </a:txBody>
                </a:tc>
                <a:tc>
                  <a:txBody>
                    <a:bodyPr/>
                    <a:lstStyle/>
                    <a:p>
                      <a:pPr lvl="0" indent="0" marL="0" algn="r">
                        <a:buNone/>
                      </a:pPr>
                      <a:r>
                        <a:rPr/>
                        <a:t>58.27</a:t>
                      </a:r>
                    </a:p>
                  </a:txBody>
                </a:tc>
                <a:tc>
                  <a:txBody>
                    <a:bodyPr/>
                    <a:lstStyle/>
                    <a:p>
                      <a:pPr lvl="0" indent="0" marL="0" algn="r">
                        <a:buNone/>
                      </a:pPr>
                      <a:r>
                        <a:rPr/>
                        <a:t>4669.32</a:t>
                      </a:r>
                    </a:p>
                  </a:txBody>
                </a:tc>
                <a:tc>
                  <a:txBody>
                    <a:bodyPr/>
                    <a:lstStyle/>
                    <a:p>
                      <a:pPr lvl="0" indent="0" marL="0" algn="l">
                        <a:buNone/>
                      </a:pPr>
                      <a:r>
                        <a:rPr/>
                        <a:t>▇▁▁▁▁</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graphically</a:t>
            </a:r>
          </a:p>
        </p:txBody>
      </p:sp>
      <p:pic>
        <p:nvPicPr>
          <p:cNvPr descr="glm_logistic_regression_activity_files/figure-pptx/summary-gaussian_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graphically as size categories</a:t>
            </a:r>
          </a:p>
        </p:txBody>
      </p:sp>
      <p:pic>
        <p:nvPicPr>
          <p:cNvPr descr="glm_logistic_regression_activity_files/figure-pptx/unnamed-chunk-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GLM with Gaussian (Normal) Distribution: Setup</a:t>
            </a:r>
          </a:p>
        </p:txBody>
      </p:sp>
      <p:sp>
        <p:nvSpPr>
          <p:cNvPr id="4" name="Text Placeholder 3"/>
          <p:cNvSpPr>
            <a:spLocks noGrp="1"/>
          </p:cNvSpPr>
          <p:nvPr>
            <p:ph idx="2" sz="half" type="body"/>
          </p:nvPr>
        </p:nvSpPr>
        <p:spPr/>
        <p:txBody>
          <a:bodyPr/>
          <a:lstStyle/>
          <a:p>
            <a:pPr lvl="0" indent="0" marL="0">
              <a:buNone/>
            </a:pPr>
            <a:r>
              <a:rPr/>
              <a:t>The simplest form of GLM uses a normal (Gaussian) distribution with an identity link function. This is equivalent to standard linear model</a:t>
            </a:r>
          </a:p>
          <a:p>
            <a:pPr lvl="0" indent="0" marL="0">
              <a:buNone/>
            </a:pPr>
            <a:r>
              <a:rPr/>
              <a:t>Let’s compare a standard linear model and a Gaussian GLM using the Galapagos dataset, modeling endemic species richness by island size category.</a:t>
            </a:r>
          </a:p>
          <a:p>
            <a:pPr lvl="0" indent="0" marL="0">
              <a:spcBef>
                <a:spcPts val="3000"/>
              </a:spcBef>
              <a:buNone/>
            </a:pPr>
            <a:r>
              <a:rPr b="1"/>
              <a:t>Linear model the old way</a:t>
            </a:r>
          </a:p>
          <a:p>
            <a:pPr lvl="0" indent="0">
              <a:buNone/>
            </a:pPr>
            <a:r>
              <a:rPr>
                <a:latin typeface="Courier"/>
              </a:rPr>
              <a:t>
Call:
lm(formula = endemics ~ size_cat, data = g_df)
Residuals:
    Min      1Q  Median      3Q     Max 
-39.000  -4.636  -0.667   6.333  33.000 
Coefficients:
               Estimate Std. Error t value     Pr(&gt;|t|)    
(Intercept)       5.636      4.236   1.331       0.1948    
size_catmedium   16.030      5.864   2.734       0.0111 *  
size_catlarge    56.364      7.130   7.905 0.0000000221 ***
---
Signif. codes:  0 '***' 0.001 '**' 0.01 '*' 0.05 '.' 0.1 ' ' 1
Residual standard error: 14.05 on 26 degrees of freedom
Multiple R-squared:  0.708, Adjusted R-squared:  0.6855 
F-statistic: 31.51 on 2 and 26 DF,  p-value: 0.0000001124</a:t>
            </a:r>
          </a:p>
          <a:p>
            <a:pPr lvl="0" indent="0" marL="0">
              <a:spcBef>
                <a:spcPts val="3000"/>
              </a:spcBef>
              <a:buNone/>
            </a:pPr>
            <a:r>
              <a:rPr b="1"/>
              <a:t>The ANOVA model</a:t>
            </a:r>
          </a:p>
          <a:p>
            <a:pPr lvl="0" indent="0">
              <a:buNone/>
            </a:pPr>
            <a:r>
              <a:rPr>
                <a:latin typeface="Courier"/>
              </a:rPr>
              <a:t>Anova Table (Type III tests)
Response: endemics
             Sum Sq Df F value       Pr(&gt;F)    
(Intercept)   349.5  1  1.7707       0.1948    
size_cat    12438.6  2 31.5135 0.0000001124 ***
Residuals    5131.2 26                         
---
Signif. codes:  0 '***' 0.001 '**' 0.01 '*' 0.05 '.' 0.1 ' ' 1</a:t>
            </a:r>
          </a:p>
          <a:p>
            <a:pPr lvl="0" indent="0" marL="0">
              <a:spcBef>
                <a:spcPts val="3000"/>
              </a:spcBef>
              <a:buNone/>
            </a:pPr>
            <a:r>
              <a:rPr b="1"/>
              <a:t>The Gaussian GLM model</a:t>
            </a:r>
          </a:p>
          <a:p>
            <a:pPr lvl="0" indent="0">
              <a:buNone/>
            </a:pPr>
            <a:r>
              <a:rPr>
                <a:latin typeface="Courier"/>
              </a:rPr>
              <a:t>
Call:
glm(formula = endemics ~ size_cat, family = gaussian(link = "identity"), 
    data = g_df)
Coefficients:
               Estimate Std. Error t value     Pr(&gt;|t|)    
(Intercept)       5.636      4.236   1.331       0.1948    
size_catmedium   16.030      5.864   2.734       0.0111 *  
size_catlarge    56.364      7.130   7.905 0.0000000221 ***
---
Signif. codes:  0 '***' 0.001 '**' 0.01 '*' 0.05 '.' 0.1 ' ' 1
(Dispersion parameter for gaussian family taken to be 197.3543)
    Null deviance: 17569.9  on 28  degrees of freedom
Residual deviance:  5131.2  on 26  degrees of freedom
AIC: 240.4
Number of Fisher Scoring iterations: 2</a:t>
            </a:r>
          </a:p>
          <a:p>
            <a:pPr lvl="0" indent="0" marL="0">
              <a:spcBef>
                <a:spcPts val="3000"/>
              </a:spcBef>
              <a:buNone/>
            </a:pPr>
            <a:r>
              <a:rPr b="1"/>
              <a:t>GLM ANOVA</a:t>
            </a:r>
          </a:p>
          <a:p>
            <a:pPr lvl="0" indent="0">
              <a:buNone/>
            </a:pPr>
            <a:r>
              <a:rPr>
                <a:latin typeface="Courier"/>
              </a:rPr>
              <a:t>Analysis of Deviance Table (Type III tests)
Response: endemics
Error estimate based on Pearson residuals 
           Sum Sq Df F values       Pr(&gt;F)    
size_cat  12438.6  2   31.514 0.0000001124 ***
Residuals  5131.2 26                          
---
Signif. codes:  0 '***' 0.001 '**' 0.01 '*' 0.05 '.' 0.1 ' ' 1</a:t>
            </a:r>
          </a:p>
          <a:p>
            <a:pPr lvl="0" indent="0" marL="0">
              <a:spcBef>
                <a:spcPts val="3000"/>
              </a:spcBef>
              <a:buNone/>
            </a:pPr>
            <a:r>
              <a:rPr b="1"/>
              <a:t>Assumption Tests of Both Models</a:t>
            </a:r>
          </a:p>
          <a:p>
            <a:pPr lvl="0" indent="0" marL="0">
              <a:spcBef>
                <a:spcPts val="3000"/>
              </a:spcBef>
              <a:buNone/>
            </a:pPr>
            <a:r>
              <a:rPr b="1"/>
              <a:t>Linear model assumptions</a:t>
            </a:r>
          </a:p>
        </p:txBody>
      </p:sp>
      <p:pic>
        <p:nvPicPr>
          <p:cNvPr descr="glm_logistic_regression_activity_files/figure-pptx/unnamed-chunk-7-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7-2.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7-3.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7-4.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GLM ASSUMPTIONS</a:t>
            </a:r>
          </a:p>
        </p:txBody>
      </p:sp>
      <p:pic>
        <p:nvPicPr>
          <p:cNvPr descr="glm_logistic_regression_activity_files/figure-pptx/unnamed-chunk-8-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8-2.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8-3.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8-4.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Shapiro Wilk Test Linear Model</a:t>
            </a:r>
          </a:p>
          <a:p>
            <a:pPr lvl="0" indent="0">
              <a:buNone/>
            </a:pPr>
            <a:r>
              <a:rPr>
                <a:latin typeface="Courier"/>
              </a:rPr>
              <a:t>
    Shapiro-Wilk normality test
data:  residuals(lm_model)
W = 0.94396, p-value = 0.1273</a:t>
            </a:r>
          </a:p>
          <a:p>
            <a:pPr lvl="0" indent="0" marL="0">
              <a:spcBef>
                <a:spcPts val="3000"/>
              </a:spcBef>
              <a:buNone/>
            </a:pPr>
            <a:r>
              <a:rPr b="1"/>
              <a:t>Shapiro Test Gaussian Model</a:t>
            </a:r>
          </a:p>
          <a:p>
            <a:pPr lvl="0" indent="0">
              <a:buNone/>
            </a:pPr>
            <a:r>
              <a:rPr>
                <a:latin typeface="Courier"/>
              </a:rPr>
              <a:t>
    Shapiro-Wilk normality test
data:  residuals(gauss_model)
W = 0.94396, p-value = 0.1273</a:t>
            </a:r>
          </a:p>
          <a:p>
            <a:pPr lvl="0" indent="0" marL="0">
              <a:spcBef>
                <a:spcPts val="3000"/>
              </a:spcBef>
              <a:buNone/>
            </a:pPr>
            <a:r>
              <a:rPr b="1"/>
              <a:t>Levenes Test - this is why a Poisson Model fits</a:t>
            </a:r>
          </a:p>
          <a:p>
            <a:pPr lvl="0" indent="0">
              <a:buNone/>
            </a:pPr>
            <a:r>
              <a:rPr>
                <a:latin typeface="Courier"/>
              </a:rPr>
              <a:t>Levene's Test for Homogeneity of Variance (center = median)
      Df F value   Pr(&gt;F)   
group  2  7.9881 0.001975 **
      26                    
---
Signif. codes:  0 '***' 0.001 '**' 0.01 '*' 0.05 '.' 0.1 ' ' 1</a:t>
            </a:r>
          </a:p>
          <a:p>
            <a:pPr lvl="0" indent="0" marL="0">
              <a:spcBef>
                <a:spcPts val="3000"/>
              </a:spcBef>
              <a:buNone/>
            </a:pPr>
            <a:r>
              <a:rPr b="1"/>
              <a:t>Dharma Assumption Test</a:t>
            </a:r>
          </a:p>
        </p:txBody>
      </p:sp>
      <p:pic>
        <p:nvPicPr>
          <p:cNvPr descr="glm_logistic_regression_activity_files/figure-pptx/unnamed-chunk-1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DHARMa nonparametric dispersion test via sd of residuals fitted vs.
    simulated
data:  simulationOutput
dispersion = 0.93779, p-value = 0.882
alternative hypothesis: two.sided</a:t>
            </a:r>
          </a:p>
        </p:txBody>
      </p:sp>
      <p:pic>
        <p:nvPicPr>
          <p:cNvPr descr="glm_logistic_regression_activity_files/figure-pptx/unnamed-chunk-12-2.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Emmeans Linear Model</a:t>
            </a:r>
          </a:p>
          <a:p>
            <a:pPr lvl="0" indent="0">
              <a:buNone/>
            </a:pPr>
            <a:r>
              <a:rPr>
                <a:latin typeface="Courier"/>
              </a:rPr>
              <a:t> size_cat emmean   SE df lower.CL upper.CL
 small      5.64 4.24 26    -3.07     14.3
 medium    21.67 4.06 26    13.33     30.0
 large     62.00 5.74 26    50.21     73.8
Confidence level used: 0.95 </a:t>
            </a:r>
          </a:p>
          <a:p>
            <a:pPr lvl="0" indent="0" marL="0">
              <a:spcBef>
                <a:spcPts val="3000"/>
              </a:spcBef>
              <a:buNone/>
            </a:pPr>
            <a:r>
              <a:rPr b="1"/>
              <a:t>Emmeans GLM Mode</a:t>
            </a:r>
          </a:p>
          <a:p>
            <a:pPr lvl="0" indent="0">
              <a:buNone/>
            </a:pPr>
            <a:r>
              <a:rPr>
                <a:latin typeface="Courier"/>
              </a:rPr>
              <a:t> size_cat emmean   SE df lower.CL upper.CL
 small      5.64 4.24 26    -3.07     14.3
 medium    21.67 4.06 26    13.33     30.0
 large     62.00 5.74 26    50.21     73.8
Confidence level used: 0.95 </a:t>
            </a:r>
          </a:p>
          <a:p>
            <a:pPr lvl="0" indent="0" marL="0">
              <a:spcBef>
                <a:spcPts val="3000"/>
              </a:spcBef>
              <a:buNone/>
            </a:pPr>
            <a:r>
              <a:rPr b="1"/>
              <a:t>Pairs LM</a:t>
            </a:r>
          </a:p>
          <a:p>
            <a:pPr lvl="0" indent="0">
              <a:buNone/>
            </a:pPr>
            <a:r>
              <a:rPr>
                <a:latin typeface="Courier"/>
              </a:rPr>
              <a:t> contrast       estimate   SE df t.ratio p.value
 small - medium    -16.0 5.86 26  -2.734  0.0330
 small - large     -56.4 7.13 26  -7.905 &lt;0.0001
 medium - large    -40.3 7.02 26  -5.742 &lt;0.0001
P value adjustment: sidak method for 3 tests </a:t>
            </a:r>
          </a:p>
          <a:p>
            <a:pPr lvl="0" indent="0" marL="0">
              <a:spcBef>
                <a:spcPts val="3000"/>
              </a:spcBef>
              <a:buNone/>
            </a:pPr>
            <a:r>
              <a:rPr b="1"/>
              <a:t>Pairs GLM</a:t>
            </a:r>
          </a:p>
          <a:p>
            <a:pPr lvl="0" indent="0">
              <a:buNone/>
            </a:pPr>
            <a:r>
              <a:rPr>
                <a:latin typeface="Courier"/>
              </a:rPr>
              <a:t> contrast       estimate   SE df t.ratio p.value
 small - medium    -16.0 5.86 26  -2.734  0.0330
 small - large     -56.4 7.13 26  -7.905 &lt;0.0001
 medium - large    -40.3 7.02 26  -5.742 &lt;0.0001
P value adjustment: sidak method for 3 tests </a:t>
            </a:r>
          </a:p>
          <a:p>
            <a:pPr lvl="0" indent="0" marL="0">
              <a:spcBef>
                <a:spcPts val="3000"/>
              </a:spcBef>
              <a:buNone/>
            </a:pPr>
            <a:r>
              <a:rPr b="1"/>
              <a:t>Plot of GLM</a:t>
            </a:r>
          </a:p>
        </p:txBody>
      </p:sp>
      <p:pic>
        <p:nvPicPr>
          <p:cNvPr descr="glm_logistic_regression_activity_files/figure-pptx/unnamed-chunk-17-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GLM ANOVA with Poisson Distribution</a:t>
            </a:r>
          </a:p>
        </p:txBody>
      </p:sp>
      <p:sp>
        <p:nvSpPr>
          <p:cNvPr id="4" name="Text Placeholder 3"/>
          <p:cNvSpPr>
            <a:spLocks noGrp="1"/>
          </p:cNvSpPr>
          <p:nvPr>
            <p:ph idx="2" sz="half" type="body"/>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a:p>
            <a:pPr lvl="0" indent="0" marL="0">
              <a:spcBef>
                <a:spcPts val="3000"/>
              </a:spcBef>
              <a:buNone/>
            </a:pPr>
            <a:r>
              <a:rPr b="1"/>
              <a:t>Fit Poisson GLM with size_cat as predictor</a:t>
            </a:r>
          </a:p>
          <a:p>
            <a:pPr lvl="0" indent="0">
              <a:buNone/>
            </a:pPr>
            <a:r>
              <a:rPr>
                <a:solidFill>
                  <a:srgbClr val="003B4F"/>
                </a:solidFill>
                <a:latin typeface="Courier"/>
              </a:rPr>
              <a:t>poiss_model &lt;- </a:t>
            </a:r>
            <a:r>
              <a:rPr>
                <a:solidFill>
                  <a:srgbClr val="4758AB"/>
                </a:solidFill>
                <a:latin typeface="Courier"/>
              </a:rPr>
              <a:t>glm</a:t>
            </a:r>
            <a:r>
              <a:rPr>
                <a:solidFill>
                  <a:srgbClr val="003B4F"/>
                </a:solidFill>
                <a:latin typeface="Courier"/>
              </a:rPr>
              <a:t>(spp </a:t>
            </a:r>
            <a:r>
              <a:rPr>
                <a:solidFill>
                  <a:srgbClr val="5E5E5E"/>
                </a:solidFill>
                <a:latin typeface="Courier"/>
              </a:rPr>
              <a:t>~</a:t>
            </a:r>
            <a:r>
              <a:rPr>
                <a:solidFill>
                  <a:srgbClr val="003B4F"/>
                </a:solidFill>
                <a:latin typeface="Courier"/>
              </a:rPr>
              <a:t> size_cat, </a:t>
            </a:r>
            <a:br/>
            <a:r>
              <a:rPr>
                <a:solidFill>
                  <a:srgbClr val="003B4F"/>
                </a:solidFill>
                <a:latin typeface="Courier"/>
              </a:rPr>
              <a:t>                          </a:t>
            </a:r>
            <a:r>
              <a:rPr>
                <a:solidFill>
                  <a:srgbClr val="657422"/>
                </a:solidFill>
                <a:latin typeface="Courier"/>
              </a:rPr>
              <a:t>data =</a:t>
            </a:r>
            <a:r>
              <a:rPr>
                <a:solidFill>
                  <a:srgbClr val="003B4F"/>
                </a:solidFill>
                <a:latin typeface="Courier"/>
              </a:rPr>
              <a:t> g_df,</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(poiss_model)</a:t>
            </a:r>
          </a:p>
          <a:p>
            <a:pPr lvl="0" indent="0">
              <a:buNone/>
            </a:pPr>
            <a:r>
              <a:rPr>
                <a:latin typeface="Courier"/>
              </a:rPr>
              <a:t>
Call:
glm(formula = spp ~ size_cat, family = poisson(link = "log"), 
    data = g_df)
Coefficients:
               Estimate Std. Error z value            Pr(&gt;|z|)    
(Intercept)     2.67101    0.07930   33.68 &lt;0.0000000000000002 ***
size_catmedium  1.33784    0.08833   15.15 &lt;0.0000000000000002 ***
size_catlarge   2.77429    0.08372   33.14 &lt;0.0000000000000002 ***
---
Signif. codes:  0 '***' 0.001 '**' 0.01 '*' 0.05 '.' 0.1 ' ' 1
(Dispersion parameter for poisson family taken to be 1)
    Null deviance: 3031.18  on 28  degrees of freedom
Residual deviance:  898.03  on 26  degrees of freedom
AIC: 1057.2
Number of Fisher Scoring iterations: 5</a:t>
            </a:r>
          </a:p>
          <a:p>
            <a:pPr lvl="0" indent="0" marL="0">
              <a:spcBef>
                <a:spcPts val="3000"/>
              </a:spcBef>
              <a:buNone/>
            </a:pPr>
            <a:r>
              <a:rPr b="1"/>
              <a:t>GLM with Poisson Distribution: Setup</a:t>
            </a:r>
          </a:p>
          <a:p>
            <a:pPr lvl="0" indent="0" marL="0">
              <a:buNone/>
            </a:pPr>
            <a:r>
              <a:rPr b="1"/>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 to simpler null model (one without size_cat)</a:t>
            </a:r>
          </a:p>
          <a:p>
            <a:pPr lvl="2"/>
            <a:r>
              <a:rPr/>
              <a:t>LR test tells us if it is significant</a:t>
            </a:r>
          </a:p>
          <a:p>
            <a:pPr lvl="0" indent="0">
              <a:buNone/>
            </a:pPr>
            <a:r>
              <a:rPr>
                <a:solidFill>
                  <a:srgbClr val="4758AB"/>
                </a:solidFill>
                <a:latin typeface="Courier"/>
              </a:rPr>
              <a:t>Anova</a:t>
            </a:r>
            <a:r>
              <a:rPr>
                <a:solidFill>
                  <a:srgbClr val="003B4F"/>
                </a:solidFill>
                <a:latin typeface="Courier"/>
              </a:rPr>
              <a:t>(poiss_model,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p>
          <a:p>
            <a:pPr lvl="0" indent="0">
              <a:buNone/>
            </a:pPr>
            <a:r>
              <a:rPr>
                <a:latin typeface="Courier"/>
              </a:rPr>
              <a:t>Analysis of Deviance Table (Type III tests)
Response: spp
         LR Chisq Df            Pr(&gt;Chisq)    
size_cat   2133.2  2 &lt; 0.00000000000000022 ***
---
Signif. codes:  0 '***' 0.001 '**' 0.01 '*' 0.05 '.' 0.1 ' ' 1</a:t>
            </a:r>
          </a:p>
          <a:p>
            <a:pPr lvl="0" indent="0" marL="0">
              <a:spcBef>
                <a:spcPts val="3000"/>
              </a:spcBef>
              <a:buNone/>
            </a:pPr>
            <a:r>
              <a:rPr b="1"/>
              <a:t>Let’s check for overdispersion, which is common in count data:</a:t>
            </a:r>
          </a:p>
          <a:p>
            <a:pPr lvl="0"/>
            <a:r>
              <a:rPr/>
              <a:t>Should be close to 1 for a well-fitting Poisson model</a:t>
            </a:r>
          </a:p>
          <a:p>
            <a:pPr lvl="0"/>
            <a:r>
              <a:rPr/>
              <a:t>If &gt; 1.5, may indicate overdispersion</a:t>
            </a:r>
          </a:p>
          <a:p>
            <a:pPr lvl="1"/>
            <a:r>
              <a:rPr b="1"/>
              <a:t>What is Underdispersion?</a:t>
            </a:r>
          </a:p>
          <a:p>
            <a:pPr lvl="2"/>
            <a:r>
              <a:rPr/>
              <a:t>In a Poisson model, we expect the variance to equal the mean. The dispersion parameter measures the ratio of observed variance to expected variance:</a:t>
            </a:r>
          </a:p>
          <a:p>
            <a:pPr lvl="3"/>
            <a:r>
              <a:rPr b="1"/>
              <a:t>Dispersion ≈ 1</a:t>
            </a:r>
            <a:r>
              <a:rPr/>
              <a:t>: Good fit (variance = mean, as Poisson assumes)</a:t>
            </a:r>
          </a:p>
          <a:p>
            <a:pPr lvl="3"/>
            <a:r>
              <a:rPr b="1"/>
              <a:t>Dispersion &gt; 1</a:t>
            </a:r>
            <a:r>
              <a:rPr/>
              <a:t>: Overdispersion (variance &gt; mean)</a:t>
            </a:r>
          </a:p>
          <a:p>
            <a:pPr lvl="3"/>
            <a:r>
              <a:rPr b="1"/>
              <a:t>Dispersion &lt; 1</a:t>
            </a:r>
            <a:r>
              <a:rPr/>
              <a:t>: </a:t>
            </a:r>
            <a:r>
              <a:rPr b="1"/>
              <a:t>Underdispersion</a:t>
            </a:r>
            <a:r>
              <a:rPr/>
              <a:t> (variance &lt; mean)</a:t>
            </a:r>
          </a:p>
          <a:p>
            <a:pPr lvl="1"/>
            <a:r>
              <a:rPr/>
              <a:t>a dispersion parameter this large is a warning</a:t>
            </a:r>
          </a:p>
          <a:p>
            <a:pPr lvl="1"/>
            <a:r>
              <a:rPr/>
              <a:t>our data more variable than a Poisson model expects</a:t>
            </a:r>
          </a:p>
          <a:p>
            <a:pPr lvl="1"/>
            <a:r>
              <a:rPr/>
              <a:t>use a Negative Binomial model</a:t>
            </a:r>
          </a:p>
          <a:p>
            <a:pPr lvl="0" indent="0">
              <a:buNone/>
            </a:pPr>
            <a:r>
              <a:rPr>
                <a:latin typeface="Courier"/>
              </a:rPr>
              <a:t># Overdispersion test
       dispersion ratio =  33.525
  Pearson's Chi-Squared = 871.642
                p-value = &lt; 0.001</a:t>
            </a:r>
          </a:p>
          <a:p>
            <a:pPr lvl="0" indent="0" marL="0">
              <a:spcBef>
                <a:spcPts val="3000"/>
              </a:spcBef>
              <a:buNone/>
            </a:pPr>
            <a:r>
              <a:rPr b="1"/>
              <a:t>DHARMA assumption plots</a:t>
            </a:r>
          </a:p>
        </p:txBody>
      </p:sp>
      <p:pic>
        <p:nvPicPr>
          <p:cNvPr descr="glm_logistic_regression_activity_files/figure-pptx/unnamed-chunk-21-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DHARMa nonparametric dispersion test via sd of residuals fitted vs.
    simulated
data:  simulationOutput
dispersion = 55.559, p-value &lt; 0.00000000000000022
alternative hypothesis: two.sided</a:t>
            </a:r>
          </a:p>
        </p:txBody>
      </p:sp>
      <p:pic>
        <p:nvPicPr>
          <p:cNvPr descr="glm_logistic_regression_activity_files/figure-pptx/unnamed-chunk-21-2.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WHY DOES THE SHAPIRO TEST NOT WORK???</a:t>
            </a:r>
          </a:p>
          <a:p>
            <a:pPr lvl="0" indent="0" marL="0">
              <a:buNone/>
            </a:pPr>
            <a:r>
              <a:rPr/>
              <a:t>this you should consider - well it shouldn’t but it does this time . dang it…</a:t>
            </a:r>
          </a:p>
          <a:p>
            <a:pPr lvl="0" indent="0">
              <a:buNone/>
            </a:pPr>
            <a:r>
              <a:rPr>
                <a:latin typeface="Courier"/>
              </a:rPr>
              <a:t>
    Shapiro-Wilk normality test
data:  residuals(poiss_model)
W = 0.98973, p-value = 0.9909</a:t>
            </a:r>
          </a:p>
          <a:p>
            <a:pPr lvl="0" indent="0" marL="0">
              <a:spcBef>
                <a:spcPts val="3000"/>
              </a:spcBef>
              <a:buNone/>
            </a:pPr>
            <a:r>
              <a:rPr b="1"/>
              <a:t>Poisson GLM Emmeans</a:t>
            </a:r>
          </a:p>
          <a:p>
            <a:pPr lvl="0" indent="0">
              <a:buNone/>
            </a:pPr>
            <a:r>
              <a:rPr>
                <a:latin typeface="Courier"/>
              </a:rPr>
              <a:t> size_cat  rate   SE  df asymp.LCL asymp.UCL
 small     14.5 1.15 Inf      12.4      16.9
 medium    55.1 2.14 Inf      51.0      59.4
 large    231.7 6.21 Inf     219.8     244.2
Confidence level used: 0.95 
Intervals are back-transformed from the log scale </a:t>
            </a:r>
          </a:p>
          <a:p>
            <a:pPr lvl="0" indent="0" marL="0">
              <a:spcBef>
                <a:spcPts val="3000"/>
              </a:spcBef>
              <a:buNone/>
            </a:pPr>
            <a:r>
              <a:rPr b="1"/>
              <a:t>POISSON GLM Pairs Plots</a:t>
            </a:r>
          </a:p>
          <a:p>
            <a:pPr lvl="0" indent="0">
              <a:buNone/>
            </a:pPr>
            <a:r>
              <a:rPr>
                <a:latin typeface="Courier"/>
              </a:rPr>
              <a:t> contrast        ratio      SE  df null z.ratio p.value
 small / medium 0.2624 0.02320 Inf    1 -15.146 &lt;0.0001
 small / large  0.0624 0.00522 Inf    1 -33.139 &lt;0.0001
 medium / large 0.2378 0.01120 Inf    1 -30.403 &lt;0.0001
P value adjustment: tukey method for comparing a family of 3 estimates 
Tests are performed on the log scale </a:t>
            </a:r>
          </a:p>
          <a:p>
            <a:pPr lvl="0" indent="0">
              <a:buNone/>
            </a:pPr>
            <a:r>
              <a:rPr>
                <a:latin typeface="Courier"/>
              </a:rPr>
              <a:t> size_cat  rate   SE  df asymp.LCL asymp.UCL .group
 small     14.5 1.15 Inf      12.4      16.9  a    
 medium    55.1 2.14 Inf      51.0      59.4   b   
 large    231.7 6.21 Inf     219.8     244.2    c  
Confidence level used: 0.95 
Intervals are back-transformed from the log scale 
P value adjustment: tukey method for comparing a family of 3 estimates 
Tests are performed on the log scale 
significance level used: alpha = 0.05 
NOTE: If two or more means share the same grouping symbol,
      then we cannot show them to be different.
      But we also did not show them to be the same. </a:t>
            </a:r>
          </a:p>
          <a:p>
            <a:pPr lvl="0" indent="0" marL="0">
              <a:buNone/>
            </a:pPr>
            <a:r>
              <a:rPr/>
              <a:t>Poisson GLM Plot</a:t>
            </a:r>
          </a:p>
        </p:txBody>
      </p:sp>
      <p:pic>
        <p:nvPicPr>
          <p:cNvPr descr="glm_logistic_regression_activity_files/figure-pptx/poisson-plot-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Negative Binomial GLM ANOVA</a:t>
            </a:r>
          </a:p>
        </p:txBody>
      </p:sp>
      <p:sp>
        <p:nvSpPr>
          <p:cNvPr id="4" name="Text Placeholder 3"/>
          <p:cNvSpPr>
            <a:spLocks noGrp="1"/>
          </p:cNvSpPr>
          <p:nvPr>
            <p:ph idx="2" sz="half" type="body"/>
          </p:nvPr>
        </p:nvSpPr>
        <p:spPr/>
        <p:txBody>
          <a:bodyPr/>
          <a:lstStyle/>
          <a:p>
            <a:pPr lvl="0"/>
            <a:r>
              <a:rPr/>
              <a:t>Dealing with Overdispersion in Count Data</a:t>
            </a:r>
          </a:p>
          <a:p>
            <a:pPr lvl="1"/>
            <a:r>
              <a:rPr/>
              <a:t>count data shows more variability than expected under a Poisson distribution (variance &gt; mean</a:t>
            </a:r>
          </a:p>
          <a:p>
            <a:pPr lvl="1"/>
            <a:r>
              <a:rPr/>
              <a:t>need to use negative binomial model</a:t>
            </a:r>
          </a:p>
          <a:p>
            <a:pPr lvl="1"/>
            <a:r>
              <a:rPr>
                <a:latin typeface="Courier"/>
              </a:rPr>
              <a:t>model_nb &lt;- glm.nb(qsec_round ~ cyl, data = mtcars_count)</a:t>
            </a:r>
          </a:p>
          <a:p>
            <a:pPr lvl="0"/>
            <a:r>
              <a:rPr/>
              <a:t>negative binomial model includes a dispersion parameter (theta)</a:t>
            </a:r>
          </a:p>
          <a:p>
            <a:pPr lvl="0"/>
            <a:r>
              <a:rPr/>
              <a:t>allows the variance to be larger than the mean</a:t>
            </a:r>
          </a:p>
          <a:p>
            <a:pPr lvl="0"/>
            <a:r>
              <a:rPr/>
              <a:t>standard errors bigger because NB model accounts for high variability (overdispersion)</a:t>
            </a:r>
          </a:p>
          <a:p>
            <a:pPr lvl="0"/>
            <a:r>
              <a:rPr/>
              <a:t>estimates dispersion parameter ‘Theta’ (or 1/theta)</a:t>
            </a:r>
          </a:p>
          <a:p>
            <a:pPr lvl="0"/>
            <a:r>
              <a:rPr/>
              <a:t>how it models the overdispersion.</a:t>
            </a:r>
          </a:p>
          <a:p>
            <a:pPr lvl="0" indent="0">
              <a:buNone/>
            </a:pPr>
            <a:r>
              <a:rPr>
                <a:latin typeface="Courier"/>
              </a:rPr>
              <a:t>
Call:
glm.nb(formula = spp ~ size_cat, data = g_df, init.theta = 1.660219232, 
    link = log)
Coefficients:
               Estimate Std. Error z value             Pr(&gt;|z|)    
(Intercept)      2.6710     0.2471  10.810 &lt; 0.0000000000000002 ***
size_catmedium   1.3378     0.3358   3.984      0.0000677150798 ***
size_catlarge    2.7743     0.4027   6.889      0.0000000000056 ***
---
Signif. codes:  0 '***' 0.001 '**' 0.01 '*' 0.05 '.' 0.1 ' ' 1
(Dispersion parameter for Negative Binomial(1.6602) family taken to be 1)
    Null deviance: 81.681  on 28  degrees of freedom
Residual deviance: 31.824  on 26  degrees of freedom
AIC: 283.97
Number of Fisher Scoring iterations: 1
              Theta:  1.660 
          Std. Err.:  0.442 
 2 x log-likelihood:  -275.972 </a:t>
            </a:r>
          </a:p>
          <a:p>
            <a:pPr lvl="0" indent="0" marL="0">
              <a:spcBef>
                <a:spcPts val="3000"/>
              </a:spcBef>
              <a:buNone/>
            </a:pPr>
            <a:r>
              <a:rPr b="1"/>
              <a:t>Assumptions</a:t>
            </a:r>
          </a:p>
        </p:txBody>
      </p:sp>
      <p:pic>
        <p:nvPicPr>
          <p:cNvPr descr="glm_logistic_regression_activity_files/figure-pptx/unnamed-chunk-23-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Note Shapiro test does not work</a:t>
            </a:r>
          </a:p>
          <a:p>
            <a:pPr lvl="0" indent="0">
              <a:buNone/>
            </a:pPr>
            <a:r>
              <a:rPr>
                <a:latin typeface="Courier"/>
              </a:rPr>
              <a:t>
    Shapiro-Wilk normality test
data:  residuals(nb_model)
W = 0.94501, p-value = 0.1357</a:t>
            </a:r>
          </a:p>
          <a:p>
            <a:pPr lvl="0" indent="0" marL="0">
              <a:spcBef>
                <a:spcPts val="3000"/>
              </a:spcBef>
              <a:buNone/>
            </a:pPr>
            <a:r>
              <a:rPr b="1"/>
              <a:t>Overdispersion</a:t>
            </a:r>
          </a:p>
          <a:p>
            <a:pPr lvl="0" indent="0">
              <a:buNone/>
            </a:pPr>
            <a:r>
              <a:rPr>
                <a:latin typeface="Courier"/>
              </a:rPr>
              <a:t># Overdispersion test (using simulated residuals)
 dispersion ratio = 0.586
          p-value = 0.632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GLM Negative Binmial</a:t>
            </a:r>
          </a:p>
        </p:txBody>
      </p:sp>
      <p:sp>
        <p:nvSpPr>
          <p:cNvPr id="3" name="Content Placeholder 2"/>
          <p:cNvSpPr>
            <a:spLocks noGrp="1"/>
          </p:cNvSpPr>
          <p:nvPr>
            <p:ph idx="1"/>
          </p:nvPr>
        </p:nvSpPr>
        <p:spPr/>
        <p:txBody>
          <a:bodyPr/>
          <a:lstStyle/>
          <a:p>
            <a:pPr lvl="0" indent="0">
              <a:buNone/>
            </a:pPr>
            <a:r>
              <a:rPr>
                <a:latin typeface="Courier"/>
              </a:rPr>
              <a:t>Analysis of Deviance Table (Type III tests)
Response: spp
         LR Chisq Df       Pr(&gt;Chisq)    
size_cat   49.858  2 0.00000000001491 ***
---
Signif. codes:  0 '***' 0.001 '**' 0.01 '*' 0.05 '.' 0.1 ' ' 1</a:t>
            </a:r>
          </a:p>
          <a:p>
            <a:pPr lvl="0" indent="0">
              <a:buNone/>
            </a:pPr>
            <a:r>
              <a:rPr>
                <a:latin typeface="Courier"/>
              </a:rPr>
              <a:t> size_cat response    SE  df asymp.LCL asymp.UCL
 small        14.5  3.57 Inf      8.91      23.5
 medium       55.1 12.50 Inf     35.27      86.0
 large       231.7 73.70 Inf    124.22     432.0
Confidence level used: 0.95 
Intervals are back-transformed from the log scale </a:t>
            </a:r>
          </a:p>
          <a:p>
            <a:pPr lvl="0" indent="0" marL="0">
              <a:spcBef>
                <a:spcPts val="3000"/>
              </a:spcBef>
              <a:buNone/>
            </a:pPr>
            <a:r>
              <a:rPr b="1"/>
              <a:t>Pairwise</a:t>
            </a:r>
          </a:p>
          <a:p>
            <a:pPr lvl="0" indent="0">
              <a:buNone/>
            </a:pPr>
            <a:r>
              <a:rPr>
                <a:latin typeface="Courier"/>
              </a:rPr>
              <a:t> contrast        ratio     SE  df null z.ratio p.value
 small / medium 0.2624 0.0881 Inf    1  -3.984  0.0002
 small / large  0.0624 0.0251 Inf    1  -6.889 &lt;0.0001
 medium / large 0.2378 0.0929 Inf    1  -3.675  0.0007
P value adjustment: tukey method for comparing a family of 3 estimates 
Tests are performed on the log scale </a:t>
            </a:r>
          </a:p>
          <a:p>
            <a:pPr lvl="0" indent="0">
              <a:buNone/>
            </a:pPr>
            <a:r>
              <a:rPr>
                <a:latin typeface="Courier"/>
              </a:rPr>
              <a:t> size_cat response    SE  df asymp.LCL asymp.UCL .group
 small        14.5  3.57 Inf      8.91      23.5  a    
 medium       55.1 12.50 Inf     35.27      86.0   b   
 large       231.7 73.70 Inf    124.22     432.0    c  
Confidence level used: 0.95 
Intervals are back-transformed from the log scale 
P value adjustment: tukey method for comparing a family of 3 estimates 
Tests are performed on the log scale 
significance level used: alpha = 0.05 
NOTE: If two or more means share the same grouping symbol,
      then we cannot show them to be different.
      But we also did not show them to be the same.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REGRESSIONS——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Generalized Linear Models (GLMs) extend linear models to handle different types of response variables:</a:t>
            </a:r>
          </a:p>
        </p:txBody>
      </p:sp>
      <p:sp>
        <p:nvSpPr>
          <p:cNvPr id="3" name="Content Placeholder 2"/>
          <p:cNvSpPr>
            <a:spLocks noGrp="1"/>
          </p:cNvSpPr>
          <p:nvPr>
            <p:ph idx="1"/>
          </p:nvPr>
        </p:nvSpPr>
        <p:spPr/>
        <p:txBody>
          <a:bodyPr/>
          <a:lstStyle/>
          <a:p>
            <a:pPr lvl="0"/>
            <a:r>
              <a:rPr/>
              <a:t>Normal distribution: Continuous data (like regular ANOVA/regression)</a:t>
            </a:r>
          </a:p>
          <a:p>
            <a:pPr lvl="0"/>
            <a:r>
              <a:rPr/>
              <a:t>Poisson distribution: Count data</a:t>
            </a:r>
          </a:p>
          <a:p>
            <a:pPr lvl="0"/>
            <a:r>
              <a:rPr/>
              <a:t>Binomial distribution: Binary data (presence/absence, success/failure)</a:t>
            </a:r>
          </a:p>
          <a:p>
            <a:pPr lvl="0"/>
            <a:r>
              <a:rPr/>
              <a:t>Gamma distribution: Positive continuous data</a:t>
            </a:r>
          </a:p>
          <a:p>
            <a:pPr lvl="0"/>
            <a:r>
              <a:rPr/>
              <a:t>Negative binomial: Overdispersed count data</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Gaussian GLM (equivalent to simple linear regression)</a:t>
            </a:r>
          </a:p>
        </p:txBody>
      </p:sp>
      <p:sp>
        <p:nvSpPr>
          <p:cNvPr id="4" name="Text Placeholder 3"/>
          <p:cNvSpPr>
            <a:spLocks noGrp="1"/>
          </p:cNvSpPr>
          <p:nvPr>
            <p:ph idx="2" sz="half" type="body"/>
          </p:nvPr>
        </p:nvSpPr>
        <p:spPr/>
        <p:txBody>
          <a:bodyPr/>
          <a:lstStyle/>
          <a:p>
            <a:pPr lvl="0" indent="0" marL="0">
              <a:buNone/>
            </a:pPr>
            <a:r>
              <a:rPr/>
              <a:t>The simplest form of GLM uses a normal (Gaussian) distribution with an identity link function. This is equivalent to a standard linear regression.</a:t>
            </a:r>
          </a:p>
          <a:p>
            <a:pPr lvl="0" indent="0" marL="0">
              <a:buNone/>
            </a:pPr>
            <a:r>
              <a:rPr/>
              <a:t>Let’s compare a standard linear model and a Gaussian GLM.</a:t>
            </a:r>
          </a:p>
        </p:txBody>
      </p:sp>
      <p:pic>
        <p:nvPicPr>
          <p:cNvPr descr="glm_logistic_regression_activity_files/figure-pptx/unnamed-chunk-30-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Gaussian (Normal) Distribution: Setup</a:t>
            </a:r>
          </a:p>
        </p:txBody>
      </p:sp>
      <p:sp>
        <p:nvSpPr>
          <p:cNvPr id="3" name="Content Placeholder 2"/>
          <p:cNvSpPr>
            <a:spLocks noGrp="1"/>
          </p:cNvSpPr>
          <p:nvPr>
            <p:ph idx="1"/>
          </p:nvPr>
        </p:nvSpPr>
        <p:spPr/>
        <p:txBody>
          <a:bodyPr/>
          <a:lstStyle/>
          <a:p>
            <a:pPr lvl="0" indent="0" marL="0">
              <a:buNone/>
            </a:pPr>
            <a:r>
              <a:rPr/>
              <a:t>We will model the continuous endemics variable as a function of the continuous area variable. This is a simple linear regression. We compare the lm() function with the glm() function using family = gaussian.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linear model summary</a:t>
            </a:r>
          </a:p>
        </p:txBody>
      </p:sp>
      <p:sp>
        <p:nvSpPr>
          <p:cNvPr id="3" name="Content Placeholder 2"/>
          <p:cNvSpPr>
            <a:spLocks noGrp="1"/>
          </p:cNvSpPr>
          <p:nvPr>
            <p:ph idx="1"/>
          </p:nvPr>
        </p:nvSpPr>
        <p:spPr/>
        <p:txBody>
          <a:bodyPr/>
          <a:lstStyle/>
          <a:p>
            <a:pPr lvl="0" indent="0">
              <a:buNone/>
            </a:pPr>
            <a:r>
              <a:rPr>
                <a:latin typeface="Courier"/>
              </a:rPr>
              <a:t>
Call:
lm(formula = endemics ~ area, data = g_df)
Residuals:
    Min      1Q  Median      3Q     Max 
-34.690 -10.366  -2.612   6.528  43.733 
Coefficients:
            Estimate Std. Error t value     Pr(&gt;|t|)    
(Intercept) 14.36338    2.99342   4.798 0.0000523735 ***
area         0.08720    0.01168   7.468 0.0000000493 ***
---
Signif. codes:  0 '***' 0.001 '**' 0.01 '*' 0.05 '.' 0.1 ' ' 1
Residual standard error: 14.57 on 27 degrees of freedom
Multiple R-squared:  0.6738,    Adjusted R-squared:  0.6617 
F-statistic: 55.77 on 1 and 27 DF,  p-value: 0.00000004929</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ANOVA model</a:t>
            </a:r>
          </a:p>
        </p:txBody>
      </p:sp>
      <p:sp>
        <p:nvSpPr>
          <p:cNvPr id="3" name="Content Placeholder 2"/>
          <p:cNvSpPr>
            <a:spLocks noGrp="1"/>
          </p:cNvSpPr>
          <p:nvPr>
            <p:ph idx="1"/>
          </p:nvPr>
        </p:nvSpPr>
        <p:spPr/>
        <p:txBody>
          <a:bodyPr/>
          <a:lstStyle/>
          <a:p>
            <a:pPr lvl="0" indent="0" marL="0">
              <a:buNone/>
            </a:pPr>
            <a:r>
              <a:rPr/>
              <a:t>This table gives the F-statistic for the overall model, which in a simple linear regression, tests the same hypothesis as the t-test for the area slope.</a:t>
            </a:r>
          </a:p>
          <a:p>
            <a:pPr lvl="0" indent="0">
              <a:buNone/>
            </a:pPr>
            <a:r>
              <a:rPr>
                <a:latin typeface="Courier"/>
              </a:rPr>
              <a:t>Anova Table (Type III tests)
Response: endemics
             Sum Sq Df F value        Pr(&gt;F)    
(Intercept)  4887.1  1  23.024 0.00005237345 ***
area        11838.8  1  55.775 0.00000004929 ***
Residuals    5731.0 27                          
---
Signif. codes:  0 '***' 0.001 '**' 0.01 '*' 0.05 '.' 0.1 ' ' 1</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Gaussian GLM model</a:t>
            </a:r>
          </a:p>
        </p:txBody>
      </p:sp>
      <p:sp>
        <p:nvSpPr>
          <p:cNvPr id="3" name="Content Placeholder 2"/>
          <p:cNvSpPr>
            <a:spLocks noGrp="1"/>
          </p:cNvSpPr>
          <p:nvPr>
            <p:ph idx="1"/>
          </p:nvPr>
        </p:nvSpPr>
        <p:spPr/>
        <p:txBody>
          <a:bodyPr/>
          <a:lstStyle/>
          <a:p>
            <a:pPr lvl="0" indent="0" marL="0">
              <a:buNone/>
            </a:pPr>
            <a:r>
              <a:rPr/>
              <a:t>Note the estimates and p-values are identical to the lm() output.</a:t>
            </a:r>
          </a:p>
          <a:p>
            <a:pPr lvl="0" indent="0">
              <a:buNone/>
            </a:pPr>
            <a:r>
              <a:rPr>
                <a:latin typeface="Courier"/>
              </a:rPr>
              <a:t>
Call:
glm(formula = endemics ~ area, family = gaussian(link = "identity"), 
    data = g_df)
Coefficients:
            Estimate Std. Error t value     Pr(&gt;|t|)    
(Intercept) 14.36338    2.99342   4.798 0.0000523735 ***
area         0.08720    0.01168   7.468 0.0000000493 ***
---
Signif. codes:  0 '***' 0.001 '**' 0.01 '*' 0.05 '.' 0.1 ' ' 1
(Dispersion parameter for gaussian family taken to be 212.261)
    Null deviance: 17570  on 28  degrees of freedom
Residual deviance:  5731  on 27  degrees of freedom
AIC: 241.6
Number of Fisher Scoring iterations: 2</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ANOVA</a:t>
            </a:r>
          </a:p>
        </p:txBody>
      </p:sp>
      <p:sp>
        <p:nvSpPr>
          <p:cNvPr id="3" name="Content Placeholder 2"/>
          <p:cNvSpPr>
            <a:spLocks noGrp="1"/>
          </p:cNvSpPr>
          <p:nvPr>
            <p:ph idx="1"/>
          </p:nvPr>
        </p:nvSpPr>
        <p:spPr/>
        <p:txBody>
          <a:bodyPr/>
          <a:lstStyle/>
          <a:p>
            <a:pPr lvl="0" indent="0" marL="0">
              <a:buNone/>
            </a:pPr>
            <a:r>
              <a:rPr/>
              <a:t>Again, this F-test is identical to the one from the lm() model.</a:t>
            </a:r>
          </a:p>
          <a:p>
            <a:pPr lvl="0" indent="0">
              <a:buNone/>
            </a:pPr>
            <a:r>
              <a:rPr>
                <a:latin typeface="Courier"/>
              </a:rPr>
              <a:t>Analysis of Deviance Table (Type III tests)
Response: endemics
Error estimate based on Pearson residuals 
          Sum Sq Df F values        Pr(&gt;F)    
area       11839  1   55.775 0.00000004929 ***
Residuals   5731 27                           
---
Signif. codes:  0 '***' 0.001 '**' 0.01 '*' 0.05 '.' 0.1 ' ' 1</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Assumption Tests of Both Models</a:t>
            </a:r>
          </a:p>
        </p:txBody>
      </p:sp>
      <p:sp>
        <p:nvSpPr>
          <p:cNvPr id="4" name="Text Placeholder 3"/>
          <p:cNvSpPr>
            <a:spLocks noGrp="1"/>
          </p:cNvSpPr>
          <p:nvPr>
            <p:ph idx="2" sz="half" type="body"/>
          </p:nvPr>
        </p:nvSpPr>
        <p:spPr/>
        <p:txBody>
          <a:bodyPr/>
          <a:lstStyle/>
          <a:p>
            <a:pPr lvl="0" indent="0" marL="0">
              <a:buNone/>
            </a:pPr>
            <a:r>
              <a:rPr/>
              <a:t>The diagnostic plots for lm_model and gauss_model will be identical.</a:t>
            </a:r>
          </a:p>
        </p:txBody>
      </p:sp>
      <p:pic>
        <p:nvPicPr>
          <p:cNvPr descr="glm_logistic_regression_activity_files/figure-pptx/unnamed-chunk-35-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35-2.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35-3.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lm_logistic_regression_activity_files/figure-pptx/unnamed-chunk-35-4.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Shapiro-Wilk Test (Normality of Residuals)</a:t>
            </a:r>
          </a:p>
        </p:txBody>
      </p:sp>
      <p:sp>
        <p:nvSpPr>
          <p:cNvPr id="3" name="Content Placeholder 2"/>
          <p:cNvSpPr>
            <a:spLocks noGrp="1"/>
          </p:cNvSpPr>
          <p:nvPr>
            <p:ph idx="1"/>
          </p:nvPr>
        </p:nvSpPr>
        <p:spPr/>
        <p:txBody>
          <a:bodyPr/>
          <a:lstStyle/>
          <a:p>
            <a:pPr lvl="0" indent="0">
              <a:buNone/>
            </a:pPr>
            <a:r>
              <a:rPr>
                <a:latin typeface="Courier"/>
              </a:rPr>
              <a:t>
    Shapiro-Wilk normality test
data:  residuals(lm_reg_model)
W = 0.93735, p-value = 0.08547</a:t>
            </a:r>
          </a:p>
          <a:p>
            <a:pPr lvl="0" indent="0">
              <a:buNone/>
            </a:pPr>
            <a:r>
              <a:rPr>
                <a:latin typeface="Courier"/>
              </a:rPr>
              <a:t>
    Shapiro-Wilk normality test
data:  residuals(gauss_reg_model)
W = 0.93735, p-value = 0.08547</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Regression with Poisson Distribution</a:t>
            </a:r>
          </a:p>
        </p:txBody>
      </p:sp>
      <p:sp>
        <p:nvSpPr>
          <p:cNvPr id="3" name="Content Placeholder 2"/>
          <p:cNvSpPr>
            <a:spLocks noGrp="1"/>
          </p:cNvSpPr>
          <p:nvPr>
            <p:ph idx="1"/>
          </p:nvPr>
        </p:nvSpPr>
        <p:spPr/>
        <p:txBody>
          <a:bodyPr/>
          <a:lstStyle/>
          <a:p>
            <a:pPr lvl="0"/>
            <a:r>
              <a:rPr/>
              <a:t>Poisson GLMs are used when the response variable is count data.</a:t>
            </a:r>
          </a:p>
          <a:p>
            <a:pPr lvl="0"/>
            <a:r>
              <a:rPr/>
              <a:t>We will now model the total number of species (spp) as a function of island area.</a:t>
            </a:r>
          </a:p>
          <a:p>
            <a:pPr lvl="0"/>
            <a:r>
              <a:rPr/>
              <a:t>The Poisson distribution assumes the mean equals the variance.</a:t>
            </a:r>
          </a:p>
          <a:p>
            <a:pPr lvl="0"/>
            <a:r>
              <a:rPr/>
              <a:t>Key consideration: If variance &gt; mean (overdispersion), we should use a negative binomial model instead.</a:t>
            </a:r>
          </a:p>
          <a:p>
            <a:pPr lvl="0"/>
            <a:r>
              <a:rPr/>
              <a:t>Fit Poisson GLM with area as predictor</a:t>
            </a:r>
          </a:p>
          <a:p>
            <a:pPr lvl="0" indent="0">
              <a:buNone/>
            </a:pPr>
            <a:r>
              <a:rPr>
                <a:solidFill>
                  <a:srgbClr val="003B4F"/>
                </a:solidFill>
                <a:latin typeface="Courier"/>
              </a:rPr>
              <a:t>poiss_reg_model &lt;- </a:t>
            </a:r>
            <a:r>
              <a:rPr>
                <a:solidFill>
                  <a:srgbClr val="4758AB"/>
                </a:solidFill>
                <a:latin typeface="Courier"/>
              </a:rPr>
              <a:t>glm</a:t>
            </a:r>
            <a:r>
              <a:rPr>
                <a:solidFill>
                  <a:srgbClr val="003B4F"/>
                </a:solidFill>
                <a:latin typeface="Courier"/>
              </a:rPr>
              <a:t>(spp </a:t>
            </a:r>
            <a:r>
              <a:rPr>
                <a:solidFill>
                  <a:srgbClr val="5E5E5E"/>
                </a:solidFill>
                <a:latin typeface="Courier"/>
              </a:rPr>
              <a:t>~</a:t>
            </a:r>
            <a:r>
              <a:rPr>
                <a:solidFill>
                  <a:srgbClr val="003B4F"/>
                </a:solidFill>
                <a:latin typeface="Courier"/>
              </a:rPr>
              <a:t> area, </a:t>
            </a:r>
            <a:br/>
            <a:r>
              <a:rPr>
                <a:solidFill>
                  <a:srgbClr val="003B4F"/>
                </a:solidFill>
                <a:latin typeface="Courier"/>
              </a:rPr>
              <a:t>                   </a:t>
            </a:r>
            <a:r>
              <a:rPr>
                <a:solidFill>
                  <a:srgbClr val="657422"/>
                </a:solidFill>
                <a:latin typeface="Courier"/>
              </a:rPr>
              <a:t>data =</a:t>
            </a:r>
            <a:r>
              <a:rPr>
                <a:solidFill>
                  <a:srgbClr val="003B4F"/>
                </a:solidFill>
                <a:latin typeface="Courier"/>
              </a:rPr>
              <a:t> g_df,</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(poiss_reg_model)</a:t>
            </a:r>
          </a:p>
          <a:p>
            <a:pPr lvl="0" indent="0">
              <a:buNone/>
            </a:pPr>
            <a:r>
              <a:rPr>
                <a:latin typeface="Courier"/>
              </a:rPr>
              <a:t>
Call:
glm(formula = spp ~ area, family = poisson(link = "log"), data = g_df)
Coefficients:
              Estimate Std. Error z value            Pr(&gt;|z|)    
(Intercept) 3.73721483 0.03022162  123.66 &lt;0.0000000000000002 ***
area        0.00269318 0.00005759   46.76 &lt;0.0000000000000002 ***
---
Signif. codes:  0 '***' 0.001 '**' 0.01 '*' 0.05 '.' 0.1 ' ' 1
(Dispersion parameter for poisson family taken to be 1)
    Null deviance: 3031.2  on 28  degrees of freedom
Residual deviance: 1229.5  on 27  degrees of freedom
AIC: 1386.6
Number of Fisher Scoring iterations: 5</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Poisson Distribution: ANOVA</a:t>
            </a:r>
          </a:p>
        </p:txBody>
      </p:sp>
      <p:sp>
        <p:nvSpPr>
          <p:cNvPr id="3" name="Content Placeholder 2"/>
          <p:cNvSpPr>
            <a:spLocks noGrp="1"/>
          </p:cNvSpPr>
          <p:nvPr>
            <p:ph idx="1"/>
          </p:nvPr>
        </p:nvSpPr>
        <p:spPr/>
        <p:txBody>
          <a:bodyPr/>
          <a:lstStyle/>
          <a:p>
            <a:pPr lvl="0" indent="0" marL="0">
              <a:buNone/>
            </a:pPr>
            <a:r>
              <a:rPr/>
              <a:t>Does island area, as a whole, have a statistically significant effect on the number of plant species? We use a Likelihood Ratio (LR) test.</a:t>
            </a:r>
          </a:p>
          <a:p>
            <a:pPr lvl="0" indent="0">
              <a:buNone/>
            </a:pPr>
            <a:r>
              <a:rPr>
                <a:latin typeface="Courier"/>
              </a:rPr>
              <a:t>Analysis of Deviance Table (Type III tests)
Response: spp
     LR Chisq Df            Pr(&gt;Chisq)    
area   1801.7  1 &lt; 0.00000000000000022 ***
---
Signif. codes:  0 '***' 0.001 '**' 0.01 '*' 0.05 '.' 0.1 ' ' 1</a:t>
            </a:r>
          </a:p>
          <a:p>
            <a:pPr lvl="0" indent="0">
              <a:buNone/>
            </a:pPr>
            <a:r>
              <a:rPr>
                <a:latin typeface="Courier"/>
              </a:rPr>
              <a:t># Overdispersion test
       dispersion ratio =   52.256
  Pearson's Chi-Squared = 1410.899
                p-value =  &lt; 0.001</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DHARMa Residual Diagnostics</a:t>
            </a:r>
          </a:p>
        </p:txBody>
      </p:sp>
      <p:sp>
        <p:nvSpPr>
          <p:cNvPr id="4" name="Text Placeholder 3"/>
          <p:cNvSpPr>
            <a:spLocks noGrp="1"/>
          </p:cNvSpPr>
          <p:nvPr>
            <p:ph idx="2" sz="half" type="body"/>
          </p:nvPr>
        </p:nvSpPr>
        <p:spPr/>
        <p:txBody>
          <a:bodyPr/>
          <a:lstStyle/>
          <a:p>
            <a:pPr lvl="0" indent="0" marL="0">
              <a:buNone/>
            </a:pPr>
            <a:r>
              <a:rPr/>
              <a:t>We can use the DHARMa package to check model assumptions. The Q-Q plot clearly shows the model fits poorly.</a:t>
            </a:r>
          </a:p>
        </p:txBody>
      </p:sp>
      <p:pic>
        <p:nvPicPr>
          <p:cNvPr descr="glm_logistic_regression_activity_files/figure-pptx/unnamed-chunk-41-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DHARMa nonparametric dispersion test via sd of residuals fitted vs.
    simulated
data:  simulationOutput
dispersion = 48.199, p-value &lt; 0.00000000000000022
alternative hypothesis: two.sided</a:t>
            </a:r>
          </a:p>
        </p:txBody>
      </p:sp>
      <p:pic>
        <p:nvPicPr>
          <p:cNvPr descr="glm_logistic_regression_activity_files/figure-pptx/unnamed-chunk-41-2.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Plotting the Poisson Regression</a:t>
            </a:r>
          </a:p>
        </p:txBody>
      </p:sp>
      <p:sp>
        <p:nvSpPr>
          <p:cNvPr id="4" name="Text Placeholder 3"/>
          <p:cNvSpPr>
            <a:spLocks noGrp="1"/>
          </p:cNvSpPr>
          <p:nvPr>
            <p:ph idx="2" sz="half" type="body"/>
          </p:nvPr>
        </p:nvSpPr>
        <p:spPr/>
        <p:txBody>
          <a:bodyPr/>
          <a:lstStyle/>
          <a:p>
            <a:pPr lvl="0" indent="0" marL="0">
              <a:buNone/>
            </a:pPr>
            <a:r>
              <a:rPr/>
              <a:t>Even though the model is a poor fit, we can visualize its prediction.</a:t>
            </a:r>
          </a:p>
        </p:txBody>
      </p:sp>
      <p:pic>
        <p:nvPicPr>
          <p:cNvPr descr="glm_logistic_regression_activity_files/figure-pptx/unnamed-chunk-4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Negative Binomial GLM Regression</a:t>
            </a:r>
          </a:p>
        </p:txBody>
      </p:sp>
      <p:sp>
        <p:nvSpPr>
          <p:cNvPr id="3" name="Content Placeholder 2"/>
          <p:cNvSpPr>
            <a:spLocks noGrp="1"/>
          </p:cNvSpPr>
          <p:nvPr>
            <p:ph idx="1"/>
          </p:nvPr>
        </p:nvSpPr>
        <p:spPr/>
        <p:txBody>
          <a:bodyPr/>
          <a:lstStyle/>
          <a:p>
            <a:pPr lvl="0" indent="0" marL="0">
              <a:buNone/>
            </a:pPr>
            <a:r>
              <a:rPr/>
              <a:t>Used to handle overdispersed count data.</a:t>
            </a:r>
          </a:p>
          <a:p>
            <a:pPr lvl="0" indent="0" marL="0">
              <a:buNone/>
            </a:pPr>
            <a:r>
              <a:rPr/>
              <a:t>The negative binomial model includes a dispersion parameter (theta) to account for the variance being larger than the mean.</a:t>
            </a:r>
          </a:p>
          <a:p>
            <a:pPr lvl="0" indent="0">
              <a:buNone/>
            </a:pPr>
            <a:r>
              <a:rPr>
                <a:latin typeface="Courier"/>
              </a:rPr>
              <a:t>
Call:
glm.nb(formula = spp ~ area, data = g_df, init.theta = 1.098629663, 
    link = log)
Coefficients:
             Estimate Std. Error z value             Pr(&gt;|z|)    
(Intercept) 3.6082304  0.1987610   18.15 &lt; 0.0000000000000002 ***
area        0.0033531  0.0007672    4.37            0.0000124 ***
---
Signif. codes:  0 '***' 0.001 '**' 0.01 '*' 0.05 '.' 0.1 ' ' 1
(Dispersion parameter for Negative Binomial(1.0986) family taken to be 1)
    Null deviance: 55.178  on 28  degrees of freedom
Residual deviance: 32.695  on 27  degrees of freedom
AIC: 295.08
Number of Fisher Scoring iterations: 1
              Theta:  1.099 
          Std. Err.:  0.271 
 2 x log-likelihood:  -289.083 </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NB Assumption Diagnostics (DHARMa)</a:t>
            </a:r>
          </a:p>
        </p:txBody>
      </p:sp>
      <p:sp>
        <p:nvSpPr>
          <p:cNvPr id="4" name="Text Placeholder 3"/>
          <p:cNvSpPr>
            <a:spLocks noGrp="1"/>
          </p:cNvSpPr>
          <p:nvPr>
            <p:ph idx="2" sz="half" type="body"/>
          </p:nvPr>
        </p:nvSpPr>
        <p:spPr/>
        <p:txBody>
          <a:bodyPr/>
          <a:lstStyle/>
          <a:p>
            <a:pPr lvl="0" indent="0" marL="0">
              <a:buNone/>
            </a:pPr>
            <a:r>
              <a:rPr/>
              <a:t>The DHARMa residual plot looks much better. The Q-Q plot is nearly on the line, and the residual vs. predicted plot shows no strong pattern.</a:t>
            </a:r>
          </a:p>
        </p:txBody>
      </p:sp>
      <p:pic>
        <p:nvPicPr>
          <p:cNvPr descr="glm_logistic_regression_activity_files/figure-pptx/unnamed-chunk-44-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Overdispersion Check</a:t>
            </a:r>
          </a:p>
        </p:txBody>
      </p:sp>
      <p:sp>
        <p:nvSpPr>
          <p:cNvPr id="4" name="Text Placeholder 3"/>
          <p:cNvSpPr>
            <a:spLocks noGrp="1"/>
          </p:cNvSpPr>
          <p:nvPr>
            <p:ph idx="2" sz="half" type="body"/>
          </p:nvPr>
        </p:nvSpPr>
        <p:spPr/>
        <p:txBody>
          <a:bodyPr/>
          <a:lstStyle/>
          <a:p>
            <a:pPr lvl="0" indent="0" marL="0">
              <a:buNone/>
            </a:pPr>
            <a:r>
              <a:rPr/>
              <a:t>The check_overdispersion test on the DHARMa residuals shows no remaining overdispersion (p = 0.816). This model successfully handled the issue.</a:t>
            </a:r>
          </a:p>
        </p:txBody>
      </p:sp>
      <p:pic>
        <p:nvPicPr>
          <p:cNvPr descr="glm_logistic_regression_activity_files/figure-pptx/unnamed-chunk-45-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
    DHARMa nonparametric dispersion test via sd of residuals fitted vs.
    simulated
data:  simulationOutput
dispersion = 0.27162, p-value = 0.488
alternative hypothesis: two.sided</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GLM Negative Binomial</a:t>
            </a:r>
          </a:p>
        </p:txBody>
      </p:sp>
      <p:sp>
        <p:nvSpPr>
          <p:cNvPr id="3" name="Content Placeholder 2"/>
          <p:cNvSpPr>
            <a:spLocks noGrp="1"/>
          </p:cNvSpPr>
          <p:nvPr>
            <p:ph idx="1"/>
          </p:nvPr>
        </p:nvSpPr>
        <p:spPr/>
        <p:txBody>
          <a:bodyPr/>
          <a:lstStyle/>
          <a:p>
            <a:pPr lvl="0" indent="0" marL="0">
              <a:buNone/>
            </a:pPr>
            <a:r>
              <a:rPr/>
              <a:t>We again use a Likelihood Ratio (LR) test to get the overall p-value for the area predictor.</a:t>
            </a:r>
          </a:p>
          <a:p>
            <a:pPr lvl="0" indent="0">
              <a:buNone/>
            </a:pPr>
            <a:r>
              <a:rPr>
                <a:latin typeface="Courier"/>
              </a:rPr>
              <a:t>Analysis of Deviance Table (Type III tests)
Response: spp
         LR Chisq Df       Pr(&gt;Chisq)    
size_cat   49.858  2 0.00000000001491 ***
---
Signif. codes:  0 '***' 0.001 '**' 0.01 '*' 0.05 '.' 0.1 ' ' 1</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Plotting the Negative Binomial Regression</a:t>
            </a:r>
          </a:p>
        </p:txBody>
      </p:sp>
      <p:sp>
        <p:nvSpPr>
          <p:cNvPr id="4" name="Text Placeholder 3"/>
          <p:cNvSpPr>
            <a:spLocks noGrp="1"/>
          </p:cNvSpPr>
          <p:nvPr>
            <p:ph idx="2" sz="half" type="body"/>
          </p:nvPr>
        </p:nvSpPr>
        <p:spPr/>
        <p:txBody>
          <a:bodyPr/>
          <a:lstStyle/>
          <a:p>
            <a:pPr lvl="0" indent="0" marL="0">
              <a:buNone/>
            </a:pPr>
            <a:r>
              <a:rPr/>
              <a:t>This plot shows the fitted line from our final, best-fitting model.</a:t>
            </a:r>
          </a:p>
        </p:txBody>
      </p:sp>
      <p:pic>
        <p:nvPicPr>
          <p:cNvPr descr="glm_logistic_regression_activity_files/figure-pptx/unnamed-chunk-47-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Logistic Regression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indent="0" marL="0">
                  <a:buNone/>
                </a:pPr>
                <a:r>
                  <a:rPr/>
                  <a:t>Let’s examine the simple logistic regression model:</a:t>
                </a:r>
              </a:p>
              <a:p>
                <a:pPr lvl="0" indent="0" marL="0">
                  <a:buNone/>
                </a:pPr>
                <a14:m>
                  <m:oMathPara xmlns:m="http://schemas.openxmlformats.org/officeDocument/2006/math">
                    <m:oMathParaPr>
                      <m:jc m:val="center"/>
                    </m:oMathParaPr>
                    <m:o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m:oMathPara>
                </a14:m>
              </a:p>
              <a:p>
                <a:pPr lvl="0"/>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indent="0" marL="0">
                  <a:buNone/>
                </a:pPr>
                <a:r>
                  <a:rPr/>
                  <a:t>To linearize this relationship, we use the logit link function:</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m:oMathPara>
                </a14:m>
              </a:p>
              <a:p>
                <a:pPr lvl="0" indent="0" marL="0">
                  <a:buNone/>
                </a:pPr>
                <a:r>
                  <a:rPr/>
                  <a:t>This transforms the probability (which is bounded between 0 and 1) to a linear function that can range from -∞ to +∞.</a:t>
                </a:r>
              </a:p>
            </p:txBody>
          </p:sp>
        </mc:Choice>
      </mc:AlternateContent>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Example: Lizard Presence on Islands</a:t>
            </a:r>
          </a:p>
        </p:txBody>
      </p:sp>
      <p:sp>
        <p:nvSpPr>
          <p:cNvPr id="4" name="Text Placeholder 3"/>
          <p:cNvSpPr>
            <a:spLocks noGrp="1"/>
          </p:cNvSpPr>
          <p:nvPr>
            <p:ph idx="2" sz="half" type="body"/>
          </p:nvPr>
        </p:nvSpPr>
        <p:spPr/>
        <p:txBody>
          <a:bodyPr/>
          <a:lstStyle/>
          <a:p>
            <a:pPr lvl="0" indent="0" marL="0">
              <a:buNone/>
            </a:pPr>
            <a:r>
              <a:rPr/>
              <a:t>Based on the example from Polis et al. (1998), we’ll model the presence/absence of lizards (</a:t>
            </a:r>
            <a:r>
              <a:rPr i="1"/>
              <a:t>Uta</a:t>
            </a:r>
            <a:r>
              <a:rPr/>
              <a:t>) on islands in the Gulf of California based on perimeter/area ratio.</a:t>
            </a:r>
          </a:p>
        </p:txBody>
      </p:sp>
      <p:pic>
        <p:nvPicPr>
          <p:cNvPr descr="glm_logistic_regression_activity_files/figure-pptx/lizard_plot-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we’ll model the presence/absence of lizards (</a:t>
            </a:r>
            <a:r>
              <a:rPr i="1"/>
              <a:t>Uta</a:t>
            </a:r>
            <a:r>
              <a:rPr/>
              <a:t>) on islands in the Gulf of California based on perimeter/area ratio.</a:t>
            </a:r>
          </a:p>
          <a:p>
            <a:pPr lvl="0" indent="0">
              <a:buNone/>
            </a:pPr>
            <a:r>
              <a:rPr>
                <a:latin typeface="Courier"/>
              </a:rPr>
              <a:t>
Call:
glm(formula = uta_present ~ pa_ratio, family = binomial(link = "logit"), 
    data = island_data)
Coefficients:
            Estimate Std. Error z value Pr(&gt;|z|)   
(Intercept)   5.9374     2.1297   2.788  0.00530 **
pa_ratio     -0.1493     0.0517  -2.887  0.00388 **
---
Signif. codes:  0 '***' 0.001 '**' 0.01 '*' 0.05 '.' 0.1 ' ' 1
(Dispersion parameter for binomial family taken to be 1)
    Null deviance: 41.455  on 29  degrees of freedom
Residual deviance: 19.090  on 28  degrees of freedom
AIC: 23.09
Number of Fisher Scoring iterations: 6</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Lizard Example: Visualization and Testing</a:t>
            </a:r>
          </a:p>
        </p:txBody>
      </p:sp>
      <p:sp>
        <p:nvSpPr>
          <p:cNvPr id="4" name="Text Placeholder 3"/>
          <p:cNvSpPr>
            <a:spLocks noGrp="1"/>
          </p:cNvSpPr>
          <p:nvPr>
            <p:ph idx="2" sz="half" type="body"/>
          </p:nvPr>
        </p:nvSpPr>
        <p:spPr/>
        <p:txBody>
          <a:bodyPr/>
          <a:lstStyle/>
          <a:p>
            <a:pPr lvl="0" indent="0" marL="0">
              <a:buNone/>
            </a:pPr>
            <a:r>
              <a:rPr/>
              <a:t>Let’s visualize the data and the fitted model:</a:t>
            </a:r>
          </a:p>
        </p:txBody>
      </p:sp>
      <p:pic>
        <p:nvPicPr>
          <p:cNvPr descr="glm_logistic_regression_activity_files/figure-pptx/lizard-plot-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We want to test the null hypothesis that β₁ = 0, meaning there’s no relationship between P/A ratio and lizard presence.</a:t>
            </a:r>
          </a:p>
          <a:p>
            <a:pPr lvl="0" indent="0" marL="0">
              <a:buNone/>
            </a:pPr>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latin typeface="Courier"/>
              </a:rPr>
              <a:t>Analysis of Deviance Table
Model 1: uta_present ~ 1
Model 2: uta_present ~ pa_ratio
  Resid. Df Resid. Dev Df Deviance    Pr(&gt;Chi)    
1        29     41.455                            
2        28     19.090  1   22.365 0.000002254 ***
---
Signif. codes:  0 '***' 0.001 '**' 0.01 '*' 0.05 '.' 0.1 ' ' 1</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The odds ratio represents how the odds of the event (e.g., lizard presence) change with a unit increase in the predictor.</a:t>
            </a:r>
          </a:p>
          <a:p>
            <a:pPr lvl="0"/>
            <a:r>
              <a:rPr b="1"/>
              <a:t>Odds ratio = exp(β₁)</a:t>
            </a:r>
          </a:p>
          <a:p>
            <a:pPr lvl="0"/>
            <a:r>
              <a:rPr/>
              <a:t>If odds ratio &gt; 1: Increasing the predictor increases the odds of event</a:t>
            </a:r>
          </a:p>
          <a:p>
            <a:pPr lvl="0"/>
            <a:r>
              <a:rPr/>
              <a:t>If odds ratio &lt; 1: Increasing the predictor decreases the odds of event</a:t>
            </a:r>
          </a:p>
          <a:p>
            <a:pPr lvl="0"/>
            <a:r>
              <a:rPr/>
              <a:t>If odds ratio = 1: No effect of predictor on odds of event</a:t>
            </a:r>
          </a:p>
          <a:p>
            <a:pPr lvl="0"/>
            <a:r>
              <a:rPr/>
              <a:t>For every one-unit increase in island’s Perimeter/area Ratio - odds of finding a lizard present multiplied by 0.898</a:t>
            </a:r>
          </a:p>
          <a:p>
            <a:pPr lvl="0"/>
            <a:r>
              <a:rPr/>
              <a:t>the odds decrease by 10.2% (which is 1 - 0.898) for every one-unit increase in the P/A ratio</a:t>
            </a:r>
          </a:p>
          <a:p>
            <a:pPr lvl="0"/>
            <a:r>
              <a:rPr/>
              <a:t>entire interval is below 1.0, you can be confident the relationship is negative: more P/A ratio means lower odds of lizards</a:t>
            </a:r>
          </a:p>
          <a:p>
            <a:pPr lvl="0" indent="0">
              <a:buNone/>
            </a:pPr>
            <a:r>
              <a:rPr>
                <a:latin typeface="Courier"/>
              </a:rPr>
              <a:t>Odds Ratio: 0.861 
 95% CI: 0.753 to 0.932 </a:t>
            </a:r>
          </a:p>
          <a:p>
            <a:pPr lvl="0" indent="0">
              <a:buNone/>
            </a:pPr>
            <a:r>
              <a:rPr>
                <a:latin typeface="Courier"/>
              </a:rPr>
              <a:t>Parameter   | Odds Ratio |     SE |            95% CI |     z |     p
---------------------------------------------------------------------
(Intercept) |     378.94 | 807.02 | [14.47, 94371.40] |  2.79 | 0.005
pa ratio    |       0.86 |   0.04 | [ 0.75,     0.93] | -2.89 | 0.004</a:t>
            </a:r>
          </a:p>
          <a:p>
            <a:pPr lvl="0" indent="0" marL="0">
              <a:buNone/>
            </a:pPr>
            <a:r>
              <a:rPr/>
              <a:t>This gives you the odds ratio (in the estimate column) and the exponentiated CIs (conf.low, conf.high) for all terms in your model, all in one clean table.</a:t>
            </a:r>
          </a:p>
          <a:p>
            <a:pPr lvl="0" indent="0">
              <a:buNone/>
            </a:pPr>
            <a:r>
              <a:rPr>
                <a:latin typeface="Courier"/>
              </a:rPr>
              <a:t># A tibble: 2 × 7
  term        estimate std.error statistic p.value conf.low conf.high
  &lt;chr&gt;          &lt;dbl&gt;     &lt;dbl&gt;     &lt;dbl&gt;   &lt;dbl&gt;    &lt;dbl&gt;     &lt;dbl&gt;
1 (Intercept)  379.       2.13        2.79 0.00530   14.5   94371.   
2 pa_ratio       0.861    0.0517     -2.89 0.00388    0.753     0.932</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Assessing Model Fit</a:t>
            </a:r>
          </a:p>
        </p:txBody>
      </p:sp>
      <p:sp>
        <p:nvSpPr>
          <p:cNvPr id="4" name="Text Placeholder 3"/>
          <p:cNvSpPr>
            <a:spLocks noGrp="1"/>
          </p:cNvSpPr>
          <p:nvPr>
            <p:ph idx="2" sz="half" type="body"/>
          </p:nvPr>
        </p:nvSpPr>
        <p:spPr/>
        <p:txBody>
          <a:bodyPr/>
          <a:lstStyle/>
          <a:p>
            <a:pPr lvl="0" indent="0" marL="0">
              <a:buNone/>
            </a:pPr>
            <a:r>
              <a:rPr/>
              <a:t>There are several ways to assess the goodness-of-fit for logistic regression models:</a:t>
            </a:r>
          </a:p>
          <a:p>
            <a:pPr lvl="0" indent="0">
              <a:buNone/>
            </a:pPr>
            <a:r>
              <a:rPr>
                <a:latin typeface="Courier"/>
              </a:rPr>
              <a:t># R2 for Logistic Regression
  Tjur's R2: 0.588</a:t>
            </a:r>
          </a:p>
          <a:p>
            <a:pPr lvl="0" indent="0">
              <a:buNone/>
            </a:pPr>
            <a:r>
              <a:rPr>
                <a:latin typeface="Courier"/>
              </a:rPr>
              <a:t>fitting null model for pseudo-r2</a:t>
            </a:r>
          </a:p>
          <a:p>
            <a:pPr lvl="0" indent="0">
              <a:buNone/>
            </a:pPr>
            <a:r>
              <a:rPr>
                <a:latin typeface="Courier"/>
              </a:rPr>
              <a:t>        llh     llhNull          G2    McFadden        r2ML        r2CU 
 -9.5450726 -20.7276993  22.3652534   0.5395016   0.5255070   0.7017187 </a:t>
            </a:r>
          </a:p>
          <a:p>
            <a:pPr lvl="0" indent="0">
              <a:buNone/>
            </a:pPr>
            <a:r>
              <a:rPr>
                <a:latin typeface="Courier"/>
              </a:rPr>
              <a:t>
    Hosmer and Lemeshow goodness of fit (GOF) test
data:  lizard_model$y, fitted(lizard_model)
X-squared = 2.4032, df = 8, p-value = 0.9661</a:t>
            </a:r>
          </a:p>
          <a:p>
            <a:pPr lvl="0" indent="0" marL="0">
              <a:buNone/>
            </a:pPr>
            <a:r>
              <a:rPr/>
              <a:t>Logistic regression has different and generally fewer assumptions to test than standard linear regression.</a:t>
            </a:r>
          </a:p>
          <a:p>
            <a:pPr lvl="0"/>
            <a:r>
              <a:rPr/>
              <a:t>The main “assumptions” for logistic regression are:</a:t>
            </a:r>
          </a:p>
          <a:p>
            <a:pPr lvl="1"/>
            <a:r>
              <a:rPr/>
              <a:t>Binary Outcome: The dependent variable must be binary (0/1) or proportional (e.g., number of successes / number of trials). Your uta_present is 0/1, so this is met.</a:t>
            </a:r>
          </a:p>
          <a:p>
            <a:pPr lvl="1"/>
            <a:r>
              <a:rPr/>
              <a:t>Independence of Observations: Each observation (each island) must be independent. This is a study design assumption.</a:t>
            </a:r>
          </a:p>
          <a:p>
            <a:pPr lvl="1"/>
            <a:r>
              <a:rPr/>
              <a:t>Linearity of the Logit: This is the most important one to test. It assumes a linear relationship between any continuous predictors and the log-odds (logit) of the outcome.</a:t>
            </a:r>
          </a:p>
          <a:p>
            <a:pPr lvl="1"/>
            <a:r>
              <a:rPr/>
              <a:t>No (or little) Multicollinearity: If you have multiple predictors, they shouldn’t be highly correlated with each other.</a:t>
            </a:r>
          </a:p>
          <a:p>
            <a:pPr lvl="0" indent="-342900" marL="342900">
              <a:buAutoNum type="arabicPeriod"/>
            </a:pPr>
            <a:r>
              <a:rPr/>
              <a:t>Linearity of the Logit (The Most Important Check) continuous predictor (pa_ratio) has a linear relationship with the log-odds of the outcome looking for a flat, non-curved line.</a:t>
            </a:r>
          </a:p>
        </p:txBody>
      </p:sp>
      <p:pic>
        <p:nvPicPr>
          <p:cNvPr descr="glm_logistic_regression_activity_files/figure-pptx/unnamed-chunk-51-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DHARMa is excellent for GLMs. It simulates residuals and plots them against predictors. This is a very robust way to check for all kinds of model misfit, including non-linearity. plotResiduals function will show three quantile regression lines. You want all three (the solid red one and two dashed ones) to be flat and near 0.5. If they are sloped or curved, it indicates a pattern that your model missed (i.e., non-linearity).</a:t>
            </a:r>
          </a:p>
        </p:txBody>
      </p:sp>
      <p:pic>
        <p:nvPicPr>
          <p:cNvPr descr="glm_logistic_regression_activity_files/figure-pptx/unnamed-chunk-52-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2" type="arabicPeriod"/>
            </a:pPr>
            <a:r>
              <a:rPr/>
              <a:t>Multicollinearity only with 2 or more predictors</a:t>
            </a:r>
          </a:p>
          <a:p>
            <a:pPr lvl="0" indent="0" marL="0">
              <a:buNone/>
            </a:pPr>
            <a:r>
              <a:rPr/>
              <a:t>if you did have more predictors (e.g., pa_ratio and island_area), you would test it like this:</a:t>
            </a:r>
          </a:p>
          <a:p>
            <a:pPr lvl="0" indent="-342900" marL="342900">
              <a:buAutoNum startAt="3" type="arabicPeriod"/>
            </a:pPr>
            <a:r>
              <a:rPr/>
              <a:t>Overall Model Fit (Goodness-of-Fit) This isn’t an “assumption” so much as a check that the model as a whole is adequate. You already have the two main tests in your file!</a:t>
            </a:r>
          </a:p>
          <a:p>
            <a:pPr lvl="0" indent="0" marL="0">
              <a:buNone/>
            </a:pPr>
            <a:r>
              <a:rPr/>
              <a:t>Hosmer-Lemeshow Test (from your code) Interpretation: For this test, a GOOD model has a non-significant p-value (p &gt; 0.05). This means your model’s predicted probabilities are not significantly different from the observed probabilities in the data, which is what you want.</a:t>
            </a:r>
          </a:p>
          <a:p>
            <a:pPr lvl="0" indent="0">
              <a:buNone/>
            </a:pPr>
            <a:r>
              <a:rPr>
                <a:latin typeface="Courier"/>
              </a:rPr>
              <a:t>
    Hosmer and Lemeshow goodness of fit (GOF) test
data:  lizard_model$y, fitted(lizard_model)
X-squared = 2.4032, df = 8, p-value = 0.9661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Generalized Linear Models</dc:title>
  <dc:creator>Bill Perry</dc:creator>
  <cp:keywords/>
  <dc:description>Hands-on activity: GLMs and logistic regression.</dc:description>
  <dcterms:created xsi:type="dcterms:W3CDTF">2026-08-20T14:40:46Z</dcterms:created>
  <dcterms:modified xsi:type="dcterms:W3CDTF">2026-08-20T14:40:46Z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order">
    <vt:lpwstr>15</vt:lpwstr>
  </property>
  <property fmtid="{D5CDD505-2E9C-101B-9397-08002B2CF9AE}" pid="10" name="resources">
    <vt:lpwstr/>
  </property>
  <property fmtid="{D5CDD505-2E9C-101B-9397-08002B2CF9AE}" pid="11" name="subtitle">
    <vt:lpwstr>Generalized linear models</vt:lpwstr>
  </property>
  <property fmtid="{D5CDD505-2E9C-101B-9397-08002B2CF9AE}" pid="12" name="toc-title">
    <vt:lpwstr>Table of contents</vt:lpwstr>
  </property>
  <property fmtid="{D5CDD505-2E9C-101B-9397-08002B2CF9AE}" pid="13" name="week">
    <vt:lpwstr>9</vt:lpwstr>
  </property>
</Properties>
</file>