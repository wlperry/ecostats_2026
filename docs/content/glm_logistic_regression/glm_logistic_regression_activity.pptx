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Activity: GLM &amp; Logistic Regression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Generalized linear models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Worksheet: GLM &amp; Logistic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sz="2000" b="1"/>
              <a:t>How to use this worksheet</a:t>
            </a:r>
          </a:p>
          <a:p>
            <a:pPr lvl="0" indent="0" marL="1270000">
              <a:buNone/>
            </a:pPr>
            <a:r>
              <a:rPr sz="2000"/>
              <a:t>Work through each part in order, at your own pace. Type every line of code yourself into a </a:t>
            </a:r>
            <a:r>
              <a:rPr sz="2000" b="1"/>
              <a:t>plain R script</a:t>
            </a:r>
            <a:r>
              <a:rPr sz="2000"/>
              <a:t> — do not copy-paste. Blocks marked </a:t>
            </a:r>
            <a:r>
              <a:rPr sz="2000" b="1"/>
              <a:t>▶ Run this</a:t>
            </a:r>
            <a:r>
              <a:rPr sz="2000"/>
              <a:t> are code you should type and execute. Blocks marked </a:t>
            </a:r>
            <a:r>
              <a:rPr sz="2000" b="1"/>
              <a:t>✏️ Your turn</a:t>
            </a:r>
            <a:r>
              <a:rPr sz="2000"/>
              <a:t> ask you to write, modify, or answer something. Boxes marked </a:t>
            </a:r>
            <a:r>
              <a:rPr sz="2000" b="1"/>
              <a:t>🚀 If you finish early</a:t>
            </a:r>
            <a:r>
              <a:rPr sz="2000"/>
              <a:t> are optional bonus material that goes a bit further than what we covered in lecture.</a:t>
            </a:r>
          </a:p>
          <a:p>
            <a:pPr lvl="0" indent="0" marL="1270000">
              <a:buNone/>
            </a:pPr>
            <a:r>
              <a:rPr sz="2000"/>
              <a:t>This worksheet uses the </a:t>
            </a:r>
            <a:r>
              <a:rPr sz="2000">
                <a:latin typeface="Courier"/>
              </a:rPr>
              <a:t>gala</a:t>
            </a:r>
            <a:r>
              <a:rPr sz="2000"/>
              <a:t> island-biogeography dataset (from the </a:t>
            </a:r>
            <a:r>
              <a:rPr sz="2000">
                <a:latin typeface="Courier"/>
              </a:rPr>
              <a:t>faraway</a:t>
            </a:r>
            <a:r>
              <a:rPr sz="2000"/>
              <a:t> package) for Gaussian, Poisson, and negative binomial GLMs, and a simulated lizard presence/absence dataset for logistic regression.</a:t>
            </a:r>
          </a:p>
          <a:p>
            <a:pPr lvl="0" indent="0" marL="0">
              <a:buNone/>
            </a:pPr>
            <a:r>
              <a:rPr/>
              <a:t>Generalized Linear Models (GLMs) extend linear models to handle different types of response variables:</a:t>
            </a:r>
          </a:p>
          <a:p>
            <a:pPr lvl="0"/>
            <a:r>
              <a:rPr b="1"/>
              <a:t>Normal distribution</a:t>
            </a:r>
            <a:r>
              <a:rPr/>
              <a:t>: Continuous data (like regular ANOVA/regression)</a:t>
            </a:r>
          </a:p>
          <a:p>
            <a:pPr lvl="0"/>
            <a:r>
              <a:rPr b="1"/>
              <a:t>Poisson distribution</a:t>
            </a:r>
            <a:r>
              <a:rPr/>
              <a:t>: Count data</a:t>
            </a:r>
          </a:p>
          <a:p>
            <a:pPr lvl="0"/>
            <a:r>
              <a:rPr b="1"/>
              <a:t>Binomial distribution</a:t>
            </a:r>
            <a:r>
              <a:rPr/>
              <a:t>: Binary data (presence/absence, success/failure)</a:t>
            </a:r>
          </a:p>
          <a:p>
            <a:pPr lvl="0"/>
            <a:r>
              <a:rPr b="1"/>
              <a:t>Gamma distribution</a:t>
            </a:r>
            <a:r>
              <a:rPr/>
              <a:t>: Positive continuous data</a:t>
            </a:r>
          </a:p>
          <a:p>
            <a:pPr lvl="0"/>
            <a:r>
              <a:rPr b="1"/>
              <a:t>Negative binomial</a:t>
            </a:r>
            <a:r>
              <a:rPr/>
              <a:t>: Overdispersed count data</a:t>
            </a:r>
          </a:p>
          <a:p>
            <a:pPr lvl="0" indent="0" marL="0">
              <a:buNone/>
            </a:pPr>
            <a:r>
              <a:rPr b="1"/>
              <a:t>The three components of a GLM:</a:t>
            </a:r>
          </a:p>
          <a:p>
            <a:pPr lvl="0" indent="-342900" marL="342900">
              <a:buAutoNum type="arabicPeriod"/>
            </a:pPr>
            <a:r>
              <a:rPr b="1"/>
              <a:t>Random component</a:t>
            </a:r>
            <a:r>
              <a:rPr/>
              <a:t>: The response variable and its probability distribution</a:t>
            </a:r>
          </a:p>
          <a:p>
            <a:pPr lvl="0" indent="-342900" marL="342900">
              <a:buAutoNum type="arabicPeriod"/>
            </a:pPr>
            <a:r>
              <a:rPr b="1"/>
              <a:t>Systematic component</a:t>
            </a:r>
            <a:r>
              <a:rPr/>
              <a:t>: The predictor variables (continuous or categorical)</a:t>
            </a:r>
          </a:p>
          <a:p>
            <a:pPr lvl="0" indent="-342900" marL="342900">
              <a:buAutoNum type="arabicPeriod"/>
            </a:pPr>
            <a:r>
              <a:rPr b="1"/>
              <a:t>Link function</a:t>
            </a:r>
            <a:r>
              <a:rPr/>
              <a:t>: Connects expected value of Y to predictor variables</a:t>
            </a:r>
          </a:p>
          <a:p>
            <a:pPr lvl="0" indent="0" marL="0">
              <a:buNone/>
            </a:pPr>
            <a:r>
              <a:rPr b="1"/>
              <a:t>How to approach a GLM problem:</a:t>
            </a:r>
          </a:p>
          <a:p>
            <a:pPr lvl="0"/>
            <a:r>
              <a:rPr b="1"/>
              <a:t>What is the question?</a:t>
            </a:r>
            <a:r>
              <a:rPr/>
              <a:t> Unclear data mining can lead to lost time.</a:t>
            </a:r>
          </a:p>
          <a:p>
            <a:pPr lvl="0"/>
            <a:r>
              <a:rPr b="1"/>
              <a:t>Data variable type</a:t>
            </a:r>
            <a:r>
              <a:rPr/>
              <a:t>: what does the data look like — types of variable read in.</a:t>
            </a:r>
          </a:p>
          <a:p>
            <a:pPr lvl="0"/>
            <a:r>
              <a:rPr b="1"/>
              <a:t>Data completeness</a:t>
            </a:r>
            <a:r>
              <a:rPr/>
              <a:t>: is there a lot of sparsity?</a:t>
            </a:r>
          </a:p>
          <a:p>
            <a:pPr lvl="0"/>
            <a:r>
              <a:rPr b="1"/>
              <a:t>Data structure</a:t>
            </a:r>
            <a:r>
              <a:rPr/>
              <a:t>: what does the data look like graphically?</a:t>
            </a:r>
          </a:p>
          <a:p>
            <a:pPr lvl="0"/>
            <a:r>
              <a:rPr b="1"/>
              <a:t>Model choice</a:t>
            </a:r>
            <a:r>
              <a:rPr/>
              <a:t>: what is the right model to analyze the data and answer your question?</a:t>
            </a:r>
          </a:p>
          <a:p>
            <a:pPr lvl="0"/>
            <a:r>
              <a:rPr b="1"/>
              <a:t>Model run</a:t>
            </a:r>
            <a:r>
              <a:rPr/>
              <a:t>: run model, look at the summary.</a:t>
            </a:r>
          </a:p>
          <a:p>
            <a:pPr lvl="0"/>
            <a:r>
              <a:rPr b="1"/>
              <a:t>Model assumptions</a:t>
            </a:r>
            <a:r>
              <a:rPr/>
              <a:t>: test early, before you get excited and bend the rules.</a:t>
            </a:r>
          </a:p>
          <a:p>
            <a:pPr lvl="0"/>
            <a:r>
              <a:rPr b="1"/>
              <a:t>Model statistics</a:t>
            </a:r>
            <a:r>
              <a:rPr/>
              <a:t>: run the final stats.</a:t>
            </a:r>
          </a:p>
          <a:p>
            <a:pPr lvl="0"/>
            <a:r>
              <a:rPr b="1"/>
              <a:t>Model follow-up tests</a:t>
            </a:r>
            <a:r>
              <a:rPr/>
              <a:t>: post-F pairwise comparisons or others.</a:t>
            </a:r>
          </a:p>
          <a:p>
            <a:pPr lvl="0"/>
            <a:r>
              <a:rPr b="1"/>
              <a:t>Graphical display of results</a:t>
            </a:r>
            <a:r>
              <a:rPr/>
              <a:t>: highlight the data and statistics.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Setup and the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 in your Script: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(janitor)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(pscl)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(tinytable)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(skimr)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(performance)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(ResourceSelection)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(car)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(emmeans)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(DHARMa)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(MASS)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(broom)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(flextable)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(parameters)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(patchwork)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(faraway)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options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scipen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gala</a:t>
            </a:r>
            <a:r>
              <a:rPr/>
              <a:t> dataframe from the </a:t>
            </a:r>
            <a:r>
              <a:rPr>
                <a:latin typeface="Courier"/>
              </a:rPr>
              <a:t>faraway</a:t>
            </a:r>
            <a:r>
              <a:rPr/>
              <a:t> package contains data on 30 Galapagos islands, testing MacArthur-Wilson’s theory of island biogeography.</a:t>
            </a:r>
          </a:p>
          <a:p>
            <a:pPr lvl="0" indent="0" marL="0">
              <a:buNone/>
            </a:pPr>
            <a:r>
              <a:rPr b="1"/>
              <a:t>Variables in the dataframe:</a:t>
            </a:r>
          </a:p>
          <a:p>
            <a:pPr lvl="0"/>
            <a:r>
              <a:rPr>
                <a:latin typeface="Courier"/>
              </a:rPr>
              <a:t>spp</a:t>
            </a:r>
            <a:r>
              <a:rPr/>
              <a:t> — Number of plant species (count data)</a:t>
            </a:r>
          </a:p>
          <a:p>
            <a:pPr lvl="0"/>
            <a:r>
              <a:rPr>
                <a:latin typeface="Courier"/>
              </a:rPr>
              <a:t>endemics</a:t>
            </a:r>
            <a:r>
              <a:rPr/>
              <a:t> — Number of endemic species (count data)</a:t>
            </a:r>
          </a:p>
          <a:p>
            <a:pPr lvl="0"/>
            <a:r>
              <a:rPr>
                <a:latin typeface="Courier"/>
              </a:rPr>
              <a:t>area</a:t>
            </a:r>
            <a:r>
              <a:rPr/>
              <a:t> — Island area (km²)</a:t>
            </a:r>
          </a:p>
          <a:p>
            <a:pPr lvl="0"/>
            <a:r>
              <a:rPr>
                <a:latin typeface="Courier"/>
              </a:rPr>
              <a:t>elevation</a:t>
            </a:r>
            <a:r>
              <a:rPr/>
              <a:t> — Maximum elevation (m)</a:t>
            </a:r>
          </a:p>
          <a:p>
            <a:pPr lvl="0"/>
            <a:r>
              <a:rPr>
                <a:latin typeface="Courier"/>
              </a:rPr>
              <a:t>Nearest</a:t>
            </a:r>
            <a:r>
              <a:rPr/>
              <a:t> — Distance to nearest island (km)</a:t>
            </a:r>
          </a:p>
          <a:p>
            <a:pPr lvl="0"/>
            <a:r>
              <a:rPr>
                <a:latin typeface="Courier"/>
              </a:rPr>
              <a:t>scruz</a:t>
            </a:r>
            <a:r>
              <a:rPr/>
              <a:t> — Distance to Santa Cruz island (km)</a:t>
            </a:r>
          </a:p>
          <a:p>
            <a:pPr lvl="0"/>
            <a:r>
              <a:rPr>
                <a:latin typeface="Courier"/>
              </a:rPr>
              <a:t>adjacent</a:t>
            </a:r>
            <a:r>
              <a:rPr/>
              <a:t> — Area of adjacent island (km²)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clean the data and create a size category variable: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g_df &lt;- gala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clean_names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rename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spp =</a:t>
            </a:r>
            <a:r>
              <a:rPr>
                <a:solidFill>
                  <a:srgbClr val="003B4F"/>
                </a:solidFill>
                <a:latin typeface="Courier"/>
              </a:rPr>
              <a:t> species)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size_cat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case_when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area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"small"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area </a:t>
            </a:r>
            <a:r>
              <a:rPr>
                <a:solidFill>
                  <a:srgbClr val="5E5E5E"/>
                </a:solidFill>
                <a:latin typeface="Courier"/>
              </a:rPr>
              <a:t>&gt;=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&amp;</a:t>
            </a:r>
            <a:r>
              <a:rPr>
                <a:solidFill>
                  <a:srgbClr val="003B4F"/>
                </a:solidFill>
                <a:latin typeface="Courier"/>
              </a:rPr>
              <a:t> area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"medium"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area </a:t>
            </a:r>
            <a:r>
              <a:rPr>
                <a:solidFill>
                  <a:srgbClr val="5E5E5E"/>
                </a:solidFill>
                <a:latin typeface="Courier"/>
              </a:rPr>
              <a:t>&gt;=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"large"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size_cat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factor</a:t>
            </a:r>
            <a:r>
              <a:rPr>
                <a:solidFill>
                  <a:srgbClr val="003B4F"/>
                </a:solidFill>
                <a:latin typeface="Courier"/>
              </a:rPr>
              <a:t>(size_cat, </a:t>
            </a:r>
            <a:r>
              <a:rPr>
                <a:solidFill>
                  <a:srgbClr val="657422"/>
                </a:solidFill>
                <a:latin typeface="Courier"/>
              </a:rPr>
              <a:t>levels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"small"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"medium"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"large"</a:t>
            </a:r>
            <a:r>
              <a:rPr>
                <a:solidFill>
                  <a:srgbClr val="003B4F"/>
                </a:solidFill>
                <a:latin typeface="Courier"/>
              </a:rPr>
              <a:t>)))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g_df &lt;- 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(area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3000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dplyr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scruz,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adjacent),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check for data completeness: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skim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visualize the data graphically: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(g_df,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spp))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"darkblue"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"Distribution of Species Richness"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"Galapagos Islands"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"Number of Plant Species"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"Number of Islands"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(g_df,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size_cat,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spp,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size_cat))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"darkblue"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"Distribution of Species Richness"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"Galapagos Islands"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"Island Size Category"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"Number of Plant Species"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Looking at the boxplot, does species richness look roughly normally distributed within each size category, or right-skewed? </a:t>
            </a:r>
            <a:r>
              <a:rPr>
                <a:latin typeface="Courier"/>
              </a:rPr>
              <a:t>________________________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Gaussian GLM = Linear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simplest form of GLM uses a normal (Gaussian) distribution with an identity link function — this is equivalent to a standard linear model. Let’s compare a standard linear model and a Gaussian GLM using the Galapagos dataset, modeling endemic species richness by island size category.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fit the linear model the old way: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lm_model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(endemics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size_cat,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g_df)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(lm_model)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(lm_model,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fit the equivalent Gaussian GLM: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gauss_model &lt;- </a:t>
            </a:r>
            <a:r>
              <a:rPr>
                <a:solidFill>
                  <a:srgbClr val="4758AB"/>
                </a:solidFill>
                <a:latin typeface="Courier"/>
              </a:rPr>
              <a:t>glm</a:t>
            </a:r>
            <a:r>
              <a:rPr>
                <a:solidFill>
                  <a:srgbClr val="003B4F"/>
                </a:solidFill>
                <a:latin typeface="Courier"/>
              </a:rPr>
              <a:t>(endemics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size_cat,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g_df,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</a:t>
            </a:r>
            <a:r>
              <a:rPr>
                <a:solidFill>
                  <a:srgbClr val="657422"/>
                </a:solidFill>
                <a:latin typeface="Courier"/>
              </a:rPr>
              <a:t>family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gaussian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link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"identity"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(gauss_model)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(gauss_model,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"III"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test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Compare the p-values from the </a:t>
            </a:r>
            <a:r>
              <a:rPr>
                <a:latin typeface="Courier"/>
              </a:rPr>
              <a:t>Anova()</a:t>
            </a:r>
            <a:r>
              <a:rPr/>
              <a:t> calls on </a:t>
            </a:r>
            <a:r>
              <a:rPr>
                <a:latin typeface="Courier"/>
              </a:rPr>
              <a:t>lm_model</a:t>
            </a:r>
            <a:r>
              <a:rPr/>
              <a:t> and </a:t>
            </a:r>
            <a:r>
              <a:rPr>
                <a:latin typeface="Courier"/>
              </a:rPr>
              <a:t>gauss_model</a:t>
            </a:r>
            <a:r>
              <a:rPr/>
              <a:t>. Are they identical? Why should they be?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check assumptions of both models: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Linear model diagnostics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(lm_model)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GLM diagnostics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(gauss_model)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Shapiro-Wilk test for both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residuals</a:t>
            </a:r>
            <a:r>
              <a:rPr>
                <a:solidFill>
                  <a:srgbClr val="003B4F"/>
                </a:solidFill>
                <a:latin typeface="Courier"/>
              </a:rPr>
              <a:t>(lm_model))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residuals</a:t>
            </a:r>
            <a:r>
              <a:rPr>
                <a:solidFill>
                  <a:srgbClr val="003B4F"/>
                </a:solidFill>
                <a:latin typeface="Courier"/>
              </a:rPr>
              <a:t>(gauss_model))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Levene's test - this is why a Poisson model fits better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leveneTest</a:t>
            </a:r>
            <a:r>
              <a:rPr>
                <a:solidFill>
                  <a:srgbClr val="003B4F"/>
                </a:solidFill>
                <a:latin typeface="Courier"/>
              </a:rPr>
              <a:t>(endemics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size_cat,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g_df)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DHARMa simulation-based diagnostics: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sim_gauss_res &lt;- </a:t>
            </a:r>
            <a:r>
              <a:rPr>
                <a:solidFill>
                  <a:srgbClr val="4758AB"/>
                </a:solidFill>
                <a:latin typeface="Courier"/>
              </a:rPr>
              <a:t>simulateResiduals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fittedModel =</a:t>
            </a:r>
            <a:r>
              <a:rPr>
                <a:solidFill>
                  <a:srgbClr val="003B4F"/>
                </a:solidFill>
                <a:latin typeface="Courier"/>
              </a:rPr>
              <a:t> gauss_model,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testDispersion</a:t>
            </a:r>
            <a:r>
              <a:rPr>
                <a:solidFill>
                  <a:srgbClr val="003B4F"/>
                </a:solidFill>
                <a:latin typeface="Courier"/>
              </a:rPr>
              <a:t>(sim_gauss_res)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(sim_gauss_res)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estimated marginal means and post-hoc comparisons for both models: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lm_emmeans &lt;- </a:t>
            </a:r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(lm_model,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size_cat)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lm_emmeans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gauss_emmeans &lt;- </a:t>
            </a:r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(gauss_model,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size_cat)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gauss_emmeans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lm_pairs &lt;- </a:t>
            </a:r>
            <a:r>
              <a:rPr>
                <a:solidFill>
                  <a:srgbClr val="4758AB"/>
                </a:solidFill>
                <a:latin typeface="Courier"/>
              </a:rPr>
              <a:t>pairs</a:t>
            </a:r>
            <a:r>
              <a:rPr>
                <a:solidFill>
                  <a:srgbClr val="003B4F"/>
                </a:solidFill>
                <a:latin typeface="Courier"/>
              </a:rPr>
              <a:t>(lm_emmeans, </a:t>
            </a:r>
            <a:r>
              <a:rPr>
                <a:solidFill>
                  <a:srgbClr val="657422"/>
                </a:solidFill>
                <a:latin typeface="Courier"/>
              </a:rPr>
              <a:t>adjust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"sidak"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lm_pairs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gauss_pairs &lt;- </a:t>
            </a:r>
            <a:r>
              <a:rPr>
                <a:solidFill>
                  <a:srgbClr val="4758AB"/>
                </a:solidFill>
                <a:latin typeface="Courier"/>
              </a:rPr>
              <a:t>pairs</a:t>
            </a:r>
            <a:r>
              <a:rPr>
                <a:solidFill>
                  <a:srgbClr val="003B4F"/>
                </a:solidFill>
                <a:latin typeface="Courier"/>
              </a:rPr>
              <a:t>(gauss_emmeans, </a:t>
            </a:r>
            <a:r>
              <a:rPr>
                <a:solidFill>
                  <a:srgbClr val="657422"/>
                </a:solidFill>
                <a:latin typeface="Courier"/>
              </a:rPr>
              <a:t>adjust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"sidak"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gauss_pairs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(gauss_emmeans, </a:t>
            </a:r>
            <a:r>
              <a:rPr>
                <a:solidFill>
                  <a:srgbClr val="657422"/>
                </a:solidFill>
                <a:latin typeface="Courier"/>
              </a:rPr>
              <a:t>comparisons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Do the emmeans and pairwise p-values from </a:t>
            </a:r>
            <a:r>
              <a:rPr>
                <a:latin typeface="Courier"/>
              </a:rPr>
              <a:t>lm_model</a:t>
            </a:r>
            <a:r>
              <a:rPr/>
              <a:t> and </a:t>
            </a:r>
            <a:r>
              <a:rPr>
                <a:latin typeface="Courier"/>
              </a:rPr>
              <a:t>gauss_model</a:t>
            </a:r>
            <a:r>
              <a:rPr/>
              <a:t> match? </a:t>
            </a:r>
            <a:r>
              <a:rPr>
                <a:latin typeface="Courier"/>
              </a:rPr>
              <a:t>________________________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Poisson GLM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Poisson GLMs</a:t>
            </a:r>
            <a:r>
              <a:rPr/>
              <a:t> are used when the response variable is </a:t>
            </a:r>
            <a:r>
              <a:rPr b="1"/>
              <a:t>count data</a:t>
            </a:r>
            <a:r>
              <a:rPr/>
              <a:t> — number of species on an island, number of parasites in a host, number of bird nests in a plot, number of seeds produced by a plant. The Poisson distribution assumes:</a:t>
            </a:r>
          </a:p>
          <a:p>
            <a:pPr lvl="0"/>
            <a:r>
              <a:rPr/>
              <a:t>Counts are non-negative integers (0, 1, 2, 3, …)</a:t>
            </a:r>
          </a:p>
          <a:p>
            <a:pPr lvl="0"/>
            <a:r>
              <a:rPr/>
              <a:t>The mean equals the variance</a:t>
            </a:r>
          </a:p>
          <a:p>
            <a:pPr lvl="0"/>
            <a:r>
              <a:rPr/>
              <a:t>Events occur independently</a:t>
            </a:r>
          </a:p>
          <a:p>
            <a:pPr lvl="0" indent="0" marL="0">
              <a:buNone/>
            </a:pPr>
            <a:r>
              <a:rPr b="1"/>
              <a:t>Key consideration:</a:t>
            </a:r>
            <a:r>
              <a:rPr/>
              <a:t> If variance &gt; mean (overdispersion), consider negative binomial regression instead.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fit a Poisson GLM with size category as predictor: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poiss_model &lt;- </a:t>
            </a:r>
            <a:r>
              <a:rPr>
                <a:solidFill>
                  <a:srgbClr val="4758AB"/>
                </a:solidFill>
                <a:latin typeface="Courier"/>
              </a:rPr>
              <a:t>glm</a:t>
            </a:r>
            <a:r>
              <a:rPr>
                <a:solidFill>
                  <a:srgbClr val="003B4F"/>
                </a:solidFill>
                <a:latin typeface="Courier"/>
              </a:rPr>
              <a:t>(spp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size_cat,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g_df,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</a:t>
            </a:r>
            <a:r>
              <a:rPr>
                <a:solidFill>
                  <a:srgbClr val="657422"/>
                </a:solidFill>
                <a:latin typeface="Courier"/>
              </a:rPr>
              <a:t>family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poisson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link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"log"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(poiss_model)</a:t>
            </a:r>
          </a:p>
          <a:p>
            <a:pPr lvl="0" indent="0" marL="0">
              <a:buNone/>
            </a:pPr>
            <a:r>
              <a:rPr/>
              <a:t>Does island size category, as a whole, have a statistically significant effect on the number of plant species? Normal ANOVA (Gaussian) uses an F-test; a Poisson GLM can’t use an F-test the same way, so we use a </a:t>
            </a:r>
            <a:r>
              <a:rPr b="1"/>
              <a:t>Likelihood Ratio (LR) test</a:t>
            </a:r>
            <a:r>
              <a:rPr/>
              <a:t> instead, comparing the fit of the full model to a simpler null model.</a:t>
            </a:r>
          </a:p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(poiss_model,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"III"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test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check for overdispersion (should be close to 1 for a well-fitting Poisson model; &gt; 1.5 may indicate overdispersion):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performance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check_overdispersion</a:t>
            </a:r>
            <a:r>
              <a:rPr>
                <a:solidFill>
                  <a:srgbClr val="003B4F"/>
                </a:solidFill>
                <a:latin typeface="Courier"/>
              </a:rPr>
              <a:t>(poiss_model)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DHARMa diagnostics: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sim_res &lt;- </a:t>
            </a:r>
            <a:r>
              <a:rPr>
                <a:solidFill>
                  <a:srgbClr val="4758AB"/>
                </a:solidFill>
                <a:latin typeface="Courier"/>
              </a:rPr>
              <a:t>simulateResiduals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fittedModel =</a:t>
            </a:r>
            <a:r>
              <a:rPr>
                <a:solidFill>
                  <a:srgbClr val="003B4F"/>
                </a:solidFill>
                <a:latin typeface="Courier"/>
              </a:rPr>
              <a:t> poiss_model,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testDispersion</a:t>
            </a:r>
            <a:r>
              <a:rPr>
                <a:solidFill>
                  <a:srgbClr val="003B4F"/>
                </a:solidFill>
                <a:latin typeface="Courier"/>
              </a:rPr>
              <a:t>(sim_res)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(sim_res)</a:t>
            </a:r>
          </a:p>
          <a:p>
            <a:pPr lvl="0" indent="0" marL="1270000">
              <a:buNone/>
            </a:pPr>
            <a:r>
              <a:rPr sz="2000"/>
              <a:t>💡 </a:t>
            </a:r>
            <a:r>
              <a:rPr sz="2000" b="1"/>
              <a:t>Why doesn’t the Shapiro test work here?</a:t>
            </a:r>
            <a:r>
              <a:rPr sz="2000"/>
              <a:t> Well, it shouldn’t — but it “runs” anyway. The Shapiro-Wilk test checks normality of raw residuals, which is not a Poisson GLM assumption. Run it and see what happens: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residuals</a:t>
            </a:r>
            <a:r>
              <a:rPr>
                <a:solidFill>
                  <a:srgbClr val="003B4F"/>
                </a:solidFill>
                <a:latin typeface="Courier"/>
              </a:rPr>
              <a:t>(poiss_model))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estimated marginal means, pairwise comparisons, and a plot: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pois_emm &lt;- </a:t>
            </a:r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(poiss_model,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specs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size_cat,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(pois_emm)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pois_pairs &lt;- </a:t>
            </a:r>
            <a:r>
              <a:rPr>
                <a:solidFill>
                  <a:srgbClr val="4758AB"/>
                </a:solidFill>
                <a:latin typeface="Courier"/>
              </a:rPr>
              <a:t>pairs</a:t>
            </a:r>
            <a:r>
              <a:rPr>
                <a:solidFill>
                  <a:srgbClr val="003B4F"/>
                </a:solidFill>
                <a:latin typeface="Courier"/>
              </a:rPr>
              <a:t>(pois_emm, </a:t>
            </a:r>
            <a:r>
              <a:rPr>
                <a:solidFill>
                  <a:srgbClr val="657422"/>
                </a:solidFill>
                <a:latin typeface="Courier"/>
              </a:rPr>
              <a:t>adjust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"tukey"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(pois_pairs)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pois_cld &lt;- multcomp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cld</a:t>
            </a:r>
            <a:r>
              <a:rPr>
                <a:solidFill>
                  <a:srgbClr val="003B4F"/>
                </a:solidFill>
                <a:latin typeface="Courier"/>
              </a:rPr>
              <a:t>(pois_emm,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Letters =</a:t>
            </a:r>
            <a:r>
              <a:rPr>
                <a:solidFill>
                  <a:srgbClr val="003B4F"/>
                </a:solidFill>
                <a:latin typeface="Courier"/>
              </a:rPr>
              <a:t> letters,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(pois_cld)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emm_poiss_df &lt;- </a:t>
            </a:r>
            <a:r>
              <a:rPr>
                <a:solidFill>
                  <a:srgbClr val="4758AB"/>
                </a:solidFill>
                <a:latin typeface="Courier"/>
              </a:rPr>
              <a:t>as.data.frame</a:t>
            </a:r>
            <a:r>
              <a:rPr>
                <a:solidFill>
                  <a:srgbClr val="003B4F"/>
                </a:solidFill>
                <a:latin typeface="Courier"/>
              </a:rPr>
              <a:t>(pois_emm)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g_df,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size_cat,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spp),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emm_poiss_df,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size_cat,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rate),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geom_errorbar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emm_poiss_df,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size_cat,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</a:t>
            </a:r>
            <a:r>
              <a:rPr>
                <a:solidFill>
                  <a:srgbClr val="657422"/>
                </a:solidFill>
                <a:latin typeface="Courier"/>
              </a:rPr>
              <a:t>ymin =</a:t>
            </a:r>
            <a:r>
              <a:rPr>
                <a:solidFill>
                  <a:srgbClr val="003B4F"/>
                </a:solidFill>
                <a:latin typeface="Courier"/>
              </a:rPr>
              <a:t> asymp.LCL,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</a:t>
            </a:r>
            <a:r>
              <a:rPr>
                <a:solidFill>
                  <a:srgbClr val="657422"/>
                </a:solidFill>
                <a:latin typeface="Courier"/>
              </a:rPr>
              <a:t>ymax =</a:t>
            </a:r>
            <a:r>
              <a:rPr>
                <a:solidFill>
                  <a:srgbClr val="003B4F"/>
                </a:solidFill>
                <a:latin typeface="Courier"/>
              </a:rPr>
              <a:t> asymp.UCL),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 Richness by Island Size Category"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"Poisson GLM predictions (on the response scale)"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"Island Size Category"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"Number of Plant Species"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Negative Binomial GLM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count data shows more variability than a Poisson distribution expects (variance &gt; mean), use a </a:t>
            </a:r>
            <a:r>
              <a:rPr b="1"/>
              <a:t>negative binomial</a:t>
            </a:r>
            <a:r>
              <a:rPr/>
              <a:t> model. It includes a dispersion parameter (theta) that allows the variance to be larger than the mean — standard errors get bigger because the NB model accounts for the extra variability.</a:t>
            </a:r>
          </a:p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nb_model &lt;- </a:t>
            </a:r>
            <a:r>
              <a:rPr>
                <a:solidFill>
                  <a:srgbClr val="4758AB"/>
                </a:solidFill>
                <a:latin typeface="Courier"/>
              </a:rPr>
              <a:t>glm.nb</a:t>
            </a:r>
            <a:r>
              <a:rPr>
                <a:solidFill>
                  <a:srgbClr val="003B4F"/>
                </a:solidFill>
                <a:latin typeface="Courier"/>
              </a:rPr>
              <a:t>(spp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size_cat,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g_df)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(nb_model)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assumptions and overdispersion check: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nb_sim_res &lt;- </a:t>
            </a:r>
            <a:r>
              <a:rPr>
                <a:solidFill>
                  <a:srgbClr val="4758AB"/>
                </a:solidFill>
                <a:latin typeface="Courier"/>
              </a:rPr>
              <a:t>simulateResiduals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fittedModel =</a:t>
            </a:r>
            <a:r>
              <a:rPr>
                <a:solidFill>
                  <a:srgbClr val="003B4F"/>
                </a:solidFill>
                <a:latin typeface="Courier"/>
              </a:rPr>
              <a:t> nb_model)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(nb_sim_res)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Note: the Shapiro test still doesn't apply here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residuals</a:t>
            </a:r>
            <a:r>
              <a:rPr>
                <a:solidFill>
                  <a:srgbClr val="003B4F"/>
                </a:solidFill>
                <a:latin typeface="Courier"/>
              </a:rPr>
              <a:t>(nb_model))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This tests if there is *still* significant overdispersion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check_overdispersion</a:t>
            </a:r>
            <a:r>
              <a:rPr>
                <a:solidFill>
                  <a:srgbClr val="003B4F"/>
                </a:solidFill>
                <a:latin typeface="Courier"/>
              </a:rPr>
              <a:t>(nb_model)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ANOVA, estimated marginal means, and pairwise comparisons: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nb_anova &lt;- </a:t>
            </a:r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(nb_model,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"III"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test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(nb_anova)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nb_emmeans &lt;- </a:t>
            </a:r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(nb_model, </a:t>
            </a:r>
            <a:r>
              <a:rPr>
                <a:solidFill>
                  <a:srgbClr val="657422"/>
                </a:solidFill>
                <a:latin typeface="Courier"/>
              </a:rPr>
              <a:t>spec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size_cat,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(nb_emmeans)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nb_pairs &lt;- </a:t>
            </a:r>
            <a:r>
              <a:rPr>
                <a:solidFill>
                  <a:srgbClr val="4758AB"/>
                </a:solidFill>
                <a:latin typeface="Courier"/>
              </a:rPr>
              <a:t>pairs</a:t>
            </a:r>
            <a:r>
              <a:rPr>
                <a:solidFill>
                  <a:srgbClr val="003B4F"/>
                </a:solidFill>
                <a:latin typeface="Courier"/>
              </a:rPr>
              <a:t>(nb_emmeans)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(nb_pairs)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nb_cld &lt;- multcomp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cld</a:t>
            </a:r>
            <a:r>
              <a:rPr>
                <a:solidFill>
                  <a:srgbClr val="003B4F"/>
                </a:solidFill>
                <a:latin typeface="Courier"/>
              </a:rPr>
              <a:t>(nb_emmeans, </a:t>
            </a:r>
            <a:r>
              <a:rPr>
                <a:solidFill>
                  <a:srgbClr val="657422"/>
                </a:solidFill>
                <a:latin typeface="Courier"/>
              </a:rPr>
              <a:t>Letters =</a:t>
            </a:r>
            <a:r>
              <a:rPr>
                <a:solidFill>
                  <a:srgbClr val="003B4F"/>
                </a:solidFill>
                <a:latin typeface="Courier"/>
              </a:rPr>
              <a:t> letters)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(nb_cld)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Compare the overdispersion check result from the Poisson model (Part 3) to the negative binomial model here. Did switching to NB fix the overdispersion problem? </a:t>
            </a:r>
            <a:r>
              <a:rPr>
                <a:latin typeface="Courier"/>
              </a:rPr>
              <a:t>________________________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🚀 If you finish early:</a:t>
            </a:r>
            <a:r>
              <a:rPr sz="2000"/>
              <a:t> Compare AIC values for </a:t>
            </a:r>
            <a:r>
              <a:rPr sz="2000">
                <a:latin typeface="Courier"/>
              </a:rPr>
              <a:t>poiss_model</a:t>
            </a:r>
            <a:r>
              <a:rPr sz="2000"/>
              <a:t> and </a:t>
            </a:r>
            <a:r>
              <a:rPr sz="2000">
                <a:latin typeface="Courier"/>
              </a:rPr>
              <a:t>nb_model</a:t>
            </a:r>
            <a:r>
              <a:rPr sz="2000"/>
              <a:t> using </a:t>
            </a:r>
            <a:r>
              <a:rPr sz="2000">
                <a:latin typeface="Courier"/>
              </a:rPr>
              <a:t>AIC(poiss_model, nb_model)</a:t>
            </a:r>
            <a:r>
              <a:rPr sz="2000"/>
              <a:t>. Which model is preferred?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here: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Gaussian, Poisson &amp; Negative-Binomial Regression (Continuous Predictor)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 far we’ve used a categorical predictor (</a:t>
            </a:r>
            <a:r>
              <a:rPr>
                <a:latin typeface="Courier"/>
              </a:rPr>
              <a:t>size_cat</a:t>
            </a:r>
            <a:r>
              <a:rPr/>
              <a:t>). Now let’s redo the same three GLM families using a </a:t>
            </a:r>
            <a:r>
              <a:rPr b="1"/>
              <a:t>continuous</a:t>
            </a:r>
            <a:r>
              <a:rPr/>
              <a:t> predictor: island </a:t>
            </a:r>
            <a:r>
              <a:rPr>
                <a:latin typeface="Courier"/>
              </a:rPr>
              <a:t>area</a:t>
            </a:r>
            <a:r>
              <a:rPr/>
              <a:t>.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explore the relationships graphically: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p1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(g_df,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endemics))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"darkblue"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"Distribution of Endemic Species"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"Number of Endemic Species"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"Number of Islands"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p2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(g_df,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spp))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"darkgreen"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"Distribution of All Species"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"Number of Plant Species"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"Number of Islands"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p3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(g_df,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area,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endemics))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"Endemic Species vs. Island Area"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"Area (km²)"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"Number of Endemic Species"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p4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(g_df,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area,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spp))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"All Species vs. Island Area"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"Area (km²)"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"Number of Plant Species"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(p1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p2)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(p3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p4)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Gaussian regression</a:t>
            </a:r>
          </a:p>
          <a:p>
            <a:pPr lvl="0" indent="0" marL="0">
              <a:buNone/>
            </a:pPr>
            <a:r>
              <a:rPr/>
              <a:t>We model the continuous </a:t>
            </a:r>
            <a:r>
              <a:rPr>
                <a:latin typeface="Courier"/>
              </a:rPr>
              <a:t>endemics</a:t>
            </a:r>
            <a:r>
              <a:rPr/>
              <a:t> variable as a function of the continuous </a:t>
            </a:r>
            <a:r>
              <a:rPr>
                <a:latin typeface="Courier"/>
              </a:rPr>
              <a:t>area</a:t>
            </a:r>
            <a:r>
              <a:rPr/>
              <a:t> variable — a simple linear regression. We compare </a:t>
            </a:r>
            <a:r>
              <a:rPr>
                <a:latin typeface="Courier"/>
              </a:rPr>
              <a:t>lm()</a:t>
            </a:r>
            <a:r>
              <a:rPr/>
              <a:t> with </a:t>
            </a:r>
            <a:r>
              <a:rPr>
                <a:latin typeface="Courier"/>
              </a:rPr>
              <a:t>glm(family = gaussian)</a:t>
            </a:r>
            <a:r>
              <a:rPr/>
              <a:t>.</a:t>
            </a:r>
          </a:p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lm_reg_model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(endemics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area,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g_df)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(lm_reg_model)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This F-test tests the same hypothesis as the t-test for the area slope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(lm_reg_model,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The Gaussian GLM - note the estimates and p-values are identical to lm()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gauss_reg_model &lt;- </a:t>
            </a:r>
            <a:r>
              <a:rPr>
                <a:solidFill>
                  <a:srgbClr val="4758AB"/>
                </a:solidFill>
                <a:latin typeface="Courier"/>
              </a:rPr>
              <a:t>glm</a:t>
            </a:r>
            <a:r>
              <a:rPr>
                <a:solidFill>
                  <a:srgbClr val="003B4F"/>
                </a:solidFill>
                <a:latin typeface="Courier"/>
              </a:rPr>
              <a:t>(endemics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area,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g_df,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family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gaussian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link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"identity"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(gauss_reg_model)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Again, identical to the lm() F-test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(gauss_reg_model,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"III"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test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The diagnostic plots for lm_reg_model and gauss_reg_model will be identical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(lm_reg_model)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residuals</a:t>
            </a:r>
            <a:r>
              <a:rPr>
                <a:solidFill>
                  <a:srgbClr val="003B4F"/>
                </a:solidFill>
                <a:latin typeface="Courier"/>
              </a:rPr>
              <a:t>(lm_reg_model))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residuals</a:t>
            </a:r>
            <a:r>
              <a:rPr>
                <a:solidFill>
                  <a:srgbClr val="003B4F"/>
                </a:solidFill>
                <a:latin typeface="Courier"/>
              </a:rPr>
              <a:t>(gauss_reg_model))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Poisson regression</a:t>
            </a:r>
          </a:p>
          <a:p>
            <a:pPr lvl="0" indent="0" marL="0">
              <a:buNone/>
            </a:pPr>
            <a:r>
              <a:rPr/>
              <a:t>We now model the total number of species (</a:t>
            </a:r>
            <a:r>
              <a:rPr>
                <a:latin typeface="Courier"/>
              </a:rPr>
              <a:t>spp</a:t>
            </a:r>
            <a:r>
              <a:rPr/>
              <a:t>) as a function of island </a:t>
            </a:r>
            <a:r>
              <a:rPr>
                <a:latin typeface="Courier"/>
              </a:rPr>
              <a:t>area</a:t>
            </a:r>
            <a:r>
              <a:rPr/>
              <a:t>. If variance &gt; mean (overdispersion), we should use a negative binomial model instead.</a:t>
            </a:r>
          </a:p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poiss_reg_model &lt;- </a:t>
            </a:r>
            <a:r>
              <a:rPr>
                <a:solidFill>
                  <a:srgbClr val="4758AB"/>
                </a:solidFill>
                <a:latin typeface="Courier"/>
              </a:rPr>
              <a:t>glm</a:t>
            </a:r>
            <a:r>
              <a:rPr>
                <a:solidFill>
                  <a:srgbClr val="003B4F"/>
                </a:solidFill>
                <a:latin typeface="Courier"/>
              </a:rPr>
              <a:t>(spp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area,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g_df,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family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poisson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link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"log"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(poiss_reg_model)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(poiss_reg_model,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"III"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test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performance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check_overdispersion</a:t>
            </a:r>
            <a:r>
              <a:rPr>
                <a:solidFill>
                  <a:srgbClr val="003B4F"/>
                </a:solidFill>
                <a:latin typeface="Courier"/>
              </a:rPr>
              <a:t>(poiss_reg_model)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DHARMa - the Q-Q plot clearly shows the model fits poorly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sim_pois_res &lt;- </a:t>
            </a:r>
            <a:r>
              <a:rPr>
                <a:solidFill>
                  <a:srgbClr val="4758AB"/>
                </a:solidFill>
                <a:latin typeface="Courier"/>
              </a:rPr>
              <a:t>simulateResiduals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fittedModel =</a:t>
            </a:r>
            <a:r>
              <a:rPr>
                <a:solidFill>
                  <a:srgbClr val="003B4F"/>
                </a:solidFill>
                <a:latin typeface="Courier"/>
              </a:rPr>
              <a:t> poiss_reg_model,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testDispersion</a:t>
            </a:r>
            <a:r>
              <a:rPr>
                <a:solidFill>
                  <a:srgbClr val="003B4F"/>
                </a:solidFill>
                <a:latin typeface="Courier"/>
              </a:rPr>
              <a:t>(sim_pois_res)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(sim_pois_res)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Even though the model is a poor fit, we can visualize its prediction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(g_df,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area,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spp))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"glm"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</a:t>
            </a:r>
            <a:r>
              <a:rPr>
                <a:solidFill>
                  <a:srgbClr val="657422"/>
                </a:solidFill>
                <a:latin typeface="Courier"/>
              </a:rPr>
              <a:t>method.args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family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"poisson"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 Richness by Island Area"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"Poisson GLM regression line"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"Island Area (km²)"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"Number of Plant Species"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Negative binomial regression</a:t>
            </a:r>
          </a:p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nb_reg_model &lt;- </a:t>
            </a:r>
            <a:r>
              <a:rPr>
                <a:solidFill>
                  <a:srgbClr val="4758AB"/>
                </a:solidFill>
                <a:latin typeface="Courier"/>
              </a:rPr>
              <a:t>glm.nb</a:t>
            </a:r>
            <a:r>
              <a:rPr>
                <a:solidFill>
                  <a:srgbClr val="003B4F"/>
                </a:solidFill>
                <a:latin typeface="Courier"/>
              </a:rPr>
              <a:t>(spp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area,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g_df)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(nb_reg_model)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The DHARMa residual plot looks much better - Q-Q nearly on the line,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no strong pattern in residuals vs predicted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nb_sim_reg_res &lt;- </a:t>
            </a:r>
            <a:r>
              <a:rPr>
                <a:solidFill>
                  <a:srgbClr val="4758AB"/>
                </a:solidFill>
                <a:latin typeface="Courier"/>
              </a:rPr>
              <a:t>simulateResiduals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fittedModel =</a:t>
            </a:r>
            <a:r>
              <a:rPr>
                <a:solidFill>
                  <a:srgbClr val="003B4F"/>
                </a:solidFill>
                <a:latin typeface="Courier"/>
              </a:rPr>
              <a:t> nb_reg_model)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(nb_sim_reg_res)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No remaining overdispersion - this model successfully handled the issue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testDispersion</a:t>
            </a:r>
            <a:r>
              <a:rPr>
                <a:solidFill>
                  <a:srgbClr val="003B4F"/>
                </a:solidFill>
                <a:latin typeface="Courier"/>
              </a:rPr>
              <a:t>(nb_sim_reg_res)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Likelihood Ratio test for the area predictor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nb_reg_anova &lt;- </a:t>
            </a:r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(nb_reg_model,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"III"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test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(nb_reg_anova)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(g_df,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area,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spp))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"glm.nb"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"purple"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 Richness by Island Area"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"Negative Binomial GLM regression line"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"Island Area (km²)"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"Number of Plant Species"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Compare the three model fits (Gaussian, Poisson, Negative Binomial) for </a:t>
            </a:r>
            <a:r>
              <a:rPr>
                <a:latin typeface="Courier"/>
              </a:rPr>
              <a:t>spp ~ area</a:t>
            </a:r>
            <a:r>
              <a:rPr/>
              <a:t>. Based on the DHARMa diagnostics and overdispersion checks, which model would you report? </a:t>
            </a:r>
            <a:r>
              <a:rPr>
                <a:latin typeface="Courier"/>
              </a:rPr>
              <a:t>________________________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Logistic Regression — Lizard Presence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Logistic regression is a GLM used when the response variable is binary (e.g., dead/alive, present/absent). It models the probability of the response being “1” (success) given predictor values: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π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x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sSup>
                            <m:e>
                              <m:r>
                                <m:t>e</m:t>
                              </m:r>
                            </m:e>
                            <m:sup>
                              <m:sSub>
                                <m:e>
                                  <m:r>
                                    <m:t>β</m:t>
                                  </m:r>
                                </m:e>
                                <m:sub>
                                  <m:r>
                                    <m:t>0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sSub>
                                <m:e>
                                  <m:r>
                                    <m:t>β</m:t>
                                  </m:r>
                                </m:e>
                                <m:sub>
                                  <m:r>
                                    <m:t>1</m:t>
                                  </m:r>
                                </m:sub>
                              </m:sSub>
                              <m:r>
                                <m:t>x</m:t>
                              </m:r>
                            </m:sup>
                          </m:sSup>
                        </m:num>
                        <m:den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sSup>
                            <m:e>
                              <m:r>
                                <m:t>e</m:t>
                              </m:r>
                            </m:e>
                            <m:sup>
                              <m:sSub>
                                <m:e>
                                  <m:r>
                                    <m:t>β</m:t>
                                  </m:r>
                                </m:e>
                                <m:sub>
                                  <m:r>
                                    <m:t>0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sSub>
                                <m:e>
                                  <m:r>
                                    <m:t>β</m:t>
                                  </m:r>
                                </m:e>
                                <m:sub>
                                  <m:r>
                                    <m:t>1</m:t>
                                  </m:r>
                                </m:sub>
                              </m:sSub>
                              <m:r>
                                <m:t>x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r>
                      <m:t>π</m:t>
                    </m:r>
                    <m:r>
                      <m:rPr>
                        <m:sty m:val="p"/>
                      </m:rPr>
                      <m:t>(</m:t>
                    </m:r>
                    <m:r>
                      <m:t>x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 is the probability that Y = 1 given X = x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0</m:t>
                        </m:r>
                      </m:sub>
                    </m:sSub>
                  </m:oMath>
                </a14:m>
                <a:r>
                  <a:rPr/>
                  <a:t> is the intercept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1</m:t>
                        </m:r>
                      </m:sub>
                    </m:sSub>
                  </m:oMath>
                </a14:m>
                <a:r>
                  <a:rPr/>
                  <a:t> is the slope (rate of change in </a:t>
                </a:r>
                <a14:m>
                  <m:oMath xmlns:m="http://schemas.openxmlformats.org/officeDocument/2006/math">
                    <m:r>
                      <m:t>π</m:t>
                    </m:r>
                    <m:r>
                      <m:rPr>
                        <m:sty m:val="p"/>
                      </m:rPr>
                      <m:t>(</m:t>
                    </m:r>
                    <m:r>
                      <m:t>x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 for a unit change in X)</a:t>
                </a:r>
              </a:p>
              <a:p>
                <a:pPr lvl="0" indent="0" marL="0">
                  <a:buNone/>
                </a:pPr>
                <a:r>
                  <a:rPr/>
                  <a:t>To linearize this relationship, we use the </a:t>
                </a:r>
                <a:r>
                  <a:rPr b="1"/>
                  <a:t>logit link function</a:t>
                </a:r>
                <a:r>
                  <a:rPr/>
                  <a:t>, which transforms probability (bounded between 0 and 1) to a linear function ranging from -∞ to +∞: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g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x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log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π</m:t>
                              </m:r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)</m:t>
                              </m:r>
                            </m:num>
                            <m:den>
                              <m:r>
                                <m:t>1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π</m:t>
                              </m:r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)</m:t>
                              </m:r>
                            </m:den>
                          </m:f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r>
                        <m:t>x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Based on the example from Polis et al. (1998), we’ll model the presence/absence of lizards (</a:t>
                </a:r>
                <a:r>
                  <a:rPr i="1"/>
                  <a:t>Uta</a:t>
                </a:r>
                <a:r>
                  <a:rPr/>
                  <a:t>) on islands in the Gulf of California based on perimeter/area ratio.</a:t>
                </a:r>
              </a:p>
              <a:p>
                <a:pPr lvl="0" indent="0" marL="0">
                  <a:buNone/>
                </a:pPr>
                <a:r>
                  <a:rPr b="1"/>
                  <a:t>▶ Run this</a:t>
                </a:r>
                <a:r>
                  <a:rPr/>
                  <a:t> — build the dataset and look at it graphically: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4758AB"/>
                    </a:solidFill>
                    <a:latin typeface="Courier"/>
                  </a:rPr>
                  <a:t>set.seed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123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island_data &lt;-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data.frame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island_id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: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30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pa_ratio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seq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5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70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length.out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30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uta_present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c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rep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10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         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rbinom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10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prob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0.5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), 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# Mixed outcomes in middle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         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rep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0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10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)))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%&gt;%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mutate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uta_present_factor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factor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(uta_present,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levels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c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0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labels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c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"Absent"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"Present"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)))</a:t>
                </a:r>
                <a:br/>
                <a:br/>
                <a:r>
                  <a:rPr>
                    <a:solidFill>
                      <a:srgbClr val="4758AB"/>
                    </a:solidFill>
                    <a:latin typeface="Courier"/>
                  </a:rPr>
                  <a:t>ggplot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()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+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geom_point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data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island_data,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    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aes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x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pa_ratio,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y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uta_present),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    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position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position_dodge2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width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.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),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alpha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0.7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+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labs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title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"Probability of Uta Presence vs. Perimeter/Area Ratio"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x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"Perimeter/Area Ratio"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y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"Probability of Presence"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+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scale_y_continuous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limits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c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0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))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+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theme_minimal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()</a:t>
                </a:r>
              </a:p>
              <a:p>
                <a:pPr lvl="0" indent="0" marL="0">
                  <a:buNone/>
                </a:pPr>
                <a:r>
                  <a:rPr b="1"/>
                  <a:t>▶ Run this</a:t>
                </a:r>
                <a:r>
                  <a:rPr/>
                  <a:t> — fit the logistic regression model: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003B4F"/>
                    </a:solidFill>
                    <a:latin typeface="Courier"/>
                  </a:rPr>
                  <a:t>lizard_model &lt;-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glm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(uta_present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~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pa_ratio,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            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data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island_data,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            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family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binomial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link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"logit"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))</a:t>
                </a:r>
                <a:br/>
                <a:br/>
                <a:r>
                  <a:rPr>
                    <a:solidFill>
                      <a:srgbClr val="4758AB"/>
                    </a:solidFill>
                    <a:latin typeface="Courier"/>
                  </a:rPr>
                  <a:t>summary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(lizard_model)</a:t>
                </a:r>
              </a:p>
              <a:p>
                <a:pPr lvl="0" indent="0" marL="0">
                  <a:buNone/>
                </a:pPr>
                <a:r>
                  <a:rPr b="1"/>
                  <a:t>▶ Run this</a:t>
                </a:r>
                <a:r>
                  <a:rPr/>
                  <a:t> — visualize the fitted probability curve: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003B4F"/>
                    </a:solidFill>
                    <a:latin typeface="Courier"/>
                  </a:rPr>
                  <a:t>pred_data &lt;-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data.frame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pa_ratio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seq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min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(island_data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$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pa_ratio),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        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max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(island_data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$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pa_ratio),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        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length.out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100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)</a:t>
                </a:r>
                <a:br/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pred_data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$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prob &lt;-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predict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(lizard_model,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                  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newdata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pred_data,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                  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type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"response"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</a:t>
                </a:r>
                <a:br/>
                <a:br/>
                <a:r>
                  <a:rPr>
                    <a:solidFill>
                      <a:srgbClr val="4758AB"/>
                    </a:solidFill>
                    <a:latin typeface="Courier"/>
                  </a:rPr>
                  <a:t>ggplot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()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+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geom_point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data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island_data,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    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aes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x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pa_ratio,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y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uta_present),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    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position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position_dodge2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width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.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),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alpha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0.7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+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geom_line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data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pred_data,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   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aes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x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pa_ratio,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y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prob),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   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color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"blue"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size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+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labs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title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"Probability of Uta Presence vs. Perimeter/Area Ratio"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x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"Perimeter/Area Ratio"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y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"Probability of Presence"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+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scale_y_continuous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limits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c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0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))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+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theme_minimal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()</a:t>
                </a:r>
              </a:p>
              <a:p>
                <a:pPr lvl="0" indent="0" marL="0">
                  <a:buNone/>
                </a:pPr>
                <a:r>
                  <a:rPr/>
                  <a:t>We want to test the null hypothesis that β₁ = 0 — no relationship between P/A ratio and lizard presence. Two common ways to test this: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Wald test</a:t>
                </a:r>
                <a:r>
                  <a:rPr/>
                  <a:t>: Tests if the parameter estimate divided by its standard error differs significantly from zero.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Likelihood ratio test</a:t>
                </a:r>
                <a:r>
                  <a:rPr/>
                  <a:t>: Compares the fit of the full model to a reduced model without the predictor.</a:t>
                </a:r>
              </a:p>
              <a:p>
                <a:pPr lvl="0" indent="0" marL="0">
                  <a:buNone/>
                </a:pPr>
                <a:r>
                  <a:rPr b="1"/>
                  <a:t>▶ Run this: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003B4F"/>
                    </a:solidFill>
                    <a:latin typeface="Courier"/>
                  </a:rPr>
                  <a:t>reduced_model &lt;-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glm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(uta_present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~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             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data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island_data,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             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family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binomial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link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"logit"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))</a:t>
                </a:r>
                <a:br/>
                <a:r>
                  <a:rPr>
                    <a:solidFill>
                      <a:srgbClr val="4758AB"/>
                    </a:solidFill>
                    <a:latin typeface="Courier"/>
                  </a:rPr>
                  <a:t>anova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(reduced_model, lizard_model,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test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"Chisq"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Interpreting the odds ratio</a:t>
                </a:r>
              </a:p>
              <a:p>
                <a:pPr lvl="0" indent="0" marL="0">
                  <a:buNone/>
                </a:pPr>
                <a:r>
                  <a:rPr/>
                  <a:t>The odds ratio represents how the odds of the event (e.g., lizard presence) change with a unit increase in the predictor.</a:t>
                </a:r>
              </a:p>
              <a:p>
                <a:pPr lvl="0"/>
                <a:r>
                  <a:rPr b="1"/>
                  <a:t>Odds ratio = exp(β₁)</a:t>
                </a:r>
              </a:p>
              <a:p>
                <a:pPr lvl="0"/>
                <a:r>
                  <a:rPr/>
                  <a:t>If odds ratio &gt; 1: increasing the predictor increases the odds of the event</a:t>
                </a:r>
              </a:p>
              <a:p>
                <a:pPr lvl="0"/>
                <a:r>
                  <a:rPr/>
                  <a:t>If odds ratio &lt; 1: increasing the predictor decreases the odds of the event</a:t>
                </a:r>
              </a:p>
              <a:p>
                <a:pPr lvl="0"/>
                <a:r>
                  <a:rPr/>
                  <a:t>If odds ratio = 1: no effect of the predictor on the odds of the event</a:t>
                </a:r>
              </a:p>
              <a:p>
                <a:pPr lvl="0" indent="0" marL="0">
                  <a:buNone/>
                </a:pPr>
                <a:r>
                  <a:rPr b="1"/>
                  <a:t>▶ Run this</a:t>
                </a:r>
                <a:r>
                  <a:rPr/>
                  <a:t> — three different ways to get the odds ratio and its confidence interval: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003B4F"/>
                    </a:solidFill>
                    <a:latin typeface="Courier"/>
                  </a:rPr>
                  <a:t>coef_lizard &lt;-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coef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(lizard_model)[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2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]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odds_ratio &lt;-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exp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(coef_lizard)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ci &lt;-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exp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confint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(lizard_model,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"pa_ratio"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))</a:t>
                </a:r>
                <a:br/>
                <a:br/>
                <a:r>
                  <a:rPr>
                    <a:solidFill>
                      <a:srgbClr val="4758AB"/>
                    </a:solidFill>
                    <a:latin typeface="Courier"/>
                  </a:rPr>
                  <a:t>cat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"Odds Ratio:"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round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(odds_ratio,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3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),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\n\n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</a:t>
                </a:r>
                <a:br/>
                <a:r>
                  <a:rPr>
                    <a:solidFill>
                      <a:srgbClr val="20794D"/>
                    </a:solidFill>
                    <a:latin typeface="Courier"/>
                  </a:rPr>
                  <a:t>"95% CI:"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round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(ci[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],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3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),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"to"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round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(ci[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2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],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3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),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\n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</a:t>
                </a:r>
                <a:br/>
                <a:br/>
                <a:r>
                  <a:rPr>
                    <a:solidFill>
                      <a:srgbClr val="5E5E5E"/>
                    </a:solidFill>
                    <a:latin typeface="Courier"/>
                  </a:rPr>
                  <a:t># This function is specifically for model parameters</a:t>
                </a:r>
                <a:br/>
                <a:r>
                  <a:rPr>
                    <a:solidFill>
                      <a:srgbClr val="4758AB"/>
                    </a:solidFill>
                    <a:latin typeface="Courier"/>
                  </a:rPr>
                  <a:t>model_parameters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(lizard_model,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exponentiate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8F5902"/>
                    </a:solidFill>
                    <a:latin typeface="Courier"/>
                  </a:rPr>
                  <a:t>TRUE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</a:t>
                </a:r>
                <a:br/>
                <a:br/>
                <a:r>
                  <a:rPr>
                    <a:solidFill>
                      <a:srgbClr val="5E5E5E"/>
                    </a:solidFill>
                    <a:latin typeface="Courier"/>
                  </a:rPr>
                  <a:t># This one function does everything</a:t>
                </a:r>
                <a:br/>
                <a:r>
                  <a:rPr>
                    <a:solidFill>
                      <a:srgbClr val="4758AB"/>
                    </a:solidFill>
                    <a:latin typeface="Courier"/>
                  </a:rPr>
                  <a:t>tidy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(lizard_model,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exponentiate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8F5902"/>
                    </a:solidFill>
                    <a:latin typeface="Courier"/>
                  </a:rPr>
                  <a:t>TRUE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conf.int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8F5902"/>
                    </a:solidFill>
                    <a:latin typeface="Courier"/>
                  </a:rPr>
                  <a:t>TRUE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</a:t>
                </a:r>
              </a:p>
              <a:p>
                <a:pPr lvl="0" indent="0" marL="0">
                  <a:buNone/>
                </a:pPr>
                <a:r>
                  <a:rPr/>
                  <a:t>✏️ </a:t>
                </a:r>
                <a:r>
                  <a:rPr b="1"/>
                  <a:t>Your turn:</a:t>
                </a:r>
                <a:r>
                  <a:rPr/>
                  <a:t> Based on the odds ratio, for every one-unit increase in island Perimeter/Area ratio, how are the odds of finding a lizard present changing? </a:t>
                </a:r>
                <a:r>
                  <a:rPr>
                    <a:latin typeface="Courier"/>
                  </a:rPr>
                  <a:t>________________________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Assessing model fit</a:t>
                </a:r>
              </a:p>
              <a:p>
                <a:pPr lvl="0" indent="0" marL="0">
                  <a:buNone/>
                </a:pPr>
                <a:r>
                  <a:rPr b="1"/>
                  <a:t>▶ Run this</a:t>
                </a:r>
                <a:r>
                  <a:rPr/>
                  <a:t> — several ways to assess goodness-of-fit for a logistic regression model: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5E5E5E"/>
                    </a:solidFill>
                    <a:latin typeface="Courier"/>
                  </a:rPr>
                  <a:t># McFadden's and other popular R² values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performance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::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r2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(lizard_model)</a:t>
                </a:r>
                <a:br/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pscl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::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pR2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(lizard_model)</a:t>
                </a:r>
                <a:br/>
                <a:br/>
                <a:r>
                  <a:rPr>
                    <a:solidFill>
                      <a:srgbClr val="5E5E5E"/>
                    </a:solidFill>
                    <a:latin typeface="Courier"/>
                  </a:rPr>
                  <a:t># 'g' is the number of groups to test (e.g., 10 for deciles)</a:t>
                </a:r>
                <a:br/>
                <a:r>
                  <a:rPr>
                    <a:solidFill>
                      <a:srgbClr val="4758AB"/>
                    </a:solidFill>
                    <a:latin typeface="Courier"/>
                  </a:rPr>
                  <a:t>hoslem.test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(lizard_model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$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y,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fitted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(lizard_model),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g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10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</a:t>
                </a:r>
              </a:p>
              <a:p>
                <a:pPr lvl="0" indent="0" marL="0">
                  <a:buNone/>
                </a:pPr>
                <a:r>
                  <a:rPr/>
                  <a:t>Logistic regression has different — and generally fewer — assumptions to test than standard linear regression:</a:t>
                </a:r>
              </a:p>
              <a:p>
                <a:pPr lvl="0"/>
                <a:r>
                  <a:rPr b="1"/>
                  <a:t>Binary outcome</a:t>
                </a:r>
                <a:r>
                  <a:rPr/>
                  <a:t>: the dependent variable must be binary (0/1) or proportional. Our </a:t>
                </a:r>
                <a:r>
                  <a:rPr>
                    <a:latin typeface="Courier"/>
                  </a:rPr>
                  <a:t>uta_present</a:t>
                </a:r>
                <a:r>
                  <a:rPr/>
                  <a:t> is 0/1, so this is met.</a:t>
                </a:r>
              </a:p>
              <a:p>
                <a:pPr lvl="0"/>
                <a:r>
                  <a:rPr b="1"/>
                  <a:t>Independence of observations</a:t>
                </a:r>
                <a:r>
                  <a:rPr/>
                  <a:t>: each island must be independent — a study-design assumption.</a:t>
                </a:r>
              </a:p>
              <a:p>
                <a:pPr lvl="0"/>
                <a:r>
                  <a:rPr b="1"/>
                  <a:t>Linearity of the logit</a:t>
                </a:r>
                <a:r>
                  <a:rPr/>
                  <a:t>: the most important one to test. Continuous predictors should have a roughly linear relationship with the log-odds of the outcome.</a:t>
                </a:r>
              </a:p>
              <a:p>
                <a:pPr lvl="0"/>
                <a:r>
                  <a:rPr b="1"/>
                  <a:t>No (or little) multicollinearity</a:t>
                </a:r>
                <a:r>
                  <a:rPr/>
                  <a:t>: if you have multiple predictors, they shouldn’t be highly correlated with each other.</a:t>
                </a:r>
              </a:p>
              <a:p>
                <a:pPr lvl="0" indent="0" marL="0">
                  <a:buNone/>
                </a:pPr>
                <a:r>
                  <a:rPr b="1"/>
                  <a:t>▶ Run this</a:t>
                </a:r>
                <a:r>
                  <a:rPr/>
                  <a:t> — check linearity of the logit (looking for a flat, non-curved line):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4758AB"/>
                    </a:solidFill>
                    <a:latin typeface="Courier"/>
                  </a:rPr>
                  <a:t>check_model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(lizard_model,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residual_type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"normal"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</a:t>
                </a:r>
              </a:p>
              <a:p>
                <a:pPr lvl="0" indent="0" marL="0">
                  <a:buNone/>
                </a:pPr>
                <a:r>
                  <a:rPr/>
                  <a:t>DHARMa is excellent for GLMs — it simulates residuals and plots them against predictors, a robust way to check for model misfit including non-linearity. </a:t>
                </a:r>
                <a:r>
                  <a:rPr>
                    <a:latin typeface="Courier"/>
                  </a:rPr>
                  <a:t>plotResiduals()</a:t>
                </a:r>
                <a:r>
                  <a:rPr/>
                  <a:t> shows three quantile regression lines; you want all three (solid red, two dashed) to be flat and near 0.5. Sloped or curved lines indicate a pattern the model missed.</a:t>
                </a:r>
              </a:p>
              <a:p>
                <a:pPr lvl="0" indent="0" marL="0">
                  <a:buNone/>
                </a:pPr>
                <a:r>
                  <a:rPr b="1"/>
                  <a:t>▶ Run this: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003B4F"/>
                    </a:solidFill>
                    <a:latin typeface="Courier"/>
                  </a:rPr>
                  <a:t>sim_res &lt;-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simulateResiduals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fittedModel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lizard_model)</a:t>
                </a:r>
                <a:br/>
                <a:br/>
                <a:r>
                  <a:rPr>
                    <a:solidFill>
                      <a:srgbClr val="4758AB"/>
                    </a:solidFill>
                    <a:latin typeface="Courier"/>
                  </a:rPr>
                  <a:t>plotResiduals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(sim_res, lizard_model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$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model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$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pa_ratio,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     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xlab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"Perimeter/Area Ratio"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     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main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"DHARMa Residuals vs. Predictor"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</a:t>
                </a:r>
              </a:p>
              <a:p>
                <a:pPr lvl="0" indent="0" marL="0">
                  <a:buNone/>
                </a:pPr>
                <a:r>
                  <a:rPr/>
                  <a:t>Multicollinearity is only relevant with two or more predictors — if you did have more predictors (e.g., </a:t>
                </a:r>
                <a:r>
                  <a:rPr>
                    <a:latin typeface="Courier"/>
                  </a:rPr>
                  <a:t>pa_ratio</a:t>
                </a:r>
                <a:r>
                  <a:rPr/>
                  <a:t> and </a:t>
                </a:r>
                <a:r>
                  <a:rPr>
                    <a:latin typeface="Courier"/>
                  </a:rPr>
                  <a:t>island_area</a:t>
                </a:r>
                <a:r>
                  <a:rPr/>
                  <a:t>), you would check Variance Inflation Factors (VIFs) with </a:t>
                </a:r>
                <a:r>
                  <a:rPr>
                    <a:latin typeface="Courier"/>
                  </a:rPr>
                  <a:t>car::vif()</a:t>
                </a:r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/>
                  <a:t>Overall model fit isn’t an “assumption” so much as a check that the model as a whole is adequate. The Hosmer-Lemeshow test is one such check: for a </a:t>
                </a:r>
                <a:r>
                  <a:rPr b="1"/>
                  <a:t>good</a:t>
                </a:r>
                <a:r>
                  <a:rPr/>
                  <a:t> model, you want a </a:t>
                </a:r>
                <a:r>
                  <a:rPr b="1"/>
                  <a:t>non-significant</a:t>
                </a:r>
                <a:r>
                  <a:rPr/>
                  <a:t> p-value (p &gt; 0.05) — this means the model’s predicted probabilities are not significantly different from the observed probabilities.</a:t>
                </a:r>
              </a:p>
              <a:p>
                <a:pPr lvl="0" indent="0" marL="1270000">
                  <a:buNone/>
                </a:pPr>
                <a:r>
                  <a:rPr sz="2000" b="1"/>
                  <a:t>Tip</a:t>
                </a:r>
              </a:p>
              <a:p>
                <a:pPr lvl="0" indent="0" marL="1270000">
                  <a:buNone/>
                </a:pPr>
                <a:r>
                  <a:rPr sz="2000" b="1"/>
                  <a:t>🚀 If you finish early:</a:t>
                </a:r>
                <a:r>
                  <a:rPr sz="2000"/>
                  <a:t> Refit </a:t>
                </a:r>
                <a:r>
                  <a:rPr sz="2000">
                    <a:latin typeface="Courier"/>
                  </a:rPr>
                  <a:t>lizard_model</a:t>
                </a:r>
                <a:r>
                  <a:rPr sz="2000"/>
                  <a:t> with a quadratic term (</a:t>
                </a:r>
                <a:r>
                  <a:rPr sz="2000">
                    <a:latin typeface="Courier"/>
                  </a:rPr>
                  <a:t>pa_ratio + I(pa_ratio^2)</a:t>
                </a:r>
                <a:r>
                  <a:rPr sz="2000"/>
                  <a:t>) and compare AIC to the original model. Does adding curvature improve the fit?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5E5E5E"/>
                    </a:solidFill>
                    <a:latin typeface="Courier"/>
                  </a:rPr>
                  <a:t># Write your code here:</a:t>
                </a:r>
              </a:p>
            </p:txBody>
          </p:sp>
        </mc:Choice>
      </mc:AlternateContent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Review and checkpoint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 this point you can:</a:t>
            </a:r>
          </a:p>
          <a:p>
            <a:pPr lvl="0"/>
            <a:r>
              <a:rPr/>
              <a:t>☐ Fit and interpret Gaussian, Poisson, and negative binomial GLMs</a:t>
            </a:r>
          </a:p>
          <a:p>
            <a:pPr lvl="0"/>
            <a:r>
              <a:rPr/>
              <a:t>☐ Explain when to use each distribution family and link function</a:t>
            </a:r>
          </a:p>
          <a:p>
            <a:pPr lvl="0"/>
            <a:r>
              <a:rPr/>
              <a:t>☐ Check for overdispersion and know when to switch from Poisson to negative binomial</a:t>
            </a:r>
          </a:p>
          <a:p>
            <a:pPr lvl="0"/>
            <a:r>
              <a:rPr/>
              <a:t>☐ Use DHARMa simulated residuals to diagnose GLM fit</a:t>
            </a:r>
          </a:p>
          <a:p>
            <a:pPr lvl="0"/>
            <a:r>
              <a:rPr/>
              <a:t>☐ Fit and interpret a logistic regression model</a:t>
            </a:r>
          </a:p>
          <a:p>
            <a:pPr lvl="0"/>
            <a:r>
              <a:rPr/>
              <a:t>☐ Calculate and interpret an odds ratio</a:t>
            </a:r>
          </a:p>
          <a:p>
            <a:pPr lvl="0"/>
            <a:r>
              <a:rPr/>
              <a:t>☐ Assess logistic regression goodness-of-fit (McFadden’s R², Hosmer-Lemeshow)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📤 What to turn in before next class</a:t>
            </a:r>
          </a:p>
          <a:p>
            <a:pPr lvl="0" indent="0" marL="1270000">
              <a:buNone/>
            </a:pPr>
            <a:r>
              <a:rPr sz="2000"/>
              <a:t>Upload both of these to the course management system:</a:t>
            </a:r>
          </a:p>
          <a:p>
            <a:pPr lvl="0" indent="-342900" marL="342900">
              <a:buAutoNum type="arabicPeriod"/>
            </a:pPr>
            <a:r>
              <a:rPr sz="2000"/>
              <a:t>Your code — the </a:t>
            </a:r>
            <a:r>
              <a:rPr sz="2000">
                <a:latin typeface="Courier"/>
              </a:rPr>
              <a:t>scripts/</a:t>
            </a:r>
            <a:r>
              <a:rPr sz="2000"/>
              <a:t> folder (or just </a:t>
            </a:r>
            <a:r>
              <a:rPr sz="2000">
                <a:latin typeface="Courier"/>
              </a:rPr>
              <a:t>08_glm_logistic_regression.R</a:t>
            </a:r>
            <a:r>
              <a:rPr sz="2000"/>
              <a:t>)</a:t>
            </a:r>
          </a:p>
          <a:p>
            <a:pPr lvl="0" indent="-342900" marL="342900">
              <a:buAutoNum type="arabicPeriod"/>
            </a:pPr>
            <a:r>
              <a:rPr sz="2000"/>
              <a:t>This worksheet, with your written answers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Getting unstuck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code breaks — and it will, that is normal:</a:t>
            </a:r>
          </a:p>
          <a:p>
            <a:pPr lvl="0" indent="-342900" marL="342900">
              <a:buAutoNum type="arabicPeriod"/>
            </a:pPr>
            <a:r>
              <a:rPr b="1"/>
              <a:t>Read the error message out loud.</a:t>
            </a:r>
            <a:r>
              <a:rPr/>
              <a:t> R usually names the line and the problem.</a:t>
            </a:r>
          </a:p>
          <a:p>
            <a:pPr lvl="0" indent="-342900" marL="342900">
              <a:buAutoNum type="arabicPeriod"/>
            </a:pPr>
            <a:r>
              <a:rPr b="1"/>
              <a:t>Check the usual suspects:</a:t>
            </a:r>
            <a:r>
              <a:rPr/>
              <a:t> did you run all the </a:t>
            </a:r>
            <a:r>
              <a:rPr>
                <a:latin typeface="Courier"/>
              </a:rPr>
              <a:t>library()</a:t>
            </a:r>
            <a:r>
              <a:rPr/>
              <a:t> calls at the top? Spelling? A missing </a:t>
            </a:r>
            <a:r>
              <a:rPr>
                <a:latin typeface="Courier"/>
              </a:rPr>
              <a:t>)</a:t>
            </a:r>
            <a:r>
              <a:rPr/>
              <a:t> or </a:t>
            </a:r>
            <a:r>
              <a:rPr>
                <a:latin typeface="Courier"/>
              </a:rPr>
              <a:t>%&gt;%</a:t>
            </a:r>
            <a:r>
              <a:rPr/>
              <a:t> at the </a:t>
            </a:r>
            <a:r>
              <a:rPr i="1"/>
              <a:t>start</a:t>
            </a:r>
            <a:r>
              <a:rPr/>
              <a:t> of a line?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?function_name</a:t>
            </a:r>
            <a:r>
              <a:rPr/>
              <a:t> opens the built-in help page.</a:t>
            </a:r>
          </a:p>
          <a:p>
            <a:pPr lvl="0" indent="-342900" marL="342900">
              <a:buAutoNum type="arabicPeriod"/>
            </a:pPr>
            <a:r>
              <a:rPr b="1"/>
              <a:t>Bring the exact error</a:t>
            </a:r>
            <a:r>
              <a:rPr/>
              <a:t> (copy-paste it) to class or office hours.</a:t>
            </a:r>
          </a:p>
          <a:p>
            <a:pPr lvl="0" indent="0" marL="1270000">
              <a:buNone/>
            </a:pPr>
            <a:r>
              <a:rPr sz="2000"/>
              <a:t>💡 </a:t>
            </a:r>
            <a:r>
              <a:rPr sz="2000" b="1"/>
              <a:t>Key idea:</a:t>
            </a:r>
            <a:r>
              <a:rPr sz="2000"/>
              <a:t> Every working scientist googles error messages daily. Getting stuck is not failing — it is the job.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Activity: GLM &amp; Logistic Regression</dc:title>
  <dc:creator>Bill Perry</dc:creator>
  <cp:keywords/>
  <dc:description>Hands-on activity: Gaussian, Poisson, and negative binomial GLMs on the Galapagos island-biogeography data, plus logistic regression on lizard presence/absence data.</dc:description>
  <dcterms:created xsi:type="dcterms:W3CDTF">2026-08-28T18:17:31Z</dcterms:created>
  <dcterms:modified xsi:type="dcterms:W3CDTF">2026-08-28T18:17:31Z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16</vt:lpwstr>
  </property>
  <property fmtid="{D5CDD505-2E9C-101B-9397-08002B2CF9AE}" pid="13" name="resources">
    <vt:lpwstr/>
  </property>
  <property fmtid="{D5CDD505-2E9C-101B-9397-08002B2CF9AE}" pid="14" name="subtitle">
    <vt:lpwstr>Generalized linear models</vt:lpwstr>
  </property>
  <property fmtid="{D5CDD505-2E9C-101B-9397-08002B2CF9AE}" pid="15" name="toc-title">
    <vt:lpwstr>Table of contents</vt:lpwstr>
  </property>
  <property fmtid="{D5CDD505-2E9C-101B-9397-08002B2CF9AE}" pid="16" name="week">
    <vt:lpwstr>11</vt:lpwstr>
  </property>
</Properties>
</file>