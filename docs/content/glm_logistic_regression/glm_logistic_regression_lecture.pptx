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GLM &amp; Logistic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Generalized linear models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From ANOVA to the GLM Framework</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a:p>
            <a:pPr lvl="0" indent="0" marL="1270000">
              <a:buNone/>
            </a:pPr>
            <a:r>
              <a:rPr sz="2000" b="1"/>
              <a:t>Note</a:t>
            </a:r>
          </a:p>
          <a:p>
            <a:pPr lvl="0" indent="0" marL="1270000">
              <a:buNone/>
            </a:pPr>
            <a:r>
              <a:rPr sz="2000"/>
              <a:t>Gotelli &amp; Ellison, </a:t>
            </a:r>
            <a:r>
              <a:rPr sz="2000" i="1"/>
              <a:t>A Primer of Ecological Statistics</a:t>
            </a:r>
            <a:r>
              <a:rPr sz="2000"/>
              <a:t>, Ch. 9 — Regression, on extending the linear model beyond ordinary least squares.</a:t>
            </a:r>
          </a:p>
        </p:txBody>
      </p:sp>
      <p:pic>
        <p:nvPicPr>
          <p:cNvPr descr="glm_logistic_regression_lecture_files/figure-pptx/glm-distributions-1.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Simulate data that students might log-transform</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treatment_data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treatment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"High"</a:t>
            </a:r>
            <a:r>
              <a:rPr>
                <a:solidFill>
                  <a:srgbClr val="003B4F"/>
                </a:solidFill>
                <a:latin typeface="Courier"/>
              </a:rPr>
              <a:t>), </a:t>
            </a:r>
            <a:r>
              <a:rPr>
                <a:solidFill>
                  <a:srgbClr val="657422"/>
                </a:solidFill>
                <a:latin typeface="Courier"/>
              </a:rPr>
              <a:t>each =</a:t>
            </a:r>
            <a:r>
              <a:rPr>
                <a:solidFill>
                  <a:srgbClr val="003B4F"/>
                </a:solidFill>
                <a:latin typeface="Courier"/>
              </a:rPr>
              <a:t> </a:t>
            </a:r>
            <a:r>
              <a:rPr>
                <a:solidFill>
                  <a:srgbClr val="AD0000"/>
                </a:solidFill>
                <a:latin typeface="Courier"/>
              </a:rPr>
              <a:t>20</a:t>
            </a:r>
            <a:r>
              <a:rPr>
                <a:solidFill>
                  <a:srgbClr val="003B4F"/>
                </a:solidFill>
                <a:latin typeface="Courier"/>
              </a:rPr>
              <a:t>),</a:t>
            </a:r>
            <a:br/>
            <a:r>
              <a:rPr>
                <a:solidFill>
                  <a:srgbClr val="003B4F"/>
                </a:solidFill>
                <a:latin typeface="Courier"/>
              </a:rPr>
              <a:t>  </a:t>
            </a:r>
            <a:r>
              <a:rPr>
                <a:solidFill>
                  <a:srgbClr val="657422"/>
                </a:solidFill>
                <a:latin typeface="Courier"/>
              </a:rPr>
              <a:t>biomass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5E5E5E"/>
                </a:solidFill>
                <a:latin typeface="Courier"/>
              </a:rPr>
              <a:t># Approach 1: Log transformation + ANOVA</a:t>
            </a:r>
            <a:br/>
            <a:r>
              <a:rPr>
                <a:solidFill>
                  <a:srgbClr val="003B4F"/>
                </a:solidFill>
                <a:latin typeface="Courier"/>
              </a:rPr>
              <a:t>model_log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treatment_data)</a:t>
            </a:r>
            <a:br/>
            <a:br/>
            <a:r>
              <a:rPr>
                <a:solidFill>
                  <a:srgbClr val="5E5E5E"/>
                </a:solidFill>
                <a:latin typeface="Courier"/>
              </a:rPr>
              <a:t># Approach 2: Gamma GLM with log link</a:t>
            </a:r>
            <a:br/>
            <a:r>
              <a:rPr>
                <a:solidFill>
                  <a:srgbClr val="003B4F"/>
                </a:solidFill>
                <a:latin typeface="Courier"/>
              </a:rPr>
              <a:t>model_glm &lt;- </a:t>
            </a:r>
            <a:r>
              <a:rPr>
                <a:solidFill>
                  <a:srgbClr val="4758AB"/>
                </a:solidFill>
                <a:latin typeface="Courier"/>
              </a:rPr>
              <a:t>glm</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Gamma</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treatment_data)</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solidFill>
                  <a:srgbClr val="5E5E5E"/>
                </a:solidFill>
                <a:latin typeface="Courier"/>
              </a:rPr>
              <a:t># Compare predictions on original scale</a:t>
            </a:r>
            <a:br/>
            <a:r>
              <a:rPr>
                <a:solidFill>
                  <a:srgbClr val="4758AB"/>
                </a:solidFill>
                <a:latin typeface="Courier"/>
              </a:rPr>
              <a:t>cat</a:t>
            </a:r>
            <a:r>
              <a:rPr>
                <a:solidFill>
                  <a:srgbClr val="003B4F"/>
                </a:solidFill>
                <a:latin typeface="Courier"/>
              </a:rPr>
              <a:t>(</a:t>
            </a:r>
            <a:r>
              <a:rPr>
                <a:solidFill>
                  <a:srgbClr val="20794D"/>
                </a:solidFill>
                <a:latin typeface="Courier"/>
              </a:rPr>
              <a:t>"logged response variable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logged response variable</a:t>
            </a:r>
            <a:br/>
            <a:r>
              <a:rPr>
                <a:solidFill>
                  <a:srgbClr val="4758AB"/>
                </a:solidFill>
                <a:latin typeface="Courier"/>
              </a:rPr>
              <a:t>emmeans</a:t>
            </a:r>
            <a:r>
              <a:rPr>
                <a:solidFill>
                  <a:srgbClr val="003B4F"/>
                </a:solidFill>
                <a:latin typeface="Courier"/>
              </a:rPr>
              <a:t>(model_log,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Geometric means</a:t>
            </a:r>
            <a:br/>
            <a:r>
              <a:rPr i="1">
                <a:solidFill>
                  <a:srgbClr val="5E5E5E"/>
                </a:solidFill>
                <a:latin typeface="Courier"/>
              </a:rPr>
              <a:t>##  treatment response    SE df lower.CL upper.CL</a:t>
            </a:r>
            <a:br/>
            <a:r>
              <a:rPr i="1">
                <a:solidFill>
                  <a:srgbClr val="5E5E5E"/>
                </a:solidFill>
                <a:latin typeface="Courier"/>
              </a:rPr>
              <a:t>##  Control       7.93 0.818 57     6.45     9.75</a:t>
            </a:r>
            <a:br/>
            <a:r>
              <a:rPr i="1">
                <a:solidFill>
                  <a:srgbClr val="5E5E5E"/>
                </a:solidFill>
                <a:latin typeface="Courier"/>
              </a:rPr>
              <a:t>##  High         21.18 2.180 57    17.23    26.04</a:t>
            </a:r>
            <a:br/>
            <a:r>
              <a:rPr i="1">
                <a:solidFill>
                  <a:srgbClr val="5E5E5E"/>
                </a:solidFill>
                <a:latin typeface="Courier"/>
              </a:rPr>
              <a:t>##  Low          11.87 1.220 57     9.66    14.60</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"using glm opn original scale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using glm opn original scale</a:t>
            </a:r>
            <a:br/>
            <a:r>
              <a:rPr>
                <a:solidFill>
                  <a:srgbClr val="4758AB"/>
                </a:solidFill>
                <a:latin typeface="Courier"/>
              </a:rPr>
              <a:t>emmeans</a:t>
            </a:r>
            <a:r>
              <a:rPr>
                <a:solidFill>
                  <a:srgbClr val="003B4F"/>
                </a:solidFill>
                <a:latin typeface="Courier"/>
              </a:rPr>
              <a:t>(model_glm,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Arithmetic means</a:t>
            </a:r>
            <a:br/>
            <a:r>
              <a:rPr i="1">
                <a:solidFill>
                  <a:srgbClr val="5E5E5E"/>
                </a:solidFill>
                <a:latin typeface="Courier"/>
              </a:rPr>
              <a:t>##  treatment response    SE df lower.CL upper.CL</a:t>
            </a:r>
            <a:br/>
            <a:r>
              <a:rPr i="1">
                <a:solidFill>
                  <a:srgbClr val="5E5E5E"/>
                </a:solidFill>
                <a:latin typeface="Courier"/>
              </a:rPr>
              <a:t>##  Control       8.86 0.939 57     7.16     11.0</a:t>
            </a:r>
            <a:br/>
            <a:r>
              <a:rPr i="1">
                <a:solidFill>
                  <a:srgbClr val="5E5E5E"/>
                </a:solidFill>
                <a:latin typeface="Courier"/>
              </a:rPr>
              <a:t>##  High         23.73 2.520 57    19.19     29.3</a:t>
            </a:r>
            <a:br/>
            <a:r>
              <a:rPr i="1">
                <a:solidFill>
                  <a:srgbClr val="5E5E5E"/>
                </a:solidFill>
                <a:latin typeface="Courier"/>
              </a:rPr>
              <a:t>##  Low          12.84 1.360 57    10.39     15.9</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Gaussian GLMs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Gaussian GLM — The Galápagos Island Data</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glm_logistic_regression_lecture_files/figure-pptx/summary-gaussian_2-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Gaussian GLM — Building the Size Categories</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glm_logistic_regression_lecture_files/figure-pptx/summarygaussian_2a-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Gaussian GLM — Fitting </a:t>
            </a:r>
            <a:r>
              <a:rPr>
                <a:latin typeface="Courier"/>
              </a:rPr>
              <a:t>lm()</a:t>
            </a:r>
            <a:r>
              <a:rPr/>
              <a:t> and </a:t>
            </a:r>
            <a:r>
              <a:rPr>
                <a:latin typeface="Courier"/>
              </a:rPr>
              <a:t>glm()</a:t>
            </a:r>
            <a:r>
              <a:rPr/>
              <a:t> Side by Side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Gaussian GLM — Reading the Output: Deviance and Dispersion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glm_logistic_regression_lecture_files/figure-pptx/gaussian-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Poisson GLMs for Count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Poisson GLM — Why Counts Need a Different Distribution</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Fitting the Model</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Checking Dispersion</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solidFill>
                  <a:srgbClr val="5E5E5E"/>
                </a:solidFill>
                <a:latin typeface="Courier"/>
              </a:rPr>
              <a:t># Calculate the dispersion parameter</a:t>
            </a:r>
            <a:br/>
            <a:r>
              <a:rPr>
                <a:solidFill>
                  <a:srgbClr val="5E5E5E"/>
                </a:solidFill>
                <a:latin typeface="Courier"/>
              </a:rPr>
              <a:t># (Pearson's Chi-Squared statistic / residual degrees of freedom)</a:t>
            </a:r>
            <a:br/>
            <a:r>
              <a:rPr>
                <a:solidFill>
                  <a:srgbClr val="003B4F"/>
                </a:solidFill>
                <a:latin typeface="Courier"/>
              </a:rPr>
              <a:t>dispersion_gala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model_poisson_gala</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(dispersion_gala,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Dispersion parameter: 6.05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Estimated Marginal Means on the Count Scale</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solidFill>
                  <a:srgbClr val="5E5E5E"/>
                </a:solidFill>
                <a:latin typeface="Courier"/>
              </a:rPr>
              <a:t># 1. Calculate Estimated Marginal Means (EMMs)</a:t>
            </a:r>
            <a:br/>
            <a:r>
              <a:rPr>
                <a:solidFill>
                  <a:srgbClr val="5E5E5E"/>
                </a:solidFill>
                <a:latin typeface="Courier"/>
              </a:rPr>
              <a:t># type = "response" converts the log-means back to the "Endemics count" scale</a:t>
            </a:r>
            <a:br/>
            <a:r>
              <a:rPr>
                <a:solidFill>
                  <a:srgbClr val="003B4F"/>
                </a:solidFill>
                <a:latin typeface="Courier"/>
              </a:rPr>
              <a:t>emm_gala &lt;- </a:t>
            </a:r>
            <a:r>
              <a:rPr>
                <a:solidFill>
                  <a:srgbClr val="4758AB"/>
                </a:solidFill>
                <a:latin typeface="Courier"/>
              </a:rPr>
              <a:t>emmeans</a:t>
            </a:r>
            <a:r>
              <a:rPr>
                <a:solidFill>
                  <a:srgbClr val="003B4F"/>
                </a:solidFill>
                <a:latin typeface="Courier"/>
              </a:rPr>
              <a:t>(model_poisson_gala, </a:t>
            </a:r>
            <a:br/>
            <a:r>
              <a:rPr>
                <a:solidFill>
                  <a:srgbClr val="003B4F"/>
                </a:solidFill>
                <a:latin typeface="Courier"/>
              </a:rPr>
              <a:t>                    </a:t>
            </a:r>
            <a:r>
              <a:rPr>
                <a:solidFill>
                  <a:srgbClr val="657422"/>
                </a:solidFill>
                <a:latin typeface="Courier"/>
              </a:rPr>
              <a:t>specs =</a:t>
            </a:r>
            <a:r>
              <a:rPr>
                <a:solidFill>
                  <a:srgbClr val="003B4F"/>
                </a:solidFill>
                <a:latin typeface="Courier"/>
              </a:rPr>
              <a:t> </a:t>
            </a:r>
            <a:r>
              <a:rPr>
                <a:solidFill>
                  <a:srgbClr val="5E5E5E"/>
                </a:solidFill>
                <a:latin typeface="Courier"/>
              </a:rPr>
              <a:t>~</a:t>
            </a:r>
            <a:r>
              <a:rPr>
                <a:solidFill>
                  <a:srgbClr val="003B4F"/>
                </a:solidFill>
                <a:latin typeface="Courier"/>
              </a:rPr>
              <a:t> size_category,</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4758AB"/>
                </a:solidFill>
                <a:latin typeface="Courier"/>
              </a:rPr>
              <a:t>print</a:t>
            </a:r>
            <a:r>
              <a:rPr>
                <a:solidFill>
                  <a:srgbClr val="003B4F"/>
                </a:solidFill>
                <a:latin typeface="Courier"/>
              </a:rPr>
              <a:t>(emm_gala)</a:t>
            </a:r>
            <a:br/>
            <a:r>
              <a:rPr i="1">
                <a:solidFill>
                  <a:srgbClr val="5E5E5E"/>
                </a:solidFill>
                <a:latin typeface="Courier"/>
              </a:rPr>
              <a:t>##  size_category  rate    SE  df asymp.LCL asymp.UCL</a:t>
            </a:r>
            <a:br/>
            <a:r>
              <a:rPr i="1">
                <a:solidFill>
                  <a:srgbClr val="5E5E5E"/>
                </a:solidFill>
                <a:latin typeface="Courier"/>
              </a:rPr>
              <a:t>##  Small          5.64 0.716 Inf      4.39      7.23</a:t>
            </a:r>
            <a:br/>
            <a:r>
              <a:rPr i="1">
                <a:solidFill>
                  <a:srgbClr val="5E5E5E"/>
                </a:solidFill>
                <a:latin typeface="Courier"/>
              </a:rPr>
              <a:t>##  Medium        21.67 1.340 Inf     19.19     24.47</a:t>
            </a:r>
            <a:br/>
            <a:r>
              <a:rPr i="1">
                <a:solidFill>
                  <a:srgbClr val="5E5E5E"/>
                </a:solidFill>
                <a:latin typeface="Courier"/>
              </a:rPr>
              <a:t>##  Large         65.86 3.070 Inf     60.11     72.15</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glm_logistic_regression_lecture_files/figure-pptx/gala-compare-model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Logistic Regression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a:p>
                <a:pPr lvl="0" indent="0" marL="1270000">
                  <a:buNone/>
                </a:pPr>
                <a:r>
                  <a:rPr sz="2000" b="1"/>
                  <a:t>Note</a:t>
                </a:r>
              </a:p>
              <a:p>
                <a:pPr lvl="0" indent="0" marL="1270000">
                  <a:buNone/>
                </a:pPr>
                <a:r>
                  <a:rPr sz="2000"/>
                  <a:t>Gotelli &amp; Ellison, </a:t>
                </a:r>
                <a:r>
                  <a:rPr sz="2000" i="1"/>
                  <a:t>A Primer of Ecological Statistics</a:t>
                </a:r>
                <a:r>
                  <a:rPr sz="2000"/>
                  <a:t>, Ch. 11 — The Analysis of Categorical Data, for logistic regression and binomial GLMs.</a:t>
                </a:r>
              </a:p>
            </p:txBody>
          </p:sp>
        </mc:Choice>
      </mc:AlternateContent>
      <p:pic>
        <p:nvPicPr>
          <p:cNvPr descr="glm_logistic_regression_lecture_files/figure-pptx/logistic-curv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 — The Lizard Island Data</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 — Fitting the Model</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uta_present ~ pa_ratio, family = binomial(link = "logit"), </a:t>
            </a:r>
            <a:br/>
            <a:r>
              <a:rPr i="1">
                <a:solidFill>
                  <a:srgbClr val="5E5E5E"/>
                </a:solidFill>
                <a:latin typeface="Courier"/>
              </a:rPr>
              <a:t>##     data = island_data)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5.9374     2.1297   2.788  0.00530 **</a:t>
            </a:r>
            <a:br/>
            <a:r>
              <a:rPr i="1">
                <a:solidFill>
                  <a:srgbClr val="5E5E5E"/>
                </a:solidFill>
                <a:latin typeface="Courier"/>
              </a:rPr>
              <a:t>## pa_ratio     -0.1493     0.0517  -2.887  0.00388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binomial family taken to be 1)</a:t>
            </a:r>
            <a:br/>
            <a:r>
              <a:rPr i="1">
                <a:solidFill>
                  <a:srgbClr val="5E5E5E"/>
                </a:solidFill>
                <a:latin typeface="Courier"/>
              </a:rPr>
              <a:t>## </a:t>
            </a:r>
            <a:br/>
            <a:r>
              <a:rPr i="1">
                <a:solidFill>
                  <a:srgbClr val="5E5E5E"/>
                </a:solidFill>
                <a:latin typeface="Courier"/>
              </a:rPr>
              <a:t>##     Null deviance: 41.455  on 29  degrees of freedom</a:t>
            </a:r>
            <a:br/>
            <a:r>
              <a:rPr i="1">
                <a:solidFill>
                  <a:srgbClr val="5E5E5E"/>
                </a:solidFill>
                <a:latin typeface="Courier"/>
              </a:rPr>
              <a:t>## Residual deviance: 19.090  on 28  degrees of freedom</a:t>
            </a:r>
            <a:br/>
            <a:r>
              <a:rPr i="1">
                <a:solidFill>
                  <a:srgbClr val="5E5E5E"/>
                </a:solidFill>
                <a:latin typeface="Courier"/>
              </a:rPr>
              <a:t>## AIC: 23.09</a:t>
            </a:r>
            <a:br/>
            <a:r>
              <a:rPr i="1">
                <a:solidFill>
                  <a:srgbClr val="5E5E5E"/>
                </a:solidFill>
                <a:latin typeface="Courier"/>
              </a:rPr>
              <a:t>## </a:t>
            </a:r>
            <a:br/>
            <a:r>
              <a:rPr i="1">
                <a:solidFill>
                  <a:srgbClr val="5E5E5E"/>
                </a:solidFill>
                <a:latin typeface="Courier"/>
              </a:rPr>
              <a:t>## Number of Fisher Scoring iterations: 6</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glm_logistic_regression_lecture_files/figure-pptx/lizard-plot-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i="1">
                <a:solidFill>
                  <a:srgbClr val="5E5E5E"/>
                </a:solidFill>
                <a:latin typeface="Courier"/>
              </a:rPr>
              <a:t>## Analysis of Deviance Table</a:t>
            </a:r>
            <a:br/>
            <a:r>
              <a:rPr i="1">
                <a:solidFill>
                  <a:srgbClr val="5E5E5E"/>
                </a:solidFill>
                <a:latin typeface="Courier"/>
              </a:rPr>
              <a:t>## </a:t>
            </a:r>
            <a:br/>
            <a:r>
              <a:rPr i="1">
                <a:solidFill>
                  <a:srgbClr val="5E5E5E"/>
                </a:solidFill>
                <a:latin typeface="Courier"/>
              </a:rPr>
              <a:t>## Model 1: uta_present ~ 1</a:t>
            </a:r>
            <a:br/>
            <a:r>
              <a:rPr i="1">
                <a:solidFill>
                  <a:srgbClr val="5E5E5E"/>
                </a:solidFill>
                <a:latin typeface="Courier"/>
              </a:rPr>
              <a:t>## Model 2: uta_present ~ pa_ratio</a:t>
            </a:r>
            <a:br/>
            <a:r>
              <a:rPr i="1">
                <a:solidFill>
                  <a:srgbClr val="5E5E5E"/>
                </a:solidFill>
                <a:latin typeface="Courier"/>
              </a:rPr>
              <a:t>##   Resid. Df Resid. Dev Df Deviance  Pr(&gt;Chi)    </a:t>
            </a:r>
            <a:br/>
            <a:r>
              <a:rPr i="1">
                <a:solidFill>
                  <a:srgbClr val="5E5E5E"/>
                </a:solidFill>
                <a:latin typeface="Courier"/>
              </a:rPr>
              <a:t>## 1        29     41.455                          </a:t>
            </a:r>
            <a:br/>
            <a:r>
              <a:rPr i="1">
                <a:solidFill>
                  <a:srgbClr val="5E5E5E"/>
                </a:solidFill>
                <a:latin typeface="Courier"/>
              </a:rPr>
              <a:t>## 2        28     19.090  1   22.365 2.254e-06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Odds Ratio: 0.861 </a:t>
            </a:r>
            <a:br/>
            <a:r>
              <a:rPr i="1">
                <a:solidFill>
                  <a:srgbClr val="5E5E5E"/>
                </a:solidFill>
                <a:latin typeface="Courier"/>
              </a:rPr>
              <a:t>## </a:t>
            </a:r>
            <a:br/>
            <a:r>
              <a:rPr i="1">
                <a:solidFill>
                  <a:srgbClr val="5E5E5E"/>
                </a:solidFill>
                <a:latin typeface="Courier"/>
              </a:rPr>
              <a:t>##  95% CI: 0.753 to 0.932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Multiple Logistic Regression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glm_logistic_regression_lecture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 Results</a:t>
            </a:r>
          </a:p>
        </p:txBody>
      </p:sp>
      <p:sp>
        <p:nvSpPr>
          <p:cNvPr id="3" name="Content Placeholder 2"/>
          <p:cNvSpPr>
            <a:spLocks noGrp="1"/>
          </p:cNvSpPr>
          <p:nvPr>
            <p:ph idx="1"/>
          </p:nvPr>
        </p:nvSpPr>
        <p:spPr/>
        <p:txBody>
          <a:bodyPr/>
          <a:lstStyle/>
          <a:p>
            <a:pPr lvl="0" indent="0" marL="1270000">
              <a:buNone/>
            </a:pPr>
            <a:r>
              <a:rPr sz="2000" b="1"/>
              <a:t>Results</a:t>
            </a:r>
          </a:p>
          <a:p>
            <a:pPr lvl="0" indent="0" marL="1270000">
              <a:buNone/>
            </a:pPr>
            <a:r>
              <a:rPr sz="2000" b="1"/>
              <a:t>Results</a:t>
            </a:r>
          </a:p>
          <a:p>
            <a:pPr lvl="0" indent="0" marL="1270000">
              <a:buNone/>
            </a:pPr>
            <a:r>
              <a:rPr sz="2000"/>
              <a:t>The presence of native rodents in 25 canyon fragments was modeled using multiple logistic regression with three predictors: distance to nearest source canyon, years since isolation, and percentage of shrub cover. Taken together the three predictors improved on the null model (likelihood-ratio χ² = 18.28, df = 3, p &lt; 0.001; McFadden’s R² = 0.66).</a:t>
            </a:r>
          </a:p>
          <a:p>
            <a:pPr lvl="0" indent="0" marL="1270000">
              <a:buNone/>
            </a:pPr>
            <a:r>
              <a:rPr sz="2000" b="1"/>
              <a:t>No individual predictor reached significance at α = 0.05.</a:t>
            </a:r>
            <a:r>
              <a:rPr sz="2000"/>
              <a:t> Shrub cover showed the strongest effect (β = 0.193, SE = 0.116, p = 0.096; odds ratio 1.21, 95% CI 1.06–1.79), suggesting that each additional percentage point of shrub cover multiplies the odds of rodent presence by roughly 1.2 — but the confidence interval is wide and the coefficient is not distinguishable from zero at conventional levels. Neither distance to source canyon (β = 0.0021, p = 0.229) nor years since isolation (β = 0.069, p = 0.249) approached significance.</a:t>
            </a:r>
          </a:p>
          <a:p>
            <a:pPr lvl="0" indent="0" marL="1270000">
              <a:buNone/>
            </a:pPr>
            <a:r>
              <a:rPr sz="2000"/>
              <a:t>The model correctly classified 88% of the fragments (sensitivity 0.90, specificity 0.83), and showed no evidence of poor fit (Hosmer-Lemeshow χ² = 0.95, df = 6, p = 0.99).</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 Discussion</a:t>
            </a:r>
          </a:p>
        </p:txBody>
      </p:sp>
      <p:sp>
        <p:nvSpPr>
          <p:cNvPr id="3" name="Content Placeholder 2"/>
          <p:cNvSpPr>
            <a:spLocks noGrp="1"/>
          </p:cNvSpPr>
          <p:nvPr>
            <p:ph idx="1"/>
          </p:nvPr>
        </p:nvSpPr>
        <p:spPr/>
        <p:txBody>
          <a:bodyPr/>
          <a:lstStyle/>
          <a:p>
            <a:pPr lvl="0" indent="0" marL="1270000">
              <a:buNone/>
            </a:pPr>
            <a:r>
              <a:rPr sz="2000" b="1"/>
              <a:t>Discussion</a:t>
            </a:r>
          </a:p>
          <a:p>
            <a:pPr lvl="0" indent="0" marL="1270000">
              <a:buNone/>
            </a:pPr>
            <a:r>
              <a:rPr sz="2000" b="1"/>
              <a:t>Discussion</a:t>
            </a:r>
          </a:p>
          <a:p>
            <a:pPr lvl="0" indent="0" marL="1270000">
              <a:buNone/>
            </a:pPr>
            <a:r>
              <a:rPr sz="2000"/>
              <a:t>Our findings are </a:t>
            </a:r>
            <a:r>
              <a:rPr sz="2000" i="1"/>
              <a:t>suggestive</a:t>
            </a:r>
            <a:r>
              <a:rPr sz="2000"/>
              <a:t> that vegetation structure, as measured by shrub cover, is associated with native rodent presence in canyon fragments — the effect is in the expected direction and is the largest of the three — but with only 25 fragments the estimate is too imprecise to call significant (p = 0.096). The positive direction is consistent with vegetation providing food, shelter from predators, and suitable microhabitat. Isolation metrics (distance to source canyon and years since isolation) showed no detectable relationship, though the same sample-size caveat applies: </a:t>
            </a:r>
            <a:r>
              <a:rPr sz="2000" b="1"/>
              <a:t>failing to detect an effect is not the same as showing there is none.</a:t>
            </a:r>
            <a:r>
              <a:rPr sz="2000"/>
              <a:t> A larger set of fragments would be needed to separate these possibilities.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GLMs, ANOVA, and Wrap-Up</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glm_logistic_regression_lecture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 What a GLM Gives You</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 Choosing a Distribution and Link</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GLM &amp; Logistic Regression</dc:title>
  <dc:creator>Bill Perry</dc:creator>
  <cp:keywords/>
  <dc:description>Generalized Linear Models (GLMs) for non-normal response data — Gaussian, Poisson, and negative binomial GLMs for count data, logistic regression for binary responses, odds ratios, model diagnostics, and the connection back to ANOVA.</dc:description>
  <dcterms:created xsi:type="dcterms:W3CDTF">2026-09-30T15:10:41Z</dcterms:created>
  <dcterms:modified xsi:type="dcterms:W3CDTF">2026-09-30T15:10:41Z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16</vt:lpwstr>
  </property>
  <property fmtid="{D5CDD505-2E9C-101B-9397-08002B2CF9AE}" pid="14" name="resources">
    <vt:lpwstr/>
  </property>
  <property fmtid="{D5CDD505-2E9C-101B-9397-08002B2CF9AE}" pid="15" name="subtitle">
    <vt:lpwstr>Generalized linear models</vt:lpwstr>
  </property>
  <property fmtid="{D5CDD505-2E9C-101B-9397-08002B2CF9AE}" pid="16" name="toc-title">
    <vt:lpwstr>Table of contents</vt:lpwstr>
  </property>
  <property fmtid="{D5CDD505-2E9C-101B-9397-08002B2CF9AE}" pid="17" name="week">
    <vt:lpwstr>11</vt:lpwstr>
  </property>
</Properties>
</file>