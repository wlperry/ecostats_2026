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latin typeface="Courier"/>
              </a:rPr>
              <a:t>## logged response variable
##  treatment response    SE df lower.CL upper.CL
##  Control       7.93 0.818 57     6.45     9.75
##  High         21.18 2.180 57    17.23    26.04
##  Low          11.87 1.220 57     9.66    14.60
## 
## Confidence level used: 0.95 
## Intervals are back-transformed from the log scale
## using glm opn original scale
##  treatment response    SE df lower.CL upper.CL
##  Control       8.86 0.939 57     7.16     11.0
##  High         23.73 2.520 57    19.19     29.3
##  Low          12.84 1.360 57    10.39     15.9
## 
## Confidence level used: 0.95 
##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latin typeface="Courier"/>
              </a:rPr>
              <a:t>##  size_category  rate    SE  df asymp.LCL asymp.UCL
##  Small          5.64 0.716 Inf      4.39      7.23
##  Medium        21.67 1.340 Inf     19.19     24.47
##  Large         65.86 3.070 Inf     60.11     72.15
## 
## Confidence level used: 0.95 
##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latin typeface="Courier"/>
              </a:rPr>
              <a:t>## 
## Call:
## glm(formula = uta_present ~ pa_ratio, family = binomial(link = "logit"), 
##     data = island_data)
## 
## Coefficients:
##             Estimate Std. Error z value Pr(&gt;|z|)   
## (Intercept)   5.9374     2.1297   2.788  0.00530 **
## pa_ratio     -0.1493     0.0517  -2.887  0.00388 **
## ---
## Signif. codes:  0 '***' 0.001 '**' 0.01 '*' 0.05 '.' 0.1 ' ' 1
## 
## (Dispersion parameter for binomial family taken to be 1)
## 
##     Null deviance: 41.455  on 29  degrees of freedom
## Residual deviance: 19.090  on 28  degrees of freedom
## AIC: 23.09
## 
## Number of Fisher Scoring iterations: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latin typeface="Courier"/>
              </a:rPr>
              <a:t>## Analysis of Deviance Table
## 
## Model 1: uta_present ~ 1
## Model 2: uta_present ~ pa_ratio
##   Resid. Df Resid. Dev Df Deviance  Pr(&gt;Chi)    
## 1        29     41.455                          
## 2        28     19.090  1   22.365 2.254e-06 ***
## ---
##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latin typeface="Courier"/>
              </a:rPr>
              <a:t>## Odds Ratio: 0.861 
## 
##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GLM &amp; Logistic Regression</dc:title>
  <dc:creator>Bill Perry</dc:creator>
  <cp:keywords/>
  <dc:description>GLMs and logistic regression for non-normal responses.</dc:description>
  <dcterms:created xsi:type="dcterms:W3CDTF">2026-08-20T18:27:30Z</dcterms:created>
  <dcterms:modified xsi:type="dcterms:W3CDTF">2026-08-20T18:27:30Z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order">
    <vt:lpwstr>15</vt:lpwstr>
  </property>
  <property fmtid="{D5CDD505-2E9C-101B-9397-08002B2CF9AE}" pid="13" name="resources">
    <vt:lpwstr/>
  </property>
  <property fmtid="{D5CDD505-2E9C-101B-9397-08002B2CF9AE}" pid="14" name="subtitle">
    <vt:lpwstr>Generalized linear models</vt:lpwstr>
  </property>
  <property fmtid="{D5CDD505-2E9C-101B-9397-08002B2CF9AE}" pid="15" name="toc-title">
    <vt:lpwstr>Table of contents</vt:lpwstr>
  </property>
  <property fmtid="{D5CDD505-2E9C-101B-9397-08002B2CF9AE}" pid="16" name="week">
    <vt:lpwstr>8</vt:lpwstr>
  </property>
</Properties>
</file>