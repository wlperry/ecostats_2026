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GLM &amp; Logistic Regression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Generalized linear models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From ANOVA to the GLM Framework</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a:r>
              <a:rPr/>
              <a:t>Logistic Regression</a:t>
            </a:r>
          </a:p>
          <a:p>
            <a:pPr lvl="1"/>
            <a:r>
              <a:rPr/>
              <a:t>when the outcome is yes or no or categorical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a:t>
            </a:r>
          </a:p>
          <a:p>
            <a:pPr lvl="0" indent="0" marL="0">
              <a:buNone/>
            </a:pPr>
            <a:r>
              <a:rPr/>
              <a:t>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a:p>
            <a:pPr lvl="0" indent="0" marL="1270000">
              <a:buNone/>
            </a:pPr>
            <a:r>
              <a:rPr sz="2000" b="1"/>
              <a:t>Note</a:t>
            </a:r>
          </a:p>
          <a:p>
            <a:pPr lvl="0" indent="0" marL="1270000">
              <a:buNone/>
            </a:pPr>
            <a:r>
              <a:rPr sz="2000"/>
              <a:t>Gotelli &amp; Ellison, </a:t>
            </a:r>
            <a:r>
              <a:rPr sz="2000" i="1"/>
              <a:t>A Primer of Ecological Statistics</a:t>
            </a:r>
            <a:r>
              <a:rPr sz="2000"/>
              <a:t>, Ch. 9 — Regression, on extending the linear model beyond ordinary least squares.</a:t>
            </a:r>
          </a:p>
        </p:txBody>
      </p:sp>
      <p:pic>
        <p:nvPicPr>
          <p:cNvPr descr="glm_logistic_regression_lecture_files/figure-pptx/glm-distributions-1.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comparison of logged response variable and GLM</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Simulate data that students might log-transform</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treatment_data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treatment =</a:t>
            </a:r>
            <a:r>
              <a:rPr>
                <a:solidFill>
                  <a:srgbClr val="003B4F"/>
                </a:solidFill>
                <a:latin typeface="Courier"/>
              </a:rPr>
              <a:t> </a:t>
            </a:r>
            <a:r>
              <a:rPr>
                <a:solidFill>
                  <a:srgbClr val="4758AB"/>
                </a:solidFill>
                <a:latin typeface="Courier"/>
              </a:rPr>
              <a:t>rep</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"Control"</a:t>
            </a:r>
            <a:r>
              <a:rPr>
                <a:solidFill>
                  <a:srgbClr val="003B4F"/>
                </a:solidFill>
                <a:latin typeface="Courier"/>
              </a:rPr>
              <a:t>, </a:t>
            </a:r>
            <a:r>
              <a:rPr>
                <a:solidFill>
                  <a:srgbClr val="20794D"/>
                </a:solidFill>
                <a:latin typeface="Courier"/>
              </a:rPr>
              <a:t>"Low"</a:t>
            </a:r>
            <a:r>
              <a:rPr>
                <a:solidFill>
                  <a:srgbClr val="003B4F"/>
                </a:solidFill>
                <a:latin typeface="Courier"/>
              </a:rPr>
              <a:t>, </a:t>
            </a:r>
            <a:r>
              <a:rPr>
                <a:solidFill>
                  <a:srgbClr val="20794D"/>
                </a:solidFill>
                <a:latin typeface="Courier"/>
              </a:rPr>
              <a:t>"High"</a:t>
            </a:r>
            <a:r>
              <a:rPr>
                <a:solidFill>
                  <a:srgbClr val="003B4F"/>
                </a:solidFill>
                <a:latin typeface="Courier"/>
              </a:rPr>
              <a:t>), </a:t>
            </a:r>
            <a:r>
              <a:rPr>
                <a:solidFill>
                  <a:srgbClr val="657422"/>
                </a:solidFill>
                <a:latin typeface="Courier"/>
              </a:rPr>
              <a:t>each =</a:t>
            </a:r>
            <a:r>
              <a:rPr>
                <a:solidFill>
                  <a:srgbClr val="003B4F"/>
                </a:solidFill>
                <a:latin typeface="Courier"/>
              </a:rPr>
              <a:t> </a:t>
            </a:r>
            <a:r>
              <a:rPr>
                <a:solidFill>
                  <a:srgbClr val="AD0000"/>
                </a:solidFill>
                <a:latin typeface="Courier"/>
              </a:rPr>
              <a:t>20</a:t>
            </a:r>
            <a:r>
              <a:rPr>
                <a:solidFill>
                  <a:srgbClr val="003B4F"/>
                </a:solidFill>
                <a:latin typeface="Courier"/>
              </a:rPr>
              <a:t>),</a:t>
            </a:r>
            <a:br/>
            <a:r>
              <a:rPr>
                <a:solidFill>
                  <a:srgbClr val="003B4F"/>
                </a:solidFill>
                <a:latin typeface="Courier"/>
              </a:rPr>
              <a:t>  </a:t>
            </a:r>
            <a:r>
              <a:rPr>
                <a:solidFill>
                  <a:srgbClr val="657422"/>
                </a:solidFill>
                <a:latin typeface="Courier"/>
              </a:rPr>
              <a:t>biomass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5E5E5E"/>
                </a:solidFill>
                <a:latin typeface="Courier"/>
              </a:rPr>
              <a:t># Approach 1: Log transformation + ANOVA</a:t>
            </a:r>
            <a:br/>
            <a:r>
              <a:rPr>
                <a:solidFill>
                  <a:srgbClr val="003B4F"/>
                </a:solidFill>
                <a:latin typeface="Courier"/>
              </a:rPr>
              <a:t>model_log &lt;- </a:t>
            </a:r>
            <a:r>
              <a:rPr>
                <a:solidFill>
                  <a:srgbClr val="4758AB"/>
                </a:solidFill>
                <a:latin typeface="Courier"/>
              </a:rPr>
              <a:t>lm</a:t>
            </a:r>
            <a:r>
              <a:rPr>
                <a:solidFill>
                  <a:srgbClr val="003B4F"/>
                </a:solidFill>
                <a:latin typeface="Courier"/>
              </a:rPr>
              <a:t>(</a:t>
            </a:r>
            <a:r>
              <a:rPr>
                <a:solidFill>
                  <a:srgbClr val="4758AB"/>
                </a:solidFill>
                <a:latin typeface="Courier"/>
              </a:rPr>
              <a:t>log</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treatment_data)</a:t>
            </a:r>
            <a:br/>
            <a:br/>
            <a:r>
              <a:rPr>
                <a:solidFill>
                  <a:srgbClr val="5E5E5E"/>
                </a:solidFill>
                <a:latin typeface="Courier"/>
              </a:rPr>
              <a:t># Approach 2: Gamma GLM with log link</a:t>
            </a:r>
            <a:br/>
            <a:r>
              <a:rPr>
                <a:solidFill>
                  <a:srgbClr val="003B4F"/>
                </a:solidFill>
                <a:latin typeface="Courier"/>
              </a:rPr>
              <a:t>model_glm &lt;- </a:t>
            </a:r>
            <a:r>
              <a:rPr>
                <a:solidFill>
                  <a:srgbClr val="4758AB"/>
                </a:solidFill>
                <a:latin typeface="Courier"/>
              </a:rPr>
              <a:t>glm</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Gamma</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treatment_data)</a:t>
            </a:r>
          </a:p>
        </p:txBody>
      </p:sp>
      <p:sp>
        <p:nvSpPr>
          <p:cNvPr id="4" name="Content Placeholder 3"/>
          <p:cNvSpPr>
            <a:spLocks noGrp="1"/>
          </p:cNvSpPr>
          <p:nvPr>
            <p:ph idx="2" sz="half"/>
          </p:nvPr>
        </p:nvSpPr>
        <p:spPr/>
        <p:txBody>
          <a:bodyPr/>
          <a:lstStyle/>
          <a:p>
            <a:pPr lvl="0" indent="0" marL="0">
              <a:buNone/>
            </a:pPr>
            <a:r>
              <a:rPr/>
              <a:t>Here is the difference</a:t>
            </a:r>
          </a:p>
          <a:p>
            <a:pPr lvl="0" indent="0">
              <a:buNone/>
            </a:pPr>
            <a:r>
              <a:rPr>
                <a:solidFill>
                  <a:srgbClr val="5E5E5E"/>
                </a:solidFill>
                <a:latin typeface="Courier"/>
              </a:rPr>
              <a:t># Compare predictions on original scale</a:t>
            </a:r>
            <a:br/>
            <a:r>
              <a:rPr>
                <a:solidFill>
                  <a:srgbClr val="4758AB"/>
                </a:solidFill>
                <a:latin typeface="Courier"/>
              </a:rPr>
              <a:t>cat</a:t>
            </a:r>
            <a:r>
              <a:rPr>
                <a:solidFill>
                  <a:srgbClr val="003B4F"/>
                </a:solidFill>
                <a:latin typeface="Courier"/>
              </a:rPr>
              <a:t>(</a:t>
            </a:r>
            <a:r>
              <a:rPr>
                <a:solidFill>
                  <a:srgbClr val="20794D"/>
                </a:solidFill>
                <a:latin typeface="Courier"/>
              </a:rPr>
              <a:t>"logged response variable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logged response variable</a:t>
            </a:r>
            <a:br/>
            <a:r>
              <a:rPr>
                <a:solidFill>
                  <a:srgbClr val="4758AB"/>
                </a:solidFill>
                <a:latin typeface="Courier"/>
              </a:rPr>
              <a:t>emmeans</a:t>
            </a:r>
            <a:r>
              <a:rPr>
                <a:solidFill>
                  <a:srgbClr val="003B4F"/>
                </a:solidFill>
                <a:latin typeface="Courier"/>
              </a:rPr>
              <a:t>(model_log,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Geometric means</a:t>
            </a:r>
            <a:br/>
            <a:r>
              <a:rPr i="1">
                <a:solidFill>
                  <a:srgbClr val="5E5E5E"/>
                </a:solidFill>
                <a:latin typeface="Courier"/>
              </a:rPr>
              <a:t>##  treatment response    SE df lower.CL upper.CL</a:t>
            </a:r>
            <a:br/>
            <a:r>
              <a:rPr i="1">
                <a:solidFill>
                  <a:srgbClr val="5E5E5E"/>
                </a:solidFill>
                <a:latin typeface="Courier"/>
              </a:rPr>
              <a:t>##  Control       7.93 0.818 57     6.45     9.75</a:t>
            </a:r>
            <a:br/>
            <a:r>
              <a:rPr i="1">
                <a:solidFill>
                  <a:srgbClr val="5E5E5E"/>
                </a:solidFill>
                <a:latin typeface="Courier"/>
              </a:rPr>
              <a:t>##  High         21.18 2.180 57    17.23    26.04</a:t>
            </a:r>
            <a:br/>
            <a:r>
              <a:rPr i="1">
                <a:solidFill>
                  <a:srgbClr val="5E5E5E"/>
                </a:solidFill>
                <a:latin typeface="Courier"/>
              </a:rPr>
              <a:t>##  Low          11.87 1.220 57     9.66    14.60</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"using glm opn original scale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using glm opn original scale</a:t>
            </a:r>
            <a:br/>
            <a:r>
              <a:rPr>
                <a:solidFill>
                  <a:srgbClr val="4758AB"/>
                </a:solidFill>
                <a:latin typeface="Courier"/>
              </a:rPr>
              <a:t>emmeans</a:t>
            </a:r>
            <a:r>
              <a:rPr>
                <a:solidFill>
                  <a:srgbClr val="003B4F"/>
                </a:solidFill>
                <a:latin typeface="Courier"/>
              </a:rPr>
              <a:t>(model_glm,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Arithmetic means</a:t>
            </a:r>
            <a:br/>
            <a:r>
              <a:rPr i="1">
                <a:solidFill>
                  <a:srgbClr val="5E5E5E"/>
                </a:solidFill>
                <a:latin typeface="Courier"/>
              </a:rPr>
              <a:t>##  treatment response    SE df lower.CL upper.CL</a:t>
            </a:r>
            <a:br/>
            <a:r>
              <a:rPr i="1">
                <a:solidFill>
                  <a:srgbClr val="5E5E5E"/>
                </a:solidFill>
                <a:latin typeface="Courier"/>
              </a:rPr>
              <a:t>##  Control       8.86 0.939 57     7.16     11.0</a:t>
            </a:r>
            <a:br/>
            <a:r>
              <a:rPr i="1">
                <a:solidFill>
                  <a:srgbClr val="5E5E5E"/>
                </a:solidFill>
                <a:latin typeface="Courier"/>
              </a:rPr>
              <a:t>##  High         23.73 2.520 57    19.19     29.3</a:t>
            </a:r>
            <a:br/>
            <a:r>
              <a:rPr i="1">
                <a:solidFill>
                  <a:srgbClr val="5E5E5E"/>
                </a:solidFill>
                <a:latin typeface="Courier"/>
              </a:rPr>
              <a:t>##  Low          12.84 1.360 57    10.39     15.9</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r>
                        <m:rPr>
                          <m:sty m:val="p"/>
                        </m:rPr>
                        <m:t>(</m:t>
                      </m:r>
                      <m:r>
                        <m:t>μ</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Gaussian GLMs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Gaussian GLM — The Galápagos Island Data</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a:r>
              <a:rPr/>
              <a:t>Let’s compare a standard linear model and a Gaussian GLM</a:t>
            </a:r>
          </a:p>
          <a:p>
            <a:pPr lvl="0"/>
            <a:r>
              <a:rPr/>
              <a:t>Island Biogeography Data</a:t>
            </a:r>
          </a:p>
          <a:p>
            <a:pPr lvl="0"/>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r>
              <a:rPr/>
              <a:t>- Number of plant species (count data)</a:t>
            </a:r>
          </a:p>
          <a:p>
            <a:pPr lvl="1"/>
            <a:r>
              <a:rPr>
                <a:latin typeface="Courier"/>
              </a:rPr>
              <a:t>Endemics</a:t>
            </a:r>
            <a:r>
              <a:rPr/>
              <a:t>- Number of endemic species (count data)</a:t>
            </a:r>
          </a:p>
          <a:p>
            <a:pPr lvl="1"/>
            <a:r>
              <a:rPr>
                <a:latin typeface="Courier"/>
              </a:rPr>
              <a:t>Area</a:t>
            </a:r>
            <a:r>
              <a:rPr/>
              <a:t>- Island area (km²)</a:t>
            </a:r>
          </a:p>
          <a:p>
            <a:pPr lvl="1"/>
            <a:r>
              <a:rPr>
                <a:latin typeface="Courier"/>
              </a:rPr>
              <a:t>Elevation</a:t>
            </a:r>
            <a:r>
              <a:rPr/>
              <a:t>- Maximum elevation (m)</a:t>
            </a:r>
          </a:p>
          <a:p>
            <a:pPr lvl="1" indent="0">
              <a:buNone/>
            </a:pPr>
            <a:r>
              <a:rPr>
                <a:latin typeface="Courier"/>
              </a:rPr>
              <a:t>##           Species Endemics  Area Elevation Nearest size_category
## Baltra         58       23 25.09       346     0.6        Medium
## Bartolome      31       21  1.24       109     0.6        Medium
## Caldwell        3        3  0.21       114     2.8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glm_logistic_regression_lecture_files/figure-pptx/summary-gaussian_2-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Gaussian GLM — Building the Size Categories</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Endemics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990600"/>
                <a:gridCol w="901700"/>
                <a:gridCol w="1447800"/>
                <a:gridCol w="10795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89</a:t>
                      </a:r>
                    </a:p>
                  </a:txBody>
                </a:tc>
                <a:tc>
                  <a:txBody>
                    <a:bodyPr/>
                    <a:lstStyle/>
                    <a:p>
                      <a:pPr lvl="0" indent="0" marL="0">
                        <a:buNone/>
                      </a:pPr>
                      <a:r>
                        <a:rPr/>
                        <a:t>4669.32</a:t>
                      </a:r>
                    </a:p>
                  </a:txBody>
                </a:tc>
                <a:tc>
                  <a:txBody>
                    <a:bodyPr/>
                    <a:lstStyle/>
                    <a:p>
                      <a:pPr lvl="0" indent="0" marL="0">
                        <a:buNone/>
                      </a:pPr>
                      <a:r>
                        <a:rPr/>
                        <a:t>Large</a:t>
                      </a:r>
                    </a:p>
                  </a:txBody>
                </a:tc>
                <a:tc>
                  <a:txBody>
                    <a:bodyPr/>
                    <a:lstStyle/>
                    <a:p>
                      <a:pPr lvl="0" indent="0" marL="0">
                        <a:buNone/>
                      </a:pPr>
                      <a:r>
                        <a:rPr/>
                        <a:t>1707</a:t>
                      </a:r>
                    </a:p>
                  </a:txBody>
                </a:tc>
              </a:tr>
              <a:tr h="0">
                <a:tc>
                  <a:txBody>
                    <a:bodyPr/>
                    <a:lstStyle/>
                    <a:p>
                      <a:pPr lvl="0" indent="0" marL="0">
                        <a:buNone/>
                      </a:pPr>
                      <a:r>
                        <a:rPr/>
                        <a:t>95</a:t>
                      </a:r>
                    </a:p>
                  </a:txBody>
                </a:tc>
                <a:tc>
                  <a:txBody>
                    <a:bodyPr/>
                    <a:lstStyle/>
                    <a:p>
                      <a:pPr lvl="0" indent="0" marL="0">
                        <a:buNone/>
                      </a:pPr>
                      <a:r>
                        <a:rPr/>
                        <a:t>903.82</a:t>
                      </a:r>
                    </a:p>
                  </a:txBody>
                </a:tc>
                <a:tc>
                  <a:txBody>
                    <a:bodyPr/>
                    <a:lstStyle/>
                    <a:p>
                      <a:pPr lvl="0" indent="0" marL="0">
                        <a:buNone/>
                      </a:pPr>
                      <a:r>
                        <a:rPr/>
                        <a:t>Large</a:t>
                      </a:r>
                    </a:p>
                  </a:txBody>
                </a:tc>
                <a:tc>
                  <a:txBody>
                    <a:bodyPr/>
                    <a:lstStyle/>
                    <a:p>
                      <a:pPr lvl="0" indent="0" marL="0">
                        <a:buNone/>
                      </a:pPr>
                      <a:r>
                        <a:rPr/>
                        <a:t>864</a:t>
                      </a:r>
                    </a:p>
                  </a:txBody>
                </a:tc>
              </a:tr>
              <a:tr h="0">
                <a:tc>
                  <a:txBody>
                    <a:bodyPr/>
                    <a:lstStyle/>
                    <a:p>
                      <a:pPr lvl="0" indent="0" marL="0">
                        <a:buNone/>
                      </a:pPr>
                      <a:r>
                        <a:rPr/>
                        <a:t>35</a:t>
                      </a:r>
                    </a:p>
                  </a:txBody>
                </a:tc>
                <a:tc>
                  <a:txBody>
                    <a:bodyPr/>
                    <a:lstStyle/>
                    <a:p>
                      <a:pPr lvl="0" indent="0" marL="0">
                        <a:buNone/>
                      </a:pPr>
                      <a:r>
                        <a:rPr/>
                        <a:t>634.49</a:t>
                      </a:r>
                    </a:p>
                  </a:txBody>
                </a:tc>
                <a:tc>
                  <a:txBody>
                    <a:bodyPr/>
                    <a:lstStyle/>
                    <a:p>
                      <a:pPr lvl="0" indent="0" marL="0">
                        <a:buNone/>
                      </a:pPr>
                      <a:r>
                        <a:rPr/>
                        <a:t>Large</a:t>
                      </a:r>
                    </a:p>
                  </a:txBody>
                </a:tc>
                <a:tc>
                  <a:txBody>
                    <a:bodyPr/>
                    <a:lstStyle/>
                    <a:p>
                      <a:pPr lvl="0" indent="0" marL="0">
                        <a:buNone/>
                      </a:pPr>
                      <a:r>
                        <a:rPr/>
                        <a:t>1494</a:t>
                      </a:r>
                    </a:p>
                  </a:txBody>
                </a:tc>
              </a:tr>
              <a:tr h="0">
                <a:tc>
                  <a:txBody>
                    <a:bodyPr/>
                    <a:lstStyle/>
                    <a:p>
                      <a:pPr lvl="0" indent="0" marL="0">
                        <a:buNone/>
                      </a:pPr>
                      <a:r>
                        <a:rPr/>
                        <a:t>81</a:t>
                      </a:r>
                    </a:p>
                  </a:txBody>
                </a:tc>
                <a:tc>
                  <a:txBody>
                    <a:bodyPr/>
                    <a:lstStyle/>
                    <a:p>
                      <a:pPr lvl="0" indent="0" marL="0">
                        <a:buNone/>
                      </a:pPr>
                      <a:r>
                        <a:rPr/>
                        <a:t>572.33</a:t>
                      </a:r>
                    </a:p>
                  </a:txBody>
                </a:tc>
                <a:tc>
                  <a:txBody>
                    <a:bodyPr/>
                    <a:lstStyle/>
                    <a:p>
                      <a:pPr lvl="0" indent="0" marL="0">
                        <a:buNone/>
                      </a:pPr>
                      <a:r>
                        <a:rPr/>
                        <a:t>Large</a:t>
                      </a:r>
                    </a:p>
                  </a:txBody>
                </a:tc>
                <a:tc>
                  <a:txBody>
                    <a:bodyPr/>
                    <a:lstStyle/>
                    <a:p>
                      <a:pPr lvl="0" indent="0" marL="0">
                        <a:buNone/>
                      </a:pPr>
                      <a:r>
                        <a:rPr/>
                        <a:t>906</a:t>
                      </a:r>
                    </a:p>
                  </a:txBody>
                </a:tc>
              </a:tr>
              <a:tr h="0">
                <a:tc>
                  <a:txBody>
                    <a:bodyPr/>
                    <a:lstStyle/>
                    <a:p>
                      <a:pPr lvl="0" indent="0" marL="0">
                        <a:buNone/>
                      </a:pPr>
                      <a:r>
                        <a:rPr/>
                        <a:t>65</a:t>
                      </a:r>
                    </a:p>
                  </a:txBody>
                </a:tc>
                <a:tc>
                  <a:txBody>
                    <a:bodyPr/>
                    <a:lstStyle/>
                    <a:p>
                      <a:pPr lvl="0" indent="0" marL="0">
                        <a:buNone/>
                      </a:pPr>
                      <a:r>
                        <a:rPr/>
                        <a:t>551.62</a:t>
                      </a:r>
                    </a:p>
                  </a:txBody>
                </a:tc>
                <a:tc>
                  <a:txBody>
                    <a:bodyPr/>
                    <a:lstStyle/>
                    <a:p>
                      <a:pPr lvl="0" indent="0" marL="0">
                        <a:buNone/>
                      </a:pPr>
                      <a:r>
                        <a:rPr/>
                        <a:t>Large</a:t>
                      </a:r>
                    </a:p>
                  </a:txBody>
                </a:tc>
                <a:tc>
                  <a:txBody>
                    <a:bodyPr/>
                    <a:lstStyle/>
                    <a:p>
                      <a:pPr lvl="0" indent="0" marL="0">
                        <a:buNone/>
                      </a:pPr>
                      <a:r>
                        <a:rPr/>
                        <a:t>716</a:t>
                      </a:r>
                    </a:p>
                  </a:txBody>
                </a:tc>
              </a:tr>
              <a:tr h="0">
                <a:tc>
                  <a:txBody>
                    <a:bodyPr/>
                    <a:lstStyle/>
                    <a:p>
                      <a:pPr lvl="0" indent="0" marL="0">
                        <a:buNone/>
                      </a:pPr>
                      <a:r>
                        <a:rPr/>
                        <a:t>73</a:t>
                      </a:r>
                    </a:p>
                  </a:txBody>
                </a:tc>
                <a:tc>
                  <a:txBody>
                    <a:bodyPr/>
                    <a:lstStyle/>
                    <a:p>
                      <a:pPr lvl="0" indent="0" marL="0">
                        <a:buNone/>
                      </a:pPr>
                      <a:r>
                        <a:rPr/>
                        <a:t>170.92</a:t>
                      </a:r>
                    </a:p>
                  </a:txBody>
                </a:tc>
                <a:tc>
                  <a:txBody>
                    <a:bodyPr/>
                    <a:lstStyle/>
                    <a:p>
                      <a:pPr lvl="0" indent="0" marL="0">
                        <a:buNone/>
                      </a:pPr>
                      <a:r>
                        <a:rPr/>
                        <a:t>Large</a:t>
                      </a:r>
                    </a:p>
                  </a:txBody>
                </a:tc>
                <a:tc>
                  <a:txBody>
                    <a:bodyPr/>
                    <a:lstStyle/>
                    <a:p>
                      <a:pPr lvl="0" indent="0" marL="0">
                        <a:buNone/>
                      </a:pPr>
                      <a:r>
                        <a:rPr/>
                        <a:t>640</a:t>
                      </a:r>
                    </a:p>
                  </a:txBody>
                </a:tc>
              </a:tr>
              <a:tr h="0">
                <a:tc>
                  <a:txBody>
                    <a:bodyPr/>
                    <a:lstStyle/>
                    <a:p>
                      <a:pPr lvl="0" indent="0" marL="0">
                        <a:buNone/>
                      </a:pPr>
                      <a:r>
                        <a:rPr/>
                        <a:t>23</a:t>
                      </a:r>
                    </a:p>
                  </a:txBody>
                </a:tc>
                <a:tc>
                  <a:txBody>
                    <a:bodyPr/>
                    <a:lstStyle/>
                    <a:p>
                      <a:pPr lvl="0" indent="0" marL="0">
                        <a:buNone/>
                      </a:pPr>
                      <a:r>
                        <a:rPr/>
                        <a:t>129.49</a:t>
                      </a:r>
                    </a:p>
                  </a:txBody>
                </a:tc>
                <a:tc>
                  <a:txBody>
                    <a:bodyPr/>
                    <a:lstStyle/>
                    <a:p>
                      <a:pPr lvl="0" indent="0" marL="0">
                        <a:buNone/>
                      </a:pPr>
                      <a:r>
                        <a:rPr/>
                        <a:t>Large</a:t>
                      </a:r>
                    </a:p>
                  </a:txBody>
                </a:tc>
                <a:tc>
                  <a:txBody>
                    <a:bodyPr/>
                    <a:lstStyle/>
                    <a:p>
                      <a:pPr lvl="0" indent="0" marL="0">
                        <a:buNone/>
                      </a:pPr>
                      <a:r>
                        <a:rPr/>
                        <a:t>343</a:t>
                      </a:r>
                    </a:p>
                  </a:txBody>
                </a:tc>
              </a:tr>
              <a:tr h="0">
                <a:tc>
                  <a:txBody>
                    <a:bodyPr/>
                    <a:lstStyle/>
                    <a:p>
                      <a:pPr lvl="0" indent="0" marL="0">
                        <a:buNone/>
                      </a:pPr>
                      <a:r>
                        <a:rPr/>
                        <a:t>37</a:t>
                      </a:r>
                    </a:p>
                  </a:txBody>
                </a:tc>
                <a:tc>
                  <a:txBody>
                    <a:bodyPr/>
                    <a:lstStyle/>
                    <a:p>
                      <a:pPr lvl="0" indent="0" marL="0">
                        <a:buNone/>
                      </a:pPr>
                      <a:r>
                        <a:rPr/>
                        <a:t>59.56</a:t>
                      </a:r>
                    </a:p>
                  </a:txBody>
                </a:tc>
                <a:tc>
                  <a:txBody>
                    <a:bodyPr/>
                    <a:lstStyle/>
                    <a:p>
                      <a:pPr lvl="0" indent="0" marL="0">
                        <a:buNone/>
                      </a:pPr>
                      <a:r>
                        <a:rPr/>
                        <a:t>Medium</a:t>
                      </a:r>
                    </a:p>
                  </a:txBody>
                </a:tc>
                <a:tc>
                  <a:txBody>
                    <a:bodyPr/>
                    <a:lstStyle/>
                    <a:p>
                      <a:pPr lvl="0" indent="0" marL="0">
                        <a:buNone/>
                      </a:pPr>
                      <a:r>
                        <a:rPr/>
                        <a:t>777</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Endemics by island size:</a:t>
            </a:r>
          </a:p>
        </p:txBody>
      </p:sp>
      <p:pic>
        <p:nvPicPr>
          <p:cNvPr descr="glm_logistic_regression_lecture_files/figure-pptx/summarygaussian_2a-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Gaussian GLM — Fitting </a:t>
            </a:r>
            <a:r>
              <a:rPr>
                <a:latin typeface="Courier"/>
              </a:rPr>
              <a:t>lm()</a:t>
            </a:r>
            <a:r>
              <a:rPr/>
              <a:t> and </a:t>
            </a:r>
            <a:r>
              <a:rPr>
                <a:latin typeface="Courier"/>
              </a:rPr>
              <a:t>glm()</a:t>
            </a:r>
            <a:r>
              <a:rPr/>
              <a:t> Side by Side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a:r>
                  <a:rPr/>
                  <a:t>Let’s compare a standard linear model and a Gaussian GLM using the Galapagos dataset, modeling endemic species richness by island size category.</a:t>
                </a:r>
              </a:p>
              <a:p>
                <a:pPr lvl="1"/>
                <a:r>
                  <a:rPr/>
                  <a:t>Fit a standard linear model - model_lm &lt;- lm(Endemics ~ size_category,</a:t>
                </a:r>
                <a:br/>
                <a:r>
                  <a:rPr/>
                  <a:t>data = gala)</a:t>
                </a:r>
              </a:p>
              <a:p>
                <a:pPr lvl="1"/>
                <a:r>
                  <a:rPr/>
                  <a:t>Fit a Gaussian GLM</a:t>
                </a:r>
              </a:p>
              <a:p>
                <a:pPr lvl="1"/>
                <a:r>
                  <a:rPr/>
                  <a:t>model_gaussian &lt;- glm(Endemics ~ size_category, data = gala,</a:t>
                </a:r>
                <a:br/>
                <a:r>
                  <a:rPr/>
                  <a:t>family = gaussian(link = “identity”)) </a:t>
                </a:r>
                <a:r>
                  <a:rPr b="1"/>
                  <a:t>Residual Standard Error</a:t>
                </a:r>
                <a:r>
                  <a:rPr/>
                  <a:t>. This is the standard deviation of the residuals (</a:t>
                </a:r>
                <a14:m>
                  <m:oMath xmlns:m="http://schemas.openxmlformats.org/officeDocument/2006/math">
                    <m:r>
                      <m:t>σ</m:t>
                    </m:r>
                  </m:oMath>
                </a14:m>
                <a:r>
                  <a:rPr/>
                  <a:t>)</a:t>
                </a:r>
              </a:p>
            </p:txBody>
          </p:sp>
        </mc:Choice>
      </mc:AlternateContent>
      <p:sp>
        <p:nvSpPr>
          <p:cNvPr id="4" name="Content Placeholder 3"/>
          <p:cNvSpPr>
            <a:spLocks noGrp="1"/>
          </p:cNvSpPr>
          <p:nvPr>
            <p:ph idx="2" sz="half"/>
          </p:nvPr>
        </p:nvSpPr>
        <p:spPr/>
        <p:txBody>
          <a:bodyPr/>
          <a:lstStyle/>
          <a:p>
            <a:pPr lvl="0"/>
            <a:r>
              <a:rPr/>
              <a:t>Let’s look at the summary of our Gaussian GLM:</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Gaussian GLM — Reading the Output: Deviance and Dispersion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Let’s look at the summary of our Gaussian GLM:</a:t>
                </a:r>
              </a:p>
              <a:p>
                <a:pPr lvl="1"/>
                <a:r>
                  <a:rPr/>
                  <a:t>Dispersion parameter</a:t>
                </a:r>
              </a:p>
              <a:p>
                <a:pPr lvl="2"/>
                <a:r>
                  <a:rPr b="1"/>
                  <a:t>variance of the residuals</a:t>
                </a:r>
                <a:r>
                  <a:rPr/>
                  <a:t> (</a:t>
                </a:r>
                <a14:m>
                  <m:oMath xmlns:m="http://schemas.openxmlformats.org/officeDocument/2006/math">
                    <m:sSup>
                      <m:e>
                        <m:r>
                          <m:t>σ</m:t>
                        </m:r>
                      </m:e>
                      <m:sup>
                        <m:r>
                          <m:t>2</m:t>
                        </m:r>
                      </m:sup>
                    </m:sSup>
                  </m:oMath>
                </a14:m>
                <a:r>
                  <a:rPr/>
                  <a:t>)</a:t>
                </a:r>
              </a:p>
              <a:p>
                <a:pPr lvl="1"/>
                <a:r>
                  <a:rPr/>
                  <a:t>Null deviance</a:t>
                </a:r>
              </a:p>
              <a:p>
                <a:pPr lvl="2"/>
                <a:r>
                  <a:rPr/>
                  <a:t>This is the error (deviance) of the “Null” or “Intercept-Only” model</a:t>
                </a:r>
              </a:p>
              <a:p>
                <a:pPr lvl="2"/>
                <a:r>
                  <a:rPr/>
                  <a:t>how much error you have when you try to predict the number of endemics using </a:t>
                </a:r>
                <a:r>
                  <a:rPr i="1"/>
                  <a:t>only</a:t>
                </a:r>
                <a:r>
                  <a:rPr/>
                  <a:t> the overall average, without any predictors. It’s your baseline, or the total amount of variation in the data to be explained</a:t>
                </a:r>
              </a:p>
              <a:p>
                <a:pPr lvl="1"/>
                <a:r>
                  <a:rPr/>
                  <a:t>Residual deviance</a:t>
                </a:r>
              </a:p>
              <a:p>
                <a:pPr lvl="2"/>
                <a:r>
                  <a:rPr/>
                  <a:t>conceptually the same as the “Model Sum of Squares” in an ANOVA</a:t>
                </a:r>
              </a:p>
              <a:p>
                <a:pPr lvl="2"/>
                <a:r>
                  <a:rPr/>
                  <a:t>Null Deviance tells you your </a:t>
                </a:r>
                <a:r>
                  <a:rPr>
                    <a:latin typeface="Courier"/>
                  </a:rPr>
                  <a:t>size_category</a:t>
                </a:r>
                <a:r>
                  <a:rPr/>
                  <a:t> predictor is </a:t>
                </a:r>
                <a:r>
                  <a:rPr i="1"/>
                  <a:t>very</a:t>
                </a:r>
                <a:r>
                  <a:rPr/>
                  <a:t> useful for explaining the number of endemics.</a:t>
                </a:r>
              </a:p>
            </p:txBody>
          </p:sp>
        </mc:Choice>
      </mc:AlternateContent>
      <p:sp>
        <p:nvSpPr>
          <p:cNvPr id="4" name="Content Placeholder 3"/>
          <p:cNvSpPr>
            <a:spLocks noGrp="1"/>
          </p:cNvSpPr>
          <p:nvPr>
            <p:ph idx="2" sz="half"/>
          </p:nvPr>
        </p:nvSpPr>
        <p:spPr/>
        <p:txBody>
          <a:bodyPr/>
          <a:lstStyle/>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a:r>
                  <a:rPr/>
                  <a:t>Now let’s perform an ANOVA on LM and GLM model using </a:t>
                </a:r>
                <a:r>
                  <a:rPr>
                    <a:latin typeface="Courier"/>
                  </a:rPr>
                  <a:t>car</a:t>
                </a:r>
                <a:r>
                  <a:rPr/>
                  <a:t>:</a:t>
                </a:r>
              </a:p>
              <a:p>
                <a:pPr lvl="1"/>
                <a:r>
                  <a:rPr b="1"/>
                  <a:t>Residual Standard Error</a:t>
                </a:r>
                <a:r>
                  <a:rPr/>
                  <a:t>. This is the standard deviation of the residuals (</a:t>
                </a:r>
                <a14:m>
                  <m:oMath xmlns:m="http://schemas.openxmlformats.org/officeDocument/2006/math">
                    <m:r>
                      <m:t>σ</m:t>
                    </m:r>
                  </m:oMath>
                </a14:m>
                <a:r>
                  <a:rPr/>
                  <a:t>)</a:t>
                </a:r>
              </a:p>
              <a:p>
                <a:pPr lvl="1"/>
                <a:r>
                  <a:rPr b="1"/>
                  <a:t>Residual Deviance/df</a:t>
                </a:r>
                <a:r>
                  <a:rPr/>
                  <a:t>: 5756.1 / 27 = 213.1878</a:t>
                </a:r>
              </a:p>
              <a:p>
                <a:pPr lvl="1"/>
                <a:r>
                  <a:rPr/>
                  <a:t>In this context, “Sum Sq” (Sum of Squares) and “Deviance” are the same thing.</a:t>
                </a:r>
              </a:p>
              <a:p>
                <a:pPr lvl="1"/>
                <a:r>
                  <a:rPr b="1"/>
                  <a:t>“Pearson residuals” are essentially the same as the regular residuals</a:t>
                </a:r>
              </a:p>
              <a:p>
                <a:pPr lvl="0" indent="0">
                  <a:buNone/>
                </a:pPr>
                <a:r>
                  <a:rPr>
                    <a:latin typeface="Courier"/>
                  </a:rPr>
                  <a:t>## Anova Table (Type III tests)
## 
## Response: Endemics
##                Sum Sq Df F value    Pr(&gt;F)    
## (Intercept)     349.5  1  1.6392    0.2113    
## size_category 15906.6  2 37.3066 1.697e-08 ***
## Residuals      5756.1 27                      
## ---
## Signif. codes:  0 '***' 0.001 '**' 0.01 '*' 0.05 '.' 0.1 ' ' 1
## Analysis of Deviance Table (Type III tests)
## 
## Response: Endemics
## Error estimate based on Pearson residuals 
## 
##                Sum Sq Df F values    Pr(&gt;F)    
## size_category 15906.6  2   37.307 1.697e-08 ***
## Residuals      5756.1 27                       
## ---
## Signif. codes:  0 '***' 0.001 '**' 0.01 '*' 0.05 '.' 0.1 ' ' 1</a:t>
                </a:r>
              </a:p>
            </p:txBody>
          </p:sp>
        </mc:Choice>
      </mc:AlternateContent>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glm_logistic_regression_lecture_files/figure-pptx/gaussian-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a:p>
            <a:pPr lvl="0" indent="0" marL="0">
              <a:buNone/>
            </a:pPr>
            <a:r>
              <a:rPr b="1" u="sng"/>
              <a:t>Note when we look at Heteroscedascidity (SP) cone of despair - this is why a Poisson model works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Poisson GLMs for Count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Poisson GLM — Why Counts Need a Different Distribution</a:t>
            </a:r>
          </a:p>
        </p:txBody>
      </p:sp>
      <p:sp>
        <p:nvSpPr>
          <p:cNvPr id="3" name="Content Placeholder 2"/>
          <p:cNvSpPr>
            <a:spLocks noGrp="1"/>
          </p:cNvSpPr>
          <p:nvPr>
            <p:ph idx="1"/>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Fit Poisson GLM with size_category as predictor</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model is predicting the natural logarithm (log) of the expected species count</a:t>
                </a:r>
              </a:p>
              <a:p>
                <a:pPr lvl="0"/>
                <a:r>
                  <a:rPr/>
                  <a:t>exponentiate them (i.e., calculate </a:t>
                </a:r>
                <a14:m>
                  <m:oMath xmlns:m="http://schemas.openxmlformats.org/officeDocument/2006/math">
                    <m:sSup>
                      <m:e>
                        <m:r>
                          <m:t>e</m:t>
                        </m:r>
                      </m:e>
                      <m:sup>
                        <m:r>
                          <m:rPr>
                            <m:nor/>
                            <m:sty m:val="p"/>
                          </m:rPr>
                          <m:t>coefficient</m:t>
                        </m:r>
                      </m:sup>
                    </m:sSup>
                  </m:oMath>
                </a14:m>
                <a:r>
                  <a:rPr/>
                  <a:t> or exp(coefficient).</a:t>
                </a:r>
              </a:p>
              <a:p>
                <a:pPr lvl="0"/>
                <a:r>
                  <a:rPr/>
                  <a:t>converts the additive log-counts back into a multiplicative effect on the actual species count</a:t>
                </a:r>
              </a:p>
              <a:p>
                <a:pPr lvl="0"/>
                <a:r>
                  <a:rPr/>
                  <a:t>exp(2.67101) = 14.45 species on a “Small” island</a:t>
                </a:r>
              </a:p>
              <a:p>
                <a:pPr lvl="0"/>
                <a:r>
                  <a:rPr/>
                  <a:t>exp(1.33784) = 3.81</a:t>
                </a:r>
              </a:p>
              <a:p>
                <a:pPr lvl="1"/>
                <a:r>
                  <a:rPr/>
                  <a:t>“Medium” predicted to have 3.81x more spp than “Small” island</a:t>
                </a:r>
              </a:p>
              <a:p>
                <a:pPr lvl="0"/>
                <a:r>
                  <a:rPr/>
                  <a:t>exp(2.84300) = 17.17</a:t>
                </a:r>
              </a:p>
              <a:p>
                <a:pPr lvl="1"/>
                <a:r>
                  <a:rPr/>
                  <a:t>“Large” island is predicted to have 17.17 times more species than a “Small” island, on average</a:t>
                </a:r>
              </a:p>
              <a:p>
                <a:pPr lvl="0"/>
                <a:r>
                  <a:rPr/>
                  <a:t>Dispersion - Divide the deviance by its df: </a:t>
                </a:r>
                <a14:m>
                  <m:oMath xmlns:m="http://schemas.openxmlformats.org/officeDocument/2006/math">
                    <m:r>
                      <m:t>939.74</m:t>
                    </m:r>
                    <m:r>
                      <m:rPr>
                        <m:sty m:val="p"/>
                      </m:rPr>
                      <m:t>/</m:t>
                    </m:r>
                    <m:r>
                      <m:t>27</m:t>
                    </m:r>
                    <m:r>
                      <m:rPr>
                        <m:sty m:val="p"/>
                      </m:rPr>
                      <m:t>≈</m:t>
                    </m:r>
                  </m:oMath>
                </a14:m>
                <a:r>
                  <a:rPr/>
                  <a:t> 34.8</a:t>
                </a:r>
              </a:p>
            </p:txBody>
          </p:sp>
        </mc:Choice>
      </mc:AlternateContent>
      <p:sp>
        <p:nvSpPr>
          <p:cNvPr id="4" name="Content Placeholder 3"/>
          <p:cNvSpPr>
            <a:spLocks noGrp="1"/>
          </p:cNvSpPr>
          <p:nvPr>
            <p:ph idx="2" sz="half"/>
          </p:nvPr>
        </p:nvSpPr>
        <p:spPr/>
        <p:txBody>
          <a:bodyPr/>
          <a:lstStyle/>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(Endemics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Endemics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1.7292     0.1270  13.616   &lt;2e-16 ***</a:t>
            </a:r>
            <a:br/>
            <a:r>
              <a:rPr i="1">
                <a:solidFill>
                  <a:srgbClr val="5E5E5E"/>
                </a:solidFill>
                <a:latin typeface="Courier"/>
              </a:rPr>
              <a:t>## size_categoryMedium   1.3465     0.1413   9.527   &lt;2e-16 ***</a:t>
            </a:r>
            <a:br/>
            <a:r>
              <a:rPr i="1">
                <a:solidFill>
                  <a:srgbClr val="5E5E5E"/>
                </a:solidFill>
                <a:latin typeface="Courier"/>
              </a:rPr>
              <a:t>## size_categoryLarge    2.4582     0.1353  18.173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743.55  on 29  degrees of freedom</a:t>
            </a:r>
            <a:br/>
            <a:r>
              <a:rPr i="1">
                <a:solidFill>
                  <a:srgbClr val="5E5E5E"/>
                </a:solidFill>
                <a:latin typeface="Courier"/>
              </a:rPr>
              <a:t>## Residual deviance: 177.05  on 27  degrees of freedom</a:t>
            </a:r>
            <a:br/>
            <a:r>
              <a:rPr i="1">
                <a:solidFill>
                  <a:srgbClr val="5E5E5E"/>
                </a:solidFill>
                <a:latin typeface="Courier"/>
              </a:rPr>
              <a:t>## AIC: 316</a:t>
            </a:r>
            <a:br/>
            <a:r>
              <a:rPr i="1">
                <a:solidFill>
                  <a:srgbClr val="5E5E5E"/>
                </a:solidFill>
                <a:latin typeface="Courier"/>
              </a:rPr>
              <a:t>## </a:t>
            </a:r>
            <a:br/>
            <a:r>
              <a:rPr i="1">
                <a:solidFill>
                  <a:srgbClr val="5E5E5E"/>
                </a:solidFill>
                <a:latin typeface="Courier"/>
              </a:rPr>
              <a:t>## Number of Fisher Scoring iterations: 5</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 Fitting the Model</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LR Chisq Df Pr(&gt;Chisq)    </a:t>
            </a:r>
            <a:br/>
            <a:r>
              <a:rPr i="1">
                <a:solidFill>
                  <a:srgbClr val="5E5E5E"/>
                </a:solidFill>
                <a:latin typeface="Courier"/>
              </a:rPr>
              <a:t>## size_category    566.5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 Checking Dispersion</a:t>
            </a:r>
          </a:p>
        </p:txBody>
      </p:sp>
      <p:sp>
        <p:nvSpPr>
          <p:cNvPr id="3" name="Content Placeholder 2"/>
          <p:cNvSpPr>
            <a:spLocks noGrp="1"/>
          </p:cNvSpPr>
          <p:nvPr>
            <p:ph idx="1" sz="half"/>
          </p:nvPr>
        </p:nvSpPr>
        <p:spPr/>
        <p:txBody>
          <a:bodyPr/>
          <a:lstStyle/>
          <a:p>
            <a:pPr lvl="0" indent="0" marL="0">
              <a:buNone/>
            </a:pPr>
            <a:r>
              <a:rPr b="1"/>
              <a:t>Poisson GLMs</a:t>
            </a:r>
            <a:r>
              <a:rPr/>
              <a:t> appropriate for </a:t>
            </a:r>
            <a:r>
              <a:rPr b="1"/>
              <a:t>count data</a:t>
            </a:r>
            <a:r>
              <a:rPr/>
              <a:t> and assumes variance equals mean - use the Gala Data and endemics - With natural log link, coefficients = </a:t>
            </a:r>
            <a:r>
              <a:rPr b="1"/>
              <a:t>multiplicative effects</a:t>
            </a:r>
            <a:r>
              <a:rPr/>
              <a:t>: - A coefficient of β means: for each 1-unit increase in X, the response is multiplied by exp(β) - For small β, exp(β) ≈ 1 + β, so β × 100% =app. %change</a:t>
            </a:r>
          </a:p>
          <a:p>
            <a:pPr lvl="0" indent="0">
              <a:buNone/>
            </a:pPr>
            <a:r>
              <a:rPr>
                <a:latin typeface="Courier"/>
              </a:rPr>
              <a:t>## 
## Call:
## glm(formula = Endemics ~ size_category, family = poisson(link = "log"), 
##     data = gala)
## 
## Coefficients:
##                     Estimate Std. Error z value Pr(&gt;|z|)    
## (Intercept)           1.7292     0.1270  13.616   &lt;2e-16 ***
## size_categoryMedium   1.3465     0.1413   9.527   &lt;2e-16 ***
## size_categoryLarge    2.4582     0.1353  18.173   &lt;2e-16 ***
## ---
## Signif. codes:  0 '***' 0.001 '**' 0.01 '*' 0.05 '.' 0.1 ' ' 1
## 
## (Dispersion parameter for poisson family taken to be 1)
## 
##     Null deviance: 743.55  on 29  degrees of freedom
## Residual deviance: 177.05  on 27  degrees of freedom
## AIC: 316
## 
## Number of Fisher Scoring iterations: 5</a:t>
            </a:r>
          </a:p>
        </p:txBody>
      </p:sp>
      <p:sp>
        <p:nvSpPr>
          <p:cNvPr id="4" name="Content Placeholder 3"/>
          <p:cNvSpPr>
            <a:spLocks noGrp="1"/>
          </p:cNvSpPr>
          <p:nvPr>
            <p:ph idx="2" sz="half"/>
          </p:nvPr>
        </p:nvSpPr>
        <p:spPr/>
        <p:txBody>
          <a:bodyPr/>
          <a:lstStyle/>
          <a:p>
            <a:pPr lvl="0"/>
            <a:r>
              <a:rPr/>
              <a:t>check overdispersion- common in count data:</a:t>
            </a:r>
          </a:p>
          <a:p>
            <a:pPr lvl="0"/>
            <a:r>
              <a:rPr/>
              <a:t>Should be close to 1 for well-fitting Poisson model</a:t>
            </a:r>
          </a:p>
          <a:p>
            <a:pPr lvl="0"/>
            <a:r>
              <a:rPr/>
              <a:t>If &gt; 1.5, may indicate overdispersion</a:t>
            </a:r>
          </a:p>
          <a:p>
            <a:pPr lvl="0"/>
            <a:r>
              <a:rPr/>
              <a:t>Dispersion parameter measures obs var / expected var:</a:t>
            </a:r>
          </a:p>
          <a:p>
            <a:pPr lvl="0"/>
            <a:r>
              <a:rPr b="1"/>
              <a:t>Dispersion ≈ 1</a:t>
            </a:r>
            <a:r>
              <a:rPr/>
              <a:t>: Good fit (var = mean)</a:t>
            </a:r>
          </a:p>
          <a:p>
            <a:pPr lvl="0"/>
            <a:r>
              <a:rPr b="1"/>
              <a:t>Dispersion &gt; 1</a:t>
            </a:r>
            <a:r>
              <a:rPr/>
              <a:t>: Overdispersion (var &gt; mean)</a:t>
            </a:r>
          </a:p>
          <a:p>
            <a:pPr lvl="0"/>
            <a:r>
              <a:rPr b="1"/>
              <a:t>Dispersion &lt; 1</a:t>
            </a:r>
            <a:r>
              <a:rPr/>
              <a:t>: </a:t>
            </a:r>
            <a:r>
              <a:rPr b="1"/>
              <a:t>Underdispersion</a:t>
            </a:r>
            <a:r>
              <a:rPr/>
              <a:t> (var &lt; mean)</a:t>
            </a:r>
          </a:p>
          <a:p>
            <a:pPr lvl="0"/>
            <a:r>
              <a:rPr/>
              <a:t>use Negative Binomial model</a:t>
            </a:r>
          </a:p>
          <a:p>
            <a:pPr lvl="0" indent="0">
              <a:buNone/>
            </a:pPr>
            <a:r>
              <a:rPr>
                <a:solidFill>
                  <a:srgbClr val="5E5E5E"/>
                </a:solidFill>
                <a:latin typeface="Courier"/>
              </a:rPr>
              <a:t># Calculate the dispersion parameter</a:t>
            </a:r>
            <a:br/>
            <a:r>
              <a:rPr>
                <a:solidFill>
                  <a:srgbClr val="5E5E5E"/>
                </a:solidFill>
                <a:latin typeface="Courier"/>
              </a:rPr>
              <a:t># (Pearson's Chi-Squared statistic / residual degrees of freedom)</a:t>
            </a:r>
            <a:br/>
            <a:r>
              <a:rPr>
                <a:solidFill>
                  <a:srgbClr val="003B4F"/>
                </a:solidFill>
                <a:latin typeface="Courier"/>
              </a:rPr>
              <a:t>dispersion_gala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model_poisson_gala</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(dispersion_gala,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Dispersion parameter: 6.05</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 Estimated Marginal Means on the Count Scale</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p>
          <a:p>
            <a:pPr lvl="0"/>
            <a:r>
              <a:rPr/>
              <a:t>assumes that the variance equals the mean.</a:t>
            </a:r>
          </a:p>
          <a:p>
            <a:pPr lvl="0" indent="0">
              <a:buNone/>
            </a:pPr>
            <a:r>
              <a:rPr>
                <a:solidFill>
                  <a:srgbClr val="5E5E5E"/>
                </a:solidFill>
                <a:latin typeface="Courier"/>
              </a:rPr>
              <a:t># 1. Calculate Estimated Marginal Means (EMMs)</a:t>
            </a:r>
            <a:br/>
            <a:r>
              <a:rPr>
                <a:solidFill>
                  <a:srgbClr val="5E5E5E"/>
                </a:solidFill>
                <a:latin typeface="Courier"/>
              </a:rPr>
              <a:t># type = "response" converts the log-means back to the "Endemics count" scale</a:t>
            </a:r>
            <a:br/>
            <a:r>
              <a:rPr>
                <a:solidFill>
                  <a:srgbClr val="003B4F"/>
                </a:solidFill>
                <a:latin typeface="Courier"/>
              </a:rPr>
              <a:t>emm_gala &lt;- </a:t>
            </a:r>
            <a:r>
              <a:rPr>
                <a:solidFill>
                  <a:srgbClr val="4758AB"/>
                </a:solidFill>
                <a:latin typeface="Courier"/>
              </a:rPr>
              <a:t>emmeans</a:t>
            </a:r>
            <a:r>
              <a:rPr>
                <a:solidFill>
                  <a:srgbClr val="003B4F"/>
                </a:solidFill>
                <a:latin typeface="Courier"/>
              </a:rPr>
              <a:t>(model_poisson_gala, </a:t>
            </a:r>
            <a:br/>
            <a:r>
              <a:rPr>
                <a:solidFill>
                  <a:srgbClr val="003B4F"/>
                </a:solidFill>
                <a:latin typeface="Courier"/>
              </a:rPr>
              <a:t>                    </a:t>
            </a:r>
            <a:r>
              <a:rPr>
                <a:solidFill>
                  <a:srgbClr val="657422"/>
                </a:solidFill>
                <a:latin typeface="Courier"/>
              </a:rPr>
              <a:t>specs =</a:t>
            </a:r>
            <a:r>
              <a:rPr>
                <a:solidFill>
                  <a:srgbClr val="003B4F"/>
                </a:solidFill>
                <a:latin typeface="Courier"/>
              </a:rPr>
              <a:t> </a:t>
            </a:r>
            <a:r>
              <a:rPr>
                <a:solidFill>
                  <a:srgbClr val="5E5E5E"/>
                </a:solidFill>
                <a:latin typeface="Courier"/>
              </a:rPr>
              <a:t>~</a:t>
            </a:r>
            <a:r>
              <a:rPr>
                <a:solidFill>
                  <a:srgbClr val="003B4F"/>
                </a:solidFill>
                <a:latin typeface="Courier"/>
              </a:rPr>
              <a:t> size_category,</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4758AB"/>
                </a:solidFill>
                <a:latin typeface="Courier"/>
              </a:rPr>
              <a:t>print</a:t>
            </a:r>
            <a:r>
              <a:rPr>
                <a:solidFill>
                  <a:srgbClr val="003B4F"/>
                </a:solidFill>
                <a:latin typeface="Courier"/>
              </a:rPr>
              <a:t>(emm_gala)</a:t>
            </a:r>
            <a:br/>
            <a:r>
              <a:rPr i="1">
                <a:solidFill>
                  <a:srgbClr val="5E5E5E"/>
                </a:solidFill>
                <a:latin typeface="Courier"/>
              </a:rPr>
              <a:t>##  size_category  rate    SE  df asymp.LCL asymp.UCL</a:t>
            </a:r>
            <a:br/>
            <a:r>
              <a:rPr i="1">
                <a:solidFill>
                  <a:srgbClr val="5E5E5E"/>
                </a:solidFill>
                <a:latin typeface="Courier"/>
              </a:rPr>
              <a:t>##  Small          5.64 0.716 Inf      4.39      7.23</a:t>
            </a:r>
            <a:br/>
            <a:r>
              <a:rPr i="1">
                <a:solidFill>
                  <a:srgbClr val="5E5E5E"/>
                </a:solidFill>
                <a:latin typeface="Courier"/>
              </a:rPr>
              <a:t>##  Medium        21.67 1.340 Inf     19.19     24.47</a:t>
            </a:r>
            <a:br/>
            <a:r>
              <a:rPr i="1">
                <a:solidFill>
                  <a:srgbClr val="5E5E5E"/>
                </a:solidFill>
                <a:latin typeface="Courier"/>
              </a:rPr>
              <a:t>##  Large         65.86 3.070 Inf     60.11     72.15</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0.2601 0.0368 Inf    1  -9.527 &lt;0.0001
##  Small / Large  0.0856 0.0116 Inf    1 -18.173 &lt;0.0001
##  Medium / Large 0.3290 0.0255 Inf    1 -14.334 &lt;0.0001
## 
## P value adjustment: tukey method for comparing a family of 3 estimates 
## Tests are performed on the log scale
##  size_category  rate    SE  df asymp.LCL asymp.UCL .group
##  Small          5.64 0.716 Inf      4.39      7.23  a    
##  Medium        21.67 1.340 Inf     19.19     24.47   b   
##  Large         65.86 3.070 Inf     60.11     72.15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Visualization and Interpretation</a:t>
            </a:r>
          </a:p>
        </p:txBody>
      </p:sp>
      <p:sp>
        <p:nvSpPr>
          <p:cNvPr id="3" name="Content Placeholder 2"/>
          <p:cNvSpPr>
            <a:spLocks noGrp="1"/>
          </p:cNvSpPr>
          <p:nvPr>
            <p:ph idx="1" sz="half"/>
          </p:nvPr>
        </p:nvSpPr>
        <p:spPr/>
        <p:txBody>
          <a:bodyPr/>
          <a:lstStyle/>
          <a:p>
            <a:pPr lvl="0"/>
            <a:r>
              <a:rPr/>
              <a:t>Plot raw data and our emmeans results</a:t>
            </a:r>
          </a:p>
          <a:p>
            <a:pPr lvl="1"/>
            <a:r>
              <a:rPr/>
              <a:t>shows the model’s predictions on top of the real data</a:t>
            </a:r>
          </a:p>
          <a:p>
            <a:pPr lvl="1" indent="0" marL="342900">
              <a:buNone/>
            </a:pPr>
          </a:p>
        </p:txBody>
      </p:sp>
      <p:sp>
        <p:nvSpPr>
          <p:cNvPr id="4" name="Content Placeholder 3"/>
          <p:cNvSpPr>
            <a:spLocks noGrp="1"/>
          </p:cNvSpPr>
          <p:nvPr>
            <p:ph idx="2" sz="half"/>
          </p:nvPr>
        </p:nvSpPr>
        <p:spPr/>
        <p:txBody>
          <a:bodyPr/>
          <a:lstStyle/>
          <a:p>
            <a:pPr lvl="0" indent="0" marL="0">
              <a:spcBef>
                <a:spcPts val="3000"/>
              </a:spcBef>
              <a:buNone/>
            </a:pPr>
            <a:r>
              <a:rPr b="1"/>
              <a:t>Interpreting Poisson GLM Coefficients</a:t>
            </a:r>
          </a:p>
          <a:p>
            <a:pPr lvl="0"/>
            <a:r>
              <a:rPr/>
              <a:t>In a Poisson GLM with a log link function:</a:t>
            </a:r>
          </a:p>
          <a:p>
            <a:pPr lvl="1"/>
            <a:r>
              <a:rPr/>
              <a:t>Coefficientschanges in the </a:t>
            </a:r>
            <a:r>
              <a:rPr b="1"/>
              <a:t>log</a:t>
            </a:r>
            <a:r>
              <a:rPr/>
              <a:t> of the expected count</a:t>
            </a:r>
          </a:p>
          <a:p>
            <a:pPr lvl="1"/>
            <a:r>
              <a:rPr/>
              <a:t>When exponentiated (</a:t>
            </a:r>
            <a:r>
              <a:rPr>
                <a:latin typeface="Courier"/>
              </a:rPr>
              <a:t>exp(coef)</a:t>
            </a:r>
            <a:r>
              <a:rPr/>
              <a:t>)= multiplicative effects</a:t>
            </a:r>
          </a:p>
          <a:p>
            <a:pPr lvl="1"/>
            <a:r>
              <a:rPr>
                <a:latin typeface="Courier"/>
              </a:rPr>
              <a:t>exp(coef)</a:t>
            </a:r>
            <a:r>
              <a:rPr/>
              <a:t> = 0.90 = the expected count is 90% of reference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Comparison of interpretation</a:t>
            </a:r>
          </a:p>
        </p:txBody>
      </p:sp>
      <p:sp>
        <p:nvSpPr>
          <p:cNvPr id="4" name="Text Placeholder 3"/>
          <p:cNvSpPr>
            <a:spLocks noGrp="1"/>
          </p:cNvSpPr>
          <p:nvPr>
            <p:ph idx="2" sz="half" type="body"/>
          </p:nvPr>
        </p:nvSpPr>
        <p:spPr/>
        <p:txBody>
          <a:bodyPr/>
          <a:lstStyle/>
          <a:p>
            <a:pPr lvl="0"/>
            <a:r>
              <a:rPr/>
              <a:t>Interpretation of β₁ GLM (Log-Link) glm(Y~X, family = poisson)</a:t>
            </a:r>
          </a:p>
          <a:p>
            <a:pPr lvl="1"/>
            <a:r>
              <a:rPr/>
              <a:t>1-unit change in X multiplies the mean of Y by exp(β₁)</a:t>
            </a:r>
          </a:p>
          <a:p>
            <a:pPr lvl="0"/>
            <a:r>
              <a:rPr/>
              <a:t>lm (Log-Response) lm(log(Y) ~ X)</a:t>
            </a:r>
          </a:p>
          <a:p>
            <a:pPr lvl="1"/>
            <a:r>
              <a:rPr/>
              <a:t>1-unit change in X multiplies median Y by exp(β₁).</a:t>
            </a:r>
          </a:p>
          <a:p>
            <a:pPr lvl="0"/>
            <a:r>
              <a:rPr/>
              <a:t>lm (Log-Log) lm(log(Y) ~ log(X))</a:t>
            </a:r>
          </a:p>
          <a:p>
            <a:pPr lvl="1"/>
            <a:r>
              <a:rPr/>
              <a:t>A 1% change in x is a beta percent change in 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pPr lvl="0" indent="0" marL="0">
                        <a:buNone/>
                      </a:pPr>
                      <a:r>
                        <a:rPr/>
                        <a:t>Model Type</a:t>
                      </a:r>
                    </a:p>
                  </a:txBody>
                  <a:tcPr/>
                </a:tc>
                <a:tc>
                  <a:txBody>
                    <a:bodyPr/>
                    <a:lstStyle/>
                    <a:p>
                      <a:pPr lvl="0" indent="0" marL="0">
                        <a:buNone/>
                      </a:pPr>
                      <a:r>
                        <a:rPr/>
                        <a:t>R Code (Example)</a:t>
                      </a:r>
                    </a:p>
                  </a:txBody>
                  <a:tcPr/>
                </a:tc>
                <a:tc>
                  <a:txBody>
                    <a:bodyPr/>
                    <a:lstStyle/>
                    <a:p>
                      <a:pPr lvl="0" indent="0" marL="0">
                        <a:buNone/>
                      </a:pPr>
                      <a:r>
                        <a:rPr/>
                        <a:t>Interpretation of β₁</a:t>
                      </a:r>
                    </a:p>
                  </a:txBody>
                  <a:tcPr/>
                </a:tc>
              </a:tr>
              <a:tr h="0">
                <a:tc>
                  <a:txBody>
                    <a:bodyPr/>
                    <a:lstStyle/>
                    <a:p>
                      <a:pPr lvl="0" indent="0" marL="0">
                        <a:buNone/>
                      </a:pPr>
                      <a:r>
                        <a:rPr/>
                        <a:t>GLM (Log-Link)</a:t>
                      </a:r>
                    </a:p>
                  </a:txBody>
                </a:tc>
                <a:tc>
                  <a:txBody>
                    <a:bodyPr/>
                    <a:lstStyle/>
                    <a:p>
                      <a:pPr lvl="0" indent="0" marL="0">
                        <a:buNone/>
                      </a:pPr>
                      <a:r>
                        <a:rPr>
                          <a:latin typeface="Courier"/>
                        </a:rPr>
                        <a:t>glm(Y ~ X, family = poisson)</a:t>
                      </a:r>
                    </a:p>
                  </a:txBody>
                </a:tc>
                <a:tc>
                  <a:txBody>
                    <a:bodyPr/>
                    <a:lstStyle/>
                    <a:p>
                      <a:pPr lvl="0" indent="0" marL="0">
                        <a:buNone/>
                      </a:pPr>
                      <a:r>
                        <a:rPr/>
                        <a:t>A 1-unit change in X multiplies the mean of Y by exp(β₁).</a:t>
                      </a:r>
                    </a:p>
                  </a:txBody>
                </a:tc>
              </a:tr>
              <a:tr h="0">
                <a:tc>
                  <a:txBody>
                    <a:bodyPr/>
                    <a:lstStyle/>
                    <a:p>
                      <a:pPr lvl="0" indent="0" marL="0">
                        <a:buNone/>
                      </a:pPr>
                      <a:r>
                        <a:rPr/>
                        <a:t>lm (Log-Response)</a:t>
                      </a:r>
                    </a:p>
                  </a:txBody>
                </a:tc>
                <a:tc>
                  <a:txBody>
                    <a:bodyPr/>
                    <a:lstStyle/>
                    <a:p>
                      <a:pPr lvl="0" indent="0" marL="0">
                        <a:buNone/>
                      </a:pPr>
                      <a:r>
                        <a:rPr>
                          <a:latin typeface="Courier"/>
                        </a:rPr>
                        <a:t>lm(log(Y) ~ X)</a:t>
                      </a:r>
                    </a:p>
                  </a:txBody>
                </a:tc>
                <a:tc>
                  <a:txBody>
                    <a:bodyPr/>
                    <a:lstStyle/>
                    <a:p>
                      <a:pPr lvl="0" indent="0" marL="0">
                        <a:buNone/>
                      </a:pPr>
                      <a:r>
                        <a:rPr/>
                        <a:t>A 1-unit change in X multiplies the median of Y by exp(β₁).</a:t>
                      </a:r>
                    </a:p>
                  </a:txBody>
                </a:tc>
              </a:tr>
              <a:tr h="0">
                <a:tc>
                  <a:txBody>
                    <a:bodyPr/>
                    <a:lstStyle/>
                    <a:p>
                      <a:pPr lvl="0" indent="0" marL="0">
                        <a:buNone/>
                      </a:pPr>
                      <a:r>
                        <a:rPr/>
                        <a:t>lm (Log-Log)</a:t>
                      </a:r>
                    </a:p>
                  </a:txBody>
                </a:tc>
                <a:tc>
                  <a:txBody>
                    <a:bodyPr/>
                    <a:lstStyle/>
                    <a:p>
                      <a:pPr lvl="0" indent="0" marL="0">
                        <a:buNone/>
                      </a:pPr>
                      <a:r>
                        <a:rPr>
                          <a:latin typeface="Courier"/>
                        </a:rPr>
                        <a:t>lm(log(Y) ~ log(X))</a:t>
                      </a:r>
                    </a:p>
                  </a:txBody>
                </a:tc>
                <a:tc>
                  <a:txBody>
                    <a:bodyPr/>
                    <a:lstStyle/>
                    <a:p>
                      <a:pPr lvl="0" indent="0" marL="0">
                        <a:buNone/>
                      </a:pPr>
                      <a:r>
                        <a:rPr/>
                        <a:t>A 1% change in X is associated with a β₁% change in Y.</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overdispersion (variance &gt; mean) - use negative binomial model </a:t>
            </a:r>
            <a:r>
              <a:rPr>
                <a:latin typeface="Courier"/>
              </a:rPr>
              <a:t>model_nb &lt;- glm.nb(Endemics ~ area_cat, data = gala)</a:t>
            </a:r>
          </a:p>
          <a:p>
            <a:pPr lvl="0"/>
            <a:r>
              <a:rPr/>
              <a:t>negative binomial model includes a dispersion parameter (theta)</a:t>
            </a:r>
          </a:p>
          <a:p>
            <a:pPr lvl="1"/>
            <a:r>
              <a:rPr/>
              <a:t>allows variance to be larger than mean</a:t>
            </a:r>
          </a:p>
          <a:p>
            <a:pPr lvl="1"/>
            <a:r>
              <a:rPr b="1"/>
              <a:t>standard errors bigger because NB model accounts for high variability (overdispersion)</a:t>
            </a:r>
          </a:p>
          <a:p>
            <a:pPr lvl="1"/>
            <a:r>
              <a:rPr/>
              <a:t>estimates dispersion parameter ‘Theta’ (or 1/theta)</a:t>
            </a:r>
          </a:p>
          <a:p>
            <a:pPr lvl="1" indent="0">
              <a:buNone/>
            </a:pPr>
            <a:r>
              <a:rPr>
                <a:latin typeface="Courier"/>
              </a:rPr>
              <a:t>## 
## Call:
## glm.nb(formula = Endemics ~ size_category, data = gala, init.theta = 3.855017567, 
##     link = log)
## 
## Coefficients:
##                     Estimate Std. Error z value Pr(&gt;|z|)    
## (Intercept)           1.7292     0.1993   8.678  &lt; 2e-16 ***
## size_categoryMedium   1.3465     0.2553   5.274 1.33e-07 ***
## size_categoryLarge    2.4582     0.2810   8.750  &lt; 2e-16 ***
## ---
## Signif. codes:  0 '***' 0.001 '**' 0.01 '*' 0.05 '.' 0.1 ' ' 1
## 
## (Dispersion parameter for Negative Binomial(3.855) family taken to be 1)
## 
##     Null deviance: 115.697  on 29  degrees of freedom
## Residual deviance:  35.481  on 27  degrees of freedom
## AIC: 227.27
## 
## Number of Fisher Scoring iterations: 1
## 
## 
##               Theta:  3.86 
##           Std. Err.:  1.39 
## 
##  2 x log-likelihood:  -219.269</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glm_logistic_regression_lecture_files/figure-pptx/gala-compare-models-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Logistic Regression</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a:r>
                  <a:rPr/>
                  <a:t>Logistic regression model:</a:t>
                </a:r>
              </a:p>
              <a:p>
                <a:pPr lvl="1"/>
                <a14:m>
                  <m:oMath xmlns:m="http://schemas.openxmlformats.org/officeDocument/2006/math">
                    <m:r>
                      <m:t>π</m:t>
                    </m:r>
                    <m:r>
                      <m:rPr>
                        <m:sty m:val="p"/>
                      </m:rPr>
                      <m:t>(</m:t>
                    </m:r>
                    <m:r>
                      <m:t>x</m:t>
                    </m:r>
                    <m:r>
                      <m:rPr>
                        <m:sty m:val="p"/>
                      </m:rPr>
                      <m:t>)</m:t>
                    </m:r>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a14:m>
              </a:p>
              <a:p>
                <a:pPr lvl="1"/>
                <a:r>
                  <a:rPr/>
                  <a:t>Where:</a:t>
                </a:r>
              </a:p>
              <a:p>
                <a:pPr lvl="1"/>
                <a14:m>
                  <m:oMath xmlns:m="http://schemas.openxmlformats.org/officeDocument/2006/math">
                    <m:r>
                      <m:t>π</m:t>
                    </m:r>
                    <m:r>
                      <m:rPr>
                        <m:sty m:val="p"/>
                      </m:rPr>
                      <m:t>(</m:t>
                    </m:r>
                    <m:r>
                      <m:t>x</m:t>
                    </m:r>
                    <m:r>
                      <m:rPr>
                        <m:sty m:val="p"/>
                      </m:rPr>
                      <m:t>)</m:t>
                    </m:r>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r>
                      <m:rPr>
                        <m:sty m:val="p"/>
                      </m:rPr>
                      <m:t>(</m:t>
                    </m:r>
                    <m:r>
                      <m:t>x</m:t>
                    </m:r>
                    <m:r>
                      <m:rPr>
                        <m:sty m:val="p"/>
                      </m:rPr>
                      <m:t>)</m:t>
                    </m:r>
                  </m:oMath>
                </a14:m>
                <a:r>
                  <a:rPr/>
                  <a:t> for a unit change in X)</a:t>
                </a:r>
              </a:p>
              <a:p>
                <a:pPr lvl="0"/>
                <a:r>
                  <a:rPr/>
                  <a:t>To linearize this relationship, we use the logit link function:</a:t>
                </a:r>
              </a:p>
              <a:p>
                <a:pPr lvl="1"/>
                <a14:m>
                  <m:oMath xmlns:m="http://schemas.openxmlformats.org/officeDocument/2006/math">
                    <m:r>
                      <m:t>g</m:t>
                    </m:r>
                    <m:r>
                      <m:rPr>
                        <m:sty m:val="p"/>
                      </m:rPr>
                      <m:t>(</m:t>
                    </m:r>
                    <m:r>
                      <m:t>x</m:t>
                    </m:r>
                    <m:r>
                      <m:rPr>
                        <m:sty m:val="p"/>
                      </m:rPr>
                      <m:t>)</m:t>
                    </m:r>
                    <m:r>
                      <m:rPr>
                        <m:sty m:val="p"/>
                      </m:rPr>
                      <m:t>=</m:t>
                    </m:r>
                    <m:r>
                      <m:rPr>
                        <m:sty m:val="p"/>
                      </m:rPr>
                      <m:t>log</m:t>
                    </m:r>
                    <m:d>
                      <m:dPr>
                        <m:begChr m:val="("/>
                        <m:sepChr m:val=""/>
                        <m:endChr m:val=")"/>
                        <m:grow/>
                      </m:dPr>
                      <m:e>
                        <m:f>
                          <m:fPr>
                            <m:type m:val="bar"/>
                          </m:fPr>
                          <m:num>
                            <m:r>
                              <m:t>π</m:t>
                            </m:r>
                            <m:r>
                              <m:rPr>
                                <m:sty m:val="p"/>
                              </m:rPr>
                              <m:t>(</m:t>
                            </m:r>
                            <m:r>
                              <m:t>x</m:t>
                            </m:r>
                            <m:r>
                              <m:rPr>
                                <m:sty m:val="p"/>
                              </m:rPr>
                              <m:t>)</m:t>
                            </m:r>
                          </m:num>
                          <m:den>
                            <m:r>
                              <m:t>1</m:t>
                            </m:r>
                            <m:r>
                              <m:rPr>
                                <m:sty m:val="p"/>
                              </m:rPr>
                              <m:t>−</m:t>
                            </m:r>
                            <m:r>
                              <m:t>π</m:t>
                            </m:r>
                            <m:r>
                              <m:rPr>
                                <m:sty m:val="p"/>
                              </m:rPr>
                              <m:t>(</m:t>
                            </m:r>
                            <m:r>
                              <m:t>x</m:t>
                            </m:r>
                            <m:r>
                              <m:rPr>
                                <m:sty m:val="p"/>
                              </m:rPr>
                              <m:t>)</m:t>
                            </m:r>
                          </m:den>
                        </m:f>
                      </m:e>
                    </m:d>
                    <m:r>
                      <m:rPr>
                        <m:sty m:val="p"/>
                      </m:rPr>
                      <m:t>=</m:t>
                    </m:r>
                    <m:sSub>
                      <m:e>
                        <m:r>
                          <m:t>β</m:t>
                        </m:r>
                      </m:e>
                      <m:sub>
                        <m:r>
                          <m:t>0</m:t>
                        </m:r>
                      </m:sub>
                    </m:sSub>
                    <m:r>
                      <m:rPr>
                        <m:sty m:val="p"/>
                      </m:rPr>
                      <m:t>+</m:t>
                    </m:r>
                    <m:sSub>
                      <m:e>
                        <m:r>
                          <m:t>β</m:t>
                        </m:r>
                      </m:e>
                      <m:sub>
                        <m:r>
                          <m:t>1</m:t>
                        </m:r>
                      </m:sub>
                    </m:sSub>
                    <m:r>
                      <m:t>x</m:t>
                    </m:r>
                  </m:oMath>
                </a14:m>
              </a:p>
              <a:p>
                <a:pPr lvl="0"/>
                <a:r>
                  <a:rPr/>
                  <a:t>transforms probability (bounded between 0 and 1) to linear fx ranges from -∞ to +∞.</a:t>
                </a:r>
              </a:p>
              <a:p>
                <a:pPr lvl="0" indent="0" marL="1270000">
                  <a:buNone/>
                </a:pPr>
                <a:r>
                  <a:rPr sz="2000" b="1"/>
                  <a:t>Note</a:t>
                </a:r>
              </a:p>
              <a:p>
                <a:pPr lvl="0" indent="0" marL="1270000">
                  <a:buNone/>
                </a:pPr>
                <a:r>
                  <a:rPr sz="2000"/>
                  <a:t>Gotelli &amp; Ellison, </a:t>
                </a:r>
                <a:r>
                  <a:rPr sz="2000" i="1"/>
                  <a:t>A Primer of Ecological Statistics</a:t>
                </a:r>
                <a:r>
                  <a:rPr sz="2000"/>
                  <a:t>, Ch. 11 — The Analysis of Categorical Data, for logistic regression and binomial GLMs.</a:t>
                </a:r>
              </a:p>
            </p:txBody>
          </p:sp>
        </mc:Choice>
      </mc:AlternateContent>
      <p:pic>
        <p:nvPicPr>
          <p:cNvPr descr="glm_logistic_regression_lecture_files/figure-pptx/logistic-curv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Logistic Regression — The Lizard Island Data</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marL="0">
              <a:buNone/>
            </a:pP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Logistic Regression — Fitting the Model</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a:buNone/>
            </a:pP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uta_present ~ pa_ratio, family = binomial(link = "logit"), </a:t>
            </a:r>
            <a:br/>
            <a:r>
              <a:rPr i="1">
                <a:solidFill>
                  <a:srgbClr val="5E5E5E"/>
                </a:solidFill>
                <a:latin typeface="Courier"/>
              </a:rPr>
              <a:t>##     data = island_data)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5.9374     2.1297   2.788  0.00530 **</a:t>
            </a:r>
            <a:br/>
            <a:r>
              <a:rPr i="1">
                <a:solidFill>
                  <a:srgbClr val="5E5E5E"/>
                </a:solidFill>
                <a:latin typeface="Courier"/>
              </a:rPr>
              <a:t>## pa_ratio     -0.1493     0.0517  -2.887  0.00388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binomial family taken to be 1)</a:t>
            </a:r>
            <a:br/>
            <a:r>
              <a:rPr i="1">
                <a:solidFill>
                  <a:srgbClr val="5E5E5E"/>
                </a:solidFill>
                <a:latin typeface="Courier"/>
              </a:rPr>
              <a:t>## </a:t>
            </a:r>
            <a:br/>
            <a:r>
              <a:rPr i="1">
                <a:solidFill>
                  <a:srgbClr val="5E5E5E"/>
                </a:solidFill>
                <a:latin typeface="Courier"/>
              </a:rPr>
              <a:t>##     Null deviance: 41.455  on 29  degrees of freedom</a:t>
            </a:r>
            <a:br/>
            <a:r>
              <a:rPr i="1">
                <a:solidFill>
                  <a:srgbClr val="5E5E5E"/>
                </a:solidFill>
                <a:latin typeface="Courier"/>
              </a:rPr>
              <a:t>## Residual deviance: 19.090  on 28  degrees of freedom</a:t>
            </a:r>
            <a:br/>
            <a:r>
              <a:rPr i="1">
                <a:solidFill>
                  <a:srgbClr val="5E5E5E"/>
                </a:solidFill>
                <a:latin typeface="Courier"/>
              </a:rPr>
              <a:t>## AIC: 23.09</a:t>
            </a:r>
            <a:br/>
            <a:r>
              <a:rPr i="1">
                <a:solidFill>
                  <a:srgbClr val="5E5E5E"/>
                </a:solidFill>
                <a:latin typeface="Courier"/>
              </a:rPr>
              <a:t>## </a:t>
            </a:r>
            <a:br/>
            <a:r>
              <a:rPr i="1">
                <a:solidFill>
                  <a:srgbClr val="5E5E5E"/>
                </a:solidFill>
                <a:latin typeface="Courier"/>
              </a:rPr>
              <a:t>## Number of Fisher Scoring iterations: 6</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glm_logistic_regression_lecture_files/figure-pptx/lizard-plot-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Test null hypothesis that β₁ = 0</a:t>
            </a:r>
          </a:p>
          <a:p>
            <a:pPr lvl="1"/>
            <a:r>
              <a:rPr/>
              <a:t>no relationship between P/A ratio and lizard presence</a:t>
            </a:r>
          </a:p>
          <a:p>
            <a:pPr lvl="0"/>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i="1">
                <a:solidFill>
                  <a:srgbClr val="5E5E5E"/>
                </a:solidFill>
                <a:latin typeface="Courier"/>
              </a:rPr>
              <a:t>## Analysis of Deviance Table</a:t>
            </a:r>
            <a:br/>
            <a:r>
              <a:rPr i="1">
                <a:solidFill>
                  <a:srgbClr val="5E5E5E"/>
                </a:solidFill>
                <a:latin typeface="Courier"/>
              </a:rPr>
              <a:t>## </a:t>
            </a:r>
            <a:br/>
            <a:r>
              <a:rPr i="1">
                <a:solidFill>
                  <a:srgbClr val="5E5E5E"/>
                </a:solidFill>
                <a:latin typeface="Courier"/>
              </a:rPr>
              <a:t>## Model 1: uta_present ~ 1</a:t>
            </a:r>
            <a:br/>
            <a:r>
              <a:rPr i="1">
                <a:solidFill>
                  <a:srgbClr val="5E5E5E"/>
                </a:solidFill>
                <a:latin typeface="Courier"/>
              </a:rPr>
              <a:t>## Model 2: uta_present ~ pa_ratio</a:t>
            </a:r>
            <a:br/>
            <a:r>
              <a:rPr i="1">
                <a:solidFill>
                  <a:srgbClr val="5E5E5E"/>
                </a:solidFill>
                <a:latin typeface="Courier"/>
              </a:rPr>
              <a:t>##   Resid. Df Resid. Dev Df Deviance  Pr(&gt;Chi)    </a:t>
            </a:r>
            <a:br/>
            <a:r>
              <a:rPr i="1">
                <a:solidFill>
                  <a:srgbClr val="5E5E5E"/>
                </a:solidFill>
                <a:latin typeface="Courier"/>
              </a:rPr>
              <a:t>## 1        29     41.455                          </a:t>
            </a:r>
            <a:br/>
            <a:r>
              <a:rPr i="1">
                <a:solidFill>
                  <a:srgbClr val="5E5E5E"/>
                </a:solidFill>
                <a:latin typeface="Courier"/>
              </a:rPr>
              <a:t>## 2        28     19.090  1   22.365 2.254e-06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Odds ratio represents how odds of event (e.g., lizard presence) change with unit increase in predictor</a:t>
            </a:r>
          </a:p>
          <a:p>
            <a:pPr lvl="0"/>
            <a:r>
              <a:rPr b="1"/>
              <a:t>Odds ratio = exp(β₁)</a:t>
            </a:r>
          </a:p>
          <a:p>
            <a:pPr lvl="0"/>
            <a:r>
              <a:rPr/>
              <a:t>&gt; 1: Increasing predictor increases odds of event</a:t>
            </a:r>
          </a:p>
          <a:p>
            <a:pPr lvl="0"/>
            <a:r>
              <a:rPr/>
              <a:t>&lt; 1: Increasing predictor decreases odds of event</a:t>
            </a:r>
          </a:p>
          <a:p>
            <a:pPr lvl="0"/>
            <a:r>
              <a:rPr/>
              <a:t>= 1: No effect of predictor on odds of event</a:t>
            </a:r>
          </a:p>
          <a:p>
            <a:pPr lvl="0"/>
            <a:r>
              <a:rPr/>
              <a:t>one-unit increase in island’s Perimeter/Area Ratio - odds of finding lizard present multiplied by 0.898</a:t>
            </a:r>
          </a:p>
          <a:p>
            <a:pPr lvl="0"/>
            <a:r>
              <a:rPr/>
              <a:t>odds decrease by 10.2% (1-0.898) for every one-unit increase P/A</a:t>
            </a:r>
          </a:p>
          <a:p>
            <a:pPr lvl="0"/>
            <a:r>
              <a:rPr/>
              <a:t>entire interval is below 1.0, relationship is negative: more P/A ratio means lower odds of lizards</a:t>
            </a:r>
          </a:p>
          <a:p>
            <a:pPr lvl="0" indent="0">
              <a:buNone/>
            </a:pP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Odds Ratio: 0.861 </a:t>
            </a:r>
            <a:br/>
            <a:r>
              <a:rPr i="1">
                <a:solidFill>
                  <a:srgbClr val="5E5E5E"/>
                </a:solidFill>
                <a:latin typeface="Courier"/>
              </a:rPr>
              <a:t>## </a:t>
            </a:r>
            <a:br/>
            <a:r>
              <a:rPr i="1">
                <a:solidFill>
                  <a:srgbClr val="5E5E5E"/>
                </a:solidFill>
                <a:latin typeface="Courier"/>
              </a:rPr>
              <a:t>##  95% CI: 0.753 to 0.932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Multiple Logistic Regression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r>
                        <m:rPr>
                          <m:sty m:val="p"/>
                        </m:rPr>
                        <m:t>(</m:t>
                      </m:r>
                      <m:r>
                        <m:t>x</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diagnostics for our multiple logistic regression model:</a:t>
            </a:r>
          </a:p>
        </p:txBody>
      </p:sp>
      <p:pic>
        <p:nvPicPr>
          <p:cNvPr descr="glm_logistic_regression_lecture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want to find most parsimonious model. use: - Likelihood ratio tests for nested models - Information criteria (AIC, BIC) for non-nested models - Classification metrics like accuracy, sensitivity, and specificity</a:t>
            </a:r>
          </a:p>
          <a:p>
            <a:pPr lvl="0" indent="0" marL="0">
              <a:buNone/>
            </a:pPr>
            <a:r>
              <a:rPr/>
              <a:t>Compare models and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Evaluate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 Results</a:t>
            </a:r>
          </a:p>
        </p:txBody>
      </p:sp>
      <p:sp>
        <p:nvSpPr>
          <p:cNvPr id="3" name="Content Placeholder 2"/>
          <p:cNvSpPr>
            <a:spLocks noGrp="1"/>
          </p:cNvSpPr>
          <p:nvPr>
            <p:ph idx="1"/>
          </p:nvPr>
        </p:nvSpPr>
        <p:spPr/>
        <p:txBody>
          <a:bodyPr/>
          <a:lstStyle/>
          <a:p>
            <a:pPr lvl="0" indent="0" marL="1270000">
              <a:buNone/>
            </a:pPr>
            <a:r>
              <a:rPr sz="2000" b="1"/>
              <a:t>Results</a:t>
            </a:r>
          </a:p>
          <a:p>
            <a:pPr lvl="0" indent="0" marL="1270000">
              <a:buNone/>
            </a:pPr>
            <a:r>
              <a:rPr sz="2000" b="1"/>
              <a:t>Results</a:t>
            </a:r>
          </a:p>
          <a:p>
            <a:pPr lvl="0" indent="0" marL="1270000">
              <a:buNone/>
            </a:pPr>
            <a:r>
              <a:rPr sz="2000"/>
              <a:t>The presence of native rodents in 25 canyon fragments was modeled using multiple logistic regression with three predictors: distance to nearest source canyon, years since isolation, and percentage of shrub cover. Taken together the three predictors improved on the null model (likelihood-ratio χ² = 18.28, df = 3, p &lt; 0.001; McFadden’s R² = 0.66).</a:t>
            </a:r>
          </a:p>
          <a:p>
            <a:pPr lvl="0" indent="0" marL="1270000">
              <a:buNone/>
            </a:pPr>
            <a:r>
              <a:rPr sz="2000" b="1"/>
              <a:t>No individual predictor reached significance at α = 0.05.</a:t>
            </a:r>
            <a:r>
              <a:rPr sz="2000"/>
              <a:t> Shrub cover showed the strongest effect (β = 0.193, SE = 0.116, p = 0.096; odds ratio 1.21, 95% CI 1.06–1.79), suggesting that each additional percentage point of shrub cover multiplies the odds of rodent presence by roughly 1.2 — but the confidence interval is wide and the coefficient is not distinguishable from zero at conventional levels. Neither distance to source canyon (β = 0.0021, p = 0.229) nor years since isolation (β = 0.069, p = 0.249) approached significance.</a:t>
            </a:r>
          </a:p>
          <a:p>
            <a:pPr lvl="0" indent="0" marL="1270000">
              <a:buNone/>
            </a:pPr>
            <a:r>
              <a:rPr sz="2000"/>
              <a:t>The model correctly classified 88% of the fragments (sensitivity 0.90, specificity 0.83), and showed no evidence of poor fit (Hosmer-Lemeshow χ² = 0.95, df = 6, p = 0.99).</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 Discussion</a:t>
            </a:r>
          </a:p>
        </p:txBody>
      </p:sp>
      <p:sp>
        <p:nvSpPr>
          <p:cNvPr id="3" name="Content Placeholder 2"/>
          <p:cNvSpPr>
            <a:spLocks noGrp="1"/>
          </p:cNvSpPr>
          <p:nvPr>
            <p:ph idx="1"/>
          </p:nvPr>
        </p:nvSpPr>
        <p:spPr/>
        <p:txBody>
          <a:bodyPr/>
          <a:lstStyle/>
          <a:p>
            <a:pPr lvl="0" indent="0" marL="1270000">
              <a:buNone/>
            </a:pPr>
            <a:r>
              <a:rPr sz="2000" b="1"/>
              <a:t>Discussion</a:t>
            </a:r>
          </a:p>
          <a:p>
            <a:pPr lvl="0" indent="0" marL="1270000">
              <a:buNone/>
            </a:pPr>
            <a:r>
              <a:rPr sz="2000" b="1"/>
              <a:t>Discussion</a:t>
            </a:r>
          </a:p>
          <a:p>
            <a:pPr lvl="0" indent="0" marL="1270000">
              <a:buNone/>
            </a:pPr>
            <a:r>
              <a:rPr sz="2000"/>
              <a:t>Our findings are </a:t>
            </a:r>
            <a:r>
              <a:rPr sz="2000" i="1"/>
              <a:t>suggestive</a:t>
            </a:r>
            <a:r>
              <a:rPr sz="2000"/>
              <a:t> that vegetation structure, as measured by shrub cover, is associated with native rodent presence in canyon fragments — the effect is in the expected direction and is the largest of the three — but with only 25 fragments the estimate is too imprecise to call significant (p = 0.096). The positive direction is consistent with vegetation providing food, shelter from predators, and suitable microhabitat. Isolation metrics (distance to source canyon and years since isolation) showed no detectable relationship, though the same sample-size caveat applies: </a:t>
            </a:r>
            <a:r>
              <a:rPr sz="2000" b="1"/>
              <a:t>failing to detect an effect is not the same as showing there is none.</a:t>
            </a:r>
            <a:r>
              <a:rPr sz="2000"/>
              <a:t> A larger set of fragments would be needed to separate these possibilities.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GLMs, ANOVA, and Wrap-Up</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R code checks common diagnostics for logistic model:</a:t>
            </a:r>
          </a:p>
        </p:txBody>
      </p:sp>
      <p:pic>
        <p:nvPicPr>
          <p:cNvPr descr="glm_logistic_regression_lecture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 What a GLM Gives You</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identity link function = linear model ANOVAs</a:t>
            </a:r>
          </a:p>
          <a:p>
            <a:pPr lvl="0" indent="-342900" marL="342900">
              <a:buAutoNum type="arabicPeriod"/>
            </a:pPr>
            <a:r>
              <a:rPr b="1"/>
              <a:t>Poisson GLMs</a:t>
            </a:r>
            <a:r>
              <a:rPr/>
              <a:t> log link function appropriate for count data,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useful for binary responses</a:t>
            </a:r>
          </a:p>
          <a:p>
            <a:pPr lvl="1"/>
            <a:r>
              <a:rPr/>
              <a:t>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 Choosing a Distribution and Link</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 Bolger, D. T., Alberts, A. C., Sauvajot, R. M., Potenza, P., McCalvin, C., Tran, D., Mazzoni, S., &amp; Soulé, M. E. (1997). Response of rodents to habitat fragmentation in coastal southern California. Ecological Applications, 7(2), 552-563. -Christensen, R. (1997). Log-linear Models and Logistic Regression. Springer, New York. -Hosmer, D. W., &amp; Lemeshow, S. (1989). Applied Logistic Regression. Wiley, New York. -McCullagh, P., &amp; Nelder, J. A. (1989). Generalized Linear Models. Chapman and Hall, London. -Polis,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GLM &amp; Logistic Regression</dc:title>
  <dc:creator>Bill Perry</dc:creator>
  <cp:keywords/>
  <dc:description>Generalized Linear Models (GLMs) for non-normal response data — Gaussian, Poisson, and negative binomial GLMs for count data, logistic regression for binary responses, odds ratios, model diagnostics, and the connection back to ANOVA.</dc:description>
  <dcterms:created xsi:type="dcterms:W3CDTF">2026-10-19T16:27:22Z</dcterms:created>
  <dcterms:modified xsi:type="dcterms:W3CDTF">2026-10-19T16:27:22Z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16</vt:lpwstr>
  </property>
  <property fmtid="{D5CDD505-2E9C-101B-9397-08002B2CF9AE}" pid="14" name="resources">
    <vt:lpwstr/>
  </property>
  <property fmtid="{D5CDD505-2E9C-101B-9397-08002B2CF9AE}" pid="15" name="subtitle">
    <vt:lpwstr>Generalized linear models</vt:lpwstr>
  </property>
  <property fmtid="{D5CDD505-2E9C-101B-9397-08002B2CF9AE}" pid="16" name="toc-title">
    <vt:lpwstr>Table of contents</vt:lpwstr>
  </property>
  <property fmtid="{D5CDD505-2E9C-101B-9397-08002B2CF9AE}" pid="17" name="week">
    <vt:lpwstr>11</vt:lpwstr>
  </property>
</Properties>
</file>