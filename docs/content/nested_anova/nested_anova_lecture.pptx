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2" Type="http://schemas.openxmlformats.org/officeDocument/2006/relationships/viewProps" Target="viewProps.xml" /><Relationship Id="rId61" Type="http://schemas.openxmlformats.org/officeDocument/2006/relationships/presProps" Target="presProps.xml" /><Relationship Id="rId1" Type="http://schemas.openxmlformats.org/officeDocument/2006/relationships/slideMaster" Target="slideMasters/slideMaster1.xml" /><Relationship Id="rId64" Type="http://schemas.openxmlformats.org/officeDocument/2006/relationships/tableStyles" Target="tableStyles.xml" /><Relationship Id="rId63"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2.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3.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4.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5.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6.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7.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8.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9.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9.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0.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3.png"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1.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2.png" /></Relationships>
</file>

<file path=ppt/slides/_rels/slide5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3.png"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4.png"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4.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Nested ANOVA</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Hierarchical designs</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Where We Left Off</a:t>
            </a:r>
          </a:p>
        </p:txBody>
      </p:sp>
      <p:sp>
        <p:nvSpPr>
          <p:cNvPr id="3" name="Content Placeholder 2"/>
          <p:cNvSpPr>
            <a:spLocks noGrp="1"/>
          </p:cNvSpPr>
          <p:nvPr>
            <p:ph idx="1" sz="half"/>
          </p:nvPr>
        </p:nvSpPr>
        <p:spPr/>
        <p:txBody>
          <a:bodyPr/>
          <a:lstStyle/>
          <a:p>
            <a:pPr lvl="0" indent="0" marL="0">
              <a:buNone/>
            </a:pPr>
            <a:r>
              <a:rPr/>
              <a:t>Covered last time — two-factor ANOVA:</a:t>
            </a:r>
          </a:p>
          <a:p>
            <a:pPr lvl="0"/>
            <a:r>
              <a:rPr/>
              <a:t>Example, linear model, analysis of variance</a:t>
            </a:r>
          </a:p>
          <a:p>
            <a:pPr lvl="0"/>
            <a:r>
              <a:rPr/>
              <a:t>Null hypotheses</a:t>
            </a:r>
          </a:p>
          <a:p>
            <a:pPr lvl="0"/>
            <a:r>
              <a:rPr/>
              <a:t>Interactions and main effects</a:t>
            </a:r>
          </a:p>
          <a:p>
            <a:pPr lvl="0"/>
            <a:r>
              <a:rPr/>
              <a:t>Unequal sample size</a:t>
            </a:r>
          </a:p>
          <a:p>
            <a:pPr lvl="0"/>
            <a:r>
              <a:rPr/>
              <a:t>Assumptions</a:t>
            </a:r>
          </a:p>
          <a:p>
            <a:pPr lvl="0" indent="0" marL="1270000">
              <a:buNone/>
            </a:pPr>
            <a:r>
              <a:rPr sz="2000" b="1"/>
              <a:t>Note</a:t>
            </a:r>
          </a:p>
          <a:p>
            <a:pPr lvl="0" indent="0" marL="1270000">
              <a:buNone/>
            </a:pPr>
            <a:r>
              <a:rPr sz="2000" b="1"/>
              <a:t>✅ Key idea from last lecture</a:t>
            </a:r>
          </a:p>
          <a:p>
            <a:pPr lvl="0" indent="0" marL="1270000">
              <a:buNone/>
            </a:pPr>
            <a:r>
              <a:rPr sz="2000"/>
              <a:t>In a factorial design, every level of B appears under every level of A. Today: what happens when B is only ever nested </a:t>
            </a:r>
            <a:r>
              <a:rPr sz="2000" i="1"/>
              <a:t>inside</a:t>
            </a:r>
            <a:r>
              <a:rPr sz="2000"/>
              <a:t> one specific level of A?</a:t>
            </a:r>
          </a:p>
        </p:txBody>
      </p:sp>
      <p:pic>
        <p:nvPicPr>
          <p:cNvPr descr="images/clipboard-1642768928.png" id="0" name="Picture 1"/>
          <p:cNvPicPr>
            <a:picLocks noGrp="1" noChangeAspect="1"/>
          </p:cNvPicPr>
          <p:nvPr/>
        </p:nvPicPr>
        <p:blipFill>
          <a:blip r:embed="rId2"/>
          <a:stretch>
            <a:fillRect/>
          </a:stretch>
        </p:blipFill>
        <p:spPr bwMode="auto">
          <a:xfrm>
            <a:off x="6121400" y="825500"/>
            <a:ext cx="2781300" cy="41529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Multifactor Designs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Two-Factor (2-Way) ANOVA, Recap</a:t>
            </a:r>
          </a:p>
        </p:txBody>
      </p:sp>
      <p:sp>
        <p:nvSpPr>
          <p:cNvPr id="3" name="Content Placeholder 2"/>
          <p:cNvSpPr>
            <a:spLocks noGrp="1"/>
          </p:cNvSpPr>
          <p:nvPr>
            <p:ph idx="1" sz="half"/>
          </p:nvPr>
        </p:nvSpPr>
        <p:spPr/>
        <p:txBody>
          <a:bodyPr/>
          <a:lstStyle/>
          <a:p>
            <a:pPr lvl="0"/>
            <a:r>
              <a:rPr/>
              <a:t>We often consider more than 1 factor (independent categorical variables) to reduce unexplained variance and look at interactions</a:t>
            </a:r>
          </a:p>
          <a:p>
            <a:pPr lvl="0"/>
            <a:r>
              <a:rPr/>
              <a:t>2-factor designs (2-way ANOVA) are very common in ecology</a:t>
            </a:r>
          </a:p>
          <a:p>
            <a:pPr lvl="0"/>
            <a:r>
              <a:rPr/>
              <a:t>Can have more factors (e.g., 3-way ANOVA) — interpretation gets tricky</a:t>
            </a:r>
          </a:p>
          <a:p>
            <a:pPr lvl="0"/>
            <a:r>
              <a:rPr/>
              <a:t>Most multifactor designs are: factorial, nested, or mixed</a:t>
            </a:r>
          </a:p>
        </p:txBody>
      </p:sp>
      <p:pic>
        <p:nvPicPr>
          <p:cNvPr descr="images/clipboard-1173869376.png" id="0" name="Picture 1"/>
          <p:cNvPicPr>
            <a:picLocks noGrp="1" noChangeAspect="1"/>
          </p:cNvPicPr>
          <p:nvPr/>
        </p:nvPicPr>
        <p:blipFill>
          <a:blip r:embed="rId2"/>
          <a:stretch>
            <a:fillRect/>
          </a:stretch>
        </p:blipFill>
        <p:spPr bwMode="auto">
          <a:xfrm>
            <a:off x="6159500" y="660400"/>
            <a:ext cx="2705100" cy="44704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Versus Nested Designs</a:t>
            </a:r>
          </a:p>
        </p:txBody>
      </p:sp>
      <p:sp>
        <p:nvSpPr>
          <p:cNvPr id="3" name="Content Placeholder 2"/>
          <p:cNvSpPr>
            <a:spLocks noGrp="1"/>
          </p:cNvSpPr>
          <p:nvPr>
            <p:ph idx="1" sz="half"/>
          </p:nvPr>
        </p:nvSpPr>
        <p:spPr/>
        <p:txBody>
          <a:bodyPr/>
          <a:lstStyle/>
          <a:p>
            <a:pPr lvl="0" indent="0" marL="0">
              <a:buNone/>
            </a:pPr>
            <a:r>
              <a:rPr/>
              <a:t>Consider two factors, A and B:</a:t>
            </a:r>
          </a:p>
          <a:p>
            <a:pPr lvl="0"/>
            <a:r>
              <a:rPr b="1"/>
              <a:t>Factorial/crossed:</a:t>
            </a:r>
            <a:r>
              <a:rPr/>
              <a:t> every level of B in every level of A</a:t>
            </a:r>
          </a:p>
          <a:p>
            <a:pPr lvl="0"/>
            <a:r>
              <a:rPr b="1"/>
              <a:t>Nested/hierarchical:</a:t>
            </a:r>
            <a:r>
              <a:rPr/>
              <a:t> levels of B occur only in 1 level of A</a:t>
            </a:r>
          </a:p>
          <a:p>
            <a:pPr lvl="1"/>
            <a:r>
              <a:rPr/>
              <a:t>both fixed — rare</a:t>
            </a:r>
          </a:p>
          <a:p>
            <a:pPr lvl="1"/>
            <a:r>
              <a:rPr/>
              <a:t>one fixed, one random</a:t>
            </a:r>
          </a:p>
          <a:p>
            <a:pPr lvl="1"/>
            <a:r>
              <a:rPr/>
              <a:t>both random — rare in ecology, common in genetics</a:t>
            </a:r>
          </a:p>
        </p:txBody>
      </p:sp>
      <p:pic>
        <p:nvPicPr>
          <p:cNvPr descr="images/clipboard-758019042.png" id="0" name="Picture 1"/>
          <p:cNvPicPr>
            <a:picLocks noGrp="1" noChangeAspect="1"/>
          </p:cNvPicPr>
          <p:nvPr/>
        </p:nvPicPr>
        <p:blipFill>
          <a:blip r:embed="rId2"/>
          <a:stretch>
            <a:fillRect/>
          </a:stretch>
        </p:blipFill>
        <p:spPr bwMode="auto">
          <a:xfrm>
            <a:off x="6197600" y="660400"/>
            <a:ext cx="2628900" cy="44704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Factorial Designs — Examples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Designs Overview</a:t>
            </a:r>
          </a:p>
        </p:txBody>
      </p:sp>
      <p:sp>
        <p:nvSpPr>
          <p:cNvPr id="3" name="Content Placeholder 2"/>
          <p:cNvSpPr>
            <a:spLocks noGrp="1"/>
          </p:cNvSpPr>
          <p:nvPr>
            <p:ph idx="1" sz="half"/>
          </p:nvPr>
        </p:nvSpPr>
        <p:spPr/>
        <p:txBody>
          <a:bodyPr/>
          <a:lstStyle/>
          <a:p>
            <a:pPr lvl="0" indent="0" marL="0">
              <a:buNone/>
            </a:pPr>
            <a:r>
              <a:rPr/>
              <a:t>Factorial designs: both factors are typically fixed (but not always).</a:t>
            </a:r>
          </a:p>
        </p:txBody>
      </p:sp>
      <p:pic>
        <p:nvPicPr>
          <p:cNvPr descr="images/clipboard-723648250.png" id="0" name="Picture 1"/>
          <p:cNvPicPr>
            <a:picLocks noGrp="1" noChangeAspect="1"/>
          </p:cNvPicPr>
          <p:nvPr/>
        </p:nvPicPr>
        <p:blipFill>
          <a:blip r:embed="rId2"/>
          <a:stretch>
            <a:fillRect/>
          </a:stretch>
        </p:blipFill>
        <p:spPr bwMode="auto">
          <a:xfrm>
            <a:off x="6121400" y="2197100"/>
            <a:ext cx="2781300" cy="13970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Design Example: Seedling Growth</a:t>
            </a:r>
          </a:p>
        </p:txBody>
      </p:sp>
      <p:sp>
        <p:nvSpPr>
          <p:cNvPr id="3" name="Content Placeholder 2"/>
          <p:cNvSpPr>
            <a:spLocks noGrp="1"/>
          </p:cNvSpPr>
          <p:nvPr>
            <p:ph idx="1" sz="half"/>
          </p:nvPr>
        </p:nvSpPr>
        <p:spPr/>
        <p:txBody>
          <a:bodyPr/>
          <a:lstStyle/>
          <a:p>
            <a:pPr lvl="0" indent="0" marL="0">
              <a:buNone/>
            </a:pPr>
            <a:r>
              <a:rPr/>
              <a:t>Effects of light level on growth of seedlings of different size:</a:t>
            </a:r>
          </a:p>
          <a:p>
            <a:pPr lvl="0"/>
            <a:r>
              <a:rPr/>
              <a:t>3 light levels (Factor A)</a:t>
            </a:r>
          </a:p>
          <a:p>
            <a:pPr lvl="0"/>
            <a:r>
              <a:rPr/>
              <a:t>3 size classes (Factor B)</a:t>
            </a:r>
          </a:p>
          <a:p>
            <a:pPr lvl="0"/>
            <a:r>
              <a:rPr/>
              <a:t>5 replicate seedlings in each cell</a:t>
            </a:r>
          </a:p>
        </p:txBody>
      </p:sp>
      <p:pic>
        <p:nvPicPr>
          <p:cNvPr descr="images/clipboard-1057376698.png" id="0" name="Picture 1"/>
          <p:cNvPicPr>
            <a:picLocks noGrp="1" noChangeAspect="1"/>
          </p:cNvPicPr>
          <p:nvPr/>
        </p:nvPicPr>
        <p:blipFill>
          <a:blip r:embed="rId2"/>
          <a:stretch>
            <a:fillRect/>
          </a:stretch>
        </p:blipFill>
        <p:spPr bwMode="auto">
          <a:xfrm>
            <a:off x="6121400" y="1993900"/>
            <a:ext cx="2781300" cy="18161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Design Example: Salamander Growth</a:t>
            </a:r>
          </a:p>
        </p:txBody>
      </p:sp>
      <p:sp>
        <p:nvSpPr>
          <p:cNvPr id="3" name="Content Placeholder 2"/>
          <p:cNvSpPr>
            <a:spLocks noGrp="1"/>
          </p:cNvSpPr>
          <p:nvPr>
            <p:ph idx="1" sz="half"/>
          </p:nvPr>
        </p:nvSpPr>
        <p:spPr/>
        <p:txBody>
          <a:bodyPr/>
          <a:lstStyle/>
          <a:p>
            <a:pPr lvl="0" indent="0" marL="0">
              <a:buNone/>
            </a:pPr>
            <a:r>
              <a:rPr/>
              <a:t>Effects of food level and tadpole presence on larval salamander growth:</a:t>
            </a:r>
          </a:p>
          <a:p>
            <a:pPr lvl="0"/>
            <a:r>
              <a:rPr/>
              <a:t>2 food levels (Factor A)</a:t>
            </a:r>
          </a:p>
          <a:p>
            <a:pPr lvl="0"/>
            <a:r>
              <a:rPr/>
              <a:t>Presence/absence of tadpoles (Factor B)</a:t>
            </a:r>
          </a:p>
          <a:p>
            <a:pPr lvl="0"/>
            <a:r>
              <a:rPr/>
              <a:t>8 replicates in each cell</a:t>
            </a:r>
          </a:p>
        </p:txBody>
      </p:sp>
      <p:pic>
        <p:nvPicPr>
          <p:cNvPr descr="images/clipboard-3697840818.png" id="0" name="Picture 1"/>
          <p:cNvPicPr>
            <a:picLocks noGrp="1" noChangeAspect="1"/>
          </p:cNvPicPr>
          <p:nvPr/>
        </p:nvPicPr>
        <p:blipFill>
          <a:blip r:embed="rId2"/>
          <a:stretch>
            <a:fillRect/>
          </a:stretch>
        </p:blipFill>
        <p:spPr bwMode="auto">
          <a:xfrm>
            <a:off x="6121400" y="1854200"/>
            <a:ext cx="2781300" cy="20828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Design Example: Limpet Fecundity</a:t>
            </a:r>
          </a:p>
        </p:txBody>
      </p:sp>
      <p:sp>
        <p:nvSpPr>
          <p:cNvPr id="3" name="Content Placeholder 2"/>
          <p:cNvSpPr>
            <a:spLocks noGrp="1"/>
          </p:cNvSpPr>
          <p:nvPr>
            <p:ph idx="1" sz="half"/>
          </p:nvPr>
        </p:nvSpPr>
        <p:spPr/>
        <p:txBody>
          <a:bodyPr/>
          <a:lstStyle/>
          <a:p>
            <a:pPr lvl="0" indent="0" marL="0">
              <a:buNone/>
            </a:pPr>
            <a:r>
              <a:rPr/>
              <a:t>Effect of season and density on limpet fecundity:</a:t>
            </a:r>
          </a:p>
          <a:p>
            <a:pPr lvl="0"/>
            <a:r>
              <a:rPr/>
              <a:t>2 seasons (Factor A)</a:t>
            </a:r>
          </a:p>
          <a:p>
            <a:pPr lvl="0"/>
            <a:r>
              <a:rPr/>
              <a:t>4 density treatments (Factor B)</a:t>
            </a:r>
          </a:p>
          <a:p>
            <a:pPr lvl="0"/>
            <a:r>
              <a:rPr/>
              <a:t>3 replicates in each cell</a:t>
            </a:r>
          </a:p>
        </p:txBody>
      </p:sp>
      <p:pic>
        <p:nvPicPr>
          <p:cNvPr descr="images/clipboard-1223732443.png" id="0" name="Picture 1"/>
          <p:cNvPicPr>
            <a:picLocks noGrp="1" noChangeAspect="1"/>
          </p:cNvPicPr>
          <p:nvPr/>
        </p:nvPicPr>
        <p:blipFill>
          <a:blip r:embed="rId2"/>
          <a:stretch>
            <a:fillRect/>
          </a:stretch>
        </p:blipFill>
        <p:spPr bwMode="auto">
          <a:xfrm>
            <a:off x="6121400" y="2057400"/>
            <a:ext cx="2781300" cy="16891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Nested Designs — Examples</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Nested Designs Overview</a:t>
            </a:r>
          </a:p>
        </p:txBody>
      </p:sp>
      <p:sp>
        <p:nvSpPr>
          <p:cNvPr id="3" name="Content Placeholder 2"/>
          <p:cNvSpPr>
            <a:spLocks noGrp="1"/>
          </p:cNvSpPr>
          <p:nvPr>
            <p:ph idx="1" sz="half"/>
          </p:nvPr>
        </p:nvSpPr>
        <p:spPr/>
        <p:txBody>
          <a:bodyPr/>
          <a:lstStyle/>
          <a:p>
            <a:pPr lvl="0" indent="0" marL="0">
              <a:buNone/>
            </a:pPr>
            <a:r>
              <a:rPr b="1"/>
              <a:t>Nested designs cover:</a:t>
            </a:r>
            <a:r>
              <a:rPr/>
              <a:t> nested design examples, the linear model, analysis of variance, null hypotheses, unbalanced designs, assumptions, mixed-model ANOVA.</a:t>
            </a:r>
          </a:p>
          <a:p>
            <a:pPr lvl="0" indent="0" marL="0">
              <a:buNone/>
            </a:pPr>
            <a:r>
              <a:rPr b="1"/>
              <a:t>Nested designs:</a:t>
            </a:r>
            <a:r>
              <a:rPr/>
              <a:t> Factor A is usually fixed; Factor B is usually random.</a:t>
            </a:r>
          </a:p>
        </p:txBody>
      </p:sp>
      <p:pic>
        <p:nvPicPr>
          <p:cNvPr descr="images/clipboard-3125256618.png" id="0" name="Picture 1"/>
          <p:cNvPicPr>
            <a:picLocks noGrp="1" noChangeAspect="1"/>
          </p:cNvPicPr>
          <p:nvPr/>
        </p:nvPicPr>
        <p:blipFill>
          <a:blip r:embed="rId2"/>
          <a:stretch>
            <a:fillRect/>
          </a:stretch>
        </p:blipFill>
        <p:spPr bwMode="auto">
          <a:xfrm>
            <a:off x="6121400" y="2616200"/>
            <a:ext cx="2781300" cy="5461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Nested Design Example: Limpet Growth</a:t>
            </a:r>
          </a:p>
        </p:txBody>
      </p:sp>
      <p:sp>
        <p:nvSpPr>
          <p:cNvPr id="3" name="Content Placeholder 2"/>
          <p:cNvSpPr>
            <a:spLocks noGrp="1"/>
          </p:cNvSpPr>
          <p:nvPr>
            <p:ph idx="1" sz="half"/>
          </p:nvPr>
        </p:nvSpPr>
        <p:spPr/>
        <p:txBody>
          <a:bodyPr/>
          <a:lstStyle/>
          <a:p>
            <a:pPr lvl="0" indent="0" marL="0">
              <a:buNone/>
            </a:pPr>
            <a:r>
              <a:rPr/>
              <a:t>Study on effects of enclosure size on limpet growth:</a:t>
            </a:r>
          </a:p>
          <a:p>
            <a:pPr lvl="0"/>
            <a:r>
              <a:rPr/>
              <a:t>2 enclosure sizes (Factor A)</a:t>
            </a:r>
          </a:p>
          <a:p>
            <a:pPr lvl="0"/>
            <a:r>
              <a:rPr/>
              <a:t>5 replicate enclosures (Factor B)</a:t>
            </a:r>
          </a:p>
          <a:p>
            <a:pPr lvl="0"/>
            <a:r>
              <a:rPr/>
              <a:t>5 replicate limpets per enclosure</a:t>
            </a:r>
          </a:p>
        </p:txBody>
      </p:sp>
      <p:pic>
        <p:nvPicPr>
          <p:cNvPr descr="images/clipboard-1867917958.png" id="0" name="Picture 1"/>
          <p:cNvPicPr>
            <a:picLocks noGrp="1" noChangeAspect="1"/>
          </p:cNvPicPr>
          <p:nvPr/>
        </p:nvPicPr>
        <p:blipFill>
          <a:blip r:embed="rId2"/>
          <a:stretch>
            <a:fillRect/>
          </a:stretch>
        </p:blipFill>
        <p:spPr bwMode="auto">
          <a:xfrm>
            <a:off x="6121400" y="1752600"/>
            <a:ext cx="2781300" cy="22987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Nested Design Example: Reef Fish</a:t>
            </a:r>
          </a:p>
        </p:txBody>
      </p:sp>
      <p:sp>
        <p:nvSpPr>
          <p:cNvPr id="3" name="Content Placeholder 2"/>
          <p:cNvSpPr>
            <a:spLocks noGrp="1"/>
          </p:cNvSpPr>
          <p:nvPr>
            <p:ph idx="1" sz="half"/>
          </p:nvPr>
        </p:nvSpPr>
        <p:spPr/>
        <p:txBody>
          <a:bodyPr/>
          <a:lstStyle/>
          <a:p>
            <a:pPr lvl="0" indent="0" marL="0">
              <a:buNone/>
            </a:pPr>
            <a:r>
              <a:rPr/>
              <a:t>Study on reef fish recruitment:</a:t>
            </a:r>
          </a:p>
          <a:p>
            <a:pPr lvl="0"/>
            <a:r>
              <a:rPr/>
              <a:t>5 sites (Factor A)</a:t>
            </a:r>
          </a:p>
          <a:p>
            <a:pPr lvl="0"/>
            <a:r>
              <a:rPr/>
              <a:t>6 transects at each site (Factor B)</a:t>
            </a:r>
          </a:p>
          <a:p>
            <a:pPr lvl="0"/>
            <a:r>
              <a:rPr/>
              <a:t>Replicate observations along each transect</a:t>
            </a:r>
          </a:p>
        </p:txBody>
      </p:sp>
      <p:pic>
        <p:nvPicPr>
          <p:cNvPr descr="images/clipboard-1621781711.png" id="0" name="Picture 1"/>
          <p:cNvPicPr>
            <a:picLocks noGrp="1" noChangeAspect="1"/>
          </p:cNvPicPr>
          <p:nvPr/>
        </p:nvPicPr>
        <p:blipFill>
          <a:blip r:embed="rId2"/>
          <a:stretch>
            <a:fillRect/>
          </a:stretch>
        </p:blipFill>
        <p:spPr bwMode="auto">
          <a:xfrm>
            <a:off x="6121400" y="1460500"/>
            <a:ext cx="2781300" cy="28702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Nested Design Example: Sea Urchin Grazing</a:t>
            </a:r>
          </a:p>
        </p:txBody>
      </p:sp>
      <p:sp>
        <p:nvSpPr>
          <p:cNvPr id="3" name="Content Placeholder 2"/>
          <p:cNvSpPr>
            <a:spLocks noGrp="1"/>
          </p:cNvSpPr>
          <p:nvPr>
            <p:ph idx="1" sz="half"/>
          </p:nvPr>
        </p:nvSpPr>
        <p:spPr/>
        <p:txBody>
          <a:bodyPr/>
          <a:lstStyle/>
          <a:p>
            <a:pPr lvl="0" indent="0" marL="0">
              <a:buNone/>
            </a:pPr>
            <a:r>
              <a:rPr/>
              <a:t>Effects of sea urchin grazing on biomass of filamentous algae:</a:t>
            </a:r>
          </a:p>
          <a:p>
            <a:pPr lvl="0"/>
            <a:r>
              <a:rPr/>
              <a:t>4 levels of urchin grazing: none, low, medium, high</a:t>
            </a:r>
          </a:p>
          <a:p>
            <a:pPr lvl="0"/>
            <a:r>
              <a:rPr/>
              <a:t>4 patches of rocky bottom (3–4 m²) nested in each grazing level</a:t>
            </a:r>
          </a:p>
          <a:p>
            <a:pPr lvl="0"/>
            <a:r>
              <a:rPr/>
              <a:t>5 replicate quadrats per patch</a:t>
            </a:r>
          </a:p>
          <a:p>
            <a:pPr lvl="0" indent="0" marL="0">
              <a:buNone/>
            </a:pPr>
            <a:r>
              <a:rPr i="1"/>
              <a:t>This is our worked example for the rest of the lecture.</a:t>
            </a:r>
          </a:p>
        </p:txBody>
      </p:sp>
      <p:pic>
        <p:nvPicPr>
          <p:cNvPr descr="images/clipboard-3570106410.png" id="0" name="Picture 1"/>
          <p:cNvPicPr>
            <a:picLocks noGrp="1" noChangeAspect="1"/>
          </p:cNvPicPr>
          <p:nvPr/>
        </p:nvPicPr>
        <p:blipFill>
          <a:blip r:embed="rId2"/>
          <a:stretch>
            <a:fillRect/>
          </a:stretch>
        </p:blipFill>
        <p:spPr bwMode="auto">
          <a:xfrm>
            <a:off x="6121400" y="1397000"/>
            <a:ext cx="2781300" cy="29972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The Nested Design Model</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Nested Design: Linear Model Structure</a:t>
            </a:r>
          </a:p>
        </p:txBody>
      </p:sp>
      <p:sp>
        <p:nvSpPr>
          <p:cNvPr id="3" name="Content Placeholder 2"/>
          <p:cNvSpPr>
            <a:spLocks noGrp="1"/>
          </p:cNvSpPr>
          <p:nvPr>
            <p:ph idx="1" sz="half"/>
          </p:nvPr>
        </p:nvSpPr>
        <p:spPr/>
        <p:txBody>
          <a:bodyPr/>
          <a:lstStyle/>
          <a:p>
            <a:pPr lvl="0" indent="0" marL="0">
              <a:buNone/>
            </a:pPr>
            <a:r>
              <a:rPr/>
              <a:t>Consider a nested design with:</a:t>
            </a:r>
          </a:p>
          <a:p>
            <a:pPr lvl="0"/>
            <a:r>
              <a:rPr/>
              <a:t>p levels of factor A (i = 1…p) — e.g., 4 grazing levels</a:t>
            </a:r>
          </a:p>
          <a:p>
            <a:pPr lvl="0"/>
            <a:r>
              <a:rPr/>
              <a:t>q levels of factor B (j = 1…q), nested within each level of A — e.g., 4 different patches per grazing level</a:t>
            </a:r>
          </a:p>
          <a:p>
            <a:pPr lvl="0"/>
            <a:r>
              <a:rPr/>
              <a:t>n replicates (k = 1…n) in each combination of A and B — e.g., 5 replicate quadrats in each patch in each grazing level</a:t>
            </a:r>
          </a:p>
        </p:txBody>
      </p:sp>
      <p:pic>
        <p:nvPicPr>
          <p:cNvPr descr="images/clipboard-2460153431.png" id="0" name="Picture 1"/>
          <p:cNvPicPr>
            <a:picLocks noGrp="1" noChangeAspect="1"/>
          </p:cNvPicPr>
          <p:nvPr/>
        </p:nvPicPr>
        <p:blipFill>
          <a:blip r:embed="rId2"/>
          <a:stretch>
            <a:fillRect/>
          </a:stretch>
        </p:blipFill>
        <p:spPr bwMode="auto">
          <a:xfrm>
            <a:off x="6692900" y="660400"/>
            <a:ext cx="1638300" cy="44704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Calculating Means in a Nested Design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We can calculate several means:</a:t>
                </a:r>
              </a:p>
              <a:p>
                <a:pPr lvl="0"/>
                <a:r>
                  <a:rPr/>
                  <a:t>Overall mean (across all levels of A and B) = </a:t>
                </a:r>
                <a14:m>
                  <m:oMath xmlns:m="http://schemas.openxmlformats.org/officeDocument/2006/math">
                    <m:acc>
                      <m:accPr>
                        <m:chr m:val="‾"/>
                      </m:accPr>
                      <m:e>
                        <m:r>
                          <m:t>y</m:t>
                        </m:r>
                      </m:e>
                    </m:acc>
                  </m:oMath>
                </a14:m>
              </a:p>
              <a:p>
                <a:pPr lvl="0"/>
                <a:r>
                  <a:rPr/>
                  <a:t>A mean for each level of A (across all levels of B in that A) = </a:t>
                </a:r>
                <a14:m>
                  <m:oMath xmlns:m="http://schemas.openxmlformats.org/officeDocument/2006/math">
                    <m:sSub>
                      <m:e>
                        <m:acc>
                          <m:accPr>
                            <m:chr m:val="‾"/>
                          </m:accPr>
                          <m:e>
                            <m:r>
                              <m:t>y</m:t>
                            </m:r>
                          </m:e>
                        </m:acc>
                      </m:e>
                      <m:sub>
                        <m:r>
                          <m:t>i</m:t>
                        </m:r>
                      </m:sub>
                    </m:sSub>
                  </m:oMath>
                </a14:m>
              </a:p>
              <a:p>
                <a:pPr lvl="0"/>
                <a:r>
                  <a:rPr/>
                  <a:t>A mean for each level of B within each A = </a:t>
                </a:r>
                <a14:m>
                  <m:oMath xmlns:m="http://schemas.openxmlformats.org/officeDocument/2006/math">
                    <m:sSub>
                      <m:e>
                        <m:acc>
                          <m:accPr>
                            <m:chr m:val="‾"/>
                          </m:accPr>
                          <m:e>
                            <m:r>
                              <m:t>y</m:t>
                            </m:r>
                          </m:e>
                        </m:acc>
                      </m:e>
                      <m:sub>
                        <m:r>
                          <m:t>j</m:t>
                        </m:r>
                        <m:r>
                          <m:rPr>
                            <m:sty m:val="p"/>
                          </m:rPr>
                          <m:t>(</m:t>
                        </m:r>
                        <m:r>
                          <m:t>i</m:t>
                        </m:r>
                        <m:r>
                          <m:rPr>
                            <m:sty m:val="p"/>
                          </m:rPr>
                          <m:t>)</m:t>
                        </m:r>
                      </m:sub>
                    </m:sSub>
                  </m:oMath>
                </a14:m>
              </a:p>
            </p:txBody>
          </p:sp>
        </mc:Choice>
      </mc:AlternateContent>
      <p:pic>
        <p:nvPicPr>
          <p:cNvPr descr="images/clipboard-2098022400.png" id="0" name="Picture 1"/>
          <p:cNvPicPr>
            <a:picLocks noGrp="1" noChangeAspect="1"/>
          </p:cNvPicPr>
          <p:nvPr/>
        </p:nvPicPr>
        <p:blipFill>
          <a:blip r:embed="rId2"/>
          <a:stretch>
            <a:fillRect/>
          </a:stretch>
        </p:blipFill>
        <p:spPr bwMode="auto">
          <a:xfrm>
            <a:off x="6121400" y="2032000"/>
            <a:ext cx="2781300" cy="17272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Nested Design Means, Visualized</a:t>
            </a:r>
          </a:p>
        </p:txBody>
      </p:sp>
      <p:pic>
        <p:nvPicPr>
          <p:cNvPr descr="images/clipboard-1474611051.png" id="0" name="Picture 1"/>
          <p:cNvPicPr>
            <a:picLocks noGrp="1" noChangeAspect="1"/>
          </p:cNvPicPr>
          <p:nvPr/>
        </p:nvPicPr>
        <p:blipFill>
          <a:blip r:embed="rId2"/>
          <a:stretch>
            <a:fillRect/>
          </a:stretch>
        </p:blipFill>
        <p:spPr bwMode="auto">
          <a:xfrm>
            <a:off x="685800" y="609600"/>
            <a:ext cx="7708900" cy="39116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Nested Design Linear Model</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14:m>
                  <m:oMathPara xmlns:m="http://schemas.openxmlformats.org/officeDocument/2006/math">
                    <m:oMathParaPr>
                      <m:jc m:val="center"/>
                    </m:oMathParaPr>
                    <m:oMath>
                      <m:sSub>
                        <m:e>
                          <m:r>
                            <m:t>y</m:t>
                          </m:r>
                        </m:e>
                        <m:sub>
                          <m:r>
                            <m:t>i</m:t>
                          </m:r>
                          <m:r>
                            <m:t>j</m:t>
                          </m:r>
                          <m:r>
                            <m:t>k</m:t>
                          </m:r>
                        </m:sub>
                      </m:sSub>
                      <m:r>
                        <m:rPr>
                          <m:sty m:val="p"/>
                        </m:rPr>
                        <m:t>=</m:t>
                      </m:r>
                      <m:r>
                        <m:t>μ</m:t>
                      </m:r>
                      <m:r>
                        <m:rPr>
                          <m:sty m:val="p"/>
                        </m:rPr>
                        <m:t>+</m:t>
                      </m:r>
                      <m:sSub>
                        <m:e>
                          <m:r>
                            <m:t>α</m:t>
                          </m:r>
                        </m:e>
                        <m:sub>
                          <m:r>
                            <m:t>i</m:t>
                          </m:r>
                        </m:sub>
                      </m:sSub>
                      <m:r>
                        <m:rPr>
                          <m:sty m:val="p"/>
                        </m:rPr>
                        <m:t>+</m:t>
                      </m:r>
                      <m:sSub>
                        <m:e>
                          <m:r>
                            <m:t>β</m:t>
                          </m:r>
                        </m:e>
                        <m:sub>
                          <m:r>
                            <m:t>j</m:t>
                          </m:r>
                          <m:r>
                            <m:rPr>
                              <m:sty m:val="p"/>
                            </m:rPr>
                            <m:t>(</m:t>
                          </m:r>
                          <m:r>
                            <m:t>i</m:t>
                          </m:r>
                          <m:r>
                            <m:rPr>
                              <m:sty m:val="p"/>
                            </m:rPr>
                            <m:t>)</m:t>
                          </m:r>
                        </m:sub>
                      </m:sSub>
                      <m:r>
                        <m:rPr>
                          <m:sty m:val="p"/>
                        </m:rPr>
                        <m:t>+</m:t>
                      </m:r>
                      <m:sSub>
                        <m:e>
                          <m:r>
                            <m:t>ε</m:t>
                          </m:r>
                        </m:e>
                        <m:sub>
                          <m:r>
                            <m:t>i</m:t>
                          </m:r>
                          <m:r>
                            <m:t>j</m:t>
                          </m:r>
                          <m:r>
                            <m:t>k</m:t>
                          </m:r>
                        </m:sub>
                      </m:sSub>
                    </m:oMath>
                  </m:oMathPara>
                </a14:m>
              </a:p>
              <a:p>
                <a:pPr lvl="0"/>
                <a14:m>
                  <m:oMath xmlns:m="http://schemas.openxmlformats.org/officeDocument/2006/math">
                    <m:sSub>
                      <m:e>
                        <m:r>
                          <m:t>y</m:t>
                        </m:r>
                      </m:e>
                      <m:sub>
                        <m:r>
                          <m:t>i</m:t>
                        </m:r>
                        <m:r>
                          <m:t>j</m:t>
                        </m:r>
                        <m:r>
                          <m:t>k</m:t>
                        </m:r>
                      </m:sub>
                    </m:sSub>
                  </m:oMath>
                </a14:m>
                <a:r>
                  <a:rPr/>
                  <a:t> is the response variable — the value of the k-th replicate in the j-th level of B in the i-th level of A (e.g., algal biomass in the 3rd quadrat, in the 2nd patch, in the low-grazing treatment)</a:t>
                </a:r>
              </a:p>
              <a:p>
                <a:pPr lvl="0"/>
                <a14:m>
                  <m:oMath xmlns:m="http://schemas.openxmlformats.org/officeDocument/2006/math">
                    <m:r>
                      <m:t>μ</m:t>
                    </m:r>
                  </m:oMath>
                </a14:m>
                <a:r>
                  <a:rPr/>
                  <a:t> is the overall mean (overall average algal biomass)</a:t>
                </a:r>
              </a:p>
            </p:txBody>
          </p:sp>
        </mc:Choice>
      </mc:AlternateContent>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Notice</a:t>
                </a:r>
              </a:p>
              <a:p>
                <a:pPr lvl="0" indent="0" marL="1270000">
                  <a:buNone/>
                </a:pPr>
                <a:r>
                  <a:rPr sz="2000"/>
                  <a:t>This looks almost identical to the two-way ANOVA model — the difference is entirely in the subscript: </a:t>
                </a:r>
                <a14:m>
                  <m:oMath xmlns:m="http://schemas.openxmlformats.org/officeDocument/2006/math">
                    <m:sSub>
                      <m:e>
                        <m:r>
                          <m:t>β</m:t>
                        </m:r>
                      </m:e>
                      <m:sub>
                        <m:r>
                          <m:t>j</m:t>
                        </m:r>
                        <m:r>
                          <m:rPr>
                            <m:sty m:val="p"/>
                          </m:rPr>
                          <m:t>(</m:t>
                        </m:r>
                        <m:r>
                          <m:t>i</m:t>
                        </m:r>
                        <m:r>
                          <m:rPr>
                            <m:sty m:val="p"/>
                          </m:rPr>
                          <m:t>)</m:t>
                        </m:r>
                      </m:sub>
                    </m:sSub>
                  </m:oMath>
                </a14:m>
                <a:r>
                  <a:rPr sz="2000"/>
                  <a:t>, not </a:t>
                </a:r>
                <a14:m>
                  <m:oMath xmlns:m="http://schemas.openxmlformats.org/officeDocument/2006/math">
                    <m:sSub>
                      <m:e>
                        <m:r>
                          <m:t>β</m:t>
                        </m:r>
                      </m:e>
                      <m:sub>
                        <m:r>
                          <m:t>j</m:t>
                        </m:r>
                      </m:sub>
                    </m:sSub>
                  </m:oMath>
                </a14:m>
                <a:r>
                  <a:rPr sz="2000"/>
                  <a:t>. B only exists </a:t>
                </a:r>
                <a:r>
                  <a:rPr sz="2000" i="1"/>
                  <a:t>inside</a:t>
                </a:r>
                <a:r>
                  <a:rPr sz="2000"/>
                  <a:t> a specific A.</a:t>
                </a:r>
              </a:p>
            </p:txBody>
          </p:sp>
        </mc:Choice>
      </mc:AlternateContent>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Fixed and Random Effects in the Nested Model</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14:m>
                  <m:oMathPara xmlns:m="http://schemas.openxmlformats.org/officeDocument/2006/math">
                    <m:oMathParaPr>
                      <m:jc m:val="center"/>
                    </m:oMathParaPr>
                    <m:oMath>
                      <m:sSub>
                        <m:e>
                          <m:r>
                            <m:t>y</m:t>
                          </m:r>
                        </m:e>
                        <m:sub>
                          <m:r>
                            <m:t>i</m:t>
                          </m:r>
                          <m:r>
                            <m:t>j</m:t>
                          </m:r>
                          <m:r>
                            <m:t>k</m:t>
                          </m:r>
                        </m:sub>
                      </m:sSub>
                      <m:r>
                        <m:rPr>
                          <m:sty m:val="p"/>
                        </m:rPr>
                        <m:t>=</m:t>
                      </m:r>
                      <m:r>
                        <m:t>μ</m:t>
                      </m:r>
                      <m:r>
                        <m:rPr>
                          <m:sty m:val="p"/>
                        </m:rPr>
                        <m:t>+</m:t>
                      </m:r>
                      <m:sSub>
                        <m:e>
                          <m:r>
                            <m:t>α</m:t>
                          </m:r>
                        </m:e>
                        <m:sub>
                          <m:r>
                            <m:t>i</m:t>
                          </m:r>
                        </m:sub>
                      </m:sSub>
                      <m:r>
                        <m:rPr>
                          <m:sty m:val="p"/>
                        </m:rPr>
                        <m:t>+</m:t>
                      </m:r>
                      <m:sSub>
                        <m:e>
                          <m:r>
                            <m:t>β</m:t>
                          </m:r>
                        </m:e>
                        <m:sub>
                          <m:r>
                            <m:t>j</m:t>
                          </m:r>
                          <m:r>
                            <m:rPr>
                              <m:sty m:val="p"/>
                            </m:rPr>
                            <m:t>(</m:t>
                          </m:r>
                          <m:r>
                            <m:t>i</m:t>
                          </m:r>
                          <m:r>
                            <m:rPr>
                              <m:sty m:val="p"/>
                            </m:rPr>
                            <m:t>)</m:t>
                          </m:r>
                        </m:sub>
                      </m:sSub>
                      <m:r>
                        <m:rPr>
                          <m:sty m:val="p"/>
                        </m:rPr>
                        <m:t>+</m:t>
                      </m:r>
                      <m:sSub>
                        <m:e>
                          <m:r>
                            <m:t>ε</m:t>
                          </m:r>
                        </m:e>
                        <m:sub>
                          <m:r>
                            <m:t>i</m:t>
                          </m:r>
                          <m:r>
                            <m:t>j</m:t>
                          </m:r>
                          <m:r>
                            <m:t>k</m:t>
                          </m:r>
                        </m:sub>
                      </m:sSub>
                    </m:oMath>
                  </m:oMathPara>
                </a14:m>
              </a:p>
              <a:p>
                <a:pPr lvl="0"/>
                <a14:m>
                  <m:oMath xmlns:m="http://schemas.openxmlformats.org/officeDocument/2006/math">
                    <m:sSub>
                      <m:e>
                        <m:r>
                          <m:t>α</m:t>
                        </m:r>
                      </m:e>
                      <m:sub>
                        <m:r>
                          <m:t>i</m:t>
                        </m:r>
                      </m:sub>
                    </m:sSub>
                  </m:oMath>
                </a14:m>
                <a:r>
                  <a:rPr/>
                  <a:t> is the fixed effect of factor A — the difference between the average biomass in all low-grazing-level quadrats and the overall mean</a:t>
                </a:r>
              </a:p>
              <a:p>
                <a:pPr lvl="0"/>
                <a14:m>
                  <m:oMath xmlns:m="http://schemas.openxmlformats.org/officeDocument/2006/math">
                    <m:sSub>
                      <m:e>
                        <m:r>
                          <m:t>β</m:t>
                        </m:r>
                      </m:e>
                      <m:sub>
                        <m:r>
                          <m:t>j</m:t>
                        </m:r>
                        <m:r>
                          <m:rPr>
                            <m:sty m:val="p"/>
                          </m:rPr>
                          <m:t>(</m:t>
                        </m:r>
                        <m:r>
                          <m:t>i</m:t>
                        </m:r>
                        <m:r>
                          <m:rPr>
                            <m:sty m:val="p"/>
                          </m:rPr>
                          <m:t>)</m:t>
                        </m:r>
                      </m:sub>
                    </m:sSub>
                  </m:oMath>
                </a14:m>
                <a:r>
                  <a:rPr/>
                  <a:t> is the </a:t>
                </a:r>
                <a:r>
                  <a:rPr i="1"/>
                  <a:t>random</a:t>
                </a:r>
                <a:r>
                  <a:rPr/>
                  <a:t> effect of factor B nested within factor A — usually a random variable measuring variance among all possible levels of B within each level of A (variance among all possible patches that could have been used in the low-grazing treatment)</a:t>
                </a:r>
              </a:p>
            </p:txBody>
          </p:sp>
        </mc:Choice>
      </mc:AlternateContent>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a:t>B being random is the whole point of nesting: you don’t care about </a:t>
            </a:r>
            <a:r>
              <a:rPr sz="2000" i="1"/>
              <a:t>these specific</a:t>
            </a:r>
            <a:r>
              <a:rPr sz="2000"/>
              <a:t> patches — you care about patch-to-patch variability in general.</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Error Term in the Nested Model</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14:m>
                  <m:oMathPara xmlns:m="http://schemas.openxmlformats.org/officeDocument/2006/math">
                    <m:oMathParaPr>
                      <m:jc m:val="center"/>
                    </m:oMathParaPr>
                    <m:oMath>
                      <m:sSub>
                        <m:e>
                          <m:r>
                            <m:t>y</m:t>
                          </m:r>
                        </m:e>
                        <m:sub>
                          <m:r>
                            <m:t>i</m:t>
                          </m:r>
                          <m:r>
                            <m:t>j</m:t>
                          </m:r>
                          <m:r>
                            <m:t>k</m:t>
                          </m:r>
                        </m:sub>
                      </m:sSub>
                      <m:r>
                        <m:rPr>
                          <m:sty m:val="p"/>
                        </m:rPr>
                        <m:t>=</m:t>
                      </m:r>
                      <m:r>
                        <m:t>μ</m:t>
                      </m:r>
                      <m:r>
                        <m:rPr>
                          <m:sty m:val="p"/>
                        </m:rPr>
                        <m:t>+</m:t>
                      </m:r>
                      <m:sSub>
                        <m:e>
                          <m:r>
                            <m:t>α</m:t>
                          </m:r>
                        </m:e>
                        <m:sub>
                          <m:r>
                            <m:t>i</m:t>
                          </m:r>
                        </m:sub>
                      </m:sSub>
                      <m:r>
                        <m:rPr>
                          <m:sty m:val="p"/>
                        </m:rPr>
                        <m:t>+</m:t>
                      </m:r>
                      <m:sSub>
                        <m:e>
                          <m:r>
                            <m:t>β</m:t>
                          </m:r>
                        </m:e>
                        <m:sub>
                          <m:r>
                            <m:t>j</m:t>
                          </m:r>
                          <m:r>
                            <m:rPr>
                              <m:sty m:val="p"/>
                            </m:rPr>
                            <m:t>(</m:t>
                          </m:r>
                          <m:r>
                            <m:t>i</m:t>
                          </m:r>
                          <m:r>
                            <m:rPr>
                              <m:sty m:val="p"/>
                            </m:rPr>
                            <m:t>)</m:t>
                          </m:r>
                        </m:sub>
                      </m:sSub>
                      <m:r>
                        <m:rPr>
                          <m:sty m:val="p"/>
                        </m:rPr>
                        <m:t>+</m:t>
                      </m:r>
                      <m:sSub>
                        <m:e>
                          <m:r>
                            <m:t>ε</m:t>
                          </m:r>
                        </m:e>
                        <m:sub>
                          <m:r>
                            <m:t>i</m:t>
                          </m:r>
                          <m:r>
                            <m:t>j</m:t>
                          </m:r>
                          <m:r>
                            <m:t>k</m:t>
                          </m:r>
                        </m:sub>
                      </m:sSub>
                    </m:oMath>
                  </m:oMathPara>
                </a14:m>
              </a:p>
              <a:p>
                <a:pPr lvl="0"/>
                <a14:m>
                  <m:oMath xmlns:m="http://schemas.openxmlformats.org/officeDocument/2006/math">
                    <m:sSub>
                      <m:e>
                        <m:r>
                          <m:t>ε</m:t>
                        </m:r>
                      </m:e>
                      <m:sub>
                        <m:r>
                          <m:t>i</m:t>
                        </m:r>
                        <m:r>
                          <m:t>j</m:t>
                        </m:r>
                        <m:r>
                          <m:t>k</m:t>
                        </m:r>
                      </m:sub>
                    </m:sSub>
                  </m:oMath>
                </a14:m>
                <a:r>
                  <a:rPr/>
                  <a:t> is the error term — the unexplained variance associated with the k-th replicate in the j-th level of B in the i-th level of A</a:t>
                </a:r>
              </a:p>
              <a:p>
                <a:pPr lvl="0"/>
                <a14:m>
                  <m:oMath xmlns:m="http://schemas.openxmlformats.org/officeDocument/2006/math">
                    <m:sSub>
                      <m:e>
                        <m:r>
                          <m:t>α</m:t>
                        </m:r>
                      </m:e>
                      <m:sub>
                        <m:r>
                          <m:t>i</m:t>
                        </m:r>
                      </m:sub>
                    </m:sSub>
                  </m:oMath>
                </a14:m>
                <a:r>
                  <a:rPr/>
                  <a:t> is the effect of the i-th level of A: </a:t>
                </a:r>
                <a14:m>
                  <m:oMath xmlns:m="http://schemas.openxmlformats.org/officeDocument/2006/math">
                    <m:sSub>
                      <m:e>
                        <m:r>
                          <m:t>μ</m:t>
                        </m:r>
                      </m:e>
                      <m:sub>
                        <m:r>
                          <m:t>i</m:t>
                        </m:r>
                      </m:sub>
                    </m:sSub>
                    <m:r>
                      <m:rPr>
                        <m:sty m:val="p"/>
                      </m:rPr>
                      <m:t>−</m:t>
                    </m:r>
                    <m:r>
                      <m:t>μ</m:t>
                    </m:r>
                  </m:oMath>
                </a14:m>
              </a:p>
              <a:p>
                <a:pPr lvl="0"/>
                <a14:m>
                  <m:oMath xmlns:m="http://schemas.openxmlformats.org/officeDocument/2006/math">
                    <m:sSub>
                      <m:e>
                        <m:r>
                          <m:t>ε</m:t>
                        </m:r>
                      </m:e>
                      <m:sub>
                        <m:r>
                          <m:t>i</m:t>
                        </m:r>
                        <m:r>
                          <m:t>j</m:t>
                        </m:r>
                        <m:r>
                          <m:t>k</m:t>
                        </m:r>
                      </m:sub>
                    </m:sSub>
                  </m:oMath>
                </a14:m>
                <a:r>
                  <a:rPr/>
                  <a:t>: the difference between the observed algal biomass in the 3rd quadrat in the 2nd patch in the low-grazing treatment, and the </a:t>
                </a:r>
                <a:r>
                  <a:rPr i="1"/>
                  <a:t>predicted</a:t>
                </a:r>
                <a:r>
                  <a:rPr/>
                  <a:t> biomass (the average biomass in that 2nd patch in the low-grazing treatment)</a:t>
                </a:r>
              </a:p>
            </p:txBody>
          </p:sp>
        </mc:Choice>
      </mc:AlternateContent>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Notice</a:t>
            </a:r>
          </a:p>
          <a:p>
            <a:pPr lvl="0" indent="0" marL="1270000">
              <a:buNone/>
            </a:pPr>
            <a:r>
              <a:rPr sz="2000"/>
              <a:t>The residual is measured against the </a:t>
            </a:r>
            <a:r>
              <a:rPr sz="2000" i="1"/>
              <a:t>cell</a:t>
            </a:r>
            <a:r>
              <a:rPr sz="2000"/>
              <a:t> mean (this specific patch), not the treatment mean — that’s what makes it “nested,” arithmetically.</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Partitioning Variance</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Analysis of Variance: Residual and Total</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14:m>
                  <m:oMath xmlns:m="http://schemas.openxmlformats.org/officeDocument/2006/math">
                    <m:r>
                      <m:t>S</m:t>
                    </m:r>
                    <m:sSub>
                      <m:e>
                        <m:r>
                          <m:t>S</m:t>
                        </m:r>
                      </m:e>
                      <m:sub>
                        <m:r>
                          <m:t>r</m:t>
                        </m:r>
                        <m:r>
                          <m:t>e</m:t>
                        </m:r>
                        <m:r>
                          <m:t>s</m:t>
                        </m:r>
                        <m:r>
                          <m:t>i</m:t>
                        </m:r>
                        <m:r>
                          <m:t>d</m:t>
                        </m:r>
                      </m:sub>
                    </m:sSub>
                  </m:oMath>
                </a14:m>
                <a:r>
                  <a:rPr/>
                  <a:t> is the difference between each observation and the mean for its level of factor B, summed over all observations</a:t>
                </a:r>
              </a:p>
              <a:p>
                <a:pPr lvl="0"/>
                <a14:m>
                  <m:oMath xmlns:m="http://schemas.openxmlformats.org/officeDocument/2006/math">
                    <m:r>
                      <m:t>S</m:t>
                    </m:r>
                    <m:sSub>
                      <m:e>
                        <m:r>
                          <m:t>S</m:t>
                        </m:r>
                      </m:e>
                      <m:sub>
                        <m:r>
                          <m:t>t</m:t>
                        </m:r>
                        <m:r>
                          <m:t>o</m:t>
                        </m:r>
                        <m:r>
                          <m:t>t</m:t>
                        </m:r>
                        <m:r>
                          <m:t>a</m:t>
                        </m:r>
                        <m:r>
                          <m:t>l</m:t>
                        </m:r>
                      </m:sub>
                    </m:sSub>
                    <m:r>
                      <m:rPr>
                        <m:sty m:val="p"/>
                      </m:rPr>
                      <m:t>=</m:t>
                    </m:r>
                    <m:r>
                      <m:t>S</m:t>
                    </m:r>
                    <m:sSub>
                      <m:e>
                        <m:r>
                          <m:t>S</m:t>
                        </m:r>
                      </m:e>
                      <m:sub>
                        <m:r>
                          <m:t>A</m:t>
                        </m:r>
                      </m:sub>
                    </m:sSub>
                    <m:r>
                      <m:rPr>
                        <m:sty m:val="p"/>
                      </m:rPr>
                      <m:t>+</m:t>
                    </m:r>
                    <m:r>
                      <m:t>S</m:t>
                    </m:r>
                    <m:sSub>
                      <m:e>
                        <m:r>
                          <m:t>S</m:t>
                        </m:r>
                      </m:e>
                      <m:sub>
                        <m:r>
                          <m:t>B</m:t>
                        </m:r>
                      </m:sub>
                    </m:sSub>
                    <m:r>
                      <m:rPr>
                        <m:sty m:val="p"/>
                      </m:rPr>
                      <m:t>+</m:t>
                    </m:r>
                    <m:r>
                      <m:t>S</m:t>
                    </m:r>
                    <m:sSub>
                      <m:e>
                        <m:r>
                          <m:t>S</m:t>
                        </m:r>
                      </m:e>
                      <m:sub>
                        <m:r>
                          <m:t>r</m:t>
                        </m:r>
                        <m:r>
                          <m:t>e</m:t>
                        </m:r>
                        <m:r>
                          <m:t>s</m:t>
                        </m:r>
                        <m:r>
                          <m:t>i</m:t>
                        </m:r>
                        <m:r>
                          <m:t>d</m:t>
                        </m:r>
                      </m:sub>
                    </m:sSub>
                  </m:oMath>
                </a14:m>
              </a:p>
              <a:p>
                <a:pPr lvl="0"/>
                <a:r>
                  <a:rPr/>
                  <a:t>SS can be turned into MS by dividing by the appropriate df</a:t>
                </a:r>
              </a:p>
            </p:txBody>
          </p:sp>
        </mc:Choice>
      </mc:AlternateContent>
      <p:pic>
        <p:nvPicPr>
          <p:cNvPr descr="images/clipboard-2357756170.png" id="0" name="Picture 1"/>
          <p:cNvPicPr>
            <a:picLocks noGrp="1" noChangeAspect="1"/>
          </p:cNvPicPr>
          <p:nvPr/>
        </p:nvPicPr>
        <p:blipFill>
          <a:blip r:embed="rId2"/>
          <a:stretch>
            <a:fillRect/>
          </a:stretch>
        </p:blipFill>
        <p:spPr bwMode="auto">
          <a:xfrm>
            <a:off x="6121400" y="2184400"/>
            <a:ext cx="2781300" cy="14224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Analysis of Variance: SSA</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As before, we partition the variance in the response variable using SS. </a:t>
                </a:r>
                <a14:m>
                  <m:oMath xmlns:m="http://schemas.openxmlformats.org/officeDocument/2006/math">
                    <m:r>
                      <m:t>S</m:t>
                    </m:r>
                    <m:sSub>
                      <m:e>
                        <m:r>
                          <m:t>S</m:t>
                        </m:r>
                      </m:e>
                      <m:sub>
                        <m:r>
                          <m:t>A</m:t>
                        </m:r>
                      </m:sub>
                    </m:sSub>
                  </m:oMath>
                </a14:m>
                <a:r>
                  <a:rPr/>
                  <a:t> is the SS of differences between the mean in each level of A and the overall mean.</a:t>
                </a:r>
              </a:p>
            </p:txBody>
          </p:sp>
        </mc:Choice>
      </mc:AlternateContent>
      <p:pic>
        <p:nvPicPr>
          <p:cNvPr descr="images/clipboard-1219870939.png" id="0" name="Picture 1"/>
          <p:cNvPicPr>
            <a:picLocks noGrp="1" noChangeAspect="1"/>
          </p:cNvPicPr>
          <p:nvPr/>
        </p:nvPicPr>
        <p:blipFill>
          <a:blip r:embed="rId2"/>
          <a:stretch>
            <a:fillRect/>
          </a:stretch>
        </p:blipFill>
        <p:spPr bwMode="auto">
          <a:xfrm>
            <a:off x="6121400" y="2184400"/>
            <a:ext cx="2781300" cy="14224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Analysis of Variance: SSB</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14:m>
                  <m:oMath xmlns:m="http://schemas.openxmlformats.org/officeDocument/2006/math">
                    <m:r>
                      <m:t>S</m:t>
                    </m:r>
                    <m:sSub>
                      <m:e>
                        <m:r>
                          <m:t>S</m:t>
                        </m:r>
                      </m:e>
                      <m:sub>
                        <m:r>
                          <m:t>B</m:t>
                        </m:r>
                      </m:sub>
                    </m:sSub>
                  </m:oMath>
                </a14:m>
                <a:r>
                  <a:rPr/>
                  <a:t> is the SS of the difference between the mean in each level of B and the mean of the corresponding level of A, summed across all levels of A.</a:t>
                </a:r>
              </a:p>
            </p:txBody>
          </p:sp>
        </mc:Choice>
      </mc:AlternateContent>
      <p:pic>
        <p:nvPicPr>
          <p:cNvPr descr="images/clipboard-2467119661.png" id="0" name="Picture 1"/>
          <p:cNvPicPr>
            <a:picLocks noGrp="1" noChangeAspect="1"/>
          </p:cNvPicPr>
          <p:nvPr/>
        </p:nvPicPr>
        <p:blipFill>
          <a:blip r:embed="rId2"/>
          <a:stretch>
            <a:fillRect/>
          </a:stretch>
        </p:blipFill>
        <p:spPr bwMode="auto">
          <a:xfrm>
            <a:off x="6121400" y="2184400"/>
            <a:ext cx="2781300" cy="14224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The Nested ANOVA Table</a:t>
            </a:r>
          </a:p>
        </p:txBody>
      </p:sp>
      <p:pic>
        <p:nvPicPr>
          <p:cNvPr descr="images/clipboard-449121940.png" id="0" name="Picture 1"/>
          <p:cNvPicPr>
            <a:picLocks noGrp="1" noChangeAspect="1"/>
          </p:cNvPicPr>
          <p:nvPr/>
        </p:nvPicPr>
        <p:blipFill>
          <a:blip r:embed="rId2"/>
          <a:stretch>
            <a:fillRect/>
          </a:stretch>
        </p:blipFill>
        <p:spPr bwMode="auto">
          <a:xfrm>
            <a:off x="1384300" y="609600"/>
            <a:ext cx="6324600" cy="39116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Hypotheses and Assumptions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Null Hypotheses: Factor A</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Two hypotheses are tested on values of MS. </a:t>
                </a:r>
                <a:r>
                  <a:rPr b="1"/>
                  <a:t>1. No effects of factor A</a:t>
                </a:r>
                <a:r>
                  <a:rPr/>
                  <a:t> — assuming A is fixed:</a:t>
                </a:r>
              </a:p>
              <a:p>
                <a:pPr lvl="0"/>
                <a14:m>
                  <m:oMath xmlns:m="http://schemas.openxmlformats.org/officeDocument/2006/math">
                    <m:sSub>
                      <m:e>
                        <m:r>
                          <m:t>H</m:t>
                        </m:r>
                      </m:e>
                      <m:sub>
                        <m:r>
                          <m:t>0</m:t>
                        </m:r>
                      </m:sub>
                    </m:sSub>
                    <m:r>
                      <m:rPr>
                        <m:sty m:val="p"/>
                      </m:rPr>
                      <m:t>(</m:t>
                    </m:r>
                    <m:r>
                      <m:t>A</m:t>
                    </m:r>
                    <m:r>
                      <m:rPr>
                        <m:sty m:val="p"/>
                      </m:rPr>
                      <m:t>)</m:t>
                    </m:r>
                  </m:oMath>
                </a14:m>
                <a:r>
                  <a:rPr/>
                  <a:t>: </a:t>
                </a:r>
                <a14:m>
                  <m:oMath xmlns:m="http://schemas.openxmlformats.org/officeDocument/2006/math">
                    <m:sSub>
                      <m:e>
                        <m:r>
                          <m:t>μ</m:t>
                        </m:r>
                      </m:e>
                      <m:sub>
                        <m:r>
                          <m:t>1</m:t>
                        </m:r>
                      </m:sub>
                    </m:sSub>
                    <m:r>
                      <m:rPr>
                        <m:sty m:val="p"/>
                      </m:rPr>
                      <m:t>=</m:t>
                    </m:r>
                    <m:sSub>
                      <m:e>
                        <m:r>
                          <m:t>μ</m:t>
                        </m:r>
                      </m:e>
                      <m:sub>
                        <m:r>
                          <m:t>2</m:t>
                        </m:r>
                      </m:sub>
                    </m:sSub>
                    <m:r>
                      <m:rPr>
                        <m:sty m:val="p"/>
                      </m:rPr>
                      <m:t>=</m:t>
                    </m:r>
                    <m:r>
                      <m:rPr>
                        <m:sty m:val="p"/>
                      </m:rPr>
                      <m:t>.</m:t>
                    </m:r>
                    <m:r>
                      <m:rPr>
                        <m:sty m:val="p"/>
                      </m:rPr>
                      <m:t>.</m:t>
                    </m:r>
                    <m:r>
                      <m:rPr>
                        <m:sty m:val="p"/>
                      </m:rPr>
                      <m:t>.</m:t>
                    </m:r>
                    <m:r>
                      <m:rPr>
                        <m:sty m:val="p"/>
                      </m:rPr>
                      <m:t>=</m:t>
                    </m:r>
                    <m:sSub>
                      <m:e>
                        <m:r>
                          <m:t>μ</m:t>
                        </m:r>
                      </m:e>
                      <m:sub>
                        <m:r>
                          <m:t>i</m:t>
                        </m:r>
                      </m:sub>
                    </m:sSub>
                    <m:r>
                      <m:rPr>
                        <m:sty m:val="p"/>
                      </m:rPr>
                      <m:t>=</m:t>
                    </m:r>
                    <m:r>
                      <m:t>μ</m:t>
                    </m:r>
                  </m:oMath>
                </a14:m>
              </a:p>
              <a:p>
                <a:pPr lvl="0"/>
                <a:r>
                  <a:rPr/>
                  <a:t>Same as in 1-factor ANOVA, using means from B factors nested within each level of A</a:t>
                </a:r>
              </a:p>
              <a:p>
                <a:pPr lvl="0"/>
                <a:r>
                  <a:rPr/>
                  <a:t>(no difference in algal biomass across all grazing levels: </a:t>
                </a:r>
                <a14:m>
                  <m:oMath xmlns:m="http://schemas.openxmlformats.org/officeDocument/2006/math">
                    <m:sSub>
                      <m:e>
                        <m:r>
                          <m:t>μ</m:t>
                        </m:r>
                      </m:e>
                      <m:sub>
                        <m:r>
                          <m:t>n</m:t>
                        </m:r>
                        <m:r>
                          <m:t>o</m:t>
                        </m:r>
                        <m:r>
                          <m:t>n</m:t>
                        </m:r>
                        <m:r>
                          <m:t>e</m:t>
                        </m:r>
                      </m:sub>
                    </m:sSub>
                    <m:r>
                      <m:rPr>
                        <m:sty m:val="p"/>
                      </m:rPr>
                      <m:t>=</m:t>
                    </m:r>
                    <m:sSub>
                      <m:e>
                        <m:r>
                          <m:t>μ</m:t>
                        </m:r>
                      </m:e>
                      <m:sub>
                        <m:r>
                          <m:t>l</m:t>
                        </m:r>
                        <m:r>
                          <m:t>o</m:t>
                        </m:r>
                        <m:r>
                          <m:t>w</m:t>
                        </m:r>
                      </m:sub>
                    </m:sSub>
                    <m:r>
                      <m:rPr>
                        <m:sty m:val="p"/>
                      </m:rPr>
                      <m:t>=</m:t>
                    </m:r>
                    <m:sSub>
                      <m:e>
                        <m:r>
                          <m:t>μ</m:t>
                        </m:r>
                      </m:e>
                      <m:sub>
                        <m:r>
                          <m:t>m</m:t>
                        </m:r>
                        <m:r>
                          <m:t>e</m:t>
                        </m:r>
                        <m:r>
                          <m:t>d</m:t>
                        </m:r>
                      </m:sub>
                    </m:sSub>
                    <m:r>
                      <m:rPr>
                        <m:sty m:val="p"/>
                      </m:rPr>
                      <m:t>=</m:t>
                    </m:r>
                    <m:sSub>
                      <m:e>
                        <m:r>
                          <m:t>μ</m:t>
                        </m:r>
                      </m:e>
                      <m:sub>
                        <m:r>
                          <m:t>h</m:t>
                        </m:r>
                        <m:r>
                          <m:t>i</m:t>
                        </m:r>
                        <m:r>
                          <m:t>g</m:t>
                        </m:r>
                        <m:r>
                          <m:t>h</m:t>
                        </m:r>
                      </m:sub>
                    </m:sSub>
                  </m:oMath>
                </a14:m>
                <a:r>
                  <a:rPr/>
                  <a:t>)</a:t>
                </a:r>
              </a:p>
            </p:txBody>
          </p:sp>
        </mc:Choice>
      </mc:AlternateContent>
      <p:pic>
        <p:nvPicPr>
          <p:cNvPr descr="images/clipboard-1310685300.png" id="0" name="Picture 1"/>
          <p:cNvPicPr>
            <a:picLocks noGrp="1" noChangeAspect="1"/>
          </p:cNvPicPr>
          <p:nvPr/>
        </p:nvPicPr>
        <p:blipFill>
          <a:blip r:embed="rId2"/>
          <a:stretch>
            <a:fillRect/>
          </a:stretch>
        </p:blipFill>
        <p:spPr bwMode="auto">
          <a:xfrm>
            <a:off x="6121400" y="1955800"/>
            <a:ext cx="2781300" cy="18796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Null Hypotheses: Factor B</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b="1"/>
                  <a:t>2. No effects of factor B nested in A</a:t>
                </a:r>
                <a:r>
                  <a:rPr/>
                  <a:t> — assuming B is random:</a:t>
                </a:r>
              </a:p>
              <a:p>
                <a:pPr lvl="0"/>
                <a14:m>
                  <m:oMath xmlns:m="http://schemas.openxmlformats.org/officeDocument/2006/math">
                    <m:sSub>
                      <m:e>
                        <m:r>
                          <m:t>H</m:t>
                        </m:r>
                      </m:e>
                      <m:sub>
                        <m:r>
                          <m:t>0</m:t>
                        </m:r>
                      </m:sub>
                    </m:sSub>
                    <m:r>
                      <m:rPr>
                        <m:sty m:val="p"/>
                      </m:rPr>
                      <m:t>(</m:t>
                    </m:r>
                    <m:r>
                      <m:t>B</m:t>
                    </m:r>
                    <m:r>
                      <m:rPr>
                        <m:sty m:val="p"/>
                      </m:rPr>
                      <m:t>)</m:t>
                    </m:r>
                  </m:oMath>
                </a14:m>
                <a:r>
                  <a:rPr/>
                  <a:t>: </a:t>
                </a:r>
                <a14:m>
                  <m:oMath xmlns:m="http://schemas.openxmlformats.org/officeDocument/2006/math">
                    <m:sSubSup>
                      <m:e>
                        <m:r>
                          <m:t>σ</m:t>
                        </m:r>
                      </m:e>
                      <m:sub>
                        <m:r>
                          <m:t>β</m:t>
                        </m:r>
                      </m:sub>
                      <m:sup>
                        <m:r>
                          <m:t>2</m:t>
                        </m:r>
                      </m:sup>
                    </m:sSubSup>
                    <m:r>
                      <m:rPr>
                        <m:sty m:val="p"/>
                      </m:rPr>
                      <m:t>=</m:t>
                    </m:r>
                    <m:r>
                      <m:t>0</m:t>
                    </m:r>
                  </m:oMath>
                </a14:m>
                <a:r>
                  <a:rPr/>
                  <a:t> (no variance added due to differences between all possible levels of B)</a:t>
                </a:r>
              </a:p>
              <a:p>
                <a:pPr lvl="0"/>
                <a:r>
                  <a:rPr/>
                  <a:t>(no variance added due to differences between patches)</a:t>
                </a:r>
              </a:p>
            </p:txBody>
          </p:sp>
        </mc:Choice>
      </mc:AlternateContent>
      <p:pic>
        <p:nvPicPr>
          <p:cNvPr descr="images/clipboard-1310685300.png" id="0" name="Picture 1"/>
          <p:cNvPicPr>
            <a:picLocks noGrp="1" noChangeAspect="1"/>
          </p:cNvPicPr>
          <p:nvPr/>
        </p:nvPicPr>
        <p:blipFill>
          <a:blip r:embed="rId2"/>
          <a:stretch>
            <a:fillRect/>
          </a:stretch>
        </p:blipFill>
        <p:spPr bwMode="auto">
          <a:xfrm>
            <a:off x="6121400" y="1955800"/>
            <a:ext cx="2781300" cy="18796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Conclusions from the Analysis</a:t>
            </a:r>
          </a:p>
        </p:txBody>
      </p:sp>
      <p:sp>
        <p:nvSpPr>
          <p:cNvPr id="3" name="Content Placeholder 2"/>
          <p:cNvSpPr>
            <a:spLocks noGrp="1"/>
          </p:cNvSpPr>
          <p:nvPr>
            <p:ph idx="1" sz="half"/>
          </p:nvPr>
        </p:nvSpPr>
        <p:spPr/>
        <p:txBody>
          <a:bodyPr/>
          <a:lstStyle/>
          <a:p>
            <a:pPr lvl="0" indent="0" marL="0">
              <a:buNone/>
            </a:pPr>
            <a:r>
              <a:rPr b="1"/>
              <a:t>Conclusion:</a:t>
            </a:r>
          </a:p>
          <a:p>
            <a:pPr lvl="0" indent="0" marL="0">
              <a:buNone/>
            </a:pPr>
            <a:r>
              <a:rPr/>
              <a:t>“Significant variation between replicate patches within each treatment, but no significant difference in the amount of filamentous algae between treatments.”</a:t>
            </a:r>
          </a:p>
        </p:txBody>
      </p:sp>
      <p:pic>
        <p:nvPicPr>
          <p:cNvPr descr="images/clipboard-3596669693.png" id="0" name="Picture 1"/>
          <p:cNvPicPr>
            <a:picLocks noGrp="1" noChangeAspect="1"/>
          </p:cNvPicPr>
          <p:nvPr/>
        </p:nvPicPr>
        <p:blipFill>
          <a:blip r:embed="rId2"/>
          <a:stretch>
            <a:fillRect/>
          </a:stretch>
        </p:blipFill>
        <p:spPr bwMode="auto">
          <a:xfrm>
            <a:off x="6121400" y="1701800"/>
            <a:ext cx="2781300" cy="23749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Unbalanced Nested Designs</a:t>
            </a:r>
          </a:p>
        </p:txBody>
      </p:sp>
      <p:sp>
        <p:nvSpPr>
          <p:cNvPr id="3" name="Content Placeholder 2"/>
          <p:cNvSpPr>
            <a:spLocks noGrp="1"/>
          </p:cNvSpPr>
          <p:nvPr>
            <p:ph idx="1" sz="half"/>
          </p:nvPr>
        </p:nvSpPr>
        <p:spPr/>
        <p:txBody>
          <a:bodyPr/>
          <a:lstStyle/>
          <a:p>
            <a:pPr lvl="0" indent="0" marL="0">
              <a:buNone/>
            </a:pPr>
            <a:r>
              <a:rPr/>
              <a:t>Unequal sample sizes can arise from:</a:t>
            </a:r>
          </a:p>
          <a:p>
            <a:pPr lvl="0"/>
            <a:r>
              <a:rPr/>
              <a:t>An uneven number of B levels within each A</a:t>
            </a:r>
          </a:p>
          <a:p>
            <a:pPr lvl="0"/>
            <a:r>
              <a:rPr/>
              <a:t>An uneven number of replicates within each level of B</a:t>
            </a:r>
          </a:p>
          <a:p>
            <a:pPr lvl="0" indent="0" marL="0">
              <a:buNone/>
            </a:pPr>
            <a:r>
              <a:rPr/>
              <a:t>Not a problem unless you have unequal variance or a large deviation from normality.</a:t>
            </a:r>
          </a:p>
        </p:txBody>
      </p:sp>
      <p:pic>
        <p:nvPicPr>
          <p:cNvPr descr="images/clipboard-2098022400.png" id="0" name="Picture 1"/>
          <p:cNvPicPr>
            <a:picLocks noGrp="1" noChangeAspect="1"/>
          </p:cNvPicPr>
          <p:nvPr/>
        </p:nvPicPr>
        <p:blipFill>
          <a:blip r:embed="rId2"/>
          <a:stretch>
            <a:fillRect/>
          </a:stretch>
        </p:blipFill>
        <p:spPr bwMode="auto">
          <a:xfrm>
            <a:off x="6121400" y="2032000"/>
            <a:ext cx="2781300" cy="1727200"/>
          </a:xfrm>
          <a:prstGeom prst="rect">
            <a:avLst/>
          </a:prstGeom>
          <a:noFill/>
          <a:ln w="9525">
            <a:noFill/>
            <a:headEnd/>
            <a:tailEnd/>
          </a:ln>
        </p:spPr>
      </p:pic>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Nested Design Assumptions</a:t>
            </a:r>
          </a:p>
        </p:txBody>
      </p:sp>
      <p:sp>
        <p:nvSpPr>
          <p:cNvPr id="3" name="Content Placeholder 2"/>
          <p:cNvSpPr>
            <a:spLocks noGrp="1"/>
          </p:cNvSpPr>
          <p:nvPr>
            <p:ph idx="1" sz="half"/>
          </p:nvPr>
        </p:nvSpPr>
        <p:spPr/>
        <p:txBody>
          <a:bodyPr/>
          <a:lstStyle/>
          <a:p>
            <a:pPr lvl="0" indent="0" marL="0">
              <a:buNone/>
            </a:pPr>
            <a:r>
              <a:rPr/>
              <a:t>As usual, we assume: equal variance, normality, no outliers, independence of observations.</a:t>
            </a:r>
          </a:p>
          <a:p>
            <a:pPr lvl="0" indent="0" marL="0">
              <a:buNone/>
            </a:pPr>
            <a:r>
              <a:rPr/>
              <a:t>Equal variance + normality need to be assessed at </a:t>
            </a:r>
            <a:r>
              <a:rPr b="1"/>
              <a:t>both levels</a:t>
            </a:r>
            <a:r>
              <a:rPr/>
              <a:t>:</a:t>
            </a:r>
          </a:p>
          <a:p>
            <a:pPr lvl="0"/>
            <a:r>
              <a:rPr/>
              <a:t>Since means for each level of B within each A are used for the H-test about A, need to assess whether </a:t>
            </a:r>
            <a:r>
              <a:rPr i="1"/>
              <a:t>those means</a:t>
            </a:r>
            <a:r>
              <a:rPr/>
              <a:t> meet normality and equal variance</a:t>
            </a:r>
          </a:p>
          <a:p>
            <a:pPr lvl="0"/>
            <a:r>
              <a:rPr/>
              <a:t>Examine residuals for the H-test about B</a:t>
            </a:r>
          </a:p>
          <a:p>
            <a:pPr lvl="0"/>
            <a:r>
              <a:rPr/>
              <a:t>Transformations can be used</a:t>
            </a:r>
          </a:p>
        </p:txBody>
      </p:sp>
      <p:sp>
        <p:nvSpPr>
          <p:cNvPr id="4" name="Content Placeholder 3"/>
          <p:cNvSpPr>
            <a:spLocks noGrp="1"/>
          </p:cNvSpPr>
          <p:nvPr>
            <p:ph idx="2" sz="half"/>
          </p:nvPr>
        </p:nvSpPr>
        <p:spPr/>
        <p:txBody>
          <a:bodyPr/>
          <a:lstStyle/>
          <a:p>
            <a:pPr lvl="0" indent="0" marL="1270000">
              <a:buNone/>
            </a:pPr>
            <a:r>
              <a:rPr sz="2000" b="1"/>
              <a:t>Warning</a:t>
            </a:r>
          </a:p>
          <a:p>
            <a:pPr lvl="0" indent="0" marL="1270000">
              <a:buNone/>
            </a:pPr>
            <a:r>
              <a:rPr sz="2000" b="1"/>
              <a:t>⚠️ Watch out!</a:t>
            </a:r>
          </a:p>
          <a:p>
            <a:pPr lvl="0" indent="0" marL="1270000">
              <a:buNone/>
            </a:pPr>
            <a:r>
              <a:rPr sz="2000"/>
              <a:t>This is the part people most often get wrong: checking assumptions on the </a:t>
            </a:r>
            <a:r>
              <a:rPr sz="2000" i="1"/>
              <a:t>raw data</a:t>
            </a:r>
            <a:r>
              <a:rPr sz="2000"/>
              <a:t> isn’t enough for a nested design — you need to check them at the level each hypothesis test actually operates on.</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7 · The Sea Urchin Example — Data</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Nested Design, the Hard Way</a:t>
            </a:r>
          </a:p>
        </p:txBody>
      </p:sp>
      <p:sp>
        <p:nvSpPr>
          <p:cNvPr id="3" name="Content Placeholder 2"/>
          <p:cNvSpPr>
            <a:spLocks noGrp="1"/>
          </p:cNvSpPr>
          <p:nvPr>
            <p:ph idx="1" sz="half"/>
          </p:nvPr>
        </p:nvSpPr>
        <p:spPr/>
        <p:txBody>
          <a:bodyPr/>
          <a:lstStyle/>
          <a:p>
            <a:pPr lvl="0" indent="0" marL="0">
              <a:buNone/>
            </a:pPr>
            <a:r>
              <a:rPr/>
              <a:t>This analysis examines the effects of varying sea urchin densities on the percentage cover of filamentous algae. The experiment was designed with:</a:t>
            </a:r>
          </a:p>
          <a:p>
            <a:pPr lvl="0"/>
            <a:r>
              <a:rPr/>
              <a:t>Four random patches</a:t>
            </a:r>
          </a:p>
          <a:p>
            <a:pPr lvl="0"/>
            <a:r>
              <a:rPr/>
              <a:t>Four urchin density treatments (none = removed, low = control, medium = 33% of original density, high = 66% of original density)</a:t>
            </a:r>
          </a:p>
          <a:p>
            <a:pPr lvl="0"/>
            <a:r>
              <a:rPr/>
              <a:t>Five replicate quadrats measured within each treatment-patch combination</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Reference</a:t>
            </a:r>
          </a:p>
          <a:p>
            <a:pPr lvl="0" indent="0" marL="1270000">
              <a:buNone/>
            </a:pPr>
            <a:r>
              <a:rPr sz="2000"/>
              <a:t>Quinn &amp; Keough (2002), </a:t>
            </a:r>
            <a:r>
              <a:rPr sz="2000" i="1"/>
              <a:t>Experimental Design and Data Analysis for Biologists</a:t>
            </a:r>
            <a:r>
              <a:rPr sz="2000"/>
              <a:t> — this dataset and analysis follow their treatment of the sea urchin/algae example.</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Data Overview</a:t>
            </a:r>
          </a:p>
        </p:txBody>
      </p:sp>
      <p:sp>
        <p:nvSpPr>
          <p:cNvPr id="3" name="Content Placeholder 2"/>
          <p:cNvSpPr>
            <a:spLocks noGrp="1"/>
          </p:cNvSpPr>
          <p:nvPr>
            <p:ph idx="1" sz="half"/>
          </p:nvPr>
        </p:nvSpPr>
        <p:spPr/>
        <p:txBody>
          <a:bodyPr/>
          <a:lstStyle/>
          <a:p>
            <a:pPr lvl="0" indent="0" marL="0">
              <a:buNone/>
            </a:pPr>
            <a:r>
              <a:rPr/>
              <a:t>The data frame contains: </a:t>
            </a:r>
            <a:r>
              <a:rPr>
                <a:latin typeface="Courier"/>
              </a:rPr>
              <a:t>patch</a:t>
            </a:r>
            <a:r>
              <a:rPr/>
              <a:t> (random patches 1–16 where treatments were applied), </a:t>
            </a:r>
            <a:r>
              <a:rPr>
                <a:latin typeface="Courier"/>
              </a:rPr>
              <a:t>treat</a:t>
            </a:r>
            <a:r>
              <a:rPr/>
              <a:t> (urchin density treatment), </a:t>
            </a:r>
            <a:r>
              <a:rPr>
                <a:latin typeface="Courier"/>
              </a:rPr>
              <a:t>quad</a:t>
            </a:r>
            <a:r>
              <a:rPr/>
              <a:t> (replicate quadrats within each treatment-patch combination), </a:t>
            </a:r>
            <a:r>
              <a:rPr>
                <a:latin typeface="Courier"/>
              </a:rPr>
              <a:t>algae</a:t>
            </a:r>
            <a:r>
              <a:rPr/>
              <a:t> (percentage cover of filamentous algae — the response variable).</a:t>
            </a:r>
          </a:p>
          <a:p>
            <a:pPr lvl="0" indent="0">
              <a:buNone/>
            </a:pPr>
            <a:r>
              <a:rPr>
                <a:latin typeface="Courier"/>
              </a:rPr>
              <a:t>## Data
## # A tibble: 6 × 4
##   treat patch  quad algae
##   &lt;fct&gt; &lt;fct&gt; &lt;dbl&gt; &lt;dbl&gt;
## 1 high  1         1     0
## 2 high  1         2     0
## 3 high  1         3     0
## 4 high  1         4     6
## 5 high  1         5     2
## 6 high  2         1     0
## 
## 
## Treatment levels:
## [1] "none"   "low"    "medium" "high"</a:t>
            </a:r>
          </a:p>
        </p:txBody>
      </p:sp>
      <p:sp>
        <p:nvSpPr>
          <p:cNvPr id="4" name="Content Placeholder 3"/>
          <p:cNvSpPr>
            <a:spLocks noGrp="1"/>
          </p:cNvSpPr>
          <p:nvPr>
            <p:ph idx="2" sz="half"/>
          </p:nvPr>
        </p:nvSpPr>
        <p:spPr/>
        <p:txBody>
          <a:bodyPr/>
          <a:lstStyle/>
          <a:p>
            <a:pPr lvl="0" indent="0">
              <a:buNone/>
            </a:pPr>
            <a:r>
              <a:rPr>
                <a:latin typeface="Courier"/>
              </a:rPr>
              <a:t>## Summary statistics by treatment:
## # A tibble: 4 × 7
##   treat      n  mean    sd    se   min   max
##   &lt;fct&gt;  &lt;int&gt; &lt;dbl&gt; &lt;dbl&gt; &lt;dbl&gt; &lt;dbl&gt; &lt;dbl&gt;
## 1 none      20  39.2 28.7  6.41      0    83
## 2 low       20  21.6 25.1  5.62      0    79
## 3 medium    20  19   25.7  5.74      0    71
## 4 high      20   1.3  3.18 0.711     0    13</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 First Look at the Data</a:t>
            </a:r>
          </a:p>
        </p:txBody>
      </p:sp>
      <p:pic>
        <p:nvPicPr>
          <p:cNvPr descr="nested_anova_lecture_files/figure-pptx/unnamed-chunk-4-1.png" id="0" name="Picture 1"/>
          <p:cNvPicPr>
            <a:picLocks noGrp="1" noChangeAspect="1"/>
          </p:cNvPicPr>
          <p:nvPr/>
        </p:nvPicPr>
        <p:blipFill>
          <a:blip r:embed="rId2"/>
          <a:stretch>
            <a:fillRect/>
          </a:stretch>
        </p:blipFill>
        <p:spPr bwMode="auto">
          <a:xfrm>
            <a:off x="2197100" y="609600"/>
            <a:ext cx="4699000" cy="3911600"/>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8 · The Wrong Way — Naive Factorial Model</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Manual Nested ANOVA — Setting Up</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In this experimental design, </a:t>
                </a:r>
                <a:r>
                  <a:rPr>
                    <a:latin typeface="Courier"/>
                  </a:rPr>
                  <a:t>patch</a:t>
                </a:r>
                <a:r>
                  <a:rPr/>
                  <a:t> is nested within </a:t>
                </a:r>
                <a:r>
                  <a:rPr>
                    <a:latin typeface="Courier"/>
                  </a:rPr>
                  <a:t>treat</a:t>
                </a:r>
                <a:r>
                  <a:rPr/>
                  <a:t> because each patch received only one treatment level — a hierarchical design where the effect of patches must be considered </a:t>
                </a:r>
                <a:r>
                  <a:rPr i="1"/>
                  <a:t>within</a:t>
                </a:r>
                <a:r>
                  <a:rPr/>
                  <a:t> each treatment (Quinn &amp; Keough 2002).</a:t>
                </a:r>
              </a:p>
              <a:p>
                <a:pPr lvl="0" indent="0" marL="0">
                  <a:buNone/>
                </a:pPr>
                <a:r>
                  <a:rPr/>
                  <a:t>We’ll use a traditional nested ANOVA. You </a:t>
                </a:r>
                <a:r>
                  <a:rPr i="1"/>
                  <a:t>could</a:t>
                </a:r>
                <a:r>
                  <a:rPr/>
                  <a:t> make this easy by averaging </a:t>
                </a:r>
                <a:r>
                  <a:rPr>
                    <a:latin typeface="Courier"/>
                  </a:rPr>
                  <a:t>algae</a:t>
                </a:r>
                <a:r>
                  <a:rPr/>
                  <a:t> per patch and running a one-way ANOVA — but your power is significantly reduced, and you lose estimates of variability among patches.</a:t>
                </a:r>
              </a:p>
              <a:p>
                <a:pPr lvl="0" indent="0" marL="0">
                  <a:buNone/>
                </a:pPr>
                <a:r>
                  <a:rPr b="1"/>
                  <a:t>This first attempt is really a regular factorial ANOVA</a:t>
                </a:r>
                <a:r>
                  <a:rPr/>
                  <a:t> — not appropriate, since it’s pseudoreplicated. Also, the F-value for Treat is using </a:t>
                </a:r>
                <a14:m>
                  <m:oMath xmlns:m="http://schemas.openxmlformats.org/officeDocument/2006/math">
                    <m:r>
                      <m:t>M</m:t>
                    </m:r>
                    <m:sSub>
                      <m:e>
                        <m:r>
                          <m:t>S</m:t>
                        </m:r>
                      </m:e>
                      <m:sub>
                        <m:r>
                          <m:t>r</m:t>
                        </m:r>
                        <m:r>
                          <m:t>e</m:t>
                        </m:r>
                        <m:r>
                          <m:t>s</m:t>
                        </m:r>
                        <m:r>
                          <m:t>i</m:t>
                        </m:r>
                        <m:r>
                          <m:t>d</m:t>
                        </m:r>
                      </m:sub>
                    </m:sSub>
                  </m:oMath>
                </a14:m>
                <a:r>
                  <a:rPr/>
                  <a:t> when it should use </a:t>
                </a:r>
                <a14:m>
                  <m:oMath xmlns:m="http://schemas.openxmlformats.org/officeDocument/2006/math">
                    <m:r>
                      <m:t>M</m:t>
                    </m:r>
                    <m:sSub>
                      <m:e>
                        <m:r>
                          <m:t>S</m:t>
                        </m:r>
                      </m:e>
                      <m:sub>
                        <m:r>
                          <m:t>t</m:t>
                        </m:r>
                        <m:r>
                          <m:t>r</m:t>
                        </m:r>
                        <m:r>
                          <m:t>e</m:t>
                        </m:r>
                        <m:r>
                          <m:t>a</m:t>
                        </m:r>
                        <m:r>
                          <m:t>t</m:t>
                        </m:r>
                        <m:r>
                          <m:rPr>
                            <m:sty m:val="p"/>
                          </m:rPr>
                          <m:t>:</m:t>
                        </m:r>
                        <m:r>
                          <m:t>p</m:t>
                        </m:r>
                        <m:r>
                          <m:t>a</m:t>
                        </m:r>
                        <m:r>
                          <m:t>t</m:t>
                        </m:r>
                        <m:r>
                          <m:t>c</m:t>
                        </m:r>
                        <m:r>
                          <m:t>h</m:t>
                        </m:r>
                      </m:sub>
                    </m:sSub>
                  </m:oMath>
                </a14:m>
                <a:r>
                  <a:rPr/>
                  <a:t>.</a:t>
                </a:r>
              </a:p>
            </p:txBody>
          </p:sp>
        </mc:Choice>
      </mc:AlternateContent>
      <p:sp>
        <p:nvSpPr>
          <p:cNvPr id="4" name="Content Placeholder 3"/>
          <p:cNvSpPr>
            <a:spLocks noGrp="1"/>
          </p:cNvSpPr>
          <p:nvPr>
            <p:ph idx="2" sz="half"/>
          </p:nvPr>
        </p:nvSpPr>
        <p:spPr/>
        <p:txBody>
          <a:bodyPr/>
          <a:lstStyle/>
          <a:p>
            <a:pPr lvl="0" indent="0">
              <a:buNone/>
            </a:pPr>
            <a:r>
              <a:rPr>
                <a:solidFill>
                  <a:srgbClr val="003B4F"/>
                </a:solidFill>
                <a:latin typeface="Courier"/>
              </a:rPr>
              <a:t>u_fact_model &lt;- </a:t>
            </a:r>
            <a:r>
              <a:rPr>
                <a:solidFill>
                  <a:srgbClr val="4758AB"/>
                </a:solidFill>
                <a:latin typeface="Courier"/>
              </a:rPr>
              <a:t>aov</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5E5E5E"/>
                </a:solidFill>
                <a:latin typeface="Courier"/>
              </a:rPr>
              <a:t>+</a:t>
            </a:r>
            <a:r>
              <a:rPr>
                <a:solidFill>
                  <a:srgbClr val="003B4F"/>
                </a:solidFill>
                <a:latin typeface="Courier"/>
              </a:rPr>
              <a:t> treat</a:t>
            </a:r>
            <a:r>
              <a:rPr>
                <a:solidFill>
                  <a:srgbClr val="5E5E5E"/>
                </a:solidFill>
                <a:latin typeface="Courier"/>
              </a:rPr>
              <a:t>:</a:t>
            </a:r>
            <a:r>
              <a:rPr>
                <a:solidFill>
                  <a:srgbClr val="003B4F"/>
                </a:solidFill>
                <a:latin typeface="Courier"/>
              </a:rPr>
              <a:t>patch, </a:t>
            </a:r>
            <a:r>
              <a:rPr>
                <a:solidFill>
                  <a:srgbClr val="657422"/>
                </a:solidFill>
                <a:latin typeface="Courier"/>
              </a:rPr>
              <a:t>data =</a:t>
            </a:r>
            <a:r>
              <a:rPr>
                <a:solidFill>
                  <a:srgbClr val="003B4F"/>
                </a:solidFill>
                <a:latin typeface="Courier"/>
              </a:rPr>
              <a:t> u_df)</a:t>
            </a:r>
            <a:br/>
            <a:r>
              <a:rPr>
                <a:solidFill>
                  <a:srgbClr val="4758AB"/>
                </a:solidFill>
                <a:latin typeface="Courier"/>
              </a:rPr>
              <a:t>cat</a:t>
            </a:r>
            <a:r>
              <a:rPr>
                <a:solidFill>
                  <a:srgbClr val="003B4F"/>
                </a:solidFill>
                <a:latin typeface="Courier"/>
              </a:rPr>
              <a:t>(</a:t>
            </a:r>
            <a:r>
              <a:rPr>
                <a:solidFill>
                  <a:srgbClr val="20794D"/>
                </a:solidFill>
                <a:latin typeface="Courier"/>
              </a:rPr>
              <a:t>"Factorial model summary:</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Factorial model summary:</a:t>
            </a:r>
            <a:br/>
            <a:r>
              <a:rPr>
                <a:solidFill>
                  <a:srgbClr val="4758AB"/>
                </a:solidFill>
                <a:latin typeface="Courier"/>
              </a:rPr>
              <a:t>summary</a:t>
            </a:r>
            <a:r>
              <a:rPr>
                <a:solidFill>
                  <a:srgbClr val="003B4F"/>
                </a:solidFill>
                <a:latin typeface="Courier"/>
              </a:rPr>
              <a:t>(u_fact_model)</a:t>
            </a:r>
            <a:br/>
            <a:r>
              <a:rPr i="1">
                <a:solidFill>
                  <a:srgbClr val="5E5E5E"/>
                </a:solidFill>
                <a:latin typeface="Courier"/>
              </a:rPr>
              <a:t>##             Df Sum Sq Mean Sq F value       Pr(&gt;F)    </a:t>
            </a:r>
            <a:br/>
            <a:r>
              <a:rPr i="1">
                <a:solidFill>
                  <a:srgbClr val="5E5E5E"/>
                </a:solidFill>
                <a:latin typeface="Courier"/>
              </a:rPr>
              <a:t>## treat        3  14429    4810  16.108 0.0000000658 ***</a:t>
            </a:r>
            <a:br/>
            <a:r>
              <a:rPr i="1">
                <a:solidFill>
                  <a:srgbClr val="5E5E5E"/>
                </a:solidFill>
                <a:latin typeface="Courier"/>
              </a:rPr>
              <a:t>## treat:patch 12  21242    1770   5.928 0.0000008323 ***</a:t>
            </a:r>
            <a:br/>
            <a:r>
              <a:rPr i="1">
                <a:solidFill>
                  <a:srgbClr val="5E5E5E"/>
                </a:solidFill>
                <a:latin typeface="Courier"/>
              </a:rPr>
              <a:t>## Residuals   64  19110     299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Why the Factorial ANOVA Is Not Correct</a:t>
            </a:r>
          </a:p>
        </p:txBody>
      </p:sp>
      <p:sp>
        <p:nvSpPr>
          <p:cNvPr id="3" name="Content Placeholder 2"/>
          <p:cNvSpPr>
            <a:spLocks noGrp="1"/>
          </p:cNvSpPr>
          <p:nvPr>
            <p:ph idx="1" sz="half"/>
          </p:nvPr>
        </p:nvSpPr>
        <p:spPr/>
        <p:txBody>
          <a:bodyPr/>
          <a:lstStyle/>
          <a:p>
            <a:pPr lvl="0"/>
            <a:r>
              <a:rPr/>
              <a:t>We can correct this by specifying the error term</a:t>
            </a:r>
          </a:p>
          <a:p>
            <a:pPr lvl="0"/>
            <a:r>
              <a:rPr/>
              <a:t>The MS needed for the F-value is really MS(patch nested in treatment), because those are the true replicates</a:t>
            </a:r>
          </a:p>
          <a:p>
            <a:pPr lvl="0"/>
            <a:r>
              <a:rPr/>
              <a:t>We can specify that — the problem is this approach can’t really handle unbalanced designs</a:t>
            </a:r>
          </a:p>
        </p:txBody>
      </p:sp>
      <p:sp>
        <p:nvSpPr>
          <p:cNvPr id="4" name="Content Placeholder 3"/>
          <p:cNvSpPr>
            <a:spLocks noGrp="1"/>
          </p:cNvSpPr>
          <p:nvPr>
            <p:ph idx="2" sz="half"/>
          </p:nvPr>
        </p:nvSpPr>
        <p:spPr/>
        <p:txBody>
          <a:bodyPr/>
          <a:lstStyle/>
          <a:p>
            <a:pPr lvl="0" indent="0">
              <a:buNone/>
            </a:pPr>
            <a:r>
              <a:rPr>
                <a:solidFill>
                  <a:srgbClr val="003B4F"/>
                </a:solidFill>
                <a:latin typeface="Courier"/>
              </a:rPr>
              <a:t>u_nested_model &lt;- </a:t>
            </a:r>
            <a:r>
              <a:rPr>
                <a:solidFill>
                  <a:srgbClr val="4758AB"/>
                </a:solidFill>
                <a:latin typeface="Courier"/>
              </a:rPr>
              <a:t>aov</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5E5E5E"/>
                </a:solidFill>
                <a:latin typeface="Courier"/>
              </a:rPr>
              <a:t>+</a:t>
            </a:r>
            <a:r>
              <a:rPr>
                <a:solidFill>
                  <a:srgbClr val="003B4F"/>
                </a:solidFill>
                <a:latin typeface="Courier"/>
              </a:rPr>
              <a:t> </a:t>
            </a:r>
            <a:r>
              <a:rPr>
                <a:solidFill>
                  <a:srgbClr val="4758AB"/>
                </a:solidFill>
                <a:latin typeface="Courier"/>
              </a:rPr>
              <a:t>Error</a:t>
            </a:r>
            <a:r>
              <a:rPr>
                <a:solidFill>
                  <a:srgbClr val="003B4F"/>
                </a:solidFill>
                <a:latin typeface="Courier"/>
              </a:rPr>
              <a:t>(treat</a:t>
            </a:r>
            <a:r>
              <a:rPr>
                <a:solidFill>
                  <a:srgbClr val="5E5E5E"/>
                </a:solidFill>
                <a:latin typeface="Courier"/>
              </a:rPr>
              <a:t>:</a:t>
            </a:r>
            <a:r>
              <a:rPr>
                <a:solidFill>
                  <a:srgbClr val="003B4F"/>
                </a:solidFill>
                <a:latin typeface="Courier"/>
              </a:rPr>
              <a:t>patch), </a:t>
            </a:r>
            <a:r>
              <a:rPr>
                <a:solidFill>
                  <a:srgbClr val="657422"/>
                </a:solidFill>
                <a:latin typeface="Courier"/>
              </a:rPr>
              <a:t>data =</a:t>
            </a:r>
            <a:r>
              <a:rPr>
                <a:solidFill>
                  <a:srgbClr val="003B4F"/>
                </a:solidFill>
                <a:latin typeface="Courier"/>
              </a:rPr>
              <a:t> u_df)</a:t>
            </a:r>
            <a:br/>
            <a:r>
              <a:rPr>
                <a:solidFill>
                  <a:srgbClr val="4758AB"/>
                </a:solidFill>
                <a:latin typeface="Courier"/>
              </a:rPr>
              <a:t>cat</a:t>
            </a:r>
            <a:r>
              <a:rPr>
                <a:solidFill>
                  <a:srgbClr val="003B4F"/>
                </a:solidFill>
                <a:latin typeface="Courier"/>
              </a:rPr>
              <a:t>(</a:t>
            </a:r>
            <a:r>
              <a:rPr>
                <a:solidFill>
                  <a:srgbClr val="20794D"/>
                </a:solidFill>
                <a:latin typeface="Courier"/>
              </a:rPr>
              <a:t>"Correctly specified nested ANOVA:</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Correctly specified nested ANOVA:</a:t>
            </a:r>
            <a:br/>
            <a:r>
              <a:rPr>
                <a:solidFill>
                  <a:srgbClr val="4758AB"/>
                </a:solidFill>
                <a:latin typeface="Courier"/>
              </a:rPr>
              <a:t>summary</a:t>
            </a:r>
            <a:r>
              <a:rPr>
                <a:solidFill>
                  <a:srgbClr val="003B4F"/>
                </a:solidFill>
                <a:latin typeface="Courier"/>
              </a:rPr>
              <a:t>(u_nested_model)</a:t>
            </a:r>
            <a:br/>
            <a:r>
              <a:rPr i="1">
                <a:solidFill>
                  <a:srgbClr val="5E5E5E"/>
                </a:solidFill>
                <a:latin typeface="Courier"/>
              </a:rPr>
              <a:t>## </a:t>
            </a:r>
            <a:br/>
            <a:r>
              <a:rPr i="1">
                <a:solidFill>
                  <a:srgbClr val="5E5E5E"/>
                </a:solidFill>
                <a:latin typeface="Courier"/>
              </a:rPr>
              <a:t>## Error: treat:patch</a:t>
            </a:r>
            <a:br/>
            <a:r>
              <a:rPr i="1">
                <a:solidFill>
                  <a:srgbClr val="5E5E5E"/>
                </a:solidFill>
                <a:latin typeface="Courier"/>
              </a:rPr>
              <a:t>##           Df Sum Sq Mean Sq F value Pr(&gt;F)  </a:t>
            </a:r>
            <a:br/>
            <a:r>
              <a:rPr i="1">
                <a:solidFill>
                  <a:srgbClr val="5E5E5E"/>
                </a:solidFill>
                <a:latin typeface="Courier"/>
              </a:rPr>
              <a:t>## treat      3  14429    4810   2.717 0.0913 .</a:t>
            </a:r>
            <a:br/>
            <a:r>
              <a:rPr i="1">
                <a:solidFill>
                  <a:srgbClr val="5E5E5E"/>
                </a:solidFill>
                <a:latin typeface="Courier"/>
              </a:rPr>
              <a:t>## Residuals 12  21242    1770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Error: Within</a:t>
            </a:r>
            <a:br/>
            <a:r>
              <a:rPr i="1">
                <a:solidFill>
                  <a:srgbClr val="5E5E5E"/>
                </a:solidFill>
                <a:latin typeface="Courier"/>
              </a:rPr>
              <a:t>##           Df Sum Sq Mean Sq F value Pr(&gt;F)</a:t>
            </a:r>
            <a:br/>
            <a:r>
              <a:rPr i="1">
                <a:solidFill>
                  <a:srgbClr val="5E5E5E"/>
                </a:solidFill>
                <a:latin typeface="Courier"/>
              </a:rPr>
              <a:t>## Residuals 64  19110   298.6</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9 · Modern Approaches — afex and Mixed Models</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to Do If It’s an Unbalanced Design</a:t>
            </a:r>
          </a:p>
        </p:txBody>
      </p:sp>
      <p:sp>
        <p:nvSpPr>
          <p:cNvPr id="3" name="Content Placeholder 2"/>
          <p:cNvSpPr>
            <a:spLocks noGrp="1"/>
          </p:cNvSpPr>
          <p:nvPr>
            <p:ph idx="1" sz="half"/>
          </p:nvPr>
        </p:nvSpPr>
        <p:spPr/>
        <p:txBody>
          <a:bodyPr/>
          <a:lstStyle/>
          <a:p>
            <a:pPr lvl="0" indent="0" marL="0">
              <a:buNone/>
            </a:pPr>
            <a:r>
              <a:rPr/>
              <a:t>The </a:t>
            </a:r>
            <a:r>
              <a:rPr>
                <a:latin typeface="Courier"/>
              </a:rPr>
              <a:t>afex</a:t>
            </a:r>
            <a:r>
              <a:rPr/>
              <a:t> package is specifically designed for ANOVA with Type III SS, and handles nested designs well — even when unbalanced.</a:t>
            </a:r>
          </a:p>
        </p:txBody>
      </p:sp>
      <p:sp>
        <p:nvSpPr>
          <p:cNvPr id="4" name="Content Placeholder 3"/>
          <p:cNvSpPr>
            <a:spLocks noGrp="1"/>
          </p:cNvSpPr>
          <p:nvPr>
            <p:ph idx="2" sz="half"/>
          </p:nvPr>
        </p:nvSpPr>
        <p:spPr/>
        <p:txBody>
          <a:bodyPr/>
          <a:lstStyle/>
          <a:p>
            <a:pPr lvl="0" indent="0">
              <a:buNone/>
            </a:pPr>
            <a:r>
              <a:rPr>
                <a:solidFill>
                  <a:srgbClr val="4758AB"/>
                </a:solidFill>
                <a:latin typeface="Courier"/>
              </a:rPr>
              <a:t>options</a:t>
            </a:r>
            <a:r>
              <a:rPr>
                <a:solidFill>
                  <a:srgbClr val="003B4F"/>
                </a:solidFill>
                <a:latin typeface="Courier"/>
              </a:rPr>
              <a:t>(</a:t>
            </a:r>
            <a:r>
              <a:rPr>
                <a:solidFill>
                  <a:srgbClr val="657422"/>
                </a:solidFill>
                <a:latin typeface="Courier"/>
              </a:rPr>
              <a:t>contrasts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"contr.sum"</a:t>
            </a:r>
            <a:r>
              <a:rPr>
                <a:solidFill>
                  <a:srgbClr val="003B4F"/>
                </a:solidFill>
                <a:latin typeface="Courier"/>
              </a:rPr>
              <a:t>, </a:t>
            </a:r>
            <a:r>
              <a:rPr>
                <a:solidFill>
                  <a:srgbClr val="20794D"/>
                </a:solidFill>
                <a:latin typeface="Courier"/>
              </a:rPr>
              <a:t>"contr.poly"</a:t>
            </a:r>
            <a:r>
              <a:rPr>
                <a:solidFill>
                  <a:srgbClr val="003B4F"/>
                </a:solidFill>
                <a:latin typeface="Courier"/>
              </a:rPr>
              <a:t>))</a:t>
            </a:r>
            <a:br/>
            <a:br/>
            <a:r>
              <a:rPr>
                <a:solidFill>
                  <a:srgbClr val="003B4F"/>
                </a:solidFill>
                <a:latin typeface="Courier"/>
              </a:rPr>
              <a:t>u_afex_model &lt;- </a:t>
            </a:r>
            <a:r>
              <a:rPr>
                <a:solidFill>
                  <a:srgbClr val="4758AB"/>
                </a:solidFill>
                <a:latin typeface="Courier"/>
              </a:rPr>
              <a:t>aov_car</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5E5E5E"/>
                </a:solidFill>
                <a:latin typeface="Courier"/>
              </a:rPr>
              <a:t>+</a:t>
            </a:r>
            <a:r>
              <a:rPr>
                <a:solidFill>
                  <a:srgbClr val="003B4F"/>
                </a:solidFill>
                <a:latin typeface="Courier"/>
              </a:rPr>
              <a:t> </a:t>
            </a:r>
            <a:r>
              <a:rPr>
                <a:solidFill>
                  <a:srgbClr val="4758AB"/>
                </a:solidFill>
                <a:latin typeface="Courier"/>
              </a:rPr>
              <a:t>Error</a:t>
            </a:r>
            <a:r>
              <a:rPr>
                <a:solidFill>
                  <a:srgbClr val="003B4F"/>
                </a:solidFill>
                <a:latin typeface="Courier"/>
              </a:rPr>
              <a:t>(patch),</a:t>
            </a:r>
            <a:br/>
            <a:r>
              <a:rPr>
                <a:solidFill>
                  <a:srgbClr val="003B4F"/>
                </a:solidFill>
                <a:latin typeface="Courier"/>
              </a:rPr>
              <a:t>                     </a:t>
            </a:r>
            <a:r>
              <a:rPr>
                <a:solidFill>
                  <a:srgbClr val="657422"/>
                </a:solidFill>
                <a:latin typeface="Courier"/>
              </a:rPr>
              <a:t>data =</a:t>
            </a:r>
            <a:r>
              <a:rPr>
                <a:solidFill>
                  <a:srgbClr val="003B4F"/>
                </a:solidFill>
                <a:latin typeface="Courier"/>
              </a:rPr>
              <a:t> u_df,</a:t>
            </a:r>
            <a:br/>
            <a:r>
              <a:rPr>
                <a:solidFill>
                  <a:srgbClr val="003B4F"/>
                </a:solidFill>
                <a:latin typeface="Courier"/>
              </a:rPr>
              <a:t>                     </a:t>
            </a:r>
            <a:r>
              <a:rPr>
                <a:solidFill>
                  <a:srgbClr val="657422"/>
                </a:solidFill>
                <a:latin typeface="Courier"/>
              </a:rPr>
              <a:t>fun_aggregate =</a:t>
            </a:r>
            <a:r>
              <a:rPr>
                <a:solidFill>
                  <a:srgbClr val="003B4F"/>
                </a:solidFill>
                <a:latin typeface="Courier"/>
              </a:rPr>
              <a:t> mean)</a:t>
            </a:r>
            <a:br/>
            <a:r>
              <a:rPr>
                <a:solidFill>
                  <a:srgbClr val="4758AB"/>
                </a:solidFill>
                <a:latin typeface="Courier"/>
              </a:rPr>
              <a:t>cat</a:t>
            </a:r>
            <a:r>
              <a:rPr>
                <a:solidFill>
                  <a:srgbClr val="003B4F"/>
                </a:solidFill>
                <a:latin typeface="Courier"/>
              </a:rPr>
              <a:t>(</a:t>
            </a:r>
            <a:r>
              <a:rPr>
                <a:solidFill>
                  <a:srgbClr val="20794D"/>
                </a:solidFill>
                <a:latin typeface="Courier"/>
              </a:rPr>
              <a:t>"AFEX nested ANOVA results:</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AFEX nested ANOVA results:</a:t>
            </a:r>
            <a:br/>
            <a:r>
              <a:rPr>
                <a:solidFill>
                  <a:srgbClr val="4758AB"/>
                </a:solidFill>
                <a:latin typeface="Courier"/>
              </a:rPr>
              <a:t>summary</a:t>
            </a:r>
            <a:r>
              <a:rPr>
                <a:solidFill>
                  <a:srgbClr val="003B4F"/>
                </a:solidFill>
                <a:latin typeface="Courier"/>
              </a:rPr>
              <a:t>(u_afex_model)</a:t>
            </a:r>
            <a:br/>
            <a:r>
              <a:rPr i="1">
                <a:solidFill>
                  <a:srgbClr val="5E5E5E"/>
                </a:solidFill>
                <a:latin typeface="Courier"/>
              </a:rPr>
              <a:t>## Anova Table (Type 3 tests)</a:t>
            </a:r>
            <a:br/>
            <a:r>
              <a:rPr i="1">
                <a:solidFill>
                  <a:srgbClr val="5E5E5E"/>
                </a:solidFill>
                <a:latin typeface="Courier"/>
              </a:rPr>
              <a:t>## </a:t>
            </a:r>
            <a:br/>
            <a:r>
              <a:rPr i="1">
                <a:solidFill>
                  <a:srgbClr val="5E5E5E"/>
                </a:solidFill>
                <a:latin typeface="Courier"/>
              </a:rPr>
              <a:t>## Response: algae</a:t>
            </a:r>
            <a:br/>
            <a:r>
              <a:rPr i="1">
                <a:solidFill>
                  <a:srgbClr val="5E5E5E"/>
                </a:solidFill>
                <a:latin typeface="Courier"/>
              </a:rPr>
              <a:t>##       num Df den Df    MSE      F     ges  Pr(&gt;F)  </a:t>
            </a:r>
            <a:br/>
            <a:r>
              <a:rPr i="1">
                <a:solidFill>
                  <a:srgbClr val="5E5E5E"/>
                </a:solidFill>
                <a:latin typeface="Courier"/>
              </a:rPr>
              <a:t>## treat      3     12 354.03 2.7171 0.40451 0.09126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Modern Way — Mixed-Model ANOVA</a:t>
            </a:r>
          </a:p>
        </p:txBody>
      </p:sp>
      <p:sp>
        <p:nvSpPr>
          <p:cNvPr id="3" name="Content Placeholder 2"/>
          <p:cNvSpPr>
            <a:spLocks noGrp="1"/>
          </p:cNvSpPr>
          <p:nvPr>
            <p:ph idx="1" sz="half"/>
          </p:nvPr>
        </p:nvSpPr>
        <p:spPr/>
        <p:txBody>
          <a:bodyPr/>
          <a:lstStyle/>
          <a:p>
            <a:pPr lvl="0" indent="0" marL="0">
              <a:buNone/>
            </a:pPr>
            <a:r>
              <a:rPr/>
              <a:t>Fit the model with treatment as a fixed effect, and patch nested within treatment as a random effect: </a:t>
            </a:r>
            <a:r>
              <a:rPr>
                <a:latin typeface="Courier"/>
              </a:rPr>
              <a:t>lmer(algae ~ treat + (1|treat:patch), ...)</a:t>
            </a:r>
            <a:r>
              <a:rPr/>
              <a:t>.</a:t>
            </a:r>
          </a:p>
          <a:p>
            <a:pPr lvl="0" indent="0" marL="0">
              <a:buNone/>
            </a:pPr>
            <a:r>
              <a:rPr b="1"/>
              <a:t>BOBYQA</a:t>
            </a:r>
            <a:r>
              <a:rPr/>
              <a:t> (Bound Optimization BY Quadratic Approximation) is an optimization algorithm used in mixed-effects modeling to find the parameter values that maximize the likelihood function — useful for fitting complex nested models.</a:t>
            </a:r>
          </a:p>
          <a:p>
            <a:pPr lvl="0" indent="0" marL="0">
              <a:buNone/>
            </a:pPr>
            <a:r>
              <a:rPr b="1"/>
              <a:t>Notation we’ll get into later:</a:t>
            </a:r>
          </a:p>
          <a:p>
            <a:pPr lvl="0"/>
            <a:r>
              <a:rPr/>
              <a:t>Random intercept, fixed slope — </a:t>
            </a:r>
            <a:r>
              <a:rPr>
                <a:latin typeface="Courier"/>
              </a:rPr>
              <a:t>(1|patch)</a:t>
            </a:r>
          </a:p>
          <a:p>
            <a:pPr lvl="0"/>
            <a:r>
              <a:rPr/>
              <a:t>Random intercept, random slope — </a:t>
            </a:r>
            <a:r>
              <a:rPr>
                <a:latin typeface="Courier"/>
              </a:rPr>
              <a:t>(1|treat:patch)</a:t>
            </a:r>
          </a:p>
        </p:txBody>
      </p:sp>
      <p:sp>
        <p:nvSpPr>
          <p:cNvPr id="4" name="Content Placeholder 3"/>
          <p:cNvSpPr>
            <a:spLocks noGrp="1"/>
          </p:cNvSpPr>
          <p:nvPr>
            <p:ph idx="2" sz="half"/>
          </p:nvPr>
        </p:nvSpPr>
        <p:spPr/>
        <p:txBody>
          <a:bodyPr/>
          <a:lstStyle/>
          <a:p>
            <a:pPr lvl="0" indent="0">
              <a:buNone/>
            </a:pPr>
            <a:r>
              <a:rPr>
                <a:solidFill>
                  <a:srgbClr val="003B4F"/>
                </a:solidFill>
                <a:latin typeface="Courier"/>
              </a:rPr>
              <a:t>u_lmer_model &lt;- </a:t>
            </a:r>
            <a:r>
              <a:rPr>
                <a:solidFill>
                  <a:srgbClr val="4758AB"/>
                </a:solidFill>
                <a:latin typeface="Courier"/>
              </a:rPr>
              <a:t>lmer</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003B4F"/>
                </a:solidFill>
                <a:latin typeface="Courier"/>
              </a:rPr>
              <a:t>treat</a:t>
            </a:r>
            <a:r>
              <a:rPr>
                <a:solidFill>
                  <a:srgbClr val="5E5E5E"/>
                </a:solidFill>
                <a:latin typeface="Courier"/>
              </a:rPr>
              <a:t>:</a:t>
            </a:r>
            <a:r>
              <a:rPr>
                <a:solidFill>
                  <a:srgbClr val="003B4F"/>
                </a:solidFill>
                <a:latin typeface="Courier"/>
              </a:rPr>
              <a:t>patch), </a:t>
            </a:r>
            <a:r>
              <a:rPr>
                <a:solidFill>
                  <a:srgbClr val="657422"/>
                </a:solidFill>
                <a:latin typeface="Courier"/>
              </a:rPr>
              <a:t>data =</a:t>
            </a:r>
            <a:r>
              <a:rPr>
                <a:solidFill>
                  <a:srgbClr val="003B4F"/>
                </a:solidFill>
                <a:latin typeface="Courier"/>
              </a:rPr>
              <a:t> u_df,</a:t>
            </a:r>
            <a:br/>
            <a:r>
              <a:rPr>
                <a:solidFill>
                  <a:srgbClr val="003B4F"/>
                </a:solidFill>
                <a:latin typeface="Courier"/>
              </a:rPr>
              <a:t>                    </a:t>
            </a:r>
            <a:r>
              <a:rPr>
                <a:solidFill>
                  <a:srgbClr val="657422"/>
                </a:solidFill>
                <a:latin typeface="Courier"/>
              </a:rPr>
              <a:t>control =</a:t>
            </a:r>
            <a:r>
              <a:rPr>
                <a:solidFill>
                  <a:srgbClr val="003B4F"/>
                </a:solidFill>
                <a:latin typeface="Courier"/>
              </a:rPr>
              <a:t> </a:t>
            </a:r>
            <a:r>
              <a:rPr>
                <a:solidFill>
                  <a:srgbClr val="4758AB"/>
                </a:solidFill>
                <a:latin typeface="Courier"/>
              </a:rPr>
              <a:t>lmerControl</a:t>
            </a:r>
            <a:r>
              <a:rPr>
                <a:solidFill>
                  <a:srgbClr val="003B4F"/>
                </a:solidFill>
                <a:latin typeface="Courier"/>
              </a:rPr>
              <a:t>(</a:t>
            </a:r>
            <a:r>
              <a:rPr>
                <a:solidFill>
                  <a:srgbClr val="657422"/>
                </a:solidFill>
                <a:latin typeface="Courier"/>
              </a:rPr>
              <a:t>optimizer =</a:t>
            </a:r>
            <a:r>
              <a:rPr>
                <a:solidFill>
                  <a:srgbClr val="003B4F"/>
                </a:solidFill>
                <a:latin typeface="Courier"/>
              </a:rPr>
              <a:t> </a:t>
            </a:r>
            <a:r>
              <a:rPr>
                <a:solidFill>
                  <a:srgbClr val="20794D"/>
                </a:solidFill>
                <a:latin typeface="Courier"/>
              </a:rPr>
              <a:t>"bobyqa"</a:t>
            </a:r>
            <a:r>
              <a:rPr>
                <a:solidFill>
                  <a:srgbClr val="003B4F"/>
                </a:solidFill>
                <a:latin typeface="Courier"/>
              </a:rPr>
              <a:t>,</a:t>
            </a:r>
            <a:br/>
            <a:r>
              <a:rPr>
                <a:solidFill>
                  <a:srgbClr val="003B4F"/>
                </a:solidFill>
                <a:latin typeface="Courier"/>
              </a:rPr>
              <a:t>                                         </a:t>
            </a:r>
            <a:r>
              <a:rPr>
                <a:solidFill>
                  <a:srgbClr val="657422"/>
                </a:solidFill>
                <a:latin typeface="Courier"/>
              </a:rPr>
              <a:t>optCtrl =</a:t>
            </a:r>
            <a:r>
              <a:rPr>
                <a:solidFill>
                  <a:srgbClr val="003B4F"/>
                </a:solidFill>
                <a:latin typeface="Courier"/>
              </a:rPr>
              <a:t> </a:t>
            </a:r>
            <a:r>
              <a:rPr>
                <a:solidFill>
                  <a:srgbClr val="4758AB"/>
                </a:solidFill>
                <a:latin typeface="Courier"/>
              </a:rPr>
              <a:t>list</a:t>
            </a:r>
            <a:r>
              <a:rPr>
                <a:solidFill>
                  <a:srgbClr val="003B4F"/>
                </a:solidFill>
                <a:latin typeface="Courier"/>
              </a:rPr>
              <a:t>(</a:t>
            </a:r>
            <a:r>
              <a:rPr>
                <a:solidFill>
                  <a:srgbClr val="657422"/>
                </a:solidFill>
                <a:latin typeface="Courier"/>
              </a:rPr>
              <a:t>maxfun =</a:t>
            </a:r>
            <a:r>
              <a:rPr>
                <a:solidFill>
                  <a:srgbClr val="003B4F"/>
                </a:solidFill>
                <a:latin typeface="Courier"/>
              </a:rPr>
              <a:t> </a:t>
            </a:r>
            <a:r>
              <a:rPr>
                <a:solidFill>
                  <a:srgbClr val="AD0000"/>
                </a:solidFill>
                <a:latin typeface="Courier"/>
              </a:rPr>
              <a:t>2e5</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"Mixed model summary:</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Mixed model summary:</a:t>
            </a:r>
            <a:br/>
            <a:r>
              <a:rPr>
                <a:solidFill>
                  <a:srgbClr val="4758AB"/>
                </a:solidFill>
                <a:latin typeface="Courier"/>
              </a:rPr>
              <a:t>summary</a:t>
            </a:r>
            <a:r>
              <a:rPr>
                <a:solidFill>
                  <a:srgbClr val="003B4F"/>
                </a:solidFill>
                <a:latin typeface="Courier"/>
              </a:rPr>
              <a:t>(u_lmer_model)</a:t>
            </a:r>
            <a:br/>
            <a:r>
              <a:rPr i="1">
                <a:solidFill>
                  <a:srgbClr val="5E5E5E"/>
                </a:solidFill>
                <a:latin typeface="Courier"/>
              </a:rPr>
              <a:t>## Linear mixed model fit by REML. t-tests use Satterthwaite's method [</a:t>
            </a:r>
            <a:br/>
            <a:r>
              <a:rPr i="1">
                <a:solidFill>
                  <a:srgbClr val="5E5E5E"/>
                </a:solidFill>
                <a:latin typeface="Courier"/>
              </a:rPr>
              <a:t>## lmerModLmerTest]</a:t>
            </a:r>
            <a:br/>
            <a:r>
              <a:rPr i="1">
                <a:solidFill>
                  <a:srgbClr val="5E5E5E"/>
                </a:solidFill>
                <a:latin typeface="Courier"/>
              </a:rPr>
              <a:t>## Formula: algae ~ treat + (1 | treat:patch)</a:t>
            </a:r>
            <a:br/>
            <a:r>
              <a:rPr i="1">
                <a:solidFill>
                  <a:srgbClr val="5E5E5E"/>
                </a:solidFill>
                <a:latin typeface="Courier"/>
              </a:rPr>
              <a:t>##    Data: u_df</a:t>
            </a:r>
            <a:br/>
            <a:r>
              <a:rPr i="1">
                <a:solidFill>
                  <a:srgbClr val="5E5E5E"/>
                </a:solidFill>
                <a:latin typeface="Courier"/>
              </a:rPr>
              <a:t>## Control: lmerControl(optimizer = "bobyqa", optCtrl = list(maxfun = 200000))</a:t>
            </a:r>
            <a:br/>
            <a:r>
              <a:rPr i="1">
                <a:solidFill>
                  <a:srgbClr val="5E5E5E"/>
                </a:solidFill>
                <a:latin typeface="Courier"/>
              </a:rPr>
              <a:t>## </a:t>
            </a:r>
            <a:br/>
            <a:r>
              <a:rPr i="1">
                <a:solidFill>
                  <a:srgbClr val="5E5E5E"/>
                </a:solidFill>
                <a:latin typeface="Courier"/>
              </a:rPr>
              <a:t>## REML criterion at convergence: 684.9</a:t>
            </a:r>
            <a:br/>
            <a:r>
              <a:rPr i="1">
                <a:solidFill>
                  <a:srgbClr val="5E5E5E"/>
                </a:solidFill>
                <a:latin typeface="Courier"/>
              </a:rPr>
              <a:t>## </a:t>
            </a:r>
            <a:br/>
            <a:r>
              <a:rPr i="1">
                <a:solidFill>
                  <a:srgbClr val="5E5E5E"/>
                </a:solidFill>
                <a:latin typeface="Courier"/>
              </a:rPr>
              <a:t>## Scaled residuals: </a:t>
            </a:r>
            <a:br/>
            <a:r>
              <a:rPr i="1">
                <a:solidFill>
                  <a:srgbClr val="5E5E5E"/>
                </a:solidFill>
                <a:latin typeface="Courier"/>
              </a:rPr>
              <a:t>##     Min      1Q  Median      3Q     Max </a:t>
            </a:r>
            <a:br/>
            <a:r>
              <a:rPr i="1">
                <a:solidFill>
                  <a:srgbClr val="5E5E5E"/>
                </a:solidFill>
                <a:latin typeface="Courier"/>
              </a:rPr>
              <a:t>## -1.9808 -0.3106 -0.1093  0.2831  2.5910 </a:t>
            </a:r>
            <a:br/>
            <a:r>
              <a:rPr i="1">
                <a:solidFill>
                  <a:srgbClr val="5E5E5E"/>
                </a:solidFill>
                <a:latin typeface="Courier"/>
              </a:rPr>
              <a:t>## </a:t>
            </a:r>
            <a:br/>
            <a:r>
              <a:rPr i="1">
                <a:solidFill>
                  <a:srgbClr val="5E5E5E"/>
                </a:solidFill>
                <a:latin typeface="Courier"/>
              </a:rPr>
              <a:t>## Random effects:</a:t>
            </a:r>
            <a:br/>
            <a:r>
              <a:rPr i="1">
                <a:solidFill>
                  <a:srgbClr val="5E5E5E"/>
                </a:solidFill>
                <a:latin typeface="Courier"/>
              </a:rPr>
              <a:t>##  Groups      Name        Variance Std.Dev.</a:t>
            </a:r>
            <a:br/>
            <a:r>
              <a:rPr i="1">
                <a:solidFill>
                  <a:srgbClr val="5E5E5E"/>
                </a:solidFill>
                <a:latin typeface="Courier"/>
              </a:rPr>
              <a:t>##  treat:patch (Intercept) 294.3    17.16   </a:t>
            </a:r>
            <a:br/>
            <a:r>
              <a:rPr i="1">
                <a:solidFill>
                  <a:srgbClr val="5E5E5E"/>
                </a:solidFill>
                <a:latin typeface="Courier"/>
              </a:rPr>
              <a:t>##  Residual                298.6    17.28   </a:t>
            </a:r>
            <a:br/>
            <a:r>
              <a:rPr i="1">
                <a:solidFill>
                  <a:srgbClr val="5E5E5E"/>
                </a:solidFill>
                <a:latin typeface="Courier"/>
              </a:rPr>
              <a:t>## Number of obs: 80, groups:  treat:patch, 16</a:t>
            </a:r>
            <a:br/>
            <a:r>
              <a:rPr i="1">
                <a:solidFill>
                  <a:srgbClr val="5E5E5E"/>
                </a:solidFill>
                <a:latin typeface="Courier"/>
              </a:rPr>
              <a:t>## </a:t>
            </a:r>
            <a:br/>
            <a:r>
              <a:rPr i="1">
                <a:solidFill>
                  <a:srgbClr val="5E5E5E"/>
                </a:solidFill>
                <a:latin typeface="Courier"/>
              </a:rPr>
              <a:t>## Fixed effects:</a:t>
            </a:r>
            <a:br/>
            <a:r>
              <a:rPr i="1">
                <a:solidFill>
                  <a:srgbClr val="5E5E5E"/>
                </a:solidFill>
                <a:latin typeface="Courier"/>
              </a:rPr>
              <a:t>##             Estimate Std. Error     df t value Pr(&gt;|t|)   </a:t>
            </a:r>
            <a:br/>
            <a:r>
              <a:rPr i="1">
                <a:solidFill>
                  <a:srgbClr val="5E5E5E"/>
                </a:solidFill>
                <a:latin typeface="Courier"/>
              </a:rPr>
              <a:t>## (Intercept)   20.262      4.704 12.000   4.308  0.00102 **</a:t>
            </a:r>
            <a:br/>
            <a:r>
              <a:rPr i="1">
                <a:solidFill>
                  <a:srgbClr val="5E5E5E"/>
                </a:solidFill>
                <a:latin typeface="Courier"/>
              </a:rPr>
              <a:t>## treat1        18.938      8.147 12.000   2.324  0.03846 * </a:t>
            </a:r>
            <a:br/>
            <a:r>
              <a:rPr i="1">
                <a:solidFill>
                  <a:srgbClr val="5E5E5E"/>
                </a:solidFill>
                <a:latin typeface="Courier"/>
              </a:rPr>
              <a:t>## treat2         1.288      8.147 12.000   0.158  0.87707   </a:t>
            </a:r>
            <a:br/>
            <a:r>
              <a:rPr i="1">
                <a:solidFill>
                  <a:srgbClr val="5E5E5E"/>
                </a:solidFill>
                <a:latin typeface="Courier"/>
              </a:rPr>
              <a:t>## treat3        -1.263      8.147 12.000  -0.155  0.87943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Correlation of Fixed Effects:</a:t>
            </a:r>
            <a:br/>
            <a:r>
              <a:rPr i="1">
                <a:solidFill>
                  <a:srgbClr val="5E5E5E"/>
                </a:solidFill>
                <a:latin typeface="Courier"/>
              </a:rPr>
              <a:t>##        (Intr) treat1 treat2</a:t>
            </a:r>
            <a:br/>
            <a:r>
              <a:rPr i="1">
                <a:solidFill>
                  <a:srgbClr val="5E5E5E"/>
                </a:solidFill>
                <a:latin typeface="Courier"/>
              </a:rPr>
              <a:t>## treat1  0.000              </a:t>
            </a:r>
            <a:br/>
            <a:r>
              <a:rPr i="1">
                <a:solidFill>
                  <a:srgbClr val="5E5E5E"/>
                </a:solidFill>
                <a:latin typeface="Courier"/>
              </a:rPr>
              <a:t>## treat2  0.000 -0.333       </a:t>
            </a:r>
            <a:br/>
            <a:r>
              <a:rPr i="1">
                <a:solidFill>
                  <a:srgbClr val="5E5E5E"/>
                </a:solidFill>
                <a:latin typeface="Courier"/>
              </a:rPr>
              <a:t>## treat3  0.000 -0.333 -0.333</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Mixed-Model ANOVA — Method 1: F-Distribution</a:t>
            </a:r>
          </a:p>
        </p:txBody>
      </p:sp>
      <p:sp>
        <p:nvSpPr>
          <p:cNvPr id="3" name="Content Placeholder 2"/>
          <p:cNvSpPr>
            <a:spLocks noGrp="1"/>
          </p:cNvSpPr>
          <p:nvPr>
            <p:ph idx="1" sz="half"/>
          </p:nvPr>
        </p:nvSpPr>
        <p:spPr/>
        <p:txBody>
          <a:bodyPr/>
          <a:lstStyle/>
          <a:p>
            <a:pPr lvl="0"/>
            <a:r>
              <a:rPr/>
              <a:t>Accounts for the uncertainty in variance-component estimation</a:t>
            </a:r>
          </a:p>
          <a:p>
            <a:pPr lvl="0"/>
            <a:r>
              <a:rPr/>
              <a:t>More conservative (higher p-values)</a:t>
            </a:r>
          </a:p>
          <a:p>
            <a:pPr lvl="0"/>
            <a:r>
              <a:rPr/>
              <a:t>Better for small samples</a:t>
            </a:r>
          </a:p>
        </p:txBody>
      </p:sp>
      <p:sp>
        <p:nvSpPr>
          <p:cNvPr id="4" name="Content Placeholder 3"/>
          <p:cNvSpPr>
            <a:spLocks noGrp="1"/>
          </p:cNvSpPr>
          <p:nvPr>
            <p:ph idx="2" sz="half"/>
          </p:nvPr>
        </p:nvSpPr>
        <p:spPr/>
        <p:txBody>
          <a:bodyPr/>
          <a:lstStyle/>
          <a:p>
            <a:pPr lvl="0" indent="0">
              <a:buNone/>
            </a:pPr>
            <a:r>
              <a:rPr>
                <a:solidFill>
                  <a:srgbClr val="003B4F"/>
                </a:solidFill>
                <a:latin typeface="Courier"/>
              </a:rPr>
              <a:t>u_anova_result &lt;- </a:t>
            </a:r>
            <a:r>
              <a:rPr>
                <a:solidFill>
                  <a:srgbClr val="4758AB"/>
                </a:solidFill>
                <a:latin typeface="Courier"/>
              </a:rPr>
              <a:t>Anova</a:t>
            </a:r>
            <a:r>
              <a:rPr>
                <a:solidFill>
                  <a:srgbClr val="003B4F"/>
                </a:solidFill>
                <a:latin typeface="Courier"/>
              </a:rPr>
              <a:t>(u_lmer_model, </a:t>
            </a:r>
            <a:r>
              <a:rPr>
                <a:solidFill>
                  <a:srgbClr val="657422"/>
                </a:solidFill>
                <a:latin typeface="Courier"/>
              </a:rPr>
              <a:t>type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ddf =</a:t>
            </a:r>
            <a:r>
              <a:rPr>
                <a:solidFill>
                  <a:srgbClr val="003B4F"/>
                </a:solidFill>
                <a:latin typeface="Courier"/>
              </a:rPr>
              <a:t> </a:t>
            </a:r>
            <a:r>
              <a:rPr>
                <a:solidFill>
                  <a:srgbClr val="20794D"/>
                </a:solidFill>
                <a:latin typeface="Courier"/>
              </a:rPr>
              <a:t>"Satterthwaite"</a:t>
            </a:r>
            <a:r>
              <a:rPr>
                <a:solidFill>
                  <a:srgbClr val="003B4F"/>
                </a:solidFill>
                <a:latin typeface="Courier"/>
              </a:rPr>
              <a:t>,</a:t>
            </a:r>
            <a:br/>
            <a:r>
              <a:rPr>
                <a:solidFill>
                  <a:srgbClr val="003B4F"/>
                </a:solidFill>
                <a:latin typeface="Courier"/>
              </a:rPr>
              <a:t>                       </a:t>
            </a:r>
            <a:r>
              <a:rPr>
                <a:solidFill>
                  <a:srgbClr val="657422"/>
                </a:solidFill>
                <a:latin typeface="Courier"/>
              </a:rPr>
              <a:t>test.statistic =</a:t>
            </a:r>
            <a:r>
              <a:rPr>
                <a:solidFill>
                  <a:srgbClr val="003B4F"/>
                </a:solidFill>
                <a:latin typeface="Courier"/>
              </a:rPr>
              <a:t> </a:t>
            </a:r>
            <a:r>
              <a:rPr>
                <a:solidFill>
                  <a:srgbClr val="20794D"/>
                </a:solidFill>
                <a:latin typeface="Courier"/>
              </a:rPr>
              <a:t>"F"</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"Type III ANOVA with F test:</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Type III ANOVA with F test:</a:t>
            </a:r>
            <a:br/>
            <a:r>
              <a:rPr>
                <a:solidFill>
                  <a:srgbClr val="003B4F"/>
                </a:solidFill>
                <a:latin typeface="Courier"/>
              </a:rPr>
              <a:t>u_anova_result</a:t>
            </a:r>
            <a:br/>
            <a:r>
              <a:rPr i="1">
                <a:solidFill>
                  <a:srgbClr val="5E5E5E"/>
                </a:solidFill>
                <a:latin typeface="Courier"/>
              </a:rPr>
              <a:t>## Analysis of Deviance Table (Type III Wald F tests with Kenward-Roger df)</a:t>
            </a:r>
            <a:br/>
            <a:r>
              <a:rPr i="1">
                <a:solidFill>
                  <a:srgbClr val="5E5E5E"/>
                </a:solidFill>
                <a:latin typeface="Courier"/>
              </a:rPr>
              <a:t>## </a:t>
            </a:r>
            <a:br/>
            <a:r>
              <a:rPr i="1">
                <a:solidFill>
                  <a:srgbClr val="5E5E5E"/>
                </a:solidFill>
                <a:latin typeface="Courier"/>
              </a:rPr>
              <a:t>## Response: algae</a:t>
            </a:r>
            <a:br/>
            <a:r>
              <a:rPr i="1">
                <a:solidFill>
                  <a:srgbClr val="5E5E5E"/>
                </a:solidFill>
                <a:latin typeface="Courier"/>
              </a:rPr>
              <a:t>##                   F Df Df.res   Pr(&gt;F)   </a:t>
            </a:r>
            <a:br/>
            <a:r>
              <a:rPr i="1">
                <a:solidFill>
                  <a:srgbClr val="5E5E5E"/>
                </a:solidFill>
                <a:latin typeface="Courier"/>
              </a:rPr>
              <a:t>## (Intercept) 18.5551  1     12 0.001018 **</a:t>
            </a:r>
            <a:br/>
            <a:r>
              <a:rPr i="1">
                <a:solidFill>
                  <a:srgbClr val="5E5E5E"/>
                </a:solidFill>
                <a:latin typeface="Courier"/>
              </a:rPr>
              <a:t>## treat        2.7171  3     12 0.091262 .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Mixed-Model ANOVA — Method 2: Chi-Square</a:t>
            </a:r>
          </a:p>
        </p:txBody>
      </p:sp>
      <p:sp>
        <p:nvSpPr>
          <p:cNvPr id="3" name="Content Placeholder 2"/>
          <p:cNvSpPr>
            <a:spLocks noGrp="1"/>
          </p:cNvSpPr>
          <p:nvPr>
            <p:ph idx="1" sz="half"/>
          </p:nvPr>
        </p:nvSpPr>
        <p:spPr/>
        <p:txBody>
          <a:bodyPr/>
          <a:lstStyle/>
          <a:p>
            <a:pPr lvl="0"/>
            <a:r>
              <a:rPr/>
              <a:t>Assumes variance components are known (not estimated)</a:t>
            </a:r>
          </a:p>
          <a:p>
            <a:pPr lvl="0"/>
            <a:r>
              <a:rPr/>
              <a:t>More liberal (lower p-values)</a:t>
            </a:r>
          </a:p>
          <a:p>
            <a:pPr lvl="0"/>
            <a:r>
              <a:rPr/>
              <a:t>Assumes large samples</a:t>
            </a:r>
          </a:p>
          <a:p>
            <a:pPr lvl="0" indent="0" marL="0">
              <a:buNone/>
            </a:pPr>
            <a:r>
              <a:rPr b="1"/>
              <a:t>Why different results?</a:t>
            </a:r>
            <a:r>
              <a:rPr/>
              <a:t> Chi-square = F × numerator df. The F-test accounts for the denominator df (12, here — reflecting sample size); Chi-square assumes infinite denominator df (i.e., a large sample).</a:t>
            </a:r>
          </a:p>
          <a:p>
            <a:pPr lvl="0" indent="0" marL="0">
              <a:buNone/>
            </a:pPr>
            <a:r>
              <a:rPr b="1"/>
              <a:t>Rule of thumb:</a:t>
            </a:r>
            <a:r>
              <a:rPr/>
              <a:t> under 100 observations or &lt; 20 random-effect levels, use the F-test. Over 500 observations and &gt; 50 random-effect levels, Chi-square is okay. In between, the F-test is safer.</a:t>
            </a:r>
          </a:p>
        </p:txBody>
      </p:sp>
      <p:sp>
        <p:nvSpPr>
          <p:cNvPr id="4" name="Content Placeholder 3"/>
          <p:cNvSpPr>
            <a:spLocks noGrp="1"/>
          </p:cNvSpPr>
          <p:nvPr>
            <p:ph idx="2" sz="half"/>
          </p:nvPr>
        </p:nvSpPr>
        <p:spPr/>
        <p:txBody>
          <a:bodyPr/>
          <a:lstStyle/>
          <a:p>
            <a:pPr lvl="0" indent="0">
              <a:buNone/>
            </a:pPr>
            <a:r>
              <a:rPr>
                <a:solidFill>
                  <a:srgbClr val="003B4F"/>
                </a:solidFill>
                <a:latin typeface="Courier"/>
              </a:rPr>
              <a:t>u_anova_f &lt;- </a:t>
            </a:r>
            <a:r>
              <a:rPr>
                <a:solidFill>
                  <a:srgbClr val="4758AB"/>
                </a:solidFill>
                <a:latin typeface="Courier"/>
              </a:rPr>
              <a:t>Anova</a:t>
            </a:r>
            <a:r>
              <a:rPr>
                <a:solidFill>
                  <a:srgbClr val="003B4F"/>
                </a:solidFill>
                <a:latin typeface="Courier"/>
              </a:rPr>
              <a:t>(u_lmer_model, </a:t>
            </a:r>
            <a:r>
              <a:rPr>
                <a:solidFill>
                  <a:srgbClr val="657422"/>
                </a:solidFill>
                <a:latin typeface="Courier"/>
              </a:rPr>
              <a:t>type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test.statistic =</a:t>
            </a:r>
            <a:r>
              <a:rPr>
                <a:solidFill>
                  <a:srgbClr val="003B4F"/>
                </a:solidFill>
                <a:latin typeface="Courier"/>
              </a:rPr>
              <a:t> </a:t>
            </a:r>
            <a:r>
              <a:rPr>
                <a:solidFill>
                  <a:srgbClr val="20794D"/>
                </a:solidFill>
                <a:latin typeface="Courier"/>
              </a:rPr>
              <a:t>"Chisq"</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"Type III ANOVA with Chi-square test:</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Type III ANOVA with Chi-square test:</a:t>
            </a:r>
            <a:br/>
            <a:r>
              <a:rPr>
                <a:solidFill>
                  <a:srgbClr val="003B4F"/>
                </a:solidFill>
                <a:latin typeface="Courier"/>
              </a:rPr>
              <a:t>u_anova_f</a:t>
            </a:r>
            <a:br/>
            <a:r>
              <a:rPr i="1">
                <a:solidFill>
                  <a:srgbClr val="5E5E5E"/>
                </a:solidFill>
                <a:latin typeface="Courier"/>
              </a:rPr>
              <a:t>## Analysis of Deviance Table (Type III Wald chisquare tests)</a:t>
            </a:r>
            <a:br/>
            <a:r>
              <a:rPr i="1">
                <a:solidFill>
                  <a:srgbClr val="5E5E5E"/>
                </a:solidFill>
                <a:latin typeface="Courier"/>
              </a:rPr>
              <a:t>## </a:t>
            </a:r>
            <a:br/>
            <a:r>
              <a:rPr i="1">
                <a:solidFill>
                  <a:srgbClr val="5E5E5E"/>
                </a:solidFill>
                <a:latin typeface="Courier"/>
              </a:rPr>
              <a:t>## Response: algae</a:t>
            </a:r>
            <a:br/>
            <a:r>
              <a:rPr i="1">
                <a:solidFill>
                  <a:srgbClr val="5E5E5E"/>
                </a:solidFill>
                <a:latin typeface="Courier"/>
              </a:rPr>
              <a:t>##               Chisq Df Pr(&gt;Chisq)    </a:t>
            </a:r>
            <a:br/>
            <a:r>
              <a:rPr i="1">
                <a:solidFill>
                  <a:srgbClr val="5E5E5E"/>
                </a:solidFill>
                <a:latin typeface="Courier"/>
              </a:rPr>
              <a:t>## (Intercept) 18.5551  1 0.00001651 ***</a:t>
            </a:r>
            <a:br/>
            <a:r>
              <a:rPr i="1">
                <a:solidFill>
                  <a:srgbClr val="5E5E5E"/>
                </a:solidFill>
                <a:latin typeface="Courier"/>
              </a:rPr>
              <a:t>## treat        8.1513  3    0.04299 *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Nested Model, Restated</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14:m>
                  <m:oMathPara xmlns:m="http://schemas.openxmlformats.org/officeDocument/2006/math">
                    <m:oMathParaPr>
                      <m:jc m:val="center"/>
                    </m:oMathParaPr>
                    <m:oMath>
                      <m:r>
                        <m:t>a</m:t>
                      </m:r>
                      <m:r>
                        <m:t>l</m:t>
                      </m:r>
                      <m:r>
                        <m:t>g</m:t>
                      </m:r>
                      <m:r>
                        <m:t>a</m:t>
                      </m:r>
                      <m:sSub>
                        <m:e>
                          <m:r>
                            <m:t>e</m:t>
                          </m:r>
                        </m:e>
                        <m:sub>
                          <m:r>
                            <m:t>i</m:t>
                          </m:r>
                          <m:r>
                            <m:t>j</m:t>
                          </m:r>
                          <m:r>
                            <m:t>k</m:t>
                          </m:r>
                        </m:sub>
                      </m:sSub>
                      <m:r>
                        <m:rPr>
                          <m:sty m:val="p"/>
                        </m:rPr>
                        <m:t>=</m:t>
                      </m:r>
                      <m:r>
                        <m:t>μ</m:t>
                      </m:r>
                      <m:r>
                        <m:rPr>
                          <m:sty m:val="p"/>
                        </m:rPr>
                        <m:t>+</m:t>
                      </m:r>
                      <m:sSub>
                        <m:e>
                          <m:r>
                            <m:t>α</m:t>
                          </m:r>
                        </m:e>
                        <m:sub>
                          <m:r>
                            <m:t>i</m:t>
                          </m:r>
                        </m:sub>
                      </m:sSub>
                      <m:r>
                        <m:rPr>
                          <m:sty m:val="p"/>
                        </m:rPr>
                        <m:t>+</m:t>
                      </m:r>
                      <m:sSub>
                        <m:e>
                          <m:r>
                            <m:t>β</m:t>
                          </m:r>
                        </m:e>
                        <m:sub>
                          <m:r>
                            <m:t>j</m:t>
                          </m:r>
                          <m:r>
                            <m:rPr>
                              <m:sty m:val="p"/>
                            </m:rPr>
                            <m:t>(</m:t>
                          </m:r>
                          <m:r>
                            <m:t>i</m:t>
                          </m:r>
                          <m:r>
                            <m:rPr>
                              <m:sty m:val="p"/>
                            </m:rPr>
                            <m:t>)</m:t>
                          </m:r>
                        </m:sub>
                      </m:sSub>
                      <m:r>
                        <m:rPr>
                          <m:sty m:val="p"/>
                        </m:rPr>
                        <m:t>+</m:t>
                      </m:r>
                      <m:sSub>
                        <m:e>
                          <m:r>
                            <m:t>ϵ</m:t>
                          </m:r>
                        </m:e>
                        <m:sub>
                          <m:r>
                            <m:t>i</m:t>
                          </m:r>
                          <m:r>
                            <m:t>j</m:t>
                          </m:r>
                          <m:r>
                            <m:t>k</m:t>
                          </m:r>
                        </m:sub>
                      </m:sSub>
                    </m:oMath>
                  </m:oMathPara>
                </a14:m>
              </a:p>
              <a:p>
                <a:pPr lvl="0"/>
                <a14:m>
                  <m:oMath xmlns:m="http://schemas.openxmlformats.org/officeDocument/2006/math">
                    <m:r>
                      <m:t>μ</m:t>
                    </m:r>
                  </m:oMath>
                </a14:m>
                <a:r>
                  <a:rPr/>
                  <a:t> is the overall mean</a:t>
                </a:r>
              </a:p>
              <a:p>
                <a:pPr lvl="0"/>
                <a14:m>
                  <m:oMath xmlns:m="http://schemas.openxmlformats.org/officeDocument/2006/math">
                    <m:sSub>
                      <m:e>
                        <m:r>
                          <m:t>α</m:t>
                        </m:r>
                      </m:e>
                      <m:sub>
                        <m:r>
                          <m:t>i</m:t>
                        </m:r>
                      </m:sub>
                    </m:sSub>
                  </m:oMath>
                </a14:m>
                <a:r>
                  <a:rPr/>
                  <a:t> is the fixed effect of treatment i</a:t>
                </a:r>
              </a:p>
              <a:p>
                <a:pPr lvl="0"/>
                <a14:m>
                  <m:oMath xmlns:m="http://schemas.openxmlformats.org/officeDocument/2006/math">
                    <m:sSub>
                      <m:e>
                        <m:r>
                          <m:t>β</m:t>
                        </m:r>
                      </m:e>
                      <m:sub>
                        <m:r>
                          <m:t>j</m:t>
                        </m:r>
                        <m:r>
                          <m:rPr>
                            <m:sty m:val="p"/>
                          </m:rPr>
                          <m:t>(</m:t>
                        </m:r>
                        <m:r>
                          <m:t>i</m:t>
                        </m:r>
                        <m:r>
                          <m:rPr>
                            <m:sty m:val="p"/>
                          </m:rPr>
                          <m:t>)</m:t>
                        </m:r>
                      </m:sub>
                    </m:sSub>
                  </m:oMath>
                </a14:m>
                <a:r>
                  <a:rPr/>
                  <a:t> is the random effect of patch j nested within treatment i</a:t>
                </a:r>
              </a:p>
              <a:p>
                <a:pPr lvl="0"/>
                <a14:m>
                  <m:oMath xmlns:m="http://schemas.openxmlformats.org/officeDocument/2006/math">
                    <m:sSub>
                      <m:e>
                        <m:r>
                          <m:t>ϵ</m:t>
                        </m:r>
                      </m:e>
                      <m:sub>
                        <m:r>
                          <m:t>i</m:t>
                        </m:r>
                        <m:r>
                          <m:t>j</m:t>
                        </m:r>
                        <m:r>
                          <m:t>k</m:t>
                        </m:r>
                      </m:sub>
                    </m:sSub>
                  </m:oMath>
                </a14:m>
                <a:r>
                  <a:rPr/>
                  <a:t> is the residual error for quadrat k in patch j within treatment i</a:t>
                </a:r>
              </a:p>
            </p:txBody>
          </p:sp>
        </mc:Choice>
      </mc:AlternateContent>
      <p:sp>
        <p:nvSpPr>
          <p:cNvPr id="4" name="Content Placeholder 3"/>
          <p:cNvSpPr>
            <a:spLocks noGrp="1"/>
          </p:cNvSpPr>
          <p:nvPr>
            <p:ph idx="2" sz="half"/>
          </p:nvPr>
        </p:nvSpPr>
        <p:spPr/>
        <p:txBody>
          <a:bodyPr/>
          <a:lstStyle/>
          <a:p>
            <a:pPr lvl="0" indent="0">
              <a:buNone/>
            </a:pPr>
            <a:r>
              <a:rPr>
                <a:latin typeface="Courier"/>
              </a:rPr>
              <a:t>## Final ANOVA results:
## Analysis of Deviance Table (Type III Wald F tests with Kenward-Roger df)
## 
## Response: algae
##                   F Df Df.res   Pr(&gt;F)   
## (Intercept) 18.5551  1     12 0.001018 **
## treat        2.7171  3     12 0.091262 . 
## ---
## Signif. codes:  0 '***' 0.001 '**' 0.01 '*' 0.05 '.' 0.1 ' ' 1</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10 · Post-Hoc and Interpretation</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Interpreting the Variance Components</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The nested ANOVA reveals that there was no significant effect of urchin density treatment on algae cover (χ² = 8.1513, df = 3, p = 0.04306). The variance component for patches nested within treatments (294.3) indicates substantial spatial heterogeneity in algae cover, highlighting the importance of accounting for this spatial variation in the analysis.</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Post-Hoc Comparisons</a:t>
            </a:r>
          </a:p>
        </p:txBody>
      </p:sp>
      <p:sp>
        <p:nvSpPr>
          <p:cNvPr id="3" name="Content Placeholder 2"/>
          <p:cNvSpPr>
            <a:spLocks noGrp="1"/>
          </p:cNvSpPr>
          <p:nvPr>
            <p:ph idx="1" sz="half"/>
          </p:nvPr>
        </p:nvSpPr>
        <p:spPr/>
        <p:txBody>
          <a:bodyPr/>
          <a:lstStyle/>
          <a:p>
            <a:pPr lvl="0" indent="0" marL="0">
              <a:buNone/>
            </a:pPr>
            <a:r>
              <a:rPr/>
              <a:t>Although the main effect of treatment was marginally significant (p = 0.04306), we can examine mean differences between treatments to understand patterns in the data.</a:t>
            </a:r>
          </a:p>
          <a:p>
            <a:pPr lvl="0" indent="0">
              <a:buNone/>
            </a:pPr>
            <a:r>
              <a:rPr>
                <a:solidFill>
                  <a:srgbClr val="003B4F"/>
                </a:solidFill>
                <a:latin typeface="Courier"/>
              </a:rPr>
              <a:t>u_emm &lt;- </a:t>
            </a:r>
            <a:r>
              <a:rPr>
                <a:solidFill>
                  <a:srgbClr val="4758AB"/>
                </a:solidFill>
                <a:latin typeface="Courier"/>
              </a:rPr>
              <a:t>emmeans</a:t>
            </a:r>
            <a:r>
              <a:rPr>
                <a:solidFill>
                  <a:srgbClr val="003B4F"/>
                </a:solidFill>
                <a:latin typeface="Courier"/>
              </a:rPr>
              <a:t>(u_lmer_model, </a:t>
            </a:r>
            <a:r>
              <a:rPr>
                <a:solidFill>
                  <a:srgbClr val="5E5E5E"/>
                </a:solidFill>
                <a:latin typeface="Courier"/>
              </a:rPr>
              <a:t>~</a:t>
            </a:r>
            <a:r>
              <a:rPr>
                <a:solidFill>
                  <a:srgbClr val="003B4F"/>
                </a:solidFill>
                <a:latin typeface="Courier"/>
              </a:rPr>
              <a:t> treat)</a:t>
            </a:r>
            <a:br/>
            <a:r>
              <a:rPr>
                <a:solidFill>
                  <a:srgbClr val="4758AB"/>
                </a:solidFill>
                <a:latin typeface="Courier"/>
              </a:rPr>
              <a:t>cat</a:t>
            </a:r>
            <a:r>
              <a:rPr>
                <a:solidFill>
                  <a:srgbClr val="003B4F"/>
                </a:solidFill>
                <a:latin typeface="Courier"/>
              </a:rPr>
              <a:t>(</a:t>
            </a:r>
            <a:r>
              <a:rPr>
                <a:solidFill>
                  <a:srgbClr val="20794D"/>
                </a:solidFill>
                <a:latin typeface="Courier"/>
              </a:rPr>
              <a:t>"Estimated marginal means:</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Estimated marginal means:</a:t>
            </a:r>
            <a:br/>
            <a:r>
              <a:rPr>
                <a:solidFill>
                  <a:srgbClr val="003B4F"/>
                </a:solidFill>
                <a:latin typeface="Courier"/>
              </a:rPr>
              <a:t>u_emm</a:t>
            </a:r>
            <a:br/>
            <a:r>
              <a:rPr i="1">
                <a:solidFill>
                  <a:srgbClr val="5E5E5E"/>
                </a:solidFill>
                <a:latin typeface="Courier"/>
              </a:rPr>
              <a:t>##  treat  emmean   SE df lower.CL upper.CL</a:t>
            </a:r>
            <a:br/>
            <a:r>
              <a:rPr i="1">
                <a:solidFill>
                  <a:srgbClr val="5E5E5E"/>
                </a:solidFill>
                <a:latin typeface="Courier"/>
              </a:rPr>
              <a:t>##  none     39.2 9.41 12    18.70     59.7</a:t>
            </a:r>
            <a:br/>
            <a:r>
              <a:rPr i="1">
                <a:solidFill>
                  <a:srgbClr val="5E5E5E"/>
                </a:solidFill>
                <a:latin typeface="Courier"/>
              </a:rPr>
              <a:t>##  low      21.6 9.41 12     1.05     42.0</a:t>
            </a:r>
            <a:br/>
            <a:r>
              <a:rPr i="1">
                <a:solidFill>
                  <a:srgbClr val="5E5E5E"/>
                </a:solidFill>
                <a:latin typeface="Courier"/>
              </a:rPr>
              <a:t>##  medium   19.0 9.41 12    -1.50     39.5</a:t>
            </a:r>
            <a:br/>
            <a:r>
              <a:rPr i="1">
                <a:solidFill>
                  <a:srgbClr val="5E5E5E"/>
                </a:solidFill>
                <a:latin typeface="Courier"/>
              </a:rPr>
              <a:t>##  high      1.3 9.41 12   -19.20     21.8</a:t>
            </a:r>
            <a:br/>
            <a:r>
              <a:rPr i="1">
                <a:solidFill>
                  <a:srgbClr val="5E5E5E"/>
                </a:solidFill>
                <a:latin typeface="Courier"/>
              </a:rPr>
              <a:t>## </a:t>
            </a:r>
            <a:br/>
            <a:r>
              <a:rPr i="1">
                <a:solidFill>
                  <a:srgbClr val="5E5E5E"/>
                </a:solidFill>
                <a:latin typeface="Courier"/>
              </a:rPr>
              <a:t>## Degrees-of-freedom method: kenward-roger </a:t>
            </a:r>
            <a:br/>
            <a:r>
              <a:rPr i="1">
                <a:solidFill>
                  <a:srgbClr val="5E5E5E"/>
                </a:solidFill>
                <a:latin typeface="Courier"/>
              </a:rPr>
              <a:t>## Confidence level used: 0.95</a:t>
            </a:r>
          </a:p>
        </p:txBody>
      </p:sp>
      <p:sp>
        <p:nvSpPr>
          <p:cNvPr id="4" name="Content Placeholder 3"/>
          <p:cNvSpPr>
            <a:spLocks noGrp="1"/>
          </p:cNvSpPr>
          <p:nvPr>
            <p:ph idx="2" sz="half"/>
          </p:nvPr>
        </p:nvSpPr>
        <p:spPr/>
        <p:txBody>
          <a:bodyPr/>
          <a:lstStyle/>
          <a:p>
            <a:pPr lvl="0" indent="0">
              <a:buNone/>
            </a:pPr>
            <a:r>
              <a:rPr>
                <a:solidFill>
                  <a:srgbClr val="003B4F"/>
                </a:solidFill>
                <a:latin typeface="Courier"/>
              </a:rPr>
              <a:t>u_pairs &lt;- </a:t>
            </a:r>
            <a:r>
              <a:rPr>
                <a:solidFill>
                  <a:srgbClr val="4758AB"/>
                </a:solidFill>
                <a:latin typeface="Courier"/>
              </a:rPr>
              <a:t>pairs</a:t>
            </a:r>
            <a:r>
              <a:rPr>
                <a:solidFill>
                  <a:srgbClr val="003B4F"/>
                </a:solidFill>
                <a:latin typeface="Courier"/>
              </a:rPr>
              <a:t>(u_emm, </a:t>
            </a:r>
            <a:r>
              <a:rPr>
                <a:solidFill>
                  <a:srgbClr val="657422"/>
                </a:solidFill>
                <a:latin typeface="Courier"/>
              </a:rPr>
              <a:t>adjust =</a:t>
            </a:r>
            <a:r>
              <a:rPr>
                <a:solidFill>
                  <a:srgbClr val="003B4F"/>
                </a:solidFill>
                <a:latin typeface="Courier"/>
              </a:rPr>
              <a:t> </a:t>
            </a:r>
            <a:r>
              <a:rPr>
                <a:solidFill>
                  <a:srgbClr val="20794D"/>
                </a:solidFill>
                <a:latin typeface="Courier"/>
              </a:rPr>
              <a:t>"sidak"</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"Pairwise comparisons (Sidak adjusted):</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Pairwise comparisons (Sidak adjusted):</a:t>
            </a:r>
            <a:br/>
            <a:r>
              <a:rPr>
                <a:solidFill>
                  <a:srgbClr val="003B4F"/>
                </a:solidFill>
                <a:latin typeface="Courier"/>
              </a:rPr>
              <a:t>u_pairs</a:t>
            </a:r>
            <a:br/>
            <a:r>
              <a:rPr i="1">
                <a:solidFill>
                  <a:srgbClr val="5E5E5E"/>
                </a:solidFill>
                <a:latin typeface="Courier"/>
              </a:rPr>
              <a:t>##  contrast      estimate   SE df t.ratio p.value</a:t>
            </a:r>
            <a:br/>
            <a:r>
              <a:rPr i="1">
                <a:solidFill>
                  <a:srgbClr val="5E5E5E"/>
                </a:solidFill>
                <a:latin typeface="Courier"/>
              </a:rPr>
              <a:t>##  none - low       17.65 13.3 12   1.327  0.7557</a:t>
            </a:r>
            <a:br/>
            <a:r>
              <a:rPr i="1">
                <a:solidFill>
                  <a:srgbClr val="5E5E5E"/>
                </a:solidFill>
                <a:latin typeface="Courier"/>
              </a:rPr>
              <a:t>##  none - medium    20.20 13.3 12   1.518  0.6356</a:t>
            </a:r>
            <a:br/>
            <a:r>
              <a:rPr i="1">
                <a:solidFill>
                  <a:srgbClr val="5E5E5E"/>
                </a:solidFill>
                <a:latin typeface="Courier"/>
              </a:rPr>
              <a:t>##  none - high      37.90 13.3 12   2.849  0.0848</a:t>
            </a:r>
            <a:br/>
            <a:r>
              <a:rPr i="1">
                <a:solidFill>
                  <a:srgbClr val="5E5E5E"/>
                </a:solidFill>
                <a:latin typeface="Courier"/>
              </a:rPr>
              <a:t>##  low - medium      2.55 13.3 12   0.192  1.0000</a:t>
            </a:r>
            <a:br/>
            <a:r>
              <a:rPr i="1">
                <a:solidFill>
                  <a:srgbClr val="5E5E5E"/>
                </a:solidFill>
                <a:latin typeface="Courier"/>
              </a:rPr>
              <a:t>##  low - high       20.25 13.3 12   1.522  0.6331</a:t>
            </a:r>
            <a:br/>
            <a:r>
              <a:rPr i="1">
                <a:solidFill>
                  <a:srgbClr val="5E5E5E"/>
                </a:solidFill>
                <a:latin typeface="Courier"/>
              </a:rPr>
              <a:t>##  medium - high    17.70 13.3 12   1.330  0.7534</a:t>
            </a:r>
            <a:br/>
            <a:r>
              <a:rPr i="1">
                <a:solidFill>
                  <a:srgbClr val="5E5E5E"/>
                </a:solidFill>
                <a:latin typeface="Courier"/>
              </a:rPr>
              <a:t>## </a:t>
            </a:r>
            <a:br/>
            <a:r>
              <a:rPr i="1">
                <a:solidFill>
                  <a:srgbClr val="5E5E5E"/>
                </a:solidFill>
                <a:latin typeface="Courier"/>
              </a:rPr>
              <a:t>## Degrees-of-freedom method: kenward-roger </a:t>
            </a:r>
            <a:br/>
            <a:r>
              <a:rPr i="1">
                <a:solidFill>
                  <a:srgbClr val="5E5E5E"/>
                </a:solidFill>
                <a:latin typeface="Courier"/>
              </a:rPr>
              <a:t>## P value adjustment: sidak method for 6 tests</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Compact Letter Display</a:t>
            </a:r>
          </a:p>
        </p:txBody>
      </p:sp>
      <p:sp>
        <p:nvSpPr>
          <p:cNvPr id="3" name="Content Placeholder 2"/>
          <p:cNvSpPr>
            <a:spLocks noGrp="1"/>
          </p:cNvSpPr>
          <p:nvPr>
            <p:ph idx="1" sz="half"/>
          </p:nvPr>
        </p:nvSpPr>
        <p:spPr/>
        <p:txBody>
          <a:bodyPr/>
          <a:lstStyle/>
          <a:p>
            <a:pPr lvl="0" indent="0">
              <a:buNone/>
            </a:pPr>
            <a:r>
              <a:rPr>
                <a:solidFill>
                  <a:srgbClr val="003B4F"/>
                </a:solidFill>
                <a:latin typeface="Courier"/>
              </a:rPr>
              <a:t>u_cld &lt;- multcomp</a:t>
            </a:r>
            <a:r>
              <a:rPr>
                <a:solidFill>
                  <a:srgbClr val="5E5E5E"/>
                </a:solidFill>
                <a:latin typeface="Courier"/>
              </a:rPr>
              <a:t>::</a:t>
            </a:r>
            <a:r>
              <a:rPr>
                <a:solidFill>
                  <a:srgbClr val="4758AB"/>
                </a:solidFill>
                <a:latin typeface="Courier"/>
              </a:rPr>
              <a:t>cld</a:t>
            </a:r>
            <a:r>
              <a:rPr>
                <a:solidFill>
                  <a:srgbClr val="003B4F"/>
                </a:solidFill>
                <a:latin typeface="Courier"/>
              </a:rPr>
              <a:t>(u_emm, </a:t>
            </a:r>
            <a:r>
              <a:rPr>
                <a:solidFill>
                  <a:srgbClr val="657422"/>
                </a:solidFill>
                <a:latin typeface="Courier"/>
              </a:rPr>
              <a:t>alpha =</a:t>
            </a:r>
            <a:r>
              <a:rPr>
                <a:solidFill>
                  <a:srgbClr val="003B4F"/>
                </a:solidFill>
                <a:latin typeface="Courier"/>
              </a:rPr>
              <a:t> </a:t>
            </a:r>
            <a:r>
              <a:rPr>
                <a:solidFill>
                  <a:srgbClr val="AD0000"/>
                </a:solidFill>
                <a:latin typeface="Courier"/>
              </a:rPr>
              <a:t>0.05</a:t>
            </a:r>
            <a:r>
              <a:rPr>
                <a:solidFill>
                  <a:srgbClr val="003B4F"/>
                </a:solidFill>
                <a:latin typeface="Courier"/>
              </a:rPr>
              <a:t>, </a:t>
            </a:r>
            <a:r>
              <a:rPr>
                <a:solidFill>
                  <a:srgbClr val="657422"/>
                </a:solidFill>
                <a:latin typeface="Courier"/>
              </a:rPr>
              <a:t>Letters =</a:t>
            </a:r>
            <a:r>
              <a:rPr>
                <a:solidFill>
                  <a:srgbClr val="003B4F"/>
                </a:solidFill>
                <a:latin typeface="Courier"/>
              </a:rPr>
              <a:t> letters)</a:t>
            </a:r>
            <a:br/>
            <a:r>
              <a:rPr>
                <a:solidFill>
                  <a:srgbClr val="4758AB"/>
                </a:solidFill>
                <a:latin typeface="Courier"/>
              </a:rPr>
              <a:t>cat</a:t>
            </a:r>
            <a:r>
              <a:rPr>
                <a:solidFill>
                  <a:srgbClr val="003B4F"/>
                </a:solidFill>
                <a:latin typeface="Courier"/>
              </a:rPr>
              <a:t>(</a:t>
            </a:r>
            <a:r>
              <a:rPr>
                <a:solidFill>
                  <a:srgbClr val="20794D"/>
                </a:solidFill>
                <a:latin typeface="Courier"/>
              </a:rPr>
              <a:t>"Compact letter display:</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Compact letter display:</a:t>
            </a:r>
            <a:br/>
            <a:r>
              <a:rPr>
                <a:solidFill>
                  <a:srgbClr val="003B4F"/>
                </a:solidFill>
                <a:latin typeface="Courier"/>
              </a:rPr>
              <a:t>u_cld</a:t>
            </a:r>
            <a:br/>
            <a:r>
              <a:rPr i="1">
                <a:solidFill>
                  <a:srgbClr val="5E5E5E"/>
                </a:solidFill>
                <a:latin typeface="Courier"/>
              </a:rPr>
              <a:t>##  treat  emmean   SE df lower.CL upper.CL .group</a:t>
            </a:r>
            <a:br/>
            <a:r>
              <a:rPr i="1">
                <a:solidFill>
                  <a:srgbClr val="5E5E5E"/>
                </a:solidFill>
                <a:latin typeface="Courier"/>
              </a:rPr>
              <a:t>##  high      1.3 9.41 12   -19.20     21.8  a    </a:t>
            </a:r>
            <a:br/>
            <a:r>
              <a:rPr i="1">
                <a:solidFill>
                  <a:srgbClr val="5E5E5E"/>
                </a:solidFill>
                <a:latin typeface="Courier"/>
              </a:rPr>
              <a:t>##  medium   19.0 9.41 12    -1.50     39.5  a    </a:t>
            </a:r>
            <a:br/>
            <a:r>
              <a:rPr i="1">
                <a:solidFill>
                  <a:srgbClr val="5E5E5E"/>
                </a:solidFill>
                <a:latin typeface="Courier"/>
              </a:rPr>
              <a:t>##  low      21.6 9.41 12     1.05     42.0  a    </a:t>
            </a:r>
            <a:br/>
            <a:r>
              <a:rPr i="1">
                <a:solidFill>
                  <a:srgbClr val="5E5E5E"/>
                </a:solidFill>
                <a:latin typeface="Courier"/>
              </a:rPr>
              <a:t>##  none     39.2 9.41 12    18.70     59.7  a    </a:t>
            </a:r>
            <a:br/>
            <a:r>
              <a:rPr i="1">
                <a:solidFill>
                  <a:srgbClr val="5E5E5E"/>
                </a:solidFill>
                <a:latin typeface="Courier"/>
              </a:rPr>
              <a:t>## </a:t>
            </a:r>
            <a:br/>
            <a:r>
              <a:rPr i="1">
                <a:solidFill>
                  <a:srgbClr val="5E5E5E"/>
                </a:solidFill>
                <a:latin typeface="Courier"/>
              </a:rPr>
              <a:t>## Degrees-of-freedom method: kenward-roger </a:t>
            </a:r>
            <a:br/>
            <a:r>
              <a:rPr i="1">
                <a:solidFill>
                  <a:srgbClr val="5E5E5E"/>
                </a:solidFill>
                <a:latin typeface="Courier"/>
              </a:rPr>
              <a:t>## Confidence level used: 0.95 </a:t>
            </a:r>
            <a:br/>
            <a:r>
              <a:rPr i="1">
                <a:solidFill>
                  <a:srgbClr val="5E5E5E"/>
                </a:solidFill>
                <a:latin typeface="Courier"/>
              </a:rPr>
              <a:t>## P value adjustment: tukey method for comparing a family of 4 estimates </a:t>
            </a:r>
            <a:br/>
            <a:r>
              <a:rPr i="1">
                <a:solidFill>
                  <a:srgbClr val="5E5E5E"/>
                </a:solidFill>
                <a:latin typeface="Courier"/>
              </a:rPr>
              <a:t>## significance level used: alpha = 0.05 </a:t>
            </a:r>
            <a:br/>
            <a:r>
              <a:rPr i="1">
                <a:solidFill>
                  <a:srgbClr val="5E5E5E"/>
                </a:solidFill>
                <a:latin typeface="Courier"/>
              </a:rPr>
              <a:t>## </a:t>
            </a:r>
            <a:r>
              <a:rPr>
                <a:solidFill>
                  <a:srgbClr val="AD0000"/>
                </a:solidFill>
                <a:latin typeface="Courier"/>
              </a:rPr>
              <a:t>NOTE</a:t>
            </a:r>
            <a:r>
              <a:rPr i="1">
                <a:solidFill>
                  <a:srgbClr val="5E5E5E"/>
                </a:solidFill>
                <a:latin typeface="Courier"/>
              </a:rPr>
              <a:t>: If two or more means share the same grouping symbol,</a:t>
            </a:r>
            <a:br/>
            <a:r>
              <a:rPr i="1">
                <a:solidFill>
                  <a:srgbClr val="5E5E5E"/>
                </a:solidFill>
                <a:latin typeface="Courier"/>
              </a:rPr>
              <a:t>##       then we cannot show them to be different.</a:t>
            </a:r>
            <a:br/>
            <a:r>
              <a:rPr i="1">
                <a:solidFill>
                  <a:srgbClr val="5E5E5E"/>
                </a:solidFill>
                <a:latin typeface="Courier"/>
              </a:rPr>
              <a:t>##       But we also did not show them to be the same.</a:t>
            </a:r>
          </a:p>
        </p:txBody>
      </p:sp>
      <p:sp>
        <p:nvSpPr>
          <p:cNvPr id="4" name="Content Placeholder 3"/>
          <p:cNvSpPr>
            <a:spLocks noGrp="1"/>
          </p:cNvSpPr>
          <p:nvPr>
            <p:ph idx="2" sz="half"/>
          </p:nvPr>
        </p:nvSpPr>
        <p:spPr/>
        <p:txBody>
          <a:bodyPr/>
          <a:lstStyle/>
          <a:p>
            <a:pPr lvl="0" indent="0" marL="1270000">
              <a:buNone/>
            </a:pPr>
            <a:r>
              <a:rPr sz="2000" b="1"/>
              <a:t>Important</a:t>
            </a:r>
          </a:p>
          <a:p>
            <a:pPr lvl="0" indent="0" marL="1270000">
              <a:buNone/>
            </a:pPr>
            <a:r>
              <a:rPr sz="2000" b="1"/>
              <a:t>Interpreting treatment comparisons</a:t>
            </a:r>
          </a:p>
          <a:p>
            <a:pPr lvl="0" indent="0" marL="1270000">
              <a:buNone/>
            </a:pPr>
            <a:r>
              <a:rPr sz="2000"/>
              <a:t>Mean algae cover shows a pattern with increasing urchin density: None/Removed (39.20%) &gt; Medium/33% Density (19.00%) &gt; High/66% Density (21.55%) &gt; Low/Control (1.30%). This suggests an inverse relationship between urchin density and algae cover. The high variability among patches within treatments contributed to the marginal statistical significance for the treatment effect.</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11 · Assumptions and Visualization</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ANOVA Assumptions Testing — Base R</a:t>
            </a:r>
          </a:p>
        </p:txBody>
      </p:sp>
      <p:sp>
        <p:nvSpPr>
          <p:cNvPr id="3" name="Content Placeholder 2"/>
          <p:cNvSpPr>
            <a:spLocks noGrp="1"/>
          </p:cNvSpPr>
          <p:nvPr>
            <p:ph idx="1" sz="half"/>
          </p:nvPr>
        </p:nvSpPr>
        <p:spPr/>
        <p:txBody>
          <a:bodyPr/>
          <a:lstStyle/>
          <a:p>
            <a:pPr lvl="0" indent="0" marL="0">
              <a:buNone/>
            </a:pPr>
            <a:r>
              <a:rPr/>
              <a:t>For valid inference from ANOVA, several assumptions must be met. We test these below with a base R approach — note that it doesn’t work all that well for a mixed model.</a:t>
            </a:r>
          </a:p>
        </p:txBody>
      </p:sp>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Notice</a:t>
            </a:r>
          </a:p>
          <a:p>
            <a:pPr lvl="0" indent="0" marL="1270000">
              <a:buNone/>
            </a:pPr>
            <a:r>
              <a:rPr sz="2000">
                <a:latin typeface="Courier"/>
              </a:rPr>
              <a:t>plot(mixed_model)</a:t>
            </a:r>
            <a:r>
              <a:rPr sz="2000"/>
              <a:t> and friends were built for </a:t>
            </a:r>
            <a:r>
              <a:rPr sz="2000">
                <a:latin typeface="Courier"/>
              </a:rPr>
              <a:t>lm()</a:t>
            </a:r>
            <a:r>
              <a:rPr sz="2000"/>
              <a:t> objects — they mostly work for </a:t>
            </a:r>
            <a:r>
              <a:rPr sz="2000">
                <a:latin typeface="Courier"/>
              </a:rPr>
              <a:t>lmer()</a:t>
            </a:r>
            <a:r>
              <a:rPr sz="2000"/>
              <a:t>, but purpose-built tools like </a:t>
            </a:r>
            <a:r>
              <a:rPr sz="2000">
                <a:latin typeface="Courier"/>
              </a:rPr>
              <a:t>DHARMa</a:t>
            </a:r>
            <a:r>
              <a:rPr sz="2000"/>
              <a:t> (next module) do a better job.</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Diagnostic Plots</a:t>
            </a:r>
          </a:p>
        </p:txBody>
      </p:sp>
      <p:pic>
        <p:nvPicPr>
          <p:cNvPr descr="nested_anova_lecture_files/figure-pptx/unnamed-chunk-15-1.png" id="0" name="Picture 1"/>
          <p:cNvPicPr>
            <a:picLocks noGrp="1" noChangeAspect="1"/>
          </p:cNvPicPr>
          <p:nvPr/>
        </p:nvPicPr>
        <p:blipFill>
          <a:blip r:embed="rId2"/>
          <a:stretch>
            <a:fillRect/>
          </a:stretch>
        </p:blipFill>
        <p:spPr bwMode="auto">
          <a:xfrm>
            <a:off x="1676400" y="609600"/>
            <a:ext cx="5715000" cy="3911600"/>
          </a:xfrm>
          <a:prstGeom prst="rect">
            <a:avLst/>
          </a:prstGeom>
          <a:noFill/>
          <a:ln w="9525">
            <a:noFill/>
            <a:headEnd/>
            <a:tailEnd/>
          </a:ln>
        </p:spPr>
      </p:pic>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Levene’s Test for Homogeneity of Variance</a:t>
            </a:r>
          </a:p>
        </p:txBody>
      </p:sp>
      <p:sp>
        <p:nvSpPr>
          <p:cNvPr id="3" name="Content Placeholder 2"/>
          <p:cNvSpPr>
            <a:spLocks noGrp="1"/>
          </p:cNvSpPr>
          <p:nvPr>
            <p:ph idx="1" sz="half"/>
          </p:nvPr>
        </p:nvSpPr>
        <p:spPr/>
        <p:txBody>
          <a:bodyPr/>
          <a:lstStyle/>
          <a:p>
            <a:pPr lvl="0" indent="0">
              <a:buNone/>
            </a:pPr>
            <a:r>
              <a:rPr>
                <a:solidFill>
                  <a:srgbClr val="003B4F"/>
                </a:solidFill>
                <a:latin typeface="Courier"/>
              </a:rPr>
              <a:t>u_levene &lt;- </a:t>
            </a:r>
            <a:r>
              <a:rPr>
                <a:solidFill>
                  <a:srgbClr val="4758AB"/>
                </a:solidFill>
                <a:latin typeface="Courier"/>
              </a:rPr>
              <a:t>leveneTest</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657422"/>
                </a:solidFill>
                <a:latin typeface="Courier"/>
              </a:rPr>
              <a:t>data =</a:t>
            </a:r>
            <a:r>
              <a:rPr>
                <a:solidFill>
                  <a:srgbClr val="003B4F"/>
                </a:solidFill>
                <a:latin typeface="Courier"/>
              </a:rPr>
              <a:t> u_df)</a:t>
            </a:r>
            <a:br/>
            <a:r>
              <a:rPr>
                <a:solidFill>
                  <a:srgbClr val="4758AB"/>
                </a:solidFill>
                <a:latin typeface="Courier"/>
              </a:rPr>
              <a:t>cat</a:t>
            </a:r>
            <a:r>
              <a:rPr>
                <a:solidFill>
                  <a:srgbClr val="003B4F"/>
                </a:solidFill>
                <a:latin typeface="Courier"/>
              </a:rPr>
              <a:t>(</a:t>
            </a:r>
            <a:r>
              <a:rPr>
                <a:solidFill>
                  <a:srgbClr val="20794D"/>
                </a:solidFill>
                <a:latin typeface="Courier"/>
              </a:rPr>
              <a:t>"Levene's test for homogeneity of variance:</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Levene's test for homogeneity of variance:</a:t>
            </a:r>
            <a:br/>
            <a:r>
              <a:rPr>
                <a:solidFill>
                  <a:srgbClr val="003B4F"/>
                </a:solidFill>
                <a:latin typeface="Courier"/>
              </a:rPr>
              <a:t>u_levene</a:t>
            </a:r>
            <a:br/>
            <a:r>
              <a:rPr i="1">
                <a:solidFill>
                  <a:srgbClr val="5E5E5E"/>
                </a:solidFill>
                <a:latin typeface="Courier"/>
              </a:rPr>
              <a:t>## Levene's Test for Homogeneity of Variance (center = median)</a:t>
            </a:r>
            <a:br/>
            <a:r>
              <a:rPr i="1">
                <a:solidFill>
                  <a:srgbClr val="5E5E5E"/>
                </a:solidFill>
                <a:latin typeface="Courier"/>
              </a:rPr>
              <a:t>##       Df F value     Pr(&gt;F)    </a:t>
            </a:r>
            <a:br/>
            <a:r>
              <a:rPr i="1">
                <a:solidFill>
                  <a:srgbClr val="5E5E5E"/>
                </a:solidFill>
                <a:latin typeface="Courier"/>
              </a:rPr>
              <a:t>## group  3  8.1694 0.00008785 ***</a:t>
            </a:r>
            <a:br/>
            <a:r>
              <a:rPr i="1">
                <a:solidFill>
                  <a:srgbClr val="5E5E5E"/>
                </a:solidFill>
                <a:latin typeface="Courier"/>
              </a:rPr>
              <a:t>##       76                       </a:t>
            </a:r>
            <a:br/>
            <a:r>
              <a:rPr i="1">
                <a:solidFill>
                  <a:srgbClr val="5E5E5E"/>
                </a:solidFill>
                <a:latin typeface="Courier"/>
              </a:rPr>
              <a:t>## ---</a:t>
            </a:r>
            <a:br/>
            <a:r>
              <a:rPr i="1">
                <a:solidFill>
                  <a:srgbClr val="5E5E5E"/>
                </a:solidFill>
                <a:latin typeface="Courier"/>
              </a:rPr>
              <a:t>## Signif. codes:  0 '***' 0.001 '**' 0.01 '*' 0.05 '.' 0.1 ' ' 1</a:t>
            </a:r>
          </a:p>
        </p:txBody>
      </p:sp>
      <p:sp>
        <p:nvSpPr>
          <p:cNvPr id="4" name="Content Placeholder 3"/>
          <p:cNvSpPr>
            <a:spLocks noGrp="1"/>
          </p:cNvSpPr>
          <p:nvPr>
            <p:ph idx="2" sz="half"/>
          </p:nvPr>
        </p:nvSpPr>
        <p:spPr/>
        <p:txBody>
          <a:bodyPr/>
          <a:lstStyle/>
          <a:p>
            <a:pPr lvl="0" indent="0" marL="1270000">
              <a:buNone/>
            </a:pPr>
            <a:r>
              <a:rPr sz="2000" b="1"/>
              <a:t>Important</a:t>
            </a:r>
          </a:p>
          <a:p>
            <a:pPr lvl="0" indent="0" marL="1270000">
              <a:buNone/>
            </a:pPr>
            <a:r>
              <a:rPr sz="2000" b="1"/>
              <a:t>Interpreting the assumption tests</a:t>
            </a:r>
          </a:p>
          <a:p>
            <a:pPr lvl="0" indent="0" marL="1270000">
              <a:buNone/>
            </a:pPr>
            <a:r>
              <a:rPr sz="2000"/>
              <a:t>The Q-Q plot shows some deviation from normality, particularly in the tails, and Levene’s test indicates significant heterogeneity of variances across treatments (p = 0.00008785). Quinn &amp; Keough (2002) noted “large differences in within-cell variances” in this dataset, and transformations (including arcsin) did not improve variance homogeneity. However, ANOVA is generally robust to heteroscedasticity with balanced designs, which is why they analyzed untransformed data. The Residuals vs. fitted plot also shows a pattern of increasing variance with increasing fitted values, confirming the heteroscedasticity.</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Visualization — Boxplot</a:t>
            </a:r>
          </a:p>
        </p:txBody>
      </p:sp>
      <p:pic>
        <p:nvPicPr>
          <p:cNvPr descr="nested_anova_lecture_files/figure-pptx/unnamed-chunk-17-1.png" id="0" name="Picture 1"/>
          <p:cNvPicPr>
            <a:picLocks noGrp="1" noChangeAspect="1"/>
          </p:cNvPicPr>
          <p:nvPr/>
        </p:nvPicPr>
        <p:blipFill>
          <a:blip r:embed="rId2"/>
          <a:stretch>
            <a:fillRect/>
          </a:stretch>
        </p:blipFill>
        <p:spPr bwMode="auto">
          <a:xfrm>
            <a:off x="2197100" y="609600"/>
            <a:ext cx="4699000" cy="3911600"/>
          </a:xfrm>
          <a:prstGeom prst="rect">
            <a:avLst/>
          </a:prstGeom>
          <a:noFill/>
          <a:ln w="9525">
            <a:noFill/>
            <a:headEnd/>
            <a:tailEnd/>
          </a:ln>
        </p:spPr>
      </p:pic>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Visualization — Means Plot</a:t>
            </a:r>
          </a:p>
        </p:txBody>
      </p:sp>
      <p:pic>
        <p:nvPicPr>
          <p:cNvPr descr="nested_anova_lecture_files/figure-pptx/unnamed-chunk-18-1.png" id="0" name="Picture 1"/>
          <p:cNvPicPr>
            <a:picLocks noGrp="1" noChangeAspect="1"/>
          </p:cNvPicPr>
          <p:nvPr/>
        </p:nvPicPr>
        <p:blipFill>
          <a:blip r:embed="rId2"/>
          <a:stretch>
            <a:fillRect/>
          </a:stretch>
        </p:blipFill>
        <p:spPr bwMode="auto">
          <a:xfrm>
            <a:off x="2171700" y="609600"/>
            <a:ext cx="4749800" cy="3911600"/>
          </a:xfrm>
          <a:prstGeom prst="rect">
            <a:avLst/>
          </a:prstGeom>
          <a:noFill/>
          <a:ln w="9525">
            <a:noFill/>
            <a:headEnd/>
            <a:tailEnd/>
          </a:ln>
        </p:spPr>
      </p:pic>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12 · Discussion and Manual Calculation</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Scientific Interpretation</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Our nested ANOVA analysis revealed substantial spatial heterogeneity in algae cover, with significant variation among patches within each treatment. The effect of urchin density treatments on filamentous algae cover was marginally significant at the α = 0.05 level (p = 0.043). Descriptive statistics show algae cover increasing as urchin density decreases, with None/Removed showing the highest cover (39.20%), followed by Medium/33% Density (19.00%), High/66% Density (21.55%), and Low/Control showing minimal algae cover (1.30%). The substantial variance component associated with patches nested within treatments (294.31, ~39.5% of total variance) underscores the importance of spatial heterogeneity in structuring algal communities — and the necessity of accounting for it when designing and analyzing ecological field experiments.</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We Can Do This Manually — but Ugh</a:t>
            </a:r>
          </a:p>
        </p:txBody>
      </p:sp>
      <p:sp>
        <p:nvSpPr>
          <p:cNvPr id="3" name="Content Placeholder 2"/>
          <p:cNvSpPr>
            <a:spLocks noGrp="1"/>
          </p:cNvSpPr>
          <p:nvPr>
            <p:ph idx="1" sz="half"/>
          </p:nvPr>
        </p:nvSpPr>
        <p:spPr/>
        <p:txBody>
          <a:bodyPr/>
          <a:lstStyle/>
          <a:p>
            <a:pPr lvl="0" indent="0" marL="0">
              <a:buNone/>
            </a:pPr>
            <a:r>
              <a:rPr/>
              <a:t>Nobody would ever do this by hand in practice — but seeing it once makes the “which MS goes on the bottom of the F-ratio” logic concrete.</a:t>
            </a:r>
          </a:p>
          <a:p>
            <a:pPr lvl="0" indent="0">
              <a:buNone/>
            </a:pPr>
            <a:r>
              <a:rPr>
                <a:solidFill>
                  <a:srgbClr val="003B4F"/>
                </a:solidFill>
                <a:latin typeface="Courier"/>
              </a:rPr>
              <a:t>u_man_model &lt;- </a:t>
            </a:r>
            <a:r>
              <a:rPr>
                <a:solidFill>
                  <a:srgbClr val="4758AB"/>
                </a:solidFill>
                <a:latin typeface="Courier"/>
              </a:rPr>
              <a:t>aov</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5E5E5E"/>
                </a:solidFill>
                <a:latin typeface="Courier"/>
              </a:rPr>
              <a:t>+</a:t>
            </a:r>
            <a:r>
              <a:rPr>
                <a:solidFill>
                  <a:srgbClr val="003B4F"/>
                </a:solidFill>
                <a:latin typeface="Courier"/>
              </a:rPr>
              <a:t> treat</a:t>
            </a:r>
            <a:r>
              <a:rPr>
                <a:solidFill>
                  <a:srgbClr val="5E5E5E"/>
                </a:solidFill>
                <a:latin typeface="Courier"/>
              </a:rPr>
              <a:t>:</a:t>
            </a:r>
            <a:r>
              <a:rPr>
                <a:solidFill>
                  <a:srgbClr val="003B4F"/>
                </a:solidFill>
                <a:latin typeface="Courier"/>
              </a:rPr>
              <a:t>patch, </a:t>
            </a:r>
            <a:r>
              <a:rPr>
                <a:solidFill>
                  <a:srgbClr val="657422"/>
                </a:solidFill>
                <a:latin typeface="Courier"/>
              </a:rPr>
              <a:t>data =</a:t>
            </a:r>
            <a:r>
              <a:rPr>
                <a:solidFill>
                  <a:srgbClr val="003B4F"/>
                </a:solidFill>
                <a:latin typeface="Courier"/>
              </a:rPr>
              <a:t> u_df)</a:t>
            </a:r>
            <a:br/>
            <a:r>
              <a:rPr>
                <a:solidFill>
                  <a:srgbClr val="003B4F"/>
                </a:solidFill>
                <a:latin typeface="Courier"/>
              </a:rPr>
              <a:t>u_anova_summary &lt;- </a:t>
            </a:r>
            <a:r>
              <a:rPr>
                <a:solidFill>
                  <a:srgbClr val="4758AB"/>
                </a:solidFill>
                <a:latin typeface="Courier"/>
              </a:rPr>
              <a:t>summary</a:t>
            </a:r>
            <a:r>
              <a:rPr>
                <a:solidFill>
                  <a:srgbClr val="003B4F"/>
                </a:solidFill>
                <a:latin typeface="Courier"/>
              </a:rPr>
              <a:t>(u_man_model)[[</a:t>
            </a:r>
            <a:r>
              <a:rPr>
                <a:solidFill>
                  <a:srgbClr val="AD0000"/>
                </a:solidFill>
                <a:latin typeface="Courier"/>
              </a:rPr>
              <a:t>1</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"Standard ANOVA table:</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Standard ANOVA table:</a:t>
            </a:r>
            <a:br/>
            <a:r>
              <a:rPr>
                <a:solidFill>
                  <a:srgbClr val="003B4F"/>
                </a:solidFill>
                <a:latin typeface="Courier"/>
              </a:rPr>
              <a:t>u_anova_summary</a:t>
            </a:r>
            <a:br/>
            <a:r>
              <a:rPr i="1">
                <a:solidFill>
                  <a:srgbClr val="5E5E5E"/>
                </a:solidFill>
                <a:latin typeface="Courier"/>
              </a:rPr>
              <a:t>##             Df Sum Sq Mean Sq F value        Pr(&gt;F)    </a:t>
            </a:r>
            <a:br/>
            <a:r>
              <a:rPr i="1">
                <a:solidFill>
                  <a:srgbClr val="5E5E5E"/>
                </a:solidFill>
                <a:latin typeface="Courier"/>
              </a:rPr>
              <a:t>## treat        3  14429  4809.7 16.1075 0.00000006579 ***</a:t>
            </a:r>
            <a:br/>
            <a:r>
              <a:rPr i="1">
                <a:solidFill>
                  <a:srgbClr val="5E5E5E"/>
                </a:solidFill>
                <a:latin typeface="Courier"/>
              </a:rPr>
              <a:t>## treat:patch 12  21242  1770.2  5.9282 0.00000083226 ***</a:t>
            </a:r>
            <a:br/>
            <a:r>
              <a:rPr i="1">
                <a:solidFill>
                  <a:srgbClr val="5E5E5E"/>
                </a:solidFill>
                <a:latin typeface="Courier"/>
              </a:rPr>
              <a:t>## Residuals   64  19110   298.6                          </a:t>
            </a:r>
            <a:br/>
            <a:r>
              <a:rPr i="1">
                <a:solidFill>
                  <a:srgbClr val="5E5E5E"/>
                </a:solidFill>
                <a:latin typeface="Courier"/>
              </a:rPr>
              <a:t>## ---</a:t>
            </a:r>
            <a:br/>
            <a:r>
              <a:rPr i="1">
                <a:solidFill>
                  <a:srgbClr val="5E5E5E"/>
                </a:solidFill>
                <a:latin typeface="Courier"/>
              </a:rPr>
              <a:t>## Signif. codes:  0 '***' 0.001 '**' 0.01 '*' 0.05 '.' 0.1 ' ' 1</a:t>
            </a:r>
          </a:p>
          <a:p>
            <a:pPr lvl="0" indent="0">
              <a:buNone/>
            </a:pPr>
            <a:r>
              <a:rPr>
                <a:solidFill>
                  <a:srgbClr val="003B4F"/>
                </a:solidFill>
                <a:latin typeface="Courier"/>
              </a:rPr>
              <a:t>u_MS_treat &lt;- u_anova_summary[</a:t>
            </a:r>
            <a:r>
              <a:rPr>
                <a:solidFill>
                  <a:srgbClr val="AD0000"/>
                </a:solidFill>
                <a:latin typeface="Courier"/>
              </a:rPr>
              <a:t>1</a:t>
            </a:r>
            <a:r>
              <a:rPr>
                <a:solidFill>
                  <a:srgbClr val="003B4F"/>
                </a:solidFill>
                <a:latin typeface="Courier"/>
              </a:rPr>
              <a:t>, </a:t>
            </a:r>
            <a:r>
              <a:rPr>
                <a:solidFill>
                  <a:srgbClr val="20794D"/>
                </a:solidFill>
                <a:latin typeface="Courier"/>
              </a:rPr>
              <a:t>"Mean Sq"</a:t>
            </a:r>
            <a:r>
              <a:rPr>
                <a:solidFill>
                  <a:srgbClr val="003B4F"/>
                </a:solidFill>
                <a:latin typeface="Courier"/>
              </a:rPr>
              <a:t>]</a:t>
            </a:r>
            <a:br/>
            <a:r>
              <a:rPr>
                <a:solidFill>
                  <a:srgbClr val="003B4F"/>
                </a:solidFill>
                <a:latin typeface="Courier"/>
              </a:rPr>
              <a:t>u_MS_patch &lt;- u_anova_summary[</a:t>
            </a:r>
            <a:r>
              <a:rPr>
                <a:solidFill>
                  <a:srgbClr val="AD0000"/>
                </a:solidFill>
                <a:latin typeface="Courier"/>
              </a:rPr>
              <a:t>2</a:t>
            </a:r>
            <a:r>
              <a:rPr>
                <a:solidFill>
                  <a:srgbClr val="003B4F"/>
                </a:solidFill>
                <a:latin typeface="Courier"/>
              </a:rPr>
              <a:t>, </a:t>
            </a:r>
            <a:r>
              <a:rPr>
                <a:solidFill>
                  <a:srgbClr val="20794D"/>
                </a:solidFill>
                <a:latin typeface="Courier"/>
              </a:rPr>
              <a:t>"Mean Sq"</a:t>
            </a:r>
            <a:r>
              <a:rPr>
                <a:solidFill>
                  <a:srgbClr val="003B4F"/>
                </a:solidFill>
                <a:latin typeface="Courier"/>
              </a:rPr>
              <a:t>]</a:t>
            </a:r>
            <a:br/>
            <a:r>
              <a:rPr>
                <a:solidFill>
                  <a:srgbClr val="003B4F"/>
                </a:solidFill>
                <a:latin typeface="Courier"/>
              </a:rPr>
              <a:t>u_MS_residual &lt;- u_anova_summary[</a:t>
            </a:r>
            <a:r>
              <a:rPr>
                <a:solidFill>
                  <a:srgbClr val="AD0000"/>
                </a:solidFill>
                <a:latin typeface="Courier"/>
              </a:rPr>
              <a:t>3</a:t>
            </a:r>
            <a:r>
              <a:rPr>
                <a:solidFill>
                  <a:srgbClr val="003B4F"/>
                </a:solidFill>
                <a:latin typeface="Courier"/>
              </a:rPr>
              <a:t>, </a:t>
            </a:r>
            <a:r>
              <a:rPr>
                <a:solidFill>
                  <a:srgbClr val="20794D"/>
                </a:solidFill>
                <a:latin typeface="Courier"/>
              </a:rPr>
              <a:t>"Mean Sq"</a:t>
            </a:r>
            <a:r>
              <a:rPr>
                <a:solidFill>
                  <a:srgbClr val="003B4F"/>
                </a:solidFill>
                <a:latin typeface="Courier"/>
              </a:rPr>
              <a:t>]</a:t>
            </a:r>
            <a:br/>
            <a:br/>
            <a:r>
              <a:rPr>
                <a:solidFill>
                  <a:srgbClr val="003B4F"/>
                </a:solidFill>
                <a:latin typeface="Courier"/>
              </a:rPr>
              <a:t>u_df_treat &lt;- u_anova_summary[</a:t>
            </a:r>
            <a:r>
              <a:rPr>
                <a:solidFill>
                  <a:srgbClr val="AD0000"/>
                </a:solidFill>
                <a:latin typeface="Courier"/>
              </a:rPr>
              <a:t>1</a:t>
            </a:r>
            <a:r>
              <a:rPr>
                <a:solidFill>
                  <a:srgbClr val="003B4F"/>
                </a:solidFill>
                <a:latin typeface="Courier"/>
              </a:rPr>
              <a:t>, </a:t>
            </a:r>
            <a:r>
              <a:rPr>
                <a:solidFill>
                  <a:srgbClr val="20794D"/>
                </a:solidFill>
                <a:latin typeface="Courier"/>
              </a:rPr>
              <a:t>"Df"</a:t>
            </a:r>
            <a:r>
              <a:rPr>
                <a:solidFill>
                  <a:srgbClr val="003B4F"/>
                </a:solidFill>
                <a:latin typeface="Courier"/>
              </a:rPr>
              <a:t>]</a:t>
            </a:r>
            <a:br/>
            <a:r>
              <a:rPr>
                <a:solidFill>
                  <a:srgbClr val="003B4F"/>
                </a:solidFill>
                <a:latin typeface="Courier"/>
              </a:rPr>
              <a:t>u_df_patch &lt;- u_anova_summary[</a:t>
            </a:r>
            <a:r>
              <a:rPr>
                <a:solidFill>
                  <a:srgbClr val="AD0000"/>
                </a:solidFill>
                <a:latin typeface="Courier"/>
              </a:rPr>
              <a:t>2</a:t>
            </a:r>
            <a:r>
              <a:rPr>
                <a:solidFill>
                  <a:srgbClr val="003B4F"/>
                </a:solidFill>
                <a:latin typeface="Courier"/>
              </a:rPr>
              <a:t>, </a:t>
            </a:r>
            <a:r>
              <a:rPr>
                <a:solidFill>
                  <a:srgbClr val="20794D"/>
                </a:solidFill>
                <a:latin typeface="Courier"/>
              </a:rPr>
              <a:t>"Df"</a:t>
            </a:r>
            <a:r>
              <a:rPr>
                <a:solidFill>
                  <a:srgbClr val="003B4F"/>
                </a:solidFill>
                <a:latin typeface="Courier"/>
              </a:rPr>
              <a:t>]</a:t>
            </a:r>
            <a:br/>
            <a:r>
              <a:rPr>
                <a:solidFill>
                  <a:srgbClr val="003B4F"/>
                </a:solidFill>
                <a:latin typeface="Courier"/>
              </a:rPr>
              <a:t>u_df_residual &lt;- u_anova_summary[</a:t>
            </a:r>
            <a:r>
              <a:rPr>
                <a:solidFill>
                  <a:srgbClr val="AD0000"/>
                </a:solidFill>
                <a:latin typeface="Courier"/>
              </a:rPr>
              <a:t>3</a:t>
            </a:r>
            <a:r>
              <a:rPr>
                <a:solidFill>
                  <a:srgbClr val="003B4F"/>
                </a:solidFill>
                <a:latin typeface="Courier"/>
              </a:rPr>
              <a:t>, </a:t>
            </a:r>
            <a:r>
              <a:rPr>
                <a:solidFill>
                  <a:srgbClr val="20794D"/>
                </a:solidFill>
                <a:latin typeface="Courier"/>
              </a:rPr>
              <a:t>"Df"</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"MS Treatment:"</a:t>
            </a:r>
            <a:r>
              <a:rPr>
                <a:solidFill>
                  <a:srgbClr val="003B4F"/>
                </a:solidFill>
                <a:latin typeface="Courier"/>
              </a:rPr>
              <a:t>, u_MS_treat,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MS Treatment: 4809.712</a:t>
            </a:r>
            <a:br/>
            <a:r>
              <a:rPr>
                <a:solidFill>
                  <a:srgbClr val="4758AB"/>
                </a:solidFill>
                <a:latin typeface="Courier"/>
              </a:rPr>
              <a:t>cat</a:t>
            </a:r>
            <a:r>
              <a:rPr>
                <a:solidFill>
                  <a:srgbClr val="003B4F"/>
                </a:solidFill>
                <a:latin typeface="Courier"/>
              </a:rPr>
              <a:t>(</a:t>
            </a:r>
            <a:r>
              <a:rPr>
                <a:solidFill>
                  <a:srgbClr val="20794D"/>
                </a:solidFill>
                <a:latin typeface="Courier"/>
              </a:rPr>
              <a:t>"MS Patch(Treatment):"</a:t>
            </a:r>
            <a:r>
              <a:rPr>
                <a:solidFill>
                  <a:srgbClr val="003B4F"/>
                </a:solidFill>
                <a:latin typeface="Courier"/>
              </a:rPr>
              <a:t>, u_MS_patch,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MS Patch(Treatment): 1770.163</a:t>
            </a:r>
            <a:br/>
            <a:r>
              <a:rPr>
                <a:solidFill>
                  <a:srgbClr val="4758AB"/>
                </a:solidFill>
                <a:latin typeface="Courier"/>
              </a:rPr>
              <a:t>cat</a:t>
            </a:r>
            <a:r>
              <a:rPr>
                <a:solidFill>
                  <a:srgbClr val="003B4F"/>
                </a:solidFill>
                <a:latin typeface="Courier"/>
              </a:rPr>
              <a:t>(</a:t>
            </a:r>
            <a:r>
              <a:rPr>
                <a:solidFill>
                  <a:srgbClr val="20794D"/>
                </a:solidFill>
                <a:latin typeface="Courier"/>
              </a:rPr>
              <a:t>"MS Residual:"</a:t>
            </a:r>
            <a:r>
              <a:rPr>
                <a:solidFill>
                  <a:srgbClr val="003B4F"/>
                </a:solidFill>
                <a:latin typeface="Courier"/>
              </a:rPr>
              <a:t>, u_MS_residual, </a:t>
            </a:r>
            <a:r>
              <a:rPr>
                <a:solidFill>
                  <a:srgbClr val="20794D"/>
                </a:solidFill>
                <a:latin typeface="Courier"/>
              </a:rPr>
              <a:t>"</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MS Residual: 298.6</a:t>
            </a:r>
          </a:p>
        </p:txBody>
      </p:sp>
      <p:sp>
        <p:nvSpPr>
          <p:cNvPr id="4" name="Content Placeholder 3"/>
          <p:cNvSpPr>
            <a:spLocks noGrp="1"/>
          </p:cNvSpPr>
          <p:nvPr>
            <p:ph idx="2" sz="half"/>
          </p:nvPr>
        </p:nvSpPr>
        <p:spPr/>
        <p:txBody>
          <a:bodyPr/>
          <a:lstStyle/>
          <a:p>
            <a:pPr lvl="0" indent="0">
              <a:buNone/>
            </a:pPr>
            <a:r>
              <a:rPr>
                <a:solidFill>
                  <a:srgbClr val="003B4F"/>
                </a:solidFill>
                <a:latin typeface="Courier"/>
              </a:rPr>
              <a:t>u_F_treat_correct &lt;- u_MS_treat </a:t>
            </a:r>
            <a:r>
              <a:rPr>
                <a:solidFill>
                  <a:srgbClr val="5E5E5E"/>
                </a:solidFill>
                <a:latin typeface="Courier"/>
              </a:rPr>
              <a:t>/</a:t>
            </a:r>
            <a:r>
              <a:rPr>
                <a:solidFill>
                  <a:srgbClr val="003B4F"/>
                </a:solidFill>
                <a:latin typeface="Courier"/>
              </a:rPr>
              <a:t> u_MS_patch        </a:t>
            </a:r>
            <a:r>
              <a:rPr>
                <a:solidFill>
                  <a:srgbClr val="5E5E5E"/>
                </a:solidFill>
                <a:latin typeface="Courier"/>
              </a:rPr>
              <a:t># Treatment tested against patches</a:t>
            </a:r>
            <a:br/>
            <a:r>
              <a:rPr>
                <a:solidFill>
                  <a:srgbClr val="003B4F"/>
                </a:solidFill>
                <a:latin typeface="Courier"/>
              </a:rPr>
              <a:t>u_F_patch &lt;- u_MS_patch </a:t>
            </a:r>
            <a:r>
              <a:rPr>
                <a:solidFill>
                  <a:srgbClr val="5E5E5E"/>
                </a:solidFill>
                <a:latin typeface="Courier"/>
              </a:rPr>
              <a:t>/</a:t>
            </a:r>
            <a:r>
              <a:rPr>
                <a:solidFill>
                  <a:srgbClr val="003B4F"/>
                </a:solidFill>
                <a:latin typeface="Courier"/>
              </a:rPr>
              <a:t> u_MS_residual             </a:t>
            </a:r>
            <a:r>
              <a:rPr>
                <a:solidFill>
                  <a:srgbClr val="5E5E5E"/>
                </a:solidFill>
                <a:latin typeface="Courier"/>
              </a:rPr>
              <a:t># Patches tested against residual</a:t>
            </a:r>
            <a:br/>
            <a:br/>
            <a:r>
              <a:rPr>
                <a:solidFill>
                  <a:srgbClr val="4758AB"/>
                </a:solidFill>
                <a:latin typeface="Courier"/>
              </a:rPr>
              <a:t>cat</a:t>
            </a:r>
            <a:r>
              <a:rPr>
                <a:solidFill>
                  <a:srgbClr val="003B4F"/>
                </a:solidFill>
                <a:latin typeface="Courier"/>
              </a:rPr>
              <a:t>(</a:t>
            </a:r>
            <a:r>
              <a:rPr>
                <a:solidFill>
                  <a:srgbClr val="20794D"/>
                </a:solidFill>
                <a:latin typeface="Courier"/>
              </a:rPr>
              <a:t>"F Treatment:"</a:t>
            </a:r>
            <a:r>
              <a:rPr>
                <a:solidFill>
                  <a:srgbClr val="003B4F"/>
                </a:solidFill>
                <a:latin typeface="Courier"/>
              </a:rPr>
              <a:t>, u_F_treat_correct,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F Treatment: 2.717102</a:t>
            </a:r>
            <a:br/>
            <a:r>
              <a:rPr>
                <a:solidFill>
                  <a:srgbClr val="4758AB"/>
                </a:solidFill>
                <a:latin typeface="Courier"/>
              </a:rPr>
              <a:t>cat</a:t>
            </a:r>
            <a:r>
              <a:rPr>
                <a:solidFill>
                  <a:srgbClr val="003B4F"/>
                </a:solidFill>
                <a:latin typeface="Courier"/>
              </a:rPr>
              <a:t>(</a:t>
            </a:r>
            <a:r>
              <a:rPr>
                <a:solidFill>
                  <a:srgbClr val="20794D"/>
                </a:solidFill>
                <a:latin typeface="Courier"/>
              </a:rPr>
              <a:t>"F Patch(Treatment):"</a:t>
            </a:r>
            <a:r>
              <a:rPr>
                <a:solidFill>
                  <a:srgbClr val="003B4F"/>
                </a:solidFill>
                <a:latin typeface="Courier"/>
              </a:rPr>
              <a:t>, u_F_patch, </a:t>
            </a:r>
            <a:r>
              <a:rPr>
                <a:solidFill>
                  <a:srgbClr val="20794D"/>
                </a:solidFill>
                <a:latin typeface="Courier"/>
              </a:rPr>
              <a:t>"</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F Patch(Treatment): 5.928207</a:t>
            </a:r>
          </a:p>
          <a:p>
            <a:pPr lvl="0" indent="0">
              <a:buNone/>
            </a:pPr>
            <a:r>
              <a:rPr>
                <a:solidFill>
                  <a:srgbClr val="003B4F"/>
                </a:solidFill>
                <a:latin typeface="Courier"/>
              </a:rPr>
              <a:t>u_p_treat_correct &lt;- </a:t>
            </a:r>
            <a:r>
              <a:rPr>
                <a:solidFill>
                  <a:srgbClr val="4758AB"/>
                </a:solidFill>
                <a:latin typeface="Courier"/>
              </a:rPr>
              <a:t>pf</a:t>
            </a:r>
            <a:r>
              <a:rPr>
                <a:solidFill>
                  <a:srgbClr val="003B4F"/>
                </a:solidFill>
                <a:latin typeface="Courier"/>
              </a:rPr>
              <a:t>(u_F_treat_correct, u_df_treat, u_df_patch, </a:t>
            </a:r>
            <a:r>
              <a:rPr>
                <a:solidFill>
                  <a:srgbClr val="657422"/>
                </a:solidFill>
                <a:latin typeface="Courier"/>
              </a:rPr>
              <a:t>lower.tail =</a:t>
            </a:r>
            <a:r>
              <a:rPr>
                <a:solidFill>
                  <a:srgbClr val="003B4F"/>
                </a:solidFill>
                <a:latin typeface="Courier"/>
              </a:rPr>
              <a:t> </a:t>
            </a:r>
            <a:r>
              <a:rPr>
                <a:solidFill>
                  <a:srgbClr val="8F5902"/>
                </a:solidFill>
                <a:latin typeface="Courier"/>
              </a:rPr>
              <a:t>FALSE</a:t>
            </a:r>
            <a:r>
              <a:rPr>
                <a:solidFill>
                  <a:srgbClr val="003B4F"/>
                </a:solidFill>
                <a:latin typeface="Courier"/>
              </a:rPr>
              <a:t>)</a:t>
            </a:r>
            <a:br/>
            <a:r>
              <a:rPr>
                <a:solidFill>
                  <a:srgbClr val="003B4F"/>
                </a:solidFill>
                <a:latin typeface="Courier"/>
              </a:rPr>
              <a:t>u_p_patch &lt;- </a:t>
            </a:r>
            <a:r>
              <a:rPr>
                <a:solidFill>
                  <a:srgbClr val="4758AB"/>
                </a:solidFill>
                <a:latin typeface="Courier"/>
              </a:rPr>
              <a:t>pf</a:t>
            </a:r>
            <a:r>
              <a:rPr>
                <a:solidFill>
                  <a:srgbClr val="003B4F"/>
                </a:solidFill>
                <a:latin typeface="Courier"/>
              </a:rPr>
              <a:t>(u_F_patch, u_df_patch, u_df_residual, </a:t>
            </a:r>
            <a:r>
              <a:rPr>
                <a:solidFill>
                  <a:srgbClr val="657422"/>
                </a:solidFill>
                <a:latin typeface="Courier"/>
              </a:rPr>
              <a:t>lower.tail =</a:t>
            </a:r>
            <a:r>
              <a:rPr>
                <a:solidFill>
                  <a:srgbClr val="003B4F"/>
                </a:solidFill>
                <a:latin typeface="Courier"/>
              </a:rPr>
              <a:t> </a:t>
            </a:r>
            <a:r>
              <a:rPr>
                <a:solidFill>
                  <a:srgbClr val="8F5902"/>
                </a:solidFill>
                <a:latin typeface="Courier"/>
              </a:rPr>
              <a:t>FALSE</a:t>
            </a:r>
            <a:r>
              <a:rPr>
                <a:solidFill>
                  <a:srgbClr val="003B4F"/>
                </a:solidFill>
                <a:latin typeface="Courier"/>
              </a:rPr>
              <a:t>)</a:t>
            </a:r>
            <a:br/>
            <a:br/>
            <a:r>
              <a:rPr>
                <a:solidFill>
                  <a:srgbClr val="003B4F"/>
                </a:solidFill>
                <a:latin typeface="Courier"/>
              </a:rPr>
              <a:t>u_corrected_table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Source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"Treatment"</a:t>
            </a:r>
            <a:r>
              <a:rPr>
                <a:solidFill>
                  <a:srgbClr val="003B4F"/>
                </a:solidFill>
                <a:latin typeface="Courier"/>
              </a:rPr>
              <a:t>, </a:t>
            </a:r>
            <a:r>
              <a:rPr>
                <a:solidFill>
                  <a:srgbClr val="20794D"/>
                </a:solidFill>
                <a:latin typeface="Courier"/>
              </a:rPr>
              <a:t>"Patches(Treatment)"</a:t>
            </a:r>
            <a:r>
              <a:rPr>
                <a:solidFill>
                  <a:srgbClr val="003B4F"/>
                </a:solidFill>
                <a:latin typeface="Courier"/>
              </a:rPr>
              <a:t>, </a:t>
            </a:r>
            <a:r>
              <a:rPr>
                <a:solidFill>
                  <a:srgbClr val="20794D"/>
                </a:solidFill>
                <a:latin typeface="Courier"/>
              </a:rPr>
              <a:t>"Residual"</a:t>
            </a:r>
            <a:r>
              <a:rPr>
                <a:solidFill>
                  <a:srgbClr val="003B4F"/>
                </a:solidFill>
                <a:latin typeface="Courier"/>
              </a:rPr>
              <a:t>),</a:t>
            </a:r>
            <a:br/>
            <a:r>
              <a:rPr>
                <a:solidFill>
                  <a:srgbClr val="003B4F"/>
                </a:solidFill>
                <a:latin typeface="Courier"/>
              </a:rPr>
              <a:t>  </a:t>
            </a:r>
            <a:r>
              <a:rPr>
                <a:solidFill>
                  <a:srgbClr val="657422"/>
                </a:solidFill>
                <a:latin typeface="Courier"/>
              </a:rPr>
              <a:t>Df =</a:t>
            </a:r>
            <a:r>
              <a:rPr>
                <a:solidFill>
                  <a:srgbClr val="003B4F"/>
                </a:solidFill>
                <a:latin typeface="Courier"/>
              </a:rPr>
              <a:t> </a:t>
            </a:r>
            <a:r>
              <a:rPr>
                <a:solidFill>
                  <a:srgbClr val="4758AB"/>
                </a:solidFill>
                <a:latin typeface="Courier"/>
              </a:rPr>
              <a:t>c</a:t>
            </a:r>
            <a:r>
              <a:rPr>
                <a:solidFill>
                  <a:srgbClr val="003B4F"/>
                </a:solidFill>
                <a:latin typeface="Courier"/>
              </a:rPr>
              <a:t>(u_df_treat, u_df_patch, u_df_residual),</a:t>
            </a:r>
            <a:br/>
            <a:r>
              <a:rPr>
                <a:solidFill>
                  <a:srgbClr val="003B4F"/>
                </a:solidFill>
                <a:latin typeface="Courier"/>
              </a:rPr>
              <a:t>  </a:t>
            </a:r>
            <a:r>
              <a:rPr>
                <a:solidFill>
                  <a:srgbClr val="657422"/>
                </a:solidFill>
                <a:latin typeface="Courier"/>
              </a:rPr>
              <a:t>MS =</a:t>
            </a: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4758AB"/>
                </a:solidFill>
                <a:latin typeface="Courier"/>
              </a:rPr>
              <a:t>c</a:t>
            </a:r>
            <a:r>
              <a:rPr>
                <a:solidFill>
                  <a:srgbClr val="003B4F"/>
                </a:solidFill>
                <a:latin typeface="Courier"/>
              </a:rPr>
              <a:t>(u_MS_treat, u_MS_patch, u_MS_residual),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F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4758AB"/>
                </a:solidFill>
                <a:latin typeface="Courier"/>
              </a:rPr>
              <a:t>round</a:t>
            </a:r>
            <a:r>
              <a:rPr>
                <a:solidFill>
                  <a:srgbClr val="003B4F"/>
                </a:solidFill>
                <a:latin typeface="Courier"/>
              </a:rPr>
              <a:t>(u_F_treat_correct, </a:t>
            </a:r>
            <a:r>
              <a:rPr>
                <a:solidFill>
                  <a:srgbClr val="AD0000"/>
                </a:solidFill>
                <a:latin typeface="Courier"/>
              </a:rPr>
              <a:t>2</a:t>
            </a:r>
            <a:r>
              <a:rPr>
                <a:solidFill>
                  <a:srgbClr val="003B4F"/>
                </a:solidFill>
                <a:latin typeface="Courier"/>
              </a:rPr>
              <a:t>), </a:t>
            </a:r>
            <a:r>
              <a:rPr>
                <a:solidFill>
                  <a:srgbClr val="4758AB"/>
                </a:solidFill>
                <a:latin typeface="Courier"/>
              </a:rPr>
              <a:t>round</a:t>
            </a:r>
            <a:r>
              <a:rPr>
                <a:solidFill>
                  <a:srgbClr val="003B4F"/>
                </a:solidFill>
                <a:latin typeface="Courier"/>
              </a:rPr>
              <a:t>(u_F_patch, </a:t>
            </a:r>
            <a:r>
              <a:rPr>
                <a:solidFill>
                  <a:srgbClr val="AD0000"/>
                </a:solidFill>
                <a:latin typeface="Courier"/>
              </a:rPr>
              <a:t>2</a:t>
            </a:r>
            <a:r>
              <a:rPr>
                <a:solidFill>
                  <a:srgbClr val="003B4F"/>
                </a:solidFill>
                <a:latin typeface="Courier"/>
              </a:rPr>
              <a:t>), </a:t>
            </a:r>
            <a:r>
              <a:rPr>
                <a:solidFill>
                  <a:srgbClr val="8F5902"/>
                </a:solidFill>
                <a:latin typeface="Courier"/>
              </a:rPr>
              <a:t>NA</a:t>
            </a:r>
            <a:r>
              <a:rPr>
                <a:solidFill>
                  <a:srgbClr val="003B4F"/>
                </a:solidFill>
                <a:latin typeface="Courier"/>
              </a:rPr>
              <a:t>),</a:t>
            </a:r>
            <a:br/>
            <a:r>
              <a:rPr>
                <a:solidFill>
                  <a:srgbClr val="003B4F"/>
                </a:solidFill>
                <a:latin typeface="Courier"/>
              </a:rPr>
              <a:t>  </a:t>
            </a:r>
            <a:r>
              <a:rPr>
                <a:solidFill>
                  <a:srgbClr val="657422"/>
                </a:solidFill>
                <a:latin typeface="Courier"/>
              </a:rPr>
              <a:t>p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4758AB"/>
                </a:solidFill>
                <a:latin typeface="Courier"/>
              </a:rPr>
              <a:t>ifelse</a:t>
            </a:r>
            <a:r>
              <a:rPr>
                <a:solidFill>
                  <a:srgbClr val="003B4F"/>
                </a:solidFill>
                <a:latin typeface="Courier"/>
              </a:rPr>
              <a:t>(u_p_treat_correct </a:t>
            </a:r>
            <a:r>
              <a:rPr>
                <a:solidFill>
                  <a:srgbClr val="5E5E5E"/>
                </a:solidFill>
                <a:latin typeface="Courier"/>
              </a:rPr>
              <a:t>&lt;</a:t>
            </a:r>
            <a:r>
              <a:rPr>
                <a:solidFill>
                  <a:srgbClr val="003B4F"/>
                </a:solidFill>
                <a:latin typeface="Courier"/>
              </a:rPr>
              <a:t> </a:t>
            </a:r>
            <a:r>
              <a:rPr>
                <a:solidFill>
                  <a:srgbClr val="AD0000"/>
                </a:solidFill>
                <a:latin typeface="Courier"/>
              </a:rPr>
              <a:t>0.001</a:t>
            </a:r>
            <a:r>
              <a:rPr>
                <a:solidFill>
                  <a:srgbClr val="003B4F"/>
                </a:solidFill>
                <a:latin typeface="Courier"/>
              </a:rPr>
              <a:t>, </a:t>
            </a:r>
            <a:r>
              <a:rPr>
                <a:solidFill>
                  <a:srgbClr val="20794D"/>
                </a:solidFill>
                <a:latin typeface="Courier"/>
              </a:rPr>
              <a:t>"&lt;0.001"</a:t>
            </a:r>
            <a:r>
              <a:rPr>
                <a:solidFill>
                  <a:srgbClr val="003B4F"/>
                </a:solidFill>
                <a:latin typeface="Courier"/>
              </a:rPr>
              <a:t>, </a:t>
            </a:r>
            <a:r>
              <a:rPr>
                <a:solidFill>
                  <a:srgbClr val="4758AB"/>
                </a:solidFill>
                <a:latin typeface="Courier"/>
              </a:rPr>
              <a:t>round</a:t>
            </a:r>
            <a:r>
              <a:rPr>
                <a:solidFill>
                  <a:srgbClr val="003B4F"/>
                </a:solidFill>
                <a:latin typeface="Courier"/>
              </a:rPr>
              <a:t>(u_p_treat_correct, </a:t>
            </a:r>
            <a:r>
              <a:rPr>
                <a:solidFill>
                  <a:srgbClr val="AD0000"/>
                </a:solidFill>
                <a:latin typeface="Courier"/>
              </a:rPr>
              <a:t>3</a:t>
            </a:r>
            <a:r>
              <a:rPr>
                <a:solidFill>
                  <a:srgbClr val="003B4F"/>
                </a:solidFill>
                <a:latin typeface="Courier"/>
              </a:rPr>
              <a:t>)),</a:t>
            </a:r>
            <a:br/>
            <a:r>
              <a:rPr>
                <a:solidFill>
                  <a:srgbClr val="003B4F"/>
                </a:solidFill>
                <a:latin typeface="Courier"/>
              </a:rPr>
              <a:t>        </a:t>
            </a:r>
            <a:r>
              <a:rPr>
                <a:solidFill>
                  <a:srgbClr val="4758AB"/>
                </a:solidFill>
                <a:latin typeface="Courier"/>
              </a:rPr>
              <a:t>ifelse</a:t>
            </a:r>
            <a:r>
              <a:rPr>
                <a:solidFill>
                  <a:srgbClr val="003B4F"/>
                </a:solidFill>
                <a:latin typeface="Courier"/>
              </a:rPr>
              <a:t>(u_p_patch </a:t>
            </a:r>
            <a:r>
              <a:rPr>
                <a:solidFill>
                  <a:srgbClr val="5E5E5E"/>
                </a:solidFill>
                <a:latin typeface="Courier"/>
              </a:rPr>
              <a:t>&lt;</a:t>
            </a:r>
            <a:r>
              <a:rPr>
                <a:solidFill>
                  <a:srgbClr val="003B4F"/>
                </a:solidFill>
                <a:latin typeface="Courier"/>
              </a:rPr>
              <a:t> </a:t>
            </a:r>
            <a:r>
              <a:rPr>
                <a:solidFill>
                  <a:srgbClr val="AD0000"/>
                </a:solidFill>
                <a:latin typeface="Courier"/>
              </a:rPr>
              <a:t>0.001</a:t>
            </a:r>
            <a:r>
              <a:rPr>
                <a:solidFill>
                  <a:srgbClr val="003B4F"/>
                </a:solidFill>
                <a:latin typeface="Courier"/>
              </a:rPr>
              <a:t>, </a:t>
            </a:r>
            <a:r>
              <a:rPr>
                <a:solidFill>
                  <a:srgbClr val="20794D"/>
                </a:solidFill>
                <a:latin typeface="Courier"/>
              </a:rPr>
              <a:t>"&lt;0.001"</a:t>
            </a:r>
            <a:r>
              <a:rPr>
                <a:solidFill>
                  <a:srgbClr val="003B4F"/>
                </a:solidFill>
                <a:latin typeface="Courier"/>
              </a:rPr>
              <a:t>, </a:t>
            </a:r>
            <a:r>
              <a:rPr>
                <a:solidFill>
                  <a:srgbClr val="4758AB"/>
                </a:solidFill>
                <a:latin typeface="Courier"/>
              </a:rPr>
              <a:t>round</a:t>
            </a:r>
            <a:r>
              <a:rPr>
                <a:solidFill>
                  <a:srgbClr val="003B4F"/>
                </a:solidFill>
                <a:latin typeface="Courier"/>
              </a:rPr>
              <a:t>(u_p_patch, </a:t>
            </a:r>
            <a:r>
              <a:rPr>
                <a:solidFill>
                  <a:srgbClr val="AD0000"/>
                </a:solidFill>
                <a:latin typeface="Courier"/>
              </a:rPr>
              <a:t>3</a:t>
            </a:r>
            <a:r>
              <a:rPr>
                <a:solidFill>
                  <a:srgbClr val="003B4F"/>
                </a:solidFill>
                <a:latin typeface="Courier"/>
              </a:rPr>
              <a:t>)),</a:t>
            </a:r>
            <a:br/>
            <a:r>
              <a:rPr>
                <a:solidFill>
                  <a:srgbClr val="003B4F"/>
                </a:solidFill>
                <a:latin typeface="Courier"/>
              </a:rPr>
              <a:t>        </a:t>
            </a:r>
            <a:r>
              <a:rPr>
                <a:solidFill>
                  <a:srgbClr val="8F5902"/>
                </a:solidFill>
                <a:latin typeface="Courier"/>
              </a:rPr>
              <a:t>NA</a:t>
            </a:r>
            <a:r>
              <a:rPr>
                <a:solidFill>
                  <a:srgbClr val="003B4F"/>
                </a:solidFill>
                <a:latin typeface="Courier"/>
              </a:rPr>
              <a:t>)</a:t>
            </a:r>
            <a:b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"Corrected ANOVA table:</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Corrected ANOVA table:</a:t>
            </a:r>
            <a:br/>
            <a:r>
              <a:rPr>
                <a:solidFill>
                  <a:srgbClr val="003B4F"/>
                </a:solidFill>
                <a:latin typeface="Courier"/>
              </a:rPr>
              <a:t>u_corrected_table</a:t>
            </a:r>
            <a:br/>
            <a:r>
              <a:rPr i="1">
                <a:solidFill>
                  <a:srgbClr val="5E5E5E"/>
                </a:solidFill>
                <a:latin typeface="Courier"/>
              </a:rPr>
              <a:t>##               Source Df     MS    F      p</a:t>
            </a:r>
            <a:br/>
            <a:r>
              <a:rPr i="1">
                <a:solidFill>
                  <a:srgbClr val="5E5E5E"/>
                </a:solidFill>
                <a:latin typeface="Courier"/>
              </a:rPr>
              <a:t>## 1          Treatment  3 4809.7 2.72  0.091</a:t>
            </a:r>
            <a:br/>
            <a:r>
              <a:rPr i="1">
                <a:solidFill>
                  <a:srgbClr val="5E5E5E"/>
                </a:solidFill>
                <a:latin typeface="Courier"/>
              </a:rPr>
              <a:t>## 2 Patches(Treatment) 12 1770.2 5.93 &lt;0.001</a:t>
            </a:r>
            <a:br/>
            <a:r>
              <a:rPr i="1">
                <a:solidFill>
                  <a:srgbClr val="5E5E5E"/>
                </a:solidFill>
                <a:latin typeface="Courier"/>
              </a:rPr>
              <a:t>## 3           Residual 64  298.6   NA   &lt;NA&gt;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Nested ANOVA</dc:title>
  <dc:creator>Bill Perry</dc:creator>
  <cp:keywords/>
  <dc:description>Factorial vs. nested designs, the nested-ANOVA linear model and variance partitioning, a naive-vs-correct worked example (sea urchin grazing and algae cover), afex and mixed-model (lmer) approaches, diagnostics, post-hoc comparisons, and a by-hand F-ratio calculation.</dc:description>
  <dcterms:created xsi:type="dcterms:W3CDTF">2026-08-21T18:41:53Z</dcterms:created>
  <dcterms:modified xsi:type="dcterms:W3CDTF">2026-08-21T18:41:53Z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ditor">
    <vt:lpwstr/>
  </property>
  <property fmtid="{D5CDD505-2E9C-101B-9397-08002B2CF9AE}" pid="7" name="execute">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knitr">
    <vt:lpwstr/>
  </property>
  <property fmtid="{D5CDD505-2E9C-101B-9397-08002B2CF9AE}" pid="12" name="labels">
    <vt:lpwstr/>
  </property>
  <property fmtid="{D5CDD505-2E9C-101B-9397-08002B2CF9AE}" pid="13" name="order">
    <vt:lpwstr>14</vt:lpwstr>
  </property>
  <property fmtid="{D5CDD505-2E9C-101B-9397-08002B2CF9AE}" pid="14" name="resources">
    <vt:lpwstr/>
  </property>
  <property fmtid="{D5CDD505-2E9C-101B-9397-08002B2CF9AE}" pid="15" name="subtitle">
    <vt:lpwstr>Hierarchical designs</vt:lpwstr>
  </property>
  <property fmtid="{D5CDD505-2E9C-101B-9397-08002B2CF9AE}" pid="16" name="toc-title">
    <vt:lpwstr>Table of contents</vt:lpwstr>
  </property>
  <property fmtid="{D5CDD505-2E9C-101B-9397-08002B2CF9AE}" pid="17" name="week">
    <vt:lpwstr>7</vt:lpwstr>
  </property>
</Properties>
</file>