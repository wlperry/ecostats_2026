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two-factor ANOVA:</a:t>
            </a:r>
          </a:p>
          <a:p>
            <a:pPr lvl="0"/>
            <a:r>
              <a:rPr/>
              <a:t>Example, linear model, 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In a factorial design, every level of B appears under every level of A. Today: what happens when B is only ever nested </a:t>
            </a:r>
            <a:r>
              <a:rPr sz="2000" i="1"/>
              <a:t>inside</a:t>
            </a:r>
            <a:r>
              <a:rPr sz="2000"/>
              <a:t> one specific level of A?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Multifactor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(2-Way) ANOVA,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often consider more than 1 factor (independent categorical variables) to reduce unexplained variance and look at interactions</a:t>
            </a:r>
          </a:p>
          <a:p>
            <a:pPr lvl="0"/>
            <a:r>
              <a:rPr/>
              <a:t>2-factor designs (2-way ANOVA) are very common in ecology</a:t>
            </a:r>
          </a:p>
          <a:p>
            <a:pPr lvl="0"/>
            <a:r>
              <a:rPr/>
              <a:t>Can have more factors (e.g., 3-way ANOVA) — interpretation gets tricky</a:t>
            </a:r>
          </a:p>
          <a:p>
            <a:pPr lvl="0"/>
            <a:r>
              <a:rPr/>
              <a:t>Most multifactor designs are: factorial, nested, or mixed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1900" y="660400"/>
            <a:ext cx="2400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cow (representing manure/fertilizer) and a smiling sun icon, each with an arrow pointing down to a small green seedling, illustrating two factors that can each affect plant growth.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factors, A and B: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  <a:p>
            <a:pPr lvl="0"/>
            <a:r>
              <a:rPr b="1"/>
              <a:t>Nested/hierarchical:</a:t>
            </a:r>
            <a:r>
              <a:rPr/>
              <a:t> levels of B occur only in 1 level of A</a:t>
            </a:r>
          </a:p>
          <a:p>
            <a:pPr lvl="1"/>
            <a:r>
              <a:rPr/>
              <a:t>both fixed — rare</a:t>
            </a:r>
          </a:p>
          <a:p>
            <a:pPr lvl="1"/>
            <a:r>
              <a:rPr/>
              <a:t>one fixed, one random</a:t>
            </a:r>
          </a:p>
          <a:p>
            <a:pPr lvl="1"/>
            <a:r>
              <a:rPr/>
              <a:t>both random — rare in ecology, common in genetics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0" y="660400"/>
            <a:ext cx="2336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Factorial Designs — Examples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 both factors are typically fixed (but not always).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43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grid diagrams of a factorial design with Factor A across the top (4 levels) and Factor B down the side (3 levels): a compact 4x3 grid marked ‘XX’ in every cell, and an expanded layout below showing each of the 12 A-by-B combinations as its own column with two replicate marks (X, X).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seedlings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small seedling above a table crossing Factor A (light: Low, Medium, High) with Factor B (size: Small, Medium, Large), with each cell showing 5 replicate seedling IDs (e.g., 1_LS…5_LS), illustrating the seedling-growth factorial design example.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growth: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larval salamander above a table crossing Factor A (food level: Low, High) with Factor B (tadpoles: Absent, Present), with each cell showing 8 replicate IDs (e.g., 1_LA…8_LA), illustrating the salamander-growth factorial design example.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fecundity: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clustered on a rock above a table crossing Factor A (season: Winter, Summer) with Factor B (density: 8, 15, 30, 45 per plate), with each cell showing 3 replicate IDs (e.g., W.8.1…W.8.3), illustrating the limpet-fecundity factorial design example.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Nested Designs — Examples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Nested designs cover:</a:t>
            </a:r>
            <a:r>
              <a:rPr/>
              <a:t> nested design examples, the linear model, analysis of variance, null hypotheses, unbalanced designs, assumptions, mixed-model ANOVA.</a:t>
            </a:r>
          </a:p>
          <a:p>
            <a:pPr lvl="0" indent="0" marL="0">
              <a:buNone/>
            </a:pPr>
            <a:r>
              <a:rPr b="1"/>
              <a:t>Nested designs:</a:t>
            </a:r>
            <a:r>
              <a:rPr/>
              <a:t> Factor A is usually fixed; Factor B is usually random.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layout with Factor A across the top (4 levels) and Factor B down the side, each of the 4 levels of B uniquely numbered 1 through 12 nested within its own level of A, with two rows of X’s marking replicate observations under each B level.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on a rock above a table for Factor A (enclosure size: Small, Large), each with 5 replicate enclosures (S1-S5 or L1-L5) and 5 replicate limpets per enclosure, illustrating the limpet-growth nested design example.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</a:t>
            </a:r>
          </a:p>
          <a:p>
            <a:pPr lvl="0"/>
            <a:r>
              <a:rPr/>
              <a:t>5 sites (Factor A)</a:t>
            </a:r>
          </a:p>
          <a:p>
            <a:pPr lvl="0"/>
            <a:r>
              <a:rPr/>
              <a:t>6 transects at each site (Factor B)</a:t>
            </a:r>
          </a:p>
          <a:p>
            <a:pPr lvl="0"/>
            <a:r>
              <a:rPr/>
              <a:t>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reef fish above coral, above a table for Factor A (site: Site 1, Site 2), each with several transects (T1.1, T1.2, … T1.6) and replicate observations along each transect, illustrating the reef-fish recruitment nested design example.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low, medium, high</a:t>
            </a:r>
          </a:p>
          <a:p>
            <a:pPr lvl="0"/>
            <a:r>
              <a:rPr/>
              <a:t>4 patches of rocky bottom (3–4 m²) nested in each grazing level</a:t>
            </a:r>
          </a:p>
          <a:p>
            <a:pPr lvl="0"/>
            <a:r>
              <a:rPr/>
              <a:t>5 replicate quadrats per patch</a:t>
            </a:r>
          </a:p>
          <a:p>
            <a:pPr lvl="0" indent="0" marL="0">
              <a:buNone/>
            </a:pPr>
            <a:r>
              <a:rPr i="1"/>
              <a:t>This is our worked example for the rest of the lecture.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43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a black sea urchin on coral, above a table for grazing level (None, Low, Medium, High) each with 4 patches nested inside it and 5 replicate quadrats per patch, illustrating the sea urchin grazing worked example used for the rest of this lecture.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Nested Design Model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 = 1…p) — e.g., 4 grazing levels</a:t>
            </a:r>
          </a:p>
          <a:p>
            <a:pPr lvl="0"/>
            <a:r>
              <a:rPr/>
              <a:t>q levels of factor B (j = 1…q), nested within each level of A — e.g., 4 different patches per grazing level</a:t>
            </a:r>
          </a:p>
          <a:p>
            <a:pPr lvl="0"/>
            <a:r>
              <a:rPr/>
              <a:t>n replicates (k = 1…n) in each combination of A and B — e.g., 5 replicate quadrats in each patch in each grazing level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81800" y="660400"/>
            <a:ext cx="1447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Hierarchical tree diagram of the nested design structure: a top-level factor A_1 branching into several B levels nested within it, each branching further into individual replicate y observations, repeated for a general level A_i.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a Nested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can calculate several means:</a:t>
                </a:r>
              </a:p>
              <a:p>
                <a:pPr lvl="0"/>
                <a:r>
                  <a:rPr/>
                  <a:t>Overall mean (across all levels of A and B) =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</a:p>
              <a:p>
                <a:pPr lvl="0"/>
                <a:r>
                  <a:rPr/>
                  <a:t>A mean for each level of A (across all levels of B in that A)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A mean for each level of B within each A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</a:p>
            </p:txBody>
          </p:sp>
        </mc:Choice>
      </mc:AlternateContent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Grazing-level-by-patch table (grazing level: None, Low, Medium, High, each with 4 patches numbered 1-16) with each patch cell listing 5 replicate quadrat IDs, the layout used to compute overall, A-level, and B-within-A means.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Means, Visualized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609600"/>
            <a:ext cx="67056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worked data table for the sea urchin example: for each grazing level (A1-A4, 0-100%) the density mean is shown boxed in blue (e.g., 39.2 for 0%), and for each patch nested within it the patch mean is shown boxed in green, with the overall mean mu = 20.26 marked on the right by a red bar spanning all values.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 — the value of the k-th replicate in the j-th level of B in the i-th level of A (e.g., algal biomass in the 3rd quadrat, in the 2nd patch, in the low-grazing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 (overall average algal biomass)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looks almost identical to the two-way ANOVA model — the difference is entirely in the subscript: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 sz="2000"/>
                  <a:t>, not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. B only exists </a:t>
                </a:r>
                <a:r>
                  <a:rPr sz="2000" i="1"/>
                  <a:t>inside</a:t>
                </a:r>
                <a:r>
                  <a:rPr sz="2000"/>
                  <a:t> a specific 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Fixed and Random Effects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A — the difference between the average biomass in all low-grazing-level quadrats and the overall mean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i="1"/>
                  <a:t>random</a:t>
                </a:r>
                <a:r>
                  <a:rPr/>
                  <a:t> effect of factor B nested within factor A — usually a random variable measuring variance among all possible levels of B within each level of A (variance among all possible patches that could have been used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B being random is the whole point of nesting: you don’t care about </a:t>
            </a:r>
            <a:r>
              <a:rPr sz="2000" i="1"/>
              <a:t>these specific</a:t>
            </a:r>
            <a:r>
              <a:rPr sz="2000"/>
              <a:t> patches — you care about patch-to-patch variability in general.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Error Term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 — the unexplained variance associated with the k-th replicate in the j-th level of B in the i-th level of A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effect of the i-th level of A: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the difference between the observed algal biomass in the 3rd quadrat in the 2nd patch in the low-grazing treatment, and the </a:t>
                </a:r>
                <a:r>
                  <a:rPr i="1"/>
                  <a:t>predicted</a:t>
                </a:r>
                <a:r>
                  <a:rPr/>
                  <a:t> biomass (the average biomass in that 2nd patch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residual is measured against the </a:t>
            </a:r>
            <a:r>
              <a:rPr sz="2000" i="1"/>
              <a:t>cell</a:t>
            </a:r>
            <a:r>
              <a:rPr sz="2000"/>
              <a:t> mean (this specific patch), not the treatment mean — that’s what makes it “nested,” arithmetically.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Partitioning Variance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is the difference between each observation and the mean for its level of factor B, summed over all observations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SS can be turned into MS by dividing by the appropriate df</a:t>
                </a:r>
              </a:p>
            </p:txBody>
          </p:sp>
        </mc:Choice>
      </mc:AlternateContent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Nested ANOVA table listing Source (A, B(A), Residual, Total), each with its sum-of-squares formula and degrees of freedom (p-1, p(q-1), pq(n-1), pqn-1), with the Residual and Total rows outlined in red to highlight how SS_residual is the deviation of each observation from its own B(A) cell mean.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before, we partition the variance in the response variable using SS.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the mean in each level of A and the overall mean.</a:t>
                </a:r>
              </a:p>
            </p:txBody>
          </p:sp>
        </mc:Choice>
      </mc:AlternateContent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A row outlined in red, highlighting SS_A as the sum of squared deviations of each level-A mean from the overall mean.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the difference between the mean in each level of B and the mean of the corresponding level of A, summed across all levels of A.</a:t>
                </a:r>
              </a:p>
            </p:txBody>
          </p:sp>
        </mc:Choice>
      </mc:AlternateContent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B(A) row outlined in red, highlighting SS_B(A) as the sum of squared deviations of each level-B-within-A mean from its corresponding level-A mean.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Nested ANOVA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609600"/>
            <a:ext cx="54991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full sea urchin data table repeated (density means per grazing level, patch means nested within each, overall mean y-bar = 20.26), shown here alongside the nested ANOVA table structure it feeds into.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Hypotheses and Assumptions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hypotheses are tested on values of MS. </a:t>
                </a:r>
                <a:r>
                  <a:rPr b="1"/>
                  <a:t>1. No effects of factor A</a:t>
                </a:r>
                <a:r>
                  <a:rPr/>
                  <a:t> — assuming A is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</m:oMath>
                </a14:m>
              </a:p>
              <a:p>
                <a:pPr lvl="0"/>
                <a:r>
                  <a:rPr/>
                  <a:t>Same as in 1-factor ANOVA, using means from B factors nested within each level of A</a:t>
                </a:r>
              </a:p>
              <a:p>
                <a:pPr lvl="0"/>
                <a:r>
                  <a:rPr/>
                  <a:t>(no difference in algal biomass across all grazing levels: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n</m:t>
                        </m:r>
                        <m:r>
                          <m:t>o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l</m:t>
                        </m:r>
                        <m:r>
                          <m:t>o</m:t>
                        </m:r>
                        <m:r>
                          <m:t>w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h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2. No effects of factor B nested in A</a:t>
                </a:r>
                <a:r>
                  <a:rPr/>
                  <a:t> — assuming B is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β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variance added due to differences between all possible levels of B)</a:t>
                </a:r>
              </a:p>
              <a:p>
                <a:pPr lvl="0"/>
                <a:r>
                  <a:rPr/>
                  <a:t>(no variance added due to differences between patches)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the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the amount of filamentous algae between treatments.”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nested ANOVA results table for the sea urchin study, showing Treatment not significant (F = 2.72, p = 0.091) but Patches(treatment) highly significant (F = 5.93, p &lt; 0.001), with a boxplot below showing percent cover of filamentous algae declining from the None to High urchin-density treatments.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arise from:</a:t>
            </a:r>
          </a:p>
          <a:p>
            <a:pPr lvl="0"/>
            <a:r>
              <a:rPr/>
              <a:t>An uneven number of B levels within each A</a:t>
            </a:r>
          </a:p>
          <a:p>
            <a:pPr lvl="0"/>
            <a:r>
              <a:rPr/>
              <a:t>An uneven number of replicates within each level of B</a:t>
            </a:r>
          </a:p>
          <a:p>
            <a:pPr lvl="0" indent="0" marL="0">
              <a:buNone/>
            </a:pPr>
            <a:r>
              <a:rPr/>
              <a:t>Not a problem unless you have unequal variance or a large deviation from normality.</a:t>
            </a:r>
          </a:p>
        </p:txBody>
      </p:sp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grazing-level-by-patch layout table repeated, shown here in the context of unequal sample sizes in unbalanced nested designs.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assume: equal variance, normality, no outliers, independence of observations.</a:t>
            </a:r>
          </a:p>
          <a:p>
            <a:pPr lvl="0" indent="0" marL="0">
              <a:buNone/>
            </a:pPr>
            <a:r>
              <a:rPr/>
              <a:t>Equal variance + normality need to be assessed at </a:t>
            </a:r>
            <a:r>
              <a:rPr b="1"/>
              <a:t>both levels</a:t>
            </a:r>
            <a:r>
              <a:rPr/>
              <a:t>:</a:t>
            </a:r>
          </a:p>
          <a:p>
            <a:pPr lvl="0"/>
            <a:r>
              <a:rPr/>
              <a:t>Since means for each level of B within each A are used for the H-test about A, need to assess whether </a:t>
            </a:r>
            <a:r>
              <a:rPr i="1"/>
              <a:t>those means</a:t>
            </a:r>
            <a:r>
              <a:rPr/>
              <a:t> meet normality and equal variance</a:t>
            </a:r>
          </a:p>
          <a:p>
            <a:pPr lvl="0"/>
            <a:r>
              <a:rPr/>
              <a:t>Examine residuals for the H-test about B</a:t>
            </a:r>
          </a:p>
          <a:p>
            <a:pPr lvl="0"/>
            <a:r>
              <a:rPr/>
              <a:t>Transformations can be used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This is the part people most often get wrong: checking assumptions on the </a:t>
            </a:r>
            <a:r>
              <a:rPr sz="2000" i="1"/>
              <a:t>raw data</a:t>
            </a:r>
            <a:r>
              <a:rPr sz="2000"/>
              <a:t> isn’t enough for a nested design — you need to check them at the level each hypothesis test actually operates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Sea Urchin Example —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Design, the Hard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analysis examines the effects of varying sea urchin densities on the percentage cover of filamentous algae. The experiment was designed with:</a:t>
            </a:r>
          </a:p>
          <a:p>
            <a:pPr lvl="0"/>
            <a:r>
              <a:rPr/>
              <a:t>Four random patches</a:t>
            </a:r>
          </a:p>
          <a:p>
            <a:pPr lvl="0"/>
            <a:r>
              <a:rPr/>
              <a:t>Four urchin density treatments (none = removed, low = control, medium = 33% of original density, high = 66% of original density)</a:t>
            </a:r>
          </a:p>
          <a:p>
            <a:pPr lvl="0"/>
            <a:r>
              <a:rPr/>
              <a:t>Five replicate quadrats measured within each treatment-patch combination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 (2002), </a:t>
            </a:r>
            <a:r>
              <a:rPr sz="2000" i="1"/>
              <a:t>Experimental Design and Data Analysis for Biologists</a:t>
            </a:r>
            <a:r>
              <a:rPr sz="2000"/>
              <a:t> — this dataset and analysis follow their treatment of the sea urchin/algae example.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frame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treatment-patch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>
              <a:buNone/>
            </a:pPr>
            <a:r>
              <a:rPr>
                <a:latin typeface="Courier"/>
              </a:rPr>
              <a:t>## Data
## # A tibble: 6 × 4
##   treat patch  quad algae
##   &lt;fct&gt; &lt;fct&gt; &lt;dbl&gt; &lt;dbl&gt;
## 1 high  1         1     0
## 2 high  1         2     0
## 3 high  1         3     0
## 4 high  1         4     6
## 5 high  1         5     2
## 6 high  2         1     0
## 
## 
## Treatment levels:
## [1] "none"   "low"    "medium" "high"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Summary statistics by treatment:
## # A tibble: 4 × 7
##   treat      n  mean    sd    se   min   max
##   &lt;fct&gt;  &lt;int&gt; &lt;dbl&gt; &lt;dbl&gt; &lt;dbl&gt; &lt;dbl&gt; &lt;dbl&gt;
## 1 none      20  39.2 28.7  6.41      0    83
## 2 low       20  21.6 25.1  5.62      0    79
## 3 medium    20  19   25.7  5.74      0    71
## 4 high      20   1.3  3.18 0.711     0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First Look at the Data</a:t>
            </a:r>
          </a:p>
        </p:txBody>
      </p:sp>
      <p:pic>
        <p:nvPicPr>
          <p:cNvPr descr="nested_anova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Wrong Way — Naive Factorial Model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Nested ANOVA — Setting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this experimental design, </a:t>
                </a:r>
                <a:r>
                  <a:rPr>
                    <a:latin typeface="Courier"/>
                  </a:rPr>
                  <a:t>patch</a:t>
                </a:r>
                <a:r>
                  <a:rPr/>
                  <a:t> is nested within </a:t>
                </a:r>
                <a:r>
                  <a:rPr>
                    <a:latin typeface="Courier"/>
                  </a:rPr>
                  <a:t>treat</a:t>
                </a:r>
                <a:r>
                  <a:rPr/>
                  <a:t> because each patch received only one treatment level — a hierarchical design where the effect of patches must be considered </a:t>
                </a:r>
                <a:r>
                  <a:rPr i="1"/>
                  <a:t>within</a:t>
                </a:r>
                <a:r>
                  <a:rPr/>
                  <a:t> each treatment (Quinn &amp; Keough 2002).</a:t>
                </a:r>
              </a:p>
              <a:p>
                <a:pPr lvl="0" indent="0" marL="0">
                  <a:buNone/>
                </a:pPr>
                <a:r>
                  <a:rPr/>
                  <a:t>We’ll use a traditional nested ANOVA. You </a:t>
                </a:r>
                <a:r>
                  <a:rPr i="1"/>
                  <a:t>could</a:t>
                </a:r>
                <a:r>
                  <a:rPr/>
                  <a:t> make this easy by averaging </a:t>
                </a:r>
                <a:r>
                  <a:rPr>
                    <a:latin typeface="Courier"/>
                  </a:rPr>
                  <a:t>algae</a:t>
                </a:r>
                <a:r>
                  <a:rPr/>
                  <a:t> per patch and running a one-way ANOVA — but your power is significantly reduced, and you lose estimates of variability among patches.</a:t>
                </a:r>
              </a:p>
              <a:p>
                <a:pPr lvl="0" indent="0" marL="0">
                  <a:buNone/>
                </a:pPr>
                <a:r>
                  <a:rPr b="1"/>
                  <a:t>This first attempt is really a regular factorial ANOVA</a:t>
                </a:r>
                <a:r>
                  <a:rPr/>
                  <a:t> — not appropriate, since it’s pseudoreplicated. Also, the F-value for Treat is using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when it should use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r>
                          <m:t>p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c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u_fact_model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"Factorial model summary: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Factorial model summary: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(u_fact_model)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  3  14429    4810  16.108 0.0000000658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treat:patch 12  21242    1770   5.928 0.0000008323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64  19110     299  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the Factorial ANOVA Is Not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can correct this by specifying the error term</a:t>
            </a:r>
          </a:p>
          <a:p>
            <a:pPr lvl="0"/>
            <a:r>
              <a:rPr/>
              <a:t>The MS needed for the F-value is really MS(patch nested in treatment), because those are the true replicates</a:t>
            </a:r>
          </a:p>
          <a:p>
            <a:pPr lvl="0"/>
            <a:r>
              <a:rPr/>
              <a:t>We can specify that — the problem is this approach can’t really handle unbalanced designs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"Correctly specified nested ANOVA: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Correctly specified nested ANOVA: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(u_nested_model)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treat:patch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3  14429    4810   2.717 0.0913 .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12  21242    1770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Within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64  19110   298.6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Nested ANOVA</dc:title>
  <dc:creator>Bill Perry</dc:creator>
  <cp:keywords/>
  <dc:description>Factorial vs. nested designs, the nested-ANOVA linear model and variance partitioning, and a naive-vs-correct worked example (sea urchin grazing and algae cover) using the traditional aov() approach — the modern mixed-model (lmer) alternative continues in the Linear Mixed Models lecture.</dc:description>
  <dcterms:created xsi:type="dcterms:W3CDTF">2026-09-01T20:20:39Z</dcterms:created>
  <dcterms:modified xsi:type="dcterms:W3CDTF">2026-09-01T20:20:39Z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14</vt:lpwstr>
  </property>
  <property fmtid="{D5CDD505-2E9C-101B-9397-08002B2CF9AE}" pid="15" name="resources">
    <vt:lpwstr/>
  </property>
  <property fmtid="{D5CDD505-2E9C-101B-9397-08002B2CF9AE}" pid="16" name="subtitle">
    <vt:lpwstr>Hierarchical designs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