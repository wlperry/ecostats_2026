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1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Nested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Hierarchical designs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 — two-factor ANOVA:</a:t>
            </a:r>
          </a:p>
          <a:p>
            <a:pPr lvl="0"/>
            <a:r>
              <a:rPr/>
              <a:t>Example, linear model, 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Interactions and main effects</a:t>
            </a:r>
          </a:p>
          <a:p>
            <a:pPr lvl="0"/>
            <a:r>
              <a:rPr/>
              <a:t>Unequal sample size</a:t>
            </a:r>
          </a:p>
          <a:p>
            <a:pPr lvl="0"/>
            <a:r>
              <a:rPr/>
              <a:t>Assumptions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In a factorial design, every level of B appears under every level of A. Today: what happens when B is only ever nested </a:t>
            </a:r>
            <a:r>
              <a:rPr sz="2000" i="1"/>
              <a:t>inside</a:t>
            </a:r>
            <a:r>
              <a:rPr sz="2000"/>
              <a:t> one specific level of A?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84900" y="660400"/>
            <a:ext cx="2654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XKCD comic listing p-value ranges with increasingly tongue-in-cheek interpretations, from ‘Highly Significant’ at p under 0.03 down through ‘On the edge of significance’ and ‘Hey, look at this interesting subgroup analysis’ at p &gt;= 0.1, captioned ‘If all else fails, use significant at a p&gt;0.05 level and hope no one notices’ — a joke about p-hacking and misusing significance thresholds.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Multifactor Designs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Two-Factor (2-Way) ANOVA,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often consider more than 1 factor (independent categorical variables) to reduce unexplained variance and look at interactions</a:t>
            </a:r>
          </a:p>
          <a:p>
            <a:pPr lvl="0"/>
            <a:r>
              <a:rPr/>
              <a:t>2-factor designs (2-way ANOVA) are very common in ecology</a:t>
            </a:r>
          </a:p>
          <a:p>
            <a:pPr lvl="0"/>
            <a:r>
              <a:rPr/>
              <a:t>Can have more factors (e.g., 3-way ANOVA) — interpretation gets tricky</a:t>
            </a:r>
          </a:p>
          <a:p>
            <a:pPr lvl="0"/>
            <a:r>
              <a:rPr/>
              <a:t>Most multifactor designs are: factorial, nested, or mixed</a:t>
            </a:r>
          </a:p>
        </p:txBody>
      </p:sp>
      <p:pic>
        <p:nvPicPr>
          <p:cNvPr descr="images/clipboard-11738693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11900" y="660400"/>
            <a:ext cx="2400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cow (representing manure/fertilizer) and a smiling sun icon, each with an arrow pointing down to a small green seedling, illustrating two factors that can each affect plant growth.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Versus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factors, A and B:</a:t>
            </a:r>
          </a:p>
          <a:p>
            <a:pPr lvl="0"/>
            <a:r>
              <a:rPr b="1"/>
              <a:t>Factorial/crossed:</a:t>
            </a:r>
            <a:r>
              <a:rPr/>
              <a:t> every level of B in every level of A</a:t>
            </a:r>
          </a:p>
          <a:p>
            <a:pPr lvl="0"/>
            <a:r>
              <a:rPr b="1"/>
              <a:t>Nested/hierarchical:</a:t>
            </a:r>
            <a:r>
              <a:rPr/>
              <a:t> levels of B occur only in 1 level of A</a:t>
            </a:r>
          </a:p>
          <a:p>
            <a:pPr lvl="1"/>
            <a:r>
              <a:rPr/>
              <a:t>both fixed — rare</a:t>
            </a:r>
          </a:p>
          <a:p>
            <a:pPr lvl="1"/>
            <a:r>
              <a:rPr/>
              <a:t>one fixed, one random</a:t>
            </a:r>
          </a:p>
          <a:p>
            <a:pPr lvl="1"/>
            <a:r>
              <a:rPr/>
              <a:t>both random — rare in ecology, common in genetics</a:t>
            </a:r>
          </a:p>
        </p:txBody>
      </p:sp>
      <p:pic>
        <p:nvPicPr>
          <p:cNvPr descr="images/clipboard-7580190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0" y="660400"/>
            <a:ext cx="2336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contrasting a crossed design, where both levels of Factor 1 (A, B) connect to every level of Factor 2 (a, b, c, d), against a nested design below it, where each level of Factor 1 connects only to its own subset of (random) Factor 2 levels, both feeding into individual observations (Schielzth &amp; Nakagawa 2013).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Factorial Designs — Examples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Factorial designs: both factors are typically fixed (but not always).</a:t>
            </a:r>
          </a:p>
        </p:txBody>
      </p:sp>
      <p:pic>
        <p:nvPicPr>
          <p:cNvPr descr="images/clipboard-723648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43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Two grid diagrams of a factorial design with Factor A across the top (4 levels) and Factor B down the side (3 levels): a compact 4x3 grid marked ‘XX’ in every cell, and an expanded layout below showing each of the 12 A-by-B combinations as its own column with two replicate marks (X, X).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Seedling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light level on growth of seedlings of different size:</a:t>
            </a:r>
          </a:p>
          <a:p>
            <a:pPr lvl="0"/>
            <a:r>
              <a:rPr/>
              <a:t>3 light levels (Factor A)</a:t>
            </a:r>
          </a:p>
          <a:p>
            <a:pPr lvl="0"/>
            <a:r>
              <a:rPr/>
              <a:t>3 size classes (Factor B)</a:t>
            </a:r>
          </a:p>
          <a:p>
            <a:pPr lvl="0"/>
            <a:r>
              <a:rPr/>
              <a:t>5 replicate seedlings in each cell</a:t>
            </a:r>
          </a:p>
        </p:txBody>
      </p:sp>
      <p:pic>
        <p:nvPicPr>
          <p:cNvPr descr="images/clipboard-10573766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small seedling above a table crossing Factor A (light: Low, Medium, High) with Factor B (size: Small, Medium, Large), with each cell showing 5 replicate seedling IDs (e.g., 1_LS…5_LS), illustrating the seedling-growth factorial design example.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Salamander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food level and tadpole presence on larval salamander growth:</a:t>
            </a:r>
          </a:p>
          <a:p>
            <a:pPr lvl="0"/>
            <a:r>
              <a:rPr/>
              <a:t>2 food levels (Factor A)</a:t>
            </a:r>
          </a:p>
          <a:p>
            <a:pPr lvl="0"/>
            <a:r>
              <a:rPr/>
              <a:t>Presence/absence of tadpoles (Factor B)</a:t>
            </a:r>
          </a:p>
          <a:p>
            <a:pPr lvl="0"/>
            <a:r>
              <a:rPr/>
              <a:t>8 replicates in each cell</a:t>
            </a:r>
          </a:p>
        </p:txBody>
      </p:sp>
      <p:pic>
        <p:nvPicPr>
          <p:cNvPr descr="images/clipboard-36978408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larval salamander above a table crossing Factor A (food level: Low, High) with Factor B (tadpoles: Absent, Present), with each cell showing 8 replicate IDs (e.g., 1_LA…8_LA), illustrating the salamander-growth factorial design example.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Limpet Fecundity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of season and density on limpet fecundity:</a:t>
            </a:r>
          </a:p>
          <a:p>
            <a:pPr lvl="0"/>
            <a:r>
              <a:rPr/>
              <a:t>2 seasons (Factor A)</a:t>
            </a:r>
          </a:p>
          <a:p>
            <a:pPr lvl="0"/>
            <a:r>
              <a:rPr/>
              <a:t>4 density treatments (Factor B)</a:t>
            </a:r>
          </a:p>
          <a:p>
            <a:pPr lvl="0"/>
            <a:r>
              <a:rPr/>
              <a:t>3 replicates in each cell</a:t>
            </a:r>
          </a:p>
        </p:txBody>
      </p:sp>
      <p:pic>
        <p:nvPicPr>
          <p:cNvPr descr="images/clipboard-1223732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034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limpets clustered on a rock above a table crossing Factor A (season: Winter, Summer) with Factor B (density: 8, 15, 30, 45 per plate), with each cell showing 3 replicate IDs (e.g., W.8.1…W.8.3), illustrating the limpet-fecundity factorial design example.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Nested Designs — Examples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Nested designs cover:</a:t>
            </a:r>
            <a:r>
              <a:rPr/>
              <a:t> nested design examples, the linear model, analysis of variance, null hypotheses, unbalanced designs, assumptions, mixed-model ANOVA.</a:t>
            </a:r>
          </a:p>
          <a:p>
            <a:pPr lvl="0" indent="0" marL="0">
              <a:buNone/>
            </a:pPr>
            <a:r>
              <a:rPr b="1"/>
              <a:t>Nested designs:</a:t>
            </a:r>
            <a:r>
              <a:rPr/>
              <a:t> Factor A is usually fixed; Factor B is usually random.</a:t>
            </a:r>
          </a:p>
        </p:txBody>
      </p:sp>
      <p:pic>
        <p:nvPicPr>
          <p:cNvPr descr="images/clipboard-31252566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62200"/>
            <a:ext cx="2781300" cy="54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Grid layout with Factor A across the top (4 levels) and Factor B down the side, each of the 4 levels of B uniquely numbered 1 through 12 nested within its own level of A, with two rows of X’s marking replicate observations under each B level.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Limpet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effects of enclosure size on limpet growth:</a:t>
            </a:r>
          </a:p>
          <a:p>
            <a:pPr lvl="0"/>
            <a:r>
              <a:rPr/>
              <a:t>2 enclosure sizes (Factor A)</a:t>
            </a:r>
          </a:p>
          <a:p>
            <a:pPr lvl="0"/>
            <a:r>
              <a:rPr/>
              <a:t>5 replicate enclosures (Factor B)</a:t>
            </a:r>
          </a:p>
          <a:p>
            <a:pPr lvl="0"/>
            <a:r>
              <a:rPr/>
              <a:t>5 replicate limpets per enclosure</a:t>
            </a:r>
          </a:p>
        </p:txBody>
      </p:sp>
      <p:pic>
        <p:nvPicPr>
          <p:cNvPr descr="images/clipboard-18679179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limpets on a rock above a table for Factor A (enclosure size: Small, Large), each with 5 replicate enclosures (S1-S5 or L1-L5) and 5 replicate limpets per enclosure, illustrating the limpet-growth nested design example.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Reef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reef fish recruitment:</a:t>
            </a:r>
          </a:p>
          <a:p>
            <a:pPr lvl="0"/>
            <a:r>
              <a:rPr/>
              <a:t>5 sites (Factor A)</a:t>
            </a:r>
          </a:p>
          <a:p>
            <a:pPr lvl="0"/>
            <a:r>
              <a:rPr/>
              <a:t>6 transects at each site (Factor B)</a:t>
            </a:r>
          </a:p>
          <a:p>
            <a:pPr lvl="0"/>
            <a:r>
              <a:rPr/>
              <a:t>Replicate observations along each transect</a:t>
            </a:r>
          </a:p>
        </p:txBody>
      </p:sp>
      <p:pic>
        <p:nvPicPr>
          <p:cNvPr descr="images/clipboard-16217817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06500"/>
            <a:ext cx="27813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Underwater photo of reef fish above coral, above a table for Factor A (site: Site 1, Site 2), each with several transects (T1.1, T1.2, … T1.6) and replicate observations along each transect, illustrating the reef-fish recruitment nested design example.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Sea Urchin Grazing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sea urchin grazing on biomass of filamentous algae:</a:t>
            </a:r>
          </a:p>
          <a:p>
            <a:pPr lvl="0"/>
            <a:r>
              <a:rPr/>
              <a:t>4 urchin densities: 0%, 33%, 66%, 100% of natural density</a:t>
            </a:r>
          </a:p>
          <a:p>
            <a:pPr lvl="0"/>
            <a:r>
              <a:rPr/>
              <a:t>4 patches of rocky bottom (3–4 m²) nested in each grazing level</a:t>
            </a:r>
          </a:p>
          <a:p>
            <a:pPr lvl="0"/>
            <a:r>
              <a:rPr/>
              <a:t>5 replicate quadrats per patch</a:t>
            </a:r>
          </a:p>
          <a:p>
            <a:pPr lvl="0" indent="0" marL="0">
              <a:buNone/>
            </a:pPr>
            <a:r>
              <a:rPr i="1"/>
              <a:t>This is our worked example for the rest of the lecture.</a:t>
            </a:r>
          </a:p>
        </p:txBody>
      </p:sp>
      <p:pic>
        <p:nvPicPr>
          <p:cNvPr descr="images/clipboard-35701064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43000"/>
            <a:ext cx="27813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Underwater photo of a black sea urchin on coral, above a table for grazing level (None, Low, Medium, High) each with 4 patches nested inside it and 5 replicate quadrats per patch, illustrating the sea urchin grazing worked example used for the rest of this lecture.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The Nested Design Model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Design: Linear Model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 nested design with:</a:t>
            </a:r>
          </a:p>
          <a:p>
            <a:pPr lvl="0"/>
            <a:r>
              <a:rPr/>
              <a:t>p levels of factor A (i = 1…p) — e.g., 4 grazing levels</a:t>
            </a:r>
          </a:p>
          <a:p>
            <a:pPr lvl="0"/>
            <a:r>
              <a:rPr/>
              <a:t>q levels of factor B (j = 1…q), nested within each level of A — e.g., 4 different patches per grazing level</a:t>
            </a:r>
          </a:p>
          <a:p>
            <a:pPr lvl="0"/>
            <a:r>
              <a:rPr/>
              <a:t>n replicates (k = 1…n) in each combination of A and B — e.g., 5 replicate quadrats in each patch in each grazing level</a:t>
            </a:r>
          </a:p>
        </p:txBody>
      </p:sp>
      <p:pic>
        <p:nvPicPr>
          <p:cNvPr descr="images/clipboard-246015343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81800" y="660400"/>
            <a:ext cx="1447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Hierarchical tree diagram of the nested design structure: a top-level factor A_1 branching into several B levels nested within it, each branching further into individual replicate y observations, repeated for a general level A_i.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Means in a Nested Design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can calculate several means:</a:t>
                </a:r>
              </a:p>
              <a:p>
                <a:pPr lvl="0"/>
                <a:r>
                  <a:rPr/>
                  <a:t>Overall mean (across all levels of A and B) =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</a:p>
              <a:p>
                <a:pPr lvl="0"/>
                <a:r>
                  <a:rPr/>
                  <a:t>A mean for each level of A (across all levels of B in that A) =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A mean for each level of B within each A =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</a:p>
            </p:txBody>
          </p:sp>
        </mc:Choice>
      </mc:AlternateContent>
      <p:pic>
        <p:nvPicPr>
          <p:cNvPr descr="images/clipboard-20980224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172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Grazing-level-by-patch table (grazing level: None, Low, Medium, High, each with 4 patches numbered 1-16) with each patch cell listing 5 replicate quadrat IDs, the layout used to compute overall, A-level, and B-within-A means.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Means, Visualized</a:t>
            </a:r>
          </a:p>
        </p:txBody>
      </p:sp>
      <p:pic>
        <p:nvPicPr>
          <p:cNvPr descr="images/clipboard-14746110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609600"/>
            <a:ext cx="67056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0" y="4013200"/>
            <a:ext cx="90805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Full worked data table for the sea urchin example: for each grazing level (A1-A4, 0-100%) the density mean is shown boxed in blue (e.g., 39.2 for 0%), and for each patch nested within it the patch mean is shown boxed in green, with the overall mean mu = 20.26 marked on the right by a red bar spanning all values.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Nested Design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response variable — the value of the k-th replicate in the j-th level of B in the i-th level of A (e.g., algal biomass in the 3rd quadrat, in the 2nd patch, in the low-grazing treatment)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is the overall mean (overall average algal biomass)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Notice</a:t>
                </a:r>
              </a:p>
              <a:p>
                <a:pPr lvl="0" indent="0" marL="1270000">
                  <a:buNone/>
                </a:pPr>
                <a:r>
                  <a:rPr sz="2000"/>
                  <a:t>This looks almost identical to the two-way ANOVA model — the difference is entirely in the subscript: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  <a:r>
                  <a:rPr sz="2000"/>
                  <a:t>, not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 sz="2000"/>
                  <a:t>. B only exists </a:t>
                </a:r>
                <a:r>
                  <a:rPr sz="2000" i="1"/>
                  <a:t>inside</a:t>
                </a:r>
                <a:r>
                  <a:rPr sz="2000"/>
                  <a:t> a specific A.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Fixed and Random Effects in the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fixed effect of factor A — the difference between the average biomass in all low-grazing-level quadrats and the overall mean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  <a:r>
                  <a:rPr/>
                  <a:t> is the </a:t>
                </a:r>
                <a:r>
                  <a:rPr i="1"/>
                  <a:t>random</a:t>
                </a:r>
                <a:r>
                  <a:rPr/>
                  <a:t> effect of factor B nested within factor A — usually a random variable measuring variance among all possible levels of B within each level of A (variance among all possible patches that could have been used in the low-grazing treatment)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B being random is the whole point of nesting: you don’t care about </a:t>
            </a:r>
            <a:r>
              <a:rPr sz="2000" i="1"/>
              <a:t>these specific</a:t>
            </a:r>
            <a:r>
              <a:rPr sz="2000"/>
              <a:t> patches — you care about patch-to-patch variability in general.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Error Term in the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error term — the unexplained variance associated with the k-th replicate in the j-th level of B in the i-th level of A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effect of the i-th level of A: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the difference between the observed algal biomass in the 3rd quadrat in the 2nd patch in the low-grazing treatment, and the </a:t>
                </a:r>
                <a:r>
                  <a:rPr i="1"/>
                  <a:t>predicted</a:t>
                </a:r>
                <a:r>
                  <a:rPr/>
                  <a:t> biomass (the average biomass in that 2nd patch in the low-grazing treatment)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residual is measured against the </a:t>
            </a:r>
            <a:r>
              <a:rPr sz="2000" i="1"/>
              <a:t>cell</a:t>
            </a:r>
            <a:r>
              <a:rPr sz="2000"/>
              <a:t> mean (this specific patch), not the treatment mean — that’s what makes it “nested,” arithmetically.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Partitioning Variance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Residual and Total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  <a:r>
                  <a:rPr/>
                  <a:t> is the difference between each observation and the mean for its level of factor B, summed over all observations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SS can be turned into MS by dividing by the appropriate df</a:t>
                </a:r>
              </a:p>
            </p:txBody>
          </p:sp>
        </mc:Choice>
      </mc:AlternateContent>
      <p:pic>
        <p:nvPicPr>
          <p:cNvPr descr="images/clipboard-235775617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Nested ANOVA table listing Source (A, B(A), Residual, Total), each with its sum-of-squares formula and degrees of freedom (p-1, p(q-1), pq(n-1), pqn-1), with the Residual and Total rows outlined in red to highlight how SS_residual is the deviation of each observation from its own B(A) cell mean.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As before, we partition the variance in the response variable using SS.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</m:oMath>
                </a14:m>
                <a:r>
                  <a:rPr/>
                  <a:t> is the SS of differences between the mean in each level of A and the overall mean.</a:t>
                </a:r>
              </a:p>
            </p:txBody>
          </p:sp>
        </mc:Choice>
      </mc:AlternateContent>
      <p:pic>
        <p:nvPicPr>
          <p:cNvPr descr="images/clipboard-12198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nested ANOVA table with the A row outlined in red, highlighting SS_A as the sum of squared deviations of each level-A mean from the overall mean.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the difference between the mean in each level of B and the mean of the corresponding level of A, summed across all levels of A.</a:t>
                </a:r>
              </a:p>
            </p:txBody>
          </p:sp>
        </mc:Choice>
      </mc:AlternateContent>
      <p:pic>
        <p:nvPicPr>
          <p:cNvPr descr="images/clipboard-24671196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nested ANOVA table with the B(A) row outlined in red, highlighting SS_B(A) as the sum of squared deviations of each level-B-within-A mean from its corresponding level-A mean.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Nested ANOVA Table</a:t>
            </a:r>
          </a:p>
        </p:txBody>
      </p:sp>
      <p:pic>
        <p:nvPicPr>
          <p:cNvPr descr="images/clipboard-4491219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90700" y="609600"/>
            <a:ext cx="54991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0" y="4013200"/>
            <a:ext cx="90805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full sea urchin data table repeated (density means per grazing level, patch means nested within each, overall mean y-bar = 20.26), shown here alongside the nested ANOVA table structure it feeds into.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Hypotheses and Assumptions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Two hypotheses are tested on values of MS. </a:t>
                </a:r>
                <a:r>
                  <a:rPr b="1"/>
                  <a:t>1. No effects of factor A</a:t>
                </a:r>
                <a:r>
                  <a:rPr/>
                  <a:t> — assuming A is fixed: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</m:oMath>
                </a14:m>
              </a:p>
              <a:p>
                <a:pPr lvl="0"/>
                <a:r>
                  <a:rPr/>
                  <a:t>Same as in 1-factor ANOVA, using means from B factors nested within each level of A</a:t>
                </a:r>
              </a:p>
              <a:p>
                <a:pPr lvl="0"/>
                <a:r>
                  <a:rPr/>
                  <a:t>(no difference in algal biomass across all grazing levels: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n</m:t>
                        </m:r>
                        <m:r>
                          <m:t>o</m:t>
                        </m:r>
                        <m:r>
                          <m:t>n</m:t>
                        </m:r>
                        <m:r>
                          <m:t>e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l</m:t>
                        </m:r>
                        <m:r>
                          <m:t>o</m:t>
                        </m:r>
                        <m:r>
                          <m:t>w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m</m:t>
                        </m:r>
                        <m:r>
                          <m:t>e</m:t>
                        </m:r>
                        <m:r>
                          <m:t>d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h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h</m:t>
                        </m:r>
                      </m:sub>
                    </m:sSub>
                  </m:oMath>
                </a14:m>
                <a:r>
                  <a:rPr/>
                  <a:t>)</a:t>
                </a:r>
              </a:p>
            </p:txBody>
          </p:sp>
        </mc:Choice>
      </mc:AlternateContent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for the ‘A fixed, B random’ case listing the expected mean square and F-ratio formula for each source (A, B(A), Residual), showing that A is tested against MS_B(A) rather than MS_Residual because B is a random effect.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2. No effects of factor B nested in A</a:t>
                </a:r>
                <a:r>
                  <a:rPr/>
                  <a:t> — assuming B is random: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β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variance added due to differences between all possible levels of B)</a:t>
                </a:r>
              </a:p>
              <a:p>
                <a:pPr lvl="0"/>
                <a:r>
                  <a:rPr/>
                  <a:t>(no variance added due to differences between patches)</a:t>
                </a:r>
              </a:p>
            </p:txBody>
          </p:sp>
        </mc:Choice>
      </mc:AlternateContent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for the ‘A fixed, B random’ case listing the expected mean square and F-ratio formula for each source (A, B(A), Residual), showing that A is tested against MS_B(A) rather than MS_Residual because B is a random effect.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Conclusions from the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Conclusion:</a:t>
            </a:r>
          </a:p>
          <a:p>
            <a:pPr lvl="0" indent="0" marL="0">
              <a:buNone/>
            </a:pPr>
            <a:r>
              <a:rPr/>
              <a:t>“Significant variation between replicate patches within each treatment, but no significant difference in the amount of filamentous algae between treatments.”</a:t>
            </a:r>
          </a:p>
        </p:txBody>
      </p:sp>
      <p:pic>
        <p:nvPicPr>
          <p:cNvPr descr="images/clipboard-35966696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Published nested ANOVA results table for the sea urchin study, showing Treatment not significant (F = 2.72, p = 0.091) but Patches(treatment) highly significant (F = 5.93, p &lt; 0.001), with a boxplot below showing percent cover of filamentous algae declining from the None to High urchin-density treatments.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Unbalanced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Unequal sample sizes can arise from:</a:t>
            </a:r>
          </a:p>
          <a:p>
            <a:pPr lvl="0"/>
            <a:r>
              <a:rPr/>
              <a:t>An uneven number of B levels within each A</a:t>
            </a:r>
          </a:p>
          <a:p>
            <a:pPr lvl="0"/>
            <a:r>
              <a:rPr/>
              <a:t>An uneven number of replicates within each level of B</a:t>
            </a:r>
          </a:p>
          <a:p>
            <a:pPr lvl="0" indent="0" marL="0">
              <a:buNone/>
            </a:pPr>
            <a:r>
              <a:rPr/>
              <a:t>Not a problem unless you have unequal variance or a large deviation from normality.</a:t>
            </a:r>
          </a:p>
        </p:txBody>
      </p:sp>
      <p:pic>
        <p:nvPicPr>
          <p:cNvPr descr="images/clipboard-20980224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172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grazing-level-by-patch layout table repeated, shown here in the context of unequal sample sizes in unbalanced nested designs.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usual, we assume: equal variance, normality, no outliers, independence of observations.</a:t>
            </a:r>
          </a:p>
          <a:p>
            <a:pPr lvl="0" indent="0" marL="0">
              <a:buNone/>
            </a:pPr>
            <a:r>
              <a:rPr/>
              <a:t>Equal variance + normality need to be assessed at </a:t>
            </a:r>
            <a:r>
              <a:rPr b="1"/>
              <a:t>both levels</a:t>
            </a:r>
            <a:r>
              <a:rPr/>
              <a:t>:</a:t>
            </a:r>
          </a:p>
          <a:p>
            <a:pPr lvl="0"/>
            <a:r>
              <a:rPr/>
              <a:t>Since means for each level of B within each A are used for the H-test about A, need to assess whether </a:t>
            </a:r>
            <a:r>
              <a:rPr i="1"/>
              <a:t>those means</a:t>
            </a:r>
            <a:r>
              <a:rPr/>
              <a:t> meet normality and equal variance</a:t>
            </a:r>
          </a:p>
          <a:p>
            <a:pPr lvl="0"/>
            <a:r>
              <a:rPr/>
              <a:t>Examine residuals for the H-test about B</a:t>
            </a:r>
          </a:p>
          <a:p>
            <a:pPr lvl="0"/>
            <a:r>
              <a:rPr/>
              <a:t>Transformations can be used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This is the part people most often get wrong: checking assumptions on the </a:t>
            </a:r>
            <a:r>
              <a:rPr sz="2000" i="1"/>
              <a:t>raw data</a:t>
            </a:r>
            <a:r>
              <a:rPr sz="2000"/>
              <a:t> isn’t enough for a nested design — you need to check them at the level each hypothesis test actually operates on.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The Sea Urchin Example — Data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Nested Design, the Hard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analysis examines the effects of varying sea urchin densities on the percentage cover of filamentous algae. The experiment was designed with:</a:t>
            </a:r>
          </a:p>
          <a:p>
            <a:pPr lvl="0"/>
            <a:r>
              <a:rPr/>
              <a:t>Four random patches</a:t>
            </a:r>
          </a:p>
          <a:p>
            <a:pPr lvl="0"/>
            <a:r>
              <a:rPr/>
              <a:t>Four urchin density treatments — </a:t>
            </a:r>
            <a:r>
              <a:rPr b="1"/>
              <a:t>0%</a:t>
            </a:r>
            <a:r>
              <a:rPr/>
              <a:t> (urchins removed), </a:t>
            </a:r>
            <a:r>
              <a:rPr b="1"/>
              <a:t>33%</a:t>
            </a:r>
            <a:r>
              <a:rPr/>
              <a:t>, </a:t>
            </a:r>
            <a:r>
              <a:rPr b="1"/>
              <a:t>66%</a:t>
            </a:r>
            <a:r>
              <a:rPr/>
              <a:t>, and </a:t>
            </a:r>
            <a:r>
              <a:rPr b="1"/>
              <a:t>100%</a:t>
            </a:r>
            <a:r>
              <a:rPr/>
              <a:t> of natural density (the unmanipulated control)</a:t>
            </a:r>
          </a:p>
          <a:p>
            <a:pPr lvl="0"/>
            <a:r>
              <a:rPr/>
              <a:t>Five replicate quadrats measured within each treatment-patch combination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Quinn &amp; Keough (2002), </a:t>
            </a:r>
            <a:r>
              <a:rPr sz="2000" i="1"/>
              <a:t>Experimental Design and Data Analysis for Biologists</a:t>
            </a:r>
            <a:r>
              <a:rPr sz="2000"/>
              <a:t> — this dataset and analysis follow their treatment of the sea urchin/algae example.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frame contains: </a:t>
            </a:r>
            <a:r>
              <a:rPr>
                <a:latin typeface="Courier"/>
              </a:rPr>
              <a:t>patch</a:t>
            </a:r>
            <a:r>
              <a:rPr/>
              <a:t> (random patches 1–16 where treatments were applied), </a:t>
            </a:r>
            <a:r>
              <a:rPr>
                <a:latin typeface="Courier"/>
              </a:rPr>
              <a:t>treat</a:t>
            </a:r>
            <a:r>
              <a:rPr/>
              <a:t> (urchin density treatment), </a:t>
            </a:r>
            <a:r>
              <a:rPr>
                <a:latin typeface="Courier"/>
              </a:rPr>
              <a:t>quad</a:t>
            </a:r>
            <a:r>
              <a:rPr/>
              <a:t> (replicate quadrats within each treatment-patch combination), </a:t>
            </a:r>
            <a:r>
              <a:rPr>
                <a:latin typeface="Courier"/>
              </a:rPr>
              <a:t>algae</a:t>
            </a:r>
            <a:r>
              <a:rPr/>
              <a:t> (percentage cover of filamentous algae — the response variable).</a:t>
            </a:r>
          </a:p>
          <a:p>
            <a:pPr lvl="0" indent="0">
              <a:buNone/>
            </a:pPr>
            <a:r>
              <a:rPr>
                <a:latin typeface="Courier"/>
              </a:rPr>
              <a:t>## Data
## # A tibble: 6 × 4
##   treat patch  quad algae
##   &lt;fct&gt; &lt;fct&gt; &lt;dbl&gt; &lt;dbl&gt;
## 1 100%  1         1     0
## 2 100%  1         2     0
## 3 100%  1         3     0
## 4 100%  1         4     6
## 5 100%  1         5     2
## 6 100%  2         1     0
## 
## 
## Treatment levels:
## [1] "0%"   "33%"  "66%"  "100%"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Summary statistics by treatment:
## # A tibble: 4 × 7
##   treat     n  mean    sd    se   min   max
##   &lt;fct&gt; &lt;int&gt; &lt;dbl&gt; &lt;dbl&gt; &lt;dbl&gt; &lt;dbl&gt; &lt;dbl&gt;
## 1 0%       20  39.2 28.7  6.41      0    83
## 2 33%      20  19   25.7  5.74      0    71
## 3 66%      20  21.6 25.1  5.62      0    79
## 4 100%     20   1.3  3.18 0.711     0    13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First Look at the Data</a:t>
            </a:r>
          </a:p>
        </p:txBody>
      </p:sp>
      <p:pic>
        <p:nvPicPr>
          <p:cNvPr descr="nested_anova_lecture_files/figure-pptx/nested-anova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The Wrong Way — Naive Factorial Model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Nested ANOVA — Setting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 this experimental design, </a:t>
                </a:r>
                <a:r>
                  <a:rPr>
                    <a:latin typeface="Courier"/>
                  </a:rPr>
                  <a:t>patch</a:t>
                </a:r>
                <a:r>
                  <a:rPr/>
                  <a:t> is nested within </a:t>
                </a:r>
                <a:r>
                  <a:rPr>
                    <a:latin typeface="Courier"/>
                  </a:rPr>
                  <a:t>treat</a:t>
                </a:r>
                <a:r>
                  <a:rPr/>
                  <a:t> because each patch received only one treatment level — a hierarchical design where the effect of patches must be considered </a:t>
                </a:r>
                <a:r>
                  <a:rPr i="1"/>
                  <a:t>within</a:t>
                </a:r>
                <a:r>
                  <a:rPr/>
                  <a:t> each treatment (Quinn &amp; Keough 2002).</a:t>
                </a:r>
              </a:p>
              <a:p>
                <a:pPr lvl="0" indent="0" marL="0">
                  <a:buNone/>
                </a:pPr>
                <a:r>
                  <a:rPr/>
                  <a:t>We’ll use a traditional nested ANOVA. You </a:t>
                </a:r>
                <a:r>
                  <a:rPr i="1"/>
                  <a:t>could</a:t>
                </a:r>
                <a:r>
                  <a:rPr/>
                  <a:t> make this easy by averaging </a:t>
                </a:r>
                <a:r>
                  <a:rPr>
                    <a:latin typeface="Courier"/>
                  </a:rPr>
                  <a:t>algae</a:t>
                </a:r>
                <a:r>
                  <a:rPr/>
                  <a:t> per patch and running a one-way ANOVA — but your power is significantly reduced, and you lose estimates of variability among patches.</a:t>
                </a:r>
              </a:p>
              <a:p>
                <a:pPr lvl="0" indent="0" marL="0">
                  <a:buNone/>
                </a:pPr>
                <a:r>
                  <a:rPr b="1"/>
                  <a:t>This first attempt is really a regular factorial ANOVA</a:t>
                </a:r>
                <a:r>
                  <a:rPr/>
                  <a:t> — not appropriate, since it’s pseudoreplicated. Also, the F-value for Treat is using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  <a:r>
                  <a:rPr/>
                  <a:t> when it should use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t</m:t>
                        </m:r>
                        <m:r>
                          <m:rPr>
                            <m:sty m:val="p"/>
                          </m:rPr>
                          <m:t>:</m:t>
                        </m:r>
                        <m:r>
                          <m:t>p</m:t>
                        </m:r>
                        <m:r>
                          <m:t>a</m:t>
                        </m:r>
                        <m:r>
                          <m:t>t</m:t>
                        </m:r>
                        <m:r>
                          <m:t>c</m:t>
                        </m:r>
                        <m:r>
                          <m:t>h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u_fact_model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patch,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"Factorial model summary: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Factorial model summary: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(u_fact_model)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 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        3  14429    4810  16.108 0.0000000658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treat:patch 12  21242    1770   5.928 0.0000008323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64  19110     299   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the Factorial ANOVA Is Not Correct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can correct this by specifying the error term</a:t>
            </a:r>
          </a:p>
          <a:p>
            <a:pPr lvl="0"/>
            <a:r>
              <a:rPr/>
              <a:t>The MS needed for the F-value is really MS(patch nested in treatment), because those are the true replicates</a:t>
            </a:r>
          </a:p>
          <a:p>
            <a:pPr lvl="0"/>
            <a:r>
              <a:rPr/>
              <a:t>We can specify that — the problem is this approach can’t really handle unbalanced designs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Error(patch) -- not Error(treat:patch). Patch IDs are already unique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(1-16) and each patch sits in exactly one treatment, so naming the patch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alone is enough. Writing treat:patch asks for 4 x 16 = 64 combinations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when only 16 exist, which makes R warn "Error() model is singular".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Both give identical numbers; this one does it without the warning.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u_nested_model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Error</a:t>
            </a:r>
            <a:r>
              <a:rPr>
                <a:solidFill>
                  <a:srgbClr val="003B4F"/>
                </a:solidFill>
                <a:latin typeface="Courier"/>
              </a:rPr>
              <a:t>(patch),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"Correctly specified nested ANOVA: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Correctly specified nested ANOVA: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(u_nested_model)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Error: patch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Df Sum Sq Mean Sq F value Pr(&gt;F)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      3  14429    4810   2.717 0.0913 .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12  21242    1770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Error: Within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Df Sum Sq Mean Sq F value Pr(&gt;F)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64  19110   298.6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Same Numerator, Different Denominator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models used the </a:t>
            </a:r>
            <a:r>
              <a:rPr b="1"/>
              <a:t>same 80 quadrats</a:t>
            </a:r>
            <a:r>
              <a:rPr/>
              <a:t> and produced the </a:t>
            </a:r>
            <a:r>
              <a:rPr b="1"/>
              <a:t>same sums of squares</a:t>
            </a:r>
            <a:r>
              <a:rPr/>
              <a:t>. Only the F-test’s denominator changed: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9000"/>
                <a:gridCol w="889000"/>
                <a:gridCol w="889000"/>
                <a:gridCol w="889000"/>
                <a:gridCol w="8890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MS treat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÷ MS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= 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Naive factorial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4810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÷ </a:t>
                      </a:r>
                      <a:r>
                        <a:rPr b="1"/>
                        <a:t>299</a:t>
                      </a:r>
                      <a:r>
                        <a:rPr/>
                        <a:t> (quadrats)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16.11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0.00000007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Nested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4810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÷ </a:t>
                      </a:r>
                      <a:r>
                        <a:rPr b="1"/>
                        <a:t>1770</a:t>
                      </a:r>
                      <a:r>
                        <a:rPr/>
                        <a:t> (patches)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0.091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p-value moved by six orders of magnitude.</a:t>
            </a:r>
          </a:p>
          <a:p>
            <a:pPr lvl="0" indent="0" marL="1270000">
              <a:buNone/>
            </a:pPr>
            <a:r>
              <a:rPr sz="2000"/>
              <a:t>The naive model tested the treatment against variation </a:t>
            </a:r>
            <a:r>
              <a:rPr sz="2000" i="1"/>
              <a:t>between quadrats within a patch</a:t>
            </a:r>
            <a:r>
              <a:rPr sz="2000"/>
              <a:t> — but quadrats are not what we assigned treatments to. </a:t>
            </a:r>
            <a:r>
              <a:rPr sz="2000" b="1"/>
              <a:t>Patches are.</a:t>
            </a:r>
          </a:p>
          <a:p>
            <a:pPr lvl="0" indent="0" marL="1270000">
              <a:buNone/>
            </a:pPr>
            <a:r>
              <a:rPr sz="2000"/>
              <a:t>There are 80 quadrats but only </a:t>
            </a:r>
            <a:r>
              <a:rPr sz="2000" b="1"/>
              <a:t>16 patches</a:t>
            </a:r>
            <a:r>
              <a:rPr sz="2000"/>
              <a:t>, four per treatment. The honest test has 12 denominator degrees of freedom, not 64.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How to find the right denominator</a:t>
            </a:r>
          </a:p>
          <a:p>
            <a:pPr lvl="0" indent="0" marL="1270000">
              <a:buNone/>
            </a:pPr>
            <a:r>
              <a:rPr sz="2000"/>
              <a:t>Ask: </a:t>
            </a:r>
            <a:r>
              <a:rPr sz="2000" b="1"/>
              <a:t>what did I randomly assign the treatment to?</a:t>
            </a:r>
          </a:p>
          <a:p>
            <a:pPr lvl="0" indent="0" marL="1270000">
              <a:buNone/>
            </a:pPr>
            <a:r>
              <a:rPr sz="2000"/>
              <a:t>That unit — patch here — supplies the error term. Everything measured </a:t>
            </a:r>
            <a:r>
              <a:rPr sz="2000" i="1"/>
              <a:t>inside</a:t>
            </a:r>
            <a:r>
              <a:rPr sz="2000"/>
              <a:t> it is a subsample, and subsamples tell you about measurement noise, not about treatment effects.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 </a:t>
            </a:r>
            <a:r>
              <a:rPr sz="2000" b="1">
                <a:latin typeface="Courier"/>
              </a:rPr>
              <a:t>MS(patch)</a:t>
            </a:r>
            <a:r>
              <a:rPr sz="2000" b="1"/>
              <a:t> is large</a:t>
            </a:r>
          </a:p>
          <a:p>
            <a:pPr lvl="0" indent="0" marL="1270000">
              <a:buNone/>
            </a:pPr>
            <a:r>
              <a:rPr sz="2000"/>
              <a:t>1770 vs 299 — patches genuinely differ from one another. That variability is real biology, and the nested model makes you pay for it. The naive model pretended it was not there.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You Have Seen This Before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</a:t>
            </a:r>
            <a:r>
              <a:rPr b="1"/>
              <a:t>pine needle problem</a:t>
            </a:r>
            <a:r>
              <a:rPr/>
              <a:t> again, one level up: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pine 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This urchin study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needles per 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quadrats per patch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within one tree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within one patch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 trees</a:t>
                      </a:r>
                      <a:r>
                        <a:rPr/>
                        <a:t> are the replicates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16 patches</a:t>
                      </a:r>
                      <a:r>
                        <a:rPr/>
                        <a:t> are the replicates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 rows, n = 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80 rows, n = 16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Week 1 we solved it by </a:t>
            </a:r>
            <a:r>
              <a:rPr b="1"/>
              <a:t>averaging</a:t>
            </a:r>
            <a:r>
              <a:rPr/>
              <a:t> each tree to one number. That works, and it is honest.</a:t>
            </a:r>
          </a:p>
          <a:p>
            <a:pPr lvl="0" indent="0" marL="0">
              <a:buNone/>
            </a:pPr>
            <a:r>
              <a:rPr/>
              <a:t>A nested ANOVA does something better: it keeps every quadrat, estimates </a:t>
            </a:r>
            <a:r>
              <a:rPr i="1"/>
              <a:t>both</a:t>
            </a:r>
            <a:r>
              <a:rPr/>
              <a:t> levels of variability, and still tests the treatment against the right error term.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Averaging throws the subsamples away. Nesting </a:t>
            </a:r>
            <a:r>
              <a:rPr sz="2000" i="1"/>
              <a:t>uses</a:t>
            </a:r>
            <a:r>
              <a:rPr sz="2000"/>
              <a:t> them — to estimate how noisy your measurements are — while still refusing to count them as replicates.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The limit of </a:t>
            </a:r>
            <a:r>
              <a:rPr sz="2000" b="1">
                <a:latin typeface="Courier"/>
              </a:rPr>
              <a:t>aov(Error(...))</a:t>
            </a:r>
          </a:p>
          <a:p>
            <a:pPr lvl="0" indent="0" marL="1270000">
              <a:buNone/>
            </a:pPr>
            <a:r>
              <a:rPr sz="2000"/>
              <a:t>This syntax needs a (near-)balanced design. Ours is perfectly balanced — 4 patches per treatment, 5 quadrats per patch — so it works.</a:t>
            </a:r>
          </a:p>
          <a:p>
            <a:pPr lvl="0" indent="0" marL="1270000">
              <a:buNone/>
            </a:pPr>
            <a:r>
              <a:rPr sz="2000"/>
              <a:t>Real data usually is not. That is the problem </a:t>
            </a:r>
            <a:r>
              <a:rPr sz="2000" b="1"/>
              <a:t>mixed models</a:t>
            </a:r>
            <a:r>
              <a:rPr sz="2000"/>
              <a:t> solve, and it is where we go next.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I Know If My Design Is Nested?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questions, in order. Ask them of </a:t>
            </a:r>
            <a:r>
              <a:rPr b="1"/>
              <a:t>your own</a:t>
            </a:r>
            <a:r>
              <a:rPr/>
              <a:t> data before you fit anything.</a:t>
            </a:r>
          </a:p>
          <a:p>
            <a:pPr lvl="0" indent="0" marL="0">
              <a:buNone/>
            </a:pPr>
            <a:r>
              <a:rPr b="1"/>
              <a:t>1. What did I apply the treatment to?</a:t>
            </a:r>
            <a:r>
              <a:rPr/>
              <a:t> → Whole patches. Not quadrats.</a:t>
            </a:r>
          </a:p>
          <a:p>
            <a:pPr lvl="0" indent="0" marL="0">
              <a:buNone/>
            </a:pPr>
            <a:r>
              <a:rPr b="1"/>
              <a:t>2. Does every level of B appear under every level of A?</a:t>
            </a:r>
            <a:r>
              <a:rPr/>
              <a:t> → Patch 7 only ever received the 66% density. It cannot appear under 100%. → </a:t>
            </a:r>
            <a:r>
              <a:rPr b="1"/>
              <a:t>No ⇒ nested.</a:t>
            </a:r>
            <a:r>
              <a:rPr/>
              <a:t> (Yes ⇒ crossed/factorial.)</a:t>
            </a:r>
          </a:p>
          <a:p>
            <a:pPr lvl="0" indent="0" marL="0">
              <a:buNone/>
            </a:pPr>
            <a:r>
              <a:rPr b="1"/>
              <a:t>3. How many of those units do I have per treatment?</a:t>
            </a:r>
            <a:r>
              <a:rPr/>
              <a:t> → 4 patches, not 20 quadrats. </a:t>
            </a:r>
            <a:r>
              <a:rPr b="1"/>
              <a:t>That is your n.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answer to Q1 is your error term.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Error</a:t>
            </a:r>
            <a:r>
              <a:rPr>
                <a:solidFill>
                  <a:srgbClr val="003B4F"/>
                </a:solidFill>
                <a:latin typeface="Courier"/>
              </a:rPr>
              <a:t>(patch),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                  ^^^^^^^^^^^^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                  the thing treatments were assigned to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 quick tell</a:t>
            </a:r>
          </a:p>
          <a:p>
            <a:pPr lvl="0" indent="0" marL="1270000">
              <a:buNone/>
            </a:pPr>
            <a:r>
              <a:rPr sz="2000"/>
              <a:t>If two rows of your data share a value for the thing you randomized, they are </a:t>
            </a:r>
            <a:r>
              <a:rPr sz="2000" b="1"/>
              <a:t>not</a:t>
            </a:r>
            <a:r>
              <a:rPr sz="2000"/>
              <a:t> independent replicates of it.</a:t>
            </a:r>
          </a:p>
          <a:p>
            <a:pPr lvl="0" indent="0" marL="1270000">
              <a:buNone/>
            </a:pPr>
            <a:r>
              <a:rPr sz="2000"/>
              <a:t>Two quadrats in patch 3 share patch 3. Two needles on one tree share that tree.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Nested factors are random</a:t>
            </a:r>
          </a:p>
          <a:p>
            <a:pPr lvl="0" indent="0" marL="1270000">
              <a:buNone/>
            </a:pPr>
            <a:r>
              <a:rPr sz="2000"/>
              <a:t>We are not asking “is patch 7 different from patch 12?” — those specific patches are of no interest. They are a </a:t>
            </a:r>
            <a:r>
              <a:rPr sz="2000" b="1"/>
              <a:t>sample of possible patches</a:t>
            </a:r>
            <a:r>
              <a:rPr sz="2000"/>
              <a:t>, so </a:t>
            </a:r>
            <a:r>
              <a:rPr sz="2000">
                <a:latin typeface="Courier"/>
              </a:rPr>
              <a:t>patch</a:t>
            </a:r>
            <a:r>
              <a:rPr sz="2000"/>
              <a:t> enters as a random effect.</a:t>
            </a:r>
          </a:p>
          <a:p>
            <a:pPr lvl="0" indent="0" marL="1270000">
              <a:buNone/>
            </a:pPr>
            <a:r>
              <a:rPr sz="2000"/>
              <a:t>The factor above it (</a:t>
            </a:r>
            <a:r>
              <a:rPr sz="2000">
                <a:latin typeface="Courier"/>
              </a:rPr>
              <a:t>treat</a:t>
            </a:r>
            <a:r>
              <a:rPr sz="2000"/>
              <a:t>) is fixed: those four densities are exactly the ones we care about.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Reporting a Nested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</a:t>
            </a:r>
          </a:p>
          <a:p>
            <a:pPr lvl="0" indent="0" marL="1270000">
              <a:buNone/>
            </a:pPr>
            <a:r>
              <a:rPr sz="2000"/>
              <a:t>“Algal cover did not differ significantly among urchin density treatments (nested ANOVA, </a:t>
            </a:r>
            <a:r>
              <a:rPr sz="2000" b="1"/>
              <a:t>F₃,₁₂ = 2.72, p = 0.091</a:t>
            </a:r>
            <a:r>
              <a:rPr sz="2000"/>
              <a:t>), with patches treated as a random factor nested within treatment. Variation among patches within treatments was substantial, accounting for approximately </a:t>
            </a:r>
            <a:r>
              <a:rPr sz="2000" b="1"/>
              <a:t>50% of the total variance</a:t>
            </a:r>
            <a:r>
              <a:rPr sz="2000"/>
              <a:t> (σ²_patch = 294, σ²_within = 299; n = 4 patches per treatment, 5 quadrats per patch).”</a:t>
            </a:r>
          </a:p>
          <a:p>
            <a:pPr lvl="0" indent="0" marL="0">
              <a:buNone/>
            </a:pPr>
            <a:r>
              <a:rPr b="1"/>
              <a:t>The three things people get wrong:</a:t>
            </a:r>
          </a:p>
          <a:p>
            <a:pPr lvl="0" indent="-342900" marL="342900">
              <a:buAutoNum type="arabicPeriod"/>
            </a:pPr>
            <a:r>
              <a:rPr b="1"/>
              <a:t>The degrees of freedom.</a:t>
            </a:r>
            <a:r>
              <a:rPr/>
              <a:t> It is </a:t>
            </a:r>
            <a:r>
              <a:rPr b="1"/>
              <a:t>F(3, 12)</a:t>
            </a:r>
            <a:r>
              <a:rPr/>
              <a:t> — the denominator df comes from the </a:t>
            </a:r>
            <a:r>
              <a:rPr i="1"/>
              <a:t>patch</a:t>
            </a:r>
            <a:r>
              <a:rPr/>
              <a:t> stratum, not the 64 on the “Within” line. Reporting F(3, 64) is reporting the wrong test.</a:t>
            </a:r>
          </a:p>
          <a:p>
            <a:pPr lvl="0" indent="-342900" marL="342900">
              <a:buAutoNum type="arabicPeriod"/>
            </a:pPr>
            <a:r>
              <a:rPr b="1"/>
              <a:t>Silence about the nesting.</a:t>
            </a:r>
            <a:r>
              <a:rPr/>
              <a:t> Say the word “nested” and name the random factor. A reader cannot tell from “F = 2.72” alone whether you did this correctly.</a:t>
            </a:r>
          </a:p>
          <a:p>
            <a:pPr lvl="0" indent="-342900" marL="342900">
              <a:buAutoNum type="arabicPeriod"/>
            </a:pPr>
            <a:r>
              <a:rPr b="1"/>
              <a:t>Throwing away the patch variance.</a:t>
            </a:r>
            <a:r>
              <a:rPr/>
              <a:t> It is a result, not a nuisance — here it is half the story.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Variance components, straight from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the two mean squares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MS_patch  &lt;- </a:t>
            </a:r>
            <a:r>
              <a:rPr>
                <a:solidFill>
                  <a:srgbClr val="AD0000"/>
                </a:solidFill>
                <a:latin typeface="Courier"/>
              </a:rPr>
              <a:t>1770.2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Error: patch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MS_within &lt;- </a:t>
            </a:r>
            <a:r>
              <a:rPr>
                <a:solidFill>
                  <a:srgbClr val="AD0000"/>
                </a:solidFill>
                <a:latin typeface="Courier"/>
              </a:rPr>
              <a:t>298.6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Error: Within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n_quad    &lt;-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# quadrats per patch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var_patch  &lt;- (MS_patch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MS_within)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n_quad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var_within &lt;- MS_within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"among patches:"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(var_patch,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among patches: 294.3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"within patch: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(var_within,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within patch:  298.6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"% among patches:"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var_patch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(var_patch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var_within),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% among patches: 49.6 %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Half the variance is </a:t>
            </a:r>
            <a:r>
              <a:rPr sz="2000" b="1" i="1"/>
              <a:t>between patches</a:t>
            </a:r>
          </a:p>
          <a:p>
            <a:pPr lvl="0" indent="0" marL="1270000">
              <a:buNone/>
            </a:pPr>
            <a:r>
              <a:rPr sz="2000"/>
              <a:t>Ignore that and you are pretending 80 quadrats are 80 independent observations. They are closer to 16.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Told a </a:t>
            </a:r>
            <a:r>
              <a:rPr b="1"/>
              <a:t>nested</a:t>
            </a:r>
            <a:r>
              <a:rPr/>
              <a:t> design from a </a:t>
            </a:r>
            <a:r>
              <a:rPr b="1"/>
              <a:t>crossed</a:t>
            </a:r>
            <a:r>
              <a:rPr/>
              <a:t> one, and learned the three questions that decide it</a:t>
            </a:r>
          </a:p>
          <a:p>
            <a:pPr lvl="0"/>
            <a:r>
              <a:rPr/>
              <a:t>Found the right </a:t>
            </a:r>
            <a:r>
              <a:rPr b="1"/>
              <a:t>error term</a:t>
            </a:r>
            <a:r>
              <a:rPr/>
              <a:t> by asking what the treatment was applied to</a:t>
            </a:r>
          </a:p>
          <a:p>
            <a:pPr lvl="0"/>
            <a:r>
              <a:rPr/>
              <a:t>Watched the same data give </a:t>
            </a:r>
            <a:r>
              <a:rPr b="1"/>
              <a:t>F = 16.11 (p &lt; 0.0000001)</a:t>
            </a:r>
            <a:r>
              <a:rPr/>
              <a:t> the wrong way and </a:t>
            </a:r>
            <a:r>
              <a:rPr b="1"/>
              <a:t>F = 2.72 (p = 0.091)</a:t>
            </a:r>
            <a:r>
              <a:rPr/>
              <a:t> the right way</a:t>
            </a:r>
          </a:p>
          <a:p>
            <a:pPr lvl="0"/>
            <a:r>
              <a:rPr/>
              <a:t>Estimated </a:t>
            </a:r>
            <a:r>
              <a:rPr b="1"/>
              <a:t>variance components</a:t>
            </a:r>
            <a:r>
              <a:rPr/>
              <a:t>, and found that half the variation lives between patches</a:t>
            </a:r>
          </a:p>
          <a:p>
            <a:pPr lvl="0"/>
            <a:r>
              <a:rPr/>
              <a:t>Wrote it up with the correct degrees of freedom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 mistake this lecture exists to prevent</a:t>
            </a:r>
          </a:p>
          <a:p>
            <a:pPr lvl="0" indent="0" marL="1270000">
              <a:buNone/>
            </a:pPr>
            <a:r>
              <a:rPr sz="2000"/>
              <a:t>Using the residual mean square as your denominator when the treatment was applied to something coarser than a single measurement. It inflates F, shrinks p, and it is the most common error in ecological field experiments (Hurlbert 1984).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This has been the plan all along</a:t>
            </a:r>
          </a:p>
          <a:p>
            <a:pPr lvl="0" indent="0" marL="1270000">
              <a:buNone/>
            </a:pPr>
            <a:r>
              <a:rPr sz="2000"/>
              <a:t>Today it finally got its own name and its own model. </a:t>
            </a:r>
            <a:r>
              <a:rPr sz="2000" b="1"/>
              <a:t>Sums of squares were never the problem — the denominator was.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Take a dataset you actually care about — yours, or one from a paper — and answer the three questions on the first slide of this section. Write down what your true </a:t>
            </a:r>
            <a:r>
              <a:rPr sz="2000" i="1"/>
              <a:t>n</a:t>
            </a:r>
            <a:r>
              <a:rPr sz="2000"/>
              <a:t> is. If it is smaller than the number of rows, you have found a nested design.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Nested ANOVA</dc:title>
  <dc:creator>Bill Perry</dc:creator>
  <cp:keywords/>
  <dc:description>Factorial vs. nested designs, the nested-ANOVA linear model and variance partitioning, and a naive-vs-correct worked example (sea urchin grazing and algae cover) using the traditional aov() approach — the modern mixed-model (lmer) alternative continues in the Linear Mixed Models lecture.</dc:description>
  <dcterms:created xsi:type="dcterms:W3CDTF">2026-10-19T15:51:53Z</dcterms:created>
  <dcterms:modified xsi:type="dcterms:W3CDTF">2026-10-19T15:51:53Z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ditor">
    <vt:lpwstr/>
  </property>
  <property fmtid="{D5CDD505-2E9C-101B-9397-08002B2CF9AE}" pid="7" name="execute">
    <vt:lpwstr/>
  </property>
  <property fmtid="{D5CDD505-2E9C-101B-9397-08002B2CF9AE}" pid="8" name="format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knitr">
    <vt:lpwstr/>
  </property>
  <property fmtid="{D5CDD505-2E9C-101B-9397-08002B2CF9AE}" pid="13" name="labels">
    <vt:lpwstr/>
  </property>
  <property fmtid="{D5CDD505-2E9C-101B-9397-08002B2CF9AE}" pid="14" name="order">
    <vt:lpwstr>14</vt:lpwstr>
  </property>
  <property fmtid="{D5CDD505-2E9C-101B-9397-08002B2CF9AE}" pid="15" name="resources">
    <vt:lpwstr/>
  </property>
  <property fmtid="{D5CDD505-2E9C-101B-9397-08002B2CF9AE}" pid="16" name="subtitle">
    <vt:lpwstr>Hierarchical designs</vt:lpwstr>
  </property>
  <property fmtid="{D5CDD505-2E9C-101B-9397-08002B2CF9AE}" pid="17" name="toc-title">
    <vt:lpwstr>Table of contents</vt:lpwstr>
  </property>
  <property fmtid="{D5CDD505-2E9C-101B-9397-08002B2CF9AE}" pid="18" name="week">
    <vt:lpwstr>9</vt:lpwstr>
  </property>
</Properties>
</file>