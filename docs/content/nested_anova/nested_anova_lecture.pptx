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two-factor ANOVA:</a:t>
            </a:r>
          </a:p>
          <a:p>
            <a:pPr lvl="0"/>
            <a:r>
              <a:rPr/>
              <a:t>Example, linear model, analysis of variance</a:t>
            </a:r>
          </a:p>
          <a:p>
            <a:pPr lvl="0"/>
            <a:r>
              <a:rPr/>
              <a:t>Null hypotheses</a:t>
            </a:r>
          </a:p>
          <a:p>
            <a:pPr lvl="0"/>
            <a:r>
              <a:rPr/>
              <a:t>Interactions and main effects</a:t>
            </a:r>
          </a:p>
          <a:p>
            <a:pPr lvl="0"/>
            <a:r>
              <a:rPr/>
              <a:t>Unequal sample size</a:t>
            </a:r>
          </a:p>
          <a:p>
            <a:pPr lvl="0"/>
            <a:r>
              <a:rPr/>
              <a:t>Assumptions</a:t>
            </a:r>
          </a:p>
          <a:p>
            <a:pPr lvl="0" indent="0" marL="1270000">
              <a:buNone/>
            </a:pPr>
            <a:r>
              <a:rPr sz="2000" b="1"/>
              <a:t>Note</a:t>
            </a:r>
          </a:p>
          <a:p>
            <a:pPr lvl="0" indent="0" marL="1270000">
              <a:buNone/>
            </a:pPr>
            <a:r>
              <a:rPr sz="2000" b="1"/>
              <a:t>✅ Key idea from last lecture</a:t>
            </a:r>
          </a:p>
          <a:p>
            <a:pPr lvl="0" indent="0" marL="1270000">
              <a:buNone/>
            </a:pPr>
            <a:r>
              <a:rPr sz="2000"/>
              <a:t>In a factorial design, every level of B appears under every level of A. Today: what happens when B is only ever nested </a:t>
            </a:r>
            <a:r>
              <a:rPr sz="2000" i="1"/>
              <a:t>inside</a:t>
            </a:r>
            <a:r>
              <a:rPr sz="2000"/>
              <a:t> one specific level of A?</a:t>
            </a:r>
          </a:p>
        </p:txBody>
      </p:sp>
      <p:pic>
        <p:nvPicPr>
          <p:cNvPr descr="images/clipboard-1642768928.png" id="0" name="Picture 1"/>
          <p:cNvPicPr>
            <a:picLocks noGrp="1" noChangeAspect="1"/>
          </p:cNvPicPr>
          <p:nvPr/>
        </p:nvPicPr>
        <p:blipFill>
          <a:blip r:embed="rId2"/>
          <a:stretch>
            <a:fillRect/>
          </a:stretch>
        </p:blipFill>
        <p:spPr bwMode="auto">
          <a:xfrm>
            <a:off x="6184900" y="660400"/>
            <a:ext cx="26543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listing p-value ranges with increasingly tongue-in-cheek interpretations, from ‘Highly Significant’ at p under 0.03 down through ‘On the edge of significance’ and ‘Hey, look at this interesting subgroup analysis’ at p &gt;= 0.1, captioned ‘If all else fails, use significant at a p&gt;0.05 level and hope no one notices’ — a joke about p-hacking and misusing significance thresholds.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Multifactor Designs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Two-Factor (2-Way) ANOVA, Recap</a:t>
            </a:r>
          </a:p>
        </p:txBody>
      </p:sp>
      <p:sp>
        <p:nvSpPr>
          <p:cNvPr id="3" name="Content Placeholder 2"/>
          <p:cNvSpPr>
            <a:spLocks noGrp="1"/>
          </p:cNvSpPr>
          <p:nvPr>
            <p:ph idx="1" sz="half"/>
          </p:nvPr>
        </p:nvSpPr>
        <p:spPr/>
        <p:txBody>
          <a:bodyPr/>
          <a:lstStyle/>
          <a:p>
            <a:pPr lvl="0"/>
            <a:r>
              <a:rPr/>
              <a:t>We often consider more than 1 factor (independent categorical variables) to reduce unexplained variance and look at interactions</a:t>
            </a:r>
          </a:p>
          <a:p>
            <a:pPr lvl="0"/>
            <a:r>
              <a:rPr/>
              <a:t>2-factor designs (2-way ANOVA) are very common in ecology</a:t>
            </a:r>
          </a:p>
          <a:p>
            <a:pPr lvl="0"/>
            <a:r>
              <a:rPr/>
              <a:t>Can have more factors (e.g., 3-way ANOVA) — interpretation gets tricky</a:t>
            </a:r>
          </a:p>
          <a:p>
            <a:pPr lvl="0"/>
            <a:r>
              <a:rPr/>
              <a:t>Most multifactor designs are: factorial, nested, or mixed</a:t>
            </a:r>
          </a:p>
        </p:txBody>
      </p:sp>
      <p:pic>
        <p:nvPicPr>
          <p:cNvPr descr="images/clipboard-1173869376.png" id="0" name="Picture 1"/>
          <p:cNvPicPr>
            <a:picLocks noGrp="1" noChangeAspect="1"/>
          </p:cNvPicPr>
          <p:nvPr/>
        </p:nvPicPr>
        <p:blipFill>
          <a:blip r:embed="rId2"/>
          <a:stretch>
            <a:fillRect/>
          </a:stretch>
        </p:blipFill>
        <p:spPr bwMode="auto">
          <a:xfrm>
            <a:off x="6311900" y="660400"/>
            <a:ext cx="24003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cow (representing manure/fertilizer) and a smiling sun icon, each with an arrow pointing down to a small green seedling, illustrating two factors that can each affect plant growth.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indent="0" marL="0">
              <a:buNone/>
            </a:pPr>
            <a:r>
              <a:rPr/>
              <a:t>Consider two factors, A and B:</a:t>
            </a:r>
          </a:p>
          <a:p>
            <a:pPr lvl="0"/>
            <a:r>
              <a:rPr b="1"/>
              <a:t>Factorial/crossed:</a:t>
            </a:r>
            <a:r>
              <a:rPr/>
              <a:t> every level of B in every level of A</a:t>
            </a:r>
          </a:p>
          <a:p>
            <a:pPr lvl="0"/>
            <a:r>
              <a:rPr b="1"/>
              <a:t>Nested/hierarchical:</a:t>
            </a:r>
            <a:r>
              <a:rPr/>
              <a:t> levels of B occur only in 1 level of A</a:t>
            </a:r>
          </a:p>
          <a:p>
            <a:pPr lvl="1"/>
            <a:r>
              <a:rPr/>
              <a:t>both fixed — rare</a:t>
            </a:r>
          </a:p>
          <a:p>
            <a:pPr lvl="1"/>
            <a:r>
              <a:rPr/>
              <a:t>one fixed, one random</a:t>
            </a:r>
          </a:p>
          <a:p>
            <a:pPr lvl="1"/>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350000" y="660400"/>
            <a:ext cx="23368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contrasting a crossed design, where both levels of Factor 1 (A, B) connect to every level of Factor 2 (a, b, c, d), against a nested design below it, where each level of Factor 1 connects only to its own subset of (random) Factor 2 levels, both feeding into individual observations (Schielzth &amp; Nakagawa 2013).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Factorial Designs — Examples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indent="0" marL="0">
              <a:buNone/>
            </a:pPr>
            <a:r>
              <a:rPr/>
              <a:t>Factorial designs: both factors are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1943100"/>
            <a:ext cx="2781300" cy="139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grid diagrams of a factorial design with Factor A across the top (4 levels) and Factor B down the side (3 levels): a compact 4x3 grid marked ‘XX’ in every cell, and an expanded layout below showing each of the 12 A-by-B combinations as its own column with two replicate marks (X, X).</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indent="0" marL="0">
              <a:buNone/>
            </a:pPr>
            <a:r>
              <a:rPr/>
              <a:t>Effects of light level on growth of seedlings of different size:</a:t>
            </a:r>
          </a:p>
          <a:p>
            <a:pPr lvl="0"/>
            <a:r>
              <a:rPr/>
              <a:t>3 light levels (Factor A)</a:t>
            </a:r>
          </a:p>
          <a:p>
            <a:pPr lvl="0"/>
            <a:r>
              <a:rPr/>
              <a:t>3 size classes (Factor B)</a:t>
            </a:r>
          </a:p>
          <a:p>
            <a:pPr lvl="0"/>
            <a:r>
              <a:rPr/>
              <a:t>5 replicate seedlings in each cell</a:t>
            </a:r>
          </a:p>
        </p:txBody>
      </p:sp>
      <p:pic>
        <p:nvPicPr>
          <p:cNvPr descr="images/clipboard-1057376698.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small seedling above a table crossing Factor A (light: Low, Medium, High) with Factor B (size: Small, Medium, Large), with each cell showing 5 replicate seedling IDs (e.g., 1_LS…5_LS), illustrating the seedling-growth factorial design example.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indent="0" marL="0">
              <a:buNone/>
            </a:pPr>
            <a:r>
              <a:rPr/>
              <a:t>Effects of food level and tadpole presence on larval salamander growth:</a:t>
            </a:r>
          </a:p>
          <a:p>
            <a:pPr lvl="0"/>
            <a:r>
              <a:rPr/>
              <a:t>2 food levels (Factor A)</a:t>
            </a:r>
          </a:p>
          <a:p>
            <a:pPr lvl="0"/>
            <a:r>
              <a:rPr/>
              <a:t>Presence/absence of tadpoles (Factor B)</a:t>
            </a:r>
          </a:p>
          <a:p>
            <a:pPr lvl="0"/>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larval salamander above a table crossing Factor A (food level: Low, High) with Factor B (tadpoles: Absent, Present), with each cell showing 8 replicate IDs (e.g., 1_LA…8_LA), illustrating the salamander-growth factorial design example.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1803400"/>
            <a:ext cx="2781300" cy="1689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limpets clustered on a rock above a table crossing Factor A (season: Winter, Summer) with Factor B (density: 8, 15, 30, 45 per plate), with each cell showing 3 replicate IDs (e.g., W.8.1…W.8.3), illustrating the limpet-fecundity factorial design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Nested Designs — Examples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indent="0" marL="0">
              <a:buNone/>
            </a:pPr>
            <a:r>
              <a:rPr b="1"/>
              <a:t>Nested designs cover:</a:t>
            </a:r>
            <a:r>
              <a:rPr/>
              <a:t> nested design examples, the linear model, analysis of variance, null hypotheses, unbalanced designs, assumptions, mixed-model ANOVA.</a:t>
            </a:r>
          </a:p>
          <a:p>
            <a:pPr lvl="0" indent="0" marL="0">
              <a:buNone/>
            </a:pPr>
            <a:r>
              <a:rPr b="1"/>
              <a:t>Nested designs:</a:t>
            </a:r>
            <a:r>
              <a:rPr/>
              <a:t> Factor A is usually fixed; Factor B is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362200"/>
            <a:ext cx="2781300" cy="54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Grid layout with Factor A across the top (4 levels) and Factor B down the side, each of the 4 levels of B uniquely numbered 1 through 12 nested within its own level of A, with two rows of X’s marking replicate observations under each B level.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indent="0" marL="0">
              <a:buNone/>
            </a:pPr>
            <a:r>
              <a:rPr/>
              <a:t>Study on effects of enclosure size on limpet growth:</a:t>
            </a:r>
          </a:p>
          <a:p>
            <a:pPr lvl="0"/>
            <a:r>
              <a:rPr/>
              <a:t>2 enclosure sizes (Factor A)</a:t>
            </a:r>
          </a:p>
          <a:p>
            <a:pPr lvl="0"/>
            <a:r>
              <a:rPr/>
              <a:t>5 replicate enclosures (Factor B)</a:t>
            </a:r>
          </a:p>
          <a:p>
            <a:pPr lvl="0"/>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498600"/>
            <a:ext cx="2781300" cy="229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limpets on a rock above a table for Factor A (enclosure size: Small, Large), each with 5 replicate enclosures (S1-S5 or L1-L5) and 5 replicate limpets per enclosure, illustrating the limpet-growth nested design example.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indent="0" marL="0">
              <a:buNone/>
            </a:pPr>
            <a:r>
              <a:rPr/>
              <a:t>Study on reef fish recruitment:</a:t>
            </a:r>
          </a:p>
          <a:p>
            <a:pPr lvl="0"/>
            <a:r>
              <a:rPr/>
              <a:t>5 sites (Factor A)</a:t>
            </a:r>
          </a:p>
          <a:p>
            <a:pPr lvl="0"/>
            <a:r>
              <a:rPr/>
              <a:t>6 transects at each site (Factor B)</a:t>
            </a:r>
          </a:p>
          <a:p>
            <a:pPr lvl="0"/>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206500"/>
            <a:ext cx="2781300" cy="2870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Underwater photo of reef fish above coral, above a table for Factor A (site: Site 1, Site 2), each with several transects (T1.1, T1.2, … T1.6) and replicate observations along each transect, illustrating the reef-fish recruitment nested design example.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low, medium, high</a:t>
            </a:r>
          </a:p>
          <a:p>
            <a:pPr lvl="0"/>
            <a:r>
              <a:rPr/>
              <a:t>4 patches of rocky bottom (3–4 m²) nested in each grazing level</a:t>
            </a:r>
          </a:p>
          <a:p>
            <a:pPr lvl="0"/>
            <a:r>
              <a:rPr/>
              <a:t>5 replicate quadrats per patch</a:t>
            </a:r>
          </a:p>
          <a:p>
            <a:pPr lvl="0" indent="0" marL="0">
              <a:buNone/>
            </a:pPr>
            <a:r>
              <a:rPr i="1"/>
              <a:t>This is our worked example for the rest of the lecture.</a:t>
            </a:r>
          </a:p>
        </p:txBody>
      </p:sp>
      <p:pic>
        <p:nvPicPr>
          <p:cNvPr descr="images/clipboard-3570106410.png" id="0" name="Picture 1"/>
          <p:cNvPicPr>
            <a:picLocks noGrp="1" noChangeAspect="1"/>
          </p:cNvPicPr>
          <p:nvPr/>
        </p:nvPicPr>
        <p:blipFill>
          <a:blip r:embed="rId2"/>
          <a:stretch>
            <a:fillRect/>
          </a:stretch>
        </p:blipFill>
        <p:spPr bwMode="auto">
          <a:xfrm>
            <a:off x="6121400" y="1143000"/>
            <a:ext cx="2781300" cy="2997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Underwater photo of a black sea urchin on coral, above a table for grazing level (None, Low, Medium, High) each with 4 patches nested inside it and 5 replicate quadrats per patch, illustrating the sea urchin grazing worked example used for the rest of this lecture.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The Nested Design Model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indent="0" marL="0">
              <a:buNone/>
            </a:pPr>
            <a:r>
              <a:rPr/>
              <a:t>Consider a nested design with:</a:t>
            </a:r>
          </a:p>
          <a:p>
            <a:pPr lvl="0"/>
            <a:r>
              <a:rPr/>
              <a:t>p levels of factor A (i = 1…p) — e.g., 4 grazing levels</a:t>
            </a:r>
          </a:p>
          <a:p>
            <a:pPr lvl="0"/>
            <a:r>
              <a:rPr/>
              <a:t>q levels of factor B (j = 1…q), nested within each level of A — e.g., 4 different patches per grazing level</a:t>
            </a:r>
          </a:p>
          <a:p>
            <a:pPr lvl="0"/>
            <a:r>
              <a:rPr/>
              <a:t>n replicates (k = 1…n) in each combination of A and B — e.g., 5 replicate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781800" y="660400"/>
            <a:ext cx="14478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Hierarchical tree diagram of the nested design structure: a top-level factor A_1 branching into several B levels nested within it, each branching further into individual replicate y observations, repeated for a general level A_i.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a Nested Design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We can calculate several means:</a:t>
                </a:r>
              </a:p>
              <a:p>
                <a:pPr lvl="0"/>
                <a:r>
                  <a:rPr/>
                  <a:t>Overall mean (across all levels of A and B) = </a:t>
                </a:r>
                <a14:m>
                  <m:oMath xmlns:m="http://schemas.openxmlformats.org/officeDocument/2006/math">
                    <m:acc>
                      <m:accPr>
                        <m:chr m:val="‾"/>
                      </m:accPr>
                      <m:e>
                        <m:r>
                          <m:t>y</m:t>
                        </m:r>
                      </m:e>
                    </m:acc>
                  </m:oMath>
                </a14:m>
              </a:p>
              <a:p>
                <a:pPr lvl="0"/>
                <a:r>
                  <a:rPr/>
                  <a:t>A mean for each level of A (across all levels of B in that A) = </a:t>
                </a:r>
                <a14:m>
                  <m:oMath xmlns:m="http://schemas.openxmlformats.org/officeDocument/2006/math">
                    <m:sSub>
                      <m:e>
                        <m:acc>
                          <m:accPr>
                            <m:chr m:val="‾"/>
                          </m:accPr>
                          <m:e>
                            <m:r>
                              <m:t>y</m:t>
                            </m:r>
                          </m:e>
                        </m:acc>
                      </m:e>
                      <m:sub>
                        <m:r>
                          <m:t>i</m:t>
                        </m:r>
                      </m:sub>
                    </m:sSub>
                  </m:oMath>
                </a14:m>
              </a:p>
              <a:p>
                <a:pPr lvl="0"/>
                <a:r>
                  <a:rPr/>
                  <a:t>A mean for each level of B within each A = </a:t>
                </a:r>
                <a14:m>
                  <m:oMath xmlns:m="http://schemas.openxmlformats.org/officeDocument/2006/math">
                    <m:sSub>
                      <m:e>
                        <m:acc>
                          <m:accPr>
                            <m:chr m:val="‾"/>
                          </m:accPr>
                          <m:e>
                            <m:r>
                              <m:t>y</m:t>
                            </m:r>
                          </m:e>
                        </m:acc>
                      </m:e>
                      <m:sub>
                        <m:r>
                          <m:t>j</m:t>
                        </m:r>
                        <m:r>
                          <m:rPr>
                            <m:sty m:val="p"/>
                          </m:rPr>
                          <m:t>(</m:t>
                        </m:r>
                        <m:r>
                          <m:t>i</m:t>
                        </m:r>
                        <m:r>
                          <m:rPr>
                            <m:sty m:val="p"/>
                          </m:rPr>
                          <m:t>)</m:t>
                        </m:r>
                      </m:sub>
                    </m:sSub>
                  </m:oMath>
                </a14:m>
              </a:p>
            </p:txBody>
          </p:sp>
        </mc:Choice>
      </mc:AlternateContent>
      <p:pic>
        <p:nvPicPr>
          <p:cNvPr descr="images/clipboard-2098022400.png" id="0" name="Picture 1"/>
          <p:cNvPicPr>
            <a:picLocks noGrp="1" noChangeAspect="1"/>
          </p:cNvPicPr>
          <p:nvPr/>
        </p:nvPicPr>
        <p:blipFill>
          <a:blip r:embed="rId2"/>
          <a:stretch>
            <a:fillRect/>
          </a:stretch>
        </p:blipFill>
        <p:spPr bwMode="auto">
          <a:xfrm>
            <a:off x="6121400" y="1778000"/>
            <a:ext cx="2781300" cy="1727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Grazing-level-by-patch table (grazing level: None, Low, Medium, High, each with 4 patches numbered 1-16) with each patch cell listing 5 replicate quadrat IDs, the layout used to compute overall, A-level, and B-within-A means.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Visualized</a:t>
            </a:r>
          </a:p>
        </p:txBody>
      </p:sp>
      <p:pic>
        <p:nvPicPr>
          <p:cNvPr descr="images/clipboard-1474611051.png" id="0" name="Picture 1"/>
          <p:cNvPicPr>
            <a:picLocks noGrp="1" noChangeAspect="1"/>
          </p:cNvPicPr>
          <p:nvPr/>
        </p:nvPicPr>
        <p:blipFill>
          <a:blip r:embed="rId2"/>
          <a:stretch>
            <a:fillRect/>
          </a:stretch>
        </p:blipFill>
        <p:spPr bwMode="auto">
          <a:xfrm>
            <a:off x="1181100" y="609600"/>
            <a:ext cx="67056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Full worked data table for the sea urchin example: for each grazing level (A1-A4, 0-100%) the density mean is shown boxed in blue (e.g., 39.2 for 0%), and for each patch nested within it the patch mean is shown boxed in green, with the overall mean mu = 20.26 marked on the right by a red bar spanning all values.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is the response variable — the value of the k-th replicate in the j-th level of B in the i-th level of A (e.g., algal biomass in the 3rd quadrat, in the 2nd patch, in the low-grazing treatment)</a:t>
                </a:r>
              </a:p>
              <a:p>
                <a:pPr lvl="0"/>
                <a14:m>
                  <m:oMath xmlns:m="http://schemas.openxmlformats.org/officeDocument/2006/math">
                    <m:r>
                      <m:t>μ</m:t>
                    </m:r>
                  </m:oMath>
                </a14:m>
                <a:r>
                  <a:rPr/>
                  <a:t> is the overall mean (overall average algal biomass)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looks almost identical to the two-way ANOVA model — the difference is entirely in the subscript: </a:t>
                </a:r>
                <a14:m>
                  <m:oMath xmlns:m="http://schemas.openxmlformats.org/officeDocument/2006/math">
                    <m:sSub>
                      <m:e>
                        <m:r>
                          <m:t>β</m:t>
                        </m:r>
                      </m:e>
                      <m:sub>
                        <m:r>
                          <m:t>j</m:t>
                        </m:r>
                        <m:r>
                          <m:rPr>
                            <m:sty m:val="p"/>
                          </m:rPr>
                          <m:t>(</m:t>
                        </m:r>
                        <m:r>
                          <m:t>i</m:t>
                        </m:r>
                        <m:r>
                          <m:rPr>
                            <m:sty m:val="p"/>
                          </m:rPr>
                          <m:t>)</m:t>
                        </m:r>
                      </m:sub>
                    </m:sSub>
                  </m:oMath>
                </a14:m>
                <a:r>
                  <a:rPr sz="2000"/>
                  <a:t>, not </a:t>
                </a:r>
                <a14:m>
                  <m:oMath xmlns:m="http://schemas.openxmlformats.org/officeDocument/2006/math">
                    <m:sSub>
                      <m:e>
                        <m:r>
                          <m:t>β</m:t>
                        </m:r>
                      </m:e>
                      <m:sub>
                        <m:r>
                          <m:t>j</m:t>
                        </m:r>
                      </m:sub>
                    </m:sSub>
                  </m:oMath>
                </a14:m>
                <a:r>
                  <a:rPr sz="2000"/>
                  <a:t>. B only exists </a:t>
                </a:r>
                <a:r>
                  <a:rPr sz="2000" i="1"/>
                  <a:t>inside</a:t>
                </a:r>
                <a:r>
                  <a:rPr sz="2000"/>
                  <a:t> a specific A.</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Fixed and Random Effects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 — the difference between the average biomass in all low-grazing-level quadrats and the overall mean</a:t>
                </a:r>
              </a:p>
              <a:p>
                <a:pPr lvl="0"/>
                <a14:m>
                  <m:oMath xmlns:m="http://schemas.openxmlformats.org/officeDocument/2006/math">
                    <m:sSub>
                      <m:e>
                        <m:r>
                          <m:t>β</m:t>
                        </m:r>
                      </m:e>
                      <m:sub>
                        <m:r>
                          <m:t>j</m:t>
                        </m:r>
                        <m:r>
                          <m:rPr>
                            <m:sty m:val="p"/>
                          </m:rPr>
                          <m:t>(</m:t>
                        </m:r>
                        <m:r>
                          <m:t>i</m:t>
                        </m:r>
                        <m:r>
                          <m:rPr>
                            <m:sty m:val="p"/>
                          </m:rPr>
                          <m:t>)</m:t>
                        </m:r>
                      </m:sub>
                    </m:sSub>
                  </m:oMath>
                </a14:m>
                <a:r>
                  <a:rPr/>
                  <a:t> is the </a:t>
                </a:r>
                <a:r>
                  <a:rPr i="1"/>
                  <a:t>random</a:t>
                </a:r>
                <a:r>
                  <a:rPr/>
                  <a:t> effect of factor B nested within factor A — usually a random variable measuring variance among all possible levels of B within each level of A (variance among all possible patches that could have been used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B being random is the whole point of nesting: you don’t care about </a:t>
            </a:r>
            <a:r>
              <a:rPr sz="2000" i="1"/>
              <a:t>these specific</a:t>
            </a:r>
            <a:r>
              <a:rPr sz="2000"/>
              <a:t> patches — you care about patch-to-patch variability in general.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Error Term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ε</m:t>
                        </m:r>
                      </m:e>
                      <m:sub>
                        <m:r>
                          <m:t>i</m:t>
                        </m:r>
                        <m:r>
                          <m:t>j</m:t>
                        </m:r>
                        <m:r>
                          <m:t>k</m:t>
                        </m:r>
                      </m:sub>
                    </m:sSub>
                  </m:oMath>
                </a14:m>
                <a:r>
                  <a:rPr/>
                  <a:t> is the error term — the unexplained variance associated with the k-th replicate in the j-th level of B in the i-th level of A</a:t>
                </a:r>
              </a:p>
              <a:p>
                <a:pPr lvl="0"/>
                <a14:m>
                  <m:oMath xmlns:m="http://schemas.openxmlformats.org/officeDocument/2006/math">
                    <m:sSub>
                      <m:e>
                        <m:r>
                          <m:t>α</m:t>
                        </m:r>
                      </m:e>
                      <m:sub>
                        <m:r>
                          <m:t>i</m:t>
                        </m:r>
                      </m:sub>
                    </m:sSub>
                  </m:oMath>
                </a14:m>
                <a:r>
                  <a:rPr/>
                  <a:t> is the effect of the i-th level of A: </a:t>
                </a:r>
                <a14:m>
                  <m:oMath xmlns:m="http://schemas.openxmlformats.org/officeDocument/2006/math">
                    <m:sSub>
                      <m:e>
                        <m:r>
                          <m:t>μ</m:t>
                        </m:r>
                      </m:e>
                      <m:sub>
                        <m:r>
                          <m:t>i</m:t>
                        </m:r>
                      </m:sub>
                    </m:sSub>
                    <m:r>
                      <m:rPr>
                        <m:sty m:val="p"/>
                      </m:rPr>
                      <m:t>−</m:t>
                    </m:r>
                    <m:r>
                      <m:t>μ</m:t>
                    </m:r>
                  </m:oMath>
                </a14:m>
              </a:p>
              <a:p>
                <a:pPr lvl="0"/>
                <a14:m>
                  <m:oMath xmlns:m="http://schemas.openxmlformats.org/officeDocument/2006/math">
                    <m:sSub>
                      <m:e>
                        <m:r>
                          <m:t>ε</m:t>
                        </m:r>
                      </m:e>
                      <m:sub>
                        <m:r>
                          <m:t>i</m:t>
                        </m:r>
                        <m:r>
                          <m:t>j</m:t>
                        </m:r>
                        <m:r>
                          <m:t>k</m:t>
                        </m:r>
                      </m:sub>
                    </m:sSub>
                  </m:oMath>
                </a14:m>
                <a:r>
                  <a:rPr/>
                  <a:t>: the difference between the observed algal biomass in the 3rd quadrat in the 2nd patch in the low-grazing treatment, and the </a:t>
                </a:r>
                <a:r>
                  <a:rPr i="1"/>
                  <a:t>predicted</a:t>
                </a:r>
                <a:r>
                  <a:rPr/>
                  <a:t> biomass (the average biomass in that 2nd patch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residual is measured against the </a:t>
            </a:r>
            <a:r>
              <a:rPr sz="2000" i="1"/>
              <a:t>cell</a:t>
            </a:r>
            <a:r>
              <a:rPr sz="2000"/>
              <a:t> mean (this specific patch), not the treatment mean — that’s what makes it “nested,” arithmetically.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Partitioning Variance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14:m>
                  <m:oMath xmlns:m="http://schemas.openxmlformats.org/officeDocument/2006/math">
                    <m:r>
                      <m:t>S</m:t>
                    </m:r>
                    <m:sSub>
                      <m:e>
                        <m:r>
                          <m:t>S</m:t>
                        </m:r>
                      </m:e>
                      <m:sub>
                        <m:r>
                          <m:t>r</m:t>
                        </m:r>
                        <m:r>
                          <m:t>e</m:t>
                        </m:r>
                        <m:r>
                          <m:t>s</m:t>
                        </m:r>
                        <m:r>
                          <m:t>i</m:t>
                        </m:r>
                        <m:r>
                          <m:t>d</m:t>
                        </m:r>
                      </m:sub>
                    </m:sSub>
                  </m:oMath>
                </a14:m>
                <a:r>
                  <a:rPr/>
                  <a:t> is the difference between each observation and the mean for its level of factor B, summed over all observations</a:t>
                </a:r>
              </a:p>
              <a:p>
                <a:pPr lvl="0"/>
                <a14:m>
                  <m:oMath xmlns:m="http://schemas.openxmlformats.org/officeDocument/2006/math">
                    <m:r>
                      <m:t>S</m:t>
                    </m:r>
                    <m:sSub>
                      <m:e>
                        <m:r>
                          <m:t>S</m:t>
                        </m:r>
                      </m:e>
                      <m:sub>
                        <m:r>
                          <m:t>t</m:t>
                        </m:r>
                        <m:r>
                          <m:t>o</m:t>
                        </m:r>
                        <m:r>
                          <m:t>t</m:t>
                        </m:r>
                        <m:r>
                          <m:t>a</m:t>
                        </m:r>
                        <m:r>
                          <m:t>l</m:t>
                        </m:r>
                      </m:sub>
                    </m:sSub>
                    <m:r>
                      <m:rPr>
                        <m:sty m:val="p"/>
                      </m:rPr>
                      <m:t>=</m:t>
                    </m:r>
                    <m:r>
                      <m:t>S</m:t>
                    </m:r>
                    <m:sSub>
                      <m:e>
                        <m:r>
                          <m:t>S</m:t>
                        </m:r>
                      </m:e>
                      <m:sub>
                        <m:r>
                          <m:t>A</m:t>
                        </m:r>
                      </m:sub>
                    </m:sSub>
                    <m:r>
                      <m:rPr>
                        <m:sty m:val="p"/>
                      </m:rPr>
                      <m:t>+</m:t>
                    </m:r>
                    <m:r>
                      <m:t>S</m:t>
                    </m:r>
                    <m:sSub>
                      <m:e>
                        <m:r>
                          <m:t>S</m:t>
                        </m:r>
                      </m:e>
                      <m:sub>
                        <m:r>
                          <m:t>B</m:t>
                        </m:r>
                      </m:sub>
                    </m:sSub>
                    <m:r>
                      <m:rPr>
                        <m:sty m:val="p"/>
                      </m:rPr>
                      <m:t>+</m:t>
                    </m:r>
                    <m:r>
                      <m:t>S</m:t>
                    </m:r>
                    <m:sSub>
                      <m:e>
                        <m:r>
                          <m:t>S</m:t>
                        </m:r>
                      </m:e>
                      <m:sub>
                        <m:r>
                          <m:t>r</m:t>
                        </m:r>
                        <m:r>
                          <m:t>e</m:t>
                        </m:r>
                        <m:r>
                          <m:t>s</m:t>
                        </m:r>
                        <m:r>
                          <m:t>i</m:t>
                        </m:r>
                        <m:r>
                          <m:t>d</m:t>
                        </m:r>
                      </m:sub>
                    </m:sSub>
                  </m:oMath>
                </a14:m>
              </a:p>
              <a:p>
                <a:pPr lvl="0"/>
                <a:r>
                  <a:rPr/>
                  <a:t>SS can be turned into MS by dividing by the appropriate df</a:t>
                </a:r>
              </a:p>
            </p:txBody>
          </p:sp>
        </mc:Choice>
      </mc:AlternateContent>
      <p:pic>
        <p:nvPicPr>
          <p:cNvPr descr="images/clipboard-2357756170.png" id="0" name="Picture 1"/>
          <p:cNvPicPr>
            <a:picLocks noGrp="1" noChangeAspect="1"/>
          </p:cNvPicPr>
          <p:nvPr/>
        </p:nvPicPr>
        <p:blipFill>
          <a:blip r:embed="rId2"/>
          <a:stretch>
            <a:fillRect/>
          </a:stretch>
        </p:blipFill>
        <p:spPr bwMode="auto">
          <a:xfrm>
            <a:off x="6121400" y="1930400"/>
            <a:ext cx="2781300" cy="142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Nested ANOVA table listing Source (A, B(A), Residual, Total), each with its sum-of-squares formula and degrees of freedom (p-1, p(q-1), pq(n-1), pqn-1), with the Residual and Total rows outlined in red to highlight how SS_residual is the deviation of each observation from its own B(A) cell mean.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As before, we partition the variance in the response variable using SS. </a:t>
                </a:r>
                <a14:m>
                  <m:oMath xmlns:m="http://schemas.openxmlformats.org/officeDocument/2006/math">
                    <m:r>
                      <m:t>S</m:t>
                    </m:r>
                    <m:sSub>
                      <m:e>
                        <m:r>
                          <m:t>S</m:t>
                        </m:r>
                      </m:e>
                      <m:sub>
                        <m:r>
                          <m:t>A</m:t>
                        </m:r>
                      </m:sub>
                    </m:sSub>
                  </m:oMath>
                </a14:m>
                <a:r>
                  <a:rPr/>
                  <a:t> is the SS of differences between the mean in each level of A and the overall mean.</a:t>
                </a:r>
              </a:p>
            </p:txBody>
          </p:sp>
        </mc:Choice>
      </mc:AlternateContent>
      <p:pic>
        <p:nvPicPr>
          <p:cNvPr descr="images/clipboard-1219870939.png" id="0" name="Picture 1"/>
          <p:cNvPicPr>
            <a:picLocks noGrp="1" noChangeAspect="1"/>
          </p:cNvPicPr>
          <p:nvPr/>
        </p:nvPicPr>
        <p:blipFill>
          <a:blip r:embed="rId2"/>
          <a:stretch>
            <a:fillRect/>
          </a:stretch>
        </p:blipFill>
        <p:spPr bwMode="auto">
          <a:xfrm>
            <a:off x="6121400" y="1930400"/>
            <a:ext cx="2781300" cy="142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nested ANOVA table with the A row outlined in red, highlighting SS_A as the sum of squared deviations of each level-A mean from the overall mean.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 xmlns:m="http://schemas.openxmlformats.org/officeDocument/2006/math">
                    <m:r>
                      <m:t>S</m:t>
                    </m:r>
                    <m:sSub>
                      <m:e>
                        <m:r>
                          <m:t>S</m:t>
                        </m:r>
                      </m:e>
                      <m:sub>
                        <m:r>
                          <m:t>B</m:t>
                        </m:r>
                      </m:sub>
                    </m:sSub>
                  </m:oMath>
                </a14:m>
                <a:r>
                  <a:rPr/>
                  <a:t> is the SS of the difference between the mean in each level of B and the mean of the corresponding level of A, summed across all levels of A.</a:t>
                </a:r>
              </a:p>
            </p:txBody>
          </p:sp>
        </mc:Choice>
      </mc:AlternateContent>
      <p:pic>
        <p:nvPicPr>
          <p:cNvPr descr="images/clipboard-2467119661.png" id="0" name="Picture 1"/>
          <p:cNvPicPr>
            <a:picLocks noGrp="1" noChangeAspect="1"/>
          </p:cNvPicPr>
          <p:nvPr/>
        </p:nvPicPr>
        <p:blipFill>
          <a:blip r:embed="rId2"/>
          <a:stretch>
            <a:fillRect/>
          </a:stretch>
        </p:blipFill>
        <p:spPr bwMode="auto">
          <a:xfrm>
            <a:off x="6121400" y="1930400"/>
            <a:ext cx="2781300" cy="142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nested ANOVA table with the B(A) row outlined in red, highlighting SS_B(A) as the sum of squared deviations of each level-B-within-A mean from its corresponding level-A mean.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Nested ANOVA Table</a:t>
            </a:r>
          </a:p>
        </p:txBody>
      </p:sp>
      <p:pic>
        <p:nvPicPr>
          <p:cNvPr descr="images/clipboard-449121940.png" id="0" name="Picture 1"/>
          <p:cNvPicPr>
            <a:picLocks noGrp="1" noChangeAspect="1"/>
          </p:cNvPicPr>
          <p:nvPr/>
        </p:nvPicPr>
        <p:blipFill>
          <a:blip r:embed="rId2"/>
          <a:stretch>
            <a:fillRect/>
          </a:stretch>
        </p:blipFill>
        <p:spPr bwMode="auto">
          <a:xfrm>
            <a:off x="1790700" y="609600"/>
            <a:ext cx="54991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The full sea urchin data table repeated (density means per grazing level, patch means nested within each, overall mean y-bar = 20.26), shown here alongside the nested ANOVA table structure it feeds into.</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Hypotheses and Assumptions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hypotheses are tested on values of MS. </a:t>
                </a:r>
                <a:r>
                  <a:rPr b="1"/>
                  <a:t>1. No effects of factor A</a:t>
                </a:r>
                <a:r>
                  <a:rPr/>
                  <a:t> — assuming A is fixed:</a:t>
                </a:r>
              </a:p>
              <a:p>
                <a:pPr lvl="0"/>
                <a14:m>
                  <m:oMath xmlns:m="http://schemas.openxmlformats.org/officeDocument/2006/math">
                    <m:sSub>
                      <m:e>
                        <m:r>
                          <m:t>H</m:t>
                        </m:r>
                      </m:e>
                      <m:sub>
                        <m:r>
                          <m:t>0</m:t>
                        </m:r>
                      </m:sub>
                    </m:sSub>
                    <m:r>
                      <m:rPr>
                        <m:sty m:val="p"/>
                      </m:rPr>
                      <m:t>(</m:t>
                    </m:r>
                    <m:r>
                      <m:t>A</m:t>
                    </m:r>
                    <m:r>
                      <m:rPr>
                        <m:sty m:val="p"/>
                      </m:rPr>
                      <m:t>)</m:t>
                    </m:r>
                  </m:oMath>
                </a14:m>
                <a:r>
                  <a:rPr/>
                  <a:t>: </a:t>
                </a:r>
                <a14:m>
                  <m:oMath xmlns:m="http://schemas.openxmlformats.org/officeDocument/2006/math">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i</m:t>
                        </m:r>
                      </m:sub>
                    </m:sSub>
                    <m:r>
                      <m:rPr>
                        <m:sty m:val="p"/>
                      </m:rPr>
                      <m:t>=</m:t>
                    </m:r>
                    <m:r>
                      <m:t>μ</m:t>
                    </m:r>
                  </m:oMath>
                </a14:m>
              </a:p>
              <a:p>
                <a:pPr lvl="0"/>
                <a:r>
                  <a:rPr/>
                  <a:t>Same as in 1-factor ANOVA, using means from B factors nested within each level of A</a:t>
                </a:r>
              </a:p>
              <a:p>
                <a:pPr lvl="0"/>
                <a:r>
                  <a:rPr/>
                  <a:t>(no difference in algal biomass across all grazing levels: </a:t>
                </a:r>
                <a14:m>
                  <m:oMath xmlns:m="http://schemas.openxmlformats.org/officeDocument/2006/math">
                    <m:sSub>
                      <m:e>
                        <m:r>
                          <m:t>μ</m:t>
                        </m:r>
                      </m:e>
                      <m:sub>
                        <m:r>
                          <m:t>n</m:t>
                        </m:r>
                        <m:r>
                          <m:t>o</m:t>
                        </m:r>
                        <m:r>
                          <m:t>n</m:t>
                        </m:r>
                        <m:r>
                          <m:t>e</m:t>
                        </m:r>
                      </m:sub>
                    </m:sSub>
                    <m:r>
                      <m:rPr>
                        <m:sty m:val="p"/>
                      </m:rPr>
                      <m:t>=</m:t>
                    </m:r>
                    <m:sSub>
                      <m:e>
                        <m:r>
                          <m:t>μ</m:t>
                        </m:r>
                      </m:e>
                      <m:sub>
                        <m:r>
                          <m:t>l</m:t>
                        </m:r>
                        <m:r>
                          <m:t>o</m:t>
                        </m:r>
                        <m:r>
                          <m:t>w</m:t>
                        </m:r>
                      </m:sub>
                    </m:sSub>
                    <m:r>
                      <m:rPr>
                        <m:sty m:val="p"/>
                      </m:rPr>
                      <m:t>=</m:t>
                    </m:r>
                    <m:sSub>
                      <m:e>
                        <m:r>
                          <m:t>μ</m:t>
                        </m:r>
                      </m:e>
                      <m:sub>
                        <m:r>
                          <m:t>m</m:t>
                        </m:r>
                        <m:r>
                          <m:t>e</m:t>
                        </m:r>
                        <m:r>
                          <m:t>d</m:t>
                        </m:r>
                      </m:sub>
                    </m:sSub>
                    <m:r>
                      <m:rPr>
                        <m:sty m:val="p"/>
                      </m:rPr>
                      <m:t>=</m:t>
                    </m:r>
                    <m:sSub>
                      <m:e>
                        <m:r>
                          <m:t>μ</m:t>
                        </m:r>
                      </m:e>
                      <m:sub>
                        <m:r>
                          <m:t>h</m:t>
                        </m:r>
                        <m:r>
                          <m:t>i</m:t>
                        </m:r>
                        <m:r>
                          <m:t>g</m:t>
                        </m:r>
                        <m:r>
                          <m:t>h</m:t>
                        </m:r>
                      </m:sub>
                    </m:sSub>
                  </m:oMath>
                </a14:m>
                <a:r>
                  <a:rPr/>
                  <a:t>)</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701800"/>
            <a:ext cx="2781300" cy="18796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for the ‘A fixed, B random’ case listing the expected mean square and F-ratio formula for each source (A, B(A), Residual), showing that A is tested against MS_B(A) rather than MS_Residual because B is a random effect.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2. No effects of factor B nested in A</a:t>
                </a:r>
                <a:r>
                  <a:rPr/>
                  <a:t> — assuming B is random:</a:t>
                </a:r>
              </a:p>
              <a:p>
                <a:pPr lvl="0"/>
                <a14:m>
                  <m:oMath xmlns:m="http://schemas.openxmlformats.org/officeDocument/2006/math">
                    <m:sSub>
                      <m:e>
                        <m:r>
                          <m:t>H</m:t>
                        </m:r>
                      </m:e>
                      <m:sub>
                        <m:r>
                          <m:t>0</m:t>
                        </m:r>
                      </m:sub>
                    </m:sSub>
                    <m:r>
                      <m:rPr>
                        <m:sty m:val="p"/>
                      </m:rPr>
                      <m:t>(</m:t>
                    </m:r>
                    <m:r>
                      <m:t>B</m:t>
                    </m:r>
                    <m:r>
                      <m:rPr>
                        <m:sty m:val="p"/>
                      </m:rPr>
                      <m:t>)</m:t>
                    </m:r>
                  </m:oMath>
                </a14:m>
                <a:r>
                  <a:rPr/>
                  <a:t>: </a:t>
                </a:r>
                <a14:m>
                  <m:oMath xmlns:m="http://schemas.openxmlformats.org/officeDocument/2006/math">
                    <m:sSubSup>
                      <m:e>
                        <m:r>
                          <m:t>σ</m:t>
                        </m:r>
                      </m:e>
                      <m:sub>
                        <m:r>
                          <m:t>β</m:t>
                        </m:r>
                      </m:sub>
                      <m:sup>
                        <m:r>
                          <m:t>2</m:t>
                        </m:r>
                      </m:sup>
                    </m:sSubSup>
                    <m:r>
                      <m:rPr>
                        <m:sty m:val="p"/>
                      </m:rPr>
                      <m:t>=</m:t>
                    </m:r>
                    <m:r>
                      <m:t>0</m:t>
                    </m:r>
                  </m:oMath>
                </a14:m>
                <a:r>
                  <a:rPr/>
                  <a:t> (no variance added due to differences between all possible levels of B)</a:t>
                </a:r>
              </a:p>
              <a:p>
                <a:pPr lvl="0"/>
                <a:r>
                  <a:rPr/>
                  <a:t>(no variance added due to differences between patches)</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701800"/>
            <a:ext cx="2781300" cy="18796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for the ‘A fixed, B random’ case listing the expected mean square and F-ratio formula for each source (A, B(A), Residual), showing that A is tested against MS_B(A) rather than MS_Residual because B is a random effect.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the Analysis</a:t>
            </a:r>
          </a:p>
        </p:txBody>
      </p:sp>
      <p:sp>
        <p:nvSpPr>
          <p:cNvPr id="3" name="Content Placeholder 2"/>
          <p:cNvSpPr>
            <a:spLocks noGrp="1"/>
          </p:cNvSpPr>
          <p:nvPr>
            <p:ph idx="1" sz="half"/>
          </p:nvPr>
        </p:nvSpPr>
        <p:spPr/>
        <p:txBody>
          <a:bodyPr/>
          <a:lstStyle/>
          <a:p>
            <a:pPr lvl="0" indent="0" marL="0">
              <a:buNone/>
            </a:pPr>
            <a:r>
              <a:rPr b="1"/>
              <a:t>Conclusion:</a:t>
            </a:r>
          </a:p>
          <a:p>
            <a:pPr lvl="0" indent="0" marL="0">
              <a:buNone/>
            </a:pPr>
            <a:r>
              <a:rPr/>
              <a:t>“Significant variation between replicate patches within each treatment, but no significant difference in the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447800"/>
            <a:ext cx="2781300" cy="2374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Published nested ANOVA results table for the sea urchin study, showing Treatment not significant (F = 2.72, p = 0.091) but Patches(treatment) highly significant (F = 5.93, p &lt; 0.001), with a boxplot below showing percent cover of filamentous algae declining from the None to High urchin-density treatments.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arise from:</a:t>
            </a:r>
          </a:p>
          <a:p>
            <a:pPr lvl="0"/>
            <a:r>
              <a:rPr/>
              <a:t>An uneven number of B levels within each A</a:t>
            </a:r>
          </a:p>
          <a:p>
            <a:pPr lvl="0"/>
            <a:r>
              <a:rPr/>
              <a:t>An uneven number of replicates within each level of B</a:t>
            </a:r>
          </a:p>
          <a:p>
            <a:pPr lvl="0" indent="0" marL="0">
              <a:buNone/>
            </a:pPr>
            <a:r>
              <a:rPr/>
              <a:t>Not a problem unless you have unequal variance or a large deviation from normality.</a:t>
            </a:r>
          </a:p>
        </p:txBody>
      </p:sp>
      <p:pic>
        <p:nvPicPr>
          <p:cNvPr descr="images/clipboard-2098022400.png" id="0" name="Picture 1"/>
          <p:cNvPicPr>
            <a:picLocks noGrp="1" noChangeAspect="1"/>
          </p:cNvPicPr>
          <p:nvPr/>
        </p:nvPicPr>
        <p:blipFill>
          <a:blip r:embed="rId2"/>
          <a:stretch>
            <a:fillRect/>
          </a:stretch>
        </p:blipFill>
        <p:spPr bwMode="auto">
          <a:xfrm>
            <a:off x="6121400" y="1778000"/>
            <a:ext cx="2781300" cy="17272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grazing-level-by-patch layout table repeated, shown here in the context of unequal sample sizes in unbalanced nested designs.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Assumptions</a:t>
            </a:r>
          </a:p>
        </p:txBody>
      </p:sp>
      <p:sp>
        <p:nvSpPr>
          <p:cNvPr id="3" name="Content Placeholder 2"/>
          <p:cNvSpPr>
            <a:spLocks noGrp="1"/>
          </p:cNvSpPr>
          <p:nvPr>
            <p:ph idx="1" sz="half"/>
          </p:nvPr>
        </p:nvSpPr>
        <p:spPr/>
        <p:txBody>
          <a:bodyPr/>
          <a:lstStyle/>
          <a:p>
            <a:pPr lvl="0" indent="0" marL="0">
              <a:buNone/>
            </a:pPr>
            <a:r>
              <a:rPr/>
              <a:t>As usual, we assume: equal variance, normality, no outliers, independence of observations.</a:t>
            </a:r>
          </a:p>
          <a:p>
            <a:pPr lvl="0" indent="0" marL="0">
              <a:buNone/>
            </a:pPr>
            <a:r>
              <a:rPr/>
              <a:t>Equal variance + normality need to be assessed at </a:t>
            </a:r>
            <a:r>
              <a:rPr b="1"/>
              <a:t>both levels</a:t>
            </a:r>
            <a:r>
              <a:rPr/>
              <a:t>:</a:t>
            </a:r>
          </a:p>
          <a:p>
            <a:pPr lvl="0"/>
            <a:r>
              <a:rPr/>
              <a:t>Since means for each level of B within each A are used for the H-test about A, need to assess whether </a:t>
            </a:r>
            <a:r>
              <a:rPr i="1"/>
              <a:t>those means</a:t>
            </a:r>
            <a:r>
              <a:rPr/>
              <a:t> meet normality and equal variance</a:t>
            </a:r>
          </a:p>
          <a:p>
            <a:pPr lvl="0"/>
            <a:r>
              <a:rPr/>
              <a:t>Examine residuals for the H-test about B</a:t>
            </a:r>
          </a:p>
          <a:p>
            <a:pPr lvl="0"/>
            <a:r>
              <a:rPr/>
              <a:t>Transformations can be used</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This is the part people most often get wrong: checking assumptions on the </a:t>
            </a:r>
            <a:r>
              <a:rPr sz="2000" i="1"/>
              <a:t>raw data</a:t>
            </a:r>
            <a:r>
              <a:rPr sz="2000"/>
              <a:t> isn’t enough for a nested design — you need to check them at the level each hypothesis test actually operates 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Sea Urchin Example — Data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the Hard Way</a:t>
            </a:r>
          </a:p>
        </p:txBody>
      </p:sp>
      <p:sp>
        <p:nvSpPr>
          <p:cNvPr id="3" name="Content Placeholder 2"/>
          <p:cNvSpPr>
            <a:spLocks noGrp="1"/>
          </p:cNvSpPr>
          <p:nvPr>
            <p:ph idx="1" sz="half"/>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(none = removed, low = control, medium = 33% of original density, high = 66% of original density)</a:t>
            </a:r>
          </a:p>
          <a:p>
            <a:pPr lvl="0"/>
            <a:r>
              <a:rPr/>
              <a:t>Five replicate quadrats measured within each treatment-patch combination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Quinn &amp; Keough (2002), </a:t>
            </a:r>
            <a:r>
              <a:rPr sz="2000" i="1"/>
              <a:t>Experimental Design and Data Analysis for Biologists</a:t>
            </a:r>
            <a:r>
              <a:rPr sz="2000"/>
              <a:t> — this dataset and analysis follow their treatment of the sea urchin/algae example.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The data frame contains: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First Look at the Data</a:t>
            </a:r>
          </a:p>
        </p:txBody>
      </p:sp>
      <p:pic>
        <p:nvPicPr>
          <p:cNvPr descr="nested_anova_lecture_files/figure-pptx/unnamed-chunk-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The Wrong Way — Naive Factorial Model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 — Setting 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In this experimental design, </a:t>
                </a:r>
                <a:r>
                  <a:rPr>
                    <a:latin typeface="Courier"/>
                  </a:rPr>
                  <a:t>patch</a:t>
                </a:r>
                <a:r>
                  <a:rPr/>
                  <a:t> is nested within </a:t>
                </a:r>
                <a:r>
                  <a:rPr>
                    <a:latin typeface="Courier"/>
                  </a:rPr>
                  <a:t>treat</a:t>
                </a:r>
                <a:r>
                  <a:rPr/>
                  <a:t> because each patch received only one treatment level — a hierarchical design where the effect of patches must be considered </a:t>
                </a:r>
                <a:r>
                  <a:rPr i="1"/>
                  <a:t>within</a:t>
                </a:r>
                <a:r>
                  <a:rPr/>
                  <a:t> each treatment (Quinn &amp; Keough 2002).</a:t>
                </a:r>
              </a:p>
              <a:p>
                <a:pPr lvl="0" indent="0" marL="0">
                  <a:buNone/>
                </a:pPr>
                <a:r>
                  <a:rPr/>
                  <a:t>We’ll use a traditional nested ANOVA. You </a:t>
                </a:r>
                <a:r>
                  <a:rPr i="1"/>
                  <a:t>could</a:t>
                </a:r>
                <a:r>
                  <a:rPr/>
                  <a:t> make this easy by averaging </a:t>
                </a:r>
                <a:r>
                  <a:rPr>
                    <a:latin typeface="Courier"/>
                  </a:rPr>
                  <a:t>algae</a:t>
                </a:r>
                <a:r>
                  <a:rPr/>
                  <a:t> per patch and running a one-way ANOVA — but your power is significantly reduced, and you lose estimates of variability among patches.</a:t>
                </a:r>
              </a:p>
              <a:p>
                <a:pPr lvl="0" indent="0" marL="0">
                  <a:buNone/>
                </a:pPr>
                <a:r>
                  <a:rPr b="1"/>
                  <a:t>This first attempt is really a regular factorial ANOVA</a:t>
                </a:r>
                <a:r>
                  <a:rPr/>
                  <a:t> — not appropriate, since it’s pseudoreplicated. Also, the F-value for Treat is using </a:t>
                </a:r>
                <a14:m>
                  <m:oMath xmlns:m="http://schemas.openxmlformats.org/officeDocument/2006/math">
                    <m:r>
                      <m:t>M</m:t>
                    </m:r>
                    <m:sSub>
                      <m:e>
                        <m:r>
                          <m:t>S</m:t>
                        </m:r>
                      </m:e>
                      <m:sub>
                        <m:r>
                          <m:t>r</m:t>
                        </m:r>
                        <m:r>
                          <m:t>e</m:t>
                        </m:r>
                        <m:r>
                          <m:t>s</m:t>
                        </m:r>
                        <m:r>
                          <m:t>i</m:t>
                        </m:r>
                        <m:r>
                          <m:t>d</m:t>
                        </m:r>
                      </m:sub>
                    </m:sSub>
                  </m:oMath>
                </a14:m>
                <a:r>
                  <a:rPr/>
                  <a:t> when it should use </a:t>
                </a:r>
                <a14:m>
                  <m:oMath xmlns:m="http://schemas.openxmlformats.org/officeDocument/2006/math">
                    <m:r>
                      <m:t>M</m:t>
                    </m:r>
                    <m:sSub>
                      <m:e>
                        <m:r>
                          <m:t>S</m:t>
                        </m:r>
                      </m:e>
                      <m:sub>
                        <m:r>
                          <m:t>t</m:t>
                        </m:r>
                        <m:r>
                          <m:t>r</m:t>
                        </m:r>
                        <m:r>
                          <m:t>e</m:t>
                        </m:r>
                        <m:r>
                          <m:t>a</m:t>
                        </m:r>
                        <m:r>
                          <m:t>t</m:t>
                        </m:r>
                        <m:r>
                          <m:rPr>
                            <m:sty m:val="p"/>
                          </m:rPr>
                          <m:t>:</m:t>
                        </m:r>
                        <m:r>
                          <m:t>p</m:t>
                        </m:r>
                        <m:r>
                          <m:t>a</m:t>
                        </m:r>
                        <m:r>
                          <m:t>t</m:t>
                        </m:r>
                        <m:r>
                          <m:t>c</m:t>
                        </m:r>
                        <m:r>
                          <m:t>h</m:t>
                        </m:r>
                      </m:sub>
                    </m:sSub>
                  </m:oMath>
                </a14:m>
                <a:r>
                  <a:rPr/>
                  <a:t>.</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F-value is really MS(patch nested in treatment), because those are the true replicates</a:t>
            </a:r>
          </a:p>
          <a:p>
            <a:pPr lvl="0"/>
            <a:r>
              <a:rPr/>
              <a:t>We can specify that — the problem is this approach can’t really handle unbalanced designs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Modern Approaches — afex and Mixed Models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(1|treat:patch),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Notation we’ll get into later:</a:t>
            </a:r>
          </a:p>
          <a:p>
            <a:pPr lvl="0"/>
            <a:r>
              <a:rPr/>
              <a:t>Random intercept, fixed slope — </a:t>
            </a:r>
            <a:r>
              <a:rPr>
                <a:latin typeface="Courier"/>
              </a:rPr>
              <a:t>(1|patch)</a:t>
            </a:r>
          </a:p>
          <a:p>
            <a:pPr lvl="0"/>
            <a:r>
              <a:rPr/>
              <a:t>Random intercept, random slope — </a:t>
            </a:r>
            <a:r>
              <a:rPr>
                <a:latin typeface="Courier"/>
              </a:rPr>
              <a:t>(1|treat:patch)</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Post-Hoc and Interpretation</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17.65 13.3 12   1.327  0.7557</a:t>
            </a:r>
            <a:br/>
            <a:r>
              <a:rPr i="1">
                <a:solidFill>
                  <a:srgbClr val="5E5E5E"/>
                </a:solidFill>
                <a:latin typeface="Courier"/>
              </a:rPr>
              <a:t>##  none - medium    20.20 13.3 12   1.518  0.6356</a:t>
            </a:r>
            <a:br/>
            <a:r>
              <a:rPr i="1">
                <a:solidFill>
                  <a:srgbClr val="5E5E5E"/>
                </a:solidFill>
                <a:latin typeface="Courier"/>
              </a:rPr>
              <a:t>##  none - high      37.90 13.3 12   2.849  0.0848</a:t>
            </a:r>
            <a:br/>
            <a:r>
              <a:rPr i="1">
                <a:solidFill>
                  <a:srgbClr val="5E5E5E"/>
                </a:solidFill>
                <a:latin typeface="Courier"/>
              </a:rPr>
              <a:t>##  low - medium      2.55 13.3 12   0.192  1.0000</a:t>
            </a:r>
            <a:br/>
            <a:r>
              <a:rPr i="1">
                <a:solidFill>
                  <a:srgbClr val="5E5E5E"/>
                </a:solidFill>
                <a:latin typeface="Courier"/>
              </a:rPr>
              <a:t>##  low - high       20.25 13.3 12   1.522  0.6331</a:t>
            </a:r>
            <a:br/>
            <a:r>
              <a:rPr i="1">
                <a:solidFill>
                  <a:srgbClr val="5E5E5E"/>
                </a:solidFill>
                <a:latin typeface="Courier"/>
              </a:rPr>
              <a:t>##  medium - high    17.70 13.3 12   1.330  0.7534</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high      1.3 9.41 12   -19.20     21.8  a    </a:t>
            </a:r>
            <a:br/>
            <a:r>
              <a:rPr i="1">
                <a:solidFill>
                  <a:srgbClr val="5E5E5E"/>
                </a:solidFill>
                <a:latin typeface="Courier"/>
              </a:rPr>
              <a:t>##  medium   19.0 9.41 12    -1.50     39.5  a    </a:t>
            </a:r>
            <a:br/>
            <a:r>
              <a:rPr i="1">
                <a:solidFill>
                  <a:srgbClr val="5E5E5E"/>
                </a:solidFill>
                <a:latin typeface="Courier"/>
              </a:rPr>
              <a:t>##  low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Assumptions and Visualization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(next module) do a better job.</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nested_anova_lecture_files/figure-pptx/unnamed-chunk-15-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nested_anova_lecture_files/figure-pptx/unnamed-chunk-17-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nested_anova_lecture_files/figure-pptx/unnamed-chunk-18-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12 · Discussion and Manual Calculation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nested ANOVA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Nested ANOVA</dc:title>
  <dc:creator>Bill Perry</dc:creator>
  <cp:keywords/>
  <dc:description>Factorial vs. nested designs, the nested-ANOVA linear model and variance partitioning, a naive-vs-correct worked example (sea urchin grazing and algae cover), afex and mixed-model (lmer) approaches, diagnostics, post-hoc comparisons, and a by-hand F-ratio calculation.</dc:description>
  <dcterms:created xsi:type="dcterms:W3CDTF">2026-08-24T18:44:29Z</dcterms:created>
  <dcterms:modified xsi:type="dcterms:W3CDTF">2026-08-24T18:44:29Z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7</vt:lpwstr>
  </property>
</Properties>
</file>