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 Multifactor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Data Overview</a:t>
            </a:r>
          </a:p>
        </p:txBody>
      </p:sp>
      <p:sp>
        <p:nvSpPr>
          <p:cNvPr id="3" name="Content Placeholder 2"/>
          <p:cNvSpPr>
            <a:spLocks noGrp="1"/>
          </p:cNvSpPr>
          <p:nvPr>
            <p:ph idx="1"/>
          </p:nvPr>
        </p:nvSpPr>
        <p:spPr/>
        <p:txBody>
          <a:bodyPr/>
          <a:lstStyle/>
          <a:p>
            <a:pPr lvl="0"/>
            <a:r>
              <a:rPr/>
              <a:t>The </a:t>
            </a:r>
            <a:r>
              <a:rPr b="1"/>
              <a:t>u_df</a:t>
            </a:r>
            <a:r>
              <a:rPr/>
              <a:t> dataframe contains observations with the following variables:</a:t>
            </a:r>
          </a:p>
          <a:p>
            <a:pPr lvl="1"/>
            <a:r>
              <a:rPr b="1"/>
              <a:t>patch</a:t>
            </a:r>
            <a:r>
              <a:rPr/>
              <a:t>: Random patches (1-16) where treatments were applied</a:t>
            </a:r>
          </a:p>
          <a:p>
            <a:pPr lvl="1"/>
            <a:r>
              <a:rPr b="1"/>
              <a:t>treat</a:t>
            </a:r>
            <a:r>
              <a:rPr/>
              <a:t>: Urchin density treatment - none, low, medium, high</a:t>
            </a:r>
          </a:p>
          <a:p>
            <a:pPr lvl="1"/>
            <a:r>
              <a:rPr b="1"/>
              <a:t>quad</a:t>
            </a:r>
            <a:r>
              <a:rPr/>
              <a:t>: Replicate quadrats within each patch: treatment combination</a:t>
            </a:r>
          </a:p>
          <a:p>
            <a:pPr lvl="1"/>
            <a:r>
              <a:rPr b="1"/>
              <a:t>algae</a:t>
            </a:r>
            <a:r>
              <a:rPr/>
              <a:t>: Percentage cover of filamentous algae (response variable)</a:t>
            </a:r>
          </a:p>
          <a:p>
            <a:pPr lvl="0" indent="0">
              <a:buNone/>
            </a:pPr>
            <a:r>
              <a:rPr>
                <a:latin typeface="Courier"/>
              </a:rPr>
              <a:t># A tibble: 4 × 7
  treat      n  mean    sd    se   min   max
  &lt;fct&gt;  &lt;int&gt; &lt;dbl&gt; &lt;dbl&gt; &lt;dbl&gt; &lt;dbl&gt; &lt;dbl&gt;
1 none      20  39.2 28.7  6.41      0    83
2 low       20  21.6 25.1  5.62      0    79
3 medium    20  19   25.7  5.74      0    71
4 high      20   1.3  3.18 0.711     0    13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pic>
        <p:nvPicPr>
          <p:cNvPr descr="nested_anova_activity_files/figure-pptx/unnamed-chunk-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Analysis</a:t>
            </a:r>
          </a:p>
        </p:txBody>
      </p:sp>
      <p:sp>
        <p:nvSpPr>
          <p:cNvPr id="3" name="Content Placeholder 2"/>
          <p:cNvSpPr>
            <a:spLocks noGrp="1"/>
          </p:cNvSpPr>
          <p:nvPr>
            <p:ph idx="1"/>
          </p:nvPr>
        </p:nvSpPr>
        <p:spPr/>
        <p:txBody>
          <a:bodyPr/>
          <a:lstStyle/>
          <a:p>
            <a:pPr lvl="0" indent="0" marL="0">
              <a:buNone/>
            </a:pPr>
            <a:r>
              <a:rPr/>
              <a:t>In this experimental design, patch is nested within treat because each patch received only one treatment level. This is a hierarchical design where the effect of patches must be considered within each treatment. Following the approach used in Quinn &amp; Keough (2002), we’ll use a traditional nested ANOVA.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base R</a:t>
            </a:r>
          </a:p>
        </p:txBody>
      </p:sp>
      <p:sp>
        <p:nvSpPr>
          <p:cNvPr id="3" name="Content Placeholder 2"/>
          <p:cNvSpPr>
            <a:spLocks noGrp="1"/>
          </p:cNvSpPr>
          <p:nvPr>
            <p:ph idx="1"/>
          </p:nvPr>
        </p:nvSpPr>
        <p:spPr/>
        <p:txBody>
          <a:bodyPr/>
          <a:lstStyle/>
          <a:p>
            <a:pPr lvl="0" indent="0">
              <a:buNone/>
            </a:pPr>
            <a:r>
              <a:rPr>
                <a:latin typeface="Courier"/>
              </a:rPr>
              <a:t>
Error: treat:patch
          Df Sum Sq Mean Sq F value Pr(&gt;F)  
treat      3  14429    4810   2.717 0.0913 .
Residuals 12  21242    1770                 
---
Signif. codes:  0 '***' 0.001 '**' 0.01 '*' 0.05 '.' 0.1 ' ' 1
Error: Within
          Df Sum Sq Mean Sq F value Pr(&gt;F)
Residuals 64  19110   298.6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AFEX package</a:t>
            </a:r>
          </a:p>
        </p:txBody>
      </p:sp>
      <p:sp>
        <p:nvSpPr>
          <p:cNvPr id="3" name="Content Placeholder 2"/>
          <p:cNvSpPr>
            <a:spLocks noGrp="1"/>
          </p:cNvSpPr>
          <p:nvPr>
            <p:ph idx="1"/>
          </p:nvPr>
        </p:nvSpPr>
        <p:spPr/>
        <p:txBody>
          <a:bodyPr/>
          <a:lstStyle/>
          <a:p>
            <a:pPr lvl="0"/>
            <a:r>
              <a:rPr/>
              <a:t>Using afex package (recommended for unbalanced designs)</a:t>
            </a:r>
          </a:p>
          <a:p>
            <a:pPr lvl="0"/>
            <a:r>
              <a:rPr/>
              <a:t>The afex package is specifically designed for ANOVA with Type III SS</a:t>
            </a:r>
          </a:p>
          <a:p>
            <a:pPr lvl="1"/>
            <a:r>
              <a:rPr/>
              <a:t>handles nested designs well</a:t>
            </a:r>
          </a:p>
          <a:p>
            <a:pPr lvl="0" indent="0">
              <a:buNone/>
            </a:pPr>
            <a:r>
              <a:rPr>
                <a:latin typeface="Courier"/>
              </a:rPr>
              <a:t>Anova Table (Type 3 tests)
Response: algae
      num Df den Df    MSE      F     ges  Pr(&gt;F)  
treat      3     12 354.03 2.7171 0.40451 0.09126 .
---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a:t>BOBYQA (Bound Optimization BY Quadratic Approximation)</a:t>
            </a:r>
          </a:p>
          <a:p>
            <a:pPr lvl="1"/>
            <a:r>
              <a:rPr/>
              <a:t>optimization algorithm used in mixed-effects modeling</a:t>
            </a:r>
          </a:p>
          <a:p>
            <a:pPr lvl="1"/>
            <a:r>
              <a:rPr/>
              <a:t>finds the best parameter values that maximize the likelihood function</a:t>
            </a:r>
          </a:p>
          <a:p>
            <a:pPr lvl="1"/>
            <a:r>
              <a:rPr/>
              <a:t>especially useful when fitting complex models</a:t>
            </a:r>
          </a:p>
          <a:p>
            <a:pPr lvl="0"/>
            <a:r>
              <a:rPr/>
              <a:t>So the way to code</a:t>
            </a:r>
          </a:p>
          <a:p>
            <a:pPr lvl="1"/>
            <a:r>
              <a:rPr/>
              <a:t>fixed effects is to put in the variable name</a:t>
            </a:r>
          </a:p>
          <a:p>
            <a:pPr lvl="1"/>
            <a:r>
              <a:rPr b="1"/>
              <a:t>random effects can be coded in a range of ways</a:t>
            </a:r>
          </a:p>
          <a:p>
            <a:pPr lvl="2"/>
            <a:r>
              <a:rPr/>
              <a:t>samples within a larger grouping - treatment and subsample…</a:t>
            </a:r>
          </a:p>
          <a:p>
            <a:pPr lvl="2"/>
          </a:p>
          <a:p>
            <a:pPr lvl="2"/>
            <a:r>
              <a:rPr b="1"/>
              <a:t>RANDOM INTERCEPT - FIXED SLOPE - </a:t>
            </a:r>
            <a:r>
              <a:rPr b="1">
                <a:latin typeface="Courier"/>
              </a:rPr>
              <a:t>+ (1|random)</a:t>
            </a:r>
          </a:p>
          <a:p>
            <a:pPr lvl="3"/>
            <a:r>
              <a:rPr/>
              <a:t>so color ~ fixed + (1|group)</a:t>
            </a:r>
          </a:p>
          <a:p>
            <a:pPr lvl="2"/>
            <a:r>
              <a:rPr b="1"/>
              <a:t>RANDOM INTERCEPT - RANDOM SLOPE - </a:t>
            </a:r>
            <a:r>
              <a:rPr b="1">
                <a:latin typeface="Courier"/>
              </a:rPr>
              <a:t>+ (fixed|random)</a:t>
            </a:r>
          </a:p>
          <a:p>
            <a:pPr lvl="3"/>
            <a:r>
              <a:rPr/>
              <a:t>so color ~ fixed + (fixed|group)</a:t>
            </a:r>
          </a:p>
          <a:p>
            <a:pPr lvl="3"/>
            <a:r>
              <a:rPr/>
              <a:t>equivalent to </a:t>
            </a:r>
            <a:r>
              <a:rPr>
                <a:latin typeface="Courier"/>
              </a:rPr>
              <a:t>algae ~ treat + (1 + fixed | random)</a:t>
            </a:r>
          </a:p>
          <a:p>
            <a:pPr lvl="1"/>
            <a:r>
              <a:rPr b="1"/>
              <a:t>Nested Design</a:t>
            </a:r>
            <a:r>
              <a:rPr/>
              <a:t> - such that a sample can exist only within a larger grouping</a:t>
            </a:r>
          </a:p>
          <a:p>
            <a:pPr lvl="1"/>
          </a:p>
          <a:p>
            <a:pPr lvl="2"/>
            <a:r>
              <a:rPr b="1"/>
              <a:t>RANDOM INTERCEPT - FIXED SLOPE -</a:t>
            </a:r>
            <a:r>
              <a:rPr/>
              <a:t> </a:t>
            </a:r>
            <a:r>
              <a:rPr>
                <a:latin typeface="Courier"/>
              </a:rPr>
              <a:t>y ~ color + (1|green_box/grey_box)</a:t>
            </a:r>
          </a:p>
          <a:p>
            <a:pPr lvl="2"/>
            <a:r>
              <a:rPr>
                <a:latin typeface="Courier"/>
              </a:rPr>
              <a:t>y ~ color + (1 | greenbox) + (1 | green_box:grey_box)</a:t>
            </a:r>
            <a:r>
              <a:rPr/>
              <a:t>. It models random variation in the intercept for each patch, and also for each quadrat within each patch</a:t>
            </a:r>
          </a:p>
          <a:p>
            <a:pPr lvl="2"/>
            <a:r>
              <a:rPr b="1"/>
              <a:t>RANDOM INTERCEPT - RANDOM SLOPE</a:t>
            </a:r>
            <a:r>
              <a:rPr/>
              <a:t> </a:t>
            </a:r>
            <a:r>
              <a:rPr>
                <a:latin typeface="Courier"/>
              </a:rPr>
              <a:t>y ~ color + (color|green_box/grey_box)</a:t>
            </a:r>
          </a:p>
          <a:p>
            <a:pPr lvl="1"/>
            <a:r>
              <a:rPr/>
              <a:t>Fully crossed design</a:t>
            </a:r>
          </a:p>
          <a:p>
            <a:pPr lvl="2"/>
          </a:p>
          <a:p>
            <a:pPr lvl="3"/>
            <a:r>
              <a:rPr/>
              <a:t>crossed design </a:t>
            </a:r>
            <a:r>
              <a:rPr b="1"/>
              <a:t>random intercept and random slope</a:t>
            </a:r>
          </a:p>
          <a:p>
            <a:pPr lvl="4"/>
            <a:r>
              <a:rPr/>
              <a:t>y ~ color + (1 | green_box) + (1 | gray_box)</a:t>
            </a:r>
          </a:p>
          <a:p>
            <a:pPr lvl="3"/>
            <a:r>
              <a:rPr/>
              <a:t>crossed design </a:t>
            </a:r>
            <a:r>
              <a:rPr b="1"/>
              <a:t>random intercept and random slope</a:t>
            </a:r>
            <a:br/>
            <a:r>
              <a:rPr>
                <a:latin typeface="Courier"/>
              </a:rPr>
              <a:t>y~ color + (color|green_box) + (color|gray_box)</a:t>
            </a:r>
          </a:p>
          <a:p>
            <a:pPr lvl="4"/>
            <a:r>
              <a:rPr>
                <a:latin typeface="Courier"/>
              </a:rPr>
              <a:t>(color | green_box)</a:t>
            </a:r>
            <a:r>
              <a:rPr/>
              <a:t> is shorthand for </a:t>
            </a:r>
            <a:r>
              <a:rPr>
                <a:latin typeface="Courier"/>
              </a:rPr>
              <a:t>(1 + color | green_box)</a:t>
            </a:r>
            <a:r>
              <a:rPr/>
              <a:t>. This part of the formula specifies a random intercept and a random slope for the </a:t>
            </a:r>
            <a:r>
              <a:rPr>
                <a:latin typeface="Courier"/>
              </a:rPr>
              <a:t>color</a:t>
            </a:r>
            <a:r>
              <a:rPr/>
              <a:t> variable within the levels of </a:t>
            </a:r>
            <a:r>
              <a:rPr>
                <a:latin typeface="Courier"/>
              </a:rPr>
              <a:t>green_box</a:t>
            </a:r>
            <a:r>
              <a:rPr/>
              <a:t>.</a:t>
            </a:r>
          </a:p>
          <a:p>
            <a:pPr lvl="4"/>
            <a:r>
              <a:rPr>
                <a:latin typeface="Courier"/>
              </a:rPr>
              <a:t>(color | gray_box)</a:t>
            </a:r>
            <a:r>
              <a:rPr/>
              <a:t> is shorthand for </a:t>
            </a:r>
            <a:r>
              <a:rPr>
                <a:latin typeface="Courier"/>
              </a:rPr>
              <a:t>(1 + color | gray_box)</a:t>
            </a:r>
            <a:r>
              <a:rPr/>
              <a:t>. Similarly, this specifies a random intercept and a random slope for </a:t>
            </a:r>
            <a:r>
              <a:rPr>
                <a:latin typeface="Courier"/>
              </a:rPr>
              <a:t>color</a:t>
            </a:r>
            <a:r>
              <a:rPr/>
              <a:t> within the levels of </a:t>
            </a:r>
            <a:r>
              <a:rPr>
                <a:latin typeface="Courier"/>
              </a:rPr>
              <a:t>gray_box</a:t>
            </a:r>
          </a:p>
          <a:p>
            <a:pPr lvl="0" indent="0">
              <a:buNone/>
            </a:pPr>
            <a:r>
              <a:rPr>
                <a:latin typeface="Courier"/>
              </a:rPr>
              <a:t>Linear mixed model fit by REML. t-tests use Satterthwaite's method [
lmerModLmerTest]
Formula: algae ~ treat + (1 | patch)
   Data: u_df
Control: lmerControl(calc.derivs = FALSE)
REML criterion at convergence: 682.2
Scaled residuals: 
    Min      1Q  Median      3Q     Max 
-1.9808 -0.3106 -0.1093  0.2831  2.5910 
Random effects:
 Groups   Name        Variance Std.Dev.
 patch    (Intercept) 294.3    17.16   
 Residual             298.6    17.28   
Number of obs: 80, groups:  patch, 16
Fixed effects:
            Estimate Std. Error      df t value Pr(&gt;|t|)   
(Intercept)   39.200      9.408  12.000   4.167  0.00131 **
treatlow     -17.650     13.305  12.000  -1.327  0.20934   
treatmedium  -20.200     13.305  12.000  -1.518  0.15485   
treathigh    -37.900     13.305  12.000  -2.849  0.01466 * 
---
Signif. codes:  0 '***' 0.001 '**' 0.01 '*' 0.05 '.' 0.1 ' ' 1
Correlation of Fixed Effects:
            (Intr) tretlw trtmdm
treatlow    -0.707              
treatmedium -0.707  0.500       
treathigh   -0.707  0.500  0.500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b="1"/>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a:p>
            <a:pPr lvl="0"/>
            <a:r>
              <a:rPr b="1"/>
              <a:t>METHOD 2 - the Chi Square</a:t>
            </a:r>
          </a:p>
          <a:p>
            <a:pPr lvl="1"/>
            <a:r>
              <a:rPr/>
              <a:t>Assumes variance components are known (not estimated)</a:t>
            </a:r>
          </a:p>
          <a:p>
            <a:pPr lvl="1"/>
            <a:r>
              <a:rPr/>
              <a:t>More liberal (lower p-values)</a:t>
            </a:r>
          </a:p>
          <a:p>
            <a:pPr lvl="1"/>
            <a:r>
              <a:rPr/>
              <a:t>Assumes large samples</a:t>
            </a:r>
          </a:p>
          <a:p>
            <a:pPr lvl="0"/>
            <a:r>
              <a:rPr b="1"/>
              <a:t>Relationship between these tests is</a:t>
            </a:r>
          </a:p>
          <a:p>
            <a:pPr lvl="1"/>
            <a:r>
              <a:rPr/>
              <a:t>Chi-square = F × numerator df</a:t>
            </a:r>
          </a:p>
          <a:p>
            <a:pPr lvl="0"/>
            <a:r>
              <a:rPr b="1"/>
              <a:t>Why Different Results?</a:t>
            </a:r>
          </a:p>
          <a:p>
            <a:pPr lvl="1"/>
            <a:r>
              <a:rPr/>
              <a:t>F-test accounts for denominator df (12 in your case) - reflects sample size</a:t>
            </a:r>
          </a:p>
          <a:p>
            <a:pPr lvl="1"/>
            <a:r>
              <a:rPr/>
              <a:t>Chi-square assumes infinite denominator df - assumes large samples</a:t>
            </a:r>
          </a:p>
          <a:p>
            <a:pPr lvl="0"/>
            <a:r>
              <a:rPr b="1"/>
              <a:t>Rule of Thumb</a:t>
            </a:r>
          </a:p>
          <a:p>
            <a:pPr lvl="1"/>
            <a:r>
              <a:rPr/>
              <a:t>under 100 observations or &lt; 20 random effect levels: Use F-test</a:t>
            </a:r>
          </a:p>
          <a:p>
            <a:pPr lvl="1"/>
            <a:r>
              <a:rPr/>
              <a:t>over 500 observations and &gt; 50 random effect levels: Chi-square is okay</a:t>
            </a:r>
          </a:p>
          <a:p>
            <a:pPr lvl="1"/>
            <a:r>
              <a:rPr/>
              <a:t>In between: F-test is safer</a:t>
            </a:r>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method to do the mixed model ANOVA</a:t>
            </a:r>
          </a:p>
        </p:txBody>
      </p:sp>
      <p:sp>
        <p:nvSpPr>
          <p:cNvPr id="3" name="Content Placeholder 2"/>
          <p:cNvSpPr>
            <a:spLocks noGrp="1"/>
          </p:cNvSpPr>
          <p:nvPr>
            <p:ph idx="1"/>
          </p:nvPr>
        </p:nvSpPr>
        <p:spPr/>
        <p:txBody>
          <a:bodyPr/>
          <a:lstStyle/>
          <a:p>
            <a:pPr lvl="0" indent="0">
              <a:buNone/>
            </a:pPr>
            <a:r>
              <a:rPr>
                <a:latin typeface="Courier"/>
              </a:rPr>
              <a:t>Analysis of Deviance Table (Type III Wald chisquare tests)
Response: algae
              Chisq Df Pr(&gt;Chisq)    
(Intercept) 17.3616  1  0.0000309 ***
treat        8.1513  3    0.04299 *  
---
Signif. codes:  0 '***' 0.001 '**' 0.01 '*' 0.05 '.' 0.1 ' '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Results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r>
                  <a:rPr/>
                  <a:t>- </a:t>
                </a:r>
                <a14:m>
                  <m:oMath xmlns:m="http://schemas.openxmlformats.org/officeDocument/2006/math">
                    <m:r>
                      <m:t>μ</m:t>
                    </m:r>
                  </m:oMath>
                </a14:m>
                <a:r>
                  <a:rPr/>
                  <a:t> is the overall mean</a:t>
                </a:r>
              </a:p>
              <a:p>
                <a:pPr lvl="0"/>
                <a:r>
                  <a:rPr/>
                  <a:t>- </a:t>
                </a:r>
                <a14:m>
                  <m:oMath xmlns:m="http://schemas.openxmlformats.org/officeDocument/2006/math">
                    <m:sSub>
                      <m:e>
                        <m:r>
                          <m:t>α</m:t>
                        </m:r>
                      </m:e>
                      <m:sub>
                        <m:r>
                          <m:t>i</m:t>
                        </m:r>
                      </m:sub>
                    </m:sSub>
                  </m:oMath>
                </a14:m>
                <a:r>
                  <a:rPr/>
                  <a:t> is the fixed effect of treatment </a:t>
                </a:r>
                <a14:m>
                  <m:oMath xmlns:m="http://schemas.openxmlformats.org/officeDocument/2006/math">
                    <m:r>
                      <m:t>i</m:t>
                    </m:r>
                  </m:oMath>
                </a14:m>
              </a:p>
              <a:p>
                <a:pPr lvl="0"/>
                <a:r>
                  <a:rPr/>
                  <a:t>- </a:t>
                </a:r>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p>
              <a:p>
                <a:pPr lvl="0"/>
                <a:r>
                  <a:rPr/>
                  <a:t>- </a:t>
                </a:r>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Assumption Tests</a:t>
            </a:r>
          </a:p>
        </p:txBody>
      </p:sp>
      <p:sp>
        <p:nvSpPr>
          <p:cNvPr id="4" name="Text Placeholder 3"/>
          <p:cNvSpPr>
            <a:spLocks noGrp="1"/>
          </p:cNvSpPr>
          <p:nvPr>
            <p:ph idx="2" sz="half" type="body"/>
          </p:nvPr>
        </p:nvSpPr>
        <p:spPr/>
        <p:txBody>
          <a:bodyPr/>
          <a:lstStyle/>
          <a:p>
            <a:pPr lvl="0" indent="0" marL="0">
              <a:buNone/>
            </a:pPr>
            <a:r>
              <a:rPr/>
              <a:t>Creates all 4 diagnostic plots automatically</a:t>
            </a:r>
          </a:p>
        </p:txBody>
      </p:sp>
      <p:pic>
        <p:nvPicPr>
          <p:cNvPr descr="nested_anova_activity_files/figure-pptx/unnamed-chunk-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7-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1.0497, p-value = 0.68
alternative hypothesis: two.sided</a:t>
            </a:r>
          </a:p>
        </p:txBody>
      </p:sp>
      <p:pic>
        <p:nvPicPr>
          <p:cNvPr descr="nested_an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outlier test based on exact binomial test with approximate
    expectations
data:  simulation_output
outliers at both margin(s) = 0, observations = 80, p-value = 1
alternative hypothesis: true probability of success is not equal to 0.007968127
95 percent confidence interval:
 0.00000000 0.04506404
sample estimates:
frequency of outliers (expected: 0.00796812749003984 ) 
                                                     0 </a:t>
            </a:r>
          </a:p>
        </p:txBody>
      </p:sp>
      <p:pic>
        <p:nvPicPr>
          <p:cNvPr descr="nested_anova_activity_files/figure-pptx/unnamed-chunk-9-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Cooks influence plot using car</a:t>
            </a:r>
          </a:p>
        </p:txBody>
      </p:sp>
      <p:sp>
        <p:nvSpPr>
          <p:cNvPr id="4" name="Text Placeholder 3"/>
          <p:cNvSpPr>
            <a:spLocks noGrp="1"/>
          </p:cNvSpPr>
          <p:nvPr>
            <p:ph idx="2" sz="half" type="body"/>
          </p:nvPr>
        </p:nvSpPr>
        <p:spPr/>
        <p:txBody>
          <a:bodyPr/>
          <a:lstStyle/>
          <a:p>
            <a:pPr lvl="0" indent="0" marL="0">
              <a:buNone/>
            </a:pPr>
            <a:r>
              <a:rPr/>
              <a:t>this will tell you if there are outliers greater than the standard 0.5 cooks distance</a:t>
            </a:r>
          </a:p>
        </p:txBody>
      </p:sp>
      <p:pic>
        <p:nvPicPr>
          <p:cNvPr descr="nested_an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StudRes       Hat        CookD
1  -0.09869848 0.1746972 0.0005155059
2  -0.09869848 0.1746972 0.0005155059
27  2.85206412 0.1746972 0.4304585311
59  2.42281033 0.1746972 0.3106358546</a:t>
            </a:r>
          </a:p>
        </p:txBody>
      </p:sp>
      <p:pic>
        <p:nvPicPr>
          <p:cNvPr descr="nested_anova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Groups   Name        Std.Dev.
 patch    (Intercept) 17.156  
 Residual             17.280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not significant in the nested ANOVA (p = r format(p_treat, digits=3)), we can still examine the mean differences between treatments to understand patterns in the data. However, we should interpret these with caution given the lack of statistical significance at the α = 0.05 level.</a:t>
            </a:r>
          </a:p>
          <a:p>
            <a:pPr lvl="0" indent="0">
              <a:buNone/>
            </a:pPr>
            <a:r>
              <a:rPr>
                <a:latin typeface="Courier"/>
              </a:rPr>
              <a:t> treat  emmean   SE df lower.CL upper.CL
 none     39.2 9.41 12    18.70     59.7
 low      21.6 9.41 12     1.05     42.0
 medium   19.0 9.41 12    -1.50     39.5
 high      1.3 9.41 12   -19.20     21.8
Warning: EMMs are biased unless design is perfectly balanced 
Confidence level used: 0.95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contrast      estimate   SE df t.ratio p.value
 none - low       17.65 13.3 12   1.327  0.7557
 none - medium    20.20 13.3 12   1.518  0.6356
 none - high      37.90 13.3 12   2.849  0.0848
 low - medium      2.55 13.3 12   0.192  1.0000
 low - high       20.25 13.3 12   1.522  0.6331
 medium - high    17.70 13.3 12   1.330  0.7534
P value adjustment: sidak method for 6 tests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treat  emmean   SE df lower.CL upper.CL .group
 high      1.3 9.41 12   -19.20     21.8  a    
 medium   19.0 9.41 12    -1.50     39.5  a    
 low      21.6 9.41 12     1.05     42.0  a    
 none     39.2 9.41 12    18.70     59.7  a    
Warning: EMMs are biased unless design is perfectly balanced 
Confidence level used: 0.95 
P value adjustment: tukey method for comparing a family of 4 estimates 
significance level used: alpha = 0.05 
NOTE: If two or more means share the same grouping symbol,
      then we cannot show them to be different.
      But we also did not show them to be the same. </a:t>
            </a:r>
          </a:p>
          <a:p>
            <a:pPr lvl="0" indent="0" marL="1270000">
              <a:buNone/>
            </a:pPr>
            <a:r>
              <a:rPr sz="2000" b="1"/>
              <a:t>Important</a:t>
            </a:r>
          </a:p>
          <a:p>
            <a:pPr lvl="0" indent="0" marL="1270000">
              <a:buNone/>
            </a:pPr>
            <a:r>
              <a:rPr sz="2000"/>
              <a:t>Interpretation of Treatment Comparisons The mean algae cover for the Control treatment (1.30%) appears considerably lower than for the reduced urchin density treatments (66% Density: 21.55%, 33% Density: 19.00%, Removed: 39.20%). While the visual pattern suggests an inverse relationship between urchin density and algae cover, with complete removal showing the highest algae cover, the nested ANOVA showed that these differences were not statistically significant at the α = 0.05 level (p = xxxx). The high variability among patches within treatments likely contributed to the lack of statistical significance for the treatment effect.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pic>
        <p:nvPicPr>
          <p:cNvPr descr="nested_anova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Means Plot</a:t>
            </a:r>
          </a:p>
        </p:txBody>
      </p:sp>
      <p:sp>
        <p:nvSpPr>
          <p:cNvPr id="4" name="Text Placeholder 3"/>
          <p:cNvSpPr>
            <a:spLocks noGrp="1"/>
          </p:cNvSpPr>
          <p:nvPr>
            <p:ph idx="2" sz="half" type="body"/>
          </p:nvPr>
        </p:nvSpPr>
        <p:spPr/>
        <p:txBody>
          <a:bodyPr/>
          <a:lstStyle/>
          <a:p>
            <a:pPr lvl="0"/>
            <a:r>
              <a:rPr/>
              <a:t>text</a:t>
            </a:r>
          </a:p>
        </p:txBody>
      </p:sp>
      <p:pic>
        <p:nvPicPr>
          <p:cNvPr descr="nested_anova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(p &lt; 0.001). Surprisingly, the effect of urchin density treatments on filamentous algae cover was not statistically significant at the α = 0.05 level (p = 0.091), despite apparent trends in the data. The descriptive statistics show a pattern where algae cover appears to increase as urchin density decreases, with the Control treatment (mean = 1.3%) showing minimal algae cover compared to reduced density treatments (66% Density: 21.55%, 33% Density: 19.00%, and Removed: 39.20%). This pattern suggests a potential density-dependent relationship between urchin grazing and algal abundance, but the high variability among patches masked the treatment effect.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while sea urchins may influence algal communities through grazing, local environmental factors and patch-specific conditions play a dominant role in determining algae cover. This has important implications for ecosystem management, as it indicates that the effects of urchin density manipulations may be context-dependent and influenced by local environmental conditions.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with Traditional Nested ANOVA</a:t>
            </a:r>
          </a:p>
        </p:txBody>
      </p:sp>
      <p:sp>
        <p:nvSpPr>
          <p:cNvPr id="3" name="Content Placeholder 2"/>
          <p:cNvSpPr>
            <a:spLocks noGrp="1"/>
          </p:cNvSpPr>
          <p:nvPr>
            <p:ph idx="1"/>
          </p:nvPr>
        </p:nvSpPr>
        <p:spPr/>
        <p:txBody>
          <a:bodyPr/>
          <a:lstStyle/>
          <a:p>
            <a:pPr lvl="0" indent="0" marL="0">
              <a:buNone/>
            </a:pPr>
            <a:r>
              <a:rPr/>
              <a:t>The linear mixed model approach provides similar results to the traditional nested ANOVA approach. The main advantage of the mixed model is the more elegant handling of random effects and the extensive diagnostic tools available through packages like DHARMa.</a:t>
            </a:r>
          </a:p>
          <a:p>
            <a:pPr lvl="0" indent="0" marL="0">
              <a:buNone/>
            </a:pPr>
            <a:r>
              <a:rPr/>
              <a:t>The mixed model approach confirms that:</a:t>
            </a:r>
          </a:p>
          <a:p>
            <a:pPr lvl="0" indent="-342900" marL="342900">
              <a:buAutoNum type="arabicPeriod"/>
            </a:pPr>
            <a:r>
              <a:rPr/>
              <a:t>Treatment effects are not significant (p = 0.091)</a:t>
            </a:r>
          </a:p>
          <a:p>
            <a:pPr lvl="0" indent="0" marL="0">
              <a:buNone/>
            </a:pPr>
            <a:r>
              <a:rPr/>
              <a:t>In both methods, the key ecological finding is the strong spatial heterogeneity in algal cover that overrides the grazing effect of urchins at different densities.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 Multifactor ANOVA</dc:title>
  <dc:creator>Bill Perry</dc:creator>
  <cp:keywords/>
  <dc:description>Hands-on activity: nested and multifactor ANOVA.</dc:description>
  <dcterms:created xsi:type="dcterms:W3CDTF">2026-08-20T18:25:31Z</dcterms:created>
  <dcterms:modified xsi:type="dcterms:W3CDTF">2026-08-20T18:25:31Z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14</vt:lpwstr>
  </property>
  <property fmtid="{D5CDD505-2E9C-101B-9397-08002B2CF9AE}" pid="10" name="resources">
    <vt:lpwstr/>
  </property>
  <property fmtid="{D5CDD505-2E9C-101B-9397-08002B2CF9AE}" pid="11" name="subtitle">
    <vt:lpwstr>Nested designs</vt:lpwstr>
  </property>
  <property fmtid="{D5CDD505-2E9C-101B-9397-08002B2CF9AE}" pid="12" name="toc-title">
    <vt:lpwstr>Table of contents</vt:lpwstr>
  </property>
  <property fmtid="{D5CDD505-2E9C-101B-9397-08002B2CF9AE}" pid="13" name="week">
    <vt:lpwstr>8</vt:lpwstr>
  </property>
</Properties>
</file>