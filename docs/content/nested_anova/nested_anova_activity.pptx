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sea urchin grazing / algae cover dataset from lecture, where </a:t>
            </a:r>
            <a:r>
              <a:rPr sz="2000">
                <a:latin typeface="Courier"/>
              </a:rPr>
              <a:t>patch</a:t>
            </a:r>
            <a:r>
              <a:rPr sz="2000"/>
              <a:t> is nested within </a:t>
            </a:r>
            <a:r>
              <a:rPr sz="2000">
                <a:latin typeface="Courier"/>
              </a:rPr>
              <a:t>treat</a:t>
            </a:r>
            <a:r>
              <a:rPr sz="2000"/>
              <a:t> (each patch received only one urchin-density treatment). Next class, the Linear Mixed Models activity revisits this exact same dataset with a different (and more flexible) modeling approach — this worksheet stays entirely with the traditional method.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(afex)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</a:t>
            </a:r>
            <a:r>
              <a:rPr>
                <a:solidFill>
                  <a:srgbClr val="5E5E5E"/>
                </a:solidFill>
                <a:latin typeface="Courier"/>
              </a:rPr>
              <a:t># For estimated marginal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scipen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contrasts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u_df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"data/andrew.csv"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u_df &lt;- u_df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treat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treat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"removal"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treat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"high"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treat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"dens_33"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treat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"dens_66"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"other"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treat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(treat,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"high"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"high"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patch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as_factor</a:t>
            </a:r>
            <a:r>
              <a:rPr>
                <a:solidFill>
                  <a:srgbClr val="003B4F"/>
                </a:solidFill>
                <a:latin typeface="Courier"/>
              </a:rPr>
              <a:t>(patch))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(u_df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u_df</a:t>
            </a:r>
            <a:r>
              <a:rPr/>
              <a:t>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 — none, low, medium, high),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patch:treatment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summary statistics and a first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u_df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(treat)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(algae)),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(algae,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(algae,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(algae,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(algae,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summary_stats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dodge_position &lt;-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u_df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(treat, algae,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patch))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dodge_position)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dodge_position)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patches are nested within each treatment?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Fitting the Nested Model — Base R and afex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patch</a:t>
            </a:r>
            <a:r>
              <a:rPr/>
              <a:t> is nested within </a:t>
            </a:r>
            <a:r>
              <a:rPr>
                <a:latin typeface="Courier"/>
              </a:rPr>
              <a:t>treat</a:t>
            </a:r>
            <a:r>
              <a:rPr/>
              <a:t>, we need the correct error term — the traditional </a:t>
            </a:r>
            <a:r>
              <a:rPr>
                <a:latin typeface="Courier"/>
              </a:rPr>
              <a:t>aov()</a:t>
            </a:r>
            <a:r>
              <a:rPr/>
              <a:t> approach lets us specify this directly.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This gives you the correct F-test using PATCH within TREAT as error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(nested_model)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afex</a:t>
            </a:r>
            <a:r>
              <a:rPr/>
              <a:t> package, recommended for unbalanced designs: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model_afx &lt;- </a:t>
            </a:r>
            <a:r>
              <a:rPr>
                <a:solidFill>
                  <a:srgbClr val="4758AB"/>
                </a:solidFill>
                <a:latin typeface="Courier"/>
              </a:rPr>
              <a:t>aov_car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(model_afx)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</a:t>
            </a:r>
            <a:r>
              <a:rPr>
                <a:latin typeface="Courier"/>
              </a:rPr>
              <a:t>nested_model</a:t>
            </a:r>
            <a:r>
              <a:rPr/>
              <a:t> and </a:t>
            </a:r>
            <a:r>
              <a:rPr>
                <a:latin typeface="Courier"/>
              </a:rPr>
              <a:t>model_afx</a:t>
            </a:r>
            <a:r>
              <a:rPr/>
              <a:t> agree on whether the treatment effect is significant?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(nested_model,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(emm)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pairs_result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(emm,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pairs_result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cld_result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(emm,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cld_result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Mean algae cover for Control (1.30%) looks much lower than the reduced-density treatments (66%: 21.55%, 33%: 19.00%, Removed: 39.20%). Based on your compact letter display, are any of those differences actually statistically significant at α = 0.05?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Visualization and Reporting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publication-style boxplot: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(u_df,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algae,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treat))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"Effect of Urchin Density on Filamentous Algae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"Urchin Density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"Filamentous Algae Cover (%)"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"Boxplots showing the distribution of algal cover across urchin density treatments."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"italic"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mean ± SE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(summary_stats,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se,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se),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Algae Cover by Urchin Density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"Urchin Density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Filamentous Algae Cover (%)"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(+/- SE) percentage cover of filamentous algae across urchin density treatments."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"italic"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Scientific interpretation</a:t>
            </a:r>
          </a:p>
          <a:p>
            <a:pPr lvl="0" indent="0" marL="1270000">
              <a:buNone/>
            </a:pPr>
            <a:r>
              <a:rPr sz="2000"/>
              <a:t>This nested ANOVA reveals substantial spatial heterogeneity in algae cover, with significant variation among patches within each treatment. The substantial patch-to-patch variability shown in Part 2’s ANOVA table is exactly why </a:t>
            </a:r>
            <a:r>
              <a:rPr sz="2000">
                <a:latin typeface="Courier"/>
              </a:rPr>
              <a:t>patch</a:t>
            </a:r>
            <a:r>
              <a:rPr sz="2000"/>
              <a:t> needed to be modeled explicitly, rather than being pooled into the residual — a good reminder that pseudoreplication doesn’t just bias your F-test, it hides real biological variation.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2–3 sentence results paragraph for this analysis, using your own F-statistic, df, and p-value from Part 2.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
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patch</a:t>
            </a:r>
            <a:r>
              <a:rPr/>
              <a:t> nested in </a:t>
            </a:r>
            <a:r>
              <a:rPr>
                <a:latin typeface="Courier"/>
              </a:rPr>
              <a:t>treat</a:t>
            </a:r>
            <a:r>
              <a:rPr/>
              <a:t> cannot be analyzed as a simple factorial design</a:t>
            </a:r>
          </a:p>
          <a:p>
            <a:pPr lvl="0"/>
            <a:r>
              <a:rPr/>
              <a:t>☐ Fit a nested ANOVA with </a:t>
            </a:r>
            <a:r>
              <a:rPr>
                <a:latin typeface="Courier"/>
              </a:rPr>
              <a:t>aov(..., Error(...))</a:t>
            </a:r>
            <a:r>
              <a:rPr/>
              <a:t> and with </a:t>
            </a:r>
            <a:r>
              <a:rPr>
                <a:latin typeface="Courier"/>
              </a:rPr>
              <a:t>afex::aov_car()</a:t>
            </a:r>
          </a:p>
          <a:p>
            <a:pPr lvl="0"/>
            <a:r>
              <a:rPr/>
              <a:t>☐ Compute EMMs and post-hoc comparisons for a nested design</a:t>
            </a:r>
          </a:p>
          <a:p>
            <a:pPr lvl="0"/>
            <a:r>
              <a:rPr/>
              <a:t>☐ Write a properly formatted nested-ANOVA results sentence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14_nested_anova.R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library(janitor)</a:t>
            </a:r>
            <a:r>
              <a:rPr/>
              <a:t>, </a:t>
            </a:r>
            <a:r>
              <a:rPr>
                <a:latin typeface="Courier"/>
              </a:rPr>
              <a:t>library(afex)</a:t>
            </a:r>
            <a:r>
              <a:rPr/>
              <a:t>, </a:t>
            </a:r>
            <a:r>
              <a:rPr>
                <a:latin typeface="Courier"/>
              </a:rPr>
              <a:t>library(emmeans)</a:t>
            </a:r>
            <a:r>
              <a:rPr/>
              <a:t>, and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Nested ANOVA</dc:title>
  <dc:creator>Bill Perry</dc:creator>
  <cp:keywords/>
  <dc:description>Hands-on activity: nested ANOVA the traditional way (aov with an Error term, afex) and post-hoc comparisons on the sea urchin grazing / algae cover dataset.</dc:description>
  <dcterms:created xsi:type="dcterms:W3CDTF">2026-08-28T18:18:45Z</dcterms:created>
  <dcterms:modified xsi:type="dcterms:W3CDTF">2026-08-28T18:18:45Z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subtitle">
    <vt:lpwstr>Nested designs</vt:lpwstr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