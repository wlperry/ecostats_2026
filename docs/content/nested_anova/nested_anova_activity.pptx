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Nested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sea urchin grazing / algae cover dataset from lecture, where </a:t>
            </a:r>
            <a:r>
              <a:rPr sz="2000">
                <a:latin typeface="Courier"/>
              </a:rPr>
              <a:t>patch</a:t>
            </a:r>
            <a:r>
              <a:rPr sz="2000"/>
              <a:t> is nested within </a:t>
            </a:r>
            <a:r>
              <a:rPr sz="2000">
                <a:latin typeface="Courier"/>
              </a:rPr>
              <a:t>treat</a:t>
            </a:r>
            <a:r>
              <a:rPr sz="2000"/>
              <a:t> (each patch received only one urchin-density treatment).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(dotwhisker)</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(lme4)          </a:t>
            </a:r>
            <a:r>
              <a:rPr>
                <a:solidFill>
                  <a:srgbClr val="5E5E5E"/>
                </a:solidFill>
                <a:latin typeface="Courier"/>
              </a:rPr>
              <a:t># For mixed-effects models</a:t>
            </a:r>
            <a:br/>
            <a:r>
              <a:rPr>
                <a:solidFill>
                  <a:srgbClr val="4758AB"/>
                </a:solidFill>
                <a:latin typeface="Courier"/>
              </a:rPr>
              <a:t>library</a:t>
            </a:r>
            <a:r>
              <a:rPr>
                <a:solidFill>
                  <a:srgbClr val="003B4F"/>
                </a:solidFill>
                <a:latin typeface="Courier"/>
              </a:rPr>
              <a:t>(lmerTest)      </a:t>
            </a:r>
            <a:r>
              <a:rPr>
                <a:solidFill>
                  <a:srgbClr val="5E5E5E"/>
                </a:solidFill>
                <a:latin typeface="Courier"/>
              </a:rPr>
              <a:t># For p-values in mixed models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(performance)   </a:t>
            </a:r>
            <a:r>
              <a:rPr>
                <a:solidFill>
                  <a:srgbClr val="5E5E5E"/>
                </a:solidFill>
                <a:latin typeface="Courier"/>
              </a:rPr>
              <a:t># For model diagnostics</a:t>
            </a:r>
            <a:br/>
            <a:r>
              <a:rPr>
                <a:solidFill>
                  <a:srgbClr val="4758AB"/>
                </a:solidFill>
                <a:latin typeface="Courier"/>
              </a:rPr>
              <a:t>library</a:t>
            </a:r>
            <a:r>
              <a:rPr>
                <a:solidFill>
                  <a:srgbClr val="003B4F"/>
                </a:solidFill>
                <a:latin typeface="Courier"/>
              </a:rPr>
              <a:t>(DHARMa)        </a:t>
            </a:r>
            <a:r>
              <a:rPr>
                <a:solidFill>
                  <a:srgbClr val="5E5E5E"/>
                </a:solidFill>
                <a:latin typeface="Courier"/>
              </a:rPr>
              <a:t># For residual diagnostics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(afex)</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u_df &lt;- </a:t>
            </a:r>
            <a:r>
              <a:rPr>
                <a:solidFill>
                  <a:srgbClr val="4758AB"/>
                </a:solidFill>
                <a:latin typeface="Courier"/>
              </a:rPr>
              <a:t>read_csv</a:t>
            </a:r>
            <a:r>
              <a:rPr>
                <a:solidFill>
                  <a:srgbClr val="003B4F"/>
                </a:solidFill>
                <a:latin typeface="Courier"/>
              </a:rPr>
              <a:t>(</a:t>
            </a:r>
            <a:r>
              <a:rPr>
                <a:solidFill>
                  <a:srgbClr val="20794D"/>
                </a:solidFill>
                <a:latin typeface="Courier"/>
              </a:rPr>
              <a:t>"data/andrew.csv"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u_df &lt;- u_df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"removal"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"dens_33"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"low"</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"dens_66"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"medium"</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"other"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factor</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patch =</a:t>
            </a:r>
            <a:r>
              <a:rPr>
                <a:solidFill>
                  <a:srgbClr val="003B4F"/>
                </a:solidFill>
                <a:latin typeface="Courier"/>
              </a:rPr>
              <a:t> </a:t>
            </a:r>
            <a:r>
              <a:rPr>
                <a:solidFill>
                  <a:srgbClr val="4758AB"/>
                </a:solidFill>
                <a:latin typeface="Courier"/>
              </a:rPr>
              <a:t>as_factor</a:t>
            </a:r>
            <a:r>
              <a:rPr>
                <a:solidFill>
                  <a:srgbClr val="003B4F"/>
                </a:solidFill>
                <a:latin typeface="Courier"/>
              </a:rPr>
              <a:t>(patch))</a:t>
            </a:r>
            <a:br/>
            <a:br/>
            <a:r>
              <a:rPr>
                <a:solidFill>
                  <a:srgbClr val="4758AB"/>
                </a:solidFill>
                <a:latin typeface="Courier"/>
              </a:rPr>
              <a:t>head</a:t>
            </a:r>
            <a:r>
              <a:rPr>
                <a:solidFill>
                  <a:srgbClr val="003B4F"/>
                </a:solidFill>
                <a:latin typeface="Courier"/>
              </a:rPr>
              <a:t>(u_df)</a:t>
            </a:r>
            <a:br/>
            <a:r>
              <a:rPr>
                <a:solidFill>
                  <a:srgbClr val="4758AB"/>
                </a:solidFill>
                <a:latin typeface="Courier"/>
              </a:rPr>
              <a:t>levels</a:t>
            </a:r>
            <a:r>
              <a:rPr>
                <a:solidFill>
                  <a:srgbClr val="003B4F"/>
                </a:solidFill>
                <a:latin typeface="Courier"/>
              </a:rPr>
              <a:t>(u_df</a:t>
            </a:r>
            <a:r>
              <a:rPr>
                <a:solidFill>
                  <a:srgbClr val="5E5E5E"/>
                </a:solidFill>
                <a:latin typeface="Courier"/>
              </a:rPr>
              <a:t>$</a:t>
            </a:r>
            <a:r>
              <a:rPr>
                <a:solidFill>
                  <a:srgbClr val="003B4F"/>
                </a:solidFill>
                <a:latin typeface="Courier"/>
              </a:rPr>
              <a:t>treat)</a:t>
            </a:r>
          </a:p>
          <a:p>
            <a:pPr lvl="0" indent="0" marL="0">
              <a:buNone/>
            </a:pPr>
            <a:r>
              <a:rPr>
                <a:latin typeface="Courier"/>
              </a:rPr>
              <a:t>u_df</a:t>
            </a:r>
            <a:r>
              <a:rPr/>
              <a:t> contains: </a:t>
            </a:r>
            <a:r>
              <a:rPr>
                <a:latin typeface="Courier"/>
              </a:rPr>
              <a:t>patch</a:t>
            </a:r>
            <a:r>
              <a:rPr/>
              <a:t> (random patches 1–16 where treatments were applied), </a:t>
            </a:r>
            <a:r>
              <a:rPr>
                <a:latin typeface="Courier"/>
              </a:rPr>
              <a:t>treat</a:t>
            </a:r>
            <a:r>
              <a:rPr/>
              <a:t> (urchin density treatment — none, low, medium, high), </a:t>
            </a:r>
            <a:r>
              <a:rPr>
                <a:latin typeface="Courier"/>
              </a:rPr>
              <a:t>quad</a:t>
            </a:r>
            <a:r>
              <a:rPr/>
              <a:t> (replicate quadrats within each patch:treatment combination), </a:t>
            </a:r>
            <a:r>
              <a:rPr>
                <a:latin typeface="Courier"/>
              </a:rPr>
              <a:t>algae</a:t>
            </a:r>
            <a:r>
              <a:rPr/>
              <a:t> (percentage cover of filamentous algae — the response variable).</a:t>
            </a:r>
          </a:p>
          <a:p>
            <a:pPr lvl="0" indent="0" marL="0">
              <a:buNone/>
            </a:pPr>
            <a:r>
              <a:rPr b="1"/>
              <a:t>▶ Run this</a:t>
            </a:r>
            <a:r>
              <a:rPr/>
              <a:t> — summary statistics and a first plot:</a:t>
            </a:r>
          </a:p>
          <a:p>
            <a:pPr lvl="0" indent="0">
              <a:buNone/>
            </a:pPr>
            <a:r>
              <a:rPr>
                <a:solidFill>
                  <a:srgbClr val="003B4F"/>
                </a:solidFill>
                <a:latin typeface="Courier"/>
              </a:rPr>
              <a:t>summary_stats &lt;- u_df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(algae)),</a:t>
            </a:r>
            <a:b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4758AB"/>
                </a:solidFill>
                <a:latin typeface="Courier"/>
              </a:rPr>
              <a:t>mean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4758AB"/>
                </a:solidFill>
                <a:latin typeface="Courier"/>
              </a:rPr>
              <a:t>sd</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 =</a:t>
            </a:r>
            <a:r>
              <a:rPr>
                <a:solidFill>
                  <a:srgbClr val="003B4F"/>
                </a:solidFill>
                <a:latin typeface="Courier"/>
              </a:rPr>
              <a:t> 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 =</a:t>
            </a:r>
            <a:r>
              <a:rPr>
                <a:solidFill>
                  <a:srgbClr val="003B4F"/>
                </a:solidFill>
                <a:latin typeface="Courier"/>
              </a:rPr>
              <a:t> </a:t>
            </a:r>
            <a:r>
              <a:rPr>
                <a:solidFill>
                  <a:srgbClr val="4758AB"/>
                </a:solidFill>
                <a:latin typeface="Courier"/>
              </a:rPr>
              <a:t>min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max =</a:t>
            </a:r>
            <a:r>
              <a:rPr>
                <a:solidFill>
                  <a:srgbClr val="003B4F"/>
                </a:solidFill>
                <a:latin typeface="Courier"/>
              </a:rPr>
              <a:t> </a:t>
            </a:r>
            <a:r>
              <a:rPr>
                <a:solidFill>
                  <a:srgbClr val="4758AB"/>
                </a:solidFill>
                <a:latin typeface="Courier"/>
              </a:rPr>
              <a:t>max</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summary_stats</a:t>
            </a:r>
            <a:br/>
            <a:br/>
            <a:r>
              <a:rPr>
                <a:solidFill>
                  <a:srgbClr val="003B4F"/>
                </a:solidFill>
                <a:latin typeface="Courier"/>
              </a:rPr>
              <a:t>dodge_position &lt;-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0.3</a:t>
            </a:r>
            <a:r>
              <a:rPr>
                <a:solidFill>
                  <a:srgbClr val="003B4F"/>
                </a:solidFill>
                <a:latin typeface="Courier"/>
              </a:rPr>
              <a:t>)</a:t>
            </a:r>
            <a:br/>
            <a:br/>
            <a:r>
              <a:rPr>
                <a:solidFill>
                  <a:srgbClr val="003B4F"/>
                </a:solidFill>
                <a:latin typeface="Courier"/>
              </a:rPr>
              <a:t>u_df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657422"/>
                </a:solidFill>
                <a:latin typeface="Courier"/>
              </a:rPr>
              <a:t>color =</a:t>
            </a:r>
            <a:r>
              <a:rPr>
                <a:solidFill>
                  <a:srgbClr val="003B4F"/>
                </a:solidFill>
                <a:latin typeface="Courier"/>
              </a:rPr>
              <a:t> patch))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a:t>
            </a:r>
            <a:r>
              <a:rPr>
                <a:solidFill>
                  <a:srgbClr val="20794D"/>
                </a:solidFill>
                <a:latin typeface="Courier"/>
              </a:rPr>
              <a:t>"mean_se"</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a:t>
            </a:r>
          </a:p>
          <a:p>
            <a:pPr lvl="0" indent="0" marL="0">
              <a:buNone/>
            </a:pPr>
            <a:r>
              <a:rPr/>
              <a:t>✏️ </a:t>
            </a:r>
            <a:r>
              <a:rPr b="1"/>
              <a:t>Your turn:</a:t>
            </a:r>
            <a:r>
              <a:rPr/>
              <a:t> How many patches are nested within each treatment?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Fitting the Nested Model — Base R and afex</a:t>
            </a:r>
          </a:p>
        </p:txBody>
      </p:sp>
      <p:sp>
        <p:nvSpPr>
          <p:cNvPr id="3" name="Content Placeholder 2"/>
          <p:cNvSpPr>
            <a:spLocks noGrp="1"/>
          </p:cNvSpPr>
          <p:nvPr>
            <p:ph idx="1"/>
          </p:nvPr>
        </p:nvSpPr>
        <p:spPr/>
        <p:txBody>
          <a:bodyPr/>
          <a:lstStyle/>
          <a:p>
            <a:pPr lvl="0" indent="0" marL="0">
              <a:buNone/>
            </a:pPr>
            <a:r>
              <a:rPr/>
              <a:t>Since </a:t>
            </a:r>
            <a:r>
              <a:rPr>
                <a:latin typeface="Courier"/>
              </a:rPr>
              <a:t>patch</a:t>
            </a:r>
            <a:r>
              <a:rPr/>
              <a:t> is nested within </a:t>
            </a:r>
            <a:r>
              <a:rPr>
                <a:latin typeface="Courier"/>
              </a:rPr>
              <a:t>treat</a:t>
            </a:r>
            <a:r>
              <a:rPr/>
              <a:t>, we need the correct error term — the traditional </a:t>
            </a:r>
            <a:r>
              <a:rPr>
                <a:latin typeface="Courier"/>
              </a:rPr>
              <a:t>aov()</a:t>
            </a:r>
            <a:r>
              <a:rPr/>
              <a:t> approach lets us specify this directly.</a:t>
            </a:r>
          </a:p>
          <a:p>
            <a:pPr lvl="0" indent="0" marL="0">
              <a:buNone/>
            </a:pPr>
            <a:r>
              <a:rPr b="1"/>
              <a:t>▶ Run this:</a:t>
            </a:r>
          </a:p>
          <a:p>
            <a:pPr lvl="0" indent="0">
              <a:buNone/>
            </a:pPr>
            <a:r>
              <a:rPr>
                <a:solidFill>
                  <a:srgbClr val="5E5E5E"/>
                </a:solidFill>
                <a:latin typeface="Courier"/>
              </a:rPr>
              <a:t># This gives you the correct F-test using PATCH within TREAT as error term</a:t>
            </a:r>
            <a:br/>
            <a:r>
              <a:rPr>
                <a:solidFill>
                  <a:srgbClr val="003B4F"/>
                </a:solidFill>
                <a:latin typeface="Courier"/>
              </a:rPr>
              <a:t>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(nested_model)</a:t>
            </a:r>
          </a:p>
          <a:p>
            <a:pPr lvl="0" indent="0" marL="0">
              <a:buNone/>
            </a:pPr>
            <a:r>
              <a:rPr b="1"/>
              <a:t>▶ Run this</a:t>
            </a:r>
            <a:r>
              <a:rPr/>
              <a:t> — the </a:t>
            </a:r>
            <a:r>
              <a:rPr>
                <a:latin typeface="Courier"/>
              </a:rPr>
              <a:t>afex</a:t>
            </a:r>
            <a:r>
              <a:rPr/>
              <a:t> package, recommended for unbalanced designs:</a:t>
            </a:r>
          </a:p>
          <a:p>
            <a:pPr lvl="0" indent="0">
              <a:buNone/>
            </a:pPr>
            <a:r>
              <a:rPr>
                <a:solidFill>
                  <a:srgbClr val="003B4F"/>
                </a:solidFill>
                <a:latin typeface="Courier"/>
              </a:rPr>
              <a:t>model_afx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(model_afx)</a:t>
            </a:r>
          </a:p>
          <a:p>
            <a:pPr lvl="0" indent="0" marL="0">
              <a:buNone/>
            </a:pPr>
            <a:r>
              <a:rPr/>
              <a:t>✏️ </a:t>
            </a:r>
            <a:r>
              <a:rPr b="1"/>
              <a:t>Your turn:</a:t>
            </a:r>
            <a:r>
              <a:rPr/>
              <a:t> Do </a:t>
            </a:r>
            <a:r>
              <a:rPr>
                <a:latin typeface="Courier"/>
              </a:rPr>
              <a:t>nested_model</a:t>
            </a:r>
            <a:r>
              <a:rPr/>
              <a:t> and </a:t>
            </a:r>
            <a:r>
              <a:rPr>
                <a:latin typeface="Courier"/>
              </a:rPr>
              <a:t>model_afx</a:t>
            </a:r>
            <a:r>
              <a:rPr/>
              <a:t> agree on whether the treatment effect is significant?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Modern Way — Mixed Models</a:t>
            </a:r>
          </a:p>
        </p:txBody>
      </p:sp>
      <p:sp>
        <p:nvSpPr>
          <p:cNvPr id="3" name="Content Placeholder 2"/>
          <p:cNvSpPr>
            <a:spLocks noGrp="1"/>
          </p:cNvSpPr>
          <p:nvPr>
            <p:ph idx="1"/>
          </p:nvPr>
        </p:nvSpPr>
        <p:spPr/>
        <p:txBody>
          <a:bodyPr/>
          <a:lstStyle/>
          <a:p>
            <a:pPr lvl="0" indent="0" marL="0">
              <a:buNone/>
            </a:pPr>
            <a:r>
              <a:rPr/>
              <a:t>Fixed effects go in as a plain variable name. Random effects can be coded a few different ways, depending on the design:</a:t>
            </a:r>
          </a:p>
          <a:p>
            <a:pPr lvl="0"/>
            <a:r>
              <a:rPr b="1"/>
              <a:t>Random intercept, fixed slope:</a:t>
            </a:r>
            <a:r>
              <a:rPr/>
              <a:t> </a:t>
            </a:r>
            <a:r>
              <a:rPr>
                <a:latin typeface="Courier"/>
              </a:rPr>
              <a:t>+ (1|random)</a:t>
            </a:r>
            <a:r>
              <a:rPr/>
              <a:t> — e.g., </a:t>
            </a:r>
            <a:r>
              <a:rPr>
                <a:latin typeface="Courier"/>
              </a:rPr>
              <a:t>color ~ fixed + (1|group)</a:t>
            </a:r>
          </a:p>
          <a:p>
            <a:pPr lvl="0"/>
            <a:r>
              <a:rPr b="1"/>
              <a:t>Random intercept, random slope:</a:t>
            </a:r>
            <a:r>
              <a:rPr/>
              <a:t> </a:t>
            </a:r>
            <a:r>
              <a:rPr>
                <a:latin typeface="Courier"/>
              </a:rPr>
              <a:t>+ (fixed|random)</a:t>
            </a:r>
            <a:r>
              <a:rPr/>
              <a:t> — e.g., </a:t>
            </a:r>
            <a:r>
              <a:rPr>
                <a:latin typeface="Courier"/>
              </a:rPr>
              <a:t>color ~ fixed + (fixed|group)</a:t>
            </a:r>
          </a:p>
          <a:p>
            <a:pPr lvl="0"/>
            <a:r>
              <a:rPr b="1"/>
              <a:t>Nested design</a:t>
            </a:r>
            <a:r>
              <a:rPr/>
              <a:t> (a sample can exist only within a larger grouping): </a:t>
            </a:r>
            <a:r>
              <a:rPr>
                <a:latin typeface="Courier"/>
              </a:rPr>
              <a:t>y ~ color + (1|greenbox/graybox)</a:t>
            </a:r>
            <a:r>
              <a:rPr/>
              <a:t>, equivalent to </a:t>
            </a:r>
            <a:r>
              <a:rPr>
                <a:latin typeface="Courier"/>
              </a:rPr>
              <a:t>y ~ color + (1|greenbox) + (1|greenbox:graybox)</a:t>
            </a:r>
            <a:r>
              <a:rPr/>
              <a:t> — this models random variation in the intercept for each patch, and also for each quadrat within each patch</a:t>
            </a:r>
          </a:p>
          <a:p>
            <a:pPr lvl="0"/>
            <a:r>
              <a:rPr b="1"/>
              <a:t>Fully crossed design</a:t>
            </a:r>
            <a:r>
              <a:rPr/>
              <a:t> (not nested): </a:t>
            </a:r>
            <a:r>
              <a:rPr>
                <a:latin typeface="Courier"/>
              </a:rPr>
              <a:t>y ~ color + (1|green_box) + (1|gray_box)</a:t>
            </a:r>
          </a:p>
          <a:p>
            <a:pPr lvl="0" indent="0" marL="0">
              <a:buNone/>
            </a:pPr>
            <a:r>
              <a:rPr b="1"/>
              <a:t>▶ Run this</a:t>
            </a:r>
            <a:r>
              <a:rPr/>
              <a:t> — fit the mixed model:</a:t>
            </a:r>
          </a:p>
          <a:p>
            <a:pPr lvl="0" indent="0">
              <a:buNone/>
            </a:pPr>
            <a:r>
              <a:rPr>
                <a:solidFill>
                  <a:srgbClr val="003B4F"/>
                </a:solidFill>
                <a:latin typeface="Courier"/>
              </a:rPr>
              <a:t>mixed_model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calc.derivs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summary</a:t>
            </a:r>
            <a:r>
              <a:rPr>
                <a:solidFill>
                  <a:srgbClr val="003B4F"/>
                </a:solidFill>
                <a:latin typeface="Courier"/>
              </a:rPr>
              <a:t>(mixed_model)</a:t>
            </a:r>
          </a:p>
          <a:p>
            <a:pPr lvl="0" indent="0" marL="0">
              <a:buNone/>
            </a:pPr>
            <a:r>
              <a:rPr b="1"/>
              <a:t>▶ Run this</a:t>
            </a:r>
            <a:r>
              <a:rPr/>
              <a:t> — Method 1, the F-test with Satterthwaite degrees of freedom (more conservative, better for small samples):</a:t>
            </a:r>
          </a:p>
          <a:p>
            <a:pPr lvl="0" indent="0">
              <a:buNone/>
            </a:pPr>
            <a:r>
              <a:rPr>
                <a:solidFill>
                  <a:srgbClr val="003B4F"/>
                </a:solidFill>
                <a:latin typeface="Courier"/>
              </a:rPr>
              <a:t>satt_result &lt;- </a:t>
            </a:r>
            <a:r>
              <a:rPr>
                <a:solidFill>
                  <a:srgbClr val="4758AB"/>
                </a:solidFill>
                <a:latin typeface="Courier"/>
              </a:rPr>
              <a:t>Anova</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satt_result</a:t>
            </a:r>
          </a:p>
          <a:p>
            <a:pPr lvl="0" indent="0" marL="0">
              <a:buNone/>
            </a:pPr>
            <a:r>
              <a:rPr b="1"/>
              <a:t>▶ Run this</a:t>
            </a:r>
            <a:r>
              <a:rPr/>
              <a:t> — Method 2, the Chi-square test (more liberal, assumes large samples):</a:t>
            </a:r>
          </a:p>
          <a:p>
            <a:pPr lvl="0" indent="0">
              <a:buNone/>
            </a:pPr>
            <a:r>
              <a:rPr>
                <a:solidFill>
                  <a:srgbClr val="003B4F"/>
                </a:solidFill>
                <a:latin typeface="Courier"/>
              </a:rPr>
              <a:t>anova_car &lt;- </a:t>
            </a:r>
            <a:r>
              <a:rPr>
                <a:solidFill>
                  <a:srgbClr val="4758AB"/>
                </a:solidFill>
                <a:latin typeface="Courier"/>
              </a:rPr>
              <a:t>Anova</a:t>
            </a:r>
            <a:r>
              <a:rPr>
                <a:solidFill>
                  <a:srgbClr val="003B4F"/>
                </a:solidFill>
                <a:latin typeface="Courier"/>
              </a:rPr>
              <a:t>(mixed_model,</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003B4F"/>
                </a:solidFill>
                <a:latin typeface="Courier"/>
              </a:rPr>
              <a:t>anova_car</a:t>
            </a:r>
          </a:p>
          <a:p>
            <a:pPr lvl="0" indent="0" marL="1270000">
              <a:buNone/>
            </a:pPr>
            <a:r>
              <a:rPr sz="2000"/>
              <a:t>💡 Chi-square = F × numerator df. The two differ because the F-test accounts for the denominator df (reflecting sample size), while Chi-square assumes infinite denominator df. </a:t>
            </a:r>
            <a:r>
              <a:rPr sz="2000" b="1"/>
              <a:t>Rule of thumb:</a:t>
            </a:r>
            <a:r>
              <a:rPr sz="2000"/>
              <a:t> under 100 observations or &lt; 20 random-effect levels, use the F-test; over 500 observations and &gt; 50 random-effect levels, Chi-square is fine; in between, the F-test is safer.</a:t>
            </a:r>
          </a:p>
          <a:p>
            <a:pPr lvl="0" indent="0" marL="0">
              <a:buNone/>
            </a:pPr>
            <a:r>
              <a:rPr/>
              <a:t>✏️ </a:t>
            </a:r>
            <a:r>
              <a:rPr b="1"/>
              <a:t>Your turn:</a:t>
            </a:r>
            <a:r>
              <a:rPr/>
              <a:t> Do the F-test and Chi-square p-values agree on significance here? Given the rule of thumb above, which one should you trust more for this dataset (16 patches)? </a:t>
            </a:r>
            <a:r>
              <a:rPr>
                <a:latin typeface="Courier"/>
              </a:rPr>
              <a:t>________________________</a:t>
            </a:r>
          </a:p>
          <a:p>
            <a:pPr lvl="0" indent="0" marL="1270000">
              <a:buNone/>
            </a:pPr>
            <a:r>
              <a:rPr sz="2000" b="1"/>
              <a:t>Tip</a:t>
            </a:r>
          </a:p>
          <a:p>
            <a:pPr lvl="0" indent="0" marL="1270000">
              <a:buNone/>
            </a:pPr>
            <a:r>
              <a:rPr sz="2000" b="1"/>
              <a:t>🚀 If you finish early:</a:t>
            </a:r>
            <a:r>
              <a:rPr sz="2000"/>
              <a:t> Refit </a:t>
            </a:r>
            <a:r>
              <a:rPr sz="2000">
                <a:latin typeface="Courier"/>
              </a:rPr>
              <a:t>mixed_model</a:t>
            </a:r>
            <a:r>
              <a:rPr sz="2000"/>
              <a:t> using </a:t>
            </a:r>
            <a:r>
              <a:rPr sz="2000">
                <a:latin typeface="Courier"/>
              </a:rPr>
              <a:t>(1|treat:patch)</a:t>
            </a:r>
            <a:r>
              <a:rPr sz="2000"/>
              <a:t> instead of </a:t>
            </a:r>
            <a:r>
              <a:rPr sz="2000">
                <a:latin typeface="Courier"/>
              </a:rPr>
              <a:t>(1|patch)</a:t>
            </a:r>
            <a:r>
              <a:rPr sz="2000"/>
              <a:t>. Does the model summary change? (Hint: since patch numbers are already unique to a treatment in this dataset, the two notations should behave the same here — but they wouldn’t if patch IDs were reused across treatments.)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Model Diagnostics</a:t>
            </a:r>
          </a:p>
        </p:txBody>
      </p:sp>
      <p:sp>
        <p:nvSpPr>
          <p:cNvPr id="3" name="Content Placeholder 2"/>
          <p:cNvSpPr>
            <a:spLocks noGrp="1"/>
          </p:cNvSpPr>
          <p:nvPr>
            <p:ph idx="1"/>
          </p:nvPr>
        </p:nvSpPr>
        <p:spPr/>
        <p:txBody>
          <a:bodyPr/>
          <a:lstStyle/>
          <a:p>
            <a:pPr lvl="0" indent="0" marL="0">
              <a:buNone/>
            </a:pPr>
            <a:r>
              <a:rPr b="1"/>
              <a:t>▶ Run this</a:t>
            </a:r>
            <a:r>
              <a:rPr/>
              <a:t> — DHARMa’s simulation-based diagnostics, purpose-built for mixed models: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simulation_output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mixed_model,</a:t>
            </a:r>
            <a:b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plotQQunif</a:t>
            </a:r>
            <a:r>
              <a:rPr>
                <a:solidFill>
                  <a:srgbClr val="003B4F"/>
                </a:solidFill>
                <a:latin typeface="Courier"/>
              </a:rPr>
              <a:t>(simulation_output)</a:t>
            </a:r>
            <a:br/>
            <a:r>
              <a:rPr>
                <a:solidFill>
                  <a:srgbClr val="4758AB"/>
                </a:solidFill>
                <a:latin typeface="Courier"/>
              </a:rPr>
              <a:t>plotResiduals</a:t>
            </a:r>
            <a:r>
              <a:rPr>
                <a:solidFill>
                  <a:srgbClr val="003B4F"/>
                </a:solidFill>
                <a:latin typeface="Courier"/>
              </a:rPr>
              <a:t>(simulation_output)</a:t>
            </a:r>
            <a:br/>
            <a:br/>
            <a:r>
              <a:rPr>
                <a:solidFill>
                  <a:srgbClr val="4758AB"/>
                </a:solidFill>
                <a:latin typeface="Courier"/>
              </a:rPr>
              <a:t>testDispersion</a:t>
            </a:r>
            <a:r>
              <a:rPr>
                <a:solidFill>
                  <a:srgbClr val="003B4F"/>
                </a:solidFill>
                <a:latin typeface="Courier"/>
              </a:rPr>
              <a:t>(simulation_output)</a:t>
            </a:r>
            <a:br/>
            <a:r>
              <a:rPr>
                <a:solidFill>
                  <a:srgbClr val="4758AB"/>
                </a:solidFill>
                <a:latin typeface="Courier"/>
              </a:rPr>
              <a:t>testOutliers</a:t>
            </a:r>
            <a:r>
              <a:rPr>
                <a:solidFill>
                  <a:srgbClr val="003B4F"/>
                </a:solidFill>
                <a:latin typeface="Courier"/>
              </a:rPr>
              <a:t>(simulation_output)</a:t>
            </a:r>
          </a:p>
          <a:p>
            <a:pPr lvl="0" indent="0" marL="0">
              <a:buNone/>
            </a:pPr>
            <a:r>
              <a:rPr b="1"/>
              <a:t>▶ Run this</a:t>
            </a:r>
            <a:r>
              <a:rPr/>
              <a:t> — a couple of other useful diagnostic views:</a:t>
            </a:r>
          </a:p>
          <a:p>
            <a:pPr lvl="0" indent="0">
              <a:buNone/>
            </a:pPr>
            <a:r>
              <a:rPr>
                <a:solidFill>
                  <a:srgbClr val="4758AB"/>
                </a:solidFill>
                <a:latin typeface="Courier"/>
              </a:rPr>
              <a:t>plot</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"p"</a:t>
            </a:r>
            <a:r>
              <a:rPr>
                <a:solidFill>
                  <a:srgbClr val="003B4F"/>
                </a:solidFill>
                <a:latin typeface="Courier"/>
              </a:rPr>
              <a:t>, </a:t>
            </a:r>
            <a:r>
              <a:rPr>
                <a:solidFill>
                  <a:srgbClr val="20794D"/>
                </a:solidFill>
                <a:latin typeface="Courier"/>
              </a:rPr>
              <a:t>"smooth"</a:t>
            </a:r>
            <a:r>
              <a:rPr>
                <a:solidFill>
                  <a:srgbClr val="003B4F"/>
                </a:solidFill>
                <a:latin typeface="Courier"/>
              </a:rPr>
              <a:t>))</a:t>
            </a:r>
            <a:br/>
            <a:br/>
            <a:r>
              <a:rPr>
                <a:solidFill>
                  <a:srgbClr val="5E5E5E"/>
                </a:solidFill>
                <a:latin typeface="Courier"/>
              </a:rPr>
              <a:t># Cook's-distance-style influence plot (values &gt; 0.5 are worth a look)</a:t>
            </a:r>
            <a:br/>
            <a:r>
              <a:rPr>
                <a:solidFill>
                  <a:srgbClr val="003B4F"/>
                </a:solidFill>
                <a:latin typeface="Courier"/>
              </a:rPr>
              <a:t>car</a:t>
            </a:r>
            <a:r>
              <a:rPr>
                <a:solidFill>
                  <a:srgbClr val="5E5E5E"/>
                </a:solidFill>
                <a:latin typeface="Courier"/>
              </a:rPr>
              <a:t>::</a:t>
            </a:r>
            <a:r>
              <a:rPr>
                <a:solidFill>
                  <a:srgbClr val="4758AB"/>
                </a:solidFill>
                <a:latin typeface="Courier"/>
              </a:rPr>
              <a:t>influencePlot</a:t>
            </a:r>
            <a:r>
              <a:rPr>
                <a:solidFill>
                  <a:srgbClr val="003B4F"/>
                </a:solidFill>
                <a:latin typeface="Courier"/>
              </a:rPr>
              <a:t>(mixed_model)</a:t>
            </a:r>
            <a:br/>
            <a:br/>
            <a:r>
              <a:rPr>
                <a:solidFill>
                  <a:srgbClr val="5E5E5E"/>
                </a:solidFill>
                <a:latin typeface="Courier"/>
              </a:rPr>
              <a:t># Coefficient plot for the fixed effects</a:t>
            </a:r>
            <a:br/>
            <a:r>
              <a:rPr>
                <a:solidFill>
                  <a:srgbClr val="003B4F"/>
                </a:solidFill>
                <a:latin typeface="Courier"/>
              </a:rPr>
              <a:t>dotwhisker</a:t>
            </a:r>
            <a:r>
              <a:rPr>
                <a:solidFill>
                  <a:srgbClr val="5E5E5E"/>
                </a:solidFill>
                <a:latin typeface="Courier"/>
              </a:rPr>
              <a:t>::</a:t>
            </a:r>
            <a:r>
              <a:rPr>
                <a:solidFill>
                  <a:srgbClr val="4758AB"/>
                </a:solidFill>
                <a:latin typeface="Courier"/>
              </a:rPr>
              <a:t>dwplot</a:t>
            </a:r>
            <a:r>
              <a:rPr>
                <a:solidFill>
                  <a:srgbClr val="003B4F"/>
                </a:solidFill>
                <a:latin typeface="Courier"/>
              </a:rPr>
              <a:t>(mixed_model, </a:t>
            </a:r>
            <a:r>
              <a:rPr>
                <a:solidFill>
                  <a:srgbClr val="657422"/>
                </a:solidFill>
                <a:latin typeface="Courier"/>
              </a:rPr>
              <a:t>effects =</a:t>
            </a:r>
            <a:r>
              <a:rPr>
                <a:solidFill>
                  <a:srgbClr val="003B4F"/>
                </a:solidFill>
                <a:latin typeface="Courier"/>
              </a:rPr>
              <a:t> </a:t>
            </a:r>
            <a:r>
              <a:rPr>
                <a:solidFill>
                  <a:srgbClr val="20794D"/>
                </a:solidFill>
                <a:latin typeface="Courier"/>
              </a:rPr>
              <a:t>"fixed"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5E5E5E"/>
                </a:solidFill>
                <a:latin typeface="Courier"/>
              </a:rPr>
              <a:t># Variance components</a:t>
            </a:r>
            <a:br/>
            <a:r>
              <a:rPr>
                <a:solidFill>
                  <a:srgbClr val="4758AB"/>
                </a:solidFill>
                <a:latin typeface="Courier"/>
              </a:rPr>
              <a:t>VarCorr</a:t>
            </a:r>
            <a:r>
              <a:rPr>
                <a:solidFill>
                  <a:srgbClr val="003B4F"/>
                </a:solidFill>
                <a:latin typeface="Courier"/>
              </a:rPr>
              <a:t>(mixed_model)</a:t>
            </a:r>
          </a:p>
          <a:p>
            <a:pPr lvl="0" indent="0" marL="0">
              <a:buNone/>
            </a:pPr>
            <a:r>
              <a:rPr/>
              <a:t>✏️ </a:t>
            </a:r>
            <a:r>
              <a:rPr b="1"/>
              <a:t>Your turn:</a:t>
            </a:r>
            <a:r>
              <a:rPr/>
              <a:t> From </a:t>
            </a:r>
            <a:r>
              <a:rPr>
                <a:latin typeface="Courier"/>
              </a:rPr>
              <a:t>VarCorr(mixed_model)</a:t>
            </a:r>
            <a:r>
              <a:rPr/>
              <a:t>, how does the variance attributed to </a:t>
            </a:r>
            <a:r>
              <a:rPr>
                <a:latin typeface="Courier"/>
              </a:rPr>
              <a:t>patch</a:t>
            </a:r>
            <a:r>
              <a:rPr/>
              <a:t> compare to the residual variance? What does that tell you about spatial heterogeneity in this system? </a:t>
            </a:r>
            <a:r>
              <a:rPr>
                <a:latin typeface="Courier"/>
              </a:rPr>
              <a:t>________________________</a:t>
            </a:r>
          </a:p>
          <a:p>
            <a:pPr lvl="0" indent="0" marL="1270000">
              <a:buNone/>
            </a:pPr>
            <a:r>
              <a:rPr sz="2000" b="1"/>
              <a:t>Tip</a:t>
            </a:r>
          </a:p>
          <a:p>
            <a:pPr lvl="0" indent="0" marL="1270000">
              <a:buNone/>
            </a:pPr>
            <a:r>
              <a:rPr sz="2000" b="1"/>
              <a:t>🚀 If you finish early:</a:t>
            </a:r>
            <a:r>
              <a:rPr sz="2000"/>
              <a:t> DHARMa’s </a:t>
            </a:r>
            <a:r>
              <a:rPr sz="2000">
                <a:latin typeface="Courier"/>
              </a:rPr>
              <a:t>testDispersion()</a:t>
            </a:r>
            <a:r>
              <a:rPr sz="2000"/>
              <a:t> checks for over/under-dispersion. Look up (</a:t>
            </a:r>
            <a:r>
              <a:rPr sz="2000">
                <a:latin typeface="Courier"/>
              </a:rPr>
              <a:t>?testDispersion</a:t>
            </a:r>
            <a:r>
              <a:rPr sz="2000"/>
              <a:t>) what a significant result would mean, and write a one-sentence summary.</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Comparisons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emm &lt;- </a:t>
            </a:r>
            <a:r>
              <a:rPr>
                <a:solidFill>
                  <a:srgbClr val="4758AB"/>
                </a:solidFill>
                <a:latin typeface="Courier"/>
              </a:rPr>
              <a:t>emmeans</a:t>
            </a:r>
            <a:r>
              <a:rPr>
                <a:solidFill>
                  <a:srgbClr val="003B4F"/>
                </a:solidFill>
                <a:latin typeface="Courier"/>
              </a:rPr>
              <a:t>(nested_model, </a:t>
            </a:r>
            <a:r>
              <a:rPr>
                <a:solidFill>
                  <a:srgbClr val="5E5E5E"/>
                </a:solidFill>
                <a:latin typeface="Courier"/>
              </a:rPr>
              <a:t>~</a:t>
            </a:r>
            <a:r>
              <a:rPr>
                <a:solidFill>
                  <a:srgbClr val="003B4F"/>
                </a:solidFill>
                <a:latin typeface="Courier"/>
              </a:rPr>
              <a:t> treat)</a:t>
            </a:r>
            <a:br/>
            <a:r>
              <a:rPr>
                <a:solidFill>
                  <a:srgbClr val="4758AB"/>
                </a:solidFill>
                <a:latin typeface="Courier"/>
              </a:rPr>
              <a:t>summary</a:t>
            </a:r>
            <a:r>
              <a:rPr>
                <a:solidFill>
                  <a:srgbClr val="003B4F"/>
                </a:solidFill>
                <a:latin typeface="Courier"/>
              </a:rPr>
              <a:t>(emm)</a:t>
            </a:r>
            <a:br/>
            <a:br/>
            <a:r>
              <a:rPr>
                <a:solidFill>
                  <a:srgbClr val="003B4F"/>
                </a:solidFill>
                <a:latin typeface="Courier"/>
              </a:rPr>
              <a:t>pairs_result &lt;- </a:t>
            </a:r>
            <a:r>
              <a:rPr>
                <a:solidFill>
                  <a:srgbClr val="4758AB"/>
                </a:solidFill>
                <a:latin typeface="Courier"/>
              </a:rPr>
              <a:t>pairs</a:t>
            </a:r>
            <a:r>
              <a:rPr>
                <a:solidFill>
                  <a:srgbClr val="003B4F"/>
                </a:solidFill>
                <a:latin typeface="Courier"/>
              </a:rPr>
              <a:t>(emm,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pairs_result</a:t>
            </a:r>
            <a:br/>
            <a:br/>
            <a:r>
              <a:rPr>
                <a:solidFill>
                  <a:srgbClr val="003B4F"/>
                </a:solidFill>
                <a:latin typeface="Courier"/>
              </a:rPr>
              <a:t>cld_result &lt;- multcomp</a:t>
            </a:r>
            <a:r>
              <a:rPr>
                <a:solidFill>
                  <a:srgbClr val="5E5E5E"/>
                </a:solidFill>
                <a:latin typeface="Courier"/>
              </a:rPr>
              <a:t>::</a:t>
            </a:r>
            <a:r>
              <a:rPr>
                <a:solidFill>
                  <a:srgbClr val="4758AB"/>
                </a:solidFill>
                <a:latin typeface="Courier"/>
              </a:rPr>
              <a:t>cld</a:t>
            </a:r>
            <a:r>
              <a:rPr>
                <a:solidFill>
                  <a:srgbClr val="003B4F"/>
                </a:solidFill>
                <a:latin typeface="Courier"/>
              </a:rPr>
              <a:t>(emm,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cld_result</a:t>
            </a:r>
          </a:p>
          <a:p>
            <a:pPr lvl="0" indent="0" marL="0">
              <a:buNone/>
            </a:pPr>
            <a:r>
              <a:rPr/>
              <a:t>✏️ </a:t>
            </a:r>
            <a:r>
              <a:rPr b="1"/>
              <a:t>Your turn:</a:t>
            </a:r>
            <a:r>
              <a:rPr/>
              <a:t> Mean algae cover for Control (1.30%) looks much lower than the reduced-density treatments (66%: 21.55%, 33%: 19.00%, Removed: 39.20%). Based on your compact letter display, are any of those differences actually statistically significant at α = 0.05?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Visualization and Reporting</a:t>
            </a:r>
          </a:p>
        </p:txBody>
      </p:sp>
      <p:sp>
        <p:nvSpPr>
          <p:cNvPr id="3" name="Content Placeholder 2"/>
          <p:cNvSpPr>
            <a:spLocks noGrp="1"/>
          </p:cNvSpPr>
          <p:nvPr>
            <p:ph idx="1"/>
          </p:nvPr>
        </p:nvSpPr>
        <p:spPr/>
        <p:txBody>
          <a:bodyPr/>
          <a:lstStyle/>
          <a:p>
            <a:pPr lvl="0" indent="0" marL="0">
              <a:buNone/>
            </a:pPr>
            <a:r>
              <a:rPr b="1"/>
              <a:t>▶ Run this</a:t>
            </a:r>
            <a:r>
              <a:rPr/>
              <a:t> — a publication-style boxplot:</a:t>
            </a:r>
          </a:p>
          <a:p>
            <a:pPr lvl="0" indent="0">
              <a:buNone/>
            </a:pP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algae, </a:t>
            </a:r>
            <a:r>
              <a:rPr>
                <a:solidFill>
                  <a:srgbClr val="657422"/>
                </a:solidFill>
                <a:latin typeface="Courier"/>
              </a:rPr>
              <a:t>fill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scale_fill_viridis_d</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"D"</a:t>
            </a:r>
            <a:r>
              <a:rPr>
                <a:solidFill>
                  <a:srgbClr val="003B4F"/>
                </a:solidFill>
                <a:latin typeface="Courier"/>
              </a:rPr>
              <a:t>, </a:t>
            </a:r>
            <a:r>
              <a:rPr>
                <a:solidFill>
                  <a:srgbClr val="657422"/>
                </a:solidFill>
                <a:latin typeface="Courier"/>
              </a:rPr>
              <a:t>end =</a:t>
            </a:r>
            <a:r>
              <a:rPr>
                <a:solidFill>
                  <a:srgbClr val="003B4F"/>
                </a:solidFill>
                <a:latin typeface="Courier"/>
              </a:rPr>
              <a:t> </a:t>
            </a:r>
            <a:r>
              <a:rPr>
                <a:solidFill>
                  <a:srgbClr val="AD0000"/>
                </a:solidFill>
                <a:latin typeface="Courier"/>
              </a:rPr>
              <a:t>0.85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 of Urchin Density on Filamentous Algae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"Boxplots showing the distribution of algal cover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0">
              <a:buNone/>
            </a:pPr>
            <a:r>
              <a:rPr b="1"/>
              <a:t>▶ Run this</a:t>
            </a:r>
            <a:r>
              <a:rPr/>
              <a:t> — a mean ± SE plot:</a:t>
            </a:r>
          </a:p>
          <a:p>
            <a:pPr lvl="0" indent="0">
              <a:buNone/>
            </a:pPr>
            <a:r>
              <a:rPr>
                <a:solidFill>
                  <a:srgbClr val="4758AB"/>
                </a:solidFill>
                <a:latin typeface="Courier"/>
              </a:rPr>
              <a:t>ggplot</a:t>
            </a:r>
            <a:r>
              <a:rPr>
                <a:solidFill>
                  <a:srgbClr val="003B4F"/>
                </a:solidFill>
                <a:latin typeface="Courier"/>
              </a:rPr>
              <a:t>(summary_stats,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mean,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Algae Cover by 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"Mean (+/- SE) percentage cover of filamentous algae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1270000">
              <a:buNone/>
            </a:pPr>
            <a:r>
              <a:rPr sz="2000" b="1"/>
              <a:t>Note</a:t>
            </a:r>
          </a:p>
          <a:p>
            <a:pPr lvl="0" indent="0" marL="1270000">
              <a:buNone/>
            </a:pPr>
            <a:r>
              <a:rPr sz="2000" b="1"/>
              <a:t>Scientific interpretation</a:t>
            </a:r>
          </a:p>
          <a:p>
            <a:pPr lvl="0" indent="0" marL="1270000">
              <a:buNone/>
            </a:pPr>
            <a:r>
              <a:rPr sz="2000"/>
              <a:t>This nested ANOVA reveals substantial spatial heterogeneity in algae cover, with significant variation among patches within each treatment. Whether the urchin-density treatment effect itself reaches significance depends on which test (F vs. Chi-square) and which model specification you use — a good reminder that “significant” is sensitive to analytical choices in nested designs. The substantial variance component associated with patches nested within treatments underscores the importance of accounting for spatial heterogeneity when designing and analyzing ecological field experiments.</a:t>
            </a:r>
          </a:p>
          <a:p>
            <a:pPr lvl="0" indent="0" marL="0">
              <a:buNone/>
            </a:pPr>
            <a:r>
              <a:rPr/>
              <a:t>✏️ </a:t>
            </a:r>
            <a:r>
              <a:rPr b="1"/>
              <a:t>Your turn:</a:t>
            </a:r>
            <a:r>
              <a:rPr/>
              <a:t> Write a 2–3 sentence results paragraph for this analysis, using your own F-statistic, df, p-value, and variance component numbers from Parts 3–4.</a:t>
            </a:r>
          </a:p>
          <a:p>
            <a:pPr lvl="0" indent="0">
              <a:buNone/>
            </a:pPr>
            <a:r>
              <a:rPr>
                <a:latin typeface="Courier"/>
              </a:rPr>
              <a:t>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Comparing the Two Approaches</a:t>
            </a:r>
          </a:p>
        </p:txBody>
      </p:sp>
      <p:sp>
        <p:nvSpPr>
          <p:cNvPr id="3" name="Content Placeholder 2"/>
          <p:cNvSpPr>
            <a:spLocks noGrp="1"/>
          </p:cNvSpPr>
          <p:nvPr>
            <p:ph idx="1"/>
          </p:nvPr>
        </p:nvSpPr>
        <p:spPr/>
        <p:txBody>
          <a:bodyPr/>
          <a:lstStyle/>
          <a:p>
            <a:pPr lvl="0" indent="0" marL="0">
              <a:buNone/>
            </a:pPr>
            <a:r>
              <a:rPr/>
              <a:t>The linear mixed-model approach (</a:t>
            </a:r>
            <a:r>
              <a:rPr>
                <a:latin typeface="Courier"/>
              </a:rPr>
              <a:t>lmer</a:t>
            </a:r>
            <a:r>
              <a:rPr/>
              <a:t>) gives similar results to the traditional nested ANOVA (</a:t>
            </a:r>
            <a:r>
              <a:rPr>
                <a:latin typeface="Courier"/>
              </a:rPr>
              <a:t>aov</a:t>
            </a:r>
            <a:r>
              <a:rPr/>
              <a:t> with an </a:t>
            </a:r>
            <a:r>
              <a:rPr>
                <a:latin typeface="Courier"/>
              </a:rPr>
              <a:t>Error()</a:t>
            </a:r>
            <a:r>
              <a:rPr/>
              <a:t> term). The main advantage of the mixed-model approach is its more elegant handling of random effects, easier extension to unbalanced or more complex designs, and the extensive diagnostic tools available through packages like </a:t>
            </a:r>
            <a:r>
              <a:rPr>
                <a:latin typeface="Courier"/>
              </a:rPr>
              <a:t>DHARMa</a:t>
            </a:r>
            <a:r>
              <a:rPr/>
              <a:t>.</a:t>
            </a:r>
          </a:p>
          <a:p>
            <a:pPr lvl="0" indent="0" marL="0">
              <a:buNone/>
            </a:pPr>
            <a:r>
              <a:rPr/>
              <a:t>✏️ </a:t>
            </a:r>
            <a:r>
              <a:rPr b="1"/>
              <a:t>Your turn:</a:t>
            </a:r>
            <a:r>
              <a:rPr/>
              <a:t> Compare the p-value for </a:t>
            </a:r>
            <a:r>
              <a:rPr>
                <a:latin typeface="Courier"/>
              </a:rPr>
              <a:t>treat</a:t>
            </a:r>
            <a:r>
              <a:rPr/>
              <a:t> from </a:t>
            </a:r>
            <a:r>
              <a:rPr>
                <a:latin typeface="Courier"/>
              </a:rPr>
              <a:t>nested_model</a:t>
            </a:r>
            <a:r>
              <a:rPr/>
              <a:t> (Part 2) to the p-value from </a:t>
            </a:r>
            <a:r>
              <a:rPr>
                <a:latin typeface="Courier"/>
              </a:rPr>
              <a:t>satt_result</a:t>
            </a:r>
            <a:r>
              <a:rPr/>
              <a:t> (Part 3). Are they close? Which approach would you reach for first on a future nested design of your own, and why? </a:t>
            </a:r>
            <a:r>
              <a:rPr>
                <a:latin typeface="Courier"/>
              </a:rPr>
              <a:t>________________________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why </a:t>
            </a:r>
            <a:r>
              <a:rPr>
                <a:latin typeface="Courier"/>
              </a:rPr>
              <a:t>patch</a:t>
            </a:r>
            <a:r>
              <a:rPr/>
              <a:t> nested in </a:t>
            </a:r>
            <a:r>
              <a:rPr>
                <a:latin typeface="Courier"/>
              </a:rPr>
              <a:t>treat</a:t>
            </a:r>
            <a:r>
              <a:rPr/>
              <a:t> cannot be analyzed as a simple factorial design</a:t>
            </a:r>
          </a:p>
          <a:p>
            <a:pPr lvl="0"/>
            <a:r>
              <a:rPr/>
              <a:t>☐ Fit a nested ANOVA with </a:t>
            </a:r>
            <a:r>
              <a:rPr>
                <a:latin typeface="Courier"/>
              </a:rPr>
              <a:t>aov(..., Error(...))</a:t>
            </a:r>
            <a:r>
              <a:rPr/>
              <a:t> and with </a:t>
            </a:r>
            <a:r>
              <a:rPr>
                <a:latin typeface="Courier"/>
              </a:rPr>
              <a:t>afex::aov_car()</a:t>
            </a:r>
          </a:p>
          <a:p>
            <a:pPr lvl="0"/>
            <a:r>
              <a:rPr/>
              <a:t>☐ Fit the same design as a mixed model with </a:t>
            </a:r>
            <a:r>
              <a:rPr>
                <a:latin typeface="Courier"/>
              </a:rPr>
              <a:t>lme4::lmer()</a:t>
            </a:r>
            <a:r>
              <a:rPr/>
              <a:t>, using correct random-effects notation</a:t>
            </a:r>
          </a:p>
          <a:p>
            <a:pPr lvl="0"/>
            <a:r>
              <a:rPr/>
              <a:t>☐ Choose between the F-test and Chi-square test for a mixed model, using the rule of thumb from lecture</a:t>
            </a:r>
          </a:p>
          <a:p>
            <a:pPr lvl="0"/>
            <a:r>
              <a:rPr/>
              <a:t>☐ Run DHARMa diagnostics on a mixed model</a:t>
            </a:r>
          </a:p>
          <a:p>
            <a:pPr lvl="0"/>
            <a:r>
              <a:rPr/>
              <a:t>☐ Compute EMMs and post-hoc comparisons for a nested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14_nested_anova.R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library(lme4)</a:t>
            </a:r>
            <a:r>
              <a:rPr/>
              <a:t>, </a:t>
            </a:r>
            <a:r>
              <a:rPr>
                <a:latin typeface="Courier"/>
              </a:rPr>
              <a:t>library(lmerTest)</a:t>
            </a:r>
            <a:r>
              <a:rPr/>
              <a:t>, </a:t>
            </a:r>
            <a:r>
              <a:rPr>
                <a:latin typeface="Courier"/>
              </a:rPr>
              <a:t>library(car)</a:t>
            </a:r>
            <a:r>
              <a:rPr/>
              <a:t>, </a:t>
            </a:r>
            <a:r>
              <a:rPr>
                <a:latin typeface="Courier"/>
              </a:rPr>
              <a:t>library(emmeans)</a:t>
            </a:r>
            <a:r>
              <a:rPr/>
              <a:t>, </a:t>
            </a:r>
            <a:r>
              <a:rPr>
                <a:latin typeface="Courier"/>
              </a:rPr>
              <a:t>library(DHARMa)</a:t>
            </a:r>
            <a:r>
              <a:rPr/>
              <a:t>, </a:t>
            </a:r>
            <a:r>
              <a:rPr>
                <a:latin typeface="Courier"/>
              </a:rPr>
              <a:t>library(afex)</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Nested ANOVA</dc:title>
  <dc:creator>Bill Perry</dc:creator>
  <cp:keywords/>
  <dc:description>Hands-on activity: nested ANOVA the traditional way (aov with an Error term, afex), the modern way (lmer mixed models), DHARMa diagnostics, and post-hoc comparisons on the sea urchin grazing / algae cover dataset.</dc:description>
  <dcterms:created xsi:type="dcterms:W3CDTF">2026-08-21T18:41:43Z</dcterms:created>
  <dcterms:modified xsi:type="dcterms:W3CDTF">2026-08-21T18:41:43Z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Nested designs</vt:lpwstr>
  </property>
  <property fmtid="{D5CDD505-2E9C-101B-9397-08002B2CF9AE}" pid="15" name="toc-title">
    <vt:lpwstr>Table of contents</vt:lpwstr>
  </property>
  <property fmtid="{D5CDD505-2E9C-101B-9397-08002B2CF9AE}" pid="16" name="week">
    <vt:lpwstr>7</vt:lpwstr>
  </property>
</Properties>
</file>