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Relationship Id="rId4" Type="http://schemas.openxmlformats.org/officeDocument/2006/relationships/hyperlink" Target="https://r4ds.hadley.nz/data-import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preadsheet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.html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" TargetMode="External" /><Relationship Id="rId3" Type="http://schemas.openxmlformats.org/officeDocument/2006/relationships/hyperlink" Target="https://r4ds.hadley.nz/missing-value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elect" TargetMode="External" /><Relationship Id="rId3" Type="http://schemas.openxmlformats.org/officeDocument/2006/relationships/hyperlink" Target="https://r4ds.hadley.nz/data-transform.html#sec-select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#conditional-transformations" TargetMode="External" /><Relationship Id="rId3" Type="http://schemas.openxmlformats.org/officeDocument/2006/relationships/hyperlink" Target="https://r4ds.hadley.nz/logicals.html#conditional-transformations" TargetMode="External" /><Relationship Id="rId4" Type="http://schemas.openxmlformats.org/officeDocument/2006/relationships/hyperlink" Target="https://r4ds.hadley.nz/logicals.html#conditional-transformations" TargetMode="External" /><Relationship Id="rId5" Type="http://schemas.openxmlformats.org/officeDocument/2006/relationships/hyperlink" Target="https://r4ds.hadley.nz/logicals.html#conditional-transformation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trings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Relationship Id="rId3" Type="http://schemas.openxmlformats.org/officeDocument/2006/relationships/hyperlink" Target="https://r4ds.hadley.nz/missing-values.html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import.html#sec-writing-to-a-file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" TargetMode="External" /><Relationship Id="rId4" Type="http://schemas.openxmlformats.org/officeDocument/2006/relationships/hyperlink" Target="https://r4ds.hadley.nz/data-tidy.html" TargetMode="External" /><Relationship Id="rId5" Type="http://schemas.openxmlformats.org/officeDocument/2006/relationships/hyperlink" Target="https://r4ds.hadley.nz/data-import.html" TargetMode="External" /><Relationship Id="rId6" Type="http://schemas.openxmlformats.org/officeDocument/2006/relationships/hyperlink" Target="https://r4ds.hadley.nz/logicals.html" TargetMode="External" /><Relationship Id="rId7" Type="http://schemas.openxmlformats.org/officeDocument/2006/relationships/hyperlink" Target="https://r4ds.hadley.nz/numbers.html" TargetMode="External" /><Relationship Id="rId8" Type="http://schemas.openxmlformats.org/officeDocument/2006/relationships/hyperlink" Target="https://r4ds.hadley.nz/strings.html" TargetMode="External" /><Relationship Id="rId9" Type="http://schemas.openxmlformats.org/officeDocument/2006/relationships/hyperlink" Target="https://r4ds.hadley.nz/missing-values.html" TargetMode="External" /><Relationship Id="rId10" Type="http://schemas.openxmlformats.org/officeDocument/2006/relationships/hyperlink" Target="https://r4ds.hadley.nz/spreadsheet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§7 — Data import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§20 — Spreadsheets</a:t>
            </a:r>
            <a:r>
              <a:rPr sz="2000"/>
              <a:t> is entirely about importing from Excel and Sheets.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§3 — Data transformation</a:t>
            </a:r>
            <a:r>
              <a:rPr sz="2000"/>
              <a:t> is the chapter for all five verbs and the pipe.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 — Logical vectors</a:t>
            </a:r>
            <a:r>
              <a:rPr sz="2000"/>
              <a:t> covers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&amp;</a:t>
            </a:r>
            <a:r>
              <a:rPr sz="2000"/>
              <a:t>, </a:t>
            </a:r>
            <a:r>
              <a:rPr sz="2000">
                <a:latin typeface="Courier"/>
              </a:rPr>
              <a:t>|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 and </a:t>
            </a:r>
            <a:r>
              <a:rPr sz="2000">
                <a:latin typeface="Courier"/>
              </a:rPr>
              <a:t>is.na()</a:t>
            </a:r>
            <a:r>
              <a:rPr sz="2000"/>
              <a:t>.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§3.3 — </a:t>
            </a:r>
            <a:r>
              <a:rPr>
                <a:hlinkClick r:id="rId3"/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§12.5 — </a:t>
            </a:r>
            <a:r>
              <a:rPr sz="2000">
                <a:hlinkClick r:id="rId3"/>
                <a:latin typeface="Courier"/>
              </a:rPr>
              <a:t>if_else()</a:t>
            </a:r>
            <a:r>
              <a:rPr sz="2000">
                <a:hlinkClick r:id="rId4"/>
              </a:rPr>
              <a:t> and </a:t>
            </a:r>
            <a:r>
              <a:rPr sz="2000">
                <a:hlinkClick r:id="rId5"/>
                <a:latin typeface="Courier"/>
              </a:rPr>
              <a:t>case_when()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§14 — Strings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§7.5 — Writing to a file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8</a:t>
            </a:r>
            <a:r>
              <a:rPr/>
              <a:t>, Managing and Curating Data (raw vs. processed data, the audit trail from field sheet to analysis)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1</a:t>
            </a:r>
            <a:r>
              <a:rPr/>
              <a:t>, Statistics and Samples, §1.4 on types of variables — the categorical/numerical distinction behind </a:t>
            </a:r>
            <a:r>
              <a:rPr>
                <a:latin typeface="Courier"/>
              </a:rPr>
              <a:t>case_when()</a:t>
            </a:r>
            <a:r>
              <a:rPr/>
              <a:t> and every </a:t>
            </a:r>
            <a:r>
              <a:rPr>
                <a:latin typeface="Courier"/>
              </a:rPr>
              <a:t>group_by()</a:t>
            </a:r>
            <a:r>
              <a:rPr/>
              <a:t> to come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Neither statistics text teaches </a:t>
            </a:r>
            <a:r>
              <a:rPr sz="2000">
                <a:latin typeface="Courier"/>
              </a:rPr>
              <a:t>dplyr</a:t>
            </a:r>
            <a:r>
              <a:rPr sz="2000"/>
              <a:t> — that is what R4DS is for. Read the texts for </a:t>
            </a:r>
            <a:r>
              <a:rPr sz="2000" i="1"/>
              <a:t>why</a:t>
            </a:r>
            <a:r>
              <a:rPr sz="2000"/>
              <a:t> a clean, documented dataset matters, and R4DS for </a:t>
            </a:r>
            <a:r>
              <a:rPr sz="2000" i="1"/>
              <a:t>how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 — Data transformation</a:t>
            </a:r>
            <a:r>
              <a:rPr sz="2000"/>
              <a:t> — the five verbs</a:t>
            </a:r>
          </a:p>
          <a:p>
            <a:pPr lvl="0"/>
            <a:r>
              <a:rPr sz="2000">
                <a:hlinkClick r:id="rId4"/>
              </a:rPr>
              <a:t>§5 — Data tidying</a:t>
            </a:r>
          </a:p>
          <a:p>
            <a:pPr lvl="0"/>
            <a:r>
              <a:rPr sz="2000">
                <a:hlinkClick r:id="rId5"/>
              </a:rPr>
              <a:t>§7 — Data import</a:t>
            </a:r>
          </a:p>
          <a:p>
            <a:pPr lvl="0"/>
            <a:r>
              <a:rPr sz="2000">
                <a:hlinkClick r:id="rId6"/>
              </a:rPr>
              <a:t>§12 — Logical vectors</a:t>
            </a:r>
            <a:r>
              <a:rPr sz="2000"/>
              <a:t> — </a:t>
            </a:r>
            <a:r>
              <a:rPr sz="2000">
                <a:latin typeface="Courier"/>
              </a:rPr>
              <a:t>case_when()</a:t>
            </a:r>
          </a:p>
          <a:p>
            <a:pPr lvl="0"/>
            <a:r>
              <a:rPr sz="2000">
                <a:hlinkClick r:id="rId7"/>
              </a:rPr>
              <a:t>§13 — Numbers</a:t>
            </a:r>
          </a:p>
          <a:p>
            <a:pPr lvl="0"/>
            <a:r>
              <a:rPr sz="2000">
                <a:hlinkClick r:id="rId8"/>
              </a:rPr>
              <a:t>§14 — Strings</a:t>
            </a:r>
          </a:p>
          <a:p>
            <a:pPr lvl="0"/>
            <a:r>
              <a:rPr sz="2000">
                <a:hlinkClick r:id="rId9"/>
              </a:rPr>
              <a:t>§18 — Missing values</a:t>
            </a:r>
          </a:p>
          <a:p>
            <a:pPr lvl="0"/>
            <a:r>
              <a:rPr sz="2000">
                <a:hlinkClick r:id="rId10"/>
              </a:rPr>
              <a:t>§20 — Spreadsheets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2026-10-19T18:25:52Z</dcterms:created>
  <dcterms:modified xsi:type="dcterms:W3CDTF">2026-10-19T18:25:52Z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