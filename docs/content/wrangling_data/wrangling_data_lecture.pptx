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pine_needles_error.csv" TargetMode="External" /><Relationship Id="rId4" Type="http://schemas.openxmlformats.org/officeDocument/2006/relationships/hyperlink" Target="https://r4ds.hadley.nz/data-import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preadsheets.html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.html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" TargetMode="External" /><Relationship Id="rId3" Type="http://schemas.openxmlformats.org/officeDocument/2006/relationships/hyperlink" Target="https://r4ds.hadley.nz/missing-values.html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elect" TargetMode="External" /><Relationship Id="rId3" Type="http://schemas.openxmlformats.org/officeDocument/2006/relationships/hyperlink" Target="https://r4ds.hadley.nz/data-transform.html#sec-select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#conditional-transformations" TargetMode="External" /><Relationship Id="rId3" Type="http://schemas.openxmlformats.org/officeDocument/2006/relationships/hyperlink" Target="https://r4ds.hadley.nz/logicals.html#conditional-transformations" TargetMode="External" /><Relationship Id="rId4" Type="http://schemas.openxmlformats.org/officeDocument/2006/relationships/hyperlink" Target="https://r4ds.hadley.nz/logicals.html#conditional-transformations" TargetMode="External" /><Relationship Id="rId5" Type="http://schemas.openxmlformats.org/officeDocument/2006/relationships/hyperlink" Target="https://r4ds.hadley.nz/logicals.html#conditional-transformations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trings.html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Relationship Id="rId3" Type="http://schemas.openxmlformats.org/officeDocument/2006/relationships/hyperlink" Target="https://r4ds.hadley.nz/missing-values.html" TargetMode="Externa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import.html#sec-writing-to-a-file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" TargetMode="External" /><Relationship Id="rId4" Type="http://schemas.openxmlformats.org/officeDocument/2006/relationships/hyperlink" Target="https://r4ds.hadley.nz/data-tidy.html" TargetMode="External" /><Relationship Id="rId5" Type="http://schemas.openxmlformats.org/officeDocument/2006/relationships/hyperlink" Target="https://r4ds.hadley.nz/data-import.html" TargetMode="External" /><Relationship Id="rId6" Type="http://schemas.openxmlformats.org/officeDocument/2006/relationships/hyperlink" Target="https://r4ds.hadley.nz/logicals.html" TargetMode="External" /><Relationship Id="rId7" Type="http://schemas.openxmlformats.org/officeDocument/2006/relationships/hyperlink" Target="https://r4ds.hadley.nz/numbers.html" TargetMode="External" /><Relationship Id="rId8" Type="http://schemas.openxmlformats.org/officeDocument/2006/relationships/hyperlink" Target="https://r4ds.hadley.nz/strings.html" TargetMode="External" /><Relationship Id="rId9" Type="http://schemas.openxmlformats.org/officeDocument/2006/relationships/hyperlink" Target="https://r4ds.hadley.nz/missing-values.html" TargetMode="External" /><Relationship Id="rId10" Type="http://schemas.openxmlformats.org/officeDocument/2006/relationships/hyperlink" Target="https://r4ds.hadley.nz/spreadsheets.html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output/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pine_data.csv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/>
            <a:r>
              <a:rPr/>
              <a:t>Saw why 64 rows is not 64 independent observations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The messy version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install.packages("readxl")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install.packages("janitor")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</a:t>
            </a:r>
            <a:r>
              <a:rPr>
                <a:solidFill>
                  <a:srgbClr val="5E5E5E"/>
                </a:solidFill>
                <a:latin typeface="Courier"/>
              </a:rPr>
              <a:t># cleans messy column names, Excel artifacts, rounding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</a:t>
            </a:r>
            <a:br/>
            <a:r>
              <a:rPr sz="2000"/>
              <a:t>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</a:t>
            </a:r>
            <a:br/>
            <a:r>
              <a:rPr sz="2000"/>
              <a:t>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  <a:p>
            <a:pPr lvl="0" indent="0" marL="1270000">
              <a:buNone/>
            </a:pPr>
            <a:r>
              <a:rPr sz="2000">
                <a:hlinkClick r:id="rId4"/>
              </a:rPr>
              <a:t>📖 R4DS §7 — Data import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source_file</a:t>
            </a:r>
            <a:r>
              <a:rPr sz="2000"/>
              <a:t>, </a:t>
            </a:r>
            <a:r>
              <a:rPr sz="2000">
                <a:latin typeface="Courier"/>
              </a:rPr>
              <a:t>team</a:t>
            </a:r>
            <a:r>
              <a:rPr sz="2000"/>
              <a:t>, </a:t>
            </a:r>
            <a:r>
              <a:rPr sz="2000">
                <a:latin typeface="Courier"/>
              </a:rPr>
              <a:t>replicate</a:t>
            </a:r>
            <a:r>
              <a:rPr sz="2000"/>
              <a:t>, </a:t>
            </a:r>
            <a:r>
              <a:rPr sz="2000">
                <a:latin typeface="Courier"/>
              </a:rPr>
              <a:t>side</a:t>
            </a:r>
            <a:r>
              <a:rPr sz="2000"/>
              <a:t>, </a:t>
            </a:r>
            <a:r>
              <a:rPr sz="2000">
                <a:latin typeface="Courier"/>
              </a:rPr>
              <a:t>needle_length_mm</a:t>
            </a:r>
            <a:r>
              <a:rPr sz="2000"/>
              <a:t>, </a:t>
            </a:r>
            <a:r>
              <a:rPr sz="2000">
                <a:latin typeface="Courier"/>
              </a:rPr>
              <a:t>needle_width_mm</a:t>
            </a:r>
            <a:r>
              <a:rPr sz="2000"/>
              <a:t>.</a:t>
            </a:r>
            <a:br/>
            <a:r>
              <a:rPr sz="2000"/>
              <a:t>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replicate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</a:t>
            </a:r>
            <a:br/>
            <a:r>
              <a:rPr sz="2000"/>
              <a:t>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§20 — Spreadsheets</a:t>
            </a:r>
            <a:r>
              <a:rPr sz="2000"/>
              <a:t> is entirely about importing from Excel and Sheets.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</a:t>
            </a:r>
            <a:br/>
            <a:r>
              <a:rPr sz="2000"/>
              <a:t>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§3 — Data transformation</a:t>
            </a:r>
            <a:r>
              <a:rPr sz="2000"/>
              <a:t> is the chapter for all five verbs and the pipe.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shady             16.6            0.75
2 Bartell_Shingledecker_… grac…         2 shady             17.0            0.84
3 Bartell_Shingledecker_… grac…         3 shady             14.3            0.86
4 Bartell_Shingledecker_… grac…         4 shady             15.6            0.98
5 Bartell_Shingledecker_… grac…         5 shady             15.1            1.35
6 Bartell_Shingledecker_… grac…         6 shady             13.1            0.77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17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Bartell_Shingledecker_… grac…         7 shady             17.9            0.69
6 heal_thome_pineneedles… bota…         2 shady             20.7            0.77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 — </a:t>
            </a:r>
            <a:r>
              <a:rPr sz="2000">
                <a:latin typeface="Courier"/>
              </a:rPr>
              <a:t>filter(side = "shady")</a:t>
            </a:r>
            <a:r>
              <a:rPr sz="2000"/>
              <a:t> is an error</a:t>
            </a:r>
          </a:p>
          <a:p>
            <a:pPr lvl="1"/>
            <a:r>
              <a:rPr sz="2000"/>
              <a:t>you want </a:t>
            </a:r>
            <a:r>
              <a:rPr sz="2000">
                <a:latin typeface="Courier"/>
              </a:rPr>
              <a:t>filter(side == "shady")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heal_thome_pineneedles… bota…         1 sunny             16.8            0.98
6 heal_thome_pineneedles… bota…         2 sunny             18.7            1.07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/>
            <a:r>
              <a:rPr sz="2000"/>
              <a:t>A comma between conditions means </a:t>
            </a:r>
            <a:r>
              <a:rPr sz="2000" b="1"/>
              <a:t>AND</a:t>
            </a:r>
          </a:p>
          <a:p>
            <a:pPr lvl="1"/>
            <a:r>
              <a:rPr sz="2000"/>
              <a:t>—every condition must be true for a row to be kept.</a:t>
            </a:r>
          </a:p>
          <a:p>
            <a:pPr lvl="0"/>
            <a:r>
              <a:rPr sz="2000"/>
              <a:t>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side == "shady" | needle_length_mm &gt; 18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18 mm.</a:t>
            </a:r>
            <a:br/>
            <a:r>
              <a:rPr sz="2000"/>
              <a:t>Will this ever keep a </a:t>
            </a:r>
            <a:r>
              <a:rPr sz="2000" i="1"/>
              <a:t>sunny</a:t>
            </a:r>
            <a:r>
              <a:rPr sz="2000"/>
              <a:t> needle?</a:t>
            </a:r>
            <a:br/>
            <a:r>
              <a:rPr sz="2000"/>
              <a:t>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6 sunny             19.2            0.99
3 Bartell_Shingledecker_… grac…         1 shady             16.6            0.75
4 Bartell_Shingledecker_… grac…         2 shady             17.0            0.84
5 Bartell_Shingledecker_… grac…         3 shady             14.3            0.86
6 Bartell_Shingledecker_… grac…         4 shady             15.6            0.98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 (logical OR),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</a:t>
            </a:r>
            <a:r>
              <a:rPr sz="2000"/>
              <a:t> (or </a:t>
            </a:r>
            <a:r>
              <a:rPr sz="2000">
                <a:latin typeface="Courier"/>
              </a:rPr>
              <a:t>%&gt;%</a:t>
            </a:r>
            <a:r>
              <a:rPr sz="2000"/>
              <a:t>)</a:t>
            </a:r>
          </a:p>
          <a:p>
            <a:pPr lvl="0"/>
            <a:r>
              <a:rPr sz="2000"/>
              <a:t>They look alike but do completely different jobs — 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team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</a:t>
            </a:r>
          </a:p>
          <a:p>
            <a:pPr lvl="1"/>
            <a:r>
              <a:rPr sz="2000"/>
              <a:t>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is.na(x)</a:t>
            </a:r>
            <a:r>
              <a:rPr sz="2000"/>
              <a:t> is itself a boolean test</a:t>
            </a:r>
          </a:p>
          <a:p>
            <a:pPr lvl="1"/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</a:p>
          <a:p>
            <a:pPr lvl="1"/>
            <a:r>
              <a:rPr sz="2000"/>
              <a:t>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</a:t>
            </a:r>
            <a:br/>
            <a:r>
              <a:rPr sz="2000"/>
              <a:t>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 — Logical vectors</a:t>
            </a:r>
            <a:r>
              <a:rPr sz="2000"/>
              <a:t> covers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&amp;</a:t>
            </a:r>
            <a:r>
              <a:rPr sz="2000"/>
              <a:t>, </a:t>
            </a:r>
            <a:r>
              <a:rPr sz="2000">
                <a:latin typeface="Courier"/>
              </a:rPr>
              <a:t>|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 and </a:t>
            </a:r>
            <a:r>
              <a:rPr sz="2000">
                <a:latin typeface="Courier"/>
              </a:rPr>
              <a:t>is.na()</a:t>
            </a:r>
            <a:r>
              <a:rPr sz="2000"/>
              <a:t>.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needle_length_mm
  &lt;chr&gt;            &lt;dbl&gt;
1 sunny             18.4
2 sunny             12.5
3 sunny             17.7
4 sunny             14.0
5 sunny             14.2
6 sunny             19.2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provenance column we do not need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source_file)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team       replicate side  needle_length_mm needle_width_mm
  &lt;chr&gt;          &lt;dbl&gt; &lt;chr&gt;            &lt;dbl&gt;           &lt;dbl&gt;
1 grace_jace         1 sunny             18.4            0.79
2 grace_jace         2 sunny             12.5            0.99
3 grace_jace         3 sunny             17.7            1.12
4 grace_jace         4 sunny             14.0            0.94
5 grace_jace         5 sunny             14.2            1   
6 grace_jace         6 sunny             19.2            0.99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needle_length_mm needle_width_mm
             &lt;dbl&gt;           &lt;dbl&gt;
1             18.4            0.79
2             12.5            0.99
3             17.7            1.12
4             14.0            0.94
5             14.2            1   
6             19.2            0.99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starts_with("needle")</a:t>
            </a:r>
            <a:r>
              <a:rPr/>
              <a:t> — super useful when related variables share a prefix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contains("needle")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§3.3 — </a:t>
            </a:r>
            <a:r>
              <a:rPr>
                <a:hlinkClick r:id="rId3"/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needle_length_mm / 10</a:t>
            </a:r>
            <a:r>
              <a:rPr sz="2000"/>
              <a:t> converts millimeters to centimeters.</a:t>
            </a:r>
            <a:br/>
            <a:r>
              <a:rPr sz="2000"/>
              <a:t>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needle_length_mm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</a:t>
            </a:r>
            <a:br/>
            <a:r>
              <a:rPr sz="2000"/>
              <a:t>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needle_length_cm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1 more variable: needle_length_cm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</a:t>
            </a:r>
            <a:br/>
            <a:r>
              <a:rPr sz="2000"/>
              <a:t>To </a:t>
            </a:r>
            <a:r>
              <a:rPr sz="2000" i="1"/>
              <a:t>overwrite</a:t>
            </a:r>
            <a:r>
              <a:rPr sz="2000"/>
              <a:t> a column, reuse its name:</a:t>
            </a:r>
            <a:br/>
            <a:r>
              <a:rPr sz="2000">
                <a:latin typeface="Courier"/>
              </a:rPr>
              <a:t>mutate(needle_length_mm = round(needle_length_mm,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team  replicate side  needle_length_mm needle_width_mm log_length
  &lt;chr&gt;        &lt;chr&gt;     &lt;dbl&gt; &lt;chr&gt;            &lt;dbl&gt;           &lt;dbl&gt;      &lt;dbl&gt;
1 Bartell_Shi… grac…         1 sunny             18.4            0.79       2.91
2 Bartell_Shi… grac…         2 sunny             12.5            0.99       2.52
3 Bartell_Shi… grac…         3 sunny             17.7            1.12       2.88
4 Bartell_Shi… grac…         4 sunny             14.0            0.94       2.64
5 Bartell_Shi… grac…         5 sunny             14.2            1          2.65
6 Bartell_Shi… grac…         6 sunny             19.2            0.99       2.95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2 more variables: needle_length_cm &lt;dbl&gt;, size_class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/>
            <a:r>
              <a:rPr sz="2000"/>
              <a:t>Many biological measurements are </a:t>
            </a:r>
            <a:r>
              <a:rPr sz="2000" b="1"/>
              <a:t>right-skewed</a:t>
            </a:r>
          </a:p>
          <a:p>
            <a:pPr lvl="1"/>
            <a:r>
              <a:rPr sz="2000"/>
              <a:t>a log transform pulls extreme values in and can make a distribution more symmetric before you summarize or test it.</a:t>
            </a:r>
          </a:p>
          <a:p>
            <a:pPr lvl="0"/>
            <a:r>
              <a:rPr sz="2000"/>
              <a:t>We’ll check whether it matters for our data in a later module</a:t>
            </a:r>
          </a:p>
          <a:p>
            <a:pPr lvl="0"/>
            <a:r>
              <a:rPr sz="2000" b="1"/>
              <a:t>Know which log you are using.</a:t>
            </a:r>
            <a:r>
              <a:rPr sz="2000"/>
              <a:t> In R, </a:t>
            </a:r>
            <a:r>
              <a:rPr sz="2000">
                <a:latin typeface="Courier"/>
              </a:rPr>
              <a:t>log()</a:t>
            </a:r>
            <a:r>
              <a:rPr sz="2000"/>
              <a:t> is the </a:t>
            </a:r>
            <a:r>
              <a:rPr sz="2000" i="1"/>
              <a:t>natural</a:t>
            </a:r>
            <a:r>
              <a:rPr sz="2000"/>
              <a:t> log (ln, base e); </a:t>
            </a:r>
            <a:r>
              <a:rPr sz="2000">
                <a:latin typeface="Courier"/>
              </a:rPr>
              <a:t>log2()</a:t>
            </a:r>
            <a:r>
              <a:rPr sz="2000"/>
              <a:t> and </a:t>
            </a:r>
            <a:r>
              <a:rPr sz="2000">
                <a:latin typeface="Courier"/>
              </a:rPr>
              <a:t>log10()</a:t>
            </a:r>
            <a:r>
              <a:rPr sz="2000"/>
              <a:t> are the other two. Always say which one in your methods.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needle_length_mm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 (&lt; 13), </a:t>
            </a:r>
            <a:r>
              <a:rPr sz="2000">
                <a:latin typeface="Courier"/>
              </a:rPr>
              <a:t>"medium"</a:t>
            </a:r>
            <a:r>
              <a:rPr sz="2000"/>
              <a:t> (&lt; 16), and </a:t>
            </a:r>
            <a:r>
              <a:rPr sz="2000">
                <a:latin typeface="Courier"/>
              </a:rPr>
              <a:t>"long"</a:t>
            </a:r>
            <a:r>
              <a:rPr sz="2000"/>
              <a:t>. The first needle in the data is 18.44 mm. Which bin does it land in — and would that change if the cutoffs used </a:t>
            </a:r>
            <a:r>
              <a:rPr sz="2000">
                <a:latin typeface="Courier"/>
              </a:rPr>
              <a:t>&lt;=</a:t>
            </a:r>
            <a:r>
              <a:rPr sz="2000"/>
              <a:t> instead of </a:t>
            </a:r>
            <a:r>
              <a:rPr sz="2000">
                <a:latin typeface="Courier"/>
              </a:rPr>
              <a:t>&lt;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21
2 medium        25
3 short        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</a:t>
            </a:r>
            <a:br/>
            <a:r>
              <a:rPr sz="2000"/>
              <a:t>Once a row matches </a:t>
            </a:r>
            <a:r>
              <a:rPr sz="2000">
                <a:latin typeface="Courier"/>
              </a:rPr>
              <a:t>needle_length_mm &lt; 13</a:t>
            </a:r>
            <a:r>
              <a:rPr sz="2000"/>
              <a:t>, R never even looks at the later conditions for that row.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§12.5 — </a:t>
            </a:r>
            <a:r>
              <a:rPr sz="2000">
                <a:hlinkClick r:id="rId3"/>
                <a:latin typeface="Courier"/>
              </a:rPr>
              <a:t>if_else()</a:t>
            </a:r>
            <a:r>
              <a:rPr sz="2000">
                <a:hlinkClick r:id="rId4"/>
              </a:rPr>
              <a:t> and </a:t>
            </a:r>
            <a:r>
              <a:rPr sz="2000">
                <a:hlinkClick r:id="rId5"/>
                <a:latin typeface="Courier"/>
              </a:rPr>
              <a:t>case_when()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25
2 short         18
3 &lt;NA&gt;          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all 21 “long” needles silently become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"grace_jace"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"GRJ"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"WBG"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(team,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team       team_code
  &lt;chr&gt;      &lt;chr&gt;    
1 grace_jace GRJ      
2 botany     BOT      
3 one        ONE      
4 waterbugs  WBG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Needle_Length_Suhr:Bu… wate…         2 shady             7.23            1.16
 2 Needle_Length_Suhr:Bu… wate…         1 shady            10.5             1.22
 3 Kehr_and_Baalke.csv    one           8 shady            10.6             0.98
 4 Needle_Length_Suhr:Bu… wate…         2 sunny            10.7             1.08
 5 Bartell_Shingledecker… grac…         7 sunny            10.9             0.81
 6 Needle_Length_Suhr:Bu… wate…         7 shady            11.3             1.13
 7 Kehr_and_Baalke.csv    one           4 sunny            11.4             1.17
 8 Kehr_and_Baalke.csv    one           1 shady            11.5             1.11
 9 heal_thome_pineneedle… bota…         8 shady            11.6             0.66
10 Needle_Length_Suhr:Bu… wate…         3 shady            11.6             1.27
# ℹ 54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Needle_Length_Suhr:Bu… wate…         3 sunny             19.5            1.58
 3 Bartell_Shingledecker… grac…         6 sunny             19.2            0.99
 4 heal_thome_pineneedle… bota…         8 sunny             18.8            1.12
 5 heal_thome_pineneedle… bota…         2 sunny             18.7            1.07
 6 heal_thome_pineneedle… bota…         6 sunny             18.5            1.18
 7 Bartell_Shingledecker… grac…         1 sunny             18.4            0.79
 8 Bartell_Shingledecker… grac…         7 shady             17.9            0.69
 9 Bartell_Shingledecker… grac…         3 sunny             17.7            1.12
10 Kehr_and_Baalke.csv    one           5 shady             17.7            1  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Bartell_Shingledecker… grac…         7 shady             17.9            0.69
 3 Kehr_and_Baalke.csv    one           5 shady             17.7            1   
 4 heal_thome_pineneedle… bota…         5 shady             17.6            0.79
 5 heal_thome_pineneedle… bota…         3 shady             17.6            0.94
 6 Bartell_Shingledecker… grac…         2 shady             17.0            0.84
 7 Bartell_Shingledecker… grac…         1 shady             16.6            0.75
 8 heal_thome_pineneedle… bota…         1 shady             16.5            0.65
 9 Bartell_Shingledecker… grac…         4 shady             15.6            0.98
10 heal_thome_pineneedle… bota…         6 shady             15.3            0.9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team       side  needle_length_mm needle_width_mm needle_length_cm log_length
  &lt;chr&gt;      &lt;chr&gt;            &lt;dbl&gt;           &lt;dbl&gt;            &lt;dbl&gt;      &lt;dbl&gt;
1 botany     shady             20.7            0.77             2.07       3.03
2 grace_jace shady             17.9            0.69             1.79       2.89
3 one        shady             17.7            1                1.77       2.87
4 botany     shady             17.6            0.79             1.76       2.87
5 botany     shady             17.6            0.94             1.76       2.87
6 grace_jace shady             17.0            0.84             1.69       2.83
# ℹ 1 more variable: size_class &lt;chr&gt;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 — use it deliberately, not reflexively</a:t>
            </a:r>
          </a:p>
          <a:p>
            <a:pPr lvl="0"/>
            <a:r>
              <a:rPr sz="2000" b="1">
                <a:latin typeface="Courier"/>
              </a:rPr>
              <a:t>unique()</a:t>
            </a:r>
            <a:r>
              <a:rPr sz="2000"/>
              <a:t> — lists the distinct values in a single column; the fastest way to spot misspellings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6
  `Source File`    `Team Name` `Replicate #` `Side of Tree` `Needle Length (mm)`
  &lt;chr&gt;            &lt;chr&gt;               &lt;dbl&gt; &lt;chr&gt;          &lt;chr&gt;               
1 heal_thome_pine… botany                  1 shady          16.46               
2 Bartell_Shingle… grace_jace              2 sunny          12.48               
3 Needle_Length_S… waterbugs               5 sunny          11.7                
4 Needle_Length_S… water bugs              2 Shady          7.23                
5 Kehr_and_Baalke… one                     1 sunny          16.18               
# ℹ 1 more variable: `Needle Width (mm)`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waterbugs</a:t>
            </a:r>
            <a:r>
              <a:rPr sz="2000"/>
              <a:t> vs </a:t>
            </a:r>
            <a:r>
              <a:rPr sz="2000">
                <a:latin typeface="Courier"/>
              </a:rPr>
              <a:t>Waterbugs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The Rest of the Mess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unique()</a:t>
            </a:r>
            <a:r>
              <a:rPr/>
              <a:t> — what else is wrong in here?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Duplicates were only the </a:t>
            </a:r>
            <a:r>
              <a:rPr i="1"/>
              <a:t>first</a:t>
            </a:r>
            <a:r>
              <a:rPr/>
              <a:t> problem in this file. Look at the columns themselves: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 File"        "Team Name"          "Replicate #"       
[4] "Side of Tree"       "Needle Length (mm)" "Needle Width (mm)"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(needle_clean_df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Side of Tree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 "Shady" "SUNNY" "Sunny" "SHADY"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values became six.</a:t>
            </a:r>
            <a:r>
              <a:rPr sz="2000"/>
              <a:t>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 — R treats every one as a separate category. Any </a:t>
            </a:r>
            <a:r>
              <a:rPr sz="2000">
                <a:latin typeface="Courier"/>
              </a:rPr>
              <a:t>group_by()</a:t>
            </a:r>
            <a:r>
              <a:rPr sz="2000"/>
              <a:t> or </a:t>
            </a:r>
            <a:r>
              <a:rPr sz="2000">
                <a:latin typeface="Courier"/>
              </a:rPr>
              <a:t>count()</a:t>
            </a:r>
            <a:r>
              <a:rPr sz="2000"/>
              <a:t> you run right now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clean_names()</a:t>
            </a:r>
            <a:r>
              <a:rPr sz="2000"/>
              <a:t> (janitor) — turns </a:t>
            </a:r>
            <a:r>
              <a:rPr sz="2000">
                <a:latin typeface="Courier"/>
              </a:rPr>
              <a:t>Needle Length (mm)</a:t>
            </a:r>
            <a:r>
              <a:rPr sz="2000"/>
              <a:t> into </a:t>
            </a:r>
            <a:r>
              <a:rPr sz="2000">
                <a:latin typeface="Courier"/>
              </a:rPr>
              <a:t>needle_length_mm</a:t>
            </a:r>
          </a:p>
          <a:p>
            <a:pPr lvl="0"/>
            <a:r>
              <a:rPr sz="2000" b="1">
                <a:latin typeface="Courier"/>
              </a:rPr>
              <a:t>str_to_lower()</a:t>
            </a:r>
            <a:r>
              <a:rPr sz="2000"/>
              <a:t> — force text to lowercase</a:t>
            </a:r>
          </a:p>
          <a:p>
            <a:pPr lvl="0"/>
            <a:r>
              <a:rPr sz="2000" b="1">
                <a:latin typeface="Courier"/>
              </a:rPr>
              <a:t>str_squish()</a:t>
            </a:r>
            <a:r>
              <a:rPr sz="2000"/>
              <a:t> — strip leading/trailing spaces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§14 — Strings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It was almost worse</a:t>
            </a:r>
          </a:p>
          <a:p>
            <a:pPr lvl="0" indent="0" marL="1270000">
              <a:buNone/>
            </a:pPr>
            <a:r>
              <a:rPr sz="2000"/>
              <a:t>This file also has stray spaces (</a:t>
            </a:r>
            <a:r>
              <a:rPr sz="2000">
                <a:latin typeface="Courier"/>
              </a:rPr>
              <a:t>"sunny "</a:t>
            </a:r>
            <a:r>
              <a:rPr sz="2000"/>
              <a:t>, </a:t>
            </a:r>
            <a:r>
              <a:rPr sz="2000">
                <a:latin typeface="Courier"/>
              </a:rPr>
              <a:t>" shady"</a:t>
            </a:r>
            <a:r>
              <a:rPr sz="2000"/>
              <a:t>). You don’t see them because </a:t>
            </a:r>
            <a:r>
              <a:rPr sz="2000" b="1">
                <a:latin typeface="Courier"/>
              </a:rPr>
              <a:t>read_csv()</a:t>
            </a:r>
            <a:r>
              <a:rPr sz="2000" b="1"/>
              <a:t> trims whitespace for you by default.</a:t>
            </a:r>
            <a:r>
              <a:rPr sz="2000"/>
              <a:t> Prove it to yourself: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trim_ws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Now there are </a:t>
            </a:r>
            <a:r>
              <a:rPr sz="2000" b="1"/>
              <a:t>ten</a:t>
            </a:r>
            <a:r>
              <a:rPr sz="2000"/>
              <a:t> values, not six. Not every import tool is that kind — which is why we still run </a:t>
            </a:r>
            <a:r>
              <a:rPr sz="2000">
                <a:latin typeface="Courier"/>
              </a:rPr>
              <a:t>str_squish()</a:t>
            </a:r>
            <a:r>
              <a:rPr sz="2000"/>
              <a:t> below.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Fixing names and text in one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needle_fixed_df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Needle Length (mm) -&gt;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repeated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(side_of_tree)),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(team_name))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team)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"grace_jace" "botany"     "water bugs" "waterbugs"  "one"       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str_to_lower()</a:t>
            </a:r>
            <a:r>
              <a:rPr sz="2000"/>
              <a:t> collapsed </a:t>
            </a:r>
            <a:r>
              <a:rPr sz="2000">
                <a:latin typeface="Courier"/>
              </a:rPr>
              <a:t>Waterbugs</a:t>
            </a:r>
            <a:r>
              <a:rPr sz="2000"/>
              <a:t> into </a:t>
            </a:r>
            <a:r>
              <a:rPr sz="2000">
                <a:latin typeface="Courier"/>
              </a:rPr>
              <a:t>waterbugs</a:t>
            </a:r>
            <a:r>
              <a:rPr sz="2000"/>
              <a:t> — but </a:t>
            </a:r>
            <a:r>
              <a:rPr sz="2000" b="1">
                <a:latin typeface="Courier"/>
              </a:rPr>
              <a:t>water bugs</a:t>
            </a:r>
            <a:r>
              <a:rPr sz="2000" b="1"/>
              <a:t> is still its own value</a:t>
            </a:r>
            <a:r>
              <a:rPr sz="2000"/>
              <a:t>. Lowercasing fixes case, not spelling. That last one needs </a:t>
            </a:r>
            <a:r>
              <a:rPr sz="2000">
                <a:latin typeface="Courier"/>
              </a:rPr>
              <a:t>case_when()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unique()</a:t>
            </a:r>
            <a:r>
              <a:rPr sz="2000"/>
              <a:t> on </a:t>
            </a:r>
            <a:r>
              <a:rPr sz="2000" i="1"/>
              <a:t>every</a:t>
            </a:r>
            <a:r>
              <a:rPr sz="2000"/>
              <a:t> text column the first time you open a dataset. It takes seconds and it is how you find the problems that silently split your groups.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Numbers that aren’t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 marL="0">
              <a:buNone/>
            </a:pPr>
            <a:r>
              <a:rPr b="1"/>
              <a:t>Both</a:t>
            </a:r>
            <a:r>
              <a:rPr/>
              <a:t> imported as text, not numbers — somebody typed </a:t>
            </a:r>
            <a:r>
              <a:rPr>
                <a:latin typeface="Courier"/>
              </a:rPr>
              <a:t>17.73 mm</a:t>
            </a:r>
            <a:r>
              <a:rPr/>
              <a:t> in a cell, somebody used a comma decimal (</a:t>
            </a:r>
            <a:r>
              <a:rPr>
                <a:latin typeface="Courier"/>
              </a:rPr>
              <a:t>13,98</a:t>
            </a:r>
            <a:r>
              <a:rPr/>
              <a:t>), and the missing values were written four different ways.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needle_final_df &lt;- needle_fixed_df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 bugs"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mm"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typed unit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str_replace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# comma decimal -&gt;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5E5E5E"/>
                </a:solidFill>
                <a:latin typeface="Courier"/>
              </a:rPr>
              <a:t># blank and literal "NA"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needle_width_mm =</a:t>
            </a:r>
            <a:r>
              <a:rPr>
                <a:solidFill>
                  <a:srgbClr val="003B4F"/>
                </a:solidFill>
                <a:latin typeface="Courier"/>
              </a:rPr>
              <a:t> needle_width_mm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three more ways to write "missing"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NA_real_</a:t>
            </a:r>
            <a:r>
              <a:rPr>
                <a:solidFill>
                  <a:srgbClr val="003B4F"/>
                </a:solidFill>
                <a:latin typeface="Courier"/>
              </a:rPr>
              <a:t>, needle_length_mm)   </a:t>
            </a:r>
            <a:r>
              <a:rPr>
                <a:solidFill>
                  <a:srgbClr val="5E5E5E"/>
                </a:solidFill>
                <a:latin typeface="Courier"/>
              </a:rPr>
              <a:t># sentinel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"numeric"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trap:</a:t>
            </a:r>
            <a:r>
              <a:rPr sz="2000"/>
              <a:t> </a:t>
            </a:r>
            <a:r>
              <a:rPr sz="2000">
                <a:latin typeface="Courier"/>
              </a:rPr>
              <a:t>parse_number("13,98")</a:t>
            </a:r>
            <a:r>
              <a:rPr sz="2000"/>
              <a:t> returns </a:t>
            </a:r>
            <a:r>
              <a:rPr sz="2000" b="1"/>
              <a:t>1398</a:t>
            </a:r>
            <a:r>
              <a:rPr sz="2000"/>
              <a:t> — it reads the comma as a thousands separator and never warns you.</a:t>
            </a:r>
          </a:p>
          <a:p>
            <a:pPr lvl="0" indent="0" marL="1270000">
              <a:buNone/>
            </a:pPr>
            <a:r>
              <a:rPr sz="2000"/>
              <a:t>A 1398 mm pine needle is obvious </a:t>
            </a:r>
            <a:r>
              <a:rPr sz="2000" i="1"/>
              <a:t>if you look</a:t>
            </a:r>
            <a:r>
              <a:rPr sz="2000"/>
              <a:t>. </a:t>
            </a:r>
            <a:r>
              <a:rPr sz="2000" b="1"/>
              <a:t>Always summarize or plot a column right after you clean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na_if(x, "")</a:t>
            </a:r>
            <a:r>
              <a:rPr sz="2000"/>
              <a:t> — turn a specific value into </a:t>
            </a:r>
            <a:r>
              <a:rPr sz="2000">
                <a:latin typeface="Courier"/>
              </a:rPr>
              <a:t>NA</a:t>
            </a:r>
          </a:p>
          <a:p>
            <a:pPr lvl="0"/>
            <a:r>
              <a:rPr sz="2000" b="1">
                <a:latin typeface="Courier"/>
              </a:rPr>
              <a:t>-999</a:t>
            </a:r>
            <a:r>
              <a:rPr sz="2000"/>
              <a:t> — a “sentinel” code some field sheets use for missing. R has no idea it means missing until you tell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one-way street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we did today runs in </a:t>
            </a:r>
            <a:r>
              <a:rPr b="1"/>
              <a:t>one direction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data/     ← raw, read-only, never written to
   │  read_csv()
   ▼
scripts/  ← the cleaning code you just wrote
   │  write_csv()
   ▼
output/   ← everything R produces</a:t>
            </a:r>
          </a:p>
          <a:p>
            <a:pPr lvl="0" indent="0" marL="0">
              <a:buNone/>
            </a:pPr>
            <a:r>
              <a:rPr/>
              <a:t>The raw file is </a:t>
            </a:r>
            <a:r>
              <a:rPr b="1"/>
              <a:t>evidence</a:t>
            </a:r>
            <a:r>
              <a:rPr/>
              <a:t>. The script is the </a:t>
            </a:r>
            <a:r>
              <a:rPr b="1"/>
              <a:t>method</a:t>
            </a:r>
            <a:r>
              <a:rPr/>
              <a:t>. The output is a </a:t>
            </a:r>
            <a:r>
              <a:rPr b="1"/>
              <a:t>result you can always rebuild</a:t>
            </a:r>
            <a:r>
              <a:rPr/>
              <a:t> by re-running the method on the evidence.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Never write into </a:t>
            </a:r>
            <a:r>
              <a:rPr sz="2000" b="1">
                <a:latin typeface="Courier"/>
              </a:rPr>
              <a:t>data/</a:t>
            </a:r>
            <a:r>
              <a:rPr sz="2000" b="1"/>
              <a:t>.</a:t>
            </a:r>
            <a:r>
              <a:rPr sz="2000"/>
              <a:t> If a script can overwrite the raw file, then one bad run destroys the only copy of what you actually measured — and no one can check your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</a:t>
            </a:r>
            <a:r>
              <a:rPr sz="2000" b="1"/>
              <a:t>raw data + script</a:t>
            </a:r>
            <a:r>
              <a:rPr sz="2000"/>
              <a:t>, the problem is in the script — never in the raw file. Keeping </a:t>
            </a:r>
            <a:r>
              <a:rPr sz="2000">
                <a:latin typeface="Courier"/>
              </a:rPr>
              <a:t>data/</a:t>
            </a:r>
            <a:r>
              <a:rPr sz="2000"/>
              <a:t> read-only is what makes that guarantee possible.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Tidy up before you save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needle_final_df</a:t>
            </a:r>
            <a:r>
              <a:rPr/>
              <a:t> still carries the wreckage of cleaning — the original messy columns </a:t>
            </a:r>
            <a:r>
              <a:rPr i="1"/>
              <a:t>and</a:t>
            </a:r>
            <a:r>
              <a:rPr/>
              <a:t> our fixed ones: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(needle_final_df)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"source_file"      "team_name"        "replicate_number" "side_of_tree"    
[5] "needle_length_mm" "needle_width_mm"  "side"             "team"            </a:t>
            </a:r>
          </a:p>
          <a:p>
            <a:pPr lvl="0" indent="0" marL="0">
              <a:buNone/>
            </a:pPr>
            <a:r>
              <a:rPr/>
              <a:t>Nobody downstream needs </a:t>
            </a:r>
            <a:r>
              <a:rPr>
                <a:latin typeface="Courier"/>
              </a:rPr>
              <a:t>team_name</a:t>
            </a:r>
            <a:r>
              <a:rPr/>
              <a:t> </a:t>
            </a:r>
            <a:r>
              <a:rPr b="1"/>
              <a:t>and</a:t>
            </a:r>
            <a:r>
              <a:rPr/>
              <a:t> </a:t>
            </a:r>
            <a:r>
              <a:rPr>
                <a:latin typeface="Courier"/>
              </a:rPr>
              <a:t>team</a:t>
            </a:r>
            <a:r>
              <a:rPr/>
              <a:t>. Keep the columns you mean to keep, in the order you want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needle_out_df &lt;- needle_final_df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</a:t>
            </a:r>
            <a:r>
              <a:rPr>
                <a:solidFill>
                  <a:srgbClr val="657422"/>
                </a:solidFill>
                <a:latin typeface="Courier"/>
              </a:rPr>
              <a:t>replicate =</a:t>
            </a:r>
            <a:r>
              <a:rPr>
                <a:solidFill>
                  <a:srgbClr val="003B4F"/>
                </a:solidFill>
                <a:latin typeface="Courier"/>
              </a:rPr>
              <a:t> replicate_number,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(team, side, replicate)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(needle_out_df)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5
$ team             &lt;chr&gt; "botany", "botany", "botany", "botany", "botany", "bo…
$ side             &lt;chr&gt; "shady", "shady", "shady", "shady", "shady", "shady",…
$ replicate        &lt;dbl&gt; 1, 2, 3, 4, 5, 6, 7, 8, 1, 2, 3, 4, 5, 6, 7, 8, 1, 2,…
$ needle_length_mm &lt;dbl&gt; 16.46, 20.71, 17.59, 15.11, 17.62, 15.34, 14.79, 11.5…
$ needle_width_mm  &lt;dbl&gt; 0.65, 0.77, 0.94, 0.72, 0.79, 0.90, 1.03, 0.66, 0.98,…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right before </a:t>
            </a:r>
            <a:r>
              <a:rPr sz="2000">
                <a:latin typeface="Courier"/>
              </a:rPr>
              <a:t>write_csv()</a:t>
            </a:r>
            <a:r>
              <a:rPr sz="2000"/>
              <a:t> is the last checkpoint. A saved file with </a:t>
            </a:r>
            <a:r>
              <a:rPr sz="2000">
                <a:latin typeface="Courier"/>
              </a:rPr>
              <a:t>side</a:t>
            </a:r>
            <a:r>
              <a:rPr sz="2000"/>
              <a:t> </a:t>
            </a:r>
            <a:r>
              <a:rPr sz="2000" i="1"/>
              <a:t>and</a:t>
            </a:r>
            <a:r>
              <a:rPr sz="2000"/>
              <a:t> </a:t>
            </a:r>
            <a:r>
              <a:rPr sz="2000">
                <a:latin typeface="Courier"/>
              </a:rPr>
              <a:t>side_of_tree</a:t>
            </a:r>
            <a:r>
              <a:rPr sz="2000"/>
              <a:t> in it will confuse someone in three months — and that someone is usually you.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select(new_name = old_name)</a:t>
            </a:r>
            <a:r>
              <a:rPr sz="2000"/>
              <a:t> renames while it selects — handy for dropping janitor’s </a:t>
            </a:r>
            <a:r>
              <a:rPr sz="2000">
                <a:latin typeface="Courier"/>
              </a:rPr>
              <a:t>replicate_number</a:t>
            </a:r>
            <a:r>
              <a:rPr sz="2000"/>
              <a:t> back to </a:t>
            </a:r>
            <a:r>
              <a:rPr sz="2000">
                <a:latin typeface="Courier"/>
              </a:rPr>
              <a:t>replicate</a:t>
            </a:r>
            <a:r>
              <a:rPr sz="2000"/>
              <a:t>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(needle_out_df, </a:t>
            </a:r>
            <a:r>
              <a:rPr>
                <a:solidFill>
                  <a:srgbClr val="20794D"/>
                </a:solidFill>
                <a:latin typeface="Courier"/>
              </a:rPr>
              <a:t>"output/pine_needles_cleaned.csv"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Read from </a:t>
            </a:r>
            <a:r>
              <a:rPr>
                <a:latin typeface="Courier"/>
              </a:rPr>
              <a:t>data/</a:t>
            </a:r>
            <a:r>
              <a:rPr/>
              <a:t>, write to </a:t>
            </a:r>
            <a:r>
              <a:rPr>
                <a:latin typeface="Courier"/>
              </a:rPr>
              <a:t>output/</a:t>
            </a:r>
            <a:r>
              <a:rPr/>
              <a:t>. Same shape of call, opposite direction: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read_csv("data/…")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write_csv(df, "output/…")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 → data 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frame → file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write_csv()</a:t>
            </a:r>
            <a:r>
              <a:rPr sz="2000"/>
              <a:t> </a:t>
            </a:r>
            <a:r>
              <a:rPr sz="2000" b="1"/>
              <a:t>overwrites without asking</a:t>
            </a:r>
            <a:r>
              <a:rPr sz="2000"/>
              <a:t> — no warning, no undo. That is exactly why the target is </a:t>
            </a:r>
            <a:r>
              <a:rPr sz="2000">
                <a:latin typeface="Courier"/>
              </a:rPr>
              <a:t>output/</a:t>
            </a:r>
            <a:r>
              <a:rPr sz="2000"/>
              <a:t> and never </a:t>
            </a:r>
            <a:r>
              <a:rPr sz="2000">
                <a:latin typeface="Courier"/>
              </a:rPr>
              <a:t>data/</a:t>
            </a:r>
            <a:r>
              <a:rPr sz="2000"/>
              <a:t>: re-running your script should be free, and it is only free if the thing it clobbers is something the script can rebuild.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Note the argument order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write_csv(df, path)</a:t>
            </a:r>
            <a:r>
              <a:rPr sz="2000"/>
              <a:t> — </a:t>
            </a:r>
            <a:r>
              <a:rPr sz="2000" b="1"/>
              <a:t>data frame first</a:t>
            </a:r>
            <a:r>
              <a:rPr sz="2000"/>
              <a:t>, then where to put it. </a:t>
            </a:r>
            <a:r>
              <a:rPr sz="2000">
                <a:latin typeface="Courier"/>
              </a:rPr>
              <a:t>read_csv(path)</a:t>
            </a:r>
            <a:r>
              <a:rPr sz="2000"/>
              <a:t> takes only the path. Getting these backwards is one of the most common errors of the term.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§7.5 — Writing to a file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Name the file for </a:t>
            </a:r>
            <a:r>
              <a:rPr b="1"/>
              <a:t>what happened to it</a:t>
            </a:r>
            <a:r>
              <a:rPr/>
              <a:t>: </a:t>
            </a:r>
            <a:r>
              <a:rPr>
                <a:latin typeface="Courier"/>
              </a:rPr>
              <a:t>pine_needles_cleaned.csv</a:t>
            </a:r>
            <a:r>
              <a:rPr/>
              <a:t>, not </a:t>
            </a:r>
            <a:r>
              <a:rPr>
                <a:latin typeface="Courier"/>
              </a:rPr>
              <a:t>pine2.csv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If a script produces several stages, number them: </a:t>
            </a:r>
            <a:r>
              <a:rPr>
                <a:latin typeface="Courier"/>
              </a:rPr>
              <a:t>01_cleaned.csv</a:t>
            </a:r>
            <a:r>
              <a:rPr/>
              <a:t>, </a:t>
            </a:r>
            <a:r>
              <a:rPr>
                <a:latin typeface="Courier"/>
              </a:rPr>
              <a:t>02_summarised.csv</a:t>
            </a:r>
          </a:p>
          <a:p>
            <a:pPr lvl="0"/>
            <a:r>
              <a:rPr/>
              <a:t>Anyone re-running your script from scratch should get a </a:t>
            </a:r>
            <a:r>
              <a:rPr b="1"/>
              <a:t>byte-identical</a:t>
            </a:r>
            <a:r>
              <a:rPr/>
              <a:t>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version control by filename. This is exactly the mess a project folder with clear names and a re-runnable script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Delete your </a:t>
            </a:r>
            <a:r>
              <a:rPr sz="2000">
                <a:latin typeface="Courier"/>
              </a:rPr>
              <a:t>output/</a:t>
            </a:r>
            <a:r>
              <a:rPr sz="2000"/>
              <a:t> folder entirely, then re-run your script top to bottom.</a:t>
            </a:r>
          </a:p>
          <a:p>
            <a:pPr lvl="0" indent="0" marL="1270000">
              <a:buNone/>
            </a:pPr>
            <a:r>
              <a:rPr sz="2000"/>
              <a:t>Everything should come back. </a:t>
            </a:r>
            <a:r>
              <a:rPr sz="2000" b="1"/>
              <a:t>If it doesn’t, something important only exists in your console history — and that is a bug in your script.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Cleaned messy headers with </a:t>
            </a:r>
            <a:r>
              <a:rPr>
                <a:latin typeface="Courier"/>
              </a:rPr>
              <a:t>clean_names()</a:t>
            </a:r>
            <a:r>
              <a:rPr/>
              <a:t>, messy text with </a:t>
            </a:r>
            <a:r>
              <a:rPr>
                <a:latin typeface="Courier"/>
              </a:rPr>
              <a:t>str_to_lower()</a:t>
            </a:r>
            <a:r>
              <a:rPr/>
              <a:t>, and numbers-stored-as-text with </a:t>
            </a:r>
            <a:r>
              <a:rPr>
                <a:latin typeface="Courier"/>
              </a:rPr>
              <a:t>as.numeric()</a:t>
            </a:r>
          </a:p>
          <a:p>
            <a:pPr lvl="0"/>
            <a:r>
              <a:rPr/>
              <a:t>Trimmed to the columns worth keeping and wrote the result to </a:t>
            </a:r>
            <a:r>
              <a:rPr>
                <a:latin typeface="Courier"/>
              </a:rPr>
              <a:t>output/</a:t>
            </a:r>
            <a:r>
              <a:rPr/>
              <a:t> — leaving </a:t>
            </a:r>
            <a:r>
              <a:rPr>
                <a:latin typeface="Courier"/>
              </a:rPr>
              <a:t>data/</a:t>
            </a:r>
            <a:r>
              <a:rPr/>
              <a:t> untouched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take </a:t>
            </a:r>
            <a:r>
              <a:rPr sz="2000">
                <a:latin typeface="Courier"/>
              </a:rPr>
              <a:t>pine_needles_error.csv</a:t>
            </a:r>
            <a:r>
              <a:rPr sz="2000"/>
              <a:t> from </a:t>
            </a:r>
            <a:r>
              <a:rPr sz="2000">
                <a:latin typeface="Courier"/>
              </a:rPr>
              <a:t>data/</a:t>
            </a:r>
            <a:r>
              <a:rPr sz="2000"/>
              <a:t>, clean it end to end, </a:t>
            </a:r>
            <a:r>
              <a:rPr sz="2000">
                <a:latin typeface="Courier"/>
              </a:rPr>
              <a:t>select()</a:t>
            </a:r>
            <a:r>
              <a:rPr sz="2000"/>
              <a:t> the columns worth keeping, and write the result to </a:t>
            </a:r>
            <a:r>
              <a:rPr sz="2000">
                <a:latin typeface="Courier"/>
              </a:rPr>
              <a:t>output/</a:t>
            </a:r>
            <a:r>
              <a:rPr sz="2000"/>
              <a:t>. Then delete </a:t>
            </a:r>
            <a:r>
              <a:rPr sz="2000">
                <a:latin typeface="Courier"/>
              </a:rPr>
              <a:t>output/</a:t>
            </a:r>
            <a:r>
              <a:rPr sz="2000"/>
              <a:t>, re-run your script, and check that it all comes back.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8</a:t>
            </a:r>
            <a:r>
              <a:rPr/>
              <a:t>, Managing and Curating Data (raw vs. processed data, the audit trail from field sheet to analysis)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1</a:t>
            </a:r>
            <a:r>
              <a:rPr/>
              <a:t>, Statistics and Samples, §1.4 on types of variables — the categorical/numerical distinction behind </a:t>
            </a:r>
            <a:r>
              <a:rPr>
                <a:latin typeface="Courier"/>
              </a:rPr>
              <a:t>case_when()</a:t>
            </a:r>
            <a:r>
              <a:rPr/>
              <a:t> and every </a:t>
            </a:r>
            <a:r>
              <a:rPr>
                <a:latin typeface="Courier"/>
              </a:rPr>
              <a:t>group_by()</a:t>
            </a:r>
            <a:r>
              <a:rPr/>
              <a:t> to come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Neither statistics text teaches </a:t>
            </a:r>
            <a:r>
              <a:rPr sz="2000">
                <a:latin typeface="Courier"/>
              </a:rPr>
              <a:t>dplyr</a:t>
            </a:r>
            <a:r>
              <a:rPr sz="2000"/>
              <a:t> — that is what R4DS is for. Read the texts for </a:t>
            </a:r>
            <a:r>
              <a:rPr sz="2000" i="1"/>
              <a:t>why</a:t>
            </a:r>
            <a:r>
              <a:rPr sz="2000"/>
              <a:t> a clean, documented dataset matters, and R4DS for </a:t>
            </a:r>
            <a:r>
              <a:rPr sz="2000" i="1"/>
              <a:t>how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 — Data transformation</a:t>
            </a:r>
            <a:r>
              <a:rPr sz="2000"/>
              <a:t> — the five verbs</a:t>
            </a:r>
          </a:p>
          <a:p>
            <a:pPr lvl="0"/>
            <a:r>
              <a:rPr sz="2000">
                <a:hlinkClick r:id="rId4"/>
              </a:rPr>
              <a:t>§5 — Data tidying</a:t>
            </a:r>
          </a:p>
          <a:p>
            <a:pPr lvl="0"/>
            <a:r>
              <a:rPr sz="2000">
                <a:hlinkClick r:id="rId5"/>
              </a:rPr>
              <a:t>§7 — Data import</a:t>
            </a:r>
          </a:p>
          <a:p>
            <a:pPr lvl="0"/>
            <a:r>
              <a:rPr sz="2000">
                <a:hlinkClick r:id="rId6"/>
              </a:rPr>
              <a:t>§12 — Logical vectors</a:t>
            </a:r>
            <a:r>
              <a:rPr sz="2000"/>
              <a:t> — </a:t>
            </a:r>
            <a:r>
              <a:rPr sz="2000">
                <a:latin typeface="Courier"/>
              </a:rPr>
              <a:t>case_when()</a:t>
            </a:r>
          </a:p>
          <a:p>
            <a:pPr lvl="0"/>
            <a:r>
              <a:rPr sz="2000">
                <a:hlinkClick r:id="rId7"/>
              </a:rPr>
              <a:t>§13 — Numbers</a:t>
            </a:r>
          </a:p>
          <a:p>
            <a:pPr lvl="0"/>
            <a:r>
              <a:rPr sz="2000">
                <a:hlinkClick r:id="rId8"/>
              </a:rPr>
              <a:t>§14 — Strings</a:t>
            </a:r>
          </a:p>
          <a:p>
            <a:pPr lvl="0"/>
            <a:r>
              <a:rPr sz="2000">
                <a:hlinkClick r:id="rId9"/>
              </a:rPr>
              <a:t>§18 — Missing values</a:t>
            </a:r>
          </a:p>
          <a:p>
            <a:pPr lvl="0"/>
            <a:r>
              <a:rPr sz="2000">
                <a:hlinkClick r:id="rId10"/>
              </a:rPr>
              <a:t>§20 — Spreadsheets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2026-09-25T18:56:30Z</dcterms:created>
  <dcterms:modified xsi:type="dcterms:W3CDTF">2026-09-25T18:56:30Z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</vt:lpwstr>
  </property>
  <property fmtid="{D5CDD505-2E9C-101B-9397-08002B2CF9AE}" pid="14" name="resources">
    <vt:lpwstr/>
  </property>
  <property fmtid="{D5CDD505-2E9C-101B-9397-08002B2CF9AE}" pid="15" name="subtitle">
    <vt:lpwstr>Importing more than one way, reshaping columns, and saving what you make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