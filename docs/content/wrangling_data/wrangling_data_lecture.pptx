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5" Type="http://schemas.openxmlformats.org/officeDocument/2006/relationships/viewProps" Target="viewProps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data/pine_data.csv" TargetMode="External" /><Relationship Id="rId3" Type="http://schemas.openxmlformats.org/officeDocument/2006/relationships/hyperlink" Target="data/pine_needles_error.csv" TargetMode="External" /><Relationship Id="rId4" Type="http://schemas.openxmlformats.org/officeDocument/2006/relationships/hyperlink" Target="https://r4ds.hadley.nz/data-import.html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spreadsheets.html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data-transform.html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logicals.html" TargetMode="External" /><Relationship Id="rId3" Type="http://schemas.openxmlformats.org/officeDocument/2006/relationships/hyperlink" Target="https://r4ds.hadley.nz/missing-values.html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.html#sec-select" TargetMode="External" /><Relationship Id="rId3" Type="http://schemas.openxmlformats.org/officeDocument/2006/relationships/hyperlink" Target="https://r4ds.hadley.nz/data-transform.html#sec-select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.html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logicals.html#conditional-transformations" TargetMode="External" /><Relationship Id="rId3" Type="http://schemas.openxmlformats.org/officeDocument/2006/relationships/hyperlink" Target="https://r4ds.hadley.nz/logicals.html#conditional-transformations" TargetMode="External" /><Relationship Id="rId4" Type="http://schemas.openxmlformats.org/officeDocument/2006/relationships/hyperlink" Target="https://r4ds.hadley.nz/logicals.html#conditional-transformations" TargetMode="External" /><Relationship Id="rId5" Type="http://schemas.openxmlformats.org/officeDocument/2006/relationships/hyperlink" Target="https://r4ds.hadley.nz/logicals.html#conditional-transformations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strings.html" TargetMode="Externa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numbers.html" TargetMode="External" /><Relationship Id="rId3" Type="http://schemas.openxmlformats.org/officeDocument/2006/relationships/hyperlink" Target="https://r4ds.hadley.nz/missing-values.html" TargetMode="Externa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hyperlink" Target="https://r4ds.hadley.nz/data-import.html#sec-writing-to-a-file" TargetMode="Externa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" TargetMode="External" /><Relationship Id="rId3" Type="http://schemas.openxmlformats.org/officeDocument/2006/relationships/hyperlink" Target="https://r4ds.hadley.nz/data-transform.html" TargetMode="External" /><Relationship Id="rId4" Type="http://schemas.openxmlformats.org/officeDocument/2006/relationships/hyperlink" Target="https://r4ds.hadley.nz/data-tidy.html" TargetMode="External" /><Relationship Id="rId5" Type="http://schemas.openxmlformats.org/officeDocument/2006/relationships/hyperlink" Target="https://r4ds.hadley.nz/data-import.html" TargetMode="External" /><Relationship Id="rId6" Type="http://schemas.openxmlformats.org/officeDocument/2006/relationships/hyperlink" Target="https://r4ds.hadley.nz/logicals.html" TargetMode="External" /><Relationship Id="rId7" Type="http://schemas.openxmlformats.org/officeDocument/2006/relationships/hyperlink" Target="https://r4ds.hadley.nz/numbers.html" TargetMode="External" /><Relationship Id="rId8" Type="http://schemas.openxmlformats.org/officeDocument/2006/relationships/hyperlink" Target="https://r4ds.hadley.nz/strings.html" TargetMode="External" /><Relationship Id="rId9" Type="http://schemas.openxmlformats.org/officeDocument/2006/relationships/hyperlink" Target="https://r4ds.hadley.nz/missing-values.html" TargetMode="External" /><Relationship Id="rId10" Type="http://schemas.openxmlformats.org/officeDocument/2006/relationships/hyperlink" Target="https://r4ds.hadley.nz/spreadsheets.html" TargetMode="Externa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4ds.hadley.nz/workflow-help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Wrangling Your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Importing more than one way, reshaping columns, and saving what you make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 you:</a:t>
            </a:r>
          </a:p>
          <a:p>
            <a:pPr lvl="0"/>
            <a:r>
              <a:rPr/>
              <a:t>Turned a field observation into a testable </a:t>
            </a:r>
            <a:r>
              <a:rPr b="1"/>
              <a:t>H₀ / Hₐ</a:t>
            </a:r>
          </a:p>
          <a:p>
            <a:pPr lvl="0"/>
            <a:r>
              <a:rPr/>
              <a:t>Built a project folder (</a:t>
            </a:r>
            <a:r>
              <a:rPr>
                <a:latin typeface="Courier"/>
              </a:rPr>
              <a:t>data/</a:t>
            </a:r>
            <a:r>
              <a:rPr/>
              <a:t>, </a:t>
            </a:r>
            <a:r>
              <a:rPr>
                <a:latin typeface="Courier"/>
              </a:rPr>
              <a:t>scripts/</a:t>
            </a:r>
            <a:r>
              <a:rPr/>
              <a:t>, </a:t>
            </a:r>
            <a:r>
              <a:rPr>
                <a:latin typeface="Courier"/>
              </a:rPr>
              <a:t>figures/</a:t>
            </a:r>
            <a:r>
              <a:rPr/>
              <a:t>, </a:t>
            </a:r>
            <a:r>
              <a:rPr>
                <a:latin typeface="Courier"/>
              </a:rPr>
              <a:t>output/</a:t>
            </a:r>
            <a:r>
              <a:rPr/>
              <a:t>)</a:t>
            </a:r>
          </a:p>
          <a:p>
            <a:pPr lvl="0"/>
            <a:r>
              <a:rPr/>
              <a:t>Loaded </a:t>
            </a:r>
            <a:r>
              <a:rPr>
                <a:latin typeface="Courier"/>
              </a:rPr>
              <a:t>pine_data.csv</a:t>
            </a:r>
            <a:r>
              <a:rPr/>
              <a:t> and made your first </a:t>
            </a:r>
            <a:r>
              <a:rPr>
                <a:latin typeface="Courier"/>
              </a:rPr>
              <a:t>ggplot</a:t>
            </a:r>
          </a:p>
          <a:p>
            <a:pPr lvl="0"/>
            <a:r>
              <a:rPr/>
              <a:t>Saw why 64 rows is not 64 independent observations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Getting Started</a:t>
            </a:r>
          </a:p>
          <a:p>
            <a:pPr lvl="0" indent="0" marL="1270000">
              <a:buNone/>
            </a:pPr>
            <a:r>
              <a:rPr sz="2000"/>
              <a:t>You can get data </a:t>
            </a:r>
            <a:r>
              <a:rPr sz="2000" i="1"/>
              <a:t>into</a:t>
            </a:r>
            <a:r>
              <a:rPr sz="2000"/>
              <a:t> R and make a plot. Today we learn to </a:t>
            </a:r>
            <a:r>
              <a:rPr sz="2000" b="1"/>
              <a:t>reshape</a:t>
            </a:r>
            <a:r>
              <a:rPr sz="2000"/>
              <a:t> what you have and </a:t>
            </a:r>
            <a:r>
              <a:rPr sz="2000" b="1"/>
              <a:t>save</a:t>
            </a:r>
            <a:r>
              <a:rPr sz="2000"/>
              <a:t> what you make — the two skills every later module depends 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Today’s roadmap</a:t>
            </a:r>
          </a:p>
          <a:p>
            <a:pPr lvl="0" indent="-342900" marL="342900">
              <a:buAutoNum type="arabicPeriod"/>
            </a:pPr>
            <a:r>
              <a:rPr sz="2000"/>
              <a:t>Importing data more than one way</a:t>
            </a:r>
          </a:p>
          <a:p>
            <a:pPr lvl="0" indent="-342900" marL="342900">
              <a:buAutoNum type="arabicPeriod"/>
            </a:pPr>
            <a:r>
              <a:rPr sz="2000"/>
              <a:t>The five wrangling verbs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filter()</a:t>
            </a:r>
            <a:r>
              <a:rPr sz="2000"/>
              <a:t> in depth — every boolean operator, </a:t>
            </a:r>
            <a:r>
              <a:rPr sz="2000">
                <a:latin typeface="Courier"/>
              </a:rPr>
              <a:t>%in%</a:t>
            </a:r>
            <a:r>
              <a:rPr sz="2000"/>
              <a:t>, AND vs. OR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mutate()</a:t>
            </a:r>
            <a:r>
              <a:rPr sz="2000"/>
              <a:t> — unit conversions and log transforms</a:t>
            </a:r>
          </a:p>
          <a:p>
            <a:pPr lvl="0" indent="-342900" marL="342900">
              <a:buAutoNum type="arabicPeriod"/>
            </a:pPr>
            <a:r>
              <a:rPr sz="2000">
                <a:latin typeface="Courier"/>
              </a:rPr>
              <a:t>case_when()</a:t>
            </a:r>
            <a:r>
              <a:rPr sz="2000"/>
              <a:t> — recoding and binning</a:t>
            </a:r>
          </a:p>
          <a:p>
            <a:pPr lvl="0" indent="-342900" marL="342900">
              <a:buAutoNum type="arabicPeriod"/>
            </a:pPr>
            <a:r>
              <a:rPr sz="2000"/>
              <a:t>Catching duplicate rows</a:t>
            </a:r>
          </a:p>
          <a:p>
            <a:pPr lvl="0" indent="-342900" marL="342900">
              <a:buAutoNum type="arabicPeriod"/>
            </a:pPr>
            <a:r>
              <a:rPr sz="2000"/>
              <a:t>Saving your work with </a:t>
            </a:r>
            <a:r>
              <a:rPr sz="2000">
                <a:latin typeface="Courier"/>
              </a:rPr>
              <a:t>write_csv()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Importing Data More Than One Way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same data, two file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 data doesn’t always arrive as a </a:t>
            </a:r>
            <a:r>
              <a:rPr>
                <a:latin typeface="Courier"/>
              </a:rPr>
              <a:t>.csv</a:t>
            </a:r>
            <a:r>
              <a:rPr/>
              <a:t>. Excel workbooks are everywhere in ecology — you need both tools.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📥 Download the data</a:t>
            </a:r>
            <a:r>
              <a:rPr/>
              <a:t> </a:t>
            </a:r>
            <a:r>
              <a:rPr>
                <a:hlinkClick r:id="rId3"/>
              </a:rPr>
              <a:t>📥 The messy version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install.packages("readxl")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install.packages("janitor")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 </a:t>
            </a:r>
            <a:r>
              <a:rPr>
                <a:solidFill>
                  <a:srgbClr val="5E5E5E"/>
                </a:solidFill>
                <a:latin typeface="Courier"/>
              </a:rPr>
              <a:t># cleans messy column names, Excel artifacts, rounding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pine_csv_df  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"data/pine_data.csv"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pine_excel_df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read_csv()</a:t>
            </a:r>
            <a:r>
              <a:rPr sz="2000"/>
              <a:t> comes from </a:t>
            </a:r>
            <a:r>
              <a:rPr sz="2000">
                <a:latin typeface="Courier"/>
              </a:rPr>
              <a:t>readr</a:t>
            </a:r>
            <a:r>
              <a:rPr sz="2000"/>
              <a:t> (loaded with </a:t>
            </a:r>
            <a:r>
              <a:rPr sz="2000">
                <a:latin typeface="Courier"/>
              </a:rPr>
              <a:t>tidyverse</a:t>
            </a:r>
            <a:r>
              <a:rPr sz="2000"/>
              <a:t>).</a:t>
            </a:r>
            <a:br/>
            <a:r>
              <a:rPr sz="2000"/>
              <a:t>Excel files need the separate </a:t>
            </a:r>
            <a:r>
              <a:rPr sz="2000">
                <a:latin typeface="Courier"/>
              </a:rPr>
              <a:t>readxl</a:t>
            </a:r>
            <a:r>
              <a:rPr sz="2000"/>
              <a:t> package</a:t>
            </a:r>
            <a:br/>
            <a:r>
              <a:rPr sz="2000"/>
              <a:t>— install once, </a:t>
            </a:r>
            <a:r>
              <a:rPr sz="2000">
                <a:latin typeface="Courier"/>
              </a:rPr>
              <a:t>library()</a:t>
            </a:r>
            <a:r>
              <a:rPr sz="2000"/>
              <a:t> every session.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</a:t>
            </a:r>
          </a:p>
          <a:p>
            <a:pPr lvl="0" indent="0" marL="1270000">
              <a:buNone/>
            </a:pPr>
            <a:r>
              <a:rPr sz="2000" b="1"/>
              <a:t>Package vs. bundle</a:t>
            </a:r>
            <a:r>
              <a:rPr sz="2000"/>
              <a:t> — </a:t>
            </a:r>
            <a:r>
              <a:rPr sz="2000">
                <a:latin typeface="Courier"/>
              </a:rPr>
              <a:t>tidyverse</a:t>
            </a:r>
            <a:r>
              <a:rPr sz="2000"/>
              <a:t> is a bundle of packages (</a:t>
            </a:r>
            <a:r>
              <a:rPr sz="2000">
                <a:latin typeface="Courier"/>
              </a:rPr>
              <a:t>readr</a:t>
            </a:r>
            <a:r>
              <a:rPr sz="2000"/>
              <a:t>, </a:t>
            </a:r>
            <a:r>
              <a:rPr sz="2000">
                <a:latin typeface="Courier"/>
              </a:rPr>
              <a:t>dplyr</a:t>
            </a:r>
            <a:r>
              <a:rPr sz="2000"/>
              <a:t>, </a:t>
            </a:r>
            <a:r>
              <a:rPr sz="2000">
                <a:latin typeface="Courier"/>
              </a:rPr>
              <a:t>ggplot2</a:t>
            </a:r>
            <a:r>
              <a:rPr sz="2000"/>
              <a:t>, …). </a:t>
            </a:r>
            <a:r>
              <a:rPr sz="2000">
                <a:latin typeface="Courier"/>
              </a:rPr>
              <a:t>readxl</a:t>
            </a:r>
            <a:r>
              <a:rPr sz="2000"/>
              <a:t> isn’t included; it always needs its own </a:t>
            </a:r>
            <a:r>
              <a:rPr sz="2000">
                <a:latin typeface="Courier"/>
              </a:rPr>
              <a:t>library()</a:t>
            </a:r>
            <a:r>
              <a:rPr sz="2000"/>
              <a:t> line.</a:t>
            </a:r>
          </a:p>
          <a:p>
            <a:pPr lvl="0" indent="0" marL="1270000">
              <a:buNone/>
            </a:pPr>
            <a:r>
              <a:rPr sz="2000">
                <a:hlinkClick r:id="rId4"/>
              </a:rPr>
              <a:t>📖 R4DS §7 — Data import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Look before you trust it — every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(pine_csv_df)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64
Columns: 6
$ source_file      &lt;chr&gt; "Bartell_Shingledecker_tree_needle_data_2026.csv", "B…
$ team             &lt;chr&gt; "grace_jace", "grace_jace", "grace_jace", "grace_jace…
$ replicate        &lt;dbl&gt; 1, 2, 3, 4, 5, 6, 7, 8, 1, 2, 3, 4, 5, 6, 7, 8, 1, 2,…
$ side             &lt;chr&gt; "sunny", "sunny", "sunny", "sunny", "sunny", "sunny",…
$ needle_length_mm &lt;dbl&gt; 18.44, 12.48, 17.73, 13.98, 14.18, 19.17, 10.92, 17.3…
$ needle_width_mm  &lt;dbl&gt; 0.79, 0.99, 1.12, 0.94, 1.00, 0.99, 0.81, 1.29, 0.75,…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(pine_csv_df)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64  6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Six columns: </a:t>
            </a:r>
            <a:r>
              <a:rPr sz="2000">
                <a:latin typeface="Courier"/>
              </a:rPr>
              <a:t>source_file</a:t>
            </a:r>
            <a:r>
              <a:rPr sz="2000"/>
              <a:t>, </a:t>
            </a:r>
            <a:r>
              <a:rPr sz="2000">
                <a:latin typeface="Courier"/>
              </a:rPr>
              <a:t>team</a:t>
            </a:r>
            <a:r>
              <a:rPr sz="2000"/>
              <a:t>, </a:t>
            </a:r>
            <a:r>
              <a:rPr sz="2000">
                <a:latin typeface="Courier"/>
              </a:rPr>
              <a:t>replicate</a:t>
            </a:r>
            <a:r>
              <a:rPr sz="2000"/>
              <a:t>, </a:t>
            </a:r>
            <a:r>
              <a:rPr sz="2000">
                <a:latin typeface="Courier"/>
              </a:rPr>
              <a:t>side</a:t>
            </a:r>
            <a:r>
              <a:rPr sz="2000"/>
              <a:t>, </a:t>
            </a:r>
            <a:r>
              <a:rPr sz="2000">
                <a:latin typeface="Courier"/>
              </a:rPr>
              <a:t>needle_length_mm</a:t>
            </a:r>
            <a:r>
              <a:rPr sz="2000"/>
              <a:t>, </a:t>
            </a:r>
            <a:r>
              <a:rPr sz="2000">
                <a:latin typeface="Courier"/>
              </a:rPr>
              <a:t>needle_width_mm</a:t>
            </a:r>
            <a:r>
              <a:rPr sz="2000"/>
              <a:t>.</a:t>
            </a:r>
            <a:br/>
            <a:r>
              <a:rPr sz="2000"/>
              <a:t>Same structure whether it came from the </a:t>
            </a:r>
            <a:r>
              <a:rPr sz="2000">
                <a:latin typeface="Courier"/>
              </a:rPr>
              <a:t>.csv</a:t>
            </a:r>
            <a:r>
              <a:rPr sz="2000"/>
              <a:t> or the </a:t>
            </a:r>
            <a:r>
              <a:rPr sz="2000">
                <a:latin typeface="Courier"/>
              </a:rPr>
              <a:t>.xlsx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Excel loves to turn a plain number column into a date, or a </a:t>
            </a:r>
            <a:r>
              <a:rPr sz="2000">
                <a:latin typeface="Courier"/>
              </a:rPr>
              <a:t>replicate</a:t>
            </a:r>
            <a:r>
              <a:rPr sz="2000"/>
              <a:t> like </a:t>
            </a:r>
            <a:r>
              <a:rPr sz="2000">
                <a:latin typeface="Courier"/>
              </a:rPr>
              <a:t>1</a:t>
            </a:r>
            <a:r>
              <a:rPr sz="2000"/>
              <a:t> into </a:t>
            </a:r>
            <a:r>
              <a:rPr sz="2000">
                <a:latin typeface="Courier"/>
              </a:rPr>
              <a:t>1.0</a:t>
            </a:r>
            <a:r>
              <a:rPr sz="2000"/>
              <a:t>.</a:t>
            </a:r>
            <a:br/>
            <a:r>
              <a:rPr sz="2000"/>
              <a:t>Always </a:t>
            </a:r>
            <a:r>
              <a:rPr sz="2000">
                <a:latin typeface="Courier"/>
              </a:rPr>
              <a:t>glimpse()</a:t>
            </a:r>
            <a:r>
              <a:rPr sz="2000"/>
              <a:t> an Excel import before doing anything else.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§20 — Spreadsheets</a:t>
            </a:r>
            <a:r>
              <a:rPr sz="2000"/>
              <a:t> is entirely about importing from Excel and Sheets.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The Five Wrangling Verbs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Five Wrangling Verbs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Almost everything you do to a data frame is one of these five functions, chained with the pipe </a:t>
            </a:r>
            <a:r>
              <a:rPr>
                <a:latin typeface="Courier"/>
              </a:rPr>
              <a:t>|&gt;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rows</a:t>
                      </a:r>
                      <a:r>
                        <a:rPr/>
                        <a:t> matching a condition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select()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 </a:t>
                      </a:r>
                      <a:r>
                        <a:rPr b="1"/>
                        <a:t>columns</a:t>
                      </a:r>
                      <a:r>
                        <a:rPr/>
                        <a:t> by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mutate()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add or change</a:t>
                      </a:r>
                      <a:r>
                        <a:rPr/>
                        <a:t> a 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arrange()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sort</a:t>
                      </a:r>
                      <a:r>
                        <a:rPr/>
                        <a:t> rows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summarize()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collapse</a:t>
                      </a:r>
                      <a:r>
                        <a:rPr/>
                        <a:t> rows to a summary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take a data frame as input and return a data frame — that’s what makes them chainable.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summarize()</a:t>
            </a:r>
            <a:r>
              <a:rPr sz="2000"/>
              <a:t> is Describing Your Data’s whole topic.</a:t>
            </a:r>
            <a:br/>
            <a:r>
              <a:rPr sz="2000"/>
              <a:t>Today: the other four, plus saving what you build.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Read a pipeline out loud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pine_csv_df |&gt;
  filter(...) |&gt;   # then
  select(...) |&gt;   # then
  mutate(...) |&gt;   # then
  arrange(...)     # then</a:t>
            </a:r>
          </a:p>
          <a:p>
            <a:pPr lvl="0" indent="0" marL="1270000">
              <a:buNone/>
            </a:pPr>
            <a:r>
              <a:rPr sz="2000"/>
              <a:t>Each </a:t>
            </a:r>
            <a:r>
              <a:rPr sz="2000">
                <a:latin typeface="Courier"/>
              </a:rPr>
              <a:t>|&gt;</a:t>
            </a:r>
            <a:r>
              <a:rPr sz="2000"/>
              <a:t> reads as </a:t>
            </a:r>
            <a:r>
              <a:rPr sz="2000" b="1"/>
              <a:t>“then.”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§3 — Data transformation</a:t>
            </a:r>
            <a:r>
              <a:rPr sz="2000"/>
              <a:t> is the chapter for all five verbs and the pipe.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Picking Rows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the shady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source_file             team  replicate side  needle_length_mm needle_width_mm
  &lt;chr&gt;                   &lt;chr&gt;     &lt;dbl&gt; &lt;chr&gt;            &lt;dbl&gt;           &lt;dbl&gt;
1 Bartell_Shingledecker_… grac…         1 shady             16.6            0.75
2 Bartell_Shingledecker_… grac…         2 shady             17.0            0.84
3 Bartell_Shingledecker_… grac…         3 shady             14.3            0.86
4 Bartell_Shingledecker_… grac…         4 shady             15.6            0.98
5 Bartell_Shingledecker_… grac…         5 shady             15.1            1.35
6 Bartell_Shingledecker_… grac…         6 shady             13.1            0.77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needles longer than 17 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17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source_file             team  replicate side  needle_length_mm needle_width_mm
  &lt;chr&gt;                   &lt;chr&gt;     &lt;dbl&gt; &lt;chr&gt;            &lt;dbl&gt;           &lt;dbl&gt;
1 Bartell_Shingledecker_… grac…         1 sunny             18.4            0.79
2 Bartell_Shingledecker_… grac…         3 sunny             17.7            1.12
3 Bartell_Shingledecker_… grac…         6 sunny             19.2            0.99
4 Bartell_Shingledecker_… grac…         8 sunny             17.3            1.29
5 Bartell_Shingledecker_… grac…         7 shady             17.9            0.69
6 heal_thome_pineneedles… bota…         2 shady             20.7            0.77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>
                <a:latin typeface="Courier"/>
              </a:rPr>
              <a:t>=</a:t>
            </a:r>
            <a:r>
              <a:rPr sz="2000"/>
              <a:t> assigns a value</a:t>
            </a:r>
          </a:p>
          <a:p>
            <a:pPr lvl="0"/>
            <a:r>
              <a:rPr sz="2000">
                <a:latin typeface="Courier"/>
              </a:rPr>
              <a:t>==</a:t>
            </a:r>
            <a:r>
              <a:rPr sz="2000"/>
              <a:t> tests equality — </a:t>
            </a:r>
            <a:r>
              <a:rPr sz="2000">
                <a:latin typeface="Courier"/>
              </a:rPr>
              <a:t>filter(side = "shady")</a:t>
            </a:r>
            <a:r>
              <a:rPr sz="2000"/>
              <a:t> is an error</a:t>
            </a:r>
          </a:p>
          <a:p>
            <a:pPr lvl="1"/>
            <a:r>
              <a:rPr sz="2000"/>
              <a:t>you want </a:t>
            </a:r>
            <a:r>
              <a:rPr sz="2000">
                <a:latin typeface="Courier"/>
              </a:rPr>
              <a:t>filter(side == "shady")</a:t>
            </a:r>
            <a:r>
              <a:rPr sz="200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Common comparison operators: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==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exactly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than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&gt;=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&lt;=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greater / less / or equal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is.na()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value missing?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!is.na()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value </a:t>
                      </a:r>
                      <a:r>
                        <a:rPr b="1"/>
                        <a:t>not</a:t>
                      </a:r>
                      <a:r>
                        <a:rPr/>
                        <a:t> missing?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Combining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Combine two conditions with a comma (AND)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, needle_length_mm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source_file             team  replicate side  needle_length_mm needle_width_mm
  &lt;chr&gt;                   &lt;chr&gt;     &lt;dbl&gt; &lt;chr&gt;            &lt;dbl&gt;           &lt;dbl&gt;
1 Bartell_Shingledecker_… grac…         1 sunny             18.4            0.79
2 Bartell_Shingledecker_… grac…         3 sunny             17.7            1.12
3 Bartell_Shingledecker_… grac…         6 sunny             19.2            0.99
4 Bartell_Shingledecker_… grac…         8 sunny             17.3            1.29
5 heal_thome_pineneedles… bota…         1 sunny             16.8            0.98
6 heal_thome_pineneedles… bota…         2 sunny             18.7            1.07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AND vs. OR</a:t>
            </a:r>
          </a:p>
          <a:p>
            <a:pPr lvl="0"/>
            <a:r>
              <a:rPr sz="2000"/>
              <a:t>A comma between conditions means </a:t>
            </a:r>
            <a:r>
              <a:rPr sz="2000" b="1"/>
              <a:t>AND</a:t>
            </a:r>
          </a:p>
          <a:p>
            <a:pPr lvl="1"/>
            <a:r>
              <a:rPr sz="2000"/>
              <a:t>—every condition must be true for a row to be kept.</a:t>
            </a:r>
          </a:p>
          <a:p>
            <a:pPr lvl="0"/>
            <a:r>
              <a:rPr sz="2000"/>
              <a:t>Use </a:t>
            </a:r>
            <a:r>
              <a:rPr sz="2000">
                <a:latin typeface="Courier"/>
              </a:rPr>
              <a:t>|</a:t>
            </a:r>
            <a:r>
              <a:rPr sz="2000"/>
              <a:t> between conditions for </a:t>
            </a:r>
            <a:r>
              <a:rPr sz="2000" b="1"/>
              <a:t>OR</a:t>
            </a:r>
            <a:r>
              <a:rPr sz="2000"/>
              <a:t> instead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OR, With a Real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</a:t>
            </a:r>
            <a:r>
              <a:rPr sz="2000">
                <a:latin typeface="Courier"/>
              </a:rPr>
              <a:t>side == "shady" | needle_length_mm &gt; 18</a:t>
            </a:r>
            <a:r>
              <a:rPr sz="2000"/>
              <a:t> keeps a row if the side is shady </a:t>
            </a:r>
            <a:r>
              <a:rPr sz="2000" b="1"/>
              <a:t>or</a:t>
            </a:r>
            <a:r>
              <a:rPr sz="2000"/>
              <a:t> the needle is longer than 18 mm.</a:t>
            </a:r>
            <a:br/>
            <a:r>
              <a:rPr sz="2000"/>
              <a:t>Will this ever keep a </a:t>
            </a:r>
            <a:r>
              <a:rPr sz="2000" i="1"/>
              <a:t>sunny</a:t>
            </a:r>
            <a:r>
              <a:rPr sz="2000"/>
              <a:t> needle?</a:t>
            </a:r>
            <a:br/>
            <a:r>
              <a:rPr sz="2000"/>
              <a:t>Under what condition?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Shady-side needles, OR any exceptionally long needle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needle_length_mm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source_file             team  replicate side  needle_length_mm needle_width_mm
  &lt;chr&gt;                   &lt;chr&gt;     &lt;dbl&gt; &lt;chr&gt;            &lt;dbl&gt;           &lt;dbl&gt;
1 Bartell_Shingledecker_… grac…         1 sunny             18.4            0.79
2 Bartell_Shingledecker_… grac…         6 sunny             19.2            0.99
3 Bartell_Shingledecker_… grac…         1 shady             16.6            0.75
4 Bartell_Shingledecker_… grac…         2 shady             17.0            0.84
5 Bartell_Shingledecker_… grac…         3 shady             14.3            0.86
6 Bartell_Shingledecker_… grac…         4 shady             15.6            0.98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/>
            <a:r>
              <a:rPr sz="2000">
                <a:latin typeface="Courier"/>
              </a:rPr>
              <a:t>|</a:t>
            </a:r>
            <a:r>
              <a:rPr sz="2000"/>
              <a:t> is the pipe </a:t>
            </a:r>
            <a:r>
              <a:rPr sz="2000" b="1"/>
              <a:t>character</a:t>
            </a:r>
            <a:r>
              <a:rPr sz="2000"/>
              <a:t> (logical OR), not the pipe </a:t>
            </a:r>
            <a:r>
              <a:rPr sz="2000" b="1"/>
              <a:t>operator</a:t>
            </a:r>
            <a:r>
              <a:rPr sz="2000"/>
              <a:t> </a:t>
            </a:r>
            <a:r>
              <a:rPr sz="2000">
                <a:latin typeface="Courier"/>
              </a:rPr>
              <a:t>|&gt;</a:t>
            </a:r>
            <a:r>
              <a:rPr sz="2000"/>
              <a:t> (or </a:t>
            </a:r>
            <a:r>
              <a:rPr sz="2000">
                <a:latin typeface="Courier"/>
              </a:rPr>
              <a:t>%&gt;%</a:t>
            </a:r>
            <a:r>
              <a:rPr sz="2000"/>
              <a:t>)</a:t>
            </a:r>
          </a:p>
          <a:p>
            <a:pPr lvl="0"/>
            <a:r>
              <a:rPr sz="2000"/>
              <a:t>They look alike but do completely different jobs — one is logical OR, the other chains steps together.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Matching One of Several Values with </a:t>
            </a:r>
            <a:r>
              <a:rPr>
                <a:latin typeface="Courier"/>
              </a:rPr>
              <a:t>%in%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rows where team is one of two named teams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(team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"botany"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"waterbugs"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source_file             team  replicate side  needle_length_mm needle_width_mm
  &lt;chr&gt;                   &lt;chr&gt;     &lt;dbl&gt; &lt;chr&gt;            &lt;dbl&gt;           &lt;dbl&gt;
1 heal_thome_pineneedles… bota…         1 shady             16.5            0.65
2 heal_thome_pineneedles… bota…         2 shady             20.7            0.77
3 heal_thome_pineneedles… bota…         3 shady             17.6            0.94
4 heal_thome_pineneedles… bota…         4 shady             15.1            0.72
5 heal_thome_pineneedles… bota…         5 shady             17.6            0.79
6 heal_thome_pineneedles… bota…         6 shady             15.3            0.9 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long way, for comparison — %in% replaces a chain of |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(team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"botany"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team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"waterbugs"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source_file             team  replicate side  needle_length_mm needle_width_mm
  &lt;chr&gt;                   &lt;chr&gt;     &lt;dbl&gt; &lt;chr&gt;            &lt;dbl&gt;           &lt;dbl&gt;
1 heal_thome_pineneedles… bota…         1 shady             16.5            0.65
2 heal_thome_pineneedles… bota…         2 shady             20.7            0.77
3 heal_thome_pineneedles… bota…         3 shady             17.6            0.94
4 heal_thome_pineneedles… bota…         4 shady             15.1            0.72
5 heal_thome_pineneedles… bota…         5 shady             17.6            0.79
6 heal_thome_pineneedles… bota…         6 shady             15.3            0.9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/>
            <a:r>
              <a:rPr sz="2000">
                <a:latin typeface="Courier"/>
              </a:rPr>
              <a:t>x %in% c(a, b, c)</a:t>
            </a:r>
            <a:r>
              <a:rPr sz="2000"/>
              <a:t> asks “is </a:t>
            </a:r>
            <a:r>
              <a:rPr sz="2000">
                <a:latin typeface="Courier"/>
              </a:rPr>
              <a:t>x</a:t>
            </a:r>
            <a:r>
              <a:rPr sz="2000"/>
              <a:t> equal to </a:t>
            </a:r>
            <a:r>
              <a:rPr sz="2000" i="1"/>
              <a:t>any</a:t>
            </a:r>
            <a:r>
              <a:rPr sz="2000"/>
              <a:t> of these?”</a:t>
            </a:r>
          </a:p>
          <a:p>
            <a:pPr lvl="1"/>
            <a:r>
              <a:rPr sz="2000"/>
              <a:t>it’s the clean way to write an OR across many possible values without a long chain of </a:t>
            </a:r>
            <a:r>
              <a:rPr sz="2000">
                <a:latin typeface="Courier"/>
              </a:rPr>
              <a:t>|</a:t>
            </a:r>
            <a:r>
              <a:rPr sz="2000"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filter()</a:t>
            </a:r>
            <a:r>
              <a:rPr/>
              <a:t> — Missing Values with </a:t>
            </a:r>
            <a:r>
              <a:rPr>
                <a:latin typeface="Courier"/>
              </a:rPr>
              <a:t>is.na()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tiny illustrative dataset with missing 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survey_df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site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"C"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count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survey_df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(count))    </a:t>
            </a:r>
            <a:r>
              <a:rPr>
                <a:solidFill>
                  <a:srgbClr val="5E5E5E"/>
                </a:solidFill>
                <a:latin typeface="Courier"/>
              </a:rPr>
              <a:t># rows that ARE missing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site  count
  &lt;chr&gt; &lt;dbl&gt;
1 B        NA
2 D        NA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survey_df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(count))   </a:t>
            </a:r>
            <a:r>
              <a:rPr>
                <a:solidFill>
                  <a:srgbClr val="5E5E5E"/>
                </a:solidFill>
                <a:latin typeface="Courier"/>
              </a:rPr>
              <a:t># rows that are NOT missing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site  count
  &lt;chr&gt; &lt;dbl&gt;
1 A        12
2 C         8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/>
            <a:r>
              <a:rPr sz="2000">
                <a:latin typeface="Courier"/>
              </a:rPr>
              <a:t>is.na(x)</a:t>
            </a:r>
            <a:r>
              <a:rPr sz="2000"/>
              <a:t> is itself a boolean test</a:t>
            </a:r>
          </a:p>
          <a:p>
            <a:pPr lvl="1"/>
            <a:r>
              <a:rPr sz="2000">
                <a:latin typeface="Courier"/>
              </a:rPr>
              <a:t>TRUE</a:t>
            </a:r>
            <a:r>
              <a:rPr sz="2000"/>
              <a:t>/</a:t>
            </a:r>
            <a:r>
              <a:rPr sz="2000">
                <a:latin typeface="Courier"/>
              </a:rPr>
              <a:t>FALSE</a:t>
            </a:r>
            <a:r>
              <a:rPr sz="2000"/>
              <a:t> — so it plugs into </a:t>
            </a:r>
            <a:r>
              <a:rPr sz="2000">
                <a:latin typeface="Courier"/>
              </a:rPr>
              <a:t>filter()</a:t>
            </a:r>
          </a:p>
          <a:p>
            <a:pPr lvl="1"/>
            <a:r>
              <a:rPr sz="2000"/>
              <a:t>exactly like </a:t>
            </a:r>
            <a:r>
              <a:rPr sz="2000">
                <a:latin typeface="Courier"/>
              </a:rPr>
              <a:t>==</a:t>
            </a:r>
            <a:r>
              <a:rPr sz="2000"/>
              <a:t> or </a:t>
            </a:r>
            <a:r>
              <a:rPr sz="2000">
                <a:latin typeface="Courier"/>
              </a:rPr>
              <a:t>&gt;</a:t>
            </a:r>
            <a:r>
              <a:rPr sz="2000"/>
              <a:t> does.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Coming up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pine_csv_df</a:t>
            </a:r>
            <a:r>
              <a:rPr sz="2000"/>
              <a:t> has no missing values, so </a:t>
            </a:r>
            <a:r>
              <a:rPr sz="2000">
                <a:latin typeface="Courier"/>
              </a:rPr>
              <a:t>is.na()</a:t>
            </a:r>
            <a:r>
              <a:rPr sz="2000"/>
              <a:t> has nothing to catch here.</a:t>
            </a:r>
            <a:br/>
            <a:r>
              <a:rPr sz="2000"/>
              <a:t>Describing Your Data digs into </a:t>
            </a:r>
            <a:r>
              <a:rPr sz="2000" i="1"/>
              <a:t>why</a:t>
            </a:r>
            <a:r>
              <a:rPr sz="2000"/>
              <a:t> missing values matter so much once you’re computing a sample size or a mean.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§12 — Logical vectors</a:t>
            </a:r>
            <a:r>
              <a:rPr sz="2000"/>
              <a:t> covers </a:t>
            </a:r>
            <a:r>
              <a:rPr sz="2000">
                <a:latin typeface="Courier"/>
              </a:rPr>
              <a:t>==</a:t>
            </a:r>
            <a:r>
              <a:rPr sz="2000"/>
              <a:t>, </a:t>
            </a:r>
            <a:r>
              <a:rPr sz="2000">
                <a:latin typeface="Courier"/>
              </a:rPr>
              <a:t>&amp;</a:t>
            </a:r>
            <a:r>
              <a:rPr sz="2000"/>
              <a:t>, </a:t>
            </a:r>
            <a:r>
              <a:rPr sz="2000">
                <a:latin typeface="Courier"/>
              </a:rPr>
              <a:t>|</a:t>
            </a:r>
            <a:r>
              <a:rPr sz="2000"/>
              <a:t>, </a:t>
            </a:r>
            <a:r>
              <a:rPr sz="2000">
                <a:latin typeface="Courier"/>
              </a:rPr>
              <a:t>%in%</a:t>
            </a:r>
            <a:r>
              <a:rPr sz="2000"/>
              <a:t> and </a:t>
            </a:r>
            <a:r>
              <a:rPr sz="2000">
                <a:latin typeface="Courier"/>
              </a:rPr>
              <a:t>is.na()</a:t>
            </a:r>
            <a:r>
              <a:rPr sz="2000"/>
              <a:t>.</a:t>
            </a:r>
            <a:br/>
            <a:r>
              <a:rPr sz="2000">
                <a:hlinkClick r:id="rId3"/>
              </a:rPr>
              <a:t>📖 R4DS §18 — Missing values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select()</a:t>
            </a:r>
            <a:r>
              <a:rPr/>
              <a:t> — Picking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side and length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(side, needle_length_mm)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side  needle_length_mm
  &lt;chr&gt;            &lt;dbl&gt;
1 sunny             18.4
2 sunny             12.5
3 sunny             17.7
4 sunny             14.0
5 sunny             14.2
6 sunny             19.2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the provenance column we do not need (minus sign)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source_file)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
  team       replicate side  needle_length_mm needle_width_mm
  &lt;chr&gt;          &lt;dbl&gt; &lt;chr&gt;            &lt;dbl&gt;           &lt;dbl&gt;
1 grace_jace         1 sunny             18.4            0.79
2 grace_jace         2 sunny             12.5            0.99
3 grace_jace         3 sunny             17.7            1.12
4 grace_jace         4 sunny             14.0            0.94
5 grace_jace         5 sunny             14.2            1   
6 grace_jace         6 sunny             19.2            0.99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select()</a:t>
            </a:r>
            <a:r>
              <a:rPr sz="2000"/>
              <a:t> doesn’t touch rows — it only trims the columns you’re carrying forward. Useful the moment a dataset has 30+ columns and you need 4 of them.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Name the columns you want, in any order</a:t>
            </a:r>
          </a:p>
          <a:p>
            <a:pPr lvl="0"/>
            <a:r>
              <a:rPr/>
              <a:t>A leading </a:t>
            </a:r>
            <a:r>
              <a:rPr>
                <a:latin typeface="Courier"/>
              </a:rPr>
              <a:t>-</a:t>
            </a:r>
            <a:r>
              <a:rPr/>
              <a:t> drops a column instead of keeping it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select()</a:t>
            </a:r>
            <a:r>
              <a:rPr/>
              <a:t> — Picking Columns by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columns that contain a word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contains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needle_length_mm needle_width_mm
             &lt;dbl&gt;           &lt;dbl&gt;
1             18.4            0.79
2             12.5            0.99
3             17.7            1.12
4             14.0            0.94
5             14.2            1   
6             19.2            0.99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Useful helpers:</a:t>
            </a:r>
          </a:p>
          <a:p>
            <a:pPr lvl="0"/>
            <a:r>
              <a:rPr>
                <a:latin typeface="Courier"/>
              </a:rPr>
              <a:t>starts_with("needle")</a:t>
            </a:r>
            <a:r>
              <a:rPr/>
              <a:t> — super useful when related variables share a prefix</a:t>
            </a:r>
          </a:p>
          <a:p>
            <a:pPr lvl="0"/>
            <a:r>
              <a:rPr>
                <a:latin typeface="Courier"/>
              </a:rPr>
              <a:t>ends_with("_mm")</a:t>
            </a:r>
          </a:p>
          <a:p>
            <a:pPr lvl="0"/>
            <a:r>
              <a:rPr>
                <a:latin typeface="Courier"/>
              </a:rPr>
              <a:t>contains("needle")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📖 R4DS §3.3 — </a:t>
            </a:r>
            <a:r>
              <a:rPr>
                <a:hlinkClick r:id="rId3"/>
                <a:latin typeface="Courier"/>
              </a:rPr>
              <a:t>select()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Creating and Changing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</a:t>
            </a:r>
            <a:r>
              <a:rPr sz="2000">
                <a:latin typeface="Courier"/>
              </a:rPr>
              <a:t>needle_length_mm / 10</a:t>
            </a:r>
            <a:r>
              <a:rPr sz="2000"/>
              <a:t> converts millimeters to centimeters.</a:t>
            </a:r>
            <a:br/>
            <a:r>
              <a:rPr sz="2000"/>
              <a:t>Will </a:t>
            </a:r>
            <a:r>
              <a:rPr sz="2000">
                <a:latin typeface="Courier"/>
              </a:rPr>
              <a:t>mutate()</a:t>
            </a:r>
            <a:r>
              <a:rPr sz="2000"/>
              <a:t> </a:t>
            </a:r>
            <a:r>
              <a:rPr sz="2000" b="1"/>
              <a:t>replace</a:t>
            </a:r>
            <a:r>
              <a:rPr sz="2000"/>
              <a:t> </a:t>
            </a:r>
            <a:r>
              <a:rPr sz="2000">
                <a:latin typeface="Courier"/>
              </a:rPr>
              <a:t>needle_length_mm</a:t>
            </a:r>
            <a:r>
              <a:rPr sz="2000"/>
              <a:t>, or </a:t>
            </a:r>
            <a:r>
              <a:rPr sz="2000" b="1"/>
              <a:t>add</a:t>
            </a:r>
            <a:r>
              <a:rPr sz="2000"/>
              <a:t> a new column?</a:t>
            </a:r>
            <a:br/>
            <a:r>
              <a:rPr sz="2000"/>
              <a:t>How many columns will the result have?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converted-units column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needle_length_cm =</a:t>
            </a:r>
            <a:r>
              <a:rPr>
                <a:solidFill>
                  <a:srgbClr val="003B4F"/>
                </a:solidFill>
                <a:latin typeface="Courier"/>
              </a:rPr>
              <a:t> needle_length_mm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source_file             team  replicate side  needle_length_mm needle_width_mm
  &lt;chr&gt;                   &lt;chr&gt;     &lt;dbl&gt; &lt;chr&gt;            &lt;dbl&gt;           &lt;dbl&gt;
1 Bartell_Shingledecker_… grac…         1 sunny             18.4            0.79
2 Bartell_Shingledecker_… grac…         2 sunny             12.5            0.99
3 Bartell_Shingledecker_… grac…         3 sunny             17.7            1.12
4 Bartell_Shingledecker_… grac…         4 sunny             14.0            0.94
5 Bartell_Shingledecker_… grac…         5 sunny             14.2            1   
6 Bartell_Shingledecker_… grac…         6 sunny             19.2            0.99
# ℹ 1 more variable: needle_length_cm &lt;dbl&gt;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mutate()</a:t>
            </a:r>
            <a:r>
              <a:rPr sz="2000"/>
              <a:t> keeps every existing column and adds new ones to the right.</a:t>
            </a:r>
            <a:br/>
            <a:r>
              <a:rPr sz="2000"/>
              <a:t>To </a:t>
            </a:r>
            <a:r>
              <a:rPr sz="2000" i="1"/>
              <a:t>overwrite</a:t>
            </a:r>
            <a:r>
              <a:rPr sz="2000"/>
              <a:t> a column, reuse its name:</a:t>
            </a:r>
            <a:br/>
            <a:r>
              <a:rPr sz="2000">
                <a:latin typeface="Courier"/>
              </a:rPr>
              <a:t>mutate(needle_length_mm = round(needle_length_mm, 1))</a:t>
            </a:r>
            <a:r>
              <a:rPr sz="2000"/>
              <a:t>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mutate()</a:t>
            </a:r>
            <a:r>
              <a:rPr/>
              <a:t> — More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Add a log-transformed column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log_length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(needle_length_mm))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source_file  team  replicate side  needle_length_mm needle_width_mm log_length
  &lt;chr&gt;        &lt;chr&gt;     &lt;dbl&gt; &lt;chr&gt;            &lt;dbl&gt;           &lt;dbl&gt;      &lt;dbl&gt;
1 Bartell_Shi… grac…         1 sunny             18.4            0.79       2.91
2 Bartell_Shi… grac…         2 sunny             12.5            0.99       2.52
3 Bartell_Shi… grac…         3 sunny             17.7            1.12       2.88
4 Bartell_Shi… grac…         4 sunny             14.0            0.94       2.64
5 Bartell_Shi… grac…         5 sunny             14.2            1          2.65
6 Bartell_Shi… grac…         6 sunny             19.2            0.99       2.95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can build on a column it just created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needle_length_cm  =</a:t>
            </a:r>
            <a:r>
              <a:rPr>
                <a:solidFill>
                  <a:srgbClr val="003B4F"/>
                </a:solidFill>
                <a:latin typeface="Courier"/>
              </a:rPr>
              <a:t> needle_length_mm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"long"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"short"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8
  source_file             team  replicate side  needle_length_mm needle_width_mm
  &lt;chr&gt;                   &lt;chr&gt;     &lt;dbl&gt; &lt;chr&gt;            &lt;dbl&gt;           &lt;dbl&gt;
1 Bartell_Shingledecker_… grac…         1 sunny             18.4            0.79
2 Bartell_Shingledecker_… grac…         2 sunny             12.5            0.99
3 Bartell_Shingledecker_… grac…         3 sunny             17.7            1.12
4 Bartell_Shingledecker_… grac…         4 sunny             14.0            0.94
5 Bartell_Shingledecker_… grac…         5 sunny             14.2            1   
6 Bartell_Shingledecker_… grac…         6 sunny             19.2            0.99
# ℹ 2 more variables: needle_length_cm &lt;dbl&gt;, size_class &lt;chr&gt;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📖 Why log-transform?</a:t>
            </a:r>
          </a:p>
          <a:p>
            <a:pPr lvl="0"/>
            <a:r>
              <a:rPr sz="2000"/>
              <a:t>Many biological measurements are </a:t>
            </a:r>
            <a:r>
              <a:rPr sz="2000" b="1"/>
              <a:t>right-skewed</a:t>
            </a:r>
          </a:p>
          <a:p>
            <a:pPr lvl="1"/>
            <a:r>
              <a:rPr sz="2000"/>
              <a:t>a log transform pulls extreme values in and can make a distribution more symmetric before you summarize or test it.</a:t>
            </a:r>
          </a:p>
          <a:p>
            <a:pPr lvl="0"/>
            <a:r>
              <a:rPr sz="2000"/>
              <a:t>We’ll check whether it matters for our data in a later module</a:t>
            </a:r>
          </a:p>
          <a:p>
            <a:pPr lvl="0"/>
            <a:r>
              <a:rPr sz="2000" b="1"/>
              <a:t>Know which log you are using.</a:t>
            </a:r>
            <a:r>
              <a:rPr sz="2000"/>
              <a:t> In R, </a:t>
            </a:r>
            <a:r>
              <a:rPr sz="2000">
                <a:latin typeface="Courier"/>
              </a:rPr>
              <a:t>log()</a:t>
            </a:r>
            <a:r>
              <a:rPr sz="2000"/>
              <a:t> is the </a:t>
            </a:r>
            <a:r>
              <a:rPr sz="2000" i="1"/>
              <a:t>natural</a:t>
            </a:r>
            <a:r>
              <a:rPr sz="2000"/>
              <a:t> log (ln, base e); </a:t>
            </a:r>
            <a:r>
              <a:rPr sz="2000">
                <a:latin typeface="Courier"/>
              </a:rPr>
              <a:t>log2()</a:t>
            </a:r>
            <a:r>
              <a:rPr sz="2000"/>
              <a:t> and </a:t>
            </a:r>
            <a:r>
              <a:rPr sz="2000">
                <a:latin typeface="Courier"/>
              </a:rPr>
              <a:t>log10()</a:t>
            </a:r>
            <a:r>
              <a:rPr sz="2000"/>
              <a:t> are the other two. Always say which one in your methods.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§13 — Numbers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2b · </a:t>
            </a:r>
            <a:r>
              <a:rPr>
                <a:latin typeface="Courier"/>
              </a:rPr>
              <a:t>case_when()</a:t>
            </a:r>
            <a:r>
              <a:rPr/>
              <a:t> — Recoding and Binning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case_when()</a:t>
            </a:r>
            <a:r>
              <a:rPr/>
              <a:t> — Turning a Number into a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We’re about to bin </a:t>
            </a:r>
            <a:r>
              <a:rPr sz="2000">
                <a:latin typeface="Courier"/>
              </a:rPr>
              <a:t>needle_length_mm</a:t>
            </a:r>
            <a:r>
              <a:rPr sz="2000"/>
              <a:t> into </a:t>
            </a:r>
            <a:r>
              <a:rPr sz="2000">
                <a:latin typeface="Courier"/>
              </a:rPr>
              <a:t>"short"</a:t>
            </a:r>
            <a:r>
              <a:rPr sz="2000"/>
              <a:t> (&lt; 13), </a:t>
            </a:r>
            <a:r>
              <a:rPr sz="2000">
                <a:latin typeface="Courier"/>
              </a:rPr>
              <a:t>"medium"</a:t>
            </a:r>
            <a:r>
              <a:rPr sz="2000"/>
              <a:t> (&lt; 16), and </a:t>
            </a:r>
            <a:r>
              <a:rPr sz="2000">
                <a:latin typeface="Courier"/>
              </a:rPr>
              <a:t>"long"</a:t>
            </a:r>
            <a:r>
              <a:rPr sz="2000"/>
              <a:t>. The first needle in the data is 18.44 mm. Which bin does it land in — and would that change if the cutoffs used </a:t>
            </a:r>
            <a:r>
              <a:rPr sz="2000">
                <a:latin typeface="Courier"/>
              </a:rPr>
              <a:t>&lt;=</a:t>
            </a:r>
            <a:r>
              <a:rPr sz="2000"/>
              <a:t> instead of </a:t>
            </a:r>
            <a:r>
              <a:rPr sz="2000">
                <a:latin typeface="Courier"/>
              </a:rPr>
              <a:t>&lt;</a:t>
            </a:r>
            <a:r>
              <a:rPr sz="2000"/>
              <a:t>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needle_length_mm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"short"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needle_length_mm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"medium"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"long"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(size_class)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2
  size_class     n
  &lt;chr&gt;      &lt;int&gt;
1 long          21
2 medium        25
3 short         18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case_when()</a:t>
            </a:r>
            <a:r>
              <a:rPr sz="2000"/>
              <a:t> checks conditions </a:t>
            </a:r>
            <a:r>
              <a:rPr sz="2000" b="1"/>
              <a:t>top to bottom</a:t>
            </a:r>
            <a:r>
              <a:rPr sz="2000"/>
              <a:t> and uses the </a:t>
            </a:r>
            <a:r>
              <a:rPr sz="2000" i="1"/>
              <a:t>first</a:t>
            </a:r>
            <a:r>
              <a:rPr sz="2000"/>
              <a:t> one that’s </a:t>
            </a:r>
            <a:r>
              <a:rPr sz="2000">
                <a:latin typeface="Courier"/>
              </a:rPr>
              <a:t>TRUE</a:t>
            </a:r>
            <a:r>
              <a:rPr sz="2000"/>
              <a:t>.</a:t>
            </a:r>
            <a:br/>
            <a:r>
              <a:rPr sz="2000"/>
              <a:t>Once a row matches </a:t>
            </a:r>
            <a:r>
              <a:rPr sz="2000">
                <a:latin typeface="Courier"/>
              </a:rPr>
              <a:t>needle_length_mm &lt; 13</a:t>
            </a:r>
            <a:r>
              <a:rPr sz="2000"/>
              <a:t>, R never even looks at the later conditions for that row.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§12.5 — </a:t>
            </a:r>
            <a:r>
              <a:rPr sz="2000">
                <a:hlinkClick r:id="rId3"/>
                <a:latin typeface="Courier"/>
              </a:rPr>
              <a:t>if_else()</a:t>
            </a:r>
            <a:r>
              <a:rPr sz="2000">
                <a:hlinkClick r:id="rId4"/>
              </a:rPr>
              <a:t> and </a:t>
            </a:r>
            <a:r>
              <a:rPr sz="2000">
                <a:hlinkClick r:id="rId5"/>
                <a:latin typeface="Courier"/>
              </a:rPr>
              <a:t>case_when()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case_when()</a:t>
            </a:r>
            <a:r>
              <a:rPr/>
              <a:t> — Always End With </a:t>
            </a:r>
            <a:r>
              <a:rPr>
                <a:latin typeface="Courier"/>
              </a:rPr>
              <a:t>TRUE ~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What happens if we forget the catch-all?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needle_length_mm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"short"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needle_length_mm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"medium"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5E5E5E"/>
                </a:solidFill>
                <a:latin typeface="Courier"/>
              </a:rPr>
              <a:t># no TRUE ~ ... here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(size_class)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2
  size_class     n
  &lt;chr&gt;      &lt;int&gt;
1 medium        25
2 short         18
3 &lt;NA&gt;          21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Drop the </a:t>
            </a:r>
            <a:r>
              <a:rPr sz="2000">
                <a:latin typeface="Courier"/>
              </a:rPr>
              <a:t>TRUE ~ "long"</a:t>
            </a:r>
            <a:r>
              <a:rPr sz="2000"/>
              <a:t> line and all 21 “long” needles silently become </a:t>
            </a:r>
            <a:r>
              <a:rPr sz="2000">
                <a:latin typeface="Courier"/>
              </a:rPr>
              <a:t>NA</a:t>
            </a:r>
            <a:r>
              <a:rPr sz="2000"/>
              <a:t> instead of erroring. </a:t>
            </a:r>
            <a:r>
              <a:rPr sz="2000">
                <a:latin typeface="Courier"/>
              </a:rPr>
              <a:t>case_when()</a:t>
            </a:r>
            <a:r>
              <a:rPr sz="2000"/>
              <a:t> never warns you — always finish with a </a:t>
            </a:r>
            <a:r>
              <a:rPr sz="2000">
                <a:latin typeface="Courier"/>
              </a:rPr>
              <a:t>TRUE ~ ...</a:t>
            </a:r>
            <a:r>
              <a:rPr sz="2000"/>
              <a:t> catch-all, even when you’re sure you’ve covered every case.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case_when()</a:t>
            </a:r>
            <a:r>
              <a:rPr/>
              <a:t> — Recoding Categories, Not Just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Give each field team a short code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team_code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team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"botany"</a:t>
            </a:r>
            <a:r>
              <a:rPr>
                <a:solidFill>
                  <a:srgbClr val="003B4F"/>
                </a:solidFill>
                <a:latin typeface="Courier"/>
              </a:rPr>
              <a:t>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"BOT"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team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"grace_jace"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"GRJ"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team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"one"</a:t>
            </a:r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team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"waterbugs"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"WBG"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"UNK"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distinct</a:t>
            </a:r>
            <a:r>
              <a:rPr>
                <a:solidFill>
                  <a:srgbClr val="003B4F"/>
                </a:solidFill>
                <a:latin typeface="Courier"/>
              </a:rPr>
              <a:t>(team, team_code)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2
  team       team_code
  &lt;chr&gt;      &lt;chr&gt;    
1 grace_jace GRJ      
2 botany     BOT      
3 one        ONE      
4 waterbugs  WBG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case_when()</a:t>
            </a:r>
            <a:r>
              <a:rPr sz="2000"/>
              <a:t> isn’t just for numeric cutoffs — every condition on the left of a </a:t>
            </a:r>
            <a:r>
              <a:rPr sz="2000">
                <a:latin typeface="Courier"/>
              </a:rPr>
              <a:t>~</a:t>
            </a:r>
            <a:r>
              <a:rPr sz="2000"/>
              <a:t> can be any boolean test: </a:t>
            </a:r>
            <a:r>
              <a:rPr sz="2000">
                <a:latin typeface="Courier"/>
              </a:rPr>
              <a:t>==</a:t>
            </a:r>
            <a:r>
              <a:rPr sz="2000"/>
              <a:t>, </a:t>
            </a:r>
            <a:r>
              <a:rPr sz="2000">
                <a:latin typeface="Courier"/>
              </a:rPr>
              <a:t>%in%</a:t>
            </a:r>
            <a:r>
              <a:rPr sz="2000"/>
              <a:t>, </a:t>
            </a:r>
            <a:r>
              <a:rPr sz="2000">
                <a:latin typeface="Courier"/>
              </a:rPr>
              <a:t>&gt;</a:t>
            </a:r>
            <a:r>
              <a:rPr sz="2000"/>
              <a:t>, even combinations with </a:t>
            </a:r>
            <a:r>
              <a:rPr sz="2000">
                <a:latin typeface="Courier"/>
              </a:rPr>
              <a:t>&amp;</a:t>
            </a:r>
            <a:r>
              <a:rPr sz="2000"/>
              <a:t> and </a:t>
            </a:r>
            <a:r>
              <a:rPr sz="2000">
                <a:latin typeface="Courier"/>
              </a:rPr>
              <a:t>|</a:t>
            </a:r>
            <a:r>
              <a:rPr sz="2000"/>
              <a:t>.</a:t>
            </a:r>
          </a:p>
          <a:p>
            <a:pPr lvl="0" indent="0" marL="1270000">
              <a:buNone/>
            </a:pPr>
            <a:r>
              <a:rPr sz="2000"/>
              <a:t>The </a:t>
            </a:r>
            <a:r>
              <a:rPr sz="2000">
                <a:latin typeface="Courier"/>
              </a:rPr>
              <a:t>"UNK"</a:t>
            </a:r>
            <a:r>
              <a:rPr sz="2000"/>
              <a:t> catch-all should never actually appear here — if it does, that’s your signal a team name was misspelled somewhere upstream.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Shortest needles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(needle_length_mm)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64 × 6
   source_file            team  replicate side  needle_length_mm needle_width_mm
   &lt;chr&gt;                  &lt;chr&gt;     &lt;dbl&gt; &lt;chr&gt;            &lt;dbl&gt;           &lt;dbl&gt;
 1 Needle_Length_Suhr:Bu… wate…         2 shady             7.23            1.16
 2 Needle_Length_Suhr:Bu… wate…         1 shady            10.5             1.22
 3 Kehr_and_Baalke.csv    one           8 shady            10.6             0.98
 4 Needle_Length_Suhr:Bu… wate…         2 sunny            10.7             1.08
 5 Bartell_Shingledecker… grac…         7 sunny            10.9             0.81
 6 Needle_Length_Suhr:Bu… wate…         7 shady            11.3             1.13
 7 Kehr_and_Baalke.csv    one           4 sunny            11.4             1.17
 8 Kehr_and_Baalke.csv    one           1 shady            11.5             1.11
 9 heal_thome_pineneedle… bota…         8 shady            11.6             0.66
10 Needle_Length_Suhr:Bu… wate…         3 shady            11.6             1.27
# ℹ 54 more rows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Longest first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64 × 6
   source_file            team  replicate side  needle_length_mm needle_width_mm
   &lt;chr&gt;                  &lt;chr&gt;     &lt;dbl&gt; &lt;chr&gt;            &lt;dbl&gt;           &lt;dbl&gt;
 1 heal_thome_pineneedle… bota…         2 shady             20.7            0.77
 2 Needle_Length_Suhr:Bu… wate…         3 sunny             19.5            1.58
 3 Bartell_Shingledecker… grac…         6 sunny             19.2            0.99
 4 heal_thome_pineneedle… bota…         8 sunny             18.8            1.12
 5 heal_thome_pineneedle… bota…         2 sunny             18.7            1.07
 6 heal_thome_pineneedle… bota…         6 sunny             18.5            1.18
 7 Bartell_Shingledecker… grac…         1 sunny             18.4            0.79
 8 Bartell_Shingledecker… grac…         7 shady             17.9            0.69
 9 Bartell_Shingledecker… grac…         3 sunny             17.7            1.12
10 Kehr_and_Baalke.csv    one           5 shady             17.7            1   
# ℹ 54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Default is </a:t>
            </a:r>
            <a:r>
              <a:rPr b="1"/>
              <a:t>ascending</a:t>
            </a:r>
            <a:r>
              <a:rPr/>
              <a:t> (smallest first)</a:t>
            </a:r>
          </a:p>
          <a:p>
            <a:pPr lvl="0"/>
            <a:r>
              <a:rPr>
                <a:latin typeface="Courier"/>
              </a:rPr>
              <a:t>desc()</a:t>
            </a:r>
            <a:r>
              <a:rPr/>
              <a:t> reverses it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arrange()</a:t>
            </a:r>
            <a:r>
              <a:rPr/>
              <a:t> — Sorting by Multiple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Sort by side, then by length within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64 × 6
   source_file            team  replicate side  needle_length_mm needle_width_mm
   &lt;chr&gt;                  &lt;chr&gt;     &lt;dbl&gt; &lt;chr&gt;            &lt;dbl&gt;           &lt;dbl&gt;
 1 heal_thome_pineneedle… bota…         2 shady             20.7            0.77
 2 Bartell_Shingledecker… grac…         7 shady             17.9            0.69
 3 Kehr_and_Baalke.csv    one           5 shady             17.7            1   
 4 heal_thome_pineneedle… bota…         5 shady             17.6            0.79
 5 heal_thome_pineneedle… bota…         3 shady             17.6            0.94
 6 Bartell_Shingledecker… grac…         2 shady             17.0            0.84
 7 Bartell_Shingledecker… grac…         1 shady             16.6            0.75
 8 heal_thome_pineneedle… bota…         1 shady             16.5            0.65
 9 Bartell_Shingledecker… grac…         4 shady             15.6            0.98
10 heal_thome_pineneedle… bota…         6 shady             15.3            0.9 
# ℹ 54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Most useful at the </a:t>
            </a:r>
            <a:r>
              <a:rPr b="1"/>
              <a:t>end</a:t>
            </a:r>
            <a:r>
              <a:rPr/>
              <a:t> of a pipeline, to inspect results in a sensible order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arrange()</a:t>
            </a:r>
            <a:r>
              <a:rPr sz="2000"/>
              <a:t> never changes </a:t>
            </a:r>
            <a:r>
              <a:rPr sz="2000" i="1"/>
              <a:t>which</a:t>
            </a:r>
            <a:r>
              <a:rPr sz="2000"/>
              <a:t> rows you have — only the order they print in.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pine_wrangled_df &lt;- pine_csv_df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5E5E5E"/>
                </a:solidFill>
                <a:latin typeface="Courier"/>
              </a:rPr>
              <a:t># drop impossible values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(team, side, needle_length_mm, needle_width_mm)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5E5E5E"/>
                </a:solidFill>
                <a:latin typeface="Courier"/>
              </a:rPr>
              <a:t># keep what we need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needle_length_cm  =</a:t>
            </a:r>
            <a:r>
              <a:rPr>
                <a:solidFill>
                  <a:srgbClr val="003B4F"/>
                </a:solidFill>
                <a:latin typeface="Courier"/>
              </a:rPr>
              <a:t> needle_length_mm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log_length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(needle_length_mm),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size_class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needle_length_mm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13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"short"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needle_length_mm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16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"medium"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"long"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(side, 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(needle_length_mm))            </a:t>
            </a:r>
            <a:r>
              <a:rPr>
                <a:solidFill>
                  <a:srgbClr val="5E5E5E"/>
                </a:solidFill>
                <a:latin typeface="Courier"/>
              </a:rPr>
              <a:t># sort for inspection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(pine_wrangled_df)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7
  team       side  needle_length_mm needle_width_mm needle_length_cm log_length
  &lt;chr&gt;      &lt;chr&gt;            &lt;dbl&gt;           &lt;dbl&gt;            &lt;dbl&gt;      &lt;dbl&gt;
1 botany     shady             20.7            0.77             2.07       3.03
2 grace_jace shady             17.9            0.69             1.79       2.89
3 one        shady             17.7            1                1.77       2.87
4 botany     shady             17.6            0.79             1.76       2.87
5 botany     shady             17.6            0.94             1.76       2.87
6 grace_jace shady             17.0            0.84             1.69       2.83
# ℹ 1 more variable: size_class &lt;chr&gt;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pipe </a:t>
            </a:r>
            <a:r>
              <a:rPr sz="2000">
                <a:latin typeface="Courier"/>
              </a:rPr>
              <a:t>|&gt;</a:t>
            </a:r>
            <a:r>
              <a:rPr sz="2000"/>
              <a:t> is what makes this readable top to bottom — a recipe, not a nest of parentheses.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 it out loud:</a:t>
            </a:r>
          </a:p>
          <a:p>
            <a:pPr lvl="0"/>
            <a:r>
              <a:rPr/>
              <a:t>Take </a:t>
            </a:r>
            <a:r>
              <a:rPr>
                <a:latin typeface="Courier"/>
              </a:rPr>
              <a:t>pine_csv_df</a:t>
            </a:r>
            <a:r>
              <a:rPr/>
              <a:t>,</a:t>
            </a:r>
          </a:p>
          <a:p>
            <a:pPr lvl="1"/>
            <a:r>
              <a:rPr b="1"/>
              <a:t>then</a:t>
            </a:r>
            <a:r>
              <a:rPr/>
              <a:t> filter to real values,</a:t>
            </a:r>
          </a:p>
          <a:p>
            <a:pPr lvl="2"/>
            <a:r>
              <a:rPr b="1"/>
              <a:t>then</a:t>
            </a:r>
            <a:r>
              <a:rPr/>
              <a:t> select four columns,</a:t>
            </a:r>
          </a:p>
          <a:p>
            <a:pPr lvl="3"/>
            <a:r>
              <a:rPr b="1"/>
              <a:t>then</a:t>
            </a:r>
            <a:r>
              <a:rPr/>
              <a:t> add three new columns,</a:t>
            </a:r>
          </a:p>
          <a:p>
            <a:pPr lvl="4"/>
            <a:r>
              <a:rPr b="1"/>
              <a:t>then</a:t>
            </a:r>
            <a:r>
              <a:rPr/>
              <a:t> sort by side and length.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A Duplicate-Row Problem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Duplicate-Row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Remember </a:t>
            </a:r>
            <a:r>
              <a:rPr b="1"/>
              <a:t>pseudoreplication</a:t>
            </a:r>
            <a:r>
              <a:rPr/>
              <a:t> from Getting Started — one tree standing in for many? Duplicate rows are the data-entry version of the same mistake: the same measurement counted twice inflates your sample size without adding real information.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needle_check_df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"data/pine_needles_error.csv"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69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n_distinct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64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Something’s wrong:</a:t>
            </a:r>
            <a:r>
              <a:rPr sz="2000"/>
              <a:t> </a:t>
            </a:r>
            <a:r>
              <a:rPr sz="2000">
                <a:latin typeface="Courier"/>
              </a:rPr>
              <a:t>nrow()</a:t>
            </a:r>
            <a:r>
              <a:rPr sz="2000"/>
              <a:t> and </a:t>
            </a:r>
            <a:r>
              <a:rPr sz="2000">
                <a:latin typeface="Courier"/>
              </a:rPr>
              <a:t>n_distinct()</a:t>
            </a:r>
            <a:r>
              <a:rPr sz="2000"/>
              <a:t> don’t match. Some rows are exact repeats.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>
                <a:latin typeface="Courier"/>
              </a:rPr>
              <a:t>n_distinct()</a:t>
            </a:r>
            <a:r>
              <a:rPr sz="2000"/>
              <a:t> — counts how many </a:t>
            </a:r>
            <a:r>
              <a:rPr sz="2000" i="1"/>
              <a:t>unique</a:t>
            </a:r>
            <a:r>
              <a:rPr sz="2000"/>
              <a:t> rows exist</a:t>
            </a:r>
          </a:p>
          <a:p>
            <a:pPr lvl="0"/>
            <a:r>
              <a:rPr sz="2000" b="1">
                <a:latin typeface="Courier"/>
              </a:rPr>
              <a:t>distinct()</a:t>
            </a:r>
            <a:r>
              <a:rPr sz="2000"/>
              <a:t> — returns the data with duplicate rows removed — use it deliberately, not reflexively</a:t>
            </a:r>
          </a:p>
          <a:p>
            <a:pPr lvl="0"/>
            <a:r>
              <a:rPr sz="2000" b="1">
                <a:latin typeface="Courier"/>
              </a:rPr>
              <a:t>unique()</a:t>
            </a:r>
            <a:r>
              <a:rPr sz="2000"/>
              <a:t> — lists the distinct values in a single column; the fastest way to spot misspellings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Finding the duplicates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Which rows are exact duplicates of an earlier row?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needle_check_df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duplicated</a:t>
            </a:r>
            <a:r>
              <a:rPr>
                <a:solidFill>
                  <a:srgbClr val="003B4F"/>
                </a:solidFill>
                <a:latin typeface="Courier"/>
              </a:rPr>
              <a:t>(needle_check_df))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 × 6
  `Source File`    `Team Name` `Replicate #` `Side of Tree` `Needle Length (mm)`
  &lt;chr&gt;            &lt;chr&gt;               &lt;dbl&gt; &lt;chr&gt;          &lt;chr&gt;               
1 heal_thome_pine… botany                  1 shady          16.46               
2 Bartell_Shingle… grace_jace              2 sunny          12.48               
3 Needle_Length_S… waterbugs               5 sunny          11.7                
4 Needle_Length_S… water bugs              2 Shady          7.23                
5 Kehr_and_Baalke… one                     1 sunny          16.18               
# ℹ 1 more variable: `Needle Width (mm)` &lt;chr&gt;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Field habit</a:t>
            </a:r>
          </a:p>
          <a:p>
            <a:pPr lvl="0" indent="0" marL="1270000">
              <a:buNone/>
            </a:pPr>
            <a:r>
              <a:rPr sz="2000"/>
              <a:t>Before you trust any dataset — yours or a collaborator’s — check </a:t>
            </a:r>
            <a:r>
              <a:rPr sz="2000">
                <a:latin typeface="Courier"/>
              </a:rPr>
              <a:t>nrow()</a:t>
            </a:r>
            <a:r>
              <a:rPr sz="2000"/>
              <a:t> against </a:t>
            </a:r>
            <a:r>
              <a:rPr sz="2000">
                <a:latin typeface="Courier"/>
              </a:rPr>
              <a:t>n_distinct()</a:t>
            </a:r>
            <a:r>
              <a:rPr sz="2000"/>
              <a:t>. It takes five seconds and catches a real, common mistake.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Removing duplicates with </a:t>
            </a:r>
            <a:r>
              <a:rPr>
                <a:latin typeface="Courier"/>
              </a:rPr>
              <a:t>distinct()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Keep only one copy of each unique row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needle_clean_df &lt;- needle_check_df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distinct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69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(needle_clean_df)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64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distinct()</a:t>
            </a:r>
            <a:r>
              <a:rPr sz="2000"/>
              <a:t> only catches </a:t>
            </a:r>
            <a:r>
              <a:rPr sz="2000" i="1"/>
              <a:t>exact</a:t>
            </a:r>
            <a:r>
              <a:rPr sz="2000"/>
              <a:t> duplicate rows. A typo’d duplicate (</a:t>
            </a:r>
            <a:r>
              <a:rPr sz="2000">
                <a:latin typeface="Courier"/>
              </a:rPr>
              <a:t>waterbugs</a:t>
            </a:r>
            <a:r>
              <a:rPr sz="2000"/>
              <a:t> vs </a:t>
            </a:r>
            <a:r>
              <a:rPr sz="2000">
                <a:latin typeface="Courier"/>
              </a:rPr>
              <a:t>Waterbugs</a:t>
            </a:r>
            <a:r>
              <a:rPr sz="2000"/>
              <a:t>) slips right through — always eyeball your data too.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3b · The Rest of the Mess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unique()</a:t>
            </a:r>
            <a:r>
              <a:rPr/>
              <a:t> — what else is wrong in here?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Duplicates were only the </a:t>
            </a:r>
            <a:r>
              <a:rPr i="1"/>
              <a:t>first</a:t>
            </a:r>
            <a:r>
              <a:rPr/>
              <a:t> problem in this file. Look at the columns themselves: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(needle_check_df)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"Source File"        "Team Name"          "Replicate #"       
[4] "Side of Tree"       "Needle Length (mm)" "Needle Width (mm)"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unique</a:t>
            </a:r>
            <a:r>
              <a:rPr>
                <a:solidFill>
                  <a:srgbClr val="003B4F"/>
                </a:solidFill>
                <a:latin typeface="Courier"/>
              </a:rPr>
              <a:t>(needle_clean_df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657422"/>
                </a:solidFill>
                <a:latin typeface="Courier"/>
              </a:rPr>
              <a:t>Side of Tree</a:t>
            </a:r>
            <a:r>
              <a:rPr>
                <a:solidFill>
                  <a:srgbClr val="20794D"/>
                </a:solidFill>
                <a:latin typeface="Courier"/>
              </a:rPr>
              <a:t>`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"sunny" "shady" "Shady" "SUNNY" "Sunny" "SHADY"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Two values became six.</a:t>
            </a:r>
            <a:r>
              <a:rPr sz="2000"/>
              <a:t> </a:t>
            </a:r>
            <a:r>
              <a:rPr sz="2000">
                <a:latin typeface="Courier"/>
              </a:rPr>
              <a:t>shady</a:t>
            </a:r>
            <a:r>
              <a:rPr sz="2000"/>
              <a:t>, </a:t>
            </a:r>
            <a:r>
              <a:rPr sz="2000">
                <a:latin typeface="Courier"/>
              </a:rPr>
              <a:t>Shady</a:t>
            </a:r>
            <a:r>
              <a:rPr sz="2000"/>
              <a:t>, </a:t>
            </a:r>
            <a:r>
              <a:rPr sz="2000">
                <a:latin typeface="Courier"/>
              </a:rPr>
              <a:t>SHADY</a:t>
            </a:r>
            <a:r>
              <a:rPr sz="2000"/>
              <a:t> — R treats every one as a separate category. Any </a:t>
            </a:r>
            <a:r>
              <a:rPr sz="2000">
                <a:latin typeface="Courier"/>
              </a:rPr>
              <a:t>group_by()</a:t>
            </a:r>
            <a:r>
              <a:rPr sz="2000"/>
              <a:t> or </a:t>
            </a:r>
            <a:r>
              <a:rPr sz="2000">
                <a:latin typeface="Courier"/>
              </a:rPr>
              <a:t>count()</a:t>
            </a:r>
            <a:r>
              <a:rPr sz="2000"/>
              <a:t> you run right now is wrong.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>
                <a:latin typeface="Courier"/>
              </a:rPr>
              <a:t>clean_names()</a:t>
            </a:r>
            <a:r>
              <a:rPr sz="2000"/>
              <a:t> (janitor) — turns </a:t>
            </a:r>
            <a:r>
              <a:rPr sz="2000">
                <a:latin typeface="Courier"/>
              </a:rPr>
              <a:t>Needle Length (mm)</a:t>
            </a:r>
            <a:r>
              <a:rPr sz="2000"/>
              <a:t> into </a:t>
            </a:r>
            <a:r>
              <a:rPr sz="2000">
                <a:latin typeface="Courier"/>
              </a:rPr>
              <a:t>needle_length_mm</a:t>
            </a:r>
          </a:p>
          <a:p>
            <a:pPr lvl="0"/>
            <a:r>
              <a:rPr sz="2000" b="1">
                <a:latin typeface="Courier"/>
              </a:rPr>
              <a:t>str_to_lower()</a:t>
            </a:r>
            <a:r>
              <a:rPr sz="2000"/>
              <a:t> — force text to lowercase</a:t>
            </a:r>
          </a:p>
          <a:p>
            <a:pPr lvl="0"/>
            <a:r>
              <a:rPr sz="2000" b="1">
                <a:latin typeface="Courier"/>
              </a:rPr>
              <a:t>str_squish()</a:t>
            </a:r>
            <a:r>
              <a:rPr sz="2000"/>
              <a:t> — strip leading/trailing spaces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§14 — Strings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It was almost worse</a:t>
            </a:r>
          </a:p>
          <a:p>
            <a:pPr lvl="0" indent="0" marL="1270000">
              <a:buNone/>
            </a:pPr>
            <a:r>
              <a:rPr sz="2000"/>
              <a:t>This file also has stray spaces (</a:t>
            </a:r>
            <a:r>
              <a:rPr sz="2000">
                <a:latin typeface="Courier"/>
              </a:rPr>
              <a:t>"sunny "</a:t>
            </a:r>
            <a:r>
              <a:rPr sz="2000"/>
              <a:t>, </a:t>
            </a:r>
            <a:r>
              <a:rPr sz="2000">
                <a:latin typeface="Courier"/>
              </a:rPr>
              <a:t>" shady"</a:t>
            </a:r>
            <a:r>
              <a:rPr sz="2000"/>
              <a:t>). You don’t see them because </a:t>
            </a:r>
            <a:r>
              <a:rPr sz="2000" b="1">
                <a:latin typeface="Courier"/>
              </a:rPr>
              <a:t>read_csv()</a:t>
            </a:r>
            <a:r>
              <a:rPr sz="2000" b="1"/>
              <a:t> trims whitespace for you by default.</a:t>
            </a:r>
            <a:r>
              <a:rPr sz="2000"/>
              <a:t> Prove it to yourself: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"data/pine_needles_error.csv"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trim_ws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Now there are </a:t>
            </a:r>
            <a:r>
              <a:rPr sz="2000" b="1"/>
              <a:t>ten</a:t>
            </a:r>
            <a:r>
              <a:rPr sz="2000"/>
              <a:t> values, not six. Not every import tool is that kind — which is why we still run </a:t>
            </a:r>
            <a:r>
              <a:rPr sz="2000">
                <a:latin typeface="Courier"/>
              </a:rPr>
              <a:t>str_squish()</a:t>
            </a:r>
            <a:r>
              <a:rPr sz="2000"/>
              <a:t> below.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Fixing names and text in one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needle_fixed_df &lt;- needle_check_df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5E5E5E"/>
                </a:solidFill>
                <a:latin typeface="Courier"/>
              </a:rPr>
              <a:t># Needle Length (mm) -&gt; needle_length_mm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distinct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drop the repeated rows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str_squish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str_to_lower</a:t>
            </a:r>
            <a:r>
              <a:rPr>
                <a:solidFill>
                  <a:srgbClr val="003B4F"/>
                </a:solidFill>
                <a:latin typeface="Courier"/>
              </a:rPr>
              <a:t>(side_of_tree)),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team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str_squish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str_to_lower</a:t>
            </a:r>
            <a:r>
              <a:rPr>
                <a:solidFill>
                  <a:srgbClr val="003B4F"/>
                </a:solidFill>
                <a:latin typeface="Courier"/>
              </a:rPr>
              <a:t>(team_name))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unique</a:t>
            </a:r>
            <a:r>
              <a:rPr>
                <a:solidFill>
                  <a:srgbClr val="003B4F"/>
                </a:solidFill>
                <a:latin typeface="Courier"/>
              </a:rPr>
              <a:t>(needle_fixed_df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"sunny" "shady"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unique</a:t>
            </a:r>
            <a:r>
              <a:rPr>
                <a:solidFill>
                  <a:srgbClr val="003B4F"/>
                </a:solidFill>
                <a:latin typeface="Courier"/>
              </a:rPr>
              <a:t>(needle_fixed_df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team)</a:t>
            </a:r>
          </a:p>
          <a:p>
            <a:pPr lvl="0" indent="0">
              <a:buNone/>
            </a:pPr>
            <a:r>
              <a:rPr>
                <a:latin typeface="Courier"/>
              </a:rPr>
              <a:t>[1] "grace_jace" "botany"     "water bugs" "waterbugs"  "one"       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str_to_lower()</a:t>
            </a:r>
            <a:r>
              <a:rPr sz="2000"/>
              <a:t> collapsed </a:t>
            </a:r>
            <a:r>
              <a:rPr sz="2000">
                <a:latin typeface="Courier"/>
              </a:rPr>
              <a:t>Waterbugs</a:t>
            </a:r>
            <a:r>
              <a:rPr sz="2000"/>
              <a:t> into </a:t>
            </a:r>
            <a:r>
              <a:rPr sz="2000">
                <a:latin typeface="Courier"/>
              </a:rPr>
              <a:t>waterbugs</a:t>
            </a:r>
            <a:r>
              <a:rPr sz="2000"/>
              <a:t> — but </a:t>
            </a:r>
            <a:r>
              <a:rPr sz="2000" b="1">
                <a:latin typeface="Courier"/>
              </a:rPr>
              <a:t>water bugs</a:t>
            </a:r>
            <a:r>
              <a:rPr sz="2000" b="1"/>
              <a:t> is still its own value</a:t>
            </a:r>
            <a:r>
              <a:rPr sz="2000"/>
              <a:t>. Lowercasing fixes case, not spelling. That last one needs </a:t>
            </a:r>
            <a:r>
              <a:rPr sz="2000">
                <a:latin typeface="Courier"/>
              </a:rPr>
              <a:t>case_when()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Field habit</a:t>
            </a:r>
          </a:p>
          <a:p>
            <a:pPr lvl="0" indent="0" marL="1270000">
              <a:buNone/>
            </a:pPr>
            <a:r>
              <a:rPr sz="2000"/>
              <a:t>Run </a:t>
            </a:r>
            <a:r>
              <a:rPr sz="2000">
                <a:latin typeface="Courier"/>
              </a:rPr>
              <a:t>unique()</a:t>
            </a:r>
            <a:r>
              <a:rPr sz="2000"/>
              <a:t> on </a:t>
            </a:r>
            <a:r>
              <a:rPr sz="2000" i="1"/>
              <a:t>every</a:t>
            </a:r>
            <a:r>
              <a:rPr sz="2000"/>
              <a:t> text column the first time you open a dataset. It takes seconds and it is how you find the problems that silently split your groups.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Numbers that aren’t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(needle_fixed_df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"character"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(needle_fixed_df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needle_width_mm)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"character"</a:t>
            </a:r>
          </a:p>
          <a:p>
            <a:pPr lvl="0" indent="0" marL="0">
              <a:buNone/>
            </a:pPr>
            <a:r>
              <a:rPr b="1"/>
              <a:t>Both</a:t>
            </a:r>
            <a:r>
              <a:rPr/>
              <a:t> imported as text, not numbers — somebody typed </a:t>
            </a:r>
            <a:r>
              <a:rPr>
                <a:latin typeface="Courier"/>
              </a:rPr>
              <a:t>17.73 mm</a:t>
            </a:r>
            <a:r>
              <a:rPr/>
              <a:t> in a cell, somebody used a comma decimal (</a:t>
            </a:r>
            <a:r>
              <a:rPr>
                <a:latin typeface="Courier"/>
              </a:rPr>
              <a:t>13,98</a:t>
            </a:r>
            <a:r>
              <a:rPr/>
              <a:t>), and the missing values were written four different ways.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needle_final_df &lt;- needle_fixed_df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team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case_when</a:t>
            </a:r>
            <a:r>
              <a:rPr>
                <a:solidFill>
                  <a:srgbClr val="003B4F"/>
                </a:solidFill>
                <a:latin typeface="Courier"/>
              </a:rPr>
              <a:t>(team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"water bugs"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"waterbugs"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team),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needle_length_mm =</a:t>
            </a:r>
            <a:r>
              <a:rPr>
                <a:solidFill>
                  <a:srgbClr val="003B4F"/>
                </a:solidFill>
                <a:latin typeface="Courier"/>
              </a:rPr>
              <a:t> needle_length_mm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str_remove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mm"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drop the typed unit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str_replace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5E5E5E"/>
                </a:solidFill>
                <a:latin typeface="Courier"/>
              </a:rPr>
              <a:t># comma decimal -&gt; point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na_if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na_if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5E5E5E"/>
                </a:solidFill>
                <a:latin typeface="Courier"/>
              </a:rPr>
              <a:t># blank and literal "NA"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needle_width_mm =</a:t>
            </a:r>
            <a:r>
              <a:rPr>
                <a:solidFill>
                  <a:srgbClr val="003B4F"/>
                </a:solidFill>
                <a:latin typeface="Courier"/>
              </a:rPr>
              <a:t> needle_width_mm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na_if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na_if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na_if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three more ways to write "missing"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needle_length_mm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(needle_length_mm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999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          </a:t>
            </a:r>
            <a:r>
              <a:rPr>
                <a:solidFill>
                  <a:srgbClr val="8F5902"/>
                </a:solidFill>
                <a:latin typeface="Courier"/>
              </a:rPr>
              <a:t>NA_real_</a:t>
            </a:r>
            <a:r>
              <a:rPr>
                <a:solidFill>
                  <a:srgbClr val="003B4F"/>
                </a:solidFill>
                <a:latin typeface="Courier"/>
              </a:rPr>
              <a:t>, needle_length_mm)   </a:t>
            </a:r>
            <a:r>
              <a:rPr>
                <a:solidFill>
                  <a:srgbClr val="5E5E5E"/>
                </a:solidFill>
                <a:latin typeface="Courier"/>
              </a:rPr>
              <a:t># sentinel 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class</a:t>
            </a:r>
            <a:r>
              <a:rPr>
                <a:solidFill>
                  <a:srgbClr val="003B4F"/>
                </a:solidFill>
                <a:latin typeface="Courier"/>
              </a:rPr>
              <a:t>(needle_final_df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needle_length_mm)</a:t>
            </a:r>
          </a:p>
          <a:p>
            <a:pPr lvl="0" indent="0">
              <a:buNone/>
            </a:pPr>
            <a:r>
              <a:rPr>
                <a:latin typeface="Courier"/>
              </a:rPr>
              <a:t>[1] "numeric"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(needle_final_df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needle_length_mm))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(needle_final_df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needle_width_mm))</a:t>
            </a:r>
          </a:p>
          <a:p>
            <a:pPr lvl="0" indent="0">
              <a:buNone/>
            </a:pPr>
            <a:r>
              <a:rPr>
                <a:latin typeface="Courier"/>
              </a:rPr>
              <a:t>[1]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The trap:</a:t>
            </a:r>
            <a:r>
              <a:rPr sz="2000"/>
              <a:t> </a:t>
            </a:r>
            <a:r>
              <a:rPr sz="2000">
                <a:latin typeface="Courier"/>
              </a:rPr>
              <a:t>parse_number("13,98")</a:t>
            </a:r>
            <a:r>
              <a:rPr sz="2000"/>
              <a:t> returns </a:t>
            </a:r>
            <a:r>
              <a:rPr sz="2000" b="1"/>
              <a:t>1398</a:t>
            </a:r>
            <a:r>
              <a:rPr sz="2000"/>
              <a:t> — it reads the comma as a thousands separator and never warns you.</a:t>
            </a:r>
          </a:p>
          <a:p>
            <a:pPr lvl="0" indent="0" marL="1270000">
              <a:buNone/>
            </a:pPr>
            <a:r>
              <a:rPr sz="2000"/>
              <a:t>A 1398 mm pine needle is obvious </a:t>
            </a:r>
            <a:r>
              <a:rPr sz="2000" i="1"/>
              <a:t>if you look</a:t>
            </a:r>
            <a:r>
              <a:rPr sz="2000"/>
              <a:t>. </a:t>
            </a:r>
            <a:r>
              <a:rPr sz="2000" b="1"/>
              <a:t>Always summarize or plot a column right after you clean it.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words</a:t>
            </a:r>
          </a:p>
          <a:p>
            <a:pPr lvl="0"/>
            <a:r>
              <a:rPr sz="2000" b="1">
                <a:latin typeface="Courier"/>
              </a:rPr>
              <a:t>na_if(x, "")</a:t>
            </a:r>
            <a:r>
              <a:rPr sz="2000"/>
              <a:t> — turn a specific value into </a:t>
            </a:r>
            <a:r>
              <a:rPr sz="2000">
                <a:latin typeface="Courier"/>
              </a:rPr>
              <a:t>NA</a:t>
            </a:r>
          </a:p>
          <a:p>
            <a:pPr lvl="0"/>
            <a:r>
              <a:rPr sz="2000" b="1">
                <a:latin typeface="Courier"/>
              </a:rPr>
              <a:t>-999</a:t>
            </a:r>
            <a:r>
              <a:rPr sz="2000"/>
              <a:t> — a “sentinel” code some field sheets use for missing. R has no idea it means missing until you tell it.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§13 — Numbers</a:t>
            </a:r>
            <a:br/>
            <a:r>
              <a:rPr sz="2000">
                <a:hlinkClick r:id="rId3"/>
              </a:rPr>
              <a:t>📖 R4DS §18 — Missing values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Saving Your Work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one-way street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Everything we did today runs in </a:t>
            </a:r>
            <a:r>
              <a:rPr b="1"/>
              <a:t>one direction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data/     ← raw, read-only, never written to
   │  read_csv()
   ▼
scripts/  ← the cleaning code you just wrote
   │  write_csv()
   ▼
output/   ← everything R produces</a:t>
            </a:r>
          </a:p>
          <a:p>
            <a:pPr lvl="0" indent="0" marL="0">
              <a:buNone/>
            </a:pPr>
            <a:r>
              <a:rPr/>
              <a:t>The raw file is </a:t>
            </a:r>
            <a:r>
              <a:rPr b="1"/>
              <a:t>evidence</a:t>
            </a:r>
            <a:r>
              <a:rPr/>
              <a:t>. The script is the </a:t>
            </a:r>
            <a:r>
              <a:rPr b="1"/>
              <a:t>method</a:t>
            </a:r>
            <a:r>
              <a:rPr/>
              <a:t>. The output is a </a:t>
            </a:r>
            <a:r>
              <a:rPr b="1"/>
              <a:t>result you can always rebuild</a:t>
            </a:r>
            <a:r>
              <a:rPr/>
              <a:t> by re-running the method on the evidence.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Never write into </a:t>
            </a:r>
            <a:r>
              <a:rPr sz="2000" b="1">
                <a:latin typeface="Courier"/>
              </a:rPr>
              <a:t>data/</a:t>
            </a:r>
            <a:r>
              <a:rPr sz="2000" b="1"/>
              <a:t>.</a:t>
            </a:r>
            <a:r>
              <a:rPr sz="2000"/>
              <a:t> If a script can overwrite the raw file, then one bad run destroys the only copy of what you actually measured — and no one can check your work.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If you can’t reproduce a result from </a:t>
            </a:r>
            <a:r>
              <a:rPr sz="2000" b="1"/>
              <a:t>raw data + script</a:t>
            </a:r>
            <a:r>
              <a:rPr sz="2000"/>
              <a:t>, the problem is in the script — never in the raw file. Keeping </a:t>
            </a:r>
            <a:r>
              <a:rPr sz="2000">
                <a:latin typeface="Courier"/>
              </a:rPr>
              <a:t>data/</a:t>
            </a:r>
            <a:r>
              <a:rPr sz="2000"/>
              <a:t> read-only is what makes that guarantee possible.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Tidy up before you save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needle_final_df</a:t>
            </a:r>
            <a:r>
              <a:rPr/>
              <a:t> still carries the wreckage of cleaning — the original messy columns </a:t>
            </a:r>
            <a:r>
              <a:rPr i="1"/>
              <a:t>and</a:t>
            </a:r>
            <a:r>
              <a:rPr/>
              <a:t> our fixed ones: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(needle_final_df)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"source_file"      "team_name"        "replicate_number" "side_of_tree"    
[5] "needle_length_mm" "needle_width_mm"  "side"             "team"            </a:t>
            </a:r>
          </a:p>
          <a:p>
            <a:pPr lvl="0" indent="0" marL="0">
              <a:buNone/>
            </a:pPr>
            <a:r>
              <a:rPr/>
              <a:t>Nobody downstream needs </a:t>
            </a:r>
            <a:r>
              <a:rPr>
                <a:latin typeface="Courier"/>
              </a:rPr>
              <a:t>team_name</a:t>
            </a:r>
            <a:r>
              <a:rPr/>
              <a:t> </a:t>
            </a:r>
            <a:r>
              <a:rPr b="1"/>
              <a:t>and</a:t>
            </a:r>
            <a:r>
              <a:rPr/>
              <a:t> </a:t>
            </a:r>
            <a:r>
              <a:rPr>
                <a:latin typeface="Courier"/>
              </a:rPr>
              <a:t>team</a:t>
            </a:r>
            <a:r>
              <a:rPr/>
              <a:t>. Keep the columns you mean to keep, in the order you want them: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needle_out_df &lt;- needle_final_df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(team, side, </a:t>
            </a:r>
            <a:r>
              <a:rPr>
                <a:solidFill>
                  <a:srgbClr val="657422"/>
                </a:solidFill>
                <a:latin typeface="Courier"/>
              </a:rPr>
              <a:t>replicate =</a:t>
            </a:r>
            <a:r>
              <a:rPr>
                <a:solidFill>
                  <a:srgbClr val="003B4F"/>
                </a:solidFill>
                <a:latin typeface="Courier"/>
              </a:rPr>
              <a:t> replicate_number,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needle_length_mm, needle_width_mm)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(team, side, replicate)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(needle_out_df)</a:t>
            </a:r>
          </a:p>
          <a:p>
            <a:pPr lvl="0" indent="0">
              <a:buNone/>
            </a:pPr>
            <a:r>
              <a:rPr>
                <a:latin typeface="Courier"/>
              </a:rPr>
              <a:t>Rows: 64
Columns: 5
$ team             &lt;chr&gt; "botany", "botany", "botany", "botany", "botany", "bo…
$ side             &lt;chr&gt; "shady", "shady", "shady", "shady", "shady", "shady",…
$ replicate        &lt;dbl&gt; 1, 2, 3, 4, 5, 6, 7, 8, 1, 2, 3, 4, 5, 6, 7, 8, 1, 2,…
$ needle_length_mm &lt;dbl&gt; 16.46, 20.71, 17.59, 15.11, 17.62, 15.34, 14.79, 11.5…
$ needle_width_mm  &lt;dbl&gt; 0.65, 0.77, 0.94, 0.72, 0.79, 0.90, 1.03, 0.66, 0.98,…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Field habit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select()</a:t>
            </a:r>
            <a:r>
              <a:rPr sz="2000"/>
              <a:t> right before </a:t>
            </a:r>
            <a:r>
              <a:rPr sz="2000">
                <a:latin typeface="Courier"/>
              </a:rPr>
              <a:t>write_csv()</a:t>
            </a:r>
            <a:r>
              <a:rPr sz="2000"/>
              <a:t> is the last checkpoint. A saved file with </a:t>
            </a:r>
            <a:r>
              <a:rPr sz="2000">
                <a:latin typeface="Courier"/>
              </a:rPr>
              <a:t>side</a:t>
            </a:r>
            <a:r>
              <a:rPr sz="2000"/>
              <a:t> </a:t>
            </a:r>
            <a:r>
              <a:rPr sz="2000" i="1"/>
              <a:t>and</a:t>
            </a:r>
            <a:r>
              <a:rPr sz="2000"/>
              <a:t> </a:t>
            </a:r>
            <a:r>
              <a:rPr sz="2000">
                <a:latin typeface="Courier"/>
              </a:rPr>
              <a:t>side_of_tree</a:t>
            </a:r>
            <a:r>
              <a:rPr sz="2000"/>
              <a:t> in it will confuse someone in three months — and that someone is usually you.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select(new_name = old_name)</a:t>
            </a:r>
            <a:r>
              <a:rPr sz="2000"/>
              <a:t> renames while it selects — handy for dropping janitor’s </a:t>
            </a:r>
            <a:r>
              <a:rPr sz="2000">
                <a:latin typeface="Courier"/>
              </a:rPr>
              <a:t>replicate_number</a:t>
            </a:r>
            <a:r>
              <a:rPr sz="2000"/>
              <a:t> back to </a:t>
            </a:r>
            <a:r>
              <a:rPr sz="2000">
                <a:latin typeface="Courier"/>
              </a:rPr>
              <a:t>replicate</a:t>
            </a:r>
            <a:r>
              <a:rPr sz="2000"/>
              <a:t>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write_csv()</a:t>
            </a:r>
            <a:r>
              <a:rPr/>
              <a:t> — the mirror image of </a:t>
            </a:r>
            <a:r>
              <a:rPr>
                <a:latin typeface="Courier"/>
              </a:rPr>
              <a:t>read_csv()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write_csv</a:t>
            </a:r>
            <a:r>
              <a:rPr>
                <a:solidFill>
                  <a:srgbClr val="003B4F"/>
                </a:solidFill>
                <a:latin typeface="Courier"/>
              </a:rPr>
              <a:t>(needle_out_df, </a:t>
            </a:r>
            <a:r>
              <a:rPr>
                <a:solidFill>
                  <a:srgbClr val="20794D"/>
                </a:solidFill>
                <a:latin typeface="Courier"/>
              </a:rPr>
              <a:t>"output/pine_needles_cleaned.csv"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Read from </a:t>
            </a:r>
            <a:r>
              <a:rPr>
                <a:latin typeface="Courier"/>
              </a:rPr>
              <a:t>data/</a:t>
            </a:r>
            <a:r>
              <a:rPr/>
              <a:t>, write to </a:t>
            </a:r>
            <a:r>
              <a:rPr>
                <a:latin typeface="Courier"/>
              </a:rPr>
              <a:t>output/</a:t>
            </a:r>
            <a:r>
              <a:rPr/>
              <a:t>. Same shape of call, opposite direction: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Writing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read_csv("data/…")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write_csv(df, "output/…")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 → data frame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frame → file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write_csv()</a:t>
            </a:r>
            <a:r>
              <a:rPr sz="2000"/>
              <a:t> </a:t>
            </a:r>
            <a:r>
              <a:rPr sz="2000" b="1"/>
              <a:t>overwrites without asking</a:t>
            </a:r>
            <a:r>
              <a:rPr sz="2000"/>
              <a:t> — no warning, no undo. That is exactly why the target is </a:t>
            </a:r>
            <a:r>
              <a:rPr sz="2000">
                <a:latin typeface="Courier"/>
              </a:rPr>
              <a:t>output/</a:t>
            </a:r>
            <a:r>
              <a:rPr sz="2000"/>
              <a:t> and never </a:t>
            </a:r>
            <a:r>
              <a:rPr sz="2000">
                <a:latin typeface="Courier"/>
              </a:rPr>
              <a:t>data/</a:t>
            </a:r>
            <a:r>
              <a:rPr sz="2000"/>
              <a:t>: re-running your script should be free, and it is only free if the thing it clobbers is something the script can rebuild.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Note the argument order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write_csv(df, path)</a:t>
            </a:r>
            <a:r>
              <a:rPr sz="2000"/>
              <a:t> — </a:t>
            </a:r>
            <a:r>
              <a:rPr sz="2000" b="1"/>
              <a:t>data frame first</a:t>
            </a:r>
            <a:r>
              <a:rPr sz="2000"/>
              <a:t>, then where to put it. </a:t>
            </a:r>
            <a:r>
              <a:rPr sz="2000">
                <a:latin typeface="Courier"/>
              </a:rPr>
              <a:t>read_csv(path)</a:t>
            </a:r>
            <a:r>
              <a:rPr sz="2000"/>
              <a:t> takes only the path. Getting these backwards is one of the most common errors of the term.</a:t>
            </a:r>
          </a:p>
          <a:p>
            <a:pPr lvl="0" indent="0" marL="1270000">
              <a:buNone/>
            </a:pPr>
            <a:r>
              <a:rPr sz="2000">
                <a:hlinkClick r:id="rId2"/>
              </a:rPr>
              <a:t>📖 R4DS §7.5 — Writing to a file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Naming your saved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Name the file for </a:t>
            </a:r>
            <a:r>
              <a:rPr b="1"/>
              <a:t>what happened to it</a:t>
            </a:r>
            <a:r>
              <a:rPr/>
              <a:t>: </a:t>
            </a:r>
            <a:r>
              <a:rPr>
                <a:latin typeface="Courier"/>
              </a:rPr>
              <a:t>pine_needles_cleaned.csv</a:t>
            </a:r>
            <a:r>
              <a:rPr/>
              <a:t>, not </a:t>
            </a:r>
            <a:r>
              <a:rPr>
                <a:latin typeface="Courier"/>
              </a:rPr>
              <a:t>pine2.csv</a:t>
            </a:r>
            <a:r>
              <a:rPr/>
              <a:t> or </a:t>
            </a:r>
            <a:r>
              <a:rPr>
                <a:latin typeface="Courier"/>
              </a:rPr>
              <a:t>final.csv</a:t>
            </a:r>
          </a:p>
          <a:p>
            <a:pPr lvl="0"/>
            <a:r>
              <a:rPr/>
              <a:t>If a script produces several stages, number them: </a:t>
            </a:r>
            <a:r>
              <a:rPr>
                <a:latin typeface="Courier"/>
              </a:rPr>
              <a:t>01_cleaned.csv</a:t>
            </a:r>
            <a:r>
              <a:rPr/>
              <a:t>, </a:t>
            </a:r>
            <a:r>
              <a:rPr>
                <a:latin typeface="Courier"/>
              </a:rPr>
              <a:t>02_summarised.csv</a:t>
            </a:r>
          </a:p>
          <a:p>
            <a:pPr lvl="0"/>
            <a:r>
              <a:rPr/>
              <a:t>Anyone re-running your script from scratch should get a </a:t>
            </a:r>
            <a:r>
              <a:rPr b="1"/>
              <a:t>byte-identical</a:t>
            </a:r>
            <a:r>
              <a:rPr/>
              <a:t> output file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final.csv</a:t>
            </a:r>
            <a:r>
              <a:rPr sz="2000"/>
              <a:t>, </a:t>
            </a:r>
            <a:r>
              <a:rPr sz="2000">
                <a:latin typeface="Courier"/>
              </a:rPr>
              <a:t>final_v2.csv</a:t>
            </a:r>
            <a:r>
              <a:rPr sz="2000"/>
              <a:t>, </a:t>
            </a:r>
            <a:r>
              <a:rPr sz="2000">
                <a:latin typeface="Courier"/>
              </a:rPr>
              <a:t>final_FINAL.csv</a:t>
            </a:r>
            <a:r>
              <a:rPr sz="2000"/>
              <a:t> — version control by filename. This is exactly the mess a project folder with clear names and a re-runnable script is meant to prevent.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Delete your </a:t>
            </a:r>
            <a:r>
              <a:rPr sz="2000">
                <a:latin typeface="Courier"/>
              </a:rPr>
              <a:t>output/</a:t>
            </a:r>
            <a:r>
              <a:rPr sz="2000"/>
              <a:t> folder entirely, then re-run your script top to bottom.</a:t>
            </a:r>
          </a:p>
          <a:p>
            <a:pPr lvl="0" indent="0" marL="1270000">
              <a:buNone/>
            </a:pPr>
            <a:r>
              <a:rPr sz="2000"/>
              <a:t>Everything should come back. </a:t>
            </a:r>
            <a:r>
              <a:rPr sz="2000" b="1"/>
              <a:t>If it doesn’t, something important only exists in your console history — and that is a bug in your script.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Imported the same data from a </a:t>
            </a:r>
            <a:r>
              <a:rPr>
                <a:latin typeface="Courier"/>
              </a:rPr>
              <a:t>.csv</a:t>
            </a:r>
            <a:r>
              <a:rPr/>
              <a:t> </a:t>
            </a:r>
            <a:r>
              <a:rPr b="1"/>
              <a:t>and</a:t>
            </a:r>
            <a:r>
              <a:rPr/>
              <a:t> an </a:t>
            </a:r>
            <a:r>
              <a:rPr>
                <a:latin typeface="Courier"/>
              </a:rPr>
              <a:t>.xlsx</a:t>
            </a:r>
          </a:p>
          <a:p>
            <a:pPr lvl="0"/>
            <a:r>
              <a:rPr/>
              <a:t>Used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and </a:t>
            </a:r>
            <a:r>
              <a:rPr>
                <a:latin typeface="Courier"/>
              </a:rPr>
              <a:t>arrange()</a:t>
            </a:r>
            <a:r>
              <a:rPr/>
              <a:t> — and chained them into a pipeline</a:t>
            </a:r>
          </a:p>
          <a:p>
            <a:pPr lvl="0"/>
            <a:r>
              <a:rPr/>
              <a:t>Filtered with the full boolean toolkit: </a:t>
            </a:r>
            <a:r>
              <a:rPr>
                <a:latin typeface="Courier"/>
              </a:rPr>
              <a:t>==</a:t>
            </a:r>
            <a:r>
              <a:rPr/>
              <a:t>, </a:t>
            </a:r>
            <a:r>
              <a:rPr>
                <a:latin typeface="Courier"/>
              </a:rPr>
              <a:t>!=</a:t>
            </a:r>
            <a:r>
              <a:rPr/>
              <a:t>, </a:t>
            </a:r>
            <a:r>
              <a:rPr>
                <a:latin typeface="Courier"/>
              </a:rPr>
              <a:t>&gt;</a:t>
            </a:r>
            <a:r>
              <a:rPr/>
              <a:t>/</a:t>
            </a:r>
            <a:r>
              <a:rPr>
                <a:latin typeface="Courier"/>
              </a:rPr>
              <a:t>&lt;</a:t>
            </a:r>
            <a:r>
              <a:rPr/>
              <a:t>, </a:t>
            </a:r>
            <a:r>
              <a:rPr>
                <a:latin typeface="Courier"/>
              </a:rPr>
              <a:t>%in%</a:t>
            </a:r>
            <a:r>
              <a:rPr/>
              <a:t>, </a:t>
            </a:r>
            <a:r>
              <a:rPr>
                <a:latin typeface="Courier"/>
              </a:rPr>
              <a:t>is.na()</a:t>
            </a:r>
            <a:r>
              <a:rPr/>
              <a:t>, AND (</a:t>
            </a:r>
            <a:r>
              <a:rPr>
                <a:latin typeface="Courier"/>
              </a:rPr>
              <a:t>,</a:t>
            </a:r>
            <a:r>
              <a:rPr/>
              <a:t>) vs. OR (</a:t>
            </a:r>
            <a:r>
              <a:rPr>
                <a:latin typeface="Courier"/>
              </a:rPr>
              <a:t>|</a:t>
            </a:r>
            <a:r>
              <a:rPr/>
              <a:t>)</a:t>
            </a:r>
          </a:p>
          <a:p>
            <a:pPr lvl="0"/>
            <a:r>
              <a:rPr/>
              <a:t>Recoded and binned columns with </a:t>
            </a:r>
            <a:r>
              <a:rPr>
                <a:latin typeface="Courier"/>
              </a:rPr>
              <a:t>case_when()</a:t>
            </a:r>
            <a:r>
              <a:rPr/>
              <a:t> — always ending in a </a:t>
            </a:r>
            <a:r>
              <a:rPr>
                <a:latin typeface="Courier"/>
              </a:rPr>
              <a:t>TRUE ~</a:t>
            </a:r>
            <a:r>
              <a:rPr/>
              <a:t> catch-all</a:t>
            </a:r>
          </a:p>
          <a:p>
            <a:pPr lvl="0"/>
            <a:r>
              <a:rPr/>
              <a:t>Converted units and log-transformed a column with </a:t>
            </a:r>
            <a:r>
              <a:rPr>
                <a:latin typeface="Courier"/>
              </a:rPr>
              <a:t>mutate()</a:t>
            </a:r>
          </a:p>
          <a:p>
            <a:pPr lvl="0"/>
            <a:r>
              <a:rPr/>
              <a:t>Caught and removed duplicate rows with </a:t>
            </a:r>
            <a:r>
              <a:rPr>
                <a:latin typeface="Courier"/>
              </a:rPr>
              <a:t>distinct()</a:t>
            </a:r>
          </a:p>
          <a:p>
            <a:pPr lvl="0"/>
            <a:r>
              <a:rPr/>
              <a:t>Cleaned messy headers with </a:t>
            </a:r>
            <a:r>
              <a:rPr>
                <a:latin typeface="Courier"/>
              </a:rPr>
              <a:t>clean_names()</a:t>
            </a:r>
            <a:r>
              <a:rPr/>
              <a:t>, messy text with </a:t>
            </a:r>
            <a:r>
              <a:rPr>
                <a:latin typeface="Courier"/>
              </a:rPr>
              <a:t>str_to_lower()</a:t>
            </a:r>
            <a:r>
              <a:rPr/>
              <a:t>, and numbers-stored-as-text with </a:t>
            </a:r>
            <a:r>
              <a:rPr>
                <a:latin typeface="Courier"/>
              </a:rPr>
              <a:t>as.numeric()</a:t>
            </a:r>
          </a:p>
          <a:p>
            <a:pPr lvl="0"/>
            <a:r>
              <a:rPr/>
              <a:t>Trimmed to the columns worth keeping and wrote the result to </a:t>
            </a:r>
            <a:r>
              <a:rPr>
                <a:latin typeface="Courier"/>
              </a:rPr>
              <a:t>output/</a:t>
            </a:r>
            <a:r>
              <a:rPr/>
              <a:t> — leaving </a:t>
            </a:r>
            <a:r>
              <a:rPr>
                <a:latin typeface="Courier"/>
              </a:rPr>
              <a:t>data/</a:t>
            </a:r>
            <a:r>
              <a:rPr/>
              <a:t> untouched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Finish the worksheet: take </a:t>
            </a:r>
            <a:r>
              <a:rPr sz="2000">
                <a:latin typeface="Courier"/>
              </a:rPr>
              <a:t>pine_needles_error.csv</a:t>
            </a:r>
            <a:r>
              <a:rPr sz="2000"/>
              <a:t> from </a:t>
            </a:r>
            <a:r>
              <a:rPr sz="2000">
                <a:latin typeface="Courier"/>
              </a:rPr>
              <a:t>data/</a:t>
            </a:r>
            <a:r>
              <a:rPr sz="2000"/>
              <a:t>, clean it end to end, </a:t>
            </a:r>
            <a:r>
              <a:rPr sz="2000">
                <a:latin typeface="Courier"/>
              </a:rPr>
              <a:t>select()</a:t>
            </a:r>
            <a:r>
              <a:rPr sz="2000"/>
              <a:t> the columns worth keeping, and write the result to </a:t>
            </a:r>
            <a:r>
              <a:rPr sz="2000">
                <a:latin typeface="Courier"/>
              </a:rPr>
              <a:t>output/</a:t>
            </a:r>
            <a:r>
              <a:rPr sz="2000"/>
              <a:t>. Then delete </a:t>
            </a:r>
            <a:r>
              <a:rPr sz="2000">
                <a:latin typeface="Courier"/>
              </a:rPr>
              <a:t>output/</a:t>
            </a:r>
            <a:r>
              <a:rPr sz="2000"/>
              <a:t>, re-run your script, and check that it all comes back.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Up next — Describing Your Data</a:t>
            </a:r>
          </a:p>
          <a:p>
            <a:pPr lvl="0"/>
            <a:r>
              <a:rPr sz="2000"/>
              <a:t>Mean, median, variance, SD, SE</a:t>
            </a:r>
          </a:p>
          <a:p>
            <a:pPr lvl="0"/>
            <a:r>
              <a:rPr sz="2000"/>
              <a:t>The </a:t>
            </a:r>
            <a:r>
              <a:rPr sz="2000">
                <a:latin typeface="Courier"/>
              </a:rPr>
              <a:t>length()</a:t>
            </a:r>
            <a:r>
              <a:rPr sz="2000"/>
              <a:t> trap and the </a:t>
            </a:r>
            <a:r>
              <a:rPr sz="2000">
                <a:latin typeface="Courier"/>
              </a:rPr>
              <a:t>sum(!is.na())</a:t>
            </a:r>
            <a:r>
              <a:rPr sz="2000"/>
              <a:t> fix</a:t>
            </a:r>
          </a:p>
          <a:p>
            <a:pPr lvl="0"/>
            <a:r>
              <a:rPr sz="2000">
                <a:latin typeface="Courier"/>
              </a:rPr>
              <a:t>group_by()</a:t>
            </a:r>
            <a:r>
              <a:rPr sz="2000"/>
              <a:t> + </a:t>
            </a:r>
            <a:r>
              <a:rPr sz="2000">
                <a:latin typeface="Courier"/>
              </a:rPr>
              <a:t>summarize()</a:t>
            </a:r>
            <a:r>
              <a:rPr sz="2000"/>
              <a:t> for tidy group comparisons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Before next class</a:t>
            </a:r>
            <a:r>
              <a:rPr/>
              <a:t> — chapter PDFs are posted on </a:t>
            </a:r>
            <a:r>
              <a:rPr b="1"/>
              <a:t>Canvas</a:t>
            </a:r>
            <a:r>
              <a:rPr/>
              <a:t>:</a:t>
            </a:r>
          </a:p>
          <a:p>
            <a:pPr lvl="0"/>
            <a:r>
              <a:rPr b="1"/>
              <a:t>Gotelli &amp; Ellison</a:t>
            </a:r>
            <a:r>
              <a:rPr/>
              <a:t>, </a:t>
            </a:r>
            <a:r>
              <a:rPr i="1"/>
              <a:t>A Primer of Ecological Statistics</a:t>
            </a:r>
            <a:r>
              <a:rPr/>
              <a:t> — </a:t>
            </a:r>
            <a:r>
              <a:rPr b="1"/>
              <a:t>Ch. 8</a:t>
            </a:r>
            <a:r>
              <a:rPr/>
              <a:t>, Managing and Curating Data (raw vs. processed data, the audit trail from field sheet to analysis)</a:t>
            </a:r>
          </a:p>
          <a:p>
            <a:pPr lvl="0"/>
            <a:r>
              <a:rPr b="1"/>
              <a:t>Whitlock &amp; Schluter</a:t>
            </a:r>
            <a:r>
              <a:rPr/>
              <a:t>, </a:t>
            </a:r>
            <a:r>
              <a:rPr i="1"/>
              <a:t>The Analysis of Biological Data</a:t>
            </a:r>
            <a:r>
              <a:rPr/>
              <a:t> — </a:t>
            </a:r>
            <a:r>
              <a:rPr b="1"/>
              <a:t>Ch. 1</a:t>
            </a:r>
            <a:r>
              <a:rPr/>
              <a:t>, Statistics and Samples, §1.4 on types of variables — the categorical/numerical distinction behind </a:t>
            </a:r>
            <a:r>
              <a:rPr>
                <a:latin typeface="Courier"/>
              </a:rPr>
              <a:t>case_when()</a:t>
            </a:r>
            <a:r>
              <a:rPr/>
              <a:t> and every </a:t>
            </a:r>
            <a:r>
              <a:rPr>
                <a:latin typeface="Courier"/>
              </a:rPr>
              <a:t>group_by()</a:t>
            </a:r>
            <a:r>
              <a:rPr/>
              <a:t> to come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Neither statistics text teaches </a:t>
            </a:r>
            <a:r>
              <a:rPr sz="2000">
                <a:latin typeface="Courier"/>
              </a:rPr>
              <a:t>dplyr</a:t>
            </a:r>
            <a:r>
              <a:rPr sz="2000"/>
              <a:t> — that is what R4DS is for. Read the texts for </a:t>
            </a:r>
            <a:r>
              <a:rPr sz="2000" i="1"/>
              <a:t>why</a:t>
            </a:r>
            <a:r>
              <a:rPr sz="2000"/>
              <a:t> a clean, documented dataset matters, and R4DS for </a:t>
            </a:r>
            <a:r>
              <a:rPr sz="2000" i="1"/>
              <a:t>how</a:t>
            </a:r>
            <a:r>
              <a:rPr sz="2000"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 for Data Science (2e)</a:t>
            </a:r>
          </a:p>
          <a:p>
            <a:pPr lvl="0" indent="0" marL="1270000">
              <a:buNone/>
            </a:pPr>
            <a:r>
              <a:rPr sz="2000"/>
              <a:t>Free online at </a:t>
            </a:r>
            <a:r>
              <a:rPr sz="2000">
                <a:hlinkClick r:id="rId2"/>
              </a:rPr>
              <a:t>r4ds.hadley.nz</a:t>
            </a:r>
            <a:r>
              <a:rPr sz="2000"/>
              <a:t>:</a:t>
            </a:r>
          </a:p>
          <a:p>
            <a:pPr lvl="0"/>
            <a:r>
              <a:rPr sz="2000">
                <a:hlinkClick r:id="rId3"/>
              </a:rPr>
              <a:t>§3 — Data transformation</a:t>
            </a:r>
            <a:r>
              <a:rPr sz="2000"/>
              <a:t> — the five verbs</a:t>
            </a:r>
          </a:p>
          <a:p>
            <a:pPr lvl="0"/>
            <a:r>
              <a:rPr sz="2000">
                <a:hlinkClick r:id="rId4"/>
              </a:rPr>
              <a:t>§5 — Data tidying</a:t>
            </a:r>
          </a:p>
          <a:p>
            <a:pPr lvl="0"/>
            <a:r>
              <a:rPr sz="2000">
                <a:hlinkClick r:id="rId5"/>
              </a:rPr>
              <a:t>§7 — Data import</a:t>
            </a:r>
          </a:p>
          <a:p>
            <a:pPr lvl="0"/>
            <a:r>
              <a:rPr sz="2000">
                <a:hlinkClick r:id="rId6"/>
              </a:rPr>
              <a:t>§12 — Logical vectors</a:t>
            </a:r>
            <a:r>
              <a:rPr sz="2000"/>
              <a:t> — </a:t>
            </a:r>
            <a:r>
              <a:rPr sz="2000">
                <a:latin typeface="Courier"/>
              </a:rPr>
              <a:t>case_when()</a:t>
            </a:r>
          </a:p>
          <a:p>
            <a:pPr lvl="0"/>
            <a:r>
              <a:rPr sz="2000">
                <a:hlinkClick r:id="rId7"/>
              </a:rPr>
              <a:t>§13 — Numbers</a:t>
            </a:r>
          </a:p>
          <a:p>
            <a:pPr lvl="0"/>
            <a:r>
              <a:rPr sz="2000">
                <a:hlinkClick r:id="rId8"/>
              </a:rPr>
              <a:t>§14 — Strings</a:t>
            </a:r>
          </a:p>
          <a:p>
            <a:pPr lvl="0"/>
            <a:r>
              <a:rPr sz="2000">
                <a:hlinkClick r:id="rId9"/>
              </a:rPr>
              <a:t>§18 — Missing values</a:t>
            </a:r>
          </a:p>
          <a:p>
            <a:pPr lvl="0"/>
            <a:r>
              <a:rPr sz="2000">
                <a:hlinkClick r:id="rId10"/>
              </a:rPr>
              <a:t>§20 — Spreadsheets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 indent="-342900" marL="342900">
              <a:buAutoNum type="arabicPeriod"/>
            </a:pPr>
            <a:r>
              <a:rPr/>
              <a:t>Check the usual suspects: </a:t>
            </a:r>
            <a:r>
              <a:rPr>
                <a:latin typeface="Courier"/>
              </a:rPr>
              <a:t>library(tidyverse)</a:t>
            </a:r>
            <a:r>
              <a:rPr/>
              <a:t> and </a:t>
            </a:r>
            <a:r>
              <a:rPr>
                <a:latin typeface="Courier"/>
              </a:rPr>
              <a:t>library(readxl)</a:t>
            </a:r>
            <a:r>
              <a:rPr/>
              <a:t> loaded? Spelling? A missing </a:t>
            </a:r>
            <a:r>
              <a:rPr>
                <a:latin typeface="Courier"/>
              </a:rPr>
              <a:t>)</a:t>
            </a:r>
            <a:r>
              <a:rPr/>
              <a:t> or </a:t>
            </a:r>
            <a:r>
              <a:rPr>
                <a:latin typeface="Courier"/>
              </a:rPr>
              <a:t>|&gt;</a:t>
            </a:r>
            <a:r>
              <a:rPr/>
              <a:t> at the </a:t>
            </a:r>
            <a:r>
              <a:rPr i="1"/>
              <a:t>start</a:t>
            </a:r>
            <a:r>
              <a:rPr/>
              <a:t> of a line?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?function_name</a:t>
            </a:r>
            <a:r>
              <a:rPr/>
              <a:t> opens the help page</a:t>
            </a:r>
          </a:p>
          <a:p>
            <a:pPr lvl="0" indent="-342900" marL="342900">
              <a:buAutoNum type="arabicPeriod"/>
            </a:pPr>
            <a:r>
              <a:rPr/>
              <a:t>Bring the </a:t>
            </a:r>
            <a:r>
              <a:rPr b="1"/>
              <a:t>exact error</a:t>
            </a:r>
            <a:r>
              <a:rPr/>
              <a:t> (copy-paste it) to class or office hours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📖 R4DS §8 — Workflow: getting help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Wrangling Your Data</dc:title>
  <dc:creator>Bill Perry</dc:creator>
  <cp:keywords/>
  <dc:description>Reading CSV and Excel files, the filter/select/mutate/arrange verbs, the full boolean-operator toolkit (==, !=, &gt;, &lt;, is.na(), %in%, &amp; vs. |), recoding and binning with case_when(), log and unit-conversion transforms, catching duplicate rows, and writing your cleaned data back out — all on the pine needle dataset.</dc:description>
  <dcterms:created xsi:type="dcterms:W3CDTF">2026-10-09T19:52:03Z</dcterms:created>
  <dcterms:modified xsi:type="dcterms:W3CDTF">2026-10-09T19:52:03Z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xecute">
    <vt:lpwstr/>
  </property>
  <property fmtid="{D5CDD505-2E9C-101B-9397-08002B2CF9AE}" pid="7" name="format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2</vt:lpwstr>
  </property>
  <property fmtid="{D5CDD505-2E9C-101B-9397-08002B2CF9AE}" pid="14" name="resources">
    <vt:lpwstr/>
  </property>
  <property fmtid="{D5CDD505-2E9C-101B-9397-08002B2CF9AE}" pid="15" name="subtitle">
    <vt:lpwstr>Importing more than one way, reshaping columns, and saving what you make</vt:lpwstr>
  </property>
  <property fmtid="{D5CDD505-2E9C-101B-9397-08002B2CF9AE}" pid="16" name="toc-title">
    <vt:lpwstr>Table of contents</vt:lpwstr>
  </property>
  <property fmtid="{D5CDD505-2E9C-101B-9397-08002B2CF9AE}" pid="17" name="week">
    <vt:lpwstr>1</vt:lpwstr>
  </property>
</Properties>
</file>