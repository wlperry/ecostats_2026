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Wrangling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 the same data two 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List the six column names and, for each, its type (</a:t>
            </a:r>
            <a:r>
              <a:rPr>
                <a:latin typeface="Courier"/>
              </a:rPr>
              <a:t>&lt;chr&gt;</a:t>
            </a:r>
            <a:r>
              <a:rPr/>
              <a:t>, </a:t>
            </a:r>
            <a:r>
              <a:rPr>
                <a:latin typeface="Courier"/>
              </a:rPr>
              <a:t>&lt;dbl&gt;</a:t>
            </a:r>
            <a:r>
              <a:rPr/>
              <a:t>, etc.):</a:t>
            </a:r>
          </a:p>
          <a:p>
            <a:pPr lvl="0" indent="0">
              <a:buNone/>
            </a:pPr>
            <a:r>
              <a:rPr>
                <a:latin typeface="Courier"/>
              </a:rPr>
              <a:t>Column:              Type:
Column:              Type:
Column:              Type:
Column:              Type:
Column:              Type:
Column:              Type:
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</a:t>
            </a: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filter()</a:t>
            </a:r>
            <a:r>
              <a:rPr/>
              <a:t> that keeps only sunny (</a:t>
            </a:r>
            <a:r>
              <a:rPr>
                <a:latin typeface="Courier"/>
              </a:rPr>
              <a:t>sun == "sunny"</a:t>
            </a:r>
            <a:r>
              <a:rPr/>
              <a:t>) needles longer than 15 mm.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filter(n_s = "n")</a:t>
            </a:r>
            <a:r>
              <a:rPr sz="2000"/>
              <a:t> (one </a:t>
            </a:r>
            <a:r>
              <a:rPr sz="2000">
                <a:latin typeface="Courier"/>
              </a:rPr>
              <a:t>=</a:t>
            </a:r>
            <a:r>
              <a:rPr sz="2000"/>
              <a:t>) is an error. You need </a:t>
            </a:r>
            <a:r>
              <a:rPr sz="2000">
                <a:latin typeface="Courier"/>
              </a:rPr>
              <a:t>==</a:t>
            </a:r>
            <a:r>
              <a:rPr sz="2000"/>
              <a:t> to test equality.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filter()</a:t>
            </a:r>
            <a:r>
              <a:rPr/>
              <a:t> — OR, </a:t>
            </a:r>
            <a:r>
              <a:rPr>
                <a:latin typeface="Courier"/>
              </a:rPr>
              <a:t>%in%</a:t>
            </a:r>
            <a:r>
              <a:rPr/>
              <a:t>, and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OR: shady side,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%in%: match one of several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Rewrite the </a:t>
            </a:r>
            <a:r>
              <a:rPr>
                <a:latin typeface="Courier"/>
              </a:rPr>
              <a:t>%in%</a:t>
            </a:r>
            <a:r>
              <a:rPr/>
              <a:t> line above as a chain of </a:t>
            </a:r>
            <a:r>
              <a:rPr>
                <a:latin typeface="Courier"/>
              </a:rPr>
              <a:t>|</a:t>
            </a:r>
            <a:r>
              <a:rPr/>
              <a:t> conditions instead — same result, longer code.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filter()</a:t>
            </a:r>
            <a:r>
              <a:rPr/>
              <a:t> on </a:t>
            </a:r>
            <a:r>
              <a:rPr>
                <a:latin typeface="Courier"/>
              </a:rPr>
              <a:t>pine_csv_df</a:t>
            </a:r>
            <a:r>
              <a:rPr/>
              <a:t> that keeps sunny (</a:t>
            </a:r>
            <a:r>
              <a:rPr>
                <a:latin typeface="Courier"/>
              </a:rPr>
              <a:t>sun == "sunny"</a:t>
            </a:r>
            <a:r>
              <a:rPr/>
              <a:t>) needles </a:t>
            </a:r>
            <a:r>
              <a:rPr b="1"/>
              <a:t>that are also</a:t>
            </a:r>
            <a:r>
              <a:rPr/>
              <a:t> longer than 14mm — think about whether you need </a:t>
            </a:r>
            <a:r>
              <a:rPr>
                <a:latin typeface="Courier"/>
              </a:rPr>
              <a:t>,</a:t>
            </a:r>
            <a:r>
              <a:rPr/>
              <a:t>/</a:t>
            </a:r>
            <a:r>
              <a:rPr>
                <a:latin typeface="Courier"/>
              </a:rPr>
              <a:t>&amp;</a:t>
            </a:r>
            <a:r>
              <a:rPr/>
              <a:t> or </a:t>
            </a:r>
            <a:r>
              <a:rPr>
                <a:latin typeface="Courier"/>
              </a:rPr>
              <a:t>|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</a:t>
            </a: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select()</a:t>
            </a:r>
            <a:r>
              <a:rPr/>
              <a:t> that keeps every column </a:t>
            </a:r>
            <a:r>
              <a:rPr i="1"/>
              <a:t>except</a:t>
            </a:r>
            <a:r>
              <a:rPr/>
              <a:t> </a:t>
            </a:r>
            <a:r>
              <a:rPr>
                <a:latin typeface="Courier"/>
              </a:rPr>
              <a:t>tree_no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</a:t>
            </a:r>
            <a:r>
              <a:rPr>
                <a:latin typeface="Courier"/>
              </a:rPr>
              <a:t>mutate()</a:t>
            </a:r>
            <a:r>
              <a:rPr/>
              <a:t> — new and changed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a column called </a:t>
            </a:r>
            <a:r>
              <a:rPr>
                <a:latin typeface="Courier"/>
              </a:rPr>
              <a:t>size_class</a:t>
            </a:r>
            <a:r>
              <a:rPr/>
              <a:t> that is </a:t>
            </a:r>
            <a:r>
              <a:rPr>
                <a:latin typeface="Courier"/>
              </a:rPr>
              <a:t>"long"</a:t>
            </a:r>
            <a:r>
              <a:rPr/>
              <a:t> when </a:t>
            </a:r>
            <a:r>
              <a:rPr>
                <a:latin typeface="Courier"/>
              </a:rPr>
              <a:t>length_mm &gt; 18</a:t>
            </a:r>
            <a:r>
              <a:rPr/>
              <a:t> and </a:t>
            </a:r>
            <a:r>
              <a:rPr>
                <a:latin typeface="Courier"/>
              </a:rPr>
              <a:t>"short"</a:t>
            </a:r>
            <a:r>
              <a:rPr/>
              <a:t> otherwise. Use </a:t>
            </a:r>
            <a:r>
              <a:rPr>
                <a:latin typeface="Courier"/>
              </a:rPr>
              <a:t>if_else()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</a:t>
            </a:r>
            <a:r>
              <a:rPr>
                <a:latin typeface="Courier"/>
              </a:rPr>
              <a:t>mutate()</a:t>
            </a:r>
            <a:r>
              <a:rPr/>
              <a:t> change how many </a:t>
            </a:r>
            <a:r>
              <a:rPr i="1"/>
              <a:t>rows</a:t>
            </a:r>
            <a:r>
              <a:rPr/>
              <a:t> your data frame has? How many </a:t>
            </a:r>
            <a:r>
              <a:rPr i="1"/>
              <a:t>columns</a:t>
            </a:r>
            <a:r>
              <a:rPr/>
              <a:t> did each example above add?</a:t>
            </a:r>
            <a:br/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second transformed column — a square-root transform (</a:t>
            </a:r>
            <a:r>
              <a:rPr sz="2000">
                <a:latin typeface="Courier"/>
              </a:rPr>
              <a:t>sqrt(length_mm)</a:t>
            </a:r>
            <a:r>
              <a:rPr sz="2000"/>
              <a:t>) alongside your log transform. Which one looks like it changes the spread of the values more?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two cutoffs (16 and 20) to different values of your choosing. How do the counts in each bin shift?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happens if you delete the </a:t>
            </a:r>
            <a:r>
              <a:rPr>
                <a:latin typeface="Courier"/>
              </a:rPr>
              <a:t>TRUE ~ "long"</a:t>
            </a:r>
            <a:r>
              <a:rPr/>
              <a:t> line and rerun? Try it, then explain why that’s dangerous.</a:t>
            </a:r>
          </a:p>
          <a:p>
            <a:pPr lvl="0" indent="0">
              <a:buNone/>
            </a:pPr>
            <a:r>
              <a:rPr>
                <a:latin typeface="Courier"/>
              </a:rPr>
              <a:t>
____________________________________________________________________________________
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"crayfish"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"snail"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(group, team_code)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a </a:t>
            </a:r>
            <a:r>
              <a:rPr>
                <a:latin typeface="Courier"/>
              </a:rPr>
              <a:t>size_class</a:t>
            </a:r>
            <a:r>
              <a:rPr/>
              <a:t> column (as above) to </a:t>
            </a:r>
            <a:r>
              <a:rPr>
                <a:latin typeface="Courier"/>
              </a:rPr>
              <a:t>pine_wrangled_df</a:t>
            </a:r>
            <a:r>
              <a:rPr/>
              <a:t>’s recipe — you’ll build the full pipeline with it in Part 6.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Write a </a:t>
            </a:r>
            <a:r>
              <a:rPr sz="2000">
                <a:latin typeface="Courier"/>
              </a:rPr>
              <a:t>case_when()</a:t>
            </a:r>
            <a:r>
              <a:rPr sz="2000"/>
              <a:t> that uses </a:t>
            </a:r>
            <a:r>
              <a:rPr sz="2000" b="1"/>
              <a:t>two</a:t>
            </a:r>
            <a:r>
              <a:rPr sz="2000"/>
              <a:t> conditions per row (e.g., </a:t>
            </a:r>
            <a:r>
              <a:rPr sz="2000">
                <a:latin typeface="Courier"/>
              </a:rPr>
              <a:t>n_s == "n" &amp; length_mm &gt; 20 ~ "long shady"</a:t>
            </a:r>
            <a:r>
              <a:rPr sz="2000"/>
              <a:t>) to build a combined category.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</a:t>
            </a: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Sort the data by </a:t>
            </a:r>
            <a:r>
              <a:rPr>
                <a:latin typeface="Courier"/>
              </a:rPr>
              <a:t>n_s</a:t>
            </a:r>
            <a:r>
              <a:rPr/>
              <a:t>, and within each side, by </a:t>
            </a:r>
            <a:r>
              <a:rPr>
                <a:latin typeface="Courier"/>
              </a:rPr>
              <a:t>length_mm</a:t>
            </a:r>
            <a:r>
              <a:rPr/>
              <a:t> from longest to shortest.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sun,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your own words, read this pipeline out loud, step by step, the way we did in lecture.</a:t>
            </a:r>
          </a:p>
          <a:p>
            <a:pPr lvl="0" indent="0">
              <a:buNone/>
            </a:pPr>
            <a:r>
              <a:rPr>
                <a:latin typeface="Courier"/>
              </a:rPr>
              <a:t>Take pine_csv_df, then ______________________, then ______________________,
then ______________________, then ______________________.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Finding duplicate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</a:t>
            </a:r>
            <a:r>
              <a:rPr>
                <a:latin typeface="Courier"/>
              </a:rPr>
              <a:t>nrow()</a:t>
            </a:r>
            <a:r>
              <a:rPr/>
              <a:t> and </a:t>
            </a:r>
            <a:r>
              <a:rPr>
                <a:latin typeface="Courier"/>
              </a:rPr>
              <a:t>n_distinct()</a:t>
            </a:r>
            <a:r>
              <a:rPr/>
              <a:t> match?</a:t>
            </a:r>
            <a:br/>
            <a:r>
              <a:rPr/>
              <a:t>What does that tell you?</a:t>
            </a:r>
            <a:br/>
            <a:br/>
            <a:r>
              <a:rPr>
                <a:latin typeface="Courier"/>
              </a:rPr>
              <a:t>_______________________________________________________________________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did </a:t>
            </a:r>
            <a:r>
              <a:rPr>
                <a:latin typeface="Courier"/>
              </a:rPr>
              <a:t>distinct()</a:t>
            </a:r>
            <a:r>
              <a:rPr/>
              <a:t> remove? Why does this matter for the sample size you’d report?</a:t>
            </a:r>
            <a:br/>
            <a:br/>
            <a:r>
              <a:rPr>
                <a:latin typeface="Courier"/>
              </a:rPr>
              <a:t>_________________________________________________________________________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 — a mistiped name won’t be caught. Always look at your data too.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your work with </a:t>
            </a:r>
            <a:r>
              <a:rPr>
                <a:latin typeface="Courier"/>
              </a:rPr>
              <a:t>write_csv()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new CSV should be there, alongside (not instead of) the raw </a:t>
            </a:r>
            <a:r>
              <a:rPr>
                <a:latin typeface="Courier"/>
              </a:rPr>
              <a:t>pine_needles.csv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Save your cleaned </a:t>
            </a:r>
            <a:r>
              <a:rPr>
                <a:latin typeface="Courier"/>
              </a:rPr>
              <a:t>needle_clean_df</a:t>
            </a:r>
            <a:r>
              <a:rPr/>
              <a:t> from Part 7 to </a:t>
            </a:r>
            <a:r>
              <a:rPr>
                <a:latin typeface="Courier"/>
              </a:rPr>
              <a:t>data/pine_needles_error_clean.csv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Never give a wrangled file the same name as the raw file. If your script’s output can overwrite your raw data, one accidental re-run destroys it permanently.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Read the same dataset from a </a:t>
            </a:r>
            <a:r>
              <a:rPr>
                <a:latin typeface="Courier"/>
              </a:rPr>
              <a:t>.csv</a:t>
            </a:r>
            <a:r>
              <a:rPr/>
              <a:t> and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on real data</a:t>
            </a:r>
          </a:p>
          <a:p>
            <a:pPr lvl="0"/>
            <a:r>
              <a:rPr/>
              <a:t>☐ Filter with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/</a:t>
            </a:r>
            <a:r>
              <a:rPr>
                <a:latin typeface="Courier"/>
              </a:rPr>
              <a:t>!is.na()</a:t>
            </a:r>
            <a:r>
              <a:rPr/>
              <a:t>, and both AND (</a:t>
            </a:r>
            <a:r>
              <a:rPr>
                <a:latin typeface="Courier"/>
              </a:rPr>
              <a:t>,</a:t>
            </a:r>
            <a:r>
              <a:rPr/>
              <a:t>) and 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☐ Recode or bin a column with </a:t>
            </a:r>
            <a:r>
              <a:rPr>
                <a:latin typeface="Courier"/>
              </a:rPr>
              <a:t>case_when()</a:t>
            </a:r>
            <a:r>
              <a:rPr/>
              <a:t>, including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☐ Add a unit-converted column and a log-transformed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☐ Chain multiple verbs into one pipeline with </a:t>
            </a:r>
            <a:r>
              <a:rPr>
                <a:latin typeface="Courier"/>
              </a:rPr>
              <a:t>|&gt;</a:t>
            </a:r>
          </a:p>
          <a:p>
            <a:pPr lvl="0"/>
            <a:r>
              <a:rPr/>
              <a:t>☐ Check for duplicate rows with </a:t>
            </a:r>
            <a:r>
              <a:rPr>
                <a:latin typeface="Courier"/>
              </a:rPr>
              <a:t>nrow()</a:t>
            </a:r>
            <a:r>
              <a:rPr/>
              <a:t> / </a:t>
            </a:r>
            <a:r>
              <a:rPr>
                <a:latin typeface="Courier"/>
              </a:rPr>
              <a:t>n_distinct()</a:t>
            </a:r>
            <a:r>
              <a:rPr/>
              <a:t>, and remove them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☐ Save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</a:t>
            </a:r>
            <a:br/>
            <a:br/>
            <a:r>
              <a:rPr/>
              <a:t>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</a:t>
            </a:r>
            <a:br/>
            <a:br/>
            <a:r>
              <a:rPr>
                <a:latin typeface="Courier"/>
              </a:rPr>
              <a:t>____________________________________________________________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02_wrangling_data.R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</a:t>
            </a:r>
          </a:p>
          <a:p>
            <a:pPr lvl="1"/>
            <a:r>
              <a:rPr/>
              <a:t>Spelling?</a:t>
            </a:r>
          </a:p>
          <a:p>
            <a:pPr lvl="1"/>
            <a:r>
              <a:rPr/>
              <a:t>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Wrangling Your Data</dc:title>
  <dc:creator>Bill Perry</dc:creator>
  <cp:keywords/>
  <dc:description>Hands-on worksheet: reading CSV and Excel files, filter/select/mutate/arrange, the full boolean-operator toolkit (%in%, is.na(), AND vs. OR), recoding with case_when(), log and unit transforms, catching duplicate rows, and write_csv().</dc:description>
  <dcterms:created xsi:type="dcterms:W3CDTF">2026-08-25T18:57:33Z</dcterms:created>
  <dcterms:modified xsi:type="dcterms:W3CDTF">2026-08-25T18:57:33Z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Importing more than one way, reshaping columns, and saving what you make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