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Activity: Wrangling Your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Importing more than one way, reshaping columns, and saving what you make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Worksheet: Wrangling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in order, at your own pace. Type every line of code yourself into a </a:t>
            </a:r>
            <a:r>
              <a:rPr sz="2000" b="1"/>
              <a:t>plain R script</a:t>
            </a:r>
            <a:r>
              <a:rPr sz="2000"/>
              <a:t> — do not copy-paste. Blocks marked </a:t>
            </a:r>
            <a:r>
              <a:rPr sz="2000" b="1"/>
              <a:t>▶ Run this</a:t>
            </a:r>
            <a:r>
              <a:rPr sz="2000"/>
              <a:t> are code you should type and execute. Blocks marked </a:t>
            </a:r>
            <a:r>
              <a:rPr sz="2000" b="1"/>
              <a:t>✏️ Your turn</a:t>
            </a:r>
            <a:r>
              <a:rPr sz="2000"/>
              <a:t> ask you to write, modify, or answer something. Boxes marked </a:t>
            </a:r>
            <a:r>
              <a:rPr sz="2000" b="1"/>
              <a:t>🚀 If you finish early</a:t>
            </a:r>
            <a:r>
              <a:rPr sz="2000"/>
              <a:t> are optional bonus material.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Import the same data two 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pine_csv_df  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pine_excel_df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(pine_csv_df)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(pine_csv_df)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List the six column names and, for each, its type (</a:t>
            </a:r>
            <a:r>
              <a:rPr>
                <a:latin typeface="Courier"/>
              </a:rPr>
              <a:t>&lt;chr&gt;</a:t>
            </a:r>
            <a:r>
              <a:rPr/>
              <a:t>, </a:t>
            </a:r>
            <a:r>
              <a:rPr>
                <a:latin typeface="Courier"/>
              </a:rPr>
              <a:t>&lt;dbl&gt;</a:t>
            </a:r>
            <a:r>
              <a:rPr/>
              <a:t>, etc.):</a:t>
            </a:r>
          </a:p>
          <a:p>
            <a:pPr lvl="0" indent="0">
              <a:buNone/>
            </a:pPr>
            <a:r>
              <a:rPr>
                <a:latin typeface="Courier"/>
              </a:rPr>
              <a:t>Column:              Type:
Column:              Type:
Column:              Type:
Column:              Type:
Column:              Type:
Column:              Type: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</a:t>
            </a:r>
            <a:r>
              <a:rPr>
                <a:latin typeface="Courier"/>
              </a:rPr>
              <a:t>filter()</a:t>
            </a:r>
            <a:r>
              <a:rPr/>
              <a:t> — picking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(n_s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a </a:t>
            </a:r>
            <a:r>
              <a:rPr>
                <a:latin typeface="Courier"/>
              </a:rPr>
              <a:t>filter()</a:t>
            </a:r>
            <a:r>
              <a:rPr/>
              <a:t> that keeps only sunny (</a:t>
            </a:r>
            <a:r>
              <a:rPr>
                <a:latin typeface="Courier"/>
              </a:rPr>
              <a:t>sun == "sunny"</a:t>
            </a:r>
            <a:r>
              <a:rPr/>
              <a:t>) needles longer than 15 mm.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</a:t>
            </a:r>
            <a:r>
              <a:rPr sz="2000">
                <a:latin typeface="Courier"/>
              </a:rPr>
              <a:t>filter(n_s = "n")</a:t>
            </a:r>
            <a:r>
              <a:rPr sz="2000"/>
              <a:t> (one </a:t>
            </a:r>
            <a:r>
              <a:rPr sz="2000">
                <a:latin typeface="Courier"/>
              </a:rPr>
              <a:t>=</a:t>
            </a:r>
            <a:r>
              <a:rPr sz="2000"/>
              <a:t>) is an error. You need </a:t>
            </a:r>
            <a:r>
              <a:rPr sz="2000">
                <a:latin typeface="Courier"/>
              </a:rPr>
              <a:t>==</a:t>
            </a:r>
            <a:r>
              <a:rPr sz="2000"/>
              <a:t> to test equality.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2b · </a:t>
            </a:r>
            <a:r>
              <a:rPr>
                <a:latin typeface="Courier"/>
              </a:rPr>
              <a:t>filter()</a:t>
            </a:r>
            <a:r>
              <a:rPr/>
              <a:t> — OR, </a:t>
            </a:r>
            <a:r>
              <a:rPr>
                <a:latin typeface="Courier"/>
              </a:rPr>
              <a:t>%in%</a:t>
            </a:r>
            <a:r>
              <a:rPr/>
              <a:t>, and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OR: shady side, OR any exceptionally long needle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(n_s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%in%: match one of several named teams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(group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"cephalopods"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"salmon"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Rewrite the </a:t>
            </a:r>
            <a:r>
              <a:rPr>
                <a:latin typeface="Courier"/>
              </a:rPr>
              <a:t>%in%</a:t>
            </a:r>
            <a:r>
              <a:rPr/>
              <a:t> line above as a chain of </a:t>
            </a:r>
            <a:r>
              <a:rPr>
                <a:latin typeface="Courier"/>
              </a:rPr>
              <a:t>|</a:t>
            </a:r>
            <a:r>
              <a:rPr/>
              <a:t> conditions instead — same result, longer code.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survey_df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site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survey_df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(count))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survey_df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(count))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a </a:t>
            </a:r>
            <a:r>
              <a:rPr>
                <a:latin typeface="Courier"/>
              </a:rPr>
              <a:t>filter()</a:t>
            </a:r>
            <a:r>
              <a:rPr/>
              <a:t> on </a:t>
            </a:r>
            <a:r>
              <a:rPr>
                <a:latin typeface="Courier"/>
              </a:rPr>
              <a:t>pine_csv_df</a:t>
            </a:r>
            <a:r>
              <a:rPr/>
              <a:t> that keeps sunny (</a:t>
            </a:r>
            <a:r>
              <a:rPr>
                <a:latin typeface="Courier"/>
              </a:rPr>
              <a:t>sun == "sunny"</a:t>
            </a:r>
            <a:r>
              <a:rPr/>
              <a:t>) needles </a:t>
            </a:r>
            <a:r>
              <a:rPr b="1"/>
              <a:t>that are also</a:t>
            </a:r>
            <a:r>
              <a:rPr/>
              <a:t> longer than 14mm — think about whether you need </a:t>
            </a:r>
            <a:r>
              <a:rPr>
                <a:latin typeface="Courier"/>
              </a:rPr>
              <a:t>,</a:t>
            </a:r>
            <a:r>
              <a:rPr/>
              <a:t>/</a:t>
            </a:r>
            <a:r>
              <a:rPr>
                <a:latin typeface="Courier"/>
              </a:rPr>
              <a:t>&amp;</a:t>
            </a:r>
            <a:r>
              <a:rPr/>
              <a:t> or </a:t>
            </a:r>
            <a:r>
              <a:rPr>
                <a:latin typeface="Courier"/>
              </a:rPr>
              <a:t>|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</a:t>
            </a:r>
            <a:r>
              <a:rPr>
                <a:latin typeface="Courier"/>
              </a:rPr>
              <a:t>select()</a:t>
            </a:r>
            <a:r>
              <a:rPr/>
              <a:t> — picking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(n_s, length_mm)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a </a:t>
            </a:r>
            <a:r>
              <a:rPr>
                <a:latin typeface="Courier"/>
              </a:rPr>
              <a:t>select()</a:t>
            </a:r>
            <a:r>
              <a:rPr/>
              <a:t> that keeps every column </a:t>
            </a:r>
            <a:r>
              <a:rPr i="1"/>
              <a:t>except</a:t>
            </a:r>
            <a:r>
              <a:rPr/>
              <a:t> </a:t>
            </a:r>
            <a:r>
              <a:rPr>
                <a:latin typeface="Courier"/>
              </a:rPr>
              <a:t>tree_no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</a:t>
            </a:r>
            <a:r>
              <a:rPr>
                <a:latin typeface="Courier"/>
              </a:rPr>
              <a:t>mutate()</a:t>
            </a:r>
            <a:r>
              <a:rPr/>
              <a:t> — new and changed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length_cm =</a:t>
            </a:r>
            <a:r>
              <a:rPr>
                <a:solidFill>
                  <a:srgbClr val="003B4F"/>
                </a:solidFill>
                <a:latin typeface="Courier"/>
              </a:rPr>
              <a:t> length_mm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log_length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(length_mm))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Add a column called </a:t>
            </a:r>
            <a:r>
              <a:rPr>
                <a:latin typeface="Courier"/>
              </a:rPr>
              <a:t>size_class</a:t>
            </a:r>
            <a:r>
              <a:rPr/>
              <a:t> that is </a:t>
            </a:r>
            <a:r>
              <a:rPr>
                <a:latin typeface="Courier"/>
              </a:rPr>
              <a:t>"long"</a:t>
            </a:r>
            <a:r>
              <a:rPr/>
              <a:t> when </a:t>
            </a:r>
            <a:r>
              <a:rPr>
                <a:latin typeface="Courier"/>
              </a:rPr>
              <a:t>length_mm &gt; 18</a:t>
            </a:r>
            <a:r>
              <a:rPr/>
              <a:t> and </a:t>
            </a:r>
            <a:r>
              <a:rPr>
                <a:latin typeface="Courier"/>
              </a:rPr>
              <a:t>"short"</a:t>
            </a:r>
            <a:r>
              <a:rPr/>
              <a:t> otherwise. Use </a:t>
            </a:r>
            <a:r>
              <a:rPr>
                <a:latin typeface="Courier"/>
              </a:rPr>
              <a:t>if_else()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Does </a:t>
            </a:r>
            <a:r>
              <a:rPr>
                <a:latin typeface="Courier"/>
              </a:rPr>
              <a:t>mutate()</a:t>
            </a:r>
            <a:r>
              <a:rPr/>
              <a:t> change how many </a:t>
            </a:r>
            <a:r>
              <a:rPr i="1"/>
              <a:t>rows</a:t>
            </a:r>
            <a:r>
              <a:rPr/>
              <a:t> your data frame has? How many </a:t>
            </a:r>
            <a:r>
              <a:rPr i="1"/>
              <a:t>columns</a:t>
            </a:r>
            <a:r>
              <a:rPr/>
              <a:t> did each example above add?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Add a second transformed column — a square-root transform (</a:t>
            </a:r>
            <a:r>
              <a:rPr sz="2000">
                <a:latin typeface="Courier"/>
              </a:rPr>
              <a:t>sqrt(length_mm)</a:t>
            </a:r>
            <a:r>
              <a:rPr sz="2000"/>
              <a:t>) alongside your log transform. Which one looks like it changes the spread of the values more?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4b · </a:t>
            </a:r>
            <a:r>
              <a:rPr>
                <a:latin typeface="Courier"/>
              </a:rPr>
              <a:t>case_when()</a:t>
            </a:r>
            <a:r>
              <a:rPr/>
              <a:t> — recoding and binning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"short"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"medium"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"long"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(size_class)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the two cutoffs (16 and 20) to different values of your choosing. How do the counts in each bin shift?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happens if you delete the </a:t>
            </a:r>
            <a:r>
              <a:rPr>
                <a:latin typeface="Courier"/>
              </a:rPr>
              <a:t>TRUE ~ "long"</a:t>
            </a:r>
            <a:r>
              <a:rPr/>
              <a:t> line and rerun? Try it, then explain why that’s dangerous.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team_code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group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"cephalopods"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"CEPH"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group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"salmon"</a:t>
            </a:r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"SALM"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group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"crayfish"</a:t>
            </a: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"CRAY"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group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"snail"</a:t>
            </a:r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"SNAI"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"UNK"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distinct</a:t>
            </a:r>
            <a:r>
              <a:rPr>
                <a:solidFill>
                  <a:srgbClr val="003B4F"/>
                </a:solidFill>
                <a:latin typeface="Courier"/>
              </a:rPr>
              <a:t>(group, team_code)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Add a </a:t>
            </a:r>
            <a:r>
              <a:rPr>
                <a:latin typeface="Courier"/>
              </a:rPr>
              <a:t>size_class</a:t>
            </a:r>
            <a:r>
              <a:rPr/>
              <a:t> column (as above) to </a:t>
            </a:r>
            <a:r>
              <a:rPr>
                <a:latin typeface="Courier"/>
              </a:rPr>
              <a:t>pine_wrangled_df</a:t>
            </a:r>
            <a:r>
              <a:rPr/>
              <a:t>’s recipe — you’ll build the full pipeline with it in Part 6.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Write a </a:t>
            </a:r>
            <a:r>
              <a:rPr sz="2000">
                <a:latin typeface="Courier"/>
              </a:rPr>
              <a:t>case_when()</a:t>
            </a:r>
            <a:r>
              <a:rPr sz="2000"/>
              <a:t> that uses </a:t>
            </a:r>
            <a:r>
              <a:rPr sz="2000" b="1"/>
              <a:t>two</a:t>
            </a:r>
            <a:r>
              <a:rPr sz="2000"/>
              <a:t> conditions per row (e.g., </a:t>
            </a:r>
            <a:r>
              <a:rPr sz="2000">
                <a:latin typeface="Courier"/>
              </a:rPr>
              <a:t>n_s == "n" &amp; length_mm &gt; 20 ~ "long shady"</a:t>
            </a:r>
            <a:r>
              <a:rPr sz="2000"/>
              <a:t>) to build a combined category.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</a:t>
            </a:r>
            <a:r>
              <a:rPr>
                <a:latin typeface="Courier"/>
              </a:rPr>
              <a:t>arrange()</a:t>
            </a:r>
            <a:r>
              <a:rPr/>
              <a:t> — sorting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Sort the data by </a:t>
            </a:r>
            <a:r>
              <a:rPr>
                <a:latin typeface="Courier"/>
              </a:rPr>
              <a:t>n_s</a:t>
            </a:r>
            <a:r>
              <a:rPr/>
              <a:t>, and within each side, by </a:t>
            </a:r>
            <a:r>
              <a:rPr>
                <a:latin typeface="Courier"/>
              </a:rPr>
              <a:t>length_mm</a:t>
            </a:r>
            <a:r>
              <a:rPr/>
              <a:t> from longest to shortest.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The full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pine_wrangled_df &lt;- 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(group, n_s, sun, length_mm)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length_cm  =</a:t>
            </a:r>
            <a:r>
              <a:rPr>
                <a:solidFill>
                  <a:srgbClr val="003B4F"/>
                </a:solidFill>
                <a:latin typeface="Courier"/>
              </a:rPr>
              <a:t> length_mm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log_length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"short"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"medium"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"long"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(n_s,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(pine_wrangled_df)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your own words, read this pipeline out loud, step by step, the way we did in lecture.</a:t>
            </a:r>
          </a:p>
          <a:p>
            <a:pPr lvl="0" indent="0">
              <a:buNone/>
            </a:pPr>
            <a:r>
              <a:rPr>
                <a:latin typeface="Courier"/>
              </a:rPr>
              <a:t>Take pine_csv_df, then ______________________, then ______________________,
then ______________________, then ______________________.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Finding duplicate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needle_check_df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"data/pine_needles_error.csv"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(needle_check_df)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n_distinct</a:t>
            </a:r>
            <a:r>
              <a:rPr>
                <a:solidFill>
                  <a:srgbClr val="003B4F"/>
                </a:solidFill>
                <a:latin typeface="Courier"/>
              </a:rPr>
              <a:t>(needle_check_df)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 </a:t>
            </a:r>
            <a:r>
              <a:rPr>
                <a:latin typeface="Courier"/>
              </a:rPr>
              <a:t>nrow()</a:t>
            </a:r>
            <a:r>
              <a:rPr/>
              <a:t> and </a:t>
            </a:r>
            <a:r>
              <a:rPr>
                <a:latin typeface="Courier"/>
              </a:rPr>
              <a:t>n_distinct()</a:t>
            </a:r>
            <a:r>
              <a:rPr/>
              <a:t> match? What does that tell you?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needle_check_df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duplicated</a:t>
            </a:r>
            <a:r>
              <a:rPr>
                <a:solidFill>
                  <a:srgbClr val="003B4F"/>
                </a:solidFill>
                <a:latin typeface="Courier"/>
              </a:rPr>
              <a:t>(needle_check_df))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needle_clean_df &lt;- needle_check_df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distinct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(needle_clean_df)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many rows did </a:t>
            </a:r>
            <a:r>
              <a:rPr>
                <a:latin typeface="Courier"/>
              </a:rPr>
              <a:t>distinct()</a:t>
            </a:r>
            <a:r>
              <a:rPr/>
              <a:t> remove? Why does this matter for the sample size you’d report?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</a:t>
            </a:r>
            <a:r>
              <a:rPr sz="2000">
                <a:latin typeface="Courier"/>
              </a:rPr>
              <a:t>distinct()</a:t>
            </a:r>
            <a:r>
              <a:rPr sz="2000"/>
              <a:t> only catches </a:t>
            </a:r>
            <a:r>
              <a:rPr sz="2000" i="1"/>
              <a:t>exact</a:t>
            </a:r>
            <a:r>
              <a:rPr sz="2000"/>
              <a:t> duplicate rows — a mistyped name won’t be caught. Always look at your data too.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Saving your work with </a:t>
            </a:r>
            <a:r>
              <a:rPr>
                <a:latin typeface="Courier"/>
              </a:rPr>
              <a:t>write_csv()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write_csv</a:t>
            </a:r>
            <a:r>
              <a:rPr>
                <a:solidFill>
                  <a:srgbClr val="003B4F"/>
                </a:solidFill>
                <a:latin typeface="Courier"/>
              </a:rPr>
              <a:t>(pine_wrangled_df, </a:t>
            </a:r>
            <a:r>
              <a:rPr>
                <a:solidFill>
                  <a:srgbClr val="20794D"/>
                </a:solidFill>
                <a:latin typeface="Courier"/>
              </a:rPr>
              <a:t>"data/pine_needles_wrangled.csv"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Check your </a:t>
            </a:r>
            <a:r>
              <a:rPr>
                <a:latin typeface="Courier"/>
              </a:rPr>
              <a:t>data/</a:t>
            </a:r>
            <a:r>
              <a:rPr/>
              <a:t> folder — the new CSV should be there, alongside (not instead of) the raw </a:t>
            </a:r>
            <a:r>
              <a:rPr>
                <a:latin typeface="Courier"/>
              </a:rPr>
              <a:t>pine_needles.csv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Save your cleaned </a:t>
            </a:r>
            <a:r>
              <a:rPr>
                <a:latin typeface="Courier"/>
              </a:rPr>
              <a:t>needle_clean_df</a:t>
            </a:r>
            <a:r>
              <a:rPr/>
              <a:t> from Part 7 to </a:t>
            </a:r>
            <a:r>
              <a:rPr>
                <a:latin typeface="Courier"/>
              </a:rPr>
              <a:t>data/pine_needles_error_clean.csv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Never give a wrangled file the same name as the raw file. If your script’s output can overwrite your raw data, one accidental re-run destroys it permanently.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can:</a:t>
            </a:r>
          </a:p>
          <a:p>
            <a:pPr lvl="0"/>
            <a:r>
              <a:rPr/>
              <a:t>☐ Read the same dataset from a </a:t>
            </a:r>
            <a:r>
              <a:rPr>
                <a:latin typeface="Courier"/>
              </a:rPr>
              <a:t>.csv</a:t>
            </a:r>
            <a:r>
              <a:rPr/>
              <a:t> and an </a:t>
            </a:r>
            <a:r>
              <a:rPr>
                <a:latin typeface="Courier"/>
              </a:rPr>
              <a:t>.xlsx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and </a:t>
            </a:r>
            <a:r>
              <a:rPr>
                <a:latin typeface="Courier"/>
              </a:rPr>
              <a:t>arrange()</a:t>
            </a:r>
            <a:r>
              <a:rPr/>
              <a:t> on real data</a:t>
            </a:r>
          </a:p>
          <a:p>
            <a:pPr lvl="0"/>
            <a:r>
              <a:rPr/>
              <a:t>☐ Filter with </a:t>
            </a:r>
            <a:r>
              <a:rPr>
                <a:latin typeface="Courier"/>
              </a:rPr>
              <a:t>%in%</a:t>
            </a:r>
            <a:r>
              <a:rPr/>
              <a:t>, </a:t>
            </a:r>
            <a:r>
              <a:rPr>
                <a:latin typeface="Courier"/>
              </a:rPr>
              <a:t>is.na()</a:t>
            </a:r>
            <a:r>
              <a:rPr/>
              <a:t>/</a:t>
            </a:r>
            <a:r>
              <a:rPr>
                <a:latin typeface="Courier"/>
              </a:rPr>
              <a:t>!is.na()</a:t>
            </a:r>
            <a:r>
              <a:rPr/>
              <a:t>, and both AND (</a:t>
            </a:r>
            <a:r>
              <a:rPr>
                <a:latin typeface="Courier"/>
              </a:rPr>
              <a:t>,</a:t>
            </a:r>
            <a:r>
              <a:rPr/>
              <a:t>) and OR (</a:t>
            </a:r>
            <a:r>
              <a:rPr>
                <a:latin typeface="Courier"/>
              </a:rPr>
              <a:t>|</a:t>
            </a:r>
            <a:r>
              <a:rPr/>
              <a:t>)</a:t>
            </a:r>
          </a:p>
          <a:p>
            <a:pPr lvl="0"/>
            <a:r>
              <a:rPr/>
              <a:t>☐ Recode or bin a column with </a:t>
            </a:r>
            <a:r>
              <a:rPr>
                <a:latin typeface="Courier"/>
              </a:rPr>
              <a:t>case_when()</a:t>
            </a:r>
            <a:r>
              <a:rPr/>
              <a:t>, including a </a:t>
            </a:r>
            <a:r>
              <a:rPr>
                <a:latin typeface="Courier"/>
              </a:rPr>
              <a:t>TRUE ~</a:t>
            </a:r>
            <a:r>
              <a:rPr/>
              <a:t> catch-all</a:t>
            </a:r>
          </a:p>
          <a:p>
            <a:pPr lvl="0"/>
            <a:r>
              <a:rPr/>
              <a:t>☐ Add a unit-converted column and a log-transformed column with </a:t>
            </a:r>
            <a:r>
              <a:rPr>
                <a:latin typeface="Courier"/>
              </a:rPr>
              <a:t>mutate()</a:t>
            </a:r>
          </a:p>
          <a:p>
            <a:pPr lvl="0"/>
            <a:r>
              <a:rPr/>
              <a:t>☐ Chain multiple verbs into one pipeline with </a:t>
            </a:r>
            <a:r>
              <a:rPr>
                <a:latin typeface="Courier"/>
              </a:rPr>
              <a:t>|&gt;</a:t>
            </a:r>
          </a:p>
          <a:p>
            <a:pPr lvl="0"/>
            <a:r>
              <a:rPr/>
              <a:t>☐ Check for duplicate rows with </a:t>
            </a:r>
            <a:r>
              <a:rPr>
                <a:latin typeface="Courier"/>
              </a:rPr>
              <a:t>nrow()</a:t>
            </a:r>
            <a:r>
              <a:rPr/>
              <a:t> / </a:t>
            </a:r>
            <a:r>
              <a:rPr>
                <a:latin typeface="Courier"/>
              </a:rPr>
              <a:t>n_distinct()</a:t>
            </a:r>
            <a:r>
              <a:rPr/>
              <a:t>, and remove them with </a:t>
            </a:r>
            <a:r>
              <a:rPr>
                <a:latin typeface="Courier"/>
              </a:rPr>
              <a:t>distinct()</a:t>
            </a:r>
          </a:p>
          <a:p>
            <a:pPr lvl="0"/>
            <a:r>
              <a:rPr/>
              <a:t>☐ Save a new file with </a:t>
            </a:r>
            <a:r>
              <a:rPr>
                <a:latin typeface="Courier"/>
              </a:rPr>
              <a:t>write_csv()</a:t>
            </a:r>
            <a:r>
              <a:rPr/>
              <a:t> without touching the raw data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whole script top to bottom. Ran cleanly? </a:t>
            </a:r>
            <a:r>
              <a:rPr>
                <a:latin typeface="Courier"/>
              </a:rPr>
              <a:t>Y / N</a:t>
            </a:r>
            <a:r>
              <a:rPr/>
              <a:t> — if not, the error was: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📤 What to turn in before next class</a:t>
            </a:r>
          </a:p>
          <a:p>
            <a:pPr lvl="0" indent="0" marL="1270000">
              <a:buNone/>
            </a:pPr>
            <a:r>
              <a:rPr sz="2000"/>
              <a:t>Upload both of these to the course management system:</a:t>
            </a:r>
          </a:p>
          <a:p>
            <a:pPr lvl="0" indent="-342900" marL="342900">
              <a:buAutoNum type="arabicPeriod"/>
            </a:pPr>
            <a:r>
              <a:rPr sz="2000"/>
              <a:t>Your code — the </a:t>
            </a:r>
            <a:r>
              <a:rPr sz="2000">
                <a:latin typeface="Courier"/>
              </a:rPr>
              <a:t>scripts/</a:t>
            </a:r>
            <a:r>
              <a:rPr sz="2000"/>
              <a:t> folder (or just </a:t>
            </a:r>
            <a:r>
              <a:rPr sz="2000">
                <a:latin typeface="Courier"/>
              </a:rPr>
              <a:t>02_wrangling_data.R</a:t>
            </a:r>
            <a:r>
              <a:rPr sz="2000"/>
              <a:t>)</a:t>
            </a:r>
          </a:p>
          <a:p>
            <a:pPr lvl="0" indent="-342900" marL="342900">
              <a:buAutoNum type="arabicPeriod"/>
            </a:pPr>
            <a:r>
              <a:rPr sz="2000"/>
              <a:t>This worksheet, with your written answers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run </a:t>
            </a:r>
            <a:r>
              <a:rPr>
                <a:latin typeface="Courier"/>
              </a:rPr>
              <a:t>library(tidyverse)</a:t>
            </a:r>
            <a:r>
              <a:rPr/>
              <a:t> and </a:t>
            </a:r>
            <a:r>
              <a:rPr>
                <a:latin typeface="Courier"/>
              </a:rPr>
              <a:t>library(readxl)</a:t>
            </a:r>
            <a:r>
              <a:rPr/>
              <a:t>? Spelling? A missing </a:t>
            </a:r>
            <a:r>
              <a:rPr>
                <a:latin typeface="Courier"/>
              </a:rPr>
              <a:t>)</a:t>
            </a:r>
            <a:r>
              <a:rPr/>
              <a:t> or a </a:t>
            </a:r>
            <a:r>
              <a:rPr>
                <a:latin typeface="Courier"/>
              </a:rPr>
              <a:t>|&gt;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built-in help page.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Activity: Wrangling Your Data</dc:title>
  <dc:creator>Bill Perry</dc:creator>
  <cp:keywords/>
  <dc:description>Hands-on worksheet: reading CSV and Excel files, filter/select/mutate/arrange, the full boolean-operator toolkit (%in%, is.na(), AND vs. OR), recoding with case_when(), log and unit transforms, catching duplicate rows, and write_csv().</dc:description>
  <dcterms:created xsi:type="dcterms:W3CDTF">2026-08-24T18:46:20Z</dcterms:created>
  <dcterms:modified xsi:type="dcterms:W3CDTF">2026-08-24T18:46:20Z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2</vt:lpwstr>
  </property>
  <property fmtid="{D5CDD505-2E9C-101B-9397-08002B2CF9AE}" pid="13" name="resources">
    <vt:lpwstr/>
  </property>
  <property fmtid="{D5CDD505-2E9C-101B-9397-08002B2CF9AE}" pid="14" name="subtitle">
    <vt:lpwstr>Importing more than one way, reshaping columns, and saving what you make</vt:lpwstr>
  </property>
  <property fmtid="{D5CDD505-2E9C-101B-9397-08002B2CF9AE}" pid="15" name="toc-title">
    <vt:lpwstr>Table of contents</vt:lpwstr>
  </property>
  <property fmtid="{D5CDD505-2E9C-101B-9397-08002B2CF9AE}" pid="16" name="week">
    <vt:lpwstr>1</vt:lpwstr>
  </property>
</Properties>
</file>