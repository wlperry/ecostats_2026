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Design &amp; Graphing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Projects and ggplot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In-class Activity 2: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Activity 1</a:t>
            </a:r>
          </a:p>
          <a:p>
            <a:pPr lvl="0"/>
            <a:r>
              <a:rPr/>
              <a:t>Collected pine needle samples from windward and leeward sides of trees</a:t>
            </a:r>
          </a:p>
          <a:p>
            <a:pPr lvl="0"/>
            <a:r>
              <a:rPr/>
              <a:t>Identified independent variable (wind exposure) and dependent variable (needle length)</a:t>
            </a:r>
          </a:p>
          <a:p>
            <a:pPr lvl="0"/>
            <a:r>
              <a:rPr/>
              <a:t>Measured needle lengths and recorded data</a:t>
            </a:r>
          </a:p>
          <a:p>
            <a:pPr lvl="0"/>
            <a:r>
              <a:rPr/>
              <a:t>Created basic visualizations</a:t>
            </a:r>
          </a:p>
          <a:p>
            <a:pPr lvl="0"/>
            <a:r>
              <a:rPr/>
              <a:t>Saved our data for further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Implement data pipeline best practices</a:t>
            </a:r>
          </a:p>
          <a:p>
            <a:pPr lvl="0" indent="-342900" marL="342900">
              <a:buAutoNum type="arabicPeriod"/>
            </a:pPr>
            <a:r>
              <a:rPr/>
              <a:t>Apply controlled vocabulary and naming conventions</a:t>
            </a:r>
          </a:p>
          <a:p>
            <a:pPr lvl="0" indent="-342900" marL="342900">
              <a:buAutoNum type="arabicPeriod"/>
            </a:pPr>
            <a:r>
              <a:rPr/>
              <a:t>Create effective tables and visualizations</a:t>
            </a:r>
          </a:p>
          <a:p>
            <a:pPr lvl="0" indent="-342900" marL="342900">
              <a:buAutoNum type="arabicPeriod"/>
            </a:pPr>
            <a:r>
              <a:rPr/>
              <a:t>Customize plots for publication quality</a:t>
            </a:r>
          </a:p>
          <a:p>
            <a:pPr lvl="0" indent="-342900" marL="342900">
              <a:buAutoNum type="arabicPeriod"/>
            </a:pPr>
            <a:r>
              <a:rPr/>
              <a:t>Combine multiple plots into composite figures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Setting Up Your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data do we have</a:t>
            </a:r>
          </a:p>
          <a:p>
            <a:pPr lvl="1" indent="-342900" marL="685800">
              <a:buAutoNum type="arabicPeriod"/>
            </a:pPr>
            <a:r>
              <a:rPr/>
              <a:t>what is the controlled vocabulary?</a:t>
            </a:r>
          </a:p>
          <a:p>
            <a:pPr lvl="1" indent="-342900" marL="685800">
              <a:buAutoNum type="arabicPeriod"/>
            </a:pPr>
            <a:r>
              <a:rPr/>
              <a:t>are there units?</a:t>
            </a:r>
          </a:p>
          <a:p>
            <a:pPr lvl="0" indent="-342900" marL="342900">
              <a:buAutoNum type="arabicPeriod"/>
            </a:pPr>
            <a:r>
              <a:rPr/>
              <a:t>What is the directory structure?</a:t>
            </a:r>
          </a:p>
          <a:p>
            <a:pPr lvl="0" indent="-342900" marL="342900">
              <a:buAutoNum type="arabicPeriod"/>
            </a:pPr>
            <a:r>
              <a:rPr/>
              <a:t>Do we have a metadata file?</a:t>
            </a:r>
          </a:p>
          <a:p>
            <a:pPr lvl="0" indent="-342900" marL="342900">
              <a:buAutoNum type="arabicPeriod"/>
            </a:pPr>
            <a:r>
              <a:rPr/>
              <a:t>Is the data entered in a tidy format?</a:t>
            </a:r>
          </a:p>
          <a:p>
            <a:pPr lvl="0" indent="-342900" marL="342900">
              <a:buAutoNum type="arabicPeriod"/>
            </a:pPr>
            <a:r>
              <a:rPr/>
              <a:t>What are we missing?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Now lets create a new quarto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note I usually use this sort of system in an r_projects directory</a:t>
            </a:r>
          </a:p>
          <a:p>
            <a:pPr lvl="0"/>
            <a:r>
              <a:rPr/>
              <a:t>I have redone it for the class to organize all of the terms data</a:t>
            </a:r>
          </a:p>
          <a:p>
            <a:pPr lvl="0"/>
            <a:r>
              <a:rPr/>
              <a:t>you should try making some of your own projects</a:t>
            </a:r>
          </a:p>
        </p:txBody>
      </p:sp>
      <p:pic>
        <p:nvPicPr>
          <p:cNvPr descr="images/clipboard-9728597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RStudio: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>
                <a:latin typeface="Courier"/>
              </a:rPr>
              <a:t>file</a:t>
            </a:r>
            <a:r>
              <a:rPr/>
              <a:t> - </a:t>
            </a:r>
            <a:r>
              <a:rPr>
                <a:latin typeface="Courier"/>
              </a:rPr>
              <a:t>open project</a:t>
            </a:r>
            <a:r>
              <a:rPr/>
              <a:t> and select the </a:t>
            </a:r>
            <a:r>
              <a:rPr>
                <a:latin typeface="Courier"/>
              </a:rPr>
              <a:t>2025_UMD_BioStats_Student_Code.Rproj</a:t>
            </a:r>
            <a:r>
              <a:rPr/>
              <a:t> file or double click on it in the finder or data explorer.</a:t>
            </a:r>
          </a:p>
          <a:p>
            <a:pPr lvl="0" indent="-342900" marL="342900">
              <a:buAutoNum type="arabicPeriod"/>
            </a:pPr>
            <a:r>
              <a:rPr/>
              <a:t>your screen will now change as RStudio knows where home is</a:t>
            </a:r>
          </a:p>
        </p:txBody>
      </p:sp>
      <p:pic>
        <p:nvPicPr>
          <p:cNvPr descr="images/clipboard-26143644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016000"/>
            <a:ext cx="5232400" cy="367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Note that in the upper right you will see </a:t>
            </a:r>
            <a:r>
              <a:rPr>
                <a:latin typeface="Courier"/>
              </a:rPr>
              <a:t>2025_UMD_BioStats_Student_Code</a:t>
            </a:r>
            <a:r>
              <a:rPr/>
              <a:t> so you know you are in the right spot</a:t>
            </a:r>
          </a:p>
          <a:p>
            <a:pPr lvl="0" indent="-342900" marL="342900">
              <a:buAutoNum startAt="3" type="arabicPeriod"/>
            </a:pPr>
            <a:r>
              <a:rPr/>
              <a:t>Now click File - New File - Quarto File</a:t>
            </a:r>
          </a:p>
        </p:txBody>
      </p:sp>
      <p:pic>
        <p:nvPicPr>
          <p:cNvPr descr="images/clipboard-33964006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689100"/>
            <a:ext cx="52324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Create a file that starts with </a:t>
            </a:r>
            <a:r>
              <a:rPr>
                <a:latin typeface="Courier"/>
              </a:rPr>
              <a:t>02_</a:t>
            </a:r>
            <a:r>
              <a:rPr/>
              <a:t> and then something that will help you know what is going on like </a:t>
            </a:r>
            <a:r>
              <a:rPr>
                <a:latin typeface="Courier"/>
              </a:rPr>
              <a:t>02_class_activity_in_class.qmd</a:t>
            </a:r>
          </a:p>
          <a:p>
            <a:pPr lvl="0" indent="-342900" marL="342900">
              <a:buAutoNum startAt="5" type="arabicPeriod"/>
            </a:pPr>
            <a:r>
              <a:rPr/>
              <a:t>Now this file thinks this is home.</a:t>
            </a:r>
          </a:p>
          <a:p>
            <a:pPr lvl="0" indent="-342900" marL="342900">
              <a:buAutoNum startAt="5" type="arabicPeriod"/>
            </a:pPr>
            <a:r>
              <a:rPr/>
              <a:t>So I usually copy stuff for the header from another file as its just too hard to remember all this…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title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"Title of your file"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Title of the file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author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Name"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who you are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metadata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files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..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..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_templates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lectures.yml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metadata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files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_templates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activities.yml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format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html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freeze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toc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default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embed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resources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self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contained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default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toc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toc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depth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number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sections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highlight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style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github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reference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doc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ms_templates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custom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reference.docx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embed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resources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true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---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1: Now to load the libraries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install packages 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install.packages("readxl")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install.packages("tidyverse")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# we will install a few new libraries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install.packages("skimr")</a:t>
            </a:r>
          </a:p>
          <a:p>
            <a:pPr lvl="0" indent="0" marL="0">
              <a:buNone/>
            </a:pPr>
            <a:r>
              <a:rPr/>
              <a:t>Each script you run from then on you will load the libraries from within the package.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libraries 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allows to read in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provides utilities seen in console</a:t>
            </a:r>
          </a:p>
          <a:p>
            <a:pPr lvl="0" indent="0">
              <a:buNone/>
            </a:pPr>
            <a:r>
              <a:rPr>
                <a:latin typeface="Courier"/>
              </a:rPr>
              <a:t>── Attaching core tidyverse packages ──────────────────────── tidyverse 2.0.0 ──
✔ dplyr     1.2.1     ✔ readr     2.2.0
✔ forcats   1.0.1     ✔ stringr   1.6.0
✔ ggplot2   4.0.3     ✔ tibble    3.3.1
✔ lubridate 1.9.5     ✔ tidyr     1.3.2
✔ purrr     1.2.2     
── Conflicts ────────────────────────────────────────── tidyverse_conflicts() ──
✖ dplyr::filter() masks stats::filter()
✖ dplyr::lag()    masks stats::lag()
ℹ Use the conflicted package (&lt;http://conflicted.r-lib.org/&gt;) to force all conflicts to become errors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provide summary stats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it cleans ; )</a:t>
            </a:r>
          </a:p>
          <a:p>
            <a:pPr lvl="0" indent="0">
              <a:buNone/>
            </a:pPr>
            <a:r>
              <a:rPr>
                <a:latin typeface="Courier"/>
              </a:rPr>
              <a:t>
Attaching package: 'janitor'
The following objects are masked from 'package:stats':
    chisq.test, fisher.test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2: Loading and Examining Data</a:t>
            </a:r>
          </a:p>
          <a:p>
            <a:pPr lvl="0" indent="0" marL="0">
              <a:buNone/>
            </a:pPr>
            <a:r>
              <a:rPr/>
              <a:t>Now like we did before with x and y we will do this with a spreadsheet from a CSV file or excel file</a:t>
            </a:r>
          </a:p>
          <a:p>
            <a:pPr lvl="0" indent="0" marL="0">
              <a:buNone/>
            </a:pPr>
            <a:r>
              <a:rPr/>
              <a:t>We are going to work with the same data we did in the last class.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file 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file is in the  data sub directory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below put cursor between "" and click tab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allows to to select the directory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tab again and select the file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reads in csv file</a:t>
            </a:r>
          </a:p>
          <a:p>
            <a:pPr lvl="0" indent="0">
              <a:buNone/>
            </a:pPr>
            <a:r>
              <a:rPr>
                <a:latin typeface="Courier"/>
              </a:rPr>
              <a:t>Rows: 48 Columns: 6
── Column specification ────────────────────────────────────────────────────────
Delimiter: ","
chr (4): date, group, n_s, wind
dbl (2): tree_no, length_mm
ℹ Use `spec()` to retrieve the full column specification for this data.
ℹ Specify the column types or set `show_col_types = FALSE` to quiet this message.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dataframe stored by "&lt;-" reading in csv file in quotes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3: Examining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pine needle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48 Columns: 6
── Column specification ────────────────────────────────────────────────────────
Delimiter: ","
chr (4): date, group, n_s, wind
dbl (2): tree_no, length_mm
ℹ Use `spec()` to retrieve the full column specification for this data.
ℹ Specify the column types or set `show_col_types = FALSE` to quiet this message.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Examine the data structure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48
Columns: 6
$ date      &lt;chr&gt; "3/20/25", "3/20/25", "3/20/25", "3/20/25", "3/20/25", "3/20…
$ group     &lt;chr&gt; "cephalopods", "cephalopods", "cephalopods", "cephalopods", …
$ n_s       &lt;chr&gt; "n", "n", "n", "n", "n", "n", "s", "s", "s", "s", "s", "s", …
$ wind      &lt;chr&gt; "lee", "lee", "lee", "lee", "lee", "lee", "wind", "wind", "w…
$ tree_no   &lt;dbl&gt; 1, 1, 1, 1, 1, 1, 1, 1, 1, 1, 1, 1, 2, 2, 2, 2, 2, 2, 2, 2, …
$ length_mm &lt;dbl&gt; 20, 21, 23, 25, 21, 16, 15, 16, 14, 17, 13, 15, 19, 18, 20, 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View the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group       n_s   wind  tree_no length_mm
  &lt;chr&gt;   &lt;chr&gt;       &lt;chr&gt; &lt;chr&gt;   &lt;dbl&gt;     &lt;dbl&gt;
1 3/20/25 cephalopods n     lee         1        20
2 3/20/25 cephalopods n     lee         1        21
3 3/20/25 cephalopods n     lee         1        23
4 3/20/25 cephalopods n     lee         1        25
5 3/20/25 cephalopods n     lee         1        21
6 3/20/25 cephalopods n     lee         1        16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Get a statistical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(p_df)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date          group           n_s            wind       tree_no    
 Length   :48   Length   :48   Length   :48   Length   :48   Min.   :1.00  
 N.unique : 1   N.unique : 4   N.unique : 2   N.unique : 2   1st Qu.:1.75  
 N.blank  : 0   N.blank  : 0   N.blank  : 0   N.blank  : 0   Median :2.50  
 Min.nchar: 7   Min.nchar: 5   Min.nchar: 1   Min.nchar: 3   Mean   :2.50  
 Max.nchar: 7   Max.nchar:11   Max.nchar: 1   Max.nchar: 4   3rd Qu.:3.25  
                                                             Max.   :4.00  
   length_mm    
 Min.   :12.00  
 1st Qu.:15.00  
 Median :17.50  
 Mean   :17.67  
 3rd Qu.:20.25  
 Max.   :25.00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Questions to Consider:</a:t>
            </a:r>
          </a:p>
          <a:p>
            <a:pPr lvl="0" indent="-342900" marL="342900">
              <a:buAutoNum type="arabicPeriod"/>
            </a:pPr>
            <a:r>
              <a:rPr/>
              <a:t>What variables are in our dataset?</a:t>
            </a:r>
          </a:p>
          <a:p>
            <a:pPr lvl="0" indent="-342900" marL="342900">
              <a:buAutoNum type="arabicPeriod"/>
            </a:pPr>
            <a:r>
              <a:rPr/>
              <a:t>What are their data types?</a:t>
            </a:r>
          </a:p>
          <a:p>
            <a:pPr lvl="0" indent="-342900" marL="342900">
              <a:buAutoNum type="arabicPeriod"/>
            </a:pPr>
            <a:r>
              <a:rPr/>
              <a:t>Are there any missing values?</a:t>
            </a:r>
          </a:p>
          <a:p>
            <a:pPr lvl="0" indent="-342900" marL="342900">
              <a:buAutoNum type="arabicPeriod"/>
            </a:pPr>
            <a:r>
              <a:rPr/>
              <a:t>Do the variable names follow consistent conventions?</a:t>
            </a:r>
          </a:p>
          <a:p>
            <a:pPr lvl="0" indent="-342900" marL="342900">
              <a:buAutoNum type="arabicPeriod"/>
            </a:pPr>
            <a:r>
              <a:rPr/>
              <a:t>How might we improve the data organization?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Basic Data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create some simple visualizations to explore our data: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2: Creating a Histogram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basic histogram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</p:txBody>
      </p:sp>
      <p:pic>
        <p:nvPicPr>
          <p:cNvPr descr="project_design_graphing_activity_files/figure-pptx/basic-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histogram with color grouping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"dodge"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</p:txBody>
      </p:sp>
      <p:pic>
        <p:nvPicPr>
          <p:cNvPr descr="project_design_graphing_activity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Insights from Histograms:</a:t>
            </a:r>
          </a:p>
          <a:p>
            <a:pPr lvl="0" indent="0" marL="0">
              <a:buNone/>
            </a:pPr>
            <a:r>
              <a:rPr/>
              <a:t>The histogram helps us understand: - The overall distribution of needle lengths - Potential differences between windward and leeward needles - Presence of any unusual values or outliers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3: Creating Multiple Plot Types</a:t>
            </a:r>
          </a:p>
          <a:p>
            <a:pPr lvl="0" indent="0" marL="0">
              <a:buNone/>
            </a:pPr>
            <a:r>
              <a:rPr/>
              <a:t>Let’s explore different ways to visualize the same data: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Box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box_plot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Violin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violin_plot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geom_violin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Dot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dot_plot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all plots using patchwork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violin_plot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dot_plot</a:t>
            </a:r>
          </a:p>
        </p:txBody>
      </p:sp>
      <p:pic>
        <p:nvPicPr>
          <p:cNvPr descr="project_design_graphing_activity_files/figure-pptx/multiple-plot-type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to Consider:</a:t>
            </a:r>
          </a:p>
          <a:p>
            <a:pPr lvl="0" indent="-342900" marL="342900">
              <a:buAutoNum type="arabicPeriod"/>
            </a:pPr>
            <a:r>
              <a:rPr/>
              <a:t>Which plot type best reveals patterns in our data?</a:t>
            </a:r>
          </a:p>
          <a:p>
            <a:pPr lvl="0" indent="-342900" marL="342900">
              <a:buAutoNum type="arabicPeriod"/>
            </a:pPr>
            <a:r>
              <a:rPr/>
              <a:t>What are the advantages and disadvantages of each plot type?</a:t>
            </a:r>
          </a:p>
          <a:p>
            <a:pPr lvl="0" indent="-342900" marL="342900">
              <a:buAutoNum type="arabicPeriod"/>
            </a:pPr>
            <a:r>
              <a:rPr/>
              <a:t>How might we combine elements from different plot types?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3: Building Complex Visualizations Layer by Layer</a:t>
            </a:r>
          </a:p>
          <a:p>
            <a:pPr lvl="0" indent="0" marL="0">
              <a:buNone/>
            </a:pPr>
            <a:r>
              <a:rPr/>
              <a:t>Now let’s build more sophisticated visualizations by adding layers one at a time: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4: Building a Layered Plot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Start with a basic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p1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boxplot layer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p2 &lt;- p1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individual data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p3 &lt;- p2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mean indicators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p4 &lt;- p3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a 2x2 grid of the progressive plot building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(p1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p2)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(p3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p4)</a:t>
            </a:r>
          </a:p>
        </p:txBody>
      </p:sp>
      <p:pic>
        <p:nvPicPr>
          <p:cNvPr descr="project_design_graphing_activity_files/figure-pptx/layered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19200"/>
            <a:ext cx="5232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Points:</a:t>
            </a:r>
          </a:p>
          <a:p>
            <a:pPr lvl="0"/>
            <a:r>
              <a:rPr/>
              <a:t>How does each layer contribute to the story our data is telling?</a:t>
            </a:r>
          </a:p>
          <a:p>
            <a:pPr lvl="0"/>
            <a:r>
              <a:rPr/>
              <a:t>Why might we want to show individual data points alongside summary statistics?</a:t>
            </a:r>
          </a:p>
          <a:p>
            <a:pPr lvl="0"/>
            <a:r>
              <a:rPr/>
              <a:t>How does transparency (alpha) help when overlaying multiple elements?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4: Customizing Plots for Publication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5: Adding customization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fully customized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color_plot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violin plots for distribution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geom_violin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boxplots for key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individual data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mean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Customize colors with a colorblind-friendly palette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"#1b9e77"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20794D"/>
                </a:solidFill>
                <a:latin typeface="Courier"/>
              </a:rPr>
              <a:t>"lee"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"#d95f02"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"Windward"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"lee"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"Leeward"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Apply a clean theme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br/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publication-ready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color_plot</a:t>
            </a:r>
          </a:p>
        </p:txBody>
      </p:sp>
      <p:pic>
        <p:nvPicPr>
          <p:cNvPr descr="project_design_graphing_activity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create a publication-quality figure by customizing colors, labels, and themes: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6: Creating a Publication-Ready Plot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fully customized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publication_plot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wind,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violin plots for distribution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geom_violin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boxplots for key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individual data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mean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informative labels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"Tree 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Customize colors with a colorblind-friendly palette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"#1b9e77"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"lee"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"#d95f02"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"Windward"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"lee"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"Leeward"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Apply a clean theme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publication-ready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publication_plot</a:t>
            </a:r>
          </a:p>
        </p:txBody>
      </p:sp>
      <p:pic>
        <p:nvPicPr>
          <p:cNvPr descr="project_design_graphing_activity_files/figure-pptx/publicatio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952500"/>
            <a:ext cx="5067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Customization Elements:</a:t>
            </a:r>
          </a:p>
          <a:p>
            <a:pPr lvl="0" indent="-342900" marL="342900">
              <a:buAutoNum type="arabicPeriod"/>
            </a:pPr>
            <a:r>
              <a:rPr b="1"/>
              <a:t>Plot Elements</a:t>
            </a:r>
            <a:r>
              <a:rPr/>
              <a:t>:</a:t>
            </a:r>
          </a:p>
          <a:p>
            <a:pPr lvl="1"/>
            <a:r>
              <a:rPr/>
              <a:t>Violin plots to show distribution</a:t>
            </a:r>
          </a:p>
          <a:p>
            <a:pPr lvl="1"/>
            <a:r>
              <a:rPr/>
              <a:t>Boxplots to show quartiles and median</a:t>
            </a:r>
          </a:p>
          <a:p>
            <a:pPr lvl="1"/>
            <a:r>
              <a:rPr/>
              <a:t>Individual points for transparency</a:t>
            </a:r>
          </a:p>
          <a:p>
            <a:pPr lvl="1"/>
            <a:r>
              <a:rPr/>
              <a:t>Mean indicators for central tendency</a:t>
            </a:r>
          </a:p>
          <a:p>
            <a:pPr lvl="0" indent="-342900" marL="342900">
              <a:buAutoNum type="arabicPeriod"/>
            </a:pPr>
            <a:r>
              <a:rPr b="1"/>
              <a:t>Visual Design</a:t>
            </a:r>
            <a:r>
              <a:rPr/>
              <a:t>:</a:t>
            </a:r>
          </a:p>
          <a:p>
            <a:pPr lvl="1"/>
            <a:r>
              <a:rPr/>
              <a:t>Colorblind-friendly color palette</a:t>
            </a:r>
          </a:p>
          <a:p>
            <a:pPr lvl="1"/>
            <a:r>
              <a:rPr/>
              <a:t>Thoughtful use of transparency</a:t>
            </a:r>
          </a:p>
          <a:p>
            <a:pPr lvl="1"/>
            <a:r>
              <a:rPr/>
              <a:t>Clear, informative title and subtitle</a:t>
            </a:r>
          </a:p>
          <a:p>
            <a:pPr lvl="1"/>
            <a:r>
              <a:rPr/>
              <a:t>Professional typography and spacing</a:t>
            </a:r>
          </a:p>
          <a:p>
            <a:pPr lvl="0" indent="-342900" marL="342900">
              <a:buAutoNum type="arabicPeriod"/>
            </a:pPr>
            <a:r>
              <a:rPr b="1"/>
              <a:t>Accessibility Considerations</a:t>
            </a:r>
            <a:r>
              <a:rPr/>
              <a:t>:</a:t>
            </a:r>
          </a:p>
          <a:p>
            <a:pPr lvl="1"/>
            <a:r>
              <a:rPr/>
              <a:t>Sufficient contrast</a:t>
            </a:r>
          </a:p>
          <a:p>
            <a:pPr lvl="1"/>
            <a:r>
              <a:rPr/>
              <a:t>Redundant encoding (position and color)</a:t>
            </a:r>
          </a:p>
          <a:p>
            <a:pPr lvl="1"/>
            <a:r>
              <a:rPr/>
              <a:t>Clear labels with units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5: Creating Complex Multi-Panel Figures</a:t>
            </a:r>
          </a:p>
          <a:p>
            <a:pPr lvl="0" indent="0" marL="0">
              <a:buNone/>
            </a:pPr>
            <a:r>
              <a:rPr/>
              <a:t>Finally, let’s create a publication-ready multi-panel figure: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color_plot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publication_plot  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plot_layout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plot_annotation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tag_levels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tag_suffix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project_design_graphing_activity_files/figure-pptx/multi-pane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 can add this to remove things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why do this?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+ theme(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axis.text.y = element_blank(),  # Removes x-axis labels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axis.title.y = element_blank()  # Removes x-axis title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Summary and Key Takeaways</a:t>
            </a:r>
          </a:p>
          <a:p>
            <a:pPr lvl="0" indent="0" marL="0">
              <a:buNone/>
            </a:pPr>
            <a:r>
              <a:rPr/>
              <a:t>In this activity, we’ve learned how to:</a:t>
            </a:r>
          </a:p>
          <a:p>
            <a:pPr lvl="0" indent="-342900" marL="342900">
              <a:buAutoNum type="arabicPeriod"/>
            </a:pPr>
            <a:r>
              <a:rPr b="1"/>
              <a:t>Load and examine data</a:t>
            </a:r>
            <a:r>
              <a:rPr/>
              <a:t> properly</a:t>
            </a:r>
          </a:p>
          <a:p>
            <a:pPr lvl="0" indent="-342900" marL="342900">
              <a:buAutoNum type="arabicPeriod"/>
            </a:pPr>
            <a:r>
              <a:rPr b="1"/>
              <a:t>Create basic visualizations</a:t>
            </a:r>
            <a:r>
              <a:rPr/>
              <a:t> to explore patterns</a:t>
            </a:r>
          </a:p>
          <a:p>
            <a:pPr lvl="0" indent="-342900" marL="342900">
              <a:buAutoNum type="arabicPeriod"/>
            </a:pPr>
            <a:r>
              <a:rPr b="1"/>
              <a:t>Build complex plots layer by layer</a:t>
            </a:r>
            <a:r>
              <a:rPr/>
              <a:t> using ggplot2’s grammar</a:t>
            </a:r>
          </a:p>
          <a:p>
            <a:pPr lvl="0" indent="-342900" marL="342900">
              <a:buAutoNum type="arabicPeriod"/>
            </a:pPr>
            <a:r>
              <a:rPr b="1"/>
              <a:t>Customize plots</a:t>
            </a:r>
            <a:r>
              <a:rPr/>
              <a:t> for clear communication and visual appeal</a:t>
            </a:r>
          </a:p>
          <a:p>
            <a:pPr lvl="0" indent="-342900" marL="342900">
              <a:buAutoNum type="arabicPeriod"/>
            </a:pPr>
            <a:r>
              <a:rPr b="1"/>
              <a:t>Add statistical information</a:t>
            </a:r>
            <a:r>
              <a:rPr/>
              <a:t> to support data interpretation</a:t>
            </a:r>
          </a:p>
          <a:p>
            <a:pPr lvl="0" indent="-342900" marL="342900">
              <a:buAutoNum type="arabicPeriod"/>
            </a:pPr>
            <a:r>
              <a:rPr b="1"/>
              <a:t>Combine multiple plots</a:t>
            </a:r>
            <a:r>
              <a:rPr/>
              <a:t> into publication-ready figures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 for Data Visualization:</a:t>
            </a:r>
          </a:p>
          <a:p>
            <a:pPr lvl="0" indent="-342900" marL="342900">
              <a:buAutoNum type="arabicPeriod"/>
            </a:pPr>
            <a:r>
              <a:rPr b="1"/>
              <a:t>Start simple</a:t>
            </a:r>
            <a:r>
              <a:rPr/>
              <a:t>, then add complexity as needed</a:t>
            </a:r>
          </a:p>
          <a:p>
            <a:pPr lvl="0" indent="-342900" marL="342900">
              <a:buAutoNum type="arabicPeriod"/>
            </a:pPr>
            <a:r>
              <a:rPr b="1"/>
              <a:t>Focus on the story</a:t>
            </a:r>
            <a:r>
              <a:rPr/>
              <a:t> your data is telling</a:t>
            </a:r>
          </a:p>
          <a:p>
            <a:pPr lvl="0" indent="-342900" marL="342900">
              <a:buAutoNum type="arabicPeriod"/>
            </a:pPr>
            <a:r>
              <a:rPr b="1"/>
              <a:t>Use appropriate plot types</a:t>
            </a:r>
            <a:r>
              <a:rPr/>
              <a:t> for your data structure</a:t>
            </a:r>
          </a:p>
          <a:p>
            <a:pPr lvl="0" indent="-342900" marL="342900">
              <a:buAutoNum type="arabicPeriod"/>
            </a:pPr>
            <a:r>
              <a:rPr b="1"/>
              <a:t>Minimize chart junk</a:t>
            </a:r>
            <a:r>
              <a:rPr/>
              <a:t> and maximize data-ink ratio</a:t>
            </a:r>
          </a:p>
          <a:p>
            <a:pPr lvl="0" indent="-342900" marL="342900">
              <a:buAutoNum type="arabicPeriod"/>
            </a:pPr>
            <a:r>
              <a:rPr b="1"/>
              <a:t>Create clear, informative labels</a:t>
            </a:r>
          </a:p>
          <a:p>
            <a:pPr lvl="0" indent="-342900" marL="342900">
              <a:buAutoNum type="arabicPeriod"/>
            </a:pPr>
            <a:r>
              <a:rPr b="1"/>
              <a:t>Use color purposefully</a:t>
            </a:r>
            <a:r>
              <a:rPr/>
              <a:t> and with accessibility in mind</a:t>
            </a:r>
          </a:p>
          <a:p>
            <a:pPr lvl="0" indent="-342900" marL="342900">
              <a:buAutoNum type="arabicPeriod"/>
            </a:pPr>
            <a:r>
              <a:rPr b="1"/>
              <a:t>Include both individual data points and summary statistics</a:t>
            </a:r>
            <a:r>
              <a:rPr/>
              <a:t> when possible</a:t>
            </a:r>
          </a:p>
          <a:p>
            <a:pPr lvl="0" indent="-342900" marL="342900">
              <a:buAutoNum type="arabicPeriod"/>
            </a:pPr>
            <a:r>
              <a:rPr b="1"/>
              <a:t>Consider your audience</a:t>
            </a:r>
            <a:r>
              <a:rPr/>
              <a:t> when designing visualizations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&amp; Graphing Data</dc:title>
  <dc:creator>Bill Perry</dc:creator>
  <cp:keywords/>
  <dc:description>Hands-on activity: project setup and graphing with ggplot2.</dc:description>
  <dcterms:created xsi:type="dcterms:W3CDTF">2026-07-06T01:00:06Z</dcterms:created>
  <dcterms:modified xsi:type="dcterms:W3CDTF">2026-07-06T01:00:06Z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format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2</vt:lpwstr>
  </property>
  <property fmtid="{D5CDD505-2E9C-101B-9397-08002B2CF9AE}" pid="14" name="resources">
    <vt:lpwstr/>
  </property>
  <property fmtid="{D5CDD505-2E9C-101B-9397-08002B2CF9AE}" pid="15" name="subtitle">
    <vt:lpwstr>Projects and ggplot</vt:lpwstr>
  </property>
  <property fmtid="{D5CDD505-2E9C-101B-9397-08002B2CF9AE}" pid="16" name="toc-title">
    <vt:lpwstr>Table of contents</vt:lpwstr>
  </property>
  <property fmtid="{D5CDD505-2E9C-101B-9397-08002B2CF9AE}" pid="17" name="week">
    <vt:lpwstr>1</vt:lpwstr>
  </property>
</Properties>
</file>