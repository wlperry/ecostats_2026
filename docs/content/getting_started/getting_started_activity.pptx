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Getting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a question in the field to your first plot in R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and </a:t>
            </a:r>
            <a:r>
              <a:rPr sz="2000" b="1"/>
              <a:t>Part 14 (Going further)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  <a:p>
            <a:pPr lvl="0"/>
            <a:r>
              <a:rPr/>
              <a:t>We are asking whether pine needle length differs between the </a:t>
            </a:r>
            <a:r>
              <a:rPr b="1"/>
              <a:t>sheltered/lee</a:t>
            </a:r>
            <a:r>
              <a:rPr/>
              <a:t> side and the </a:t>
            </a:r>
            <a:r>
              <a:rPr b="1"/>
              <a:t>exposed/windward</a:t>
            </a:r>
            <a:r>
              <a:rPr/>
              <a:t> side of a tree.</a:t>
            </a:r>
          </a:p>
          <a:p>
            <a:pPr lvl="0"/>
            <a:r>
              <a:rPr/>
              <a:t>The </a:t>
            </a:r>
            <a:r>
              <a:rPr b="1"/>
              <a:t>tree</a:t>
            </a:r>
            <a:r>
              <a:rPr/>
              <a:t>, not the needle, is our unit of replication — one tree is not enough (this is called </a:t>
            </a:r>
            <a:r>
              <a:rPr b="1"/>
              <a:t>pseudoreplication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your own null and alternate hypotheses in your own words.</a:t>
            </a:r>
          </a:p>
          <a:p>
            <a:pPr lvl="0" indent="0">
              <a:buNone/>
            </a:pPr>
            <a:r>
              <a:rPr>
                <a:latin typeface="Courier"/>
              </a:rPr>
              <a:t>H0:
Ha: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the following statement inductive or deductive reasoning? </a:t>
            </a:r>
            <a:r>
              <a:rPr i="1"/>
              <a:t>“I measured needles on three trees, all showed the sheltered side longer, so I expect a fourth tree to show the same pattern.”</a:t>
            </a:r>
            <a:r>
              <a:rPr/>
              <a:t> Why can’t we test a hypothesis like this using only one tree?</a:t>
            </a:r>
          </a:p>
          <a:p>
            <a:pPr lvl="0" indent="0">
              <a:buNone/>
            </a:pPr>
            <a:r>
              <a:rPr>
                <a:latin typeface="Courier"/>
              </a:rPr>
              <a:t>Reasoning type:
Why one tree isn't enough: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Field collection plan</a:t>
            </a:r>
          </a:p>
          <a:p>
            <a:pPr lvl="0" indent="0" marL="0">
              <a:buNone/>
            </a:pPr>
            <a:r>
              <a:rPr/>
              <a:t>As a group, agree on and record your answers before you go outside:</a:t>
            </a:r>
          </a:p>
          <a:p>
            <a:pPr lvl="0" indent="0">
              <a:buNone/>
            </a:pPr>
            <a:r>
              <a:rPr>
                <a:latin typeface="Courier"/>
              </a:rPr>
              <a:t>Sample height on tree:
Definition of "mature" needle:
Needles per side, per tree:
Label convention (n/s? lee/wind?):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Build your project 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a project folder?</a:t>
            </a:r>
          </a:p>
          <a:p>
            <a:pPr lvl="0" indent="0" marL="0">
              <a:buNone/>
            </a:pPr>
            <a:r>
              <a:rPr/>
              <a:t>Everything for this project lives in </a:t>
            </a:r>
            <a:r>
              <a:rPr b="1"/>
              <a:t>one folder</a:t>
            </a:r>
            <a:r>
              <a:rPr/>
              <a:t>, so every file path is </a:t>
            </a:r>
            <a:r>
              <a:rPr i="1"/>
              <a:t>relative</a:t>
            </a:r>
            <a:r>
              <a:rPr/>
              <a:t> to it — no more hunting for where a file went.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Create the folder structure</a:t>
            </a:r>
          </a:p>
          <a:p>
            <a:pPr lvl="0" indent="0" marL="0">
              <a:buNone/>
            </a:pPr>
            <a:r>
              <a:rPr/>
              <a:t>Make a new folder called </a:t>
            </a:r>
            <a:r>
              <a:rPr>
                <a:latin typeface="Courier"/>
              </a:rPr>
              <a:t>pine_project</a:t>
            </a:r>
            <a:r>
              <a:rPr/>
              <a:t>. Inside it, create three sub-folders:</a:t>
            </a:r>
          </a:p>
          <a:p>
            <a:pPr lvl="0" indent="0">
              <a:buNone/>
            </a:pPr>
            <a:r>
              <a:rPr>
                <a:latin typeface="Courier"/>
              </a:rPr>
              <a:t>pine_project/
├── data/       ← your CSV and Excel files go here
├── scripts/    ← your .R code goes here
└── figures/    ← plots you save go here</a:t>
            </a:r>
          </a:p>
          <a:p>
            <a:pPr lvl="0" indent="0" marL="0">
              <a:buNone/>
            </a:pPr>
            <a:r>
              <a:rPr/>
              <a:t>Copy </a:t>
            </a:r>
            <a:r>
              <a:rPr>
                <a:latin typeface="Courier"/>
              </a:rPr>
              <a:t>pine_needles.csv</a:t>
            </a:r>
            <a:r>
              <a:rPr/>
              <a:t> into </a:t>
            </a:r>
            <a:r>
              <a:rPr>
                <a:latin typeface="Courier"/>
              </a:rPr>
              <a:t>pine_project/data/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Important:</a:t>
            </a:r>
            <a:r>
              <a:rPr sz="2000"/>
              <a:t> Leave this copy alone — it is raw data. We will read it but never overwrite it. (Your own field data will get cleaned up and added here starting in Wrangling Your Data.)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Full path to your </a:t>
            </a:r>
            <a:r>
              <a:rPr>
                <a:latin typeface="Courier"/>
              </a:rPr>
              <a:t>pine_project</a:t>
            </a:r>
            <a:r>
              <a:rPr/>
              <a:t> folder: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Orient yourself in Positron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your project folder as your workspace: </a:t>
            </a:r>
            <a:r>
              <a:rPr b="1"/>
              <a:t>File → Open Folder…</a:t>
            </a:r>
          </a:p>
          <a:p>
            <a:pPr lvl="0" indent="0" marL="0">
              <a:buNone/>
            </a:pPr>
            <a:r>
              <a:rPr/>
              <a:t>Four panes you’ll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actually runs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object you’ve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 /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 (tab)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figures and project files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Click the </a:t>
            </a:r>
            <a:r>
              <a:rPr b="1"/>
              <a:t>Console</a:t>
            </a:r>
            <a:r>
              <a:rPr/>
              <a:t> tab. Type </a:t>
            </a:r>
            <a:r>
              <a:rPr>
                <a:latin typeface="Courier"/>
              </a:rPr>
              <a:t>1 + 1</a:t>
            </a:r>
            <a:r>
              <a:rPr/>
              <a:t> and press Enter. Result: </a:t>
            </a:r>
            <a:r>
              <a:rPr>
                <a:latin typeface="Courier"/>
              </a:rPr>
              <a:t>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 as a calculator, and storing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A </a:t>
            </a:r>
            <a:r>
              <a:rPr sz="2000">
                <a:latin typeface="Courier"/>
              </a:rPr>
              <a:t>+</a:t>
            </a:r>
            <a:r>
              <a:rPr sz="2000"/>
              <a:t> at the </a:t>
            </a:r>
            <a:r>
              <a:rPr sz="2000" i="1"/>
              <a:t>start</a:t>
            </a:r>
            <a:r>
              <a:rPr sz="2000"/>
              <a:t> of a console line (instead of the usual </a:t>
            </a:r>
            <a:r>
              <a:rPr sz="2000">
                <a:latin typeface="Courier"/>
              </a:rPr>
              <a:t>&gt;</a:t>
            </a:r>
            <a:r>
              <a:rPr sz="2000"/>
              <a:t> prompt) means R is still waiting for you to finish typing something. Press </a:t>
            </a:r>
            <a:r>
              <a:rPr sz="2000" b="1"/>
              <a:t>Esc</a:t>
            </a:r>
            <a:r>
              <a:rPr sz="2000"/>
              <a:t> to cancel.</a:t>
            </a:r>
          </a:p>
          <a:p>
            <a:pPr lvl="0" indent="0" marL="0">
              <a:buNone/>
            </a:pPr>
            <a:r>
              <a:rPr/>
              <a:t>Now store a value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 (shortcut: Alt/Option + </a:t>
            </a:r>
            <a:r>
              <a:rPr>
                <a:latin typeface="Courier"/>
              </a:rPr>
              <a:t>-</a:t>
            </a:r>
            <a:r>
              <a:rPr/>
              <a:t>):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</a:t>
            </a:r>
            <a:r>
              <a:rPr>
                <a:solidFill>
                  <a:srgbClr val="5E5E5E"/>
                </a:solidFill>
                <a:latin typeface="Courier"/>
              </a:rPr>
              <a:t>#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0">
              <a:buNone/>
            </a:pPr>
            <a:r>
              <a:rPr/>
              <a:t>Look for </a:t>
            </a:r>
            <a:r>
              <a:rPr>
                <a:latin typeface="Courier"/>
              </a:rPr>
              <a:t>x</a:t>
            </a:r>
            <a:r>
              <a:rPr/>
              <a:t> in the </a:t>
            </a:r>
            <a:r>
              <a:rPr b="1"/>
              <a:t>Environment</a:t>
            </a:r>
            <a:r>
              <a:rPr/>
              <a:t> pane.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Store the number </a:t>
            </a:r>
            <a:r>
              <a:rPr>
                <a:latin typeface="Courier"/>
              </a:rPr>
              <a:t>42</a:t>
            </a:r>
            <a:r>
              <a:rPr/>
              <a:t> as </a:t>
            </a:r>
            <a:r>
              <a:rPr>
                <a:latin typeface="Courier"/>
              </a:rPr>
              <a:t>my_number</a:t>
            </a:r>
            <a:r>
              <a:rPr/>
              <a:t>, then multiply it by </a:t>
            </a:r>
            <a:r>
              <a:rPr>
                <a:latin typeface="Courier"/>
              </a:rPr>
              <a:t>x</a:t>
            </a:r>
            <a:r>
              <a:rPr/>
              <a:t>. Result: </a:t>
            </a:r>
            <a:r>
              <a:rPr>
                <a:latin typeface="Courier"/>
              </a:rPr>
              <a:t>_____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x / my_number</a:t>
            </a:r>
            <a:r>
              <a:rPr sz="2000"/>
              <a:t> and </a:t>
            </a:r>
            <a:r>
              <a:rPr sz="2000">
                <a:latin typeface="Courier"/>
              </a:rPr>
              <a:t>my_number %% x</a:t>
            </a:r>
            <a:r>
              <a:rPr sz="2000"/>
              <a:t> (the remainder operator). Predict each result before you run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Naming things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 be explicit (</a:t>
            </a:r>
            <a:r>
              <a:rPr>
                <a:latin typeface="Courier"/>
              </a:rPr>
              <a:t>needle_length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  <a:r>
              <a:rPr/>
              <a:t>), never start with a number, and R is </a:t>
            </a:r>
            <a:r>
              <a:rPr b="1"/>
              <a:t>case-sensitive</a:t>
            </a:r>
            <a:r>
              <a:rPr/>
              <a:t> (</a:t>
            </a:r>
            <a:r>
              <a:rPr>
                <a:latin typeface="Courier"/>
              </a:rPr>
              <a:t>length_mm</a:t>
            </a:r>
            <a:r>
              <a:rPr/>
              <a:t> ≠ </a:t>
            </a:r>
            <a:r>
              <a:rPr>
                <a:latin typeface="Courier"/>
              </a:rPr>
              <a:t>Length_mm</a:t>
            </a:r>
            <a:r>
              <a:rPr/>
              <a:t>). Use </a:t>
            </a:r>
            <a:r>
              <a:rPr>
                <a:latin typeface="Courier"/>
              </a:rPr>
              <a:t>lower_snake_case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of these are valid R object names? Circle Y or N.</a:t>
            </a:r>
          </a:p>
          <a:p>
            <a:pPr lvl="0" indent="0">
              <a:buNone/>
            </a:pPr>
            <a:r>
              <a:rPr>
                <a:latin typeface="Courier"/>
              </a:rPr>
              <a:t>needle_length     Y / N
3rd_needle        Y / N
Length_mm         Y / N
my.needle.data    Y / N
n_s               Y / 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after </a:t>
            </a:r>
            <a:r>
              <a:rPr>
                <a:latin typeface="Courier"/>
              </a:rPr>
              <a:t>#</a:t>
            </a:r>
            <a:r>
              <a:rPr/>
              <a:t> is ignored by R — a note for humans.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of four needle lengths,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needle_length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(needle_length)   </a:t>
            </a:r>
            <a:r>
              <a:rPr>
                <a:solidFill>
                  <a:srgbClr val="5E5E5E"/>
                </a:solidFill>
                <a:latin typeface="Courier"/>
              </a:rPr>
              <a:t># average needle length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If a line confused you while writing it, comment </a:t>
            </a:r>
            <a:r>
              <a:rPr sz="2000" i="1"/>
              <a:t>why</a:t>
            </a:r>
            <a:r>
              <a:rPr sz="2000"/>
              <a:t> you did it — future you will forget.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Functions and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called by name and takes </a:t>
            </a:r>
            <a:r>
              <a:rPr b="1"/>
              <a:t>arguments</a:t>
            </a:r>
            <a:r>
              <a:rPr/>
              <a:t> in </a:t>
            </a:r>
            <a:r>
              <a:rPr>
                <a:latin typeface="Courier"/>
              </a:rPr>
              <a:t>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decimal places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2 decimal places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Stuck? </a:t>
            </a:r>
            <a:r>
              <a:rPr>
                <a:latin typeface="Courier"/>
              </a:rPr>
              <a:t>?round</a:t>
            </a:r>
            <a:r>
              <a:rPr/>
              <a:t> opens the help page.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Use </a:t>
            </a:r>
            <a:r>
              <a:rPr>
                <a:latin typeface="Courier"/>
              </a:rPr>
              <a:t>round()</a:t>
            </a:r>
            <a:r>
              <a:rPr/>
              <a:t> to round </a:t>
            </a:r>
            <a:r>
              <a:rPr>
                <a:latin typeface="Courier"/>
              </a:rPr>
              <a:t>pi</a:t>
            </a:r>
            <a:r>
              <a:rPr/>
              <a:t> (R knows this by name) to 4 decimal places. Result: </a:t>
            </a:r>
            <a:r>
              <a:rPr>
                <a:latin typeface="Courier"/>
              </a:rPr>
              <a:t>_____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Vectors and 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. A spreadsheet column is really just a vector.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length_mm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numeric vector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 vector — needs quotes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(length_mm)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"n"</a:t>
            </a:r>
            <a:r>
              <a:rPr sz="2000"/>
              <a:t> in quotes is text. Without quotes, R looks for an </a:t>
            </a:r>
            <a:r>
              <a:rPr sz="2000" i="1"/>
              <a:t>object</a:t>
            </a:r>
            <a:r>
              <a:rPr sz="2000"/>
              <a:t> called </a:t>
            </a:r>
            <a:r>
              <a:rPr sz="2000">
                <a:latin typeface="Courier"/>
              </a:rPr>
              <a:t>n</a:t>
            </a:r>
            <a:r>
              <a:rPr sz="2000"/>
              <a:t> and errors if none exists.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a character vector called </a:t>
            </a:r>
            <a:r>
              <a:rPr>
                <a:latin typeface="Courier"/>
              </a:rPr>
              <a:t>my_sides</a:t>
            </a:r>
            <a:r>
              <a:rPr/>
              <a:t> with the values </a:t>
            </a:r>
            <a:r>
              <a:rPr>
                <a:latin typeface="Courier"/>
              </a:rPr>
              <a:t>"n"</a:t>
            </a:r>
            <a:r>
              <a:rPr/>
              <a:t> and </a:t>
            </a:r>
            <a:r>
              <a:rPr>
                <a:latin typeface="Courier"/>
              </a:rPr>
              <a:t>"s"</a:t>
            </a:r>
            <a:r>
              <a:rPr/>
              <a:t>. Check its </a:t>
            </a:r>
            <a:r>
              <a:rPr>
                <a:latin typeface="Courier"/>
              </a:rPr>
              <a:t>length()</a:t>
            </a:r>
            <a:r>
              <a:rPr/>
              <a:t> and </a:t>
            </a:r>
            <a:r>
              <a:rPr>
                <a:latin typeface="Courier"/>
              </a:rPr>
              <a:t>class()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Make a numeric vector of 5 needle lengths you make up. Run </a:t>
            </a:r>
            <a:r>
              <a:rPr sz="2000">
                <a:latin typeface="Courier"/>
              </a:rPr>
              <a:t>mean()</a:t>
            </a:r>
            <a:r>
              <a:rPr sz="2000"/>
              <a:t> and </a:t>
            </a:r>
            <a:r>
              <a:rPr sz="2000">
                <a:latin typeface="Courier"/>
              </a:rPr>
              <a:t>sd()</a:t>
            </a:r>
            <a:r>
              <a:rPr sz="2000"/>
              <a:t> on it — both work directly on a vector, no data frame needed.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Packages and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Install once</a:t>
            </a:r>
            <a:r>
              <a:rPr/>
              <a:t>,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put this at the very top of every script:</a:t>
            </a:r>
          </a:p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Packages ──────────────────────────────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First line R prints after </a:t>
            </a:r>
            <a:r>
              <a:rPr>
                <a:latin typeface="Courier"/>
              </a:rPr>
              <a:t>library(tidyverse)</a:t>
            </a:r>
            <a:r>
              <a:rPr/>
              <a:t>: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Load the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Create your script</a:t>
            </a:r>
          </a:p>
          <a:p>
            <a:pPr lvl="0" indent="0" marL="0">
              <a:buNone/>
            </a:pPr>
            <a:r>
              <a:rPr b="1"/>
              <a:t>File → New File → R Script</a:t>
            </a:r>
            <a:r>
              <a:rPr/>
              <a:t>. Save it immediately as </a:t>
            </a:r>
            <a:r>
              <a:rPr>
                <a:latin typeface="Courier"/>
              </a:rPr>
              <a:t>01_getting_started.R</a:t>
            </a:r>
            <a:r>
              <a:rPr/>
              <a:t> inside </a:t>
            </a:r>
            <a:r>
              <a:rPr>
                <a:latin typeface="Courier"/>
              </a:rPr>
              <a:t>pine_project/scripts/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Load data ─────────────────────────────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   </a:t>
            </a:r>
            <a:r>
              <a:rPr>
                <a:solidFill>
                  <a:srgbClr val="5E5E5E"/>
                </a:solidFill>
                <a:latin typeface="Courier"/>
              </a:rPr>
              <a:t># print to console</a:t>
            </a:r>
          </a:p>
          <a:p>
            <a:pPr lvl="0" indent="0" marL="0">
              <a:buNone/>
            </a:pPr>
            <a:r>
              <a:rPr/>
              <a:t>The path </a:t>
            </a:r>
            <a:r>
              <a:rPr>
                <a:latin typeface="Courier"/>
              </a:rPr>
              <a:t>"data/..."</a:t>
            </a:r>
            <a:r>
              <a:rPr/>
              <a:t> is </a:t>
            </a:r>
            <a:r>
              <a:rPr i="1"/>
              <a:t>relative</a:t>
            </a:r>
            <a:r>
              <a:rPr/>
              <a:t> to your project folder — it works on anyone’s computer, not just yours.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Always look before you trust it</a:t>
            </a:r>
          </a:p>
          <a:p>
            <a:pPr lvl="0" indent="0" marL="0">
              <a:buNone/>
            </a:pPr>
            <a:r>
              <a:rPr b="1"/>
              <a:t>▶ Run each of these: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(pine_df) 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(pine_df)         </a:t>
            </a:r>
            <a:r>
              <a:rPr>
                <a:solidFill>
                  <a:srgbClr val="5E5E5E"/>
                </a:solidFill>
                <a:latin typeface="Courier"/>
              </a:rPr>
              <a:t># (rows, columns)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(pine_df)  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  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Answer from the output above.</a:t>
            </a:r>
          </a:p>
          <a:p>
            <a:pPr lvl="0" indent="0">
              <a:buNone/>
            </a:pPr>
            <a:r>
              <a:rPr>
                <a:latin typeface="Courier"/>
              </a:rPr>
              <a:t>Rows:              Columns:
Type of n_s:        Values in wind: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 closely at </a:t>
            </a:r>
            <a:r>
              <a:rPr>
                <a:latin typeface="Courier"/>
              </a:rPr>
              <a:t>n_s</a:t>
            </a:r>
            <a:r>
              <a:rPr/>
              <a:t> and </a:t>
            </a:r>
            <a:r>
              <a:rPr>
                <a:latin typeface="Courier"/>
              </a:rPr>
              <a:t>wind</a:t>
            </a:r>
            <a:r>
              <a:rPr/>
              <a:t>. Do they ever disagree (n paired with wind, or s paired with lee)? Why might a dataset include two columns that encode the same grouping?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built from three pieces, joined with </a:t>
            </a:r>
            <a:r>
              <a:rPr>
                <a:latin typeface="Courier"/>
              </a:rPr>
              <a:t>+</a:t>
            </a:r>
            <a:r>
              <a:rPr/>
              <a:t>: </a:t>
            </a:r>
            <a:r>
              <a:rPr b="1"/>
              <a:t>data</a:t>
            </a:r>
            <a:r>
              <a:rPr/>
              <a:t>, </a:t>
            </a:r>
            <a:r>
              <a:rPr b="1"/>
              <a:t>aes()</a:t>
            </a:r>
            <a:r>
              <a:rPr/>
              <a:t> (which columns map to x/y), and a </a:t>
            </a:r>
            <a:r>
              <a:rPr b="1"/>
              <a:t>geom</a:t>
            </a:r>
            <a:r>
              <a:rPr/>
              <a:t> (how to draw it).</a:t>
            </a:r>
          </a:p>
          <a:p>
            <a:pPr lvl="0" indent="0" marL="0">
              <a:buNone/>
            </a:pPr>
            <a:r>
              <a:rPr b="1"/>
              <a:t>▶ Run this — the simplest possible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The </a:t>
            </a:r>
            <a:r>
              <a:rPr sz="2000">
                <a:latin typeface="Courier"/>
              </a:rPr>
              <a:t>+</a:t>
            </a:r>
            <a:r>
              <a:rPr sz="2000"/>
              <a:t> sits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Improve it one layer at a time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the same plot using </a:t>
            </a:r>
            <a:r>
              <a:rPr>
                <a:latin typeface="Courier"/>
              </a:rPr>
              <a:t>n_s</a:t>
            </a:r>
            <a:r>
              <a:rPr/>
              <a:t> instead of </a:t>
            </a:r>
            <a:r>
              <a:rPr>
                <a:latin typeface="Courier"/>
              </a:rPr>
              <a:t>wind</a:t>
            </a:r>
            <a:r>
              <a:rPr/>
              <a:t> on the x-axis. Copy the code above and change what’s needed.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code here:</a:t>
            </a:r>
          </a:p>
          <a:p>
            <a:pPr lvl="0" indent="0" marL="0">
              <a:buNone/>
            </a:pPr>
            <a:r>
              <a:rPr/>
              <a:t>What pattern do you see — does the sheltered or exposed side tend to have longer needles?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, or add </a:t>
            </a:r>
            <a:r>
              <a:rPr sz="2000">
                <a:latin typeface="Courier"/>
              </a:rPr>
              <a:t>color = group</a:t>
            </a:r>
            <a:r>
              <a:rPr sz="2000"/>
              <a:t> inside </a:t>
            </a:r>
            <a:r>
              <a:rPr sz="2000">
                <a:latin typeface="Courier"/>
              </a:rPr>
              <a:t>aes()</a:t>
            </a:r>
            <a:r>
              <a:rPr sz="2000"/>
              <a:t> to see each field team’s data separately.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"figures/needle_length.png"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needle_plot,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figures/</a:t>
            </a:r>
            <a:r>
              <a:rPr/>
              <a:t> folder — the PNG should be there.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Always use </a:t>
            </a:r>
            <a:r>
              <a:rPr sz="2000">
                <a:latin typeface="Courier"/>
              </a:rPr>
              <a:t>dpi = 300</a:t>
            </a:r>
            <a:r>
              <a:rPr sz="2000"/>
              <a:t>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State a testable H₀ and Hₐ, and explain why one tree isn’t enough</a:t>
            </a:r>
          </a:p>
          <a:p>
            <a:pPr lvl="0"/>
            <a:r>
              <a:rPr/>
              <a:t>☐ Build a project folder with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/>
              <a:t>☐ Use R as a calculator and store values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☐ Write a script with </a:t>
            </a:r>
            <a:r>
              <a:rPr>
                <a:latin typeface="Courier"/>
              </a:rPr>
              <a:t>#</a:t>
            </a:r>
            <a:r>
              <a:rPr/>
              <a:t> comments, save it, and re-run it</a:t>
            </a:r>
          </a:p>
          <a:p>
            <a:pPr lvl="0"/>
            <a:r>
              <a:rPr/>
              <a:t>☐ Call functions with arguments and use </a:t>
            </a:r>
            <a:r>
              <a:rPr>
                <a:latin typeface="Courier"/>
              </a:rPr>
              <a:t>?</a:t>
            </a:r>
            <a:r>
              <a:rPr/>
              <a:t> for help</a:t>
            </a:r>
          </a:p>
          <a:p>
            <a:pPr lvl="0"/>
            <a:r>
              <a:rPr/>
              <a:t>☐ Build a vector with </a:t>
            </a:r>
            <a:r>
              <a:rPr>
                <a:latin typeface="Courier"/>
              </a:rPr>
              <a:t>c()</a:t>
            </a:r>
            <a:r>
              <a:rPr/>
              <a:t> and check its </a:t>
            </a:r>
            <a:r>
              <a:rPr>
                <a:latin typeface="Courier"/>
              </a:rPr>
              <a:t>length()</a:t>
            </a:r>
            <a:r>
              <a:rPr/>
              <a:t>/</a:t>
            </a:r>
            <a:r>
              <a:rPr>
                <a:latin typeface="Courier"/>
              </a:rPr>
              <a:t>class()</a:t>
            </a:r>
          </a:p>
          <a:p>
            <a:pPr lvl="0"/>
            <a:r>
              <a:rPr/>
              <a:t>☐ Install and load a package with </a:t>
            </a:r>
            <a:r>
              <a:rPr>
                <a:latin typeface="Courier"/>
              </a:rPr>
              <a:t>install.packages()</a:t>
            </a:r>
            <a:r>
              <a:rPr/>
              <a:t> / </a:t>
            </a:r>
            <a:r>
              <a:rPr>
                <a:latin typeface="Courier"/>
              </a:rPr>
              <a:t>library()</a:t>
            </a:r>
          </a:p>
          <a:p>
            <a:pPr lvl="0"/>
            <a:r>
              <a:rPr/>
              <a:t>☐ Load a CSV with </a:t>
            </a:r>
            <a:r>
              <a:rPr>
                <a:latin typeface="Courier"/>
              </a:rPr>
              <a:t>read_csv()</a:t>
            </a:r>
            <a:r>
              <a:rPr/>
              <a:t> and inspect it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☐ Build a </a:t>
            </a:r>
            <a:r>
              <a:rPr>
                <a:latin typeface="Courier"/>
              </a:rPr>
              <a:t>ggplot</a:t>
            </a:r>
            <a:r>
              <a:rPr/>
              <a:t> boxplot with jittered points and save it as a PNG at </a:t>
            </a:r>
            <a:r>
              <a:rPr>
                <a:latin typeface="Courier"/>
              </a:rPr>
              <a:t>dpi = 300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 (or line by line).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01_getting_started.R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Going further — optional in class, or take-home if you’d like more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Work through this if you finish early. There are no wrong answers — the goal is to see what </a:t>
            </a:r>
            <a:r>
              <a:rPr sz="2000">
                <a:latin typeface="Courier"/>
              </a:rPr>
              <a:t>ggplot</a:t>
            </a:r>
            <a:r>
              <a:rPr sz="2000"/>
              <a:t> can do.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Histograms, split by group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the two distributions similar in shape, or different?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Facets — one panel per group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Violin plots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geom_violin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Themes — change the look</a:t>
            </a:r>
          </a:p>
          <a:p>
            <a:pPr lvl="0" indent="0" marL="0">
              <a:buNone/>
            </a:pPr>
            <a:r>
              <a:rPr/>
              <a:t>Add any of these to a plot above: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like best for this kind of biological comparison?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finished project folder looks like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pine_project/
├── data/
│   └── pine_needles.csv               &lt;- never touch this
├── scripts/
│   └── 01_getting_started.R           &lt;- your complete script
└── figures/
    └── needle_length.png              &lt;- Part 12</a:t>
            </a:r>
          </a:p>
          <a:p>
            <a:pPr lvl="0" indent="0" marL="0">
              <a:buNone/>
            </a:pPr>
            <a:r>
              <a:rPr/>
              <a:t>This is the structure we will use for </a:t>
            </a:r>
            <a:r>
              <a:rPr b="1"/>
              <a:t>every</a:t>
            </a:r>
            <a:r>
              <a:rPr/>
              <a:t> analysis this term.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data/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raw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read-only, never overwrite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scripts/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.R</a:t>
                      </a:r>
                      <a:r>
                        <a:rPr/>
                        <a:t>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script per 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figures/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saved 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always PNG, always </a:t>
                      </a:r>
                      <a:r>
                        <a:rPr>
                          <a:latin typeface="Courier"/>
                        </a:rPr>
                        <a:t>dpi = 300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a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Getting Started</dc:title>
  <dc:creator>Bill Perry</dc:creator>
  <cp:keywords/>
  <dc:description>Hands-on worksheet: forming a testable question, organizing a project, and writing your first R script and ggplot.</dc:description>
  <dcterms:created xsi:type="dcterms:W3CDTF">2026-08-21T15:10:48Z</dcterms:created>
  <dcterms:modified xsi:type="dcterms:W3CDTF">2026-08-21T15:10:48Z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From a question in the field to your first plot in R</vt:lpwstr>
  </property>
  <property fmtid="{D5CDD505-2E9C-101B-9397-08002B2CF9AE}" pid="15" name="toc-title">
    <vt:lpwstr>Table of contents</vt:lpwstr>
  </property>
  <property fmtid="{D5CDD505-2E9C-101B-9397-08002B2CF9AE}" pid="16" name="week">
    <vt:lpwstr>1</vt:lpwstr>
  </property>
</Properties>
</file>