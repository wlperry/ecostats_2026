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Activity: Getting Started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From a question in the field to your first plot in R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Worksheet: 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How to use this worksheet</a:t>
            </a:r>
          </a:p>
          <a:p>
            <a:pPr lvl="0" indent="0" marL="1270000">
              <a:buNone/>
            </a:pPr>
            <a:r>
              <a:rPr sz="2000"/>
              <a:t>Work through each part in order, at your own pace. Type every line of code yourself into a </a:t>
            </a:r>
            <a:r>
              <a:rPr sz="2000" b="1"/>
              <a:t>plain R script</a:t>
            </a:r>
            <a:r>
              <a:rPr sz="2000"/>
              <a:t> — do not copy-paste. Blocks marked </a:t>
            </a:r>
            <a:r>
              <a:rPr sz="2000" b="1"/>
              <a:t>▶ Run this</a:t>
            </a:r>
            <a:r>
              <a:rPr sz="2000"/>
              <a:t> are code you should type and execute. Blocks marked </a:t>
            </a:r>
            <a:r>
              <a:rPr sz="2000" b="1"/>
              <a:t>✏️ Your turn</a:t>
            </a:r>
            <a:r>
              <a:rPr sz="2000"/>
              <a:t> ask you to write, modify, or answer something. Boxes marked </a:t>
            </a:r>
            <a:r>
              <a:rPr sz="2000" b="1"/>
              <a:t>🚀 If you finish early</a:t>
            </a:r>
            <a:r>
              <a:rPr sz="2000"/>
              <a:t> and </a:t>
            </a:r>
            <a:r>
              <a:rPr sz="2000" b="1"/>
              <a:t>Part 15 (Going further)</a:t>
            </a:r>
            <a:r>
              <a:rPr sz="2000"/>
              <a:t> are optional bonus material.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Today’s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Recap</a:t>
            </a:r>
          </a:p>
          <a:p>
            <a:pPr lvl="0"/>
            <a:r>
              <a:rPr/>
              <a:t>We are asking whether pine needle length differs between the </a:t>
            </a:r>
            <a:r>
              <a:rPr b="1"/>
              <a:t>shady</a:t>
            </a:r>
            <a:r>
              <a:rPr/>
              <a:t> side and the </a:t>
            </a:r>
            <a:r>
              <a:rPr b="1"/>
              <a:t>sunny</a:t>
            </a:r>
            <a:r>
              <a:rPr/>
              <a:t> side of a tree.</a:t>
            </a:r>
          </a:p>
          <a:p>
            <a:pPr lvl="0"/>
            <a:r>
              <a:rPr/>
              <a:t>The </a:t>
            </a:r>
            <a:r>
              <a:rPr b="1"/>
              <a:t>tree</a:t>
            </a:r>
            <a:r>
              <a:rPr/>
              <a:t>, not the needle, is our unit of replication — one tree is not enough (this is called </a:t>
            </a:r>
            <a:r>
              <a:rPr b="1"/>
              <a:t>pseudoreplication</a:t>
            </a:r>
            <a:r>
              <a:rPr/>
              <a:t>).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Write your own null and alternate hypotheses in your own words.</a:t>
            </a:r>
          </a:p>
          <a:p>
            <a:pPr lvl="0" indent="0">
              <a:buNone/>
            </a:pPr>
            <a:r>
              <a:rPr>
                <a:latin typeface="Courier"/>
              </a:rPr>
              <a:t>H0:
Ha:
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Is the following statement inductive or deductive reasoning? </a:t>
            </a:r>
            <a:r>
              <a:rPr i="1"/>
              <a:t>“I measured needles on three trees, all showed the sheltered side longer, so I expect a fourth tree to show the same pattern.”</a:t>
            </a:r>
            <a:r>
              <a:rPr/>
              <a:t> Why can’t we test a hypothesis like this using only one tree?</a:t>
            </a:r>
          </a:p>
          <a:p>
            <a:pPr lvl="0" indent="0">
              <a:buNone/>
            </a:pPr>
            <a:r>
              <a:rPr>
                <a:latin typeface="Courier"/>
              </a:rPr>
              <a:t>Reasoning type:
Why one tree isn't enough:
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Field collection plan</a:t>
            </a:r>
          </a:p>
          <a:p>
            <a:pPr lvl="0" indent="0" marL="0">
              <a:buNone/>
            </a:pPr>
            <a:r>
              <a:rPr/>
              <a:t>As a group, agree on and record your answers before you go outside:</a:t>
            </a:r>
          </a:p>
          <a:p>
            <a:pPr lvl="0" indent="0">
              <a:buNone/>
            </a:pPr>
            <a:r>
              <a:rPr>
                <a:latin typeface="Courier"/>
              </a:rPr>
              <a:t>Sample height on tree:
Definition of "mature" needle:
Needles per side, per tree:
Label convention (n/s? shady/sunny?):
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Build your project folder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a project folder?</a:t>
            </a:r>
          </a:p>
          <a:p>
            <a:pPr lvl="0" indent="0" marL="0">
              <a:buNone/>
            </a:pPr>
            <a:r>
              <a:rPr/>
              <a:t>Everything for this project lives in </a:t>
            </a:r>
            <a:r>
              <a:rPr b="1"/>
              <a:t>one folder</a:t>
            </a:r>
            <a:r>
              <a:rPr/>
              <a:t>, so every file path is </a:t>
            </a:r>
            <a:r>
              <a:rPr i="1"/>
              <a:t>relative</a:t>
            </a:r>
            <a:r>
              <a:rPr/>
              <a:t> to it — no more hunting for where a file went.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Create the folder structure</a:t>
            </a:r>
          </a:p>
          <a:p>
            <a:pPr lvl="0" indent="0" marL="0">
              <a:buNone/>
            </a:pPr>
            <a:r>
              <a:rPr/>
              <a:t>Make a new folder called </a:t>
            </a:r>
            <a:r>
              <a:rPr>
                <a:latin typeface="Courier"/>
              </a:rPr>
              <a:t>pine_project</a:t>
            </a:r>
            <a:r>
              <a:rPr/>
              <a:t>. Inside it, create four sub-folders:</a:t>
            </a:r>
          </a:p>
          <a:p>
            <a:pPr lvl="0" indent="0">
              <a:buNone/>
            </a:pPr>
            <a:r>
              <a:rPr>
                <a:latin typeface="Courier"/>
              </a:rPr>
              <a:t>pine_project/
├── data/       ← your CSV and Excel files go here
├── scripts/    ← your .R code goes here
├── figures/    ← plots you save go here
└── output/    ← place to save modified dataframes</a:t>
            </a:r>
          </a:p>
          <a:p>
            <a:pPr lvl="0" indent="0" marL="0">
              <a:buNone/>
            </a:pPr>
            <a:r>
              <a:rPr/>
              <a:t>Copy </a:t>
            </a:r>
            <a:r>
              <a:rPr>
                <a:latin typeface="Courier"/>
              </a:rPr>
              <a:t>pine_needles.csv</a:t>
            </a:r>
            <a:r>
              <a:rPr/>
              <a:t> into </a:t>
            </a:r>
            <a:r>
              <a:rPr>
                <a:latin typeface="Courier"/>
              </a:rPr>
              <a:t>pine_project/data/</a:t>
            </a:r>
            <a:r>
              <a:rPr/>
              <a:t>.</a:t>
            </a:r>
          </a:p>
          <a:p>
            <a:pPr lvl="0" indent="0" marL="1270000">
              <a:buNone/>
            </a:pPr>
            <a:r>
              <a:rPr sz="2000"/>
              <a:t>⚠️ </a:t>
            </a:r>
            <a:r>
              <a:rPr sz="2000" b="1"/>
              <a:t>Important:</a:t>
            </a:r>
            <a:r>
              <a:rPr sz="2000"/>
              <a:t> Leave this copy alone — it is raw data. We will read it but never overwrite it. (Your own field data will get cleaned up and added here starting in Wrangling Your Data.)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Full path to your </a:t>
            </a:r>
            <a:r>
              <a:rPr>
                <a:latin typeface="Courier"/>
              </a:rPr>
              <a:t>pine_project</a:t>
            </a:r>
            <a:r>
              <a:rPr/>
              <a:t> folder: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_________________________________________________________________________________________________________________________________________________________________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Enter your data in Excel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R ever sees your numbers, they have to get from your field notes into a spreadsheet. How you do that now determines how much pain you’re in later — so we do it deliberately.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Set up your header row first</a:t>
            </a:r>
          </a:p>
          <a:p>
            <a:pPr lvl="0" indent="0" marL="0">
              <a:buNone/>
            </a:pPr>
            <a:r>
              <a:rPr/>
              <a:t>Open Excel and make </a:t>
            </a:r>
            <a:r>
              <a:rPr b="1"/>
              <a:t>row 1</a:t>
            </a:r>
            <a:r>
              <a:rPr/>
              <a:t> your column headers — nothing else goes in that row. Use the same </a:t>
            </a:r>
            <a:r>
              <a:rPr b="1"/>
              <a:t>controlled vocabulary</a:t>
            </a:r>
            <a:r>
              <a:rPr/>
              <a:t> your group already agreed on in Part 1, written the </a:t>
            </a:r>
            <a:r>
              <a:rPr>
                <a:latin typeface="Courier"/>
              </a:rPr>
              <a:t>lower_snake_case</a:t>
            </a:r>
            <a:r>
              <a:rPr/>
              <a:t> way (no spaces, no units hidden in the text): what will they be?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57600" y="952500"/>
          <a:ext cx="5232400" cy="379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9900"/>
                <a:gridCol w="1739900"/>
                <a:gridCol w="1739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units?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goes in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⚠️ </a:t>
            </a:r>
            <a:r>
              <a:rPr sz="2000" b="1"/>
              <a:t>Watch out!</a:t>
            </a:r>
            <a:r>
              <a:rPr sz="2000"/>
              <a:t> </a:t>
            </a:r>
            <a:r>
              <a:rPr sz="2000">
                <a:latin typeface="Courier"/>
              </a:rPr>
              <a:t>Needle Length (mm)</a:t>
            </a:r>
            <a:r>
              <a:rPr sz="2000"/>
              <a:t> and </a:t>
            </a:r>
            <a:r>
              <a:rPr sz="2000">
                <a:latin typeface="Courier"/>
              </a:rPr>
              <a:t>length_mm</a:t>
            </a:r>
            <a:r>
              <a:rPr sz="2000"/>
              <a:t> look equally clear to a human — only one of them is a header R can use without a fight. Spaces, parentheses, and units in the header text all cause problems later.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One row = one measurement</a:t>
            </a:r>
          </a:p>
          <a:p>
            <a:pPr lvl="0" indent="0" marL="0">
              <a:buNone/>
            </a:pPr>
            <a:r>
              <a:rPr/>
              <a:t>This is the part people get wrong under time pressure: </a:t>
            </a:r>
            <a:r>
              <a:rPr b="1"/>
              <a:t>every single needle you measured gets its own row.</a:t>
            </a:r>
            <a:r>
              <a:rPr/>
              <a:t> Not one row per tree with six length columns crammed in — one row </a:t>
            </a:r>
            <a:r>
              <a:rPr i="1"/>
              <a:t>per needle</a:t>
            </a:r>
            <a:r>
              <a:rPr/>
              <a:t>, with </a:t>
            </a:r>
            <a:r>
              <a:rPr>
                <a:latin typeface="Courier"/>
              </a:rPr>
              <a:t>tree_no</a:t>
            </a:r>
            <a:r>
              <a:rPr/>
              <a:t>, </a:t>
            </a:r>
            <a:r>
              <a:rPr>
                <a:latin typeface="Courier"/>
              </a:rPr>
              <a:t>n_s</a:t>
            </a:r>
            <a:r>
              <a:rPr/>
              <a:t>, and </a:t>
            </a:r>
            <a:r>
              <a:rPr>
                <a:latin typeface="Courier"/>
              </a:rPr>
              <a:t>sun</a:t>
            </a:r>
            <a:r>
              <a:rPr/>
              <a:t> repeated on every row that needle belongs to. Yes, that means typing </a:t>
            </a:r>
            <a:r>
              <a:rPr>
                <a:latin typeface="Courier"/>
              </a:rPr>
              <a:t>n</a:t>
            </a:r>
            <a:r>
              <a:rPr/>
              <a:t> and </a:t>
            </a:r>
            <a:r>
              <a:rPr>
                <a:latin typeface="Courier"/>
              </a:rPr>
              <a:t>shady</a:t>
            </a:r>
            <a:r>
              <a:rPr/>
              <a:t> over and over. That repetition is doing real work — it’s what lets R filter, group, and plot by any of those columns later.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 — Common Excel data-entry mistakes</a:t>
            </a:r>
          </a:p>
          <a:p>
            <a:pPr lvl="0"/>
            <a:r>
              <a:rPr sz="2000" b="1"/>
              <a:t>Merged cells.</a:t>
            </a:r>
            <a:r>
              <a:rPr sz="2000"/>
              <a:t> They look nice, they break every import. Never merge.</a:t>
            </a:r>
          </a:p>
          <a:p>
            <a:pPr lvl="0"/>
            <a:r>
              <a:rPr sz="2000" b="1"/>
              <a:t>Blank rows or blank columns</a:t>
            </a:r>
            <a:r>
              <a:rPr sz="2000"/>
              <a:t> used as visual spacers. R reads them as missing data, not as whitespace.</a:t>
            </a:r>
          </a:p>
          <a:p>
            <a:pPr lvl="0"/>
            <a:r>
              <a:rPr sz="2000" b="1"/>
              <a:t>More than one header row</a:t>
            </a:r>
            <a:r>
              <a:rPr sz="2000"/>
              <a:t>, or notes typed above row 1. R will try to read your note as a column name.</a:t>
            </a:r>
          </a:p>
          <a:p>
            <a:pPr lvl="0"/>
            <a:r>
              <a:rPr sz="2000" b="1"/>
              <a:t>Numbers stored as text.</a:t>
            </a:r>
            <a:r>
              <a:rPr sz="2000"/>
              <a:t> </a:t>
            </a:r>
            <a:r>
              <a:rPr sz="2000">
                <a:latin typeface="Courier"/>
              </a:rPr>
              <a:t>20 mm</a:t>
            </a:r>
            <a:r>
              <a:rPr sz="2000"/>
              <a:t> in a cell is text; </a:t>
            </a:r>
            <a:r>
              <a:rPr sz="2000">
                <a:latin typeface="Courier"/>
              </a:rPr>
              <a:t>20</a:t>
            </a:r>
            <a:r>
              <a:rPr sz="2000"/>
              <a:t> is a number. Keep units in the </a:t>
            </a:r>
            <a:r>
              <a:rPr sz="2000" i="1"/>
              <a:t>header</a:t>
            </a:r>
            <a:r>
              <a:rPr sz="2000"/>
              <a:t>, not in the cell.</a:t>
            </a:r>
          </a:p>
          <a:p>
            <a:pPr lvl="0"/>
            <a:r>
              <a:rPr sz="2000" b="1"/>
              <a:t>Inconsistent spelling of the same category</a:t>
            </a:r>
            <a:r>
              <a:rPr sz="2000"/>
              <a:t> — </a:t>
            </a:r>
            <a:r>
              <a:rPr sz="2000">
                <a:latin typeface="Courier"/>
              </a:rPr>
              <a:t>Sunny</a:t>
            </a:r>
            <a:r>
              <a:rPr sz="2000"/>
              <a:t>, </a:t>
            </a:r>
            <a:r>
              <a:rPr sz="2000">
                <a:latin typeface="Courier"/>
              </a:rPr>
              <a:t>sunny</a:t>
            </a:r>
            <a:r>
              <a:rPr sz="2000"/>
              <a:t> (trailing space), and </a:t>
            </a:r>
            <a:r>
              <a:rPr sz="2000">
                <a:latin typeface="Courier"/>
              </a:rPr>
              <a:t>sun</a:t>
            </a:r>
            <a:r>
              <a:rPr sz="2000"/>
              <a:t> are three different values to R, even though they mean the same thing to you.</a:t>
            </a:r>
          </a:p>
          <a:p>
            <a:pPr lvl="0"/>
            <a:r>
              <a:rPr sz="2000" b="1"/>
              <a:t>Color-coding instead of a column.</a:t>
            </a:r>
            <a:r>
              <a:rPr sz="2000"/>
              <a:t> Highlighting a row yellow to mean something is invisible to R. If it matters, it needs its own column.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Enter your group’s data</a:t>
            </a:r>
          </a:p>
          <a:p>
            <a:pPr lvl="0" indent="0" marL="0">
              <a:buNone/>
            </a:pPr>
            <a:r>
              <a:rPr b="1"/>
              <a:t>▶ Do this now:</a:t>
            </a:r>
            <a:r>
              <a:rPr/>
              <a:t> Using the measurements your group collected today, enter one row per needle into Excel using the header row above.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How many rows should your sheet have, if your group measured </a:t>
            </a:r>
            <a:r>
              <a:rPr>
                <a:latin typeface="Courier"/>
              </a:rPr>
              <a:t>______________</a:t>
            </a:r>
            <a:r>
              <a:rPr/>
              <a:t> needles per</a:t>
            </a:r>
            <a:br/>
            <a:br/>
            <a:r>
              <a:rPr/>
              <a:t>side, per tree, on </a:t>
            </a:r>
            <a:r>
              <a:rPr>
                <a:latin typeface="Courier"/>
              </a:rPr>
              <a:t>_____________</a:t>
            </a:r>
            <a:r>
              <a:rPr/>
              <a:t> trees? Show your arithmetic: </a:t>
            </a:r>
            <a:r>
              <a:rPr>
                <a:latin typeface="Courier"/>
              </a:rPr>
              <a:t>________________________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Honest preview — this probably isn’t “tidy” yet</a:t>
            </a:r>
          </a:p>
          <a:p>
            <a:pPr lvl="0" indent="0" marL="1270000">
              <a:buNone/>
            </a:pPr>
            <a:r>
              <a:rPr sz="2000"/>
              <a:t>Excel </a:t>
            </a:r>
            <a:r>
              <a:rPr sz="2000" i="1"/>
              <a:t>invites</a:t>
            </a:r>
            <a:r>
              <a:rPr sz="2000"/>
              <a:t> you to spread related numbers across columns — one column per tree, or one column per needle. That’s a completely normal way to enter data quickly, and it is </a:t>
            </a:r>
            <a:r>
              <a:rPr sz="2000" b="1"/>
              <a:t>not</a:t>
            </a:r>
            <a:r>
              <a:rPr sz="2000"/>
              <a:t> the same as </a:t>
            </a:r>
            <a:r>
              <a:rPr sz="2000" i="1"/>
              <a:t>tidy data</a:t>
            </a:r>
            <a:r>
              <a:rPr sz="2000"/>
              <a:t>: the rule (from </a:t>
            </a:r>
            <a:r>
              <a:rPr sz="2000" i="1"/>
              <a:t>R for Data Science</a:t>
            </a:r>
            <a:r>
              <a:rPr sz="2000"/>
              <a:t>, in the root of this repo) that </a:t>
            </a:r>
            <a:r>
              <a:rPr sz="2000" b="1"/>
              <a:t>every variable is a column, every observation is a row, and every value is a cell.</a:t>
            </a:r>
            <a:r>
              <a:rPr sz="2000"/>
              <a:t> If your sheet doesn’t fully follow that yet, that’s fine — turning a wide, human-friendly layout into a tidy one is exactly what we’ll do with </a:t>
            </a:r>
            <a:r>
              <a:rPr sz="2000">
                <a:latin typeface="Courier"/>
              </a:rPr>
              <a:t>pivot_longer()</a:t>
            </a:r>
            <a:r>
              <a:rPr sz="2000"/>
              <a:t> in </a:t>
            </a:r>
            <a:r>
              <a:rPr sz="2000" b="1"/>
              <a:t>Wrangling Your Data</a:t>
            </a:r>
            <a:r>
              <a:rPr sz="2000"/>
              <a:t>. Today, just get the numbers in accurately.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Save it — both formats</a:t>
            </a:r>
          </a:p>
          <a:p>
            <a:pPr lvl="0" indent="0" marL="0">
              <a:buNone/>
            </a:pPr>
            <a:r>
              <a:rPr b="1"/>
              <a:t>File → Save As</a:t>
            </a:r>
            <a:r>
              <a:rPr/>
              <a:t>, into your </a:t>
            </a:r>
            <a:r>
              <a:rPr>
                <a:latin typeface="Courier"/>
              </a:rPr>
              <a:t>pine_project/data/</a:t>
            </a:r>
            <a:r>
              <a:rPr/>
              <a:t> folder, </a:t>
            </a:r>
            <a:r>
              <a:rPr b="1"/>
              <a:t>twice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/>
              <a:t>Once as an Excel workbook (</a:t>
            </a:r>
            <a:r>
              <a:rPr>
                <a:latin typeface="Courier"/>
              </a:rPr>
              <a:t>.xlsx</a:t>
            </a:r>
            <a:r>
              <a:rPr/>
              <a:t>) — keeps any formatting you added.</a:t>
            </a:r>
          </a:p>
          <a:p>
            <a:pPr lvl="0" indent="-342900" marL="342900">
              <a:buAutoNum type="arabicPeriod"/>
            </a:pPr>
            <a:r>
              <a:rPr/>
              <a:t>Once as </a:t>
            </a:r>
            <a:r>
              <a:rPr b="1"/>
              <a:t>CSV UTF-8</a:t>
            </a:r>
            <a:r>
              <a:rPr/>
              <a:t> (</a:t>
            </a:r>
            <a:r>
              <a:rPr>
                <a:latin typeface="Courier"/>
              </a:rPr>
              <a:t>.csv</a:t>
            </a:r>
            <a:r>
              <a:rPr/>
              <a:t>) — plain text, no hidden formatting, and the format every other tool (including R) can read without a special library.</a:t>
            </a:r>
          </a:p>
          <a:p>
            <a:pPr lvl="0" indent="0" marL="1270000">
              <a:buNone/>
            </a:pPr>
            <a:r>
              <a:rPr sz="2000"/>
              <a:t>⚠️ </a:t>
            </a:r>
            <a:r>
              <a:rPr sz="2000" b="1"/>
              <a:t>Important:</a:t>
            </a:r>
            <a:r>
              <a:rPr sz="2000"/>
              <a:t> Save both into </a:t>
            </a:r>
            <a:r>
              <a:rPr sz="2000">
                <a:latin typeface="Courier"/>
              </a:rPr>
              <a:t>data/</a:t>
            </a:r>
            <a:r>
              <a:rPr sz="2000"/>
              <a:t>, and — like </a:t>
            </a:r>
            <a:r>
              <a:rPr sz="2000">
                <a:latin typeface="Courier"/>
              </a:rPr>
              <a:t>pine_needles.csv</a:t>
            </a:r>
            <a:r>
              <a:rPr sz="2000"/>
              <a:t> — treat them as raw data from this point on: read them, never hand-edit them again. Corrections happen in R, where every change is a line of code you can see and undo.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What are the two file names you just saved, and are they both sitting in </a:t>
            </a:r>
            <a:r>
              <a:rPr>
                <a:latin typeface="Courier"/>
              </a:rPr>
              <a:t>pine_project/data/</a:t>
            </a:r>
            <a:r>
              <a:rPr/>
              <a:t>?</a:t>
            </a:r>
            <a:br/>
            <a:br/>
            <a:br/>
            <a:r>
              <a:rPr>
                <a:latin typeface="Courier"/>
              </a:rPr>
              <a:t>______________________________________________________________________________________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Orient yourself in Positron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your project folder as your workspace: </a:t>
            </a:r>
            <a:r>
              <a:rPr b="1"/>
              <a:t>File → Open Folder…</a:t>
            </a:r>
          </a:p>
          <a:p>
            <a:pPr lvl="0" indent="0" marL="0">
              <a:buNone/>
            </a:pPr>
            <a:r>
              <a:rPr/>
              <a:t>Four panes you’ll use constantly: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57600" y="952500"/>
          <a:ext cx="5232400" cy="379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9900"/>
                <a:gridCol w="1739900"/>
                <a:gridCol w="1739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does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Editor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top-left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your scripts live here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Console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bottom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where code actually runs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Environment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right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every object you’ve stored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Plots / Files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right (tab)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your figures and project files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Click the </a:t>
            </a:r>
            <a:r>
              <a:rPr b="1"/>
              <a:t>Console</a:t>
            </a:r>
            <a:r>
              <a:rPr/>
              <a:t> tab. Type </a:t>
            </a:r>
            <a:r>
              <a:rPr>
                <a:latin typeface="Courier"/>
              </a:rPr>
              <a:t>1 + 1</a:t>
            </a:r>
            <a:r>
              <a:rPr/>
              <a:t> and press Enter. Result: </a:t>
            </a:r>
            <a:r>
              <a:rPr>
                <a:latin typeface="Courier"/>
              </a:rPr>
              <a:t>_____________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R as a calculator, and storing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 in the Console:</a:t>
            </a:r>
          </a:p>
          <a:p>
            <a:pPr lvl="0" indent="0">
              <a:buNone/>
            </a:pP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br/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br/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144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/>
              <a:t>⚠️ </a:t>
            </a:r>
            <a:r>
              <a:rPr sz="2000" b="1"/>
              <a:t>Watch out!</a:t>
            </a:r>
            <a:r>
              <a:rPr sz="2000"/>
              <a:t> A </a:t>
            </a:r>
            <a:r>
              <a:rPr sz="2000">
                <a:latin typeface="Courier"/>
              </a:rPr>
              <a:t>+</a:t>
            </a:r>
            <a:r>
              <a:rPr sz="2000"/>
              <a:t> at the </a:t>
            </a:r>
            <a:r>
              <a:rPr sz="2000" i="1"/>
              <a:t>start</a:t>
            </a:r>
            <a:r>
              <a:rPr sz="2000"/>
              <a:t> of a console line (instead of the usual </a:t>
            </a:r>
            <a:r>
              <a:rPr sz="2000">
                <a:latin typeface="Courier"/>
              </a:rPr>
              <a:t>&gt;</a:t>
            </a:r>
            <a:r>
              <a:rPr sz="2000"/>
              <a:t> prompt) means R is still waiting for you to finish typing something. Press </a:t>
            </a:r>
            <a:r>
              <a:rPr sz="2000" b="1"/>
              <a:t>Esc</a:t>
            </a:r>
            <a:r>
              <a:rPr sz="2000"/>
              <a:t> to cancel.</a:t>
            </a:r>
          </a:p>
          <a:p>
            <a:pPr lvl="0" indent="0" marL="0">
              <a:buNone/>
            </a:pPr>
            <a:r>
              <a:rPr/>
              <a:t>Now store a value with the </a:t>
            </a:r>
            <a:r>
              <a:rPr b="1"/>
              <a:t>assignment operator</a:t>
            </a:r>
            <a:r>
              <a:rPr/>
              <a:t> </a:t>
            </a:r>
            <a:r>
              <a:rPr>
                <a:latin typeface="Courier"/>
              </a:rPr>
              <a:t>&lt;-</a:t>
            </a:r>
            <a:r>
              <a:rPr/>
              <a:t> (shortcut: Alt/Option + </a:t>
            </a:r>
            <a:r>
              <a:rPr>
                <a:latin typeface="Courier"/>
              </a:rPr>
              <a:t>-</a:t>
            </a:r>
            <a:r>
              <a:rPr/>
              <a:t>):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5E5E5E"/>
                </a:solidFill>
                <a:latin typeface="Courier"/>
              </a:rPr>
              <a:t># store 7 under the name x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          </a:t>
            </a:r>
            <a:r>
              <a:rPr>
                <a:solidFill>
                  <a:srgbClr val="5E5E5E"/>
                </a:solidFill>
                <a:latin typeface="Courier"/>
              </a:rPr>
              <a:t># read it back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5E5E5E"/>
                </a:solidFill>
                <a:latin typeface="Courier"/>
              </a:rPr>
              <a:t># use it in math</a:t>
            </a:r>
          </a:p>
          <a:p>
            <a:pPr lvl="0" indent="0" marL="0">
              <a:buNone/>
            </a:pPr>
            <a:r>
              <a:rPr/>
              <a:t>Look for </a:t>
            </a:r>
            <a:r>
              <a:rPr>
                <a:latin typeface="Courier"/>
              </a:rPr>
              <a:t>x</a:t>
            </a:r>
            <a:r>
              <a:rPr/>
              <a:t> in the </a:t>
            </a:r>
            <a:r>
              <a:rPr b="1"/>
              <a:t>Environment</a:t>
            </a:r>
            <a:r>
              <a:rPr/>
              <a:t> pane.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Store the number </a:t>
            </a:r>
            <a:r>
              <a:rPr>
                <a:latin typeface="Courier"/>
              </a:rPr>
              <a:t>42</a:t>
            </a:r>
            <a:r>
              <a:rPr/>
              <a:t> as </a:t>
            </a:r>
            <a:r>
              <a:rPr>
                <a:latin typeface="Courier"/>
              </a:rPr>
              <a:t>my_number</a:t>
            </a:r>
            <a:r>
              <a:rPr/>
              <a:t>, then multiply it by </a:t>
            </a:r>
            <a:r>
              <a:rPr>
                <a:latin typeface="Courier"/>
              </a:rPr>
              <a:t>x</a:t>
            </a:r>
            <a:r>
              <a:rPr/>
              <a:t>. Result: </a:t>
            </a:r>
            <a:r>
              <a:rPr>
                <a:latin typeface="Courier"/>
              </a:rPr>
              <a:t>__________________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🚀 If you finish early:</a:t>
            </a:r>
            <a:r>
              <a:rPr sz="2000"/>
              <a:t> Try </a:t>
            </a:r>
            <a:r>
              <a:rPr sz="2000">
                <a:latin typeface="Courier"/>
              </a:rPr>
              <a:t>x / my_number</a:t>
            </a:r>
            <a:r>
              <a:rPr sz="2000"/>
              <a:t> and </a:t>
            </a:r>
            <a:r>
              <a:rPr sz="2000">
                <a:latin typeface="Courier"/>
              </a:rPr>
              <a:t>my_number %% x</a:t>
            </a:r>
            <a:r>
              <a:rPr sz="2000"/>
              <a:t> (the remainder operator). Predict each result before you run it.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6 · Naming things well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Good names make code readable months later: be explicit (</a:t>
            </a:r>
            <a:r>
              <a:rPr>
                <a:latin typeface="Courier"/>
              </a:rPr>
              <a:t>needle_length</a:t>
            </a:r>
            <a:r>
              <a:rPr/>
              <a:t>, not </a:t>
            </a:r>
            <a:r>
              <a:rPr>
                <a:latin typeface="Courier"/>
              </a:rPr>
              <a:t>x2</a:t>
            </a:r>
            <a:r>
              <a:rPr/>
              <a:t>), never start with a number, and R is </a:t>
            </a:r>
            <a:r>
              <a:rPr b="1"/>
              <a:t>case-sensitive</a:t>
            </a:r>
            <a:r>
              <a:rPr/>
              <a:t> (</a:t>
            </a:r>
            <a:r>
              <a:rPr>
                <a:latin typeface="Courier"/>
              </a:rPr>
              <a:t>length_mm</a:t>
            </a:r>
            <a:r>
              <a:rPr/>
              <a:t> ≠ </a:t>
            </a:r>
            <a:r>
              <a:rPr>
                <a:latin typeface="Courier"/>
              </a:rPr>
              <a:t>Length_mm</a:t>
            </a:r>
            <a:r>
              <a:rPr/>
              <a:t>). Use </a:t>
            </a:r>
            <a:r>
              <a:rPr>
                <a:latin typeface="Courier"/>
              </a:rPr>
              <a:t>lower_snake_case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Which of these are valid R object names? Circle Y or N.</a:t>
            </a:r>
          </a:p>
          <a:p>
            <a:pPr lvl="0" indent="0">
              <a:buNone/>
            </a:pPr>
            <a:r>
              <a:rPr>
                <a:latin typeface="Courier"/>
              </a:rPr>
              <a:t>needle_length     Y / N
3rd_needle        Y / N
Length_mm         Y / N
my.needle.data    Y / N
n_s               Y / 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7 · 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Anything after </a:t>
            </a:r>
            <a:r>
              <a:rPr>
                <a:latin typeface="Courier"/>
              </a:rPr>
              <a:t>#</a:t>
            </a:r>
            <a:r>
              <a:rPr/>
              <a:t> is ignored by R — a note for humans.</a:t>
            </a:r>
          </a:p>
          <a:p>
            <a:pPr lvl="0" indent="0" marL="0">
              <a:buNone/>
            </a:pPr>
            <a:r>
              <a:rPr b="1"/>
              <a:t>▶ Run this in your Script: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average of four needle lengths, in mm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needle_length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(needle_length)   </a:t>
            </a:r>
            <a:r>
              <a:rPr>
                <a:solidFill>
                  <a:srgbClr val="5E5E5E"/>
                </a:solidFill>
                <a:latin typeface="Courier"/>
              </a:rPr>
              <a:t># average needle length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Key idea:</a:t>
            </a:r>
            <a:r>
              <a:rPr sz="2000"/>
              <a:t> If a line confused you while writing it, comment </a:t>
            </a:r>
            <a:r>
              <a:rPr sz="2000" i="1"/>
              <a:t>why</a:t>
            </a:r>
            <a:r>
              <a:rPr sz="2000"/>
              <a:t> you did it — future you will forget.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8 · Functions and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function</a:t>
            </a:r>
            <a:r>
              <a:rPr/>
              <a:t> is called by name and takes </a:t>
            </a:r>
            <a:r>
              <a:rPr b="1"/>
              <a:t>arguments</a:t>
            </a:r>
            <a:r>
              <a:rPr/>
              <a:t> in </a:t>
            </a:r>
            <a:r>
              <a:rPr>
                <a:latin typeface="Courier"/>
              </a:rPr>
              <a:t>()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▶ Run this in the Console: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3.14159</a:t>
            </a:r>
            <a:r>
              <a:rPr>
                <a:solidFill>
                  <a:srgbClr val="003B4F"/>
                </a:solidFill>
                <a:latin typeface="Courier"/>
              </a:rPr>
              <a:t>)             </a:t>
            </a:r>
            <a:r>
              <a:rPr>
                <a:solidFill>
                  <a:srgbClr val="5E5E5E"/>
                </a:solidFill>
                <a:latin typeface="Courier"/>
              </a:rPr>
              <a:t># default: 0 decimal places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3.14159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         </a:t>
            </a:r>
            <a:r>
              <a:rPr>
                <a:solidFill>
                  <a:srgbClr val="5E5E5E"/>
                </a:solidFill>
                <a:latin typeface="Courier"/>
              </a:rPr>
              <a:t># 2 decimal places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3.14159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digits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Stuck? </a:t>
            </a:r>
            <a:r>
              <a:rPr>
                <a:latin typeface="Courier"/>
              </a:rPr>
              <a:t>?round</a:t>
            </a:r>
            <a:r>
              <a:rPr/>
              <a:t> opens the help page.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Use </a:t>
            </a:r>
            <a:r>
              <a:rPr>
                <a:latin typeface="Courier"/>
              </a:rPr>
              <a:t>round()</a:t>
            </a:r>
            <a:r>
              <a:rPr/>
              <a:t> to round </a:t>
            </a:r>
            <a:r>
              <a:rPr>
                <a:latin typeface="Courier"/>
              </a:rPr>
              <a:t>pi</a:t>
            </a:r>
            <a:r>
              <a:rPr/>
              <a:t> (R knows this by name) to 4 decimal places. Result: </a:t>
            </a:r>
            <a:r>
              <a:rPr>
                <a:latin typeface="Courier"/>
              </a:rPr>
              <a:t>_______________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9 · Vectors and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vector</a:t>
            </a:r>
            <a:r>
              <a:rPr/>
              <a:t> is a series of values built with </a:t>
            </a:r>
            <a:r>
              <a:rPr>
                <a:latin typeface="Courier"/>
              </a:rPr>
              <a:t>c()</a:t>
            </a:r>
            <a:r>
              <a:rPr/>
              <a:t>. A spreadsheet column is really just a vector.</a:t>
            </a:r>
          </a:p>
          <a:p>
            <a:pPr lvl="0" indent="0" marL="0">
              <a:buNone/>
            </a:pPr>
            <a:r>
              <a:rPr b="1"/>
              <a:t>▶ Run this in your Script: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length_mm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25</a:t>
            </a:r>
            <a:r>
              <a:rPr>
                <a:solidFill>
                  <a:srgbClr val="003B4F"/>
                </a:solidFill>
                <a:latin typeface="Courier"/>
              </a:rPr>
              <a:t>)     </a:t>
            </a:r>
            <a:r>
              <a:rPr>
                <a:solidFill>
                  <a:srgbClr val="5E5E5E"/>
                </a:solidFill>
                <a:latin typeface="Courier"/>
              </a:rPr>
              <a:t># numeric vector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side     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"s"</a:t>
            </a:r>
            <a:r>
              <a:rPr>
                <a:solidFill>
                  <a:srgbClr val="003B4F"/>
                </a:solidFill>
                <a:latin typeface="Courier"/>
              </a:rPr>
              <a:t>)           </a:t>
            </a:r>
            <a:r>
              <a:rPr>
                <a:solidFill>
                  <a:srgbClr val="5E5E5E"/>
                </a:solidFill>
                <a:latin typeface="Courier"/>
              </a:rPr>
              <a:t># character vector — needs quotes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(length_mm)   </a:t>
            </a:r>
            <a:r>
              <a:rPr>
                <a:solidFill>
                  <a:srgbClr val="5E5E5E"/>
                </a:solidFill>
                <a:latin typeface="Courier"/>
              </a:rPr>
              <a:t># how many values?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(length_mm)    </a:t>
            </a:r>
            <a:r>
              <a:rPr>
                <a:solidFill>
                  <a:srgbClr val="5E5E5E"/>
                </a:solidFill>
                <a:latin typeface="Courier"/>
              </a:rPr>
              <a:t># what type?</a:t>
            </a:r>
          </a:p>
          <a:p>
            <a:pPr lvl="0" indent="0" marL="1270000">
              <a:buNone/>
            </a:pPr>
            <a:r>
              <a:rPr sz="2000"/>
              <a:t>⚠️ </a:t>
            </a:r>
            <a:r>
              <a:rPr sz="2000" b="1"/>
              <a:t>Watch out!</a:t>
            </a:r>
            <a:r>
              <a:rPr sz="2000"/>
              <a:t> </a:t>
            </a:r>
            <a:r>
              <a:rPr sz="2000">
                <a:latin typeface="Courier"/>
              </a:rPr>
              <a:t>"n"</a:t>
            </a:r>
            <a:r>
              <a:rPr sz="2000"/>
              <a:t> in quotes is text. Without quotes, R looks for an </a:t>
            </a:r>
            <a:r>
              <a:rPr sz="2000" i="1"/>
              <a:t>object</a:t>
            </a:r>
            <a:r>
              <a:rPr sz="2000"/>
              <a:t> called </a:t>
            </a:r>
            <a:r>
              <a:rPr sz="2000">
                <a:latin typeface="Courier"/>
              </a:rPr>
              <a:t>n</a:t>
            </a:r>
            <a:r>
              <a:rPr sz="2000"/>
              <a:t> and errors if none exists.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Make a character vector called </a:t>
            </a:r>
            <a:r>
              <a:rPr>
                <a:latin typeface="Courier"/>
              </a:rPr>
              <a:t>my_sides</a:t>
            </a:r>
            <a:r>
              <a:rPr/>
              <a:t> with the values </a:t>
            </a:r>
            <a:r>
              <a:rPr>
                <a:latin typeface="Courier"/>
              </a:rPr>
              <a:t>"n"</a:t>
            </a:r>
            <a:r>
              <a:rPr/>
              <a:t> and </a:t>
            </a:r>
            <a:r>
              <a:rPr>
                <a:latin typeface="Courier"/>
              </a:rPr>
              <a:t>"s"</a:t>
            </a:r>
            <a:r>
              <a:rPr/>
              <a:t>. Check its </a:t>
            </a:r>
            <a:r>
              <a:rPr>
                <a:latin typeface="Courier"/>
              </a:rPr>
              <a:t>length()</a:t>
            </a:r>
            <a:r>
              <a:rPr/>
              <a:t> and </a:t>
            </a:r>
            <a:r>
              <a:rPr>
                <a:latin typeface="Courier"/>
              </a:rPr>
              <a:t>class()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🚀 If you finish early:</a:t>
            </a:r>
            <a:r>
              <a:rPr sz="2000"/>
              <a:t> Make a numeric vector of 5 needle lengths you make up. Run </a:t>
            </a:r>
            <a:r>
              <a:rPr sz="2000">
                <a:latin typeface="Courier"/>
              </a:rPr>
              <a:t>mean()</a:t>
            </a:r>
            <a:r>
              <a:rPr sz="2000"/>
              <a:t> and </a:t>
            </a:r>
            <a:r>
              <a:rPr sz="2000">
                <a:latin typeface="Courier"/>
              </a:rPr>
              <a:t>sd()</a:t>
            </a:r>
            <a:r>
              <a:rPr sz="2000"/>
              <a:t> on it — both work directly on a vector, no data frame needed.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10 · Packages and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Install once</a:t>
            </a:r>
            <a:r>
              <a:rPr/>
              <a:t>, in the Console: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install.packages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"tidyverse"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 b="1"/>
              <a:t>Load every session</a:t>
            </a:r>
            <a:r>
              <a:rPr/>
              <a:t> — put this at the very top of every script:</a:t>
            </a:r>
          </a:p>
          <a:p>
            <a:pPr lvl="0" indent="0" marL="0">
              <a:buNone/>
            </a:pPr>
            <a:r>
              <a:rPr b="1"/>
              <a:t>▶ Run this at the top of your Script: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── Packages ──────────────────────────────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First line R prints after </a:t>
            </a:r>
            <a:r>
              <a:rPr>
                <a:latin typeface="Courier"/>
              </a:rPr>
              <a:t>library(tidyverse)</a:t>
            </a:r>
            <a:r>
              <a:rPr/>
              <a:t>: </a:t>
            </a:r>
            <a:r>
              <a:rPr>
                <a:latin typeface="Courier"/>
              </a:rPr>
              <a:t>________________________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11 · Load the pine needle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Create your script</a:t>
            </a:r>
          </a:p>
          <a:p>
            <a:pPr lvl="0" indent="0" marL="0">
              <a:buNone/>
            </a:pPr>
            <a:r>
              <a:rPr b="1"/>
              <a:t>File → New File → R Script</a:t>
            </a:r>
            <a:r>
              <a:rPr/>
              <a:t>. Save it immediately as </a:t>
            </a:r>
            <a:r>
              <a:rPr>
                <a:latin typeface="Courier"/>
              </a:rPr>
              <a:t>01_getting_started.R</a:t>
            </a:r>
            <a:r>
              <a:rPr/>
              <a:t> inside </a:t>
            </a:r>
            <a:r>
              <a:rPr>
                <a:latin typeface="Courier"/>
              </a:rPr>
              <a:t>pine_project/scripts/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▶ Run this in your Script: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── Load data ─────────────────────────────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"data/pine_needles.csv"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pine_df    </a:t>
            </a:r>
            <a:r>
              <a:rPr>
                <a:solidFill>
                  <a:srgbClr val="5E5E5E"/>
                </a:solidFill>
                <a:latin typeface="Courier"/>
              </a:rPr>
              <a:t># print to console</a:t>
            </a:r>
          </a:p>
          <a:p>
            <a:pPr lvl="0" indent="0" marL="0">
              <a:buNone/>
            </a:pPr>
            <a:r>
              <a:rPr/>
              <a:t>The path </a:t>
            </a:r>
            <a:r>
              <a:rPr>
                <a:latin typeface="Courier"/>
              </a:rPr>
              <a:t>"data/..."</a:t>
            </a:r>
            <a:r>
              <a:rPr/>
              <a:t> is </a:t>
            </a:r>
            <a:r>
              <a:rPr i="1"/>
              <a:t>relative</a:t>
            </a:r>
            <a:r>
              <a:rPr/>
              <a:t> to your project folder — it works on anyone’s computer, not just yours.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Always look before you trust it</a:t>
            </a:r>
          </a:p>
          <a:p>
            <a:pPr lvl="0" indent="0" marL="0">
              <a:buNone/>
            </a:pPr>
            <a:r>
              <a:rPr b="1"/>
              <a:t>▶ Run each of these: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(pine_df)       </a:t>
            </a:r>
            <a:r>
              <a:rPr>
                <a:solidFill>
                  <a:srgbClr val="5E5E5E"/>
                </a:solidFill>
                <a:latin typeface="Courier"/>
              </a:rPr>
              <a:t># first 6 rows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(pine_df)         </a:t>
            </a:r>
            <a:r>
              <a:rPr>
                <a:solidFill>
                  <a:srgbClr val="5E5E5E"/>
                </a:solidFill>
                <a:latin typeface="Courier"/>
              </a:rPr>
              <a:t># (rows, columns)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(pine_df)       </a:t>
            </a:r>
            <a:r>
              <a:rPr>
                <a:solidFill>
                  <a:srgbClr val="5E5E5E"/>
                </a:solidFill>
                <a:latin typeface="Courier"/>
              </a:rPr>
              <a:t># column names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(pine_df)     </a:t>
            </a:r>
            <a:r>
              <a:rPr>
                <a:solidFill>
                  <a:srgbClr val="5E5E5E"/>
                </a:solidFill>
                <a:latin typeface="Courier"/>
              </a:rPr>
              <a:t># one line per column: name, type, first values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Answer from the output above.</a:t>
            </a:r>
          </a:p>
          <a:p>
            <a:pPr lvl="0" indent="0">
              <a:buNone/>
            </a:pPr>
            <a:r>
              <a:rPr>
                <a:latin typeface="Courier"/>
              </a:rPr>
              <a:t>Rows:              Columns:
Type of n_s:        Values in sun: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Look closely at </a:t>
            </a:r>
            <a:r>
              <a:rPr>
                <a:latin typeface="Courier"/>
              </a:rPr>
              <a:t>n_s</a:t>
            </a:r>
            <a:r>
              <a:rPr/>
              <a:t> and </a:t>
            </a:r>
            <a:r>
              <a:rPr>
                <a:latin typeface="Courier"/>
              </a:rPr>
              <a:t>sun</a:t>
            </a:r>
            <a:r>
              <a:rPr/>
              <a:t>. Do they ever disagree (n paired with sunny, or s paired with shady)? Why might a dataset include two columns that encode the same grouping? </a:t>
            </a:r>
            <a:r>
              <a:rPr>
                <a:latin typeface="Courier"/>
              </a:rPr>
              <a:t>________________________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12 · Your first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</a:t>
            </a:r>
            <a:r>
              <a:rPr>
                <a:latin typeface="Courier"/>
              </a:rPr>
              <a:t>ggplot</a:t>
            </a:r>
            <a:r>
              <a:rPr/>
              <a:t> is built from three pieces, joined with </a:t>
            </a:r>
            <a:r>
              <a:rPr>
                <a:latin typeface="Courier"/>
              </a:rPr>
              <a:t>+</a:t>
            </a:r>
            <a:r>
              <a:rPr/>
              <a:t>: </a:t>
            </a:r>
            <a:r>
              <a:rPr b="1"/>
              <a:t>data</a:t>
            </a:r>
            <a:r>
              <a:rPr/>
              <a:t>, </a:t>
            </a:r>
            <a:r>
              <a:rPr b="1"/>
              <a:t>aes()</a:t>
            </a:r>
            <a:r>
              <a:rPr/>
              <a:t> (which columns map to x/y), and a </a:t>
            </a:r>
            <a:r>
              <a:rPr b="1"/>
              <a:t>geom</a:t>
            </a:r>
            <a:r>
              <a:rPr/>
              <a:t> (how to draw it).</a:t>
            </a:r>
          </a:p>
          <a:p>
            <a:pPr lvl="0" indent="0" marL="0">
              <a:buNone/>
            </a:pPr>
            <a:r>
              <a:rPr b="1"/>
              <a:t>▶ Run this — the simplest possible plot: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n_s,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length_mm))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1270000">
              <a:buNone/>
            </a:pPr>
            <a:r>
              <a:rPr sz="2000"/>
              <a:t>⚠️ </a:t>
            </a:r>
            <a:r>
              <a:rPr sz="2000" b="1"/>
              <a:t>Watch out!</a:t>
            </a:r>
            <a:r>
              <a:rPr sz="2000"/>
              <a:t> The </a:t>
            </a:r>
            <a:r>
              <a:rPr sz="2000">
                <a:latin typeface="Courier"/>
              </a:rPr>
              <a:t>+</a:t>
            </a:r>
            <a:r>
              <a:rPr sz="2000"/>
              <a:t> sits at the </a:t>
            </a:r>
            <a:r>
              <a:rPr sz="2000" b="1"/>
              <a:t>end</a:t>
            </a:r>
            <a:r>
              <a:rPr sz="2000"/>
              <a:t> of a line, never the start.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Improve it one layer at a time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sun,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length_mm))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"tomato"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 exposure"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(mm)"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by sun exposure"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Make the same plot using </a:t>
            </a:r>
            <a:r>
              <a:rPr>
                <a:latin typeface="Courier"/>
              </a:rPr>
              <a:t>n_s</a:t>
            </a:r>
            <a:r>
              <a:rPr/>
              <a:t> instead of </a:t>
            </a:r>
            <a:r>
              <a:rPr>
                <a:latin typeface="Courier"/>
              </a:rPr>
              <a:t>sun</a:t>
            </a:r>
            <a:r>
              <a:rPr/>
              <a:t> on the x-axis. Copy the code above and change what’s needed.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modified code here:</a:t>
            </a:r>
          </a:p>
          <a:p>
            <a:pPr lvl="0" indent="0" marL="0">
              <a:buNone/>
            </a:pPr>
            <a:r>
              <a:rPr/>
              <a:t>What pattern do you see — does the sheltered or exposed side tend to have longer needles? </a:t>
            </a:r>
            <a:r>
              <a:rPr>
                <a:latin typeface="Courier"/>
              </a:rPr>
              <a:t>________________________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🚀 If you finish early:</a:t>
            </a:r>
            <a:r>
              <a:rPr sz="2000"/>
              <a:t> Try </a:t>
            </a:r>
            <a:r>
              <a:rPr sz="2000">
                <a:latin typeface="Courier"/>
              </a:rPr>
              <a:t>geom_violin()</a:t>
            </a:r>
            <a:r>
              <a:rPr sz="2000"/>
              <a:t> instead of </a:t>
            </a:r>
            <a:r>
              <a:rPr sz="2000">
                <a:latin typeface="Courier"/>
              </a:rPr>
              <a:t>geom_boxplot()</a:t>
            </a:r>
            <a:r>
              <a:rPr sz="2000"/>
              <a:t>, or add </a:t>
            </a:r>
            <a:r>
              <a:rPr sz="2000">
                <a:latin typeface="Courier"/>
              </a:rPr>
              <a:t>color = group</a:t>
            </a:r>
            <a:r>
              <a:rPr sz="2000"/>
              <a:t> inside </a:t>
            </a:r>
            <a:r>
              <a:rPr sz="2000">
                <a:latin typeface="Courier"/>
              </a:rPr>
              <a:t>aes()</a:t>
            </a:r>
            <a:r>
              <a:rPr sz="2000"/>
              <a:t> to see each field team’s data separately.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13 · Save your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needle_plot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sun,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length_mm))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"tomato"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 exposure"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(mm)"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"figures/needle_length.png"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plot   =</a:t>
            </a:r>
            <a:r>
              <a:rPr>
                <a:solidFill>
                  <a:srgbClr val="003B4F"/>
                </a:solidFill>
                <a:latin typeface="Courier"/>
              </a:rPr>
              <a:t> needle_plot,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width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units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dpi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Check your </a:t>
            </a:r>
            <a:r>
              <a:rPr>
                <a:latin typeface="Courier"/>
              </a:rPr>
              <a:t>figures/</a:t>
            </a:r>
            <a:r>
              <a:rPr/>
              <a:t> folder — the PNG should be there.</a:t>
            </a:r>
          </a:p>
          <a:p>
            <a:pPr lvl="0" indent="0" marL="1270000">
              <a:buNone/>
            </a:pPr>
            <a:r>
              <a:rPr sz="2000"/>
              <a:t>⚠️ </a:t>
            </a:r>
            <a:r>
              <a:rPr sz="2000" b="1"/>
              <a:t>Watch out!</a:t>
            </a:r>
            <a:r>
              <a:rPr sz="2000"/>
              <a:t> </a:t>
            </a:r>
            <a:r>
              <a:rPr sz="2000">
                <a:latin typeface="Courier"/>
              </a:rPr>
              <a:t>ggsave()</a:t>
            </a:r>
            <a:r>
              <a:rPr sz="2000"/>
              <a:t> wants the </a:t>
            </a:r>
            <a:r>
              <a:rPr sz="2000" b="1"/>
              <a:t>filename first</a:t>
            </a:r>
            <a:r>
              <a:rPr sz="2000"/>
              <a:t>, then </a:t>
            </a:r>
            <a:r>
              <a:rPr sz="2000">
                <a:latin typeface="Courier"/>
              </a:rPr>
              <a:t>plot =</a:t>
            </a:r>
            <a:r>
              <a:rPr sz="2000"/>
              <a:t>. Always use </a:t>
            </a:r>
            <a:r>
              <a:rPr sz="2000">
                <a:latin typeface="Courier"/>
              </a:rPr>
              <a:t>dpi = 300</a:t>
            </a:r>
            <a:r>
              <a:rPr sz="2000"/>
              <a:t>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14 · Review and checkpoint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this point you can:</a:t>
            </a:r>
          </a:p>
          <a:p>
            <a:pPr lvl="0"/>
            <a:r>
              <a:rPr/>
              <a:t>☐ State a testable H₀ and Hₐ, and explain why one tree isn’t enough</a:t>
            </a:r>
          </a:p>
          <a:p>
            <a:pPr lvl="0"/>
            <a:r>
              <a:rPr/>
              <a:t>☐ Build a project folder with </a:t>
            </a:r>
            <a:r>
              <a:rPr>
                <a:latin typeface="Courier"/>
              </a:rPr>
              <a:t>data/</a:t>
            </a:r>
            <a:r>
              <a:rPr/>
              <a:t>, </a:t>
            </a:r>
            <a:r>
              <a:rPr>
                <a:latin typeface="Courier"/>
              </a:rPr>
              <a:t>scripts/</a:t>
            </a:r>
            <a:r>
              <a:rPr/>
              <a:t>, </a:t>
            </a:r>
            <a:r>
              <a:rPr>
                <a:latin typeface="Courier"/>
              </a:rPr>
              <a:t>figures/</a:t>
            </a:r>
          </a:p>
          <a:p>
            <a:pPr lvl="0"/>
            <a:r>
              <a:rPr/>
              <a:t>☐ Use R as a calculator and store values with </a:t>
            </a:r>
            <a:r>
              <a:rPr>
                <a:latin typeface="Courier"/>
              </a:rPr>
              <a:t>&lt;-</a:t>
            </a:r>
          </a:p>
          <a:p>
            <a:pPr lvl="0"/>
            <a:r>
              <a:rPr/>
              <a:t>☐ Write a script with </a:t>
            </a:r>
            <a:r>
              <a:rPr>
                <a:latin typeface="Courier"/>
              </a:rPr>
              <a:t>#</a:t>
            </a:r>
            <a:r>
              <a:rPr/>
              <a:t> comments, save it, and re-run it</a:t>
            </a:r>
          </a:p>
          <a:p>
            <a:pPr lvl="0"/>
            <a:r>
              <a:rPr/>
              <a:t>☐ Call functions with arguments and use </a:t>
            </a:r>
            <a:r>
              <a:rPr>
                <a:latin typeface="Courier"/>
              </a:rPr>
              <a:t>?</a:t>
            </a:r>
            <a:r>
              <a:rPr/>
              <a:t> for help</a:t>
            </a:r>
          </a:p>
          <a:p>
            <a:pPr lvl="0"/>
            <a:r>
              <a:rPr/>
              <a:t>☐ Build a vector with </a:t>
            </a:r>
            <a:r>
              <a:rPr>
                <a:latin typeface="Courier"/>
              </a:rPr>
              <a:t>c()</a:t>
            </a:r>
            <a:r>
              <a:rPr/>
              <a:t> and check its </a:t>
            </a:r>
            <a:r>
              <a:rPr>
                <a:latin typeface="Courier"/>
              </a:rPr>
              <a:t>length()</a:t>
            </a:r>
            <a:r>
              <a:rPr/>
              <a:t>/</a:t>
            </a:r>
            <a:r>
              <a:rPr>
                <a:latin typeface="Courier"/>
              </a:rPr>
              <a:t>class()</a:t>
            </a:r>
          </a:p>
          <a:p>
            <a:pPr lvl="0"/>
            <a:r>
              <a:rPr/>
              <a:t>☐ Install and load a package with </a:t>
            </a:r>
            <a:r>
              <a:rPr>
                <a:latin typeface="Courier"/>
              </a:rPr>
              <a:t>install.packages()</a:t>
            </a:r>
            <a:r>
              <a:rPr/>
              <a:t> / </a:t>
            </a:r>
            <a:r>
              <a:rPr>
                <a:latin typeface="Courier"/>
              </a:rPr>
              <a:t>library()</a:t>
            </a:r>
          </a:p>
          <a:p>
            <a:pPr lvl="0"/>
            <a:r>
              <a:rPr/>
              <a:t>☐ Load a CSV with </a:t>
            </a:r>
            <a:r>
              <a:rPr>
                <a:latin typeface="Courier"/>
              </a:rPr>
              <a:t>read_csv()</a:t>
            </a:r>
            <a:r>
              <a:rPr/>
              <a:t> and inspect it with </a:t>
            </a:r>
            <a:r>
              <a:rPr>
                <a:latin typeface="Courier"/>
              </a:rPr>
              <a:t>glimpse()</a:t>
            </a:r>
            <a:r>
              <a:rPr/>
              <a:t>, </a:t>
            </a:r>
            <a:r>
              <a:rPr>
                <a:latin typeface="Courier"/>
              </a:rPr>
              <a:t>head()</a:t>
            </a:r>
            <a:r>
              <a:rPr/>
              <a:t>, </a:t>
            </a:r>
            <a:r>
              <a:rPr>
                <a:latin typeface="Courier"/>
              </a:rPr>
              <a:t>dim()</a:t>
            </a:r>
          </a:p>
          <a:p>
            <a:pPr lvl="0"/>
            <a:r>
              <a:rPr/>
              <a:t>☐ Build a </a:t>
            </a:r>
            <a:r>
              <a:rPr>
                <a:latin typeface="Courier"/>
              </a:rPr>
              <a:t>ggplot</a:t>
            </a:r>
            <a:r>
              <a:rPr/>
              <a:t> boxplot with jittered points and save it as a PNG at </a:t>
            </a:r>
            <a:r>
              <a:rPr>
                <a:latin typeface="Courier"/>
              </a:rPr>
              <a:t>dpi = 300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 — before you move on:</a:t>
            </a:r>
            <a:r>
              <a:rPr/>
              <a:t> Run your whole script top to bottom (or line by line). Ran cleanly? </a:t>
            </a:r>
            <a:r>
              <a:rPr>
                <a:latin typeface="Courier"/>
              </a:rPr>
              <a:t>Y / N</a:t>
            </a:r>
            <a:r>
              <a:rPr/>
              <a:t> — if not, the error was: </a:t>
            </a:r>
            <a:r>
              <a:rPr>
                <a:latin typeface="Courier"/>
              </a:rPr>
              <a:t>________________________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📤 What to turn in before next class</a:t>
            </a:r>
          </a:p>
          <a:p>
            <a:pPr lvl="0" indent="0" marL="1270000">
              <a:buNone/>
            </a:pPr>
            <a:r>
              <a:rPr sz="2000"/>
              <a:t>Upload both of these to the course management system:</a:t>
            </a:r>
          </a:p>
          <a:p>
            <a:pPr lvl="0" indent="-342900" marL="342900">
              <a:buAutoNum type="arabicPeriod"/>
            </a:pPr>
            <a:r>
              <a:rPr sz="2000"/>
              <a:t>Your code — the </a:t>
            </a:r>
            <a:r>
              <a:rPr sz="2000">
                <a:latin typeface="Courier"/>
              </a:rPr>
              <a:t>scripts/</a:t>
            </a:r>
            <a:r>
              <a:rPr sz="2000"/>
              <a:t> folder (or just </a:t>
            </a:r>
            <a:r>
              <a:rPr sz="2000">
                <a:latin typeface="Courier"/>
              </a:rPr>
              <a:t>01_getting_started.R</a:t>
            </a:r>
            <a:r>
              <a:rPr sz="2000"/>
              <a:t>)</a:t>
            </a:r>
          </a:p>
          <a:p>
            <a:pPr lvl="0" indent="-342900" marL="342900">
              <a:buAutoNum type="arabicPeriod"/>
            </a:pPr>
            <a:r>
              <a:rPr sz="2000"/>
              <a:t>This worksheet, with your written answers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15 · Going further — optional in class, or take-home if you’d like more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Work through this if you finish early. There are no wrong answers — the goal is to see what </a:t>
            </a:r>
            <a:r>
              <a:rPr sz="2000">
                <a:latin typeface="Courier"/>
              </a:rPr>
              <a:t>ggplot</a:t>
            </a:r>
            <a:r>
              <a:rPr sz="2000"/>
              <a:t> can do.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Histograms, split by group</a:t>
            </a:r>
          </a:p>
          <a:p>
            <a:pPr lvl="0" indent="0" marL="0">
              <a:buNone/>
            </a:pPr>
            <a:r>
              <a:rPr b="1"/>
              <a:t>▶ Try this: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sun))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binwidth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position_dodge2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(mm)"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"Count"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 exposure"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Are the two distributions similar in shape, or different? </a:t>
            </a:r>
            <a:r>
              <a:rPr>
                <a:latin typeface="Courier"/>
              </a:rPr>
              <a:t>________________________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Facets — one panel per group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length_mm))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binwidth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"darkblue"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group)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Violin plots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sun,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sun))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geom_violin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Themes — change the look</a:t>
            </a:r>
          </a:p>
          <a:p>
            <a:pPr lvl="0" indent="0" marL="0">
              <a:buNone/>
            </a:pPr>
            <a:r>
              <a:rPr/>
              <a:t>Add any of these to a plot above: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theme_bw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theme_classic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Which theme do you like best for this kind of biological comparison? Why? </a:t>
            </a:r>
            <a:r>
              <a:rPr>
                <a:latin typeface="Courier"/>
              </a:rPr>
              <a:t>________________________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your finished project folder looks like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pine_project/
├── data/
│   └── pine_needles.csv               &lt;- never touch this
├── scripts/
│   └── 01_getting_started.R           &lt;- your complete script
└── figures/
    └── needle_length.png              &lt;- Part 13</a:t>
            </a:r>
          </a:p>
          <a:p>
            <a:pPr lvl="0" indent="0" marL="0">
              <a:buNone/>
            </a:pPr>
            <a:r>
              <a:rPr/>
              <a:t>This is the structure we will use for </a:t>
            </a:r>
            <a:r>
              <a:rPr b="1"/>
              <a:t>every</a:t>
            </a:r>
            <a:r>
              <a:rPr/>
              <a:t> analysis this term.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57600" y="952500"/>
          <a:ext cx="5232400" cy="379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9900"/>
                <a:gridCol w="1739900"/>
                <a:gridCol w="1739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data/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raw files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read-only, never overwrite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scripts/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.R</a:t>
                      </a:r>
                      <a:r>
                        <a:rPr/>
                        <a:t> 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 script per module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figures/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saved plots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always PNG, always </a:t>
                      </a:r>
                      <a:r>
                        <a:rPr>
                          <a:latin typeface="Courier"/>
                        </a:rPr>
                        <a:t>dpi = 300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code breaks — and it will, that is normal:</a:t>
            </a:r>
          </a:p>
          <a:p>
            <a:pPr lvl="0" indent="-342900" marL="342900">
              <a:buAutoNum type="arabicPeriod"/>
            </a:pPr>
            <a:r>
              <a:rPr b="1"/>
              <a:t>Read the error message out loud.</a:t>
            </a:r>
            <a:r>
              <a:rPr/>
              <a:t> R usually names the line and the problem.</a:t>
            </a:r>
          </a:p>
          <a:p>
            <a:pPr lvl="0" indent="-342900" marL="342900">
              <a:buAutoNum type="arabicPeriod"/>
            </a:pPr>
            <a:r>
              <a:rPr b="1"/>
              <a:t>Check the usual suspects:</a:t>
            </a:r>
            <a:r>
              <a:rPr/>
              <a:t> did you run </a:t>
            </a:r>
            <a:r>
              <a:rPr>
                <a:latin typeface="Courier"/>
              </a:rPr>
              <a:t>library(tidyverse)</a:t>
            </a:r>
            <a:r>
              <a:rPr/>
              <a:t>? Spelling? A missing </a:t>
            </a:r>
            <a:r>
              <a:rPr>
                <a:latin typeface="Courier"/>
              </a:rPr>
              <a:t>)</a:t>
            </a:r>
            <a:r>
              <a:rPr/>
              <a:t> or a </a:t>
            </a:r>
            <a:r>
              <a:rPr>
                <a:latin typeface="Courier"/>
              </a:rPr>
              <a:t>+</a:t>
            </a:r>
            <a:r>
              <a:rPr/>
              <a:t> at the </a:t>
            </a:r>
            <a:r>
              <a:rPr i="1"/>
              <a:t>start</a:t>
            </a:r>
            <a:r>
              <a:rPr/>
              <a:t> of a line?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?function_name</a:t>
            </a:r>
            <a:r>
              <a:rPr/>
              <a:t> opens the built-in help page.</a:t>
            </a:r>
          </a:p>
          <a:p>
            <a:pPr lvl="0" indent="-342900" marL="342900">
              <a:buAutoNum type="arabicPeriod"/>
            </a:pPr>
            <a:r>
              <a:rPr b="1"/>
              <a:t>Bring the exact error</a:t>
            </a:r>
            <a:r>
              <a:rPr/>
              <a:t> (copy-paste it) to class or office hours.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Key idea:</a:t>
            </a:r>
            <a:r>
              <a:rPr sz="2000"/>
              <a:t> Every working scientist googles error messages daily. Getting stuck is not failing — it is the job.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Activity: Getting Started</dc:title>
  <dc:creator>Bill Perry</dc:creator>
  <cp:keywords/>
  <dc:description>Hands-on worksheet: forming a testable question, organizing a project, entering field data in Excel, and writing your first R script and ggplot.</dc:description>
  <dcterms:created xsi:type="dcterms:W3CDTF">2026-08-26T17:12:06Z</dcterms:created>
  <dcterms:modified xsi:type="dcterms:W3CDTF">2026-08-26T17:12:06Z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execute">
    <vt:lpwstr/>
  </property>
  <property fmtid="{D5CDD505-2E9C-101B-9397-08002B2CF9AE}" pid="7" name="format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1</vt:lpwstr>
  </property>
  <property fmtid="{D5CDD505-2E9C-101B-9397-08002B2CF9AE}" pid="13" name="resources">
    <vt:lpwstr/>
  </property>
  <property fmtid="{D5CDD505-2E9C-101B-9397-08002B2CF9AE}" pid="14" name="subtitle">
    <vt:lpwstr>From a question in the field to your first plot in R</vt:lpwstr>
  </property>
  <property fmtid="{D5CDD505-2E9C-101B-9397-08002B2CF9AE}" pid="15" name="toc-title">
    <vt:lpwstr>Table of contents</vt:lpwstr>
  </property>
  <property fmtid="{D5CDD505-2E9C-101B-9397-08002B2CF9AE}" pid="16" name="week">
    <vt:lpwstr>1</vt:lpwstr>
  </property>
</Properties>
</file>