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15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shady</a:t>
            </a:r>
            <a:r>
              <a:rPr/>
              <a:t> side and the </a:t>
            </a:r>
            <a:r>
              <a:rPr b="1"/>
              <a:t>sunny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
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
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shady/sunny?):
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four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├── figures/    ← plots you save go here
└── output/    ← place to save modified dataframes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Wrangling Your Data.)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_________________________________________________________________________________________________________________________________________________________________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Enter your data in Excel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 ever sees your numbers, they have to get from your field notes into a spreadsheet. How you do that now determines how much pain you’re in later — so we do it deliberately.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 up your header row first</a:t>
            </a:r>
          </a:p>
          <a:p>
            <a:pPr lvl="0" indent="0" marL="0">
              <a:buNone/>
            </a:pPr>
            <a:r>
              <a:rPr/>
              <a:t>Open Excel and make </a:t>
            </a:r>
            <a:r>
              <a:rPr b="1"/>
              <a:t>row 1</a:t>
            </a:r>
            <a:r>
              <a:rPr/>
              <a:t> your column headers — nothing else goes in that row. Use the same </a:t>
            </a:r>
            <a:r>
              <a:rPr b="1"/>
              <a:t>controlled vocabulary</a:t>
            </a:r>
            <a:r>
              <a:rPr/>
              <a:t> your group already agreed on in Part 1, written the </a:t>
            </a:r>
            <a:r>
              <a:rPr>
                <a:latin typeface="Courier"/>
              </a:rPr>
              <a:t>lower_snake_case</a:t>
            </a:r>
            <a:r>
              <a:rPr/>
              <a:t> way (no spaces, no units hidden in the text): what will they be?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goes in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and </a:t>
            </a:r>
            <a:r>
              <a:rPr sz="2000">
                <a:latin typeface="Courier"/>
              </a:rPr>
              <a:t>length_mm</a:t>
            </a:r>
            <a:r>
              <a:rPr sz="2000"/>
              <a:t> look equally clear to a human — only one of them is a header R can use without a fight. Spaces, parentheses, and units in the header text all cause problems later.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row = one measurement</a:t>
            </a:r>
          </a:p>
          <a:p>
            <a:pPr lvl="0" indent="0" marL="0">
              <a:buNone/>
            </a:pPr>
            <a:r>
              <a:rPr/>
              <a:t>This is the part people get wrong under time pressure: </a:t>
            </a:r>
            <a:r>
              <a:rPr b="1"/>
              <a:t>every single needle you measured gets its own row.</a:t>
            </a:r>
            <a:r>
              <a:rPr/>
              <a:t> Not one row per tree with six length columns crammed in — one row </a:t>
            </a:r>
            <a:r>
              <a:rPr i="1"/>
              <a:t>per needle</a:t>
            </a:r>
            <a:r>
              <a:rPr/>
              <a:t>, with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n_s</a:t>
            </a:r>
            <a:r>
              <a:rPr/>
              <a:t>, and </a:t>
            </a:r>
            <a:r>
              <a:rPr>
                <a:latin typeface="Courier"/>
              </a:rPr>
              <a:t>sun</a:t>
            </a:r>
            <a:r>
              <a:rPr/>
              <a:t> repeated on every row that needle belongs to. Yes, that means typing </a:t>
            </a:r>
            <a:r>
              <a:rPr>
                <a:latin typeface="Courier"/>
              </a:rPr>
              <a:t>n</a:t>
            </a:r>
            <a:r>
              <a:rPr/>
              <a:t> and </a:t>
            </a:r>
            <a:r>
              <a:rPr>
                <a:latin typeface="Courier"/>
              </a:rPr>
              <a:t>shady</a:t>
            </a:r>
            <a:r>
              <a:rPr/>
              <a:t> over and over. That repetition is doing real work — it’s what lets R filter, group, and plot by any of those columns later.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 — Common Excel data-entry mistakes</a:t>
            </a:r>
          </a:p>
          <a:p>
            <a:pPr lvl="0"/>
            <a:r>
              <a:rPr sz="2000" b="1"/>
              <a:t>Merged cells.</a:t>
            </a:r>
            <a:r>
              <a:rPr sz="2000"/>
              <a:t> They look nice, they break every import. Never merge.</a:t>
            </a:r>
          </a:p>
          <a:p>
            <a:pPr lvl="0"/>
            <a:r>
              <a:rPr sz="2000" b="1"/>
              <a:t>Blank rows or blank columns</a:t>
            </a:r>
            <a:r>
              <a:rPr sz="2000"/>
              <a:t> used as visual spacers. R reads them as missing data, not as whitespace.</a:t>
            </a:r>
          </a:p>
          <a:p>
            <a:pPr lvl="0"/>
            <a:r>
              <a:rPr sz="2000" b="1"/>
              <a:t>More than one header row</a:t>
            </a:r>
            <a:r>
              <a:rPr sz="2000"/>
              <a:t>, or notes typed above row 1. R will try to read your note as a column name.</a:t>
            </a:r>
          </a:p>
          <a:p>
            <a:pPr lvl="0"/>
            <a:r>
              <a:rPr sz="2000" b="1"/>
              <a:t>Numbers stored as text.</a:t>
            </a:r>
            <a:r>
              <a:rPr sz="2000"/>
              <a:t> </a:t>
            </a:r>
            <a:r>
              <a:rPr sz="2000">
                <a:latin typeface="Courier"/>
              </a:rPr>
              <a:t>20 mm</a:t>
            </a:r>
            <a:r>
              <a:rPr sz="2000"/>
              <a:t> in a cell is text; </a:t>
            </a:r>
            <a:r>
              <a:rPr sz="2000">
                <a:latin typeface="Courier"/>
              </a:rPr>
              <a:t>20</a:t>
            </a:r>
            <a:r>
              <a:rPr sz="2000"/>
              <a:t> is a number. Keep units in the </a:t>
            </a:r>
            <a:r>
              <a:rPr sz="2000" i="1"/>
              <a:t>header</a:t>
            </a:r>
            <a:r>
              <a:rPr sz="2000"/>
              <a:t>, not in the cell.</a:t>
            </a:r>
          </a:p>
          <a:p>
            <a:pPr lvl="0"/>
            <a:r>
              <a:rPr sz="2000" b="1"/>
              <a:t>Inconsistent spelling of the same category</a:t>
            </a:r>
            <a:r>
              <a:rPr sz="2000"/>
              <a:t> — 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 (trailing space), and </a:t>
            </a:r>
            <a:r>
              <a:rPr sz="2000">
                <a:latin typeface="Courier"/>
              </a:rPr>
              <a:t>sun</a:t>
            </a:r>
            <a:r>
              <a:rPr sz="2000"/>
              <a:t> are three different values to R, even though they mean the same thing to you.</a:t>
            </a:r>
          </a:p>
          <a:p>
            <a:pPr lvl="0"/>
            <a:r>
              <a:rPr sz="2000" b="1"/>
              <a:t>Color-coding instead of a column.</a:t>
            </a:r>
            <a:r>
              <a:rPr sz="2000"/>
              <a:t> Highlighting a row yellow to mean something is invisible to R. If it matters, it needs its own column.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Enter your group’s data</a:t>
            </a:r>
          </a:p>
          <a:p>
            <a:pPr lvl="0" indent="0" marL="0">
              <a:buNone/>
            </a:pPr>
            <a:r>
              <a:rPr b="1"/>
              <a:t>▶ Do this now:</a:t>
            </a:r>
            <a:r>
              <a:rPr/>
              <a:t> Using the measurements your group collected today, enter one row per needle into Excel using the header row above.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should your sheet have, if your group measured </a:t>
            </a:r>
            <a:r>
              <a:rPr>
                <a:latin typeface="Courier"/>
              </a:rPr>
              <a:t>______________</a:t>
            </a:r>
            <a:r>
              <a:rPr/>
              <a:t> needles per</a:t>
            </a:r>
            <a:br/>
            <a:br/>
            <a:r>
              <a:rPr/>
              <a:t>side, per tree, on </a:t>
            </a:r>
            <a:r>
              <a:rPr>
                <a:latin typeface="Courier"/>
              </a:rPr>
              <a:t>_____________</a:t>
            </a:r>
            <a:r>
              <a:rPr/>
              <a:t> trees? Show your arithmetic: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Honest preview — this probably isn’t “tidy” yet</a:t>
            </a:r>
          </a:p>
          <a:p>
            <a:pPr lvl="0" indent="0" marL="1270000">
              <a:buNone/>
            </a:pPr>
            <a:r>
              <a:rPr sz="2000"/>
              <a:t>Excel </a:t>
            </a:r>
            <a:r>
              <a:rPr sz="2000" i="1"/>
              <a:t>invites</a:t>
            </a:r>
            <a:r>
              <a:rPr sz="2000"/>
              <a:t> you to spread related numbers across columns — one column per tree, or one column per needle. That’s a completely normal way to enter data quickly, and it is </a:t>
            </a:r>
            <a:r>
              <a:rPr sz="2000" b="1"/>
              <a:t>not</a:t>
            </a:r>
            <a:r>
              <a:rPr sz="2000"/>
              <a:t> the same as </a:t>
            </a:r>
            <a:r>
              <a:rPr sz="2000" i="1"/>
              <a:t>tidy data</a:t>
            </a:r>
            <a:r>
              <a:rPr sz="2000"/>
              <a:t>: the rule (from </a:t>
            </a:r>
            <a:r>
              <a:rPr sz="2000" i="1"/>
              <a:t>R for Data Science</a:t>
            </a:r>
            <a:r>
              <a:rPr sz="2000"/>
              <a:t>, in the root of this repo) that </a:t>
            </a:r>
            <a:r>
              <a:rPr sz="2000" b="1"/>
              <a:t>every variable is a column, every observation is a row, and every value is a cell.</a:t>
            </a:r>
            <a:r>
              <a:rPr sz="2000"/>
              <a:t> If your sheet doesn’t fully follow that yet, that’s fine — turning a wide, human-friendly layout into a tidy one is exactly what we’ll do with </a:t>
            </a:r>
            <a:r>
              <a:rPr sz="2000">
                <a:latin typeface="Courier"/>
              </a:rPr>
              <a:t>pivot_longer()</a:t>
            </a:r>
            <a:r>
              <a:rPr sz="2000"/>
              <a:t> in </a:t>
            </a:r>
            <a:r>
              <a:rPr sz="2000" b="1"/>
              <a:t>Wrangling Your Data</a:t>
            </a:r>
            <a:r>
              <a:rPr sz="2000"/>
              <a:t>. Today, just get the numbers in accurately.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it — both formats</a:t>
            </a:r>
          </a:p>
          <a:p>
            <a:pPr lvl="0" indent="0" marL="0">
              <a:buNone/>
            </a:pPr>
            <a:r>
              <a:rPr b="1"/>
              <a:t>File → Save As</a:t>
            </a:r>
            <a:r>
              <a:rPr/>
              <a:t>, into your </a:t>
            </a:r>
            <a:r>
              <a:rPr>
                <a:latin typeface="Courier"/>
              </a:rPr>
              <a:t>pine_project/data/</a:t>
            </a:r>
            <a:r>
              <a:rPr/>
              <a:t> folder, </a:t>
            </a:r>
            <a:r>
              <a:rPr b="1"/>
              <a:t>twice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Once as an Excel workbook (</a:t>
            </a:r>
            <a:r>
              <a:rPr>
                <a:latin typeface="Courier"/>
              </a:rPr>
              <a:t>.xlsx</a:t>
            </a:r>
            <a:r>
              <a:rPr/>
              <a:t>) — keeps any formatting you added.</a:t>
            </a:r>
          </a:p>
          <a:p>
            <a:pPr lvl="0" indent="-342900" marL="342900">
              <a:buAutoNum type="arabicPeriod"/>
            </a:pPr>
            <a:r>
              <a:rPr/>
              <a:t>Once as </a:t>
            </a:r>
            <a:r>
              <a:rPr b="1"/>
              <a:t>CSV UTF-8</a:t>
            </a:r>
            <a:r>
              <a:rPr/>
              <a:t> (</a:t>
            </a:r>
            <a:r>
              <a:rPr>
                <a:latin typeface="Courier"/>
              </a:rPr>
              <a:t>.csv</a:t>
            </a:r>
            <a:r>
              <a:rPr/>
              <a:t>) — plain text, no hidden formatting, and the format every other tool (including R) can read without a special library.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Save both into </a:t>
            </a:r>
            <a:r>
              <a:rPr sz="2000">
                <a:latin typeface="Courier"/>
              </a:rPr>
              <a:t>data/</a:t>
            </a:r>
            <a:r>
              <a:rPr sz="2000"/>
              <a:t>, and — like </a:t>
            </a:r>
            <a:r>
              <a:rPr sz="2000">
                <a:latin typeface="Courier"/>
              </a:rPr>
              <a:t>pine_needles.csv</a:t>
            </a:r>
            <a:r>
              <a:rPr sz="2000"/>
              <a:t> — treat them as raw data from this point on: read them, never hand-edit them again. Corrections happen in R, where every change is a line of code you can see and undo.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two file names you just saved, and are they both sitting in </a:t>
            </a:r>
            <a:r>
              <a:rPr>
                <a:latin typeface="Courier"/>
              </a:rPr>
              <a:t>pine_project/data/</a:t>
            </a:r>
            <a:r>
              <a:rPr/>
              <a:t>?</a:t>
            </a:r>
            <a:br/>
            <a:br/>
            <a:br/>
            <a:r>
              <a:rPr>
                <a:latin typeface="Courier"/>
              </a:rPr>
              <a:t>______________________________________________________________________________________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__________________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_______________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sun: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sun</a:t>
            </a:r>
            <a:r>
              <a:rPr/>
              <a:t>. Do they ever disagree (n paired with sunny, or s paired with shady)?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sun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13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Getting Started</dc:title>
  <dc:creator>Bill Perry</dc:creator>
  <cp:keywords/>
  <dc:description>Hands-on worksheet: forming a testable question, organizing a project, entering field data in Excel, and writing your first R script and ggplot.</dc:description>
  <dcterms:created xsi:type="dcterms:W3CDTF">2026-08-28T18:17:23Z</dcterms:created>
  <dcterms:modified xsi:type="dcterms:W3CDTF">2026-08-28T18:17:23Z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