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sheltered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north/shady</a:t>
            </a:r>
            <a:r>
              <a:rPr/>
              <a:t> side of a tree vs. the </a:t>
            </a:r>
            <a:r>
              <a:rPr b="1"/>
              <a:t>south/sunny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Precition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side of tree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group collects needles from the shady side </a:t>
            </a:r>
            <a:r>
              <a:rPr sz="2000" b="1"/>
              <a:t>and</a:t>
            </a:r>
            <a:r>
              <a:rPr sz="2000"/>
              <a:t> the sunny side of the same trees, using one agreed-on method — same height, same “mature needle” definition, same spot on the branch.</a:t>
            </a:r>
          </a:p>
          <a:p>
            <a:pPr lvl="0" indent="0" marL="1270000">
              <a:buNone/>
            </a:pPr>
            <a:r>
              <a:rPr sz="2000"/>
              <a:t>We are going to the field to collect pine needles - easy but yes… and then come back, decide how to measure, measure them, enter data in excel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length_mm</a:t>
            </a:r>
            <a:r>
              <a:rPr/>
              <a:t>, not </a:t>
            </a:r>
            <a:r>
              <a:rPr>
                <a:latin typeface="Courier"/>
              </a:rPr>
              <a:t>Length (mm)</a:t>
            </a:r>
            <a:r>
              <a:rPr/>
              <a:t> — no spaces, no units hidden in the header text or variable names, all lowercase</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no using set_wd to set the working directory!!!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Look for it appear in the </a:t>
            </a:r>
            <a:r>
              <a:rPr sz="2000" b="1"/>
              <a:t>Environment</a:t>
            </a:r>
            <a:r>
              <a:rPr sz="2000"/>
              <a:t> pane the moment you create it.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a:t>
            </a:r>
            <a:r>
              <a:rPr sz="2000">
                <a:latin typeface="Courier"/>
              </a:rPr>
              <a:t>round(3.14159, 2)</a:t>
            </a:r>
            <a:r>
              <a:rPr sz="2000"/>
              <a:t> returns before you run it.</a:t>
            </a:r>
            <a:br/>
            <a:r>
              <a:rPr sz="2000"/>
              <a:t>Note round in R works odd and you should use round_half_up from janitor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"n"</a:t>
            </a:r>
            <a:r>
              <a:rPr>
                <a:solidFill>
                  <a:srgbClr val="003B4F"/>
                </a:solidFill>
                <a:latin typeface="Courier"/>
              </a:rPr>
              <a:t>, </a:t>
            </a:r>
            <a:r>
              <a:rPr>
                <a:solidFill>
                  <a:srgbClr val="20794D"/>
                </a:solidFill>
                <a:latin typeface="Courier"/>
              </a:rPr>
              <a:t>"s"</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a:t>
            </a:r>
            <a:r>
              <a:rPr sz="2000"/>
              <a:t> means “find an object called s,” not the text “s.”</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"data/pine_needles.csv"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n_s</a:t>
            </a:r>
            <a:r>
              <a:rPr sz="2000"/>
              <a:t> — </a:t>
            </a:r>
            <a:r>
              <a:rPr sz="2000">
                <a:latin typeface="Courier"/>
              </a:rPr>
              <a:t>"n"</a:t>
            </a:r>
            <a:r>
              <a:rPr sz="2000"/>
              <a:t> (north/sheltered) or </a:t>
            </a:r>
            <a:r>
              <a:rPr sz="2000">
                <a:latin typeface="Courier"/>
              </a:rPr>
              <a:t>"s"</a:t>
            </a:r>
            <a:r>
              <a:rPr sz="2000"/>
              <a:t> (south/exposed)</a:t>
            </a:r>
          </a:p>
          <a:p>
            <a:pPr lvl="0"/>
            <a:r>
              <a:rPr sz="2000">
                <a:latin typeface="Courier"/>
              </a:rPr>
              <a:t>sun</a:t>
            </a:r>
            <a:r>
              <a:rPr sz="2000"/>
              <a:t> — </a:t>
            </a:r>
            <a:r>
              <a:rPr sz="2000">
                <a:latin typeface="Courier"/>
              </a:rPr>
              <a:t>"shady"</a:t>
            </a:r>
            <a:r>
              <a:rPr sz="2000"/>
              <a:t> or </a:t>
            </a:r>
            <a:r>
              <a:rPr sz="2000">
                <a:latin typeface="Courier"/>
              </a:rPr>
              <a:t>"sunny"</a:t>
            </a:r>
            <a:r>
              <a:rPr sz="2000"/>
              <a:t>, same grouping said a different way</a:t>
            </a:r>
          </a:p>
          <a:p>
            <a:pPr lvl="0"/>
            <a:r>
              <a:rPr sz="2000">
                <a:latin typeface="Courier"/>
              </a:rPr>
              <a:t>length_mm</a:t>
            </a:r>
            <a:r>
              <a:rPr sz="2000"/>
              <a:t> — needle length in millimeters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48
Columns: 6
$ date      &lt;chr&gt; "3/20/25", "3/20/25", "3/20/25", "3/20/25", "3/20/25", "3/20…
$ group     &lt;chr&gt; "cephalopods", "cephalopods", "cephalopods", "cephalopods", …
$ n_s       &lt;chr&gt; "n", "n", "n", "n", "n", "n", "s", "s", "s", "s", "s", "s", …
$ sun       &lt;chr&gt; "shady", "shady", "shady", "shady", "shady", "shady", "sunny…
$ tree_no   &lt;dbl&gt; 1, 1, 1, 1, 1, 1, 1, 1, 1, 1, 1, 1, 2, 2, 2, 2, 2, 2, 2, 2, …
$ length_mm &lt;dbl&gt; 20, 21, 23, 25, 21, 16, 15, 16, 14, 17, 13, 15, 19, 18, 20, …</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48  6</a:t>
            </a:r>
          </a:p>
          <a:p>
            <a:pPr lvl="0" indent="0" marL="1270000">
              <a:buNone/>
            </a:pPr>
            <a:r>
              <a:rPr sz="2000" b="1"/>
              <a:t>Tip</a:t>
            </a:r>
          </a:p>
          <a:p>
            <a:pPr lvl="0" indent="0" marL="1270000">
              <a:buNone/>
            </a:pPr>
            <a:r>
              <a:rPr sz="2000" b="1"/>
              <a:t>🖐 Notice</a:t>
            </a:r>
          </a:p>
          <a:p>
            <a:pPr lvl="0" indent="0" marL="1270000">
              <a:buNone/>
            </a:pPr>
            <a:r>
              <a:rPr sz="2000">
                <a:latin typeface="Courier"/>
              </a:rPr>
              <a:t>n_s</a:t>
            </a:r>
            <a:r>
              <a:rPr sz="2000"/>
              <a:t> and </a:t>
            </a:r>
            <a:r>
              <a:rPr sz="2000">
                <a:latin typeface="Courier"/>
              </a:rPr>
              <a:t>sun</a:t>
            </a:r>
            <a:r>
              <a:rPr sz="2000"/>
              <a:t> always travel together — </a:t>
            </a:r>
            <a:r>
              <a:rPr sz="2000">
                <a:latin typeface="Courier"/>
              </a:rPr>
              <a:t>n</a:t>
            </a:r>
            <a:r>
              <a:rPr sz="2000"/>
              <a:t> with </a:t>
            </a:r>
            <a:r>
              <a:rPr sz="2000">
                <a:latin typeface="Courier"/>
              </a:rPr>
              <a:t>shady</a:t>
            </a:r>
            <a:r>
              <a:rPr sz="2000"/>
              <a:t>, </a:t>
            </a:r>
            <a:r>
              <a:rPr sz="2000">
                <a:latin typeface="Courier"/>
              </a:rPr>
              <a:t>s</a:t>
            </a:r>
            <a:r>
              <a:rPr sz="2000"/>
              <a:t> with </a:t>
            </a:r>
            <a:r>
              <a:rPr sz="2000">
                <a:latin typeface="Courier"/>
              </a:rPr>
              <a:t>sunny</a:t>
            </a:r>
            <a:r>
              <a:rPr sz="2000"/>
              <a:t>. Two columns encoding the same grouping. Useful redundancy, or something to simplify? We’ll revisit this in Wrangling Your Data.</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n_s,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unnamed-chunk-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unnamed-chunk-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sun</a:t>
            </a:r>
            <a:r>
              <a:rPr sz="2000"/>
              <a:t> for </a:t>
            </a:r>
            <a:r>
              <a:rPr sz="2000">
                <a:latin typeface="Courier"/>
              </a:rPr>
              <a:t>group</a:t>
            </a:r>
            <a:r>
              <a:rPr sz="2000"/>
              <a:t>. What does that plot tell you instead?</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pine_needles.csv</a:t>
            </a:r>
            <a:r>
              <a:rPr sz="2000"/>
              <a:t>, run </a:t>
            </a:r>
            <a:r>
              <a:rPr sz="2000">
                <a:latin typeface="Courier"/>
              </a:rPr>
              <a:t>glimpse()</a:t>
            </a:r>
            <a:r>
              <a:rPr sz="2000"/>
              <a:t>, and make one more plot — </a:t>
            </a:r>
            <a:r>
              <a:rPr sz="2000">
                <a:latin typeface="Courier"/>
              </a:rPr>
              <a:t>length_mm</a:t>
            </a:r>
            <a:r>
              <a:rPr sz="2000"/>
              <a:t> by </a:t>
            </a:r>
            <a:r>
              <a:rPr sz="2000">
                <a:latin typeface="Courier"/>
              </a:rPr>
              <a:t>n_s</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2026-09-01T20:19:11Z</dcterms:created>
  <dcterms:modified xsi:type="dcterms:W3CDTF">2026-09-01T20:19:11Z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