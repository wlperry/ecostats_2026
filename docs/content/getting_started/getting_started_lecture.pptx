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2.png"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workflow-scripts.html"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workflow-basics.html"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workflow-style.html"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data-visualize.html"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data/pine_data.csv" TargetMode="External" /><Relationship Id="rId3" Type="http://schemas.openxmlformats.org/officeDocument/2006/relationships/hyperlink" Target="https://r4ds.hadley.nz/data-import.html"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hyperlink" Target="https://r4ds.hadley.nz/data-visualize.html" TargetMode="External" /><Relationship Id="rId2" Type="http://schemas.openxmlformats.org/officeDocument/2006/relationships/image" Target="../media/image4.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data-transform.html"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7.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r4ds.hadley.nz/" TargetMode="External" /><Relationship Id="rId3" Type="http://schemas.openxmlformats.org/officeDocument/2006/relationships/hyperlink" Target="https://r4ds.hadley.nz/data-visualize.html" TargetMode="External" /><Relationship Id="rId4" Type="http://schemas.openxmlformats.org/officeDocument/2006/relationships/hyperlink" Target="https://r4ds.hadley.nz/workflow-basics.html" TargetMode="External" /><Relationship Id="rId5" Type="http://schemas.openxmlformats.org/officeDocument/2006/relationships/hyperlink" Target="https://r4ds.hadley.nz/workflow-scripts.html" TargetMode="External" /><Relationship Id="rId6" Type="http://schemas.openxmlformats.org/officeDocument/2006/relationships/hyperlink" Target="https://r4ds.hadley.nz/data-import.html" TargetMode="External" /><Relationship Id="rId7" Type="http://schemas.openxmlformats.org/officeDocument/2006/relationships/hyperlink" Target="https://r4ds.hadley.nz/workflow-help.html"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Getting Started</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Asking a question, meeting R, and making your first graph</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Welcome to Biostatistics</a:t>
            </a:r>
          </a:p>
        </p:txBody>
      </p:sp>
      <p:sp>
        <p:nvSpPr>
          <p:cNvPr id="3" name="Content Placeholder 2"/>
          <p:cNvSpPr>
            <a:spLocks noGrp="1"/>
          </p:cNvSpPr>
          <p:nvPr>
            <p:ph idx="1" sz="half"/>
          </p:nvPr>
        </p:nvSpPr>
        <p:spPr/>
        <p:txBody>
          <a:bodyPr/>
          <a:lstStyle/>
          <a:p>
            <a:pPr lvl="0"/>
            <a:r>
              <a:rPr/>
              <a:t>This course teaches the whole pipeline: </a:t>
            </a:r>
            <a:r>
              <a:rPr b="1"/>
              <a:t>raw data → clean → summarize → visualize → test → report</a:t>
            </a:r>
          </a:p>
          <a:p>
            <a:pPr lvl="0"/>
            <a:r>
              <a:rPr/>
              <a:t>You do </a:t>
            </a:r>
            <a:r>
              <a:rPr b="1"/>
              <a:t>not</a:t>
            </a:r>
            <a:r>
              <a:rPr/>
              <a:t> need prior coding experience — everyone starts exactly here</a:t>
            </a:r>
          </a:p>
          <a:p>
            <a:pPr lvl="0"/>
            <a:r>
              <a:rPr/>
              <a:t>The only way to learn this is to </a:t>
            </a:r>
            <a:r>
              <a:rPr b="1"/>
              <a:t>type the code yourself</a:t>
            </a:r>
            <a:r>
              <a:rPr/>
              <a:t> and break it</a:t>
            </a:r>
          </a:p>
          <a:p>
            <a:pPr lvl="0" indent="0" marL="1270000">
              <a:buNone/>
            </a:pPr>
            <a:r>
              <a:rPr sz="2000" b="1"/>
              <a:t>Important</a:t>
            </a:r>
          </a:p>
          <a:p>
            <a:pPr lvl="0" indent="0" marL="1270000">
              <a:buNone/>
            </a:pPr>
            <a:r>
              <a:rPr sz="2000" b="1"/>
              <a:t>Getting stuck is not failing — it is the job.</a:t>
            </a:r>
            <a:br/>
            <a:r>
              <a:rPr sz="2000"/>
              <a:t>Every working scientist reads error messages and searches for answers every day.</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Today’s roadmap</a:t>
            </a:r>
          </a:p>
          <a:p>
            <a:pPr lvl="0" indent="-342900" marL="342900">
              <a:buAutoNum type="arabicPeriod"/>
            </a:pPr>
            <a:r>
              <a:rPr sz="2000"/>
              <a:t>Asking a good question</a:t>
            </a:r>
          </a:p>
          <a:p>
            <a:pPr lvl="0" indent="-342900" marL="342900">
              <a:buAutoNum type="arabicPeriod"/>
            </a:pPr>
            <a:r>
              <a:rPr sz="2000"/>
              <a:t>Organizing a project</a:t>
            </a:r>
          </a:p>
          <a:p>
            <a:pPr lvl="0" indent="-342900" marL="342900">
              <a:buAutoNum type="arabicPeriod"/>
            </a:pPr>
            <a:r>
              <a:rPr sz="2000"/>
              <a:t>Meeting R and Positron</a:t>
            </a:r>
          </a:p>
          <a:p>
            <a:pPr lvl="0" indent="-342900" marL="342900">
              <a:buAutoNum type="arabicPeriod"/>
            </a:pPr>
            <a:r>
              <a:rPr sz="2000"/>
              <a:t>Loading data and your first plot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Asking a Good Question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makes something science?</a:t>
            </a:r>
          </a:p>
        </p:txBody>
      </p:sp>
      <p:sp>
        <p:nvSpPr>
          <p:cNvPr id="3" name="Content Placeholder 2"/>
          <p:cNvSpPr>
            <a:spLocks noGrp="1"/>
          </p:cNvSpPr>
          <p:nvPr>
            <p:ph idx="1" sz="half"/>
          </p:nvPr>
        </p:nvSpPr>
        <p:spPr/>
        <p:txBody>
          <a:bodyPr/>
          <a:lstStyle/>
          <a:p>
            <a:pPr lvl="0"/>
            <a:r>
              <a:rPr/>
              <a:t>Science makes </a:t>
            </a:r>
            <a:r>
              <a:rPr b="1"/>
              <a:t>predictions</a:t>
            </a:r>
            <a:r>
              <a:rPr/>
              <a:t> and tests them with a </a:t>
            </a:r>
            <a:r>
              <a:rPr b="1"/>
              <a:t>falsifiable</a:t>
            </a:r>
            <a:r>
              <a:rPr/>
              <a:t> approach — statistics</a:t>
            </a:r>
          </a:p>
          <a:p>
            <a:pPr lvl="0"/>
            <a:r>
              <a:rPr/>
              <a:t>A claim that could never be shown wrong is not testable, and not science</a:t>
            </a:r>
          </a:p>
          <a:p>
            <a:pPr lvl="0" indent="0" marL="0">
              <a:buNone/>
            </a:pPr>
            <a:r>
              <a:rPr b="1"/>
              <a:t>Example:</a:t>
            </a:r>
          </a:p>
          <a:p>
            <a:pPr lvl="0"/>
            <a:r>
              <a:rPr i="1"/>
              <a:t>“Needles on the shady side of a tree are longer”</a:t>
            </a:r>
            <a:r>
              <a:rPr/>
              <a:t> — testable ✅</a:t>
            </a:r>
          </a:p>
          <a:p>
            <a:pPr lvl="0"/>
            <a:r>
              <a:rPr i="1"/>
              <a:t>“The forest decides needle length”</a:t>
            </a:r>
            <a:r>
              <a:rPr/>
              <a:t> — not testable ❌</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New word</a:t>
            </a:r>
          </a:p>
          <a:p>
            <a:pPr lvl="0" indent="0" marL="1270000">
              <a:buNone/>
            </a:pPr>
            <a:r>
              <a:rPr sz="2000" b="1"/>
              <a:t>Falsifiable</a:t>
            </a:r>
            <a:r>
              <a:rPr sz="2000"/>
              <a:t> = a prediction that could, in principle, be proven wrong. A good hypothesis is one you could disprove.</a:t>
            </a:r>
          </a:p>
          <a:p>
            <a:pPr lvl="0" indent="0" marL="1270000">
              <a:buNone/>
            </a:pPr>
            <a:r>
              <a:rPr sz="2000" b="1"/>
              <a:t>Note</a:t>
            </a:r>
          </a:p>
          <a:p>
            <a:pPr lvl="0" indent="0" marL="1270000">
              <a:buNone/>
            </a:pPr>
            <a:r>
              <a:rPr sz="2000" b="1"/>
              <a:t>📖 Reference</a:t>
            </a:r>
          </a:p>
          <a:p>
            <a:pPr lvl="0" indent="0" marL="1270000">
              <a:buNone/>
            </a:pPr>
            <a:r>
              <a:rPr sz="2000"/>
              <a:t>Whitlock &amp; Schluter, </a:t>
            </a:r>
            <a:r>
              <a:rPr sz="2000" i="1"/>
              <a:t>The Analysis of Biological Data</a:t>
            </a:r>
            <a:r>
              <a:rPr sz="2000"/>
              <a:t>, Ch. 1 — Statistics and Samples.</a:t>
            </a:r>
            <a:br/>
            <a:r>
              <a:rPr sz="2000"/>
              <a:t>Gotelli &amp; Ellison, </a:t>
            </a:r>
            <a:r>
              <a:rPr sz="2000" i="1"/>
              <a:t>A Primer of Ecological Statistics</a:t>
            </a:r>
            <a:r>
              <a:rPr sz="2000"/>
              <a:t>, Ch. 4 — Framing and Testing Hypotheses.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Two ways of reasoning toward that question</a:t>
            </a:r>
          </a:p>
        </p:txBody>
      </p:sp>
      <p:sp>
        <p:nvSpPr>
          <p:cNvPr id="3" name="Text Placeholder 2"/>
          <p:cNvSpPr>
            <a:spLocks noGrp="1"/>
          </p:cNvSpPr>
          <p:nvPr>
            <p:ph idx="1" type="body"/>
          </p:nvPr>
        </p:nvSpPr>
        <p:spPr/>
        <p:txBody>
          <a:bodyPr/>
          <a:lstStyle/>
          <a:p>
            <a:pPr lvl="0" indent="0" marL="0">
              <a:buNone/>
            </a:pPr>
            <a:r>
              <a:rPr b="1"/>
              <a:t>Inductive (specific → general)</a:t>
            </a:r>
          </a:p>
        </p:txBody>
      </p:sp>
      <p:pic>
        <p:nvPicPr>
          <p:cNvPr descr="images/inductive_phase.png" id="0" name="Picture 1"/>
          <p:cNvPicPr>
            <a:picLocks noGrp="1" noChangeAspect="1"/>
          </p:cNvPicPr>
          <p:nvPr/>
        </p:nvPicPr>
        <p:blipFill>
          <a:blip r:embed="rId2"/>
          <a:stretch>
            <a:fillRect/>
          </a:stretch>
        </p:blipFill>
        <p:spPr bwMode="auto">
          <a:xfrm>
            <a:off x="1447800" y="1270000"/>
            <a:ext cx="1778000" cy="2794000"/>
          </a:xfrm>
          <a:prstGeom prst="rect">
            <a:avLst/>
          </a:prstGeom>
          <a:noFill/>
          <a:ln w="9525">
            <a:noFill/>
            <a:headEnd/>
            <a:tailEnd/>
          </a:ln>
        </p:spPr>
      </p:pic>
      <p:sp>
        <p:nvSpPr>
          <p:cNvPr id="1" name="TextBox 3"/>
          <p:cNvSpPr txBox="1"/>
          <p:nvPr>
            <p:ph idx="1"/>
          </p:nvPr>
        </p:nvSpPr>
        <p:spPr>
          <a:xfrm>
            <a:off x="127000" y="4064000"/>
            <a:ext cx="4432300" cy="508000"/>
          </a:xfrm>
          <a:prstGeom prst="rect">
            <a:avLst/>
          </a:prstGeom>
          <a:noFill/>
        </p:spPr>
        <p:txBody>
          <a:bodyPr/>
          <a:lstStyle/>
          <a:p>
            <a:pPr lvl="0" indent="0" marL="0" algn="ctr">
              <a:buNone/>
            </a:pPr>
            <a:r>
              <a:rPr/>
              <a:t>Flowchart of the inductive reasoning phase, highlighted at the top: Information (observation, experiment, literature) leads to a Model, which leads to Hypothesis, then a testable Prediction, then a Test of Hypothesis that loops back via Yes/No decision points.</a:t>
            </a:r>
          </a:p>
        </p:txBody>
      </p:sp>
      <p:sp>
        <p:nvSpPr>
          <p:cNvPr id="4" name="Content Placeholder 3"/>
          <p:cNvSpPr>
            <a:spLocks noGrp="1"/>
          </p:cNvSpPr>
          <p:nvPr>
            <p:ph idx="2" sz="half"/>
          </p:nvPr>
        </p:nvSpPr>
        <p:spPr/>
        <p:txBody>
          <a:bodyPr/>
          <a:lstStyle/>
          <a:p>
            <a:pPr lvl="0" indent="0" marL="0">
              <a:buNone/>
            </a:pPr>
            <a:r>
              <a:rPr/>
              <a:t>You measure needles on a few trees, notice a pattern, and generalize: </a:t>
            </a:r>
            <a:r>
              <a:rPr i="1"/>
              <a:t>“needle length seems to vary with side of tree.”</a:t>
            </a:r>
          </a:p>
          <a:p>
            <a:pPr lvl="0" indent="0" marL="1270000">
              <a:buNone/>
            </a:pPr>
            <a:r>
              <a:rPr sz="2000" b="1"/>
              <a:t>Note</a:t>
            </a:r>
          </a:p>
          <a:p>
            <a:pPr lvl="0" indent="0" marL="1270000">
              <a:buNone/>
            </a:pPr>
            <a:r>
              <a:rPr sz="2000" b="1"/>
              <a:t>Weakness:</a:t>
            </a:r>
            <a:r>
              <a:rPr sz="2000"/>
              <a:t> the pattern held in your sample — it is not guaranteed to hold everywhere.</a:t>
            </a:r>
          </a:p>
        </p:txBody>
      </p:sp>
      <p:sp>
        <p:nvSpPr>
          <p:cNvPr id="5" name="Text Placeholder 4"/>
          <p:cNvSpPr>
            <a:spLocks noGrp="1"/>
          </p:cNvSpPr>
          <p:nvPr>
            <p:ph idx="3" sz="quarter" type="body"/>
          </p:nvPr>
        </p:nvSpPr>
        <p:spPr/>
        <p:txBody>
          <a:bodyPr/>
          <a:lstStyle/>
          <a:p>
            <a:pPr lvl="0" indent="0" marL="0">
              <a:buNone/>
            </a:pPr>
            <a:r>
              <a:rPr b="1"/>
              <a:t>Deductive (general → specific)</a:t>
            </a:r>
          </a:p>
        </p:txBody>
      </p:sp>
      <p:pic>
        <p:nvPicPr>
          <p:cNvPr descr="images/deductive_phase.png" id="0" name="Picture 1"/>
          <p:cNvPicPr>
            <a:picLocks noGrp="1" noChangeAspect="1"/>
          </p:cNvPicPr>
          <p:nvPr/>
        </p:nvPicPr>
        <p:blipFill>
          <a:blip r:embed="rId3"/>
          <a:stretch>
            <a:fillRect/>
          </a:stretch>
        </p:blipFill>
        <p:spPr bwMode="auto">
          <a:xfrm>
            <a:off x="5854700" y="1295400"/>
            <a:ext cx="1828800" cy="2768600"/>
          </a:xfrm>
          <a:prstGeom prst="rect">
            <a:avLst/>
          </a:prstGeom>
          <a:noFill/>
          <a:ln w="9525">
            <a:noFill/>
            <a:headEnd/>
            <a:tailEnd/>
          </a:ln>
        </p:spPr>
      </p:pic>
      <p:sp>
        <p:nvSpPr>
          <p:cNvPr id="1" name="TextBox 3"/>
          <p:cNvSpPr txBox="1"/>
          <p:nvPr>
            <p:ph idx="1"/>
          </p:nvPr>
        </p:nvSpPr>
        <p:spPr>
          <a:xfrm>
            <a:off x="4749800" y="4064000"/>
            <a:ext cx="4038600" cy="508000"/>
          </a:xfrm>
          <a:prstGeom prst="rect">
            <a:avLst/>
          </a:prstGeom>
          <a:noFill/>
        </p:spPr>
        <p:txBody>
          <a:bodyPr/>
          <a:lstStyle/>
          <a:p>
            <a:pPr lvl="0" indent="0" marL="0" algn="ctr">
              <a:buNone/>
            </a:pPr>
            <a:r>
              <a:rPr/>
              <a:t>The same scientific-reasoning flowchart as the inductive diagram, but with the deductive phase highlighted instead: starting from Hypothesis, moving to a testable Prediction and Test of Hypothesis, showing deduction as reasoning from a general rule down to a specific testable case.</a:t>
            </a:r>
          </a:p>
        </p:txBody>
      </p:sp>
      <p:sp>
        <p:nvSpPr>
          <p:cNvPr id="6" name="Content Placeholder 5"/>
          <p:cNvSpPr>
            <a:spLocks noGrp="1"/>
          </p:cNvSpPr>
          <p:nvPr>
            <p:ph idx="4" sz="quarter"/>
          </p:nvPr>
        </p:nvSpPr>
        <p:spPr/>
        <p:txBody>
          <a:bodyPr/>
          <a:lstStyle/>
          <a:p>
            <a:pPr lvl="0" indent="0" marL="0">
              <a:buNone/>
            </a:pPr>
            <a:r>
              <a:rPr/>
              <a:t>You start from a general rule — </a:t>
            </a:r>
            <a:r>
              <a:rPr i="1"/>
              <a:t>“exposure affects needle length”</a:t>
            </a:r>
            <a:r>
              <a:rPr/>
              <a:t> — and predict what a new tree should show, then check.</a:t>
            </a:r>
          </a:p>
          <a:p>
            <a:pPr lvl="0" indent="0" marL="1270000">
              <a:buNone/>
            </a:pPr>
            <a:r>
              <a:rPr sz="2000" b="1"/>
              <a:t>Note</a:t>
            </a:r>
          </a:p>
          <a:p>
            <a:pPr lvl="0" indent="0" marL="1270000">
              <a:buNone/>
            </a:pPr>
            <a:r>
              <a:rPr sz="2000" b="1"/>
              <a:t>Weakness:</a:t>
            </a:r>
            <a:r>
              <a:rPr sz="2000"/>
              <a:t> only as strong as the general rule you started from.</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b="1"/>
              <a:t>In practice we do both, back and forth</a:t>
            </a:r>
            <a:r>
              <a:rPr sz="2000"/>
              <a:t> — notice a pattern (induction), propose a rule, then test it on new data (deduction).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Our class question</a:t>
            </a:r>
          </a:p>
        </p:txBody>
      </p:sp>
      <p:sp>
        <p:nvSpPr>
          <p:cNvPr id="3" name="Content Placeholder 2"/>
          <p:cNvSpPr>
            <a:spLocks noGrp="1"/>
          </p:cNvSpPr>
          <p:nvPr>
            <p:ph idx="1" sz="half"/>
          </p:nvPr>
        </p:nvSpPr>
        <p:spPr/>
        <p:txBody>
          <a:bodyPr/>
          <a:lstStyle/>
          <a:p>
            <a:pPr lvl="0" indent="0" marL="0">
              <a:buNone/>
            </a:pPr>
            <a:r>
              <a:rPr/>
              <a:t>Pine needles on the </a:t>
            </a:r>
            <a:r>
              <a:rPr b="1"/>
              <a:t>shady</a:t>
            </a:r>
            <a:r>
              <a:rPr/>
              <a:t> side of a tree vs. the </a:t>
            </a:r>
            <a:r>
              <a:rPr b="1"/>
              <a:t>sunny</a:t>
            </a:r>
            <a:r>
              <a:rPr/>
              <a:t> side:</a:t>
            </a:r>
          </a:p>
          <a:p>
            <a:pPr lvl="0"/>
            <a:r>
              <a:rPr b="1"/>
              <a:t>Question:</a:t>
            </a:r>
          </a:p>
          <a:p>
            <a:pPr lvl="0"/>
            <a:r>
              <a:rPr b="1"/>
              <a:t>Prediction:</a:t>
            </a:r>
          </a:p>
          <a:p>
            <a:pPr lvl="0"/>
            <a:r>
              <a:rPr b="1"/>
              <a:t>H₀ (null):</a:t>
            </a:r>
          </a:p>
          <a:p>
            <a:pPr lvl="0"/>
            <a:r>
              <a:rPr b="1"/>
              <a:t>Hₐ (alternate):</a:t>
            </a:r>
          </a:p>
          <a:p>
            <a:pPr lvl="0" indent="0" marL="1270000">
              <a:buNone/>
            </a:pPr>
            <a:r>
              <a:rPr sz="2000" b="1"/>
              <a:t>Note</a:t>
            </a:r>
          </a:p>
          <a:p>
            <a:pPr lvl="0" indent="0" marL="1270000">
              <a:buNone/>
            </a:pPr>
            <a:r>
              <a:rPr sz="2000" b="1"/>
              <a:t>📖 New words</a:t>
            </a:r>
          </a:p>
          <a:p>
            <a:pPr lvl="0"/>
            <a:r>
              <a:rPr sz="2000" b="1"/>
              <a:t>Question</a:t>
            </a:r>
            <a:r>
              <a:rPr sz="2000"/>
              <a:t>: what is your question</a:t>
            </a:r>
          </a:p>
          <a:p>
            <a:pPr lvl="0"/>
            <a:r>
              <a:rPr sz="2000" b="1"/>
              <a:t>Prediction</a:t>
            </a:r>
            <a:r>
              <a:rPr sz="2000"/>
              <a:t>: what do you think will happen</a:t>
            </a:r>
          </a:p>
          <a:p>
            <a:pPr lvl="0"/>
            <a:r>
              <a:rPr sz="2000" b="1"/>
              <a:t>H₀</a:t>
            </a:r>
            <a:r>
              <a:rPr sz="2000"/>
              <a:t> — the “nothing is happening” claim</a:t>
            </a:r>
          </a:p>
          <a:p>
            <a:pPr lvl="0"/>
            <a:r>
              <a:rPr sz="2000" b="1"/>
              <a:t>Hₐ</a:t>
            </a:r>
            <a:r>
              <a:rPr sz="2000"/>
              <a:t> — the claim we suspect might be true</a:t>
            </a:r>
          </a:p>
          <a:p>
            <a:pPr lvl="0"/>
            <a:r>
              <a:rPr sz="2000"/>
              <a:t>Note: Hₐ does </a:t>
            </a:r>
            <a:r>
              <a:rPr sz="2000" b="1"/>
              <a:t>NOT</a:t>
            </a:r>
            <a:r>
              <a:rPr sz="2000"/>
              <a:t> say </a:t>
            </a:r>
            <a:r>
              <a:rPr sz="2000" i="1"/>
              <a:t>which</a:t>
            </a:r>
            <a:r>
              <a:rPr sz="2000"/>
              <a:t> side is longer — that would be a </a:t>
            </a:r>
            <a:r>
              <a:rPr sz="2000" b="1"/>
              <a:t>prediction</a:t>
            </a:r>
            <a:r>
              <a:rPr sz="2000"/>
              <a:t>, a stronger, riskier claim</a:t>
            </a:r>
          </a:p>
        </p:txBody>
      </p:sp>
      <p:pic>
        <p:nvPicPr>
          <p:cNvPr descr="images/pine_needles.jpg" id="0" name="Picture 1"/>
          <p:cNvPicPr>
            <a:picLocks noGrp="1" noChangeAspect="1"/>
          </p:cNvPicPr>
          <p:nvPr/>
        </p:nvPicPr>
        <p:blipFill>
          <a:blip r:embed="rId2"/>
          <a:stretch>
            <a:fillRect/>
          </a:stretch>
        </p:blipFill>
        <p:spPr bwMode="auto">
          <a:xfrm>
            <a:off x="6121400" y="787400"/>
            <a:ext cx="2781300" cy="37084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Photo comparing needle length and bundle count across six pine species (Pinus ponderosa, nigra, resinosa, strobus, sylvestris, banksiana), showing needles ranging from long single pairs to short clusters of five, illustrating the kind of length measurement the class’s own pine-needle sampling will use.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Designing a defensible sample</a:t>
            </a:r>
          </a:p>
        </p:txBody>
      </p:sp>
      <p:sp>
        <p:nvSpPr>
          <p:cNvPr id="3" name="Content Placeholder 2"/>
          <p:cNvSpPr>
            <a:spLocks noGrp="1"/>
          </p:cNvSpPr>
          <p:nvPr>
            <p:ph idx="1" sz="half"/>
          </p:nvPr>
        </p:nvSpPr>
        <p:spPr/>
        <p:txBody>
          <a:bodyPr/>
          <a:lstStyle/>
          <a:p>
            <a:pPr lvl="0"/>
            <a:r>
              <a:rPr b="1"/>
              <a:t>Can we test this with needles from one tree?</a:t>
            </a:r>
          </a:p>
          <a:p>
            <a:pPr lvl="1"/>
            <a:r>
              <a:rPr/>
              <a:t>No — that tree could just happen to have short needles on one side due to other drivers.</a:t>
            </a:r>
          </a:p>
          <a:p>
            <a:pPr lvl="1"/>
            <a:r>
              <a:rPr/>
              <a:t>Treating many needles from </a:t>
            </a:r>
            <a:r>
              <a:rPr i="1"/>
              <a:t>one</a:t>
            </a:r>
            <a:r>
              <a:rPr/>
              <a:t> tree as if they were independent replicates is called </a:t>
            </a:r>
            <a:r>
              <a:rPr b="1"/>
              <a:t>pseudoreplication</a:t>
            </a:r>
            <a:r>
              <a:rPr/>
              <a:t> (Hurlbert 1984).</a:t>
            </a:r>
          </a:p>
          <a:p>
            <a:pPr lvl="0"/>
            <a:r>
              <a:rPr b="1"/>
              <a:t>The tree — not the needle — is the unit of replication.</a:t>
            </a:r>
          </a:p>
          <a:p>
            <a:pPr lvl="1"/>
            <a:r>
              <a:rPr/>
              <a:t>We need needles from </a:t>
            </a:r>
            <a:r>
              <a:rPr i="1"/>
              <a:t>many</a:t>
            </a:r>
            <a:r>
              <a:rPr/>
              <a:t> trees, sampled the same way each time.</a:t>
            </a:r>
          </a:p>
          <a:p>
            <a:pPr lvl="0"/>
            <a:r>
              <a:rPr b="1"/>
              <a:t>Randomize</a:t>
            </a:r>
            <a:r>
              <a:rPr/>
              <a:t> which trees and branches you sample, so your own bias doesn’t sneak into the data.</a:t>
            </a:r>
          </a:p>
          <a:p>
            <a:pPr lvl="0" indent="0" marL="1270000">
              <a:buNone/>
            </a:pPr>
            <a:r>
              <a:rPr sz="2000" b="1"/>
              <a:t>Important</a:t>
            </a:r>
          </a:p>
          <a:p>
            <a:pPr lvl="0" indent="0" marL="1270000">
              <a:buNone/>
            </a:pPr>
            <a:r>
              <a:rPr sz="2000" b="1"/>
              <a:t>Dependent vs. independent variables</a:t>
            </a:r>
          </a:p>
          <a:p>
            <a:pPr lvl="0"/>
            <a:r>
              <a:rPr sz="2000" b="1"/>
              <a:t>Independent (X):</a:t>
            </a:r>
            <a:r>
              <a:rPr sz="2000"/>
              <a:t> sun exposure — shady or sunny — what we group by</a:t>
            </a:r>
          </a:p>
          <a:p>
            <a:pPr lvl="0"/>
            <a:r>
              <a:rPr sz="2000" b="1"/>
              <a:t>Dependent (Y):</a:t>
            </a:r>
            <a:r>
              <a:rPr sz="2000"/>
              <a:t> needle length — what we measure</a:t>
            </a:r>
          </a:p>
        </p:txBody>
      </p:sp>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Today in the field</a:t>
            </a:r>
          </a:p>
          <a:p>
            <a:pPr lvl="0" indent="0" marL="1270000">
              <a:buNone/>
            </a:pPr>
            <a:r>
              <a:rPr sz="2000"/>
              <a:t>Each team collects needles from the shady side </a:t>
            </a:r>
            <a:r>
              <a:rPr sz="2000" b="1"/>
              <a:t>and</a:t>
            </a:r>
            <a:r>
              <a:rPr sz="2000"/>
              <a:t> the sunny side of the same tree, using one agreed-on method — same height, same “mature needle” definition, same spot on the branch.</a:t>
            </a:r>
          </a:p>
          <a:p>
            <a:pPr lvl="0" indent="0" marL="1270000">
              <a:buNone/>
            </a:pPr>
            <a:r>
              <a:rPr sz="2000"/>
              <a:t>Then we come back, agree on how to measure, measure the needles, and enter the data in Excel.</a:t>
            </a:r>
          </a:p>
          <a:p>
            <a:pPr lvl="0" indent="0" marL="1270000">
              <a:buNone/>
            </a:pPr>
            <a:r>
              <a:rPr sz="2000" b="1"/>
              <a:t>Note</a:t>
            </a:r>
          </a:p>
          <a:p>
            <a:pPr lvl="0" indent="0" marL="1270000">
              <a:buNone/>
            </a:pPr>
            <a:r>
              <a:rPr sz="2000" b="1"/>
              <a:t>Because both sides come from the same tree, the two measurements are </a:t>
            </a:r>
            <a:r>
              <a:rPr sz="2000" b="1" i="1"/>
              <a:t>paired</a:t>
            </a:r>
            <a:r>
              <a:rPr sz="2000" b="1"/>
              <a:t>.</a:t>
            </a:r>
            <a:r>
              <a:rPr sz="2000"/>
              <a:t> Keep track of which team measured which tree — we will need that structure later today, and again in Week 4.</a:t>
            </a:r>
          </a:p>
          <a:p>
            <a:pPr lvl="0" indent="0" marL="1270000">
              <a:buNone/>
            </a:pPr>
            <a:r>
              <a:rPr sz="2000" b="1"/>
              <a:t>Note</a:t>
            </a:r>
          </a:p>
          <a:p>
            <a:pPr lvl="0" indent="0" marL="1270000">
              <a:buNone/>
            </a:pPr>
            <a:r>
              <a:rPr sz="2000" b="1"/>
              <a:t>📖 Reference</a:t>
            </a:r>
          </a:p>
          <a:p>
            <a:pPr lvl="0" indent="0" marL="1270000">
              <a:buNone/>
            </a:pPr>
            <a:r>
              <a:rPr sz="2000"/>
              <a:t>Whitlock &amp; Schluter, Ch. 1 — Statistics and Samples, on random sampling and what makes a sample representative.</a:t>
            </a:r>
            <a:br/>
            <a:r>
              <a:rPr sz="2000"/>
              <a:t>Gotelli &amp; Ellison, Ch. 6 — Designing Successful Field Studies, on replication and pseudoreplication.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Organizing Your Project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Data is the raw material — treat it that way</a:t>
            </a:r>
          </a:p>
        </p:txBody>
      </p:sp>
      <p:sp>
        <p:nvSpPr>
          <p:cNvPr id="3" name="Content Placeholder 2"/>
          <p:cNvSpPr>
            <a:spLocks noGrp="1"/>
          </p:cNvSpPr>
          <p:nvPr>
            <p:ph idx="1" sz="half"/>
          </p:nvPr>
        </p:nvSpPr>
        <p:spPr/>
        <p:txBody>
          <a:bodyPr/>
          <a:lstStyle/>
          <a:p>
            <a:pPr lvl="0"/>
            <a:r>
              <a:rPr/>
              <a:t>Decide your </a:t>
            </a:r>
            <a:r>
              <a:rPr b="1"/>
              <a:t>variable names and units before you collect anything</a:t>
            </a:r>
            <a:r>
              <a:rPr/>
              <a:t> — this is a </a:t>
            </a:r>
            <a:r>
              <a:rPr b="1"/>
              <a:t>controlled vocabulary</a:t>
            </a:r>
          </a:p>
          <a:p>
            <a:pPr lvl="0"/>
            <a:r>
              <a:rPr/>
              <a:t>Example: </a:t>
            </a:r>
            <a:r>
              <a:rPr>
                <a:latin typeface="Courier"/>
              </a:rPr>
              <a:t>needle_length_mm</a:t>
            </a:r>
            <a:r>
              <a:rPr/>
              <a:t>, not </a:t>
            </a:r>
            <a:r>
              <a:rPr>
                <a:latin typeface="Courier"/>
              </a:rPr>
              <a:t>Needle Length (mm)</a:t>
            </a:r>
            <a:r>
              <a:rPr/>
              <a:t> — all lowercase, no spaces, no parentheses</a:t>
            </a:r>
          </a:p>
          <a:p>
            <a:pPr lvl="0"/>
            <a:r>
              <a:rPr b="1"/>
              <a:t>Put the unit </a:t>
            </a:r>
            <a:r>
              <a:rPr b="1" i="1"/>
              <a:t>in</a:t>
            </a:r>
            <a:r>
              <a:rPr b="1"/>
              <a:t> the name as a suffix</a:t>
            </a:r>
            <a:r>
              <a:rPr/>
              <a:t> (</a:t>
            </a:r>
            <a:r>
              <a:rPr>
                <a:latin typeface="Courier"/>
              </a:rPr>
              <a:t>_mm</a:t>
            </a:r>
            <a:r>
              <a:rPr/>
              <a:t>, </a:t>
            </a:r>
            <a:r>
              <a:rPr>
                <a:latin typeface="Courier"/>
              </a:rPr>
              <a:t>_g</a:t>
            </a:r>
            <a:r>
              <a:rPr/>
              <a:t>, </a:t>
            </a:r>
            <a:r>
              <a:rPr>
                <a:latin typeface="Courier"/>
              </a:rPr>
              <a:t>_c</a:t>
            </a:r>
            <a:r>
              <a:rPr/>
              <a:t>) so it can never get separated from the number</a:t>
            </a:r>
          </a:p>
          <a:p>
            <a:pPr lvl="0"/>
            <a:r>
              <a:rPr/>
              <a:t>Plan where data goes the moment you collect it — do not let it pile up in email or texts</a:t>
            </a:r>
          </a:p>
          <a:p>
            <a:pPr lvl="0" indent="0" marL="1270000">
              <a:buNone/>
            </a:pPr>
            <a:r>
              <a:rPr sz="2000" b="1"/>
              <a:t>Note</a:t>
            </a:r>
          </a:p>
          <a:p>
            <a:pPr lvl="0" indent="0" marL="1270000">
              <a:buNone/>
            </a:pPr>
            <a:r>
              <a:rPr sz="2000" b="1"/>
              <a:t>✅ Key idea</a:t>
            </a:r>
          </a:p>
          <a:p>
            <a:pPr lvl="0" indent="0" marL="1270000">
              <a:buNone/>
            </a:pPr>
            <a:r>
              <a:rPr sz="2000"/>
              <a:t>A few minutes of naming discipline today saves hours of confusion in Wrangling Your Data, when we clean messy data.</a:t>
            </a:r>
          </a:p>
        </p:txBody>
      </p:sp>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Controlled vocabulary example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One folder per project</a:t>
            </a:r>
          </a:p>
        </p:txBody>
      </p:sp>
      <p:sp>
        <p:nvSpPr>
          <p:cNvPr id="3" name="Content Placeholder 2"/>
          <p:cNvSpPr>
            <a:spLocks noGrp="1"/>
          </p:cNvSpPr>
          <p:nvPr>
            <p:ph idx="1" sz="half"/>
          </p:nvPr>
        </p:nvSpPr>
        <p:spPr/>
        <p:txBody>
          <a:bodyPr/>
          <a:lstStyle/>
          <a:p>
            <a:pPr lvl="0" indent="0">
              <a:buNone/>
            </a:pPr>
            <a:r>
              <a:rPr>
                <a:latin typeface="Courier"/>
              </a:rPr>
              <a:t>pine_project/
├── data/       ← raw files, never overwritten
├── scripts/    ← your .R code
├── figures/    ← plots you save
└── output/     ← place to save modified data</a:t>
            </a:r>
          </a:p>
          <a:p>
            <a:pPr lvl="0"/>
            <a:r>
              <a:rPr/>
              <a:t>Open this folder as your workspace in Positron (</a:t>
            </a:r>
            <a:r>
              <a:rPr b="1"/>
              <a:t>File → Open Folder…</a:t>
            </a:r>
            <a:r>
              <a:rPr/>
              <a:t>)</a:t>
            </a:r>
          </a:p>
          <a:p>
            <a:pPr lvl="0"/>
            <a:r>
              <a:rPr/>
              <a:t>Every file path then becomes </a:t>
            </a:r>
            <a:r>
              <a:rPr b="1"/>
              <a:t>relative</a:t>
            </a:r>
          </a:p>
          <a:p>
            <a:pPr lvl="1"/>
            <a:r>
              <a:rPr/>
              <a:t>no more </a:t>
            </a:r>
            <a:r>
              <a:rPr>
                <a:latin typeface="Courier"/>
              </a:rPr>
              <a:t>C:/Users/.../Desktop/final_FINAL2.xlsx</a:t>
            </a:r>
          </a:p>
          <a:p>
            <a:pPr lvl="1"/>
            <a:r>
              <a:rPr/>
              <a:t>never call </a:t>
            </a:r>
            <a:r>
              <a:rPr>
                <a:latin typeface="Courier"/>
              </a:rPr>
              <a:t>setwd()</a:t>
            </a:r>
            <a:r>
              <a:rPr/>
              <a:t> to set the working directory — </a:t>
            </a:r>
            <a:r>
              <a:rPr b="1"/>
              <a:t>not once, not ever</a:t>
            </a:r>
          </a:p>
          <a:p>
            <a:pPr lvl="0" indent="0" marL="1270000">
              <a:buNone/>
            </a:pPr>
            <a:r>
              <a:rPr sz="2000" b="1"/>
              <a:t>Note</a:t>
            </a:r>
          </a:p>
          <a:p>
            <a:pPr lvl="0" indent="0" marL="1270000">
              <a:buNone/>
            </a:pPr>
            <a:r>
              <a:rPr sz="2000" b="1"/>
              <a:t>✅ Key idea</a:t>
            </a:r>
          </a:p>
          <a:p>
            <a:pPr lvl="0" indent="0" marL="1270000">
              <a:buNone/>
            </a:pPr>
            <a:r>
              <a:rPr sz="2000"/>
              <a:t>Keep </a:t>
            </a:r>
            <a:r>
              <a:rPr sz="2000" b="1"/>
              <a:t>raw data untouched</a:t>
            </a:r>
            <a:r>
              <a:rPr sz="2000"/>
              <a:t>.</a:t>
            </a:r>
            <a:br/>
            <a:r>
              <a:rPr sz="2000"/>
              <a:t>R writes new, processed files — so you can always trace your steps back to the original numbers.</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New word</a:t>
            </a:r>
          </a:p>
          <a:p>
            <a:pPr lvl="0" indent="0" marL="1270000">
              <a:buNone/>
            </a:pPr>
            <a:r>
              <a:rPr sz="2000" b="1"/>
              <a:t>Metadata</a:t>
            </a:r>
            <a:r>
              <a:rPr sz="2000"/>
              <a:t> = data </a:t>
            </a:r>
            <a:r>
              <a:rPr sz="2000" i="1"/>
              <a:t>about</a:t>
            </a:r>
            <a:r>
              <a:rPr sz="2000"/>
              <a:t> your data: who collected it, when, how, with what instrument.</a:t>
            </a:r>
            <a:br/>
            <a:r>
              <a:rPr sz="2000"/>
              <a:t>Without it, data are nearly useless — even to future-you.</a:t>
            </a:r>
          </a:p>
          <a:p>
            <a:pPr lvl="0" indent="0" marL="1270000">
              <a:buNone/>
            </a:pPr>
            <a:r>
              <a:rPr sz="2000" b="1"/>
              <a:t>Note</a:t>
            </a:r>
          </a:p>
          <a:p>
            <a:pPr lvl="0" indent="0" marL="1270000">
              <a:buNone/>
            </a:pPr>
            <a:r>
              <a:rPr sz="2000" b="1"/>
              <a:t>📖 Reference</a:t>
            </a:r>
          </a:p>
          <a:p>
            <a:pPr lvl="0" indent="0" marL="1270000">
              <a:buNone/>
            </a:pPr>
            <a:r>
              <a:rPr sz="2000"/>
              <a:t>Gotelli &amp; Ellison, Ch. 8 — Managing and Curating Data.</a:t>
            </a:r>
          </a:p>
          <a:p>
            <a:pPr lvl="0" indent="0" marL="1270000">
              <a:buNone/>
            </a:pPr>
            <a:r>
              <a:rPr sz="2000">
                <a:hlinkClick r:id="rId2"/>
              </a:rPr>
              <a:t>📖 R4DS §6 — Workflow: scripts and projects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b="1"/>
              <a:t>🖐 Preview</a:t>
            </a:r>
          </a:p>
          <a:p>
            <a:pPr lvl="0" indent="0" marL="1270000">
              <a:buNone/>
            </a:pPr>
            <a:r>
              <a:rPr sz="2000"/>
              <a:t>Tidy data — one row per observation, one column per variable — is the target we’re organizing toward. We’ll formalize this in Wrangling Your Data.</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Meet R and Positron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R is the engine, Positron is the dashboard</a:t>
            </a:r>
          </a:p>
        </p:txBody>
      </p:sp>
      <p:sp>
        <p:nvSpPr>
          <p:cNvPr id="3" name="Text Placeholder 2"/>
          <p:cNvSpPr>
            <a:spLocks noGrp="1"/>
          </p:cNvSpPr>
          <p:nvPr>
            <p:ph idx="1" type="body"/>
          </p:nvPr>
        </p:nvSpPr>
        <p:spPr/>
        <p:txBody>
          <a:bodyPr/>
          <a:lstStyle/>
          <a:p>
            <a:pPr lvl="0"/>
            <a:r>
              <a:rPr b="1"/>
              <a:t>R</a:t>
            </a:r>
            <a:r>
              <a:rPr/>
              <a:t> — a free language for data and statistics</a:t>
            </a:r>
          </a:p>
          <a:p>
            <a:pPr lvl="0"/>
            <a:r>
              <a:rPr b="1"/>
              <a:t>Positron</a:t>
            </a:r>
            <a:r>
              <a:rPr/>
              <a:t> — the editor (IDE) you drive it through</a:t>
            </a:r>
          </a:p>
          <a:p>
            <a:pPr lvl="0"/>
            <a:r>
              <a:rPr/>
              <a:t>Four panes you’ll use constantly:</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1473200"/>
                <a:gridCol w="1473200"/>
                <a:gridCol w="1473200"/>
              </a:tblGrid>
              <a:tr h="0">
                <a:tc>
                  <a:txBody>
                    <a:bodyPr/>
                    <a:lstStyle/>
                    <a:p>
                      <a:pPr lvl="0" indent="0" marL="0">
                        <a:buNone/>
                      </a:pPr>
                      <a:r>
                        <a:rPr/>
                        <a:t>Pane</a:t>
                      </a:r>
                    </a:p>
                  </a:txBody>
                  <a:tcPr/>
                </a:tc>
                <a:tc>
                  <a:txBody>
                    <a:bodyPr/>
                    <a:lstStyle/>
                    <a:p>
                      <a:pPr lvl="0" indent="0" marL="0">
                        <a:buNone/>
                      </a:pPr>
                      <a:r>
                        <a:rPr/>
                        <a:t>Where</a:t>
                      </a:r>
                    </a:p>
                  </a:txBody>
                  <a:tcPr/>
                </a:tc>
                <a:tc>
                  <a:txBody>
                    <a:bodyPr/>
                    <a:lstStyle/>
                    <a:p>
                      <a:pPr lvl="0" indent="0" marL="0">
                        <a:buNone/>
                      </a:pPr>
                      <a:r>
                        <a:rPr/>
                        <a:t>What it does</a:t>
                      </a:r>
                    </a:p>
                  </a:txBody>
                  <a:tcPr/>
                </a:tc>
              </a:tr>
              <a:tr h="0">
                <a:tc>
                  <a:txBody>
                    <a:bodyPr/>
                    <a:lstStyle/>
                    <a:p>
                      <a:pPr lvl="0" indent="0" marL="0">
                        <a:buNone/>
                      </a:pPr>
                      <a:r>
                        <a:rPr b="1"/>
                        <a:t>Editor</a:t>
                      </a:r>
                    </a:p>
                  </a:txBody>
                </a:tc>
                <a:tc>
                  <a:txBody>
                    <a:bodyPr/>
                    <a:lstStyle/>
                    <a:p>
                      <a:pPr lvl="0" indent="0" marL="0">
                        <a:buNone/>
                      </a:pPr>
                      <a:r>
                        <a:rPr/>
                        <a:t>top-left</a:t>
                      </a:r>
                    </a:p>
                  </a:txBody>
                </a:tc>
                <a:tc>
                  <a:txBody>
                    <a:bodyPr/>
                    <a:lstStyle/>
                    <a:p>
                      <a:pPr lvl="0" indent="0" marL="0">
                        <a:buNone/>
                      </a:pPr>
                      <a:r>
                        <a:rPr/>
                        <a:t>your scripts live here</a:t>
                      </a:r>
                    </a:p>
                  </a:txBody>
                </a:tc>
              </a:tr>
              <a:tr h="0">
                <a:tc>
                  <a:txBody>
                    <a:bodyPr/>
                    <a:lstStyle/>
                    <a:p>
                      <a:pPr lvl="0" indent="0" marL="0">
                        <a:buNone/>
                      </a:pPr>
                      <a:r>
                        <a:rPr b="1"/>
                        <a:t>Console</a:t>
                      </a:r>
                    </a:p>
                  </a:txBody>
                </a:tc>
                <a:tc>
                  <a:txBody>
                    <a:bodyPr/>
                    <a:lstStyle/>
                    <a:p>
                      <a:pPr lvl="0" indent="0" marL="0">
                        <a:buNone/>
                      </a:pPr>
                      <a:r>
                        <a:rPr/>
                        <a:t>bottom</a:t>
                      </a:r>
                    </a:p>
                  </a:txBody>
                </a:tc>
                <a:tc>
                  <a:txBody>
                    <a:bodyPr/>
                    <a:lstStyle/>
                    <a:p>
                      <a:pPr lvl="0" indent="0" marL="0">
                        <a:buNone/>
                      </a:pPr>
                      <a:r>
                        <a:rPr/>
                        <a:t>where code actually runs</a:t>
                      </a:r>
                    </a:p>
                  </a:txBody>
                </a:tc>
              </a:tr>
              <a:tr h="0">
                <a:tc>
                  <a:txBody>
                    <a:bodyPr/>
                    <a:lstStyle/>
                    <a:p>
                      <a:pPr lvl="0" indent="0" marL="0">
                        <a:buNone/>
                      </a:pPr>
                      <a:r>
                        <a:rPr b="1"/>
                        <a:t>Environment</a:t>
                      </a:r>
                    </a:p>
                  </a:txBody>
                </a:tc>
                <a:tc>
                  <a:txBody>
                    <a:bodyPr/>
                    <a:lstStyle/>
                    <a:p>
                      <a:pPr lvl="0" indent="0" marL="0">
                        <a:buNone/>
                      </a:pPr>
                      <a:r>
                        <a:rPr/>
                        <a:t>right</a:t>
                      </a:r>
                    </a:p>
                  </a:txBody>
                </a:tc>
                <a:tc>
                  <a:txBody>
                    <a:bodyPr/>
                    <a:lstStyle/>
                    <a:p>
                      <a:pPr lvl="0" indent="0" marL="0">
                        <a:buNone/>
                      </a:pPr>
                      <a:r>
                        <a:rPr/>
                        <a:t>everything you’ve stored</a:t>
                      </a:r>
                    </a:p>
                  </a:txBody>
                </a:tc>
              </a:tr>
              <a:tr h="0">
                <a:tc>
                  <a:txBody>
                    <a:bodyPr/>
                    <a:lstStyle/>
                    <a:p>
                      <a:pPr lvl="0" indent="0" marL="0">
                        <a:buNone/>
                      </a:pPr>
                      <a:r>
                        <a:rPr b="1"/>
                        <a:t>Plots / Files</a:t>
                      </a:r>
                    </a:p>
                  </a:txBody>
                </a:tc>
                <a:tc>
                  <a:txBody>
                    <a:bodyPr/>
                    <a:lstStyle/>
                    <a:p>
                      <a:pPr lvl="0" indent="0" marL="0">
                        <a:buNone/>
                      </a:pPr>
                      <a:r>
                        <a:rPr/>
                        <a:t>right</a:t>
                      </a:r>
                    </a:p>
                  </a:txBody>
                </a:tc>
                <a:tc>
                  <a:txBody>
                    <a:bodyPr/>
                    <a:lstStyle/>
                    <a:p>
                      <a:pPr lvl="0" indent="0" marL="0">
                        <a:buNone/>
                      </a:pPr>
                      <a:r>
                        <a:rPr/>
                        <a:t>figures and project files</a:t>
                      </a:r>
                    </a:p>
                  </a:txBody>
                </a:tc>
              </a:tr>
            </a:tbl>
          </a:graphicData>
        </a:graphic>
      </p:graphicFrame>
      <p:sp>
        <p:nvSpPr>
          <p:cNvPr id="5" name="Text Placeholder 4"/>
          <p:cNvSpPr>
            <a:spLocks noGrp="1"/>
          </p:cNvSpPr>
          <p:nvPr>
            <p:ph idx="3" sz="quarter" type="body"/>
          </p:nvPr>
        </p:nvSpPr>
        <p:spPr/>
        <p:txBody>
          <a:bodyPr/>
          <a:lstStyle/>
          <a:p>
            <a:pPr lvl="0" indent="0" marL="1270000">
              <a:buNone/>
            </a:pPr>
            <a:r>
              <a:rPr sz="2000" b="1"/>
              <a:t>Note</a:t>
            </a:r>
          </a:p>
          <a:p>
            <a:pPr lvl="0" indent="0" marL="1270000">
              <a:buNone/>
            </a:pPr>
            <a:r>
              <a:rPr sz="2000" b="1"/>
              <a:t>📖 New word</a:t>
            </a:r>
          </a:p>
          <a:p>
            <a:pPr lvl="0" indent="0" marL="1270000">
              <a:buNone/>
            </a:pPr>
            <a:r>
              <a:rPr sz="2000" b="1"/>
              <a:t>IDE</a:t>
            </a:r>
            <a:r>
              <a:rPr sz="2000"/>
              <a:t> = Integrated Development Environment. R is the car engine; Positron is the seat, wheel, and dashboard.</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 as a calculator, and storing values</a:t>
            </a:r>
          </a:p>
        </p:txBody>
      </p:sp>
      <p:sp>
        <p:nvSpPr>
          <p:cNvPr id="3" name="Content Placeholder 2"/>
          <p:cNvSpPr>
            <a:spLocks noGrp="1"/>
          </p:cNvSpPr>
          <p:nvPr>
            <p:ph idx="1" sz="half"/>
          </p:nvPr>
        </p:nvSpPr>
        <p:spPr/>
        <p:txBody>
          <a:bodyPr/>
          <a:lstStyle/>
          <a:p>
            <a:pPr lvl="0" indent="0" marL="0">
              <a:buNone/>
            </a:pPr>
            <a:r>
              <a:rPr/>
              <a:t>Type math into the </a:t>
            </a:r>
            <a:r>
              <a:rPr b="1"/>
              <a:t>console</a:t>
            </a:r>
            <a:r>
              <a:rPr/>
              <a:t> and press Enter:</a:t>
            </a:r>
          </a:p>
          <a:p>
            <a:pPr lvl="0" indent="0">
              <a:buNone/>
            </a:pPr>
            <a:r>
              <a:rPr>
                <a:solidFill>
                  <a:srgbClr val="AD0000"/>
                </a:solidFill>
                <a:latin typeface="Courier"/>
              </a:rPr>
              <a:t>3</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br/>
            <a:r>
              <a:rPr>
                <a:solidFill>
                  <a:srgbClr val="AD0000"/>
                </a:solidFill>
                <a:latin typeface="Courier"/>
              </a:rPr>
              <a:t>12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7</a:t>
            </a:r>
            <a:b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10</a:t>
            </a:r>
          </a:p>
          <a:p>
            <a:pPr lvl="0" indent="0" marL="0">
              <a:buNone/>
            </a:pPr>
            <a:r>
              <a:rPr/>
              <a:t>To keep a value, give it a name with the </a:t>
            </a:r>
            <a:r>
              <a:rPr b="1"/>
              <a:t>assignment operator</a:t>
            </a:r>
            <a:r>
              <a:rPr/>
              <a:t> </a:t>
            </a:r>
            <a:r>
              <a:rPr>
                <a:latin typeface="Courier"/>
              </a:rPr>
              <a:t>&lt;-</a:t>
            </a:r>
            <a:r>
              <a:rPr/>
              <a:t>:</a:t>
            </a:r>
          </a:p>
          <a:p>
            <a:pPr lvl="0" indent="0">
              <a:buNone/>
            </a:pPr>
            <a:r>
              <a:rPr>
                <a:solidFill>
                  <a:srgbClr val="003B4F"/>
                </a:solidFill>
                <a:latin typeface="Courier"/>
              </a:rPr>
              <a:t>x &lt;- </a:t>
            </a:r>
            <a:r>
              <a:rPr>
                <a:solidFill>
                  <a:srgbClr val="AD0000"/>
                </a:solidFill>
                <a:latin typeface="Courier"/>
              </a:rPr>
              <a:t>7</a:t>
            </a:r>
            <a:r>
              <a:rPr>
                <a:solidFill>
                  <a:srgbClr val="003B4F"/>
                </a:solidFill>
                <a:latin typeface="Courier"/>
              </a:rPr>
              <a:t>      </a:t>
            </a:r>
            <a:r>
              <a:rPr>
                <a:solidFill>
                  <a:srgbClr val="5E5E5E"/>
                </a:solidFill>
                <a:latin typeface="Courier"/>
              </a:rPr>
              <a:t># store 7 under the name x</a:t>
            </a:r>
            <a:br/>
            <a:r>
              <a:rPr>
                <a:solidFill>
                  <a:srgbClr val="003B4F"/>
                </a:solidFill>
                <a:latin typeface="Courier"/>
              </a:rPr>
              <a:t>x           </a:t>
            </a:r>
            <a:r>
              <a:rPr>
                <a:solidFill>
                  <a:srgbClr val="5E5E5E"/>
                </a:solidFill>
                <a:latin typeface="Courier"/>
              </a:rPr>
              <a:t># read it back</a:t>
            </a:r>
            <a:br/>
            <a:r>
              <a:rPr>
                <a:solidFill>
                  <a:srgbClr val="003B4F"/>
                </a:solidFill>
                <a:latin typeface="Courier"/>
              </a:rPr>
              <a:t>x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 use it in math</a:t>
            </a:r>
          </a:p>
          <a:p>
            <a:pPr lvl="0" indent="0" marL="1270000">
              <a:buNone/>
            </a:pPr>
            <a:r>
              <a:rPr sz="2000" b="1"/>
              <a:t>Warning</a:t>
            </a:r>
          </a:p>
          <a:p>
            <a:pPr lvl="0" indent="0" marL="1270000">
              <a:buNone/>
            </a:pPr>
            <a:r>
              <a:rPr sz="2000" b="1"/>
              <a:t>⚠️ Watch out!</a:t>
            </a:r>
          </a:p>
          <a:p>
            <a:pPr lvl="0" indent="0" marL="1270000">
              <a:buNone/>
            </a:pPr>
            <a:r>
              <a:rPr sz="2000"/>
              <a:t>R is case-sensitive: </a:t>
            </a:r>
            <a:r>
              <a:rPr sz="2000">
                <a:latin typeface="Courier"/>
              </a:rPr>
              <a:t>x</a:t>
            </a:r>
            <a:r>
              <a:rPr sz="2000"/>
              <a:t> and </a:t>
            </a:r>
            <a:r>
              <a:rPr sz="2000">
                <a:latin typeface="Courier"/>
              </a:rPr>
              <a:t>X</a:t>
            </a:r>
            <a:r>
              <a:rPr sz="2000"/>
              <a:t> are different objects. Use </a:t>
            </a:r>
            <a:r>
              <a:rPr sz="2000">
                <a:latin typeface="Courier"/>
              </a:rPr>
              <a:t>&lt;-</a:t>
            </a:r>
            <a:r>
              <a:rPr sz="2000"/>
              <a:t>, not </a:t>
            </a:r>
            <a:r>
              <a:rPr sz="2000">
                <a:latin typeface="Courier"/>
              </a:rPr>
              <a:t>=</a:t>
            </a:r>
            <a:r>
              <a:rPr sz="2000"/>
              <a:t>, to assign.</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New word</a:t>
            </a:r>
          </a:p>
          <a:p>
            <a:pPr lvl="0" indent="0" marL="1270000">
              <a:buNone/>
            </a:pPr>
            <a:r>
              <a:rPr sz="2000" b="1"/>
              <a:t>Object</a:t>
            </a:r>
            <a:r>
              <a:rPr sz="2000"/>
              <a:t> = a named container holding a value. Watch it appear in the </a:t>
            </a:r>
            <a:r>
              <a:rPr sz="2000" b="1"/>
              <a:t>Environment</a:t>
            </a:r>
            <a:r>
              <a:rPr sz="2000"/>
              <a:t> pane the moment you create it.</a:t>
            </a:r>
          </a:p>
          <a:p>
            <a:pPr lvl="0" indent="0" marL="1270000">
              <a:buNone/>
            </a:pPr>
            <a:r>
              <a:rPr sz="2000">
                <a:hlinkClick r:id="rId2"/>
              </a:rPr>
              <a:t>📖 R4DS §2 — Workflow: basics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Names, comments, and functions</a:t>
            </a:r>
          </a:p>
        </p:txBody>
      </p:sp>
      <p:sp>
        <p:nvSpPr>
          <p:cNvPr id="3" name="Content Placeholder 2"/>
          <p:cNvSpPr>
            <a:spLocks noGrp="1"/>
          </p:cNvSpPr>
          <p:nvPr>
            <p:ph idx="1" sz="half"/>
          </p:nvPr>
        </p:nvSpPr>
        <p:spPr/>
        <p:txBody>
          <a:bodyPr/>
          <a:lstStyle/>
          <a:p>
            <a:pPr lvl="0"/>
            <a:r>
              <a:rPr/>
              <a:t>Use </a:t>
            </a:r>
            <a:r>
              <a:rPr b="1">
                <a:latin typeface="Courier"/>
              </a:rPr>
              <a:t>lower_snake_case</a:t>
            </a:r>
            <a:r>
              <a:rPr/>
              <a:t>: </a:t>
            </a:r>
            <a:r>
              <a:rPr>
                <a:latin typeface="Courier"/>
              </a:rPr>
              <a:t>needle_length</a:t>
            </a:r>
            <a:r>
              <a:rPr/>
              <a:t>, not </a:t>
            </a:r>
            <a:r>
              <a:rPr>
                <a:latin typeface="Courier"/>
              </a:rPr>
              <a:t>x2</a:t>
            </a:r>
            <a:r>
              <a:rPr/>
              <a:t> or </a:t>
            </a:r>
            <a:r>
              <a:rPr>
                <a:latin typeface="Courier"/>
              </a:rPr>
              <a:t>NeedleLength</a:t>
            </a:r>
          </a:p>
          <a:p>
            <a:pPr lvl="0"/>
            <a:r>
              <a:rPr/>
              <a:t>Anything after </a:t>
            </a:r>
            <a:r>
              <a:rPr>
                <a:latin typeface="Courier"/>
              </a:rPr>
              <a:t>#</a:t>
            </a:r>
            <a:r>
              <a:rPr/>
              <a:t> is a </a:t>
            </a:r>
            <a:r>
              <a:rPr b="1"/>
              <a:t>comment</a:t>
            </a:r>
            <a:r>
              <a:rPr/>
              <a:t> — a note for humans, ignored by R</a:t>
            </a:r>
          </a:p>
          <a:p>
            <a:pPr lvl="0" indent="0">
              <a:buNone/>
            </a:pPr>
            <a:r>
              <a:rPr>
                <a:solidFill>
                  <a:srgbClr val="5E5E5E"/>
                </a:solidFill>
                <a:latin typeface="Courier"/>
              </a:rPr>
              <a:t># average of four needle lengths, in mm</a:t>
            </a:r>
            <a:br/>
            <a:r>
              <a:rPr>
                <a:solidFill>
                  <a:srgbClr val="003B4F"/>
                </a:solidFill>
                <a:latin typeface="Courier"/>
              </a:rPr>
              <a:t>needle_length &lt;- </a:t>
            </a:r>
            <a:r>
              <a:rPr>
                <a:solidFill>
                  <a:srgbClr val="4758AB"/>
                </a:solidFill>
                <a:latin typeface="Courier"/>
              </a:rPr>
              <a:t>c</a:t>
            </a:r>
            <a:r>
              <a:rPr>
                <a:solidFill>
                  <a:srgbClr val="003B4F"/>
                </a:solidFill>
                <a:latin typeface="Courier"/>
              </a:rPr>
              <a:t>(</a:t>
            </a:r>
            <a:r>
              <a:rPr>
                <a:solidFill>
                  <a:srgbClr val="AD0000"/>
                </a:solidFill>
                <a:latin typeface="Courier"/>
              </a:rPr>
              <a:t>20</a:t>
            </a:r>
            <a:r>
              <a:rPr>
                <a:solidFill>
                  <a:srgbClr val="003B4F"/>
                </a:solidFill>
                <a:latin typeface="Courier"/>
              </a:rPr>
              <a:t>, </a:t>
            </a:r>
            <a:r>
              <a:rPr>
                <a:solidFill>
                  <a:srgbClr val="AD0000"/>
                </a:solidFill>
                <a:latin typeface="Courier"/>
              </a:rPr>
              <a:t>21</a:t>
            </a:r>
            <a:r>
              <a:rPr>
                <a:solidFill>
                  <a:srgbClr val="003B4F"/>
                </a:solidFill>
                <a:latin typeface="Courier"/>
              </a:rPr>
              <a:t>, </a:t>
            </a:r>
            <a:r>
              <a:rPr>
                <a:solidFill>
                  <a:srgbClr val="AD0000"/>
                </a:solidFill>
                <a:latin typeface="Courier"/>
              </a:rPr>
              <a:t>23</a:t>
            </a:r>
            <a:r>
              <a:rPr>
                <a:solidFill>
                  <a:srgbClr val="003B4F"/>
                </a:solidFill>
                <a:latin typeface="Courier"/>
              </a:rPr>
              <a:t>, </a:t>
            </a:r>
            <a:r>
              <a:rPr>
                <a:solidFill>
                  <a:srgbClr val="AD0000"/>
                </a:solidFill>
                <a:latin typeface="Courier"/>
              </a:rPr>
              <a:t>25</a:t>
            </a:r>
            <a:r>
              <a:rPr>
                <a:solidFill>
                  <a:srgbClr val="003B4F"/>
                </a:solidFill>
                <a:latin typeface="Courier"/>
              </a:rPr>
              <a:t>)</a:t>
            </a:r>
            <a:br/>
            <a:r>
              <a:rPr>
                <a:solidFill>
                  <a:srgbClr val="4758AB"/>
                </a:solidFill>
                <a:latin typeface="Courier"/>
              </a:rPr>
              <a:t>mean</a:t>
            </a:r>
            <a:r>
              <a:rPr>
                <a:solidFill>
                  <a:srgbClr val="003B4F"/>
                </a:solidFill>
                <a:latin typeface="Courier"/>
              </a:rPr>
              <a:t>(needle_length)     </a:t>
            </a:r>
            <a:r>
              <a:rPr>
                <a:solidFill>
                  <a:srgbClr val="5E5E5E"/>
                </a:solidFill>
                <a:latin typeface="Courier"/>
              </a:rPr>
              <a:t># a function call</a:t>
            </a:r>
          </a:p>
          <a:p>
            <a:pPr lvl="0" indent="0" marL="0">
              <a:buNone/>
            </a:pPr>
            <a:r>
              <a:rPr/>
              <a:t>A </a:t>
            </a:r>
            <a:r>
              <a:rPr b="1"/>
              <a:t>function</a:t>
            </a:r>
            <a:r>
              <a:rPr/>
              <a:t> takes </a:t>
            </a:r>
            <a:r>
              <a:rPr b="1"/>
              <a:t>arguments</a:t>
            </a:r>
            <a:r>
              <a:rPr/>
              <a:t> in </a:t>
            </a:r>
            <a:r>
              <a:rPr>
                <a:latin typeface="Courier"/>
              </a:rPr>
              <a:t>()</a:t>
            </a:r>
            <a:r>
              <a:rPr/>
              <a:t> and returns a result. Stuck? Ask for help:</a:t>
            </a:r>
          </a:p>
          <a:p>
            <a:pPr lvl="0" indent="0">
              <a:buNone/>
            </a:pPr>
            <a:r>
              <a:rPr>
                <a:solidFill>
                  <a:srgbClr val="003B4F"/>
                </a:solidFill>
                <a:latin typeface="Courier"/>
              </a:rPr>
              <a:t>?mean</a:t>
            </a:r>
            <a:br/>
            <a:r>
              <a:rPr>
                <a:solidFill>
                  <a:srgbClr val="4758AB"/>
                </a:solidFill>
                <a:latin typeface="Courier"/>
              </a:rPr>
              <a:t>args</a:t>
            </a:r>
            <a:r>
              <a:rPr>
                <a:solidFill>
                  <a:srgbClr val="003B4F"/>
                </a:solidFill>
                <a:latin typeface="Courier"/>
              </a:rPr>
              <a:t>(mean)</a:t>
            </a:r>
          </a:p>
          <a:p>
            <a:pPr lvl="0" indent="0" marL="1270000">
              <a:buNone/>
            </a:pPr>
            <a:r>
              <a:rPr sz="2000" b="1"/>
              <a:t>Tip</a:t>
            </a:r>
          </a:p>
          <a:p>
            <a:pPr lvl="0" indent="0" marL="1270000">
              <a:buNone/>
            </a:pPr>
            <a:r>
              <a:rPr sz="2000" b="1"/>
              <a:t>🖐 Try it yourself</a:t>
            </a:r>
          </a:p>
          <a:p>
            <a:pPr lvl="0" indent="0" marL="1270000">
              <a:buNone/>
            </a:pPr>
            <a:r>
              <a:rPr sz="2000"/>
              <a:t>Predict what these return, then run them:</a:t>
            </a:r>
          </a:p>
          <a:p>
            <a:pPr lvl="0" indent="0">
              <a:buNone/>
            </a:pPr>
            <a:r>
              <a:rPr>
                <a:solidFill>
                  <a:srgbClr val="4758AB"/>
                </a:solidFill>
                <a:latin typeface="Courier"/>
              </a:rPr>
              <a:t>round</a:t>
            </a:r>
            <a:r>
              <a:rPr>
                <a:solidFill>
                  <a:srgbClr val="003B4F"/>
                </a:solidFill>
                <a:latin typeface="Courier"/>
              </a:rPr>
              <a:t>(</a:t>
            </a:r>
            <a:r>
              <a:rPr>
                <a:solidFill>
                  <a:srgbClr val="AD0000"/>
                </a:solidFill>
                <a:latin typeface="Courier"/>
              </a:rPr>
              <a:t>0.5</a:t>
            </a:r>
            <a:r>
              <a:rPr>
                <a:solidFill>
                  <a:srgbClr val="003B4F"/>
                </a:solidFill>
                <a:latin typeface="Courier"/>
              </a:rPr>
              <a:t>)    </a:t>
            </a:r>
            <a:r>
              <a:rPr>
                <a:solidFill>
                  <a:srgbClr val="5E5E5E"/>
                </a:solidFill>
                <a:latin typeface="Courier"/>
              </a:rPr>
              <a:t># you expect 1 ...</a:t>
            </a:r>
            <a:br/>
            <a:r>
              <a:rPr>
                <a:solidFill>
                  <a:srgbClr val="4758AB"/>
                </a:solidFill>
                <a:latin typeface="Courier"/>
              </a:rPr>
              <a:t>round</a:t>
            </a:r>
            <a:r>
              <a:rPr>
                <a:solidFill>
                  <a:srgbClr val="003B4F"/>
                </a:solidFill>
                <a:latin typeface="Courier"/>
              </a:rPr>
              <a:t>(</a:t>
            </a:r>
            <a:r>
              <a:rPr>
                <a:solidFill>
                  <a:srgbClr val="AD0000"/>
                </a:solidFill>
                <a:latin typeface="Courier"/>
              </a:rPr>
              <a:t>1.5</a:t>
            </a:r>
            <a:r>
              <a:rPr>
                <a:solidFill>
                  <a:srgbClr val="003B4F"/>
                </a:solidFill>
                <a:latin typeface="Courier"/>
              </a:rPr>
              <a:t>)    </a:t>
            </a:r>
            <a:r>
              <a:rPr>
                <a:solidFill>
                  <a:srgbClr val="5E5E5E"/>
                </a:solidFill>
                <a:latin typeface="Courier"/>
              </a:rPr>
              <a:t># you expect 2 ...</a:t>
            </a:r>
            <a:br/>
            <a:r>
              <a:rPr>
                <a:solidFill>
                  <a:srgbClr val="4758AB"/>
                </a:solidFill>
                <a:latin typeface="Courier"/>
              </a:rPr>
              <a:t>round</a:t>
            </a:r>
            <a:r>
              <a:rPr>
                <a:solidFill>
                  <a:srgbClr val="003B4F"/>
                </a:solidFill>
                <a:latin typeface="Courier"/>
              </a:rPr>
              <a:t>(</a:t>
            </a:r>
            <a:r>
              <a:rPr>
                <a:solidFill>
                  <a:srgbClr val="AD0000"/>
                </a:solidFill>
                <a:latin typeface="Courier"/>
              </a:rPr>
              <a:t>2.5</a:t>
            </a:r>
            <a:r>
              <a:rPr>
                <a:solidFill>
                  <a:srgbClr val="003B4F"/>
                </a:solidFill>
                <a:latin typeface="Courier"/>
              </a:rPr>
              <a:t>)    </a:t>
            </a:r>
            <a:r>
              <a:rPr>
                <a:solidFill>
                  <a:srgbClr val="5E5E5E"/>
                </a:solidFill>
                <a:latin typeface="Courier"/>
              </a:rPr>
              <a:t># you expect 3 ...</a:t>
            </a:r>
          </a:p>
          <a:p>
            <a:pPr lvl="0" indent="0" marL="1270000">
              <a:buNone/>
            </a:pPr>
            <a:r>
              <a:rPr sz="2000"/>
              <a:t>You get </a:t>
            </a:r>
            <a:r>
              <a:rPr sz="2000" b="1"/>
              <a:t>0, 2, 2</a:t>
            </a:r>
            <a:r>
              <a:rPr sz="2000"/>
              <a:t>. R rounds a value ending in exactly </a:t>
            </a:r>
            <a:r>
              <a:rPr sz="2000">
                <a:latin typeface="Courier"/>
              </a:rPr>
              <a:t>.5</a:t>
            </a:r>
            <a:r>
              <a:rPr sz="2000"/>
              <a:t> to the nearest </a:t>
            </a:r>
            <a:r>
              <a:rPr sz="2000" b="1"/>
              <a:t>even</a:t>
            </a:r>
            <a:r>
              <a:rPr sz="2000"/>
              <a:t> number, not always upward. This is the IEEE 754 standard (“round half to even”), and it is deliberate — it keeps rounding errors from accumulating in one direction.</a:t>
            </a:r>
          </a:p>
          <a:p>
            <a:pPr lvl="0" indent="0" marL="1270000">
              <a:buNone/>
            </a:pPr>
            <a:r>
              <a:rPr sz="2000"/>
              <a:t>If you want the school-textbook rule instead, use </a:t>
            </a:r>
            <a:r>
              <a:rPr sz="2000">
                <a:latin typeface="Courier"/>
              </a:rPr>
              <a:t>janitor::round_half_up()</a:t>
            </a:r>
            <a:r>
              <a:rPr sz="2000"/>
              <a:t>, which turns those into </a:t>
            </a:r>
            <a:r>
              <a:rPr sz="2000" b="1"/>
              <a:t>1, 2, 3</a:t>
            </a:r>
            <a:r>
              <a:rPr sz="2000"/>
              <a: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New words</a:t>
            </a:r>
          </a:p>
          <a:p>
            <a:pPr lvl="0"/>
            <a:r>
              <a:rPr sz="2000" b="1"/>
              <a:t>Comment</a:t>
            </a:r>
            <a:r>
              <a:rPr sz="2000"/>
              <a:t> — ignored by R, read by humans</a:t>
            </a:r>
          </a:p>
          <a:p>
            <a:pPr lvl="0"/>
            <a:r>
              <a:rPr sz="2000" b="1"/>
              <a:t>Argument</a:t>
            </a:r>
            <a:r>
              <a:rPr sz="2000"/>
              <a:t> — an input handed to a function</a:t>
            </a:r>
          </a:p>
          <a:p>
            <a:pPr lvl="0"/>
            <a:r>
              <a:rPr sz="2000" b="1"/>
              <a:t>Function</a:t>
            </a:r>
            <a:r>
              <a:rPr sz="2000"/>
              <a:t> — a named, reusable operation</a:t>
            </a:r>
          </a:p>
          <a:p>
            <a:pPr lvl="0" indent="0" marL="1270000">
              <a:buNone/>
            </a:pPr>
            <a:r>
              <a:rPr sz="2000">
                <a:hlinkClick r:id="rId2"/>
              </a:rPr>
              <a:t>📖 R4DS §4 — Workflow: code style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Vectors, data types, and scripts</a:t>
            </a:r>
          </a:p>
        </p:txBody>
      </p:sp>
      <p:sp>
        <p:nvSpPr>
          <p:cNvPr id="3" name="Content Placeholder 2"/>
          <p:cNvSpPr>
            <a:spLocks noGrp="1"/>
          </p:cNvSpPr>
          <p:nvPr>
            <p:ph idx="1" sz="half"/>
          </p:nvPr>
        </p:nvSpPr>
        <p:spPr/>
        <p:txBody>
          <a:bodyPr/>
          <a:lstStyle/>
          <a:p>
            <a:pPr lvl="0" indent="0" marL="0">
              <a:buNone/>
            </a:pPr>
            <a:r>
              <a:rPr/>
              <a:t>A </a:t>
            </a:r>
            <a:r>
              <a:rPr b="1"/>
              <a:t>vector</a:t>
            </a:r>
            <a:r>
              <a:rPr/>
              <a:t> is a row of values made with </a:t>
            </a:r>
            <a:r>
              <a:rPr>
                <a:latin typeface="Courier"/>
              </a:rPr>
              <a:t>c()</a:t>
            </a:r>
            <a:r>
              <a:rPr/>
              <a:t> — a spreadsheet column is really just a vector:</a:t>
            </a:r>
          </a:p>
          <a:p>
            <a:pPr lvl="0" indent="0">
              <a:buNone/>
            </a:pPr>
            <a:r>
              <a:rPr>
                <a:solidFill>
                  <a:srgbClr val="003B4F"/>
                </a:solidFill>
                <a:latin typeface="Courier"/>
              </a:rPr>
              <a:t>needle_length_mm &lt;- </a:t>
            </a:r>
            <a:r>
              <a:rPr>
                <a:solidFill>
                  <a:srgbClr val="4758AB"/>
                </a:solidFill>
                <a:latin typeface="Courier"/>
              </a:rPr>
              <a:t>c</a:t>
            </a:r>
            <a:r>
              <a:rPr>
                <a:solidFill>
                  <a:srgbClr val="003B4F"/>
                </a:solidFill>
                <a:latin typeface="Courier"/>
              </a:rPr>
              <a:t>(</a:t>
            </a:r>
            <a:r>
              <a:rPr>
                <a:solidFill>
                  <a:srgbClr val="AD0000"/>
                </a:solidFill>
                <a:latin typeface="Courier"/>
              </a:rPr>
              <a:t>20</a:t>
            </a:r>
            <a:r>
              <a:rPr>
                <a:solidFill>
                  <a:srgbClr val="003B4F"/>
                </a:solidFill>
                <a:latin typeface="Courier"/>
              </a:rPr>
              <a:t>, </a:t>
            </a:r>
            <a:r>
              <a:rPr>
                <a:solidFill>
                  <a:srgbClr val="AD0000"/>
                </a:solidFill>
                <a:latin typeface="Courier"/>
              </a:rPr>
              <a:t>21</a:t>
            </a:r>
            <a:r>
              <a:rPr>
                <a:solidFill>
                  <a:srgbClr val="003B4F"/>
                </a:solidFill>
                <a:latin typeface="Courier"/>
              </a:rPr>
              <a:t>, </a:t>
            </a:r>
            <a:r>
              <a:rPr>
                <a:solidFill>
                  <a:srgbClr val="AD0000"/>
                </a:solidFill>
                <a:latin typeface="Courier"/>
              </a:rPr>
              <a:t>23</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 numeric</a:t>
            </a:r>
            <a:br/>
            <a:r>
              <a:rPr>
                <a:solidFill>
                  <a:srgbClr val="003B4F"/>
                </a:solidFill>
                <a:latin typeface="Courier"/>
              </a:rPr>
              <a:t>side             &lt;- </a:t>
            </a:r>
            <a:r>
              <a:rPr>
                <a:solidFill>
                  <a:srgbClr val="4758AB"/>
                </a:solidFill>
                <a:latin typeface="Courier"/>
              </a:rPr>
              <a:t>c</a:t>
            </a:r>
            <a:r>
              <a:rPr>
                <a:solidFill>
                  <a:srgbClr val="003B4F"/>
                </a:solidFill>
                <a:latin typeface="Courier"/>
              </a:rPr>
              <a:t>(</a:t>
            </a:r>
            <a:r>
              <a:rPr>
                <a:solidFill>
                  <a:srgbClr val="20794D"/>
                </a:solidFill>
                <a:latin typeface="Courier"/>
              </a:rPr>
              <a:t>"shady"</a:t>
            </a:r>
            <a:r>
              <a:rPr>
                <a:solidFill>
                  <a:srgbClr val="003B4F"/>
                </a:solidFill>
                <a:latin typeface="Courier"/>
              </a:rPr>
              <a:t>, </a:t>
            </a:r>
            <a:r>
              <a:rPr>
                <a:solidFill>
                  <a:srgbClr val="20794D"/>
                </a:solidFill>
                <a:latin typeface="Courier"/>
              </a:rPr>
              <a:t>"sunny"</a:t>
            </a:r>
            <a:r>
              <a:rPr>
                <a:solidFill>
                  <a:srgbClr val="003B4F"/>
                </a:solidFill>
                <a:latin typeface="Courier"/>
              </a:rPr>
              <a:t>)    </a:t>
            </a:r>
            <a:r>
              <a:rPr>
                <a:solidFill>
                  <a:srgbClr val="5E5E5E"/>
                </a:solidFill>
                <a:latin typeface="Courier"/>
              </a:rPr>
              <a:t># character — needs quotes</a:t>
            </a:r>
          </a:p>
          <a:p>
            <a:pPr lvl="0" indent="0" marL="0">
              <a:buNone/>
            </a:pPr>
            <a:r>
              <a:rPr/>
              <a:t>The </a:t>
            </a:r>
            <a:r>
              <a:rPr b="1"/>
              <a:t>console forgets</a:t>
            </a:r>
            <a:r>
              <a:rPr/>
              <a:t>. A </a:t>
            </a:r>
            <a:r>
              <a:rPr b="1"/>
              <a:t>script</a:t>
            </a:r>
            <a:r>
              <a:rPr/>
              <a:t> (</a:t>
            </a:r>
            <a:r>
              <a:rPr>
                <a:latin typeface="Courier"/>
              </a:rPr>
              <a:t>.R</a:t>
            </a:r>
            <a:r>
              <a:rPr/>
              <a:t> file) remembers:</a:t>
            </a:r>
          </a:p>
          <a:p>
            <a:pPr lvl="0"/>
            <a:r>
              <a:rPr b="1"/>
              <a:t>File → New File → R File</a:t>
            </a:r>
            <a:r>
              <a:rPr/>
              <a:t>, save it, run lines with Ctrl/Cmd+Enter</a:t>
            </a:r>
          </a:p>
          <a:p>
            <a:pPr lvl="0" indent="0" marL="1270000">
              <a:buNone/>
            </a:pPr>
            <a:r>
              <a:rPr sz="2000" b="1"/>
              <a:t>Warning</a:t>
            </a:r>
          </a:p>
          <a:p>
            <a:pPr lvl="0" indent="0" marL="1270000">
              <a:buNone/>
            </a:pPr>
            <a:r>
              <a:rPr sz="2000" b="1"/>
              <a:t>⚠️ Watch out!</a:t>
            </a:r>
          </a:p>
          <a:p>
            <a:pPr lvl="0" indent="0" marL="1270000">
              <a:buNone/>
            </a:pPr>
            <a:r>
              <a:rPr sz="2000"/>
              <a:t>Without quotes, </a:t>
            </a:r>
            <a:r>
              <a:rPr sz="2000">
                <a:latin typeface="Courier"/>
              </a:rPr>
              <a:t>shady</a:t>
            </a:r>
            <a:r>
              <a:rPr sz="2000"/>
              <a:t> means “find an object called shady,” not the text </a:t>
            </a:r>
            <a:r>
              <a:rPr sz="2000">
                <a:latin typeface="Courier"/>
              </a:rPr>
              <a:t>"shady"</a:t>
            </a:r>
            <a:r>
              <a:rPr sz="2000"/>
              <a:t>.</a:t>
            </a:r>
            <a:br/>
            <a:r>
              <a:rPr sz="2000"/>
              <a:t>R will error if no such object exists.</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a:t>
            </a:r>
          </a:p>
          <a:p>
            <a:pPr lvl="0" indent="0" marL="1270000">
              <a:buNone/>
            </a:pPr>
            <a:r>
              <a:rPr sz="2000" b="1"/>
              <a:t>Console</a:t>
            </a:r>
            <a:r>
              <a:rPr sz="2000"/>
              <a:t> = scratch paper.</a:t>
            </a:r>
            <a:br/>
            <a:r>
              <a:rPr sz="2000" b="1"/>
              <a:t>Script</a:t>
            </a:r>
            <a:r>
              <a:rPr sz="2000"/>
              <a:t> = the lab notebook you keep and rerun.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Packages — extending what R can do</a:t>
            </a:r>
          </a:p>
        </p:txBody>
      </p:sp>
      <p:sp>
        <p:nvSpPr>
          <p:cNvPr id="3" name="Content Placeholder 2"/>
          <p:cNvSpPr>
            <a:spLocks noGrp="1"/>
          </p:cNvSpPr>
          <p:nvPr>
            <p:ph idx="1" sz="half"/>
          </p:nvPr>
        </p:nvSpPr>
        <p:spPr/>
        <p:txBody>
          <a:bodyPr/>
          <a:lstStyle/>
          <a:p>
            <a:pPr lvl="0" indent="0" marL="0">
              <a:buNone/>
            </a:pPr>
            <a:r>
              <a:rPr b="1"/>
              <a:t>Install once</a:t>
            </a:r>
            <a:r>
              <a:rPr/>
              <a:t>, in the console:</a:t>
            </a:r>
          </a:p>
          <a:p>
            <a:pPr lvl="0" indent="0">
              <a:buNone/>
            </a:pPr>
            <a:r>
              <a:rPr>
                <a:solidFill>
                  <a:srgbClr val="4758AB"/>
                </a:solidFill>
                <a:latin typeface="Courier"/>
              </a:rPr>
              <a:t>install.packages</a:t>
            </a:r>
            <a:r>
              <a:rPr>
                <a:solidFill>
                  <a:srgbClr val="003B4F"/>
                </a:solidFill>
                <a:latin typeface="Courier"/>
              </a:rPr>
              <a:t>(</a:t>
            </a:r>
            <a:r>
              <a:rPr>
                <a:solidFill>
                  <a:srgbClr val="20794D"/>
                </a:solidFill>
                <a:latin typeface="Courier"/>
              </a:rPr>
              <a:t>"tidyverse"</a:t>
            </a:r>
            <a:r>
              <a:rPr>
                <a:solidFill>
                  <a:srgbClr val="003B4F"/>
                </a:solidFill>
                <a:latin typeface="Courier"/>
              </a:rPr>
              <a:t>)</a:t>
            </a:r>
          </a:p>
          <a:p>
            <a:pPr lvl="0" indent="0" marL="0">
              <a:buNone/>
            </a:pPr>
            <a:r>
              <a:rPr b="1"/>
              <a:t>Load every session</a:t>
            </a:r>
            <a:r>
              <a:rPr/>
              <a:t>, at the top of every script:</a:t>
            </a:r>
          </a:p>
          <a:p>
            <a:pPr lvl="0" indent="0">
              <a:buNone/>
            </a:pPr>
            <a:r>
              <a:rPr>
                <a:solidFill>
                  <a:srgbClr val="4758AB"/>
                </a:solidFill>
                <a:latin typeface="Courier"/>
              </a:rPr>
              <a:t>library</a:t>
            </a:r>
            <a:r>
              <a:rPr>
                <a:solidFill>
                  <a:srgbClr val="003B4F"/>
                </a:solidFill>
                <a:latin typeface="Courier"/>
              </a:rPr>
              <a:t>(tidyverse)   </a:t>
            </a:r>
            <a:r>
              <a:rPr>
                <a:solidFill>
                  <a:srgbClr val="5E5E5E"/>
                </a:solidFill>
                <a:latin typeface="Courier"/>
              </a:rPr>
              <a:t># wrangling + ggplot2</a:t>
            </a:r>
          </a:p>
          <a:p>
            <a:pPr lvl="0" indent="0" marL="1270000">
              <a:buNone/>
            </a:pPr>
            <a:r>
              <a:rPr sz="2000" b="1"/>
              <a:t>Warning</a:t>
            </a:r>
          </a:p>
          <a:p>
            <a:pPr lvl="0" indent="0" marL="1270000">
              <a:buNone/>
            </a:pPr>
            <a:r>
              <a:rPr sz="2000" b="1"/>
              <a:t>⚠️ Watch out!</a:t>
            </a:r>
          </a:p>
          <a:p>
            <a:pPr lvl="0" indent="0" marL="1270000">
              <a:buNone/>
            </a:pPr>
            <a:r>
              <a:rPr sz="2000" i="1"/>
              <a:t>“could not find function…”</a:t>
            </a:r>
            <a:r>
              <a:rPr sz="2000"/>
              <a:t> almost always means you forgot the </a:t>
            </a:r>
            <a:r>
              <a:rPr sz="2000">
                <a:latin typeface="Courier"/>
              </a:rPr>
              <a:t>library()</a:t>
            </a:r>
            <a:r>
              <a:rPr sz="2000"/>
              <a:t> line for that session.</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New words</a:t>
            </a:r>
          </a:p>
          <a:p>
            <a:pPr lvl="0"/>
            <a:r>
              <a:rPr sz="2000" b="1"/>
              <a:t>Package</a:t>
            </a:r>
            <a:r>
              <a:rPr sz="2000"/>
              <a:t> — the installed toolbox (once)</a:t>
            </a:r>
          </a:p>
          <a:p>
            <a:pPr lvl="0"/>
            <a:r>
              <a:rPr sz="2000" b="1"/>
              <a:t>Library</a:t>
            </a:r>
            <a:r>
              <a:rPr sz="2000"/>
              <a:t> — loading it for today’s session (every time)</a:t>
            </a:r>
          </a:p>
          <a:p>
            <a:pPr lvl="0" indent="0" marL="1270000">
              <a:buNone/>
            </a:pPr>
            <a:r>
              <a:rPr sz="2000">
                <a:hlinkClick r:id="rId2"/>
              </a:rPr>
              <a:t>📖 R4DS §1 — Data visualization</a:t>
            </a:r>
            <a:r>
              <a:rPr sz="2000"/>
              <a:t> opens with installing and loading the tidyverse.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Load Data and Make Your First Plot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Bring the data in</a:t>
            </a:r>
          </a:p>
        </p:txBody>
      </p:sp>
      <p:sp>
        <p:nvSpPr>
          <p:cNvPr id="3" name="Content Placeholder 2"/>
          <p:cNvSpPr>
            <a:spLocks noGrp="1"/>
          </p:cNvSpPr>
          <p:nvPr>
            <p:ph idx="1" sz="half"/>
          </p:nvPr>
        </p:nvSpPr>
        <p:spPr/>
        <p:txBody>
          <a:bodyPr/>
          <a:lstStyle/>
          <a:p>
            <a:pPr lvl="0" indent="0" marL="0">
              <a:buNone/>
            </a:pPr>
            <a:r>
              <a:rPr>
                <a:hlinkClick r:id="rId2"/>
              </a:rPr>
              <a:t>📥 Download the data</a:t>
            </a:r>
          </a:p>
          <a:p>
            <a:pPr lvl="0" indent="0" marL="0">
              <a:buNone/>
            </a:pPr>
            <a:r>
              <a:rPr/>
              <a:t>Put the file in </a:t>
            </a:r>
            <a:r>
              <a:rPr>
                <a:latin typeface="Courier"/>
              </a:rPr>
              <a:t>data/</a:t>
            </a:r>
            <a:r>
              <a:rPr/>
              <a:t>, then:</a:t>
            </a:r>
          </a:p>
          <a:p>
            <a:pPr lvl="0" indent="0">
              <a:buNone/>
            </a:pPr>
            <a:r>
              <a:rPr>
                <a:solidFill>
                  <a:srgbClr val="4758AB"/>
                </a:solidFill>
                <a:latin typeface="Courier"/>
              </a:rPr>
              <a:t>library</a:t>
            </a:r>
            <a:r>
              <a:rPr>
                <a:solidFill>
                  <a:srgbClr val="003B4F"/>
                </a:solidFill>
                <a:latin typeface="Courier"/>
              </a:rPr>
              <a:t>(tidyverse)</a:t>
            </a:r>
            <a:br/>
            <a:br/>
            <a:r>
              <a:rPr>
                <a:solidFill>
                  <a:srgbClr val="003B4F"/>
                </a:solidFill>
                <a:latin typeface="Courier"/>
              </a:rPr>
              <a:t>pine_df &lt;- </a:t>
            </a:r>
            <a:r>
              <a:rPr>
                <a:solidFill>
                  <a:srgbClr val="4758AB"/>
                </a:solidFill>
                <a:latin typeface="Courier"/>
              </a:rPr>
              <a:t>read_csv</a:t>
            </a:r>
            <a:r>
              <a:rPr>
                <a:solidFill>
                  <a:srgbClr val="003B4F"/>
                </a:solidFill>
                <a:latin typeface="Courier"/>
              </a:rPr>
              <a:t>(</a:t>
            </a:r>
            <a:r>
              <a:rPr>
                <a:solidFill>
                  <a:srgbClr val="20794D"/>
                </a:solidFill>
                <a:latin typeface="Courier"/>
              </a:rPr>
              <a:t>"data/pine_data.csv"</a:t>
            </a:r>
            <a:r>
              <a:rPr>
                <a:solidFill>
                  <a:srgbClr val="003B4F"/>
                </a:solidFill>
                <a:latin typeface="Courier"/>
              </a:rPr>
              <a:t>)</a:t>
            </a:r>
          </a:p>
          <a:p>
            <a:pPr lvl="0" indent="0" marL="1270000">
              <a:buNone/>
            </a:pPr>
            <a:r>
              <a:rPr sz="2000" b="1"/>
              <a:t>Note</a:t>
            </a:r>
          </a:p>
          <a:p>
            <a:pPr lvl="0" indent="0" marL="1270000">
              <a:buNone/>
            </a:pPr>
            <a:r>
              <a:rPr sz="2000" b="1"/>
              <a:t>✅ Key idea</a:t>
            </a:r>
          </a:p>
          <a:p>
            <a:pPr lvl="0" indent="0" marL="1270000">
              <a:buNone/>
            </a:pPr>
            <a:r>
              <a:rPr sz="2000">
                <a:latin typeface="Courier"/>
              </a:rPr>
              <a:t>read_csv()</a:t>
            </a:r>
            <a:r>
              <a:rPr sz="2000"/>
              <a:t> comes free with </a:t>
            </a:r>
            <a:r>
              <a:rPr sz="2000">
                <a:latin typeface="Courier"/>
              </a:rPr>
              <a:t>library(tidyverse)</a:t>
            </a:r>
            <a:r>
              <a:rPr sz="2000"/>
              <a:t>. Your file’s first row becomes the </a:t>
            </a:r>
            <a:r>
              <a:rPr sz="2000" b="1"/>
              <a:t>column names</a:t>
            </a:r>
            <a:r>
              <a:rPr sz="2000"/>
              <a:t> in R.</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Our columns</a:t>
            </a:r>
          </a:p>
          <a:p>
            <a:pPr lvl="0"/>
            <a:r>
              <a:rPr sz="2000">
                <a:latin typeface="Courier"/>
              </a:rPr>
              <a:t>team</a:t>
            </a:r>
            <a:r>
              <a:rPr sz="2000"/>
              <a:t> — which team collected the tree</a:t>
            </a:r>
          </a:p>
          <a:p>
            <a:pPr lvl="0"/>
            <a:r>
              <a:rPr sz="2000">
                <a:latin typeface="Courier"/>
              </a:rPr>
              <a:t>side</a:t>
            </a:r>
            <a:r>
              <a:rPr sz="2000"/>
              <a:t> — </a:t>
            </a:r>
            <a:r>
              <a:rPr sz="2000">
                <a:latin typeface="Courier"/>
              </a:rPr>
              <a:t>"shady"</a:t>
            </a:r>
            <a:r>
              <a:rPr sz="2000"/>
              <a:t> or </a:t>
            </a:r>
            <a:r>
              <a:rPr sz="2000">
                <a:latin typeface="Courier"/>
              </a:rPr>
              <a:t>"sunny"</a:t>
            </a:r>
          </a:p>
          <a:p>
            <a:pPr lvl="0"/>
            <a:r>
              <a:rPr sz="2000">
                <a:latin typeface="Courier"/>
              </a:rPr>
              <a:t>replicate</a:t>
            </a:r>
            <a:r>
              <a:rPr sz="2000"/>
              <a:t> — which needle (1–8) within a team-and-side</a:t>
            </a:r>
          </a:p>
          <a:p>
            <a:pPr lvl="0"/>
            <a:r>
              <a:rPr sz="2000">
                <a:latin typeface="Courier"/>
              </a:rPr>
              <a:t>needle_length_mm</a:t>
            </a:r>
            <a:r>
              <a:rPr sz="2000"/>
              <a:t> — needle length in mm</a:t>
            </a:r>
          </a:p>
          <a:p>
            <a:pPr lvl="0"/>
            <a:r>
              <a:rPr sz="2000">
                <a:latin typeface="Courier"/>
              </a:rPr>
              <a:t>needle_width_mm</a:t>
            </a:r>
            <a:r>
              <a:rPr sz="2000"/>
              <a:t> — needle width in mm</a:t>
            </a:r>
          </a:p>
          <a:p>
            <a:pPr lvl="0" indent="0" marL="1270000">
              <a:buNone/>
            </a:pPr>
            <a:r>
              <a:rPr sz="2000">
                <a:hlinkClick r:id="rId3"/>
              </a:rPr>
              <a:t>📖 R4DS §7 — Data import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Look before you trust it</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glimpse</a:t>
            </a:r>
            <a:r>
              <a:rPr>
                <a:solidFill>
                  <a:srgbClr val="003B4F"/>
                </a:solidFill>
                <a:latin typeface="Courier"/>
              </a:rPr>
              <a:t>(pine_df)</a:t>
            </a:r>
          </a:p>
          <a:p>
            <a:pPr lvl="0" indent="0">
              <a:buNone/>
            </a:pPr>
            <a:r>
              <a:rPr>
                <a:latin typeface="Courier"/>
              </a:rPr>
              <a:t>Rows: 64
Columns: 6
$ source_file      &lt;chr&gt; "Bartell_Shingledecker_tree_needle_data_2026.csv", "B…
$ team             &lt;chr&gt; "grace_jace", "grace_jace", "grace_jace", "grace_jace…
$ replicate        &lt;dbl&gt; 1, 2, 3, 4, 5, 6, 7, 8, 1, 2, 3, 4, 5, 6, 7, 8, 1, 2,…
$ side             &lt;chr&gt; "sunny", "sunny", "sunny", "sunny", "sunny", "sunny",…
$ needle_length_mm &lt;dbl&gt; 18.44, 12.48, 17.73, 13.98, 14.18, 19.17, 10.92, 17.3…
$ needle_width_mm  &lt;dbl&gt; 0.79, 0.99, 1.12, 0.94, 1.00, 0.99, 0.81, 1.29, 0.75,…</a:t>
            </a:r>
          </a:p>
          <a:p>
            <a:pPr lvl="0" indent="0">
              <a:buNone/>
            </a:pPr>
            <a:r>
              <a:rPr>
                <a:solidFill>
                  <a:srgbClr val="4758AB"/>
                </a:solidFill>
                <a:latin typeface="Courier"/>
              </a:rPr>
              <a:t>dim</a:t>
            </a:r>
            <a:r>
              <a:rPr>
                <a:solidFill>
                  <a:srgbClr val="003B4F"/>
                </a:solidFill>
                <a:latin typeface="Courier"/>
              </a:rPr>
              <a:t>(pine_df)</a:t>
            </a:r>
          </a:p>
          <a:p>
            <a:pPr lvl="0" indent="0">
              <a:buNone/>
            </a:pPr>
            <a:r>
              <a:rPr>
                <a:latin typeface="Courier"/>
              </a:rPr>
              <a:t>[1] 64  6</a:t>
            </a:r>
          </a:p>
          <a:p>
            <a:pPr lvl="0" indent="0" marL="1270000">
              <a:buNone/>
            </a:pPr>
            <a:r>
              <a:rPr sz="2000" b="1"/>
              <a:t>Tip</a:t>
            </a:r>
          </a:p>
          <a:p>
            <a:pPr lvl="0" indent="0" marL="1270000">
              <a:buNone/>
            </a:pPr>
            <a:r>
              <a:rPr sz="2000" b="1"/>
              <a:t>🖐 Notice</a:t>
            </a:r>
          </a:p>
          <a:p>
            <a:pPr lvl="0" indent="0" marL="1270000">
              <a:buNone/>
            </a:pPr>
            <a:r>
              <a:rPr sz="2000"/>
              <a:t>64 rows — but only </a:t>
            </a:r>
            <a:r>
              <a:rPr sz="2000" b="1"/>
              <a:t>4 teams</a:t>
            </a:r>
            <a:r>
              <a:rPr sz="2000"/>
              <a:t>, each measuring </a:t>
            </a:r>
            <a:r>
              <a:rPr sz="2000" b="1"/>
              <a:t>8 needles</a:t>
            </a:r>
            <a:r>
              <a:rPr sz="2000"/>
              <a:t> on </a:t>
            </a:r>
            <a:r>
              <a:rPr sz="2000" b="1"/>
              <a:t>2 sides</a:t>
            </a:r>
            <a:r>
              <a:rPr sz="2000"/>
              <a:t> of </a:t>
            </a:r>
            <a:r>
              <a:rPr sz="2000" b="1"/>
              <a:t>one tree</a:t>
            </a:r>
            <a:r>
              <a:rPr sz="2000"/>
              <a:t>. Rows are not the same thing as independent observations. Hold that thought.</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Watch out!</a:t>
            </a:r>
          </a:p>
          <a:p>
            <a:pPr lvl="0" indent="0" marL="1270000">
              <a:buNone/>
            </a:pPr>
            <a:r>
              <a:rPr sz="2000"/>
              <a:t>If a number column shows as </a:t>
            </a:r>
            <a:r>
              <a:rPr sz="2000">
                <a:latin typeface="Courier"/>
              </a:rPr>
              <a:t>&lt;chr&gt;</a:t>
            </a:r>
            <a:r>
              <a:rPr sz="2000"/>
              <a:t> in </a:t>
            </a:r>
            <a:r>
              <a:rPr sz="2000">
                <a:latin typeface="Courier"/>
              </a:rPr>
              <a:t>glimpse()</a:t>
            </a:r>
            <a:r>
              <a:rPr sz="2000"/>
              <a:t>, a stray letter or comma is hiding in that column.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Your first plot: </a:t>
            </a:r>
            <a:r>
              <a:rPr>
                <a:latin typeface="Courier"/>
              </a:rPr>
              <a:t>ggplot</a:t>
            </a:r>
            <a:r>
              <a:rPr/>
              <a:t>, built in layers</a:t>
            </a:r>
          </a:p>
        </p:txBody>
      </p:sp>
      <p:sp>
        <p:nvSpPr>
          <p:cNvPr id="3" name="Text Placeholder 2"/>
          <p:cNvSpPr>
            <a:spLocks noGrp="1"/>
          </p:cNvSpPr>
          <p:nvPr>
            <p:ph idx="1" type="body"/>
          </p:nvPr>
        </p:nvSpPr>
        <p:spPr/>
        <p:txBody>
          <a:bodyPr/>
          <a:lstStyle/>
          <a:p>
            <a:pPr lvl="0" indent="0" marL="0">
              <a:buNone/>
            </a:pPr>
            <a:r>
              <a:rPr/>
              <a:t>Every </a:t>
            </a:r>
            <a:r>
              <a:rPr>
                <a:latin typeface="Courier"/>
              </a:rPr>
              <a:t>ggplot</a:t>
            </a:r>
            <a:r>
              <a:rPr/>
              <a:t> needs three things, joined with </a:t>
            </a:r>
            <a:r>
              <a:rPr>
                <a:latin typeface="Courier"/>
              </a:rPr>
              <a:t>+</a:t>
            </a:r>
            <a:r>
              <a:rPr/>
              <a:t>:</a:t>
            </a:r>
          </a:p>
          <a:p>
            <a:pPr lvl="0" indent="-342900" marL="342900">
              <a:buAutoNum type="arabicPeriod"/>
            </a:pPr>
            <a:r>
              <a:rPr b="1"/>
              <a:t>data</a:t>
            </a:r>
            <a:r>
              <a:rPr/>
              <a:t> — which data frame</a:t>
            </a:r>
          </a:p>
          <a:p>
            <a:pPr lvl="0" indent="-342900" marL="342900">
              <a:buAutoNum type="arabicPeriod"/>
            </a:pPr>
            <a:r>
              <a:rPr b="1"/>
              <a:t>aes()</a:t>
            </a:r>
            <a:r>
              <a:rPr/>
              <a:t> — which columns map to x and y</a:t>
            </a:r>
          </a:p>
          <a:p>
            <a:pPr lvl="0" indent="-342900" marL="342900">
              <a:buAutoNum type="arabicPeriod"/>
            </a:pPr>
            <a:r>
              <a:rPr b="1"/>
              <a:t>geom</a:t>
            </a:r>
            <a:r>
              <a:rPr/>
              <a:t> — how to draw it</a:t>
            </a:r>
          </a:p>
          <a:p>
            <a:pPr lvl="0" indent="0">
              <a:buNone/>
            </a:pPr>
            <a:r>
              <a:rPr>
                <a:solidFill>
                  <a:srgbClr val="4758AB"/>
                </a:solidFill>
                <a:latin typeface="Courier"/>
              </a:rPr>
              <a:t>ggplot</a:t>
            </a:r>
            <a:r>
              <a:rPr>
                <a:solidFill>
                  <a:srgbClr val="003B4F"/>
                </a:solidFill>
                <a:latin typeface="Courier"/>
              </a:rPr>
              <a:t>(pine_df,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side, </a:t>
            </a:r>
            <a:r>
              <a:rPr>
                <a:solidFill>
                  <a:srgbClr val="657422"/>
                </a:solidFill>
                <a:latin typeface="Courier"/>
              </a:rPr>
              <a:t>y =</a:t>
            </a:r>
            <a:r>
              <a:rPr>
                <a:solidFill>
                  <a:srgbClr val="003B4F"/>
                </a:solidFill>
                <a:latin typeface="Courier"/>
              </a:rPr>
              <a:t> needle_length_mm))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p>
        </p:txBody>
      </p:sp>
      <p:pic>
        <p:nvPicPr>
          <p:cNvPr descr="getting_started_lecture_files/figure-pptx/getting-started-04-1.png" id="0" name="Picture 1"/>
          <p:cNvPicPr>
            <a:picLocks noGrp="1" noChangeAspect="1"/>
          </p:cNvPicPr>
          <p:nvPr/>
        </p:nvPicPr>
        <p:blipFill>
          <a:blip r:embed="rId2"/>
          <a:stretch>
            <a:fillRect/>
          </a:stretch>
        </p:blipFill>
        <p:spPr bwMode="auto">
          <a:xfrm>
            <a:off x="685800" y="1270000"/>
            <a:ext cx="3302000" cy="33020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Watch out!</a:t>
            </a:r>
          </a:p>
          <a:p>
            <a:pPr lvl="0" indent="0" marL="1270000">
              <a:buNone/>
            </a:pPr>
            <a:r>
              <a:rPr sz="2000">
                <a:latin typeface="Courier"/>
              </a:rPr>
              <a:t>+</a:t>
            </a:r>
            <a:r>
              <a:rPr sz="2000"/>
              <a:t> sits at the </a:t>
            </a:r>
            <a:r>
              <a:rPr sz="2000" b="1"/>
              <a:t>end</a:t>
            </a:r>
            <a:r>
              <a:rPr sz="2000"/>
              <a:t> of a line, never the start.</a:t>
            </a:r>
            <a:br/>
            <a:r>
              <a:rPr sz="2000"/>
              <a:t>this is what adds layers to the plot and order matters</a:t>
            </a:r>
          </a:p>
        </p:txBody>
      </p:sp>
      <p:sp>
        <p:nvSpPr>
          <p:cNvPr id="5" name="Text Placeholder 4"/>
          <p:cNvSpPr>
            <a:spLocks noGrp="1"/>
          </p:cNvSpPr>
          <p:nvPr>
            <p:ph idx="3" sz="quarter" type="body"/>
          </p:nvPr>
        </p:nvSpPr>
        <p:spPr/>
        <p:txBody>
          <a:bodyPr/>
          <a:lstStyle/>
          <a:p>
            <a:pPr lvl="0" indent="0" marL="1270000">
              <a:buNone/>
            </a:pPr>
            <a:r>
              <a:rPr sz="2000" b="1"/>
              <a:t>Note</a:t>
            </a:r>
          </a:p>
          <a:p>
            <a:pPr lvl="0" indent="0" marL="1270000">
              <a:buNone/>
            </a:pPr>
            <a:r>
              <a:rPr sz="2000" b="1"/>
              <a:t>✅ Key idea</a:t>
            </a:r>
          </a:p>
          <a:p>
            <a:pPr lvl="0" indent="0" marL="1270000">
              <a:buNone/>
            </a:pPr>
            <a:r>
              <a:rPr sz="2000" i="1"/>
              <a:t>Seeing</a:t>
            </a:r>
            <a:r>
              <a:rPr sz="2000"/>
              <a:t> your data is the single most important habit in this course — before you summarize or test anything, plot it.</a:t>
            </a:r>
          </a:p>
          <a:p>
            <a:pPr lvl="0" indent="0" marL="1270000">
              <a:buNone/>
            </a:pPr>
            <a:r>
              <a:rPr sz="2000" b="1"/>
              <a:t>Note</a:t>
            </a:r>
          </a:p>
          <a:p>
            <a:pPr lvl="0" indent="0" marL="1270000">
              <a:buNone/>
            </a:pPr>
            <a:r>
              <a:rPr sz="2000" b="1"/>
              <a:t>📖 Reference</a:t>
            </a:r>
          </a:p>
          <a:p>
            <a:pPr lvl="0" indent="0" marL="1270000">
              <a:buNone/>
            </a:pPr>
            <a:r>
              <a:rPr sz="2000"/>
              <a:t>Whitlock &amp; Schluter, Ch. 2 — Displaying Data.</a:t>
            </a:r>
          </a:p>
          <a:p>
            <a:pPr lvl="0" indent="0" marL="1270000">
              <a:buNone/>
            </a:pPr>
            <a:r>
              <a:rPr sz="2000">
                <a:hlinkClick r:id="rId3"/>
              </a:rPr>
              <a:t>📖 R4DS §1 — Data visualization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One layer at a time</a:t>
            </a:r>
          </a:p>
        </p:txBody>
      </p:sp>
      <p:sp>
        <p:nvSpPr>
          <p:cNvPr id="3" name="Text Placeholder 2"/>
          <p:cNvSpPr>
            <a:spLocks noGrp="1"/>
          </p:cNvSpPr>
          <p:nvPr>
            <p:ph idx="1" type="body"/>
          </p:nvPr>
        </p:nvSpPr>
        <p:spPr/>
        <p:txBody>
          <a:bodyPr/>
          <a:lstStyle/>
          <a:p>
            <a:pPr lvl="0" indent="0">
              <a:buNone/>
            </a:pPr>
            <a:r>
              <a:rPr>
                <a:solidFill>
                  <a:srgbClr val="4758AB"/>
                </a:solidFill>
                <a:latin typeface="Courier"/>
              </a:rPr>
              <a:t>ggplot</a:t>
            </a:r>
            <a:r>
              <a:rPr>
                <a:solidFill>
                  <a:srgbClr val="003B4F"/>
                </a:solidFill>
                <a:latin typeface="Courier"/>
              </a:rPr>
              <a:t>(pine_df,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side, </a:t>
            </a:r>
            <a:r>
              <a:rPr>
                <a:solidFill>
                  <a:srgbClr val="657422"/>
                </a:solidFill>
                <a:latin typeface="Courier"/>
              </a:rPr>
              <a:t>y =</a:t>
            </a:r>
            <a:r>
              <a:rPr>
                <a:solidFill>
                  <a:srgbClr val="003B4F"/>
                </a:solidFill>
                <a:latin typeface="Courier"/>
              </a:rPr>
              <a:t> needle_length_mm))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0.15</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"tomato"</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"Sun exposure"</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"Needle length (mm)"</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"Needle length by sun exposure"</a:t>
            </a:r>
            <a:r>
              <a:rPr>
                <a:solidFill>
                  <a:srgbClr val="003B4F"/>
                </a:solidFill>
                <a:latin typeface="Courier"/>
              </a:rPr>
              <a:t>)</a:t>
            </a:r>
          </a:p>
        </p:txBody>
      </p:sp>
      <p:pic>
        <p:nvPicPr>
          <p:cNvPr descr="getting_started_lecture_files/figure-pptx/getting-started-05-1.png" id="0" name="Picture 1"/>
          <p:cNvPicPr>
            <a:picLocks noGrp="1" noChangeAspect="1"/>
          </p:cNvPicPr>
          <p:nvPr/>
        </p:nvPicPr>
        <p:blipFill>
          <a:blip r:embed="rId2"/>
          <a:stretch>
            <a:fillRect/>
          </a:stretch>
        </p:blipFill>
        <p:spPr bwMode="auto">
          <a:xfrm>
            <a:off x="127000" y="1397000"/>
            <a:ext cx="4432300" cy="30480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Try it yourself</a:t>
            </a:r>
          </a:p>
          <a:p>
            <a:pPr lvl="0" indent="0" marL="1270000">
              <a:buNone/>
            </a:pPr>
            <a:r>
              <a:rPr sz="2000"/>
              <a:t>Swap </a:t>
            </a:r>
            <a:r>
              <a:rPr sz="2000">
                <a:latin typeface="Courier"/>
              </a:rPr>
              <a:t>side</a:t>
            </a:r>
            <a:r>
              <a:rPr sz="2000"/>
              <a:t> for </a:t>
            </a:r>
            <a:r>
              <a:rPr sz="2000">
                <a:latin typeface="Courier"/>
              </a:rPr>
              <a:t>team</a:t>
            </a:r>
            <a:r>
              <a:rPr sz="2000"/>
              <a:t>. That plot answers a different question — </a:t>
            </a:r>
            <a:r>
              <a:rPr sz="2000" i="1"/>
              <a:t>how much do the four teams differ from each other?</a:t>
            </a:r>
            <a:r>
              <a:rPr sz="2000"/>
              <a:t> Keep the answer in mind for the next slide.</a:t>
            </a:r>
          </a:p>
        </p:txBody>
      </p:sp>
      <p:sp>
        <p:nvSpPr>
          <p:cNvPr id="5" name="Text Placeholder 4"/>
          <p:cNvSpPr>
            <a:spLocks noGrp="1"/>
          </p:cNvSpPr>
          <p:nvPr>
            <p:ph idx="3" sz="quarter" type="body"/>
          </p:nvPr>
        </p:nvSpPr>
        <p:spPr/>
        <p:txBody>
          <a:bodyPr/>
          <a:lstStyle/>
          <a:p>
            <a:pPr lvl="0" indent="0" marL="1270000">
              <a:buNone/>
            </a:pPr>
            <a:r>
              <a:rPr sz="2000" b="1"/>
              <a:t>Note</a:t>
            </a:r>
          </a:p>
          <a:p>
            <a:pPr lvl="0" indent="0" marL="1270000">
              <a:buNone/>
            </a:pPr>
            <a:r>
              <a:rPr sz="2000" b="1"/>
              <a:t>✅ Key idea</a:t>
            </a:r>
          </a:p>
          <a:p>
            <a:pPr lvl="0" indent="0" marL="1270000">
              <a:buNone/>
            </a:pPr>
            <a:r>
              <a:rPr sz="2000"/>
              <a:t>A boxplot shows the summary; the jittered points show every real value underneath it. Show both when you can.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64 Rows, But How Many Observations?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The tempting (wrong) picture</a:t>
            </a:r>
          </a:p>
        </p:txBody>
      </p:sp>
      <p:sp>
        <p:nvSpPr>
          <p:cNvPr id="3" name="Text Placeholder 2"/>
          <p:cNvSpPr>
            <a:spLocks noGrp="1"/>
          </p:cNvSpPr>
          <p:nvPr>
            <p:ph idx="1" type="body"/>
          </p:nvPr>
        </p:nvSpPr>
        <p:spPr/>
        <p:txBody>
          <a:bodyPr/>
          <a:lstStyle/>
          <a:p>
            <a:pPr lvl="0" indent="0" marL="0">
              <a:buNone/>
            </a:pPr>
            <a:r>
              <a:rPr/>
              <a:t>The boxplot you just made pooled all </a:t>
            </a:r>
            <a:r>
              <a:rPr b="1"/>
              <a:t>64 needles</a:t>
            </a:r>
            <a:r>
              <a:rPr/>
              <a:t> as if each were an independent measurement:</a:t>
            </a:r>
          </a:p>
          <a:p>
            <a:pPr lvl="0" indent="0">
              <a:buNone/>
            </a:pPr>
            <a:r>
              <a:rPr>
                <a:solidFill>
                  <a:srgbClr val="4758AB"/>
                </a:solidFill>
                <a:latin typeface="Courier"/>
              </a:rPr>
              <a:t>ggplot</a:t>
            </a:r>
            <a:r>
              <a:rPr>
                <a:solidFill>
                  <a:srgbClr val="003B4F"/>
                </a:solidFill>
                <a:latin typeface="Courier"/>
              </a:rPr>
              <a:t>(pine_df,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side, </a:t>
            </a:r>
            <a:r>
              <a:rPr>
                <a:solidFill>
                  <a:srgbClr val="657422"/>
                </a:solidFill>
                <a:latin typeface="Courier"/>
              </a:rPr>
              <a:t>y =</a:t>
            </a:r>
            <a:r>
              <a:rPr>
                <a:solidFill>
                  <a:srgbClr val="003B4F"/>
                </a:solidFill>
                <a:latin typeface="Courier"/>
              </a:rPr>
              <a:t> needle_length_mm))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a:t>
            </a:r>
            <a:r>
              <a:rPr>
                <a:solidFill>
                  <a:srgbClr val="657422"/>
                </a:solidFill>
                <a:latin typeface="Courier"/>
              </a:rPr>
              <a:t>outlier.shape =</a:t>
            </a:r>
            <a:r>
              <a:rPr>
                <a:solidFill>
                  <a:srgbClr val="003B4F"/>
                </a:solidFill>
                <a:latin typeface="Courier"/>
              </a:rPr>
              <a:t> </a:t>
            </a:r>
            <a:r>
              <a:rPr>
                <a:solidFill>
                  <a:srgbClr val="8F5902"/>
                </a:solidFill>
                <a:latin typeface="Courier"/>
              </a:rPr>
              <a:t>NA</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color =</a:t>
            </a:r>
            <a:r>
              <a:rPr>
                <a:solidFill>
                  <a:srgbClr val="003B4F"/>
                </a:solidFill>
                <a:latin typeface="Courier"/>
              </a:rPr>
              <a:t> team), </a:t>
            </a:r>
            <a:r>
              <a:rPr>
                <a:solidFill>
                  <a:srgbClr val="657422"/>
                </a:solidFill>
                <a:latin typeface="Courier"/>
              </a:rPr>
              <a:t>width =</a:t>
            </a:r>
            <a:r>
              <a:rPr>
                <a:solidFill>
                  <a:srgbClr val="003B4F"/>
                </a:solidFill>
                <a:latin typeface="Courier"/>
              </a:rPr>
              <a:t> </a:t>
            </a:r>
            <a:r>
              <a:rPr>
                <a:solidFill>
                  <a:srgbClr val="AD0000"/>
                </a:solidFill>
                <a:latin typeface="Courier"/>
              </a:rPr>
              <a:t>0.15</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0.8</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"Sun exposure"</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"Needle length (mm)"</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"Team"</a:t>
            </a:r>
            <a:r>
              <a:rPr>
                <a:solidFill>
                  <a:srgbClr val="003B4F"/>
                </a:solidFill>
                <a:latin typeface="Courier"/>
              </a:rPr>
              <a:t>)</a:t>
            </a:r>
          </a:p>
        </p:txBody>
      </p:sp>
      <p:pic>
        <p:nvPicPr>
          <p:cNvPr descr="getting_started_lecture_files/figure-pptx/getting-started-06-1.png" id="0" name="Picture 1"/>
          <p:cNvPicPr>
            <a:picLocks noGrp="1" noChangeAspect="1"/>
          </p:cNvPicPr>
          <p:nvPr/>
        </p:nvPicPr>
        <p:blipFill>
          <a:blip r:embed="rId2"/>
          <a:stretch>
            <a:fillRect/>
          </a:stretch>
        </p:blipFill>
        <p:spPr bwMode="auto">
          <a:xfrm>
            <a:off x="127000" y="1397000"/>
            <a:ext cx="4432300" cy="30480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Colour by </a:t>
            </a:r>
            <a:r>
              <a:rPr>
                <a:latin typeface="Courier"/>
              </a:rPr>
              <a:t>team</a:t>
            </a:r>
            <a:r>
              <a:rPr/>
              <a:t> and the problem jumps out: the four teams sit in </a:t>
            </a:r>
            <a:r>
              <a:rPr b="1"/>
              <a:t>different bands</a:t>
            </a:r>
            <a:r>
              <a:rPr/>
              <a:t>. A needle is not independent of the other seven from the same tree.</a:t>
            </a:r>
          </a:p>
        </p:txBody>
      </p:sp>
      <p:sp>
        <p:nvSpPr>
          <p:cNvPr id="5" name="Text Placeholder 4"/>
          <p:cNvSpPr>
            <a:spLocks noGrp="1"/>
          </p:cNvSpPr>
          <p:nvPr>
            <p:ph idx="3" sz="quarter" type="body"/>
          </p:nvPr>
        </p:nvSpPr>
        <p:spPr/>
        <p:txBody>
          <a:bodyPr/>
          <a:lstStyle/>
          <a:p>
            <a:pPr lvl="0" indent="0" marL="1270000">
              <a:buNone/>
            </a:pPr>
            <a:r>
              <a:rPr sz="2000" b="1"/>
              <a:t>Important</a:t>
            </a:r>
          </a:p>
          <a:p>
            <a:pPr lvl="0" indent="0" marL="1270000">
              <a:buNone/>
            </a:pPr>
            <a:r>
              <a:rPr sz="2000" b="1"/>
              <a:t>⚠️ Pseudoreplication</a:t>
            </a:r>
          </a:p>
          <a:p>
            <a:pPr lvl="0" indent="0" marL="1270000">
              <a:buNone/>
            </a:pPr>
            <a:r>
              <a:rPr sz="2000"/>
              <a:t>We have </a:t>
            </a:r>
            <a:r>
              <a:rPr sz="2000" b="1"/>
              <a:t>n = 4 trees</a:t>
            </a:r>
            <a:r>
              <a:rPr sz="2000"/>
              <a:t>, not n = 64 needles.</a:t>
            </a:r>
            <a:br/>
            <a:r>
              <a:rPr sz="2000"/>
              <a:t>Counting needles inflates our confidence in a difference we have barely measured.</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Doing it the right way: </a:t>
            </a:r>
            <a:r>
              <a:rPr>
                <a:latin typeface="Courier"/>
              </a:rPr>
              <a:t>group_by()</a:t>
            </a:r>
            <a:r>
              <a:rPr/>
              <a:t> + </a:t>
            </a:r>
            <a:r>
              <a:rPr>
                <a:latin typeface="Courier"/>
              </a:rPr>
              <a:t>summarise()</a:t>
            </a:r>
          </a:p>
        </p:txBody>
      </p:sp>
      <p:sp>
        <p:nvSpPr>
          <p:cNvPr id="3" name="Content Placeholder 2"/>
          <p:cNvSpPr>
            <a:spLocks noGrp="1"/>
          </p:cNvSpPr>
          <p:nvPr>
            <p:ph idx="1" sz="half"/>
          </p:nvPr>
        </p:nvSpPr>
        <p:spPr/>
        <p:txBody>
          <a:bodyPr/>
          <a:lstStyle/>
          <a:p>
            <a:pPr lvl="0" indent="0" marL="0">
              <a:buNone/>
            </a:pPr>
            <a:r>
              <a:rPr/>
              <a:t>Collapse each team-and-side down to </a:t>
            </a:r>
            <a:r>
              <a:rPr b="1"/>
              <a:t>one number</a:t>
            </a:r>
            <a:r>
              <a:rPr/>
              <a:t> — the thing we actually replicated:</a:t>
            </a:r>
          </a:p>
          <a:p>
            <a:pPr lvl="0" indent="0">
              <a:buNone/>
            </a:pPr>
            <a:r>
              <a:rPr>
                <a:solidFill>
                  <a:srgbClr val="003B4F"/>
                </a:solidFill>
                <a:latin typeface="Courier"/>
              </a:rPr>
              <a:t>team_means &lt;- pine_df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(team, side)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mean_length_mm =</a:t>
            </a:r>
            <a:r>
              <a:rPr>
                <a:solidFill>
                  <a:srgbClr val="003B4F"/>
                </a:solidFill>
                <a:latin typeface="Courier"/>
              </a:rPr>
              <a:t> </a:t>
            </a:r>
            <a:r>
              <a:rPr>
                <a:solidFill>
                  <a:srgbClr val="4758AB"/>
                </a:solidFill>
                <a:latin typeface="Courier"/>
              </a:rPr>
              <a:t>mean</a:t>
            </a:r>
            <a:r>
              <a:rPr>
                <a:solidFill>
                  <a:srgbClr val="003B4F"/>
                </a:solidFill>
                <a:latin typeface="Courier"/>
              </a:rPr>
              <a:t>(needle_length_mm),</a:t>
            </a:r>
            <a:br/>
            <a:r>
              <a:rPr>
                <a:solidFill>
                  <a:srgbClr val="003B4F"/>
                </a:solidFill>
                <a:latin typeface="Courier"/>
              </a:rPr>
              <a:t>            </a:t>
            </a:r>
            <a:r>
              <a:rPr>
                <a:solidFill>
                  <a:srgbClr val="657422"/>
                </a:solidFill>
                <a:latin typeface="Courier"/>
              </a:rPr>
              <a:t>.groups =</a:t>
            </a:r>
            <a:r>
              <a:rPr>
                <a:solidFill>
                  <a:srgbClr val="003B4F"/>
                </a:solidFill>
                <a:latin typeface="Courier"/>
              </a:rPr>
              <a:t> </a:t>
            </a:r>
            <a:r>
              <a:rPr>
                <a:solidFill>
                  <a:srgbClr val="20794D"/>
                </a:solidFill>
                <a:latin typeface="Courier"/>
              </a:rPr>
              <a:t>"drop"</a:t>
            </a:r>
            <a:r>
              <a:rPr>
                <a:solidFill>
                  <a:srgbClr val="003B4F"/>
                </a:solidFill>
                <a:latin typeface="Courier"/>
              </a:rPr>
              <a:t>)</a:t>
            </a:r>
            <a:br/>
            <a:br/>
            <a:r>
              <a:rPr>
                <a:solidFill>
                  <a:srgbClr val="003B4F"/>
                </a:solidFill>
                <a:latin typeface="Courier"/>
              </a:rPr>
              <a:t>team_means</a:t>
            </a:r>
          </a:p>
          <a:p>
            <a:pPr lvl="0" indent="0">
              <a:buNone/>
            </a:pPr>
            <a:r>
              <a:rPr>
                <a:latin typeface="Courier"/>
              </a:rPr>
              <a:t># A tibble: 8 × 3
  team       side  mean_length_mm
  &lt;chr&gt;      &lt;chr&gt;          &lt;dbl&gt;
1 botany     shady           16.1
2 botany     sunny           17.3
3 grace_jace shady           15.4
4 grace_jace sunny           15.5
5 one        shady           13.2
6 one        sunny           14.2
7 waterbugs  shady           11.7
8 waterbugs  sunny           13.8</a:t>
            </a:r>
          </a:p>
          <a:p>
            <a:pPr lvl="0" indent="0" marL="0">
              <a:buNone/>
            </a:pPr>
            <a:r>
              <a:rPr/>
              <a:t>64 rows became </a:t>
            </a:r>
            <a:r>
              <a:rPr b="1"/>
              <a:t>8</a:t>
            </a:r>
            <a:r>
              <a:rPr/>
              <a:t> — four teams × two sides. </a:t>
            </a:r>
            <a:r>
              <a:rPr i="1"/>
              <a:t>This</a:t>
            </a:r>
            <a:r>
              <a:rPr/>
              <a:t> is the dataset our question is really about.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New words</a:t>
            </a:r>
          </a:p>
          <a:p>
            <a:pPr lvl="0"/>
            <a:r>
              <a:rPr sz="2000" b="1">
                <a:latin typeface="Courier"/>
              </a:rPr>
              <a:t>group_by()</a:t>
            </a:r>
            <a:r>
              <a:rPr sz="2000"/>
              <a:t> — split the data into groups</a:t>
            </a:r>
          </a:p>
          <a:p>
            <a:pPr lvl="0"/>
            <a:r>
              <a:rPr sz="2000" b="1">
                <a:latin typeface="Courier"/>
              </a:rPr>
              <a:t>summarise()</a:t>
            </a:r>
            <a:r>
              <a:rPr sz="2000"/>
              <a:t> — collapse each group to one row</a:t>
            </a:r>
          </a:p>
          <a:p>
            <a:pPr lvl="0"/>
            <a:r>
              <a:rPr sz="2000" b="1"/>
              <a:t>Pipe </a:t>
            </a:r>
            <a:r>
              <a:rPr sz="2000" b="1">
                <a:latin typeface="Courier"/>
              </a:rPr>
              <a:t>|&gt;</a:t>
            </a:r>
            <a:r>
              <a:rPr sz="2000"/>
              <a:t> — send the result of one step into the next</a:t>
            </a:r>
          </a:p>
          <a:p>
            <a:pPr lvl="0" indent="0" marL="1270000">
              <a:buNone/>
            </a:pPr>
            <a:r>
              <a:rPr sz="2000"/>
              <a:t>We’ll go deep on all three in </a:t>
            </a:r>
            <a:r>
              <a:rPr sz="2000" b="1"/>
              <a:t>Wrangling Your Data</a:t>
            </a:r>
            <a:r>
              <a:rPr sz="2000"/>
              <a:t>.</a:t>
            </a:r>
          </a:p>
          <a:p>
            <a:pPr lvl="0" indent="0" marL="1270000">
              <a:buNone/>
            </a:pPr>
            <a:r>
              <a:rPr sz="2000">
                <a:hlinkClick r:id="rId2"/>
              </a:rPr>
              <a:t>📖 R4DS §3 — Data transformation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The two pictures side by side</a:t>
            </a:r>
          </a:p>
        </p:txBody>
      </p:sp>
      <p:sp>
        <p:nvSpPr>
          <p:cNvPr id="3" name="Text Placeholder 2"/>
          <p:cNvSpPr>
            <a:spLocks noGrp="1"/>
          </p:cNvSpPr>
          <p:nvPr>
            <p:ph idx="1" type="body"/>
          </p:nvPr>
        </p:nvSpPr>
        <p:spPr/>
        <p:txBody>
          <a:bodyPr/>
          <a:lstStyle/>
          <a:p>
            <a:pPr lvl="0" indent="0">
              <a:buNone/>
            </a:pPr>
            <a:r>
              <a:rPr>
                <a:solidFill>
                  <a:srgbClr val="4758AB"/>
                </a:solidFill>
                <a:latin typeface="Courier"/>
              </a:rPr>
              <a:t>ggplot</a:t>
            </a:r>
            <a:r>
              <a:rPr>
                <a:solidFill>
                  <a:srgbClr val="003B4F"/>
                </a:solidFill>
                <a:latin typeface="Courier"/>
              </a:rPr>
              <a:t>(team_means,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side, </a:t>
            </a:r>
            <a:r>
              <a:rPr>
                <a:solidFill>
                  <a:srgbClr val="657422"/>
                </a:solidFill>
                <a:latin typeface="Courier"/>
              </a:rPr>
              <a:t>y =</a:t>
            </a:r>
            <a:r>
              <a:rPr>
                <a:solidFill>
                  <a:srgbClr val="003B4F"/>
                </a:solidFill>
                <a:latin typeface="Courier"/>
              </a:rPr>
              <a:t> mean_length_mm, </a:t>
            </a:r>
            <a:r>
              <a:rPr>
                <a:solidFill>
                  <a:srgbClr val="657422"/>
                </a:solidFill>
                <a:latin typeface="Courier"/>
              </a:rPr>
              <a:t>group =</a:t>
            </a:r>
            <a:r>
              <a:rPr>
                <a:solidFill>
                  <a:srgbClr val="003B4F"/>
                </a:solidFill>
                <a:latin typeface="Courier"/>
              </a:rPr>
              <a:t> team))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color =</a:t>
            </a:r>
            <a:r>
              <a:rPr>
                <a:solidFill>
                  <a:srgbClr val="003B4F"/>
                </a:solidFill>
                <a:latin typeface="Courier"/>
              </a:rPr>
              <a:t> team), </a:t>
            </a:r>
            <a:r>
              <a:rPr>
                <a:solidFill>
                  <a:srgbClr val="657422"/>
                </a:solidFill>
                <a:latin typeface="Courier"/>
              </a:rPr>
              <a:t>linewidth =</a:t>
            </a:r>
            <a:r>
              <a:rPr>
                <a:solidFill>
                  <a:srgbClr val="003B4F"/>
                </a:solidFill>
                <a:latin typeface="Courier"/>
              </a:rPr>
              <a:t> </a:t>
            </a:r>
            <a:r>
              <a:rPr>
                <a:solidFill>
                  <a:srgbClr val="AD0000"/>
                </a:solidFill>
                <a:latin typeface="Courier"/>
              </a:rPr>
              <a:t>0.8</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color =</a:t>
            </a:r>
            <a:r>
              <a:rPr>
                <a:solidFill>
                  <a:srgbClr val="003B4F"/>
                </a:solidFill>
                <a:latin typeface="Courier"/>
              </a:rPr>
              <a:t> team), </a:t>
            </a:r>
            <a:r>
              <a:rPr>
                <a:solidFill>
                  <a:srgbClr val="657422"/>
                </a:solidFill>
                <a:latin typeface="Courier"/>
              </a:rPr>
              <a:t>size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"Sun exposure"</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"Mean needle length (mm)"</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"Team"</a:t>
            </a:r>
            <a:r>
              <a:rPr>
                <a:solidFill>
                  <a:srgbClr val="003B4F"/>
                </a:solidFill>
                <a:latin typeface="Courier"/>
              </a:rPr>
              <a:t>)</a:t>
            </a:r>
          </a:p>
        </p:txBody>
      </p:sp>
      <p:pic>
        <p:nvPicPr>
          <p:cNvPr descr="getting_started_lecture_files/figure-pptx/getting-started-08-1.png" id="0" name="Picture 1"/>
          <p:cNvPicPr>
            <a:picLocks noGrp="1" noChangeAspect="1"/>
          </p:cNvPicPr>
          <p:nvPr/>
        </p:nvPicPr>
        <p:blipFill>
          <a:blip r:embed="rId2"/>
          <a:stretch>
            <a:fillRect/>
          </a:stretch>
        </p:blipFill>
        <p:spPr bwMode="auto">
          <a:xfrm>
            <a:off x="127000" y="1358900"/>
            <a:ext cx="4432300" cy="31242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Each line is </a:t>
            </a:r>
            <a:r>
              <a:rPr b="1"/>
              <a:t>one tree</a:t>
            </a:r>
            <a:r>
              <a:rPr/>
              <a:t>. The teams are far apart vertically — but </a:t>
            </a:r>
            <a:r>
              <a:rPr b="1"/>
              <a:t>every single line slopes the same way</a:t>
            </a:r>
            <a:r>
              <a:rPr/>
              <a:t>.</a:t>
            </a:r>
          </a:p>
        </p:txBody>
      </p:sp>
      <p:sp>
        <p:nvSpPr>
          <p:cNvPr id="5" name="Text Placeholder 4"/>
          <p:cNvSpPr>
            <a:spLocks noGrp="1"/>
          </p:cNvSpPr>
          <p:nvPr>
            <p:ph idx="3" sz="quarter" type="body"/>
          </p:nvPr>
        </p:nvSpPr>
        <p:spPr/>
        <p:txBody>
          <a:bodyPr/>
          <a:lstStyle/>
          <a:p>
            <a:pPr lvl="0" indent="0" marL="1270000">
              <a:buNone/>
            </a:pPr>
            <a:r>
              <a:rPr sz="2000" b="1"/>
              <a:t>Note</a:t>
            </a:r>
          </a:p>
          <a:p>
            <a:pPr lvl="0" indent="0" marL="1270000">
              <a:buNone/>
            </a:pPr>
            <a:r>
              <a:rPr sz="2000" b="1"/>
              <a:t>✅ Key idea</a:t>
            </a:r>
          </a:p>
          <a:p>
            <a:pPr lvl="0" indent="0" marL="1270000">
              <a:buNone/>
            </a:pPr>
            <a:r>
              <a:rPr sz="2000"/>
              <a:t>Because both sides come from the same tree, these are </a:t>
            </a:r>
            <a:r>
              <a:rPr sz="2000" b="1"/>
              <a:t>paired</a:t>
            </a:r>
            <a:r>
              <a:rPr sz="2000"/>
              <a:t> measurements. Comparing each tree </a:t>
            </a:r>
            <a:r>
              <a:rPr sz="2000" i="1"/>
              <a:t>to itself</a:t>
            </a:r>
            <a:r>
              <a:rPr sz="2000"/>
              <a:t> cancels out the big between-team differences.</a:t>
            </a:r>
          </a:p>
          <a:p>
            <a:pPr lvl="0" indent="0" marL="1270000">
              <a:buNone/>
            </a:pPr>
            <a:r>
              <a:rPr sz="2000" b="1"/>
              <a:t>Tip</a:t>
            </a:r>
          </a:p>
          <a:p>
            <a:pPr lvl="0" indent="0" marL="1270000">
              <a:buNone/>
            </a:pPr>
            <a:r>
              <a:rPr sz="2000" b="1"/>
              <a:t>🖐 Coming in Week 4</a:t>
            </a:r>
          </a:p>
          <a:p>
            <a:pPr lvl="0" indent="0" marL="1270000">
              <a:buNone/>
            </a:pPr>
            <a:r>
              <a:rPr sz="2000"/>
              <a:t>We’ll put numbers on this — and see how a </a:t>
            </a:r>
            <a:r>
              <a:rPr sz="2000" b="1"/>
              <a:t>paired t-test</a:t>
            </a:r>
            <a:r>
              <a:rPr sz="2000"/>
              <a:t> finds a signal that the naive test on 64 needles misses.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Save your plot</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needle_plot &lt;- </a:t>
            </a:r>
            <a:r>
              <a:rPr>
                <a:solidFill>
                  <a:srgbClr val="4758AB"/>
                </a:solidFill>
                <a:latin typeface="Courier"/>
              </a:rPr>
              <a:t>ggplot</a:t>
            </a:r>
            <a:r>
              <a:rPr>
                <a:solidFill>
                  <a:srgbClr val="003B4F"/>
                </a:solidFill>
                <a:latin typeface="Courier"/>
              </a:rPr>
              <a:t>(pine_df,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side, </a:t>
            </a:r>
            <a:r>
              <a:rPr>
                <a:solidFill>
                  <a:srgbClr val="657422"/>
                </a:solidFill>
                <a:latin typeface="Courier"/>
              </a:rPr>
              <a:t>y =</a:t>
            </a:r>
            <a:r>
              <a:rPr>
                <a:solidFill>
                  <a:srgbClr val="003B4F"/>
                </a:solidFill>
                <a:latin typeface="Courier"/>
              </a:rPr>
              <a:t> needle_length_mm))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0.15</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"tomato"</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"Sun exposure"</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"Needle length (mm)"</a:t>
            </a:r>
            <a:r>
              <a:rPr>
                <a:solidFill>
                  <a:srgbClr val="003B4F"/>
                </a:solidFill>
                <a:latin typeface="Courier"/>
              </a:rPr>
              <a:t>)</a:t>
            </a:r>
            <a:br/>
            <a:br/>
            <a:r>
              <a:rPr>
                <a:solidFill>
                  <a:srgbClr val="4758AB"/>
                </a:solidFill>
                <a:latin typeface="Courier"/>
              </a:rPr>
              <a:t>ggsave</a:t>
            </a:r>
            <a:r>
              <a:rPr>
                <a:solidFill>
                  <a:srgbClr val="003B4F"/>
                </a:solidFill>
                <a:latin typeface="Courier"/>
              </a:rPr>
              <a:t>(</a:t>
            </a:r>
            <a:r>
              <a:rPr>
                <a:solidFill>
                  <a:srgbClr val="20794D"/>
                </a:solidFill>
                <a:latin typeface="Courier"/>
              </a:rPr>
              <a:t>"figures/needle_length.png"</a:t>
            </a:r>
            <a:r>
              <a:rPr>
                <a:solidFill>
                  <a:srgbClr val="003B4F"/>
                </a:solidFill>
                <a:latin typeface="Courier"/>
              </a:rPr>
              <a:t>,</a:t>
            </a:r>
            <a:br/>
            <a:r>
              <a:rPr>
                <a:solidFill>
                  <a:srgbClr val="003B4F"/>
                </a:solidFill>
                <a:latin typeface="Courier"/>
              </a:rPr>
              <a:t>       </a:t>
            </a:r>
            <a:r>
              <a:rPr>
                <a:solidFill>
                  <a:srgbClr val="657422"/>
                </a:solidFill>
                <a:latin typeface="Courier"/>
              </a:rPr>
              <a:t>plot =</a:t>
            </a:r>
            <a:r>
              <a:rPr>
                <a:solidFill>
                  <a:srgbClr val="003B4F"/>
                </a:solidFill>
                <a:latin typeface="Courier"/>
              </a:rPr>
              <a:t> needle_plot,</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height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units =</a:t>
            </a:r>
            <a:r>
              <a:rPr>
                <a:solidFill>
                  <a:srgbClr val="003B4F"/>
                </a:solidFill>
                <a:latin typeface="Courier"/>
              </a:rPr>
              <a:t> </a:t>
            </a:r>
            <a:r>
              <a:rPr>
                <a:solidFill>
                  <a:srgbClr val="20794D"/>
                </a:solidFill>
                <a:latin typeface="Courier"/>
              </a:rPr>
              <a:t>"in"</a:t>
            </a:r>
            <a:r>
              <a:rPr>
                <a:solidFill>
                  <a:srgbClr val="003B4F"/>
                </a:solidFill>
                <a:latin typeface="Courier"/>
              </a:rPr>
              <a:t>, </a:t>
            </a:r>
            <a:r>
              <a:rPr>
                <a:solidFill>
                  <a:srgbClr val="657422"/>
                </a:solidFill>
                <a:latin typeface="Courier"/>
              </a:rPr>
              <a:t>dpi =</a:t>
            </a:r>
            <a:r>
              <a:rPr>
                <a:solidFill>
                  <a:srgbClr val="003B4F"/>
                </a:solidFill>
                <a:latin typeface="Courier"/>
              </a:rPr>
              <a:t> </a:t>
            </a:r>
            <a:r>
              <a:rPr>
                <a:solidFill>
                  <a:srgbClr val="AD0000"/>
                </a:solidFill>
                <a:latin typeface="Courier"/>
              </a:rPr>
              <a:t>300</a:t>
            </a:r>
            <a:r>
              <a:rPr>
                <a:solidFill>
                  <a:srgbClr val="003B4F"/>
                </a:solidFill>
                <a:latin typeface="Courier"/>
              </a:rPr>
              <a:t>)</a:t>
            </a:r>
          </a:p>
          <a:p>
            <a:pPr lvl="0" indent="0" marL="1270000">
              <a:buNone/>
            </a:pPr>
            <a:r>
              <a:rPr sz="2000" b="1"/>
              <a:t>Warning</a:t>
            </a:r>
          </a:p>
          <a:p>
            <a:pPr lvl="0" indent="0" marL="1270000">
              <a:buNone/>
            </a:pPr>
            <a:r>
              <a:rPr sz="2000" b="1"/>
              <a:t>⚠️ Watch out!</a:t>
            </a:r>
          </a:p>
          <a:p>
            <a:pPr lvl="0" indent="0" marL="1270000">
              <a:buNone/>
            </a:pPr>
            <a:r>
              <a:rPr sz="2000">
                <a:latin typeface="Courier"/>
              </a:rPr>
              <a:t>ggsave()</a:t>
            </a:r>
            <a:r>
              <a:rPr sz="2000"/>
              <a:t> wants the </a:t>
            </a:r>
            <a:r>
              <a:rPr sz="2000" b="1"/>
              <a:t>filename first</a:t>
            </a:r>
            <a:r>
              <a:rPr sz="2000"/>
              <a:t>, then </a:t>
            </a:r>
            <a:r>
              <a:rPr sz="2000">
                <a:latin typeface="Courier"/>
              </a:rPr>
              <a:t>plot =</a:t>
            </a:r>
            <a:r>
              <a:rPr sz="2000"/>
              <a:t>. Always use </a:t>
            </a:r>
            <a:r>
              <a:rPr sz="2000">
                <a:latin typeface="Courier"/>
              </a:rPr>
              <a:t>dpi = 300</a:t>
            </a:r>
            <a:r>
              <a:rPr sz="2000"/>
              <a:t> — print/poster quality.</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File format tip</a:t>
            </a:r>
          </a:p>
          <a:p>
            <a:pPr lvl="0" indent="0" marL="1270000">
              <a:buNone/>
            </a:pPr>
            <a:r>
              <a:rPr sz="2000"/>
              <a:t>Save figures as </a:t>
            </a:r>
            <a:r>
              <a:rPr sz="2000" b="1"/>
              <a:t>PNG</a:t>
            </a:r>
            <a:r>
              <a:rPr sz="2000"/>
              <a:t> for reports and submissions.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Wrap-up</a:t>
            </a:r>
          </a:p>
        </p:txBody>
      </p:sp>
      <p:sp>
        <p:nvSpPr>
          <p:cNvPr id="3" name="Content Placeholder 2"/>
          <p:cNvSpPr>
            <a:spLocks noGrp="1"/>
          </p:cNvSpPr>
          <p:nvPr>
            <p:ph idx="1" sz="half"/>
          </p:nvPr>
        </p:nvSpPr>
        <p:spPr/>
        <p:txBody>
          <a:bodyPr/>
          <a:lstStyle/>
          <a:p>
            <a:pPr lvl="0" indent="0" marL="0">
              <a:buNone/>
            </a:pPr>
            <a:r>
              <a:rPr/>
              <a:t>Today you:</a:t>
            </a:r>
          </a:p>
          <a:p>
            <a:pPr lvl="0"/>
            <a:r>
              <a:rPr/>
              <a:t>Turned a question into a testable </a:t>
            </a:r>
            <a:r>
              <a:rPr b="1"/>
              <a:t>H₀ / Hₐ</a:t>
            </a:r>
          </a:p>
          <a:p>
            <a:pPr lvl="0"/>
            <a:r>
              <a:rPr/>
              <a:t>Organized a project folder with </a:t>
            </a:r>
            <a:r>
              <a:rPr b="1"/>
              <a:t>data/scripts/figures</a:t>
            </a:r>
          </a:p>
          <a:p>
            <a:pPr lvl="0"/>
            <a:r>
              <a:rPr/>
              <a:t>Ran your first R code — objects, functions, vectors, packages</a:t>
            </a:r>
          </a:p>
          <a:p>
            <a:pPr lvl="0"/>
            <a:r>
              <a:rPr/>
              <a:t>Loaded real data and made — and saved — your </a:t>
            </a:r>
            <a:r>
              <a:rPr b="1"/>
              <a:t>first </a:t>
            </a:r>
            <a:r>
              <a:rPr b="1">
                <a:latin typeface="Courier"/>
              </a:rPr>
              <a:t>ggplot</a:t>
            </a:r>
          </a:p>
          <a:p>
            <a:pPr lvl="0"/>
            <a:r>
              <a:rPr/>
              <a:t>Saw why </a:t>
            </a:r>
            <a:r>
              <a:rPr b="1"/>
              <a:t>64 rows is not 64 observations</a:t>
            </a:r>
            <a:r>
              <a:rPr/>
              <a:t>, and collapsed them to the 4 trees we actually replicated</a:t>
            </a:r>
          </a:p>
          <a:p>
            <a:pPr lvl="0" indent="0" marL="1270000">
              <a:buNone/>
            </a:pPr>
            <a:r>
              <a:rPr sz="2000" b="1"/>
              <a:t>Tip</a:t>
            </a:r>
          </a:p>
          <a:p>
            <a:pPr lvl="0" indent="0" marL="1270000">
              <a:buNone/>
            </a:pPr>
            <a:r>
              <a:rPr sz="2000" b="1"/>
              <a:t>🖐 Before next class</a:t>
            </a:r>
          </a:p>
          <a:p>
            <a:pPr lvl="0" indent="0" marL="1270000">
              <a:buNone/>
            </a:pPr>
            <a:r>
              <a:rPr sz="2000"/>
              <a:t>Finish the worksheet: load </a:t>
            </a:r>
            <a:r>
              <a:rPr sz="2000">
                <a:latin typeface="Courier"/>
              </a:rPr>
              <a:t>pine_data.csv</a:t>
            </a:r>
            <a:r>
              <a:rPr sz="2000"/>
              <a:t>, run </a:t>
            </a:r>
            <a:r>
              <a:rPr sz="2000">
                <a:latin typeface="Courier"/>
              </a:rPr>
              <a:t>glimpse()</a:t>
            </a:r>
            <a:r>
              <a:rPr sz="2000"/>
              <a:t>, and make one more plot — </a:t>
            </a:r>
            <a:r>
              <a:rPr sz="2000">
                <a:latin typeface="Courier"/>
              </a:rPr>
              <a:t>needle_width_mm</a:t>
            </a:r>
            <a:r>
              <a:rPr sz="2000"/>
              <a:t> by </a:t>
            </a:r>
            <a:r>
              <a:rPr sz="2000">
                <a:latin typeface="Courier"/>
              </a:rPr>
              <a:t>side</a:t>
            </a:r>
            <a:r>
              <a:rPr sz="2000"/>
              <a:t> this time. Save it to </a:t>
            </a:r>
            <a:r>
              <a:rPr sz="2000">
                <a:latin typeface="Courier"/>
              </a:rPr>
              <a:t>figures/</a:t>
            </a:r>
            <a:r>
              <a:rPr sz="2000"/>
              <a: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Up next — Wrangling Your Data</a:t>
            </a:r>
          </a:p>
          <a:p>
            <a:pPr lvl="0"/>
            <a:r>
              <a:rPr sz="2000">
                <a:latin typeface="Courier"/>
              </a:rPr>
              <a:t>filter()</a:t>
            </a:r>
            <a:r>
              <a:rPr sz="2000"/>
              <a:t>, </a:t>
            </a:r>
            <a:r>
              <a:rPr sz="2000">
                <a:latin typeface="Courier"/>
              </a:rPr>
              <a:t>select()</a:t>
            </a:r>
            <a:r>
              <a:rPr sz="2000"/>
              <a:t>, </a:t>
            </a:r>
            <a:r>
              <a:rPr sz="2000">
                <a:latin typeface="Courier"/>
              </a:rPr>
              <a:t>mutate()</a:t>
            </a:r>
            <a:r>
              <a:rPr sz="2000"/>
              <a:t>, </a:t>
            </a:r>
            <a:r>
              <a:rPr sz="2000">
                <a:latin typeface="Courier"/>
              </a:rPr>
              <a:t>arrange()</a:t>
            </a:r>
          </a:p>
          <a:p>
            <a:pPr lvl="0"/>
            <a:r>
              <a:rPr sz="2000"/>
              <a:t>Cleaning a genuinely messy version of this dataset</a:t>
            </a:r>
          </a:p>
          <a:p>
            <a:pPr lvl="0"/>
            <a:r>
              <a:rPr sz="2000"/>
              <a:t>The pipe </a:t>
            </a:r>
            <a:r>
              <a:rPr sz="2000">
                <a:latin typeface="Courier"/>
              </a:rPr>
              <a:t>|&gt;</a:t>
            </a:r>
            <a:r>
              <a:rPr sz="2000"/>
              <a:t> and building a pipeline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Readings</a:t>
            </a:r>
          </a:p>
        </p:txBody>
      </p:sp>
      <p:sp>
        <p:nvSpPr>
          <p:cNvPr id="3" name="Content Placeholder 2"/>
          <p:cNvSpPr>
            <a:spLocks noGrp="1"/>
          </p:cNvSpPr>
          <p:nvPr>
            <p:ph idx="1" sz="half"/>
          </p:nvPr>
        </p:nvSpPr>
        <p:spPr/>
        <p:txBody>
          <a:bodyPr/>
          <a:lstStyle/>
          <a:p>
            <a:pPr lvl="0" indent="0" marL="0">
              <a:buNone/>
            </a:pPr>
            <a:r>
              <a:rPr b="1"/>
              <a:t>Before next class</a:t>
            </a:r>
            <a:r>
              <a:rPr/>
              <a:t> — both chapters are posted as PDFs on </a:t>
            </a:r>
            <a:r>
              <a:rPr b="1"/>
              <a:t>Canvas</a:t>
            </a:r>
            <a:r>
              <a:rPr/>
              <a:t>:</a:t>
            </a:r>
          </a:p>
          <a:p>
            <a:pPr lvl="0"/>
            <a:r>
              <a:rPr b="1"/>
              <a:t>Whitlock &amp; Schluter</a:t>
            </a:r>
            <a:r>
              <a:rPr/>
              <a:t>, </a:t>
            </a:r>
            <a:r>
              <a:rPr i="1"/>
              <a:t>The Analysis of Biological Data</a:t>
            </a:r>
            <a:r>
              <a:rPr/>
              <a:t> — </a:t>
            </a:r>
            <a:r>
              <a:rPr b="1"/>
              <a:t>Ch. 1</a:t>
            </a:r>
            <a:r>
              <a:rPr/>
              <a:t>, Statistics and Samples (populations vs. samples, why we sample, sampling error)</a:t>
            </a:r>
          </a:p>
          <a:p>
            <a:pPr lvl="0"/>
            <a:r>
              <a:rPr b="1"/>
              <a:t>Gotelli &amp; Ellison</a:t>
            </a:r>
            <a:r>
              <a:rPr/>
              <a:t>, </a:t>
            </a:r>
            <a:r>
              <a:rPr i="1"/>
              <a:t>A Primer of Ecological Statistics</a:t>
            </a:r>
            <a:r>
              <a:rPr/>
              <a:t> — </a:t>
            </a:r>
            <a:r>
              <a:rPr b="1"/>
              <a:t>Ch. 8</a:t>
            </a:r>
            <a:r>
              <a:rPr/>
              <a:t>, Managing and Curating Data (raw data, metadata, project organization)</a:t>
            </a:r>
          </a:p>
          <a:p>
            <a:pPr lvl="0" indent="0" marL="0">
              <a:buNone/>
            </a:pPr>
            <a:r>
              <a:rPr b="1"/>
              <a:t>If you want more on the science and hypothesis side:</a:t>
            </a:r>
          </a:p>
          <a:p>
            <a:pPr lvl="0"/>
            <a:r>
              <a:rPr/>
              <a:t>Whitlock &amp; Schluter, Ch. 2 — Displaying Data</a:t>
            </a:r>
          </a:p>
          <a:p>
            <a:pPr lvl="0"/>
            <a:r>
              <a:rPr/>
              <a:t>Gotelli &amp; Ellison, Ch. 4 — Framing and Testing Hypotheses</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R for Data Science (2e)</a:t>
            </a:r>
          </a:p>
          <a:p>
            <a:pPr lvl="0" indent="0" marL="1270000">
              <a:buNone/>
            </a:pPr>
            <a:r>
              <a:rPr sz="2000"/>
              <a:t>Free online at </a:t>
            </a:r>
            <a:r>
              <a:rPr sz="2000">
                <a:hlinkClick r:id="rId2"/>
              </a:rPr>
              <a:t>r4ds.hadley.nz</a:t>
            </a:r>
            <a:r>
              <a:rPr sz="2000"/>
              <a:t> — the R side of today:</a:t>
            </a:r>
          </a:p>
          <a:p>
            <a:pPr lvl="0"/>
            <a:r>
              <a:rPr sz="2000">
                <a:hlinkClick r:id="rId3"/>
              </a:rPr>
              <a:t>§1 — Data visualization</a:t>
            </a:r>
          </a:p>
          <a:p>
            <a:pPr lvl="0"/>
            <a:r>
              <a:rPr sz="2000">
                <a:hlinkClick r:id="rId4"/>
              </a:rPr>
              <a:t>§2 — Workflow: basics</a:t>
            </a:r>
          </a:p>
          <a:p>
            <a:pPr lvl="0"/>
            <a:r>
              <a:rPr sz="2000">
                <a:hlinkClick r:id="rId5"/>
              </a:rPr>
              <a:t>§6 — Workflow: scripts and projects</a:t>
            </a:r>
          </a:p>
          <a:p>
            <a:pPr lvl="0"/>
            <a:r>
              <a:rPr sz="2000">
                <a:hlinkClick r:id="rId6"/>
              </a:rPr>
              <a:t>§7 — Data import</a:t>
            </a:r>
          </a:p>
          <a:p>
            <a:pPr lvl="0"/>
            <a:r>
              <a:rPr sz="2000">
                <a:hlinkClick r:id="rId7"/>
              </a:rPr>
              <a:t>§8 — Workflow: getting help</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Getting Started</dc:title>
  <dc:creator>Bill Perry</dc:creator>
  <cp:keywords/>
  <dc:description>A question worth testing, a project worth organizing, and a first look at R, Positron, and ggplot — all built around one pine needle experiment.</dc:description>
  <dcterms:created xsi:type="dcterms:W3CDTF">2026-10-19T18:22:03Z</dcterms:created>
  <dcterms:modified xsi:type="dcterms:W3CDTF">2026-10-19T18:22:03Z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1</vt:lpwstr>
  </property>
  <property fmtid="{D5CDD505-2E9C-101B-9397-08002B2CF9AE}" pid="14" name="resources">
    <vt:lpwstr/>
  </property>
  <property fmtid="{D5CDD505-2E9C-101B-9397-08002B2CF9AE}" pid="15" name="subtitle">
    <vt:lpwstr>Asking a question, meeting R, and making your first graph</vt:lpwstr>
  </property>
  <property fmtid="{D5CDD505-2E9C-101B-9397-08002B2CF9AE}" pid="16" name="toc-title">
    <vt:lpwstr>Table of contents</vt:lpwstr>
  </property>
  <property fmtid="{D5CDD505-2E9C-101B-9397-08002B2CF9AE}" pid="17" name="week">
    <vt:lpwstr>1</vt:lpwstr>
  </property>
</Properties>
</file>