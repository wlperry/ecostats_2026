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cripts.html"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basics.html"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tyle.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visualize.html"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https://r4ds.hadley.nz/data-import.html"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hyperlink" Target="https://r4ds.hadley.nz/data-visualize.html" TargetMode="Externa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transform.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 TargetMode="External" /><Relationship Id="rId3" Type="http://schemas.openxmlformats.org/officeDocument/2006/relationships/hyperlink" Target="https://r4ds.hadley.nz/data-visualize.html" TargetMode="External" /><Relationship Id="rId4" Type="http://schemas.openxmlformats.org/officeDocument/2006/relationships/hyperlink" Target="https://r4ds.hadley.nz/workflow-basics.html" TargetMode="External" /><Relationship Id="rId5" Type="http://schemas.openxmlformats.org/officeDocument/2006/relationships/hyperlink" Target="https://r4ds.hadley.nz/workflow-scripts.html" TargetMode="External" /><Relationship Id="rId6" Type="http://schemas.openxmlformats.org/officeDocument/2006/relationships/hyperlink" Target="https://r4ds.hadley.nz/data-import.html" TargetMode="External" /><Relationship Id="rId7" Type="http://schemas.openxmlformats.org/officeDocument/2006/relationships/hyperlink" Target="https://r4ds.hadley.nz/workflow-help.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workflow-help.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The Analysis of Biological Data</a:t>
            </a:r>
            <a:r>
              <a:rPr sz="2000"/>
              <a:t>, Ch. 1 — Statistics and Samples.</a:t>
            </a:r>
            <a:br/>
            <a:r>
              <a:rPr sz="2000"/>
              <a:t>Gotelli &amp; Ellison, </a:t>
            </a:r>
            <a:r>
              <a:rPr sz="2000" i="1"/>
              <a:t>A Primer of Ecological Statistics</a:t>
            </a:r>
            <a:r>
              <a:rPr sz="2000"/>
              <a:t>, Ch. 4 — Framing and Testing Hypotheses.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a:p>
            <a:pPr lvl="0" indent="0" marL="1270000">
              <a:buNone/>
            </a:pPr>
            <a:r>
              <a:rPr sz="2000" b="1"/>
              <a:t>Note</a:t>
            </a:r>
          </a:p>
          <a:p>
            <a:pPr lvl="0" indent="0" marL="1270000">
              <a:buNone/>
            </a:pPr>
            <a:r>
              <a:rPr sz="2000" b="1"/>
              <a:t>📖 Reference</a:t>
            </a:r>
          </a:p>
          <a:p>
            <a:pPr lvl="0" indent="0" marL="1270000">
              <a:buNone/>
            </a:pPr>
            <a:r>
              <a:rPr sz="2000"/>
              <a:t>Whitlock &amp; Schluter, Ch. 1 — Statistics and Samples, on random sampling and what makes a sample representative.</a:t>
            </a:r>
            <a:br/>
            <a:r>
              <a:rPr sz="2000"/>
              <a:t>Gotelli &amp; Ellison, Ch. 6 — Designing Successful Field Studies, on replication and pseudoreplication.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a:p>
            <a:pPr lvl="0" indent="0" marL="1270000">
              <a:buNone/>
            </a:pPr>
            <a:r>
              <a:rPr sz="2000" b="1"/>
              <a:t>Note</a:t>
            </a:r>
          </a:p>
          <a:p>
            <a:pPr lvl="0" indent="0" marL="1270000">
              <a:buNone/>
            </a:pPr>
            <a:r>
              <a:rPr sz="2000" b="1"/>
              <a:t>📖 Reference</a:t>
            </a:r>
          </a:p>
          <a:p>
            <a:pPr lvl="0" indent="0" marL="1270000">
              <a:buNone/>
            </a:pPr>
            <a:r>
              <a:rPr sz="2000"/>
              <a:t>Gotelli &amp; Ellison, Ch. 8 — Managing and Curating Data.</a:t>
            </a:r>
          </a:p>
          <a:p>
            <a:pPr lvl="0" indent="0" marL="1270000">
              <a:buNone/>
            </a:pPr>
            <a:r>
              <a:rPr sz="2000">
                <a:hlinkClick r:id="rId2"/>
              </a:rPr>
              <a:t>📖 R4DS §6 — Workflow: scripts and projects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a:p>
            <a:pPr lvl="0" indent="0" marL="1270000">
              <a:buNone/>
            </a:pPr>
            <a:r>
              <a:rPr sz="2000">
                <a:hlinkClick r:id="rId2"/>
              </a:rPr>
              <a:t>📖 R4DS §2 — Workflow: basics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a:p>
            <a:pPr lvl="0" indent="0" marL="1270000">
              <a:buNone/>
            </a:pPr>
            <a:r>
              <a:rPr sz="2000">
                <a:hlinkClick r:id="rId2"/>
              </a:rPr>
              <a:t>📖 R4DS §4 — Workflow: code style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a:p>
            <a:pPr lvl="0" indent="0" marL="1270000">
              <a:buNone/>
            </a:pPr>
            <a:r>
              <a:rPr sz="2000">
                <a:hlinkClick r:id="rId2"/>
              </a:rPr>
              <a:t>📖 R4DS §1 — Data visualization</a:t>
            </a:r>
            <a:r>
              <a:rPr sz="2000"/>
              <a:t> opens with installing and loading the tidyverse.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a:p>
            <a:pPr lvl="0" indent="0" marL="1270000">
              <a:buNone/>
            </a:pPr>
            <a:r>
              <a:rPr sz="2000">
                <a:hlinkClick r:id="rId3"/>
              </a:rPr>
              <a:t>📖 R4DS §7 — Data import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a:p>
            <a:pPr lvl="0" indent="0" marL="1270000">
              <a:buNone/>
            </a:pPr>
            <a:r>
              <a:rPr sz="2000" b="1"/>
              <a:t>Note</a:t>
            </a:r>
          </a:p>
          <a:p>
            <a:pPr lvl="0" indent="0" marL="1270000">
              <a:buNone/>
            </a:pPr>
            <a:r>
              <a:rPr sz="2000" b="1"/>
              <a:t>📖 Reference</a:t>
            </a:r>
          </a:p>
          <a:p>
            <a:pPr lvl="0" indent="0" marL="1270000">
              <a:buNone/>
            </a:pPr>
            <a:r>
              <a:rPr sz="2000"/>
              <a:t>Whitlock &amp; Schluter, Ch. 2 — Displaying Data.</a:t>
            </a:r>
          </a:p>
          <a:p>
            <a:pPr lvl="0" indent="0" marL="1270000">
              <a:buNone/>
            </a:pPr>
            <a:r>
              <a:rPr sz="2000">
                <a:hlinkClick r:id="rId3"/>
              </a:rPr>
              <a:t>📖 R4DS §1 — Data visualization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a:p>
            <a:pPr lvl="0" indent="0" marL="1270000">
              <a:buNone/>
            </a:pPr>
            <a:r>
              <a:rPr sz="2000">
                <a:hlinkClick r:id="rId2"/>
              </a:rPr>
              <a:t>📖 R4DS §3 — Data transformation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Readings</a:t>
            </a:r>
          </a:p>
        </p:txBody>
      </p:sp>
      <p:sp>
        <p:nvSpPr>
          <p:cNvPr id="3" name="Content Placeholder 2"/>
          <p:cNvSpPr>
            <a:spLocks noGrp="1"/>
          </p:cNvSpPr>
          <p:nvPr>
            <p:ph idx="1" sz="half"/>
          </p:nvPr>
        </p:nvSpPr>
        <p:spPr/>
        <p:txBody>
          <a:bodyPr/>
          <a:lstStyle/>
          <a:p>
            <a:pPr lvl="0" indent="0" marL="0">
              <a:buNone/>
            </a:pPr>
            <a:r>
              <a:rPr b="1"/>
              <a:t>Before next class</a:t>
            </a:r>
            <a:r>
              <a:rPr/>
              <a:t> — both chapters are posted as PDFs on </a:t>
            </a:r>
            <a:r>
              <a:rPr b="1"/>
              <a:t>Canvas</a:t>
            </a:r>
            <a:r>
              <a:rPr/>
              <a:t>:</a:t>
            </a:r>
          </a:p>
          <a:p>
            <a:pPr lvl="0"/>
            <a:r>
              <a:rPr b="1"/>
              <a:t>Whitlock &amp; Schluter</a:t>
            </a:r>
            <a:r>
              <a:rPr/>
              <a:t>, </a:t>
            </a:r>
            <a:r>
              <a:rPr i="1"/>
              <a:t>The Analysis of Biological Data</a:t>
            </a:r>
            <a:r>
              <a:rPr/>
              <a:t> — </a:t>
            </a:r>
            <a:r>
              <a:rPr b="1"/>
              <a:t>Ch. 1</a:t>
            </a:r>
            <a:r>
              <a:rPr/>
              <a:t>, Statistics and Samples (populations vs. samples, why we sample, sampling error)</a:t>
            </a:r>
          </a:p>
          <a:p>
            <a:pPr lvl="0"/>
            <a:r>
              <a:rPr b="1"/>
              <a:t>Gotelli &amp; Ellison</a:t>
            </a:r>
            <a:r>
              <a:rPr/>
              <a:t>, </a:t>
            </a:r>
            <a:r>
              <a:rPr i="1"/>
              <a:t>A Primer of Ecological Statistics</a:t>
            </a:r>
            <a:r>
              <a:rPr/>
              <a:t> — </a:t>
            </a:r>
            <a:r>
              <a:rPr b="1"/>
              <a:t>Ch. 8</a:t>
            </a:r>
            <a:r>
              <a:rPr/>
              <a:t>, Managing and Curating Data (raw data, metadata, project organization)</a:t>
            </a:r>
          </a:p>
          <a:p>
            <a:pPr lvl="0" indent="0" marL="0">
              <a:buNone/>
            </a:pPr>
            <a:r>
              <a:rPr b="1"/>
              <a:t>If you want more on the science and hypothesis side:</a:t>
            </a:r>
          </a:p>
          <a:p>
            <a:pPr lvl="0"/>
            <a:r>
              <a:rPr/>
              <a:t>Whitlock &amp; Schluter, Ch. 2 — Displaying Data</a:t>
            </a:r>
          </a:p>
          <a:p>
            <a:pPr lvl="0"/>
            <a:r>
              <a:rPr/>
              <a:t>Gotelli &amp; Ellison, Ch.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 for Data Science (2e)</a:t>
            </a:r>
          </a:p>
          <a:p>
            <a:pPr lvl="0" indent="0" marL="1270000">
              <a:buNone/>
            </a:pPr>
            <a:r>
              <a:rPr sz="2000"/>
              <a:t>Free online at </a:t>
            </a:r>
            <a:r>
              <a:rPr sz="2000">
                <a:hlinkClick r:id="rId2"/>
              </a:rPr>
              <a:t>r4ds.hadley.nz</a:t>
            </a:r>
            <a:r>
              <a:rPr sz="2000"/>
              <a:t> — the R side of today:</a:t>
            </a:r>
          </a:p>
          <a:p>
            <a:pPr lvl="0"/>
            <a:r>
              <a:rPr sz="2000">
                <a:hlinkClick r:id="rId3"/>
              </a:rPr>
              <a:t>§1 — Data visualization</a:t>
            </a:r>
          </a:p>
          <a:p>
            <a:pPr lvl="0"/>
            <a:r>
              <a:rPr sz="2000">
                <a:hlinkClick r:id="rId4"/>
              </a:rPr>
              <a:t>§2 — Workflow: basics</a:t>
            </a:r>
          </a:p>
          <a:p>
            <a:pPr lvl="0"/>
            <a:r>
              <a:rPr sz="2000">
                <a:hlinkClick r:id="rId5"/>
              </a:rPr>
              <a:t>§6 — Workflow: scripts and projects</a:t>
            </a:r>
          </a:p>
          <a:p>
            <a:pPr lvl="0"/>
            <a:r>
              <a:rPr sz="2000">
                <a:hlinkClick r:id="rId6"/>
              </a:rPr>
              <a:t>§7 — Data import</a:t>
            </a:r>
          </a:p>
          <a:p>
            <a:pPr lvl="0"/>
            <a:r>
              <a:rPr sz="2000">
                <a:hlinkClick r:id="rId7"/>
              </a:rPr>
              <a:t>§8 — Workflow: getting help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0">
              <a:buNone/>
            </a:pPr>
            <a:r>
              <a:rPr>
                <a:hlinkClick r:id="rId2"/>
              </a:rPr>
              <a:t>📖 R4DS §8 — Workflow: getting help</a:t>
            </a:r>
            <a:r>
              <a:rPr/>
              <a:t> shows how to write a question others can actually answer.</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2026-10-05T16:36:21Z</dcterms:created>
  <dcterms:modified xsi:type="dcterms:W3CDTF">2026-10-05T16:36:21Z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