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png"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Getting Started</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Asking a question, meeting R, and making your first graph</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Welcome to Biostatistics</a:t>
            </a:r>
          </a:p>
        </p:txBody>
      </p:sp>
      <p:sp>
        <p:nvSpPr>
          <p:cNvPr id="3" name="Content Placeholder 2"/>
          <p:cNvSpPr>
            <a:spLocks noGrp="1"/>
          </p:cNvSpPr>
          <p:nvPr>
            <p:ph idx="1" sz="half"/>
          </p:nvPr>
        </p:nvSpPr>
        <p:spPr/>
        <p:txBody>
          <a:bodyPr/>
          <a:lstStyle/>
          <a:p>
            <a:pPr lvl="0"/>
            <a:r>
              <a:rPr/>
              <a:t>This course teaches the whole pipeline: </a:t>
            </a:r>
            <a:r>
              <a:rPr b="1"/>
              <a:t>raw data → clean → summarize → visualize → test → report</a:t>
            </a:r>
          </a:p>
          <a:p>
            <a:pPr lvl="0"/>
            <a:r>
              <a:rPr/>
              <a:t>You do </a:t>
            </a:r>
            <a:r>
              <a:rPr b="1"/>
              <a:t>not</a:t>
            </a:r>
            <a:r>
              <a:rPr/>
              <a:t> need prior coding experience — everyone starts exactly here</a:t>
            </a:r>
          </a:p>
          <a:p>
            <a:pPr lvl="0"/>
            <a:r>
              <a:rPr/>
              <a:t>The only way to learn this is to </a:t>
            </a:r>
            <a:r>
              <a:rPr b="1"/>
              <a:t>type the code yourself</a:t>
            </a:r>
            <a:r>
              <a:rPr/>
              <a:t> and break it</a:t>
            </a:r>
          </a:p>
          <a:p>
            <a:pPr lvl="0" indent="0" marL="1270000">
              <a:buNone/>
            </a:pPr>
            <a:r>
              <a:rPr sz="2000" b="1"/>
              <a:t>Important</a:t>
            </a:r>
          </a:p>
          <a:p>
            <a:pPr lvl="0" indent="0" marL="1270000">
              <a:buNone/>
            </a:pPr>
            <a:r>
              <a:rPr sz="2000" b="1"/>
              <a:t>Getting stuck is not failing — it is the job.</a:t>
            </a:r>
            <a:br/>
            <a:r>
              <a:rPr sz="2000"/>
              <a:t>Every working scientist reads error messages and searches for answers every day.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Asking a good question</a:t>
            </a:r>
          </a:p>
          <a:p>
            <a:pPr lvl="0" indent="-342900" marL="342900">
              <a:buAutoNum type="arabicPeriod"/>
            </a:pPr>
            <a:r>
              <a:rPr sz="2000"/>
              <a:t>Organizing a project</a:t>
            </a:r>
          </a:p>
          <a:p>
            <a:pPr lvl="0" indent="-342900" marL="342900">
              <a:buAutoNum type="arabicPeriod"/>
            </a:pPr>
            <a:r>
              <a:rPr sz="2000"/>
              <a:t>Meeting R and Positron</a:t>
            </a:r>
          </a:p>
          <a:p>
            <a:pPr lvl="0" indent="-342900" marL="342900">
              <a:buAutoNum type="arabicPeriod"/>
            </a:pPr>
            <a:r>
              <a:rPr sz="2000"/>
              <a:t>Loading data and your first plot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Asking a Good Question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makes something science?</a:t>
            </a:r>
          </a:p>
        </p:txBody>
      </p:sp>
      <p:sp>
        <p:nvSpPr>
          <p:cNvPr id="3" name="Content Placeholder 2"/>
          <p:cNvSpPr>
            <a:spLocks noGrp="1"/>
          </p:cNvSpPr>
          <p:nvPr>
            <p:ph idx="1" sz="half"/>
          </p:nvPr>
        </p:nvSpPr>
        <p:spPr/>
        <p:txBody>
          <a:bodyPr/>
          <a:lstStyle/>
          <a:p>
            <a:pPr lvl="0"/>
            <a:r>
              <a:rPr/>
              <a:t>Science makes </a:t>
            </a:r>
            <a:r>
              <a:rPr b="1"/>
              <a:t>predictions</a:t>
            </a:r>
            <a:r>
              <a:rPr/>
              <a:t> and tests them with a </a:t>
            </a:r>
            <a:r>
              <a:rPr b="1"/>
              <a:t>falsifiable</a:t>
            </a:r>
            <a:r>
              <a:rPr/>
              <a:t> approach — statistics</a:t>
            </a:r>
          </a:p>
          <a:p>
            <a:pPr lvl="0"/>
            <a:r>
              <a:rPr/>
              <a:t>A claim that could never be shown wrong is not testable, and not science</a:t>
            </a:r>
          </a:p>
          <a:p>
            <a:pPr lvl="0" indent="0" marL="0">
              <a:buNone/>
            </a:pPr>
            <a:r>
              <a:rPr b="1"/>
              <a:t>Example:</a:t>
            </a:r>
          </a:p>
          <a:p>
            <a:pPr lvl="0"/>
            <a:r>
              <a:rPr i="1"/>
              <a:t>“Needles on the sheltered side of a tree are longer”</a:t>
            </a:r>
            <a:r>
              <a:rPr/>
              <a:t> — testable ✅</a:t>
            </a:r>
          </a:p>
          <a:p>
            <a:pPr lvl="0"/>
            <a:r>
              <a:rPr i="1"/>
              <a:t>“The forest decides needle length”</a:t>
            </a:r>
            <a:r>
              <a:rPr/>
              <a:t> — not testable ❌</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Falsifiable</a:t>
            </a:r>
            <a:r>
              <a:rPr sz="2000"/>
              <a:t> = a prediction that could, in principle, be proven wrong. A good hypothesis is one you could disprove.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 ways of reasoning toward that question</a:t>
            </a:r>
          </a:p>
        </p:txBody>
      </p:sp>
      <p:sp>
        <p:nvSpPr>
          <p:cNvPr id="3" name="Text Placeholder 2"/>
          <p:cNvSpPr>
            <a:spLocks noGrp="1"/>
          </p:cNvSpPr>
          <p:nvPr>
            <p:ph idx="1" type="body"/>
          </p:nvPr>
        </p:nvSpPr>
        <p:spPr/>
        <p:txBody>
          <a:bodyPr/>
          <a:lstStyle/>
          <a:p>
            <a:pPr lvl="0" indent="0" marL="0">
              <a:buNone/>
            </a:pPr>
            <a:r>
              <a:rPr b="1"/>
              <a:t>Inductive (specific → general)</a:t>
            </a:r>
          </a:p>
        </p:txBody>
      </p:sp>
      <p:pic>
        <p:nvPicPr>
          <p:cNvPr descr="images/inductive_phase.png" id="0" name="Picture 1"/>
          <p:cNvPicPr>
            <a:picLocks noGrp="1" noChangeAspect="1"/>
          </p:cNvPicPr>
          <p:nvPr/>
        </p:nvPicPr>
        <p:blipFill>
          <a:blip r:embed="rId2"/>
          <a:stretch>
            <a:fillRect/>
          </a:stretch>
        </p:blipFill>
        <p:spPr bwMode="auto">
          <a:xfrm>
            <a:off x="1447800" y="1270000"/>
            <a:ext cx="1778000" cy="2794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Flowchart of the inductive reasoning phase, highlighted at the top: Information (observation, experiment, literature) leads to a Model, which leads to Hypothesis, then a testable Prediction, then a Test of Hypothesis that loops back via Yes/No decision points.</a:t>
            </a:r>
          </a:p>
        </p:txBody>
      </p:sp>
      <p:sp>
        <p:nvSpPr>
          <p:cNvPr id="4" name="Content Placeholder 3"/>
          <p:cNvSpPr>
            <a:spLocks noGrp="1"/>
          </p:cNvSpPr>
          <p:nvPr>
            <p:ph idx="2" sz="half"/>
          </p:nvPr>
        </p:nvSpPr>
        <p:spPr/>
        <p:txBody>
          <a:bodyPr/>
          <a:lstStyle/>
          <a:p>
            <a:pPr lvl="0" indent="0" marL="0">
              <a:buNone/>
            </a:pPr>
            <a:r>
              <a:rPr/>
              <a:t>You measure needles on a few trees, notice a pattern, and generalize: </a:t>
            </a:r>
            <a:r>
              <a:rPr i="1"/>
              <a:t>“needle length seems to vary with side of tree.”</a:t>
            </a:r>
          </a:p>
          <a:p>
            <a:pPr lvl="0" indent="0" marL="1270000">
              <a:buNone/>
            </a:pPr>
            <a:r>
              <a:rPr sz="2000" b="1"/>
              <a:t>Note</a:t>
            </a:r>
          </a:p>
          <a:p>
            <a:pPr lvl="0" indent="0" marL="1270000">
              <a:buNone/>
            </a:pPr>
            <a:r>
              <a:rPr sz="2000" b="1"/>
              <a:t>Weakness:</a:t>
            </a:r>
            <a:r>
              <a:rPr sz="2000"/>
              <a:t> the pattern held in your sample — it is not guaranteed to hold everywhere.</a:t>
            </a:r>
          </a:p>
        </p:txBody>
      </p:sp>
      <p:sp>
        <p:nvSpPr>
          <p:cNvPr id="5" name="Text Placeholder 4"/>
          <p:cNvSpPr>
            <a:spLocks noGrp="1"/>
          </p:cNvSpPr>
          <p:nvPr>
            <p:ph idx="3" sz="quarter" type="body"/>
          </p:nvPr>
        </p:nvSpPr>
        <p:spPr/>
        <p:txBody>
          <a:bodyPr/>
          <a:lstStyle/>
          <a:p>
            <a:pPr lvl="0" indent="0" marL="0">
              <a:buNone/>
            </a:pPr>
            <a:r>
              <a:rPr b="1"/>
              <a:t>Deductive (general → specific)</a:t>
            </a:r>
          </a:p>
        </p:txBody>
      </p:sp>
      <p:pic>
        <p:nvPicPr>
          <p:cNvPr descr="images/deductive_phase.png" id="0" name="Picture 1"/>
          <p:cNvPicPr>
            <a:picLocks noGrp="1" noChangeAspect="1"/>
          </p:cNvPicPr>
          <p:nvPr/>
        </p:nvPicPr>
        <p:blipFill>
          <a:blip r:embed="rId3"/>
          <a:stretch>
            <a:fillRect/>
          </a:stretch>
        </p:blipFill>
        <p:spPr bwMode="auto">
          <a:xfrm>
            <a:off x="5854700" y="1295400"/>
            <a:ext cx="18288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The same scientific-reasoning flowchart as the inductive diagram, but with the deductive phase highlighted instead: starting from Hypothesis, moving to a testable Prediction and Test of Hypothesis, showing deduction as reasoning from a general rule down to a specific testable case.</a:t>
            </a:r>
          </a:p>
        </p:txBody>
      </p:sp>
      <p:sp>
        <p:nvSpPr>
          <p:cNvPr id="6" name="Content Placeholder 5"/>
          <p:cNvSpPr>
            <a:spLocks noGrp="1"/>
          </p:cNvSpPr>
          <p:nvPr>
            <p:ph idx="4" sz="quarter"/>
          </p:nvPr>
        </p:nvSpPr>
        <p:spPr/>
        <p:txBody>
          <a:bodyPr/>
          <a:lstStyle/>
          <a:p>
            <a:pPr lvl="0" indent="0" marL="0">
              <a:buNone/>
            </a:pPr>
            <a:r>
              <a:rPr/>
              <a:t>You start from a general rule — </a:t>
            </a:r>
            <a:r>
              <a:rPr i="1"/>
              <a:t>“exposure affects needle length”</a:t>
            </a:r>
            <a:r>
              <a:rPr/>
              <a:t> — and predict what a new tree should show, then check.</a:t>
            </a:r>
          </a:p>
          <a:p>
            <a:pPr lvl="0" indent="0" marL="1270000">
              <a:buNone/>
            </a:pPr>
            <a:r>
              <a:rPr sz="2000" b="1"/>
              <a:t>Note</a:t>
            </a:r>
          </a:p>
          <a:p>
            <a:pPr lvl="0" indent="0" marL="1270000">
              <a:buNone/>
            </a:pPr>
            <a:r>
              <a:rPr sz="2000" b="1"/>
              <a:t>Weakness:</a:t>
            </a:r>
            <a:r>
              <a:rPr sz="2000"/>
              <a:t> only as strong as the general rule you started from.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In practice we do both, back and forth</a:t>
            </a:r>
            <a:r>
              <a:rPr sz="2000"/>
              <a:t> — notice a pattern (induction), propose a rule, then test it on new data (deduction).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Our class question</a:t>
            </a:r>
          </a:p>
        </p:txBody>
      </p:sp>
      <p:sp>
        <p:nvSpPr>
          <p:cNvPr id="3" name="Content Placeholder 2"/>
          <p:cNvSpPr>
            <a:spLocks noGrp="1"/>
          </p:cNvSpPr>
          <p:nvPr>
            <p:ph idx="1" sz="half"/>
          </p:nvPr>
        </p:nvSpPr>
        <p:spPr/>
        <p:txBody>
          <a:bodyPr/>
          <a:lstStyle/>
          <a:p>
            <a:pPr lvl="0" indent="0" marL="0">
              <a:buNone/>
            </a:pPr>
            <a:r>
              <a:rPr/>
              <a:t>Pine needles on the </a:t>
            </a:r>
            <a:r>
              <a:rPr b="1"/>
              <a:t>north/shady</a:t>
            </a:r>
            <a:r>
              <a:rPr/>
              <a:t> side of a tree vs. the </a:t>
            </a:r>
            <a:r>
              <a:rPr b="1"/>
              <a:t>south/sunny</a:t>
            </a:r>
            <a:r>
              <a:rPr/>
              <a:t> side:</a:t>
            </a:r>
          </a:p>
          <a:p>
            <a:pPr lvl="0"/>
            <a:r>
              <a:rPr b="1"/>
              <a:t>Question:</a:t>
            </a:r>
          </a:p>
          <a:p>
            <a:pPr lvl="0"/>
            <a:r>
              <a:rPr b="1"/>
              <a:t>Prediction:</a:t>
            </a:r>
          </a:p>
          <a:p>
            <a:pPr lvl="0"/>
            <a:r>
              <a:rPr b="1"/>
              <a:t>H₀ (null):</a:t>
            </a:r>
          </a:p>
          <a:p>
            <a:pPr lvl="0"/>
            <a:r>
              <a:rPr b="1"/>
              <a:t>Hₐ (alternate):</a:t>
            </a:r>
          </a:p>
          <a:p>
            <a:pPr lvl="0" indent="0" marL="1270000">
              <a:buNone/>
            </a:pPr>
            <a:r>
              <a:rPr sz="2000" b="1"/>
              <a:t>Note</a:t>
            </a:r>
          </a:p>
          <a:p>
            <a:pPr lvl="0" indent="0" marL="1270000">
              <a:buNone/>
            </a:pPr>
            <a:r>
              <a:rPr sz="2000" b="1"/>
              <a:t>📖 New words</a:t>
            </a:r>
          </a:p>
          <a:p>
            <a:pPr lvl="0"/>
            <a:r>
              <a:rPr sz="2000" b="1"/>
              <a:t>Question</a:t>
            </a:r>
            <a:r>
              <a:rPr sz="2000"/>
              <a:t>: what is your question</a:t>
            </a:r>
          </a:p>
          <a:p>
            <a:pPr lvl="0"/>
            <a:r>
              <a:rPr sz="2000" b="1"/>
              <a:t>Precition</a:t>
            </a:r>
            <a:r>
              <a:rPr sz="2000"/>
              <a:t>: what do you think will happen</a:t>
            </a:r>
          </a:p>
          <a:p>
            <a:pPr lvl="0"/>
            <a:r>
              <a:rPr sz="2000" b="1"/>
              <a:t>H₀</a:t>
            </a:r>
            <a:r>
              <a:rPr sz="2000"/>
              <a:t> — the “nothing is happening” claim</a:t>
            </a:r>
          </a:p>
          <a:p>
            <a:pPr lvl="0"/>
            <a:r>
              <a:rPr sz="2000" b="1"/>
              <a:t>Hₐ</a:t>
            </a:r>
            <a:r>
              <a:rPr sz="2000"/>
              <a:t> — the claim we suspect might be true</a:t>
            </a:r>
          </a:p>
          <a:p>
            <a:pPr lvl="0"/>
            <a:r>
              <a:rPr sz="2000"/>
              <a:t>Note: Hₐ does </a:t>
            </a:r>
            <a:r>
              <a:rPr sz="2000" b="1"/>
              <a:t>NOE</a:t>
            </a:r>
            <a:r>
              <a:rPr sz="2000"/>
              <a:t> say </a:t>
            </a:r>
            <a:r>
              <a:rPr sz="2000" i="1"/>
              <a:t>which</a:t>
            </a:r>
            <a:r>
              <a:rPr sz="2000"/>
              <a:t> side is longer — that would be a </a:t>
            </a:r>
            <a:r>
              <a:rPr sz="2000" b="1"/>
              <a:t>prediction</a:t>
            </a:r>
            <a:r>
              <a:rPr sz="2000"/>
              <a:t>, a stronger, riskier claim</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 showing needles ranging from long single pairs to short clusters of five, illustrating the kind of length measurement the class’s own pine-needle sampling will use.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Designing a defensible sample</a:t>
            </a:r>
          </a:p>
        </p:txBody>
      </p:sp>
      <p:sp>
        <p:nvSpPr>
          <p:cNvPr id="3" name="Content Placeholder 2"/>
          <p:cNvSpPr>
            <a:spLocks noGrp="1"/>
          </p:cNvSpPr>
          <p:nvPr>
            <p:ph idx="1" sz="half"/>
          </p:nvPr>
        </p:nvSpPr>
        <p:spPr/>
        <p:txBody>
          <a:bodyPr/>
          <a:lstStyle/>
          <a:p>
            <a:pPr lvl="0"/>
            <a:r>
              <a:rPr b="1"/>
              <a:t>Can we test this with needles from one tree?</a:t>
            </a:r>
          </a:p>
          <a:p>
            <a:pPr lvl="1"/>
            <a:r>
              <a:rPr/>
              <a:t>No — that tree could just happen to have short needles.</a:t>
            </a:r>
          </a:p>
          <a:p>
            <a:pPr lvl="1"/>
            <a:r>
              <a:rPr/>
              <a:t>Treating many needles from </a:t>
            </a:r>
            <a:r>
              <a:rPr i="1"/>
              <a:t>one</a:t>
            </a:r>
            <a:r>
              <a:rPr/>
              <a:t> tree as if they were independent replicates is called </a:t>
            </a:r>
            <a:r>
              <a:rPr b="1"/>
              <a:t>pseudoreplication</a:t>
            </a:r>
            <a:r>
              <a:rPr/>
              <a:t> (Hurlbert 1984).</a:t>
            </a:r>
          </a:p>
          <a:p>
            <a:pPr lvl="0"/>
            <a:r>
              <a:rPr b="1"/>
              <a:t>The tree — not the needle — is the unit of replication.</a:t>
            </a:r>
          </a:p>
          <a:p>
            <a:pPr lvl="1"/>
            <a:r>
              <a:rPr/>
              <a:t>We need needles from </a:t>
            </a:r>
            <a:r>
              <a:rPr i="1"/>
              <a:t>many</a:t>
            </a:r>
            <a:r>
              <a:rPr/>
              <a:t> trees, sampled the same way each time.</a:t>
            </a:r>
          </a:p>
          <a:p>
            <a:pPr lvl="0"/>
            <a:r>
              <a:rPr b="1"/>
              <a:t>Randomize</a:t>
            </a:r>
            <a:r>
              <a:rPr/>
              <a:t> which trees and branches you sample, so your own bias doesn’t sneak into the data.</a:t>
            </a:r>
          </a:p>
          <a:p>
            <a:pPr lvl="0" indent="0" marL="1270000">
              <a:buNone/>
            </a:pPr>
            <a:r>
              <a:rPr sz="2000" b="1"/>
              <a:t>Important</a:t>
            </a:r>
          </a:p>
          <a:p>
            <a:pPr lvl="0" indent="0" marL="1270000">
              <a:buNone/>
            </a:pPr>
            <a:r>
              <a:rPr sz="2000" b="1"/>
              <a:t>Dependent vs. independent variables</a:t>
            </a:r>
          </a:p>
          <a:p>
            <a:pPr lvl="0"/>
            <a:r>
              <a:rPr sz="2000" b="1"/>
              <a:t>Independent (X):</a:t>
            </a:r>
            <a:r>
              <a:rPr sz="2000"/>
              <a:t> side of tree — what we group by</a:t>
            </a:r>
          </a:p>
          <a:p>
            <a:pPr lvl="0"/>
            <a:r>
              <a:rPr sz="2000" b="1"/>
              <a:t>Dependent (Y):</a:t>
            </a:r>
            <a:r>
              <a:rPr sz="2000"/>
              <a:t> needle length — what we measure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Today in the field</a:t>
            </a:r>
          </a:p>
          <a:p>
            <a:pPr lvl="0" indent="0" marL="1270000">
              <a:buNone/>
            </a:pPr>
            <a:r>
              <a:rPr sz="2000"/>
              <a:t>Each group collects needles from the shady side </a:t>
            </a:r>
            <a:r>
              <a:rPr sz="2000" b="1"/>
              <a:t>and</a:t>
            </a:r>
            <a:r>
              <a:rPr sz="2000"/>
              <a:t> the sunny side of the same trees, using one agreed-on method — same height, same “mature needle” definition, same spot on the branch.</a:t>
            </a:r>
          </a:p>
          <a:p>
            <a:pPr lvl="0" indent="0" marL="1270000">
              <a:buNone/>
            </a:pPr>
            <a:r>
              <a:rPr sz="2000"/>
              <a:t>We are going to the field to collect pine needles - easy but yes… and then come back, decide how to measure, measure them, enter data in excel</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Organizing Your Project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is the raw material — treat it that way</a:t>
            </a:r>
          </a:p>
        </p:txBody>
      </p:sp>
      <p:sp>
        <p:nvSpPr>
          <p:cNvPr id="3" name="Content Placeholder 2"/>
          <p:cNvSpPr>
            <a:spLocks noGrp="1"/>
          </p:cNvSpPr>
          <p:nvPr>
            <p:ph idx="1" sz="half"/>
          </p:nvPr>
        </p:nvSpPr>
        <p:spPr/>
        <p:txBody>
          <a:bodyPr/>
          <a:lstStyle/>
          <a:p>
            <a:pPr lvl="0"/>
            <a:r>
              <a:rPr/>
              <a:t>Decide your </a:t>
            </a:r>
            <a:r>
              <a:rPr b="1"/>
              <a:t>variable names and units before you collect anything</a:t>
            </a:r>
            <a:r>
              <a:rPr/>
              <a:t> — this is a </a:t>
            </a:r>
            <a:r>
              <a:rPr b="1"/>
              <a:t>controlled vocabulary</a:t>
            </a:r>
          </a:p>
          <a:p>
            <a:pPr lvl="0"/>
            <a:r>
              <a:rPr/>
              <a:t>Example: </a:t>
            </a:r>
            <a:r>
              <a:rPr>
                <a:latin typeface="Courier"/>
              </a:rPr>
              <a:t>length_mm</a:t>
            </a:r>
            <a:r>
              <a:rPr/>
              <a:t>, not </a:t>
            </a:r>
            <a:r>
              <a:rPr>
                <a:latin typeface="Courier"/>
              </a:rPr>
              <a:t>Length (mm)</a:t>
            </a:r>
            <a:r>
              <a:rPr/>
              <a:t> — no spaces, no units hidden in the header text or variable names, all lowercase</a:t>
            </a:r>
          </a:p>
          <a:p>
            <a:pPr lvl="0"/>
            <a:r>
              <a:rPr/>
              <a:t>Plan where data goes the moment you collect it — do not let it pile up in email or texts</a:t>
            </a:r>
          </a:p>
          <a:p>
            <a:pPr lvl="0" indent="0" marL="1270000">
              <a:buNone/>
            </a:pPr>
            <a:r>
              <a:rPr sz="2000" b="1"/>
              <a:t>Note</a:t>
            </a:r>
          </a:p>
          <a:p>
            <a:pPr lvl="0" indent="0" marL="1270000">
              <a:buNone/>
            </a:pPr>
            <a:r>
              <a:rPr sz="2000" b="1"/>
              <a:t>✅ Key idea</a:t>
            </a:r>
          </a:p>
          <a:p>
            <a:pPr lvl="0" indent="0" marL="1270000">
              <a:buNone/>
            </a:pPr>
            <a:r>
              <a:rPr sz="2000"/>
              <a:t>A few minutes of naming discipline today saves hours of confusion in Wrangling Your Data, when we clean messy data.</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Controlled vocabulary example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folder per project</a:t>
            </a:r>
          </a:p>
        </p:txBody>
      </p:sp>
      <p:sp>
        <p:nvSpPr>
          <p:cNvPr id="3" name="Content Placeholder 2"/>
          <p:cNvSpPr>
            <a:spLocks noGrp="1"/>
          </p:cNvSpPr>
          <p:nvPr>
            <p:ph idx="1" sz="half"/>
          </p:nvPr>
        </p:nvSpPr>
        <p:spPr/>
        <p:txBody>
          <a:bodyPr/>
          <a:lstStyle/>
          <a:p>
            <a:pPr lvl="0" indent="0">
              <a:buNone/>
            </a:pPr>
            <a:r>
              <a:rPr>
                <a:latin typeface="Courier"/>
              </a:rPr>
              <a:t>pine_project/
├── data/       ← raw files, never overwritten
├── scripts/    ← your .R code
└── figures/    ← plots you save</a:t>
            </a:r>
          </a:p>
          <a:p>
            <a:pPr lvl="0"/>
            <a:r>
              <a:rPr/>
              <a:t>Open this folder as your workspace in Positron (</a:t>
            </a:r>
            <a:r>
              <a:rPr b="1"/>
              <a:t>File → Open Folder…</a:t>
            </a:r>
            <a:r>
              <a:rPr/>
              <a:t>)</a:t>
            </a:r>
          </a:p>
          <a:p>
            <a:pPr lvl="0"/>
            <a:r>
              <a:rPr/>
              <a:t>Every file path then becomes </a:t>
            </a:r>
            <a:r>
              <a:rPr b="1"/>
              <a:t>relative</a:t>
            </a:r>
          </a:p>
          <a:p>
            <a:pPr lvl="1"/>
            <a:r>
              <a:rPr/>
              <a:t>no more </a:t>
            </a:r>
            <a:r>
              <a:rPr>
                <a:latin typeface="Courier"/>
              </a:rPr>
              <a:t>C:/Users/.../Desktop/final_FINAL2.xlsx</a:t>
            </a:r>
          </a:p>
          <a:p>
            <a:pPr lvl="1"/>
            <a:r>
              <a:rPr/>
              <a:t>now set_wd to set the working directory!!! EVER!!!</a:t>
            </a:r>
          </a:p>
          <a:p>
            <a:pPr lvl="0" indent="0" marL="1270000">
              <a:buNone/>
            </a:pPr>
            <a:r>
              <a:rPr sz="2000" b="1"/>
              <a:t>Note</a:t>
            </a:r>
          </a:p>
          <a:p>
            <a:pPr lvl="0" indent="0" marL="1270000">
              <a:buNone/>
            </a:pPr>
            <a:r>
              <a:rPr sz="2000" b="1"/>
              <a:t>✅ Key idea</a:t>
            </a:r>
          </a:p>
          <a:p>
            <a:pPr lvl="0" indent="0" marL="1270000">
              <a:buNone/>
            </a:pPr>
            <a:r>
              <a:rPr sz="2000"/>
              <a:t>Keep </a:t>
            </a:r>
            <a:r>
              <a:rPr sz="2000" b="1"/>
              <a:t>raw data untouched</a:t>
            </a:r>
            <a:r>
              <a:rPr sz="2000"/>
              <a:t>.</a:t>
            </a:r>
            <a:br/>
            <a:r>
              <a:rPr sz="2000"/>
              <a:t>R writes new, processed files — so you can always trace your steps back to the original numbers.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Metadata</a:t>
            </a:r>
            <a:r>
              <a:rPr sz="2000"/>
              <a:t> = data </a:t>
            </a:r>
            <a:r>
              <a:rPr sz="2000" i="1"/>
              <a:t>about</a:t>
            </a:r>
            <a:r>
              <a:rPr sz="2000"/>
              <a:t> your data: who collected it, when, how, with what instrument.</a:t>
            </a:r>
            <a:br/>
            <a:r>
              <a:rPr sz="2000"/>
              <a:t>Without it, data are nearly useless — even to future-you.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Preview</a:t>
            </a:r>
          </a:p>
          <a:p>
            <a:pPr lvl="0" indent="0" marL="1270000">
              <a:buNone/>
            </a:pPr>
            <a:r>
              <a:rPr sz="2000"/>
              <a:t>Tidy data — one row per observation, one column per variable — is the target we’re organizing toward. We’ll formalize this in Wrangling Your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Meet R and Positron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R is the engine, Positron is the dashboard</a:t>
            </a:r>
          </a:p>
        </p:txBody>
      </p:sp>
      <p:sp>
        <p:nvSpPr>
          <p:cNvPr id="3" name="Text Placeholder 2"/>
          <p:cNvSpPr>
            <a:spLocks noGrp="1"/>
          </p:cNvSpPr>
          <p:nvPr>
            <p:ph idx="1" type="body"/>
          </p:nvPr>
        </p:nvSpPr>
        <p:spPr/>
        <p:txBody>
          <a:bodyPr/>
          <a:lstStyle/>
          <a:p>
            <a:pPr lvl="0"/>
            <a:r>
              <a:rPr b="1"/>
              <a:t>R</a:t>
            </a:r>
            <a:r>
              <a:rPr/>
              <a:t> — a free language for data and statistics</a:t>
            </a:r>
          </a:p>
          <a:p>
            <a:pPr lvl="0"/>
            <a:r>
              <a:rPr b="1"/>
              <a:t>Positron</a:t>
            </a:r>
            <a:r>
              <a:rPr/>
              <a:t> — the editor (IDE) you drive it through</a:t>
            </a:r>
          </a:p>
          <a:p>
            <a:pPr lvl="0"/>
            <a:r>
              <a:rPr/>
              <a:t>Four panes you’ll use constantly: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Pane</a:t>
                      </a:r>
                    </a:p>
                  </a:txBody>
                  <a:tcPr/>
                </a:tc>
                <a:tc>
                  <a:txBody>
                    <a:bodyPr/>
                    <a:lstStyle/>
                    <a:p>
                      <a:pPr lvl="0" indent="0" marL="0">
                        <a:buNone/>
                      </a:pPr>
                      <a:r>
                        <a:rPr/>
                        <a:t>Where</a:t>
                      </a:r>
                    </a:p>
                  </a:txBody>
                  <a:tcPr/>
                </a:tc>
                <a:tc>
                  <a:txBody>
                    <a:bodyPr/>
                    <a:lstStyle/>
                    <a:p>
                      <a:pPr lvl="0" indent="0" marL="0">
                        <a:buNone/>
                      </a:pPr>
                      <a:r>
                        <a:rPr/>
                        <a:t>What it does</a:t>
                      </a:r>
                    </a:p>
                  </a:txBody>
                  <a:tcPr/>
                </a:tc>
              </a:tr>
              <a:tr h="0">
                <a:tc>
                  <a:txBody>
                    <a:bodyPr/>
                    <a:lstStyle/>
                    <a:p>
                      <a:pPr lvl="0" indent="0" marL="0">
                        <a:buNone/>
                      </a:pPr>
                      <a:r>
                        <a:rPr b="1"/>
                        <a:t>Editor</a:t>
                      </a:r>
                    </a:p>
                  </a:txBody>
                </a:tc>
                <a:tc>
                  <a:txBody>
                    <a:bodyPr/>
                    <a:lstStyle/>
                    <a:p>
                      <a:pPr lvl="0" indent="0" marL="0">
                        <a:buNone/>
                      </a:pPr>
                      <a:r>
                        <a:rPr/>
                        <a:t>top-left</a:t>
                      </a:r>
                    </a:p>
                  </a:txBody>
                </a:tc>
                <a:tc>
                  <a:txBody>
                    <a:bodyPr/>
                    <a:lstStyle/>
                    <a:p>
                      <a:pPr lvl="0" indent="0" marL="0">
                        <a:buNone/>
                      </a:pPr>
                      <a:r>
                        <a:rPr/>
                        <a:t>your scripts live here</a:t>
                      </a:r>
                    </a:p>
                  </a:txBody>
                </a:tc>
              </a:tr>
              <a:tr h="0">
                <a:tc>
                  <a:txBody>
                    <a:bodyPr/>
                    <a:lstStyle/>
                    <a:p>
                      <a:pPr lvl="0" indent="0" marL="0">
                        <a:buNone/>
                      </a:pPr>
                      <a:r>
                        <a:rPr b="1"/>
                        <a:t>Console</a:t>
                      </a:r>
                    </a:p>
                  </a:txBody>
                </a:tc>
                <a:tc>
                  <a:txBody>
                    <a:bodyPr/>
                    <a:lstStyle/>
                    <a:p>
                      <a:pPr lvl="0" indent="0" marL="0">
                        <a:buNone/>
                      </a:pPr>
                      <a:r>
                        <a:rPr/>
                        <a:t>bottom</a:t>
                      </a:r>
                    </a:p>
                  </a:txBody>
                </a:tc>
                <a:tc>
                  <a:txBody>
                    <a:bodyPr/>
                    <a:lstStyle/>
                    <a:p>
                      <a:pPr lvl="0" indent="0" marL="0">
                        <a:buNone/>
                      </a:pPr>
                      <a:r>
                        <a:rPr/>
                        <a:t>where code actually runs</a:t>
                      </a:r>
                    </a:p>
                  </a:txBody>
                </a:tc>
              </a:tr>
              <a:tr h="0">
                <a:tc>
                  <a:txBody>
                    <a:bodyPr/>
                    <a:lstStyle/>
                    <a:p>
                      <a:pPr lvl="0" indent="0" marL="0">
                        <a:buNone/>
                      </a:pPr>
                      <a:r>
                        <a:rPr b="1"/>
                        <a:t>Environment</a:t>
                      </a:r>
                    </a:p>
                  </a:txBody>
                </a:tc>
                <a:tc>
                  <a:txBody>
                    <a:bodyPr/>
                    <a:lstStyle/>
                    <a:p>
                      <a:pPr lvl="0" indent="0" marL="0">
                        <a:buNone/>
                      </a:pPr>
                      <a:r>
                        <a:rPr/>
                        <a:t>right</a:t>
                      </a:r>
                    </a:p>
                  </a:txBody>
                </a:tc>
                <a:tc>
                  <a:txBody>
                    <a:bodyPr/>
                    <a:lstStyle/>
                    <a:p>
                      <a:pPr lvl="0" indent="0" marL="0">
                        <a:buNone/>
                      </a:pPr>
                      <a:r>
                        <a:rPr/>
                        <a:t>everything you’ve stored</a:t>
                      </a:r>
                    </a:p>
                  </a:txBody>
                </a:tc>
              </a:tr>
              <a:tr h="0">
                <a:tc>
                  <a:txBody>
                    <a:bodyPr/>
                    <a:lstStyle/>
                    <a:p>
                      <a:pPr lvl="0" indent="0" marL="0">
                        <a:buNone/>
                      </a:pPr>
                      <a:r>
                        <a:rPr b="1"/>
                        <a:t>Plots / Files</a:t>
                      </a:r>
                    </a:p>
                  </a:txBody>
                </a:tc>
                <a:tc>
                  <a:txBody>
                    <a:bodyPr/>
                    <a:lstStyle/>
                    <a:p>
                      <a:pPr lvl="0" indent="0" marL="0">
                        <a:buNone/>
                      </a:pPr>
                      <a:r>
                        <a:rPr/>
                        <a:t>right</a:t>
                      </a:r>
                    </a:p>
                  </a:txBody>
                </a:tc>
                <a:tc>
                  <a:txBody>
                    <a:bodyPr/>
                    <a:lstStyle/>
                    <a:p>
                      <a:pPr lvl="0" indent="0" marL="0">
                        <a:buNone/>
                      </a:pPr>
                      <a:r>
                        <a:rPr/>
                        <a:t>figures and project files</a:t>
                      </a:r>
                    </a:p>
                  </a:txBody>
                </a:tc>
              </a:tr>
            </a:tbl>
          </a:graphicData>
        </a:graphic>
      </p:graphicFrame>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a:t>
            </a:r>
          </a:p>
          <a:p>
            <a:pPr lvl="0" indent="0" marL="1270000">
              <a:buNone/>
            </a:pPr>
            <a:r>
              <a:rPr sz="2000" b="1"/>
              <a:t>IDE</a:t>
            </a:r>
            <a:r>
              <a:rPr sz="2000"/>
              <a:t> = Integrated Development Environment. R is the car engine; Positron is the seat, wheel, and dashboard.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as a calculator, and storing values</a:t>
            </a:r>
          </a:p>
        </p:txBody>
      </p:sp>
      <p:sp>
        <p:nvSpPr>
          <p:cNvPr id="3" name="Content Placeholder 2"/>
          <p:cNvSpPr>
            <a:spLocks noGrp="1"/>
          </p:cNvSpPr>
          <p:nvPr>
            <p:ph idx="1" sz="half"/>
          </p:nvPr>
        </p:nvSpPr>
        <p:spPr/>
        <p:txBody>
          <a:bodyPr/>
          <a:lstStyle/>
          <a:p>
            <a:pPr lvl="0" indent="0" marL="0">
              <a:buNone/>
            </a:pPr>
            <a:r>
              <a:rPr/>
              <a:t>Type math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To keep a value, give it a name with the </a:t>
            </a:r>
            <a:r>
              <a:rPr b="1"/>
              <a:t>assignment operator</a:t>
            </a:r>
            <a:r>
              <a:rPr/>
              <a:t>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indent="0" marL="1270000">
              <a:buNone/>
            </a:pPr>
            <a:r>
              <a:rPr sz="2000" b="1"/>
              <a:t>Warning</a:t>
            </a:r>
          </a:p>
          <a:p>
            <a:pPr lvl="0" indent="0" marL="1270000">
              <a:buNone/>
            </a:pPr>
            <a:r>
              <a:rPr sz="2000" b="1"/>
              <a:t>⚠️ Watch out!</a:t>
            </a:r>
          </a:p>
          <a:p>
            <a:pPr lvl="0" indent="0" marL="1270000">
              <a:buNone/>
            </a:pPr>
            <a:r>
              <a:rPr sz="2000"/>
              <a:t>R is case-sensitive: </a:t>
            </a:r>
            <a:r>
              <a:rPr sz="2000">
                <a:latin typeface="Courier"/>
              </a:rPr>
              <a:t>x</a:t>
            </a:r>
            <a:r>
              <a:rPr sz="2000"/>
              <a:t> and </a:t>
            </a:r>
            <a:r>
              <a:rPr sz="2000">
                <a:latin typeface="Courier"/>
              </a:rPr>
              <a:t>X</a:t>
            </a:r>
            <a:r>
              <a:rPr sz="2000"/>
              <a:t> are different objects. Use </a:t>
            </a:r>
            <a:r>
              <a:rPr sz="2000">
                <a:latin typeface="Courier"/>
              </a:rPr>
              <a:t>&lt;-</a:t>
            </a:r>
            <a:r>
              <a:rPr sz="2000"/>
              <a:t>, not </a:t>
            </a:r>
            <a:r>
              <a:rPr sz="2000">
                <a:latin typeface="Courier"/>
              </a:rPr>
              <a:t>=</a:t>
            </a:r>
            <a:r>
              <a:rPr sz="2000"/>
              <a:t>, to assign.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 a named container holding a value. Look for it appear in the </a:t>
            </a:r>
            <a:r>
              <a:rPr sz="2000" b="1"/>
              <a:t>Environment</a:t>
            </a:r>
            <a:r>
              <a:rPr sz="2000"/>
              <a:t> pane the moment you create it.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Names, comments, and functions</a:t>
            </a:r>
          </a:p>
        </p:txBody>
      </p:sp>
      <p:sp>
        <p:nvSpPr>
          <p:cNvPr id="3" name="Content Placeholder 2"/>
          <p:cNvSpPr>
            <a:spLocks noGrp="1"/>
          </p:cNvSpPr>
          <p:nvPr>
            <p:ph idx="1" sz="half"/>
          </p:nvPr>
        </p:nvSpPr>
        <p:spPr/>
        <p:txBody>
          <a:bodyPr/>
          <a:lstStyle/>
          <a:p>
            <a:pPr lvl="0"/>
            <a:r>
              <a:rPr/>
              <a:t>Use </a:t>
            </a:r>
            <a:r>
              <a:rPr b="1">
                <a:latin typeface="Courier"/>
              </a:rPr>
              <a:t>lower_snake_case</a:t>
            </a:r>
            <a:r>
              <a:rPr/>
              <a:t>: </a:t>
            </a:r>
            <a:r>
              <a:rPr>
                <a:latin typeface="Courier"/>
              </a:rPr>
              <a:t>needle_length</a:t>
            </a:r>
            <a:r>
              <a:rPr/>
              <a:t>, not </a:t>
            </a:r>
            <a:r>
              <a:rPr>
                <a:latin typeface="Courier"/>
              </a:rPr>
              <a:t>x2</a:t>
            </a:r>
            <a:r>
              <a:rPr/>
              <a:t> or </a:t>
            </a:r>
            <a:r>
              <a:rPr>
                <a:latin typeface="Courier"/>
              </a:rPr>
              <a:t>NeedleLength</a:t>
            </a:r>
          </a:p>
          <a:p>
            <a:pPr lvl="0"/>
            <a:r>
              <a:rPr/>
              <a:t>Anything after </a:t>
            </a:r>
            <a:r>
              <a:rPr>
                <a:latin typeface="Courier"/>
              </a:rPr>
              <a:t>#</a:t>
            </a:r>
            <a:r>
              <a:rPr/>
              <a:t> is a </a:t>
            </a:r>
            <a:r>
              <a:rPr b="1"/>
              <a:t>comment</a:t>
            </a:r>
            <a:r>
              <a:rPr/>
              <a:t> — a note for humans, ignored by R</a:t>
            </a:r>
          </a:p>
          <a:p>
            <a:pPr lvl="0" indent="0">
              <a:buNone/>
            </a:pPr>
            <a:r>
              <a:rPr>
                <a:solidFill>
                  <a:srgbClr val="5E5E5E"/>
                </a:solidFill>
                <a:latin typeface="Courier"/>
              </a:rPr>
              <a:t># average of four needle lengths, in mm</a:t>
            </a:r>
            <a:br/>
            <a:r>
              <a:rPr>
                <a:solidFill>
                  <a:srgbClr val="003B4F"/>
                </a:solidFill>
                <a:latin typeface="Courier"/>
              </a:rPr>
              <a:t>needle_length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4758AB"/>
                </a:solidFill>
                <a:latin typeface="Courier"/>
              </a:rPr>
              <a:t>mean</a:t>
            </a:r>
            <a:r>
              <a:rPr>
                <a:solidFill>
                  <a:srgbClr val="003B4F"/>
                </a:solidFill>
                <a:latin typeface="Courier"/>
              </a:rPr>
              <a:t>(needle_length)     </a:t>
            </a:r>
            <a:r>
              <a:rPr>
                <a:solidFill>
                  <a:srgbClr val="5E5E5E"/>
                </a:solidFill>
                <a:latin typeface="Courier"/>
              </a:rPr>
              <a:t># a function call</a:t>
            </a:r>
          </a:p>
          <a:p>
            <a:pPr lvl="0" indent="0" marL="0">
              <a:buNone/>
            </a:pPr>
            <a:r>
              <a:rPr/>
              <a:t>A </a:t>
            </a:r>
            <a:r>
              <a:rPr b="1"/>
              <a:t>function</a:t>
            </a:r>
            <a:r>
              <a:rPr/>
              <a:t> takes </a:t>
            </a:r>
            <a:r>
              <a:rPr b="1"/>
              <a:t>arguments</a:t>
            </a:r>
            <a:r>
              <a:rPr/>
              <a:t> in </a:t>
            </a:r>
            <a:r>
              <a:rPr>
                <a:latin typeface="Courier"/>
              </a:rPr>
              <a:t>()</a:t>
            </a:r>
            <a:r>
              <a:rPr/>
              <a:t> and returns a result. Stuck? Ask for help:</a:t>
            </a:r>
          </a:p>
          <a:p>
            <a:pPr lvl="0" indent="0">
              <a:buNone/>
            </a:pPr>
            <a:r>
              <a:rPr>
                <a:solidFill>
                  <a:srgbClr val="003B4F"/>
                </a:solidFill>
                <a:latin typeface="Courier"/>
              </a:rPr>
              <a:t>?mean</a:t>
            </a:r>
            <a:br/>
            <a:r>
              <a:rPr>
                <a:solidFill>
                  <a:srgbClr val="4758AB"/>
                </a:solidFill>
                <a:latin typeface="Courier"/>
              </a:rPr>
              <a:t>args</a:t>
            </a:r>
            <a:r>
              <a:rPr>
                <a:solidFill>
                  <a:srgbClr val="003B4F"/>
                </a:solidFill>
                <a:latin typeface="Courier"/>
              </a:rPr>
              <a:t>(mean)</a:t>
            </a:r>
          </a:p>
          <a:p>
            <a:pPr lvl="0" indent="0" marL="1270000">
              <a:buNone/>
            </a:pPr>
            <a:r>
              <a:rPr sz="2000" b="1"/>
              <a:t>Tip</a:t>
            </a:r>
          </a:p>
          <a:p>
            <a:pPr lvl="0" indent="0" marL="1270000">
              <a:buNone/>
            </a:pPr>
            <a:r>
              <a:rPr sz="2000" b="1"/>
              <a:t>🖐 Try it yourself</a:t>
            </a:r>
          </a:p>
          <a:p>
            <a:pPr lvl="0" indent="0" marL="1270000">
              <a:buNone/>
            </a:pPr>
            <a:r>
              <a:rPr sz="2000"/>
              <a:t>Predict what </a:t>
            </a:r>
            <a:r>
              <a:rPr sz="2000">
                <a:latin typeface="Courier"/>
              </a:rPr>
              <a:t>round(3.14159, 2)</a:t>
            </a:r>
            <a:r>
              <a:rPr sz="2000"/>
              <a:t> returns before you run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Comment</a:t>
            </a:r>
            <a:r>
              <a:rPr sz="2000"/>
              <a:t> — ignored by R, read by humans</a:t>
            </a:r>
          </a:p>
          <a:p>
            <a:pPr lvl="0"/>
            <a:r>
              <a:rPr sz="2000" b="1"/>
              <a:t>Argument</a:t>
            </a:r>
            <a:r>
              <a:rPr sz="2000"/>
              <a:t> — an input handed to a function</a:t>
            </a:r>
          </a:p>
          <a:p>
            <a:pPr lvl="0"/>
            <a:r>
              <a:rPr sz="2000" b="1"/>
              <a:t>Function</a:t>
            </a:r>
            <a:r>
              <a:rPr sz="2000"/>
              <a:t> — a named, reusable operation</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Vectors, data types, and scripts</a:t>
            </a:r>
          </a:p>
        </p:txBody>
      </p:sp>
      <p:sp>
        <p:nvSpPr>
          <p:cNvPr id="3" name="Content Placeholder 2"/>
          <p:cNvSpPr>
            <a:spLocks noGrp="1"/>
          </p:cNvSpPr>
          <p:nvPr>
            <p:ph idx="1" sz="half"/>
          </p:nvPr>
        </p:nvSpPr>
        <p:spPr/>
        <p:txBody>
          <a:bodyPr/>
          <a:lstStyle/>
          <a:p>
            <a:pPr lvl="0" indent="0" marL="0">
              <a:buNone/>
            </a:pPr>
            <a:r>
              <a:rPr/>
              <a:t>A </a:t>
            </a:r>
            <a:r>
              <a:rPr b="1"/>
              <a:t>vector</a:t>
            </a:r>
            <a:r>
              <a:rPr/>
              <a:t> is a row of values made with </a:t>
            </a:r>
            <a:r>
              <a:rPr>
                <a:latin typeface="Courier"/>
              </a:rPr>
              <a:t>c()</a:t>
            </a:r>
            <a:r>
              <a:rPr/>
              <a:t> — a spreadsheet column is really just a vector:</a:t>
            </a:r>
          </a:p>
          <a:p>
            <a:pPr lvl="0" indent="0">
              <a:buNone/>
            </a:pPr>
            <a:r>
              <a:rPr>
                <a:solidFill>
                  <a:srgbClr val="003B4F"/>
                </a:solidFill>
                <a:latin typeface="Courier"/>
              </a:rPr>
              <a:t>length_mm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numeric</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"n"</a:t>
            </a:r>
            <a:r>
              <a:rPr>
                <a:solidFill>
                  <a:srgbClr val="003B4F"/>
                </a:solidFill>
                <a:latin typeface="Courier"/>
              </a:rPr>
              <a:t>, </a:t>
            </a:r>
            <a:r>
              <a:rPr>
                <a:solidFill>
                  <a:srgbClr val="20794D"/>
                </a:solidFill>
                <a:latin typeface="Courier"/>
              </a:rPr>
              <a:t>"s"</a:t>
            </a:r>
            <a:r>
              <a:rPr>
                <a:solidFill>
                  <a:srgbClr val="003B4F"/>
                </a:solidFill>
                <a:latin typeface="Courier"/>
              </a:rPr>
              <a:t>)            </a:t>
            </a:r>
            <a:r>
              <a:rPr>
                <a:solidFill>
                  <a:srgbClr val="5E5E5E"/>
                </a:solidFill>
                <a:latin typeface="Courier"/>
              </a:rPr>
              <a:t># character — needs quotes</a:t>
            </a:r>
          </a:p>
          <a:p>
            <a:pPr lvl="0" indent="0" marL="0">
              <a:buNone/>
            </a:pPr>
            <a:r>
              <a:rPr/>
              <a:t>The </a:t>
            </a:r>
            <a:r>
              <a:rPr b="1"/>
              <a:t>console forgets</a:t>
            </a:r>
            <a:r>
              <a:rPr/>
              <a:t>. A </a:t>
            </a:r>
            <a:r>
              <a:rPr b="1"/>
              <a:t>script</a:t>
            </a:r>
            <a:r>
              <a:rPr/>
              <a:t> (</a:t>
            </a:r>
            <a:r>
              <a:rPr>
                <a:latin typeface="Courier"/>
              </a:rPr>
              <a:t>.R</a:t>
            </a:r>
            <a:r>
              <a:rPr/>
              <a:t> file) remembers:</a:t>
            </a:r>
          </a:p>
          <a:p>
            <a:pPr lvl="0"/>
            <a:r>
              <a:rPr b="1"/>
              <a:t>File → New File → R File</a:t>
            </a:r>
            <a:r>
              <a:rPr/>
              <a:t>, save it, run lines with Ctrl/Cmd+Enter</a:t>
            </a:r>
          </a:p>
          <a:p>
            <a:pPr lvl="0" indent="0" marL="1270000">
              <a:buNone/>
            </a:pPr>
            <a:r>
              <a:rPr sz="2000" b="1"/>
              <a:t>Warning</a:t>
            </a:r>
          </a:p>
          <a:p>
            <a:pPr lvl="0" indent="0" marL="1270000">
              <a:buNone/>
            </a:pPr>
            <a:r>
              <a:rPr sz="2000" b="1"/>
              <a:t>⚠️ Watch out!</a:t>
            </a:r>
          </a:p>
          <a:p>
            <a:pPr lvl="0" indent="0" marL="1270000">
              <a:buNone/>
            </a:pPr>
            <a:r>
              <a:rPr sz="2000"/>
              <a:t>Without quotes, </a:t>
            </a:r>
            <a:r>
              <a:rPr sz="2000">
                <a:latin typeface="Courier"/>
              </a:rPr>
              <a:t>s</a:t>
            </a:r>
            <a:r>
              <a:rPr sz="2000"/>
              <a:t> means “find an object called s,” not the text “s.” R will error if no such object exists.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Console = scratch paper. Script = the lab notebook you keep and rerun.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b="1"/>
              <a:t>Install once</a:t>
            </a:r>
            <a:r>
              <a:rPr/>
              <a:t>, in the console:</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p>
          <a:p>
            <a:pPr lvl="0" indent="0" marL="0">
              <a:buNone/>
            </a:pPr>
            <a:r>
              <a:rPr b="1"/>
              <a:t>Load every session</a:t>
            </a:r>
            <a:r>
              <a:rPr/>
              <a:t>,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wrangling + ggplot2</a:t>
            </a:r>
          </a:p>
          <a:p>
            <a:pPr lvl="0" indent="0" marL="1270000">
              <a:buNone/>
            </a:pPr>
            <a:r>
              <a:rPr sz="2000" b="1"/>
              <a:t>Warning</a:t>
            </a:r>
          </a:p>
          <a:p>
            <a:pPr lvl="0" indent="0" marL="1270000">
              <a:buNone/>
            </a:pPr>
            <a:r>
              <a:rPr sz="2000" b="1"/>
              <a:t>⚠️ Watch out!</a:t>
            </a:r>
          </a:p>
          <a:p>
            <a:pPr lvl="0" indent="0" marL="1270000">
              <a:buNone/>
            </a:pPr>
            <a:r>
              <a:rPr sz="2000" i="1"/>
              <a:t>“could not find function…”</a:t>
            </a:r>
            <a:r>
              <a:rPr sz="2000"/>
              <a:t> almost always means you forgot the </a:t>
            </a:r>
            <a:r>
              <a:rPr sz="2000">
                <a:latin typeface="Courier"/>
              </a:rPr>
              <a:t>library()</a:t>
            </a:r>
            <a:r>
              <a:rPr sz="2000"/>
              <a:t> line for that session.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(once)</a:t>
            </a:r>
          </a:p>
          <a:p>
            <a:pPr lvl="0"/>
            <a:r>
              <a:rPr sz="2000" b="1"/>
              <a:t>Library</a:t>
            </a:r>
            <a:r>
              <a:rPr sz="2000"/>
              <a:t> — loading it for today’s session (every time)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 Data and Make Your First Plot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Bring the data in</a:t>
            </a:r>
          </a:p>
        </p:txBody>
      </p:sp>
      <p:sp>
        <p:nvSpPr>
          <p:cNvPr id="3" name="Content Placeholder 2"/>
          <p:cNvSpPr>
            <a:spLocks noGrp="1"/>
          </p:cNvSpPr>
          <p:nvPr>
            <p:ph idx="1" sz="half"/>
          </p:nvPr>
        </p:nvSpPr>
        <p:spPr/>
        <p:txBody>
          <a:bodyPr/>
          <a:lstStyle/>
          <a:p>
            <a:pPr lvl="0" indent="0" marL="0">
              <a:buNone/>
            </a:pPr>
            <a:r>
              <a:rPr/>
              <a:t>Put the file in </a:t>
            </a:r>
            <a:r>
              <a:rPr>
                <a:latin typeface="Courier"/>
              </a:rPr>
              <a:t>data/</a:t>
            </a:r>
            <a:r>
              <a:rPr/>
              <a:t>, then:</a:t>
            </a:r>
          </a:p>
          <a:p>
            <a:pPr lvl="0" indent="0">
              <a:buNone/>
            </a:pPr>
            <a:r>
              <a:rPr>
                <a:solidFill>
                  <a:srgbClr val="4758AB"/>
                </a:solidFill>
                <a:latin typeface="Courier"/>
              </a:rPr>
              <a:t>library</a:t>
            </a:r>
            <a:r>
              <a:rPr>
                <a:solidFill>
                  <a:srgbClr val="003B4F"/>
                </a:solidFill>
                <a:latin typeface="Courier"/>
              </a:rPr>
              <a:t>(tidyverse)</a:t>
            </a:r>
            <a:br/>
            <a:b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"data/pine_needles.csv"</a:t>
            </a:r>
            <a:r>
              <a:rPr>
                <a:solidFill>
                  <a:srgbClr val="003B4F"/>
                </a:solidFill>
                <a:latin typeface="Courier"/>
              </a:rPr>
              <a:t>)</a:t>
            </a:r>
          </a:p>
          <a:p>
            <a:pPr lvl="0" indent="0" marL="1270000">
              <a:buNone/>
            </a:pPr>
            <a:r>
              <a:rPr sz="2000" b="1"/>
              <a:t>Note</a:t>
            </a:r>
          </a:p>
          <a:p>
            <a:pPr lvl="0" indent="0" marL="1270000">
              <a:buNone/>
            </a:pPr>
            <a:r>
              <a:rPr sz="2000" b="1"/>
              <a:t>✅ Key idea</a:t>
            </a:r>
          </a:p>
          <a:p>
            <a:pPr lvl="0" indent="0" marL="1270000">
              <a:buNone/>
            </a:pPr>
            <a:r>
              <a:rPr sz="2000">
                <a:latin typeface="Courier"/>
              </a:rPr>
              <a:t>read_csv()</a:t>
            </a:r>
            <a:r>
              <a:rPr sz="2000"/>
              <a:t> comes free with </a:t>
            </a:r>
            <a:r>
              <a:rPr sz="2000">
                <a:latin typeface="Courier"/>
              </a:rPr>
              <a:t>library(tidyverse)</a:t>
            </a:r>
            <a:r>
              <a:rPr sz="2000"/>
              <a:t>. Your file’s first row becomes the </a:t>
            </a:r>
            <a:r>
              <a:rPr sz="2000" b="1"/>
              <a:t>column names</a:t>
            </a:r>
            <a:r>
              <a:rPr sz="2000"/>
              <a:t> in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Our columns</a:t>
            </a:r>
          </a:p>
          <a:p>
            <a:pPr lvl="0"/>
            <a:r>
              <a:rPr sz="2000">
                <a:latin typeface="Courier"/>
              </a:rPr>
              <a:t>n_s</a:t>
            </a:r>
            <a:r>
              <a:rPr sz="2000"/>
              <a:t> — </a:t>
            </a:r>
            <a:r>
              <a:rPr sz="2000">
                <a:latin typeface="Courier"/>
              </a:rPr>
              <a:t>"n"</a:t>
            </a:r>
            <a:r>
              <a:rPr sz="2000"/>
              <a:t> (north/sheltered) or </a:t>
            </a:r>
            <a:r>
              <a:rPr sz="2000">
                <a:latin typeface="Courier"/>
              </a:rPr>
              <a:t>"s"</a:t>
            </a:r>
            <a:r>
              <a:rPr sz="2000"/>
              <a:t> (south/exposed)</a:t>
            </a:r>
          </a:p>
          <a:p>
            <a:pPr lvl="0"/>
            <a:r>
              <a:rPr sz="2000">
                <a:latin typeface="Courier"/>
              </a:rPr>
              <a:t>sun</a:t>
            </a:r>
            <a:r>
              <a:rPr sz="2000"/>
              <a:t> — </a:t>
            </a:r>
            <a:r>
              <a:rPr sz="2000">
                <a:latin typeface="Courier"/>
              </a:rPr>
              <a:t>"shady"</a:t>
            </a:r>
            <a:r>
              <a:rPr sz="2000"/>
              <a:t> or </a:t>
            </a:r>
            <a:r>
              <a:rPr sz="2000">
                <a:latin typeface="Courier"/>
              </a:rPr>
              <a:t>"sunny"</a:t>
            </a:r>
            <a:r>
              <a:rPr sz="2000"/>
              <a:t>, same grouping said a different way</a:t>
            </a:r>
          </a:p>
          <a:p>
            <a:pPr lvl="0"/>
            <a:r>
              <a:rPr sz="2000">
                <a:latin typeface="Courier"/>
              </a:rPr>
              <a:t>length_mm</a:t>
            </a:r>
            <a:r>
              <a:rPr sz="2000"/>
              <a:t> — needle length in millimeters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Look before you trust it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glimpse</a:t>
            </a:r>
            <a:r>
              <a:rPr>
                <a:solidFill>
                  <a:srgbClr val="003B4F"/>
                </a:solidFill>
                <a:latin typeface="Courier"/>
              </a:rPr>
              <a:t>(pine_df)</a:t>
            </a:r>
          </a:p>
          <a:p>
            <a:pPr lvl="0" indent="0">
              <a:buNone/>
            </a:pPr>
            <a:r>
              <a:rPr>
                <a:latin typeface="Courier"/>
              </a:rPr>
              <a:t>Rows: 48
Columns: 6
$ date      &lt;chr&gt; "3/20/25", "3/20/25", "3/20/25", "3/20/25", "3/20/25", "3/20…
$ group     &lt;chr&gt; "cephalopods", "cephalopods", "cephalopods", "cephalopods", …
$ n_s       &lt;chr&gt; "n", "n", "n", "n", "n", "n", "s", "s", "s", "s", "s", "s", …
$ sun       &lt;chr&gt; "shady", "shady", "shady", "shady", "shady", "shady", "sunny…
$ tree_no   &lt;dbl&gt; 1, 1, 1, 1, 1, 1, 1, 1, 1, 1, 1, 1, 2, 2, 2, 2, 2, 2, 2, 2, …
$ length_mm &lt;dbl&gt; 20, 21, 23, 25, 21, 16, 15, 16, 14, 17, 13, 15, 19, 18, 20, …</a:t>
            </a:r>
          </a:p>
          <a:p>
            <a:pPr lvl="0" indent="0">
              <a:buNone/>
            </a:pPr>
            <a:r>
              <a:rPr>
                <a:solidFill>
                  <a:srgbClr val="4758AB"/>
                </a:solidFill>
                <a:latin typeface="Courier"/>
              </a:rPr>
              <a:t>dim</a:t>
            </a:r>
            <a:r>
              <a:rPr>
                <a:solidFill>
                  <a:srgbClr val="003B4F"/>
                </a:solidFill>
                <a:latin typeface="Courier"/>
              </a:rPr>
              <a:t>(pine_df)</a:t>
            </a:r>
          </a:p>
          <a:p>
            <a:pPr lvl="0" indent="0">
              <a:buNone/>
            </a:pPr>
            <a:r>
              <a:rPr>
                <a:latin typeface="Courier"/>
              </a:rPr>
              <a:t>[1] 48  6</a:t>
            </a:r>
          </a:p>
          <a:p>
            <a:pPr lvl="0" indent="0" marL="1270000">
              <a:buNone/>
            </a:pPr>
            <a:r>
              <a:rPr sz="2000" b="1"/>
              <a:t>Tip</a:t>
            </a:r>
          </a:p>
          <a:p>
            <a:pPr lvl="0" indent="0" marL="1270000">
              <a:buNone/>
            </a:pPr>
            <a:r>
              <a:rPr sz="2000" b="1"/>
              <a:t>🖐 Notice</a:t>
            </a:r>
          </a:p>
          <a:p>
            <a:pPr lvl="0" indent="0" marL="1270000">
              <a:buNone/>
            </a:pPr>
            <a:r>
              <a:rPr sz="2000">
                <a:latin typeface="Courier"/>
              </a:rPr>
              <a:t>n_s</a:t>
            </a:r>
            <a:r>
              <a:rPr sz="2000"/>
              <a:t> and </a:t>
            </a:r>
            <a:r>
              <a:rPr sz="2000">
                <a:latin typeface="Courier"/>
              </a:rPr>
              <a:t>sun</a:t>
            </a:r>
            <a:r>
              <a:rPr sz="2000"/>
              <a:t> always travel together — </a:t>
            </a:r>
            <a:r>
              <a:rPr sz="2000">
                <a:latin typeface="Courier"/>
              </a:rPr>
              <a:t>n</a:t>
            </a:r>
            <a:r>
              <a:rPr sz="2000"/>
              <a:t> with </a:t>
            </a:r>
            <a:r>
              <a:rPr sz="2000">
                <a:latin typeface="Courier"/>
              </a:rPr>
              <a:t>shady</a:t>
            </a:r>
            <a:r>
              <a:rPr sz="2000"/>
              <a:t>, </a:t>
            </a:r>
            <a:r>
              <a:rPr sz="2000">
                <a:latin typeface="Courier"/>
              </a:rPr>
              <a:t>s</a:t>
            </a:r>
            <a:r>
              <a:rPr sz="2000"/>
              <a:t> with </a:t>
            </a:r>
            <a:r>
              <a:rPr sz="2000">
                <a:latin typeface="Courier"/>
              </a:rPr>
              <a:t>sunny</a:t>
            </a:r>
            <a:r>
              <a:rPr sz="2000"/>
              <a:t>. Two columns encoding the same grouping. Useful redundancy, or something to simplify? We’ll revisit this in Wrangling Your Data.</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in </a:t>
            </a:r>
            <a:r>
              <a:rPr sz="2000">
                <a:latin typeface="Courier"/>
              </a:rPr>
              <a:t>glimpse()</a:t>
            </a:r>
            <a:r>
              <a:rPr sz="2000"/>
              <a:t>, a stray letter or comma is hiding in that column.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Your first plot: </a:t>
            </a:r>
            <a:r>
              <a:rPr>
                <a:latin typeface="Courier"/>
              </a:rPr>
              <a:t>ggplot</a:t>
            </a:r>
            <a:r>
              <a:rPr/>
              <a:t>, built in layers</a:t>
            </a:r>
          </a:p>
        </p:txBody>
      </p:sp>
      <p:sp>
        <p:nvSpPr>
          <p:cNvPr id="3" name="Text Placeholder 2"/>
          <p:cNvSpPr>
            <a:spLocks noGrp="1"/>
          </p:cNvSpPr>
          <p:nvPr>
            <p:ph idx="1" type="body"/>
          </p:nvPr>
        </p:nvSpPr>
        <p:spPr/>
        <p:txBody>
          <a:bodyPr/>
          <a:lstStyle/>
          <a:p>
            <a:pPr lvl="0" indent="0" marL="0">
              <a:buNone/>
            </a:pPr>
            <a:r>
              <a:rPr/>
              <a:t>Every </a:t>
            </a:r>
            <a:r>
              <a:rPr>
                <a:latin typeface="Courier"/>
              </a:rPr>
              <a:t>ggplot</a:t>
            </a:r>
            <a:r>
              <a:rPr/>
              <a:t> needs three things, joined with </a:t>
            </a:r>
            <a:r>
              <a:rPr>
                <a:latin typeface="Courier"/>
              </a:rPr>
              <a:t>+</a:t>
            </a:r>
            <a:r>
              <a:rPr/>
              <a:t>:</a:t>
            </a:r>
          </a:p>
          <a:p>
            <a:pPr lvl="0" indent="-342900" marL="342900">
              <a:buAutoNum type="arabicPeriod"/>
            </a:pPr>
            <a:r>
              <a:rPr b="1"/>
              <a:t>data</a:t>
            </a:r>
            <a:r>
              <a:rPr/>
              <a:t> — which data frame</a:t>
            </a:r>
          </a:p>
          <a:p>
            <a:pPr lvl="0" indent="-342900" marL="342900">
              <a:buAutoNum type="arabicPeriod"/>
            </a:pPr>
            <a:r>
              <a:rPr b="1"/>
              <a:t>aes()</a:t>
            </a:r>
            <a:r>
              <a:rPr/>
              <a:t> — which columns map to x and y</a:t>
            </a:r>
          </a:p>
          <a:p>
            <a:pPr lvl="0" indent="-342900" marL="342900">
              <a:buAutoNum type="arabicPeriod"/>
            </a:pPr>
            <a:r>
              <a:rPr b="1"/>
              <a:t>geom</a:t>
            </a:r>
            <a:r>
              <a:rPr/>
              <a:t> — how to draw it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n_s, </a:t>
            </a:r>
            <a:r>
              <a:rPr>
                <a:solidFill>
                  <a:srgbClr val="657422"/>
                </a:solidFill>
                <a:latin typeface="Courier"/>
              </a:rPr>
              <a:t>y =</a:t>
            </a:r>
            <a:r>
              <a:rPr>
                <a:solidFill>
                  <a:srgbClr val="003B4F"/>
                </a:solidFill>
                <a:latin typeface="Courier"/>
              </a:rPr>
              <a:t> length_mm))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p:txBody>
      </p:sp>
      <p:pic>
        <p:nvPicPr>
          <p:cNvPr descr="getting_started_lecture_files/figure-pptx/unnamed-chunk-4-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latin typeface="Courier"/>
              </a:rPr>
              <a:t>+</a:t>
            </a:r>
            <a:r>
              <a:rPr sz="2000"/>
              <a:t> sits at the </a:t>
            </a:r>
            <a:r>
              <a:rPr sz="2000" b="1"/>
              <a:t>end</a:t>
            </a:r>
            <a:r>
              <a:rPr sz="2000"/>
              <a:t> of a line, never the start.</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i="1"/>
              <a:t>Seeing</a:t>
            </a:r>
            <a:r>
              <a:rPr sz="2000"/>
              <a:t> your data is the single most important habit in this course — before you summarize or test anything, plot it.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 layer at a time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sun, </a:t>
            </a:r>
            <a:r>
              <a:rPr>
                <a:solidFill>
                  <a:srgbClr val="657422"/>
                </a:solidFill>
                <a:latin typeface="Courier"/>
              </a:rPr>
              <a:t>y =</a:t>
            </a:r>
            <a:r>
              <a:rPr>
                <a:solidFill>
                  <a:srgbClr val="003B4F"/>
                </a:solidFill>
                <a:latin typeface="Courier"/>
              </a:rPr>
              <a:t> 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"Needle length by sun exposure"</a:t>
            </a:r>
            <a:r>
              <a:rPr>
                <a:solidFill>
                  <a:srgbClr val="003B4F"/>
                </a:solidFill>
                <a:latin typeface="Courier"/>
              </a:rPr>
              <a:t>)</a:t>
            </a:r>
          </a:p>
        </p:txBody>
      </p:sp>
      <p:pic>
        <p:nvPicPr>
          <p:cNvPr descr="getting_started_lecture_files/figure-pptx/unnamed-chunk-5-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sun</a:t>
            </a:r>
            <a:r>
              <a:rPr sz="2000"/>
              <a:t> for </a:t>
            </a:r>
            <a:r>
              <a:rPr sz="2000">
                <a:latin typeface="Courier"/>
              </a:rPr>
              <a:t>group</a:t>
            </a:r>
            <a:r>
              <a:rPr sz="2000"/>
              <a:t>. What does that plot tell you instead?</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A boxplot shows the summary; the jittered points show every real value underneath it. Show both when you can.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Save your plot</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needle_plot &lt;- </a:t>
            </a: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sun, </a:t>
            </a:r>
            <a:r>
              <a:rPr>
                <a:solidFill>
                  <a:srgbClr val="657422"/>
                </a:solidFill>
                <a:latin typeface="Courier"/>
              </a:rPr>
              <a:t>y =</a:t>
            </a:r>
            <a:r>
              <a:rPr>
                <a:solidFill>
                  <a:srgbClr val="003B4F"/>
                </a:solidFill>
                <a:latin typeface="Courier"/>
              </a:rPr>
              <a:t> 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br/>
            <a:r>
              <a:rPr>
                <a:solidFill>
                  <a:srgbClr val="4758AB"/>
                </a:solidFill>
                <a:latin typeface="Courier"/>
              </a:rPr>
              <a:t>ggsave</a:t>
            </a:r>
            <a:r>
              <a:rPr>
                <a:solidFill>
                  <a:srgbClr val="003B4F"/>
                </a:solidFill>
                <a:latin typeface="Courier"/>
              </a:rPr>
              <a:t>(</a:t>
            </a:r>
            <a:r>
              <a:rPr>
                <a:solidFill>
                  <a:srgbClr val="20794D"/>
                </a:solidFill>
                <a:latin typeface="Courier"/>
              </a:rPr>
              <a:t>"figures/needle_length.png"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needle_plot,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Always use </a:t>
            </a:r>
            <a:r>
              <a:rPr sz="2000">
                <a:latin typeface="Courier"/>
              </a:rPr>
              <a:t>dpi = 300</a:t>
            </a:r>
            <a:r>
              <a:rPr sz="2000"/>
              <a:t> — print/poster quality.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File format tip</a:t>
            </a:r>
          </a:p>
          <a:p>
            <a:pPr lvl="0" indent="0" marL="1270000">
              <a:buNone/>
            </a:pPr>
            <a:r>
              <a:rPr sz="2000"/>
              <a:t>Save figures as </a:t>
            </a:r>
            <a:r>
              <a:rPr sz="2000" b="1"/>
              <a:t>PNG</a:t>
            </a:r>
            <a:r>
              <a:rPr sz="2000"/>
              <a:t> for reports and submissions.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Turned a question into a testable </a:t>
            </a:r>
            <a:r>
              <a:rPr b="1"/>
              <a:t>H₀ / Hₐ</a:t>
            </a:r>
          </a:p>
          <a:p>
            <a:pPr lvl="0"/>
            <a:r>
              <a:rPr/>
              <a:t>Organized a project folder with </a:t>
            </a:r>
            <a:r>
              <a:rPr b="1"/>
              <a:t>data/scripts/figures</a:t>
            </a:r>
          </a:p>
          <a:p>
            <a:pPr lvl="0"/>
            <a:r>
              <a:rPr/>
              <a:t>Ran your first R code — objects, functions, vectors, packages</a:t>
            </a:r>
          </a:p>
          <a:p>
            <a:pPr lvl="0"/>
            <a:r>
              <a:rPr/>
              <a:t>Loaded real data and made — and saved — your </a:t>
            </a:r>
            <a:r>
              <a:rPr b="1"/>
              <a:t>first </a:t>
            </a:r>
            <a:r>
              <a:rPr b="1">
                <a:latin typeface="Courier"/>
              </a:rPr>
              <a:t>ggplot</a:t>
            </a:r>
          </a:p>
          <a:p>
            <a:pPr lvl="0" indent="0" marL="1270000">
              <a:buNone/>
            </a:pPr>
            <a:r>
              <a:rPr sz="2000" b="1"/>
              <a:t>Tip</a:t>
            </a:r>
          </a:p>
          <a:p>
            <a:pPr lvl="0" indent="0" marL="1270000">
              <a:buNone/>
            </a:pPr>
            <a:r>
              <a:rPr sz="2000" b="1"/>
              <a:t>🖐 Before next class</a:t>
            </a:r>
          </a:p>
          <a:p>
            <a:pPr lvl="0" indent="0" marL="1270000">
              <a:buNone/>
            </a:pPr>
            <a:r>
              <a:rPr sz="2000"/>
              <a:t>Finish the worksheet: load </a:t>
            </a:r>
            <a:r>
              <a:rPr sz="2000">
                <a:latin typeface="Courier"/>
              </a:rPr>
              <a:t>pine_needles.csv</a:t>
            </a:r>
            <a:r>
              <a:rPr sz="2000"/>
              <a:t>, run </a:t>
            </a:r>
            <a:r>
              <a:rPr sz="2000">
                <a:latin typeface="Courier"/>
              </a:rPr>
              <a:t>glimpse()</a:t>
            </a:r>
            <a:r>
              <a:rPr sz="2000"/>
              <a:t>, and make one more plot — </a:t>
            </a:r>
            <a:r>
              <a:rPr sz="2000">
                <a:latin typeface="Courier"/>
              </a:rPr>
              <a:t>length_mm</a:t>
            </a:r>
            <a:r>
              <a:rPr sz="2000"/>
              <a:t> by </a:t>
            </a:r>
            <a:r>
              <a:rPr sz="2000">
                <a:latin typeface="Courier"/>
              </a:rPr>
              <a:t>n_s</a:t>
            </a:r>
            <a:r>
              <a:rPr sz="2000"/>
              <a:t> this time.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Wrangling Your Data</a:t>
            </a:r>
          </a:p>
          <a:p>
            <a:pPr lvl="0"/>
            <a:r>
              <a:rPr sz="2000">
                <a:latin typeface="Courier"/>
              </a:rPr>
              <a:t>filter()</a:t>
            </a:r>
            <a:r>
              <a:rPr sz="2000"/>
              <a:t>, </a:t>
            </a:r>
            <a:r>
              <a:rPr sz="2000">
                <a:latin typeface="Courier"/>
              </a:rPr>
              <a:t>select()</a:t>
            </a:r>
            <a:r>
              <a:rPr sz="2000"/>
              <a:t>, </a:t>
            </a:r>
            <a:r>
              <a:rPr sz="2000">
                <a:latin typeface="Courier"/>
              </a:rPr>
              <a:t>mutate()</a:t>
            </a:r>
            <a:r>
              <a:rPr sz="2000"/>
              <a:t>, </a:t>
            </a:r>
            <a:r>
              <a:rPr sz="2000">
                <a:latin typeface="Courier"/>
              </a:rPr>
              <a:t>arrange()</a:t>
            </a:r>
          </a:p>
          <a:p>
            <a:pPr lvl="0"/>
            <a:r>
              <a:rPr sz="2000"/>
              <a:t>Cleaning a genuinely messy version of this dataset</a:t>
            </a:r>
          </a:p>
          <a:p>
            <a:pPr lvl="0"/>
            <a:r>
              <a:rPr sz="2000"/>
              <a:t>The pipe </a:t>
            </a:r>
            <a:r>
              <a:rPr sz="2000">
                <a:latin typeface="Courier"/>
              </a:rPr>
              <a:t>|&gt;</a:t>
            </a:r>
            <a:r>
              <a:rPr sz="2000"/>
              <a:t> and building a pipeline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a:t>
            </a:r>
            <a:r>
              <a:rPr>
                <a:latin typeface="Courier"/>
              </a:rPr>
              <a:t>library(tidyverse)</a:t>
            </a:r>
            <a:r>
              <a:rPr/>
              <a:t> loaded? Spelling? A missing </a:t>
            </a:r>
            <a:r>
              <a:rPr>
                <a:latin typeface="Courier"/>
              </a:rPr>
              <a:t>)</a:t>
            </a:r>
            <a:r>
              <a:rPr/>
              <a:t> or </a:t>
            </a:r>
            <a:r>
              <a:rPr>
                <a:latin typeface="Courier"/>
              </a:rPr>
              <a:t>+</a:t>
            </a:r>
            <a:r>
              <a:rPr/>
              <a:t> at the </a:t>
            </a:r>
            <a:r>
              <a:rPr i="1"/>
              <a:t>start</a:t>
            </a:r>
            <a:r>
              <a:rPr/>
              <a:t> of a line?</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Getting Started</dc:title>
  <dc:creator>Bill Perry</dc:creator>
  <cp:keywords/>
  <dc:description>A question worth testing, a project worth organizing, and a first look at R, Positron, and ggplot — all built around one pine needle experiment.</dc:description>
  <dcterms:created xsi:type="dcterms:W3CDTF">2026-08-24T18:43:14Z</dcterms:created>
  <dcterms:modified xsi:type="dcterms:W3CDTF">2026-08-24T18:43:14Z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1</vt:lpwstr>
  </property>
  <property fmtid="{D5CDD505-2E9C-101B-9397-08002B2CF9AE}" pid="12" name="resources">
    <vt:lpwstr/>
  </property>
  <property fmtid="{D5CDD505-2E9C-101B-9397-08002B2CF9AE}" pid="13" name="subtitle">
    <vt:lpwstr>Asking a question, meeting R, and making your first graph</vt:lpwstr>
  </property>
  <property fmtid="{D5CDD505-2E9C-101B-9397-08002B2CF9AE}" pid="14" name="toc-title">
    <vt:lpwstr>Table of contents</vt:lpwstr>
  </property>
  <property fmtid="{D5CDD505-2E9C-101B-9397-08002B2CF9AE}" pid="15" name="week">
    <vt:lpwstr>1</vt:lpwstr>
  </property>
</Properties>
</file>