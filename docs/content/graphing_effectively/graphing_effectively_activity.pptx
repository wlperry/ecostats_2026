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
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  <a:br/>
          </a:p>
          <a:p>
            <a:pPr lvl="0" indent="0">
              <a:buNone/>
            </a:pPr>
            <a:r>
              <a:rPr>
                <a:latin typeface="Courier"/>
              </a:rPr>
              <a:t>
Which is better and why: __________________________________________________________________
___________________________________________________________________________________________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Axis labels and titles with </a:t>
            </a:r>
            <a:r>
              <a:rPr>
                <a:latin typeface="Courier"/>
              </a:rPr>
              <a:t>labs()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pine_labeled_plot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pine_labeled_plot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</a:t>
            </a:r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x</a:t>
            </a:r>
            <a:r>
              <a:rPr/>
              <a:t>, and </a:t>
            </a:r>
            <a:r>
              <a:rPr>
                <a:latin typeface="Courier"/>
              </a:rPr>
              <a:t>y</a:t>
            </a:r>
            <a:r>
              <a:rPr/>
              <a:t> text to your own wording.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pine_box_plot</a:t>
            </a:r>
            <a:r>
              <a:rPr/>
              <a:t> maps </a:t>
            </a:r>
            <a:r>
              <a:rPr>
                <a:latin typeface="Courier"/>
              </a:rPr>
              <a:t>fill = n_s</a:t>
            </a:r>
            <a:r>
              <a:rPr/>
              <a:t>. What happens if you write </a:t>
            </a:r>
            <a:r>
              <a:rPr>
                <a:latin typeface="Courier"/>
              </a:rPr>
              <a:t>labs(color = "Side")</a:t>
            </a:r>
            <a:r>
              <a:rPr/>
              <a:t> instead of </a:t>
            </a:r>
            <a:r>
              <a:rPr>
                <a:latin typeface="Courier"/>
              </a:rPr>
              <a:t>labs(fill = "Side")</a:t>
            </a:r>
            <a:r>
              <a:rPr/>
              <a:t>? Try it and explain why.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_____________________________________________________________________________________
_____________________________________________________________________________________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"darkblue"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  <a:b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Histograms and density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Try </a:t>
            </a:r>
            <a:r>
              <a:rPr>
                <a:latin typeface="Courier"/>
              </a:rPr>
              <a:t>binwidth = 0.5</a:t>
            </a:r>
            <a:r>
              <a:rPr/>
              <a:t> and </a:t>
            </a:r>
            <a:r>
              <a:rPr>
                <a:latin typeface="Courier"/>
              </a:rPr>
              <a:t>binwidth = 5</a:t>
            </a:r>
            <a:r>
              <a:rPr/>
              <a:t>. Which value tells the real story about this data, and which one hides or exaggerates it?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  <a:br/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shady and sunny density curves look like they overlap a lot, or are they clearly separated?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Build a faceted histogram — </a:t>
            </a:r>
            <a:r>
              <a:rPr sz="2000">
                <a:latin typeface="Courier"/>
              </a:rPr>
              <a:t>geom_histogram()</a:t>
            </a:r>
            <a:r>
              <a:rPr sz="2000"/>
              <a:t> + </a:t>
            </a:r>
            <a:r>
              <a:rPr sz="2000">
                <a:latin typeface="Courier"/>
              </a:rPr>
              <a:t>facet_wrap(~n_s, ncol = 1)</a:t>
            </a:r>
            <a:r>
              <a:rPr sz="2000"/>
              <a:t> — and compare it to the overlaid density plot above. Which is easier to read?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
Mean point:   ________________________
SE bars:      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shady-vs-sunny pattern, or does one team look different?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________________________________________________________________________________________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______________________________________________________________________________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</a:t>
            </a:r>
            <a:br/>
            <a:br/>
            <a:r>
              <a:rPr>
                <a:latin typeface="Courier"/>
              </a:rPr>
              <a:t>_____________________________________________________________________________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8b · Advanced / extra work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This part is optional bonus material.</a:t>
            </a:r>
            <a:r>
              <a:rPr sz="2000"/>
              <a:t> Everything through Part 8 covers the required skills for this module.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Pick two different hex colors of your own choosing and substitute them into </a:t>
            </a:r>
            <a:r>
              <a:rPr>
                <a:latin typeface="Courier"/>
              </a:rPr>
              <a:t>values =</a:t>
            </a:r>
            <a:r>
              <a:rPr/>
              <a:t>. Re-run and confirm the legend and points update.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pine_df$n_s</a:t>
            </a:r>
            <a:r>
              <a:rPr/>
              <a:t> only has two levels (</a:t>
            </a:r>
            <a:r>
              <a:rPr>
                <a:latin typeface="Courier"/>
              </a:rPr>
              <a:t>n</a:t>
            </a:r>
            <a:r>
              <a:rPr/>
              <a:t>, </a:t>
            </a:r>
            <a:r>
              <a:rPr>
                <a:latin typeface="Courier"/>
              </a:rPr>
              <a:t>s</a:t>
            </a:r>
            <a:r>
              <a:rPr/>
              <a:t>). What do you think happens if </a:t>
            </a:r>
            <a:r>
              <a:rPr>
                <a:latin typeface="Courier"/>
              </a:rPr>
              <a:t>values =</a:t>
            </a:r>
            <a:r>
              <a:rPr/>
              <a:t> is missing an entry for one of them? Try removing the </a:t>
            </a:r>
            <a:r>
              <a:rPr>
                <a:latin typeface="Courier"/>
              </a:rPr>
              <a:t>s = "#d95f0e"</a:t>
            </a:r>
            <a:r>
              <a:rPr/>
              <a:t> entry and see what R does.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________________________________________________________________________________
________________________________________________________________________________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equivalent, on a boxplot: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when do you reach for </a:t>
            </a:r>
            <a:r>
              <a:rPr>
                <a:latin typeface="Courier"/>
              </a:rPr>
              <a:t>scale_color_manual()</a:t>
            </a:r>
            <a:r>
              <a:rPr/>
              <a:t> versus </a:t>
            </a:r>
            <a:r>
              <a:rPr>
                <a:latin typeface="Courier"/>
              </a:rPr>
              <a:t>scale_fill_manual()</a:t>
            </a:r>
            <a:r>
              <a:rPr/>
              <a:t>?</a:t>
            </a:r>
            <a:br/>
            <a:br/>
            <a:br/>
            <a:r>
              <a:rPr>
                <a:latin typeface="Courier"/>
              </a:rPr>
              <a:t>________________________________________________________________________________________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Write real titles, axis labels, and legend titles with </a:t>
            </a:r>
            <a:r>
              <a:rPr>
                <a:latin typeface="Courier"/>
              </a:rPr>
              <a:t>labs()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Build a histogram and a density curve, and pick a sensible </a:t>
            </a:r>
            <a:r>
              <a:rPr>
                <a:latin typeface="Courier"/>
              </a:rPr>
              <a:t>binwidth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/>
              <a:t>☐ </a:t>
            </a:r>
            <a:r>
              <a:rPr i="1"/>
              <a:t>(Advanced)</a:t>
            </a:r>
            <a:r>
              <a:rPr/>
              <a:t> Set exact colors and legend labels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_________________________________________________________________________________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Graphing Effectively</dc:title>
  <dc:creator>Bill Perry</dc:creator>
  <cp:keywords/>
  <dc:description>Hands-on worksheet: boxplots with raw points, writing axis labels with labs(), mapping color by group, histograms and density curves, mean ± SE plots, faceting, themes, custom colors with scale_color_manual(), and ggsave().</dc:description>
  <dcterms:created xsi:type="dcterms:W3CDTF">2026-08-28T18:17:47Z</dcterms:created>
  <dcterms:modified xsi:type="dcterms:W3CDTF">2026-08-28T18:17:47Z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