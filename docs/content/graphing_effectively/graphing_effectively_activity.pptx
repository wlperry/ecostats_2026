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group comparisons, and saving a publication-ready figure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4: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Boxplot, from scratch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the plot above, what does the line in the middle of each box represent? What do the box edges represent?</a:t>
            </a:r>
          </a:p>
          <a:p>
            <a:pPr lvl="0" indent="0">
              <a:buNone/>
            </a:pPr>
            <a:r>
              <a:rPr>
                <a:latin typeface="Courier"/>
              </a:rPr>
              <a:t>Middle line: ________________________
Box edges:   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Add the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pine_box_plot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</a:t>
            </a:r>
            <a:r>
              <a:rPr>
                <a:latin typeface="Courier"/>
              </a:rPr>
              <a:t>width = 0.15</a:t>
            </a:r>
            <a:r>
              <a:rPr/>
              <a:t> to </a:t>
            </a:r>
            <a:r>
              <a:rPr>
                <a:latin typeface="Courier"/>
              </a:rPr>
              <a:t>width = 0.4</a:t>
            </a:r>
            <a:r>
              <a:rPr/>
              <a:t> and rerun. What happens to the points? Which version do you prefer, and why?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Which is better and why: 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 underneath your jittered points.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Map a third variable with color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What’s the difference between writing </a:t>
            </a:r>
            <a:r>
              <a:rPr>
                <a:latin typeface="Courier"/>
              </a:rPr>
              <a:t>color = group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versus writing </a:t>
            </a:r>
            <a:r>
              <a:rPr>
                <a:latin typeface="Courier"/>
              </a:rPr>
              <a:t>color = "steelblue"</a:t>
            </a:r>
            <a:r>
              <a:rPr/>
              <a:t> outside </a:t>
            </a:r>
            <a:r>
              <a:rPr>
                <a:latin typeface="Courier"/>
              </a:rPr>
              <a:t>aes()</a:t>
            </a:r>
            <a:r>
              <a:rPr/>
              <a:t>? Try both and describe what changes.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Mean ± SE, plotted directly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two </a:t>
            </a:r>
            <a:r>
              <a:rPr>
                <a:latin typeface="Courier"/>
              </a:rPr>
              <a:t>stat_summary()</a:t>
            </a:r>
            <a:r>
              <a:rPr/>
              <a:t> calls compute the mean point and the SE error bars? Copy them below and label which is which.</a:t>
            </a:r>
          </a:p>
          <a:p>
            <a:pPr lvl="0" indent="0">
              <a:buNone/>
            </a:pPr>
            <a:r>
              <a:rPr>
                <a:latin typeface="Courier"/>
              </a:rPr>
              <a:t>Mean point:   ________________________
SE bars:      ________________________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Facet by field 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pine_box_plot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four panels, does every field team show the same lee-vs-windward pattern, or does one team look different?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Pick a theme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— try each one: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theme do you like best for this kind of biological comparison? Why?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Save your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"figures/pine_needle_facet_boxplot.png"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pine_facet_plot,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figures/</a:t>
            </a:r>
            <a:r>
              <a:rPr/>
              <a:t> folder — the PNG should be there.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are the four arguments (besides the filename and </a:t>
            </a:r>
            <a:r>
              <a:rPr>
                <a:latin typeface="Courier"/>
              </a:rPr>
              <a:t>plot =</a:t>
            </a:r>
            <a:r>
              <a:rPr/>
              <a:t>) you should always set explicitly in </a:t>
            </a:r>
            <a:r>
              <a:rPr>
                <a:latin typeface="Courier"/>
              </a:rPr>
              <a:t>ggsave()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Build a boxplot with raw points overlaid</a:t>
            </a:r>
          </a:p>
          <a:p>
            <a:pPr lvl="0"/>
            <a:r>
              <a:rPr/>
              <a:t>☐ Map a third variable using </a:t>
            </a:r>
            <a:r>
              <a:rPr>
                <a:latin typeface="Courier"/>
              </a:rPr>
              <a:t>color =</a:t>
            </a:r>
            <a:r>
              <a:rPr/>
              <a:t> or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☐ Plot mean ± SE directly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  <a:r>
              <a:rPr/>
              <a:t> to compare every group at once</a:t>
            </a:r>
          </a:p>
          <a:p>
            <a:pPr lvl="0"/>
            <a:r>
              <a:rPr/>
              <a:t>☐ Compare at least two </a:t>
            </a:r>
            <a:r>
              <a:rPr>
                <a:latin typeface="Courier"/>
              </a:rPr>
              <a:t>ggplot</a:t>
            </a:r>
            <a:r>
              <a:rPr/>
              <a:t> themes</a:t>
            </a:r>
          </a:p>
          <a:p>
            <a:pPr lvl="0"/>
            <a:r>
              <a:rPr/>
              <a:t>☐ Save a figure at an explicit width, height, units, and dpi with </a:t>
            </a:r>
            <a:r>
              <a:rPr>
                <a:latin typeface="Courier"/>
              </a:rPr>
              <a:t>ggsave()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04_graphing_effectively.R</a:t>
            </a:r>
            <a:r>
              <a:rPr sz="2000"/>
              <a:t>) and the saved figure in </a:t>
            </a:r>
            <a:r>
              <a:rPr sz="2000">
                <a:latin typeface="Courier"/>
              </a:rPr>
              <a:t>figures/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Graphing Effectively</dc:title>
  <dc:creator>Bill Perry</dc:creator>
  <cp:keywords/>
  <dc:description>Hands-on worksheet: boxplots with raw points, mapping color by group, mean ± SE plots, faceting, themes, and ggsave().</dc:description>
  <dcterms:created xsi:type="dcterms:W3CDTF">2026-08-19T20:16:53Z</dcterms:created>
  <dcterms:modified xsi:type="dcterms:W3CDTF">2026-08-19T20:16:53Z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Boxplots, group comparisons, and saving a publication-ready figure</vt:lpwstr>
  </property>
  <property fmtid="{D5CDD505-2E9C-101B-9397-08002B2CF9AE}" pid="15" name="toc-title">
    <vt:lpwstr>Table of contents</vt:lpwstr>
  </property>
  <property fmtid="{D5CDD505-2E9C-101B-9397-08002B2CF9AE}" pid="16" name="week">
    <vt:lpwstr>2</vt:lpwstr>
  </property>
</Properties>
</file>