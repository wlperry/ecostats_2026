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Activity: Graphing Effectively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Boxplots, group comparisons, and saving a publication-ready figure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Worksheet: Graphing Effectively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 indent="0" marL="1270000">
              <a:buNone/>
            </a:pPr>
            <a:r>
              <a:rPr sz="2000"/>
              <a:t>Work through each part in order, at your own pace. Type every line of code yourself into a </a:t>
            </a:r>
            <a:r>
              <a:rPr sz="2000" b="1"/>
              <a:t>plain R script</a:t>
            </a:r>
            <a:r>
              <a:rPr sz="2000"/>
              <a:t> — do not copy-paste. Blocks marked </a:t>
            </a:r>
            <a:r>
              <a:rPr sz="2000" b="1"/>
              <a:t>▶ Run this</a:t>
            </a:r>
            <a:r>
              <a:rPr sz="2000"/>
              <a:t> are code you should type and execute. Blocks marked </a:t>
            </a:r>
            <a:r>
              <a:rPr sz="2000" b="1"/>
              <a:t>✏️ Your turn</a:t>
            </a:r>
            <a:r>
              <a:rPr sz="2000"/>
              <a:t> ask you to write, modify, or answer something. Boxes marked </a:t>
            </a:r>
            <a:r>
              <a:rPr sz="2000" b="1"/>
              <a:t>🚀 If you finish early</a:t>
            </a:r>
            <a:r>
              <a:rPr sz="2000"/>
              <a:t> are optional bonus material.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Load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 in your Script: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Boxplot, from scratch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pine_box_plot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n_s,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n_s))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by 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pine_box_plot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In the plot above, what does the line in the middle of each box represent? What do the box edges represent?</a:t>
            </a:r>
          </a:p>
          <a:p>
            <a:pPr lvl="0" indent="0">
              <a:buNone/>
            </a:pPr>
            <a:r>
              <a:rPr>
                <a:latin typeface="Courier"/>
              </a:rPr>
              <a:t>
Middle line: ________________________
Box edges:   ________________________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Add the raw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pine_jitter_plot &lt;- pine_box_plot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pine_jitter_plot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Change </a:t>
            </a:r>
            <a:r>
              <a:rPr>
                <a:latin typeface="Courier"/>
              </a:rPr>
              <a:t>width = 0.15</a:t>
            </a:r>
            <a:r>
              <a:rPr/>
              <a:t> to </a:t>
            </a:r>
            <a:r>
              <a:rPr>
                <a:latin typeface="Courier"/>
              </a:rPr>
              <a:t>width = 0.4</a:t>
            </a:r>
            <a:r>
              <a:rPr/>
              <a:t> and rerun. What happens to the points? Which version do you prefer, and why?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  <a:br/>
            <a:br/>
            <a:br/>
          </a:p>
          <a:p>
            <a:pPr lvl="0" indent="0">
              <a:buNone/>
            </a:pPr>
            <a:r>
              <a:rPr>
                <a:latin typeface="Courier"/>
              </a:rPr>
              <a:t>
Which is better and why: __________________________________________________________________
___________________________________________________________________________________________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Try </a:t>
            </a:r>
            <a:r>
              <a:rPr sz="2000">
                <a:latin typeface="Courier"/>
              </a:rPr>
              <a:t>geom_violin()</a:t>
            </a:r>
            <a:r>
              <a:rPr sz="2000"/>
              <a:t> instead of </a:t>
            </a:r>
            <a:r>
              <a:rPr sz="2000">
                <a:latin typeface="Courier"/>
              </a:rPr>
              <a:t>geom_boxplot()</a:t>
            </a:r>
            <a:r>
              <a:rPr sz="2000"/>
              <a:t> underneath your jittered points.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3b · Axis labels and titles with </a:t>
            </a:r>
            <a:r>
              <a:rPr>
                <a:latin typeface="Courier"/>
              </a:rPr>
              <a:t>labs()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pine_labeled_plot &lt;- pine_box_plot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by 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"Four field teams, four trees"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 (shady = n, sunny = s)"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caption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"Data: pine_needles.csv"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pine_labeled_plot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Change the </a:t>
            </a:r>
            <a:r>
              <a:rPr>
                <a:latin typeface="Courier"/>
              </a:rPr>
              <a:t>title</a:t>
            </a:r>
            <a:r>
              <a:rPr/>
              <a:t>, </a:t>
            </a:r>
            <a:r>
              <a:rPr>
                <a:latin typeface="Courier"/>
              </a:rPr>
              <a:t>x</a:t>
            </a:r>
            <a:r>
              <a:rPr/>
              <a:t>, and </a:t>
            </a:r>
            <a:r>
              <a:rPr>
                <a:latin typeface="Courier"/>
              </a:rPr>
              <a:t>y</a:t>
            </a:r>
            <a:r>
              <a:rPr/>
              <a:t> text to your own wording. Re-run and confirm the plot updates.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  <a:br/>
            <a:br/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</a:t>
            </a:r>
            <a:r>
              <a:rPr>
                <a:latin typeface="Courier"/>
              </a:rPr>
              <a:t>pine_box_plot</a:t>
            </a:r>
            <a:r>
              <a:rPr/>
              <a:t> maps </a:t>
            </a:r>
            <a:r>
              <a:rPr>
                <a:latin typeface="Courier"/>
              </a:rPr>
              <a:t>fill = n_s</a:t>
            </a:r>
            <a:r>
              <a:rPr/>
              <a:t>. What happens if you write </a:t>
            </a:r>
            <a:r>
              <a:rPr>
                <a:latin typeface="Courier"/>
              </a:rPr>
              <a:t>labs(color = "Side")</a:t>
            </a:r>
            <a:r>
              <a:rPr/>
              <a:t> instead of </a:t>
            </a:r>
            <a:r>
              <a:rPr>
                <a:latin typeface="Courier"/>
              </a:rPr>
              <a:t>labs(fill = "Side")</a:t>
            </a:r>
            <a:r>
              <a:rPr/>
              <a:t>? Try it and explain why.</a:t>
            </a:r>
          </a:p>
          <a:p>
            <a:pPr lvl="0" indent="0">
              <a:buNone/>
            </a:pPr>
            <a:r>
              <a:rPr>
                <a:latin typeface="Courier"/>
              </a:rPr>
              <a:t>
_____________________________________________________________________________________
_____________________________________________________________________________________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Map a third variable with color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pine_team_plot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n_s,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group))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"Field team"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pine_team_plot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What’s the difference between writing </a:t>
            </a:r>
            <a:r>
              <a:rPr>
                <a:latin typeface="Courier"/>
              </a:rPr>
              <a:t>color = group</a:t>
            </a:r>
            <a:r>
              <a:rPr/>
              <a:t> inside </a:t>
            </a:r>
            <a:r>
              <a:rPr>
                <a:latin typeface="Courier"/>
              </a:rPr>
              <a:t>aes()</a:t>
            </a:r>
            <a:r>
              <a:rPr/>
              <a:t> versus writing </a:t>
            </a:r>
            <a:r>
              <a:rPr>
                <a:latin typeface="Courier"/>
              </a:rPr>
              <a:t>color = "darkblue"</a:t>
            </a:r>
            <a:r>
              <a:rPr/>
              <a:t> outside </a:t>
            </a:r>
            <a:r>
              <a:rPr>
                <a:latin typeface="Courier"/>
              </a:rPr>
              <a:t>aes()</a:t>
            </a:r>
            <a:r>
              <a:rPr/>
              <a:t>? Try both and describe what changes.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  <a:br/>
            <a:br/>
            <a:br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4b · Histograms and density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"darkblue"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"Distribution of Needle Length"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Try </a:t>
            </a:r>
            <a:r>
              <a:rPr>
                <a:latin typeface="Courier"/>
              </a:rPr>
              <a:t>binwidth = 0.5</a:t>
            </a:r>
            <a:r>
              <a:rPr/>
              <a:t> and </a:t>
            </a:r>
            <a:r>
              <a:rPr>
                <a:latin typeface="Courier"/>
              </a:rPr>
              <a:t>binwidth = 5</a:t>
            </a:r>
            <a:r>
              <a:rPr/>
              <a:t>. Which value tells the real story about this data, and which one hides or exaggerates it?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  <a:br/>
            <a:br/>
            <a:br/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n_s))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geom_density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"Density"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Do the shady and sunny density curves look like they overlap a lot, or are they clearly separated?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Build a faceted histogram — </a:t>
            </a:r>
            <a:r>
              <a:rPr sz="2000">
                <a:latin typeface="Courier"/>
              </a:rPr>
              <a:t>geom_histogram()</a:t>
            </a:r>
            <a:r>
              <a:rPr sz="2000"/>
              <a:t> + </a:t>
            </a:r>
            <a:r>
              <a:rPr sz="2000">
                <a:latin typeface="Courier"/>
              </a:rPr>
              <a:t>facet_wrap(~n_s, ncol = 1)</a:t>
            </a:r>
            <a:r>
              <a:rPr sz="2000"/>
              <a:t> — and compare it to the overlaid density plot above. Which is easier to read?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Mean ± SE, plotted directly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pine_mean_se_plot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n_s,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n_s))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pine_mean_se_plot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Which two </a:t>
            </a:r>
            <a:r>
              <a:rPr>
                <a:latin typeface="Courier"/>
              </a:rPr>
              <a:t>stat_summary()</a:t>
            </a:r>
            <a:r>
              <a:rPr/>
              <a:t> calls compute the mean point and the SE error bars? Copy them below and label which is which.</a:t>
            </a:r>
          </a:p>
          <a:p>
            <a:pPr lvl="0" indent="0">
              <a:buNone/>
            </a:pPr>
            <a:r>
              <a:rPr>
                <a:latin typeface="Courier"/>
              </a:rPr>
              <a:t>
Mean point:   ________________________
SE bars:      ________________________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Facet by field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pine_facet_plot &lt;- pine_box_plot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group)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pine_facet_plot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Looking at the four panels, does every field team show the same shady-vs-sunny pattern, or does one team look different?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________________________________________________________________________________________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 · Pick a theme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 — try each one: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pine_jitter_plot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pine_jitter_plot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theme_classic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pine_jitter_plot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Which theme do you like best for this kind of biological comparison? Why?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______________________________________________________________________________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8 · Save your figure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"figures/pine_needle_facet_boxplot.png"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plot   =</a:t>
            </a:r>
            <a:r>
              <a:rPr>
                <a:solidFill>
                  <a:srgbClr val="003B4F"/>
                </a:solidFill>
                <a:latin typeface="Courier"/>
              </a:rPr>
              <a:t> pine_facet_plot,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width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units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dpi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Check your </a:t>
            </a:r>
            <a:r>
              <a:rPr>
                <a:latin typeface="Courier"/>
              </a:rPr>
              <a:t>figures/</a:t>
            </a:r>
            <a:r>
              <a:rPr/>
              <a:t> folder — the PNG should be there.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are the four arguments (besides the filename and </a:t>
            </a:r>
            <a:r>
              <a:rPr>
                <a:latin typeface="Courier"/>
              </a:rPr>
              <a:t>plot =</a:t>
            </a:r>
            <a:r>
              <a:rPr/>
              <a:t>) you should always set explicitly in </a:t>
            </a:r>
            <a:r>
              <a:rPr>
                <a:latin typeface="Courier"/>
              </a:rPr>
              <a:t>ggsave()</a:t>
            </a:r>
            <a:r>
              <a:rPr/>
              <a:t>?</a:t>
            </a:r>
            <a:br/>
            <a:br/>
            <a:r>
              <a:rPr>
                <a:latin typeface="Courier"/>
              </a:rPr>
              <a:t>_____________________________________________________________________________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8b · Advanced / extra work — </a:t>
            </a:r>
            <a:r>
              <a:rPr>
                <a:latin typeface="Courier"/>
              </a:rPr>
              <a:t>scale_color_manual()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This part is optional bonus material.</a:t>
            </a:r>
            <a:r>
              <a:rPr sz="2000"/>
              <a:t> Everything through Part 8 covers the required skills for this module.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n_s,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n_s))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labels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 (sheltered)"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"#2c7fb8"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"#d95f0e"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Pick two different hex colors of your own choosing and substitute them into </a:t>
            </a:r>
            <a:r>
              <a:rPr>
                <a:latin typeface="Courier"/>
              </a:rPr>
              <a:t>values =</a:t>
            </a:r>
            <a:r>
              <a:rPr/>
              <a:t>. Re-run and confirm the legend and points update.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  <a:br/>
            <a:br/>
            <a:br/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</a:t>
            </a:r>
            <a:r>
              <a:rPr>
                <a:latin typeface="Courier"/>
              </a:rPr>
              <a:t>pine_df$n_s</a:t>
            </a:r>
            <a:r>
              <a:rPr/>
              <a:t> only has two levels (</a:t>
            </a:r>
            <a:r>
              <a:rPr>
                <a:latin typeface="Courier"/>
              </a:rPr>
              <a:t>n</a:t>
            </a:r>
            <a:r>
              <a:rPr/>
              <a:t>, </a:t>
            </a:r>
            <a:r>
              <a:rPr>
                <a:latin typeface="Courier"/>
              </a:rPr>
              <a:t>s</a:t>
            </a:r>
            <a:r>
              <a:rPr/>
              <a:t>). What do you think happens if </a:t>
            </a:r>
            <a:r>
              <a:rPr>
                <a:latin typeface="Courier"/>
              </a:rPr>
              <a:t>values =</a:t>
            </a:r>
            <a:r>
              <a:rPr/>
              <a:t> is missing an entry for one of them? Try removing the </a:t>
            </a:r>
            <a:r>
              <a:rPr>
                <a:latin typeface="Courier"/>
              </a:rPr>
              <a:t>s = "#d95f0e"</a:t>
            </a:r>
            <a:r>
              <a:rPr/>
              <a:t> entry and see what R does.</a:t>
            </a:r>
          </a:p>
          <a:p>
            <a:pPr lvl="0" indent="0">
              <a:buNone/>
            </a:pPr>
            <a:r>
              <a:rPr>
                <a:latin typeface="Courier"/>
              </a:rPr>
              <a:t>
________________________________________________________________________________
________________________________________________________________________________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the </a:t>
            </a:r>
            <a:r>
              <a:rPr>
                <a:latin typeface="Courier"/>
              </a:rPr>
              <a:t>fill</a:t>
            </a:r>
            <a:r>
              <a:rPr/>
              <a:t> equivalent, on a boxplot: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n_s,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n_s))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labels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 (sheltered)"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"#2c7fb8"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"#d95f0e"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In one sentence, when do you reach for </a:t>
            </a:r>
            <a:r>
              <a:rPr>
                <a:latin typeface="Courier"/>
              </a:rPr>
              <a:t>scale_color_manual()</a:t>
            </a:r>
            <a:r>
              <a:rPr/>
              <a:t> versus </a:t>
            </a:r>
            <a:r>
              <a:rPr>
                <a:latin typeface="Courier"/>
              </a:rPr>
              <a:t>scale_fill_manual()</a:t>
            </a:r>
            <a:r>
              <a:rPr/>
              <a:t>?</a:t>
            </a:r>
            <a:br/>
            <a:br/>
            <a:br/>
            <a:r>
              <a:rPr>
                <a:latin typeface="Courier"/>
              </a:rPr>
              <a:t>________________________________________________________________________________________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9 · Review and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this point you can:</a:t>
            </a:r>
          </a:p>
          <a:p>
            <a:pPr lvl="0"/>
            <a:r>
              <a:rPr/>
              <a:t>☐ Build a boxplot with raw points overlaid</a:t>
            </a:r>
          </a:p>
          <a:p>
            <a:pPr lvl="0"/>
            <a:r>
              <a:rPr/>
              <a:t>☐ Write real titles, axis labels, and legend titles with </a:t>
            </a:r>
            <a:r>
              <a:rPr>
                <a:latin typeface="Courier"/>
              </a:rPr>
              <a:t>labs()</a:t>
            </a:r>
          </a:p>
          <a:p>
            <a:pPr lvl="0"/>
            <a:r>
              <a:rPr/>
              <a:t>☐ Map a third variable using </a:t>
            </a:r>
            <a:r>
              <a:rPr>
                <a:latin typeface="Courier"/>
              </a:rPr>
              <a:t>color =</a:t>
            </a:r>
            <a:r>
              <a:rPr/>
              <a:t> or </a:t>
            </a:r>
            <a:r>
              <a:rPr>
                <a:latin typeface="Courier"/>
              </a:rPr>
              <a:t>fill =</a:t>
            </a:r>
            <a:r>
              <a:rPr/>
              <a:t> inside </a:t>
            </a:r>
            <a:r>
              <a:rPr>
                <a:latin typeface="Courier"/>
              </a:rPr>
              <a:t>aes()</a:t>
            </a:r>
          </a:p>
          <a:p>
            <a:pPr lvl="0"/>
            <a:r>
              <a:rPr/>
              <a:t>☐ Build a histogram and a density curve, and pick a sensible </a:t>
            </a:r>
            <a:r>
              <a:rPr>
                <a:latin typeface="Courier"/>
              </a:rPr>
              <a:t>binwidth</a:t>
            </a:r>
          </a:p>
          <a:p>
            <a:pPr lvl="0"/>
            <a:r>
              <a:rPr/>
              <a:t>☐ Plot mean ± SE directly with </a:t>
            </a:r>
            <a:r>
              <a:rPr>
                <a:latin typeface="Courier"/>
              </a:rPr>
              <a:t>stat_summary()</a:t>
            </a:r>
          </a:p>
          <a:p>
            <a:pPr lvl="0"/>
            <a:r>
              <a:rPr/>
              <a:t>☐ Facet a plot with </a:t>
            </a:r>
            <a:r>
              <a:rPr>
                <a:latin typeface="Courier"/>
              </a:rPr>
              <a:t>facet_wrap()</a:t>
            </a:r>
            <a:r>
              <a:rPr/>
              <a:t> to compare every group at once</a:t>
            </a:r>
          </a:p>
          <a:p>
            <a:pPr lvl="0"/>
            <a:r>
              <a:rPr/>
              <a:t>☐ Compare at least two </a:t>
            </a:r>
            <a:r>
              <a:rPr>
                <a:latin typeface="Courier"/>
              </a:rPr>
              <a:t>ggplot</a:t>
            </a:r>
            <a:r>
              <a:rPr/>
              <a:t> themes</a:t>
            </a:r>
          </a:p>
          <a:p>
            <a:pPr lvl="0"/>
            <a:r>
              <a:rPr/>
              <a:t>☐ Save a figure at an explicit width, height, units, and dpi with </a:t>
            </a:r>
            <a:r>
              <a:rPr>
                <a:latin typeface="Courier"/>
              </a:rPr>
              <a:t>ggsave()</a:t>
            </a:r>
          </a:p>
          <a:p>
            <a:pPr lvl="0"/>
            <a:r>
              <a:rPr/>
              <a:t>☐ </a:t>
            </a:r>
            <a:r>
              <a:rPr i="1"/>
              <a:t>(Advanced)</a:t>
            </a:r>
            <a:r>
              <a:rPr/>
              <a:t> Set exact colors and legend labels with </a:t>
            </a:r>
            <a:r>
              <a:rPr>
                <a:latin typeface="Courier"/>
              </a:rPr>
              <a:t>scale_color_manual()</a:t>
            </a:r>
            <a:r>
              <a:rPr/>
              <a:t> / </a:t>
            </a:r>
            <a:r>
              <a:rPr>
                <a:latin typeface="Courier"/>
              </a:rPr>
              <a:t>scale_fill_manual()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 — before you move on:</a:t>
            </a:r>
            <a:r>
              <a:rPr/>
              <a:t> Run your whole script top to bottom. Ran cleanly? </a:t>
            </a:r>
            <a:r>
              <a:rPr>
                <a:latin typeface="Courier"/>
              </a:rPr>
              <a:t>Y / N</a:t>
            </a:r>
            <a:r>
              <a:rPr/>
              <a:t> — if not, the error was: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_________________________________________________________________________________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📤 What to turn in before next class</a:t>
            </a:r>
          </a:p>
          <a:p>
            <a:pPr lvl="0" indent="0" marL="1270000">
              <a:buNone/>
            </a:pPr>
            <a:r>
              <a:rPr sz="2000"/>
              <a:t>Upload both of these to the course management system:</a:t>
            </a:r>
          </a:p>
          <a:p>
            <a:pPr lvl="0" indent="-342900" marL="342900">
              <a:buAutoNum type="arabicPeriod"/>
            </a:pPr>
            <a:r>
              <a:rPr sz="2000"/>
              <a:t>Your code — the </a:t>
            </a:r>
            <a:r>
              <a:rPr sz="2000">
                <a:latin typeface="Courier"/>
              </a:rPr>
              <a:t>scripts/</a:t>
            </a:r>
            <a:r>
              <a:rPr sz="2000"/>
              <a:t> folder (or just </a:t>
            </a:r>
            <a:r>
              <a:rPr sz="2000">
                <a:latin typeface="Courier"/>
              </a:rPr>
              <a:t>04_graphing_effectively.R</a:t>
            </a:r>
            <a:r>
              <a:rPr sz="2000"/>
              <a:t>) and the saved figure in </a:t>
            </a:r>
            <a:r>
              <a:rPr sz="2000">
                <a:latin typeface="Courier"/>
              </a:rPr>
              <a:t>figures/</a:t>
            </a:r>
          </a:p>
          <a:p>
            <a:pPr lvl="0" indent="-342900" marL="342900">
              <a:buAutoNum type="arabicPeriod"/>
            </a:pPr>
            <a:r>
              <a:rPr sz="2000"/>
              <a:t>This worksheet, with your written answers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code breaks — and it will, that is normal:</a:t>
            </a:r>
          </a:p>
          <a:p>
            <a:pPr lvl="0" indent="-342900" marL="342900">
              <a:buAutoNum type="arabicPeriod"/>
            </a:pPr>
            <a:r>
              <a:rPr b="1"/>
              <a:t>Read the error message out loud.</a:t>
            </a:r>
            <a:r>
              <a:rPr/>
              <a:t> R usually names the line and the problem.</a:t>
            </a:r>
          </a:p>
          <a:p>
            <a:pPr lvl="0" indent="-342900" marL="342900">
              <a:buAutoNum type="arabicPeriod"/>
            </a:pPr>
            <a:r>
              <a:rPr b="1"/>
              <a:t>Check the usual suspects:</a:t>
            </a:r>
            <a:r>
              <a:rPr/>
              <a:t> did you run </a:t>
            </a:r>
            <a:r>
              <a:rPr>
                <a:latin typeface="Courier"/>
              </a:rPr>
              <a:t>library(tidyverse)</a:t>
            </a:r>
            <a:r>
              <a:rPr/>
              <a:t>? Is </a:t>
            </a:r>
            <a:r>
              <a:rPr>
                <a:latin typeface="Courier"/>
              </a:rPr>
              <a:t>color</a:t>
            </a:r>
            <a:r>
              <a:rPr/>
              <a:t>/</a:t>
            </a:r>
            <a:r>
              <a:rPr>
                <a:latin typeface="Courier"/>
              </a:rPr>
              <a:t>fill</a:t>
            </a:r>
            <a:r>
              <a:rPr/>
              <a:t> inside </a:t>
            </a:r>
            <a:r>
              <a:rPr>
                <a:latin typeface="Courier"/>
              </a:rPr>
              <a:t>aes()</a:t>
            </a:r>
            <a:r>
              <a:rPr/>
              <a:t> when it should be?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?function_name</a:t>
            </a:r>
            <a:r>
              <a:rPr/>
              <a:t> opens the built-in help page.</a:t>
            </a:r>
          </a:p>
          <a:p>
            <a:pPr lvl="0" indent="-342900" marL="342900">
              <a:buAutoNum type="arabicPeriod"/>
            </a:pPr>
            <a:r>
              <a:rPr b="1"/>
              <a:t>Bring the exact error</a:t>
            </a:r>
            <a:r>
              <a:rPr/>
              <a:t> (copy-paste it) to class or office hours.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Every working scientist googles error messages daily. Getting stuck is not failing — it is the job.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Activity: Graphing Effectively</dc:title>
  <dc:creator>Bill Perry</dc:creator>
  <cp:keywords/>
  <dc:description>Hands-on worksheet: boxplots with raw points, writing axis labels with labs(), mapping color by group, histograms and density curves, mean ± SE plots, faceting, themes, custom colors with scale_color_manual(), and ggsave().</dc:description>
  <dcterms:created xsi:type="dcterms:W3CDTF">2026-08-26T17:12:31Z</dcterms:created>
  <dcterms:modified xsi:type="dcterms:W3CDTF">2026-08-26T17:12:31Z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4</vt:lpwstr>
  </property>
  <property fmtid="{D5CDD505-2E9C-101B-9397-08002B2CF9AE}" pid="13" name="resources">
    <vt:lpwstr/>
  </property>
  <property fmtid="{D5CDD505-2E9C-101B-9397-08002B2CF9AE}" pid="14" name="subtitle">
    <vt:lpwstr>Boxplots, group comparisons, and saving a publication-ready figure</vt:lpwstr>
  </property>
  <property fmtid="{D5CDD505-2E9C-101B-9397-08002B2CF9AE}" pid="15" name="toc-title">
    <vt:lpwstr>Table of contents</vt:lpwstr>
  </property>
  <property fmtid="{D5CDD505-2E9C-101B-9397-08002B2CF9AE}" pid="16" name="week">
    <vt:lpwstr>3</vt:lpwstr>
  </property>
</Properties>
</file>