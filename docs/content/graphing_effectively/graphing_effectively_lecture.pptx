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9" Type="http://schemas.openxmlformats.org/officeDocument/2006/relationships/viewProps" Target="viewProps.xml" /><Relationship Id="rId3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1" Type="http://schemas.openxmlformats.org/officeDocument/2006/relationships/tableStyles" Target="tableStyles.xml" /><Relationship Id="rId4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data/pine_data.csv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7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8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9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0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1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2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14.png" /><Relationship Id="rId2" Type="http://schemas.openxmlformats.org/officeDocument/2006/relationships/image" Target="../media/image13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5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6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Graphing Effectively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Boxplots, group comparisons, and saving a publication-ready figure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Last time you:</a:t>
            </a:r>
          </a:p>
          <a:p>
            <a:pPr lvl="0"/>
            <a:r>
              <a:rPr/>
              <a:t>Computed mean, median, SD, and SE — by hand and with </a:t>
            </a:r>
            <a:r>
              <a:rPr>
                <a:latin typeface="Courier"/>
              </a:rPr>
              <a:t>summarize()</a:t>
            </a:r>
          </a:p>
          <a:p>
            <a:pPr lvl="0"/>
            <a:r>
              <a:rPr/>
              <a:t>Fixed the </a:t>
            </a:r>
            <a:r>
              <a:rPr>
                <a:latin typeface="Courier"/>
              </a:rPr>
              <a:t>length()</a:t>
            </a:r>
            <a:r>
              <a:rPr/>
              <a:t> trap with </a:t>
            </a:r>
            <a:r>
              <a:rPr>
                <a:latin typeface="Courier"/>
              </a:rPr>
              <a:t>sum(!is.na())</a:t>
            </a:r>
          </a:p>
          <a:p>
            <a:pPr lvl="0"/>
            <a:r>
              <a:rPr/>
              <a:t>Got tidy per-group tables with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Describing Your Data</a:t>
            </a:r>
          </a:p>
          <a:p>
            <a:pPr lvl="0" indent="0" marL="1270000">
              <a:buNone/>
            </a:pPr>
            <a:r>
              <a:rPr sz="2000"/>
              <a:t>You now have real numbers describing shady vs. sunny needles. Today we make those numbers </a:t>
            </a:r>
            <a:r>
              <a:rPr sz="2000" b="1"/>
              <a:t>visible</a:t>
            </a:r>
            <a:r>
              <a:rPr sz="2000"/>
              <a:t> — and save the result properly.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Today’s roadmap</a:t>
            </a:r>
          </a:p>
          <a:p>
            <a:pPr lvl="0" indent="-342900" marL="342900">
              <a:buAutoNum type="arabicPeriod"/>
            </a:pPr>
            <a:r>
              <a:rPr sz="2000"/>
              <a:t>The </a:t>
            </a:r>
            <a:r>
              <a:rPr sz="2000">
                <a:latin typeface="Courier"/>
              </a:rPr>
              <a:t>ggplot</a:t>
            </a:r>
            <a:r>
              <a:rPr sz="2000"/>
              <a:t> grammar, recapped</a:t>
            </a:r>
          </a:p>
          <a:p>
            <a:pPr lvl="0" indent="-342900" marL="342900">
              <a:buAutoNum type="arabicPeriod"/>
            </a:pPr>
            <a:r>
              <a:rPr sz="2000"/>
              <a:t>Boxplots done right — with raw points</a:t>
            </a:r>
          </a:p>
          <a:p>
            <a:pPr lvl="0" indent="-342900" marL="342900">
              <a:buAutoNum type="arabicPeriod"/>
            </a:pPr>
            <a:r>
              <a:rPr sz="2000"/>
              <a:t>Axis labels and titles, done right</a:t>
            </a:r>
          </a:p>
          <a:p>
            <a:pPr lvl="0" indent="-342900" marL="342900">
              <a:buAutoNum type="arabicPeriod"/>
            </a:pPr>
            <a:r>
              <a:rPr sz="2000"/>
              <a:t>Mapping color by group</a:t>
            </a:r>
          </a:p>
          <a:p>
            <a:pPr lvl="0" indent="-342900" marL="342900">
              <a:buAutoNum type="arabicPeriod"/>
            </a:pPr>
            <a:r>
              <a:rPr sz="2000"/>
              <a:t>Histograms and density curves</a:t>
            </a:r>
          </a:p>
          <a:p>
            <a:pPr lvl="0" indent="-342900" marL="342900">
              <a:buAutoNum type="arabicPeriod"/>
            </a:pPr>
            <a:r>
              <a:rPr sz="2000"/>
              <a:t>Plotting mean ± SE directly</a:t>
            </a:r>
          </a:p>
          <a:p>
            <a:pPr lvl="0" indent="-342900" marL="342900">
              <a:buAutoNum type="arabicPeriod"/>
            </a:pPr>
            <a:r>
              <a:rPr sz="2000"/>
              <a:t>Faceting and a quick theme tour</a:t>
            </a:r>
          </a:p>
          <a:p>
            <a:pPr lvl="0" indent="-342900" marL="342900">
              <a:buAutoNum type="arabicPeriod"/>
            </a:pPr>
            <a:r>
              <a:rPr sz="2000"/>
              <a:t>Custom colors and legends with </a:t>
            </a:r>
            <a:r>
              <a:rPr sz="2000">
                <a:latin typeface="Courier"/>
              </a:rPr>
              <a:t>scale_color_manual()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ggsave()</a:t>
            </a:r>
            <a:r>
              <a:rPr sz="2000"/>
              <a:t>, for real this time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The </a:t>
            </a:r>
            <a:r>
              <a:rPr>
                <a:latin typeface="Courier"/>
              </a:rPr>
              <a:t>ggplot</a:t>
            </a:r>
            <a:r>
              <a:rPr/>
              <a:t> Grammar, Recapped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ggplot</a:t>
            </a:r>
            <a:r>
              <a:rPr/>
              <a:t> Grammar, Recapped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</a:t>
            </a:r>
            <a:r>
              <a:rPr>
                <a:latin typeface="Courier"/>
              </a:rPr>
              <a:t>ggplot</a:t>
            </a:r>
            <a:r>
              <a:rPr/>
              <a:t> is three pieces joined with </a:t>
            </a:r>
            <a:r>
              <a:rPr>
                <a:latin typeface="Courier"/>
              </a:rPr>
              <a:t>+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 b="1"/>
              <a:t>data</a:t>
            </a:r>
            <a:r>
              <a:rPr/>
              <a:t> — which data frame</a:t>
            </a:r>
          </a:p>
          <a:p>
            <a:pPr lvl="0" indent="-342900" marL="342900">
              <a:buAutoNum type="arabicPeriod"/>
            </a:pPr>
            <a:r>
              <a:rPr b="1"/>
              <a:t>aes()</a:t>
            </a:r>
            <a:r>
              <a:rPr/>
              <a:t> — which columns map to x, y, color, fill…</a:t>
            </a:r>
          </a:p>
          <a:p>
            <a:pPr lvl="0" indent="-342900" marL="342900">
              <a:buAutoNum type="arabicPeriod"/>
            </a:pPr>
            <a:r>
              <a:rPr b="1"/>
              <a:t>geom</a:t>
            </a:r>
            <a:r>
              <a:rPr/>
              <a:t> — how to draw it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"data/pine_data.csv"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📥 Download the data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Everything today is the </a:t>
            </a:r>
            <a:r>
              <a:rPr sz="2000" i="1"/>
              <a:t>same three pieces</a:t>
            </a:r>
            <a:r>
              <a:rPr sz="2000"/>
              <a:t> — we’re just adding more layers and more polish on top of them.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Recap from Getting Started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Boxplot Anatomy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Boxplot Anatomy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pine_box_plot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pine_box_plot</a:t>
            </a:r>
          </a:p>
        </p:txBody>
      </p:sp>
      <p:pic>
        <p:nvPicPr>
          <p:cNvPr descr="graphing_effectively_lecture_files/figure-pptx/graphing-effectively-0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Boxplot anatomy:</a:t>
            </a:r>
          </a:p>
          <a:p>
            <a:pPr lvl="0"/>
            <a:r>
              <a:rPr/>
              <a:t>Middle line = </a:t>
            </a:r>
            <a:r>
              <a:rPr b="1"/>
              <a:t>median</a:t>
            </a:r>
          </a:p>
          <a:p>
            <a:pPr lvl="0"/>
            <a:r>
              <a:rPr/>
              <a:t>Box edges = 25th and 75th percentile (</a:t>
            </a:r>
            <a:r>
              <a:rPr b="1"/>
              <a:t>IQR</a:t>
            </a:r>
            <a:r>
              <a:rPr/>
              <a:t>)</a:t>
            </a:r>
          </a:p>
          <a:p>
            <a:pPr lvl="0"/>
            <a:r>
              <a:rPr/>
              <a:t>Whiskers = 1.5 × IQR</a:t>
            </a:r>
          </a:p>
          <a:p>
            <a:pPr lvl="0"/>
            <a:r>
              <a:rPr/>
              <a:t>Dots beyond whiskers = </a:t>
            </a:r>
            <a:r>
              <a:rPr b="1"/>
              <a:t>outliers</a:t>
            </a:r>
          </a:p>
          <a:p>
            <a:pPr lvl="0" indent="0" marL="0">
              <a:buNone/>
            </a:pPr>
            <a:r>
              <a:rPr/>
              <a:t>📖 R4DS §9 — Layers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Boxplot + Raw Points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With only 8 needles per side per tree, does a boxplot alone show you everything? What might it hide?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pine_jitter_plot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pine_jitter_plot</a:t>
            </a:r>
          </a:p>
        </p:txBody>
      </p:sp>
      <p:pic>
        <p:nvPicPr>
          <p:cNvPr descr="graphing_effectively_lecture_files/figure-pptx/graphing-effectively-0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position_jitter(width = 0.15)</a:t>
            </a:r>
            <a:r>
              <a:rPr/>
              <a:t> spreads points sideways so they don’t overlap</a:t>
            </a:r>
          </a:p>
          <a:p>
            <a:pPr lvl="0"/>
            <a:r>
              <a:rPr>
                <a:latin typeface="Courier"/>
              </a:rPr>
              <a:t>alpha = 0.6</a:t>
            </a:r>
            <a:r>
              <a:rPr/>
              <a:t> — semi-transparent, so overlapping points are still visible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Always show the raw points alongside a boxplot when </a:t>
            </a:r>
            <a:r>
              <a:rPr sz="2000" i="1"/>
              <a:t>n</a:t>
            </a:r>
            <a:r>
              <a:rPr sz="2000"/>
              <a:t> is small — every point matters, and a box alone can hide a bimodal or lopsided pattern.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2b · Axis Labels and Titles, Done Right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Before </a:t>
            </a:r>
            <a:r>
              <a:rPr>
                <a:latin typeface="Courier"/>
              </a:rPr>
              <a:t>labs()</a:t>
            </a:r>
            <a:r>
              <a:rPr/>
              <a:t> — Never Ship This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The x-axis reads </a:t>
            </a:r>
            <a:r>
              <a:rPr sz="2000">
                <a:latin typeface="Courier"/>
              </a:rPr>
              <a:t>side</a:t>
            </a:r>
            <a:r>
              <a:rPr sz="2000"/>
              <a:t> and the y-axis reads </a:t>
            </a:r>
            <a:r>
              <a:rPr sz="2000">
                <a:latin typeface="Courier"/>
              </a:rPr>
              <a:t>needle_length_mm</a:t>
            </a:r>
            <a:r>
              <a:rPr sz="2000"/>
              <a:t> — the literal </a:t>
            </a:r>
            <a:r>
              <a:rPr sz="2000" b="1"/>
              <a:t>column names</a:t>
            </a:r>
            <a:r>
              <a:rPr sz="2000"/>
              <a:t>, not something a reader outside your lab would understand.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A plot with default column-name axes is a plot that only makes sense to </a:t>
            </a:r>
            <a:r>
              <a:rPr sz="2000" i="1"/>
              <a:t>you</a:t>
            </a:r>
            <a:r>
              <a:rPr sz="2000"/>
              <a:t>, today. Six months from now, even you may not remember what </a:t>
            </a:r>
            <a:r>
              <a:rPr sz="2000">
                <a:latin typeface="Courier"/>
              </a:rPr>
              <a:t>side</a:t>
            </a:r>
            <a:r>
              <a:rPr sz="2000"/>
              <a:t> meant.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labs()</a:t>
            </a:r>
            <a:r>
              <a:rPr/>
              <a:t> — Every Piece of Text on the Plot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"Four field teams, four trees"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caption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"Data: pine_data.csv"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One function, five jobs: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Argument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Controls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title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main title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subtitle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smaller text under the title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x</a:t>
                      </a:r>
                      <a:r>
                        <a:rPr/>
                        <a:t> / </a:t>
                      </a:r>
                      <a:r>
                        <a:rPr>
                          <a:latin typeface="Courier"/>
                        </a:rPr>
                        <a:t>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axis labels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caption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small text, bottom-right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color</a:t>
                      </a:r>
                      <a:r>
                        <a:rPr/>
                        <a:t>/</a:t>
                      </a:r>
                      <a:r>
                        <a:rPr>
                          <a:latin typeface="Courier"/>
                        </a:rPr>
                        <a:t>fill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legend title</a:t>
                      </a:r>
                      <a:r>
                        <a:rPr/>
                        <a:t> for that aesthetic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labs()</a:t>
            </a:r>
            <a:r>
              <a:rPr sz="2000"/>
              <a:t> never touches the data or the statistics — only what a reader sees written on the plot. Change it freely.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labs()</a:t>
            </a:r>
            <a:r>
              <a:rPr/>
              <a:t> — the Legend Title Trap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Whichever aesthetic name you mapped, use that same name in labs()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team))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"Field team"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# matches aes(color = team)</a:t>
            </a:r>
          </a:p>
        </p:txBody>
      </p:sp>
      <p:pic>
        <p:nvPicPr>
          <p:cNvPr descr="graphing_effectively_lecture_files/figure-pptx/graphing-effectively-0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The legend title comes from whatever you write for </a:t>
            </a:r>
            <a:r>
              <a:rPr sz="2000" b="1"/>
              <a:t>the aesthetic you mapped</a:t>
            </a:r>
            <a:r>
              <a:rPr sz="2000"/>
              <a:t> — </a:t>
            </a:r>
            <a:r>
              <a:rPr sz="2000">
                <a:latin typeface="Courier"/>
              </a:rPr>
              <a:t>color = "Field team"</a:t>
            </a:r>
            <a:r>
              <a:rPr sz="2000"/>
              <a:t> in </a:t>
            </a:r>
            <a:r>
              <a:rPr sz="2000">
                <a:latin typeface="Courier"/>
              </a:rPr>
              <a:t>labs()</a:t>
            </a:r>
            <a:r>
              <a:rPr sz="2000"/>
              <a:t> relabels a </a:t>
            </a:r>
            <a:r>
              <a:rPr sz="2000">
                <a:latin typeface="Courier"/>
              </a:rPr>
              <a:t>color =</a:t>
            </a:r>
            <a:r>
              <a:rPr sz="2000"/>
              <a:t> mapping. Write </a:t>
            </a:r>
            <a:r>
              <a:rPr sz="2000">
                <a:latin typeface="Courier"/>
              </a:rPr>
              <a:t>fill = "..."</a:t>
            </a:r>
            <a:r>
              <a:rPr sz="2000"/>
              <a:t> instead and it does nothing, because this plot never mapped </a:t>
            </a:r>
            <a:r>
              <a:rPr sz="2000">
                <a:latin typeface="Courier"/>
              </a:rPr>
              <a:t>fill</a:t>
            </a:r>
            <a:r>
              <a:rPr sz="2000"/>
              <a:t>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Mapping Color by Group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Mapping Color by Group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pine_team_plot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team))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Side, Colored by Team"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"Field team"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pine_team_plot</a:t>
            </a:r>
          </a:p>
        </p:txBody>
      </p:sp>
      <p:pic>
        <p:nvPicPr>
          <p:cNvPr descr="graphing_effectively_lecture_files/figure-pptx/graphing-effectively-0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color = team</a:t>
            </a:r>
            <a:r>
              <a:rPr/>
              <a:t> maps a </a:t>
            </a:r>
            <a:r>
              <a:rPr b="1"/>
              <a:t>third variable</a:t>
            </a:r>
            <a:r>
              <a:rPr/>
              <a:t> onto the plot — no new geom needed</a:t>
            </a:r>
          </a:p>
          <a:p>
            <a:pPr lvl="0"/>
            <a:r>
              <a:rPr>
                <a:latin typeface="Courier"/>
              </a:rPr>
              <a:t>ggplot</a:t>
            </a:r>
            <a:r>
              <a:rPr/>
              <a:t> auto-builds the legend and picks colors for you</a:t>
            </a:r>
          </a:p>
          <a:p>
            <a:pPr lvl="0"/>
            <a:r>
              <a:rPr/>
              <a:t>Mapping inside </a:t>
            </a:r>
            <a:r>
              <a:rPr>
                <a:latin typeface="Courier"/>
              </a:rPr>
              <a:t>aes()</a:t>
            </a:r>
            <a:r>
              <a:rPr/>
              <a:t> always means “vary this by data” — not “make everything this color”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color = "darkblue"</a:t>
            </a:r>
            <a:r>
              <a:rPr sz="2000"/>
              <a:t> </a:t>
            </a:r>
            <a:r>
              <a:rPr sz="2000" b="1"/>
              <a:t>outside</a:t>
            </a:r>
            <a:r>
              <a:rPr sz="2000"/>
              <a:t> </a:t>
            </a:r>
            <a:r>
              <a:rPr sz="2000">
                <a:latin typeface="Courier"/>
              </a:rPr>
              <a:t>aes()</a:t>
            </a:r>
            <a:r>
              <a:rPr sz="2000"/>
              <a:t> sets one fixed color. </a:t>
            </a:r>
            <a:r>
              <a:rPr sz="2000">
                <a:latin typeface="Courier"/>
              </a:rPr>
              <a:t>color = team</a:t>
            </a:r>
            <a:r>
              <a:rPr sz="2000"/>
              <a:t> </a:t>
            </a:r>
            <a:r>
              <a:rPr sz="2000" b="1"/>
              <a:t>inside</a:t>
            </a:r>
            <a:r>
              <a:rPr sz="2000"/>
              <a:t> </a:t>
            </a:r>
            <a:r>
              <a:rPr sz="2000">
                <a:latin typeface="Courier"/>
              </a:rPr>
              <a:t>aes()</a:t>
            </a:r>
            <a:r>
              <a:rPr sz="2000"/>
              <a:t> maps colors to a variable. Mixing these up is one of the most common </a:t>
            </a:r>
            <a:r>
              <a:rPr sz="2000">
                <a:latin typeface="Courier"/>
              </a:rPr>
              <a:t>ggplot</a:t>
            </a:r>
            <a:r>
              <a:rPr sz="2000"/>
              <a:t> mistakes.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3b · Histograms and Density — Seeing the Whole Distribution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Histograms — the Shape Behind the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In Describing Your Data we found the overall </a:t>
            </a:r>
            <a:r>
              <a:rPr sz="2000">
                <a:latin typeface="Courier"/>
              </a:rPr>
              <a:t>mean(needle_length_mm)</a:t>
            </a:r>
            <a:r>
              <a:rPr sz="2000"/>
              <a:t> ≈ 14.67 and the median ≈ 14.55 — nearly identical. What shape do you expect the full distribution to have — symmetric, or skewed?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needle_length_mm))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"Distribution of Needle Length"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0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binwidth</a:t>
            </a:r>
            <a:r>
              <a:rPr/>
              <a:t> sets the width of each bar in </a:t>
            </a:r>
            <a:r>
              <a:rPr b="1"/>
              <a:t>data units</a:t>
            </a:r>
            <a:r>
              <a:rPr/>
              <a:t> (here, 2mm)</a:t>
            </a:r>
          </a:p>
          <a:p>
            <a:pPr lvl="0"/>
            <a:r>
              <a:rPr/>
              <a:t>Too wide hides structure; too narrow shows noise — try a few values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Change </a:t>
            </a:r>
            <a:r>
              <a:rPr sz="2000">
                <a:latin typeface="Courier"/>
              </a:rPr>
              <a:t>binwidth = 2</a:t>
            </a:r>
            <a:r>
              <a:rPr sz="2000"/>
              <a:t> to </a:t>
            </a:r>
            <a:r>
              <a:rPr sz="2000">
                <a:latin typeface="Courier"/>
              </a:rPr>
              <a:t>binwidth = 0.5</a:t>
            </a:r>
            <a:r>
              <a:rPr sz="2000"/>
              <a:t> and to </a:t>
            </a:r>
            <a:r>
              <a:rPr sz="2000">
                <a:latin typeface="Courier"/>
              </a:rPr>
              <a:t>binwidth = 5</a:t>
            </a:r>
            <a:r>
              <a:rPr sz="2000"/>
              <a:t>. Which tells the real story?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Histograms by Group — </a:t>
            </a:r>
            <a:r>
              <a:rPr>
                <a:latin typeface="Courier"/>
              </a:rPr>
              <a:t>fill</a:t>
            </a:r>
            <a:r>
              <a:rPr/>
              <a:t> and </a:t>
            </a:r>
            <a:r>
              <a:rPr>
                <a:latin typeface="Courier"/>
              </a:rPr>
              <a:t>facet_wrap()</a:t>
            </a:r>
            <a:r>
              <a:rPr/>
              <a:t> Together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side, </a:t>
            </a:r>
            <a:r>
              <a:rPr>
                <a:solidFill>
                  <a:srgbClr val="657422"/>
                </a:solidFill>
                <a:latin typeface="Courier"/>
              </a:rPr>
              <a:t>ncol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Overlapping histograms on one panel are hard to read. Faceting stacks them into separate panels sharing an x-axis — same comparison, much clearer.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Density Curves — a Smoothed Alternative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geom_density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Density by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"Density"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Histogram vs. density</a:t>
            </a:r>
          </a:p>
          <a:p>
            <a:pPr lvl="0" indent="0" marL="1270000">
              <a:buNone/>
            </a:pPr>
            <a:r>
              <a:rPr sz="2000"/>
              <a:t>A density curve is a smoothed histogram, rescaled so the area under each curve sums to 1. It overlays cleanly for group comparisons — no faceting required, at the cost of hiding the raw bin counts.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Mean ± SE — Plotted Directly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Mean ± SE — Plotted Directly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pine_mean_se_plot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± SE Needle Length by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pine_mean_se_plot</a:t>
            </a:r>
          </a:p>
        </p:txBody>
      </p:sp>
      <p:pic>
        <p:nvPicPr>
          <p:cNvPr descr="graphing_effectively_lecture_files/figure-pptx/graphing-effectively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Two </a:t>
            </a:r>
            <a:r>
              <a:rPr b="1">
                <a:latin typeface="Courier"/>
              </a:rPr>
              <a:t>stat_summary()</a:t>
            </a:r>
            <a:r>
              <a:rPr b="1"/>
              <a:t> layers: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draws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fun = mean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one large point at the mean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fun.data = mean_se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error bars for ± 1 SE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stat_summary()</a:t>
            </a:r>
            <a:r>
              <a:rPr/>
              <a:t> computes the mean and SE </a:t>
            </a:r>
            <a:r>
              <a:rPr b="1"/>
              <a:t>for you</a:t>
            </a:r>
            <a:r>
              <a:rPr/>
              <a:t>, straight from the raw data — no </a:t>
            </a:r>
            <a:r>
              <a:rPr>
                <a:latin typeface="Courier"/>
              </a:rPr>
              <a:t>summarize()</a:t>
            </a:r>
            <a:r>
              <a:rPr/>
              <a:t> step required first.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Convenient, but read the fine print</a:t>
            </a:r>
          </a:p>
          <a:p>
            <a:pPr lvl="0" indent="0" marL="1270000">
              <a:buNone/>
            </a:pPr>
            <a:r>
              <a:rPr sz="2000"/>
              <a:t>“Straight from the raw data” means it used </a:t>
            </a:r>
            <a:r>
              <a:rPr sz="2000" b="1"/>
              <a:t>all 64 needles</a:t>
            </a:r>
            <a:r>
              <a:rPr sz="2000"/>
              <a:t>. Those are the </a:t>
            </a:r>
            <a:r>
              <a:rPr sz="2000" i="1"/>
              <a:t>naive</a:t>
            </a:r>
            <a:r>
              <a:rPr sz="2000"/>
              <a:t> error bars from Describing Your Data — the ones that treat 8 needles from one tree as 8 independent facts.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error bar is a claim — make it an honest 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We are about to draw the same two means, but with error bars built from the </a:t>
            </a:r>
            <a:r>
              <a:rPr sz="2000" b="1"/>
              <a:t>4 tree means</a:t>
            </a:r>
            <a:r>
              <a:rPr sz="2000"/>
              <a:t> instead of the 64 needles. Will the dots move? Will the bars?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team_means_df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(team, side)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team_mean_mm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(needle_length_mm),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(team_means_df,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team_mean_mm,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0.08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± SE, computed from 4 trees"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needle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4800" y="1270000"/>
            <a:ext cx="4064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Same dots. Longer bars.</a:t>
            </a:r>
          </a:p>
          <a:p>
            <a:pPr lvl="0" indent="0" marL="1270000">
              <a:buNone/>
            </a:pPr>
            <a:r>
              <a:rPr sz="2000"/>
              <a:t>The means are identical (14.12 and 15.21). The SEs went from 0.49/0.46 to </a:t>
            </a:r>
            <a:r>
              <a:rPr sz="2000" b="1"/>
              <a:t>1.01/0.79</a:t>
            </a:r>
            <a:r>
              <a:rPr sz="2000"/>
              <a:t> — roughly double.</a:t>
            </a:r>
          </a:p>
          <a:p>
            <a:pPr lvl="0" indent="0" marL="1270000">
              <a:buNone/>
            </a:pPr>
            <a:r>
              <a:rPr sz="2000"/>
              <a:t>Each small point here is </a:t>
            </a:r>
            <a:r>
              <a:rPr sz="2000" b="1"/>
              <a:t>one tree</a:t>
            </a:r>
            <a:r>
              <a:rPr sz="2000"/>
              <a:t>, not one needle. That is the plot our design actually supports.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The habit</a:t>
            </a:r>
          </a:p>
          <a:p>
            <a:pPr lvl="0" indent="0" marL="1270000">
              <a:buNone/>
            </a:pPr>
            <a:r>
              <a:rPr sz="2000"/>
              <a:t>Before you draw an error bar, ask what one point in it represents. </a:t>
            </a:r>
            <a:r>
              <a:rPr sz="2000">
                <a:latin typeface="Courier"/>
              </a:rPr>
              <a:t>stat_summary()</a:t>
            </a:r>
            <a:r>
              <a:rPr sz="2000"/>
              <a:t> will happily compute an SE over anything you hand it — including rows that aren’t independent.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Faceting — One Panel Per Group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Faceting — One Panel Per Group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pine_facet_plot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team)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Side, Faceted by Team"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pine_facet_plot</a:t>
            </a:r>
          </a:p>
        </p:txBody>
      </p:sp>
      <p:pic>
        <p:nvPicPr>
          <p:cNvPr descr="graphing_effectively_lecture_files/figure-pptx/graphing-effectively-1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facet_wrap(~team)</a:t>
            </a:r>
            <a:r>
              <a:rPr/>
              <a:t> gives each field team its </a:t>
            </a:r>
            <a:r>
              <a:rPr b="1"/>
              <a:t>own small panel</a:t>
            </a:r>
          </a:p>
          <a:p>
            <a:pPr lvl="0"/>
            <a:r>
              <a:rPr/>
              <a:t>Same x/y scale across panels — easy to compare</a:t>
            </a:r>
          </a:p>
          <a:p>
            <a:pPr lvl="0"/>
            <a:r>
              <a:rPr/>
              <a:t>Useful the moment “does every group show the same pattern?” is the real question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A faceted plot answers a different question than a single colored plot: not just “is there an overall pattern,” but “does the pattern hold for </a:t>
            </a:r>
            <a:r>
              <a:rPr sz="2000" i="1"/>
              <a:t>everyone</a:t>
            </a:r>
            <a:r>
              <a:rPr sz="2000"/>
              <a:t>?”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A Quick Theme Tour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Quick Theme Tour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pine_jitter_plot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theme_bw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1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pine_jitter_plot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theme_classic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16-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theme_minimal()</a:t>
            </a:r>
            <a:r>
              <a:rPr/>
              <a:t> — light, few gridlines (what we’ve used so far)</a:t>
            </a:r>
          </a:p>
          <a:p>
            <a:pPr lvl="0"/>
            <a:r>
              <a:rPr>
                <a:latin typeface="Courier"/>
              </a:rPr>
              <a:t>theme_bw()</a:t>
            </a:r>
            <a:r>
              <a:rPr/>
              <a:t> — white background, black-and-white frame</a:t>
            </a:r>
          </a:p>
          <a:p>
            <a:pPr lvl="0"/>
            <a:r>
              <a:rPr>
                <a:latin typeface="Courier"/>
              </a:rPr>
              <a:t>theme_classic()</a:t>
            </a:r>
            <a:r>
              <a:rPr/>
              <a:t> — just x/y axis lines, no gridlines at all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 theme changes </a:t>
            </a:r>
            <a:r>
              <a:rPr sz="2000" i="1"/>
              <a:t>appearance</a:t>
            </a:r>
            <a:r>
              <a:rPr sz="2000"/>
              <a:t> only — never the data or the statistics underneath. Pick one and use it consistently across a report.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Saving a Real Figure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Saving a Real Figure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"figures/pine_needle_boxplot.png"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plot =</a:t>
            </a:r>
            <a:r>
              <a:rPr>
                <a:solidFill>
                  <a:srgbClr val="003B4F"/>
                </a:solidFill>
                <a:latin typeface="Courier"/>
              </a:rPr>
              <a:t> pine_jitter_plot,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units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dpi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ggsave()</a:t>
            </a:r>
            <a:r>
              <a:rPr sz="2000"/>
              <a:t> wants the </a:t>
            </a:r>
            <a:r>
              <a:rPr sz="2000" b="1"/>
              <a:t>filename first</a:t>
            </a:r>
            <a:r>
              <a:rPr sz="2000"/>
              <a:t>, then </a:t>
            </a:r>
            <a:r>
              <a:rPr sz="2000">
                <a:latin typeface="Courier"/>
              </a:rPr>
              <a:t>plot =</a:t>
            </a:r>
            <a:r>
              <a:rPr sz="2000"/>
              <a:t>. If you skip </a:t>
            </a:r>
            <a:r>
              <a:rPr sz="2000">
                <a:latin typeface="Courier"/>
              </a:rPr>
              <a:t>plot =</a:t>
            </a:r>
            <a:r>
              <a:rPr sz="2000"/>
              <a:t>, it saves whatever plot was drawn </a:t>
            </a:r>
            <a:r>
              <a:rPr sz="2000" i="1"/>
              <a:t>last</a:t>
            </a:r>
            <a:r>
              <a:rPr sz="2000"/>
              <a:t> — not necessarily the one you meant.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Always set </a:t>
            </a:r>
            <a:r>
              <a:rPr sz="2000">
                <a:latin typeface="Courier"/>
              </a:rPr>
              <a:t>width</a:t>
            </a:r>
            <a:r>
              <a:rPr sz="2000"/>
              <a:t>, </a:t>
            </a:r>
            <a:r>
              <a:rPr sz="2000">
                <a:latin typeface="Courier"/>
              </a:rPr>
              <a:t>height</a:t>
            </a:r>
            <a:r>
              <a:rPr sz="2000"/>
              <a:t>, </a:t>
            </a:r>
            <a:r>
              <a:rPr sz="2000">
                <a:latin typeface="Courier"/>
              </a:rPr>
              <a:t>units</a:t>
            </a:r>
            <a:r>
              <a:rPr sz="2000"/>
              <a:t>, and </a:t>
            </a:r>
            <a:r>
              <a:rPr sz="2000">
                <a:latin typeface="Courier"/>
              </a:rPr>
              <a:t>dpi</a:t>
            </a:r>
            <a:r>
              <a:rPr sz="2000"/>
              <a:t> explicitly. Letting </a:t>
            </a:r>
            <a:r>
              <a:rPr sz="2000">
                <a:latin typeface="Courier"/>
              </a:rPr>
              <a:t>ggsave()</a:t>
            </a:r>
            <a:r>
              <a:rPr sz="2000"/>
              <a:t> guess gives you a plot sized for your screen, not for a report or a poster.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Custom Colors and Legends — </a:t>
            </a:r>
            <a:r>
              <a:rPr>
                <a:latin typeface="Courier"/>
              </a:rPr>
              <a:t>scale_color_manual()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scale_color_manual()</a:t>
            </a:r>
            <a:r>
              <a:rPr/>
              <a:t> — Choosing Your Own Colors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Advanced / extra work</a:t>
            </a:r>
            <a:r>
              <a:rPr sz="2000"/>
              <a:t> — </a:t>
            </a:r>
            <a:r>
              <a:rPr sz="2000">
                <a:latin typeface="Courier"/>
              </a:rPr>
              <a:t>ggplot</a:t>
            </a:r>
            <a:r>
              <a:rPr sz="2000"/>
              <a:t>’s default colors are fine for exploring data, but a real figure often needs specific colors (journal style, colorblind-safe palettes, matching a poster). This is how you take control.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labels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shady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 side"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sunny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 side"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shady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"#2c7fb8"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sunny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"#d95f0e"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1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Three arguments, matched by name: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Argument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Does what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legend title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labels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text shown for each level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values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actual color for each level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labels</a:t>
            </a:r>
            <a:r>
              <a:rPr sz="2000"/>
              <a:t> and </a:t>
            </a:r>
            <a:r>
              <a:rPr sz="2000">
                <a:latin typeface="Courier"/>
              </a:rPr>
              <a:t>values</a:t>
            </a:r>
            <a:r>
              <a:rPr sz="2000"/>
              <a:t> are both </a:t>
            </a:r>
            <a:r>
              <a:rPr sz="2000" b="1"/>
              <a:t>named vectors</a:t>
            </a:r>
            <a:r>
              <a:rPr sz="2000"/>
              <a:t>, keyed by the </a:t>
            </a:r>
            <a:r>
              <a:rPr sz="2000" i="1"/>
              <a:t>raw values in your data</a:t>
            </a:r>
            <a:r>
              <a:rPr sz="2000"/>
              <a:t> (</a:t>
            </a:r>
            <a:r>
              <a:rPr sz="2000">
                <a:latin typeface="Courier"/>
              </a:rPr>
              <a:t>shady</a:t>
            </a:r>
            <a:r>
              <a:rPr sz="2000"/>
              <a:t>, </a:t>
            </a:r>
            <a:r>
              <a:rPr sz="2000">
                <a:latin typeface="Courier"/>
              </a:rPr>
              <a:t>sunny</a:t>
            </a:r>
            <a:r>
              <a:rPr sz="2000"/>
              <a:t>) — not by the pretty text you want to display. </a:t>
            </a:r>
            <a:r>
              <a:rPr sz="2000">
                <a:latin typeface="Courier"/>
              </a:rPr>
              <a:t>ggplot</a:t>
            </a:r>
            <a:r>
              <a:rPr sz="2000"/>
              <a:t> looks up each raw value and substitutes the label/color you gave it.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Why these two colors?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#2c7fb8</a:t>
            </a:r>
            <a:r>
              <a:rPr sz="2000"/>
              <a:t> (blue) and </a:t>
            </a:r>
            <a:r>
              <a:rPr sz="2000">
                <a:latin typeface="Courier"/>
              </a:rPr>
              <a:t>#d95f0e</a:t>
            </a:r>
            <a:r>
              <a:rPr sz="2000"/>
              <a:t> (orange) are a </a:t>
            </a:r>
            <a:r>
              <a:rPr sz="2000" b="1"/>
              <a:t>blue–orange</a:t>
            </a:r>
            <a:r>
              <a:rPr sz="2000"/>
              <a:t> pair, the safest two-colour choice for colour-vision deficiency: red–green confusion, which affects roughly 8% of men, leaves the blue–orange axis intact.</a:t>
            </a:r>
          </a:p>
          <a:p>
            <a:pPr lvl="0" indent="0" marL="1270000">
              <a:buNone/>
            </a:pPr>
            <a:r>
              <a:rPr sz="2000"/>
              <a:t>Don’t take that on faith — check any pair you invent with a simulator (the </a:t>
            </a:r>
            <a:r>
              <a:rPr sz="2000">
                <a:latin typeface="Courier"/>
              </a:rPr>
              <a:t>colorblindr</a:t>
            </a:r>
            <a:r>
              <a:rPr sz="2000"/>
              <a:t> or </a:t>
            </a:r>
            <a:r>
              <a:rPr sz="2000">
                <a:latin typeface="Courier"/>
              </a:rPr>
              <a:t>dichromat</a:t>
            </a:r>
            <a:r>
              <a:rPr sz="2000"/>
              <a:t> packages), or start from a palette that was built for it: </a:t>
            </a:r>
            <a:r>
              <a:rPr sz="2000">
                <a:latin typeface="Courier"/>
              </a:rPr>
              <a:t>scale_color_viridis_d()</a:t>
            </a:r>
            <a:r>
              <a:rPr sz="2000"/>
              <a:t> or </a:t>
            </a:r>
            <a:r>
              <a:rPr sz="2000">
                <a:latin typeface="Courier"/>
              </a:rPr>
              <a:t>RColorBrewer::brewer.pal(n, "Dark2")</a:t>
            </a:r>
            <a:r>
              <a:rPr sz="2000"/>
              <a:t>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scale_color_manual()</a:t>
            </a:r>
            <a:r>
              <a:rPr/>
              <a:t> — Getting the Names Wrong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Typo: "sun" instead of the real value "sunny"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shady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"#2c7fb8"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sun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"#d95f0e"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/>
            <a:r>
              <a:rPr sz="2000"/>
              <a:t>Every level that appears in your data </a:t>
            </a:r>
            <a:r>
              <a:rPr sz="2000" b="1"/>
              <a:t>must</a:t>
            </a:r>
            <a:r>
              <a:rPr sz="2000"/>
              <a:t> get an entry in </a:t>
            </a:r>
            <a:r>
              <a:rPr sz="2000">
                <a:latin typeface="Courier"/>
              </a:rPr>
              <a:t>values</a:t>
            </a:r>
          </a:p>
          <a:p>
            <a:pPr lvl="1"/>
            <a:r>
              <a:rPr sz="2000"/>
              <a:t>(and in </a:t>
            </a:r>
            <a:r>
              <a:rPr sz="2000">
                <a:latin typeface="Courier"/>
              </a:rPr>
              <a:t>labels</a:t>
            </a:r>
            <a:r>
              <a:rPr sz="2000"/>
              <a:t>, if you supply it), spelled exactly as it appears in the column</a:t>
            </a:r>
          </a:p>
          <a:p>
            <a:pPr lvl="1"/>
            <a:r>
              <a:rPr sz="2000"/>
              <a:t>check with </a:t>
            </a:r>
            <a:r>
              <a:rPr sz="2000">
                <a:latin typeface="Courier"/>
              </a:rPr>
              <a:t>unique(pine_df$side)</a:t>
            </a:r>
            <a:r>
              <a:rPr sz="2000"/>
              <a:t> first if you are not sure</a:t>
            </a:r>
          </a:p>
          <a:p>
            <a:pPr lvl="1"/>
            <a:r>
              <a:rPr sz="2000"/>
              <a:t>A missing or misspelled level draws as grey with a warning.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scale_fill_manual()</a:t>
            </a:r>
            <a:r>
              <a:rPr/>
              <a:t> — the </a:t>
            </a:r>
            <a:r>
              <a:rPr>
                <a:latin typeface="Courier"/>
              </a:rPr>
              <a:t>fill</a:t>
            </a:r>
            <a:r>
              <a:rPr/>
              <a:t> Twin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labels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shady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 side"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sunny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 side"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shady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"#2c7fb8"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sunny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"#d95f0e"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2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Same three arguments, same pattern — </a:t>
            </a:r>
            <a:r>
              <a:rPr sz="2000">
                <a:latin typeface="Courier"/>
              </a:rPr>
              <a:t>scale_fill_manual()</a:t>
            </a:r>
            <a:r>
              <a:rPr sz="2000"/>
              <a:t> is </a:t>
            </a:r>
            <a:r>
              <a:rPr sz="2000">
                <a:latin typeface="Courier"/>
              </a:rPr>
              <a:t>scale_color_manual()</a:t>
            </a:r>
            <a:r>
              <a:rPr sz="2000"/>
              <a:t> for the </a:t>
            </a:r>
            <a:r>
              <a:rPr sz="2000">
                <a:latin typeface="Courier"/>
              </a:rPr>
              <a:t>fill</a:t>
            </a:r>
            <a:r>
              <a:rPr sz="2000"/>
              <a:t> aesthetic instead of </a:t>
            </a:r>
            <a:r>
              <a:rPr sz="2000">
                <a:latin typeface="Courier"/>
              </a:rPr>
              <a:t>color</a:t>
            </a:r>
            <a:r>
              <a:rPr sz="2000"/>
              <a:t>. A boxplot’s box is </a:t>
            </a:r>
            <a:r>
              <a:rPr sz="2000">
                <a:latin typeface="Courier"/>
              </a:rPr>
              <a:t>fill</a:t>
            </a:r>
            <a:r>
              <a:rPr sz="2000"/>
              <a:t>; its jittered points (if you added </a:t>
            </a:r>
            <a:r>
              <a:rPr sz="2000">
                <a:latin typeface="Courier"/>
              </a:rPr>
              <a:t>geom_point(color = ...)</a:t>
            </a:r>
            <a:r>
              <a:rPr sz="2000"/>
              <a:t>) would be </a:t>
            </a:r>
            <a:r>
              <a:rPr sz="2000">
                <a:latin typeface="Courier"/>
              </a:rPr>
              <a:t>color</a:t>
            </a:r>
            <a:r>
              <a:rPr sz="2000"/>
              <a:t>. A plot can need both at once.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you:</a:t>
            </a:r>
          </a:p>
          <a:p>
            <a:pPr lvl="0"/>
            <a:r>
              <a:rPr/>
              <a:t>Built boxplots with raw points overlaid, not hidden</a:t>
            </a:r>
          </a:p>
          <a:p>
            <a:pPr lvl="0"/>
            <a:r>
              <a:rPr/>
              <a:t>Wrote real axis labels, titles, and legend titles with </a:t>
            </a:r>
            <a:r>
              <a:rPr>
                <a:latin typeface="Courier"/>
              </a:rPr>
              <a:t>labs()</a:t>
            </a:r>
            <a:r>
              <a:rPr/>
              <a:t> — never shipped a default column name</a:t>
            </a:r>
          </a:p>
          <a:p>
            <a:pPr lvl="0"/>
            <a:r>
              <a:rPr/>
              <a:t>Mapped a third variable with </a:t>
            </a:r>
            <a:r>
              <a:rPr>
                <a:latin typeface="Courier"/>
              </a:rPr>
              <a:t>color =</a:t>
            </a:r>
            <a:r>
              <a:rPr/>
              <a:t> / </a:t>
            </a:r>
            <a:r>
              <a:rPr>
                <a:latin typeface="Courier"/>
              </a:rPr>
              <a:t>fill =</a:t>
            </a:r>
            <a:r>
              <a:rPr/>
              <a:t> inside </a:t>
            </a:r>
            <a:r>
              <a:rPr>
                <a:latin typeface="Courier"/>
              </a:rPr>
              <a:t>aes()</a:t>
            </a:r>
          </a:p>
          <a:p>
            <a:pPr lvl="0"/>
            <a:r>
              <a:rPr/>
              <a:t>Built histograms and density curves to see a whole distribution’s shape</a:t>
            </a:r>
          </a:p>
          <a:p>
            <a:pPr lvl="0"/>
            <a:r>
              <a:rPr/>
              <a:t>Plotted mean ± SE directly with </a:t>
            </a:r>
            <a:r>
              <a:rPr>
                <a:latin typeface="Courier"/>
              </a:rPr>
              <a:t>stat_summary()</a:t>
            </a:r>
            <a:r>
              <a:rPr/>
              <a:t> — and saw that an error bar is only as honest as the rows you feed it</a:t>
            </a:r>
          </a:p>
          <a:p>
            <a:pPr lvl="0"/>
            <a:r>
              <a:rPr/>
              <a:t>Faceted a plot with </a:t>
            </a:r>
            <a:r>
              <a:rPr>
                <a:latin typeface="Courier"/>
              </a:rPr>
              <a:t>facet_wrap()</a:t>
            </a:r>
            <a:r>
              <a:rPr/>
              <a:t> to check every group at once</a:t>
            </a:r>
          </a:p>
          <a:p>
            <a:pPr lvl="0"/>
            <a:r>
              <a:rPr/>
              <a:t>Compared themes, and saved a real, correctly-sized figure with </a:t>
            </a:r>
            <a:r>
              <a:rPr>
                <a:latin typeface="Courier"/>
              </a:rPr>
              <a:t>ggsave()</a:t>
            </a:r>
          </a:p>
          <a:p>
            <a:pPr lvl="0"/>
            <a:r>
              <a:rPr i="1"/>
              <a:t>(Advanced)</a:t>
            </a:r>
            <a:r>
              <a:rPr/>
              <a:t> Set exact colors and legend text by hand with </a:t>
            </a:r>
            <a:r>
              <a:rPr>
                <a:latin typeface="Courier"/>
              </a:rPr>
              <a:t>scale_color_manual()</a:t>
            </a:r>
            <a:r>
              <a:rPr/>
              <a:t> / </a:t>
            </a:r>
            <a:r>
              <a:rPr>
                <a:latin typeface="Courier"/>
              </a:rPr>
              <a:t>scale_fill_manual()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Before next class</a:t>
            </a:r>
          </a:p>
          <a:p>
            <a:pPr lvl="0" indent="0" marL="1270000">
              <a:buNone/>
            </a:pPr>
            <a:r>
              <a:rPr sz="2000"/>
              <a:t>Finish the worksheet: build a mean ± SE plot faceted by </a:t>
            </a:r>
            <a:r>
              <a:rPr sz="2000">
                <a:latin typeface="Courier"/>
              </a:rPr>
              <a:t>team</a:t>
            </a:r>
            <a:r>
              <a:rPr sz="2000"/>
              <a:t>, pick a theme, and save it to </a:t>
            </a:r>
            <a:r>
              <a:rPr sz="2000">
                <a:latin typeface="Courier"/>
              </a:rPr>
              <a:t>figures/</a:t>
            </a:r>
            <a:r>
              <a:rPr sz="2000"/>
              <a:t> at 3×3in, 300 dpi.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Where this leads</a:t>
            </a:r>
          </a:p>
          <a:p>
            <a:pPr lvl="0" indent="0" marL="1270000">
              <a:buNone/>
            </a:pPr>
            <a:r>
              <a:rPr sz="2000"/>
              <a:t>You can now import, wrangle, describe, and visualize a dataset end to end. That full pipeline — raw data → clean → summarize → visualize — is the foundation every later statistical test builds on.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/>
              <a:t>Read the </a:t>
            </a:r>
            <a:r>
              <a:rPr b="1"/>
              <a:t>error message</a:t>
            </a:r>
            <a:r>
              <a:rPr/>
              <a:t> out loud; it usually names the line</a:t>
            </a:r>
          </a:p>
          <a:p>
            <a:pPr lvl="0" indent="-342900" marL="342900">
              <a:buAutoNum type="arabicPeriod"/>
            </a:pPr>
            <a:r>
              <a:rPr/>
              <a:t>Check the usual suspects: </a:t>
            </a:r>
            <a:r>
              <a:rPr>
                <a:latin typeface="Courier"/>
              </a:rPr>
              <a:t>library(tidyverse)</a:t>
            </a:r>
            <a:r>
              <a:rPr/>
              <a:t> loaded? Is </a:t>
            </a:r>
            <a:r>
              <a:rPr>
                <a:latin typeface="Courier"/>
              </a:rPr>
              <a:t>color</a:t>
            </a:r>
            <a:r>
              <a:rPr/>
              <a:t>/</a:t>
            </a:r>
            <a:r>
              <a:rPr>
                <a:latin typeface="Courier"/>
              </a:rPr>
              <a:t>fill</a:t>
            </a:r>
            <a:r>
              <a:rPr/>
              <a:t> inside </a:t>
            </a:r>
            <a:r>
              <a:rPr>
                <a:latin typeface="Courier"/>
              </a:rPr>
              <a:t>aes()</a:t>
            </a:r>
            <a:r>
              <a:rPr/>
              <a:t> when it should be?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help page</a:t>
            </a:r>
          </a:p>
          <a:p>
            <a:pPr lvl="0" indent="-342900" marL="342900">
              <a:buAutoNum type="arabicPeriod"/>
            </a:pPr>
            <a:r>
              <a:rPr/>
              <a:t>Bring the </a:t>
            </a:r>
            <a:r>
              <a:rPr b="1"/>
              <a:t>exact error</a:t>
            </a:r>
            <a:r>
              <a:rPr/>
              <a:t> (copy-paste it) to class or office hours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Graphing Effectively</dc:title>
  <dc:creator>Bill Perry</dc:creator>
  <cp:keywords/>
  <dc:description>Boxplots with jittered raw points, writing axis labels and titles properly with labs(), mapping color and fill by group, histograms and density curves, plotting mean ± SE directly with stat_summary(), faceting, a quick theme tour, custom colors and legends with scale_color_manual(), and a real ggsave() drill — all on the pine needle dataset.</dc:description>
  <dcterms:created xsi:type="dcterms:W3CDTF">2026-09-08T20:17:29Z</dcterms:created>
  <dcterms:modified xsi:type="dcterms:W3CDTF">2026-09-08T20:17:29Z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4</vt:lpwstr>
  </property>
  <property fmtid="{D5CDD505-2E9C-101B-9397-08002B2CF9AE}" pid="14" name="resources">
    <vt:lpwstr/>
  </property>
  <property fmtid="{D5CDD505-2E9C-101B-9397-08002B2CF9AE}" pid="15" name="subtitle">
    <vt:lpwstr>Boxplots, group comparisons, and saving a publication-ready figure</vt:lpwstr>
  </property>
  <property fmtid="{D5CDD505-2E9C-101B-9397-08002B2CF9AE}" pid="16" name="toc-title">
    <vt:lpwstr>Table of contents</vt:lpwstr>
  </property>
  <property fmtid="{D5CDD505-2E9C-101B-9397-08002B2CF9AE}" pid="17" name="week">
    <vt:lpwstr>3</vt:lpwstr>
  </property>
</Properties>
</file>