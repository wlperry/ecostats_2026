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" TargetMode="Externa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labels" TargetMode="Externa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aesthetic-mappings" TargetMode="External" /><Relationship Id="rId2" Type="http://schemas.openxmlformats.org/officeDocument/2006/relationships/image" Target="../media/image10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EDA.html#variation" TargetMode="External" /><Relationship Id="rId2" Type="http://schemas.openxmlformats.org/officeDocument/2006/relationships/image" Target="../media/image11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layers.html#facets" TargetMode="External" /><Relationship Id="rId2" Type="http://schemas.openxmlformats.org/officeDocument/2006/relationships/image" Target="../media/image16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9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0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communication.html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hyperlink" Target="https://r4ds.hadley.nz/communication.html#scales" TargetMode="External" /><Relationship Id="rId2" Type="http://schemas.openxmlformats.org/officeDocument/2006/relationships/image" Target="../media/image2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visualize.html" TargetMode="External" /><Relationship Id="rId4" Type="http://schemas.openxmlformats.org/officeDocument/2006/relationships/hyperlink" Target="https://r4ds.hadley.nz/layers.html" TargetMode="External" /><Relationship Id="rId5" Type="http://schemas.openxmlformats.org/officeDocument/2006/relationships/hyperlink" Target="https://r4ds.hadley.nz/EDA.html" TargetMode="External" /><Relationship Id="rId6" Type="http://schemas.openxmlformats.org/officeDocument/2006/relationships/hyperlink" Target="https://r4ds.hadley.nz/communicatio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Graphing Effectively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Boxplots, axis limits, a reusable themes file, multi-panel figures, and saving publication-ready output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Computed mean, median, SD, and SE — by hand and with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/>
              <a:t>Fixed the </a:t>
            </a:r>
            <a:r>
              <a:rPr>
                <a:latin typeface="Courier"/>
              </a:rPr>
              <a:t>length()</a:t>
            </a:r>
            <a:r>
              <a:rPr/>
              <a:t> trap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Got tidy per-group tables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Describing Your Data</a:t>
            </a:r>
          </a:p>
          <a:p>
            <a:pPr lvl="0" indent="0" marL="1270000">
              <a:buNone/>
            </a:pPr>
            <a:r>
              <a:rPr sz="2000"/>
              <a:t>You now have real numbers describing shady vs. sunny needles. Today we make those numbers </a:t>
            </a:r>
            <a:r>
              <a:rPr sz="2000" b="1"/>
              <a:t>visible</a:t>
            </a:r>
            <a:r>
              <a:rPr sz="2000"/>
              <a:t> — and save the result properly.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ggplot</a:t>
            </a:r>
            <a:r>
              <a:rPr sz="2000"/>
              <a:t> grammar, recapped</a:t>
            </a:r>
          </a:p>
          <a:p>
            <a:pPr lvl="0" indent="-342900" marL="342900">
              <a:buAutoNum type="arabicPeriod"/>
            </a:pPr>
            <a:r>
              <a:rPr sz="2000"/>
              <a:t>Boxplots done right — with raw points</a:t>
            </a:r>
          </a:p>
          <a:p>
            <a:pPr lvl="0" indent="-342900" marL="342900">
              <a:buAutoNum type="arabicPeriod"/>
            </a:pPr>
            <a:r>
              <a:rPr sz="2000"/>
              <a:t>Axis labels and titles with </a:t>
            </a:r>
            <a:r>
              <a:rPr sz="2000">
                <a:latin typeface="Courier"/>
              </a:rPr>
              <a:t>labs()</a:t>
            </a:r>
          </a:p>
          <a:p>
            <a:pPr lvl="0" indent="-342900" marL="342900">
              <a:buAutoNum type="arabicPeriod"/>
            </a:pPr>
            <a:r>
              <a:rPr sz="2000"/>
              <a:t>Axis limits with </a:t>
            </a:r>
            <a:r>
              <a:rPr sz="2000">
                <a:latin typeface="Courier"/>
              </a:rPr>
              <a:t>coord_cartesian()</a:t>
            </a:r>
          </a:p>
          <a:p>
            <a:pPr lvl="0" indent="-342900" marL="342900">
              <a:buAutoNum type="arabicPeriod"/>
            </a:pPr>
            <a:r>
              <a:rPr sz="2000"/>
              <a:t>Mapping color by group</a:t>
            </a:r>
          </a:p>
          <a:p>
            <a:pPr lvl="0" indent="-342900" marL="342900">
              <a:buAutoNum type="arabicPeriod"/>
            </a:pPr>
            <a:r>
              <a:rPr sz="2000"/>
              <a:t>Mean ± SE with </a:t>
            </a:r>
            <a:r>
              <a:rPr sz="2000">
                <a:latin typeface="Courier"/>
              </a:rPr>
              <a:t>stat_summary()</a:t>
            </a:r>
          </a:p>
          <a:p>
            <a:pPr lvl="0" indent="-342900" marL="342900">
              <a:buAutoNum type="arabicPeriod"/>
            </a:pPr>
            <a:r>
              <a:rPr sz="2000" b="1"/>
              <a:t>A themes file you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once</a:t>
            </a:r>
            <a:r>
              <a:rPr sz="2000"/>
              <a:t> — publication-ready figures</a:t>
            </a:r>
          </a:p>
          <a:p>
            <a:pPr lvl="0" indent="-342900" marL="342900">
              <a:buAutoNum type="arabicPeriod"/>
            </a:pPr>
            <a:r>
              <a:rPr sz="2000" b="1">
                <a:latin typeface="Courier"/>
              </a:rPr>
              <a:t>patchwork</a:t>
            </a:r>
            <a:r>
              <a:rPr sz="2000"/>
              <a:t> — many plots on one page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ggsave()</a:t>
            </a:r>
            <a:r>
              <a:rPr sz="2000"/>
              <a:t>, for real this time</a:t>
            </a:r>
          </a:p>
          <a:p>
            <a:pPr lvl="0" indent="0" marL="1270000">
              <a:buNone/>
            </a:pPr>
            <a:r>
              <a:rPr sz="2000"/>
              <a:t>⏱ Histograms, density curves, faceting, and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are in the notes as time allows — the worksheet has them either way.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ggplot</a:t>
            </a:r>
            <a:r>
              <a:rPr/>
              <a:t> Grammar, Recapped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is three pieces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x, y, color, fill…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Everything today is the </a:t>
            </a:r>
            <a:r>
              <a:rPr sz="2000" i="1"/>
              <a:t>same three pieces</a:t>
            </a:r>
            <a:r>
              <a:rPr sz="2000"/>
              <a:t> — we’re just adding more layers and more polish on top of them.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The Analysis of Biological Data</a:t>
            </a:r>
            <a:r>
              <a:rPr sz="2000"/>
              <a:t>, Ch. 2 — Displaying Data, is the core reference for this whole lecture.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 — Data visualization</a:t>
            </a:r>
            <a:r>
              <a:rPr sz="2000"/>
              <a:t> and </a:t>
            </a:r>
            <a:r>
              <a:rPr sz="2000">
                <a:hlinkClick r:id="rId4"/>
              </a:rPr>
              <a:t>§9 — Layers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 from Getting Started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Boxplot Anatomy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Anatomy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pine_box_plot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pine_box_plot</a:t>
            </a:r>
          </a:p>
        </p:txBody>
      </p:sp>
      <p:pic>
        <p:nvPicPr>
          <p:cNvPr descr="graphing_effectively_lecture_files/figure-pptx/graphing-effectively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Boxplot anatomy:</a:t>
            </a:r>
          </a:p>
          <a:p>
            <a:pPr lvl="0"/>
            <a:r>
              <a:rPr/>
              <a:t>Middle line = </a:t>
            </a:r>
            <a:r>
              <a:rPr b="1"/>
              <a:t>median</a:t>
            </a:r>
          </a:p>
          <a:p>
            <a:pPr lvl="0"/>
            <a:r>
              <a:rPr/>
              <a:t>Box edges = 25th and 75th percentile (</a:t>
            </a:r>
            <a:r>
              <a:rPr b="1"/>
              <a:t>IQR</a:t>
            </a:r>
            <a:r>
              <a:rPr/>
              <a:t>)</a:t>
            </a:r>
          </a:p>
          <a:p>
            <a:pPr lvl="0"/>
            <a:r>
              <a:rPr/>
              <a:t>Whiskers = 1.5 × IQR</a:t>
            </a:r>
          </a:p>
          <a:p>
            <a:pPr lvl="0"/>
            <a:r>
              <a:rPr/>
              <a:t>Dots beyond whiskers =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Whitlock &amp; Schluter, Ch. 2 — Displaying Data, on the boxplot and the five-number summary it draws.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📖 R4DS §9 — Layers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Boxplot + Raw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With only 8 needles per side per tree, does a boxplot alone show you everything? What might it hide?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pine_jitter_plot</a:t>
            </a:r>
          </a:p>
        </p:txBody>
      </p:sp>
      <p:pic>
        <p:nvPicPr>
          <p:cNvPr descr="graphing_effectively_lecture_files/figure-pptx/graphing-effectively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position_jitter(width = 0.15)</a:t>
            </a:r>
            <a:r>
              <a:rPr/>
              <a:t> spreads points sideways so they don’t overlap</a:t>
            </a:r>
          </a:p>
          <a:p>
            <a:pPr lvl="0"/>
            <a:r>
              <a:rPr>
                <a:latin typeface="Courier"/>
              </a:rPr>
              <a:t>alpha = 0.6</a:t>
            </a:r>
            <a:r>
              <a:rPr/>
              <a:t> — semi-transparent, so overlapping points are still visible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Always show the raw points alongside a boxplot when </a:t>
            </a:r>
            <a:r>
              <a:rPr sz="2000" i="1"/>
              <a:t>n</a:t>
            </a:r>
            <a:r>
              <a:rPr sz="2000"/>
              <a:t> is small — every point matters, and a box alone can hide a bimodal or lopsided pattern.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“How to draw a good graph,” makes exactly this argument: show the data, not only the summary.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1, 2 and 3</a:t>
            </a:r>
            <a:r>
              <a:rPr sz="2000"/>
              <a:t> — load the data, build the boxplot, add the raw points.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Axis Labels and Titles, Done Right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</a:t>
            </a:r>
            <a:r>
              <a:rPr>
                <a:latin typeface="Courier"/>
              </a:rPr>
              <a:t>labs()</a:t>
            </a:r>
            <a:r>
              <a:rPr/>
              <a:t> — Never Ship This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The x-axis reads </a:t>
            </a:r>
            <a:r>
              <a:rPr sz="2000">
                <a:latin typeface="Courier"/>
              </a:rPr>
              <a:t>side</a:t>
            </a:r>
            <a:r>
              <a:rPr sz="2000"/>
              <a:t> and the y-axis reads </a:t>
            </a:r>
            <a:r>
              <a:rPr sz="2000">
                <a:latin typeface="Courier"/>
              </a:rPr>
              <a:t>needle_length_mm</a:t>
            </a:r>
            <a:r>
              <a:rPr sz="2000"/>
              <a:t> — the literal </a:t>
            </a:r>
            <a:r>
              <a:rPr sz="2000" b="1"/>
              <a:t>column names</a:t>
            </a:r>
            <a:r>
              <a:rPr sz="2000"/>
              <a:t>, not something a reader outside your lab would understand.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 plot with default column-name axes is a plot that only makes sense to </a:t>
            </a:r>
            <a:r>
              <a:rPr sz="2000" i="1"/>
              <a:t>you</a:t>
            </a:r>
            <a:r>
              <a:rPr sz="2000"/>
              <a:t>, today. Six months from now, even you may not remember what </a:t>
            </a:r>
            <a:r>
              <a:rPr sz="2000">
                <a:latin typeface="Courier"/>
              </a:rPr>
              <a:t>side</a:t>
            </a:r>
            <a:r>
              <a:rPr sz="2000"/>
              <a:t> meant.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Every Piece of Text on the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"Four field teams, four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"Data: pine_data.csv"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 function, five jobs: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main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subtitle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smaller text under the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x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axis labels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caption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small text, bottom-right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color</a:t>
                      </a:r>
                      <a:r>
                        <a:rPr/>
                        <a:t>/</a:t>
                      </a:r>
                      <a:r>
                        <a:rPr>
                          <a:latin typeface="Courier"/>
                        </a:rPr>
                        <a:t>fill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legend title</a:t>
                      </a:r>
                      <a:r>
                        <a:rPr/>
                        <a:t> for that aesthetic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labs()</a:t>
            </a:r>
            <a:r>
              <a:rPr sz="2000"/>
              <a:t> never touches the data or the statistics — only what a reader sees written on the plot. Change it freely.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§11.1 — Labels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labs()</a:t>
            </a:r>
            <a:r>
              <a:rPr/>
              <a:t> — the Legend Title Trap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Whichever aesthetic name you mapped, use that same name in labs()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matches aes(color = team)</a:t>
            </a:r>
          </a:p>
        </p:txBody>
      </p:sp>
      <p:pic>
        <p:nvPicPr>
          <p:cNvPr descr="graphing_effectively_lecture_files/figure-pptx/graphing-effectively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The legend title comes from whatever you write for </a:t>
            </a:r>
            <a:r>
              <a:rPr sz="2000" b="1"/>
              <a:t>the aesthetic you mapped</a:t>
            </a:r>
            <a:r>
              <a:rPr sz="2000"/>
              <a:t> — </a:t>
            </a:r>
            <a:r>
              <a:rPr sz="2000">
                <a:latin typeface="Courier"/>
              </a:rPr>
              <a:t>color = "Field team"</a:t>
            </a:r>
            <a:r>
              <a:rPr sz="2000"/>
              <a:t> in </a:t>
            </a:r>
            <a:r>
              <a:rPr sz="2000">
                <a:latin typeface="Courier"/>
              </a:rPr>
              <a:t>labs()</a:t>
            </a:r>
            <a:r>
              <a:rPr sz="2000"/>
              <a:t> relabels a </a:t>
            </a:r>
            <a:r>
              <a:rPr sz="2000">
                <a:latin typeface="Courier"/>
              </a:rPr>
              <a:t>color =</a:t>
            </a:r>
            <a:r>
              <a:rPr sz="2000"/>
              <a:t> mapping. Write </a:t>
            </a:r>
            <a:r>
              <a:rPr sz="2000">
                <a:latin typeface="Courier"/>
              </a:rPr>
              <a:t>fill = "..."</a:t>
            </a:r>
            <a:r>
              <a:rPr sz="2000"/>
              <a:t> instead and it does nothing, because this plot never mapped </a:t>
            </a:r>
            <a:r>
              <a:rPr sz="2000">
                <a:latin typeface="Courier"/>
              </a:rPr>
              <a:t>fill</a:t>
            </a:r>
            <a:r>
              <a:rPr sz="2000"/>
              <a:t>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3b</a:t>
            </a:r>
            <a:r>
              <a:rPr sz="2000"/>
              <a:t> — write real titles, axis labels, and a legend title with </a:t>
            </a:r>
            <a:r>
              <a:rPr sz="2000">
                <a:latin typeface="Courier"/>
              </a:rPr>
              <a:t>labs()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2c · Setting the Axis Limits — </a:t>
            </a:r>
            <a:r>
              <a:rPr>
                <a:latin typeface="Courier"/>
              </a:rPr>
              <a:t>coord_cartesian()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Choosing What the Reader Sees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ggplot</a:t>
            </a:r>
            <a:r>
              <a:rPr/>
              <a:t> picks axis limits from your data. That is a fine default for exploring — and the wrong default the moment a reader has to judge </a:t>
            </a:r>
            <a:r>
              <a:rPr i="1"/>
              <a:t>how big</a:t>
            </a:r>
            <a:r>
              <a:rPr/>
              <a:t> a difference is.</a:t>
            </a:r>
          </a:p>
          <a:p>
            <a:pPr lvl="0"/>
            <a:r>
              <a:rPr>
                <a:latin typeface="Courier"/>
              </a:rPr>
              <a:t>coord_cartesian(ylim = c(0, 25))</a:t>
            </a:r>
            <a:r>
              <a:rPr/>
              <a:t> — set the y-axis range</a:t>
            </a:r>
          </a:p>
          <a:p>
            <a:pPr lvl="0"/>
            <a:r>
              <a:rPr>
                <a:latin typeface="Courier"/>
              </a:rPr>
              <a:t>coord_cartesian(xlim = c(...))</a:t>
            </a:r>
            <a:r>
              <a:rPr/>
              <a:t> — same for x</a:t>
            </a:r>
          </a:p>
          <a:p>
            <a:pPr lvl="0"/>
            <a:r>
              <a:rPr/>
              <a:t>Both at once: </a:t>
            </a:r>
            <a:r>
              <a:rPr>
                <a:latin typeface="Courier"/>
              </a:rPr>
              <a:t>coord_cartesian(xlim = c(...), ylim = c(...))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Starting a measurement axis at </a:t>
            </a:r>
            <a:r>
              <a:rPr sz="2000" b="1"/>
              <a:t>zero</a:t>
            </a:r>
            <a:r>
              <a:rPr sz="2000"/>
              <a:t> is what keeps a 1 mm difference from looking like a canyon. Decide the limits deliberately; don’t inherit them.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coord_cartesian()</a:t>
            </a:r>
            <a:r>
              <a:rPr/>
              <a:t> — Both Axes at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needle_width_mm,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vs.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width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pine_scatter_plot</a:t>
            </a:r>
          </a:p>
        </p:txBody>
      </p:sp>
      <p:pic>
        <p:nvPicPr>
          <p:cNvPr descr="graphing_effectively_lecture_files/figure-pptx/graphing-effectively-coord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Two continuous axes, so both </a:t>
            </a:r>
            <a:r>
              <a:rPr sz="2000">
                <a:latin typeface="Courier"/>
              </a:rPr>
              <a:t>xlim =</a:t>
            </a:r>
            <a:r>
              <a:rPr sz="2000"/>
              <a:t> and </a:t>
            </a:r>
            <a:r>
              <a:rPr sz="2000">
                <a:latin typeface="Courier"/>
              </a:rPr>
              <a:t>ylim =</a:t>
            </a:r>
            <a:r>
              <a:rPr sz="2000"/>
              <a:t> are useful here. On the boxplot, </a:t>
            </a:r>
            <a:r>
              <a:rPr sz="2000">
                <a:latin typeface="Courier"/>
              </a:rPr>
              <a:t>x</a:t>
            </a:r>
            <a:r>
              <a:rPr sz="2000"/>
              <a:t> was a category — there is nothing to zoom.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 — </a:t>
            </a:r>
            <a:r>
              <a:rPr>
                <a:latin typeface="Courier"/>
              </a:rPr>
              <a:t>ylim()</a:t>
            </a:r>
            <a:r>
              <a:rPr/>
              <a:t> Deletes Data, </a:t>
            </a:r>
            <a:r>
              <a:rPr>
                <a:latin typeface="Courier"/>
              </a:rPr>
              <a:t>coord_cartesian()</a:t>
            </a:r>
            <a:r>
              <a:rPr/>
              <a:t> Does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Both plots below ask for a y-axis running 14 to 16 mm. One of them changes where the boxes are drawn. Which one, and why?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❌ ylim() THROWS AWAY every row outside the range first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ylim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"ylim() — boxes redrawn from survivors"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✅ coord_cartesian() keeps every row and just crops the view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"coord_cartesian() — same boxes, zoomed"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coord-4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27000" y="1295400"/>
            <a:ext cx="4432300" cy="325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ylim(14, 16)</a:t>
            </a:r>
            <a:r>
              <a:rPr sz="2000"/>
              <a:t> and </a:t>
            </a:r>
            <a:r>
              <a:rPr sz="2000">
                <a:latin typeface="Courier"/>
              </a:rPr>
              <a:t>scale_y_continuous(limits = c(14, 16))</a:t>
            </a:r>
            <a:r>
              <a:rPr sz="2000"/>
              <a:t> </a:t>
            </a:r>
            <a:r>
              <a:rPr sz="2000" b="1"/>
              <a:t>filter the data before the geom draws it</a:t>
            </a:r>
            <a:r>
              <a:rPr sz="2000"/>
              <a:t>. Every needle outside 14–16 mm is silently dropped, and the median, the quartiles, and the whiskers are all recomputed from what is left. R warns about “removed rows” and students read past it every time.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coord_cartesian()</a:t>
            </a:r>
            <a:r>
              <a:rPr sz="2000"/>
              <a:t> computes the statistics on </a:t>
            </a:r>
            <a:r>
              <a:rPr sz="2000" b="1"/>
              <a:t>all</a:t>
            </a:r>
            <a:r>
              <a:rPr sz="2000"/>
              <a:t> the data and then zooms the camera. The boxes do not move.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rule</a:t>
            </a:r>
          </a:p>
          <a:p>
            <a:pPr lvl="0" indent="0" marL="1270000">
              <a:buNone/>
            </a:pPr>
            <a:r>
              <a:rPr sz="2000"/>
              <a:t>Use </a:t>
            </a:r>
            <a:r>
              <a:rPr sz="2000">
                <a:latin typeface="Courier"/>
              </a:rPr>
              <a:t>coord_cartesian()</a:t>
            </a:r>
            <a:r>
              <a:rPr sz="2000"/>
              <a:t> to zoom. Use </a:t>
            </a:r>
            <a:r>
              <a:rPr sz="2000">
                <a:latin typeface="Courier"/>
              </a:rPr>
              <a:t>filter()</a:t>
            </a:r>
            <a:r>
              <a:rPr sz="2000"/>
              <a:t> when you actually mean to remove data — on purpose, in the data step, where you can see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changing the axis </a:t>
            </a:r>
            <a:r>
              <a:rPr sz="2000" b="1" i="1"/>
              <a:t>scale</a:t>
            </a:r>
            <a:r>
              <a:rPr sz="2000" b="1"/>
              <a:t>, not just its limits</a:t>
            </a:r>
          </a:p>
          <a:p>
            <a:pPr lvl="0" indent="0" marL="1270000">
              <a:buNone/>
            </a:pPr>
            <a:r>
              <a:rPr sz="2000"/>
              <a:t>Right-skewed data (a few very large values squashing everything else into a corner) is usually better read on a log axis: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scale_x_log10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the AXIS is logged; the data are untouched</a:t>
            </a:r>
          </a:p>
          <a:p>
            <a:pPr lvl="0" indent="0" marL="1270000">
              <a:buNone/>
            </a:pPr>
            <a:r>
              <a:rPr sz="2000"/>
              <a:t>That is different again from logging the data itself with </a:t>
            </a:r>
            <a:r>
              <a:rPr sz="2000">
                <a:latin typeface="Courier"/>
              </a:rPr>
              <a:t>mutate(log_length = log(needle_length_mm))</a:t>
            </a:r>
            <a:r>
              <a:rPr sz="2000"/>
              <a:t>, which changes the numbers every later calculation sees.</a:t>
            </a:r>
          </a:p>
          <a:p>
            <a:pPr lvl="0" indent="0" marL="1270000">
              <a:buNone/>
            </a:pPr>
            <a:r>
              <a:rPr sz="2000"/>
              <a:t>Nothing today needs it — our needles are not skewed. Try it on your scatterplot if you are curious, and we will come back to it when a distribution actually calls for it.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3c</a:t>
            </a:r>
            <a:r>
              <a:rPr sz="2000"/>
              <a:t> — set your axis limits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. The </a:t>
            </a:r>
            <a:r>
              <a:rPr sz="2000">
                <a:latin typeface="Courier"/>
              </a:rPr>
              <a:t>ylim()</a:t>
            </a:r>
            <a:r>
              <a:rPr sz="2000"/>
              <a:t> trap stays on screen; you do not need to type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Mapping Color by Group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Mapping Color by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pine_team_plot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Colored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"Field team"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pine_team_plot</a:t>
            </a:r>
          </a:p>
        </p:txBody>
      </p:sp>
      <p:pic>
        <p:nvPicPr>
          <p:cNvPr descr="graphing_effectively_lecture_files/figure-pptx/graphing-effectively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color = team</a:t>
            </a:r>
            <a:r>
              <a:rPr/>
              <a:t> maps a </a:t>
            </a:r>
            <a:r>
              <a:rPr b="1"/>
              <a:t>third variable</a:t>
            </a:r>
            <a:r>
              <a:rPr/>
              <a:t> onto the plot — no new geom needed</a:t>
            </a:r>
          </a:p>
          <a:p>
            <a:pPr lvl="0"/>
            <a:r>
              <a:rPr>
                <a:latin typeface="Courier"/>
              </a:rPr>
              <a:t>ggplot</a:t>
            </a:r>
            <a:r>
              <a:rPr/>
              <a:t> auto-builds the legend and picks colors for you</a:t>
            </a:r>
          </a:p>
          <a:p>
            <a:pPr lvl="0"/>
            <a:r>
              <a:rPr/>
              <a:t>Mapping inside </a:t>
            </a:r>
            <a:r>
              <a:rPr>
                <a:latin typeface="Courier"/>
              </a:rPr>
              <a:t>aes()</a:t>
            </a:r>
            <a:r>
              <a:rPr/>
              <a:t> always means “vary this by data” — not “make everything this color”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color = "darkblue"</a:t>
            </a:r>
            <a:r>
              <a:rPr sz="2000"/>
              <a:t> </a:t>
            </a:r>
            <a:r>
              <a:rPr sz="2000" b="1"/>
              <a:t>outside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sets one fixed color. </a:t>
            </a:r>
            <a:r>
              <a:rPr sz="2000">
                <a:latin typeface="Courier"/>
              </a:rPr>
              <a:t>color = team</a:t>
            </a:r>
            <a:r>
              <a:rPr sz="2000"/>
              <a:t> </a:t>
            </a:r>
            <a:r>
              <a:rPr sz="2000" b="1"/>
              <a:t>inside</a:t>
            </a:r>
            <a:r>
              <a:rPr sz="2000"/>
              <a:t> </a:t>
            </a:r>
            <a:r>
              <a:rPr sz="2000">
                <a:latin typeface="Courier"/>
              </a:rPr>
              <a:t>aes()</a:t>
            </a:r>
            <a:r>
              <a:rPr sz="2000"/>
              <a:t> maps colors to a variable. Mixing these up is one of the most common </a:t>
            </a:r>
            <a:r>
              <a:rPr sz="2000">
                <a:latin typeface="Courier"/>
              </a:rPr>
              <a:t>ggplot</a:t>
            </a:r>
            <a:r>
              <a:rPr sz="2000"/>
              <a:t> mistakes.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Worth knowing — where you put </a:t>
            </a:r>
            <a:r>
              <a:rPr sz="2000" b="1">
                <a:latin typeface="Courier"/>
              </a:rPr>
              <a:t>aes()</a:t>
            </a:r>
            <a:r>
              <a:rPr sz="2000" b="1"/>
              <a:t> matters too</a:t>
            </a:r>
          </a:p>
          <a:p>
            <a:pPr lvl="0" indent="0" marL="1270000">
              <a:buNone/>
            </a:pPr>
            <a:r>
              <a:rPr sz="2000"/>
              <a:t>An </a:t>
            </a:r>
            <a:r>
              <a:rPr sz="2000">
                <a:latin typeface="Courier"/>
              </a:rPr>
              <a:t>aes()</a:t>
            </a:r>
            <a:r>
              <a:rPr sz="2000"/>
              <a:t> inside </a:t>
            </a:r>
            <a:r>
              <a:rPr sz="2000">
                <a:latin typeface="Courier"/>
              </a:rPr>
              <a:t>ggplot()</a:t>
            </a:r>
            <a:r>
              <a:rPr sz="2000"/>
              <a:t> is </a:t>
            </a:r>
            <a:r>
              <a:rPr sz="2000" b="1"/>
              <a:t>global</a:t>
            </a:r>
            <a:r>
              <a:rPr sz="2000"/>
              <a:t>: every layer inherits it. An </a:t>
            </a:r>
            <a:r>
              <a:rPr sz="2000">
                <a:latin typeface="Courier"/>
              </a:rPr>
              <a:t>aes()</a:t>
            </a:r>
            <a:r>
              <a:rPr sz="2000"/>
              <a:t> inside a single geom applies to </a:t>
            </a:r>
            <a:r>
              <a:rPr sz="2000" b="1"/>
              <a:t>that layer only</a:t>
            </a:r>
            <a:r>
              <a:rPr sz="2000"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global — both layers colored by side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per-layer — points colored by team, the mean drawn in plain black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Just know it exists for now — we will lean on it later, when a plot has to show raw data and a fitted model at the same time.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§9.1 — Aesthetic mappings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</a:t>
            </a:r>
            <a:r>
              <a:rPr sz="2000"/>
              <a:t> — map </a:t>
            </a:r>
            <a:r>
              <a:rPr sz="2000">
                <a:latin typeface="Courier"/>
              </a:rPr>
              <a:t>color =</a:t>
            </a:r>
            <a:r>
              <a:rPr sz="2000"/>
              <a:t> / </a:t>
            </a:r>
            <a:r>
              <a:rPr sz="2000">
                <a:latin typeface="Courier"/>
              </a:rPr>
              <a:t>fill =</a:t>
            </a:r>
            <a:r>
              <a:rPr sz="2000"/>
              <a:t> to a third variable.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Histograms and Density — Seeing the Whole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everything in this part is on the worksheet, so it is safe to work through on your own if we run short in class.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— the Shape Behind the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Describing Your Data we found the overall </a:t>
            </a:r>
            <a:r>
              <a:rPr sz="2000">
                <a:latin typeface="Courier"/>
              </a:rPr>
              <a:t>mean(needle_length_mm)</a:t>
            </a:r>
            <a:r>
              <a:rPr sz="2000"/>
              <a:t> ≈ 14.67 and the median ≈ 14.55 — nearly identical. What shape do you expect the full distribution to have — symmetric, or skewed?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Needle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binwidth</a:t>
            </a:r>
            <a:r>
              <a:rPr/>
              <a:t> sets the width of each bar in </a:t>
            </a:r>
            <a:r>
              <a:rPr b="1"/>
              <a:t>data units</a:t>
            </a:r>
            <a:r>
              <a:rPr/>
              <a:t> (here, 2mm)</a:t>
            </a:r>
          </a:p>
          <a:p>
            <a:pPr lvl="0"/>
            <a:r>
              <a:rPr/>
              <a:t>Too wide hides structure; too narrow shows noise — try a few values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Change </a:t>
            </a:r>
            <a:r>
              <a:rPr sz="2000">
                <a:latin typeface="Courier"/>
              </a:rPr>
              <a:t>binwidth = 2</a:t>
            </a:r>
            <a:r>
              <a:rPr sz="2000"/>
              <a:t> to </a:t>
            </a:r>
            <a:r>
              <a:rPr sz="2000">
                <a:latin typeface="Courier"/>
              </a:rPr>
              <a:t>binwidth = 0.5</a:t>
            </a:r>
            <a:r>
              <a:rPr sz="2000"/>
              <a:t> and to </a:t>
            </a:r>
            <a:r>
              <a:rPr sz="2000">
                <a:latin typeface="Courier"/>
              </a:rPr>
              <a:t>binwidth = 5</a:t>
            </a:r>
            <a:r>
              <a:rPr sz="2000"/>
              <a:t>. Which tells the real story?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frequency distributions and choosing bin width.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§10.3 — Variation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Histograms by Group — </a:t>
            </a:r>
            <a:r>
              <a:rPr>
                <a:latin typeface="Courier"/>
              </a:rPr>
              <a:t>fill</a:t>
            </a:r>
            <a:r>
              <a:rPr/>
              <a:t> and </a:t>
            </a:r>
            <a:r>
              <a:rPr>
                <a:latin typeface="Courier"/>
              </a:rPr>
              <a:t>facet_wrap()</a:t>
            </a:r>
            <a:r>
              <a:rPr/>
              <a:t>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Overlapping histograms on one panel are hard to read. Faceting stacks them into separate panels sharing an x-axis — same comparison, much clearer.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Density Curves — a Smoothed Alternative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Density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Histogram vs. density</a:t>
            </a:r>
          </a:p>
          <a:p>
            <a:pPr lvl="0" indent="0" marL="1270000">
              <a:buNone/>
            </a:pPr>
            <a:r>
              <a:rPr sz="2000"/>
              <a:t>A density curve is a smoothed histogram, rescaled so the area under each curve sums to 1. It overlays cleanly for group comparisons — no faceting required, at the cost of hiding the raw bin counts.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3 — Summary Statistics, on the shape of a distribution behind any mean and SD you report.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4b</a:t>
            </a:r>
            <a:r>
              <a:rPr sz="2000"/>
              <a:t> — histograms and density curves. ⏱ Skip it if we are short; nothing later depends on it.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Mean ± SE — Plotted Directly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 ± SE — Plotted Directly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Needle Length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pine_mean_se_plot</a:t>
            </a:r>
          </a:p>
        </p:txBody>
      </p:sp>
      <p:pic>
        <p:nvPicPr>
          <p:cNvPr descr="graphing_effectively_lecture_files/figure-pptx/graphing-effectively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</a:t>
            </a:r>
            <a:r>
              <a:rPr b="1">
                <a:latin typeface="Courier"/>
              </a:rPr>
              <a:t>stat_summary()</a:t>
            </a:r>
            <a:r>
              <a:rPr b="1"/>
              <a:t> layers: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draws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 = mean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large point at the mean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fun.data = mean_se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error bars for ± 1 SE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stat_summary()</a:t>
            </a:r>
            <a:r>
              <a:rPr/>
              <a:t> computes the mean and SE </a:t>
            </a:r>
            <a:r>
              <a:rPr b="1"/>
              <a:t>for you</a:t>
            </a:r>
            <a:r>
              <a:rPr/>
              <a:t>, straight from the raw data — no </a:t>
            </a:r>
            <a:r>
              <a:rPr>
                <a:latin typeface="Courier"/>
              </a:rPr>
              <a:t>summarize()</a:t>
            </a:r>
            <a:r>
              <a:rPr/>
              <a:t> step required first.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Convenient, but read the fine print</a:t>
            </a:r>
          </a:p>
          <a:p>
            <a:pPr lvl="0" indent="0" marL="1270000">
              <a:buNone/>
            </a:pPr>
            <a:r>
              <a:rPr sz="2000"/>
              <a:t>“Straight from the raw data” means it used </a:t>
            </a:r>
            <a:r>
              <a:rPr sz="2000" b="1"/>
              <a:t>all 64 needles</a:t>
            </a:r>
            <a:r>
              <a:rPr sz="2000"/>
              <a:t>. Those are the </a:t>
            </a:r>
            <a:r>
              <a:rPr sz="2000" i="1"/>
              <a:t>naive</a:t>
            </a:r>
            <a:r>
              <a:rPr sz="2000"/>
              <a:t> error bars from Describing Your Data — the ones that treat 8 needles from one tree as 8 independent facts.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on what an error bar is an estimate of.</a:t>
            </a:r>
            <a:br/>
            <a:r>
              <a:rPr sz="2000"/>
              <a:t>Gotelli &amp; Ellison, Ch. 6 — Designing Successful Field Studies, on why independence decides which rows you may average.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error bar is a claim — make it an honest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are about to draw the same two means, but with error bars built from the </a:t>
            </a:r>
            <a:r>
              <a:rPr sz="2000" b="1"/>
              <a:t>4 tree means</a:t>
            </a:r>
            <a:r>
              <a:rPr sz="2000"/>
              <a:t> instead of the 64 needles. Will the dots move? Will the bars?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team_means_df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team_mean_mm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(team_means_df,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team_mean_mm,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SE, computed from 4 trees"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270000"/>
            <a:ext cx="4064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dots. Longer bars.</a:t>
            </a:r>
          </a:p>
          <a:p>
            <a:pPr lvl="0" indent="0" marL="1270000">
              <a:buNone/>
            </a:pPr>
            <a:r>
              <a:rPr sz="2000"/>
              <a:t>The means are identical (14.12 and 15.21). The SEs went from 0.49/0.46 to </a:t>
            </a:r>
            <a:r>
              <a:rPr sz="2000" b="1"/>
              <a:t>1.01/0.79</a:t>
            </a:r>
            <a:r>
              <a:rPr sz="2000"/>
              <a:t> — roughly double.</a:t>
            </a:r>
          </a:p>
          <a:p>
            <a:pPr lvl="0" indent="0" marL="1270000">
              <a:buNone/>
            </a:pPr>
            <a:r>
              <a:rPr sz="2000"/>
              <a:t>Each small point here is </a:t>
            </a:r>
            <a:r>
              <a:rPr sz="2000" b="1"/>
              <a:t>one tree</a:t>
            </a:r>
            <a:r>
              <a:rPr sz="2000"/>
              <a:t>, not one needle. That is the plot our design actually supports.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habit</a:t>
            </a:r>
          </a:p>
          <a:p>
            <a:pPr lvl="0" indent="0" marL="1270000">
              <a:buNone/>
            </a:pPr>
            <a:r>
              <a:rPr sz="2000"/>
              <a:t>Before you draw an error bar, ask what one point in it represents. </a:t>
            </a:r>
            <a:r>
              <a:rPr sz="2000">
                <a:latin typeface="Courier"/>
              </a:rPr>
              <a:t>stat_summary()</a:t>
            </a:r>
            <a:r>
              <a:rPr sz="2000"/>
              <a:t> will happily compute an SE over anything you hand it — including rows that aren’t independent.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5</a:t>
            </a:r>
            <a:r>
              <a:rPr sz="2000"/>
              <a:t> — mean ± SE with </a:t>
            </a:r>
            <a:r>
              <a:rPr sz="2000">
                <a:latin typeface="Courier"/>
              </a:rPr>
              <a:t>stat_summary()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Faceting — One Panel Per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⏱ If time allows</a:t>
            </a:r>
            <a:r>
              <a:rPr sz="2000"/>
              <a:t> — the worksheet walks through this one too.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Faceting — One Panel Per Group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pine_facet_plot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team)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Side, Faceted by Team"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pine_facet_plot</a:t>
            </a:r>
          </a:p>
        </p:txBody>
      </p:sp>
      <p:pic>
        <p:nvPicPr>
          <p:cNvPr descr="graphing_effectively_lecture_files/figure-pptx/graphing-effectively-1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facet_wrap(~team)</a:t>
            </a:r>
            <a:r>
              <a:rPr/>
              <a:t> gives each field team its </a:t>
            </a:r>
            <a:r>
              <a:rPr b="1"/>
              <a:t>own small panel</a:t>
            </a:r>
          </a:p>
          <a:p>
            <a:pPr lvl="0"/>
            <a:r>
              <a:rPr/>
              <a:t>Same x/y scale across panels — easy to compare</a:t>
            </a:r>
          </a:p>
          <a:p>
            <a:pPr lvl="0"/>
            <a:r>
              <a:rPr/>
              <a:t>Useful the moment “does every group show the same pattern?” is the real question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A faceted plot answers a different question than a single colored plot: not just “is there an overall pattern,” but “does the pattern hold for </a:t>
            </a:r>
            <a:r>
              <a:rPr sz="2000" i="1"/>
              <a:t>everyone</a:t>
            </a:r>
            <a:r>
              <a:rPr sz="2000"/>
              <a:t>?”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§9.5 — Facets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6</a:t>
            </a:r>
            <a:r>
              <a:rPr sz="2000"/>
              <a:t> — facet by field team. ⏱ Skip it if we are short.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Themes — Write It Once, Use It Everywhere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Built-in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theme_minimal()</a:t>
            </a:r>
            <a:r>
              <a:rPr/>
              <a:t> — light, few gridlines (what we have used so far)</a:t>
            </a:r>
          </a:p>
          <a:p>
            <a:pPr lvl="0"/>
            <a:r>
              <a:rPr>
                <a:latin typeface="Courier"/>
              </a:rPr>
              <a:t>theme_bw()</a:t>
            </a:r>
            <a:r>
              <a:rPr/>
              <a:t> — white background, black-and-white frame</a:t>
            </a:r>
          </a:p>
          <a:p>
            <a:pPr lvl="0"/>
            <a:r>
              <a:rPr>
                <a:latin typeface="Courier"/>
              </a:rPr>
              <a:t>theme_classic()</a:t>
            </a:r>
            <a:r>
              <a:rPr/>
              <a:t> — just x/y axis lines, no gridlines</a:t>
            </a:r>
          </a:p>
          <a:p>
            <a:pPr lvl="0" indent="0" marL="0">
              <a:buNone/>
            </a:pPr>
            <a:r>
              <a:rPr/>
              <a:t>A theme changes </a:t>
            </a:r>
            <a:r>
              <a:rPr b="1"/>
              <a:t>appearance only</a:t>
            </a:r>
            <a:r>
              <a:rPr/>
              <a:t> — never the data or the statistics underneath.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The problem with the built-ins</a:t>
            </a:r>
          </a:p>
          <a:p>
            <a:pPr lvl="0" indent="0" marL="1270000">
              <a:buNone/>
            </a:pPr>
            <a:r>
              <a:rPr sz="2000"/>
              <a:t>None of them is quite publication-ready, so you end up appending ten lines of </a:t>
            </a:r>
            <a:r>
              <a:rPr sz="2000">
                <a:latin typeface="Courier"/>
              </a:rPr>
              <a:t>theme(axis.title = element_text(...), ...)</a:t>
            </a:r>
            <a:r>
              <a:rPr sz="2000"/>
              <a:t> to every single plot — and retyping them in every script, slightly differently each time.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Themes File — Three Sizes, Written Once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</a:t>
            </a:r>
            <a:r>
              <a:rPr b="1">
                <a:latin typeface="Courier"/>
              </a:rPr>
              <a:t>r_themes_for_3_sizes.R</a:t>
            </a:r>
            <a:r>
              <a:rPr/>
              <a:t> from the activity page and save it in your </a:t>
            </a:r>
            <a:r>
              <a:rPr b="1"/>
              <a:t>project folder</a:t>
            </a:r>
            <a:r>
              <a:rPr/>
              <a:t>, next to your </a:t>
            </a:r>
            <a:r>
              <a:rPr>
                <a:latin typeface="Courier"/>
              </a:rPr>
              <a:t>.Rproj</a:t>
            </a:r>
            <a:r>
              <a:rPr/>
              <a:t> file.</a:t>
            </a:r>
          </a:p>
          <a:p>
            <a:pPr lvl="0" indent="0" marL="0">
              <a:buNone/>
            </a:pPr>
            <a:r>
              <a:rPr/>
              <a:t>It defines three functions, each sized for a different final output: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Built for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 font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theme_small()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~3 × 3 in — a journal panel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theme_regular()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~7 × 7 in — a report figure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 pt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theme_large()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~16 × 16 in — a poster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 pt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give you the same publication look: white background, a black panel border, black axis lines and ticks, bold axis titles, no gridlines.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steps, once each</a:t>
            </a:r>
          </a:p>
          <a:p>
            <a:pPr lvl="0" indent="-342900" marL="342900">
              <a:buAutoNum type="arabicPeriod"/>
            </a:pPr>
            <a:r>
              <a:rPr sz="2000" b="1"/>
              <a:t>Open the file and run it</a:t>
            </a:r>
            <a:r>
              <a:rPr sz="2000"/>
              <a:t> (Ctrl/Cmd + Shift + Enter, or Source). Look at your Environment pane — </a:t>
            </a:r>
            <a:r>
              <a:rPr sz="2000">
                <a:latin typeface="Courier"/>
              </a:rPr>
              <a:t>theme_small</a:t>
            </a:r>
            <a:r>
              <a:rPr sz="2000"/>
              <a:t>, </a:t>
            </a:r>
            <a:r>
              <a:rPr sz="2000">
                <a:latin typeface="Courier"/>
              </a:rPr>
              <a:t>theme_regular</a:t>
            </a:r>
            <a:r>
              <a:rPr sz="2000"/>
              <a:t>, and </a:t>
            </a:r>
            <a:r>
              <a:rPr sz="2000">
                <a:latin typeface="Courier"/>
              </a:rPr>
              <a:t>theme_large</a:t>
            </a:r>
            <a:r>
              <a:rPr sz="2000"/>
              <a:t> appear as functions. That is all “running it” does: it defines them.</a:t>
            </a:r>
          </a:p>
          <a:p>
            <a:pPr lvl="0" indent="-342900" marL="342900">
              <a:buAutoNum type="arabicPeriod"/>
            </a:pPr>
            <a:r>
              <a:rPr sz="2000" b="1"/>
              <a:t>From then on,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it</a:t>
            </a:r>
            <a:r>
              <a:rPr sz="2000"/>
              <a:t> at the top of any script that makes a figure. One line replaces the whole block of theme code you would otherwise paste into every script.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At the top of your script,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with library(tidyverse):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"r_themes_for_3_sizes.R"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and not copy-paste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runs that file top to bottom, exactly as if you had typed it. Fix a margin in the themes file once and </a:t>
            </a:r>
            <a:r>
              <a:rPr sz="2000" b="1"/>
              <a:t>every</a:t>
            </a:r>
            <a:r>
              <a:rPr sz="2000"/>
              <a:t> figure in every script picks up the change the next time you run it.</a:t>
            </a:r>
          </a:p>
          <a:p>
            <a:pPr lvl="0" indent="0" marL="1270000">
              <a:buNone/>
            </a:pPr>
            <a:r>
              <a:rPr sz="2000"/>
              <a:t>Copy-pasted theme code gives you fifteen slightly different themes and no way to fix them all.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source()</a:t>
            </a:r>
            <a:r>
              <a:rPr sz="2000"/>
              <a:t> needs the path to be right. With the file in your project root and an </a:t>
            </a:r>
            <a:r>
              <a:rPr sz="2000">
                <a:latin typeface="Courier"/>
              </a:rPr>
              <a:t>.Rproj</a:t>
            </a:r>
            <a:r>
              <a:rPr sz="2000"/>
              <a:t> open, </a:t>
            </a:r>
            <a:r>
              <a:rPr sz="2000">
                <a:latin typeface="Courier"/>
              </a:rPr>
              <a:t>"r_themes_for_3_sizes.R"</a:t>
            </a:r>
            <a:r>
              <a:rPr sz="2000"/>
              <a:t> is enough. Put it in a </a:t>
            </a:r>
            <a:r>
              <a:rPr sz="2000">
                <a:latin typeface="Courier"/>
              </a:rPr>
              <a:t>scripts/</a:t>
            </a:r>
            <a:r>
              <a:rPr sz="2000"/>
              <a:t> folder and it becomes </a:t>
            </a:r>
            <a:r>
              <a:rPr sz="2000">
                <a:latin typeface="Courier"/>
              </a:rPr>
              <a:t>source("scripts/r_themes_for_3_sizes.R")</a:t>
            </a:r>
            <a:r>
              <a:rPr sz="2000"/>
              <a:t>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the Themes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pine_theme_plot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coord_cartesian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pine_theme_plot</a:t>
            </a:r>
          </a:p>
        </p:txBody>
      </p:sp>
      <p:pic>
        <p:nvPicPr>
          <p:cNvPr descr="graphing_effectively_lecture_files/figure-pptx/graphing-effectively-theme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one more </a:t>
            </a:r>
            <a:r>
              <a:rPr>
                <a:latin typeface="Courier"/>
              </a:rPr>
              <a:t>+</a:t>
            </a:r>
            <a:r>
              <a:rPr/>
              <a:t> layer, exactly like </a:t>
            </a:r>
            <a:r>
              <a:rPr>
                <a:latin typeface="Courier"/>
              </a:rPr>
              <a:t>theme_minimal()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theme_small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3 × 3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()    </a:t>
            </a:r>
            <a:r>
              <a:rPr>
                <a:solidFill>
                  <a:srgbClr val="5E5E5E"/>
                </a:solidFill>
                <a:latin typeface="Courier"/>
              </a:rPr>
              <a:t># 7 × 7 in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theme_large</a:t>
            </a:r>
            <a:r>
              <a:rPr>
                <a:solidFill>
                  <a:srgbClr val="003B4F"/>
                </a:solidFill>
                <a:latin typeface="Courier"/>
              </a:rPr>
              <a:t>()      </a:t>
            </a:r>
            <a:r>
              <a:rPr>
                <a:solidFill>
                  <a:srgbClr val="5E5E5E"/>
                </a:solidFill>
                <a:latin typeface="Courier"/>
              </a:rPr>
              <a:t># poster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Match the theme to the size you will save</a:t>
            </a:r>
          </a:p>
          <a:p>
            <a:pPr lvl="0" indent="0" marL="1270000">
              <a:buNone/>
            </a:pPr>
            <a:r>
              <a:rPr sz="2000"/>
              <a:t>Pick the theme for the figure’s </a:t>
            </a:r>
            <a:r>
              <a:rPr sz="2000" b="1"/>
              <a:t>final printed size</a:t>
            </a:r>
            <a:r>
              <a:rPr sz="2000"/>
              <a:t>, then pass that same size to </a:t>
            </a:r>
            <a:r>
              <a:rPr sz="2000">
                <a:latin typeface="Courier"/>
              </a:rPr>
              <a:t>ggsave()</a:t>
            </a:r>
            <a:r>
              <a:rPr sz="2000"/>
              <a:t>. A </a:t>
            </a:r>
            <a:r>
              <a:rPr sz="2000">
                <a:latin typeface="Courier"/>
              </a:rPr>
              <a:t>theme_large()</a:t>
            </a:r>
            <a:r>
              <a:rPr sz="2000"/>
              <a:t> plot saved at 3 × 3 in is unreadable, and </a:t>
            </a:r>
            <a:r>
              <a:rPr sz="2000">
                <a:latin typeface="Courier"/>
              </a:rPr>
              <a:t>theme_small()</a:t>
            </a:r>
            <a:r>
              <a:rPr sz="2000"/>
              <a:t> on a poster disappears.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Still your plot</a:t>
            </a:r>
          </a:p>
          <a:p>
            <a:pPr lvl="0" indent="0" marL="1270000">
              <a:buNone/>
            </a:pPr>
            <a:r>
              <a:rPr sz="2000"/>
              <a:t>Anything you add after the theme still wins — </a:t>
            </a:r>
            <a:r>
              <a:rPr sz="2000">
                <a:latin typeface="Courier"/>
              </a:rPr>
              <a:t>theme_small() + theme(legend.position = "none")</a:t>
            </a:r>
            <a:r>
              <a:rPr sz="2000"/>
              <a:t> keeps the theme and drops the legend.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Parts 7 and 7b</a:t>
            </a:r>
            <a:r>
              <a:rPr sz="2000"/>
              <a:t> — try the built-in themes, then download, run, and </a:t>
            </a:r>
            <a:r>
              <a:rPr sz="2000">
                <a:latin typeface="Courier"/>
              </a:rPr>
              <a:t>source()</a:t>
            </a:r>
            <a:r>
              <a:rPr sz="2000"/>
              <a:t> the themes file.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Many Plots on One Page — </a:t>
            </a:r>
            <a:r>
              <a:rPr>
                <a:latin typeface="Courier"/>
              </a:rPr>
              <a:t>patchwork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+</a:t>
            </a:r>
            <a:r>
              <a:rPr/>
              <a:t> for Whole Plots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"patchwork"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computer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</a:p>
          <a:p>
            <a:pPr lvl="0" indent="0" marL="0">
              <a:buNone/>
            </a:pPr>
            <a:r>
              <a:rPr/>
              <a:t>Save each plot into an object, then combine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side by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plot_a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plot_b     </a:t>
            </a:r>
            <a:r>
              <a:rPr>
                <a:solidFill>
                  <a:srgbClr val="5E5E5E"/>
                </a:solidFill>
                <a:latin typeface="Courier"/>
              </a:rPr>
              <a:t># stacked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patchwork</a:t>
            </a:r>
            <a:r>
              <a:rPr sz="2000"/>
              <a:t> reuses the operators you already know. </a:t>
            </a:r>
            <a:r>
              <a:rPr sz="2000">
                <a:latin typeface="Courier"/>
              </a:rPr>
              <a:t>+</a:t>
            </a:r>
            <a:r>
              <a:rPr sz="2000"/>
              <a:t> puts plots </a:t>
            </a:r>
            <a:r>
              <a:rPr sz="2000" b="1"/>
              <a:t>beside</a:t>
            </a:r>
            <a:r>
              <a:rPr sz="2000"/>
              <a:t> each other, </a:t>
            </a:r>
            <a:r>
              <a:rPr sz="2000">
                <a:latin typeface="Courier"/>
              </a:rPr>
              <a:t>/</a:t>
            </a:r>
            <a:r>
              <a:rPr sz="2000"/>
              <a:t> puts one </a:t>
            </a:r>
            <a:r>
              <a:rPr sz="2000" b="1"/>
              <a:t>over</a:t>
            </a:r>
            <a:r>
              <a:rPr sz="2000"/>
              <a:t> the other — and the result is still a plot object you can save.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</a:t>
            </a:r>
          </a:p>
        </p:txBody>
      </p:sp>
      <p:pic>
        <p:nvPicPr>
          <p:cNvPr descr="graphing_effectively_lecture_files/figure-pptx/graphing-effectively-patchwor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patchwork</a:t>
            </a:r>
            <a:r>
              <a:rPr/>
              <a:t> — Building a Real Figure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combined_plot &lt;- (pine_jitter_plot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pine_mean_se_plot)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pine_scatter_plot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plot_annotation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tag_levels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combined_plot</a:t>
            </a:r>
          </a:p>
        </p:txBody>
      </p:sp>
      <p:pic>
        <p:nvPicPr>
          <p:cNvPr descr="graphing_effectively_lecture_files/figure-pptx/graphing-effectively-patchwor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9400" y="1270000"/>
            <a:ext cx="41275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Parentheses group plots, exactly like arithmetic: </a:t>
            </a:r>
            <a:r>
              <a:rPr>
                <a:latin typeface="Courier"/>
              </a:rPr>
              <a:t>(a + b) / c</a:t>
            </a:r>
            <a:r>
              <a:rPr/>
              <a:t> is two on top, one across the bottom</a:t>
            </a:r>
          </a:p>
          <a:p>
            <a:pPr lvl="0"/>
            <a:r>
              <a:rPr>
                <a:latin typeface="Courier"/>
              </a:rPr>
              <a:t>plot_annotation(tag_levels = "A")</a:t>
            </a:r>
            <a:r>
              <a:rPr/>
              <a:t> tags the panels </a:t>
            </a:r>
            <a:r>
              <a:rPr b="1"/>
              <a:t>A</a:t>
            </a:r>
            <a:r>
              <a:rPr/>
              <a:t>, </a:t>
            </a:r>
            <a:r>
              <a:rPr b="1"/>
              <a:t>B</a:t>
            </a:r>
            <a:r>
              <a:rPr/>
              <a:t>, </a:t>
            </a:r>
            <a:r>
              <a:rPr b="1"/>
              <a:t>C</a:t>
            </a:r>
            <a:r>
              <a:rPr/>
              <a:t> — what a figure caption refers to</a:t>
            </a:r>
          </a:p>
          <a:p>
            <a:pPr lvl="0"/>
            <a:r>
              <a:rPr>
                <a:latin typeface="Courier"/>
              </a:rPr>
              <a:t>combined_plot</a:t>
            </a:r>
            <a:r>
              <a:rPr/>
              <a:t> is one object, so </a:t>
            </a:r>
            <a:r>
              <a:rPr>
                <a:latin typeface="Courier"/>
              </a:rPr>
              <a:t>ggsave()</a:t>
            </a:r>
            <a:r>
              <a:rPr/>
              <a:t> saves the whole multi-panel figure in one call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Size it for the whole figure</a:t>
            </a:r>
          </a:p>
          <a:p>
            <a:pPr lvl="0" indent="0" marL="1270000">
              <a:buNone/>
            </a:pPr>
            <a:r>
              <a:rPr sz="2000"/>
              <a:t>A three-panel figure needs roughly three panels’ worth of space. Give </a:t>
            </a:r>
            <a:r>
              <a:rPr sz="2000">
                <a:latin typeface="Courier"/>
              </a:rPr>
              <a:t>ggsave()</a:t>
            </a:r>
            <a:r>
              <a:rPr sz="2000"/>
              <a:t> a </a:t>
            </a:r>
            <a:r>
              <a:rPr sz="2000">
                <a:latin typeface="Courier"/>
              </a:rPr>
              <a:t>width</a:t>
            </a:r>
            <a:r>
              <a:rPr sz="2000"/>
              <a:t>/</a:t>
            </a:r>
            <a:r>
              <a:rPr sz="2000">
                <a:latin typeface="Courier"/>
              </a:rPr>
              <a:t>height</a:t>
            </a:r>
            <a:r>
              <a:rPr sz="2000"/>
              <a:t> for the </a:t>
            </a:r>
            <a:r>
              <a:rPr sz="2000" b="1"/>
              <a:t>combined</a:t>
            </a:r>
            <a:r>
              <a:rPr sz="2000"/>
              <a:t> plot, not for one panel.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7c</a:t>
            </a:r>
            <a:r>
              <a:rPr sz="2000"/>
              <a:t> — combine your plots with </a:t>
            </a:r>
            <a:r>
              <a:rPr sz="2000">
                <a:latin typeface="Courier"/>
              </a:rPr>
              <a:t>patchwork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a Real Figure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Saving a Real Figure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panel, built with theme_small() — save it at the size the theme was written for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"figures/pine_needle_boxplot.png"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pine_theme_plot,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The three-panel patchwork figure — bigger canvas, one call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"figures/pine_needle_combined.png"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combined_plot,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If you skip </a:t>
            </a:r>
            <a:r>
              <a:rPr sz="2000">
                <a:latin typeface="Courier"/>
              </a:rPr>
              <a:t>plot =</a:t>
            </a:r>
            <a:r>
              <a:rPr sz="2000"/>
              <a:t>, it saves whatever plot was drawn </a:t>
            </a:r>
            <a:r>
              <a:rPr sz="2000" i="1"/>
              <a:t>last</a:t>
            </a:r>
            <a:r>
              <a:rPr sz="2000"/>
              <a:t> — not necessarily the one you meant.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Always set </a:t>
            </a:r>
            <a:r>
              <a:rPr sz="2000">
                <a:latin typeface="Courier"/>
              </a:rPr>
              <a:t>width</a:t>
            </a:r>
            <a:r>
              <a:rPr sz="2000"/>
              <a:t>, </a:t>
            </a:r>
            <a:r>
              <a:rPr sz="2000">
                <a:latin typeface="Courier"/>
              </a:rPr>
              <a:t>height</a:t>
            </a:r>
            <a:r>
              <a:rPr sz="2000"/>
              <a:t>, </a:t>
            </a:r>
            <a:r>
              <a:rPr sz="2000">
                <a:latin typeface="Courier"/>
              </a:rPr>
              <a:t>units</a:t>
            </a:r>
            <a:r>
              <a:rPr sz="2000"/>
              <a:t>, and </a:t>
            </a:r>
            <a:r>
              <a:rPr sz="2000">
                <a:latin typeface="Courier"/>
              </a:rPr>
              <a:t>dpi</a:t>
            </a:r>
            <a:r>
              <a:rPr sz="2000"/>
              <a:t> explicitly. Letting </a:t>
            </a:r>
            <a:r>
              <a:rPr sz="2000">
                <a:latin typeface="Courier"/>
              </a:rPr>
              <a:t>ggsave()</a:t>
            </a:r>
            <a:r>
              <a:rPr sz="2000"/>
              <a:t> guess gives you a plot sized for your screen, not for a report or a poster.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2 — Displaying Data, on what a figure has to carry to stand on its own in a report.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§11 — Communication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</a:t>
            </a:r>
            <a:r>
              <a:rPr sz="2000"/>
              <a:t> — save both figures with </a:t>
            </a:r>
            <a:r>
              <a:rPr sz="2000">
                <a:latin typeface="Courier"/>
              </a:rPr>
              <a:t>ggsave()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Come back when it runs. If it does not run, that is the interesting part — bring the error.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Custom Colors and Legends — </a:t>
            </a:r>
            <a:r>
              <a:rPr>
                <a:latin typeface="Courier"/>
              </a:rPr>
              <a:t>scale_color_manual()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Choosing Your Own Colors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Advanced / extra work</a:t>
            </a:r>
            <a:r>
              <a:rPr sz="2000"/>
              <a:t> — </a:t>
            </a:r>
            <a:r>
              <a:rPr sz="2000">
                <a:latin typeface="Courier"/>
              </a:rPr>
              <a:t>ggplot</a:t>
            </a:r>
            <a:r>
              <a:rPr sz="2000"/>
              <a:t>’s default colors are fine for exploring data, but a real figure often needs specific colors (journal style, colorblind-safe palettes, matching a poster). This is how you take control.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arguments, matched by 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what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legend title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labels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text shown for each level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actual color for each level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labels</a:t>
            </a:r>
            <a:r>
              <a:rPr sz="2000"/>
              <a:t> and </a:t>
            </a:r>
            <a:r>
              <a:rPr sz="2000">
                <a:latin typeface="Courier"/>
              </a:rPr>
              <a:t>values</a:t>
            </a:r>
            <a:r>
              <a:rPr sz="2000"/>
              <a:t> are both </a:t>
            </a:r>
            <a:r>
              <a:rPr sz="2000" b="1"/>
              <a:t>named vectors</a:t>
            </a:r>
            <a:r>
              <a:rPr sz="2000"/>
              <a:t>, keyed by the </a:t>
            </a:r>
            <a:r>
              <a:rPr sz="2000" i="1"/>
              <a:t>raw values in your data</a:t>
            </a:r>
            <a:r>
              <a:rPr sz="2000"/>
              <a:t> (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sunny</a:t>
            </a:r>
            <a:r>
              <a:rPr sz="2000"/>
              <a:t>) — not by the pretty text you want to display. </a:t>
            </a:r>
            <a:r>
              <a:rPr sz="2000">
                <a:latin typeface="Courier"/>
              </a:rPr>
              <a:t>ggplot</a:t>
            </a:r>
            <a:r>
              <a:rPr sz="2000"/>
              <a:t> looks up each raw value and substitutes the label/color you gave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these two colors?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#2c7fb8</a:t>
            </a:r>
            <a:r>
              <a:rPr sz="2000"/>
              <a:t> (blue) and </a:t>
            </a:r>
            <a:r>
              <a:rPr sz="2000">
                <a:latin typeface="Courier"/>
              </a:rPr>
              <a:t>#d95f0e</a:t>
            </a:r>
            <a:r>
              <a:rPr sz="2000"/>
              <a:t> (orange) are a </a:t>
            </a:r>
            <a:r>
              <a:rPr sz="2000" b="1"/>
              <a:t>blue–orange</a:t>
            </a:r>
            <a:r>
              <a:rPr sz="2000"/>
              <a:t> pair, the safest two-colour choice for colour-vision deficiency: red–green confusion, which affects roughly 8% of men, leaves the blue–orange axis intact.</a:t>
            </a:r>
          </a:p>
          <a:p>
            <a:pPr lvl="0" indent="0" marL="1270000">
              <a:buNone/>
            </a:pPr>
            <a:r>
              <a:rPr sz="2000"/>
              <a:t>Don’t take that on faith — check any pair you invent with a simulator (the </a:t>
            </a:r>
            <a:r>
              <a:rPr sz="2000">
                <a:latin typeface="Courier"/>
              </a:rPr>
              <a:t>colorblindr</a:t>
            </a:r>
            <a:r>
              <a:rPr sz="2000"/>
              <a:t> or </a:t>
            </a:r>
            <a:r>
              <a:rPr sz="2000">
                <a:latin typeface="Courier"/>
              </a:rPr>
              <a:t>dichromat</a:t>
            </a:r>
            <a:r>
              <a:rPr sz="2000"/>
              <a:t> packages), or start from a palette that was built for it: </a:t>
            </a:r>
            <a:r>
              <a:rPr sz="2000">
                <a:latin typeface="Courier"/>
              </a:rPr>
              <a:t>scale_color_viridis_d()</a:t>
            </a:r>
            <a:r>
              <a:rPr sz="2000"/>
              <a:t> or </a:t>
            </a:r>
            <a:r>
              <a:rPr sz="2000">
                <a:latin typeface="Courier"/>
              </a:rPr>
              <a:t>RColorBrewer::brewer.pal(n, "Dark2")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>
                <a:hlinkClick r:id="rId3"/>
              </a:rPr>
              <a:t>📖 R4DS §11.4 — Scales</a:t>
            </a:r>
            <a:r>
              <a:rPr sz="2000"/>
              <a:t>, including the ColorBrewer palettes.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scale_color_manual()</a:t>
            </a:r>
            <a:r>
              <a:rPr/>
              <a:t> — Getting the Names Wrong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Typo: "sun" instead of the real value "sunny"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/>
              <a:t>Every level that appears in your data </a:t>
            </a:r>
            <a:r>
              <a:rPr sz="2000" b="1"/>
              <a:t>must</a:t>
            </a:r>
            <a:r>
              <a:rPr sz="2000"/>
              <a:t> get an entry in </a:t>
            </a:r>
            <a:r>
              <a:rPr sz="2000">
                <a:latin typeface="Courier"/>
              </a:rPr>
              <a:t>values</a:t>
            </a:r>
          </a:p>
          <a:p>
            <a:pPr lvl="1"/>
            <a:r>
              <a:rPr sz="2000"/>
              <a:t>(and in </a:t>
            </a:r>
            <a:r>
              <a:rPr sz="2000">
                <a:latin typeface="Courier"/>
              </a:rPr>
              <a:t>labels</a:t>
            </a:r>
            <a:r>
              <a:rPr sz="2000"/>
              <a:t>, if you supply it), spelled exactly as it appears in the column</a:t>
            </a:r>
          </a:p>
          <a:p>
            <a:pPr lvl="1"/>
            <a:r>
              <a:rPr sz="2000"/>
              <a:t>check with </a:t>
            </a:r>
            <a:r>
              <a:rPr sz="2000">
                <a:latin typeface="Courier"/>
              </a:rPr>
              <a:t>unique(pine_df$side)</a:t>
            </a:r>
            <a:r>
              <a:rPr sz="2000"/>
              <a:t> first if you are not sure</a:t>
            </a:r>
          </a:p>
          <a:p>
            <a:pPr lvl="1"/>
            <a:r>
              <a:rPr sz="2000"/>
              <a:t>A missing or misspelled level draws as grey with a warning.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scale_fill_manual()</a:t>
            </a:r>
            <a:r>
              <a:rPr/>
              <a:t> — the </a:t>
            </a:r>
            <a:r>
              <a:rPr>
                <a:latin typeface="Courier"/>
              </a:rPr>
              <a:t>fill</a:t>
            </a:r>
            <a:r>
              <a:rPr/>
              <a:t> Twin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needle_length_mm,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 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side"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"#2c7fb8"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sunny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"#d95f0e"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raphing_effectively_lecture_files/figure-pptx/graphing-effectively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1800" y="1270000"/>
            <a:ext cx="3810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three arguments, same pattern — </a:t>
            </a:r>
            <a:r>
              <a:rPr sz="2000">
                <a:latin typeface="Courier"/>
              </a:rPr>
              <a:t>scale_fill_manual()</a:t>
            </a:r>
            <a:r>
              <a:rPr sz="2000"/>
              <a:t> is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 for the </a:t>
            </a:r>
            <a:r>
              <a:rPr sz="2000">
                <a:latin typeface="Courier"/>
              </a:rPr>
              <a:t>fill</a:t>
            </a:r>
            <a:r>
              <a:rPr sz="2000"/>
              <a:t> aesthetic instead of </a:t>
            </a:r>
            <a:r>
              <a:rPr sz="2000">
                <a:latin typeface="Courier"/>
              </a:rPr>
              <a:t>color</a:t>
            </a:r>
            <a:r>
              <a:rPr sz="2000"/>
              <a:t>. A boxplot’s box is </a:t>
            </a:r>
            <a:r>
              <a:rPr sz="2000">
                <a:latin typeface="Courier"/>
              </a:rPr>
              <a:t>fill</a:t>
            </a:r>
            <a:r>
              <a:rPr sz="2000"/>
              <a:t>; its jittered points (if you added </a:t>
            </a:r>
            <a:r>
              <a:rPr sz="2000">
                <a:latin typeface="Courier"/>
              </a:rPr>
              <a:t>geom_point(color = ...)</a:t>
            </a:r>
            <a:r>
              <a:rPr sz="2000"/>
              <a:t>) would be </a:t>
            </a:r>
            <a:r>
              <a:rPr sz="2000">
                <a:latin typeface="Courier"/>
              </a:rPr>
              <a:t>color</a:t>
            </a:r>
            <a:r>
              <a:rPr sz="2000"/>
              <a:t>. A plot can need both at once.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▶ Your Turn — Code It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Stop here and write code.</a:t>
            </a:r>
          </a:p>
          <a:p>
            <a:pPr lvl="0" indent="0" marL="1270000">
              <a:buNone/>
            </a:pPr>
            <a:r>
              <a:rPr sz="2000"/>
              <a:t>Worksheet </a:t>
            </a:r>
            <a:r>
              <a:rPr sz="2000" b="1"/>
              <a:t>Part 8b</a:t>
            </a:r>
            <a:r>
              <a:rPr sz="2000"/>
              <a:t> — 🚀 optional bonus: pick your own colors with </a:t>
            </a:r>
            <a:r>
              <a:rPr sz="2000">
                <a:latin typeface="Courier"/>
              </a:rPr>
              <a:t>scale_color_manual()</a:t>
            </a:r>
            <a:r>
              <a:rPr sz="2000"/>
              <a:t>, and check them against a colorblind-safe palette.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Built boxplots with raw points overlaid, not hidden</a:t>
            </a:r>
          </a:p>
          <a:p>
            <a:pPr lvl="0"/>
            <a:r>
              <a:rPr/>
              <a:t>Wrote real axis labels, titles, and legend titles with </a:t>
            </a:r>
            <a:r>
              <a:rPr>
                <a:latin typeface="Courier"/>
              </a:rPr>
              <a:t>labs()</a:t>
            </a:r>
            <a:r>
              <a:rPr/>
              <a:t> — never shipped a default column name</a:t>
            </a:r>
          </a:p>
          <a:p>
            <a:pPr lvl="0"/>
            <a:r>
              <a:rPr/>
              <a:t>Mapped a third variable with </a:t>
            </a:r>
            <a:r>
              <a:rPr>
                <a:latin typeface="Courier"/>
              </a:rPr>
              <a:t>color =</a:t>
            </a:r>
            <a:r>
              <a:rPr/>
              <a:t> / </a:t>
            </a:r>
            <a:r>
              <a:rPr>
                <a:latin typeface="Courier"/>
              </a:rPr>
              <a:t>fill =</a:t>
            </a:r>
            <a:r>
              <a:rPr/>
              <a:t> inside </a:t>
            </a:r>
            <a:r>
              <a:rPr>
                <a:latin typeface="Courier"/>
              </a:rPr>
              <a:t>aes()</a:t>
            </a:r>
          </a:p>
          <a:p>
            <a:pPr lvl="0"/>
            <a:r>
              <a:rPr/>
              <a:t>Set axis limits deliberately with </a:t>
            </a:r>
            <a:r>
              <a:rPr>
                <a:latin typeface="Courier"/>
              </a:rPr>
              <a:t>coord_cartesian()</a:t>
            </a:r>
            <a:r>
              <a:rPr/>
              <a:t> — and learned that </a:t>
            </a:r>
            <a:r>
              <a:rPr>
                <a:latin typeface="Courier"/>
              </a:rPr>
              <a:t>ylim()</a:t>
            </a:r>
            <a:r>
              <a:rPr/>
              <a:t> deletes rows while </a:t>
            </a:r>
            <a:r>
              <a:rPr>
                <a:latin typeface="Courier"/>
              </a:rPr>
              <a:t>coord_cartesian()</a:t>
            </a:r>
            <a:r>
              <a:rPr/>
              <a:t> only zooms</a:t>
            </a:r>
          </a:p>
          <a:p>
            <a:pPr lvl="0"/>
            <a:r>
              <a:rPr/>
              <a:t>Plotted mean ± SE directly with </a:t>
            </a:r>
            <a:r>
              <a:rPr>
                <a:latin typeface="Courier"/>
              </a:rPr>
              <a:t>stat_summary()</a:t>
            </a:r>
            <a:r>
              <a:rPr/>
              <a:t> — and saw that an error bar is only as honest as the rows you feed it</a:t>
            </a:r>
          </a:p>
          <a:p>
            <a:pPr lvl="0"/>
            <a:r>
              <a:rPr b="1">
                <a:latin typeface="Courier"/>
              </a:rPr>
              <a:t>source()</a:t>
            </a:r>
            <a:r>
              <a:rPr b="1"/>
              <a:t>d a themes file</a:t>
            </a:r>
            <a:r>
              <a:rPr/>
              <a:t> so </a:t>
            </a:r>
            <a:r>
              <a:rPr>
                <a:latin typeface="Courier"/>
              </a:rPr>
              <a:t>theme_small()</a:t>
            </a:r>
            <a:r>
              <a:rPr/>
              <a:t> / </a:t>
            </a:r>
            <a:r>
              <a:rPr>
                <a:latin typeface="Courier"/>
              </a:rPr>
              <a:t>theme_regular()</a:t>
            </a:r>
            <a:r>
              <a:rPr/>
              <a:t> / </a:t>
            </a:r>
            <a:r>
              <a:rPr>
                <a:latin typeface="Courier"/>
              </a:rPr>
              <a:t>theme_large()</a:t>
            </a:r>
            <a:r>
              <a:rPr/>
              <a:t> are one </a:t>
            </a:r>
            <a:r>
              <a:rPr>
                <a:latin typeface="Courier"/>
              </a:rPr>
              <a:t>+</a:t>
            </a:r>
            <a:r>
              <a:rPr/>
              <a:t> layer away in every script, forever</a:t>
            </a:r>
          </a:p>
          <a:p>
            <a:pPr lvl="0"/>
            <a:r>
              <a:rPr b="1"/>
              <a:t>Combined panels with </a:t>
            </a:r>
            <a:r>
              <a:rPr b="1">
                <a:latin typeface="Courier"/>
              </a:rPr>
              <a:t>patchwork</a:t>
            </a:r>
            <a:r>
              <a:rPr/>
              <a:t> — </a:t>
            </a:r>
            <a:r>
              <a:rPr>
                <a:latin typeface="Courier"/>
              </a:rPr>
              <a:t>a + b</a:t>
            </a:r>
            <a:r>
              <a:rPr/>
              <a:t>, </a:t>
            </a:r>
            <a:r>
              <a:rPr>
                <a:latin typeface="Courier"/>
              </a:rPr>
              <a:t>a / b</a:t>
            </a:r>
            <a:r>
              <a:rPr/>
              <a:t>, </a:t>
            </a:r>
            <a:r>
              <a:rPr>
                <a:latin typeface="Courier"/>
              </a:rPr>
              <a:t>(a + b) / c</a:t>
            </a:r>
            <a:r>
              <a:rPr/>
              <a:t>, tagged A/B/C</a:t>
            </a:r>
          </a:p>
          <a:p>
            <a:pPr lvl="0"/>
            <a:r>
              <a:rPr/>
              <a:t>Saved a real, correctly-sized figure with </a:t>
            </a:r>
            <a:r>
              <a:rPr>
                <a:latin typeface="Courier"/>
              </a:rPr>
              <a:t>ggsave()</a:t>
            </a:r>
          </a:p>
          <a:p>
            <a:pPr lvl="0"/>
            <a:r>
              <a:rPr i="1"/>
              <a:t>(As time allowed)</a:t>
            </a:r>
            <a:r>
              <a:rPr/>
              <a:t> Histograms, density curves, </a:t>
            </a:r>
            <a:r>
              <a:rPr>
                <a:latin typeface="Courier"/>
              </a:rPr>
              <a:t>facet_wrap()</a:t>
            </a:r>
            <a:r>
              <a:rPr/>
              <a:t>, and custom colors with </a:t>
            </a:r>
            <a:r>
              <a:rPr>
                <a:latin typeface="Courier"/>
              </a:rPr>
              <a:t>scale_color_manual()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source the themes file, build a two-panel </a:t>
            </a:r>
            <a:r>
              <a:rPr sz="2000">
                <a:latin typeface="Courier"/>
              </a:rPr>
              <a:t>patchwork</a:t>
            </a:r>
            <a:r>
              <a:rPr sz="2000"/>
              <a:t> figure with </a:t>
            </a:r>
            <a:r>
              <a:rPr sz="2000">
                <a:latin typeface="Courier"/>
              </a:rPr>
              <a:t>coord_cartesian()</a:t>
            </a:r>
            <a:r>
              <a:rPr sz="2000"/>
              <a:t> limits you chose on purpose, and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 at 300 dpi.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Where this leads</a:t>
            </a:r>
          </a:p>
          <a:p>
            <a:pPr lvl="0" indent="0" marL="1270000">
              <a:buNone/>
            </a:pPr>
            <a:r>
              <a:rPr sz="2000"/>
              <a:t>You can now import, wrangle, describe, and visualize a dataset end to end. That full pipeline — raw data → clean → summarize → visualize — is the foundation every later statistical test builds on.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2</a:t>
            </a:r>
            <a:r>
              <a:rPr/>
              <a:t>, Displaying Data. Read “How to draw a good graph” closely: it is the standard every figure you hand in this term is held to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3</a:t>
            </a:r>
            <a:r>
              <a:rPr/>
              <a:t>, Summary Statistics, for the distributions behind the boxplots and histograms</a:t>
            </a:r>
          </a:p>
          <a:p>
            <a:pPr lvl="0" indent="0" marL="0">
              <a:buNone/>
            </a:pPr>
            <a:r>
              <a:rPr b="1"/>
              <a:t>If you want more:</a:t>
            </a:r>
          </a:p>
          <a:p>
            <a:pPr lvl="0"/>
            <a:r>
              <a:rPr/>
              <a:t>Whitlock &amp; Schluter, Ch. 4 — Estimating with Uncertainty, on what an error bar actually claims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W&amp;S tells you </a:t>
            </a:r>
            <a:r>
              <a:rPr sz="2000" i="1"/>
              <a:t>which</a:t>
            </a:r>
            <a:r>
              <a:rPr sz="2000"/>
              <a:t> graph is honest. R4DS tells you </a:t>
            </a:r>
            <a:r>
              <a:rPr sz="2000" i="1"/>
              <a:t>how</a:t>
            </a:r>
            <a:r>
              <a:rPr sz="2000"/>
              <a:t> to draw it. You need both.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§1 — Data visualization</a:t>
            </a:r>
          </a:p>
          <a:p>
            <a:pPr lvl="0"/>
            <a:r>
              <a:rPr sz="2000">
                <a:hlinkClick r:id="rId4"/>
              </a:rPr>
              <a:t>§9 — Layers</a:t>
            </a:r>
            <a:r>
              <a:rPr sz="2000"/>
              <a:t> — geoms, aesthetics, positions, facets</a:t>
            </a:r>
          </a:p>
          <a:p>
            <a:pPr lvl="0"/>
            <a:r>
              <a:rPr sz="2000">
                <a:hlinkClick r:id="rId5"/>
              </a:rPr>
              <a:t>§10 — Exploratory data analysis</a:t>
            </a:r>
            <a:r>
              <a:rPr sz="2000"/>
              <a:t> — histograms and distribution shape</a:t>
            </a:r>
          </a:p>
          <a:p>
            <a:pPr lvl="0"/>
            <a:r>
              <a:rPr sz="2000">
                <a:hlinkClick r:id="rId6"/>
              </a:rPr>
              <a:t>§11 — Communication</a:t>
            </a:r>
            <a:r>
              <a:rPr sz="2000"/>
              <a:t> — labels, scales, themes, saving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Graphing Effectively</dc:title>
  <dc:creator>Bill Perry</dc:creator>
  <cp:keywords/>
  <dc:description>Boxplots with jittered raw points, axis labels with labs(), mapping color and fill by group, setting axis limits honestly with coord_cartesian(), plotting mean ± SE with stat_summary(), sourcing a reusable themes file for publication-ready figures, combining panels with patchwork, and a real ggsave() drill — all on the pine needle data the class collected.</dc:description>
  <dcterms:created xsi:type="dcterms:W3CDTF">2026-10-19T15:50:55Z</dcterms:created>
  <dcterms:modified xsi:type="dcterms:W3CDTF">2026-10-19T15:50:55Z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Boxplots, axis limits, a reusable themes file, multi-panel figures, and saving publication-ready output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