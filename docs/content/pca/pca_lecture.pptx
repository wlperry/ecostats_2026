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40" Type="http://schemas.openxmlformats.org/officeDocument/2006/relationships/viewProps" Target="viewProps.xml" /><Relationship Id="rId39" Type="http://schemas.openxmlformats.org/officeDocument/2006/relationships/presProps" Target="presProps.xml" /><Relationship Id="rId1" Type="http://schemas.openxmlformats.org/officeDocument/2006/relationships/slideMaster" Target="slideMasters/slideMaster1.xml" /><Relationship Id="rId42" Type="http://schemas.openxmlformats.org/officeDocument/2006/relationships/tableStyles" Target="tableStyles.xml" /><Relationship Id="rId4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1 · Review: Eigenvectors, Eigenvalues, Components</a:t>
            </a:r>
          </a:p>
          <a:p>
            <a:pPr lvl="0" indent="0" marL="0">
              <a:spcBef>
                <a:spcPts val="3000"/>
              </a:spcBef>
              <a:buNone/>
            </a:pPr>
            <a:r>
              <a:rPr b="1"/>
              <a:t>Review: Multivariate Statistics 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Review: Eigenvectors and Components</a:t>
                </a:r>
              </a:p>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a:p>
                <a:pPr lvl="0" indent="0" marL="0">
                  <a:spcBef>
                    <a:spcPts val="3000"/>
                  </a:spcBef>
                  <a:buNone/>
                </a:pPr>
                <a:r>
                  <a:rPr b="1"/>
                  <a:t>Review: Component Interpretation</a:t>
                </a:r>
              </a:p>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a:p>
                <a:pPr lvl="0" indent="0" marL="0">
                  <a:spcBef>
                    <a:spcPts val="3000"/>
                  </a:spcBef>
                  <a:buNone/>
                </a:pPr>
                <a:r>
                  <a:rPr b="1"/>
                  <a:t>Review: Component Properties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Review: Eigenvalues and Eigenvectors</a:t>
            </a:r>
          </a:p>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a:p>
            <a:pPr lvl="0" indent="0" marL="0">
              <a:spcBef>
                <a:spcPts val="3000"/>
              </a:spcBef>
              <a:buNone/>
            </a:pPr>
            <a:r>
              <a:rPr b="1"/>
              <a:t>Part 2 · PCA Goals and Introduction</a:t>
            </a:r>
          </a:p>
          <a:p>
            <a:pPr lvl="0" indent="0" marL="0">
              <a:spcBef>
                <a:spcPts val="3000"/>
              </a:spcBef>
              <a:buNone/>
            </a:pPr>
            <a:r>
              <a:rPr b="1"/>
              <a:t>PCA Goals and Introduction</a:t>
            </a:r>
          </a:p>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a:p>
            <a:pPr lvl="0" indent="0" marL="0">
              <a:spcBef>
                <a:spcPts val="3000"/>
              </a:spcBef>
              <a:buNone/>
            </a:pPr>
            <a:r>
              <a:rPr b="1"/>
              <a:t>Data for PCA Analysis</a:t>
            </a:r>
          </a:p>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a:p>
            <a:pPr lvl="0" indent="0" marL="0">
              <a:spcBef>
                <a:spcPts val="3000"/>
              </a:spcBef>
              <a:buNone/>
            </a:pPr>
            <a:r>
              <a:rPr b="1"/>
              <a:t>Step 1: Explore the Iris Dataset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PCA? Goals and Overview</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High-Dimensional Data Visualization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Part 3 · Assumptions and Standardization</a:t>
            </a:r>
          </a:p>
          <a:p>
            <a:pPr lvl="0" indent="0" marL="0">
              <a:spcBef>
                <a:spcPts val="3000"/>
              </a:spcBef>
              <a:buNone/>
            </a:pPr>
            <a:r>
              <a:rPr b="1"/>
              <a:t>PCA Assumptions - Critical to Check First!</a:t>
            </a:r>
          </a:p>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a:p>
            <a:pPr lvl="0" indent="0" marL="0">
              <a:spcBef>
                <a:spcPts val="3000"/>
              </a:spcBef>
              <a:buNone/>
            </a:pPr>
            <a:r>
              <a:rPr b="1"/>
              <a:t>Step 2: Check PCA Assumptions - Correlations</a:t>
            </a:r>
          </a:p>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3: Standardize the Data</a:t>
            </a:r>
          </a:p>
          <a:p>
            <a:pPr lvl="0" indent="0" marL="0">
              <a:spcBef>
                <a:spcPts val="3000"/>
              </a:spcBef>
              <a:buNone/>
            </a:pPr>
            <a:r>
              <a:rPr b="1"/>
              <a:t>STANDARDIZATION: Making all variables comparable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4 · Running PCA and Eigen-decomposition</a:t>
            </a:r>
          </a:p>
          <a:p>
            <a:pPr lvl="0" indent="0" marL="0">
              <a:spcBef>
                <a:spcPts val="3000"/>
              </a:spcBef>
              <a:buNone/>
            </a:pPr>
            <a:r>
              <a:rPr b="1"/>
              <a:t>Step 4: Perform PCA - The Mathematics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Deriving Components: 2D Visualization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Derivation: Axis Rotation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Derivation: Multivariate Extension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Information: Eigenvalues and Eigenvectors</a:t>
            </a:r>
          </a:p>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a:p>
            <a:pPr lvl="0" indent="0" marL="0">
              <a:spcBef>
                <a:spcPts val="3000"/>
              </a:spcBef>
              <a:buNone/>
            </a:pPr>
            <a:r>
              <a:rPr b="1"/>
              <a:t>Step 4: Understanding Eigenvalues and Variance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5 · Choosing How Many Components</a:t>
            </a:r>
          </a:p>
          <a:p>
            <a:pPr lvl="0" indent="0" marL="0">
              <a:spcBef>
                <a:spcPts val="3000"/>
              </a:spcBef>
              <a:buNone/>
            </a:pPr>
            <a:r>
              <a:rPr b="1"/>
              <a:t>Step 5: Determine Number of Components - Scree Plot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5: Component Selection Rules</a:t>
            </a:r>
          </a:p>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a:p>
            <a:pPr lvl="0" indent="0" marL="0">
              <a:spcBef>
                <a:spcPts val="3000"/>
              </a:spcBef>
              <a:buNone/>
            </a:pPr>
            <a:r>
              <a:rPr b="1"/>
              <a:t>Part 6 · Loadings and Interpretation</a:t>
            </a:r>
          </a:p>
          <a:p>
            <a:pPr lvl="0" indent="0" marL="0">
              <a:spcBef>
                <a:spcPts val="3000"/>
              </a:spcBef>
              <a:buNone/>
            </a:pPr>
            <a:r>
              <a:rPr b="1"/>
              <a:t>Step 6: Interpret the Components - Loadings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6: Eigenvector Properties</a:t>
            </a:r>
          </a:p>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a:p>
            <a:pPr lvl="0" indent="0" marL="0">
              <a:spcBef>
                <a:spcPts val="3000"/>
              </a:spcBef>
              <a:buNone/>
            </a:pPr>
            <a:r>
              <a:rPr b="1"/>
              <a:t>Step 6b: Visualization of Component Loadings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a:p>
            <a:pPr lvl="0" indent="0" marL="0">
              <a:spcBef>
                <a:spcPts val="3000"/>
              </a:spcBef>
              <a:buNone/>
            </a:pPr>
            <a:r>
              <a:rPr b="1"/>
              <a:t>Part 7 · Biplots and Scores</a:t>
            </a:r>
          </a:p>
          <a:p>
            <a:pPr lvl="0" indent="0" marL="0">
              <a:spcBef>
                <a:spcPts val="3000"/>
              </a:spcBef>
              <a:buNone/>
            </a:pPr>
            <a:r>
              <a:rPr b="1"/>
              <a:t>Step 7: PCA Biplot - The Main Result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7: PCA Scores Plot - Alternative Visualization</a:t>
            </a:r>
          </a:p>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spcBef>
                <a:spcPts val="3000"/>
              </a:spcBef>
              <a:buNone/>
            </a:pPr>
            <a:r>
              <a:rPr b="1"/>
              <a:t>Part 8 · Interpreting PC1 and PC2, and Wrap-Up</a:t>
            </a:r>
          </a:p>
          <a:p>
            <a:pPr lvl="0" indent="0" marL="0">
              <a:spcBef>
                <a:spcPts val="3000"/>
              </a:spcBef>
              <a:buNone/>
            </a:pPr>
            <a:r>
              <a:rPr b="1"/>
              <a:t>Step 8: Interpret PC1 Results</a:t>
            </a:r>
          </a:p>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a:p>
            <a:pPr lvl="0" indent="0" marL="0">
              <a:spcBef>
                <a:spcPts val="3000"/>
              </a:spcBef>
              <a:buNone/>
            </a:pPr>
            <a:r>
              <a:rPr b="1"/>
              <a:t>Step 8: Interpret PC2 Results</a:t>
            </a:r>
          </a:p>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a:p>
            <a:pPr lvl="0" indent="0" marL="0">
              <a:spcBef>
                <a:spcPts val="3000"/>
              </a:spcBef>
              <a:buNone/>
            </a:pPr>
            <a:r>
              <a:rPr b="1"/>
              <a:t>Step 9: How Well Does PCA Work?</a:t>
            </a:r>
          </a:p>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a:p>
            <a:pPr lvl="0" indent="0" marL="0">
              <a:spcBef>
                <a:spcPts val="3000"/>
              </a:spcBef>
              <a:buNone/>
            </a:pPr>
            <a:r>
              <a:rPr b="1"/>
              <a:t>Summary: What We Learned</a:t>
            </a:r>
          </a:p>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a:p>
            <a:pPr lvl="0" indent="0" marL="0">
              <a:spcBef>
                <a:spcPts val="3000"/>
              </a:spcBef>
              <a:buNone/>
            </a:pPr>
            <a:r>
              <a:rPr b="1"/>
              <a:t>When to Use PCA vs. Other Methods</a:t>
            </a:r>
          </a:p>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2026-08-21T15:06:59Z</dcterms:created>
  <dcterms:modified xsi:type="dcterms:W3CDTF">2026-08-21T15:06:59Z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9</vt:lpwstr>
  </property>
</Properties>
</file>