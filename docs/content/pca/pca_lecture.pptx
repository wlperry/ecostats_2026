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4" Type="http://schemas.openxmlformats.org/officeDocument/2006/relationships/viewProps" Target="viewProps.xml" /><Relationship Id="rId53" Type="http://schemas.openxmlformats.org/officeDocument/2006/relationships/presProps" Target="presProps.xml" /><Relationship Id="rId1" Type="http://schemas.openxmlformats.org/officeDocument/2006/relationships/slideMaster" Target="slideMasters/slideMaster1.xml" /><Relationship Id="rId56" Type="http://schemas.openxmlformats.org/officeDocument/2006/relationships/tableStyles" Target="tableStyles.xml" /><Relationship Id="rId5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Principal Component Analysis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Ordination</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Review: Eigenvectors, Eigenvalues,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Multivariate Statistics Overview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663700"/>
            <a:ext cx="2781300" cy="1943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 NMDS ordination plot from a published lake-ecology study (‘Summer’), with lake samples plotted as colored points (by lake) and shapes (by geographic location) and environmental-variable vectors (dissolved P and N, mixed-layer depth, temperature) overlaid as arrows with their R² and p-values, illustrating a real multivariate ordination used to summarize many variables at once.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515100" y="660400"/>
            <a:ext cx="19939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example figures stacked: a pairs-plot matrix of the iris sepal/petal variables showing scatterplots and correlation coefficients (up to 0.96 for petal length vs. width), and a scree plot below it showing the percentage of variance explained dropping sharply after the first component, illustrating that highly correlated variables let a few components capture most of the variation.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PCA Goals and Introduction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a:p>
            <a:pPr lvl="0" indent="0" marL="1270000">
              <a:buNone/>
            </a:pPr>
            <a:r>
              <a:rPr sz="2000" b="1"/>
              <a:t>Note</a:t>
            </a:r>
          </a:p>
          <a:p>
            <a:pPr lvl="0" indent="0" marL="1270000">
              <a:buNone/>
            </a:pPr>
            <a:r>
              <a:rPr sz="2000"/>
              <a:t>Gotelli &amp; Ellison, </a:t>
            </a:r>
            <a:r>
              <a:rPr sz="2000" i="1"/>
              <a:t>A Primer of Ecological Statistics</a:t>
            </a:r>
            <a:r>
              <a:rPr sz="2000"/>
              <a:t>, Ch. 12 — The Analysis of Multivariate Data, is the core reference for PCA.</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br/>
            <a:r>
              <a:rPr i="1">
                <a:solidFill>
                  <a:srgbClr val="5E5E5E"/>
                </a:solidFill>
                <a:latin typeface="Courier"/>
              </a:rPr>
              <a:t>##     sepal_length sepal_width petal_length petal_width    species ind</a:t>
            </a:r>
            <a:br/>
            <a:r>
              <a:rPr i="1">
                <a:solidFill>
                  <a:srgbClr val="5E5E5E"/>
                </a:solidFill>
                <a:latin typeface="Courier"/>
              </a:rPr>
              <a:t>## 1            5.1         3.5          1.4         0.2     setosa   1</a:t>
            </a:r>
            <a:br/>
            <a:r>
              <a:rPr i="1">
                <a:solidFill>
                  <a:srgbClr val="5E5E5E"/>
                </a:solidFill>
                <a:latin typeface="Courier"/>
              </a:rPr>
              <a:t>## 2            4.9         3.0          1.4         0.2     setosa   2</a:t>
            </a:r>
            <a:br/>
            <a:r>
              <a:rPr i="1">
                <a:solidFill>
                  <a:srgbClr val="5E5E5E"/>
                </a:solidFill>
                <a:latin typeface="Courier"/>
              </a:rPr>
              <a:t>## 3            4.7         3.2          1.3         0.2     setosa   3</a:t>
            </a:r>
            <a:br/>
            <a:r>
              <a:rPr i="1">
                <a:solidFill>
                  <a:srgbClr val="5E5E5E"/>
                </a:solidFill>
                <a:latin typeface="Courier"/>
              </a:rPr>
              <a:t>## 4            4.6         3.1          1.5         0.2     setosa   4</a:t>
            </a:r>
            <a:br/>
            <a:r>
              <a:rPr i="1">
                <a:solidFill>
                  <a:srgbClr val="5E5E5E"/>
                </a:solidFill>
                <a:latin typeface="Courier"/>
              </a:rPr>
              <a:t>## 5            5.0         3.6          1.4         0.2     setosa   5</a:t>
            </a:r>
            <a:br/>
            <a:r>
              <a:rPr i="1">
                <a:solidFill>
                  <a:srgbClr val="5E5E5E"/>
                </a:solidFill>
                <a:latin typeface="Courier"/>
              </a:rPr>
              <a:t>## 6            5.4         3.9          1.7         0.4     setosa   6</a:t>
            </a:r>
            <a:br/>
            <a:r>
              <a:rPr i="1">
                <a:solidFill>
                  <a:srgbClr val="5E5E5E"/>
                </a:solidFill>
                <a:latin typeface="Courier"/>
              </a:rPr>
              <a:t>## 7            4.6         3.4          1.4         0.3     setosa   7</a:t>
            </a:r>
            <a:br/>
            <a:r>
              <a:rPr i="1">
                <a:solidFill>
                  <a:srgbClr val="5E5E5E"/>
                </a:solidFill>
                <a:latin typeface="Courier"/>
              </a:rPr>
              <a:t>## 8            5.0         3.4          1.5         0.2     setosa   8</a:t>
            </a:r>
            <a:br/>
            <a:r>
              <a:rPr i="1">
                <a:solidFill>
                  <a:srgbClr val="5E5E5E"/>
                </a:solidFill>
                <a:latin typeface="Courier"/>
              </a:rPr>
              <a:t>## 9            4.4         2.9          1.4         0.2     setosa   9</a:t>
            </a:r>
            <a:br/>
            <a:r>
              <a:rPr i="1">
                <a:solidFill>
                  <a:srgbClr val="5E5E5E"/>
                </a:solidFill>
                <a:latin typeface="Courier"/>
              </a:rPr>
              <a:t>## 10           4.9         3.1          1.5         0.1     setosa  10</a:t>
            </a:r>
            <a:br/>
            <a:r>
              <a:rPr i="1">
                <a:solidFill>
                  <a:srgbClr val="5E5E5E"/>
                </a:solidFill>
                <a:latin typeface="Courier"/>
              </a:rPr>
              <a:t>## 11           5.4         3.7          1.5         0.2     setosa  11</a:t>
            </a:r>
            <a:br/>
            <a:r>
              <a:rPr i="1">
                <a:solidFill>
                  <a:srgbClr val="5E5E5E"/>
                </a:solidFill>
                <a:latin typeface="Courier"/>
              </a:rPr>
              <a:t>## 12           4.8         3.4          1.6         0.2     setosa  12</a:t>
            </a:r>
            <a:br/>
            <a:r>
              <a:rPr i="1">
                <a:solidFill>
                  <a:srgbClr val="5E5E5E"/>
                </a:solidFill>
                <a:latin typeface="Courier"/>
              </a:rPr>
              <a:t>## 13           4.8         3.0          1.4         0.1     setosa  13</a:t>
            </a:r>
            <a:br/>
            <a:r>
              <a:rPr i="1">
                <a:solidFill>
                  <a:srgbClr val="5E5E5E"/>
                </a:solidFill>
                <a:latin typeface="Courier"/>
              </a:rPr>
              <a:t>## 14           4.3         3.0          1.1         0.1     setosa  14</a:t>
            </a:r>
            <a:br/>
            <a:r>
              <a:rPr i="1">
                <a:solidFill>
                  <a:srgbClr val="5E5E5E"/>
                </a:solidFill>
                <a:latin typeface="Courier"/>
              </a:rPr>
              <a:t>## 15           5.8         4.0          1.2         0.2     setosa  15</a:t>
            </a:r>
            <a:br/>
            <a:r>
              <a:rPr i="1">
                <a:solidFill>
                  <a:srgbClr val="5E5E5E"/>
                </a:solidFill>
                <a:latin typeface="Courier"/>
              </a:rPr>
              <a:t>## 16           5.7         4.4          1.5         0.4     setosa  16</a:t>
            </a:r>
            <a:br/>
            <a:r>
              <a:rPr i="1">
                <a:solidFill>
                  <a:srgbClr val="5E5E5E"/>
                </a:solidFill>
                <a:latin typeface="Courier"/>
              </a:rPr>
              <a:t>## 17           5.4         3.9          1.3         0.4     setosa  17</a:t>
            </a:r>
            <a:br/>
            <a:r>
              <a:rPr i="1">
                <a:solidFill>
                  <a:srgbClr val="5E5E5E"/>
                </a:solidFill>
                <a:latin typeface="Courier"/>
              </a:rPr>
              <a:t>## 18           5.1         3.5          1.4         0.3     setosa  18</a:t>
            </a:r>
            <a:br/>
            <a:r>
              <a:rPr i="1">
                <a:solidFill>
                  <a:srgbClr val="5E5E5E"/>
                </a:solidFill>
                <a:latin typeface="Courier"/>
              </a:rPr>
              <a:t>## 19           5.7         3.8          1.7         0.3     setosa  19</a:t>
            </a:r>
            <a:br/>
            <a:r>
              <a:rPr i="1">
                <a:solidFill>
                  <a:srgbClr val="5E5E5E"/>
                </a:solidFill>
                <a:latin typeface="Courier"/>
              </a:rPr>
              <a:t>## 20           5.1         3.8          1.5         0.3     setosa  20</a:t>
            </a:r>
            <a:br/>
            <a:r>
              <a:rPr i="1">
                <a:solidFill>
                  <a:srgbClr val="5E5E5E"/>
                </a:solidFill>
                <a:latin typeface="Courier"/>
              </a:rPr>
              <a:t>## 21           5.4         3.4          1.7         0.2     setosa  21</a:t>
            </a:r>
            <a:br/>
            <a:r>
              <a:rPr i="1">
                <a:solidFill>
                  <a:srgbClr val="5E5E5E"/>
                </a:solidFill>
                <a:latin typeface="Courier"/>
              </a:rPr>
              <a:t>## 22           5.1         3.7          1.5         0.4     setosa  22</a:t>
            </a:r>
            <a:br/>
            <a:r>
              <a:rPr i="1">
                <a:solidFill>
                  <a:srgbClr val="5E5E5E"/>
                </a:solidFill>
                <a:latin typeface="Courier"/>
              </a:rPr>
              <a:t>## 23           4.6         3.6          1.0         0.2     setosa  23</a:t>
            </a:r>
            <a:br/>
            <a:r>
              <a:rPr i="1">
                <a:solidFill>
                  <a:srgbClr val="5E5E5E"/>
                </a:solidFill>
                <a:latin typeface="Courier"/>
              </a:rPr>
              <a:t>## 24           5.1         3.3          1.7         0.5     setosa  24</a:t>
            </a:r>
            <a:br/>
            <a:r>
              <a:rPr i="1">
                <a:solidFill>
                  <a:srgbClr val="5E5E5E"/>
                </a:solidFill>
                <a:latin typeface="Courier"/>
              </a:rPr>
              <a:t>## 25           4.8         3.4          1.9         0.2     setosa  25</a:t>
            </a:r>
            <a:br/>
            <a:r>
              <a:rPr i="1">
                <a:solidFill>
                  <a:srgbClr val="5E5E5E"/>
                </a:solidFill>
                <a:latin typeface="Courier"/>
              </a:rPr>
              <a:t>## 26           5.0         3.0          1.6         0.2     setosa  26</a:t>
            </a:r>
            <a:br/>
            <a:r>
              <a:rPr i="1">
                <a:solidFill>
                  <a:srgbClr val="5E5E5E"/>
                </a:solidFill>
                <a:latin typeface="Courier"/>
              </a:rPr>
              <a:t>## 27           5.0         3.4          1.6         0.4     setosa  27</a:t>
            </a:r>
            <a:br/>
            <a:r>
              <a:rPr i="1">
                <a:solidFill>
                  <a:srgbClr val="5E5E5E"/>
                </a:solidFill>
                <a:latin typeface="Courier"/>
              </a:rPr>
              <a:t>## 28           5.2         3.5          1.5         0.2     setosa  28</a:t>
            </a:r>
            <a:br/>
            <a:r>
              <a:rPr i="1">
                <a:solidFill>
                  <a:srgbClr val="5E5E5E"/>
                </a:solidFill>
                <a:latin typeface="Courier"/>
              </a:rPr>
              <a:t>## 29           5.2         3.4          1.4         0.2     setosa  29</a:t>
            </a:r>
            <a:br/>
            <a:r>
              <a:rPr i="1">
                <a:solidFill>
                  <a:srgbClr val="5E5E5E"/>
                </a:solidFill>
                <a:latin typeface="Courier"/>
              </a:rPr>
              <a:t>## 30           4.7         3.2          1.6         0.2     setosa  30</a:t>
            </a:r>
            <a:br/>
            <a:r>
              <a:rPr i="1">
                <a:solidFill>
                  <a:srgbClr val="5E5E5E"/>
                </a:solidFill>
                <a:latin typeface="Courier"/>
              </a:rPr>
              <a:t>## 31           4.8         3.1          1.6         0.2     setosa  31</a:t>
            </a:r>
            <a:br/>
            <a:r>
              <a:rPr i="1">
                <a:solidFill>
                  <a:srgbClr val="5E5E5E"/>
                </a:solidFill>
                <a:latin typeface="Courier"/>
              </a:rPr>
              <a:t>## 32           5.4         3.4          1.5         0.4     setosa  32</a:t>
            </a:r>
            <a:br/>
            <a:r>
              <a:rPr i="1">
                <a:solidFill>
                  <a:srgbClr val="5E5E5E"/>
                </a:solidFill>
                <a:latin typeface="Courier"/>
              </a:rPr>
              <a:t>## 33           5.2         4.1          1.5         0.1     setosa  33</a:t>
            </a:r>
            <a:br/>
            <a:r>
              <a:rPr i="1">
                <a:solidFill>
                  <a:srgbClr val="5E5E5E"/>
                </a:solidFill>
                <a:latin typeface="Courier"/>
              </a:rPr>
              <a:t>## 34           5.5         4.2          1.4         0.2     setosa  34</a:t>
            </a:r>
            <a:br/>
            <a:r>
              <a:rPr i="1">
                <a:solidFill>
                  <a:srgbClr val="5E5E5E"/>
                </a:solidFill>
                <a:latin typeface="Courier"/>
              </a:rPr>
              <a:t>## 35           4.9         3.1          1.5         0.2     setosa  35</a:t>
            </a:r>
            <a:br/>
            <a:r>
              <a:rPr i="1">
                <a:solidFill>
                  <a:srgbClr val="5E5E5E"/>
                </a:solidFill>
                <a:latin typeface="Courier"/>
              </a:rPr>
              <a:t>## 36           5.0         3.2          1.2         0.2     setosa  36</a:t>
            </a:r>
            <a:br/>
            <a:r>
              <a:rPr i="1">
                <a:solidFill>
                  <a:srgbClr val="5E5E5E"/>
                </a:solidFill>
                <a:latin typeface="Courier"/>
              </a:rPr>
              <a:t>## 37           5.5         3.5          1.3         0.2     setosa  37</a:t>
            </a:r>
            <a:br/>
            <a:r>
              <a:rPr i="1">
                <a:solidFill>
                  <a:srgbClr val="5E5E5E"/>
                </a:solidFill>
                <a:latin typeface="Courier"/>
              </a:rPr>
              <a:t>## 38           4.9         3.6          1.4         0.1     setosa  38</a:t>
            </a:r>
            <a:br/>
            <a:r>
              <a:rPr i="1">
                <a:solidFill>
                  <a:srgbClr val="5E5E5E"/>
                </a:solidFill>
                <a:latin typeface="Courier"/>
              </a:rPr>
              <a:t>## 39           4.4         3.0          1.3         0.2     setosa  39</a:t>
            </a:r>
            <a:br/>
            <a:r>
              <a:rPr i="1">
                <a:solidFill>
                  <a:srgbClr val="5E5E5E"/>
                </a:solidFill>
                <a:latin typeface="Courier"/>
              </a:rPr>
              <a:t>## 40           5.1         3.4          1.5         0.2     setosa  40</a:t>
            </a:r>
            <a:br/>
            <a:r>
              <a:rPr i="1">
                <a:solidFill>
                  <a:srgbClr val="5E5E5E"/>
                </a:solidFill>
                <a:latin typeface="Courier"/>
              </a:rPr>
              <a:t>## 41           5.0         3.5          1.3         0.3     setosa  41</a:t>
            </a:r>
            <a:br/>
            <a:r>
              <a:rPr i="1">
                <a:solidFill>
                  <a:srgbClr val="5E5E5E"/>
                </a:solidFill>
                <a:latin typeface="Courier"/>
              </a:rPr>
              <a:t>## 42           4.5         2.3          1.3         0.3     setosa  42</a:t>
            </a:r>
            <a:br/>
            <a:r>
              <a:rPr i="1">
                <a:solidFill>
                  <a:srgbClr val="5E5E5E"/>
                </a:solidFill>
                <a:latin typeface="Courier"/>
              </a:rPr>
              <a:t>## 43           4.4         3.2          1.3         0.2     setosa  43</a:t>
            </a:r>
            <a:br/>
            <a:r>
              <a:rPr i="1">
                <a:solidFill>
                  <a:srgbClr val="5E5E5E"/>
                </a:solidFill>
                <a:latin typeface="Courier"/>
              </a:rPr>
              <a:t>## 44           5.0         3.5          1.6         0.6     setosa  44</a:t>
            </a:r>
            <a:br/>
            <a:r>
              <a:rPr i="1">
                <a:solidFill>
                  <a:srgbClr val="5E5E5E"/>
                </a:solidFill>
                <a:latin typeface="Courier"/>
              </a:rPr>
              <a:t>## 45           5.1         3.8          1.9         0.4     setosa  45</a:t>
            </a:r>
            <a:br/>
            <a:r>
              <a:rPr i="1">
                <a:solidFill>
                  <a:srgbClr val="5E5E5E"/>
                </a:solidFill>
                <a:latin typeface="Courier"/>
              </a:rPr>
              <a:t>## 46           4.8         3.0          1.4         0.3     setosa  46</a:t>
            </a:r>
            <a:br/>
            <a:r>
              <a:rPr i="1">
                <a:solidFill>
                  <a:srgbClr val="5E5E5E"/>
                </a:solidFill>
                <a:latin typeface="Courier"/>
              </a:rPr>
              <a:t>## 47           5.1         3.8          1.6         0.2     setosa  47</a:t>
            </a:r>
            <a:br/>
            <a:r>
              <a:rPr i="1">
                <a:solidFill>
                  <a:srgbClr val="5E5E5E"/>
                </a:solidFill>
                <a:latin typeface="Courier"/>
              </a:rPr>
              <a:t>## 48           4.6         3.2          1.4         0.2     setosa  48</a:t>
            </a:r>
            <a:br/>
            <a:r>
              <a:rPr i="1">
                <a:solidFill>
                  <a:srgbClr val="5E5E5E"/>
                </a:solidFill>
                <a:latin typeface="Courier"/>
              </a:rPr>
              <a:t>## 49           5.3         3.7          1.5         0.2     setosa  49</a:t>
            </a:r>
            <a:br/>
            <a:r>
              <a:rPr i="1">
                <a:solidFill>
                  <a:srgbClr val="5E5E5E"/>
                </a:solidFill>
                <a:latin typeface="Courier"/>
              </a:rPr>
              <a:t>## 50           5.0         3.3          1.4         0.2     setosa  50</a:t>
            </a:r>
            <a:br/>
            <a:r>
              <a:rPr i="1">
                <a:solidFill>
                  <a:srgbClr val="5E5E5E"/>
                </a:solidFill>
                <a:latin typeface="Courier"/>
              </a:rPr>
              <a:t>## 51           7.0         3.2          4.7         1.4 versicolor  51</a:t>
            </a:r>
            <a:br/>
            <a:r>
              <a:rPr i="1">
                <a:solidFill>
                  <a:srgbClr val="5E5E5E"/>
                </a:solidFill>
                <a:latin typeface="Courier"/>
              </a:rPr>
              <a:t>## 52           6.4         3.2          4.5         1.5 versicolor  52</a:t>
            </a:r>
            <a:br/>
            <a:r>
              <a:rPr i="1">
                <a:solidFill>
                  <a:srgbClr val="5E5E5E"/>
                </a:solidFill>
                <a:latin typeface="Courier"/>
              </a:rPr>
              <a:t>## 53           6.9         3.1          4.9         1.5 versicolor  53</a:t>
            </a:r>
            <a:br/>
            <a:r>
              <a:rPr i="1">
                <a:solidFill>
                  <a:srgbClr val="5E5E5E"/>
                </a:solidFill>
                <a:latin typeface="Courier"/>
              </a:rPr>
              <a:t>## 54           5.5         2.3          4.0         1.3 versicolor  54</a:t>
            </a:r>
            <a:br/>
            <a:r>
              <a:rPr i="1">
                <a:solidFill>
                  <a:srgbClr val="5E5E5E"/>
                </a:solidFill>
                <a:latin typeface="Courier"/>
              </a:rPr>
              <a:t>## 55           6.5         2.8          4.6         1.5 versicolor  55</a:t>
            </a:r>
            <a:br/>
            <a:r>
              <a:rPr i="1">
                <a:solidFill>
                  <a:srgbClr val="5E5E5E"/>
                </a:solidFill>
                <a:latin typeface="Courier"/>
              </a:rPr>
              <a:t>## 56           5.7         2.8          4.5         1.3 versicolor  56</a:t>
            </a:r>
            <a:br/>
            <a:r>
              <a:rPr i="1">
                <a:solidFill>
                  <a:srgbClr val="5E5E5E"/>
                </a:solidFill>
                <a:latin typeface="Courier"/>
              </a:rPr>
              <a:t>## 57           6.3         3.3          4.7         1.6 versicolor  57</a:t>
            </a:r>
            <a:br/>
            <a:r>
              <a:rPr i="1">
                <a:solidFill>
                  <a:srgbClr val="5E5E5E"/>
                </a:solidFill>
                <a:latin typeface="Courier"/>
              </a:rPr>
              <a:t>## 58           4.9         2.4          3.3         1.0 versicolor  58</a:t>
            </a:r>
            <a:br/>
            <a:r>
              <a:rPr i="1">
                <a:solidFill>
                  <a:srgbClr val="5E5E5E"/>
                </a:solidFill>
                <a:latin typeface="Courier"/>
              </a:rPr>
              <a:t>## 59           6.6         2.9          4.6         1.3 versicolor  59</a:t>
            </a:r>
            <a:br/>
            <a:r>
              <a:rPr i="1">
                <a:solidFill>
                  <a:srgbClr val="5E5E5E"/>
                </a:solidFill>
                <a:latin typeface="Courier"/>
              </a:rPr>
              <a:t>## 60           5.2         2.7          3.9         1.4 versicolor  60</a:t>
            </a:r>
            <a:br/>
            <a:r>
              <a:rPr i="1">
                <a:solidFill>
                  <a:srgbClr val="5E5E5E"/>
                </a:solidFill>
                <a:latin typeface="Courier"/>
              </a:rPr>
              <a:t>## 61           5.0         2.0          3.5         1.0 versicolor  61</a:t>
            </a:r>
            <a:br/>
            <a:r>
              <a:rPr i="1">
                <a:solidFill>
                  <a:srgbClr val="5E5E5E"/>
                </a:solidFill>
                <a:latin typeface="Courier"/>
              </a:rPr>
              <a:t>## 62           5.9         3.0          4.2         1.5 versicolor  62</a:t>
            </a:r>
            <a:br/>
            <a:r>
              <a:rPr i="1">
                <a:solidFill>
                  <a:srgbClr val="5E5E5E"/>
                </a:solidFill>
                <a:latin typeface="Courier"/>
              </a:rPr>
              <a:t>## 63           6.0         2.2          4.0         1.0 versicolor  63</a:t>
            </a:r>
            <a:br/>
            <a:r>
              <a:rPr i="1">
                <a:solidFill>
                  <a:srgbClr val="5E5E5E"/>
                </a:solidFill>
                <a:latin typeface="Courier"/>
              </a:rPr>
              <a:t>## 64           6.1         2.9          4.7         1.4 versicolor  64</a:t>
            </a:r>
            <a:br/>
            <a:r>
              <a:rPr i="1">
                <a:solidFill>
                  <a:srgbClr val="5E5E5E"/>
                </a:solidFill>
                <a:latin typeface="Courier"/>
              </a:rPr>
              <a:t>## 65           5.6         2.9          3.6         1.3 versicolor  65</a:t>
            </a:r>
            <a:br/>
            <a:r>
              <a:rPr i="1">
                <a:solidFill>
                  <a:srgbClr val="5E5E5E"/>
                </a:solidFill>
                <a:latin typeface="Courier"/>
              </a:rPr>
              <a:t>## 66           6.7         3.1          4.4         1.4 versicolor  66</a:t>
            </a:r>
            <a:br/>
            <a:r>
              <a:rPr i="1">
                <a:solidFill>
                  <a:srgbClr val="5E5E5E"/>
                </a:solidFill>
                <a:latin typeface="Courier"/>
              </a:rPr>
              <a:t>## 67           5.6         3.0          4.5         1.5 versicolor  67</a:t>
            </a:r>
            <a:br/>
            <a:r>
              <a:rPr i="1">
                <a:solidFill>
                  <a:srgbClr val="5E5E5E"/>
                </a:solidFill>
                <a:latin typeface="Courier"/>
              </a:rPr>
              <a:t>## 68           5.8         2.7          4.1         1.0 versicolor  68</a:t>
            </a:r>
            <a:br/>
            <a:r>
              <a:rPr i="1">
                <a:solidFill>
                  <a:srgbClr val="5E5E5E"/>
                </a:solidFill>
                <a:latin typeface="Courier"/>
              </a:rPr>
              <a:t>## 69           6.2         2.2          4.5         1.5 versicolor  69</a:t>
            </a:r>
            <a:br/>
            <a:r>
              <a:rPr i="1">
                <a:solidFill>
                  <a:srgbClr val="5E5E5E"/>
                </a:solidFill>
                <a:latin typeface="Courier"/>
              </a:rPr>
              <a:t>## 70           5.6         2.5          3.9         1.1 versicolor  70</a:t>
            </a:r>
            <a:br/>
            <a:r>
              <a:rPr i="1">
                <a:solidFill>
                  <a:srgbClr val="5E5E5E"/>
                </a:solidFill>
                <a:latin typeface="Courier"/>
              </a:rPr>
              <a:t>## 71           5.9         3.2          4.8         1.8 versicolor  71</a:t>
            </a:r>
            <a:br/>
            <a:r>
              <a:rPr i="1">
                <a:solidFill>
                  <a:srgbClr val="5E5E5E"/>
                </a:solidFill>
                <a:latin typeface="Courier"/>
              </a:rPr>
              <a:t>## 72           6.1         2.8          4.0         1.3 versicolor  72</a:t>
            </a:r>
            <a:br/>
            <a:r>
              <a:rPr i="1">
                <a:solidFill>
                  <a:srgbClr val="5E5E5E"/>
                </a:solidFill>
                <a:latin typeface="Courier"/>
              </a:rPr>
              <a:t>## 73           6.3         2.5          4.9         1.5 versicolor  73</a:t>
            </a:r>
            <a:br/>
            <a:r>
              <a:rPr i="1">
                <a:solidFill>
                  <a:srgbClr val="5E5E5E"/>
                </a:solidFill>
                <a:latin typeface="Courier"/>
              </a:rPr>
              <a:t>## 74           6.1         2.8          4.7         1.2 versicolor  74</a:t>
            </a:r>
            <a:br/>
            <a:r>
              <a:rPr i="1">
                <a:solidFill>
                  <a:srgbClr val="5E5E5E"/>
                </a:solidFill>
                <a:latin typeface="Courier"/>
              </a:rPr>
              <a:t>## 75           6.4         2.9          4.3         1.3 versicolor  75</a:t>
            </a:r>
            <a:br/>
            <a:r>
              <a:rPr i="1">
                <a:solidFill>
                  <a:srgbClr val="5E5E5E"/>
                </a:solidFill>
                <a:latin typeface="Courier"/>
              </a:rPr>
              <a:t>## 76           6.6         3.0          4.4         1.4 versicolor  76</a:t>
            </a:r>
            <a:br/>
            <a:r>
              <a:rPr i="1">
                <a:solidFill>
                  <a:srgbClr val="5E5E5E"/>
                </a:solidFill>
                <a:latin typeface="Courier"/>
              </a:rPr>
              <a:t>## 77           6.8         2.8          4.8         1.4 versicolor  77</a:t>
            </a:r>
            <a:br/>
            <a:r>
              <a:rPr i="1">
                <a:solidFill>
                  <a:srgbClr val="5E5E5E"/>
                </a:solidFill>
                <a:latin typeface="Courier"/>
              </a:rPr>
              <a:t>## 78           6.7         3.0          5.0         1.7 versicolor  78</a:t>
            </a:r>
            <a:br/>
            <a:r>
              <a:rPr i="1">
                <a:solidFill>
                  <a:srgbClr val="5E5E5E"/>
                </a:solidFill>
                <a:latin typeface="Courier"/>
              </a:rPr>
              <a:t>## 79           6.0         2.9          4.5         1.5 versicolor  79</a:t>
            </a:r>
            <a:br/>
            <a:r>
              <a:rPr i="1">
                <a:solidFill>
                  <a:srgbClr val="5E5E5E"/>
                </a:solidFill>
                <a:latin typeface="Courier"/>
              </a:rPr>
              <a:t>## 80           5.7         2.6          3.5         1.0 versicolor  80</a:t>
            </a:r>
            <a:br/>
            <a:r>
              <a:rPr i="1">
                <a:solidFill>
                  <a:srgbClr val="5E5E5E"/>
                </a:solidFill>
                <a:latin typeface="Courier"/>
              </a:rPr>
              <a:t>## 81           5.5         2.4          3.8         1.1 versicolor  81</a:t>
            </a:r>
            <a:br/>
            <a:r>
              <a:rPr i="1">
                <a:solidFill>
                  <a:srgbClr val="5E5E5E"/>
                </a:solidFill>
                <a:latin typeface="Courier"/>
              </a:rPr>
              <a:t>## 82           5.5         2.4          3.7         1.0 versicolor  82</a:t>
            </a:r>
            <a:br/>
            <a:r>
              <a:rPr i="1">
                <a:solidFill>
                  <a:srgbClr val="5E5E5E"/>
                </a:solidFill>
                <a:latin typeface="Courier"/>
              </a:rPr>
              <a:t>## 83           5.8         2.7          3.9         1.2 versicolor  83</a:t>
            </a:r>
            <a:br/>
            <a:r>
              <a:rPr i="1">
                <a:solidFill>
                  <a:srgbClr val="5E5E5E"/>
                </a:solidFill>
                <a:latin typeface="Courier"/>
              </a:rPr>
              <a:t>## 84           6.0         2.7          5.1         1.6 versicolor  84</a:t>
            </a:r>
            <a:br/>
            <a:r>
              <a:rPr i="1">
                <a:solidFill>
                  <a:srgbClr val="5E5E5E"/>
                </a:solidFill>
                <a:latin typeface="Courier"/>
              </a:rPr>
              <a:t>## 85           5.4         3.0          4.5         1.5 versicolor  85</a:t>
            </a:r>
            <a:br/>
            <a:r>
              <a:rPr i="1">
                <a:solidFill>
                  <a:srgbClr val="5E5E5E"/>
                </a:solidFill>
                <a:latin typeface="Courier"/>
              </a:rPr>
              <a:t>## 86           6.0         3.4          4.5         1.6 versicolor  86</a:t>
            </a:r>
            <a:br/>
            <a:r>
              <a:rPr i="1">
                <a:solidFill>
                  <a:srgbClr val="5E5E5E"/>
                </a:solidFill>
                <a:latin typeface="Courier"/>
              </a:rPr>
              <a:t>## 87           6.7         3.1          4.7         1.5 versicolor  87</a:t>
            </a:r>
            <a:br/>
            <a:r>
              <a:rPr i="1">
                <a:solidFill>
                  <a:srgbClr val="5E5E5E"/>
                </a:solidFill>
                <a:latin typeface="Courier"/>
              </a:rPr>
              <a:t>## 88           6.3         2.3          4.4         1.3 versicolor  88</a:t>
            </a:r>
            <a:br/>
            <a:r>
              <a:rPr i="1">
                <a:solidFill>
                  <a:srgbClr val="5E5E5E"/>
                </a:solidFill>
                <a:latin typeface="Courier"/>
              </a:rPr>
              <a:t>## 89           5.6         3.0          4.1         1.3 versicolor  89</a:t>
            </a:r>
            <a:br/>
            <a:r>
              <a:rPr i="1">
                <a:solidFill>
                  <a:srgbClr val="5E5E5E"/>
                </a:solidFill>
                <a:latin typeface="Courier"/>
              </a:rPr>
              <a:t>## 90           5.5         2.5          4.0         1.3 versicolor  90</a:t>
            </a:r>
            <a:br/>
            <a:r>
              <a:rPr i="1">
                <a:solidFill>
                  <a:srgbClr val="5E5E5E"/>
                </a:solidFill>
                <a:latin typeface="Courier"/>
              </a:rPr>
              <a:t>## 91           5.5         2.6          4.4         1.2 versicolor  91</a:t>
            </a:r>
            <a:br/>
            <a:r>
              <a:rPr i="1">
                <a:solidFill>
                  <a:srgbClr val="5E5E5E"/>
                </a:solidFill>
                <a:latin typeface="Courier"/>
              </a:rPr>
              <a:t>## 92           6.1         3.0          4.6         1.4 versicolor  92</a:t>
            </a:r>
            <a:br/>
            <a:r>
              <a:rPr i="1">
                <a:solidFill>
                  <a:srgbClr val="5E5E5E"/>
                </a:solidFill>
                <a:latin typeface="Courier"/>
              </a:rPr>
              <a:t>## 93           5.8         2.6          4.0         1.2 versicolor  93</a:t>
            </a:r>
            <a:br/>
            <a:r>
              <a:rPr i="1">
                <a:solidFill>
                  <a:srgbClr val="5E5E5E"/>
                </a:solidFill>
                <a:latin typeface="Courier"/>
              </a:rPr>
              <a:t>## 94           5.0         2.3          3.3         1.0 versicolor  94</a:t>
            </a:r>
            <a:br/>
            <a:r>
              <a:rPr i="1">
                <a:solidFill>
                  <a:srgbClr val="5E5E5E"/>
                </a:solidFill>
                <a:latin typeface="Courier"/>
              </a:rPr>
              <a:t>## 95           5.6         2.7          4.2         1.3 versicolor  95</a:t>
            </a:r>
            <a:br/>
            <a:r>
              <a:rPr i="1">
                <a:solidFill>
                  <a:srgbClr val="5E5E5E"/>
                </a:solidFill>
                <a:latin typeface="Courier"/>
              </a:rPr>
              <a:t>## 96           5.7         3.0          4.2         1.2 versicolor  96</a:t>
            </a:r>
            <a:br/>
            <a:r>
              <a:rPr i="1">
                <a:solidFill>
                  <a:srgbClr val="5E5E5E"/>
                </a:solidFill>
                <a:latin typeface="Courier"/>
              </a:rPr>
              <a:t>## 97           5.7         2.9          4.2         1.3 versicolor  97</a:t>
            </a:r>
            <a:br/>
            <a:r>
              <a:rPr i="1">
                <a:solidFill>
                  <a:srgbClr val="5E5E5E"/>
                </a:solidFill>
                <a:latin typeface="Courier"/>
              </a:rPr>
              <a:t>## 98           6.2         2.9          4.3         1.3 versicolor  98</a:t>
            </a:r>
            <a:br/>
            <a:r>
              <a:rPr i="1">
                <a:solidFill>
                  <a:srgbClr val="5E5E5E"/>
                </a:solidFill>
                <a:latin typeface="Courier"/>
              </a:rPr>
              <a:t>## 99           5.1         2.5          3.0         1.1 versicolor  99</a:t>
            </a:r>
            <a:br/>
            <a:r>
              <a:rPr i="1">
                <a:solidFill>
                  <a:srgbClr val="5E5E5E"/>
                </a:solidFill>
                <a:latin typeface="Courier"/>
              </a:rPr>
              <a:t>## 100          5.7         2.8          4.1         1.3 versicolor 100</a:t>
            </a:r>
            <a:br/>
            <a:r>
              <a:rPr i="1">
                <a:solidFill>
                  <a:srgbClr val="5E5E5E"/>
                </a:solidFill>
                <a:latin typeface="Courier"/>
              </a:rPr>
              <a:t>## 101          6.3         3.3          6.0         2.5  virginica 101</a:t>
            </a:r>
            <a:br/>
            <a:r>
              <a:rPr i="1">
                <a:solidFill>
                  <a:srgbClr val="5E5E5E"/>
                </a:solidFill>
                <a:latin typeface="Courier"/>
              </a:rPr>
              <a:t>## 102          5.8         2.7          5.1         1.9  virginica 102</a:t>
            </a:r>
            <a:br/>
            <a:r>
              <a:rPr i="1">
                <a:solidFill>
                  <a:srgbClr val="5E5E5E"/>
                </a:solidFill>
                <a:latin typeface="Courier"/>
              </a:rPr>
              <a:t>## 103          7.1         3.0          5.9         2.1  virginica 103</a:t>
            </a:r>
            <a:br/>
            <a:r>
              <a:rPr i="1">
                <a:solidFill>
                  <a:srgbClr val="5E5E5E"/>
                </a:solidFill>
                <a:latin typeface="Courier"/>
              </a:rPr>
              <a:t>## 104          6.3         2.9          5.6         1.8  virginica 104</a:t>
            </a:r>
            <a:br/>
            <a:r>
              <a:rPr i="1">
                <a:solidFill>
                  <a:srgbClr val="5E5E5E"/>
                </a:solidFill>
                <a:latin typeface="Courier"/>
              </a:rPr>
              <a:t>## 105          6.5         3.0          5.8         2.2  virginica 105</a:t>
            </a:r>
            <a:br/>
            <a:r>
              <a:rPr i="1">
                <a:solidFill>
                  <a:srgbClr val="5E5E5E"/>
                </a:solidFill>
                <a:latin typeface="Courier"/>
              </a:rPr>
              <a:t>## 106          7.6         3.0          6.6         2.1  virginica 106</a:t>
            </a:r>
            <a:br/>
            <a:r>
              <a:rPr i="1">
                <a:solidFill>
                  <a:srgbClr val="5E5E5E"/>
                </a:solidFill>
                <a:latin typeface="Courier"/>
              </a:rPr>
              <a:t>## 107          4.9         2.5          4.5         1.7  virginica 107</a:t>
            </a:r>
            <a:br/>
            <a:r>
              <a:rPr i="1">
                <a:solidFill>
                  <a:srgbClr val="5E5E5E"/>
                </a:solidFill>
                <a:latin typeface="Courier"/>
              </a:rPr>
              <a:t>## 108          7.3         2.9          6.3         1.8  virginica 108</a:t>
            </a:r>
            <a:br/>
            <a:r>
              <a:rPr i="1">
                <a:solidFill>
                  <a:srgbClr val="5E5E5E"/>
                </a:solidFill>
                <a:latin typeface="Courier"/>
              </a:rPr>
              <a:t>## 109          6.7         2.5          5.8         1.8  virginica 109</a:t>
            </a:r>
            <a:br/>
            <a:r>
              <a:rPr i="1">
                <a:solidFill>
                  <a:srgbClr val="5E5E5E"/>
                </a:solidFill>
                <a:latin typeface="Courier"/>
              </a:rPr>
              <a:t>## 110          7.2         3.6          6.1         2.5  virginica 110</a:t>
            </a:r>
            <a:br/>
            <a:r>
              <a:rPr i="1">
                <a:solidFill>
                  <a:srgbClr val="5E5E5E"/>
                </a:solidFill>
                <a:latin typeface="Courier"/>
              </a:rPr>
              <a:t>## 111          6.5         3.2          5.1         2.0  virginica 111</a:t>
            </a:r>
            <a:br/>
            <a:r>
              <a:rPr i="1">
                <a:solidFill>
                  <a:srgbClr val="5E5E5E"/>
                </a:solidFill>
                <a:latin typeface="Courier"/>
              </a:rPr>
              <a:t>## 112          6.4         2.7          5.3         1.9  virginica 112</a:t>
            </a:r>
            <a:br/>
            <a:r>
              <a:rPr i="1">
                <a:solidFill>
                  <a:srgbClr val="5E5E5E"/>
                </a:solidFill>
                <a:latin typeface="Courier"/>
              </a:rPr>
              <a:t>## 113          6.8         3.0          5.5         2.1  virginica 113</a:t>
            </a:r>
            <a:br/>
            <a:r>
              <a:rPr i="1">
                <a:solidFill>
                  <a:srgbClr val="5E5E5E"/>
                </a:solidFill>
                <a:latin typeface="Courier"/>
              </a:rPr>
              <a:t>## 114          5.7         2.5          5.0         2.0  virginica 114</a:t>
            </a:r>
            <a:br/>
            <a:r>
              <a:rPr i="1">
                <a:solidFill>
                  <a:srgbClr val="5E5E5E"/>
                </a:solidFill>
                <a:latin typeface="Courier"/>
              </a:rPr>
              <a:t>## 115          5.8         2.8          5.1         2.4  virginica 115</a:t>
            </a:r>
            <a:br/>
            <a:r>
              <a:rPr i="1">
                <a:solidFill>
                  <a:srgbClr val="5E5E5E"/>
                </a:solidFill>
                <a:latin typeface="Courier"/>
              </a:rPr>
              <a:t>## 116          6.4         3.2          5.3         2.3  virginica 116</a:t>
            </a:r>
            <a:br/>
            <a:r>
              <a:rPr i="1">
                <a:solidFill>
                  <a:srgbClr val="5E5E5E"/>
                </a:solidFill>
                <a:latin typeface="Courier"/>
              </a:rPr>
              <a:t>## 117          6.5         3.0          5.5         1.8  virginica 117</a:t>
            </a:r>
            <a:br/>
            <a:r>
              <a:rPr i="1">
                <a:solidFill>
                  <a:srgbClr val="5E5E5E"/>
                </a:solidFill>
                <a:latin typeface="Courier"/>
              </a:rPr>
              <a:t>## 118          7.7         3.8          6.7         2.2  virginica 118</a:t>
            </a:r>
            <a:br/>
            <a:r>
              <a:rPr i="1">
                <a:solidFill>
                  <a:srgbClr val="5E5E5E"/>
                </a:solidFill>
                <a:latin typeface="Courier"/>
              </a:rPr>
              <a:t>## 119          7.7         2.6          6.9         2.3  virginica 119</a:t>
            </a:r>
            <a:br/>
            <a:r>
              <a:rPr i="1">
                <a:solidFill>
                  <a:srgbClr val="5E5E5E"/>
                </a:solidFill>
                <a:latin typeface="Courier"/>
              </a:rPr>
              <a:t>## 120          6.0         2.2          5.0         1.5  virginica 120</a:t>
            </a:r>
            <a:br/>
            <a:r>
              <a:rPr i="1">
                <a:solidFill>
                  <a:srgbClr val="5E5E5E"/>
                </a:solidFill>
                <a:latin typeface="Courier"/>
              </a:rPr>
              <a:t>## 121          6.9         3.2          5.7         2.3  virginica 121</a:t>
            </a:r>
            <a:br/>
            <a:r>
              <a:rPr i="1">
                <a:solidFill>
                  <a:srgbClr val="5E5E5E"/>
                </a:solidFill>
                <a:latin typeface="Courier"/>
              </a:rPr>
              <a:t>## 122          5.6         2.8          4.9         2.0  virginica 122</a:t>
            </a:r>
            <a:br/>
            <a:r>
              <a:rPr i="1">
                <a:solidFill>
                  <a:srgbClr val="5E5E5E"/>
                </a:solidFill>
                <a:latin typeface="Courier"/>
              </a:rPr>
              <a:t>## 123          7.7         2.8          6.7         2.0  virginica 123</a:t>
            </a:r>
            <a:br/>
            <a:r>
              <a:rPr i="1">
                <a:solidFill>
                  <a:srgbClr val="5E5E5E"/>
                </a:solidFill>
                <a:latin typeface="Courier"/>
              </a:rPr>
              <a:t>## 124          6.3         2.7          4.9         1.8  virginica 124</a:t>
            </a:r>
            <a:br/>
            <a:r>
              <a:rPr i="1">
                <a:solidFill>
                  <a:srgbClr val="5E5E5E"/>
                </a:solidFill>
                <a:latin typeface="Courier"/>
              </a:rPr>
              <a:t>## 125          6.7         3.3          5.7         2.1  virginica 125</a:t>
            </a:r>
            <a:br/>
            <a:r>
              <a:rPr i="1">
                <a:solidFill>
                  <a:srgbClr val="5E5E5E"/>
                </a:solidFill>
                <a:latin typeface="Courier"/>
              </a:rPr>
              <a:t>## 126          7.2         3.2          6.0         1.8  virginica 126</a:t>
            </a:r>
            <a:br/>
            <a:r>
              <a:rPr i="1">
                <a:solidFill>
                  <a:srgbClr val="5E5E5E"/>
                </a:solidFill>
                <a:latin typeface="Courier"/>
              </a:rPr>
              <a:t>## 127          6.2         2.8          4.8         1.8  virginica 127</a:t>
            </a:r>
            <a:br/>
            <a:r>
              <a:rPr i="1">
                <a:solidFill>
                  <a:srgbClr val="5E5E5E"/>
                </a:solidFill>
                <a:latin typeface="Courier"/>
              </a:rPr>
              <a:t>## 128          6.1         3.0          4.9         1.8  virginica 128</a:t>
            </a:r>
            <a:br/>
            <a:r>
              <a:rPr i="1">
                <a:solidFill>
                  <a:srgbClr val="5E5E5E"/>
                </a:solidFill>
                <a:latin typeface="Courier"/>
              </a:rPr>
              <a:t>## 129          6.4         2.8          5.6         2.1  virginica 129</a:t>
            </a:r>
            <a:br/>
            <a:r>
              <a:rPr i="1">
                <a:solidFill>
                  <a:srgbClr val="5E5E5E"/>
                </a:solidFill>
                <a:latin typeface="Courier"/>
              </a:rPr>
              <a:t>## 130          7.2         3.0          5.8         1.6  virginica 130</a:t>
            </a:r>
            <a:br/>
            <a:r>
              <a:rPr i="1">
                <a:solidFill>
                  <a:srgbClr val="5E5E5E"/>
                </a:solidFill>
                <a:latin typeface="Courier"/>
              </a:rPr>
              <a:t>## 131          7.4         2.8          6.1         1.9  virginica 131</a:t>
            </a:r>
            <a:br/>
            <a:r>
              <a:rPr i="1">
                <a:solidFill>
                  <a:srgbClr val="5E5E5E"/>
                </a:solidFill>
                <a:latin typeface="Courier"/>
              </a:rPr>
              <a:t>## 132          7.9         3.8          6.4         2.0  virginica 132</a:t>
            </a:r>
            <a:br/>
            <a:r>
              <a:rPr i="1">
                <a:solidFill>
                  <a:srgbClr val="5E5E5E"/>
                </a:solidFill>
                <a:latin typeface="Courier"/>
              </a:rPr>
              <a:t>## 133          6.4         2.8          5.6         2.2  virginica 133</a:t>
            </a:r>
            <a:br/>
            <a:r>
              <a:rPr i="1">
                <a:solidFill>
                  <a:srgbClr val="5E5E5E"/>
                </a:solidFill>
                <a:latin typeface="Courier"/>
              </a:rPr>
              <a:t>## 134          6.3         2.8          5.1         1.5  virginica 134</a:t>
            </a:r>
            <a:br/>
            <a:r>
              <a:rPr i="1">
                <a:solidFill>
                  <a:srgbClr val="5E5E5E"/>
                </a:solidFill>
                <a:latin typeface="Courier"/>
              </a:rPr>
              <a:t>## 135          6.1         2.6          5.6         1.4  virginica 135</a:t>
            </a:r>
            <a:br/>
            <a:r>
              <a:rPr i="1">
                <a:solidFill>
                  <a:srgbClr val="5E5E5E"/>
                </a:solidFill>
                <a:latin typeface="Courier"/>
              </a:rPr>
              <a:t>## 136          7.7         3.0          6.1         2.3  virginica 136</a:t>
            </a:r>
            <a:br/>
            <a:r>
              <a:rPr i="1">
                <a:solidFill>
                  <a:srgbClr val="5E5E5E"/>
                </a:solidFill>
                <a:latin typeface="Courier"/>
              </a:rPr>
              <a:t>## 137          6.3         3.4          5.6         2.4  virginica 137</a:t>
            </a:r>
            <a:br/>
            <a:r>
              <a:rPr i="1">
                <a:solidFill>
                  <a:srgbClr val="5E5E5E"/>
                </a:solidFill>
                <a:latin typeface="Courier"/>
              </a:rPr>
              <a:t>## 138          6.4         3.1          5.5         1.8  virginica 138</a:t>
            </a:r>
            <a:br/>
            <a:r>
              <a:rPr i="1">
                <a:solidFill>
                  <a:srgbClr val="5E5E5E"/>
                </a:solidFill>
                <a:latin typeface="Courier"/>
              </a:rPr>
              <a:t>## 139          6.0         3.0          4.8         1.8  virginica 139</a:t>
            </a:r>
            <a:br/>
            <a:r>
              <a:rPr i="1">
                <a:solidFill>
                  <a:srgbClr val="5E5E5E"/>
                </a:solidFill>
                <a:latin typeface="Courier"/>
              </a:rPr>
              <a:t>## 140          6.9         3.1          5.4         2.1  virginica 140</a:t>
            </a:r>
            <a:br/>
            <a:r>
              <a:rPr i="1">
                <a:solidFill>
                  <a:srgbClr val="5E5E5E"/>
                </a:solidFill>
                <a:latin typeface="Courier"/>
              </a:rPr>
              <a:t>## 141          6.7         3.1          5.6         2.4  virginica 141</a:t>
            </a:r>
            <a:br/>
            <a:r>
              <a:rPr i="1">
                <a:solidFill>
                  <a:srgbClr val="5E5E5E"/>
                </a:solidFill>
                <a:latin typeface="Courier"/>
              </a:rPr>
              <a:t>## 142          6.9         3.1          5.1         2.3  virginica 142</a:t>
            </a:r>
            <a:br/>
            <a:r>
              <a:rPr i="1">
                <a:solidFill>
                  <a:srgbClr val="5E5E5E"/>
                </a:solidFill>
                <a:latin typeface="Courier"/>
              </a:rPr>
              <a:t>## 143          5.8         2.7          5.1         1.9  virginica 143</a:t>
            </a:r>
            <a:br/>
            <a:r>
              <a:rPr i="1">
                <a:solidFill>
                  <a:srgbClr val="5E5E5E"/>
                </a:solidFill>
                <a:latin typeface="Courier"/>
              </a:rPr>
              <a:t>## 144          6.8         3.2          5.9         2.3  virginica 144</a:t>
            </a:r>
            <a:br/>
            <a:r>
              <a:rPr i="1">
                <a:solidFill>
                  <a:srgbClr val="5E5E5E"/>
                </a:solidFill>
                <a:latin typeface="Courier"/>
              </a:rPr>
              <a:t>## 145          6.7         3.3          5.7         2.5  virginica 145</a:t>
            </a:r>
            <a:br/>
            <a:r>
              <a:rPr i="1">
                <a:solidFill>
                  <a:srgbClr val="5E5E5E"/>
                </a:solidFill>
                <a:latin typeface="Courier"/>
              </a:rPr>
              <a:t>## 146          6.7         3.0          5.2         2.3  virginica 146</a:t>
            </a:r>
            <a:br/>
            <a:r>
              <a:rPr i="1">
                <a:solidFill>
                  <a:srgbClr val="5E5E5E"/>
                </a:solidFill>
                <a:latin typeface="Courier"/>
              </a:rPr>
              <a:t>## 147          6.3         2.5          5.0         1.9  virginica 147</a:t>
            </a:r>
            <a:br/>
            <a:r>
              <a:rPr i="1">
                <a:solidFill>
                  <a:srgbClr val="5E5E5E"/>
                </a:solidFill>
                <a:latin typeface="Courier"/>
              </a:rPr>
              <a:t>## 148          6.5         3.0          5.2         2.0  virginica 148</a:t>
            </a:r>
            <a:br/>
            <a:r>
              <a:rPr i="1">
                <a:solidFill>
                  <a:srgbClr val="5E5E5E"/>
                </a:solidFill>
                <a:latin typeface="Courier"/>
              </a:rPr>
              <a:t>## 149          6.2         3.4          5.4         2.3  virginica 149</a:t>
            </a:r>
            <a:br/>
            <a:r>
              <a:rPr i="1">
                <a:solidFill>
                  <a:srgbClr val="5E5E5E"/>
                </a:solidFill>
                <a:latin typeface="Courier"/>
              </a:rPr>
              <a:t>## 150          5.9         3.0          5.1         1.8  virginica 150</a:t>
            </a:r>
            <a:br/>
            <a:r>
              <a:rPr i="1">
                <a:solidFill>
                  <a:srgbClr val="5E5E5E"/>
                </a:solidFill>
                <a:latin typeface="Courier"/>
              </a:rPr>
              <a:t>##        species_ind</a:t>
            </a:r>
            <a:br/>
            <a:r>
              <a:rPr i="1">
                <a:solidFill>
                  <a:srgbClr val="5E5E5E"/>
                </a:solidFill>
                <a:latin typeface="Courier"/>
              </a:rPr>
              <a:t>## 1         setosa_1</a:t>
            </a:r>
            <a:br/>
            <a:r>
              <a:rPr i="1">
                <a:solidFill>
                  <a:srgbClr val="5E5E5E"/>
                </a:solidFill>
                <a:latin typeface="Courier"/>
              </a:rPr>
              <a:t>## 2         setosa_2</a:t>
            </a:r>
            <a:br/>
            <a:r>
              <a:rPr i="1">
                <a:solidFill>
                  <a:srgbClr val="5E5E5E"/>
                </a:solidFill>
                <a:latin typeface="Courier"/>
              </a:rPr>
              <a:t>## 3         setosa_3</a:t>
            </a:r>
            <a:br/>
            <a:r>
              <a:rPr i="1">
                <a:solidFill>
                  <a:srgbClr val="5E5E5E"/>
                </a:solidFill>
                <a:latin typeface="Courier"/>
              </a:rPr>
              <a:t>## 4         setosa_4</a:t>
            </a:r>
            <a:br/>
            <a:r>
              <a:rPr i="1">
                <a:solidFill>
                  <a:srgbClr val="5E5E5E"/>
                </a:solidFill>
                <a:latin typeface="Courier"/>
              </a:rPr>
              <a:t>## 5         setosa_5</a:t>
            </a:r>
            <a:br/>
            <a:r>
              <a:rPr i="1">
                <a:solidFill>
                  <a:srgbClr val="5E5E5E"/>
                </a:solidFill>
                <a:latin typeface="Courier"/>
              </a:rPr>
              <a:t>## 6         setosa_6</a:t>
            </a:r>
            <a:br/>
            <a:r>
              <a:rPr i="1">
                <a:solidFill>
                  <a:srgbClr val="5E5E5E"/>
                </a:solidFill>
                <a:latin typeface="Courier"/>
              </a:rPr>
              <a:t>## 7         setosa_7</a:t>
            </a:r>
            <a:br/>
            <a:r>
              <a:rPr i="1">
                <a:solidFill>
                  <a:srgbClr val="5E5E5E"/>
                </a:solidFill>
                <a:latin typeface="Courier"/>
              </a:rPr>
              <a:t>## 8         setosa_8</a:t>
            </a:r>
            <a:br/>
            <a:r>
              <a:rPr i="1">
                <a:solidFill>
                  <a:srgbClr val="5E5E5E"/>
                </a:solidFill>
                <a:latin typeface="Courier"/>
              </a:rPr>
              <a:t>## 9         setosa_9</a:t>
            </a:r>
            <a:br/>
            <a:r>
              <a:rPr i="1">
                <a:solidFill>
                  <a:srgbClr val="5E5E5E"/>
                </a:solidFill>
                <a:latin typeface="Courier"/>
              </a:rPr>
              <a:t>## 10       setosa_10</a:t>
            </a:r>
            <a:br/>
            <a:r>
              <a:rPr i="1">
                <a:solidFill>
                  <a:srgbClr val="5E5E5E"/>
                </a:solidFill>
                <a:latin typeface="Courier"/>
              </a:rPr>
              <a:t>## 11       setosa_11</a:t>
            </a:r>
            <a:br/>
            <a:r>
              <a:rPr i="1">
                <a:solidFill>
                  <a:srgbClr val="5E5E5E"/>
                </a:solidFill>
                <a:latin typeface="Courier"/>
              </a:rPr>
              <a:t>## 12       setosa_12</a:t>
            </a:r>
            <a:br/>
            <a:r>
              <a:rPr i="1">
                <a:solidFill>
                  <a:srgbClr val="5E5E5E"/>
                </a:solidFill>
                <a:latin typeface="Courier"/>
              </a:rPr>
              <a:t>## 13       setosa_13</a:t>
            </a:r>
            <a:br/>
            <a:r>
              <a:rPr i="1">
                <a:solidFill>
                  <a:srgbClr val="5E5E5E"/>
                </a:solidFill>
                <a:latin typeface="Courier"/>
              </a:rPr>
              <a:t>## 14       setosa_14</a:t>
            </a:r>
            <a:br/>
            <a:r>
              <a:rPr i="1">
                <a:solidFill>
                  <a:srgbClr val="5E5E5E"/>
                </a:solidFill>
                <a:latin typeface="Courier"/>
              </a:rPr>
              <a:t>## 15       setosa_15</a:t>
            </a:r>
            <a:br/>
            <a:r>
              <a:rPr i="1">
                <a:solidFill>
                  <a:srgbClr val="5E5E5E"/>
                </a:solidFill>
                <a:latin typeface="Courier"/>
              </a:rPr>
              <a:t>## 16       setosa_16</a:t>
            </a:r>
            <a:br/>
            <a:r>
              <a:rPr i="1">
                <a:solidFill>
                  <a:srgbClr val="5E5E5E"/>
                </a:solidFill>
                <a:latin typeface="Courier"/>
              </a:rPr>
              <a:t>## 17       setosa_17</a:t>
            </a:r>
            <a:br/>
            <a:r>
              <a:rPr i="1">
                <a:solidFill>
                  <a:srgbClr val="5E5E5E"/>
                </a:solidFill>
                <a:latin typeface="Courier"/>
              </a:rPr>
              <a:t>## 18       setosa_18</a:t>
            </a:r>
            <a:br/>
            <a:r>
              <a:rPr i="1">
                <a:solidFill>
                  <a:srgbClr val="5E5E5E"/>
                </a:solidFill>
                <a:latin typeface="Courier"/>
              </a:rPr>
              <a:t>## 19       setosa_19</a:t>
            </a:r>
            <a:br/>
            <a:r>
              <a:rPr i="1">
                <a:solidFill>
                  <a:srgbClr val="5E5E5E"/>
                </a:solidFill>
                <a:latin typeface="Courier"/>
              </a:rPr>
              <a:t>## 20       setosa_20</a:t>
            </a:r>
            <a:br/>
            <a:r>
              <a:rPr i="1">
                <a:solidFill>
                  <a:srgbClr val="5E5E5E"/>
                </a:solidFill>
                <a:latin typeface="Courier"/>
              </a:rPr>
              <a:t>## 21       setosa_21</a:t>
            </a:r>
            <a:br/>
            <a:r>
              <a:rPr i="1">
                <a:solidFill>
                  <a:srgbClr val="5E5E5E"/>
                </a:solidFill>
                <a:latin typeface="Courier"/>
              </a:rPr>
              <a:t>## 22       setosa_22</a:t>
            </a:r>
            <a:br/>
            <a:r>
              <a:rPr i="1">
                <a:solidFill>
                  <a:srgbClr val="5E5E5E"/>
                </a:solidFill>
                <a:latin typeface="Courier"/>
              </a:rPr>
              <a:t>## 23       setosa_23</a:t>
            </a:r>
            <a:br/>
            <a:r>
              <a:rPr i="1">
                <a:solidFill>
                  <a:srgbClr val="5E5E5E"/>
                </a:solidFill>
                <a:latin typeface="Courier"/>
              </a:rPr>
              <a:t>## 24       setosa_24</a:t>
            </a:r>
            <a:br/>
            <a:r>
              <a:rPr i="1">
                <a:solidFill>
                  <a:srgbClr val="5E5E5E"/>
                </a:solidFill>
                <a:latin typeface="Courier"/>
              </a:rPr>
              <a:t>## 25       setosa_25</a:t>
            </a:r>
            <a:br/>
            <a:r>
              <a:rPr i="1">
                <a:solidFill>
                  <a:srgbClr val="5E5E5E"/>
                </a:solidFill>
                <a:latin typeface="Courier"/>
              </a:rPr>
              <a:t>## 26       setosa_26</a:t>
            </a:r>
            <a:br/>
            <a:r>
              <a:rPr i="1">
                <a:solidFill>
                  <a:srgbClr val="5E5E5E"/>
                </a:solidFill>
                <a:latin typeface="Courier"/>
              </a:rPr>
              <a:t>## 27       setosa_27</a:t>
            </a:r>
            <a:br/>
            <a:r>
              <a:rPr i="1">
                <a:solidFill>
                  <a:srgbClr val="5E5E5E"/>
                </a:solidFill>
                <a:latin typeface="Courier"/>
              </a:rPr>
              <a:t>## 28       setosa_28</a:t>
            </a:r>
            <a:br/>
            <a:r>
              <a:rPr i="1">
                <a:solidFill>
                  <a:srgbClr val="5E5E5E"/>
                </a:solidFill>
                <a:latin typeface="Courier"/>
              </a:rPr>
              <a:t>## 29       setosa_29</a:t>
            </a:r>
            <a:br/>
            <a:r>
              <a:rPr i="1">
                <a:solidFill>
                  <a:srgbClr val="5E5E5E"/>
                </a:solidFill>
                <a:latin typeface="Courier"/>
              </a:rPr>
              <a:t>## 30       setosa_30</a:t>
            </a:r>
            <a:br/>
            <a:r>
              <a:rPr i="1">
                <a:solidFill>
                  <a:srgbClr val="5E5E5E"/>
                </a:solidFill>
                <a:latin typeface="Courier"/>
              </a:rPr>
              <a:t>## 31       setosa_31</a:t>
            </a:r>
            <a:br/>
            <a:r>
              <a:rPr i="1">
                <a:solidFill>
                  <a:srgbClr val="5E5E5E"/>
                </a:solidFill>
                <a:latin typeface="Courier"/>
              </a:rPr>
              <a:t>## 32       setosa_32</a:t>
            </a:r>
            <a:br/>
            <a:r>
              <a:rPr i="1">
                <a:solidFill>
                  <a:srgbClr val="5E5E5E"/>
                </a:solidFill>
                <a:latin typeface="Courier"/>
              </a:rPr>
              <a:t>## 33       setosa_33</a:t>
            </a:r>
            <a:br/>
            <a:r>
              <a:rPr i="1">
                <a:solidFill>
                  <a:srgbClr val="5E5E5E"/>
                </a:solidFill>
                <a:latin typeface="Courier"/>
              </a:rPr>
              <a:t>## 34       setosa_34</a:t>
            </a:r>
            <a:br/>
            <a:r>
              <a:rPr i="1">
                <a:solidFill>
                  <a:srgbClr val="5E5E5E"/>
                </a:solidFill>
                <a:latin typeface="Courier"/>
              </a:rPr>
              <a:t>## 35       setosa_35</a:t>
            </a:r>
            <a:br/>
            <a:r>
              <a:rPr i="1">
                <a:solidFill>
                  <a:srgbClr val="5E5E5E"/>
                </a:solidFill>
                <a:latin typeface="Courier"/>
              </a:rPr>
              <a:t>## 36       setosa_36</a:t>
            </a:r>
            <a:br/>
            <a:r>
              <a:rPr i="1">
                <a:solidFill>
                  <a:srgbClr val="5E5E5E"/>
                </a:solidFill>
                <a:latin typeface="Courier"/>
              </a:rPr>
              <a:t>## 37       setosa_37</a:t>
            </a:r>
            <a:br/>
            <a:r>
              <a:rPr i="1">
                <a:solidFill>
                  <a:srgbClr val="5E5E5E"/>
                </a:solidFill>
                <a:latin typeface="Courier"/>
              </a:rPr>
              <a:t>## 38       setosa_38</a:t>
            </a:r>
            <a:br/>
            <a:r>
              <a:rPr i="1">
                <a:solidFill>
                  <a:srgbClr val="5E5E5E"/>
                </a:solidFill>
                <a:latin typeface="Courier"/>
              </a:rPr>
              <a:t>## 39       setosa_39</a:t>
            </a:r>
            <a:br/>
            <a:r>
              <a:rPr i="1">
                <a:solidFill>
                  <a:srgbClr val="5E5E5E"/>
                </a:solidFill>
                <a:latin typeface="Courier"/>
              </a:rPr>
              <a:t>## 40       setosa_40</a:t>
            </a:r>
            <a:br/>
            <a:r>
              <a:rPr i="1">
                <a:solidFill>
                  <a:srgbClr val="5E5E5E"/>
                </a:solidFill>
                <a:latin typeface="Courier"/>
              </a:rPr>
              <a:t>## 41       setosa_41</a:t>
            </a:r>
            <a:br/>
            <a:r>
              <a:rPr i="1">
                <a:solidFill>
                  <a:srgbClr val="5E5E5E"/>
                </a:solidFill>
                <a:latin typeface="Courier"/>
              </a:rPr>
              <a:t>## 42       setosa_42</a:t>
            </a:r>
            <a:br/>
            <a:r>
              <a:rPr i="1">
                <a:solidFill>
                  <a:srgbClr val="5E5E5E"/>
                </a:solidFill>
                <a:latin typeface="Courier"/>
              </a:rPr>
              <a:t>## 43       setosa_43</a:t>
            </a:r>
            <a:br/>
            <a:r>
              <a:rPr i="1">
                <a:solidFill>
                  <a:srgbClr val="5E5E5E"/>
                </a:solidFill>
                <a:latin typeface="Courier"/>
              </a:rPr>
              <a:t>## 44       setosa_44</a:t>
            </a:r>
            <a:br/>
            <a:r>
              <a:rPr i="1">
                <a:solidFill>
                  <a:srgbClr val="5E5E5E"/>
                </a:solidFill>
                <a:latin typeface="Courier"/>
              </a:rPr>
              <a:t>## 45       setosa_45</a:t>
            </a:r>
            <a:br/>
            <a:r>
              <a:rPr i="1">
                <a:solidFill>
                  <a:srgbClr val="5E5E5E"/>
                </a:solidFill>
                <a:latin typeface="Courier"/>
              </a:rPr>
              <a:t>## 46       setosa_46</a:t>
            </a:r>
            <a:br/>
            <a:r>
              <a:rPr i="1">
                <a:solidFill>
                  <a:srgbClr val="5E5E5E"/>
                </a:solidFill>
                <a:latin typeface="Courier"/>
              </a:rPr>
              <a:t>## 47       setosa_47</a:t>
            </a:r>
            <a:br/>
            <a:r>
              <a:rPr i="1">
                <a:solidFill>
                  <a:srgbClr val="5E5E5E"/>
                </a:solidFill>
                <a:latin typeface="Courier"/>
              </a:rPr>
              <a:t>## 48       setosa_48</a:t>
            </a:r>
            <a:br/>
            <a:r>
              <a:rPr i="1">
                <a:solidFill>
                  <a:srgbClr val="5E5E5E"/>
                </a:solidFill>
                <a:latin typeface="Courier"/>
              </a:rPr>
              <a:t>## 49       setosa_49</a:t>
            </a:r>
            <a:br/>
            <a:r>
              <a:rPr i="1">
                <a:solidFill>
                  <a:srgbClr val="5E5E5E"/>
                </a:solidFill>
                <a:latin typeface="Courier"/>
              </a:rPr>
              <a:t>## 50       setosa_50</a:t>
            </a:r>
            <a:br/>
            <a:r>
              <a:rPr i="1">
                <a:solidFill>
                  <a:srgbClr val="5E5E5E"/>
                </a:solidFill>
                <a:latin typeface="Courier"/>
              </a:rPr>
              <a:t>## 51   versicolor_51</a:t>
            </a:r>
            <a:br/>
            <a:r>
              <a:rPr i="1">
                <a:solidFill>
                  <a:srgbClr val="5E5E5E"/>
                </a:solidFill>
                <a:latin typeface="Courier"/>
              </a:rPr>
              <a:t>## 52   versicolor_52</a:t>
            </a:r>
            <a:br/>
            <a:r>
              <a:rPr i="1">
                <a:solidFill>
                  <a:srgbClr val="5E5E5E"/>
                </a:solidFill>
                <a:latin typeface="Courier"/>
              </a:rPr>
              <a:t>## 53   versicolor_53</a:t>
            </a:r>
            <a:br/>
            <a:r>
              <a:rPr i="1">
                <a:solidFill>
                  <a:srgbClr val="5E5E5E"/>
                </a:solidFill>
                <a:latin typeface="Courier"/>
              </a:rPr>
              <a:t>## 54   versicolor_54</a:t>
            </a:r>
            <a:br/>
            <a:r>
              <a:rPr i="1">
                <a:solidFill>
                  <a:srgbClr val="5E5E5E"/>
                </a:solidFill>
                <a:latin typeface="Courier"/>
              </a:rPr>
              <a:t>## 55   versicolor_55</a:t>
            </a:r>
            <a:br/>
            <a:r>
              <a:rPr i="1">
                <a:solidFill>
                  <a:srgbClr val="5E5E5E"/>
                </a:solidFill>
                <a:latin typeface="Courier"/>
              </a:rPr>
              <a:t>## 56   versicolor_56</a:t>
            </a:r>
            <a:br/>
            <a:r>
              <a:rPr i="1">
                <a:solidFill>
                  <a:srgbClr val="5E5E5E"/>
                </a:solidFill>
                <a:latin typeface="Courier"/>
              </a:rPr>
              <a:t>## 57   versicolor_57</a:t>
            </a:r>
            <a:br/>
            <a:r>
              <a:rPr i="1">
                <a:solidFill>
                  <a:srgbClr val="5E5E5E"/>
                </a:solidFill>
                <a:latin typeface="Courier"/>
              </a:rPr>
              <a:t>## 58   versicolor_58</a:t>
            </a:r>
            <a:br/>
            <a:r>
              <a:rPr i="1">
                <a:solidFill>
                  <a:srgbClr val="5E5E5E"/>
                </a:solidFill>
                <a:latin typeface="Courier"/>
              </a:rPr>
              <a:t>## 59   versicolor_59</a:t>
            </a:r>
            <a:br/>
            <a:r>
              <a:rPr i="1">
                <a:solidFill>
                  <a:srgbClr val="5E5E5E"/>
                </a:solidFill>
                <a:latin typeface="Courier"/>
              </a:rPr>
              <a:t>## 60   versicolor_60</a:t>
            </a:r>
            <a:br/>
            <a:r>
              <a:rPr i="1">
                <a:solidFill>
                  <a:srgbClr val="5E5E5E"/>
                </a:solidFill>
                <a:latin typeface="Courier"/>
              </a:rPr>
              <a:t>## 61   versicolor_61</a:t>
            </a:r>
            <a:br/>
            <a:r>
              <a:rPr i="1">
                <a:solidFill>
                  <a:srgbClr val="5E5E5E"/>
                </a:solidFill>
                <a:latin typeface="Courier"/>
              </a:rPr>
              <a:t>## 62   versicolor_62</a:t>
            </a:r>
            <a:br/>
            <a:r>
              <a:rPr i="1">
                <a:solidFill>
                  <a:srgbClr val="5E5E5E"/>
                </a:solidFill>
                <a:latin typeface="Courier"/>
              </a:rPr>
              <a:t>## 63   versicolor_63</a:t>
            </a:r>
            <a:br/>
            <a:r>
              <a:rPr i="1">
                <a:solidFill>
                  <a:srgbClr val="5E5E5E"/>
                </a:solidFill>
                <a:latin typeface="Courier"/>
              </a:rPr>
              <a:t>## 64   versicolor_64</a:t>
            </a:r>
            <a:br/>
            <a:r>
              <a:rPr i="1">
                <a:solidFill>
                  <a:srgbClr val="5E5E5E"/>
                </a:solidFill>
                <a:latin typeface="Courier"/>
              </a:rPr>
              <a:t>## 65   versicolor_65</a:t>
            </a:r>
            <a:br/>
            <a:r>
              <a:rPr i="1">
                <a:solidFill>
                  <a:srgbClr val="5E5E5E"/>
                </a:solidFill>
                <a:latin typeface="Courier"/>
              </a:rPr>
              <a:t>## 66   versicolor_66</a:t>
            </a:r>
            <a:br/>
            <a:r>
              <a:rPr i="1">
                <a:solidFill>
                  <a:srgbClr val="5E5E5E"/>
                </a:solidFill>
                <a:latin typeface="Courier"/>
              </a:rPr>
              <a:t>## 67   versicolor_67</a:t>
            </a:r>
            <a:br/>
            <a:r>
              <a:rPr i="1">
                <a:solidFill>
                  <a:srgbClr val="5E5E5E"/>
                </a:solidFill>
                <a:latin typeface="Courier"/>
              </a:rPr>
              <a:t>## 68   versicolor_68</a:t>
            </a:r>
            <a:br/>
            <a:r>
              <a:rPr i="1">
                <a:solidFill>
                  <a:srgbClr val="5E5E5E"/>
                </a:solidFill>
                <a:latin typeface="Courier"/>
              </a:rPr>
              <a:t>## 69   versicolor_69</a:t>
            </a:r>
            <a:br/>
            <a:r>
              <a:rPr i="1">
                <a:solidFill>
                  <a:srgbClr val="5E5E5E"/>
                </a:solidFill>
                <a:latin typeface="Courier"/>
              </a:rPr>
              <a:t>## 70   versicolor_70</a:t>
            </a:r>
            <a:br/>
            <a:r>
              <a:rPr i="1">
                <a:solidFill>
                  <a:srgbClr val="5E5E5E"/>
                </a:solidFill>
                <a:latin typeface="Courier"/>
              </a:rPr>
              <a:t>## 71   versicolor_71</a:t>
            </a:r>
            <a:br/>
            <a:r>
              <a:rPr i="1">
                <a:solidFill>
                  <a:srgbClr val="5E5E5E"/>
                </a:solidFill>
                <a:latin typeface="Courier"/>
              </a:rPr>
              <a:t>## 72   versicolor_72</a:t>
            </a:r>
            <a:br/>
            <a:r>
              <a:rPr i="1">
                <a:solidFill>
                  <a:srgbClr val="5E5E5E"/>
                </a:solidFill>
                <a:latin typeface="Courier"/>
              </a:rPr>
              <a:t>## 73   versicolor_73</a:t>
            </a:r>
            <a:br/>
            <a:r>
              <a:rPr i="1">
                <a:solidFill>
                  <a:srgbClr val="5E5E5E"/>
                </a:solidFill>
                <a:latin typeface="Courier"/>
              </a:rPr>
              <a:t>## 74   versicolor_74</a:t>
            </a:r>
            <a:br/>
            <a:r>
              <a:rPr i="1">
                <a:solidFill>
                  <a:srgbClr val="5E5E5E"/>
                </a:solidFill>
                <a:latin typeface="Courier"/>
              </a:rPr>
              <a:t>## 75   versicolor_75</a:t>
            </a:r>
            <a:br/>
            <a:r>
              <a:rPr i="1">
                <a:solidFill>
                  <a:srgbClr val="5E5E5E"/>
                </a:solidFill>
                <a:latin typeface="Courier"/>
              </a:rPr>
              <a:t>## 76   versicolor_76</a:t>
            </a:r>
            <a:br/>
            <a:r>
              <a:rPr i="1">
                <a:solidFill>
                  <a:srgbClr val="5E5E5E"/>
                </a:solidFill>
                <a:latin typeface="Courier"/>
              </a:rPr>
              <a:t>## 77   versicolor_77</a:t>
            </a:r>
            <a:br/>
            <a:r>
              <a:rPr i="1">
                <a:solidFill>
                  <a:srgbClr val="5E5E5E"/>
                </a:solidFill>
                <a:latin typeface="Courier"/>
              </a:rPr>
              <a:t>## 78   versicolor_78</a:t>
            </a:r>
            <a:br/>
            <a:r>
              <a:rPr i="1">
                <a:solidFill>
                  <a:srgbClr val="5E5E5E"/>
                </a:solidFill>
                <a:latin typeface="Courier"/>
              </a:rPr>
              <a:t>## 79   versicolor_79</a:t>
            </a:r>
            <a:br/>
            <a:r>
              <a:rPr i="1">
                <a:solidFill>
                  <a:srgbClr val="5E5E5E"/>
                </a:solidFill>
                <a:latin typeface="Courier"/>
              </a:rPr>
              <a:t>## 80   versicolor_80</a:t>
            </a:r>
            <a:br/>
            <a:r>
              <a:rPr i="1">
                <a:solidFill>
                  <a:srgbClr val="5E5E5E"/>
                </a:solidFill>
                <a:latin typeface="Courier"/>
              </a:rPr>
              <a:t>## 81   versicolor_81</a:t>
            </a:r>
            <a:br/>
            <a:r>
              <a:rPr i="1">
                <a:solidFill>
                  <a:srgbClr val="5E5E5E"/>
                </a:solidFill>
                <a:latin typeface="Courier"/>
              </a:rPr>
              <a:t>## 82   versicolor_82</a:t>
            </a:r>
            <a:br/>
            <a:r>
              <a:rPr i="1">
                <a:solidFill>
                  <a:srgbClr val="5E5E5E"/>
                </a:solidFill>
                <a:latin typeface="Courier"/>
              </a:rPr>
              <a:t>## 83   versicolor_83</a:t>
            </a:r>
            <a:br/>
            <a:r>
              <a:rPr i="1">
                <a:solidFill>
                  <a:srgbClr val="5E5E5E"/>
                </a:solidFill>
                <a:latin typeface="Courier"/>
              </a:rPr>
              <a:t>## 84   versicolor_84</a:t>
            </a:r>
            <a:br/>
            <a:r>
              <a:rPr i="1">
                <a:solidFill>
                  <a:srgbClr val="5E5E5E"/>
                </a:solidFill>
                <a:latin typeface="Courier"/>
              </a:rPr>
              <a:t>## 85   versicolor_85</a:t>
            </a:r>
            <a:br/>
            <a:r>
              <a:rPr i="1">
                <a:solidFill>
                  <a:srgbClr val="5E5E5E"/>
                </a:solidFill>
                <a:latin typeface="Courier"/>
              </a:rPr>
              <a:t>## 86   versicolor_86</a:t>
            </a:r>
            <a:br/>
            <a:r>
              <a:rPr i="1">
                <a:solidFill>
                  <a:srgbClr val="5E5E5E"/>
                </a:solidFill>
                <a:latin typeface="Courier"/>
              </a:rPr>
              <a:t>## 87   versicolor_87</a:t>
            </a:r>
            <a:br/>
            <a:r>
              <a:rPr i="1">
                <a:solidFill>
                  <a:srgbClr val="5E5E5E"/>
                </a:solidFill>
                <a:latin typeface="Courier"/>
              </a:rPr>
              <a:t>## 88   versicolor_88</a:t>
            </a:r>
            <a:br/>
            <a:r>
              <a:rPr i="1">
                <a:solidFill>
                  <a:srgbClr val="5E5E5E"/>
                </a:solidFill>
                <a:latin typeface="Courier"/>
              </a:rPr>
              <a:t>## 89   versicolor_89</a:t>
            </a:r>
            <a:br/>
            <a:r>
              <a:rPr i="1">
                <a:solidFill>
                  <a:srgbClr val="5E5E5E"/>
                </a:solidFill>
                <a:latin typeface="Courier"/>
              </a:rPr>
              <a:t>## 90   versicolor_90</a:t>
            </a:r>
            <a:br/>
            <a:r>
              <a:rPr i="1">
                <a:solidFill>
                  <a:srgbClr val="5E5E5E"/>
                </a:solidFill>
                <a:latin typeface="Courier"/>
              </a:rPr>
              <a:t>## 91   versicolor_91</a:t>
            </a:r>
            <a:br/>
            <a:r>
              <a:rPr i="1">
                <a:solidFill>
                  <a:srgbClr val="5E5E5E"/>
                </a:solidFill>
                <a:latin typeface="Courier"/>
              </a:rPr>
              <a:t>## 92   versicolor_92</a:t>
            </a:r>
            <a:br/>
            <a:r>
              <a:rPr i="1">
                <a:solidFill>
                  <a:srgbClr val="5E5E5E"/>
                </a:solidFill>
                <a:latin typeface="Courier"/>
              </a:rPr>
              <a:t>## 93   versicolor_93</a:t>
            </a:r>
            <a:br/>
            <a:r>
              <a:rPr i="1">
                <a:solidFill>
                  <a:srgbClr val="5E5E5E"/>
                </a:solidFill>
                <a:latin typeface="Courier"/>
              </a:rPr>
              <a:t>## 94   versicolor_94</a:t>
            </a:r>
            <a:br/>
            <a:r>
              <a:rPr i="1">
                <a:solidFill>
                  <a:srgbClr val="5E5E5E"/>
                </a:solidFill>
                <a:latin typeface="Courier"/>
              </a:rPr>
              <a:t>## 95   versicolor_95</a:t>
            </a:r>
            <a:br/>
            <a:r>
              <a:rPr i="1">
                <a:solidFill>
                  <a:srgbClr val="5E5E5E"/>
                </a:solidFill>
                <a:latin typeface="Courier"/>
              </a:rPr>
              <a:t>## 96   versicolor_96</a:t>
            </a:r>
            <a:br/>
            <a:r>
              <a:rPr i="1">
                <a:solidFill>
                  <a:srgbClr val="5E5E5E"/>
                </a:solidFill>
                <a:latin typeface="Courier"/>
              </a:rPr>
              <a:t>## 97   versicolor_97</a:t>
            </a:r>
            <a:br/>
            <a:r>
              <a:rPr i="1">
                <a:solidFill>
                  <a:srgbClr val="5E5E5E"/>
                </a:solidFill>
                <a:latin typeface="Courier"/>
              </a:rPr>
              <a:t>## 98   versicolor_98</a:t>
            </a:r>
            <a:br/>
            <a:r>
              <a:rPr i="1">
                <a:solidFill>
                  <a:srgbClr val="5E5E5E"/>
                </a:solidFill>
                <a:latin typeface="Courier"/>
              </a:rPr>
              <a:t>## 99   versicolor_99</a:t>
            </a:r>
            <a:br/>
            <a:r>
              <a:rPr i="1">
                <a:solidFill>
                  <a:srgbClr val="5E5E5E"/>
                </a:solidFill>
                <a:latin typeface="Courier"/>
              </a:rPr>
              <a:t>## 100 versicolor_100</a:t>
            </a:r>
            <a:br/>
            <a:r>
              <a:rPr i="1">
                <a:solidFill>
                  <a:srgbClr val="5E5E5E"/>
                </a:solidFill>
                <a:latin typeface="Courier"/>
              </a:rPr>
              <a:t>## 101  virginica_101</a:t>
            </a:r>
            <a:br/>
            <a:r>
              <a:rPr i="1">
                <a:solidFill>
                  <a:srgbClr val="5E5E5E"/>
                </a:solidFill>
                <a:latin typeface="Courier"/>
              </a:rPr>
              <a:t>## 102  virginica_102</a:t>
            </a:r>
            <a:br/>
            <a:r>
              <a:rPr i="1">
                <a:solidFill>
                  <a:srgbClr val="5E5E5E"/>
                </a:solidFill>
                <a:latin typeface="Courier"/>
              </a:rPr>
              <a:t>## 103  virginica_103</a:t>
            </a:r>
            <a:br/>
            <a:r>
              <a:rPr i="1">
                <a:solidFill>
                  <a:srgbClr val="5E5E5E"/>
                </a:solidFill>
                <a:latin typeface="Courier"/>
              </a:rPr>
              <a:t>## 104  virginica_104</a:t>
            </a:r>
            <a:br/>
            <a:r>
              <a:rPr i="1">
                <a:solidFill>
                  <a:srgbClr val="5E5E5E"/>
                </a:solidFill>
                <a:latin typeface="Courier"/>
              </a:rPr>
              <a:t>## 105  virginica_105</a:t>
            </a:r>
            <a:br/>
            <a:r>
              <a:rPr i="1">
                <a:solidFill>
                  <a:srgbClr val="5E5E5E"/>
                </a:solidFill>
                <a:latin typeface="Courier"/>
              </a:rPr>
              <a:t>## 106  virginica_106</a:t>
            </a:r>
            <a:br/>
            <a:r>
              <a:rPr i="1">
                <a:solidFill>
                  <a:srgbClr val="5E5E5E"/>
                </a:solidFill>
                <a:latin typeface="Courier"/>
              </a:rPr>
              <a:t>## 107  virginica_107</a:t>
            </a:r>
            <a:br/>
            <a:r>
              <a:rPr i="1">
                <a:solidFill>
                  <a:srgbClr val="5E5E5E"/>
                </a:solidFill>
                <a:latin typeface="Courier"/>
              </a:rPr>
              <a:t>## 108  virginica_108</a:t>
            </a:r>
            <a:br/>
            <a:r>
              <a:rPr i="1">
                <a:solidFill>
                  <a:srgbClr val="5E5E5E"/>
                </a:solidFill>
                <a:latin typeface="Courier"/>
              </a:rPr>
              <a:t>## 109  virginica_109</a:t>
            </a:r>
            <a:br/>
            <a:r>
              <a:rPr i="1">
                <a:solidFill>
                  <a:srgbClr val="5E5E5E"/>
                </a:solidFill>
                <a:latin typeface="Courier"/>
              </a:rPr>
              <a:t>## 110  virginica_110</a:t>
            </a:r>
            <a:br/>
            <a:r>
              <a:rPr i="1">
                <a:solidFill>
                  <a:srgbClr val="5E5E5E"/>
                </a:solidFill>
                <a:latin typeface="Courier"/>
              </a:rPr>
              <a:t>## 111  virginica_111</a:t>
            </a:r>
            <a:br/>
            <a:r>
              <a:rPr i="1">
                <a:solidFill>
                  <a:srgbClr val="5E5E5E"/>
                </a:solidFill>
                <a:latin typeface="Courier"/>
              </a:rPr>
              <a:t>## 112  virginica_112</a:t>
            </a:r>
            <a:br/>
            <a:r>
              <a:rPr i="1">
                <a:solidFill>
                  <a:srgbClr val="5E5E5E"/>
                </a:solidFill>
                <a:latin typeface="Courier"/>
              </a:rPr>
              <a:t>## 113  virginica_113</a:t>
            </a:r>
            <a:br/>
            <a:r>
              <a:rPr i="1">
                <a:solidFill>
                  <a:srgbClr val="5E5E5E"/>
                </a:solidFill>
                <a:latin typeface="Courier"/>
              </a:rPr>
              <a:t>## 114  virginica_114</a:t>
            </a:r>
            <a:br/>
            <a:r>
              <a:rPr i="1">
                <a:solidFill>
                  <a:srgbClr val="5E5E5E"/>
                </a:solidFill>
                <a:latin typeface="Courier"/>
              </a:rPr>
              <a:t>## 115  virginica_115</a:t>
            </a:r>
            <a:br/>
            <a:r>
              <a:rPr i="1">
                <a:solidFill>
                  <a:srgbClr val="5E5E5E"/>
                </a:solidFill>
                <a:latin typeface="Courier"/>
              </a:rPr>
              <a:t>## 116  virginica_116</a:t>
            </a:r>
            <a:br/>
            <a:r>
              <a:rPr i="1">
                <a:solidFill>
                  <a:srgbClr val="5E5E5E"/>
                </a:solidFill>
                <a:latin typeface="Courier"/>
              </a:rPr>
              <a:t>## 117  virginica_117</a:t>
            </a:r>
            <a:br/>
            <a:r>
              <a:rPr i="1">
                <a:solidFill>
                  <a:srgbClr val="5E5E5E"/>
                </a:solidFill>
                <a:latin typeface="Courier"/>
              </a:rPr>
              <a:t>## 118  virginica_118</a:t>
            </a:r>
            <a:br/>
            <a:r>
              <a:rPr i="1">
                <a:solidFill>
                  <a:srgbClr val="5E5E5E"/>
                </a:solidFill>
                <a:latin typeface="Courier"/>
              </a:rPr>
              <a:t>## 119  virginica_119</a:t>
            </a:r>
            <a:br/>
            <a:r>
              <a:rPr i="1">
                <a:solidFill>
                  <a:srgbClr val="5E5E5E"/>
                </a:solidFill>
                <a:latin typeface="Courier"/>
              </a:rPr>
              <a:t>## 120  virginica_120</a:t>
            </a:r>
            <a:br/>
            <a:r>
              <a:rPr i="1">
                <a:solidFill>
                  <a:srgbClr val="5E5E5E"/>
                </a:solidFill>
                <a:latin typeface="Courier"/>
              </a:rPr>
              <a:t>## 121  virginica_121</a:t>
            </a:r>
            <a:br/>
            <a:r>
              <a:rPr i="1">
                <a:solidFill>
                  <a:srgbClr val="5E5E5E"/>
                </a:solidFill>
                <a:latin typeface="Courier"/>
              </a:rPr>
              <a:t>## 122  virginica_122</a:t>
            </a:r>
            <a:br/>
            <a:r>
              <a:rPr i="1">
                <a:solidFill>
                  <a:srgbClr val="5E5E5E"/>
                </a:solidFill>
                <a:latin typeface="Courier"/>
              </a:rPr>
              <a:t>## 123  virginica_123</a:t>
            </a:r>
            <a:br/>
            <a:r>
              <a:rPr i="1">
                <a:solidFill>
                  <a:srgbClr val="5E5E5E"/>
                </a:solidFill>
                <a:latin typeface="Courier"/>
              </a:rPr>
              <a:t>## 124  virginica_124</a:t>
            </a:r>
            <a:br/>
            <a:r>
              <a:rPr i="1">
                <a:solidFill>
                  <a:srgbClr val="5E5E5E"/>
                </a:solidFill>
                <a:latin typeface="Courier"/>
              </a:rPr>
              <a:t>## 125  virginica_125</a:t>
            </a:r>
            <a:br/>
            <a:r>
              <a:rPr i="1">
                <a:solidFill>
                  <a:srgbClr val="5E5E5E"/>
                </a:solidFill>
                <a:latin typeface="Courier"/>
              </a:rPr>
              <a:t>## 126  virginica_126</a:t>
            </a:r>
            <a:br/>
            <a:r>
              <a:rPr i="1">
                <a:solidFill>
                  <a:srgbClr val="5E5E5E"/>
                </a:solidFill>
                <a:latin typeface="Courier"/>
              </a:rPr>
              <a:t>## 127  virginica_127</a:t>
            </a:r>
            <a:br/>
            <a:r>
              <a:rPr i="1">
                <a:solidFill>
                  <a:srgbClr val="5E5E5E"/>
                </a:solidFill>
                <a:latin typeface="Courier"/>
              </a:rPr>
              <a:t>## 128  virginica_128</a:t>
            </a:r>
            <a:br/>
            <a:r>
              <a:rPr i="1">
                <a:solidFill>
                  <a:srgbClr val="5E5E5E"/>
                </a:solidFill>
                <a:latin typeface="Courier"/>
              </a:rPr>
              <a:t>## 129  virginica_129</a:t>
            </a:r>
            <a:br/>
            <a:r>
              <a:rPr i="1">
                <a:solidFill>
                  <a:srgbClr val="5E5E5E"/>
                </a:solidFill>
                <a:latin typeface="Courier"/>
              </a:rPr>
              <a:t>## 130  virginica_130</a:t>
            </a:r>
            <a:br/>
            <a:r>
              <a:rPr i="1">
                <a:solidFill>
                  <a:srgbClr val="5E5E5E"/>
                </a:solidFill>
                <a:latin typeface="Courier"/>
              </a:rPr>
              <a:t>## 131  virginica_131</a:t>
            </a:r>
            <a:br/>
            <a:r>
              <a:rPr i="1">
                <a:solidFill>
                  <a:srgbClr val="5E5E5E"/>
                </a:solidFill>
                <a:latin typeface="Courier"/>
              </a:rPr>
              <a:t>## 132  virginica_132</a:t>
            </a:r>
            <a:br/>
            <a:r>
              <a:rPr i="1">
                <a:solidFill>
                  <a:srgbClr val="5E5E5E"/>
                </a:solidFill>
                <a:latin typeface="Courier"/>
              </a:rPr>
              <a:t>## 133  virginica_133</a:t>
            </a:r>
            <a:br/>
            <a:r>
              <a:rPr i="1">
                <a:solidFill>
                  <a:srgbClr val="5E5E5E"/>
                </a:solidFill>
                <a:latin typeface="Courier"/>
              </a:rPr>
              <a:t>## 134  virginica_134</a:t>
            </a:r>
            <a:br/>
            <a:r>
              <a:rPr i="1">
                <a:solidFill>
                  <a:srgbClr val="5E5E5E"/>
                </a:solidFill>
                <a:latin typeface="Courier"/>
              </a:rPr>
              <a:t>## 135  virginica_135</a:t>
            </a:r>
            <a:br/>
            <a:r>
              <a:rPr i="1">
                <a:solidFill>
                  <a:srgbClr val="5E5E5E"/>
                </a:solidFill>
                <a:latin typeface="Courier"/>
              </a:rPr>
              <a:t>## 136  virginica_136</a:t>
            </a:r>
            <a:br/>
            <a:r>
              <a:rPr i="1">
                <a:solidFill>
                  <a:srgbClr val="5E5E5E"/>
                </a:solidFill>
                <a:latin typeface="Courier"/>
              </a:rPr>
              <a:t>## 137  virginica_137</a:t>
            </a:r>
            <a:br/>
            <a:r>
              <a:rPr i="1">
                <a:solidFill>
                  <a:srgbClr val="5E5E5E"/>
                </a:solidFill>
                <a:latin typeface="Courier"/>
              </a:rPr>
              <a:t>## 138  virginica_138</a:t>
            </a:r>
            <a:br/>
            <a:r>
              <a:rPr i="1">
                <a:solidFill>
                  <a:srgbClr val="5E5E5E"/>
                </a:solidFill>
                <a:latin typeface="Courier"/>
              </a:rPr>
              <a:t>## 139  virginica_139</a:t>
            </a:r>
            <a:br/>
            <a:r>
              <a:rPr i="1">
                <a:solidFill>
                  <a:srgbClr val="5E5E5E"/>
                </a:solidFill>
                <a:latin typeface="Courier"/>
              </a:rPr>
              <a:t>## 140  virginica_140</a:t>
            </a:r>
            <a:br/>
            <a:r>
              <a:rPr i="1">
                <a:solidFill>
                  <a:srgbClr val="5E5E5E"/>
                </a:solidFill>
                <a:latin typeface="Courier"/>
              </a:rPr>
              <a:t>## 141  virginica_141</a:t>
            </a:r>
            <a:br/>
            <a:r>
              <a:rPr i="1">
                <a:solidFill>
                  <a:srgbClr val="5E5E5E"/>
                </a:solidFill>
                <a:latin typeface="Courier"/>
              </a:rPr>
              <a:t>## 142  virginica_142</a:t>
            </a:r>
            <a:br/>
            <a:r>
              <a:rPr i="1">
                <a:solidFill>
                  <a:srgbClr val="5E5E5E"/>
                </a:solidFill>
                <a:latin typeface="Courier"/>
              </a:rPr>
              <a:t>## 143  virginica_143</a:t>
            </a:r>
            <a:br/>
            <a:r>
              <a:rPr i="1">
                <a:solidFill>
                  <a:srgbClr val="5E5E5E"/>
                </a:solidFill>
                <a:latin typeface="Courier"/>
              </a:rPr>
              <a:t>## 144  virginica_144</a:t>
            </a:r>
            <a:br/>
            <a:r>
              <a:rPr i="1">
                <a:solidFill>
                  <a:srgbClr val="5E5E5E"/>
                </a:solidFill>
                <a:latin typeface="Courier"/>
              </a:rPr>
              <a:t>## 145  virginica_145</a:t>
            </a:r>
            <a:br/>
            <a:r>
              <a:rPr i="1">
                <a:solidFill>
                  <a:srgbClr val="5E5E5E"/>
                </a:solidFill>
                <a:latin typeface="Courier"/>
              </a:rPr>
              <a:t>## 146  virginica_146</a:t>
            </a:r>
            <a:br/>
            <a:r>
              <a:rPr i="1">
                <a:solidFill>
                  <a:srgbClr val="5E5E5E"/>
                </a:solidFill>
                <a:latin typeface="Courier"/>
              </a:rPr>
              <a:t>## 147  virginica_147</a:t>
            </a:r>
            <a:br/>
            <a:r>
              <a:rPr i="1">
                <a:solidFill>
                  <a:srgbClr val="5E5E5E"/>
                </a:solidFill>
                <a:latin typeface="Courier"/>
              </a:rPr>
              <a:t>## 148  virginica_148</a:t>
            </a:r>
            <a:br/>
            <a:r>
              <a:rPr i="1">
                <a:solidFill>
                  <a:srgbClr val="5E5E5E"/>
                </a:solidFill>
                <a:latin typeface="Courier"/>
              </a:rPr>
              <a:t>## 149  virginica_149</a:t>
            </a:r>
            <a:br/>
            <a:r>
              <a:rPr i="1">
                <a:solidFill>
                  <a:srgbClr val="5E5E5E"/>
                </a:solidFill>
                <a:latin typeface="Courier"/>
              </a:rPr>
              <a:t>## 150  virginica_150</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pca_lecture_files/figure-pptx/l17-01-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pca_lecture_files/figure-pptx/correaltion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Assumptions and Standardization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Key Assumptions:</a:t>
            </a:r>
          </a:p>
        </p:txBody>
      </p:sp>
      <p:sp>
        <p:nvSpPr>
          <p:cNvPr id="3" name="Content Placeholder 2"/>
          <p:cNvSpPr>
            <a:spLocks noGrp="1"/>
          </p:cNvSpPr>
          <p:nvPr>
            <p:ph idx="1"/>
          </p:nvPr>
        </p:nvSpPr>
        <p:spPr/>
        <p:txBody>
          <a:bodyPr/>
          <a:lstStyle/>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 [1] "Correlation Matrix:"
##              sepal_length sepal_width petal_length petal_width
## sepal_length        1.000      -0.118        0.872       0.818
## sepal_width        -0.118       1.000       -0.428      -0.366
## petal_length        0.872      -0.428        1.000       0.963
## petal_width         0.818      -0.366        0.963       1.000</a:t>
            </a:r>
          </a:p>
        </p:txBody>
      </p:sp>
      <p:pic>
        <p:nvPicPr>
          <p:cNvPr descr="pca_lecture_files/figure-pptx/check_correla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pca_lecture_files/figure-pptx/check_linearity-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pca_lecture_files/figure-pptx/check_outliers-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STANDARDIZATION: Making all variables comparable</a:t>
            </a:r>
          </a:p>
        </p:txBody>
      </p:sp>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 [1] "Means after standardization (should be ~0):"
## sepal_length  sepal_width petal_length  petal_width 
##            0            0            0            0
## [1] "Standard deviations after standardization (should be 1):"
## sepal_length  sepal_width petal_length  petal_width 
##            1            1            1            1</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Running PCA and Eigen-decomposition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br/>
            <a:r>
              <a:rPr i="1">
                <a:solidFill>
                  <a:srgbClr val="5E5E5E"/>
                </a:solidFill>
                <a:latin typeface="Courier"/>
              </a:rPr>
              <a:t>## Importance of components:</a:t>
            </a:r>
            <a:br/>
            <a:r>
              <a:rPr i="1">
                <a:solidFill>
                  <a:srgbClr val="5E5E5E"/>
                </a:solidFill>
                <a:latin typeface="Courier"/>
              </a:rPr>
              <a:t>##                           PC1    PC2     PC3     PC4</a:t>
            </a:r>
            <a:br/>
            <a:r>
              <a:rPr i="1">
                <a:solidFill>
                  <a:srgbClr val="5E5E5E"/>
                </a:solidFill>
                <a:latin typeface="Courier"/>
              </a:rPr>
              <a:t>## Standard deviation     1.7084 0.9560 0.38309 0.14393</a:t>
            </a:r>
            <a:br/>
            <a:r>
              <a:rPr i="1">
                <a:solidFill>
                  <a:srgbClr val="5E5E5E"/>
                </a:solidFill>
                <a:latin typeface="Courier"/>
              </a:rPr>
              <a:t>## Proportion of Variance 0.7296 0.2285 0.03669 0.00518</a:t>
            </a:r>
            <a:br/>
            <a:r>
              <a:rPr i="1">
                <a:solidFill>
                  <a:srgbClr val="5E5E5E"/>
                </a:solidFill>
                <a:latin typeface="Courier"/>
              </a:rPr>
              <a:t>## Cumulative Proportion  0.7296 0.9581 0.99482 1.00000</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of number of crab burrows versus total crab biomass, with the original centered axes drawn as a horizontal/vertical cross through the data cloud and two diagonal lines labeled PC1 and PC2 showing the rotated principal-component axes, where PC1 runs along the direction of greatest spread in the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219200"/>
            <a:ext cx="2781300" cy="2832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The same crab burrow and biomass data redrawn after axis rotation, with PC1 and PC2 now shown as the new horizontal and vertical axes and the original burrow-number and biomass axes appearing as diagonal reference lines, illustrating that PCA is literally a rotation of the coordinate system around the data’s center.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143000"/>
            <a:ext cx="2781300" cy="30099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3D scatterplot of a point cloud within a cube, with three colored arrows (red ‘1st’, blue ‘2nd’, green ‘3rd’) radiating from the cloud’s center marking the first three principal-component axes, extending the rotation idea from 2D to 3D multivariate space.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br/>
            <a:r>
              <a:rPr i="1">
                <a:solidFill>
                  <a:srgbClr val="5E5E5E"/>
                </a:solidFill>
                <a:latin typeface="Courier"/>
              </a:rPr>
              <a:t>## [1] "PCA Summary:"</a:t>
            </a:r>
            <a:b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Choosing How Many Components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br/>
            <a:r>
              <a:rPr i="1">
                <a:solidFill>
                  <a:srgbClr val="5E5E5E"/>
                </a:solidFill>
                <a:latin typeface="Courier"/>
              </a:rPr>
              <a:t>## [1] "Components with eigenvalue &gt; 1: 1"</a:t>
            </a:r>
            <a:br/>
            <a:b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br/>
            <a:r>
              <a:rPr i="1">
                <a:solidFill>
                  <a:srgbClr val="5E5E5E"/>
                </a:solidFill>
                <a:latin typeface="Courier"/>
              </a:rPr>
              <a:t>## [1] "Components needed for 80% variance: 2"</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Loadings and Interpretation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br/>
            <a:r>
              <a:rPr i="1">
                <a:solidFill>
                  <a:srgbClr val="5E5E5E"/>
                </a:solidFill>
                <a:latin typeface="Courier"/>
              </a:rPr>
              <a:t>## [1] "Component Loadings:"</a:t>
            </a:r>
            <a:br/>
            <a:r>
              <a:rPr>
                <a:solidFill>
                  <a:srgbClr val="003B4F"/>
                </a:solidFill>
                <a:latin typeface="Courier"/>
              </a:rPr>
              <a:t>loadings_df</a:t>
            </a:r>
            <a:br/>
            <a:r>
              <a:rPr i="1">
                <a:solidFill>
                  <a:srgbClr val="5E5E5E"/>
                </a:solidFill>
                <a:latin typeface="Courier"/>
              </a:rPr>
              <a:t>##                  Variable        PC1         PC2        PC3        PC4</a:t>
            </a:r>
            <a:br/>
            <a:r>
              <a:rPr i="1">
                <a:solidFill>
                  <a:srgbClr val="5E5E5E"/>
                </a:solidFill>
                <a:latin typeface="Courier"/>
              </a:rPr>
              <a:t>## sepal_length sepal_length  0.5210659 -0.37741762  0.7195664  0.2612863</a:t>
            </a:r>
            <a:br/>
            <a:r>
              <a:rPr i="1">
                <a:solidFill>
                  <a:srgbClr val="5E5E5E"/>
                </a:solidFill>
                <a:latin typeface="Courier"/>
              </a:rPr>
              <a:t>## sepal_width   sepal_width -0.2693474 -0.92329566 -0.2443818 -0.1235096</a:t>
            </a:r>
            <a:br/>
            <a:r>
              <a:rPr i="1">
                <a:solidFill>
                  <a:srgbClr val="5E5E5E"/>
                </a:solidFill>
                <a:latin typeface="Courier"/>
              </a:rPr>
              <a:t>## petal_length petal_length  0.5804131 -0.02449161 -0.1421264 -0.8014492</a:t>
            </a:r>
            <a:br/>
            <a:r>
              <a:rPr i="1">
                <a:solidFill>
                  <a:srgbClr val="5E5E5E"/>
                </a:solidFill>
                <a:latin typeface="Courier"/>
              </a:rPr>
              <a:t>## petal_width   petal_width  0.5648565 -0.06694199 -0.6342727  0.5235971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Biplots and Scores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9</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Interpreting PC1 and PC2, and Wrap-Up</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br/>
            <a:r>
              <a:rPr i="1">
                <a:solidFill>
                  <a:srgbClr val="5E5E5E"/>
                </a:solidFill>
                <a:latin typeface="Courier"/>
              </a:rPr>
              <a:t>## [1] "PC1 Loadings (all variables contribute similarly):"</a:t>
            </a:r>
            <a:b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br/>
            <a:r>
              <a:rPr i="1">
                <a:solidFill>
                  <a:srgbClr val="5E5E5E"/>
                </a:solidFill>
                <a:latin typeface="Courier"/>
              </a:rPr>
              <a:t>## sepal_length  sepal_width petal_length  petal_width </a:t>
            </a:r>
            <a:br/>
            <a:r>
              <a:rPr i="1">
                <a:solidFill>
                  <a:srgbClr val="5E5E5E"/>
                </a:solidFill>
                <a:latin typeface="Courier"/>
              </a:rPr>
              <a:t>##        0.521       -0.269        0.580        0.565</a:t>
            </a:r>
            <a:b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br/>
            <a:r>
              <a:rPr i="1">
                <a:solidFill>
                  <a:srgbClr val="5E5E5E"/>
                </a:solidFill>
                <a:latin typeface="Courier"/>
              </a:rPr>
              <a:t>## </a:t>
            </a:r>
            <a:br/>
            <a:r>
              <a:rPr i="1">
                <a:solidFill>
                  <a:srgbClr val="5E5E5E"/>
                </a:solidFill>
                <a:latin typeface="Courier"/>
              </a:rPr>
              <a:t>## PC1 Interpretation: Overall flower size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br/>
            <a:r>
              <a:rPr i="1">
                <a:solidFill>
                  <a:srgbClr val="5E5E5E"/>
                </a:solidFill>
                <a:latin typeface="Courier"/>
              </a:rPr>
              <a:t>## </a:t>
            </a:r>
            <a:br/>
            <a:r>
              <a:rPr i="1">
                <a:solidFill>
                  <a:srgbClr val="5E5E5E"/>
                </a:solidFill>
                <a:latin typeface="Courier"/>
              </a:rPr>
              <a:t>## - All variables have similar negative loadings</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br/>
            <a:r>
              <a:rPr i="1">
                <a:solidFill>
                  <a:srgbClr val="5E5E5E"/>
                </a:solidFill>
                <a:latin typeface="Courier"/>
              </a:rPr>
              <a:t>## </a:t>
            </a:r>
            <a:br/>
            <a:r>
              <a:rPr i="1">
                <a:solidFill>
                  <a:srgbClr val="5E5E5E"/>
                </a:solidFill>
                <a:latin typeface="Courier"/>
              </a:rPr>
              <a:t>## - Higher PC1 values = smaller flowers overall</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br/>
            <a:r>
              <a:rPr i="1">
                <a:solidFill>
                  <a:srgbClr val="5E5E5E"/>
                </a:solidFill>
                <a:latin typeface="Courier"/>
              </a:rPr>
              <a:t>## </a:t>
            </a:r>
            <a:br/>
            <a:r>
              <a:rPr i="1">
                <a:solidFill>
                  <a:srgbClr val="5E5E5E"/>
                </a:solidFill>
                <a:latin typeface="Courier"/>
              </a:rPr>
              <a:t>## - Lower PC1 values = larger flowers overall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br/>
            <a:r>
              <a:rPr i="1">
                <a:solidFill>
                  <a:srgbClr val="5E5E5E"/>
                </a:solidFill>
                <a:latin typeface="Courier"/>
              </a:rPr>
              <a:t>## [1] "PC2 Loadings:"</a:t>
            </a:r>
            <a:b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br/>
            <a:r>
              <a:rPr i="1">
                <a:solidFill>
                  <a:srgbClr val="5E5E5E"/>
                </a:solidFill>
                <a:latin typeface="Courier"/>
              </a:rPr>
              <a:t>## sepal_length  sepal_width petal_length  petal_width </a:t>
            </a:r>
            <a:br/>
            <a:r>
              <a:rPr i="1">
                <a:solidFill>
                  <a:srgbClr val="5E5E5E"/>
                </a:solidFill>
                <a:latin typeface="Courier"/>
              </a:rPr>
              <a:t>##       -0.377       -0.923       -0.024       -0.067</a:t>
            </a:r>
            <a:b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br/>
            <a:r>
              <a:rPr i="1">
                <a:solidFill>
                  <a:srgbClr val="5E5E5E"/>
                </a:solidFill>
                <a:latin typeface="Courier"/>
              </a:rPr>
              <a:t>## </a:t>
            </a:r>
            <a:br/>
            <a:r>
              <a:rPr i="1">
                <a:solidFill>
                  <a:srgbClr val="5E5E5E"/>
                </a:solidFill>
                <a:latin typeface="Courier"/>
              </a:rPr>
              <a:t>## PC2 Interpretation: Flower shape contrast</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br/>
            <a:r>
              <a:rPr i="1">
                <a:solidFill>
                  <a:srgbClr val="5E5E5E"/>
                </a:solidFill>
                <a:latin typeface="Courier"/>
              </a:rPr>
              <a:t>## </a:t>
            </a:r>
            <a:br/>
            <a:r>
              <a:rPr i="1">
                <a:solidFill>
                  <a:srgbClr val="5E5E5E"/>
                </a:solidFill>
                <a:latin typeface="Courier"/>
              </a:rPr>
              <a:t>## - Positive loadings: sepal width</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br/>
            <a:r>
              <a:rPr i="1">
                <a:solidFill>
                  <a:srgbClr val="5E5E5E"/>
                </a:solidFill>
                <a:latin typeface="Courier"/>
              </a:rPr>
              <a:t>## </a:t>
            </a:r>
            <a:br/>
            <a:r>
              <a:rPr i="1">
                <a:solidFill>
                  <a:srgbClr val="5E5E5E"/>
                </a:solidFill>
                <a:latin typeface="Courier"/>
              </a:rPr>
              <a:t>## - Negative loadings: petal length and width, sepal length</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br/>
            <a:r>
              <a:rPr i="1">
                <a:solidFill>
                  <a:srgbClr val="5E5E5E"/>
                </a:solidFill>
                <a:latin typeface="Courier"/>
              </a:rPr>
              <a:t>## </a:t>
            </a:r>
            <a:br/>
            <a:r>
              <a:rPr i="1">
                <a:solidFill>
                  <a:srgbClr val="5E5E5E"/>
                </a:solidFill>
                <a:latin typeface="Courier"/>
              </a:rPr>
              <a:t>## - Higher PC2 = wider sepals relative to petal size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br/>
            <a:r>
              <a:rPr i="1">
                <a:solidFill>
                  <a:srgbClr val="5E5E5E"/>
                </a:solidFill>
                <a:latin typeface="Courier"/>
              </a:rPr>
              <a:t>## </a:t>
            </a:r>
            <a:br/>
            <a:r>
              <a:rPr i="1">
                <a:solidFill>
                  <a:srgbClr val="5E5E5E"/>
                </a:solidFill>
                <a:latin typeface="Courier"/>
              </a:rPr>
              <a:t>## - Lower PC2 = longer/wider petals relative to sepal width</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9</a:t>
            </a:r>
            <a:r>
              <a:rPr>
                <a:solidFill>
                  <a:srgbClr val="003B4F"/>
                </a:solidFill>
                <a:latin typeface="Courier"/>
              </a:rPr>
              <a: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Key Findings:</a:t>
            </a:r>
          </a:p>
        </p:txBody>
      </p:sp>
      <p:sp>
        <p:nvSpPr>
          <p:cNvPr id="3" name="Content Placeholder 2"/>
          <p:cNvSpPr>
            <a:spLocks noGrp="1"/>
          </p:cNvSpPr>
          <p:nvPr>
            <p:ph idx="1"/>
          </p:nvPr>
        </p:nvSpPr>
        <p:spPr/>
        <p:txBody>
          <a:bodyPr/>
          <a:lstStyle/>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Success Criteria Met:</a:t>
            </a:r>
          </a:p>
        </p:txBody>
      </p:sp>
      <p:sp>
        <p:nvSpPr>
          <p:cNvPr id="3" name="Content Placeholder 2"/>
          <p:cNvSpPr>
            <a:spLocks noGrp="1"/>
          </p:cNvSpPr>
          <p:nvPr>
            <p:ph idx="1"/>
          </p:nvPr>
        </p:nvSpPr>
        <p:spPr/>
        <p:txBody>
          <a:bodyPr/>
          <a:lstStyle/>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Use PCA when:</a:t>
            </a:r>
          </a:p>
        </p:txBody>
      </p:sp>
      <p:sp>
        <p:nvSpPr>
          <p:cNvPr id="3" name="Content Placeholder 2"/>
          <p:cNvSpPr>
            <a:spLocks noGrp="1"/>
          </p:cNvSpPr>
          <p:nvPr>
            <p:ph idx="1"/>
          </p:nvPr>
        </p:nvSpPr>
        <p:spPr/>
        <p:txBody>
          <a:bodyPr/>
          <a:lstStyle/>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Consider alternatives when:</a:t>
            </a:r>
          </a:p>
        </p:txBody>
      </p:sp>
      <p:sp>
        <p:nvSpPr>
          <p:cNvPr id="3" name="Content Placeholder 2"/>
          <p:cNvSpPr>
            <a:spLocks noGrp="1"/>
          </p:cNvSpPr>
          <p:nvPr>
            <p:ph idx="1"/>
          </p:nvPr>
        </p:nvSpPr>
        <p:spPr/>
        <p:txBody>
          <a:bodyPr/>
          <a:lstStyle/>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Principal Component Analysis</dc:title>
  <dc:creator>Bill Perry</dc:creator>
  <cp:keywords/>
  <dc:description>Principal Component Analysis (PCA) for multivariate data — eigenvalues, eigenvectors, standardization, scree plots, loadings, and biplots, worked through step-by-step on the classic iris flower dataset.</dc:description>
  <dcterms:created xsi:type="dcterms:W3CDTF">2026-08-26T17:14:23Z</dcterms:created>
  <dcterms:modified xsi:type="dcterms:W3CDTF">2026-08-26T17:14:23Z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knitr">
    <vt:lpwstr/>
  </property>
  <property fmtid="{D5CDD505-2E9C-101B-9397-08002B2CF9AE}" pid="11" name="labels">
    <vt:lpwstr/>
  </property>
  <property fmtid="{D5CDD505-2E9C-101B-9397-08002B2CF9AE}" pid="12" name="order">
    <vt:lpwstr>18</vt:lpwstr>
  </property>
  <property fmtid="{D5CDD505-2E9C-101B-9397-08002B2CF9AE}" pid="13" name="resources">
    <vt:lpwstr/>
  </property>
  <property fmtid="{D5CDD505-2E9C-101B-9397-08002B2CF9AE}" pid="14" name="subtitle">
    <vt:lpwstr>Ordination</vt:lpwstr>
  </property>
  <property fmtid="{D5CDD505-2E9C-101B-9397-08002B2CF9AE}" pid="15" name="toc-title">
    <vt:lpwstr>Table of contents</vt:lpwstr>
  </property>
  <property fmtid="{D5CDD505-2E9C-101B-9397-08002B2CF9AE}" pid="16" name="week">
    <vt:lpwstr>14</vt:lpwstr>
  </property>
</Properties>
</file>