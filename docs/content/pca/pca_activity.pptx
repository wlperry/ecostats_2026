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Principal Component Analysis</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uses the classic iris flower dataset — 4 measurements (sepal length/width, petal length/width) on 3 species of </a:t>
            </a:r>
            <a:r>
              <a:rPr sz="2000" i="1"/>
              <a:t>Iris</a:t>
            </a:r>
            <a:r>
              <a:rPr sz="2000"/>
              <a:t>.</a:t>
            </a:r>
          </a:p>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(vegan)</a:t>
            </a:r>
            <a:br/>
            <a:r>
              <a:rPr>
                <a:solidFill>
                  <a:srgbClr val="4758AB"/>
                </a:solidFill>
                <a:latin typeface="Courier"/>
              </a:rPr>
              <a:t>library</a:t>
            </a:r>
            <a:r>
              <a:rPr>
                <a:solidFill>
                  <a:srgbClr val="003B4F"/>
                </a:solidFill>
                <a:latin typeface="Courier"/>
              </a:rPr>
              <a:t>(corrplot)</a:t>
            </a:r>
            <a:br/>
            <a:r>
              <a:rPr>
                <a:solidFill>
                  <a:srgbClr val="4758AB"/>
                </a:solidFill>
                <a:latin typeface="Courier"/>
              </a:rPr>
              <a:t>library</a:t>
            </a:r>
            <a:r>
              <a:rPr>
                <a:solidFill>
                  <a:srgbClr val="003B4F"/>
                </a:solidFill>
                <a:latin typeface="Courier"/>
              </a:rPr>
              <a:t>(janitor)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p>
          <a:p>
            <a:pPr lvl="0" indent="0" marL="0">
              <a:buNone/>
            </a:pPr>
            <a:r>
              <a:rPr b="1"/>
              <a:t>What is PCA?</a:t>
            </a:r>
            <a:r>
              <a:rPr/>
              <a:t> PCA (Principal Component Analysis) is a technique to:</a:t>
            </a:r>
          </a:p>
          <a:p>
            <a:pPr lvl="0"/>
            <a:r>
              <a:rPr/>
              <a:t>Reduce the number of variables in your dataset</a:t>
            </a:r>
          </a:p>
          <a:p>
            <a:pPr lvl="0"/>
            <a:r>
              <a:rPr/>
              <a:t>Find patterns in high-dimensional data</a:t>
            </a:r>
          </a:p>
          <a:p>
            <a:pPr lvl="0"/>
            <a:r>
              <a:rPr/>
              <a:t>Create new uncorrelated variables (principal components) from correlated original variables</a:t>
            </a:r>
          </a:p>
          <a:p>
            <a:pPr lvl="0"/>
            <a:r>
              <a:rPr/>
              <a:t>Visualize complex relationships in multivariate data</a:t>
            </a:r>
          </a:p>
          <a:p>
            <a:pPr lvl="0" indent="0" marL="0">
              <a:buNone/>
            </a:pPr>
            <a:r>
              <a:rPr b="1"/>
              <a:t>When to use PCA:</a:t>
            </a:r>
            <a:r>
              <a:rPr/>
              <a:t> you have multiple continuous variables that may be correlated, too many variables to analyze or visualize easily, need to reduce dimensionality while retaining most information, or want to explore patterns in multivariate data.</a:t>
            </a:r>
          </a:p>
          <a:p>
            <a:pPr lvl="0" indent="0" marL="0">
              <a:buNone/>
            </a:pPr>
            <a:r>
              <a:rPr b="1"/>
              <a:t>Key assumptions of PCA:</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 effectively)</a:t>
            </a:r>
          </a:p>
          <a:p>
            <a:pPr lvl="0" indent="-342900" marL="342900">
              <a:buAutoNum type="arabicPeriod"/>
            </a:pPr>
            <a:r>
              <a:rPr b="1"/>
              <a:t>Adequate sample size</a:t>
            </a:r>
            <a:r>
              <a:rPr/>
              <a:t> (generally n &gt; 50)</a:t>
            </a:r>
          </a:p>
          <a:p>
            <a:pPr lvl="0" indent="-342900" marL="342900">
              <a:buAutoNum type="arabicPeriod"/>
            </a:pPr>
            <a:r>
              <a:rPr b="1"/>
              <a:t>Consider standardization</a:t>
            </a:r>
            <a:r>
              <a:rPr/>
              <a:t> when variables have different scales</a:t>
            </a:r>
          </a:p>
          <a:p>
            <a:pPr lvl="0" indent="0" marL="1270000">
              <a:buNone/>
            </a:pPr>
            <a:r>
              <a:rPr sz="2000" b="1"/>
              <a:t>Important</a:t>
            </a:r>
          </a:p>
          <a:p>
            <a:pPr lvl="0" indent="0" marL="1270000">
              <a:buNone/>
            </a:pPr>
            <a:r>
              <a:rPr sz="2000" b="1"/>
              <a:t>Critical first step:</a:t>
            </a:r>
            <a:r>
              <a:rPr sz="2000"/>
              <a:t> Always </a:t>
            </a:r>
            <a:r>
              <a:rPr sz="2000" b="1"/>
              <a:t>standardize your data</a:t>
            </a:r>
            <a:r>
              <a:rPr sz="2000"/>
              <a:t> when variables are measured on different scales. This prevents variables with larger values from dominating the analysis.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Iris Data Overview</a:t>
            </a:r>
          </a:p>
        </p:txBody>
      </p:sp>
      <p:sp>
        <p:nvSpPr>
          <p:cNvPr id="3" name="Content Placeholder 2"/>
          <p:cNvSpPr>
            <a:spLocks noGrp="1"/>
          </p:cNvSpPr>
          <p:nvPr>
            <p:ph idx="1"/>
          </p:nvPr>
        </p:nvSpPr>
        <p:spPr/>
        <p:txBody>
          <a:bodyPr/>
          <a:lstStyle/>
          <a:p>
            <a:pPr lvl="0" indent="0" marL="0">
              <a:buNone/>
            </a:pPr>
            <a:r>
              <a:rPr/>
              <a:t>We’ll analyze the famous iris dataset with measurements from three species: </a:t>
            </a:r>
            <a:r>
              <a:rPr i="1"/>
              <a:t>Iris setosa</a:t>
            </a:r>
            <a:r>
              <a:rPr/>
              <a:t>, </a:t>
            </a:r>
            <a:r>
              <a:rPr i="1"/>
              <a:t>Iris versicolor</a:t>
            </a:r>
            <a:r>
              <a:rPr/>
              <a:t>, and </a:t>
            </a:r>
            <a:r>
              <a:rPr i="1"/>
              <a:t>Iris virginica</a:t>
            </a:r>
            <a:r>
              <a:rPr/>
              <a:t>. Each flower has 4 measurements: sepal length, sepal width, petal length, and petal width.</a:t>
            </a:r>
          </a:p>
          <a:p>
            <a:pPr lvl="0" indent="0" marL="0">
              <a:buNone/>
            </a:pPr>
            <a:r>
              <a:rPr b="1"/>
              <a:t>▶ Run this:</a:t>
            </a:r>
          </a:p>
          <a:p>
            <a:pPr lvl="0" indent="0">
              <a:buNone/>
            </a:pPr>
            <a:r>
              <a:rPr>
                <a:solidFill>
                  <a:srgbClr val="003B4F"/>
                </a:solidFill>
                <a:latin typeface="Courier"/>
              </a:rPr>
              <a:t>iris_df &lt;- </a:t>
            </a:r>
            <a:r>
              <a:rPr>
                <a:solidFill>
                  <a:srgbClr val="4758AB"/>
                </a:solidFill>
                <a:latin typeface="Courier"/>
              </a:rPr>
              <a:t>read.csv</a:t>
            </a:r>
            <a:r>
              <a:rPr>
                <a:solidFill>
                  <a:srgbClr val="003B4F"/>
                </a:solidFill>
                <a:latin typeface="Courier"/>
              </a:rPr>
              <a:t>(</a:t>
            </a:r>
            <a:r>
              <a:rPr>
                <a:solidFill>
                  <a:srgbClr val="20794D"/>
                </a:solidFill>
                <a:latin typeface="Courier"/>
              </a:rPr>
              <a:t>"data/iris.csv"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4758AB"/>
                </a:solidFill>
                <a:latin typeface="Courier"/>
              </a:rPr>
              <a:t>head</a:t>
            </a:r>
            <a:r>
              <a:rPr>
                <a:solidFill>
                  <a:srgbClr val="003B4F"/>
                </a:solidFill>
                <a:latin typeface="Courier"/>
              </a:rPr>
              <a:t>(iris_df)</a:t>
            </a:r>
            <a:br/>
            <a:br/>
            <a:r>
              <a:rPr>
                <a:solidFill>
                  <a:srgbClr val="5E5E5E"/>
                </a:solidFill>
                <a:latin typeface="Courier"/>
              </a:rPr>
              <a:t># Get numeric values only for PCA</a:t>
            </a:r>
            <a:br/>
            <a:r>
              <a:rPr>
                <a:solidFill>
                  <a:srgbClr val="003B4F"/>
                </a:solidFill>
                <a:latin typeface="Courier"/>
              </a:rPr>
              <a:t>iris_data_df &lt;- iris_df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(sepal_length, sepal_width, petal_length, petal_width)</a:t>
            </a:r>
            <a:br/>
            <a:br/>
            <a:r>
              <a:rPr>
                <a:solidFill>
                  <a:srgbClr val="5E5E5E"/>
                </a:solidFill>
                <a:latin typeface="Courier"/>
              </a:rPr>
              <a:t># Keep species info for later</a:t>
            </a:r>
            <a:br/>
            <a:r>
              <a:rPr>
                <a:solidFill>
                  <a:srgbClr val="003B4F"/>
                </a:solidFill>
                <a:latin typeface="Courier"/>
              </a:rPr>
              <a:t>iris_species_df &lt;- iris_df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(species, ind, species_ind)</a:t>
            </a:r>
          </a:p>
          <a:p>
            <a:pPr lvl="0" indent="0" marL="0">
              <a:buNone/>
            </a:pPr>
            <a:r>
              <a:rPr b="1"/>
              <a:t>▶ Run this</a:t>
            </a:r>
            <a:r>
              <a:rPr/>
              <a:t> — visualize the raw measurements by species:</a:t>
            </a:r>
          </a:p>
          <a:p>
            <a:pPr lvl="0" indent="0">
              <a:buNone/>
            </a:pP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4758AB"/>
                </a:solidFill>
                <a:latin typeface="Courier"/>
              </a:rPr>
              <a:t>c</a:t>
            </a:r>
            <a:r>
              <a:rPr>
                <a:solidFill>
                  <a:srgbClr val="003B4F"/>
                </a:solidFill>
                <a:latin typeface="Courier"/>
              </a:rPr>
              <a:t>(sepal_length, sepal_width, petal_length, petal_width),</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br/>
            <a:r>
              <a:rPr>
                <a:solidFill>
                  <a:srgbClr val="003B4F"/>
                </a:solidFill>
                <a:latin typeface="Courier"/>
              </a:rPr>
              <a:t>  )</a:t>
            </a:r>
            <a:br/>
            <a:b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"Iris Measurements by Species"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"Measurement Value"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003B4F"/>
                </a:solidFill>
                <a:latin typeface="Courier"/>
              </a:rPr>
              <a:t>overview_plot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Check PCA Assumptions</a:t>
            </a:r>
          </a:p>
        </p:txBody>
      </p:sp>
      <p:sp>
        <p:nvSpPr>
          <p:cNvPr id="3" name="Content Placeholder 2"/>
          <p:cNvSpPr>
            <a:spLocks noGrp="1"/>
          </p:cNvSpPr>
          <p:nvPr>
            <p:ph idx="1"/>
          </p:nvPr>
        </p:nvSpPr>
        <p:spPr/>
        <p:txBody>
          <a:bodyPr/>
          <a:lstStyle/>
          <a:p>
            <a:pPr lvl="0" indent="0" marL="0">
              <a:buNone/>
            </a:pPr>
            <a:r>
              <a:rPr b="1"/>
              <a:t>▶ Run this</a:t>
            </a:r>
            <a:r>
              <a:rPr/>
              <a:t> — check correlations between variables:</a:t>
            </a:r>
          </a:p>
          <a:p>
            <a:pPr lvl="0" indent="0">
              <a:buNone/>
            </a:pPr>
            <a:r>
              <a:rPr>
                <a:solidFill>
                  <a:srgbClr val="003B4F"/>
                </a:solidFill>
                <a:latin typeface="Courier"/>
              </a:rPr>
              <a:t>cor_matrix &lt;- </a:t>
            </a:r>
            <a:r>
              <a:rPr>
                <a:solidFill>
                  <a:srgbClr val="4758AB"/>
                </a:solidFill>
                <a:latin typeface="Courier"/>
              </a:rPr>
              <a:t>cor</a:t>
            </a:r>
            <a:r>
              <a:rPr>
                <a:solidFill>
                  <a:srgbClr val="003B4F"/>
                </a:solidFill>
                <a:latin typeface="Courier"/>
              </a:rPr>
              <a:t>(iris_data_df)</a:t>
            </a:r>
            <a:br/>
            <a:r>
              <a:rPr>
                <a:solidFill>
                  <a:srgbClr val="003B4F"/>
                </a:solidFill>
                <a:latin typeface="Courier"/>
              </a:rPr>
              <a:t>cor_matrix</a:t>
            </a:r>
            <a:br/>
            <a:br/>
            <a:r>
              <a:rPr>
                <a:solidFill>
                  <a:srgbClr val="4758AB"/>
                </a:solidFill>
                <a:latin typeface="Courier"/>
              </a:rPr>
              <a:t>corrplot</a:t>
            </a:r>
            <a:r>
              <a:rPr>
                <a:solidFill>
                  <a:srgbClr val="003B4F"/>
                </a:solidFill>
                <a:latin typeface="Courier"/>
              </a:rPr>
              <a:t>(cor_matrix, </a:t>
            </a:r>
            <a:r>
              <a:rPr>
                <a:solidFill>
                  <a:srgbClr val="657422"/>
                </a:solidFill>
                <a:latin typeface="Courier"/>
              </a:rPr>
              <a:t>method =</a:t>
            </a:r>
            <a:r>
              <a:rPr>
                <a:solidFill>
                  <a:srgbClr val="003B4F"/>
                </a:solidFill>
                <a:latin typeface="Courier"/>
              </a:rPr>
              <a:t> </a:t>
            </a:r>
            <a:r>
              <a:rPr>
                <a:solidFill>
                  <a:srgbClr val="20794D"/>
                </a:solidFill>
                <a:latin typeface="Courier"/>
              </a:rPr>
              <a:t>"color"</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"upper"</a:t>
            </a:r>
            <a:r>
              <a:rPr>
                <a:solidFill>
                  <a:srgbClr val="003B4F"/>
                </a:solidFill>
                <a:latin typeface="Courier"/>
              </a:rPr>
              <a:t>,</a:t>
            </a:r>
            <a:br/>
            <a:r>
              <a:rPr>
                <a:solidFill>
                  <a:srgbClr val="003B4F"/>
                </a:solidFill>
                <a:latin typeface="Courier"/>
              </a:rPr>
              <a:t>         </a:t>
            </a:r>
            <a:r>
              <a:rPr>
                <a:solidFill>
                  <a:srgbClr val="657422"/>
                </a:solidFill>
                <a:latin typeface="Courier"/>
              </a:rPr>
              <a:t>addCoef.col =</a:t>
            </a:r>
            <a:r>
              <a:rPr>
                <a:solidFill>
                  <a:srgbClr val="003B4F"/>
                </a:solidFill>
                <a:latin typeface="Courier"/>
              </a:rPr>
              <a:t> </a:t>
            </a:r>
            <a:r>
              <a:rPr>
                <a:solidFill>
                  <a:srgbClr val="20794D"/>
                </a:solidFill>
                <a:latin typeface="Courier"/>
              </a:rPr>
              <a:t>"grey55"</a:t>
            </a:r>
            <a:r>
              <a:rPr>
                <a:solidFill>
                  <a:srgbClr val="003B4F"/>
                </a:solidFill>
                <a:latin typeface="Courier"/>
              </a:rPr>
              <a:t>, </a:t>
            </a:r>
            <a:r>
              <a:rPr>
                <a:solidFill>
                  <a:srgbClr val="657422"/>
                </a:solidFill>
                <a:latin typeface="Courier"/>
              </a:rPr>
              <a:t>tl.cex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657422"/>
                </a:solidFill>
                <a:latin typeface="Courier"/>
              </a:rPr>
              <a:t>number.cex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"Correlation Matrix of Iris Variables"</a:t>
            </a:r>
            <a:r>
              <a:rPr>
                <a:solidFill>
                  <a:srgbClr val="003B4F"/>
                </a:solidFill>
                <a:latin typeface="Courier"/>
              </a:rPr>
              <a:t>,</a:t>
            </a:r>
            <a:br/>
            <a:r>
              <a:rPr>
                <a:solidFill>
                  <a:srgbClr val="003B4F"/>
                </a:solidFill>
                <a:latin typeface="Courier"/>
              </a:rPr>
              <a:t>         </a:t>
            </a:r>
            <a:r>
              <a:rPr>
                <a:solidFill>
                  <a:srgbClr val="657422"/>
                </a:solidFill>
                <a:latin typeface="Courier"/>
              </a:rPr>
              <a:t>mar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0</a:t>
            </a:r>
            <a:r>
              <a:rPr>
                <a:solidFill>
                  <a:srgbClr val="003B4F"/>
                </a:solidFill>
                <a:latin typeface="Courier"/>
              </a:rPr>
              <a:t>))</a:t>
            </a:r>
          </a:p>
          <a:p>
            <a:pPr lvl="0" indent="0" marL="0">
              <a:buNone/>
            </a:pPr>
            <a:r>
              <a:rPr b="1"/>
              <a:t>▶ Run this</a:t>
            </a:r>
            <a:r>
              <a:rPr/>
              <a:t> — check for outliers:</a:t>
            </a:r>
          </a:p>
          <a:p>
            <a:pPr lvl="0" indent="0">
              <a:buNone/>
            </a:pPr>
            <a:r>
              <a:rPr>
                <a:solidFill>
                  <a:srgbClr val="003B4F"/>
                </a:solidFill>
                <a:latin typeface="Courier"/>
              </a:rPr>
              <a:t>outlier_plot &lt;- iris_data_df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r>
              <a:rPr>
                <a:solidFill>
                  <a:srgbClr val="4758AB"/>
                </a:solidFill>
                <a:latin typeface="Courier"/>
              </a:rPr>
              <a:t>everything</a:t>
            </a: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variable, </a:t>
            </a:r>
            <a:r>
              <a:rPr>
                <a:solidFill>
                  <a:srgbClr val="657422"/>
                </a:solidFill>
                <a:latin typeface="Courier"/>
              </a:rPr>
              <a:t>y =</a:t>
            </a:r>
            <a:r>
              <a:rPr>
                <a:solidFill>
                  <a:srgbClr val="003B4F"/>
                </a:solidFill>
                <a:latin typeface="Courier"/>
              </a:rPr>
              <a:t> value))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"Check for Outliers in Iris Variables"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"Value"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003B4F"/>
                </a:solidFill>
                <a:latin typeface="Courier"/>
              </a:rPr>
              <a:t>outlier_plot</a:t>
            </a:r>
          </a:p>
          <a:p>
            <a:pPr lvl="0" indent="0" marL="0">
              <a:buNone/>
            </a:pPr>
            <a:r>
              <a:rPr/>
              <a:t>✏️ </a:t>
            </a:r>
            <a:r>
              <a:rPr b="1"/>
              <a:t>Your turn:</a:t>
            </a:r>
            <a:r>
              <a:rPr/>
              <a:t> Are the iris variables sufficiently correlated for PCA to be useful? Do you see any concerning outliers? </a:t>
            </a:r>
            <a:r>
              <a:rPr>
                <a:latin typeface="Courier"/>
              </a:rPr>
              <a:t>________________________</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Standardize the Data</a:t>
            </a:r>
          </a:p>
        </p:txBody>
      </p:sp>
      <p:sp>
        <p:nvSpPr>
          <p:cNvPr id="3" name="Content Placeholder 2"/>
          <p:cNvSpPr>
            <a:spLocks noGrp="1"/>
          </p:cNvSpPr>
          <p:nvPr>
            <p:ph idx="1"/>
          </p:nvPr>
        </p:nvSpPr>
        <p:spPr/>
        <p:txBody>
          <a:bodyPr/>
          <a:lstStyle/>
          <a:p>
            <a:pPr lvl="0" indent="0" marL="0">
              <a:buNone/>
            </a:pPr>
            <a:r>
              <a:rPr/>
              <a:t>Since our variables have different scales (e.g., petal width ranges 0.1-2.5 while sepal length ranges 4-8), we need to standardize.</a:t>
            </a:r>
          </a:p>
          <a:p>
            <a:pPr lvl="0" indent="0" marL="0">
              <a:buNone/>
            </a:pPr>
            <a:r>
              <a:rPr b="1"/>
              <a:t>▶ Run this:</a:t>
            </a:r>
          </a:p>
          <a:p>
            <a:pPr lvl="0" indent="0">
              <a:buNone/>
            </a:pPr>
            <a:r>
              <a:rPr>
                <a:solidFill>
                  <a:srgbClr val="003B4F"/>
                </a:solidFill>
                <a:latin typeface="Courier"/>
              </a:rPr>
              <a:t>iris_scaled &lt;- </a:t>
            </a:r>
            <a:r>
              <a:rPr>
                <a:solidFill>
                  <a:srgbClr val="4758AB"/>
                </a:solidFill>
                <a:latin typeface="Courier"/>
              </a:rPr>
              <a:t>scale</a:t>
            </a:r>
            <a:r>
              <a:rPr>
                <a:solidFill>
                  <a:srgbClr val="003B4F"/>
                </a:solidFill>
                <a:latin typeface="Courier"/>
              </a:rPr>
              <a:t>(iris_data_df)</a:t>
            </a:r>
            <a:br/>
            <a:br/>
            <a:r>
              <a:rPr>
                <a:solidFill>
                  <a:srgbClr val="003B4F"/>
                </a:solidFill>
                <a:latin typeface="Courier"/>
              </a:rPr>
              <a:t>iris_scaled_df &lt;- </a:t>
            </a:r>
            <a:r>
              <a:rPr>
                <a:solidFill>
                  <a:srgbClr val="4758AB"/>
                </a:solidFill>
                <a:latin typeface="Courier"/>
              </a:rPr>
              <a:t>as.data.frame</a:t>
            </a:r>
            <a:r>
              <a:rPr>
                <a:solidFill>
                  <a:srgbClr val="003B4F"/>
                </a:solidFill>
                <a:latin typeface="Courier"/>
              </a:rPr>
              <a:t>(iris_scaled)</a:t>
            </a:r>
            <a:br/>
            <a:br/>
            <a:r>
              <a:rPr>
                <a:solidFill>
                  <a:srgbClr val="5E5E5E"/>
                </a:solidFill>
                <a:latin typeface="Courier"/>
              </a:rPr>
              <a:t># Check standardization worked</a:t>
            </a:r>
            <a:br/>
            <a:r>
              <a:rPr>
                <a:solidFill>
                  <a:srgbClr val="4758AB"/>
                </a:solidFill>
                <a:latin typeface="Courier"/>
              </a:rPr>
              <a:t>colMeans</a:t>
            </a:r>
            <a:r>
              <a:rPr>
                <a:solidFill>
                  <a:srgbClr val="003B4F"/>
                </a:solidFill>
                <a:latin typeface="Courier"/>
              </a:rPr>
              <a:t>(iris_scaled_df)</a:t>
            </a:r>
            <a:br/>
            <a:r>
              <a:rPr>
                <a:solidFill>
                  <a:srgbClr val="4758AB"/>
                </a:solidFill>
                <a:latin typeface="Courier"/>
              </a:rPr>
              <a:t>apply</a:t>
            </a:r>
            <a:r>
              <a:rPr>
                <a:solidFill>
                  <a:srgbClr val="003B4F"/>
                </a:solidFill>
                <a:latin typeface="Courier"/>
              </a:rPr>
              <a:t>(iris_scaled_df, </a:t>
            </a:r>
            <a:r>
              <a:rPr>
                <a:solidFill>
                  <a:srgbClr val="AD0000"/>
                </a:solidFill>
                <a:latin typeface="Courier"/>
              </a:rPr>
              <a:t>2</a:t>
            </a:r>
            <a:r>
              <a:rPr>
                <a:solidFill>
                  <a:srgbClr val="003B4F"/>
                </a:solidFill>
                <a:latin typeface="Courier"/>
              </a:rPr>
              <a:t>, sd)</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Perform PCA</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iris_pca_model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summary</a:t>
            </a:r>
            <a:r>
              <a:rPr>
                <a:solidFill>
                  <a:srgbClr val="003B4F"/>
                </a:solidFill>
                <a:latin typeface="Courier"/>
              </a:rPr>
              <a:t>(iris_pca_model)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Extract and Understand Results</a:t>
            </a:r>
          </a:p>
        </p:txBody>
      </p:sp>
      <p:sp>
        <p:nvSpPr>
          <p:cNvPr id="3" name="Content Placeholder 2"/>
          <p:cNvSpPr>
            <a:spLocks noGrp="1"/>
          </p:cNvSpPr>
          <p:nvPr>
            <p:ph idx="1"/>
          </p:nvPr>
        </p:nvSpPr>
        <p:spPr/>
        <p:txBody>
          <a:bodyPr/>
          <a:lstStyle/>
          <a:p>
            <a:pPr lvl="0" indent="0" marL="0">
              <a:buNone/>
            </a:pPr>
            <a:r>
              <a:rPr b="1"/>
              <a:t>▶ Run this</a:t>
            </a:r>
            <a:r>
              <a:rPr/>
              <a:t> — eigenvalues and variance explained:</a:t>
            </a:r>
          </a:p>
          <a:p>
            <a:pPr lvl="0" indent="0">
              <a:buNone/>
            </a:pPr>
            <a:r>
              <a:rPr>
                <a:solidFill>
                  <a:srgbClr val="003B4F"/>
                </a:solidFill>
                <a:latin typeface="Courier"/>
              </a:rPr>
              <a:t>eigenvalues &lt;- iris_pca_model</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003B4F"/>
                </a:solidFill>
                <a:latin typeface="Courier"/>
              </a:rPr>
              <a:t>pca_summary_df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003B4F"/>
                </a:solidFill>
                <a:latin typeface="Courier"/>
              </a:rPr>
              <a:t>pca_summary_df</a:t>
            </a:r>
          </a:p>
          <a:p>
            <a:pPr lvl="0" indent="0" marL="0">
              <a:buNone/>
            </a:pPr>
            <a:r>
              <a:rPr b="1"/>
              <a:t>▶ Run this</a:t>
            </a:r>
            <a:r>
              <a:rPr/>
              <a:t> — component loadings:</a:t>
            </a:r>
          </a:p>
          <a:p>
            <a:pPr lvl="0" indent="0">
              <a:buNone/>
            </a:pP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(iris_pca_model</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003B4F"/>
                </a:solidFill>
                <a:latin typeface="Courier"/>
              </a:rPr>
              <a:t>loadings_df</a:t>
            </a:r>
          </a:p>
          <a:p>
            <a:pPr lvl="0" indent="0" marL="0">
              <a:buNone/>
            </a:pPr>
            <a:r>
              <a:rPr/>
              <a:t>✏️ </a:t>
            </a:r>
            <a:r>
              <a:rPr b="1"/>
              <a:t>Your turn:</a:t>
            </a:r>
            <a:r>
              <a:rPr/>
              <a:t> Which variable has the largest loading on PC1? On PC2? </a:t>
            </a:r>
            <a:r>
              <a:rPr>
                <a:latin typeface="Courier"/>
              </a:rPr>
              <a:t>________________________</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Determine Number of Components</a:t>
            </a:r>
          </a:p>
        </p:txBody>
      </p:sp>
      <p:sp>
        <p:nvSpPr>
          <p:cNvPr id="3" name="Content Placeholder 2"/>
          <p:cNvSpPr>
            <a:spLocks noGrp="1"/>
          </p:cNvSpPr>
          <p:nvPr>
            <p:ph idx="1"/>
          </p:nvPr>
        </p:nvSpPr>
        <p:spPr/>
        <p:txBody>
          <a:bodyPr/>
          <a:lstStyle/>
          <a:p>
            <a:pPr lvl="0" indent="0" marL="0">
              <a:buNone/>
            </a:pPr>
            <a:r>
              <a:rPr b="1"/>
              <a:t>▶ Run this</a:t>
            </a:r>
            <a:r>
              <a:rPr/>
              <a:t> — a scree plot:</a:t>
            </a:r>
          </a:p>
          <a:p>
            <a:pPr lvl="0" indent="0">
              <a:buNone/>
            </a:pPr>
            <a:r>
              <a:rPr>
                <a:solidFill>
                  <a:srgbClr val="003B4F"/>
                </a:solidFill>
                <a:latin typeface="Courier"/>
              </a:rPr>
              <a:t>scree_data_df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a:t>
            </a:r>
            <a:br/>
            <a:br/>
            <a:r>
              <a:rPr>
                <a:solidFill>
                  <a:srgbClr val="003B4F"/>
                </a:solidFill>
                <a:latin typeface="Courier"/>
              </a:rPr>
              <a:t>scree_plot &lt;- </a:t>
            </a:r>
            <a:r>
              <a:rPr>
                <a:solidFill>
                  <a:srgbClr val="4758AB"/>
                </a:solidFill>
                <a:latin typeface="Courier"/>
              </a:rPr>
              <a:t>ggplot</a:t>
            </a:r>
            <a:r>
              <a:rPr>
                <a:solidFill>
                  <a:srgbClr val="003B4F"/>
                </a:solidFill>
                <a:latin typeface="Courier"/>
              </a:rPr>
              <a:t>(scree_data_df,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657422"/>
                </a:solidFill>
                <a:latin typeface="Courier"/>
              </a:rPr>
              <a:t>y =</a:t>
            </a:r>
            <a:r>
              <a:rPr>
                <a:solidFill>
                  <a:srgbClr val="003B4F"/>
                </a:solidFill>
                <a:latin typeface="Courier"/>
              </a:rPr>
              <a:t> Variance))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"Scree Plot - Variance Explained by Each Component"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scree_plot</a:t>
            </a:r>
          </a:p>
          <a:p>
            <a:pPr lvl="0" indent="0" marL="0">
              <a:buNone/>
            </a:pPr>
            <a:r>
              <a:rPr b="1"/>
              <a:t>▶ Run this</a:t>
            </a:r>
            <a:r>
              <a:rPr/>
              <a:t> — apply decision rules:</a:t>
            </a:r>
          </a:p>
          <a:p>
            <a:pPr lvl="0" indent="0">
              <a:buNone/>
            </a:pPr>
            <a:r>
              <a:rPr>
                <a:solidFill>
                  <a:srgbClr val="5E5E5E"/>
                </a:solidFill>
                <a:latin typeface="Courier"/>
              </a:rPr>
              <a:t># Eigenvalue &gt; 1 rule</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components_to_keep</a:t>
            </a:r>
            <a:br/>
            <a:br/>
            <a:r>
              <a:rPr>
                <a:solidFill>
                  <a:srgbClr val="5E5E5E"/>
                </a:solidFill>
                <a:latin typeface="Courier"/>
              </a:rPr>
              <a:t># Components explaining at least 80%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003B4F"/>
                </a:solidFill>
                <a:latin typeface="Courier"/>
              </a:rPr>
              <a:t>components_80_percent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Create PCA Scores</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pca_scores_df &lt;- </a:t>
            </a:r>
            <a:r>
              <a:rPr>
                <a:solidFill>
                  <a:srgbClr val="4758AB"/>
                </a:solidFill>
                <a:latin typeface="Courier"/>
              </a:rPr>
              <a:t>data.frame</a:t>
            </a:r>
            <a:r>
              <a:rPr>
                <a:solidFill>
                  <a:srgbClr val="003B4F"/>
                </a:solidFill>
                <a:latin typeface="Courier"/>
              </a:rPr>
              <a:t>(</a:t>
            </a:r>
            <a:br/>
            <a:r>
              <a:rPr>
                <a:solidFill>
                  <a:srgbClr val="003B4F"/>
                </a:solidFill>
                <a:latin typeface="Courier"/>
              </a:rPr>
              <a:t>  iris_pca_model</a:t>
            </a:r>
            <a:r>
              <a:rPr>
                <a:solidFill>
                  <a:srgbClr val="5E5E5E"/>
                </a:solidFill>
                <a:latin typeface="Courier"/>
              </a:rPr>
              <a:t>$</a:t>
            </a:r>
            <a:r>
              <a:rPr>
                <a:solidFill>
                  <a:srgbClr val="003B4F"/>
                </a:solidFill>
                <a:latin typeface="Courier"/>
              </a:rPr>
              <a:t>x,</a:t>
            </a:r>
            <a:br/>
            <a:r>
              <a:rPr>
                <a:solidFill>
                  <a:srgbClr val="003B4F"/>
                </a:solidFill>
                <a:latin typeface="Courier"/>
              </a:rPr>
              <a:t>  </a:t>
            </a:r>
            <a:r>
              <a:rPr>
                <a:solidFill>
                  <a:srgbClr val="657422"/>
                </a:solidFill>
                <a:latin typeface="Courier"/>
              </a:rPr>
              <a:t>species =</a:t>
            </a:r>
            <a:r>
              <a:rPr>
                <a:solidFill>
                  <a:srgbClr val="003B4F"/>
                </a:solidFill>
                <a:latin typeface="Courier"/>
              </a:rPr>
              <a:t> iris_species_df</a:t>
            </a:r>
            <a:r>
              <a:rPr>
                <a:solidFill>
                  <a:srgbClr val="5E5E5E"/>
                </a:solidFill>
                <a:latin typeface="Courier"/>
              </a:rPr>
              <a:t>$</a:t>
            </a:r>
            <a:r>
              <a:rPr>
                <a:solidFill>
                  <a:srgbClr val="003B4F"/>
                </a:solidFill>
                <a:latin typeface="Courier"/>
              </a:rPr>
              <a:t>species</a:t>
            </a:r>
            <a:br/>
            <a:r>
              <a:rPr>
                <a:solidFill>
                  <a:srgbClr val="003B4F"/>
                </a:solidFill>
                <a:latin typeface="Courier"/>
              </a:rPr>
              <a:t>)</a:t>
            </a:r>
            <a:br/>
            <a:br/>
            <a:r>
              <a:rPr>
                <a:solidFill>
                  <a:srgbClr val="4758AB"/>
                </a:solidFill>
                <a:latin typeface="Courier"/>
              </a:rPr>
              <a:t>head</a:t>
            </a:r>
            <a:r>
              <a:rPr>
                <a:solidFill>
                  <a:srgbClr val="003B4F"/>
                </a:solidFill>
                <a:latin typeface="Courier"/>
              </a:rPr>
              <a:t>(pca_scores_df)</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Visualize Results</a:t>
            </a:r>
          </a:p>
        </p:txBody>
      </p:sp>
      <p:sp>
        <p:nvSpPr>
          <p:cNvPr id="3" name="Content Placeholder 2"/>
          <p:cNvSpPr>
            <a:spLocks noGrp="1"/>
          </p:cNvSpPr>
          <p:nvPr>
            <p:ph idx="1"/>
          </p:nvPr>
        </p:nvSpPr>
        <p:spPr/>
        <p:txBody>
          <a:bodyPr/>
          <a:lstStyle/>
          <a:p>
            <a:pPr lvl="0" indent="0" marL="0">
              <a:buNone/>
            </a:pPr>
            <a:r>
              <a:rPr b="1"/>
              <a:t>▶ Run this</a:t>
            </a:r>
            <a:r>
              <a:rPr/>
              <a:t> — a PCA scores plot:</a:t>
            </a:r>
          </a:p>
          <a:p>
            <a:pPr lvl="0" indent="0">
              <a:buNone/>
            </a:pPr>
            <a:r>
              <a:rPr>
                <a:solidFill>
                  <a:srgbClr val="003B4F"/>
                </a:solidFill>
                <a:latin typeface="Courier"/>
              </a:rPr>
              <a:t>scores_plot &lt;- </a:t>
            </a:r>
            <a:r>
              <a:rPr>
                <a:solidFill>
                  <a:srgbClr val="4758AB"/>
                </a:solidFill>
                <a:latin typeface="Courier"/>
              </a:rPr>
              <a:t>ggplot</a:t>
            </a:r>
            <a:r>
              <a:rPr>
                <a:solidFill>
                  <a:srgbClr val="003B4F"/>
                </a:solidFill>
                <a:latin typeface="Courier"/>
              </a:rPr>
              <a:t>(pca_scores_df,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br/>
            <a:br/>
            <a:r>
              <a:rPr>
                <a:solidFill>
                  <a:srgbClr val="003B4F"/>
                </a:solidFill>
                <a:latin typeface="Courier"/>
              </a:rPr>
              <a:t>scores_plot</a:t>
            </a:r>
          </a:p>
          <a:p>
            <a:pPr lvl="0" indent="0" marL="0">
              <a:buNone/>
            </a:pPr>
            <a:r>
              <a:rPr b="1"/>
              <a:t>▶ Run this</a:t>
            </a:r>
            <a:r>
              <a:rPr/>
              <a:t> — a loading plot (arrows only):</a:t>
            </a:r>
          </a:p>
          <a:p>
            <a:pPr lvl="0" indent="0">
              <a:buNone/>
            </a:pPr>
            <a:r>
              <a:rPr>
                <a:solidFill>
                  <a:srgbClr val="003B4F"/>
                </a:solidFill>
                <a:latin typeface="Courier"/>
              </a:rPr>
              <a:t>loading_data_df &lt;- loadings_df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(Variable, PC1, PC2)</a:t>
            </a:r>
            <a:br/>
            <a:br/>
            <a:r>
              <a:rPr>
                <a:solidFill>
                  <a:srgbClr val="003B4F"/>
                </a:solidFill>
                <a:latin typeface="Courier"/>
              </a:rPr>
              <a:t>loading_plot &lt;- </a:t>
            </a:r>
            <a:r>
              <a:rPr>
                <a:solidFill>
                  <a:srgbClr val="4758AB"/>
                </a:solidFill>
                <a:latin typeface="Courier"/>
              </a:rPr>
              <a:t>ggplot</a:t>
            </a:r>
            <a:r>
              <a:rPr>
                <a:solidFill>
                  <a:srgbClr val="003B4F"/>
                </a:solidFill>
                <a:latin typeface="Courier"/>
              </a:rPr>
              <a:t>(loading_data_df,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geom_segment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xend =</a:t>
            </a:r>
            <a:r>
              <a:rPr>
                <a:solidFill>
                  <a:srgbClr val="003B4F"/>
                </a:solidFill>
                <a:latin typeface="Courier"/>
              </a:rPr>
              <a:t> PC1, </a:t>
            </a:r>
            <a:r>
              <a:rPr>
                <a:solidFill>
                  <a:srgbClr val="657422"/>
                </a:solidFill>
                <a:latin typeface="Courier"/>
              </a:rPr>
              <a:t>yend =</a:t>
            </a:r>
            <a:r>
              <a:rPr>
                <a:solidFill>
                  <a:srgbClr val="003B4F"/>
                </a:solidFill>
                <a:latin typeface="Courier"/>
              </a:rPr>
              <a:t> PC2),</a:t>
            </a:r>
            <a:br/>
            <a:r>
              <a:rPr>
                <a:solidFill>
                  <a:srgbClr val="003B4F"/>
                </a:solidFill>
                <a:latin typeface="Courier"/>
              </a:rPr>
              <a:t>               </a:t>
            </a:r>
            <a:r>
              <a:rPr>
                <a:solidFill>
                  <a:srgbClr val="657422"/>
                </a:solidFill>
                <a:latin typeface="Courier"/>
              </a:rPr>
              <a:t>arrow =</a:t>
            </a:r>
            <a:r>
              <a:rPr>
                <a:solidFill>
                  <a:srgbClr val="003B4F"/>
                </a:solidFill>
                <a:latin typeface="Courier"/>
              </a:rPr>
              <a:t> </a:t>
            </a:r>
            <a:r>
              <a:rPr>
                <a:solidFill>
                  <a:srgbClr val="4758AB"/>
                </a:solidFill>
                <a:latin typeface="Courier"/>
              </a:rPr>
              <a:t>arrow</a:t>
            </a:r>
            <a:r>
              <a:rPr>
                <a:solidFill>
                  <a:srgbClr val="003B4F"/>
                </a:solidFill>
                <a:latin typeface="Courier"/>
              </a:rPr>
              <a:t>(</a:t>
            </a:r>
            <a:r>
              <a:rPr>
                <a:solidFill>
                  <a:srgbClr val="657422"/>
                </a:solidFill>
                <a:latin typeface="Courier"/>
              </a:rPr>
              <a:t>length =</a:t>
            </a:r>
            <a:r>
              <a:rPr>
                <a:solidFill>
                  <a:srgbClr val="003B4F"/>
                </a:solidFill>
                <a:latin typeface="Courier"/>
              </a:rPr>
              <a:t> </a:t>
            </a:r>
            <a:r>
              <a:rPr>
                <a:solidFill>
                  <a:srgbClr val="4758AB"/>
                </a:solidFill>
                <a:latin typeface="Courier"/>
              </a:rPr>
              <a:t>unit</a:t>
            </a:r>
            <a:r>
              <a:rPr>
                <a:solidFill>
                  <a:srgbClr val="003B4F"/>
                </a:solidFill>
                <a:latin typeface="Courier"/>
              </a:rPr>
              <a:t>(</a:t>
            </a:r>
            <a:r>
              <a:rPr>
                <a:solidFill>
                  <a:srgbClr val="AD0000"/>
                </a:solidFill>
                <a:latin typeface="Courier"/>
              </a:rPr>
              <a:t>0.3</a:t>
            </a:r>
            <a:r>
              <a:rPr>
                <a:solidFill>
                  <a:srgbClr val="003B4F"/>
                </a:solidFill>
                <a:latin typeface="Courier"/>
              </a:rPr>
              <a:t>, </a:t>
            </a:r>
            <a:r>
              <a:rPr>
                <a:solidFill>
                  <a:srgbClr val="20794D"/>
                </a:solidFill>
                <a:latin typeface="Courier"/>
              </a:rPr>
              <a:t>"cm"</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geom_text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 </a:t>
            </a:r>
            <a:r>
              <a:rPr>
                <a:solidFill>
                  <a:srgbClr val="657422"/>
                </a:solidFill>
                <a:latin typeface="Courier"/>
              </a:rPr>
              <a:t>y =</a:t>
            </a:r>
            <a:r>
              <a:rPr>
                <a:solidFill>
                  <a:srgbClr val="003B4F"/>
                </a:solidFill>
                <a:latin typeface="Courier"/>
              </a:rPr>
              <a:t> PC2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 </a:t>
            </a:r>
            <a:r>
              <a:rPr>
                <a:solidFill>
                  <a:srgbClr val="657422"/>
                </a:solidFill>
                <a:latin typeface="Courier"/>
              </a:rPr>
              <a:t>label =</a:t>
            </a:r>
            <a:r>
              <a:rPr>
                <a:solidFill>
                  <a:srgbClr val="003B4F"/>
                </a:solidFill>
                <a:latin typeface="Courier"/>
              </a:rPr>
              <a:t> Variable),</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xlim</a:t>
            </a:r>
            <a:r>
              <a:rPr>
                <a:solidFill>
                  <a:srgbClr val="003B4F"/>
                </a:solidFill>
                <a:latin typeface="Courier"/>
              </a:rPr>
              <a:t>(</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ylim</a:t>
            </a:r>
            <a:r>
              <a:rPr>
                <a:solidFill>
                  <a:srgbClr val="003B4F"/>
                </a:solidFill>
                <a:latin typeface="Courier"/>
              </a:rPr>
              <a:t>(</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Loading Plot"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a:t>
            </a:r>
            <a:br/>
            <a:br/>
            <a:r>
              <a:rPr>
                <a:solidFill>
                  <a:srgbClr val="003B4F"/>
                </a:solidFill>
                <a:latin typeface="Courier"/>
              </a:rPr>
              <a:t>loading_plot</a:t>
            </a:r>
          </a:p>
          <a:p>
            <a:pPr lvl="0" indent="0" marL="0">
              <a:buNone/>
            </a:pPr>
            <a:r>
              <a:rPr b="1"/>
              <a:t>▶ Run this</a:t>
            </a:r>
            <a:r>
              <a:rPr/>
              <a:t> — combine scores and loadings into a manual biplot:</a:t>
            </a:r>
          </a:p>
          <a:p>
            <a:pPr lvl="0" indent="0">
              <a:buNone/>
            </a:pPr>
            <a:r>
              <a:rPr>
                <a:solidFill>
                  <a:srgbClr val="003B4F"/>
                </a:solidFill>
                <a:latin typeface="Courier"/>
              </a:rPr>
              <a:t>arrow_scale &lt;- </a:t>
            </a:r>
            <a:r>
              <a:rPr>
                <a:solidFill>
                  <a:srgbClr val="AD0000"/>
                </a:solidFill>
                <a:latin typeface="Courier"/>
              </a:rPr>
              <a:t>3</a:t>
            </a:r>
            <a:br/>
            <a:br/>
            <a:r>
              <a:rPr>
                <a:solidFill>
                  <a:srgbClr val="003B4F"/>
                </a:solidFill>
                <a:latin typeface="Courier"/>
              </a:rPr>
              <a:t>biplot_plot &lt;- </a:t>
            </a:r>
            <a:r>
              <a:rPr>
                <a:solidFill>
                  <a:srgbClr val="4758AB"/>
                </a:solidFill>
                <a:latin typeface="Courier"/>
              </a:rPr>
              <a:t>ggplot</a:t>
            </a:r>
            <a:r>
              <a:rPr>
                <a:solidFill>
                  <a:srgbClr val="003B4F"/>
                </a:solidFill>
                <a:latin typeface="Courier"/>
              </a:rPr>
              <a:t>(pca_scores_df,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species),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geom_segment</a:t>
            </a:r>
            <a:r>
              <a:rPr>
                <a:solidFill>
                  <a:srgbClr val="003B4F"/>
                </a:solidFill>
                <a:latin typeface="Courier"/>
              </a:rPr>
              <a:t>(</a:t>
            </a:r>
            <a:r>
              <a:rPr>
                <a:solidFill>
                  <a:srgbClr val="657422"/>
                </a:solidFill>
                <a:latin typeface="Courier"/>
              </a:rPr>
              <a:t>data =</a:t>
            </a:r>
            <a:r>
              <a:rPr>
                <a:solidFill>
                  <a:srgbClr val="003B4F"/>
                </a:solidFill>
                <a:latin typeface="Courier"/>
              </a:rPr>
              <a:t> loading_data_df,</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657422"/>
                </a:solidFill>
                <a:latin typeface="Courier"/>
              </a:rPr>
              <a:t>xend =</a:t>
            </a:r>
            <a:r>
              <a:rPr>
                <a:solidFill>
                  <a:srgbClr val="003B4F"/>
                </a:solidFill>
                <a:latin typeface="Courier"/>
              </a:rPr>
              <a:t> PC1 </a:t>
            </a:r>
            <a:r>
              <a:rPr>
                <a:solidFill>
                  <a:srgbClr val="5E5E5E"/>
                </a:solidFill>
                <a:latin typeface="Courier"/>
              </a:rPr>
              <a:t>*</a:t>
            </a:r>
            <a:r>
              <a:rPr>
                <a:solidFill>
                  <a:srgbClr val="003B4F"/>
                </a:solidFill>
                <a:latin typeface="Courier"/>
              </a:rPr>
              <a:t> arrow_scale,</a:t>
            </a:r>
            <a:br/>
            <a:r>
              <a:rPr>
                <a:solidFill>
                  <a:srgbClr val="003B4F"/>
                </a:solidFill>
                <a:latin typeface="Courier"/>
              </a:rPr>
              <a:t>                   </a:t>
            </a:r>
            <a:r>
              <a:rPr>
                <a:solidFill>
                  <a:srgbClr val="657422"/>
                </a:solidFill>
                <a:latin typeface="Courier"/>
              </a:rPr>
              <a:t>yend =</a:t>
            </a:r>
            <a:r>
              <a:rPr>
                <a:solidFill>
                  <a:srgbClr val="003B4F"/>
                </a:solidFill>
                <a:latin typeface="Courier"/>
              </a:rPr>
              <a:t> PC2 </a:t>
            </a:r>
            <a:r>
              <a:rPr>
                <a:solidFill>
                  <a:srgbClr val="5E5E5E"/>
                </a:solidFill>
                <a:latin typeface="Courier"/>
              </a:rPr>
              <a:t>*</a:t>
            </a:r>
            <a:r>
              <a:rPr>
                <a:solidFill>
                  <a:srgbClr val="003B4F"/>
                </a:solidFill>
                <a:latin typeface="Courier"/>
              </a:rPr>
              <a:t> arrow_scale),</a:t>
            </a:r>
            <a:br/>
            <a:r>
              <a:rPr>
                <a:solidFill>
                  <a:srgbClr val="003B4F"/>
                </a:solidFill>
                <a:latin typeface="Courier"/>
              </a:rPr>
              <a:t>               </a:t>
            </a:r>
            <a:r>
              <a:rPr>
                <a:solidFill>
                  <a:srgbClr val="657422"/>
                </a:solidFill>
                <a:latin typeface="Courier"/>
              </a:rPr>
              <a:t>arrow =</a:t>
            </a:r>
            <a:r>
              <a:rPr>
                <a:solidFill>
                  <a:srgbClr val="003B4F"/>
                </a:solidFill>
                <a:latin typeface="Courier"/>
              </a:rPr>
              <a:t> </a:t>
            </a:r>
            <a:r>
              <a:rPr>
                <a:solidFill>
                  <a:srgbClr val="4758AB"/>
                </a:solidFill>
                <a:latin typeface="Courier"/>
              </a:rPr>
              <a:t>arrow</a:t>
            </a:r>
            <a:r>
              <a:rPr>
                <a:solidFill>
                  <a:srgbClr val="003B4F"/>
                </a:solidFill>
                <a:latin typeface="Courier"/>
              </a:rPr>
              <a:t>(</a:t>
            </a:r>
            <a:r>
              <a:rPr>
                <a:solidFill>
                  <a:srgbClr val="657422"/>
                </a:solidFill>
                <a:latin typeface="Courier"/>
              </a:rPr>
              <a:t>length =</a:t>
            </a:r>
            <a:r>
              <a:rPr>
                <a:solidFill>
                  <a:srgbClr val="003B4F"/>
                </a:solidFill>
                <a:latin typeface="Courier"/>
              </a:rPr>
              <a:t> </a:t>
            </a:r>
            <a:r>
              <a:rPr>
                <a:solidFill>
                  <a:srgbClr val="4758AB"/>
                </a:solidFill>
                <a:latin typeface="Courier"/>
              </a:rPr>
              <a:t>unit</a:t>
            </a:r>
            <a:r>
              <a:rPr>
                <a:solidFill>
                  <a:srgbClr val="003B4F"/>
                </a:solidFill>
                <a:latin typeface="Courier"/>
              </a:rPr>
              <a:t>(</a:t>
            </a:r>
            <a:r>
              <a:rPr>
                <a:solidFill>
                  <a:srgbClr val="AD0000"/>
                </a:solidFill>
                <a:latin typeface="Courier"/>
              </a:rPr>
              <a:t>0.3</a:t>
            </a:r>
            <a:r>
              <a:rPr>
                <a:solidFill>
                  <a:srgbClr val="003B4F"/>
                </a:solidFill>
                <a:latin typeface="Courier"/>
              </a:rPr>
              <a:t>, </a:t>
            </a:r>
            <a:r>
              <a:rPr>
                <a:solidFill>
                  <a:srgbClr val="20794D"/>
                </a:solidFill>
                <a:latin typeface="Courier"/>
              </a:rPr>
              <a:t>"cm"</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geom_text</a:t>
            </a:r>
            <a:r>
              <a:rPr>
                <a:solidFill>
                  <a:srgbClr val="003B4F"/>
                </a:solidFill>
                <a:latin typeface="Courier"/>
              </a:rPr>
              <a:t>(</a:t>
            </a:r>
            <a:r>
              <a:rPr>
                <a:solidFill>
                  <a:srgbClr val="657422"/>
                </a:solidFill>
                <a:latin typeface="Courier"/>
              </a:rPr>
              <a:t>data =</a:t>
            </a:r>
            <a:r>
              <a:rPr>
                <a:solidFill>
                  <a:srgbClr val="003B4F"/>
                </a:solidFill>
                <a:latin typeface="Courier"/>
              </a:rPr>
              <a:t> loading_data_df,</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5E5E5E"/>
                </a:solidFill>
                <a:latin typeface="Courier"/>
              </a:rPr>
              <a:t>*</a:t>
            </a:r>
            <a:r>
              <a:rPr>
                <a:solidFill>
                  <a:srgbClr val="003B4F"/>
                </a:solidFill>
                <a:latin typeface="Courier"/>
              </a:rPr>
              <a:t> arrow_scale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PC2 </a:t>
            </a:r>
            <a:r>
              <a:rPr>
                <a:solidFill>
                  <a:srgbClr val="5E5E5E"/>
                </a:solidFill>
                <a:latin typeface="Courier"/>
              </a:rPr>
              <a:t>*</a:t>
            </a:r>
            <a:r>
              <a:rPr>
                <a:solidFill>
                  <a:srgbClr val="003B4F"/>
                </a:solidFill>
                <a:latin typeface="Courier"/>
              </a:rPr>
              <a:t> arrow_scale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a:t>
            </a:r>
            <a:br/>
            <a:r>
              <a:rPr>
                <a:solidFill>
                  <a:srgbClr val="003B4F"/>
                </a:solidFill>
                <a:latin typeface="Courier"/>
              </a:rPr>
              <a:t>                </a:t>
            </a:r>
            <a:r>
              <a:rPr>
                <a:solidFill>
                  <a:srgbClr val="657422"/>
                </a:solidFill>
                <a:latin typeface="Courier"/>
              </a:rPr>
              <a:t>label =</a:t>
            </a:r>
            <a:r>
              <a:rPr>
                <a:solidFill>
                  <a:srgbClr val="003B4F"/>
                </a:solidFill>
                <a:latin typeface="Courier"/>
              </a:rPr>
              <a:t> Variable),</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species), </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Biplot - Iris Dataset"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"Points = Individual flowers, Arrows = Original variables"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br/>
            <a:br/>
            <a:r>
              <a:rPr>
                <a:solidFill>
                  <a:srgbClr val="003B4F"/>
                </a:solidFill>
                <a:latin typeface="Courier"/>
              </a:rPr>
              <a:t>biplot_plot</a:t>
            </a:r>
          </a:p>
          <a:p>
            <a:pPr lvl="0" indent="0" marL="0">
              <a:buNone/>
            </a:pPr>
            <a:r>
              <a:rPr/>
              <a:t>✏️ </a:t>
            </a:r>
            <a:r>
              <a:rPr b="1"/>
              <a:t>Your turn:</a:t>
            </a:r>
            <a:r>
              <a:rPr/>
              <a:t> In the biplot, which species has the largest (most positive) PC1 scores? Which arrow(s) point in roughly the same direction as that species’ cluster? </a:t>
            </a:r>
            <a:r>
              <a:rPr>
                <a:latin typeface="Courier"/>
              </a:rPr>
              <a:t>________________________</a:t>
            </a:r>
          </a:p>
          <a:p>
            <a:pPr lvl="0" indent="0" marL="1270000">
              <a:buNone/>
            </a:pPr>
            <a:r>
              <a:rPr sz="2000" b="1"/>
              <a:t>Tip</a:t>
            </a:r>
          </a:p>
          <a:p>
            <a:pPr lvl="0" indent="0" marL="1270000">
              <a:buNone/>
            </a:pPr>
            <a:r>
              <a:rPr sz="2000" b="1"/>
              <a:t>🚀 If you finish early:</a:t>
            </a:r>
            <a:r>
              <a:rPr sz="2000"/>
              <a:t> </a:t>
            </a:r>
            <a:r>
              <a:rPr sz="2000">
                <a:latin typeface="Courier"/>
              </a:rPr>
              <a:t>arrow_scale &lt;- 3</a:t>
            </a:r>
            <a:r>
              <a:rPr sz="2000"/>
              <a:t> was chosen somewhat arbitrarily to make the arrows visible against the points. Try changing it to </a:t>
            </a:r>
            <a:r>
              <a:rPr sz="2000">
                <a:latin typeface="Courier"/>
              </a:rPr>
              <a:t>1</a:t>
            </a:r>
            <a:r>
              <a:rPr sz="2000"/>
              <a:t> and to </a:t>
            </a:r>
            <a:r>
              <a:rPr sz="2000">
                <a:latin typeface="Courier"/>
              </a:rPr>
              <a:t>6</a:t>
            </a:r>
            <a:r>
              <a:rPr sz="2000"/>
              <a:t> and re-running the biplot. What changes, and what stays the same?</a:t>
            </a:r>
          </a:p>
          <a:p>
            <a:pPr lvl="0" indent="0">
              <a:buNone/>
            </a:pPr>
            <a:r>
              <a:rPr>
                <a:solidFill>
                  <a:srgbClr val="5E5E5E"/>
                </a:solidFill>
                <a:latin typeface="Courier"/>
              </a:rPr>
              <a:t># Write your code here: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Interpret Results</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pc1_loadings &lt;-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pc1_loadings</a:t>
            </a:r>
            <a:br/>
            <a:br/>
            <a:r>
              <a:rPr>
                <a:solidFill>
                  <a:srgbClr val="003B4F"/>
                </a:solidFill>
                <a:latin typeface="Courier"/>
              </a:rPr>
              <a:t>pc2_loadings &lt;-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pc2_loadings</a:t>
            </a:r>
            <a:br/>
            <a:br/>
            <a:r>
              <a:rPr>
                <a:solidFill>
                  <a:srgbClr val="003B4F"/>
                </a:solidFill>
                <a:latin typeface="Courier"/>
              </a:rPr>
              <a:t>total_variance_2pc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total_variance_2pc</a:t>
            </a:r>
          </a:p>
          <a:p>
            <a:pPr lvl="0" indent="0" marL="0">
              <a:buNone/>
            </a:pPr>
            <a:r>
              <a:rPr/>
              <a:t>✏️ </a:t>
            </a:r>
            <a:r>
              <a:rPr b="1"/>
              <a:t>Your turn:</a:t>
            </a:r>
            <a:r>
              <a:rPr/>
              <a:t> Write a one-sentence biological interpretation of PC1 and of PC2, based on the loadings you just examined.</a:t>
            </a:r>
          </a:p>
          <a:p>
            <a:pPr lvl="0" indent="0">
              <a:buNone/>
            </a:pPr>
            <a:r>
              <a:rPr>
                <a:latin typeface="Courier"/>
              </a:rPr>
              <a:t>PC1 = ________________________________________________
PC2 = ________________________________________________</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checklist for PCA</a:t>
            </a:r>
          </a:p>
        </p:txBody>
      </p:sp>
      <p:sp>
        <p:nvSpPr>
          <p:cNvPr id="3" name="Content Placeholder 2"/>
          <p:cNvSpPr>
            <a:spLocks noGrp="1"/>
          </p:cNvSpPr>
          <p:nvPr>
            <p:ph idx="1"/>
          </p:nvPr>
        </p:nvSpPr>
        <p:spPr/>
        <p:txBody>
          <a:bodyPr/>
          <a:lstStyle/>
          <a:p>
            <a:pPr lvl="0" indent="0" marL="0">
              <a:buNone/>
            </a:pPr>
            <a:r>
              <a:rPr/>
              <a:t>When conducting PCA, always follow these steps:</a:t>
            </a:r>
          </a:p>
          <a:p>
            <a:pPr lvl="0" indent="0" marL="1270000">
              <a:buNone/>
            </a:pPr>
            <a:r>
              <a:rPr sz="2000" b="1"/>
              <a:t>Tip</a:t>
            </a:r>
          </a:p>
          <a:p>
            <a:pPr lvl="0" indent="0" marL="1270000">
              <a:buNone/>
            </a:pPr>
            <a:r>
              <a:rPr sz="2000" b="1"/>
              <a:t>PCA checklist</a:t>
            </a:r>
          </a:p>
          <a:p>
            <a:pPr lvl="0" indent="-342900" marL="342900">
              <a:buAutoNum type="arabicPeriod"/>
            </a:pPr>
            <a:r>
              <a:rPr sz="2000" b="1"/>
              <a:t>Explore your data</a:t>
            </a:r>
            <a:r>
              <a:rPr sz="2000"/>
              <a:t> - check distributions and relationships.</a:t>
            </a:r>
          </a:p>
          <a:p>
            <a:pPr lvl="0" indent="-342900" marL="342900">
              <a:buAutoNum type="arabicPeriod"/>
            </a:pPr>
            <a:r>
              <a:rPr sz="2000" b="1"/>
              <a:t>Check correlations</a:t>
            </a:r>
            <a:r>
              <a:rPr sz="2000"/>
              <a:t> - PCA works best with correlated variables.</a:t>
            </a:r>
          </a:p>
          <a:p>
            <a:pPr lvl="0" indent="-342900" marL="342900">
              <a:buAutoNum type="arabicPeriod"/>
            </a:pPr>
            <a:r>
              <a:rPr sz="2000" b="1"/>
              <a:t>Check for outliers</a:t>
            </a:r>
            <a:r>
              <a:rPr sz="2000"/>
              <a:t> - they can distort results.</a:t>
            </a:r>
          </a:p>
          <a:p>
            <a:pPr lvl="0" indent="-342900" marL="342900">
              <a:buAutoNum type="arabicPeriod"/>
            </a:pPr>
            <a:r>
              <a:rPr sz="2000" b="1"/>
              <a:t>Standardize if needed</a:t>
            </a:r>
            <a:r>
              <a:rPr sz="2000"/>
              <a:t> - essential when variables have different scales.</a:t>
            </a:r>
          </a:p>
          <a:p>
            <a:pPr lvl="0" indent="-342900" marL="342900">
              <a:buAutoNum type="arabicPeriod"/>
            </a:pPr>
            <a:r>
              <a:rPr sz="2000" b="1"/>
              <a:t>Run PCA</a:t>
            </a:r>
            <a:r>
              <a:rPr sz="2000"/>
              <a:t> - extract components.</a:t>
            </a:r>
          </a:p>
          <a:p>
            <a:pPr lvl="0" indent="-342900" marL="342900">
              <a:buAutoNum type="arabicPeriod"/>
            </a:pPr>
            <a:r>
              <a:rPr sz="2000" b="1"/>
              <a:t>Determine number of components</a:t>
            </a:r>
            <a:r>
              <a:rPr sz="2000"/>
              <a:t> - use scree plot and variance explained.</a:t>
            </a:r>
          </a:p>
          <a:p>
            <a:pPr lvl="0" indent="-342900" marL="342900">
              <a:buAutoNum type="arabicPeriod"/>
            </a:pPr>
            <a:r>
              <a:rPr sz="2000" b="1"/>
              <a:t>Interpret loadings</a:t>
            </a:r>
            <a:r>
              <a:rPr sz="2000"/>
              <a:t> - understand what each component represents.</a:t>
            </a:r>
          </a:p>
          <a:p>
            <a:pPr lvl="0" indent="-342900" marL="342900">
              <a:buAutoNum type="arabicPeriod"/>
            </a:pPr>
            <a:r>
              <a:rPr sz="2000" b="1"/>
              <a:t>Visualize results</a:t>
            </a:r>
            <a:r>
              <a:rPr sz="2000"/>
              <a:t> - create scores plots and biplots.</a:t>
            </a:r>
          </a:p>
          <a:p>
            <a:pPr lvl="0" indent="-342900" marL="342900">
              <a:buAutoNum type="arabicPeriod"/>
            </a:pPr>
            <a:r>
              <a:rPr sz="2000" b="1"/>
              <a:t>Validate interpretation</a:t>
            </a:r>
            <a:r>
              <a:rPr sz="2000"/>
              <a:t> - ensure it makes biological sense.</a:t>
            </a:r>
          </a:p>
          <a:p>
            <a:pPr lvl="0" indent="0" marL="0">
              <a:buNone/>
            </a:pPr>
            <a:r>
              <a:rPr b="1"/>
              <a:t>Key points to remember:</a:t>
            </a:r>
          </a:p>
          <a:p>
            <a:pPr lvl="0"/>
            <a:r>
              <a:rPr b="1"/>
              <a:t>PCA finds new variables</a:t>
            </a:r>
            <a:r>
              <a:rPr/>
              <a:t> (components) that are linear combinations of original variables.</a:t>
            </a:r>
          </a:p>
          <a:p>
            <a:pPr lvl="0"/>
            <a:r>
              <a:rPr b="1"/>
              <a:t>Components are uncorrelated</a:t>
            </a:r>
            <a:r>
              <a:rPr/>
              <a:t> and ordered by variance explained.</a:t>
            </a:r>
          </a:p>
          <a:p>
            <a:pPr lvl="0"/>
            <a:r>
              <a:rPr b="1"/>
              <a:t>Standardization is crucial</a:t>
            </a:r>
            <a:r>
              <a:rPr/>
              <a:t> when variables have different units/scales.</a:t>
            </a:r>
          </a:p>
          <a:p>
            <a:pPr lvl="0"/>
            <a:r>
              <a:rPr b="1"/>
              <a:t>First few components</a:t>
            </a:r>
            <a:r>
              <a:rPr/>
              <a:t> usually capture most variation.</a:t>
            </a:r>
          </a:p>
          <a:p>
            <a:pPr lvl="0"/>
            <a:r>
              <a:rPr b="1"/>
              <a:t>Loadings show</a:t>
            </a:r>
            <a:r>
              <a:rPr/>
              <a:t> how original variables contribute to components.</a:t>
            </a:r>
          </a:p>
          <a:p>
            <a:pPr lvl="0"/>
            <a:r>
              <a:rPr b="1"/>
              <a:t>Scores show</a:t>
            </a:r>
            <a:r>
              <a:rPr/>
              <a:t> where observations fall in the new component space.</a:t>
            </a:r>
          </a:p>
          <a:p>
            <a:pPr lvl="0" indent="0" marL="1270000">
              <a:buNone/>
            </a:pPr>
            <a:r>
              <a:rPr sz="2000" b="1"/>
              <a:t>Important</a:t>
            </a:r>
          </a:p>
          <a:p>
            <a:pPr lvl="0" indent="0" marL="1270000">
              <a:buNone/>
            </a:pPr>
            <a:r>
              <a:rPr sz="2000" b="1"/>
              <a:t>Key points from PCA analysis</a:t>
            </a:r>
          </a:p>
          <a:p>
            <a:pPr lvl="0" indent="-342900" marL="342900">
              <a:buAutoNum type="arabicPeriod"/>
            </a:pPr>
            <a:r>
              <a:rPr sz="2000" b="1"/>
              <a:t>Check assumptions first</a:t>
            </a:r>
            <a:r>
              <a:rPr sz="2000"/>
              <a:t> - especially correlations and outliers.</a:t>
            </a:r>
          </a:p>
          <a:p>
            <a:pPr lvl="0" indent="-342900" marL="342900">
              <a:buAutoNum type="arabicPeriod"/>
            </a:pPr>
            <a:r>
              <a:rPr sz="2000" b="1"/>
              <a:t>Standardize when necessary</a:t>
            </a:r>
            <a:r>
              <a:rPr sz="2000"/>
              <a:t> - prevents scale effects from dominating.</a:t>
            </a:r>
          </a:p>
          <a:p>
            <a:pPr lvl="0" indent="-342900" marL="342900">
              <a:buAutoNum type="arabicPeriod"/>
            </a:pPr>
            <a:r>
              <a:rPr sz="2000" b="1"/>
              <a:t>Use multiple criteria</a:t>
            </a:r>
            <a:r>
              <a:rPr sz="2000"/>
              <a:t> to decide number of components (scree plot, eigenvalue &gt; 1, variance explained).</a:t>
            </a:r>
          </a:p>
          <a:p>
            <a:pPr lvl="0" indent="-342900" marL="342900">
              <a:buAutoNum type="arabicPeriod"/>
            </a:pPr>
            <a:r>
              <a:rPr sz="2000" b="1"/>
              <a:t>Interpret components</a:t>
            </a:r>
            <a:r>
              <a:rPr sz="2000"/>
              <a:t> based on loadings - what do they represent biologically?</a:t>
            </a:r>
          </a:p>
          <a:p>
            <a:pPr lvl="0" indent="-342900" marL="342900">
              <a:buAutoNum type="arabicPeriod"/>
            </a:pPr>
            <a:r>
              <a:rPr sz="2000" b="1"/>
              <a:t>Visualize in 2D</a:t>
            </a:r>
            <a:r>
              <a:rPr sz="2000"/>
              <a:t> using first two components if they explain sufficient variance.</a:t>
            </a:r>
          </a:p>
          <a:p>
            <a:pPr lvl="0" indent="-342900" marL="342900">
              <a:buAutoNum type="arabicPeriod"/>
            </a:pPr>
            <a:r>
              <a:rPr sz="2000" b="1"/>
              <a:t>PCA is exploratory</a:t>
            </a:r>
            <a:r>
              <a:rPr sz="2000"/>
              <a:t> - use it to understand patterns, not for hypothesis testing.</a:t>
            </a:r>
          </a:p>
          <a:p>
            <a:pPr lvl="0" indent="-342900" marL="342900">
              <a:buAutoNum type="arabicPeriod"/>
            </a:pPr>
            <a:r>
              <a:rPr sz="2000" b="1"/>
              <a:t>Document your choices</a:t>
            </a:r>
            <a:r>
              <a:rPr sz="2000"/>
              <a:t> - why you kept certain components, how you interpreted them.</a:t>
            </a:r>
          </a:p>
          <a:p>
            <a:pPr lvl="0" indent="0" marL="1270000">
              <a:buNone/>
            </a:pPr>
            <a:r>
              <a:rPr sz="2000"/>
              <a:t>Remember: PCA is a dimension reduction technique - the goal is to simplify complex data while retaining the important patterns!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Check PCA assumptions (correlations, outliers, sample size)</a:t>
            </a:r>
          </a:p>
          <a:p>
            <a:pPr lvl="0"/>
            <a:r>
              <a:rPr/>
              <a:t>☐ Standardize variables before running PCA</a:t>
            </a:r>
          </a:p>
          <a:p>
            <a:pPr lvl="0"/>
            <a:r>
              <a:rPr/>
              <a:t>☐ Run </a:t>
            </a:r>
            <a:r>
              <a:rPr>
                <a:latin typeface="Courier"/>
              </a:rPr>
              <a:t>prcomp()</a:t>
            </a:r>
            <a:r>
              <a:rPr/>
              <a:t> and interpret its summary output</a:t>
            </a:r>
          </a:p>
          <a:p>
            <a:pPr lvl="0"/>
            <a:r>
              <a:rPr/>
              <a:t>☐ Read a scree plot and apply decision rules for component retention</a:t>
            </a:r>
          </a:p>
          <a:p>
            <a:pPr lvl="0"/>
            <a:r>
              <a:rPr/>
              <a:t>☐ Interpret loadings to give principal components biological meaning</a:t>
            </a:r>
          </a:p>
          <a:p>
            <a:pPr lvl="0"/>
            <a:r>
              <a:rPr/>
              <a:t>☐ Build a scores plot, a loading plot, and a combined biplot</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09_pca.R</a:t>
            </a:r>
            <a:r>
              <a:rPr sz="2000"/>
              <a:t>)</a:t>
            </a:r>
          </a:p>
          <a:p>
            <a:pPr lvl="0" indent="-342900" marL="342900">
              <a:buAutoNum type="arabicPeriod"/>
            </a:pPr>
            <a:r>
              <a:rPr sz="2000"/>
              <a:t>This worksheet, with your written answers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all the </a:t>
            </a:r>
            <a:r>
              <a:rPr>
                <a:latin typeface="Courier"/>
              </a:rPr>
              <a:t>library()</a:t>
            </a:r>
            <a:r>
              <a:rPr/>
              <a:t> calls at the top?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Principal Component Analysis</dc:title>
  <dc:creator>Bill Perry</dc:creator>
  <cp:keywords/>
  <dc:description>Hands-on activity: principal component analysis on the classic iris flower dataset — assumptions, standardization, loadings, scree plots, scores, and a manually-built biplot.</dc:description>
  <dcterms:created xsi:type="dcterms:W3CDTF">2026-08-21T18:42:28Z</dcterms:created>
  <dcterms:modified xsi:type="dcterms:W3CDTF">2026-08-21T18:42:28Z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18</vt:lpwstr>
  </property>
  <property fmtid="{D5CDD505-2E9C-101B-9397-08002B2CF9AE}" pid="10" name="resources">
    <vt:lpwstr/>
  </property>
  <property fmtid="{D5CDD505-2E9C-101B-9397-08002B2CF9AE}" pid="11" name="subtitle">
    <vt:lpwstr>Ordination</vt:lpwstr>
  </property>
  <property fmtid="{D5CDD505-2E9C-101B-9397-08002B2CF9AE}" pid="12" name="toc-title">
    <vt:lpwstr>Table of contents</vt:lpwstr>
  </property>
  <property fmtid="{D5CDD505-2E9C-101B-9397-08002B2CF9AE}" pid="13" name="week">
    <vt:lpwstr>9</vt:lpwstr>
  </property>
</Properties>
</file>