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Principal Component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Ordination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17: Principal Component Analysis (PCA)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PCA?</a:t>
            </a:r>
          </a:p>
          <a:p>
            <a:pPr lvl="0" indent="0" marL="0">
              <a:buNone/>
            </a:pPr>
            <a:r>
              <a:rPr/>
              <a:t>PCA (Principal Component Analysis) is a technique to: - Reduce the number of variables in your dataset - Find patterns in high-dimensional data - Create new uncorrelated variables (principal components) from correlated original variables - Visualize complex relationships in multivariate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to Use PCA</a:t>
            </a:r>
          </a:p>
          <a:p>
            <a:pPr lvl="0" indent="0" marL="0">
              <a:buNone/>
            </a:pPr>
            <a:r>
              <a:rPr/>
              <a:t>Use PCA when you have: - </a:t>
            </a:r>
            <a:r>
              <a:rPr b="1"/>
              <a:t>Multiple continuous variables</a:t>
            </a:r>
            <a:r>
              <a:rPr/>
              <a:t> that may be correlated - </a:t>
            </a:r>
            <a:r>
              <a:rPr b="1"/>
              <a:t>Too many variables</a:t>
            </a:r>
            <a:r>
              <a:rPr/>
              <a:t> to analyze or visualize easily - </a:t>
            </a:r>
            <a:r>
              <a:rPr b="1"/>
              <a:t>Need to reduce dimensionality</a:t>
            </a:r>
            <a:r>
              <a:rPr/>
              <a:t> while retaining most information - </a:t>
            </a:r>
            <a:r>
              <a:rPr b="1"/>
              <a:t>Want to explore patterns</a:t>
            </a:r>
            <a:r>
              <a:rPr/>
              <a:t> in multivariate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Assumptions of PCA</a:t>
            </a:r>
          </a:p>
          <a:p>
            <a:pPr lvl="0" indent="-342900" marL="342900">
              <a:buAutoNum type="arabicPeriod"/>
            </a:pPr>
            <a:r>
              <a:rPr b="1"/>
              <a:t>Linear relationships</a:t>
            </a:r>
            <a:r>
              <a:rPr/>
              <a:t> between variables</a:t>
            </a:r>
          </a:p>
          <a:p>
            <a:pPr lvl="0" indent="-342900" marL="342900">
              <a:buAutoNum type="arabicPeriod"/>
            </a:pPr>
            <a:r>
              <a:rPr b="1"/>
              <a:t>No extreme outliers</a:t>
            </a:r>
            <a:r>
              <a:rPr/>
              <a:t> (can distort results)</a:t>
            </a:r>
          </a:p>
          <a:p>
            <a:pPr lvl="0" indent="-342900" marL="342900">
              <a:buAutoNum type="arabicPeriod"/>
            </a:pPr>
            <a:r>
              <a:rPr b="1"/>
              <a:t>Variables should be correlated</a:t>
            </a:r>
            <a:r>
              <a:rPr/>
              <a:t> (if not, PCA won’t reduce dimensions effectively)</a:t>
            </a:r>
          </a:p>
          <a:p>
            <a:pPr lvl="0" indent="-342900" marL="342900">
              <a:buAutoNum type="arabicPeriod"/>
            </a:pPr>
            <a:r>
              <a:rPr b="1"/>
              <a:t>Adequate sample size</a:t>
            </a:r>
            <a:r>
              <a:rPr/>
              <a:t> (generally n &gt; 50)</a:t>
            </a:r>
          </a:p>
          <a:p>
            <a:pPr lvl="0" indent="-342900" marL="342900">
              <a:buAutoNum type="arabicPeriod"/>
            </a:pPr>
            <a:r>
              <a:rPr b="1"/>
              <a:t>Consider standardization</a:t>
            </a:r>
            <a:r>
              <a:rPr/>
              <a:t> when variables have different scales</a:t>
            </a:r>
          </a:p>
          <a:p>
            <a:pPr lvl="0" indent="0" marL="1270000">
              <a:buNone/>
            </a:pPr>
            <a:r>
              <a:rPr sz="2000" b="1"/>
              <a:t>Critical First Step</a:t>
            </a:r>
          </a:p>
          <a:p>
            <a:pPr lvl="0" indent="0" marL="1270000">
              <a:buNone/>
            </a:pPr>
            <a:r>
              <a:rPr sz="2000"/>
              <a:t>Always </a:t>
            </a:r>
            <a:r>
              <a:rPr sz="2000" b="1"/>
              <a:t>standardize your data</a:t>
            </a:r>
            <a:r>
              <a:rPr sz="2000"/>
              <a:t> when variables are measured on different scales. This prevents variables with larger values from dominating the analysis.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1: Iris Data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Overview</a:t>
            </a:r>
          </a:p>
          <a:p>
            <a:pPr lvl="0" indent="0" marL="0">
              <a:buNone/>
            </a:pPr>
            <a:r>
              <a:rPr/>
              <a:t>We’ll analyze the famous iris dataset with measurements from three species: - </a:t>
            </a:r>
            <a:r>
              <a:rPr i="1"/>
              <a:t>Iris setosa</a:t>
            </a:r>
            <a:r>
              <a:rPr/>
              <a:t> - </a:t>
            </a:r>
            <a:r>
              <a:rPr i="1"/>
              <a:t>Iris versicolor</a:t>
            </a:r>
            <a:r>
              <a:rPr/>
              <a:t> - </a:t>
            </a:r>
            <a:r>
              <a:rPr i="1"/>
              <a:t>Iris virginica</a:t>
            </a:r>
          </a:p>
          <a:p>
            <a:pPr lvl="0" indent="0" marL="0">
              <a:buNone/>
            </a:pPr>
            <a:r>
              <a:rPr/>
              <a:t>Each flower has 4 measurements: sepal length, sepal width, petal length, and petal width.</a:t>
            </a:r>
          </a:p>
          <a:p>
            <a:pPr lvl="0" indent="0">
              <a:buNone/>
            </a:pPr>
            <a:r>
              <a:rPr>
                <a:latin typeface="Courier"/>
              </a:rPr>
              <a:t>  sepal_length sepal_width petal_length petal_width species ind species_ind
1          5.1         3.5          1.4         0.2  setosa   1    setosa_1
2          4.9         3.0          1.4         0.2  setosa   2    setosa_2
3          4.7         3.2          1.3         0.2  setosa   3    setosa_3
4          4.6         3.1          1.5         0.2  setosa   4    setosa_4
5          5.0         3.6          1.4         0.2  setosa   5    setosa_5
6          5.4         3.9          1.7         0.4  setosa   6    setosa_6</a:t>
            </a:r>
          </a:p>
        </p:txBody>
      </p:sp>
      <p:pic>
        <p:nvPicPr>
          <p:cNvPr descr="pca_activity_files/figure-pptx/explore_data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1: Check PCA Assumptions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Check Correlations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sepal_length sepal_width petal_length petal_width
sepal_length    1.0000000  -0.1175698    0.8717538   0.8179411
sepal_width    -0.1175698   1.0000000   -0.4284401  -0.3661259
petal_length    0.8717538  -0.4284401    1.0000000   0.9628654
petal_width     0.8179411  -0.3661259    0.9628654   1.0000000</a:t>
            </a:r>
          </a:p>
        </p:txBody>
      </p:sp>
      <p:pic>
        <p:nvPicPr>
          <p:cNvPr descr="pca_activity_files/figure-pptx/coorplot_visual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Check for Outliers</a:t>
            </a:r>
          </a:p>
        </p:txBody>
      </p:sp>
      <p:pic>
        <p:nvPicPr>
          <p:cNvPr descr="pca_activity_files/figure-pptx/check_outlier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2: Standardize the Data</a:t>
            </a:r>
          </a:p>
          <a:p>
            <a:pPr lvl="0" indent="0" marL="0">
              <a:buNone/>
            </a:pPr>
            <a:r>
              <a:rPr/>
              <a:t>Since our variables have different scales (e.g., petal width ranges 0.1-2.5 while sepal length ranges 4-8), we need to standardize.</a:t>
            </a:r>
          </a:p>
          <a:p>
            <a:pPr lvl="0" indent="0">
              <a:buNone/>
            </a:pPr>
            <a:r>
              <a:rPr>
                <a:latin typeface="Courier"/>
              </a:rPr>
              <a:t> sepal_length   sepal_width  petal_length   petal_width 
-1.457168e-15 -1.638319e-15 -1.292300e-15 -5.543714e-16 </a:t>
            </a:r>
          </a:p>
          <a:p>
            <a:pPr lvl="0" indent="0">
              <a:buNone/>
            </a:pPr>
            <a:r>
              <a:rPr>
                <a:latin typeface="Courier"/>
              </a:rPr>
              <a:t>sepal_length  sepal_width petal_length  petal_width 
           1            1            1            1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3: Perform PCA</a:t>
            </a:r>
          </a:p>
          <a:p>
            <a:pPr lvl="0" indent="0">
              <a:buNone/>
            </a:pPr>
            <a:r>
              <a:rPr>
                <a:latin typeface="Courier"/>
              </a:rPr>
              <a:t>Importance of components:
                          PC1    PC2     PC3     PC4
Standard deviation     1.7084 0.9560 0.38309 0.14393
Proportion of Variance 0.7296 0.2285 0.03669 0.00518
Cumulative Proportion  0.7296 0.9581 0.99482 1.00000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4: Extract and Understand Results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Eigenvalues and Variance Explained</a:t>
            </a:r>
          </a:p>
          <a:p>
            <a:pPr lvl="0" indent="0">
              <a:buNone/>
            </a:pPr>
            <a:r>
              <a:rPr>
                <a:latin typeface="Courier"/>
              </a:rPr>
              <a:t>  Component Eigenvalue Prop_Variance Cumsum_Variance
1       PC1 2.91849782   0.729624454       0.7296245
2       PC2 0.91403047   0.228507618       0.9581321
3       PC3 0.14675688   0.036689219       0.9948213
4       PC4 0.02071484   0.005178709       1.0000000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Component Loadings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Variable        PC1         PC2        PC3        PC4
sepal_length sepal_length  0.5210659 -0.37741762  0.7195664  0.2612863
sepal_width   sepal_width -0.2693474 -0.92329566 -0.2443818 -0.1235096
petal_length petal_length  0.5804131 -0.02449161 -0.1421264 -0.8014492
petal_width   petal_width  0.5648565 -0.06694199 -0.6342727  0.5235971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5: Determine Number of Components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Scree Plot</a:t>
            </a:r>
          </a:p>
        </p:txBody>
      </p:sp>
      <p:pic>
        <p:nvPicPr>
          <p:cNvPr descr="pca_activity_files/figure-pptx/scree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Apply Decision Rules</a:t>
            </a:r>
          </a:p>
          <a:p>
            <a:pPr lvl="0" indent="0">
              <a:buNone/>
            </a:pPr>
            <a:r>
              <a:rPr>
                <a:latin typeface="Courier"/>
              </a:rPr>
              <a:t>[1] 1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6: Create PCA Scores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PC1        PC2         PC3          PC4 species
1 -2.257141 -0.4784238  0.12727962  0.024087508  setosa
2 -2.074013  0.6718827  0.23382552  0.102662845  setosa
3 -2.356335  0.3407664 -0.04405390  0.028282305  setosa
4 -2.291707  0.5953999 -0.09098530 -0.065735340  setosa
5 -2.381863 -0.6446757 -0.01568565 -0.035802870  setosa
6 -2.068701 -1.4842053 -0.02687825  0.006586116  setosa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7: Visualize Results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PCA Scores Plot</a:t>
            </a:r>
          </a:p>
        </p:txBody>
      </p:sp>
      <p:pic>
        <p:nvPicPr>
          <p:cNvPr descr="pca_activity_files/figure-pptx/pca_scores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Loading Plot</a:t>
            </a:r>
          </a:p>
        </p:txBody>
      </p:sp>
      <p:pic>
        <p:nvPicPr>
          <p:cNvPr descr="pca_activity_files/figure-pptx/loading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Combined Biplot</a:t>
            </a:r>
          </a:p>
        </p:txBody>
      </p:sp>
      <p:pic>
        <p:nvPicPr>
          <p:cNvPr descr="pca_activity_files/figure-pptx/bi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8: Interpret Results</a:t>
            </a:r>
          </a:p>
          <a:p>
            <a:pPr lvl="0" indent="0">
              <a:buNone/>
            </a:pPr>
            <a:r>
              <a:rPr>
                <a:latin typeface="Courier"/>
              </a:rPr>
              <a:t>sepal_length  sepal_width petal_length  petal_width 
   0.5210659   -0.2693474    0.5804131    0.5648565 </a:t>
            </a:r>
          </a:p>
          <a:p>
            <a:pPr lvl="0" indent="0">
              <a:buNone/>
            </a:pPr>
            <a:r>
              <a:rPr>
                <a:latin typeface="Courier"/>
              </a:rPr>
              <a:t>sepal_length  sepal_width petal_length  petal_width 
 -0.37741762  -0.92329566  -0.02449161  -0.06694199 </a:t>
            </a:r>
          </a:p>
          <a:p>
            <a:pPr lvl="0" indent="0">
              <a:buNone/>
            </a:pPr>
            <a:r>
              <a:rPr>
                <a:latin typeface="Courier"/>
              </a:rPr>
              <a:t>[1] 0.9581321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Checklist for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conducting PCA, always follow these steps:</a:t>
            </a:r>
          </a:p>
          <a:p>
            <a:pPr lvl="0" indent="0" marL="1270000">
              <a:buNone/>
            </a:pPr>
            <a:r>
              <a:rPr sz="2000" b="1"/>
              <a:t>PCA Checklist</a:t>
            </a:r>
          </a:p>
          <a:p>
            <a:pPr lvl="0" indent="-342900" marL="342900">
              <a:buAutoNum type="arabicPeriod"/>
            </a:pPr>
            <a:r>
              <a:rPr sz="2000" b="1"/>
              <a:t>Explore your data</a:t>
            </a:r>
            <a:r>
              <a:rPr sz="2000"/>
              <a:t> - check distributions and relationships</a:t>
            </a:r>
          </a:p>
          <a:p>
            <a:pPr lvl="0" indent="-342900" marL="342900">
              <a:buAutoNum type="arabicPeriod"/>
            </a:pPr>
            <a:r>
              <a:rPr sz="2000" b="1"/>
              <a:t>Check correlations</a:t>
            </a:r>
            <a:r>
              <a:rPr sz="2000"/>
              <a:t> - PCA works best with correlated variables</a:t>
            </a:r>
          </a:p>
          <a:p>
            <a:pPr lvl="0" indent="-342900" marL="342900">
              <a:buAutoNum type="arabicPeriod"/>
            </a:pPr>
            <a:r>
              <a:rPr sz="2000" b="1"/>
              <a:t>Check for outliers</a:t>
            </a:r>
            <a:r>
              <a:rPr sz="2000"/>
              <a:t> - they can distort results</a:t>
            </a:r>
          </a:p>
          <a:p>
            <a:pPr lvl="0" indent="-342900" marL="342900">
              <a:buAutoNum type="arabicPeriod"/>
            </a:pPr>
            <a:r>
              <a:rPr sz="2000" b="1"/>
              <a:t>Standardize if needed</a:t>
            </a:r>
            <a:r>
              <a:rPr sz="2000"/>
              <a:t> - essential when variables have different scales</a:t>
            </a:r>
          </a:p>
          <a:p>
            <a:pPr lvl="0" indent="-342900" marL="342900">
              <a:buAutoNum type="arabicPeriod"/>
            </a:pPr>
            <a:r>
              <a:rPr sz="2000" b="1"/>
              <a:t>Run PCA</a:t>
            </a:r>
            <a:r>
              <a:rPr sz="2000"/>
              <a:t> - extract components</a:t>
            </a:r>
          </a:p>
          <a:p>
            <a:pPr lvl="0" indent="-342900" marL="342900">
              <a:buAutoNum type="arabicPeriod"/>
            </a:pPr>
            <a:r>
              <a:rPr sz="2000" b="1"/>
              <a:t>Determine number of components</a:t>
            </a:r>
            <a:r>
              <a:rPr sz="2000"/>
              <a:t> - use scree plot and variance explained</a:t>
            </a:r>
          </a:p>
          <a:p>
            <a:pPr lvl="0" indent="-342900" marL="342900">
              <a:buAutoNum type="arabicPeriod"/>
            </a:pPr>
            <a:r>
              <a:rPr sz="2000" b="1"/>
              <a:t>Interpret loadings</a:t>
            </a:r>
            <a:r>
              <a:rPr sz="2000"/>
              <a:t> - understand what each component represents</a:t>
            </a:r>
          </a:p>
          <a:p>
            <a:pPr lvl="0" indent="-342900" marL="342900">
              <a:buAutoNum type="arabicPeriod"/>
            </a:pPr>
            <a:r>
              <a:rPr sz="2000" b="1"/>
              <a:t>Visualize results</a:t>
            </a:r>
            <a:r>
              <a:rPr sz="2000"/>
              <a:t> - create scores plots and biplots</a:t>
            </a:r>
          </a:p>
          <a:p>
            <a:pPr lvl="0" indent="-342900" marL="342900">
              <a:buAutoNum type="arabicPeriod"/>
            </a:pPr>
            <a:r>
              <a:rPr sz="2000" b="1"/>
              <a:t>Validate interpretation</a:t>
            </a:r>
            <a:r>
              <a:rPr sz="2000"/>
              <a:t> - ensure it makes biological sense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Points to Remember</a:t>
            </a:r>
          </a:p>
          <a:p>
            <a:pPr lvl="0"/>
            <a:r>
              <a:rPr b="1"/>
              <a:t>PCA finds new variables</a:t>
            </a:r>
            <a:r>
              <a:rPr/>
              <a:t> (components) that are linear combinations of original variables</a:t>
            </a:r>
          </a:p>
          <a:p>
            <a:pPr lvl="0"/>
            <a:r>
              <a:rPr b="1"/>
              <a:t>Components are uncorrelated</a:t>
            </a:r>
            <a:r>
              <a:rPr/>
              <a:t> and ordered by variance explained</a:t>
            </a:r>
          </a:p>
          <a:p>
            <a:pPr lvl="0"/>
            <a:r>
              <a:rPr b="1"/>
              <a:t>Standardization is crucial</a:t>
            </a:r>
            <a:r>
              <a:rPr/>
              <a:t> when variables have different units/scales</a:t>
            </a:r>
          </a:p>
          <a:p>
            <a:pPr lvl="0"/>
            <a:r>
              <a:rPr b="1"/>
              <a:t>First few components</a:t>
            </a:r>
            <a:r>
              <a:rPr/>
              <a:t> usually capture most variation</a:t>
            </a:r>
          </a:p>
          <a:p>
            <a:pPr lvl="0"/>
            <a:r>
              <a:rPr b="1"/>
              <a:t>Loadings show</a:t>
            </a:r>
            <a:r>
              <a:rPr/>
              <a:t> how original variables contribute to components</a:t>
            </a:r>
          </a:p>
          <a:p>
            <a:pPr lvl="0"/>
            <a:r>
              <a:rPr b="1"/>
              <a:t>Scores show</a:t>
            </a:r>
            <a:r>
              <a:rPr/>
              <a:t> where observations fall in the new component space</a:t>
            </a:r>
          </a:p>
          <a:p>
            <a:pPr lvl="0" indent="0" marL="1270000">
              <a:buNone/>
            </a:pPr>
            <a:r>
              <a:rPr sz="2000" b="1"/>
              <a:t>Key Points from PCA Analysis</a:t>
            </a:r>
          </a:p>
          <a:p>
            <a:pPr lvl="0" indent="-342900" marL="342900">
              <a:buAutoNum type="arabicPeriod"/>
            </a:pPr>
            <a:r>
              <a:rPr sz="2000" b="1"/>
              <a:t>Check assumptions first</a:t>
            </a:r>
            <a:r>
              <a:rPr sz="2000"/>
              <a:t> - especially correlations and outliers</a:t>
            </a:r>
          </a:p>
          <a:p>
            <a:pPr lvl="0" indent="-342900" marL="342900">
              <a:buAutoNum type="arabicPeriod"/>
            </a:pPr>
            <a:r>
              <a:rPr sz="2000" b="1"/>
              <a:t>Standardize when necessary</a:t>
            </a:r>
            <a:r>
              <a:rPr sz="2000"/>
              <a:t> - prevents scale effects from dominating</a:t>
            </a:r>
          </a:p>
          <a:p>
            <a:pPr lvl="0" indent="-342900" marL="342900">
              <a:buAutoNum type="arabicPeriod"/>
            </a:pPr>
            <a:r>
              <a:rPr sz="2000" b="1"/>
              <a:t>Use multiple criteria</a:t>
            </a:r>
            <a:r>
              <a:rPr sz="2000"/>
              <a:t> to decide number of components (scree plot, eigenvalue &gt; 1, variance explained)</a:t>
            </a:r>
          </a:p>
          <a:p>
            <a:pPr lvl="0" indent="-342900" marL="342900">
              <a:buAutoNum type="arabicPeriod"/>
            </a:pPr>
            <a:r>
              <a:rPr sz="2000" b="1"/>
              <a:t>Interpret components</a:t>
            </a:r>
            <a:r>
              <a:rPr sz="2000"/>
              <a:t> based on loadings - what do they represent biologically?</a:t>
            </a:r>
          </a:p>
          <a:p>
            <a:pPr lvl="0" indent="-342900" marL="342900">
              <a:buAutoNum type="arabicPeriod"/>
            </a:pPr>
            <a:r>
              <a:rPr sz="2000" b="1"/>
              <a:t>Visualize in 2D</a:t>
            </a:r>
            <a:r>
              <a:rPr sz="2000"/>
              <a:t> using first two components if they explain sufficient variance</a:t>
            </a:r>
          </a:p>
          <a:p>
            <a:pPr lvl="0" indent="-342900" marL="342900">
              <a:buAutoNum type="arabicPeriod"/>
            </a:pPr>
            <a:r>
              <a:rPr sz="2000" b="1"/>
              <a:t>PCA is exploratory</a:t>
            </a:r>
            <a:r>
              <a:rPr sz="2000"/>
              <a:t> - use it to understand patterns, not for hypothesis testing</a:t>
            </a:r>
          </a:p>
          <a:p>
            <a:pPr lvl="0" indent="-342900" marL="342900">
              <a:buAutoNum type="arabicPeriod"/>
            </a:pPr>
            <a:r>
              <a:rPr sz="2000" b="1"/>
              <a:t>Document your choices</a:t>
            </a:r>
            <a:r>
              <a:rPr sz="2000"/>
              <a:t> - why you kept certain components, how you interpreted them</a:t>
            </a:r>
          </a:p>
          <a:p>
            <a:pPr lvl="0" indent="0" marL="1270000">
              <a:buNone/>
            </a:pPr>
            <a:r>
              <a:rPr sz="2000"/>
              <a:t>Remember: PCA is a dimension reduction technique - the goal is to simplify complex data while retaining the important patterns!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Analysis</dc:title>
  <dc:creator>Bill Perry</dc:creator>
  <cp:keywords/>
  <dc:description>Hands-on activity: principal component analysis.</dc:description>
  <dcterms:created xsi:type="dcterms:W3CDTF">2026-08-20T19:14:55Z</dcterms:created>
  <dcterms:modified xsi:type="dcterms:W3CDTF">2026-08-20T19:14:55Z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order">
    <vt:lpwstr>18</vt:lpwstr>
  </property>
  <property fmtid="{D5CDD505-2E9C-101B-9397-08002B2CF9AE}" pid="10" name="resources">
    <vt:lpwstr/>
  </property>
  <property fmtid="{D5CDD505-2E9C-101B-9397-08002B2CF9AE}" pid="11" name="subtitle">
    <vt:lpwstr>Ordination</vt:lpwstr>
  </property>
  <property fmtid="{D5CDD505-2E9C-101B-9397-08002B2CF9AE}" pid="12" name="toc-title">
    <vt:lpwstr>Table of contents</vt:lpwstr>
  </property>
  <property fmtid="{D5CDD505-2E9C-101B-9397-08002B2CF9AE}" pid="13" name="week">
    <vt:lpwstr>9</vt:lpwstr>
  </property>
</Properties>
</file>