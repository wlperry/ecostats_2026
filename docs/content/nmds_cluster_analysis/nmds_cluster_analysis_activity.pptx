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Activity: NMDS &amp; PERMANOVA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NMDS &amp; PERMANOVA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Worksheet: NMDS &amp;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in order, at your own pace. Type every line of code yourself into a </a:t>
            </a:r>
            <a:r>
              <a:rPr sz="2000" b="1"/>
              <a:t>plain R script</a:t>
            </a:r>
            <a:r>
              <a:rPr sz="2000"/>
              <a:t> — do not copy-paste. Blocks marked </a:t>
            </a:r>
            <a:r>
              <a:rPr sz="2000" b="1"/>
              <a:t>▶ Run this</a:t>
            </a:r>
            <a:r>
              <a:rPr sz="2000"/>
              <a:t> are code you should type and execute. Blocks marked </a:t>
            </a:r>
            <a:r>
              <a:rPr sz="2000" b="1"/>
              <a:t>✏️ Your turn</a:t>
            </a:r>
            <a:r>
              <a:rPr sz="2000"/>
              <a:t> ask you to write, modify, or answer something. Boxes marked </a:t>
            </a:r>
            <a:r>
              <a:rPr sz="2000" b="1"/>
              <a:t>🚀 If you finish early</a:t>
            </a:r>
            <a:r>
              <a:rPr sz="2000"/>
              <a:t> are optional bonus material that goes a bit further than what we covered in lecture.</a:t>
            </a:r>
          </a:p>
          <a:p>
            <a:pPr lvl="0" indent="0" marL="1270000">
              <a:buNone/>
            </a:pPr>
            <a:r>
              <a:rPr sz="2000"/>
              <a:t>This worksheet uses the iris dataset, treating the four flower measurements as if they were abundances of different “species” at different “sites” — a handy stand-in for real community data.</a:t>
            </a:r>
          </a:p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(vegan)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theme_set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 b="1"/>
              <a:t>What is NMDS?</a:t>
            </a:r>
            <a:r>
              <a:rPr/>
              <a:t> NMDS (Non-metric Multidimensional Scaling) is an ordination technique that:</a:t>
            </a:r>
          </a:p>
          <a:p>
            <a:pPr lvl="0"/>
            <a:r>
              <a:rPr/>
              <a:t>Visualizes dissimilarity between objects in reduced dimensions</a:t>
            </a:r>
          </a:p>
          <a:p>
            <a:pPr lvl="0"/>
            <a:r>
              <a:rPr/>
              <a:t>Preserves rank order of distances, not exact distances</a:t>
            </a:r>
          </a:p>
          <a:p>
            <a:pPr lvl="0"/>
            <a:r>
              <a:rPr/>
              <a:t>Works well with non-linear ecological relationships</a:t>
            </a:r>
          </a:p>
          <a:p>
            <a:pPr lvl="0"/>
            <a:r>
              <a:rPr/>
              <a:t>Makes few assumptions about data structure</a:t>
            </a:r>
          </a:p>
          <a:p>
            <a:pPr lvl="0" indent="0" marL="0">
              <a:buNone/>
            </a:pPr>
            <a:r>
              <a:rPr b="1"/>
              <a:t>When to use NMDS:</a:t>
            </a:r>
            <a:r>
              <a:rPr/>
              <a:t> community data (species abundance or presence/absence matrices), non-linear relationships (when PCA assumptions are violated), or complex ecological gradients (multiple environmental factors affecting communities).</a:t>
            </a:r>
          </a:p>
          <a:p>
            <a:pPr lvl="0" indent="0" marL="0">
              <a:buNone/>
            </a:pPr>
            <a:r>
              <a:rPr b="1"/>
              <a:t>Key concepts of NMDS:</a:t>
            </a:r>
          </a:p>
          <a:p>
            <a:pPr lvl="0" indent="-342900" marL="342900">
              <a:buAutoNum type="arabicPeriod"/>
            </a:pPr>
            <a:r>
              <a:rPr b="1"/>
              <a:t>Dissimilarity matrices</a:t>
            </a:r>
            <a:r>
              <a:rPr/>
              <a:t> instead of covariance</a:t>
            </a:r>
          </a:p>
          <a:p>
            <a:pPr lvl="0" indent="-342900" marL="342900">
              <a:buAutoNum type="arabicPeriod"/>
            </a:pPr>
            <a:r>
              <a:rPr b="1"/>
              <a:t>Stress values</a:t>
            </a:r>
            <a:r>
              <a:rPr/>
              <a:t> measure goodness of fit (&lt; 0.2 is acceptable)</a:t>
            </a:r>
          </a:p>
          <a:p>
            <a:pPr lvl="0" indent="-342900" marL="342900">
              <a:buAutoNum type="arabicPeriod"/>
            </a:pPr>
            <a:r>
              <a:rPr b="1"/>
              <a:t>Iterative algorithm</a:t>
            </a:r>
            <a:r>
              <a:rPr/>
              <a:t> to find optimal configuration</a:t>
            </a:r>
          </a:p>
          <a:p>
            <a:pPr lvl="0" indent="-342900" marL="342900">
              <a:buAutoNum type="arabicPeriod"/>
            </a:pPr>
            <a:r>
              <a:rPr b="1"/>
              <a:t>No eigenvalues</a:t>
            </a:r>
            <a:r>
              <a:rPr/>
              <a:t> - axes have no inherent meaning</a:t>
            </a:r>
          </a:p>
          <a:p>
            <a:pPr lvl="0" indent="-342900" marL="342900">
              <a:buAutoNum type="arabicPeriod"/>
            </a:pPr>
            <a:r>
              <a:rPr b="1"/>
              <a:t>Rank-based</a:t>
            </a:r>
            <a:r>
              <a:rPr/>
              <a:t> - preserves order, not exact distances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Critical first step:</a:t>
            </a:r>
            <a:r>
              <a:rPr sz="2000"/>
              <a:t> Always check your stress value! Stress &lt; 0.1 is excellent, 0.1-0.2 is good, &gt; 0.2 is poor representation.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Data Preparation and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We’ll use the iris dataset for this analysis, treating it as if the measurements represent abundances of different “species” at different “sites”.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iris_df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"data/iris.csv"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(iris_df)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separate the grouping variable from the numeric “community” matrix: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iris_species_df &lt;- iris_df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(species)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iris_numeric_df &lt;- iris_df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species)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(iris_numeric_df)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a quick pairs plot to see relationships: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iris_pairs_plot &lt;- iris_df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species)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pairs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"Iris Measurements Relationships"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Running NMDS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Calculate a distance matrix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For iris data, we'll use Euclidean distance since these are measurements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(Bray-Curtis is more common for real abundance/count data)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iris_dist &lt;- </a:t>
            </a:r>
            <a:r>
              <a:rPr>
                <a:solidFill>
                  <a:srgbClr val="4758AB"/>
                </a:solidFill>
                <a:latin typeface="Courier"/>
              </a:rPr>
              <a:t>dist</a:t>
            </a:r>
            <a:r>
              <a:rPr>
                <a:solidFill>
                  <a:srgbClr val="003B4F"/>
                </a:solidFill>
                <a:latin typeface="Courier"/>
              </a:rPr>
              <a:t>(iris_numeric_df,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"euclidean"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iris_dist[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Run NMDS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iris_nmds_model &lt;- </a:t>
            </a:r>
            <a:r>
              <a:rPr>
                <a:solidFill>
                  <a:srgbClr val="4758AB"/>
                </a:solidFill>
                <a:latin typeface="Courier"/>
              </a:rPr>
              <a:t>metaMDS</a:t>
            </a:r>
            <a:r>
              <a:rPr>
                <a:solidFill>
                  <a:srgbClr val="003B4F"/>
                </a:solidFill>
                <a:latin typeface="Courier"/>
              </a:rPr>
              <a:t>(iris_numeric_df,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distance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"euclidean"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trymax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iris_nmds_model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Fill in from your own output — Stress value: </a:t>
            </a:r>
            <a:r>
              <a:rPr>
                <a:latin typeface="Courier"/>
              </a:rPr>
              <a:t>______</a:t>
            </a:r>
            <a:r>
              <a:rPr/>
              <a:t>. Is that excellent (&lt;0.1), good (0.1–0.2), or poor (&gt;0.2)?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3: Extract NMDS scores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nmds_scores_df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(iris_nmds_model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points)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rename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nmds1 =</a:t>
            </a:r>
            <a:r>
              <a:rPr>
                <a:solidFill>
                  <a:srgbClr val="003B4F"/>
                </a:solidFill>
                <a:latin typeface="Courier"/>
              </a:rPr>
              <a:t> MDS1, </a:t>
            </a:r>
            <a:r>
              <a:rPr>
                <a:solidFill>
                  <a:srgbClr val="657422"/>
                </a:solidFill>
                <a:latin typeface="Courier"/>
              </a:rPr>
              <a:t>nmds2 =</a:t>
            </a:r>
            <a:r>
              <a:rPr>
                <a:solidFill>
                  <a:srgbClr val="003B4F"/>
                </a:solidFill>
                <a:latin typeface="Courier"/>
              </a:rPr>
              <a:t> MDS2)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bind_cols</a:t>
            </a:r>
            <a:r>
              <a:rPr>
                <a:solidFill>
                  <a:srgbClr val="003B4F"/>
                </a:solidFill>
                <a:latin typeface="Courier"/>
              </a:rPr>
              <a:t>(iris_species_df)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(nmds_scores_df)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4: Create an NMDS plot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nmds_basic_plot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(nmds_scores_df,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nmds1,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nmds2,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 Ordination of Iris Data"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"Stress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(iris_nmds_model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stress,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"NMDS1"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"NMDS2"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nmds_basic_plot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5: Add confidence ellipses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nmds_ellipse_plot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(nmds_scores_df,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nmds1,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nmds2,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stat_ellipse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 Ordination with 95% Confidence Ellipses"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"Stress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(iris_nmds_model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stress,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"NMDS1"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"NMDS2"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nmds_ellipse_plot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6: Stress plot (Shepard diagram)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stressplot</a:t>
            </a:r>
            <a:r>
              <a:rPr>
                <a:solidFill>
                  <a:srgbClr val="003B4F"/>
                </a:solidFill>
                <a:latin typeface="Courier"/>
              </a:rPr>
              <a:t>(iris_nmds_model,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"Shepard Diagram: Ordination vs Original Distances"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 the three species separate cleanly on the NMDS plot, or do any overlap? </a:t>
            </a:r>
            <a:r>
              <a:rPr>
                <a:latin typeface="Courier"/>
              </a:rPr>
              <a:t>________________________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PERMANOVA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PERMANOVA (Permutational Multivariate Analysis of Variance) tests whether groups have different multivariate centroids using permutation tests.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1: Run PERMANOVA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456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iris_permanova_model &lt;- </a:t>
            </a:r>
            <a:r>
              <a:rPr>
                <a:solidFill>
                  <a:srgbClr val="4758AB"/>
                </a:solidFill>
                <a:latin typeface="Courier"/>
              </a:rPr>
              <a:t>adonis2</a:t>
            </a:r>
            <a:r>
              <a:rPr>
                <a:solidFill>
                  <a:srgbClr val="003B4F"/>
                </a:solidFill>
                <a:latin typeface="Courier"/>
              </a:rPr>
              <a:t>(iris_numeric_df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iris_df,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"euclidean"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permutations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iris_permanova_model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Fill in from your own output — F-statistic: </a:t>
            </a:r>
            <a:r>
              <a:rPr>
                <a:latin typeface="Courier"/>
              </a:rPr>
              <a:t>______</a:t>
            </a:r>
            <a:r>
              <a:rPr/>
              <a:t>, R² (variance explained): </a:t>
            </a:r>
            <a:r>
              <a:rPr>
                <a:latin typeface="Courier"/>
              </a:rPr>
              <a:t>______</a:t>
            </a:r>
            <a:r>
              <a:rPr/>
              <a:t>, p-value: </a:t>
            </a:r>
            <a:r>
              <a:rPr>
                <a:latin typeface="Courier"/>
              </a:rPr>
              <a:t>______</a:t>
            </a:r>
            <a:r>
              <a:rPr/>
              <a:t>. Do species differ significantly in multivariate space?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Check homogeneity of dispersions</a:t>
            </a:r>
          </a:p>
          <a:p>
            <a:pPr lvl="0" indent="0" marL="0">
              <a:buNone/>
            </a:pPr>
            <a:r>
              <a:rPr/>
              <a:t>Before interpreting PERMANOVA, we need to check if groups have similar multivariate spread.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iris_dist_full &lt;- </a:t>
            </a:r>
            <a:r>
              <a:rPr>
                <a:solidFill>
                  <a:srgbClr val="4758AB"/>
                </a:solidFill>
                <a:latin typeface="Courier"/>
              </a:rPr>
              <a:t>dist</a:t>
            </a:r>
            <a:r>
              <a:rPr>
                <a:solidFill>
                  <a:srgbClr val="003B4F"/>
                </a:solidFill>
                <a:latin typeface="Courier"/>
              </a:rPr>
              <a:t>(iris_numeric_df)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dispersion_model &lt;- </a:t>
            </a:r>
            <a:r>
              <a:rPr>
                <a:solidFill>
                  <a:srgbClr val="4758AB"/>
                </a:solidFill>
                <a:latin typeface="Courier"/>
              </a:rPr>
              <a:t>betadisper</a:t>
            </a:r>
            <a:r>
              <a:rPr>
                <a:solidFill>
                  <a:srgbClr val="003B4F"/>
                </a:solidFill>
                <a:latin typeface="Courier"/>
              </a:rPr>
              <a:t>(iris_dist_full, iris_df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dispersion_test &lt;-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(dispersion_model)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dispersion_test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3: Visualize dispersions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(dispersion_model,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"Multivariate Dispersion by Species"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4: Pairwise PERMANOVA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pairwise_permanova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(data_matrix, groups, </a:t>
            </a:r>
            <a:r>
              <a:rPr>
                <a:solidFill>
                  <a:srgbClr val="657422"/>
                </a:solidFill>
                <a:latin typeface="Courier"/>
              </a:rPr>
              <a:t>distance_method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"euclidean"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group_levels &lt;- </a:t>
            </a:r>
            <a:r>
              <a:rPr>
                <a:solidFill>
                  <a:srgbClr val="4758AB"/>
                </a:solidFill>
                <a:latin typeface="Courier"/>
              </a:rPr>
              <a:t>unique</a:t>
            </a:r>
            <a:r>
              <a:rPr>
                <a:solidFill>
                  <a:srgbClr val="003B4F"/>
                </a:solidFill>
                <a:latin typeface="Courier"/>
              </a:rPr>
              <a:t>(groups)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comparisons &lt;- </a:t>
            </a:r>
            <a:r>
              <a:rPr>
                <a:solidFill>
                  <a:srgbClr val="4758AB"/>
                </a:solidFill>
                <a:latin typeface="Courier"/>
              </a:rPr>
              <a:t>combn</a:t>
            </a:r>
            <a:r>
              <a:rPr>
                <a:solidFill>
                  <a:srgbClr val="003B4F"/>
                </a:solidFill>
                <a:latin typeface="Courier"/>
              </a:rPr>
              <a:t>(group_levels,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results_df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group1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character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group2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character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f_statistic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r_squared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p_value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(i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4758AB"/>
                </a:solidFill>
                <a:latin typeface="Courier"/>
              </a:rPr>
              <a:t>ncol</a:t>
            </a:r>
            <a:r>
              <a:rPr>
                <a:solidFill>
                  <a:srgbClr val="003B4F"/>
                </a:solidFill>
                <a:latin typeface="Courier"/>
              </a:rPr>
              <a:t>(comparisons))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group1 &lt;- comparisons[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i]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group2 &lt;- comparisons[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i]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subset_indices &lt;- </a:t>
            </a:r>
            <a:r>
              <a:rPr>
                <a:solidFill>
                  <a:srgbClr val="4758AB"/>
                </a:solidFill>
                <a:latin typeface="Courier"/>
              </a:rPr>
              <a:t>which</a:t>
            </a:r>
            <a:r>
              <a:rPr>
                <a:solidFill>
                  <a:srgbClr val="003B4F"/>
                </a:solidFill>
                <a:latin typeface="Courier"/>
              </a:rPr>
              <a:t>(groups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(group1, group2))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subset_data &lt;- data_matrix[subset_indices,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subset_groups &lt;- groups[subset_indices]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temp_result &lt;- </a:t>
            </a:r>
            <a:r>
              <a:rPr>
                <a:solidFill>
                  <a:srgbClr val="4758AB"/>
                </a:solidFill>
                <a:latin typeface="Courier"/>
              </a:rPr>
              <a:t>adonis2</a:t>
            </a:r>
            <a:r>
              <a:rPr>
                <a:solidFill>
                  <a:srgbClr val="003B4F"/>
                </a:solidFill>
                <a:latin typeface="Courier"/>
              </a:rPr>
              <a:t>(subset_data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subset_groups,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distance_method,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permutations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  results_df &lt;- </a:t>
            </a:r>
            <a:r>
              <a:rPr>
                <a:solidFill>
                  <a:srgbClr val="4758AB"/>
                </a:solidFill>
                <a:latin typeface="Courier"/>
              </a:rPr>
              <a:t>rbind</a:t>
            </a:r>
            <a:r>
              <a:rPr>
                <a:solidFill>
                  <a:srgbClr val="003B4F"/>
                </a:solidFill>
                <a:latin typeface="Courier"/>
              </a:rPr>
              <a:t>(results_df,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group1 =</a:t>
            </a:r>
            <a:r>
              <a:rPr>
                <a:solidFill>
                  <a:srgbClr val="003B4F"/>
                </a:solidFill>
                <a:latin typeface="Courier"/>
              </a:rPr>
              <a:t> group1,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group2 =</a:t>
            </a:r>
            <a:r>
              <a:rPr>
                <a:solidFill>
                  <a:srgbClr val="003B4F"/>
                </a:solidFill>
                <a:latin typeface="Courier"/>
              </a:rPr>
              <a:t> group2,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f_statistic =</a:t>
            </a:r>
            <a:r>
              <a:rPr>
                <a:solidFill>
                  <a:srgbClr val="003B4F"/>
                </a:solidFill>
                <a:latin typeface="Courier"/>
              </a:rPr>
              <a:t> temp_result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r_squared =</a:t>
            </a:r>
            <a:r>
              <a:rPr>
                <a:solidFill>
                  <a:srgbClr val="003B4F"/>
                </a:solidFill>
                <a:latin typeface="Courier"/>
              </a:rPr>
              <a:t> temp_result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R2[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p_value =</a:t>
            </a:r>
            <a:r>
              <a:rPr>
                <a:solidFill>
                  <a:srgbClr val="003B4F"/>
                </a:solidFill>
                <a:latin typeface="Courier"/>
              </a:rPr>
              <a:t> temp_result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"Pr(&gt;F)"</a:t>
            </a:r>
            <a:r>
              <a:rPr>
                <a:solidFill>
                  <a:srgbClr val="003B4F"/>
                </a:solidFill>
                <a:latin typeface="Courier"/>
              </a:rPr>
              <a:t>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results_df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p_adjusted &lt;-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(results_df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"bonferroni"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(results_df)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pairwise_results_df &lt;- </a:t>
            </a:r>
            <a:r>
              <a:rPr>
                <a:solidFill>
                  <a:srgbClr val="4758AB"/>
                </a:solidFill>
                <a:latin typeface="Courier"/>
              </a:rPr>
              <a:t>pairwise_permanova</a:t>
            </a:r>
            <a:r>
              <a:rPr>
                <a:solidFill>
                  <a:srgbClr val="003B4F"/>
                </a:solidFill>
                <a:latin typeface="Courier"/>
              </a:rPr>
              <a:t>(iris_numeric_df, iris_df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pairwise_results_df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pair of species is the most different (largest F-statistic)? Which pair is the least different?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Does the dispersion test in Step 2 suggest the three species have similar multivariate spread? If not, how would that affect how you interpret the PERMANOVA result from Step 1?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notes/code here: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ANOSIM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ANOSIM (Analysis of Similarities) tests whether there is a significant difference between groups using rank dissimilarities.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1: Run ANOSIM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789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iris_anosim_model &lt;- </a:t>
            </a:r>
            <a:r>
              <a:rPr>
                <a:solidFill>
                  <a:srgbClr val="4758AB"/>
                </a:solidFill>
                <a:latin typeface="Courier"/>
              </a:rPr>
              <a:t>anosim</a:t>
            </a:r>
            <a:r>
              <a:rPr>
                <a:solidFill>
                  <a:srgbClr val="003B4F"/>
                </a:solidFill>
                <a:latin typeface="Courier"/>
              </a:rPr>
              <a:t>(iris_dist_full, iris_df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species, </a:t>
            </a:r>
            <a:r>
              <a:rPr>
                <a:solidFill>
                  <a:srgbClr val="657422"/>
                </a:solidFill>
                <a:latin typeface="Courier"/>
              </a:rPr>
              <a:t>permutations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iris_anosim_model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Fill in from your own output — R statistic: </a:t>
            </a:r>
            <a:r>
              <a:rPr>
                <a:latin typeface="Courier"/>
              </a:rPr>
              <a:t>______</a:t>
            </a:r>
            <a:r>
              <a:rPr/>
              <a:t>, p-value: </a:t>
            </a:r>
            <a:r>
              <a:rPr>
                <a:latin typeface="Courier"/>
              </a:rPr>
              <a:t>______</a:t>
            </a:r>
            <a:r>
              <a:rPr/>
              <a:t>. R close to 1 indicates strong separation between groups; how strong is the separation here?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Plot ANOSIM results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(iris_anosim_model,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"ANOSIM Results: Distribution of Permuted R Statistics"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Environmental Fitting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we had environmental variables, we could fit them to the ordination. For demonstration, let’s use </a:t>
            </a:r>
            <a:r>
              <a:rPr>
                <a:latin typeface="Courier"/>
              </a:rPr>
              <a:t>petal_length</a:t>
            </a:r>
            <a:r>
              <a:rPr/>
              <a:t> as a stand-in “environmental” variable.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env_data_df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petal_length =</a:t>
            </a:r>
            <a:r>
              <a:rPr>
                <a:solidFill>
                  <a:srgbClr val="003B4F"/>
                </a:solidFill>
                <a:latin typeface="Courier"/>
              </a:rPr>
              <a:t> iris_df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petal_length)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env_fit_model &lt;- </a:t>
            </a:r>
            <a:r>
              <a:rPr>
                <a:solidFill>
                  <a:srgbClr val="4758AB"/>
                </a:solidFill>
                <a:latin typeface="Courier"/>
              </a:rPr>
              <a:t>envfit</a:t>
            </a:r>
            <a:r>
              <a:rPr>
                <a:solidFill>
                  <a:srgbClr val="003B4F"/>
                </a:solidFill>
                <a:latin typeface="Courier"/>
              </a:rPr>
              <a:t>(iris_nmds_model, env_data_df, </a:t>
            </a:r>
            <a:r>
              <a:rPr>
                <a:solidFill>
                  <a:srgbClr val="657422"/>
                </a:solidFill>
                <a:latin typeface="Courier"/>
              </a:rPr>
              <a:t>permutations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env_fit_model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— visualize the environmental vector on the ordination: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env_coords_df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(env_fit_model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vectors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arrows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Scale for visibility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env_coords_df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variable &lt;- </a:t>
            </a:r>
            <a:r>
              <a:rPr>
                <a:solidFill>
                  <a:srgbClr val="4758AB"/>
                </a:solidFill>
                <a:latin typeface="Courier"/>
              </a:rPr>
              <a:t>rownames</a:t>
            </a:r>
            <a:r>
              <a:rPr>
                <a:solidFill>
                  <a:srgbClr val="003B4F"/>
                </a:solidFill>
                <a:latin typeface="Courier"/>
              </a:rPr>
              <a:t>(env_coords_df)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nmds_env_plot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(nmds_scores_df,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nmds1,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nmds2,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stat_ellipse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geom_segment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env_coords_df,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xend =</a:t>
            </a:r>
            <a:r>
              <a:rPr>
                <a:solidFill>
                  <a:srgbClr val="003B4F"/>
                </a:solidFill>
                <a:latin typeface="Courier"/>
              </a:rPr>
              <a:t> NMDS1, </a:t>
            </a:r>
            <a:r>
              <a:rPr>
                <a:solidFill>
                  <a:srgbClr val="657422"/>
                </a:solidFill>
                <a:latin typeface="Courier"/>
              </a:rPr>
              <a:t>yend =</a:t>
            </a:r>
            <a:r>
              <a:rPr>
                <a:solidFill>
                  <a:srgbClr val="003B4F"/>
                </a:solidFill>
                <a:latin typeface="Courier"/>
              </a:rPr>
              <a:t> NMDS2),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arrow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arrow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unit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"cm"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env_coords_df,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NMDS1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NMDS2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variable),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 with Environmental Vector"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"Stress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(iris_nmds_model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stress,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"NMDS1"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"NMDS2"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nmds_env_plot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Repeat the environmental fitting with </a:t>
            </a:r>
            <a:r>
              <a:rPr sz="2000">
                <a:latin typeface="Courier"/>
              </a:rPr>
              <a:t>sepal_width</a:t>
            </a:r>
            <a:r>
              <a:rPr sz="2000"/>
              <a:t> instead of </a:t>
            </a:r>
            <a:r>
              <a:rPr sz="2000">
                <a:latin typeface="Courier"/>
              </a:rPr>
              <a:t>petal_length</a:t>
            </a:r>
            <a:r>
              <a:rPr sz="2000"/>
              <a:t>. Does it point in a similar direction, or a very different one?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checklist for NMDS and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Analysis checklist</a:t>
            </a:r>
          </a:p>
          <a:p>
            <a:pPr lvl="0" indent="-342900" marL="342900">
              <a:buAutoNum type="arabicPeriod"/>
            </a:pPr>
            <a:r>
              <a:rPr sz="2000" b="1"/>
              <a:t>Prepare your data</a:t>
            </a:r>
            <a:r>
              <a:rPr sz="2000"/>
              <a:t> - ensure numeric matrix format.</a:t>
            </a:r>
          </a:p>
          <a:p>
            <a:pPr lvl="0" indent="-342900" marL="342900">
              <a:buAutoNum type="arabicPeriod"/>
            </a:pPr>
            <a:r>
              <a:rPr sz="2000" b="1"/>
              <a:t>Choose appropriate distance measure</a:t>
            </a:r>
            <a:r>
              <a:rPr sz="2000"/>
              <a:t> - Bray-Curtis for abundance data, Euclidean for measurement data.</a:t>
            </a:r>
          </a:p>
          <a:p>
            <a:pPr lvl="0" indent="-342900" marL="342900">
              <a:buAutoNum type="arabicPeriod"/>
            </a:pPr>
            <a:r>
              <a:rPr sz="2000" b="1"/>
              <a:t>Run NMDS</a:t>
            </a:r>
            <a:r>
              <a:rPr sz="2000"/>
              <a:t> with sufficient iterations.</a:t>
            </a:r>
          </a:p>
          <a:p>
            <a:pPr lvl="0" indent="-342900" marL="342900">
              <a:buAutoNum type="arabicPeriod"/>
            </a:pPr>
            <a:r>
              <a:rPr sz="2000" b="1"/>
              <a:t>Check stress value</a:t>
            </a:r>
            <a:r>
              <a:rPr sz="2000"/>
              <a:t> - must be &lt; 0.2.</a:t>
            </a:r>
          </a:p>
          <a:p>
            <a:pPr lvl="0" indent="-342900" marL="342900">
              <a:buAutoNum type="arabicPeriod"/>
            </a:pPr>
            <a:r>
              <a:rPr sz="2000" b="1"/>
              <a:t>Create ordination plots</a:t>
            </a:r>
            <a:r>
              <a:rPr sz="2000"/>
              <a:t> with groups identified.</a:t>
            </a:r>
          </a:p>
          <a:p>
            <a:pPr lvl="0" indent="-342900" marL="342900">
              <a:buAutoNum type="arabicPeriod"/>
            </a:pPr>
            <a:r>
              <a:rPr sz="2000" b="1"/>
              <a:t>Test homogeneity of dispersions</a:t>
            </a:r>
            <a:r>
              <a:rPr sz="2000"/>
              <a:t> before PERMANOVA.</a:t>
            </a:r>
          </a:p>
          <a:p>
            <a:pPr lvl="0" indent="-342900" marL="342900">
              <a:buAutoNum type="arabicPeriod"/>
            </a:pPr>
            <a:r>
              <a:rPr sz="2000" b="1"/>
              <a:t>Run PERMANOVA</a:t>
            </a:r>
            <a:r>
              <a:rPr sz="2000"/>
              <a:t> to test group differences.</a:t>
            </a:r>
          </a:p>
          <a:p>
            <a:pPr lvl="0" indent="-342900" marL="342900">
              <a:buAutoNum type="arabicPeriod"/>
            </a:pPr>
            <a:r>
              <a:rPr sz="2000" b="1"/>
              <a:t>Consider ANOSIM</a:t>
            </a:r>
            <a:r>
              <a:rPr sz="2000"/>
              <a:t> as complementary test.</a:t>
            </a:r>
          </a:p>
          <a:p>
            <a:pPr lvl="0" indent="-342900" marL="342900">
              <a:buAutoNum type="arabicPeriod"/>
            </a:pPr>
            <a:r>
              <a:rPr sz="2000" b="1"/>
              <a:t>Fit environmental variables</a:t>
            </a:r>
            <a:r>
              <a:rPr sz="2000"/>
              <a:t> if available.</a:t>
            </a:r>
          </a:p>
          <a:p>
            <a:pPr lvl="0" indent="0" marL="0">
              <a:buNone/>
            </a:pPr>
            <a:r>
              <a:rPr b="1"/>
              <a:t>Key points to remember:</a:t>
            </a:r>
          </a:p>
          <a:p>
            <a:pPr lvl="0"/>
            <a:r>
              <a:rPr b="1"/>
              <a:t>NMDS preserves rank order</a:t>
            </a:r>
            <a:r>
              <a:rPr/>
              <a:t> of distances, not exact values.</a:t>
            </a:r>
          </a:p>
          <a:p>
            <a:pPr lvl="0"/>
            <a:r>
              <a:rPr b="1"/>
              <a:t>Stress &lt; 0.2</a:t>
            </a:r>
            <a:r>
              <a:rPr/>
              <a:t> is acceptable, &lt; 0.1 is excellent.</a:t>
            </a:r>
          </a:p>
          <a:p>
            <a:pPr lvl="0"/>
            <a:r>
              <a:rPr b="1"/>
              <a:t>PERMANOVA tests centroids</a:t>
            </a:r>
            <a:r>
              <a:rPr/>
              <a:t>, ANOSIM tests overlap.</a:t>
            </a:r>
          </a:p>
          <a:p>
            <a:pPr lvl="0"/>
            <a:r>
              <a:rPr b="1"/>
              <a:t>Check dispersion homogeneity</a:t>
            </a:r>
            <a:r>
              <a:rPr/>
              <a:t> - violated assumption affects interpretation.</a:t>
            </a:r>
          </a:p>
          <a:p>
            <a:pPr lvl="0"/>
            <a:r>
              <a:rPr b="1"/>
              <a:t>Multiple comparisons</a:t>
            </a:r>
            <a:r>
              <a:rPr/>
              <a:t> require p-value adjustment.</a:t>
            </a:r>
          </a:p>
          <a:p>
            <a:pPr lvl="0"/>
            <a:r>
              <a:rPr b="1"/>
              <a:t>Axes have no inherent meaning</a:t>
            </a:r>
            <a:r>
              <a:rPr/>
              <a:t> in NMDS (unlike PCA).</a:t>
            </a:r>
          </a:p>
          <a:p>
            <a:pPr lvl="0"/>
            <a:r>
              <a:rPr b="1"/>
              <a:t>Use appropriate distance measures</a:t>
            </a:r>
            <a:r>
              <a:rPr/>
              <a:t> for your data type.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Key takeaways from NMDS/PERMANOVA analysis</a:t>
            </a:r>
          </a:p>
          <a:p>
            <a:pPr lvl="0" indent="-342900" marL="342900">
              <a:buAutoNum type="arabicPeriod"/>
            </a:pPr>
            <a:r>
              <a:rPr sz="2000" b="1"/>
              <a:t>NMDS is flexible</a:t>
            </a:r>
            <a:r>
              <a:rPr sz="2000"/>
              <a:t> - works with any distance measure and makes few assumptions.</a:t>
            </a:r>
          </a:p>
          <a:p>
            <a:pPr lvl="0" indent="-342900" marL="342900">
              <a:buAutoNum type="arabicPeriod"/>
            </a:pPr>
            <a:r>
              <a:rPr sz="2000" b="1"/>
              <a:t>Stress indicates fit quality</a:t>
            </a:r>
            <a:r>
              <a:rPr sz="2000"/>
              <a:t> - always report and check this value.</a:t>
            </a:r>
          </a:p>
          <a:p>
            <a:pPr lvl="0" indent="-342900" marL="342900">
              <a:buAutoNum type="arabicPeriod"/>
            </a:pPr>
            <a:r>
              <a:rPr sz="2000" b="1"/>
              <a:t>PERMANOVA is powerful</a:t>
            </a:r>
            <a:r>
              <a:rPr sz="2000"/>
              <a:t> but assumes homogeneous dispersions.</a:t>
            </a:r>
          </a:p>
          <a:p>
            <a:pPr lvl="0" indent="-342900" marL="342900">
              <a:buAutoNum type="arabicPeriod"/>
            </a:pPr>
            <a:r>
              <a:rPr sz="2000" b="1"/>
              <a:t>ANOSIM is complementary</a:t>
            </a:r>
            <a:r>
              <a:rPr sz="2000"/>
              <a:t> - provides different perspective on group separation.</a:t>
            </a:r>
          </a:p>
          <a:p>
            <a:pPr lvl="0" indent="-342900" marL="342900">
              <a:buAutoNum type="arabicPeriod"/>
            </a:pPr>
            <a:r>
              <a:rPr sz="2000" b="1"/>
              <a:t>Visualization is crucial</a:t>
            </a:r>
            <a:r>
              <a:rPr sz="2000"/>
              <a:t> - always plot your ordination results.</a:t>
            </a:r>
          </a:p>
          <a:p>
            <a:pPr lvl="0" indent="-342900" marL="342900">
              <a:buAutoNum type="arabicPeriod"/>
            </a:pPr>
            <a:r>
              <a:rPr sz="2000" b="1"/>
              <a:t>Environmental fitting</a:t>
            </a:r>
            <a:r>
              <a:rPr sz="2000"/>
              <a:t> helps interpret ecological patterns.</a:t>
            </a:r>
          </a:p>
          <a:p>
            <a:pPr lvl="0" indent="-342900" marL="342900">
              <a:buAutoNum type="arabicPeriod"/>
            </a:pPr>
            <a:r>
              <a:rPr sz="2000" b="1"/>
              <a:t>Permutation tests</a:t>
            </a:r>
            <a:r>
              <a:rPr sz="2000"/>
              <a:t> avoid distributional assumptions.</a:t>
            </a:r>
          </a:p>
          <a:p>
            <a:pPr lvl="0" indent="0" marL="1270000">
              <a:buNone/>
            </a:pPr>
            <a:r>
              <a:rPr sz="2000"/>
              <a:t>Remember: NMDS is iterative and may find different solutions - always set a seed for reproducibility!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can:</a:t>
            </a:r>
          </a:p>
          <a:p>
            <a:pPr lvl="0"/>
            <a:r>
              <a:rPr/>
              <a:t>☐ Explain when NMDS is preferred over PCA</a:t>
            </a:r>
          </a:p>
          <a:p>
            <a:pPr lvl="0"/>
            <a:r>
              <a:rPr/>
              <a:t>☐ Run </a:t>
            </a:r>
            <a:r>
              <a:rPr>
                <a:latin typeface="Courier"/>
              </a:rPr>
              <a:t>metaMDS()</a:t>
            </a:r>
            <a:r>
              <a:rPr/>
              <a:t> and interpret the stress value</a:t>
            </a:r>
          </a:p>
          <a:p>
            <a:pPr lvl="0"/>
            <a:r>
              <a:rPr/>
              <a:t>☐ Build an NMDS ordination plot with confidence ellipses</a:t>
            </a:r>
          </a:p>
          <a:p>
            <a:pPr lvl="0"/>
            <a:r>
              <a:rPr/>
              <a:t>☐ Run and interpret PERMANOVA, including checking dispersion homogeneity with </a:t>
            </a:r>
            <a:r>
              <a:rPr>
                <a:latin typeface="Courier"/>
              </a:rPr>
              <a:t>betadisper()</a:t>
            </a:r>
          </a:p>
          <a:p>
            <a:pPr lvl="0"/>
            <a:r>
              <a:rPr/>
              <a:t>☐ Run and interpret ANOSIM as a complementary test</a:t>
            </a:r>
          </a:p>
          <a:p>
            <a:pPr lvl="0"/>
            <a:r>
              <a:rPr/>
              <a:t>☐ Fit an environmental (or other continuous) vector onto an ordination with </a:t>
            </a:r>
            <a:r>
              <a:rPr>
                <a:latin typeface="Courier"/>
              </a:rPr>
              <a:t>envfit()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📤 What to turn in before next class</a:t>
            </a:r>
          </a:p>
          <a:p>
            <a:pPr lvl="0" indent="0" marL="1270000">
              <a:buNone/>
            </a:pPr>
            <a:r>
              <a:rPr sz="2000"/>
              <a:t>Upload both of these to the course management system:</a:t>
            </a:r>
          </a:p>
          <a:p>
            <a:pPr lvl="0" indent="-342900" marL="342900">
              <a:buAutoNum type="arabicPeriod"/>
            </a:pPr>
            <a:r>
              <a:rPr sz="2000"/>
              <a:t>Your code — the </a:t>
            </a:r>
            <a:r>
              <a:rPr sz="2000">
                <a:latin typeface="Courier"/>
              </a:rPr>
              <a:t>scripts/</a:t>
            </a:r>
            <a:r>
              <a:rPr sz="2000"/>
              <a:t> folder (or just </a:t>
            </a:r>
            <a:r>
              <a:rPr sz="2000">
                <a:latin typeface="Courier"/>
              </a:rPr>
              <a:t>10_nmds_permanova.R</a:t>
            </a:r>
            <a:r>
              <a:rPr sz="2000"/>
              <a:t>)</a:t>
            </a:r>
          </a:p>
          <a:p>
            <a:pPr lvl="0" indent="-342900" marL="342900">
              <a:buAutoNum type="arabicPeriod"/>
            </a:pPr>
            <a:r>
              <a:rPr sz="2000"/>
              <a:t>This worksheet, with your written answers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run all the </a:t>
            </a:r>
            <a:r>
              <a:rPr>
                <a:latin typeface="Courier"/>
              </a:rPr>
              <a:t>library()</a:t>
            </a:r>
            <a:r>
              <a:rPr/>
              <a:t> calls at the top?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%&gt;%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built-in help page.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Activity: NMDS &amp; PERMANOVA</dc:title>
  <dc:creator>Bill Perry</dc:creator>
  <cp:keywords/>
  <dc:description>Hands-on activity: NMDS ordination, PERMANOVA, ANOSIM, and environmental fitting, using the iris dataset treated as a community-style abundance matrix.</dc:description>
  <dcterms:created xsi:type="dcterms:W3CDTF">2026-08-21T15:07:20Z</dcterms:created>
  <dcterms:modified xsi:type="dcterms:W3CDTF">2026-08-21T15:07:20Z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order">
    <vt:lpwstr>19</vt:lpwstr>
  </property>
  <property fmtid="{D5CDD505-2E9C-101B-9397-08002B2CF9AE}" pid="10" name="resources">
    <vt:lpwstr/>
  </property>
  <property fmtid="{D5CDD505-2E9C-101B-9397-08002B2CF9AE}" pid="11" name="subtitle">
    <vt:lpwstr>NMDS &amp; PERMANOVA</vt:lpwstr>
  </property>
  <property fmtid="{D5CDD505-2E9C-101B-9397-08002B2CF9AE}" pid="12" name="toc-title">
    <vt:lpwstr>Table of contents</vt:lpwstr>
  </property>
  <property fmtid="{D5CDD505-2E9C-101B-9397-08002B2CF9AE}" pid="13" name="week">
    <vt:lpwstr>10</vt:lpwstr>
  </property>
</Properties>
</file>