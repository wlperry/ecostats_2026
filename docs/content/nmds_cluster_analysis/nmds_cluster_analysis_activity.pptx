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NMDS &amp; PERMANOVA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NMDS &amp; PERMANOVA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18: Non-metric Multidimensional Scaling (NMDS) and PERMANOVA</a:t>
            </a:r>
          </a:p>
        </p:txBody>
      </p:sp>
      <p:sp>
        <p:nvSpPr>
          <p:cNvPr id="3" name="Content Placeholder 2"/>
          <p:cNvSpPr>
            <a:spLocks noGrp="1"/>
          </p:cNvSpPr>
          <p:nvPr>
            <p:ph idx="1"/>
          </p:nvPr>
        </p:nvSpPr>
        <p:spPr/>
        <p:txBody>
          <a:bodyPr/>
          <a:lstStyle/>
          <a:p>
            <a:pPr lvl="0" indent="0" marL="0">
              <a:spcBef>
                <a:spcPts val="3000"/>
              </a:spcBef>
              <a:buNone/>
            </a:pPr>
            <a:r>
              <a:rPr b="1"/>
              <a:t>What is NMDS?</a:t>
            </a:r>
          </a:p>
          <a:p>
            <a:pPr lvl="0" indent="0" marL="0">
              <a:buNone/>
            </a:pPr>
            <a:r>
              <a:rPr/>
              <a:t>NMDS (Non-metric Multidimensional Scaling) is an ordination technique that: - Visualizes dissimilarity between objects in reduced dimensions - Preserves rank order of distances, not exact distances - Works well with non-linear ecological relationships - Makes few assumptions about data structure</a:t>
            </a:r>
          </a:p>
          <a:p>
            <a:pPr lvl="0" indent="0" marL="0">
              <a:spcBef>
                <a:spcPts val="3000"/>
              </a:spcBef>
              <a:buNone/>
            </a:pPr>
            <a:r>
              <a:rPr b="1"/>
              <a:t>When to Use NMDS</a:t>
            </a:r>
          </a:p>
          <a:p>
            <a:pPr lvl="0" indent="0" marL="0">
              <a:buNone/>
            </a:pPr>
            <a:r>
              <a:rPr/>
              <a:t>Use NMDS when you have: - </a:t>
            </a:r>
            <a:r>
              <a:rPr b="1"/>
              <a:t>Community data</a:t>
            </a:r>
            <a:r>
              <a:rPr/>
              <a:t>: Species abundance or presence/absence matrices - </a:t>
            </a:r>
            <a:r>
              <a:rPr b="1"/>
              <a:t>Non-linear relationships</a:t>
            </a:r>
            <a:r>
              <a:rPr/>
              <a:t>: When PCA assumptions are violated - </a:t>
            </a:r>
            <a:r>
              <a:rPr b="1"/>
              <a:t>Complex ecological gradients</a:t>
            </a:r>
            <a:r>
              <a:rPr/>
              <a:t>: Multiple environmental factors affecting communities</a:t>
            </a:r>
          </a:p>
          <a:p>
            <a:pPr lvl="0" indent="0" marL="0">
              <a:spcBef>
                <a:spcPts val="3000"/>
              </a:spcBef>
              <a:buNone/>
            </a:pPr>
            <a:r>
              <a:rPr b="1"/>
              <a:t>Key Concepts of NMDS</a:t>
            </a:r>
          </a:p>
          <a:p>
            <a:pPr lvl="0" indent="-342900" marL="342900">
              <a:buAutoNum type="arabicPeriod"/>
            </a:pPr>
            <a:r>
              <a:rPr b="1"/>
              <a:t>Dissimilarity matrices</a:t>
            </a:r>
            <a:r>
              <a:rPr/>
              <a:t> instead of covariance</a:t>
            </a:r>
          </a:p>
          <a:p>
            <a:pPr lvl="0" indent="-342900" marL="342900">
              <a:buAutoNum type="arabicPeriod"/>
            </a:pPr>
            <a:r>
              <a:rPr b="1"/>
              <a:t>Stress values</a:t>
            </a:r>
            <a:r>
              <a:rPr/>
              <a:t> measure goodness of fit (&lt;0.2 is acceptable)</a:t>
            </a:r>
          </a:p>
          <a:p>
            <a:pPr lvl="0" indent="-342900" marL="342900">
              <a:buAutoNum type="arabicPeriod"/>
            </a:pPr>
            <a:r>
              <a:rPr b="1"/>
              <a:t>Iterative algorithm</a:t>
            </a:r>
            <a:r>
              <a:rPr/>
              <a:t> to find optimal configuration</a:t>
            </a:r>
          </a:p>
          <a:p>
            <a:pPr lvl="0" indent="-342900" marL="342900">
              <a:buAutoNum type="arabicPeriod"/>
            </a:pPr>
            <a:r>
              <a:rPr b="1"/>
              <a:t>No eigenvalues</a:t>
            </a:r>
            <a:r>
              <a:rPr/>
              <a:t> - axes have no inherent meaning</a:t>
            </a:r>
          </a:p>
          <a:p>
            <a:pPr lvl="0" indent="-342900" marL="342900">
              <a:buAutoNum type="arabicPeriod"/>
            </a:pPr>
            <a:r>
              <a:rPr b="1"/>
              <a:t>Rank-based</a:t>
            </a:r>
            <a:r>
              <a:rPr/>
              <a:t> - preserves order, not exact distances</a:t>
            </a:r>
          </a:p>
          <a:p>
            <a:pPr lvl="0" indent="0" marL="1270000">
              <a:buNone/>
            </a:pPr>
            <a:r>
              <a:rPr sz="2000" b="1"/>
              <a:t>Critical First Step</a:t>
            </a:r>
          </a:p>
          <a:p>
            <a:pPr lvl="0" indent="0" marL="1270000">
              <a:buNone/>
            </a:pPr>
            <a:r>
              <a:rPr sz="2000"/>
              <a:t>Always check your stress value! Stress &lt; 0.1 is excellent, 0.1-0.2 is good, &gt; 0.2 is poor representation.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Data Preparation and Exploration</a:t>
            </a:r>
          </a:p>
        </p:txBody>
      </p:sp>
      <p:sp>
        <p:nvSpPr>
          <p:cNvPr id="4" name="Text Placeholder 3"/>
          <p:cNvSpPr>
            <a:spLocks noGrp="1"/>
          </p:cNvSpPr>
          <p:nvPr>
            <p:ph idx="2" sz="half" type="body"/>
          </p:nvPr>
        </p:nvSpPr>
        <p:spPr/>
        <p:txBody>
          <a:bodyPr/>
          <a:lstStyle/>
          <a:p>
            <a:pPr lvl="0" indent="0" marL="0">
              <a:spcBef>
                <a:spcPts val="3000"/>
              </a:spcBef>
              <a:buNone/>
            </a:pPr>
            <a:r>
              <a:rPr b="1"/>
              <a:t>Load and Prepare Data</a:t>
            </a:r>
          </a:p>
          <a:p>
            <a:pPr lvl="0" indent="0" marL="0">
              <a:buNone/>
            </a:pPr>
            <a:r>
              <a:rPr/>
              <a:t>We’ll use the iris dataset for this analysis, treating it as if the measurements represent abundances of different “species” at different “sites”.</a:t>
            </a:r>
          </a:p>
          <a:p>
            <a:pPr lvl="0" indent="0">
              <a:buNone/>
            </a:pPr>
            <a:r>
              <a:rPr>
                <a:latin typeface="Courier"/>
              </a:rPr>
              <a:t># A tibble: 6 × 5
  sepal_length sepal_width petal_length petal_width species
         &lt;dbl&gt;       &lt;dbl&gt;        &lt;dbl&gt;       &lt;dbl&gt; &lt;chr&gt;  
1          5.1         3.5          1.4         0.2 setosa 
2          4.9         3            1.4         0.2 setosa 
3          4.7         3.2          1.3         0.2 setosa 
4          4.6         3.1          1.5         0.2 setosa 
5          5           3.6          1.4         0.2 setosa 
6          5.4         3.9          1.7         0.4 setosa </a:t>
            </a:r>
          </a:p>
          <a:p>
            <a:pPr lvl="0" indent="0">
              <a:buNone/>
            </a:pPr>
            <a:r>
              <a:rPr>
                <a:latin typeface="Courier"/>
              </a:rPr>
              <a:t>tibble [150 × 4] (S3: tbl_df/tbl/data.frame)
 $ sepal_length: num [1:150] 5.1 4.9 4.7 4.6 5 5.4 4.6 5 4.4 4.9 ...
 $ sepal_width : num [1:150] 3.5 3 3.2 3.1 3.6 3.9 3.4 3.4 2.9 3.1 ...
 $ petal_length: num [1:150] 1.4 1.4 1.3 1.5 1.4 1.7 1.4 1.5 1.4 1.5 ...
 $ petal_width : num [1:150] 0.2 0.2 0.2 0.2 0.2 0.4 0.3 0.2 0.2 0.1 ...</a:t>
            </a:r>
          </a:p>
          <a:p>
            <a:pPr lvl="0" indent="0" marL="0">
              <a:spcBef>
                <a:spcPts val="3000"/>
              </a:spcBef>
              <a:buNone/>
            </a:pPr>
            <a:r>
              <a:rPr b="1"/>
              <a:t>Visualize the Data</a:t>
            </a:r>
          </a:p>
        </p:txBody>
      </p:sp>
      <p:pic>
        <p:nvPicPr>
          <p:cNvPr descr="nmds_cluster_analysis_activity_files/figure-pptx/initial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Running NMDS</a:t>
            </a:r>
          </a:p>
        </p:txBody>
      </p:sp>
      <p:sp>
        <p:nvSpPr>
          <p:cNvPr id="4" name="Text Placeholder 3"/>
          <p:cNvSpPr>
            <a:spLocks noGrp="1"/>
          </p:cNvSpPr>
          <p:nvPr>
            <p:ph idx="2" sz="half" type="body"/>
          </p:nvPr>
        </p:nvSpPr>
        <p:spPr/>
        <p:txBody>
          <a:bodyPr/>
          <a:lstStyle/>
          <a:p>
            <a:pPr lvl="0" indent="0" marL="0">
              <a:spcBef>
                <a:spcPts val="3000"/>
              </a:spcBef>
              <a:buNone/>
            </a:pPr>
            <a:r>
              <a:rPr b="1"/>
              <a:t>Step 1: Calculate Distance Matrix</a:t>
            </a:r>
          </a:p>
          <a:p>
            <a:pPr lvl="0" indent="0">
              <a:buNone/>
            </a:pPr>
            <a:r>
              <a:rPr>
                <a:latin typeface="Courier"/>
              </a:rPr>
              <a:t>[1] 0.5385165 0.5099020 0.6480741 0.1414214 0.6164414</a:t>
            </a:r>
          </a:p>
          <a:p>
            <a:pPr lvl="0" indent="0" marL="0">
              <a:spcBef>
                <a:spcPts val="3000"/>
              </a:spcBef>
              <a:buNone/>
            </a:pPr>
            <a:r>
              <a:rPr b="1"/>
              <a:t>Step 2: Run NMDS</a:t>
            </a:r>
          </a:p>
          <a:p>
            <a:pPr lvl="0" indent="0">
              <a:buNone/>
            </a:pPr>
            <a:r>
              <a:rPr>
                <a:latin typeface="Courier"/>
              </a:rPr>
              <a:t>Run 0 stress 0.02525035 
Run 1 stress 0.04045544 
Run 2 stress 0.03566855 
Run 3 stress 0.0268287 
Run 4 stress 0.03695952 
Run 5 stress 0.03104439 
Run 6 stress 0.02682881 
Run 7 stress 0.03962709 
Run 8 stress 0.03210416 
Run 9 stress 0.04325555 
Run 10 stress 0.02525031 
... New best solution
... Procrustes: rmse 1.741237e-05  max resid 7.129696e-05 
... Similar to previous best
Run 11 stress 0.02525038 
... Procrustes: rmse 1.217807e-05  max resid 8.876481e-05 
... Similar to previous best
Run 12 stress 0.04000578 
Run 13 stress 0.03552087 
Run 14 stress 0.0309981 
Run 15 stress 0.04078306 
Run 16 stress 0.04008785 
Run 17 stress 0.03197035 
Run 18 stress 0.02525033 
... Procrustes: rmse 5.481604e-06  max resid 2.712782e-05 
... Similar to previous best
Run 19 stress 0.02682875 
Run 20 stress 0.03270101 
*** Best solution repeated 3 times</a:t>
            </a:r>
          </a:p>
          <a:p>
            <a:pPr lvl="0" indent="0">
              <a:buNone/>
            </a:pPr>
            <a:r>
              <a:rPr>
                <a:latin typeface="Courier"/>
              </a:rPr>
              <a:t>
Call:
metaMDS(comm = iris_numeric_df, distance = "euclidean", k = 2,      trymax = 100) 
global Multidimensional Scaling using monoMDS
Data:     iris_numeric_df 
Distance: euclidean 
Dimensions: 2 
Stress:     0.02525031 
Stress type 1, weak ties
Best solution was repeated 3 times in 20 tries
The best solution was from try 10 (random start)
Scaling: centring, PC rotation 
Species: expanded scores based on 'iris_numeric_df' </a:t>
            </a:r>
          </a:p>
          <a:p>
            <a:pPr lvl="0" indent="0" marL="0">
              <a:buNone/>
            </a:pPr>
            <a:r>
              <a:rPr b="1"/>
              <a:t>Interpretation</a:t>
            </a:r>
            <a:r>
              <a:rPr/>
              <a:t>: - Stress value: 0.025 - This is excellent representation</a:t>
            </a:r>
          </a:p>
          <a:p>
            <a:pPr lvl="0" indent="0" marL="0">
              <a:spcBef>
                <a:spcPts val="3000"/>
              </a:spcBef>
              <a:buNone/>
            </a:pPr>
            <a:r>
              <a:rPr b="1"/>
              <a:t>Step 3: Extract NMDS Scores</a:t>
            </a:r>
          </a:p>
          <a:p>
            <a:pPr lvl="0" indent="0">
              <a:buNone/>
            </a:pPr>
            <a:r>
              <a:rPr>
                <a:latin typeface="Courier"/>
              </a:rPr>
              <a:t>      nmds1      nmds2 species
1 -2.687311  0.2758924  setosa
2 -2.717262 -0.1705943  setosa
3 -2.882071 -0.1017541  setosa
4 -2.746720 -0.2603709  setosa
5 -2.730486  0.2902002  setosa
6 -2.311408  0.6625723  setosa</a:t>
            </a:r>
          </a:p>
          <a:p>
            <a:pPr lvl="0" indent="0" marL="0">
              <a:spcBef>
                <a:spcPts val="3000"/>
              </a:spcBef>
              <a:buNone/>
            </a:pPr>
            <a:r>
              <a:rPr b="1"/>
              <a:t>Step 4: Create NMDS Plot</a:t>
            </a:r>
          </a:p>
        </p:txBody>
      </p:sp>
      <p:pic>
        <p:nvPicPr>
          <p:cNvPr descr="nmds_cluster_analysis_activity_files/figure-pptx/nmd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5: Add Confidence Ellipses</a:t>
            </a:r>
          </a:p>
        </p:txBody>
      </p:sp>
      <p:pic>
        <p:nvPicPr>
          <p:cNvPr descr="nmds_cluster_analysis_activity_files/figure-pptx/nmds_ellipse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6: Stress Plot (Shepard Diagram)</a:t>
            </a:r>
          </a:p>
        </p:txBody>
      </p:sp>
      <p:pic>
        <p:nvPicPr>
          <p:cNvPr descr="nmds_cluster_analysis_activity_files/figure-pptx/stres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PERMANOVA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PERMANOVA?</a:t>
            </a:r>
          </a:p>
          <a:p>
            <a:pPr lvl="0" indent="0" marL="0">
              <a:buNone/>
            </a:pPr>
            <a:r>
              <a:rPr/>
              <a:t>PERMANOVA (Permutational Multivariate Analysis of Variance) tests whether groups have different multivariate centroids using permutation tests.</a:t>
            </a:r>
          </a:p>
          <a:p>
            <a:pPr lvl="0" indent="0" marL="0">
              <a:spcBef>
                <a:spcPts val="3000"/>
              </a:spcBef>
              <a:buNone/>
            </a:pPr>
            <a:r>
              <a:rPr b="1"/>
              <a:t>Step 1: Run PERMANOVA</a:t>
            </a:r>
          </a:p>
          <a:p>
            <a:pPr lvl="0" indent="0">
              <a:buNone/>
            </a:pPr>
            <a:r>
              <a:rPr>
                <a:latin typeface="Courier"/>
              </a:rPr>
              <a:t>Permutation test for adonis under reduced model
Permutation: free
Number of permutations: 999
adonis2(formula = iris_numeric_df ~ species, data = iris_df, permutations = 999, method = "euclidean")
          Df SumOfSqs      R2      F Pr(&gt;F)    
Model      2   592.07 0.86894 487.33  0.001 ***
Residual 147    89.30 0.13106                  
Total    149   681.37 1.00000                  
---
Signif. codes:  0 '***' 0.001 '**' 0.01 '*' 0.05 '.' 0.1 ' ' 1</a:t>
            </a:r>
          </a:p>
          <a:p>
            <a:pPr lvl="0" indent="0" marL="0">
              <a:buNone/>
            </a:pPr>
            <a:r>
              <a:rPr b="1"/>
              <a:t>Interpretation</a:t>
            </a:r>
            <a:r>
              <a:rPr/>
              <a:t>: - F-statistic: 487.33 - R² (variance explained): 0.869 - p-value: 0.001</a:t>
            </a:r>
          </a:p>
          <a:p>
            <a:pPr lvl="0" indent="0" marL="0">
              <a:spcBef>
                <a:spcPts val="3000"/>
              </a:spcBef>
              <a:buNone/>
            </a:pPr>
            <a:r>
              <a:rPr b="1"/>
              <a:t>Step 2: Check Homogeneity of Dispersions</a:t>
            </a:r>
          </a:p>
          <a:p>
            <a:pPr lvl="0" indent="0" marL="0">
              <a:buNone/>
            </a:pPr>
            <a:r>
              <a:rPr/>
              <a:t>Before interpreting PERMANOVA, we need to check if groups have similar multivariate spread.</a:t>
            </a:r>
          </a:p>
          <a:p>
            <a:pPr lvl="0" indent="0">
              <a:buNone/>
            </a:pPr>
            <a:r>
              <a:rPr>
                <a:latin typeface="Courier"/>
              </a:rPr>
              <a:t>Analysis of Variance Table
Response: Distances
           Df  Sum Sq Mean Sq F value  Pr(&gt;F)    
Groups      2  2.9092 1.45458  10.748 4.4e-05 ***
Residuals 147 19.8941 0.13533                    
---
Signif. codes:  0 '***' 0.001 '**' 0.01 '*' 0.05 '.' 0.1 ' ' 1</a:t>
            </a:r>
          </a:p>
          <a:p>
            <a:pPr lvl="0" indent="0" marL="0">
              <a:spcBef>
                <a:spcPts val="3000"/>
              </a:spcBef>
              <a:buNone/>
            </a:pPr>
            <a:r>
              <a:rPr b="1"/>
              <a:t>Step 3: Visualize Dispersions</a:t>
            </a:r>
          </a:p>
        </p:txBody>
      </p:sp>
      <p:pic>
        <p:nvPicPr>
          <p:cNvPr descr="nmds_cluster_analysis_activity_files/figure-pptx/dispersion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Pairwise PERMANOVA</a:t>
            </a:r>
          </a:p>
          <a:p>
            <a:pPr lvl="0" indent="0">
              <a:buNone/>
            </a:pPr>
            <a:r>
              <a:rPr>
                <a:latin typeface="Courier"/>
              </a:rPr>
              <a:t>      group1     group2 f_statistic r_squared p_value p_adjusted
1     setosa versicolor    551.0039 0.8489994   0.001      0.003
2     setosa  virginica    943.7992 0.9059320   0.001      0.003
3 versicolor  virginica     86.7697 0.4696100   0.001      0.003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4: ANOSIM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ANOSIM?</a:t>
            </a:r>
          </a:p>
          <a:p>
            <a:pPr lvl="0" indent="0" marL="0">
              <a:buNone/>
            </a:pPr>
            <a:r>
              <a:rPr/>
              <a:t>ANOSIM (Analysis of Similarities) tests whether there is a significant difference between groups using rank dissimilarities.</a:t>
            </a:r>
          </a:p>
          <a:p>
            <a:pPr lvl="0" indent="0" marL="0">
              <a:spcBef>
                <a:spcPts val="3000"/>
              </a:spcBef>
              <a:buNone/>
            </a:pPr>
            <a:r>
              <a:rPr b="1"/>
              <a:t>Step 1: Run ANOSIM</a:t>
            </a:r>
          </a:p>
          <a:p>
            <a:pPr lvl="0" indent="0">
              <a:buNone/>
            </a:pPr>
            <a:r>
              <a:rPr>
                <a:latin typeface="Courier"/>
              </a:rPr>
              <a:t>
Call:
anosim(x = iris_dist_full, grouping = iris_df$species, permutations = 999) 
Dissimilarity: euclidean 
ANOSIM statistic R: 0.8794 
      Significance: 0.001 
Permutation: free
Number of permutations: 999</a:t>
            </a:r>
          </a:p>
          <a:p>
            <a:pPr lvl="0" indent="0" marL="0">
              <a:buNone/>
            </a:pPr>
            <a:r>
              <a:rPr b="1"/>
              <a:t>Interpretation</a:t>
            </a:r>
            <a:r>
              <a:rPr/>
              <a:t>: - R statistic: 0.879 - p-value: 0.001 - R close to 1 indicates strong separation between groups</a:t>
            </a:r>
          </a:p>
          <a:p>
            <a:pPr lvl="0" indent="0" marL="0">
              <a:spcBef>
                <a:spcPts val="3000"/>
              </a:spcBef>
              <a:buNone/>
            </a:pPr>
            <a:r>
              <a:rPr b="1"/>
              <a:t>Step 2: Plot ANOSIM Results</a:t>
            </a:r>
          </a:p>
        </p:txBody>
      </p:sp>
      <p:pic>
        <p:nvPicPr>
          <p:cNvPr descr="nmds_cluster_analysis_activity_files/figure-pptx/anosim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5: Environmental Fitting (Optional)</a:t>
            </a:r>
          </a:p>
        </p:txBody>
      </p:sp>
      <p:sp>
        <p:nvSpPr>
          <p:cNvPr id="4" name="Text Placeholder 3"/>
          <p:cNvSpPr>
            <a:spLocks noGrp="1"/>
          </p:cNvSpPr>
          <p:nvPr>
            <p:ph idx="2" sz="half" type="body"/>
          </p:nvPr>
        </p:nvSpPr>
        <p:spPr/>
        <p:txBody>
          <a:bodyPr/>
          <a:lstStyle/>
          <a:p>
            <a:pPr lvl="0" indent="0" marL="0">
              <a:buNone/>
            </a:pPr>
            <a:r>
              <a:rPr/>
              <a:t>If we had environmental variables, we could fit them to the ordination.</a:t>
            </a:r>
          </a:p>
          <a:p>
            <a:pPr lvl="0" indent="0">
              <a:buNone/>
            </a:pPr>
            <a:r>
              <a:rPr>
                <a:latin typeface="Courier"/>
              </a:rPr>
              <a:t>
***VECTORS
                NMDS1    NMDS2     r2 Pr(&gt;r)    
petal_length  0.98205 -0.18862 0.9979  0.001 ***
---
Signif. codes:  0 '***' 0.001 '**' 0.01 '*' 0.05 '.' 0.1 ' ' 1
Permutation: free
Number of permutations: 999</a:t>
            </a:r>
          </a:p>
          <a:p>
            <a:pPr lvl="0" indent="0" marL="0">
              <a:spcBef>
                <a:spcPts val="3000"/>
              </a:spcBef>
              <a:buNone/>
            </a:pPr>
            <a:r>
              <a:rPr b="1"/>
              <a:t>Visualize Environmental Vectors</a:t>
            </a:r>
          </a:p>
        </p:txBody>
      </p:sp>
      <p:pic>
        <p:nvPicPr>
          <p:cNvPr descr="nmds_cluster_analysis_activity_files/figure-pptx/nmds_envfit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NMDS and PERMANOVA</a:t>
            </a:r>
          </a:p>
        </p:txBody>
      </p:sp>
      <p:sp>
        <p:nvSpPr>
          <p:cNvPr id="3" name="Content Placeholder 2"/>
          <p:cNvSpPr>
            <a:spLocks noGrp="1"/>
          </p:cNvSpPr>
          <p:nvPr>
            <p:ph idx="1"/>
          </p:nvPr>
        </p:nvSpPr>
        <p:spPr/>
        <p:txBody>
          <a:bodyPr/>
          <a:lstStyle/>
          <a:p>
            <a:pPr lvl="0" indent="0" marL="1270000">
              <a:buNone/>
            </a:pPr>
            <a:r>
              <a:rPr sz="2000" b="1"/>
              <a:t>Analysis Checklist</a:t>
            </a:r>
          </a:p>
          <a:p>
            <a:pPr lvl="0" indent="-342900" marL="342900">
              <a:buAutoNum type="arabicPeriod"/>
            </a:pPr>
            <a:r>
              <a:rPr sz="2000" b="1"/>
              <a:t>Prepare your data</a:t>
            </a:r>
            <a:r>
              <a:rPr sz="2000"/>
              <a:t> - ensure numeric matrix format</a:t>
            </a:r>
          </a:p>
          <a:p>
            <a:pPr lvl="0" indent="-342900" marL="342900">
              <a:buAutoNum type="arabicPeriod"/>
            </a:pPr>
            <a:r>
              <a:rPr sz="2000" b="1"/>
              <a:t>Choose appropriate distance measure</a:t>
            </a:r>
          </a:p>
          <a:p>
            <a:pPr lvl="1"/>
            <a:r>
              <a:rPr sz="2000"/>
              <a:t>Bray-Curtis for abundance data</a:t>
            </a:r>
          </a:p>
          <a:p>
            <a:pPr lvl="1"/>
            <a:r>
              <a:rPr sz="2000"/>
              <a:t>Euclidean for measurement data</a:t>
            </a:r>
          </a:p>
          <a:p>
            <a:pPr lvl="0" indent="-342900" marL="342900">
              <a:buAutoNum type="arabicPeriod"/>
            </a:pPr>
            <a:r>
              <a:rPr sz="2000" b="1"/>
              <a:t>Run NMDS</a:t>
            </a:r>
            <a:r>
              <a:rPr sz="2000"/>
              <a:t> with sufficient iterations</a:t>
            </a:r>
          </a:p>
          <a:p>
            <a:pPr lvl="0" indent="-342900" marL="342900">
              <a:buAutoNum type="arabicPeriod"/>
            </a:pPr>
            <a:r>
              <a:rPr sz="2000" b="1"/>
              <a:t>Check stress value</a:t>
            </a:r>
            <a:r>
              <a:rPr sz="2000"/>
              <a:t> - must be &lt; 0.2</a:t>
            </a:r>
          </a:p>
          <a:p>
            <a:pPr lvl="0" indent="-342900" marL="342900">
              <a:buAutoNum type="arabicPeriod"/>
            </a:pPr>
            <a:r>
              <a:rPr sz="2000" b="1"/>
              <a:t>Create ordination plots</a:t>
            </a:r>
            <a:r>
              <a:rPr sz="2000"/>
              <a:t> with groups identified</a:t>
            </a:r>
          </a:p>
          <a:p>
            <a:pPr lvl="0" indent="-342900" marL="342900">
              <a:buAutoNum type="arabicPeriod"/>
            </a:pPr>
            <a:r>
              <a:rPr sz="2000" b="1"/>
              <a:t>Test homogeneity of dispersions</a:t>
            </a:r>
            <a:r>
              <a:rPr sz="2000"/>
              <a:t> before PERMANOVA</a:t>
            </a:r>
          </a:p>
          <a:p>
            <a:pPr lvl="0" indent="-342900" marL="342900">
              <a:buAutoNum type="arabicPeriod"/>
            </a:pPr>
            <a:r>
              <a:rPr sz="2000" b="1"/>
              <a:t>Run PERMANOVA</a:t>
            </a:r>
            <a:r>
              <a:rPr sz="2000"/>
              <a:t> to test group differences</a:t>
            </a:r>
          </a:p>
          <a:p>
            <a:pPr lvl="0" indent="-342900" marL="342900">
              <a:buAutoNum type="arabicPeriod"/>
            </a:pPr>
            <a:r>
              <a:rPr sz="2000" b="1"/>
              <a:t>Consider ANOSIM</a:t>
            </a:r>
            <a:r>
              <a:rPr sz="2000"/>
              <a:t> as complementary test</a:t>
            </a:r>
          </a:p>
          <a:p>
            <a:pPr lvl="0" indent="-342900" marL="342900">
              <a:buAutoNum type="arabicPeriod"/>
            </a:pPr>
            <a:r>
              <a:rPr sz="2000" b="1"/>
              <a:t>Fit environmental variables</a:t>
            </a:r>
            <a:r>
              <a:rPr sz="2000"/>
              <a:t> if available</a:t>
            </a:r>
          </a:p>
          <a:p>
            <a:pPr lvl="0" indent="0" marL="0">
              <a:spcBef>
                <a:spcPts val="3000"/>
              </a:spcBef>
              <a:buNone/>
            </a:pPr>
            <a:r>
              <a:rPr b="1"/>
              <a:t>Key Points to Remember</a:t>
            </a:r>
          </a:p>
          <a:p>
            <a:pPr lvl="0"/>
            <a:r>
              <a:rPr b="1"/>
              <a:t>NMDS preserves rank order</a:t>
            </a:r>
            <a:r>
              <a:rPr/>
              <a:t> of distances, not exact values</a:t>
            </a:r>
          </a:p>
          <a:p>
            <a:pPr lvl="0"/>
            <a:r>
              <a:rPr b="1"/>
              <a:t>Stress &lt; 0.2</a:t>
            </a:r>
            <a:r>
              <a:rPr/>
              <a:t> is acceptable, &lt; 0.1 is excellent</a:t>
            </a:r>
          </a:p>
          <a:p>
            <a:pPr lvl="0"/>
            <a:r>
              <a:rPr b="1"/>
              <a:t>PERMANOVA tests centroids</a:t>
            </a:r>
            <a:r>
              <a:rPr/>
              <a:t>, ANOSIM tests overlap</a:t>
            </a:r>
          </a:p>
          <a:p>
            <a:pPr lvl="0"/>
            <a:r>
              <a:rPr b="1"/>
              <a:t>Check dispersion homogeneity</a:t>
            </a:r>
            <a:r>
              <a:rPr/>
              <a:t> - violated assumption affects interpretation</a:t>
            </a:r>
          </a:p>
          <a:p>
            <a:pPr lvl="0"/>
            <a:r>
              <a:rPr b="1"/>
              <a:t>Multiple comparisons</a:t>
            </a:r>
            <a:r>
              <a:rPr/>
              <a:t> require p-value adjustment</a:t>
            </a:r>
          </a:p>
          <a:p>
            <a:pPr lvl="0"/>
            <a:r>
              <a:rPr b="1"/>
              <a:t>Axes have no inherent meaning</a:t>
            </a:r>
            <a:r>
              <a:rPr/>
              <a:t> in NMDS (unlike PCA)</a:t>
            </a:r>
          </a:p>
          <a:p>
            <a:pPr lvl="0"/>
            <a:r>
              <a:rPr b="1"/>
              <a:t>Use appropriate distance measures</a:t>
            </a:r>
            <a:r>
              <a:rPr/>
              <a:t> for your data type</a:t>
            </a:r>
          </a:p>
          <a:p>
            <a:pPr lvl="0" indent="0" marL="1270000">
              <a:buNone/>
            </a:pPr>
            <a:r>
              <a:rPr sz="2000" b="1"/>
              <a:t>Key Takeaways from NMDS/PERMANOVA Analysis</a:t>
            </a:r>
          </a:p>
          <a:p>
            <a:pPr lvl="0" indent="-342900" marL="342900">
              <a:buAutoNum type="arabicPeriod"/>
            </a:pPr>
            <a:r>
              <a:rPr sz="2000" b="1"/>
              <a:t>NMDS is flexible</a:t>
            </a:r>
            <a:r>
              <a:rPr sz="2000"/>
              <a:t> - works with any distance measure and makes few assumptions</a:t>
            </a:r>
          </a:p>
          <a:p>
            <a:pPr lvl="0" indent="-342900" marL="342900">
              <a:buAutoNum type="arabicPeriod"/>
            </a:pPr>
            <a:r>
              <a:rPr sz="2000" b="1"/>
              <a:t>Stress indicates fit quality</a:t>
            </a:r>
            <a:r>
              <a:rPr sz="2000"/>
              <a:t> - always report and check this value</a:t>
            </a:r>
          </a:p>
          <a:p>
            <a:pPr lvl="0" indent="-342900" marL="342900">
              <a:buAutoNum type="arabicPeriod"/>
            </a:pPr>
            <a:r>
              <a:rPr sz="2000" b="1"/>
              <a:t>PERMANOVA is powerful</a:t>
            </a:r>
            <a:r>
              <a:rPr sz="2000"/>
              <a:t> but assumes homogeneous dispersions</a:t>
            </a:r>
          </a:p>
          <a:p>
            <a:pPr lvl="0" indent="-342900" marL="342900">
              <a:buAutoNum type="arabicPeriod"/>
            </a:pPr>
            <a:r>
              <a:rPr sz="2000" b="1"/>
              <a:t>ANOSIM is complementary</a:t>
            </a:r>
            <a:r>
              <a:rPr sz="2000"/>
              <a:t> - provides different perspective on group separation</a:t>
            </a:r>
          </a:p>
          <a:p>
            <a:pPr lvl="0" indent="-342900" marL="342900">
              <a:buAutoNum type="arabicPeriod"/>
            </a:pPr>
            <a:r>
              <a:rPr sz="2000" b="1"/>
              <a:t>Visualization is crucial</a:t>
            </a:r>
            <a:r>
              <a:rPr sz="2000"/>
              <a:t> - always plot your ordination results</a:t>
            </a:r>
          </a:p>
          <a:p>
            <a:pPr lvl="0" indent="-342900" marL="342900">
              <a:buAutoNum type="arabicPeriod"/>
            </a:pPr>
            <a:r>
              <a:rPr sz="2000" b="1"/>
              <a:t>Environmental fitting</a:t>
            </a:r>
            <a:r>
              <a:rPr sz="2000"/>
              <a:t> helps interpret ecological patterns</a:t>
            </a:r>
          </a:p>
          <a:p>
            <a:pPr lvl="0" indent="-342900" marL="342900">
              <a:buAutoNum type="arabicPeriod"/>
            </a:pPr>
            <a:r>
              <a:rPr sz="2000" b="1"/>
              <a:t>Permutation tests</a:t>
            </a:r>
            <a:r>
              <a:rPr sz="2000"/>
              <a:t> avoid distributional assumptions</a:t>
            </a:r>
          </a:p>
          <a:p>
            <a:pPr lvl="0" indent="0" marL="1270000">
              <a:buNone/>
            </a:pPr>
            <a:r>
              <a:rPr sz="2000"/>
              <a:t>Remember: NMDS is iterative and may find different solutions - always set a seed for reproducibility!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NMDS &amp; PERMANOVA</dc:title>
  <dc:creator>Bill Perry</dc:creator>
  <cp:keywords/>
  <dc:description>Hands-on activity: NMDS ordination and PERMANOVA.</dc:description>
  <dcterms:created xsi:type="dcterms:W3CDTF">2026-08-19T22:18:59Z</dcterms:created>
  <dcterms:modified xsi:type="dcterms:W3CDTF">2026-08-19T22:18:59Z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19</vt:lpwstr>
  </property>
  <property fmtid="{D5CDD505-2E9C-101B-9397-08002B2CF9AE}" pid="10" name="resources">
    <vt:lpwstr/>
  </property>
  <property fmtid="{D5CDD505-2E9C-101B-9397-08002B2CF9AE}" pid="11" name="subtitle">
    <vt:lpwstr>NMDS &amp; PERMANOVA</vt:lpwstr>
  </property>
  <property fmtid="{D5CDD505-2E9C-101B-9397-08002B2CF9AE}" pid="12" name="toc-title">
    <vt:lpwstr>Table of contents</vt:lpwstr>
  </property>
  <property fmtid="{D5CDD505-2E9C-101B-9397-08002B2CF9AE}" pid="13" name="week">
    <vt:lpwstr>11</vt:lpwstr>
  </property>
</Properties>
</file>