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NMDS &amp; Cluster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Community ordination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Why NMDS?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Introduction: Why NMDS?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Ecological Community Data</a:t>
            </a:r>
          </a:p>
          <a:p>
            <a:pPr lvl="0"/>
            <a:r>
              <a:rPr/>
              <a:t>Ecological community data presents unique challenges for traditional statistical methods</a:t>
            </a:r>
          </a:p>
          <a:p>
            <a:pPr lvl="0"/>
            <a:r>
              <a:rPr/>
              <a:t>When sampling species abundances across sites</a:t>
            </a:r>
          </a:p>
          <a:p>
            <a:pPr lvl="0"/>
            <a:r>
              <a:rPr/>
              <a:t>encounter data that is sparse (most species are absent from most sites) - many zeros</a:t>
            </a:r>
          </a:p>
          <a:p>
            <a:pPr lvl="0"/>
            <a:r>
              <a:rPr/>
              <a:t>exhibits non-linear relationships between species and environmental gradients</a:t>
            </a:r>
          </a:p>
          <a:p>
            <a:pPr lvl="0"/>
            <a:r>
              <a:rPr/>
              <a:t>has no clear distributional form</a:t>
            </a:r>
          </a:p>
          <a:p>
            <a:pPr lvl="0"/>
            <a:r>
              <a:rPr/>
              <a:t>Principal Components Analysis (PCA) works beautifully for continuous environmental variables</a:t>
            </a:r>
          </a:p>
          <a:p>
            <a:pPr lvl="1"/>
            <a:r>
              <a:rPr/>
              <a:t>assumes linear relationships</a:t>
            </a:r>
          </a:p>
          <a:p>
            <a:pPr lvl="1"/>
            <a:r>
              <a:rPr/>
              <a:t>can leverage correlations between variables</a:t>
            </a:r>
          </a:p>
          <a:p>
            <a:pPr lvl="1"/>
            <a:r>
              <a:rPr/>
              <a:t>for species abundance data - assumptions often fail </a:t>
            </a:r>
            <a:r>
              <a:rPr b="1" i="1"/>
              <a:t>spectacularly</a:t>
            </a:r>
          </a:p>
          <a:p>
            <a:pPr lvl="0"/>
            <a:r>
              <a:rPr b="1"/>
              <a:t>NMDS offers a fundamentally different approach</a:t>
            </a:r>
            <a:r>
              <a:rPr/>
              <a:t>:</a:t>
            </a:r>
          </a:p>
          <a:p>
            <a:pPr lvl="1"/>
            <a:r>
              <a:rPr/>
              <a:t>instead of trying to preserve exact distances or maximize variance explained</a:t>
            </a:r>
          </a:p>
          <a:p>
            <a:pPr lvl="1"/>
            <a:r>
              <a:rPr/>
              <a:t>focuses on </a:t>
            </a:r>
            <a:r>
              <a:rPr b="1"/>
              <a:t>preserving the </a:t>
            </a:r>
            <a:r>
              <a:rPr b="1" i="1"/>
              <a:t>rank order</a:t>
            </a:r>
            <a:r>
              <a:rPr b="1"/>
              <a:t> of similarities between samples</a:t>
            </a:r>
          </a:p>
          <a:p>
            <a:pPr lvl="1"/>
            <a:r>
              <a:rPr/>
              <a:t>makes it remarkably robust for ecological data.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- Multivariate Community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- built in R and other plac</a:t>
            </a:r>
            <a:r>
              <a:rPr/>
              <a:t>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Description of the variable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 from the source [km]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Altitude [m a.s.l.]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Slope [per thousand]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minimum discharge [m</a:t>
                      </a:r>
                      <a:r>
                        <a:rPr baseline="30000"/>
                        <a:t>3</a:t>
                      </a:r>
                      <a:r>
                        <a:rPr/>
                        <a:t>s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 of water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Calcium concentration (hardness)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Phosphate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Nitrate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Ammonium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Dissolved oxygen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Biological oxygen demand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Name (English)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Family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Bullhead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Cottidae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Brown trout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Stone loach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Balitoridae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Grayling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Souffia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Burbot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Spirlin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Gudgeon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Esocidae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Brook lamprey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petromizonidae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Today’s Data: The Doubs 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the Doubs River Dataset</a:t>
            </a:r>
          </a:p>
          <a:p>
            <a:pPr lvl="0"/>
            <a:r>
              <a:rPr b="1"/>
              <a:t>Study System:</a:t>
            </a:r>
          </a:p>
          <a:p>
            <a:pPr lvl="1"/>
            <a:r>
              <a:rPr/>
              <a:t>Doubs River, France</a:t>
            </a:r>
          </a:p>
          <a:p>
            <a:pPr lvl="1"/>
            <a:r>
              <a:rPr/>
              <a:t>29 sites from upstream to downstream</a:t>
            </a:r>
          </a:p>
          <a:p>
            <a:pPr lvl="1"/>
            <a:r>
              <a:rPr/>
              <a:t>Collected by Verneaux (1973)</a:t>
            </a:r>
          </a:p>
          <a:p>
            <a:pPr lvl="1"/>
            <a:r>
              <a:rPr/>
              <a:t>Classic community ecology dataset</a:t>
            </a:r>
          </a:p>
          <a:p>
            <a:pPr lvl="0"/>
            <a:r>
              <a:rPr b="1"/>
              <a:t>Two Datasets:</a:t>
            </a:r>
          </a:p>
          <a:p>
            <a:pPr lvl="1" indent="-342900" marL="685800">
              <a:buAutoNum type="arabicPeriod"/>
            </a:pPr>
            <a:r>
              <a:rPr b="1"/>
              <a:t>Environmental</a:t>
            </a:r>
            <a:r>
              <a:rPr/>
              <a:t>: 11 water quality variables</a:t>
            </a:r>
          </a:p>
          <a:p>
            <a:pPr lvl="1" indent="-342900" marL="685800">
              <a:buAutoNum type="arabicPeriod"/>
            </a:pPr>
            <a:r>
              <a:rPr b="1"/>
              <a:t>Species</a:t>
            </a:r>
            <a:r>
              <a:rPr/>
              <a:t>: 27 fish species abundances (0-5 scale)</a:t>
            </a:r>
          </a:p>
          <a:p>
            <a:pPr lvl="0"/>
            <a:r>
              <a:rPr b="1"/>
              <a:t>Research Questions:</a:t>
            </a:r>
          </a:p>
          <a:p>
            <a:pPr lvl="1"/>
            <a:r>
              <a:rPr/>
              <a:t>How do fish communities change along the river?</a:t>
            </a:r>
          </a:p>
          <a:p>
            <a:pPr lvl="1"/>
            <a:r>
              <a:rPr/>
              <a:t>Which environmental factors drive community composition?</a:t>
            </a:r>
          </a:p>
          <a:p>
            <a:pPr lvl="1"/>
            <a:r>
              <a:rPr/>
              <a:t>Are there distinct community types?</a:t>
            </a:r>
          </a:p>
        </p:txBody>
      </p:sp>
      <p:pic>
        <p:nvPicPr>
          <p:cNvPr descr="nmds_cluster_analysis_lecture_files/figure-pptx/river-over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The NMDS Algorithm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Non-metric Multidimensional Scaling (NMDS)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NMDS?</a:t>
            </a:r>
          </a:p>
          <a:p>
            <a:pPr lvl="1"/>
            <a:r>
              <a:rPr b="1"/>
              <a:t>Overview of NMDS:</a:t>
            </a:r>
          </a:p>
          <a:p>
            <a:pPr lvl="2"/>
            <a:r>
              <a:rPr b="1"/>
              <a:t>Purpose</a:t>
            </a:r>
            <a:r>
              <a:rPr/>
              <a:t>: Visualize dissimilarity between objects in 2D/3D space</a:t>
            </a:r>
          </a:p>
          <a:p>
            <a:pPr lvl="2"/>
            <a:r>
              <a:rPr b="1"/>
              <a:t>Goal</a:t>
            </a:r>
            <a:r>
              <a:rPr/>
              <a:t>: Preserve rank order of distances, not exact distances</a:t>
            </a:r>
          </a:p>
          <a:p>
            <a:pPr lvl="2"/>
            <a:r>
              <a:rPr b="1"/>
              <a:t>Method</a:t>
            </a:r>
            <a:r>
              <a:rPr/>
              <a:t>: Iterative re-positioning to minimize stress</a:t>
            </a:r>
          </a:p>
          <a:p>
            <a:pPr lvl="2"/>
            <a:r>
              <a:rPr b="1"/>
              <a:t>Output</a:t>
            </a:r>
            <a:r>
              <a:rPr/>
              <a:t>: Ordination plot showing relationships between samples</a:t>
            </a:r>
          </a:p>
          <a:p>
            <a:pPr lvl="1"/>
            <a:r>
              <a:rPr b="1"/>
              <a:t>Key Differences from PCA:</a:t>
            </a:r>
          </a:p>
          <a:p>
            <a:pPr lvl="2"/>
            <a:r>
              <a:rPr/>
              <a:t>Uses dissimilarity matrices (not covariance)</a:t>
            </a:r>
          </a:p>
          <a:p>
            <a:pPr lvl="2"/>
            <a:r>
              <a:rPr/>
              <a:t>Non-parametric (rank-based)</a:t>
            </a:r>
          </a:p>
          <a:p>
            <a:pPr lvl="2"/>
            <a:r>
              <a:rPr/>
              <a:t>Better for non-linear ecological relationships</a:t>
            </a:r>
          </a:p>
          <a:p>
            <a:pPr lvl="2"/>
            <a:r>
              <a:rPr/>
              <a:t>No assumption about data distribution</a:t>
            </a:r>
          </a:p>
          <a:p>
            <a:pPr lvl="0"/>
            <a:r>
              <a:rPr/>
              <a:t>Before running NMDS - analyzing </a:t>
            </a:r>
            <a:r>
              <a:rPr b="1"/>
              <a:t>dissimilarity matrices</a:t>
            </a:r>
            <a:r>
              <a:rPr/>
              <a:t> not raw abundance data</a:t>
            </a:r>
          </a:p>
          <a:p>
            <a:pPr lvl="1"/>
            <a:r>
              <a:rPr/>
              <a:t>dissimilarity matrix contains values for every pair of samples = “how different”</a:t>
            </a:r>
          </a:p>
          <a:p>
            <a:pPr lvl="1"/>
            <a:r>
              <a:rPr/>
              <a:t>typically range from 0 (identical) to 1 (completely different).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Gotelli &amp; Ellison, </a:t>
            </a:r>
            <a:r>
              <a:rPr sz="2000" i="1"/>
              <a:t>A Primer of Ecological Statistics</a:t>
            </a:r>
            <a:r>
              <a:rPr sz="2000"/>
              <a:t>, Ch. 12 — The Analysis of Multivariate Data, covers ordination methods including NMDS.</a:t>
            </a:r>
          </a:p>
        </p:txBody>
      </p:sp>
      <p:pic>
        <p:nvPicPr>
          <p:cNvPr descr="nmds_cluster_analysis_lecture_files/figure-pptx/nmds-process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Bray-Curtis for Community Data?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Bray-Curtis dissimilarity</a:t>
                </a:r>
                <a:r>
                  <a:rPr/>
                  <a:t> is standard choice for community data because it handles zeros appropriately (</a:t>
                </a:r>
                <a:r>
                  <a:rPr b="1"/>
                  <a:t>joint absences don’t contribute to similarity</a:t>
                </a:r>
                <a:r>
                  <a:rPr/>
                  <a:t>)</a:t>
                </a:r>
              </a:p>
              <a:p>
                <a:pPr lvl="1"/>
                <a:r>
                  <a:rPr/>
                  <a:t>bounded between 0 and 1</a:t>
                </a:r>
              </a:p>
              <a:p>
                <a:pPr lvl="1"/>
                <a:r>
                  <a:rPr/>
                  <a:t>weights by abundance (not just presence/absence) - ignores joint absences entirely</a:t>
                </a:r>
              </a:p>
              <a:p>
                <a:pPr lvl="1"/>
                <a:r>
                  <a:rPr/>
                  <a:t>Similarity is based only on what’s actually present and shared between sites</a:t>
                </a:r>
              </a:p>
              <a:p>
                <a:pPr lvl="1"/>
                <a:r>
                  <a:rPr/>
                  <a:t>performs well with sparse data</a:t>
                </a:r>
              </a:p>
              <a:p>
                <a:pPr lvl="0" indent="0" marL="0">
                  <a:buNone/>
                </a:pPr>
                <a:r>
                  <a:rPr/>
                  <a:t>The formula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B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the abundance of species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at site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0"/>
                <a:r>
                  <a:rPr b="1"/>
                  <a:t>numerator sums up the </a:t>
                </a:r>
                <a:r>
                  <a:rPr b="1" u="sng"/>
                  <a:t>absolute differences in abundance</a:t>
                </a:r>
                <a:r>
                  <a:rPr b="1"/>
                  <a:t> for each species between two sites</a:t>
                </a:r>
              </a:p>
              <a:p>
                <a:pPr lvl="0"/>
                <a:r>
                  <a:rPr b="1"/>
                  <a:t>denominator sums up the </a:t>
                </a:r>
                <a:r>
                  <a:rPr b="1" u="sng"/>
                  <a:t>total abundance</a:t>
                </a:r>
                <a:r>
                  <a:rPr b="1"/>
                  <a:t> at both sites</a:t>
                </a:r>
              </a:p>
              <a:p>
                <a:pPr lvl="0"/>
                <a:r>
                  <a:rPr/>
                  <a:t>Bray-Curtis asks: </a:t>
                </a:r>
                <a:r>
                  <a:rPr b="1"/>
                  <a:t>“Of all the individuals at these two sites, what proportion would need to be moved to make the sites identical?”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NMDS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NMDS Actually Does</a:t>
            </a:r>
          </a:p>
          <a:p>
            <a:pPr lvl="1"/>
            <a:r>
              <a:rPr/>
              <a:t>NMDS tries to place samples in a low-dimensional space (usually 2D)</a:t>
            </a:r>
          </a:p>
          <a:p>
            <a:pPr lvl="1"/>
            <a:r>
              <a:rPr/>
              <a:t>so </a:t>
            </a:r>
            <a:r>
              <a:rPr b="1"/>
              <a:t>rank order</a:t>
            </a:r>
            <a:r>
              <a:rPr/>
              <a:t> of distances in ordination matches </a:t>
            </a:r>
            <a:r>
              <a:rPr b="1"/>
              <a:t>rank order</a:t>
            </a:r>
            <a:r>
              <a:rPr/>
              <a:t> of dissimilarities in original matrix</a:t>
            </a:r>
          </a:p>
          <a:p>
            <a:pPr lvl="0"/>
            <a:r>
              <a:rPr/>
              <a:t>Not your PCA which preserves </a:t>
            </a:r>
            <a:r>
              <a:rPr i="1"/>
              <a:t>exact</a:t>
            </a:r>
            <a:r>
              <a:rPr/>
              <a:t> distances (or variance)</a:t>
            </a:r>
          </a:p>
          <a:p>
            <a:pPr lvl="0"/>
            <a:r>
              <a:rPr/>
              <a:t>NMDS only cares about relative ordering:</a:t>
            </a:r>
          </a:p>
          <a:p>
            <a:pPr lvl="1"/>
            <a:r>
              <a:rPr/>
              <a:t>if site A is more similar to site B than to site C in the original data</a:t>
            </a:r>
          </a:p>
          <a:p>
            <a:pPr lvl="1"/>
            <a:r>
              <a:rPr/>
              <a:t>then A should be closer to B than to C in the ordination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NMDS Works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NMDS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pairs of sites</a:t>
            </a:r>
          </a:p>
          <a:p>
            <a:pPr lvl="1" indent="-342900" marL="685800">
              <a:buAutoNum type="arabicPeriod"/>
            </a:pPr>
            <a:r>
              <a:rPr b="1"/>
              <a:t>Start with random configuration</a:t>
            </a:r>
            <a:r>
              <a:rPr/>
              <a:t> of points in 2D space</a:t>
            </a:r>
          </a:p>
          <a:p>
            <a:pPr lvl="1" indent="-342900" marL="685800">
              <a:buAutoNum type="arabicPeriod"/>
            </a:pPr>
            <a:r>
              <a:rPr b="1"/>
              <a:t>Calculate stress</a:t>
            </a:r>
            <a:r>
              <a:rPr/>
              <a:t> = </a:t>
            </a:r>
            <a:r>
              <a:rPr b="1"/>
              <a:t>difference between original distances and ordination distances</a:t>
            </a:r>
          </a:p>
          <a:p>
            <a:pPr lvl="1" indent="-342900" marL="685800">
              <a:buAutoNum type="arabicPeriod"/>
            </a:pPr>
            <a:r>
              <a:rPr b="1"/>
              <a:t>Move points</a:t>
            </a:r>
            <a:r>
              <a:rPr/>
              <a:t> to reduce stress</a:t>
            </a:r>
          </a:p>
          <a:p>
            <a:pPr lvl="1" indent="-342900" marL="685800">
              <a:buAutoNum type="arabicPeriod"/>
            </a:pPr>
            <a:r>
              <a:rPr b="1"/>
              <a:t>Repeat</a:t>
            </a:r>
            <a:r>
              <a:rPr/>
              <a:t> until stress cannot be reduced further</a:t>
            </a:r>
          </a:p>
          <a:p>
            <a:pPr lvl="1" indent="-342900" marL="685800">
              <a:buAutoNum type="arabicPeriod"/>
            </a:pPr>
            <a:r>
              <a:rPr b="1"/>
              <a:t>Try multiple random starts</a:t>
            </a:r>
            <a:r>
              <a:rPr/>
              <a:t> to avoid local minima</a:t>
            </a:r>
          </a:p>
          <a:p>
            <a:pPr lvl="0"/>
            <a:r>
              <a:rPr b="1"/>
              <a:t>Stress Values:</a:t>
            </a:r>
          </a:p>
          <a:p>
            <a:pPr lvl="1"/>
            <a:r>
              <a:rPr/>
              <a:t>&lt; 0.1: Good representation</a:t>
            </a:r>
          </a:p>
          <a:p>
            <a:pPr lvl="1"/>
            <a:r>
              <a:rPr/>
              <a:t>0.1-0.2: Acceptable</a:t>
            </a:r>
          </a:p>
          <a:p>
            <a:pPr lvl="1"/>
            <a:r>
              <a:rPr/>
              <a:t>&gt; 0.2: Poor representation</a:t>
            </a:r>
          </a:p>
        </p:txBody>
      </p:sp>
      <p:pic>
        <p:nvPicPr>
          <p:cNvPr descr="nmds_cluster_analysis_lecture_files/figure-pptx/stres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Stress and Model Diagnostics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Stress?</a:t>
            </a:r>
          </a:p>
          <a:p>
            <a:pPr lvl="1"/>
            <a:r>
              <a:rPr b="1"/>
              <a:t>Stress</a:t>
            </a:r>
            <a:r>
              <a:rPr/>
              <a:t> is key diagnostic for NMDS quality</a:t>
            </a:r>
          </a:p>
          <a:p>
            <a:pPr lvl="1"/>
            <a:r>
              <a:rPr/>
              <a:t>measures disagreement between original dissimilarities and distances in ordination</a:t>
            </a:r>
          </a:p>
          <a:p>
            <a:pPr lvl="1"/>
            <a:r>
              <a:rPr/>
              <a:t>stress is calculated by first ranking all pairwise dissimilarities</a:t>
            </a:r>
          </a:p>
          <a:p>
            <a:pPr lvl="1"/>
            <a:r>
              <a:rPr/>
              <a:t>then calculating corresponding distances in the ordination</a:t>
            </a:r>
          </a:p>
          <a:p>
            <a:pPr lvl="1"/>
            <a:r>
              <a:rPr/>
              <a:t>fitting a monotonic regression line to the relationship between these</a:t>
            </a:r>
          </a:p>
          <a:p>
            <a:pPr lvl="1"/>
            <a:r>
              <a:rPr/>
              <a:t>finally computing sum of squared deviations from this line.</a:t>
            </a:r>
          </a:p>
          <a:p>
            <a:pPr lvl="0"/>
            <a:r>
              <a:rPr/>
              <a:t>Lower stress means ordination better represents original relationships</a:t>
            </a:r>
          </a:p>
          <a:p>
            <a:pPr lvl="0"/>
            <a:r>
              <a:rPr b="1"/>
              <a:t>The Shepard Diagram: Visualizing Stress</a:t>
            </a:r>
          </a:p>
          <a:p>
            <a:pPr lvl="1"/>
            <a:r>
              <a:rPr b="1"/>
              <a:t>Shepard diagram</a:t>
            </a:r>
            <a:r>
              <a:rPr/>
              <a:t> (or stress plot) is primary diagnostic tool for NMDS</a:t>
            </a:r>
          </a:p>
          <a:p>
            <a:pPr lvl="1"/>
            <a:r>
              <a:rPr/>
              <a:t>shows relationship between original dissimilarities (x-axis) and ordination distances (y-axis) with a fitted monotonic line</a:t>
            </a:r>
          </a:p>
          <a:p>
            <a:pPr lvl="1"/>
            <a:r>
              <a:rPr/>
              <a:t>If NMDS is working well - points should closely follow the line</a:t>
            </a:r>
          </a:p>
          <a:p>
            <a:pPr lvl="1"/>
            <a:r>
              <a:rPr/>
              <a:t>Scatter indicates loss of information.</a:t>
            </a:r>
          </a:p>
        </p:txBody>
      </p:sp>
      <p:pic>
        <p:nvPicPr>
          <p:cNvPr descr="nmds_cluster_analysis_lecture_files/figure-pptx/shepard-diagram_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the Shepard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Shepard diagram</a:t>
            </a:r>
          </a:p>
          <a:p>
            <a:pPr lvl="1"/>
            <a:r>
              <a:rPr/>
              <a:t>each point represents one pair of sites</a:t>
            </a:r>
          </a:p>
          <a:p>
            <a:pPr lvl="1"/>
            <a:r>
              <a:rPr/>
              <a:t>x-axis shows their original Bray-Curtis dissimilarity</a:t>
            </a:r>
          </a:p>
          <a:p>
            <a:pPr lvl="1"/>
            <a:r>
              <a:rPr/>
              <a:t>y-axis shows their distance in the 2D ordination</a:t>
            </a:r>
          </a:p>
          <a:p>
            <a:pPr lvl="1"/>
            <a:r>
              <a:rPr/>
              <a:t>stepped line is a monotonic regression, = can only go up/stay flat not down</a:t>
            </a:r>
          </a:p>
          <a:p>
            <a:pPr lvl="1"/>
            <a:r>
              <a:rPr/>
              <a:t>because NMDS preserves rank order - “stress” = scatter around line</a:t>
            </a:r>
          </a:p>
          <a:p>
            <a:pPr lvl="0"/>
            <a:r>
              <a:rPr b="1"/>
              <a:t>Insights from our Shepard diagram:</a:t>
            </a:r>
          </a:p>
          <a:p>
            <a:pPr lvl="1"/>
            <a:r>
              <a:rPr/>
              <a:t>minimal scatter</a:t>
            </a:r>
          </a:p>
          <a:p>
            <a:pPr lvl="0"/>
            <a:r>
              <a:rPr b="1"/>
              <a:t>Stress Guidelines</a:t>
            </a:r>
          </a:p>
          <a:p>
            <a:pPr lvl="1"/>
            <a:r>
              <a:rPr/>
              <a:t>Clarke (1993) widely-used guidelines for interpreting stress</a:t>
            </a:r>
          </a:p>
          <a:p>
            <a:pPr lvl="2"/>
            <a:r>
              <a:rPr/>
              <a:t>&lt;0.05 excellent representation w/no misinterpretation</a:t>
            </a:r>
          </a:p>
          <a:p>
            <a:pPr lvl="2"/>
            <a:r>
              <a:rPr/>
              <a:t>0.05 - 0.10 good ordination - no real risk of false inferences</a:t>
            </a:r>
          </a:p>
          <a:p>
            <a:pPr lvl="2"/>
            <a:r>
              <a:rPr/>
              <a:t>0.10 - 0.20 usable ordination but details at lower end interpreted cautiously</a:t>
            </a:r>
          </a:p>
          <a:p>
            <a:pPr lvl="2"/>
            <a:r>
              <a:rPr/>
              <a:t>0.20 and 0.30 used with caution/potentially higher dimensions considered</a:t>
            </a:r>
          </a:p>
          <a:p>
            <a:pPr lvl="2"/>
            <a:r>
              <a:rPr/>
              <a:t>&gt;0.30 = random placement.</a:t>
            </a:r>
          </a:p>
        </p:txBody>
      </p:sp>
      <p:pic>
        <p:nvPicPr>
          <p:cNvPr descr="nmds_cluster_analysis_lecture_files/figure-pptx/shepard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the Number of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know 2 dimensions is enough?</a:t>
            </a:r>
          </a:p>
          <a:p>
            <a:pPr lvl="0"/>
            <a:r>
              <a:rPr/>
              <a:t>create a </a:t>
            </a:r>
            <a:r>
              <a:rPr b="1"/>
              <a:t>scree plot</a:t>
            </a:r>
            <a:r>
              <a:rPr/>
              <a:t> showing stress for different numbers of dimensions: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Assumptions:</a:t>
            </a:r>
          </a:p>
          <a:p>
            <a:pPr lvl="0"/>
            <a:r>
              <a:rPr/>
              <a:t>✅ </a:t>
            </a:r>
            <a:r>
              <a:rPr b="1"/>
              <a:t>Few assumptions:</a:t>
            </a:r>
          </a:p>
          <a:p>
            <a:pPr lvl="1"/>
            <a:r>
              <a:rPr/>
              <a:t>Samples are independent</a:t>
            </a:r>
          </a:p>
          <a:p>
            <a:pPr lvl="1"/>
            <a:r>
              <a:rPr/>
              <a:t>Dissimilarity measure is appropriate</a:t>
            </a:r>
          </a:p>
          <a:p>
            <a:pPr lvl="1"/>
            <a:r>
              <a:rPr/>
              <a:t>Sufficient data for stable solution</a:t>
            </a:r>
          </a:p>
          <a:p>
            <a:pPr lvl="0"/>
            <a:r>
              <a:rPr/>
              <a:t>❌ </a:t>
            </a:r>
            <a:r>
              <a:rPr b="1"/>
              <a:t>No assumptions about:</a:t>
            </a:r>
          </a:p>
          <a:p>
            <a:pPr lvl="1"/>
            <a:r>
              <a:rPr/>
              <a:t>Data distribution</a:t>
            </a:r>
          </a:p>
          <a:p>
            <a:pPr lvl="1"/>
            <a:r>
              <a:rPr/>
              <a:t>Linear relationships</a:t>
            </a:r>
          </a:p>
          <a:p>
            <a:pPr lvl="1"/>
            <a:r>
              <a:rPr/>
              <a:t>Homoscedasticity</a:t>
            </a:r>
          </a:p>
          <a:p>
            <a:pPr lvl="1"/>
            <a:r>
              <a:rPr/>
              <a:t>Normality</a:t>
            </a:r>
          </a:p>
          <a:p>
            <a:pPr lvl="0"/>
            <a:r>
              <a:rPr b="1"/>
              <a:t>This makes NMDS very robust for ecological data!</a:t>
            </a:r>
          </a:p>
        </p:txBody>
      </p:sp>
      <p:pic>
        <p:nvPicPr>
          <p:cNvPr descr="nmds_cluster_analysis_lecture_files/figure-pptx/nmds-robust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Running and Visualizing NMDS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NMDS on Fish Communities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Prepare species data (remove site column)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spe_matrix &lt;- doubs_spe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site,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reach)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as.matrix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Add small constant to avoid issues with zeros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spe_matrix &lt;- spe_matrix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Run NMDS with multiple random starts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fish_nmds &lt;- </a:t>
            </a:r>
            <a:r>
              <a:rPr>
                <a:solidFill>
                  <a:srgbClr val="4758AB"/>
                </a:solidFill>
                <a:latin typeface="Courier"/>
              </a:rPr>
              <a:t>metaMDS</a:t>
            </a:r>
            <a:r>
              <a:rPr>
                <a:solidFill>
                  <a:srgbClr val="003B4F"/>
                </a:solidFill>
                <a:latin typeface="Courier"/>
              </a:rPr>
              <a:t>(spe_matrix,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"bray"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5E5E5E"/>
                </a:solidFill>
                <a:latin typeface="Courier"/>
              </a:rPr>
              <a:t># Bray-Curtis dissimilarity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k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  </a:t>
            </a:r>
            <a:r>
              <a:rPr>
                <a:solidFill>
                  <a:srgbClr val="657422"/>
                </a:solidFill>
                <a:latin typeface="Courier"/>
              </a:rPr>
              <a:t>trymax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            </a:t>
            </a:r>
            <a:r>
              <a:rPr>
                <a:solidFill>
                  <a:srgbClr val="5E5E5E"/>
                </a:solidFill>
                <a:latin typeface="Courier"/>
              </a:rPr>
              <a:t># 2 dimensions + Maximum tries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0 stress 0.07449349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 stress 0.1201175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2 stress 0.1201749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3 stress 0.1195174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4 stress 0.1201175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5 stress 0.1468615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6 stress 0.1395204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7 stress 0.09450578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8 stress 0.07460885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... Procrustes: rmse 0.02069815  max resid 0.09861179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9 stress 0.1273318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10 stress 0.1200159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11 stress 0.1273318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12 stress 0.07449349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... Procrustes: rmse 4.373445e-06  max resid 1.595028e-05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... Similar to previous best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13 stress 0.09450578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14 stress 0.140665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15 stress 0.07459993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... Procrustes: rmse 0.02014078  max resid 0.09796964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16 stress 0.1262615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17 stress 0.07460885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... Procrustes: rmse 0.02069823  max resid 0.09861196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18 stress 0.09134568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19 stress 0.07460885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... Procrustes: rmse 0.02069807  max resid 0.09861147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Run 20 stress 0.07460885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... Procrustes: rmse 0.02069863  max resid 0.09861444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*** Best solution repeated 1 times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"Final stress:"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(fish_nmds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stress,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Final stress: 0.074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Code Explanation:</a:t>
            </a:r>
          </a:p>
          <a:p>
            <a:pPr lvl="0"/>
            <a:r>
              <a:rPr>
                <a:latin typeface="Courier"/>
              </a:rPr>
              <a:t>fish_nmds &lt;- metaMDS(spe_matrix, distance = "bray", # Bray-Curtis dissimilarity</a:t>
            </a:r>
          </a:p>
          <a:p>
            <a:pPr lvl="1"/>
            <a:r>
              <a:rPr>
                <a:latin typeface="Courier"/>
              </a:rPr>
              <a:t>k = 2, trymax = 100) # 2 dimensions + Maximum tries</a:t>
            </a:r>
          </a:p>
          <a:p>
            <a:pPr lvl="0"/>
            <a:r>
              <a:rPr>
                <a:latin typeface="Courier"/>
              </a:rPr>
              <a:t>metaMDS()</a:t>
            </a:r>
            <a:r>
              <a:rPr/>
              <a:t>: Main NMDS function from vegan package</a:t>
            </a:r>
          </a:p>
          <a:p>
            <a:pPr lvl="1"/>
            <a:r>
              <a:rPr>
                <a:latin typeface="Courier"/>
              </a:rPr>
              <a:t>distance = "bray"</a:t>
            </a:r>
            <a:r>
              <a:rPr/>
              <a:t>: Bray-Curtis dissimilarity (best for abundances)</a:t>
            </a:r>
          </a:p>
          <a:p>
            <a:pPr lvl="1"/>
            <a:r>
              <a:rPr>
                <a:latin typeface="Courier"/>
              </a:rPr>
              <a:t>k = 2</a:t>
            </a:r>
            <a:r>
              <a:rPr/>
              <a:t>: Two dimensions for plotting</a:t>
            </a:r>
          </a:p>
          <a:p>
            <a:pPr lvl="1"/>
            <a:r>
              <a:rPr>
                <a:latin typeface="Courier"/>
              </a:rPr>
              <a:t>trymax = 100</a:t>
            </a:r>
            <a:r>
              <a:rPr/>
              <a:t>: Try 100 random starting configurations</a:t>
            </a:r>
          </a:p>
          <a:p>
            <a:pPr lvl="1"/>
            <a:r>
              <a:rPr/>
              <a:t>Small constant added to avoid zero-distance issues</a:t>
            </a:r>
          </a:p>
        </p:txBody>
      </p:sp>
      <p:pic>
        <p:nvPicPr>
          <p:cNvPr descr="nmds_cluster_analysis_lecture_files/figure-pptx/stress-diagnost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NMDS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Understanding the Output:</a:t>
            </a:r>
          </a:p>
          <a:p>
            <a:pPr lvl="1" indent="-342900" marL="685800">
              <a:buAutoNum type="arabicPeriod"/>
            </a:pPr>
            <a:r>
              <a:rPr b="1"/>
              <a:t>Stress = 0.074</a:t>
            </a:r>
            <a:r>
              <a:rPr/>
              <a:t> : This is “excellent”</a:t>
            </a:r>
          </a:p>
          <a:p>
            <a:pPr lvl="1" indent="-342900" marL="685800">
              <a:buAutoNum type="arabicPeriod"/>
            </a:pPr>
            <a:r>
              <a:rPr/>
              <a:t>Our 2D representation preserves the original distances well</a:t>
            </a:r>
          </a:p>
          <a:p>
            <a:pPr lvl="1" indent="-342900" marL="685800">
              <a:buAutoNum type="arabicPeriod"/>
            </a:pPr>
            <a:r>
              <a:rPr b="1"/>
              <a:t>Convergent solutions</a:t>
            </a:r>
            <a:r>
              <a:rPr/>
              <a:t>: Found stable solutions from multiple tries</a:t>
            </a:r>
          </a:p>
          <a:p>
            <a:pPr lvl="1" indent="-342900" marL="685800">
              <a:buAutoNum type="arabicPeriod"/>
            </a:pPr>
            <a:r>
              <a:rPr b="1"/>
              <a:t>Two dimensions</a:t>
            </a:r>
            <a:r>
              <a:rPr/>
              <a:t>: Axis 1 and Axis 2 have no inherent meaning (unlike PCA components)</a:t>
            </a:r>
          </a:p>
          <a:p>
            <a:pPr lvl="1" indent="-342900" marL="685800">
              <a:buAutoNum type="arabicPeriod"/>
            </a:pPr>
            <a:r>
              <a:rPr b="1"/>
              <a:t>No eigenvalues</a:t>
            </a:r>
            <a:r>
              <a:rPr/>
              <a:t>: NMDS doesn’t calculate variance explained per axis</a:t>
            </a:r>
          </a:p>
        </p:txBody>
      </p:sp>
      <p:pic>
        <p:nvPicPr>
          <p:cNvPr descr="nmds_cluster_analysis_lecture_files/figure-pptx/basic-nmd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Creating Enhanced NMDS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the NMDS Shows:</a:t>
            </a:r>
          </a:p>
          <a:p>
            <a:pPr lvl="1"/>
            <a:r>
              <a:rPr b="1"/>
              <a:t>Clear separation</a:t>
            </a:r>
            <a:r>
              <a:rPr/>
              <a:t> between river reaches</a:t>
            </a:r>
          </a:p>
          <a:p>
            <a:pPr lvl="1"/>
            <a:r>
              <a:rPr b="1"/>
              <a:t>Gradient pattern</a:t>
            </a:r>
            <a:r>
              <a:rPr/>
              <a:t> from upper to lower reaches</a:t>
            </a:r>
          </a:p>
          <a:p>
            <a:pPr lvl="1"/>
            <a:r>
              <a:rPr/>
              <a:t>Sites within each reach are </a:t>
            </a:r>
            <a:r>
              <a:rPr b="1"/>
              <a:t>more similar</a:t>
            </a:r>
            <a:r>
              <a:rPr/>
              <a:t> to each other than to other reaches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plot using the actual hull definitions from vegan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PERMANOVA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PERMANOVA: Testing Multivariate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PERMANOVA?</a:t>
            </a:r>
          </a:p>
          <a:p>
            <a:pPr lvl="1"/>
            <a:r>
              <a:rPr b="1"/>
              <a:t>PERMANOVA (Permutational Multivariate ANOVA):</a:t>
            </a:r>
          </a:p>
          <a:p>
            <a:pPr lvl="2"/>
            <a:r>
              <a:rPr b="1"/>
              <a:t>Purpose</a:t>
            </a:r>
            <a:r>
              <a:rPr/>
              <a:t>: Test whether groups have different multivariate centroids</a:t>
            </a:r>
          </a:p>
          <a:p>
            <a:pPr lvl="2"/>
            <a:r>
              <a:rPr b="1"/>
              <a:t>Method</a:t>
            </a:r>
            <a:r>
              <a:rPr/>
              <a:t>: ANOVA using distance matrices instead of raw data</a:t>
            </a:r>
          </a:p>
          <a:p>
            <a:pPr lvl="2"/>
            <a:r>
              <a:rPr b="1"/>
              <a:t>Advantage</a:t>
            </a:r>
            <a:r>
              <a:rPr/>
              <a:t>: No distributional assumptions</a:t>
            </a:r>
          </a:p>
          <a:p>
            <a:pPr lvl="2"/>
            <a:r>
              <a:rPr b="1"/>
              <a:t>Permutation</a:t>
            </a:r>
            <a:r>
              <a:rPr/>
              <a:t>: Creates null distribution by randomly reassigning group labels</a:t>
            </a:r>
          </a:p>
          <a:p>
            <a:pPr lvl="1"/>
            <a:r>
              <a:rPr b="1"/>
              <a:t>Think of it as:</a:t>
            </a:r>
          </a:p>
          <a:p>
            <a:pPr lvl="2"/>
            <a:r>
              <a:rPr/>
              <a:t>Multivariate version of ANOVA</a:t>
            </a:r>
          </a:p>
          <a:p>
            <a:pPr lvl="2"/>
            <a:r>
              <a:rPr/>
              <a:t>Uses distances between samples instead of means</a:t>
            </a:r>
          </a:p>
          <a:p>
            <a:pPr lvl="2"/>
            <a:r>
              <a:rPr/>
              <a:t>Tests: “Are the centers of these groups different in multivariate space?” .</a:t>
            </a:r>
          </a:p>
        </p:txBody>
      </p:sp>
      <p:pic>
        <p:nvPicPr>
          <p:cNvPr descr="nmds_cluster_analysis_lecture_files/figure-pptx/permanova-concept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PERMANOVA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Algorithm:</a:t>
            </a:r>
          </a:p>
          <a:p>
            <a:pPr lvl="1" indent="-342900" marL="685800">
              <a:buAutoNum type="arabicPeriod"/>
            </a:pPr>
            <a:r>
              <a:rPr b="1"/>
              <a:t>Calculate distance matrix</a:t>
            </a:r>
            <a:r>
              <a:rPr/>
              <a:t> between all pairs of samples</a:t>
            </a:r>
          </a:p>
          <a:p>
            <a:pPr lvl="1" indent="-342900" marL="685800">
              <a:buAutoNum type="arabicPeriod"/>
            </a:pPr>
            <a:r>
              <a:rPr b="1"/>
              <a:t>Calculate F-statistic</a:t>
            </a:r>
            <a:r>
              <a:rPr/>
              <a:t> based on distances:</a:t>
            </a:r>
          </a:p>
          <a:p>
            <a:pPr lvl="2"/>
            <a:r>
              <a:rPr/>
              <a:t>Between-group sum of squares</a:t>
            </a:r>
          </a:p>
          <a:p>
            <a:pPr lvl="2"/>
            <a:r>
              <a:rPr/>
              <a:t>Within-group sum of squares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randomly (e.g., 999 times)</a:t>
            </a:r>
          </a:p>
          <a:p>
            <a:pPr lvl="1" indent="-342900" marL="685800">
              <a:buAutoNum type="arabicPeriod"/>
            </a:pPr>
            <a:r>
              <a:rPr b="1"/>
              <a:t>Recalculate F-statistic</a:t>
            </a:r>
            <a:r>
              <a:rPr/>
              <a:t> for each permutation</a:t>
            </a:r>
          </a:p>
          <a:p>
            <a:pPr lvl="1" indent="-342900" marL="685800">
              <a:buAutoNum type="arabicPeriod"/>
            </a:pPr>
            <a:r>
              <a:rPr b="1"/>
              <a:t>Compare observed F</a:t>
            </a:r>
            <a:r>
              <a:rPr/>
              <a:t> to permutation distribution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F ≥ observed F</a:t>
            </a:r>
          </a:p>
          <a:p>
            <a:pPr lvl="0"/>
            <a:r>
              <a:rPr b="1"/>
              <a:t>Why permutation?</a:t>
            </a:r>
          </a:p>
          <a:p>
            <a:pPr lvl="1"/>
            <a:r>
              <a:rPr/>
              <a:t>No assumptions about data distribution</a:t>
            </a:r>
          </a:p>
          <a:p>
            <a:pPr lvl="1"/>
            <a:r>
              <a:rPr/>
              <a:t>Creates empirical null distribution</a:t>
            </a:r>
          </a:p>
          <a:p>
            <a:pPr lvl="1"/>
            <a:r>
              <a:rPr/>
              <a:t>Accounts for complex dependency structures</a:t>
            </a:r>
          </a:p>
        </p:txBody>
      </p:sp>
      <p:pic>
        <p:nvPicPr>
          <p:cNvPr descr="nmds_cluster_analysis_lecture_files/figure-pptx/permutation-distribu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Research Question:</a:t>
            </a:r>
            <a:r>
              <a:rPr/>
              <a:t> </a:t>
            </a:r>
            <a:r>
              <a:rPr i="1"/>
              <a:t>“Do fish communities differ significantly between river reaches?”</a:t>
            </a:r>
          </a:p>
          <a:p>
            <a:pPr lvl="0"/>
            <a:r>
              <a:rPr b="1"/>
              <a:t>Statistical Hypotheses:</a:t>
            </a:r>
          </a:p>
          <a:p>
            <a:pPr lvl="1"/>
            <a:r>
              <a:rPr b="1"/>
              <a:t>H₀</a:t>
            </a:r>
            <a:r>
              <a:rPr/>
              <a:t>: The centroids of fish communities are the same across all river reaches (Upper = Middle = Lower)</a:t>
            </a:r>
          </a:p>
          <a:p>
            <a:pPr lvl="1"/>
            <a:r>
              <a:rPr b="1"/>
              <a:t>H₁</a:t>
            </a:r>
            <a:r>
              <a:rPr/>
              <a:t>: At least one river reach has a different community centroid</a:t>
            </a:r>
          </a:p>
          <a:p>
            <a:pPr lvl="0"/>
            <a:r>
              <a:rPr b="1"/>
              <a:t>In practical terms:</a:t>
            </a:r>
            <a:r>
              <a:rPr/>
              <a:t> -</a:t>
            </a:r>
          </a:p>
          <a:p>
            <a:pPr lvl="1"/>
            <a:r>
              <a:rPr/>
              <a:t>H₀: River position doesn’t affect community composition</a:t>
            </a:r>
          </a:p>
          <a:p>
            <a:pPr lvl="1"/>
            <a:r>
              <a:rPr/>
              <a:t>H₁: River position significantly affects community composition</a:t>
            </a:r>
          </a:p>
        </p:txBody>
      </p:sp>
      <p:pic>
        <p:nvPicPr>
          <p:cNvPr descr="nmds_cluster_analysis_lecture_files/figure-pptx/hypothesi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PERMANOVA Assumptions:</a:t>
            </a:r>
          </a:p>
          <a:p>
            <a:pPr lvl="0"/>
            <a:r>
              <a:rPr/>
              <a:t>✅ </a:t>
            </a:r>
            <a:r>
              <a:rPr b="1"/>
              <a:t>Required:</a:t>
            </a:r>
          </a:p>
          <a:p>
            <a:pPr lvl="1" indent="-342900" marL="685800">
              <a:buAutoNum type="arabicPeriod"/>
            </a:pPr>
            <a:r>
              <a:rPr b="1"/>
              <a:t>Independence</a:t>
            </a:r>
            <a:r>
              <a:rPr/>
              <a:t>: Samples are independent</a:t>
            </a:r>
          </a:p>
          <a:p>
            <a:pPr lvl="1" indent="-342900" marL="685800">
              <a:buAutoNum type="arabicPeriod"/>
            </a:pPr>
            <a:r>
              <a:rPr b="1"/>
              <a:t>Exchangeability</a:t>
            </a:r>
            <a:r>
              <a:rPr/>
              <a:t>: Under H₀, observations are exchangeable between groups</a:t>
            </a:r>
          </a:p>
          <a:p>
            <a:pPr lvl="1" indent="-342900" marL="685800">
              <a:buAutoNum type="arabicPeriod"/>
            </a:pPr>
            <a:r>
              <a:rPr b="1"/>
              <a:t>Homogeneity of dispersion</a:t>
            </a:r>
            <a:r>
              <a:rPr/>
              <a:t>: Groups have similar multivariate spread</a:t>
            </a:r>
          </a:p>
          <a:p>
            <a:pPr lvl="0"/>
            <a:r>
              <a:rPr/>
              <a:t>❌ </a:t>
            </a:r>
            <a:r>
              <a:rPr b="1"/>
              <a:t>Not required:</a:t>
            </a:r>
          </a:p>
          <a:p>
            <a:pPr lvl="1"/>
            <a:r>
              <a:rPr/>
              <a:t>Normality or other distribution</a:t>
            </a:r>
          </a:p>
          <a:p>
            <a:pPr lvl="1"/>
            <a:r>
              <a:rPr/>
              <a:t>Linearity</a:t>
            </a:r>
          </a:p>
          <a:p>
            <a:pPr lvl="0"/>
            <a:r>
              <a:rPr b="1"/>
              <a:t>Checking Assumptions:</a:t>
            </a:r>
          </a:p>
          <a:p>
            <a:pPr lvl="1"/>
            <a:r>
              <a:rPr b="1"/>
              <a:t>Use </a:t>
            </a:r>
            <a:r>
              <a:rPr b="1">
                <a:latin typeface="Courier"/>
              </a:rPr>
              <a:t>betadisper()</a:t>
            </a:r>
            <a:r>
              <a:rPr b="1"/>
              <a:t> to test homogeneity of dispersion</a:t>
            </a:r>
          </a:p>
          <a:p>
            <a:pPr lvl="1"/>
            <a:r>
              <a:rPr/>
              <a:t>If violated, PERMANOVA is testing dispersion differences and not location differences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Homogeneity of dispersion test p-value: 0.8037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vegan::betadisper() converts bray-curtis to euclidean distances to calculate distance from sample to center</a:t>
            </a:r>
          </a:p>
          <a:p>
            <a:pPr lvl="0"/>
            <a:r>
              <a:rPr/>
              <a:t>Principal Coordinates Analysis (PCoA) - ordination for distances between samples in a low-dimensional, Euclidean space</a:t>
            </a:r>
          </a:p>
        </p:txBody>
      </p:sp>
      <p:pic>
        <p:nvPicPr>
          <p:cNvPr descr="nmds_cluster_analysis_lecture_files/figure-pptx/disper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on Fish Communities</a:t>
            </a:r>
          </a:p>
          <a:p>
            <a:pPr lvl="1"/>
            <a:r>
              <a:rPr b="1"/>
              <a:t>Line-by-line interpretation:</a:t>
            </a:r>
          </a:p>
          <a:p>
            <a:pPr lvl="2" indent="-342900" marL="1028700">
              <a:buAutoNum type="arabicPeriod"/>
            </a:pPr>
            <a:r>
              <a:rPr b="1"/>
              <a:t>reach</a:t>
            </a:r>
            <a:r>
              <a:rPr/>
              <a:t>: The factor being tested (river reach)</a:t>
            </a:r>
          </a:p>
          <a:p>
            <a:pPr lvl="2" indent="-342900" marL="1028700">
              <a:buAutoNum type="arabicPeriod"/>
            </a:pPr>
            <a:r>
              <a:rPr b="1"/>
              <a:t>Df = 2</a:t>
            </a:r>
            <a:r>
              <a:rPr/>
              <a:t>: Degrees of freedom (3 groups - 1)</a:t>
            </a:r>
          </a:p>
          <a:p>
            <a:pPr lvl="2" indent="-342900" marL="1028700">
              <a:buAutoNum type="arabicPeriod"/>
            </a:pPr>
            <a:r>
              <a:rPr b="1"/>
              <a:t>SumOfSqs</a:t>
            </a:r>
            <a:r>
              <a:rPr/>
              <a:t>: Between-group sum of squares</a:t>
            </a:r>
          </a:p>
          <a:p>
            <a:pPr lvl="2" indent="-342900" marL="1028700">
              <a:buAutoNum type="arabicPeriod"/>
            </a:pPr>
            <a:r>
              <a:rPr b="1"/>
              <a:t>R2</a:t>
            </a:r>
            <a:r>
              <a:rPr/>
              <a:t>: Proportion of variance explained by reach</a:t>
            </a:r>
          </a:p>
          <a:p>
            <a:pPr lvl="2" indent="-342900" marL="1028700">
              <a:buAutoNum type="arabicPeriod"/>
            </a:pPr>
            <a:r>
              <a:rPr b="1"/>
              <a:t>F</a:t>
            </a:r>
            <a:r>
              <a:rPr/>
              <a:t>: F-statistic (ratio of between/within group variation)</a:t>
            </a:r>
          </a:p>
          <a:p>
            <a:pPr lvl="2" indent="-342900" marL="1028700">
              <a:buAutoNum type="arabicPeriod"/>
            </a:pPr>
            <a:r>
              <a:rPr b="1"/>
              <a:t>Pr(&gt;F)</a:t>
            </a:r>
            <a:r>
              <a:rPr/>
              <a:t>: P-value from permutation test</a:t>
            </a:r>
          </a:p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spe_matrix ~ reach, data = doubs_env, permutations = 999, distance = "bray")
##          Df SumOfSqs      R2      F Pr(&gt;F)    
## Model     2   2.3631 0.42634 9.6614  0.001 ***
## Residual 26   3.1798 0.57366                  
## Total    28   5.5429 1.00000                  
## ---
## 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this means:</a:t>
            </a:r>
          </a:p>
          <a:p>
            <a:pPr lvl="1"/>
            <a:r>
              <a:rPr b="1"/>
              <a:t>Significant result</a:t>
            </a:r>
            <a:r>
              <a:rPr/>
              <a:t> (p &lt; 0.001): We reject H₀</a:t>
            </a:r>
          </a:p>
          <a:p>
            <a:pPr lvl="1"/>
            <a:r>
              <a:rPr/>
              <a:t>River reach </a:t>
            </a:r>
            <a:r>
              <a:rPr b="1"/>
              <a:t>explains substantial variation</a:t>
            </a:r>
            <a:r>
              <a:rPr/>
              <a:t> in fish communities</a:t>
            </a:r>
          </a:p>
          <a:p>
            <a:pPr lvl="1"/>
            <a:r>
              <a:rPr/>
              <a:t>Fish communities </a:t>
            </a:r>
            <a:r>
              <a:rPr b="1"/>
              <a:t>differ significantly</a:t>
            </a:r>
            <a:r>
              <a:rPr/>
              <a:t> between river reaches</a:t>
            </a:r>
          </a:p>
          <a:p>
            <a:pPr lvl="1"/>
            <a:r>
              <a:rPr/>
              <a:t>Very few permutations gave F ≥ observed F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Pairwise PERMANOVA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Interpretation of Pairwise Results:</a:t>
            </a:r>
          </a:p>
          <a:p>
            <a:pPr lvl="1"/>
            <a:r>
              <a:rPr/>
              <a:t>All pairwise comparisons are </a:t>
            </a:r>
            <a:r>
              <a:rPr b="1"/>
              <a:t>statistically significant</a:t>
            </a:r>
            <a:r>
              <a:rPr/>
              <a:t> even after Bonferroni correction</a:t>
            </a:r>
          </a:p>
          <a:p>
            <a:pPr lvl="1"/>
            <a:r>
              <a:rPr b="1"/>
              <a:t>Upper vs Lower</a:t>
            </a:r>
            <a:r>
              <a:rPr/>
              <a:t> shows the strongest difference (highest F-statistic)</a:t>
            </a:r>
          </a:p>
          <a:p>
            <a:pPr lvl="1"/>
            <a:r>
              <a:rPr/>
              <a:t>Downstream comparisons to up and middle explains a substantial portion of variance (R² &gt; 0.3)</a:t>
            </a:r>
          </a:p>
          <a:p>
            <a:pPr lvl="1"/>
            <a:r>
              <a:rPr b="1"/>
              <a:t>Biological interpretation</a:t>
            </a:r>
            <a:r>
              <a:rPr/>
              <a:t>: Fish communities change progressively down the river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    pairs Df SumsOfSqs   F.Model        R2 p.value p.adjusted
## 1   Upstream vs Midstream  1 0.4068962  3.434528 0.1680747   0.021      0.063
## 2  Upstream vs Downstream  1 1.8495110 15.490360 0.4767679   0.001      0.003
## 3 Midstream vs Downstream  1 1.2829784  9.972485 0.3565105   0.001      0.003
##   sig
## 1    
## 2   *
## 3   *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PERMANOVA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ANOSIM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ANOSIM: Analysis of Similarities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 b="1"/>
              <a:t>Purpose</a:t>
            </a:r>
            <a:r>
              <a:rPr/>
              <a:t>: are samples w/in groups are more similar than samples between groups</a:t>
            </a:r>
          </a:p>
          <a:p>
            <a:pPr lvl="1"/>
            <a:r>
              <a:rPr b="1"/>
              <a:t>Method</a:t>
            </a:r>
            <a:r>
              <a:rPr/>
              <a:t>: Based on rank dissimilarities</a:t>
            </a:r>
          </a:p>
          <a:p>
            <a:pPr lvl="1"/>
            <a:r>
              <a:rPr b="1"/>
              <a:t>Statistic</a:t>
            </a:r>
            <a:r>
              <a:rPr/>
              <a:t>: R-statistic ranging from -1 to +1</a:t>
            </a:r>
          </a:p>
          <a:p>
            <a:pPr lvl="1"/>
            <a:r>
              <a:rPr b="1"/>
              <a:t>Interpretation</a:t>
            </a:r>
            <a:r>
              <a:rPr/>
              <a:t>:</a:t>
            </a:r>
          </a:p>
          <a:p>
            <a:pPr lvl="2"/>
            <a:r>
              <a:rPr/>
              <a:t>R ≈ 1: Groups are completely separated</a:t>
            </a:r>
          </a:p>
          <a:p>
            <a:pPr lvl="2"/>
            <a:r>
              <a:rPr/>
              <a:t>R ≈ 0: Groups are indistinguishable</a:t>
            </a:r>
          </a:p>
          <a:p>
            <a:pPr lvl="2"/>
            <a:r>
              <a:rPr/>
              <a:t>R &lt; 0: More dissimilarity within groups than between</a:t>
            </a:r>
          </a:p>
          <a:p>
            <a:pPr lvl="0"/>
            <a:r>
              <a:rPr b="1"/>
              <a:t>Differences from PERMANOVA:</a:t>
            </a:r>
          </a:p>
          <a:p>
            <a:pPr lvl="1"/>
            <a:r>
              <a:rPr/>
              <a:t>ANOSIM uses ranks of distances</a:t>
            </a:r>
          </a:p>
          <a:p>
            <a:pPr lvl="1"/>
            <a:r>
              <a:rPr/>
              <a:t>PERMANOVA uses actual distances</a:t>
            </a:r>
          </a:p>
          <a:p>
            <a:pPr lvl="1"/>
            <a:r>
              <a:rPr/>
              <a:t>ANOSIM is more robust but less powerful</a:t>
            </a:r>
          </a:p>
        </p:txBody>
      </p:sp>
      <p:pic>
        <p:nvPicPr>
          <p:cNvPr descr="nmds_cluster_analysis_lecture_files/figure-pptx/anosim-concept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ANOSIM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samples</a:t>
            </a:r>
          </a:p>
          <a:p>
            <a:pPr lvl="1" indent="-342900" marL="685800">
              <a:buAutoNum type="arabicPeriod"/>
            </a:pPr>
            <a:r>
              <a:rPr b="1"/>
              <a:t>Rank all dissimilarities</a:t>
            </a:r>
            <a:r>
              <a:rPr/>
              <a:t> from smallest to largest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within-group dissimilarities (r̄w)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between-group dissimilarities (r̄b)</a:t>
            </a:r>
          </a:p>
          <a:p>
            <a:pPr lvl="1" indent="-342900" marL="685800">
              <a:buAutoNum type="arabicPeriod"/>
            </a:pPr>
            <a:r>
              <a:rPr b="1"/>
              <a:t>Compute R-statistic</a:t>
            </a:r>
            <a:r>
              <a:rPr/>
              <a:t>: R = (r̄b - r̄w) / (N(N-1)/4) where N = total number of samples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and recalculate R many times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R ≥ observed R</a:t>
            </a:r>
          </a:p>
          <a:p>
            <a:pPr lvl="0"/>
            <a:r>
              <a:rPr b="1"/>
              <a:t>R-statistic interpretation:</a:t>
            </a:r>
          </a:p>
          <a:p>
            <a:pPr lvl="1"/>
            <a:r>
              <a:rPr/>
              <a:t>R = 1: Perfect separation</a:t>
            </a:r>
          </a:p>
          <a:p>
            <a:pPr lvl="1"/>
            <a:r>
              <a:rPr/>
              <a:t>R = 0: No separation</a:t>
            </a:r>
          </a:p>
          <a:p>
            <a:pPr lvl="1"/>
            <a:r>
              <a:rPr/>
              <a:t>R = -1: More similar between groups than within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Run ANOSIM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anosim_result &lt;- </a:t>
            </a:r>
            <a:r>
              <a:rPr>
                <a:solidFill>
                  <a:srgbClr val="4758AB"/>
                </a:solidFill>
                <a:latin typeface="Courier"/>
              </a:rPr>
              <a:t>anosim</a:t>
            </a:r>
            <a:r>
              <a:rPr>
                <a:solidFill>
                  <a:srgbClr val="003B4F"/>
                </a:solidFill>
                <a:latin typeface="Courier"/>
              </a:rPr>
              <a:t>(spe_matrix, doubs_env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reach,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distance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"bray"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permutations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results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anosim_result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Call: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anosim(x = spe_matrix, grouping = doubs_env$reach, permutations = 999,      distance = "bray")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Dissimilarity: bray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ANOSIM statistic R: 0.5082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Significance: 0.001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Permutation: free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Number of permutations: 999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Results Interpretation:</a:t>
            </a:r>
          </a:p>
          <a:p>
            <a:pPr lvl="1"/>
            <a:r>
              <a:rPr b="1"/>
              <a:t>R = 0.5082</a:t>
            </a:r>
            <a:r>
              <a:rPr/>
              <a:t> : This indicates “good” separation between groups</a:t>
            </a:r>
          </a:p>
          <a:p>
            <a:pPr lvl="1"/>
            <a:r>
              <a:rPr/>
              <a:t>**p-value = 0.001 - significant result</a:t>
            </a:r>
          </a:p>
          <a:p>
            <a:pPr lvl="1"/>
            <a:r>
              <a:rPr b="1"/>
              <a:t>Biological meaning</a:t>
            </a:r>
            <a:r>
              <a:rPr/>
              <a:t>: Fish communities well-separated between river reaches, with communities within each reach being much more similar to each other than to communities in other reaches</a:t>
            </a:r>
          </a:p>
          <a:p>
            <a:pPr lvl="0"/>
            <a:r>
              <a:rPr/>
              <a:t>“Within” box is clearly lower than the “Between” box</a:t>
            </a:r>
          </a:p>
          <a:p>
            <a:pPr lvl="1"/>
            <a:r>
              <a:rPr/>
              <a:t>sites within same river reach tend to be more similar to each other (lower dissimilarity ranks) than sites in different reaches (higher dissimilarity ranks)</a:t>
            </a:r>
          </a:p>
          <a:p>
            <a:pPr lvl="1"/>
            <a:r>
              <a:rPr/>
              <a:t>R statistic of 0.51 quantifies this separation</a:t>
            </a:r>
          </a:p>
          <a:p>
            <a:pPr lvl="2"/>
            <a:r>
              <a:rPr/>
              <a:t>there’s clear differentiation, but with some overlap.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Interpreting R:</a:t>
            </a:r>
          </a:p>
          <a:p>
            <a:pPr lvl="1"/>
            <a:r>
              <a:rPr/>
              <a:t>R = 1 - Complete separation</a:t>
            </a:r>
          </a:p>
          <a:p>
            <a:pPr lvl="2"/>
            <a:r>
              <a:rPr/>
              <a:t>all within-group dissimilarities smaller than between-group dissimilarities</a:t>
            </a:r>
          </a:p>
          <a:p>
            <a:pPr lvl="1"/>
            <a:r>
              <a:rPr/>
              <a:t>R &gt; 0.75 Well separated</a:t>
            </a:r>
          </a:p>
          <a:p>
            <a:pPr lvl="1"/>
            <a:r>
              <a:rPr/>
              <a:t>R &gt; 0.5 Separated, but overlapping</a:t>
            </a:r>
          </a:p>
          <a:p>
            <a:pPr lvl="1"/>
            <a:r>
              <a:rPr/>
              <a:t>R &gt; 0.25 Barely separated</a:t>
            </a:r>
          </a:p>
          <a:p>
            <a:pPr lvl="1"/>
            <a:r>
              <a:rPr/>
              <a:t>R ≈ 0 No difference between groups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Comparing PERMANOVA and ANOSIM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2 × 6
##   Method    `Test Statistic` `P-value` Interpretation   `What it tests` Approach
##   &lt;chr&gt;     &lt;chr&gt;                &lt;dbl&gt; &lt;chr&gt;            &lt;chr&gt;           &lt;chr&gt;   
## 1 PERMANOVA F = 9.66             0.001 Groups have dif… Differences in… Uses ac…
## 2 ANOSIM    R = 0.508            0.001 Excellent group… Overlap betwee… Uses ra…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When to use which:</a:t>
            </a:r>
          </a:p>
          <a:p>
            <a:pPr lvl="1"/>
            <a:r>
              <a:rPr b="1"/>
              <a:t>PERMANOVA:</a:t>
            </a:r>
          </a:p>
          <a:p>
            <a:pPr lvl="2"/>
            <a:r>
              <a:rPr/>
              <a:t>More powerful for detecting differences</a:t>
            </a:r>
          </a:p>
          <a:p>
            <a:pPr lvl="2"/>
            <a:r>
              <a:rPr/>
              <a:t>Better for complex experimental designs</a:t>
            </a:r>
          </a:p>
          <a:p>
            <a:pPr lvl="2"/>
            <a:r>
              <a:rPr/>
              <a:t>Can handle interactions and covariates</a:t>
            </a:r>
          </a:p>
          <a:p>
            <a:pPr lvl="2"/>
            <a:r>
              <a:rPr/>
              <a:t>Preferred for most applications</a:t>
            </a:r>
          </a:p>
          <a:p>
            <a:pPr lvl="1"/>
            <a:r>
              <a:rPr b="1"/>
              <a:t>ANOSIM:</a:t>
            </a:r>
          </a:p>
          <a:p>
            <a:pPr lvl="2"/>
            <a:r>
              <a:rPr/>
              <a:t>More robust to outliers</a:t>
            </a:r>
          </a:p>
          <a:p>
            <a:pPr lvl="2"/>
            <a:r>
              <a:rPr/>
              <a:t>Simpler interpretation</a:t>
            </a:r>
          </a:p>
          <a:p>
            <a:pPr lvl="2"/>
            <a:r>
              <a:rPr/>
              <a:t>Good for initial exploratory analysis</a:t>
            </a:r>
          </a:p>
          <a:p>
            <a:pPr lvl="2"/>
            <a:r>
              <a:rPr/>
              <a:t>Useful when distributions are very non-normal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vs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What’s the Difference? Three Scenarios</a:t>
            </a:r>
          </a:p>
          <a:p>
            <a:pPr lvl="0"/>
            <a:r>
              <a:rPr/>
              <a:t>Both methods test whether groups differ, but they ask </a:t>
            </a:r>
            <a:r>
              <a:rPr b="1"/>
              <a:t>different questions</a:t>
            </a:r>
            <a:r>
              <a:rPr/>
              <a:t>:</a:t>
            </a:r>
          </a:p>
          <a:p>
            <a:pPr lvl="1"/>
            <a:r>
              <a:rPr b="1"/>
              <a:t>PERMANOVA asks:</a:t>
            </a:r>
            <a:r>
              <a:rPr/>
              <a:t> </a:t>
            </a:r>
            <a:r>
              <a:rPr i="1"/>
              <a:t>Do the group centroids differ in location?</a:t>
            </a:r>
          </a:p>
          <a:p>
            <a:pPr lvl="2"/>
            <a:r>
              <a:rPr/>
              <a:t>Uses actual squared distances and partitions variance like ANOVA</a:t>
            </a:r>
          </a:p>
          <a:p>
            <a:pPr lvl="1"/>
            <a:r>
              <a:rPr b="1"/>
              <a:t>ANOSIM asks:</a:t>
            </a:r>
            <a:r>
              <a:rPr/>
              <a:t> </a:t>
            </a:r>
            <a:r>
              <a:rPr i="1"/>
              <a:t>Are within-group dissimilarities smaller than between-group?</a:t>
            </a:r>
          </a:p>
          <a:p>
            <a:pPr lvl="2"/>
            <a:r>
              <a:rPr/>
              <a:t>Uses ranked distances to compares rank distributions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Scenario 2 is Key!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Problem:</a:t>
            </a:r>
          </a:p>
          <a:p>
            <a:pPr lvl="1"/>
            <a:r>
              <a:rPr/>
              <a:t>Groups A and B have the </a:t>
            </a:r>
            <a:r>
              <a:rPr b="1"/>
              <a:t>same centroid</a:t>
            </a:r>
            <a:r>
              <a:rPr/>
              <a:t> (same average community)</a:t>
            </a:r>
          </a:p>
          <a:p>
            <a:pPr lvl="1"/>
            <a:r>
              <a:rPr/>
              <a:t>But Group B is much more </a:t>
            </a:r>
            <a:r>
              <a:rPr b="1"/>
              <a:t>variable</a:t>
            </a:r>
            <a:r>
              <a:rPr/>
              <a:t> (spread out)</a:t>
            </a:r>
          </a:p>
          <a:p>
            <a:pPr lvl="1"/>
            <a:r>
              <a:rPr/>
              <a:t>PERMANOVA will detect this as “significant”!</a:t>
            </a:r>
          </a:p>
          <a:p>
            <a:pPr lvl="0"/>
            <a:r>
              <a:rPr b="1"/>
              <a:t>Why?</a:t>
            </a:r>
          </a:p>
          <a:p>
            <a:pPr lvl="1"/>
            <a:r>
              <a:rPr/>
              <a:t>PERMANOVA tests distances from points to centroids</a:t>
            </a:r>
          </a:p>
          <a:p>
            <a:pPr lvl="1"/>
            <a:r>
              <a:rPr/>
              <a:t>More spread = larger distances = detected as “different”</a:t>
            </a:r>
          </a:p>
        </p:txBody>
      </p:sp>
      <p:pic>
        <p:nvPicPr>
          <p:cNvPr descr="nmds_cluster_analysis_lecture_files/figure-pptx/scenario2-alon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Dispersion test for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Solution:</a:t>
            </a:r>
            <a:r>
              <a:rPr/>
              <a:t> Always run </a:t>
            </a:r>
            <a:r>
              <a:rPr>
                <a:latin typeface="Courier"/>
              </a:rPr>
              <a:t>betadisper()</a:t>
            </a:r>
            <a:r>
              <a:rPr/>
              <a:t> before interpreting PERMANOVA!</a:t>
            </a:r>
          </a:p>
          <a:p>
            <a:pPr lvl="1"/>
            <a:r>
              <a:rPr/>
              <a:t>What PERMANOVA “Sees”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ANOSIM “Sees”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different</a:t>
            </a:r>
          </a:p>
          <a:p>
            <a:pPr lvl="0" indent="0" marL="0">
              <a:buNone/>
            </a:pP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Side-by-Side Comparison of PCA and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  <a:p>
            <a:pPr lvl="0" indent="0" marL="0">
              <a:buNone/>
            </a:pP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Environmental Drivers and Wrap-Up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Environmental Vector Results:</a:t>
            </a:r>
          </a:p>
          <a:p>
            <a:pPr lvl="1"/>
            <a:r>
              <a:rPr/>
              <a:t>Which Environmental Variables Matter?</a:t>
            </a:r>
          </a:p>
          <a:p>
            <a:pPr lvl="1"/>
            <a:r>
              <a:rPr b="1"/>
              <a:t>Significant variables (p &lt; 0.05):</a:t>
            </a:r>
          </a:p>
          <a:p>
            <a:pPr lvl="0"/>
            <a:r>
              <a:rPr b="1"/>
              <a:t>What this means:</a:t>
            </a:r>
          </a:p>
          <a:p>
            <a:pPr lvl="1"/>
            <a:r>
              <a:rPr/>
              <a:t>variables significantly correlate w/ comm. comp</a:t>
            </a:r>
          </a:p>
          <a:p>
            <a:pPr lvl="1"/>
            <a:r>
              <a:rPr/>
              <a:t>explain spatial arrangement of sites in NMDS</a:t>
            </a:r>
          </a:p>
          <a:p>
            <a:pPr lvl="0"/>
            <a:r>
              <a:rPr/>
              <a:t>arrows show direction of max change for env. variables</a:t>
            </a:r>
          </a:p>
          <a:p>
            <a:pPr lvl="1"/>
            <a:r>
              <a:rPr/>
              <a:t>Longer arrows = stronger correlations with ordination</a:t>
            </a:r>
          </a:p>
          <a:p>
            <a:pPr lvl="1"/>
            <a:r>
              <a:rPr/>
              <a:t>Arrow direction = sites have high vs. low values of variable</a:t>
            </a:r>
          </a:p>
          <a:p>
            <a:pPr lvl="0"/>
            <a:r>
              <a:rPr/>
              <a:t>distance from source (das) and altitude (alt) point opp. directions</a:t>
            </a:r>
          </a:p>
          <a:p>
            <a:pPr lvl="1"/>
            <a:r>
              <a:rPr/>
              <a:t>(expected - altitude decreases as distance increases)</a:t>
            </a:r>
          </a:p>
          <a:p>
            <a:pPr lvl="0"/>
            <a:r>
              <a:rPr/>
              <a:t>Oxygen (oxy) decreases downstream</a:t>
            </a:r>
          </a:p>
          <a:p>
            <a:pPr lvl="0"/>
            <a:r>
              <a:rPr/>
              <a:t>BOD (dbo) increases downstream = more org. pollution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***VECTORS
## 
##        NMDS1    NMDS2     r2 Pr(&gt;r)    
## das  0.98098  0.19411 0.7284  0.001 ***
## alt -1.00000 -0.00057 0.5650  0.001 ***
## pen -0.61902  0.78538 0.2546  0.026 *  
## deb  0.99744 -0.07146 0.5701  0.001 ***
## pH  -0.09760 -0.99523 0.0746  0.374    
## dur  0.99967 -0.02575 0.2960  0.008 ** 
## pho  0.22860  0.97352 0.5228  0.001 ***
## nit  0.66665  0.74537 0.5200  0.001 ***
## amm  0.19902  0.98000 0.5471  0.002 ** 
## oxy -0.46402 -0.88583 0.7826  0.001 ***
## dbo  0.20211  0.97936 0.6883  0.001 ***
## ---
## Signif. codes:  0 '***' 0.001 '**' 0.01 '*' 0.05 '.' 0.1 ' ' 1
## Permutation: free
## Number of permutations: 999</a:t>
            </a:r>
          </a:p>
        </p:txBody>
      </p:sp>
      <p:pic>
        <p:nvPicPr>
          <p:cNvPr descr="nmds_cluster_analysis_lecture_files/figure-pptx/environmental-vector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Gradient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Environmental Patterns:</a:t>
            </a:r>
          </a:p>
          <a:p>
            <a:pPr lvl="1"/>
            <a:r>
              <a:rPr b="1"/>
              <a:t>Distance from source (das)</a:t>
            </a:r>
            <a:r>
              <a:rPr/>
              <a:t>: Strong correlate with community change</a:t>
            </a:r>
          </a:p>
          <a:p>
            <a:pPr lvl="1"/>
            <a:r>
              <a:rPr b="1"/>
              <a:t>Oxygen (oxy)</a:t>
            </a:r>
            <a:r>
              <a:rPr/>
              <a:t>: Decreases downstream, affects fish communities</a:t>
            </a:r>
          </a:p>
          <a:p>
            <a:pPr lvl="1"/>
            <a:r>
              <a:rPr b="1"/>
              <a:t>Biological oxygen demand (dbo)</a:t>
            </a:r>
            <a:r>
              <a:rPr/>
              <a:t>: Increases downstream (pollution indicator)</a:t>
            </a:r>
          </a:p>
          <a:p>
            <a:pPr lvl="1"/>
            <a:r>
              <a:rPr b="1"/>
              <a:t>Altitude (alt)</a:t>
            </a:r>
            <a:r>
              <a:rPr/>
              <a:t>: Decreases downstream, associated with temperature changes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Key Findings</a:t>
            </a:r>
          </a:p>
          <a:p>
            <a:pPr lvl="0"/>
            <a:r>
              <a:rPr b="1"/>
              <a:t>NMDS Results:</a:t>
            </a:r>
          </a:p>
          <a:p>
            <a:pPr lvl="1"/>
            <a:r>
              <a:rPr b="1"/>
              <a:t>Stress =</a:t>
            </a:r>
            <a:r>
              <a:rPr/>
              <a:t>: Excellent representation</a:t>
            </a:r>
          </a:p>
          <a:p>
            <a:pPr lvl="1"/>
            <a:r>
              <a:rPr b="1"/>
              <a:t>Clear gradient</a:t>
            </a:r>
            <a:r>
              <a:rPr/>
              <a:t> from upper to lower river reaches</a:t>
            </a:r>
          </a:p>
          <a:p>
            <a:pPr lvl="1"/>
            <a:r>
              <a:rPr b="1"/>
              <a:t>Within-reach similarity</a:t>
            </a:r>
            <a:r>
              <a:rPr/>
              <a:t> greater between-reach similarity</a:t>
            </a:r>
          </a:p>
          <a:p>
            <a:pPr lvl="0"/>
            <a:r>
              <a:rPr b="1"/>
              <a:t>PERMANOVA Results:</a:t>
            </a:r>
          </a:p>
          <a:p>
            <a:pPr lvl="1"/>
            <a:r>
              <a:rPr b="1"/>
              <a:t>Highly significant</a:t>
            </a:r>
            <a:r>
              <a:rPr/>
              <a:t> differences between reaches (p &lt; 0.001)</a:t>
            </a:r>
          </a:p>
          <a:p>
            <a:pPr lvl="1"/>
            <a:r>
              <a:rPr b="1"/>
              <a:t>River reach explains substantial variance</a:t>
            </a:r>
            <a:r>
              <a:rPr/>
              <a:t> in community composition</a:t>
            </a:r>
          </a:p>
          <a:p>
            <a:pPr lvl="1"/>
            <a:r>
              <a:rPr b="1"/>
              <a:t>All pairwise comparisons significant</a:t>
            </a:r>
            <a:r>
              <a:rPr/>
              <a:t> after correction</a:t>
            </a:r>
          </a:p>
          <a:p>
            <a:pPr lvl="0"/>
            <a:r>
              <a:rPr b="1"/>
              <a:t>ANOSIM Results:</a:t>
            </a:r>
          </a:p>
          <a:p>
            <a:pPr lvl="1"/>
            <a:r>
              <a:rPr/>
              <a:t>R = 0.508 p = 0.001 </a:t>
            </a:r>
            <a:r>
              <a:rPr b="1"/>
              <a:t>: Excellent separation</a:t>
            </a:r>
            <a:br/>
          </a:p>
          <a:p>
            <a:pPr lvl="1"/>
            <a:r>
              <a:rPr b="1"/>
              <a:t>Confirms PERMANOVA findings</a:t>
            </a:r>
            <a:r>
              <a:rPr/>
              <a:t> with different approach</a:t>
            </a:r>
          </a:p>
          <a:p>
            <a:pPr lvl="1"/>
            <a:r>
              <a:rPr b="1"/>
              <a:t>Strong within-group coherence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Environmental Drivers:</a:t>
            </a:r>
          </a:p>
          <a:p>
            <a:pPr lvl="1"/>
            <a:r>
              <a:rPr b="1"/>
              <a:t>Distance from source</a:t>
            </a:r>
            <a:r>
              <a:rPr/>
              <a:t>: Primary gradient</a:t>
            </a:r>
          </a:p>
          <a:p>
            <a:pPr lvl="1"/>
            <a:r>
              <a:rPr b="1"/>
              <a:t>Dissolved oxygen</a:t>
            </a:r>
            <a:r>
              <a:rPr/>
              <a:t>: Decreases downstream</a:t>
            </a:r>
          </a:p>
          <a:p>
            <a:pPr lvl="1"/>
            <a:r>
              <a:rPr b="1"/>
              <a:t>Biological oxygen demand</a:t>
            </a:r>
            <a:r>
              <a:rPr/>
              <a:t>: Increases downstream</a:t>
            </a:r>
          </a:p>
          <a:p>
            <a:pPr lvl="1"/>
            <a:r>
              <a:rPr b="1"/>
              <a:t>Multiple correlated factors</a:t>
            </a:r>
            <a:r>
              <a:rPr/>
              <a:t> drive community change</a:t>
            </a:r>
          </a:p>
          <a:p>
            <a:pPr lvl="0"/>
            <a:r>
              <a:rPr b="1"/>
              <a:t>Biological Interpretation:</a:t>
            </a:r>
          </a:p>
          <a:p>
            <a:pPr lvl="1"/>
            <a:r>
              <a:rPr b="1"/>
              <a:t>River continuum concept supported</a:t>
            </a:r>
          </a:p>
          <a:p>
            <a:pPr lvl="1"/>
            <a:r>
              <a:rPr b="1"/>
              <a:t>Progressive community change</a:t>
            </a:r>
            <a:r>
              <a:rPr/>
              <a:t> from source to mouth</a:t>
            </a:r>
          </a:p>
          <a:p>
            <a:pPr lvl="1"/>
            <a:r>
              <a:rPr b="1"/>
              <a:t>Environmental filtering</a:t>
            </a:r>
            <a:r>
              <a:rPr/>
              <a:t> shapes community assembly</a:t>
            </a:r>
          </a:p>
          <a:p>
            <a:pPr lvl="1"/>
            <a:r>
              <a:rPr b="1"/>
              <a:t>Pollution gradient</a:t>
            </a:r>
            <a:r>
              <a:rPr/>
              <a:t> evident in lower reaches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(Non-metric Multidimensional Scaling):</a:t>
            </a:r>
          </a:p>
          <a:p>
            <a:pPr lvl="1"/>
            <a:r>
              <a:rPr/>
              <a:t>Visualizes community dissimilarity in 2D/3D</a:t>
            </a:r>
          </a:p>
          <a:p>
            <a:pPr lvl="1"/>
            <a:r>
              <a:rPr/>
              <a:t>Preserves rank order of distances (non-metric)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Stress &lt; 0.2 for acceptable solutions</a:t>
            </a:r>
          </a:p>
          <a:p>
            <a:pPr lvl="1"/>
            <a:r>
              <a:rPr/>
              <a:t>Great for exploring ecological gradients</a:t>
            </a:r>
          </a:p>
          <a:p>
            <a:pPr lvl="0"/>
            <a:r>
              <a:rPr b="1"/>
              <a:t>PERMANOVA (Permutational MANOVA):</a:t>
            </a:r>
          </a:p>
          <a:p>
            <a:pPr lvl="1"/>
            <a:r>
              <a:rPr/>
              <a:t>Tests for differences in group centroids</a:t>
            </a:r>
          </a:p>
          <a:p>
            <a:pPr lvl="1"/>
            <a:r>
              <a:rPr/>
              <a:t>Uses distance matrices, not raw data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Can handle complex designs</a:t>
            </a:r>
          </a:p>
          <a:p>
            <a:pPr lvl="1"/>
            <a:r>
              <a:rPr/>
              <a:t>Check dispersion homogeneity assumption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/>
              <a:t>Tests group separation using rank distances</a:t>
            </a:r>
          </a:p>
          <a:p>
            <a:pPr lvl="1"/>
            <a:r>
              <a:rPr/>
              <a:t>R-statistic: -1 (no separation) to +1 (complete)</a:t>
            </a:r>
          </a:p>
          <a:p>
            <a:pPr lvl="1"/>
            <a:r>
              <a:rPr/>
              <a:t>More robust to outliers than PERMANOVA</a:t>
            </a:r>
          </a:p>
          <a:p>
            <a:pPr lvl="1"/>
            <a:r>
              <a:rPr/>
              <a:t>Simpler but less powerful</a:t>
            </a:r>
          </a:p>
          <a:p>
            <a:pPr lvl="1"/>
            <a:r>
              <a:rPr/>
              <a:t>Good for exploratory analysis</a:t>
            </a:r>
          </a:p>
          <a:p>
            <a:pPr lvl="0"/>
            <a:r>
              <a:rPr b="1"/>
              <a:t>Environmental Drivers: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envfit()</a:t>
            </a:r>
            <a:r>
              <a:rPr/>
              <a:t> to correlate environment with ordination</a:t>
            </a:r>
          </a:p>
          <a:p>
            <a:pPr lvl="1"/>
            <a:r>
              <a:rPr/>
              <a:t>Identifies which variables explain community patterns</a:t>
            </a:r>
          </a:p>
          <a:p>
            <a:pPr lvl="1"/>
            <a:r>
              <a:rPr/>
              <a:t>Helps understand ecological mechanisms</a:t>
            </a:r>
          </a:p>
          <a:p>
            <a:pPr lvl="1"/>
            <a:r>
              <a:rPr/>
              <a:t>Essential for management implications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NMDS &amp; Cluster Analysis</dc:title>
  <dc:creator>Bill Perry</dc:creator>
  <cp:keywords/>
  <dc:description>Non-metric Multidimensional Scaling (NMDS), PERMANOVA, and ANOSIM for community ecology data — Bray-Curtis dissimilarity, stress and Shepard diagrams, testing group differences, dispersion diagnostics, and environmental drivers, using the classic Doubs River fish community dataset.</dc:description>
  <dcterms:created xsi:type="dcterms:W3CDTF">2026-10-19T15:52:16Z</dcterms:created>
  <dcterms:modified xsi:type="dcterms:W3CDTF">2026-10-19T15:52:16Z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ditor">
    <vt:lpwstr/>
  </property>
  <property fmtid="{D5CDD505-2E9C-101B-9397-08002B2CF9AE}" pid="7" name="execute">
    <vt:lpwstr/>
  </property>
  <property fmtid="{D5CDD505-2E9C-101B-9397-08002B2CF9AE}" pid="8" name="format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knitr">
    <vt:lpwstr/>
  </property>
  <property fmtid="{D5CDD505-2E9C-101B-9397-08002B2CF9AE}" pid="13" name="labels">
    <vt:lpwstr/>
  </property>
  <property fmtid="{D5CDD505-2E9C-101B-9397-08002B2CF9AE}" pid="14" name="order">
    <vt:lpwstr>20</vt:lpwstr>
  </property>
  <property fmtid="{D5CDD505-2E9C-101B-9397-08002B2CF9AE}" pid="15" name="resources">
    <vt:lpwstr/>
  </property>
  <property fmtid="{D5CDD505-2E9C-101B-9397-08002B2CF9AE}" pid="16" name="subtitle">
    <vt:lpwstr>Community ordination</vt:lpwstr>
  </property>
  <property fmtid="{D5CDD505-2E9C-101B-9397-08002B2CF9AE}" pid="17" name="toc-title">
    <vt:lpwstr>Table of contents</vt:lpwstr>
  </property>
  <property fmtid="{D5CDD505-2E9C-101B-9397-08002B2CF9AE}" pid="18" name="week">
    <vt:lpwstr>15</vt:lpwstr>
  </property>
</Properties>
</file>