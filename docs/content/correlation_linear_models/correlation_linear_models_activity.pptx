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&amp;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and regression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9: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demonstrates key concepts in correlation and regression analysis using ecological examples, focusing on:</a:t>
            </a:r>
          </a:p>
          <a:p>
            <a:pPr lvl="0" indent="-342900" marL="342900">
              <a:buAutoNum type="arabicPeriod"/>
            </a:pPr>
            <a:r>
              <a:rPr b="1"/>
              <a:t>Understanding correlation vs. regression</a:t>
            </a:r>
          </a:p>
          <a:p>
            <a:pPr lvl="0" indent="-342900" marL="342900">
              <a:buAutoNum type="arabicPeriod"/>
            </a:pPr>
            <a:r>
              <a:rPr b="1"/>
              <a:t>Calculating and interpreting correlation coefficients</a:t>
            </a:r>
          </a:p>
          <a:p>
            <a:pPr lvl="0" indent="-342900" marL="342900">
              <a:buAutoNum type="arabicPeriod"/>
            </a:pPr>
            <a:r>
              <a:rPr b="1"/>
              <a:t>Testing correlation assumptions</a:t>
            </a:r>
          </a:p>
          <a:p>
            <a:pPr lvl="0" indent="-342900" marL="342900">
              <a:buAutoNum type="arabicPeriod"/>
            </a:pPr>
            <a:r>
              <a:rPr b="1"/>
              <a:t>Performing simple linear regression</a:t>
            </a:r>
          </a:p>
          <a:p>
            <a:pPr lvl="0" indent="-342900" marL="342900">
              <a:buAutoNum type="arabicPeriod"/>
            </a:pPr>
            <a:r>
              <a:rPr b="1"/>
              <a:t>Checking regression assumptions</a:t>
            </a:r>
          </a:p>
          <a:p>
            <a:pPr lvl="0" indent="-342900" marL="342900">
              <a:buAutoNum type="arabicPeriod"/>
            </a:pPr>
            <a:r>
              <a:rPr b="1"/>
              <a:t>Interpreting regression output and ANOVA tables</a:t>
            </a:r>
          </a:p>
          <a:p>
            <a:pPr lvl="0" indent="0" marL="0">
              <a:buNone/>
            </a:pPr>
            <a:r>
              <a:rPr/>
              <a:t>We’ll work with real ecological datasets to practice these concepts.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reproducible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datasets from the lecture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: Collection of packages for data science</a:t>
            </a:r>
          </a:p>
          <a:p>
            <a:pPr lvl="0"/>
            <a:r>
              <a:rPr sz="2000" b="1"/>
              <a:t>patchwork</a:t>
            </a:r>
            <a:r>
              <a:rPr sz="2000"/>
              <a:t>: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: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: Convert statistical objects into tidy data frames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</a:t>
            </a:r>
            <a:r>
              <a:rPr sz="2000"/>
              <a:t>: Continuous numerical - Both variables should be measured (not manipulated)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</a:p>
          <a:p>
            <a:pPr lvl="0"/>
            <a:r>
              <a:rPr sz="2000"/>
              <a:t>Random sampling from the population</a:t>
            </a:r>
          </a:p>
          <a:p>
            <a:pPr lvl="0"/>
            <a:r>
              <a:rPr sz="2000"/>
              <a:t>Bivariate normality (both variables normally distributed)</a:t>
            </a:r>
          </a:p>
          <a:p>
            <a:pPr lvl="0"/>
            <a:r>
              <a:rPr sz="2000"/>
              <a:t>Linear relationship between variables</a:t>
            </a:r>
          </a:p>
          <a:p>
            <a:pPr lvl="0"/>
            <a:r>
              <a:rPr sz="2000"/>
              <a:t>No extreme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Correlation Coefficients</a:t>
            </a:r>
          </a:p>
          <a:p>
            <a:pPr lvl="0" indent="0" marL="0">
              <a:buNone/>
            </a:pPr>
            <a:r>
              <a:rPr/>
              <a:t>Let’s start with the Nazca booby data to explore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correlation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b_df$visits and b_df$aggression
t = 2.9603, df = 22, p-value = 0.007229
alternative hypothesis: true correlation is not equal to 0
95 percent confidence interval:
 0.1660840 0.7710999
sample estimates:
      cor 
0.5337225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and SAVE the Pearson correlation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R-squared (variance explained)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0.2848597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Correlation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scatterplot with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correlation_linear_models_activity_files/figure-pptx/booby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 these questions: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Testing Correlation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normality of each variable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b_df$visits
W = 0.95783, p-value = 0.3965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b_df$aggression
W = 0.91575, p-value = 0.04709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</p:txBody>
      </p:sp>
      <p:pic>
        <p:nvPicPr>
          <p:cNvPr descr="correlation_linear_models_activity_files/figure-pptx/test_correlation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When Assumptions Are Violated</a:t>
            </a:r>
          </a:p>
          <a:p>
            <a:pPr lvl="0" indent="0" marL="1270000">
              <a:buNone/>
            </a:pPr>
            <a:r>
              <a:rPr sz="2000"/>
              <a:t>If normality assumptions are violated (p &lt; 0.05 in Shapiro-Wilk test), consider:</a:t>
            </a:r>
          </a:p>
          <a:p>
            <a:pPr lvl="0" indent="-342900" marL="342900">
              <a:buAutoNum type="arabicPeriod"/>
            </a:pPr>
            <a:r>
              <a:rPr sz="2000" b="1"/>
              <a:t>Spearman’s rank correlation</a:t>
            </a:r>
            <a:r>
              <a:rPr sz="2000"/>
              <a:t> (non-parametric alternative)</a:t>
            </a:r>
          </a:p>
          <a:p>
            <a:pPr lvl="0" indent="-342900" marL="342900">
              <a:buAutoNum type="arabicPeriod"/>
            </a:pPr>
            <a:r>
              <a:rPr sz="2000" b="1"/>
              <a:t>Data transformation</a:t>
            </a:r>
            <a:r>
              <a:rPr sz="2000"/>
              <a:t> (log, square root, etc.)</a:t>
            </a:r>
          </a:p>
          <a:p>
            <a:pPr lvl="0" indent="-342900" marL="342900">
              <a:buAutoNum type="arabicPeriod"/>
            </a:pPr>
            <a:r>
              <a:rPr sz="2000" b="1"/>
              <a:t>Removing outliers</a:t>
            </a:r>
            <a:r>
              <a:rPr sz="2000"/>
              <a:t> (if justified)</a:t>
            </a:r>
          </a:p>
          <a:p>
            <a:pPr lvl="0" indent="0" marL="1270000">
              <a:buNone/>
            </a:pPr>
            <a:r>
              <a:rPr sz="2000"/>
              <a:t>Let’s try Spearman’s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Spearman's rank correlation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cor.test.default(b_df$visits, b_df$aggression, method = "spearman"):
cannot compute exact p-value with ties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b_df$visits and b_df$aggression
S = 1213.5, p-value = 0.01976
alternative hypothesis: true rho is not equal to 0
sample estimates:
     rho 
0.472374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Simple Linear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 (predictor)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 (response)</a:t>
            </a:r>
            <a:r>
              <a:rPr sz="2000"/>
              <a:t>: Continuous numerical - X can be fixed/controlled, Y is the outcome of interest</a:t>
            </a:r>
          </a:p>
          <a:p>
            <a:pPr lvl="0" indent="0" marL="1270000">
              <a:buNone/>
            </a:pPr>
            <a:r>
              <a:rPr sz="2000" b="1"/>
              <a:t>Assumptions for Linear Regression:</a:t>
            </a:r>
          </a:p>
          <a:p>
            <a:pPr lvl="0"/>
            <a:r>
              <a:rPr sz="2000" b="1"/>
              <a:t>Linearity</a:t>
            </a:r>
            <a:r>
              <a:rPr sz="2000"/>
              <a:t>: Relationship between X and Y is linear</a:t>
            </a:r>
          </a:p>
          <a:p>
            <a:pPr lvl="0"/>
            <a:r>
              <a:rPr sz="2000" b="1"/>
              <a:t>Independence</a:t>
            </a:r>
            <a:r>
              <a:rPr sz="2000"/>
              <a:t>: Observations are independent</a:t>
            </a:r>
          </a:p>
          <a:p>
            <a:pPr lvl="0"/>
            <a:r>
              <a:rPr sz="2000" b="1"/>
              <a:t>Homoscedasticity</a:t>
            </a:r>
            <a:r>
              <a:rPr sz="2000"/>
              <a:t>: Constant variance of residuals</a:t>
            </a:r>
          </a:p>
          <a:p>
            <a:pPr lvl="0"/>
            <a:r>
              <a:rPr sz="2000" b="1"/>
              <a:t>Normality</a:t>
            </a:r>
            <a:r>
              <a:rPr sz="2000"/>
              <a:t>: Residuals are normally distributed</a:t>
            </a:r>
          </a:p>
          <a:p>
            <a:pPr lvl="0"/>
            <a:r>
              <a:rPr sz="2000" b="1"/>
              <a:t>No influential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Fitting a Linear Regression Model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linear regression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age_yr ~ prop_black, data = l_df)
Residuals:
    Min      1Q  Median      3Q     Max 
-2.5449 -1.1117 -0.5285  0.9635  4.3421 
Coefficients:
            Estimate Std. Error t value Pr(&gt;|t|)    
(Intercept)   0.8790     0.5688   1.545    0.133    
prop_black 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  <a:p>
            <a:pPr lvl="0" indent="0" marL="1270000">
              <a:buNone/>
            </a:pPr>
            <a:r>
              <a:rPr sz="2000" b="1"/>
              <a:t>Activity 2: Interpret the Regression Output</a:t>
            </a:r>
          </a:p>
          <a:p>
            <a:pPr lvl="0" indent="0" marL="1270000">
              <a:buNone/>
            </a:pPr>
            <a:r>
              <a:rPr sz="2000"/>
              <a:t>From the regression output above: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Write the equation in the form: age = __________________________ + __________________________ × prop_black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Regression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regression plot with confidence interval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lion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Confidence vs. Prediction Intervals</a:t>
            </a:r>
          </a:p>
          <a:p>
            <a:pPr lvl="0"/>
            <a:r>
              <a:rPr sz="2000" b="1"/>
              <a:t>Confidence Interval</a:t>
            </a:r>
            <a:r>
              <a:rPr sz="2000"/>
              <a:t>: Range for the mean age of ALL lions with that nose blackness</a:t>
            </a:r>
          </a:p>
          <a:p>
            <a:pPr lvl="0"/>
            <a:r>
              <a:rPr sz="2000" b="1"/>
              <a:t>Prediction Interval</a:t>
            </a:r>
            <a:r>
              <a:rPr sz="2000"/>
              <a:t>: Range for an INDIVIDUAL lion with that nose blackness</a:t>
            </a:r>
          </a:p>
          <a:p>
            <a:pPr lvl="0"/>
            <a:r>
              <a:rPr sz="2000"/>
              <a:t>Prediction intervals are always wider than confidence intervals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Testing Regression Assumptions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Diagnostic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</p:txBody>
      </p:sp>
      <p:pic>
        <p:nvPicPr>
          <p:cNvPr descr="correlation_linear_models_activity_files/figure-pptx/regression_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Diagnostic Plots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around horizontal line at 0</a:t>
            </a:r>
          </a:p>
          <a:p>
            <a:pPr lvl="1"/>
            <a:r>
              <a:rPr sz="2000"/>
              <a:t>Problems: Patterns indicate non-linearity or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:</a:t>
            </a:r>
          </a:p>
          <a:p>
            <a:pPr lvl="1"/>
            <a:r>
              <a:rPr sz="2000"/>
              <a:t>Look for: Points following the diagonal line</a:t>
            </a:r>
          </a:p>
          <a:p>
            <a:pPr lvl="1"/>
            <a:r>
              <a:rPr sz="2000"/>
              <a:t>Problems: Deviations indicate non-normal residuals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with horizontal trend line</a:t>
            </a:r>
          </a:p>
          <a:p>
            <a:pPr lvl="1"/>
            <a:r>
              <a:rPr sz="2000"/>
              <a:t>Problems: Increasing spread indicates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:</a:t>
            </a:r>
          </a:p>
          <a:p>
            <a:pPr lvl="1"/>
            <a:r>
              <a:rPr sz="2000"/>
              <a:t>Look for: Points within Cook’s distance lines</a:t>
            </a:r>
          </a:p>
          <a:p>
            <a:pPr lvl="1"/>
            <a:r>
              <a:rPr sz="2000"/>
              <a:t>Problems: Points outside indicate influential observations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Formal Tests of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homoscedasticity (Breusch-Pagan 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zoo</a:t>
            </a:r>
          </a:p>
          <a:p>
            <a:pPr lvl="0" indent="0">
              <a:buNone/>
            </a:pPr>
            <a:r>
              <a:rPr>
                <a:latin typeface="Courier"/>
              </a:rPr>
              <a:t>
Attaching package: 'zoo'</a:t>
            </a:r>
          </a:p>
          <a:p>
            <a:pPr lvl="0" indent="0">
              <a:buNone/>
            </a:pPr>
            <a:r>
              <a:rPr>
                <a:latin typeface="Courier"/>
              </a:rPr>
              <a:t>The following objects are masked from 'package:base':
    as.Date, as.Date.numeric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studentized Breusch-Pagan test
data:  lion_model
BP = 6.8946, df = 1, p-value = 0.008646</a:t>
            </a:r>
          </a:p>
          <a:p>
            <a:pPr lvl="0" indent="0" marL="1270000">
              <a:buNone/>
            </a:pPr>
            <a:r>
              <a:rPr sz="2000" b="1"/>
              <a:t>Activity 3: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 plot)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ANOVA for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Variance Partitioning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ANOVA table for regression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age_yr
           Df  Sum Sq Mean Sq F value    Pr(&gt;F)    
prop_black  1 138.544 138.544   49.75 7.677e-08 ***
Residuals  30  83.543   2.785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sums of squares manually to understand partitioning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"Manual calculation of sums of squares:"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Total: 222.09"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Regression: 138.54"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Residual: 83.54"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 + SS Residual: 222.09"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Variance Components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variance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predicted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Select one point to illustrate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lines for one example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</p:txBody>
      </p:sp>
      <p:pic>
        <p:nvPicPr>
          <p:cNvPr descr="correlation_linear_models_activity_files/figure-pptx/variance_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Comparing Multiple Datasets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regression for prairie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spp_n, data = p_df)
Residuals:
    Min      1Q  Median      3Q     Max 
-0.8146 -0.2165 -0.0094  0.2228  0.7780 
Coefficients:
            Estimate Std. Error t value Pr(&gt;|t|)    
(Intercept) 1.222902   0.039094  31.281  &lt; 2e-16 ***
spp_n       0.028881   0.004694   6.153 5.94e-09 ***
---
Signif. codes:  0 '***' 0.001 '**' 0.01 '*' 0.05 '.' 0.1 ' ' 1
Residual standard error: 0.3271 on 159 degrees of freedom
Multiple R-squared:  0.1923,    Adjusted R-squared:  0.1872 
F-statistic: 37.86 on 1 and 159 DF,  p-value: 5.94e-09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Regression:</a:t>
            </a:r>
          </a:p>
          <a:p>
            <a:pPr lvl="1"/>
            <a:r>
              <a:rPr sz="2000"/>
              <a:t>Correlation: Measures association between two variables</a:t>
            </a:r>
          </a:p>
          <a:p>
            <a:pPr lvl="1"/>
            <a:r>
              <a:rPr sz="2000"/>
              <a:t>Regression: Predicts one variable from another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Matter:</a:t>
            </a:r>
          </a:p>
          <a:p>
            <a:pPr lvl="1"/>
            <a:r>
              <a:rPr sz="2000"/>
              <a:t>Always check assumptions before interpreting results</a:t>
            </a:r>
          </a:p>
          <a:p>
            <a:pPr lvl="1"/>
            <a:r>
              <a:rPr sz="2000"/>
              <a:t>Use appropriate alternatives when assumptions are violated</a:t>
            </a:r>
          </a:p>
          <a:p>
            <a:pPr lvl="0" indent="-342900" marL="342900">
              <a:buAutoNum type="arabicPeriod"/>
            </a:pPr>
            <a:r>
              <a:rPr sz="2000" b="1"/>
              <a:t>Interpretation:</a:t>
            </a:r>
          </a:p>
          <a:p>
            <a:pPr lvl="1"/>
            <a:r>
              <a:rPr sz="2000"/>
              <a:t>R² tells us proportion of variance explained</a:t>
            </a:r>
          </a:p>
          <a:p>
            <a:pPr lvl="1"/>
            <a:r>
              <a:rPr sz="2000"/>
              <a:t>Slopes tell us rate of change</a:t>
            </a:r>
          </a:p>
          <a:p>
            <a:pPr lvl="1"/>
            <a:r>
              <a:rPr sz="2000"/>
              <a:t>P-values tell us if relationships are statistically significant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Considerations:</a:t>
            </a:r>
          </a:p>
          <a:p>
            <a:pPr lvl="1"/>
            <a:r>
              <a:rPr sz="2000"/>
              <a:t>Correlation ≠ Causation</a:t>
            </a:r>
          </a:p>
          <a:p>
            <a:pPr lvl="1"/>
            <a:r>
              <a:rPr sz="2000"/>
              <a:t>Outliers can have major impacts</a:t>
            </a:r>
          </a:p>
          <a:p>
            <a:pPr lvl="1"/>
            <a:r>
              <a:rPr sz="2000"/>
              <a:t>Sample size affects power to detect relationships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 b="1"/>
              <a:t>Using correlation when you mean regression</a:t>
            </a:r>
            <a:r>
              <a:rPr sz="2000"/>
              <a:t> (or vice versa)</a:t>
            </a:r>
          </a:p>
          <a:p>
            <a:pPr lvl="0" indent="-342900" marL="342900">
              <a:buAutoNum type="arabicPeriod"/>
            </a:pPr>
            <a:r>
              <a:rPr sz="2000" b="1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 b="1"/>
              <a:t>Extrapolating beyond the range of data</a:t>
            </a:r>
          </a:p>
          <a:p>
            <a:pPr lvl="0" indent="-342900" marL="342900">
              <a:buAutoNum type="arabicPeriod"/>
            </a:pPr>
            <a:r>
              <a:rPr sz="2000" b="1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 b="1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 b="1"/>
              <a:t>Forgetting about biological significance vs. statistical significance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Resources</a:t>
            </a:r>
          </a:p>
          <a:p>
            <a:pPr lvl="0"/>
            <a:r>
              <a:rPr/>
              <a:t>Whitlock &amp; Schluter Chapter 16 (Correlation)</a:t>
            </a:r>
          </a:p>
          <a:p>
            <a:pPr lvl="0"/>
            <a:r>
              <a:rPr/>
              <a:t>Whitlock &amp; Schluter Chapter 17 (Regression)</a:t>
            </a:r>
          </a:p>
          <a:p>
            <a:pPr lvl="0"/>
            <a:r>
              <a:rPr/>
              <a:t>R for Data Science: </a:t>
            </a:r>
            <a:r>
              <a:rPr>
                <a:hlinkClick r:id="rId2"/>
              </a:rPr>
              <a:t>https://r4ds.had.co.nz/</a:t>
            </a:r>
          </a:p>
          <a:p>
            <a:pPr lvl="0"/>
            <a:r>
              <a:rPr/>
              <a:t>Quick-R Regression: </a:t>
            </a:r>
            <a:r>
              <a:rPr>
                <a:hlinkClick r:id="rId3"/>
              </a:rPr>
              <a:t>https://www.statmethods.net/stats/regression.html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&amp; Linear Regression</dc:title>
  <dc:creator>bill perry</dc:creator>
  <cp:keywords/>
  <dc:description>Hands-on activity: correlation and simple linear regression.</dc:description>
  <dcterms:created xsi:type="dcterms:W3CDTF">2026-07-06T00:57:37Z</dcterms:created>
  <dcterms:modified xsi:type="dcterms:W3CDTF">2026-07-06T00:57:37Z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Correlation and regression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