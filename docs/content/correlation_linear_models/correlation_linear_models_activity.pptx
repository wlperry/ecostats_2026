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.co.nz/" TargetMode="External" /><Relationship Id="rId3" Type="http://schemas.openxmlformats.org/officeDocument/2006/relationships/hyperlink" Target="https://www.statmethods.net/stats/regression.html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Correlation vs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Relationships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Correlation and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 that goes a bit further than what we covered in lecture.</a:t>
            </a:r>
          </a:p>
          <a:p>
            <a:pPr lvl="0" indent="0" marL="1270000">
              <a:buNone/>
            </a:pPr>
            <a:r>
              <a:rPr sz="2000"/>
              <a:t>This worksheet demonstrates correlation and regression using three ecological examples from the textbook: Nazca booby aggression (correlation), lion nose pigmentation and age (regression), and prairie plant diversity and stability (a second regression to compare against).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Setup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</a:t>
            </a:r>
            <a:r>
              <a:rPr>
                <a:solidFill>
                  <a:srgbClr val="5E5E5E"/>
                </a:solidFill>
                <a:latin typeface="Courier"/>
              </a:rPr>
              <a:t># For data manipulation and visualization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  </a:t>
            </a:r>
            <a:r>
              <a:rPr>
                <a:solidFill>
                  <a:srgbClr val="5E5E5E"/>
                </a:solidFill>
                <a:latin typeface="Courier"/>
              </a:rPr>
              <a:t># For combining plots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</a:t>
            </a:r>
            <a:r>
              <a:rPr>
                <a:solidFill>
                  <a:srgbClr val="5E5E5E"/>
                </a:solidFill>
                <a:latin typeface="Courier"/>
              </a:rPr>
              <a:t># For regression diagnostics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(broom)       </a:t>
            </a:r>
            <a:r>
              <a:rPr>
                <a:solidFill>
                  <a:srgbClr val="5E5E5E"/>
                </a:solidFill>
                <a:latin typeface="Courier"/>
              </a:rPr>
              <a:t># For tidy model output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build the three example datasets: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Lion data from Example 17.1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prop_black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AD0000"/>
                </a:solidFill>
                <a:latin typeface="Courier"/>
              </a:rPr>
              <a:t>0.20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0.42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0.43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AD0000"/>
                </a:solidFill>
                <a:latin typeface="Courier"/>
              </a:rPr>
              <a:t>0.60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0.48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0.44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age_yr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5.4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AD0000"/>
                </a:solidFill>
                <a:latin typeface="Courier"/>
              </a:rPr>
              <a:t>5.8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5.4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Booby data from Example 16.1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visits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aggression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0.46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0.47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0.46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0.16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Prairie stability data from Example 17.3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spp_n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times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log_stability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0.033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spp_n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161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Package overview</a:t>
            </a:r>
          </a:p>
          <a:p>
            <a:pPr lvl="0"/>
            <a:r>
              <a:rPr sz="2000" b="1"/>
              <a:t>tidyverse</a:t>
            </a:r>
            <a:r>
              <a:rPr sz="2000"/>
              <a:t> — data science toolkit</a:t>
            </a:r>
          </a:p>
          <a:p>
            <a:pPr lvl="0"/>
            <a:r>
              <a:rPr sz="2000" b="1"/>
              <a:t>patchwork</a:t>
            </a:r>
            <a:r>
              <a:rPr sz="2000"/>
              <a:t> — combine multiple ggplot2 plots easily</a:t>
            </a:r>
          </a:p>
          <a:p>
            <a:pPr lvl="0"/>
            <a:r>
              <a:rPr sz="2000" b="1"/>
              <a:t>car</a:t>
            </a:r>
            <a:r>
              <a:rPr sz="2000"/>
              <a:t> — companion to Applied Regression (diagnostic tools)</a:t>
            </a:r>
          </a:p>
          <a:p>
            <a:pPr lvl="0"/>
            <a:r>
              <a:rPr sz="2000" b="1"/>
              <a:t>broom</a:t>
            </a:r>
            <a:r>
              <a:rPr sz="2000"/>
              <a:t> — convert statistical objects into tidy data frames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Run </a:t>
            </a:r>
            <a:r>
              <a:rPr sz="2000">
                <a:latin typeface="Courier"/>
              </a:rPr>
              <a:t>glimpse()</a:t>
            </a:r>
            <a:r>
              <a:rPr sz="2000"/>
              <a:t> on all three data frames. Which columns are the predictor (X) and which are the response (Y) in each?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Correlation analysis: data types and assumptions</a:t>
            </a:r>
          </a:p>
          <a:p>
            <a:pPr lvl="0" indent="0" marL="1270000">
              <a:buNone/>
            </a:pPr>
            <a:r>
              <a:rPr sz="2000" b="1"/>
              <a:t>Data types required:</a:t>
            </a:r>
            <a:r>
              <a:rPr sz="2000"/>
              <a:t> both X and Y are continuous numerical, and both should be </a:t>
            </a:r>
            <a:r>
              <a:rPr sz="2000" i="1"/>
              <a:t>measured</a:t>
            </a:r>
            <a:r>
              <a:rPr sz="2000"/>
              <a:t> (not manipulated).</a:t>
            </a:r>
          </a:p>
          <a:p>
            <a:pPr lvl="0" indent="0" marL="1270000">
              <a:buNone/>
            </a:pPr>
            <a:r>
              <a:rPr sz="2000" b="1"/>
              <a:t>Assumptions for Pearson correlation:</a:t>
            </a:r>
            <a:r>
              <a:rPr sz="2000"/>
              <a:t> random sampling, bivariate normality, a linear relationship, and no extreme outliers.</a:t>
            </a:r>
          </a:p>
          <a:p>
            <a:pPr lvl="0" indent="0" marL="0">
              <a:buNone/>
            </a:pPr>
            <a:r>
              <a:rPr/>
              <a:t>Let’s start with the Nazca booby data.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visits, 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aggression)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cor.test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visits, 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aggression)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save the coefficient and get the variance explained: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booby_corr &lt;- 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visits, 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aggression)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booby_corr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booby_corr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R-squared (variance explained)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visualize it: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visits,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aggression))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Activity: interpret the correlation</a:t>
            </a:r>
          </a:p>
          <a:p>
            <a:pPr lvl="0" indent="0" marL="1270000">
              <a:buNone/>
            </a:pPr>
            <a:r>
              <a:rPr sz="2000"/>
              <a:t>Based on the output above, answer:</a:t>
            </a:r>
          </a:p>
          <a:p>
            <a:pPr lvl="0" indent="-342900" marL="342900">
              <a:buAutoNum type="arabicPeriod"/>
            </a:pPr>
            <a:r>
              <a:rPr sz="2000" b="1"/>
              <a:t>Direction</a:t>
            </a:r>
            <a:r>
              <a:rPr sz="2000"/>
              <a:t>: Is the correlation positive or negative? What does this mean biologically?</a:t>
            </a:r>
          </a:p>
          <a:p>
            <a:pPr lvl="0" indent="-342900" marL="342900">
              <a:buAutoNum type="arabicPeriod"/>
            </a:pPr>
            <a:r>
              <a:rPr sz="2000" b="1"/>
              <a:t>Strength</a:t>
            </a:r>
            <a:r>
              <a:rPr sz="2000"/>
              <a:t>: How would you classify this correlation (weak, moderate, strong)?</a:t>
            </a:r>
          </a:p>
          <a:p>
            <a:pPr lvl="0" indent="-342900" marL="342900">
              <a:buAutoNum type="arabicPeriod"/>
            </a:pPr>
            <a:r>
              <a:rPr sz="2000" b="1"/>
              <a:t>Significance</a:t>
            </a:r>
            <a:r>
              <a:rPr sz="2000"/>
              <a:t>: Is the correlation statistically significant? What is the p-value?</a:t>
            </a:r>
          </a:p>
          <a:p>
            <a:pPr lvl="0" indent="-342900" marL="342900">
              <a:buAutoNum type="arabicPeriod"/>
            </a:pPr>
            <a:r>
              <a:rPr sz="2000" b="1"/>
              <a:t>Variance explained</a:t>
            </a:r>
            <a:r>
              <a:rPr sz="2000"/>
              <a:t>: What percentage of variance in adult aggression is explained by nestling visits?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1. ________________________________________________________
2. ________________________________________________________
3. ________________________________________________________
4. ________________________________________________________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test the assumptions: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visits)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aggression)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visits))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Visits"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"Visits as Nestling"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p2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aggression))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Aggression"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"Future Aggression"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p3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visits))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"Q-Q Plot: Visits"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p4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aggression))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"Q-Q Plot: Aggression"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(p1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p2)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(p3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p4)</a:t>
            </a:r>
          </a:p>
          <a:p>
            <a:pPr lvl="0" indent="0" marL="1270000">
              <a:buNone/>
            </a:pPr>
            <a:r>
              <a:rPr sz="2000"/>
              <a:t>⚠️ If normality assumptions are violated (p &lt; 0.05 in the Shapiro-Wilk test), consider Spearman’s rank correlation (non-parametric), a data transformation, or removing outliers (if justified).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Spearman’s correlation: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cor.test</a:t>
            </a:r>
            <a:r>
              <a:rPr>
                <a:solidFill>
                  <a:srgbClr val="003B4F"/>
                </a:solidFill>
                <a:latin typeface="Courier"/>
              </a:rPr>
              <a:t>(b_df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visits, b_df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aggression,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"spearman"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Pearson and Spearman results agree on the direction and significance of the relationship?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Compute Kendall’s tau instead (</a:t>
            </a:r>
            <a:r>
              <a:rPr sz="2000">
                <a:latin typeface="Courier"/>
              </a:rPr>
              <a:t>method = "kendall"</a:t>
            </a:r>
            <a:r>
              <a:rPr sz="2000"/>
              <a:t>). How does its magnitude compare to Pearson’s r and Spearman’s rho for the same data?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let’s move from correlation to regression using the lion nose data.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Linear regression: data types and assumptions</a:t>
            </a:r>
          </a:p>
          <a:p>
            <a:pPr lvl="0" indent="0" marL="1270000">
              <a:buNone/>
            </a:pPr>
            <a:r>
              <a:rPr sz="2000" b="1"/>
              <a:t>Data types required:</a:t>
            </a:r>
            <a:r>
              <a:rPr sz="2000"/>
              <a:t> X (predictor) and Y (response) are both continuous numerical; X can be fixed/controlled, Y is the outcome of interest.</a:t>
            </a:r>
          </a:p>
          <a:p>
            <a:pPr lvl="0" indent="0" marL="1270000">
              <a:buNone/>
            </a:pPr>
            <a:r>
              <a:rPr sz="2000" b="1"/>
              <a:t>Assumptions:</a:t>
            </a:r>
            <a:r>
              <a:rPr sz="2000"/>
              <a:t> linearity, independence, homoscedasticity, normality of residuals, and no influential outliers.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fit the model: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lion_model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(age_yr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prop_black,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(lion_model)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Activity: interpret the regression output</a:t>
            </a:r>
          </a:p>
          <a:p>
            <a:pPr lvl="0" indent="-342900" marL="342900">
              <a:buAutoNum type="arabicPeriod"/>
            </a:pPr>
            <a:r>
              <a:rPr sz="2000" b="1"/>
              <a:t>Regression equation</a:t>
            </a:r>
            <a:r>
              <a:rPr sz="2000"/>
              <a:t>: age = ______________ + ______________ × prop_black</a:t>
            </a:r>
          </a:p>
          <a:p>
            <a:pPr lvl="0" indent="-342900" marL="342900">
              <a:buAutoNum type="arabicPeriod"/>
            </a:pPr>
            <a:r>
              <a:rPr sz="2000" b="1"/>
              <a:t>Slope interpretation</a:t>
            </a:r>
            <a:r>
              <a:rPr sz="2000"/>
              <a:t>: what does the slope value mean in biological terms?</a:t>
            </a:r>
          </a:p>
          <a:p>
            <a:pPr lvl="0" indent="-342900" marL="342900">
              <a:buAutoNum type="arabicPeriod"/>
            </a:pPr>
            <a:r>
              <a:rPr sz="2000" b="1"/>
              <a:t>R-squared</a:t>
            </a:r>
            <a:r>
              <a:rPr sz="2000"/>
              <a:t>: what percentage of variation in age is explained by nose blackness?</a:t>
            </a:r>
          </a:p>
          <a:p>
            <a:pPr lvl="0" indent="-342900" marL="342900">
              <a:buAutoNum type="arabicPeriod"/>
            </a:pPr>
            <a:r>
              <a:rPr sz="2000" b="1"/>
              <a:t>Significance</a:t>
            </a:r>
            <a:r>
              <a:rPr sz="2000"/>
              <a:t>: is the relationship statistically significant? How do you know?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1. ________________________________________________________
2. ________________________________________________________
3. ________________________________________________________
4. ________________________________________________________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visualize the fitted line with its confidence band: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prop_black,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age_yr))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"pink"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Confidence interval</a:t>
            </a:r>
            <a:r>
              <a:rPr sz="2000"/>
              <a:t> = range for the </a:t>
            </a:r>
            <a:r>
              <a:rPr sz="2000" i="1"/>
              <a:t>mean</a:t>
            </a:r>
            <a:r>
              <a:rPr sz="2000"/>
              <a:t> age of all lions with that nose blackness. </a:t>
            </a:r>
            <a:r>
              <a:rPr sz="2000" b="1"/>
              <a:t>Prediction interval</a:t>
            </a:r>
            <a:r>
              <a:rPr sz="2000"/>
              <a:t> = range for an </a:t>
            </a:r>
            <a:r>
              <a:rPr sz="2000" i="1"/>
              <a:t>individual</a:t>
            </a:r>
            <a:r>
              <a:rPr sz="2000"/>
              <a:t> lion with that nose blackness. Prediction intervals are always wider.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Use </a:t>
            </a:r>
            <a:r>
              <a:rPr sz="2000">
                <a:latin typeface="Courier"/>
              </a:rPr>
              <a:t>predict(lion_model, newdata = tibble(prop_black = 0.5), interval = "confidence")</a:t>
            </a:r>
            <a:r>
              <a:rPr sz="2000"/>
              <a:t> and then </a:t>
            </a:r>
            <a:r>
              <a:rPr sz="2000">
                <a:latin typeface="Courier"/>
              </a:rPr>
              <a:t>interval = "prediction"</a:t>
            </a:r>
            <a:r>
              <a:rPr sz="2000"/>
              <a:t> for the same </a:t>
            </a:r>
            <a:r>
              <a:rPr sz="2000">
                <a:latin typeface="Courier"/>
              </a:rPr>
              <a:t>prop_black = 0.5</a:t>
            </a:r>
            <a:r>
              <a:rPr sz="2000"/>
              <a:t>. Confirm the prediction interval is wider.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Testing Regression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the four-panel diagnostic plot: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(lion_model)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Understanding regression diagnostic plots</a:t>
            </a:r>
          </a:p>
          <a:p>
            <a:pPr lvl="0" indent="-342900" marL="342900">
              <a:buAutoNum type="arabicPeriod"/>
            </a:pPr>
            <a:r>
              <a:rPr sz="2000" b="1"/>
              <a:t>Residuals vs Fitted</a:t>
            </a:r>
            <a:r>
              <a:rPr sz="2000"/>
              <a:t> — look for random scatter around the horizontal line at 0; patterns indicate non-linearity or heteroscedasticity.</a:t>
            </a:r>
          </a:p>
          <a:p>
            <a:pPr lvl="0" indent="-342900" marL="342900">
              <a:buAutoNum type="arabicPeriod"/>
            </a:pPr>
            <a:r>
              <a:rPr sz="2000" b="1"/>
              <a:t>Q-Q Plot</a:t>
            </a:r>
            <a:r>
              <a:rPr sz="2000"/>
              <a:t> — look for points following the diagonal line; deviations indicate non-normal residuals.</a:t>
            </a:r>
          </a:p>
          <a:p>
            <a:pPr lvl="0" indent="-342900" marL="342900">
              <a:buAutoNum type="arabicPeriod"/>
            </a:pPr>
            <a:r>
              <a:rPr sz="2000" b="1"/>
              <a:t>Scale-Location</a:t>
            </a:r>
            <a:r>
              <a:rPr sz="2000"/>
              <a:t> — look for random scatter with a horizontal trend line; increasing spread indicates heteroscedasticity.</a:t>
            </a:r>
          </a:p>
          <a:p>
            <a:pPr lvl="0" indent="-342900" marL="342900">
              <a:buAutoNum type="arabicPeriod"/>
            </a:pPr>
            <a:r>
              <a:rPr sz="2000" b="1"/>
              <a:t>Residuals vs Leverage</a:t>
            </a:r>
            <a:r>
              <a:rPr sz="2000"/>
              <a:t> — look for points within Cook’s distance lines; points outside indicate influential observations.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the formal tests: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shapiro_residuals &lt;-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(lion_model))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shapiro_residuals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(lmtest)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bp_test &lt;- </a:t>
            </a:r>
            <a:r>
              <a:rPr>
                <a:solidFill>
                  <a:srgbClr val="4758AB"/>
                </a:solidFill>
                <a:latin typeface="Courier"/>
              </a:rPr>
              <a:t>bptest</a:t>
            </a:r>
            <a:r>
              <a:rPr>
                <a:solidFill>
                  <a:srgbClr val="003B4F"/>
                </a:solidFill>
                <a:latin typeface="Courier"/>
              </a:rPr>
              <a:t>(lion_model)  </a:t>
            </a:r>
            <a:r>
              <a:rPr>
                <a:solidFill>
                  <a:srgbClr val="5E5E5E"/>
                </a:solidFill>
                <a:latin typeface="Courier"/>
              </a:rPr>
              <a:t># Breusch-Pagan test for homoscedasticity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bp_test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Activity: assess assumption violations</a:t>
            </a:r>
          </a:p>
          <a:p>
            <a:pPr lvl="0" indent="0" marL="1270000">
              <a:buNone/>
            </a:pPr>
            <a:r>
              <a:rPr sz="2000"/>
              <a:t>Based on the diagnostic plots and tests:</a:t>
            </a:r>
          </a:p>
          <a:p>
            <a:pPr lvl="0" indent="-342900" marL="342900">
              <a:buAutoNum type="arabicPeriod"/>
            </a:pPr>
            <a:r>
              <a:rPr sz="2000" b="1"/>
              <a:t>Linearity</a:t>
            </a:r>
            <a:r>
              <a:rPr sz="2000"/>
              <a:t>: does the relationship appear linear? (Check Residuals vs Fitted)</a:t>
            </a:r>
          </a:p>
          <a:p>
            <a:pPr lvl="0" indent="-342900" marL="342900">
              <a:buAutoNum type="arabicPeriod"/>
            </a:pPr>
            <a:r>
              <a:rPr sz="2000" b="1"/>
              <a:t>Normality</a:t>
            </a:r>
            <a:r>
              <a:rPr sz="2000"/>
              <a:t>: are the residuals normally distributed? (Check Q-Q plot and Shapiro test)</a:t>
            </a:r>
          </a:p>
          <a:p>
            <a:pPr lvl="0" indent="-342900" marL="342900">
              <a:buAutoNum type="arabicPeriod"/>
            </a:pPr>
            <a:r>
              <a:rPr sz="2000" b="1"/>
              <a:t>Homoscedasticity</a:t>
            </a:r>
            <a:r>
              <a:rPr sz="2000"/>
              <a:t>: is the variance constant? (Check Scale-Location plot and BP test)</a:t>
            </a:r>
          </a:p>
          <a:p>
            <a:pPr lvl="0" indent="-342900" marL="342900">
              <a:buAutoNum type="arabicPeriod"/>
            </a:pPr>
            <a:r>
              <a:rPr sz="2000" b="1"/>
              <a:t>Influential points</a:t>
            </a:r>
            <a:r>
              <a:rPr sz="2000"/>
              <a:t>: are there any concerning influential observations?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1. ________________________________________________________
2. ________________________________________________________
3. ________________________________________________________
4. 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</a:t>
            </a:r>
            <a:r>
              <a:rPr sz="2000">
                <a:latin typeface="Courier"/>
              </a:rPr>
              <a:t>bptest()</a:t>
            </a:r>
            <a:r>
              <a:rPr sz="2000"/>
              <a:t>’s null hypothesis is that variance is constant (homoscedastic). Write out, in your own words, what a </a:t>
            </a:r>
            <a:r>
              <a:rPr sz="2000" i="1"/>
              <a:t>significant</a:t>
            </a:r>
            <a:r>
              <a:rPr sz="2000"/>
              <a:t> Breusch-Pagan result would mean for this model — and whether that’s what you found.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________________________________________________________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ANOVA for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anova_table &lt;-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(lion_model)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anova_table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confirm the partition by hand: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ss_total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((l_df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age_yr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age_yr))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ss_residual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(lion_model)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ss_regression &lt;- ss_total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ss_residual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"Manual calculation of sums of squares:"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"SS Total:"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(ss_total,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"SS Regression:"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(ss_regression,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"SS Residual:"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(ss_residual,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"SS Regression + SS Residual:"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(ss_regression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ss_residual,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</a:t>
            </a:r>
            <a:r>
              <a:rPr>
                <a:latin typeface="Courier"/>
              </a:rPr>
              <a:t>ss_regression + ss_residual</a:t>
            </a:r>
            <a:r>
              <a:rPr/>
              <a:t> match </a:t>
            </a:r>
            <a:r>
              <a:rPr>
                <a:latin typeface="Courier"/>
              </a:rPr>
              <a:t>ss_total</a:t>
            </a:r>
            <a:r>
              <a:rPr/>
              <a:t>? Does </a:t>
            </a:r>
            <a:r>
              <a:rPr>
                <a:latin typeface="Courier"/>
              </a:rPr>
              <a:t>ss_regression</a:t>
            </a:r>
            <a:r>
              <a:rPr/>
              <a:t> match the “prop_black” row’s Sum Sq in </a:t>
            </a:r>
            <a:r>
              <a:rPr>
                <a:latin typeface="Courier"/>
              </a:rPr>
              <a:t>anova_table</a:t>
            </a:r>
            <a:r>
              <a:rPr/>
              <a:t>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visualize the variance components for one lion: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predicted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(lion_model)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mean_age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age_yr)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example_point &lt;-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variance_plot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prop_black,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age_yr))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mean_age,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prop_black[example_point],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age_yr[example_point],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prop_black[example_point],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predicted[example_point]),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prop_black[example_point],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predicted[example_point],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prop_black[example_point],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mean_age),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mean_age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prop_black[example_point]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(l_df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age_yr[example_point]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predicted[example_point])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prop_black[example_point]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(l_df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predicted[example_point]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mean_age)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"Regression"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"Variance Components in Regression"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"Total variation = Regression + Residual"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"Proportion 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"Age (years)"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variance_plot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Change </a:t>
            </a:r>
            <a:r>
              <a:rPr sz="2000">
                <a:latin typeface="Courier"/>
              </a:rPr>
              <a:t>example_point</a:t>
            </a:r>
            <a:r>
              <a:rPr sz="2000"/>
              <a:t> to a different row number (try the lion with the largest residual — hint: </a:t>
            </a:r>
            <a:r>
              <a:rPr sz="2000">
                <a:latin typeface="Courier"/>
              </a:rPr>
              <a:t>which.max(abs(residuals(lion_model)))</a:t>
            </a:r>
            <a:r>
              <a:rPr sz="2000"/>
              <a:t>). How does the plot change?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Comparing Multiple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practice regression with the prairie biodiversity data.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prairie_model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(log_stability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spp_n,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(prairie_model)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prairie_plot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spp_n,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log_stability))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prairie_plot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Activity: compare the two regressions</a:t>
            </a:r>
          </a:p>
          <a:p>
            <a:pPr lvl="0" indent="0" marL="1270000">
              <a:buNone/>
            </a:pPr>
            <a:r>
              <a:rPr sz="2000"/>
              <a:t>Compare the lion and prairie regression models:</a:t>
            </a:r>
          </a:p>
          <a:p>
            <a:pPr lvl="0" indent="-342900" marL="342900">
              <a:buAutoNum type="arabicPeriod"/>
            </a:pPr>
            <a:r>
              <a:rPr sz="2000" b="1"/>
              <a:t>Which model explains more variance?</a:t>
            </a:r>
            <a:r>
              <a:rPr sz="2000"/>
              <a:t> (Compare R² values)</a:t>
            </a:r>
          </a:p>
          <a:p>
            <a:pPr lvl="0" indent="-342900" marL="342900">
              <a:buAutoNum type="arabicPeriod"/>
            </a:pPr>
            <a:r>
              <a:rPr sz="2000" b="1"/>
              <a:t>Which has a stronger relationship?</a:t>
            </a:r>
            <a:r>
              <a:rPr sz="2000"/>
              <a:t> (Compare standardized slopes or correlation)</a:t>
            </a:r>
          </a:p>
          <a:p>
            <a:pPr lvl="0" indent="-342900" marL="342900">
              <a:buAutoNum type="arabicPeriod"/>
            </a:pPr>
            <a:r>
              <a:rPr sz="2000" b="1"/>
              <a:t>Which has more precise estimates?</a:t>
            </a:r>
            <a:r>
              <a:rPr sz="2000"/>
              <a:t> (Compare standard errors relative to estimates)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1. ________________________________________________________
2. ________________________________________________________
3. 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Run </a:t>
            </a:r>
            <a:r>
              <a:rPr sz="2000">
                <a:latin typeface="Courier"/>
              </a:rPr>
              <a:t>plot(prairie_model)</a:t>
            </a:r>
            <a:r>
              <a:rPr sz="2000"/>
              <a:t> (four diagnostic plots, like Part 4). With n = 161, does non-normality of residuals worry you as much as it did for the lion model (n = 32)? Why might sample size change how much assumption violations matter?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What we learned today</a:t>
            </a:r>
          </a:p>
          <a:p>
            <a:pPr lvl="0" indent="-342900" marL="342900">
              <a:buAutoNum type="arabicPeriod"/>
            </a:pPr>
            <a:r>
              <a:rPr sz="2000" b="1"/>
              <a:t>Correlation vs. regression</a:t>
            </a:r>
            <a:r>
              <a:rPr sz="2000"/>
              <a:t> — correlation measures association; regression predicts one variable from another.</a:t>
            </a:r>
          </a:p>
          <a:p>
            <a:pPr lvl="0" indent="-342900" marL="342900">
              <a:buAutoNum type="arabicPeriod"/>
            </a:pPr>
            <a:r>
              <a:rPr sz="2000" b="1"/>
              <a:t>Assumptions matter</a:t>
            </a:r>
            <a:r>
              <a:rPr sz="2000"/>
              <a:t> — always check assumptions before interpreting results, and use appropriate alternatives when they’re violated.</a:t>
            </a:r>
          </a:p>
          <a:p>
            <a:pPr lvl="0" indent="-342900" marL="342900">
              <a:buAutoNum type="arabicPeriod"/>
            </a:pPr>
            <a:r>
              <a:rPr sz="2000" b="1"/>
              <a:t>Interpretation</a:t>
            </a:r>
            <a:r>
              <a:rPr sz="2000"/>
              <a:t> — R² tells us the proportion of variance explained; slopes tell us the rate of change; p-values tell us if relationships are statistically significant.</a:t>
            </a:r>
          </a:p>
          <a:p>
            <a:pPr lvl="0" indent="-342900" marL="342900">
              <a:buAutoNum type="arabicPeriod"/>
            </a:pPr>
            <a:r>
              <a:rPr sz="2000" b="1"/>
              <a:t>Practical considerations</a:t>
            </a:r>
            <a:r>
              <a:rPr sz="2000"/>
              <a:t> — correlation ≠ causation, outliers can have major impacts, and sample size affects the power to detect relationships.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Common mistakes to avoid</a:t>
            </a:r>
          </a:p>
          <a:p>
            <a:pPr lvl="0" indent="-342900" marL="342900">
              <a:buAutoNum type="arabicPeriod"/>
            </a:pPr>
            <a:r>
              <a:rPr sz="2000"/>
              <a:t>Using correlation when you mean regression (or vice versa)</a:t>
            </a:r>
          </a:p>
          <a:p>
            <a:pPr lvl="0" indent="-342900" marL="342900">
              <a:buAutoNum type="arabicPeriod"/>
            </a:pPr>
            <a:r>
              <a:rPr sz="2000"/>
              <a:t>Ignoring assumption violations</a:t>
            </a:r>
          </a:p>
          <a:p>
            <a:pPr lvl="0" indent="-342900" marL="342900">
              <a:buAutoNum type="arabicPeriod"/>
            </a:pPr>
            <a:r>
              <a:rPr sz="2000"/>
              <a:t>Extrapolating beyond the range of the data</a:t>
            </a:r>
          </a:p>
          <a:p>
            <a:pPr lvl="0" indent="-342900" marL="342900">
              <a:buAutoNum type="arabicPeriod"/>
            </a:pPr>
            <a:r>
              <a:rPr sz="2000"/>
              <a:t>Confusing confidence and prediction intervals</a:t>
            </a:r>
          </a:p>
          <a:p>
            <a:pPr lvl="0" indent="-342900" marL="342900">
              <a:buAutoNum type="arabicPeriod"/>
            </a:pPr>
            <a:r>
              <a:rPr sz="2000"/>
              <a:t>Over-interpreting R² values</a:t>
            </a:r>
          </a:p>
          <a:p>
            <a:pPr lvl="0" indent="-342900" marL="342900">
              <a:buAutoNum type="arabicPeriod"/>
            </a:pPr>
            <a:r>
              <a:rPr sz="2000"/>
              <a:t>Forgetting about biological significance vs. statistical significance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Calculate and interpret a Pearson correlation coefficient and its significance test</a:t>
            </a:r>
          </a:p>
          <a:p>
            <a:pPr lvl="0"/>
            <a:r>
              <a:rPr/>
              <a:t>☐ Test correlation assumptions and switch to Spearman’s when they fail</a:t>
            </a:r>
          </a:p>
          <a:p>
            <a:pPr lvl="0"/>
            <a:r>
              <a:rPr/>
              <a:t>☐ Fit a simple linear regression and interpret slope, intercept, and R²</a:t>
            </a:r>
          </a:p>
          <a:p>
            <a:pPr lvl="0"/>
            <a:r>
              <a:rPr/>
              <a:t>☐ Read the four standard regression diagnostic plots</a:t>
            </a:r>
          </a:p>
          <a:p>
            <a:pPr lvl="0"/>
            <a:r>
              <a:rPr/>
              <a:t>☐ Explain how ANOVA partitions variance into regression and residual components</a:t>
            </a:r>
          </a:p>
          <a:p>
            <a:pPr lvl="0"/>
            <a:r>
              <a:rPr/>
              <a:t>☐ Compare R² and precision across two different regression models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10_correlation_linear_models.R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Whitlock &amp; Schluter, Ch. 16 (Correlation)</a:t>
            </a:r>
          </a:p>
          <a:p>
            <a:pPr lvl="0"/>
            <a:r>
              <a:rPr/>
              <a:t>Whitlock &amp; Schluter, Ch. 17 (Regression)</a:t>
            </a:r>
          </a:p>
          <a:p>
            <a:pPr lvl="0"/>
            <a:r>
              <a:rPr/>
              <a:t>Gotelli &amp; Ellison, </a:t>
            </a:r>
            <a:r>
              <a:rPr i="1"/>
              <a:t>A Primer of Ecological Statistics</a:t>
            </a:r>
            <a:r>
              <a:rPr/>
              <a:t>, Ch. 9 (Regression)</a:t>
            </a:r>
          </a:p>
          <a:p>
            <a:pPr lvl="0"/>
            <a:r>
              <a:rPr>
                <a:hlinkClick r:id="rId2"/>
              </a:rPr>
              <a:t>R for Data Science</a:t>
            </a:r>
          </a:p>
          <a:p>
            <a:pPr lvl="0"/>
            <a:r>
              <a:rPr>
                <a:hlinkClick r:id="rId3"/>
              </a:rPr>
              <a:t>Quick-R: Regression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, </a:t>
            </a:r>
            <a:r>
              <a:rPr>
                <a:latin typeface="Courier"/>
              </a:rPr>
              <a:t>library(car)</a:t>
            </a:r>
            <a:r>
              <a:rPr/>
              <a:t>, </a:t>
            </a:r>
            <a:r>
              <a:rPr>
                <a:latin typeface="Courier"/>
              </a:rPr>
              <a:t>library(broom)</a:t>
            </a:r>
            <a:r>
              <a:rPr/>
              <a:t>, and </a:t>
            </a:r>
            <a:r>
              <a:rPr>
                <a:latin typeface="Courier"/>
              </a:rPr>
              <a:t>library(lmtest)</a:t>
            </a:r>
            <a:r>
              <a:rPr/>
              <a:t>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%&gt;%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Correlation vs Linear Models</dc:title>
  <dc:creator>Bill Perry</dc:creator>
  <cp:keywords/>
  <dc:description>Hands-on activity: correlation, simple linear regression, diagnostic plots, and ANOVA for regression on the Nazca booby, lion nose-pigmentation, and prairie-biodiversity datasets.</dc:description>
  <dcterms:created xsi:type="dcterms:W3CDTF">2026-08-21T18:19:28Z</dcterms:created>
  <dcterms:modified xsi:type="dcterms:W3CDTF">2026-08-21T18:19:28Z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10</vt:lpwstr>
  </property>
  <property fmtid="{D5CDD505-2E9C-101B-9397-08002B2CF9AE}" pid="13" name="resources">
    <vt:lpwstr/>
  </property>
  <property fmtid="{D5CDD505-2E9C-101B-9397-08002B2CF9AE}" pid="14" name="subtitle">
    <vt:lpwstr>Relationships</vt:lpwstr>
  </property>
  <property fmtid="{D5CDD505-2E9C-101B-9397-08002B2CF9AE}" pid="15" name="toc-title">
    <vt:lpwstr>Table of contents</vt:lpwstr>
  </property>
  <property fmtid="{D5CDD505-2E9C-101B-9397-08002B2CF9AE}" pid="16" name="week">
    <vt:lpwstr>5</vt:lpwstr>
  </property>
</Properties>
</file>