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demonstrates correlation and regression using three ecological examples from the textbook: Nazca booby aggression (correlation), lion nose pigmentation and age (regression), and prairie plant diversity and stability (a second regression to compare against).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the three example datasets: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 — data science toolkit</a:t>
            </a:r>
          </a:p>
          <a:p>
            <a:pPr lvl="0"/>
            <a:r>
              <a:rPr sz="2000" b="1"/>
              <a:t>patchwork</a:t>
            </a:r>
            <a:r>
              <a:rPr sz="2000"/>
              <a:t> —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 —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 — convert statistical objects into tidy data frames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glimpse()</a:t>
            </a:r>
            <a:r>
              <a:rPr sz="2000"/>
              <a:t> on all three data frames. Which columns are the predictor (X) and which are the response (Y) in each?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both X and Y are continuous numerical, and both should be </a:t>
            </a:r>
            <a:r>
              <a:rPr sz="2000" i="1"/>
              <a:t>measured</a:t>
            </a:r>
            <a:r>
              <a:rPr sz="2000"/>
              <a:t> (not manipulated).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  <a:r>
              <a:rPr sz="2000"/>
              <a:t> random sampling, bivariate normality, a linear relationship, and no extreme outliers.</a:t>
            </a:r>
          </a:p>
          <a:p>
            <a:pPr lvl="0" indent="0" marL="0">
              <a:buNone/>
            </a:pPr>
            <a:r>
              <a:rPr/>
              <a:t>Let’s start with the Nazca booby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save the coefficient and get the variance explained: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R-squared (variance explained)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the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1270000">
              <a:buNone/>
            </a:pPr>
            <a:r>
              <a:rPr sz="2000"/>
              <a:t>⚠️ If normality assumptions are violated (p &lt; 0.05 in the Shapiro-Wilk test), consider Spearman’s rank correlation (non-parametric), a data transformation, or removing outliers (if justified).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Spearman’s correlation: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Pearson and Spearman results agree on the direction and significance of the relationship?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Kendall’s tau instead (</a:t>
            </a:r>
            <a:r>
              <a:rPr sz="2000">
                <a:latin typeface="Courier"/>
              </a:rPr>
              <a:t>method = "kendall"</a:t>
            </a:r>
            <a:r>
              <a:rPr sz="2000"/>
              <a:t>). How does its magnitude compare to Pearson’s r and Spearman’s rho for the same data?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Simple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X (predictor) and Y (response) are both continuous numerical; X can be fixed/controlled, Y is the outcome of interest.</a:t>
            </a:r>
          </a:p>
          <a:p>
            <a:pPr lvl="0" indent="0" marL="1270000">
              <a:buNone/>
            </a:pPr>
            <a:r>
              <a:rPr sz="2000" b="1"/>
              <a:t>Assumptions:</a:t>
            </a:r>
            <a:r>
              <a:rPr sz="2000"/>
              <a:t> linearity, independence, homoscedasticity, normality of residuals, and no influential outliers.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model: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regression output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age = ______________ + ______________ × prop_black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fitted line with its confidence band: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Confidence interval</a:t>
            </a:r>
            <a:r>
              <a:rPr sz="2000"/>
              <a:t> = range for the </a:t>
            </a:r>
            <a:r>
              <a:rPr sz="2000" i="1"/>
              <a:t>mean</a:t>
            </a:r>
            <a:r>
              <a:rPr sz="2000"/>
              <a:t> age of all lions with that nose blackness. </a:t>
            </a:r>
            <a:r>
              <a:rPr sz="2000" b="1"/>
              <a:t>Prediction interval</a:t>
            </a:r>
            <a:r>
              <a:rPr sz="2000"/>
              <a:t> = range for an </a:t>
            </a:r>
            <a:r>
              <a:rPr sz="2000" i="1"/>
              <a:t>individual</a:t>
            </a:r>
            <a:r>
              <a:rPr sz="2000"/>
              <a:t> lion with that nose blackness. Prediction intervals are always wider.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Use </a:t>
            </a:r>
            <a:r>
              <a:rPr sz="2000">
                <a:latin typeface="Courier"/>
              </a:rPr>
              <a:t>predict(lion_model, newdata = tibble(prop_black = 0.5), interval = "confidence")</a:t>
            </a:r>
            <a:r>
              <a:rPr sz="2000"/>
              <a:t> and then </a:t>
            </a:r>
            <a:r>
              <a:rPr sz="2000">
                <a:latin typeface="Courier"/>
              </a:rPr>
              <a:t>interval = "prediction"</a:t>
            </a:r>
            <a:r>
              <a:rPr sz="2000"/>
              <a:t> for the same </a:t>
            </a:r>
            <a:r>
              <a:rPr sz="2000">
                <a:latin typeface="Courier"/>
              </a:rPr>
              <a:t>prop_black = 0.5</a:t>
            </a:r>
            <a:r>
              <a:rPr sz="2000"/>
              <a:t>. Confirm the prediction interval is wider.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Testing Regression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four-panel diagnostic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 — look for random scatter around the horizontal line at 0; patterns indicate non-linearity or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 — look for points following the diagonal line; deviations indicate non-normal residuals.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 — look for random scatter with a horizontal trend line; increasing spread indicates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 — look for points within Cook’s distance lines; points outside indicate influential observations.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formal tests: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  </a:t>
            </a:r>
            <a:r>
              <a:rPr>
                <a:solidFill>
                  <a:srgbClr val="5E5E5E"/>
                </a:solidFill>
                <a:latin typeface="Courier"/>
              </a:rPr>
              <a:t># Breusch-Pagan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Fitted)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bptest()</a:t>
            </a:r>
            <a:r>
              <a:rPr sz="2000"/>
              <a:t>’s null hypothesis is that variance is constant (homoscedastic). Write out, in your own words, what a </a:t>
            </a:r>
            <a:r>
              <a:rPr sz="2000" i="1"/>
              <a:t>significant</a:t>
            </a:r>
            <a:r>
              <a:rPr sz="2000"/>
              <a:t> Breusch-Pagan result would mean for this model — and whether that’s what you found.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ANOVA for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partition by hand: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ss_regression + ss_residual</a:t>
            </a:r>
            <a:r>
              <a:rPr/>
              <a:t> match </a:t>
            </a:r>
            <a:r>
              <a:rPr>
                <a:latin typeface="Courier"/>
              </a:rPr>
              <a:t>ss_total</a:t>
            </a:r>
            <a:r>
              <a:rPr/>
              <a:t>? Does </a:t>
            </a:r>
            <a:r>
              <a:rPr>
                <a:latin typeface="Courier"/>
              </a:rPr>
              <a:t>ss_regression</a:t>
            </a:r>
            <a:r>
              <a:rPr/>
              <a:t> match the “prop_black” row’s Sum Sq in </a:t>
            </a:r>
            <a:r>
              <a:rPr>
                <a:latin typeface="Courier"/>
              </a:rPr>
              <a:t>anova_table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variance components for one lion: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Change </a:t>
            </a:r>
            <a:r>
              <a:rPr sz="2000">
                <a:latin typeface="Courier"/>
              </a:rPr>
              <a:t>example_point</a:t>
            </a:r>
            <a:r>
              <a:rPr sz="2000"/>
              <a:t> to a different row number (try the lion with the largest residual — hint: </a:t>
            </a:r>
            <a:r>
              <a:rPr sz="2000">
                <a:latin typeface="Courier"/>
              </a:rPr>
              <a:t>which.max(abs(residuals(lion_model)))</a:t>
            </a:r>
            <a:r>
              <a:rPr sz="2000"/>
              <a:t>). How does the plot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Comparing Multiple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plot(prairie_model)</a:t>
            </a:r>
            <a:r>
              <a:rPr sz="2000"/>
              <a:t> (four diagnostic plots, like Part 4). With n = 161, does non-normality of residuals worry you as much as it did for the lion model (n = 32)? Why might sample size change how much assumption violations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</a:t>
            </a:r>
            <a:r>
              <a:rPr sz="2000"/>
              <a:t> — correlation measures association; regression predicts one variable from another.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</a:t>
            </a:r>
            <a:r>
              <a:rPr sz="2000"/>
              <a:t> — always check assumptions before interpreting results, and use appropriate alternatives when they’re violated.</a:t>
            </a:r>
          </a:p>
          <a:p>
            <a:pPr lvl="0" indent="-342900" marL="342900">
              <a:buAutoNum type="arabicPeriod"/>
            </a:pPr>
            <a:r>
              <a:rPr sz="2000" b="1"/>
              <a:t>Interpretation</a:t>
            </a:r>
            <a:r>
              <a:rPr sz="2000"/>
              <a:t> — R² tells us the proportion of variance explained; slopes tell us the rate of change; p-values tell us if relationships are statistically significant.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</a:t>
            </a:r>
            <a:r>
              <a:rPr sz="2000"/>
              <a:t> — correlation ≠ causation, outliers can have major impacts, and sample size affects the power to detect relationships.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/>
              <a:t>Using correlation when you mean regression (or vice versa)</a:t>
            </a:r>
          </a:p>
          <a:p>
            <a:pPr lvl="0" indent="-342900" marL="342900">
              <a:buAutoNum type="arabicPeriod"/>
            </a:pPr>
            <a:r>
              <a:rPr sz="2000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/>
              <a:t>Extrapolating beyond the range of the data</a:t>
            </a:r>
          </a:p>
          <a:p>
            <a:pPr lvl="0" indent="-342900" marL="342900">
              <a:buAutoNum type="arabicPeriod"/>
            </a:pPr>
            <a:r>
              <a:rPr sz="2000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/>
              <a:t>Forgetting about biological significance vs. statistical significance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Calculate and interpret a Pearson correlation coefficient and its significance test</a:t>
            </a:r>
          </a:p>
          <a:p>
            <a:pPr lvl="0"/>
            <a:r>
              <a:rPr/>
              <a:t>☐ Test correlation assumptions and switch to Spearman’s when they fail</a:t>
            </a:r>
          </a:p>
          <a:p>
            <a:pPr lvl="0"/>
            <a:r>
              <a:rPr/>
              <a:t>☐ Fit a simple linear regression and interpret slope, intercept, and R²</a:t>
            </a:r>
          </a:p>
          <a:p>
            <a:pPr lvl="0"/>
            <a:r>
              <a:rPr/>
              <a:t>☐ Read the four standard regression diagnostic plots</a:t>
            </a:r>
          </a:p>
          <a:p>
            <a:pPr lvl="0"/>
            <a:r>
              <a:rPr/>
              <a:t>☐ Explain how ANOVA partitions variance into regression and residual components</a:t>
            </a:r>
          </a:p>
          <a:p>
            <a:pPr lvl="0"/>
            <a:r>
              <a:rPr/>
              <a:t>☐ Compare R² and precision across two different regression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10_correlation_linear_models.R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 &amp; Schluter, Ch. 16 (Correlation)</a:t>
            </a:r>
          </a:p>
          <a:p>
            <a:pPr lvl="0"/>
            <a:r>
              <a:rPr/>
              <a:t>Whitlock &amp; Schluter, Ch. 17 (Regression)</a:t>
            </a:r>
          </a:p>
          <a:p>
            <a:pPr lvl="0"/>
            <a:r>
              <a:rPr/>
              <a:t>Gotelli &amp; Ellison, </a:t>
            </a:r>
            <a:r>
              <a:rPr i="1"/>
              <a:t>A Primer of Ecological Statistics</a:t>
            </a:r>
            <a:r>
              <a:rPr/>
              <a:t>, Ch. 9 (Regression)</a:t>
            </a:r>
          </a:p>
          <a:p>
            <a:pPr lvl="0"/>
            <a:r>
              <a:rPr>
                <a:hlinkClick r:id="rId2"/>
              </a:rPr>
              <a:t>R for Data Science</a:t>
            </a:r>
          </a:p>
          <a:p>
            <a:pPr lvl="0"/>
            <a:r>
              <a:rPr>
                <a:hlinkClick r:id="rId3"/>
              </a:rPr>
              <a:t>Quick-R: Regression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library(broom)</a:t>
            </a:r>
            <a:r>
              <a:rPr/>
              <a:t>, and </a:t>
            </a:r>
            <a:r>
              <a:rPr>
                <a:latin typeface="Courier"/>
              </a:rPr>
              <a:t>library(lmtest)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Correlation vs Linear Models</dc:title>
  <dc:creator>Bill Perry</dc:creator>
  <cp:keywords/>
  <dc:description>Hands-on activity: correlation, simple linear regression, diagnostic plots, and ANOVA for regression on the Nazca booby, lion nose-pigmentation, and prairie-biodiversity datasets.</dc:description>
  <dcterms:created xsi:type="dcterms:W3CDTF">2026-08-21T18:40:07Z</dcterms:created>
  <dcterms:modified xsi:type="dcterms:W3CDTF">2026-08-21T18:40:07Z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Relationships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