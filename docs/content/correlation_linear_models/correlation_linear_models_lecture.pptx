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booby_aggression.csv" TargetMode="External" /><Relationship Id="rId3" Type="http://schemas.openxmlformats.org/officeDocument/2006/relationships/hyperlink" Target="data/rope_trick.csv" TargetMode="External" /><Relationship Id="rId4" Type="http://schemas.openxmlformats.org/officeDocument/2006/relationships/hyperlink" Target="data/lion_noses.csv" TargetMode="External" /><Relationship Id="rId5" Type="http://schemas.openxmlformats.org/officeDocument/2006/relationships/hyperlink" Target="data/10_correlation_linear_models.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A design has two jobs: kill </a:t>
            </a:r>
            <a:r>
              <a:rPr b="1"/>
              <a:t>bias</a:t>
            </a:r>
            <a:r>
              <a:rPr/>
              <a:t>, shrink </a:t>
            </a:r>
            <a:r>
              <a:rPr b="1"/>
              <a:t>sampling error</a:t>
            </a:r>
          </a:p>
          <a:p>
            <a:pPr lvl="0"/>
            <a:r>
              <a:rPr/>
              <a:t>Controls, randomization and blinding; replication, balance and blocking</a:t>
            </a:r>
          </a:p>
          <a:p>
            <a:pPr lvl="0"/>
            <a:r>
              <a:rPr/>
              <a:t>Natural versus manipulative experiments, and what each one licenses you to say</a:t>
            </a:r>
          </a:p>
          <a:p>
            <a:pPr lvl="0"/>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today sits on that map</a:t>
            </a:r>
          </a:p>
          <a:p>
            <a:pPr lvl="0"/>
            <a:r>
              <a:rPr sz="2000"/>
              <a:t>Last week ended with a table mapping designs onto analyses.</a:t>
            </a:r>
          </a:p>
          <a:p>
            <a:pPr lvl="0"/>
            <a:r>
              <a:rPr sz="2000"/>
              <a:t>Today is its </a:t>
            </a:r>
            <a:r>
              <a:rPr sz="2000" b="1"/>
              <a:t>first row</a:t>
            </a:r>
            <a:r>
              <a:rPr sz="2000"/>
              <a:t> — one continuous predictor, one continuous response.</a:t>
            </a:r>
          </a:p>
          <a:p>
            <a:pPr lvl="0"/>
            <a:r>
              <a:rPr sz="2000"/>
              <a:t>Everything after today adds predictors or changes their type. The machinery stays the same.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Two techniques, one idea — a straight line through a cloud of points:</a:t>
            </a:r>
          </a:p>
          <a:p>
            <a:pPr lvl="0"/>
            <a:r>
              <a:rPr b="1"/>
              <a:t>Correlation</a:t>
            </a:r>
            <a:r>
              <a:rPr/>
              <a:t> — how tightly do two variables move together?</a:t>
            </a:r>
          </a:p>
          <a:p>
            <a:pPr lvl="0"/>
            <a:r>
              <a:rPr b="1"/>
              <a:t>Regression</a:t>
            </a:r>
            <a:r>
              <a:rPr/>
              <a:t> — what equation predicts Y from X?</a:t>
            </a:r>
          </a:p>
          <a:p>
            <a:pPr lvl="0"/>
            <a:r>
              <a:rPr/>
              <a:t>Assumptions for each, and what to do when they fail</a:t>
            </a:r>
          </a:p>
          <a:p>
            <a:pPr lvl="0"/>
            <a:r>
              <a:rPr b="1"/>
              <a:t>Sums of squares</a:t>
            </a:r>
            <a:r>
              <a:rPr/>
              <a:t> — how a fitted line becomes an ANOVA table</a:t>
            </a:r>
          </a:p>
          <a:p>
            <a:pPr lvl="0" indent="0" marL="0">
              <a:buNone/>
            </a:pPr>
            <a:r>
              <a:rPr/>
              <a:t>This lecture runs over </a:t>
            </a:r>
            <a:r>
              <a:rPr b="1"/>
              <a:t>two class days</a:t>
            </a:r>
            <a:r>
              <a:rPr/>
              <a:t>: correlation first, regression second.</a:t>
            </a:r>
          </a:p>
          <a:p>
            <a:pPr lvl="0" indent="0" marL="0">
              <a:buNone/>
            </a:pPr>
            <a:r>
              <a:rPr>
                <a:hlinkClick r:id="rId2"/>
              </a:rPr>
              <a:t>📥 Booby data</a:t>
            </a:r>
            <a:r>
              <a:rPr/>
              <a:t> </a:t>
            </a:r>
            <a:r>
              <a:rPr>
                <a:hlinkClick r:id="rId3"/>
              </a:rPr>
              <a:t>📥 Rope trick data</a:t>
            </a:r>
            <a:r>
              <a:rPr/>
              <a:t> </a:t>
            </a:r>
            <a:r>
              <a:rPr>
                <a:hlinkClick r:id="rId4"/>
              </a:rPr>
              <a:t>📥 Lion data</a:t>
            </a:r>
            <a:r>
              <a:rPr/>
              <a:t> </a:t>
            </a:r>
            <a:r>
              <a:rPr>
                <a:hlinkClick r:id="rId5"/>
              </a:rPr>
              <a:t>📥 Script skeleton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Reading</a:t>
            </a:r>
          </a:p>
          <a:p>
            <a:pPr lvl="0"/>
            <a:r>
              <a:rPr sz="2000"/>
              <a:t>Whitlock &amp; Schluter, Ch. 16 (Correlation) and Ch. 17 (Regression).</a:t>
            </a:r>
          </a:p>
          <a:p>
            <a:pPr lvl="0"/>
            <a:r>
              <a:rPr sz="2000"/>
              <a:t>Gotelli &amp; Ellison, Ch. 9 (Regression).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over the two days,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a:t>
            </a:r>
          </a:p>
          <a:p>
            <a:pPr lvl="0"/>
            <a:r>
              <a:rPr/>
              <a:t>Measures the </a:t>
            </a:r>
            <a:r>
              <a:rPr b="1"/>
              <a:t>strength and direction</a:t>
            </a:r>
            <a:r>
              <a:rPr/>
              <a:t> of a relationship</a:t>
            </a:r>
          </a:p>
          <a:p>
            <a:pPr lvl="0"/>
            <a:r>
              <a:rPr b="1"/>
              <a:t>Both X and Y are measured; neither is manipulated</a:t>
            </a:r>
          </a:p>
          <a:p>
            <a:pPr lvl="0"/>
            <a:r>
              <a:rPr/>
              <a:t>The variables are on equal footing — swap them and </a:t>
            </a:r>
            <a:r>
              <a:rPr i="1"/>
              <a:t>r</a:t>
            </a:r>
            <a:r>
              <a:rPr/>
              <a:t> is unchanged</a:t>
            </a:r>
          </a:p>
          <a:p>
            <a:pPr lvl="0"/>
            <a:r>
              <a:rPr/>
              <a:t>r</a:t>
            </a:r>
            <a:r>
              <a:rPr baseline="30000"/>
              <a:t>2</a:t>
            </a:r>
            <a:r>
              <a:rPr/>
              <a:t> = percent variation explained</a:t>
            </a:r>
          </a:p>
          <a:p>
            <a:pPr lvl="0"/>
            <a:r>
              <a:rPr/>
              <a:t>One number, from −1 to +1</a:t>
            </a:r>
          </a:p>
          <a:p>
            <a:pPr lvl="0" indent="0" marL="0">
              <a:buNone/>
            </a:pPr>
            <a:r>
              <a:rPr b="1"/>
              <a:t>Regression</a:t>
            </a:r>
          </a:p>
          <a:p>
            <a:pPr lvl="0"/>
            <a:r>
              <a:rPr/>
              <a:t>Produces an </a:t>
            </a:r>
            <a:r>
              <a:rPr b="1"/>
              <a:t>equation</a:t>
            </a:r>
            <a:r>
              <a:rPr/>
              <a:t> predicting Y from X</a:t>
            </a:r>
          </a:p>
          <a:p>
            <a:pPr lvl="0"/>
            <a:r>
              <a:rPr/>
              <a:t>You </a:t>
            </a:r>
            <a:r>
              <a:rPr i="1"/>
              <a:t>assume</a:t>
            </a:r>
            <a:r>
              <a:rPr/>
              <a:t> a direction, X → Y, when you choose which is which - Y is dependent on X</a:t>
            </a:r>
          </a:p>
          <a:p>
            <a:pPr lvl="0"/>
            <a:r>
              <a:rPr/>
              <a:t>Swap X and Y and you get a </a:t>
            </a:r>
            <a:r>
              <a:rPr b="1"/>
              <a:t>different line - and it becomes a different type of regression</a:t>
            </a:r>
          </a:p>
          <a:p>
            <a:pPr lvl="0"/>
            <a:r>
              <a:rPr/>
              <a:t>Gives you a slope, an intercept, and predictions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Choosing X Does Not Make It a Cause</a:t>
            </a:r>
          </a:p>
        </p:txBody>
      </p:sp>
      <p:sp>
        <p:nvSpPr>
          <p:cNvPr id="3" name="Content Placeholder 2"/>
          <p:cNvSpPr>
            <a:spLocks noGrp="1"/>
          </p:cNvSpPr>
          <p:nvPr>
            <p:ph idx="1" sz="half"/>
          </p:nvPr>
        </p:nvSpPr>
        <p:spPr/>
        <p:txBody>
          <a:bodyPr/>
          <a:lstStyle/>
          <a:p>
            <a:pPr lvl="0" indent="0" marL="1270000">
              <a:buNone/>
            </a:pPr>
            <a:r>
              <a:rPr sz="2000" b="1"/>
              <a:t>Warning</a:t>
            </a:r>
          </a:p>
          <a:p>
            <a:pPr lvl="0" indent="0" marL="1270000">
              <a:buNone/>
            </a:pPr>
            <a:r>
              <a:rPr sz="2000" b="1"/>
              <a:t>⚠️ Regression does not earn you causation</a:t>
            </a:r>
          </a:p>
          <a:p>
            <a:pPr lvl="0" indent="0" marL="1270000">
              <a:buNone/>
            </a:pPr>
            <a:r>
              <a:rPr sz="2000">
                <a:latin typeface="Courier"/>
              </a:rPr>
              <a:t>lm(y ~ x)</a:t>
            </a:r>
            <a:r>
              <a:rPr sz="2000"/>
              <a:t> will fit a slope to any two numeric columns you hand it, including ones with no causal link at all. Putting a variable on the right-hand side is a </a:t>
            </a:r>
            <a:r>
              <a:rPr sz="2000" b="1"/>
              <a:t>decision you made</a:t>
            </a:r>
            <a:r>
              <a:rPr sz="2000"/>
              <a:t>, not a finding.</a:t>
            </a:r>
          </a:p>
          <a:p>
            <a:pPr lvl="0" indent="0" marL="1270000">
              <a:buNone/>
            </a:pPr>
            <a:r>
              <a:rPr sz="2000"/>
              <a:t>What licenses a causal claim is the </a:t>
            </a:r>
            <a:r>
              <a:rPr sz="2000" b="1"/>
              <a:t>study design</a:t>
            </a:r>
            <a:r>
              <a:rPr sz="2000"/>
              <a:t> — manipulation, randomization, controls — not the model you fit afterwards.</a:t>
            </a:r>
          </a:p>
          <a:p>
            <a:pPr lvl="0" indent="0" marL="0">
              <a:buNone/>
            </a:pPr>
            <a:r>
              <a:rPr/>
              <a:t>Last week’s inference gradient, in one line: the same </a:t>
            </a:r>
            <a:r>
              <a:rPr>
                <a:latin typeface="Courier"/>
              </a:rPr>
              <a:t>lm()</a:t>
            </a:r>
            <a:r>
              <a:rPr/>
              <a:t> output supports a weak claim from an observational survey and a strong claim from a randomized experiment. </a:t>
            </a:r>
            <a:r>
              <a:rPr b="1"/>
              <a:t>The design decides which one you are allowed to write.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do I report?</a:t>
            </a:r>
          </a:p>
          <a:p>
            <a:pPr lvl="0"/>
            <a:r>
              <a:rPr sz="2000"/>
              <a:t>Both variables measured, no direction implied → </a:t>
            </a:r>
            <a:r>
              <a:rPr sz="2000" b="1"/>
              <a:t>correlation</a:t>
            </a:r>
          </a:p>
          <a:p>
            <a:pPr lvl="0"/>
            <a:r>
              <a:rPr sz="2000"/>
              <a:t>One variable predicts or sets the other, or you want predictions → </a:t>
            </a:r>
            <a:r>
              <a:rPr sz="2000" b="1"/>
              <a:t>regression</a:t>
            </a:r>
          </a:p>
          <a:p>
            <a:pPr lvl="0"/>
            <a:r>
              <a:rPr sz="2000"/>
              <a:t>Reporting both is fine; claiming cause from either is not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a:t>
                </a:r>
                <a:r>
                  <a:rPr/>
                  <a:t> measures the strength and direction of a </a:t>
                </a:r>
                <a:r>
                  <a:rPr b="1"/>
                  <a:t>linear</a:t>
                </a:r>
                <a:r>
                  <a:rPr/>
                  <a:t> relationship between two numerical variables. It runs from −1 to +1:</a:t>
                </a:r>
              </a:p>
              <a:p>
                <a:pPr lvl="0"/>
                <a:r>
                  <a:rPr/>
                  <a:t>+1 — perfect positive</a:t>
                </a:r>
              </a:p>
              <a:p>
                <a:pPr lvl="0"/>
                <a:r>
                  <a:rPr/>
                  <a:t>0 — no </a:t>
                </a:r>
                <a:r>
                  <a:rPr i="1"/>
                  <a:t>linear</a:t>
                </a:r>
                <a:r>
                  <a:rPr/>
                  <a:t> relationship</a:t>
                </a:r>
              </a:p>
              <a:p>
                <a:pPr lvl="0"/>
                <a:r>
                  <a:rPr/>
                  <a:t>−1 — perfect negative</a:t>
                </a:r>
              </a:p>
              <a:p>
                <a:pPr lvl="0" indent="0" marL="0">
                  <a:buNone/>
                </a:pPr>
                <a:r>
                  <a:rPr/>
                  <a:t>The </a:t>
                </a:r>
                <a:r>
                  <a:rPr b="1"/>
                  <a:t>Pearson correlation coefficient</a:t>
                </a:r>
                <a:r>
                  <a:rPr/>
                  <a:t>:</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which is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p:txBody>
          </p:sp>
        </mc:Choice>
      </mc:AlternateContent>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One Has r Closest to Zero?</a:t>
            </a:r>
          </a:p>
        </p:txBody>
      </p:sp>
      <p:sp>
        <p:nvSpPr>
          <p:cNvPr id="3" name="Content Placeholder 2"/>
          <p:cNvSpPr>
            <a:spLocks noGrp="1"/>
          </p:cNvSpPr>
          <p:nvPr>
            <p:ph idx="1" sz="half"/>
          </p:nvPr>
        </p:nvSpPr>
        <p:spPr/>
        <p:txBody>
          <a:bodyPr/>
          <a:lstStyle/>
          <a:p>
            <a:pPr lvl="0" indent="0" marL="0">
              <a:buNone/>
            </a:pPr>
            <a:r>
              <a:rPr/>
              <a:t>Four datasets, plotted on the right. No correlation coefficients shown — on purpose.</a:t>
            </a:r>
          </a:p>
          <a:p>
            <a:pPr lvl="0" indent="0" marL="0">
              <a:buNone/>
            </a:pPr>
            <a:r>
              <a:rPr b="1"/>
              <a:t>Which panel has the Pearson correlation closest to zero?</a:t>
            </a:r>
          </a:p>
          <a:p>
            <a:pPr lvl="0" indent="-342900" marL="342900">
              <a:buAutoNum type="alphaLcParenR"/>
            </a:pPr>
            <a:r>
              <a:rPr/>
              <a:t>Panel A</a:t>
            </a:r>
          </a:p>
          <a:p>
            <a:pPr lvl="0" indent="-342900" marL="342900">
              <a:buAutoNum type="alphaLcParenR"/>
            </a:pPr>
            <a:r>
              <a:rPr/>
              <a:t>Panel B</a:t>
            </a:r>
          </a:p>
          <a:p>
            <a:pPr lvl="0" indent="-342900" marL="342900">
              <a:buAutoNum type="alphaLcParenR"/>
            </a:pPr>
            <a:r>
              <a:rPr/>
              <a:t>Panel C</a:t>
            </a:r>
          </a:p>
          <a:p>
            <a:pPr lvl="0" indent="-342900" marL="342900">
              <a:buAutoNum type="alphaLcParenR"/>
            </a:pPr>
            <a:r>
              <a:rPr/>
              <a:t>Panel D</a:t>
            </a:r>
          </a:p>
          <a:p>
            <a:pPr lvl="0" indent="0" marL="1270000">
              <a:buNone/>
            </a:pPr>
            <a:r>
              <a:rPr sz="2000" b="1"/>
              <a:t>Warning</a:t>
            </a:r>
          </a:p>
          <a:p>
            <a:pPr lvl="0" indent="0" marL="1270000">
              <a:buNone/>
            </a:pPr>
            <a:r>
              <a:rPr sz="2000" b="1"/>
              <a:t>✍️ Write your letter down, then vote.</a:t>
            </a:r>
          </a:p>
        </p:txBody>
      </p:sp>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Can and Cannot See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 — Panel B.</a:t>
            </a:r>
          </a:p>
          <a:p>
            <a:pPr lvl="0"/>
            <a:r>
              <a:rPr sz="2000"/>
              <a:t>Panel B is the most </a:t>
            </a:r>
            <a:r>
              <a:rPr sz="2000" i="1"/>
              <a:t>tightly related</a:t>
            </a:r>
            <a:r>
              <a:rPr sz="2000"/>
              <a:t> pair on the slide: give me x and I can tell you y almost exactly.</a:t>
            </a:r>
          </a:p>
          <a:p>
            <a:pPr lvl="0"/>
            <a:r>
              <a:rPr sz="2000"/>
              <a:t>Its correlation is near </a:t>
            </a:r>
            <a:r>
              <a:rPr sz="2000" b="1"/>
              <a:t>zero</a:t>
            </a:r>
            <a:r>
              <a:rPr sz="2000"/>
              <a:t> anyway, because the relationship is an arch, not a line.</a:t>
            </a:r>
          </a:p>
          <a:p>
            <a:pPr lvl="0"/>
            <a:r>
              <a:rPr sz="2000"/>
              <a:t>Panel C looks like the messiest, so most rooms vote (c). It has a weak but genuine </a:t>
            </a:r>
            <a:r>
              <a:rPr sz="2000" i="1"/>
              <a:t>linear</a:t>
            </a:r>
            <a:r>
              <a:rPr sz="2000"/>
              <a:t> trend, so its r sits farther from zero than B’s.</a:t>
            </a:r>
          </a:p>
          <a:p>
            <a:pPr lvl="0"/>
            <a:r>
              <a:rPr b="1"/>
              <a:t>r measures one thing only: how close the points lie to a straight line.</a:t>
            </a:r>
          </a:p>
          <a:p>
            <a:pPr lvl="0"/>
            <a:r>
              <a:rPr/>
              <a:t>A perfect relationship with a curve in it reads as “no correlation.”</a:t>
            </a:r>
          </a:p>
          <a:p>
            <a:pPr lvl="0"/>
            <a:r>
              <a:rPr/>
              <a:t>Panel D is the other warning — a single far-out point can manufacture a large r out of a cloud with no trend in it.</a:t>
            </a:r>
          </a:p>
        </p:txBody>
      </p:sp>
      <p:pic>
        <p:nvPicPr>
          <p:cNvPr descr="correlation_linear_models_lecture_files/figure-pptx/correlation-linear-models-05-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Flipping the Bird</a:t>
            </a:r>
          </a:p>
        </p:txBody>
      </p:sp>
      <p:sp>
        <p:nvSpPr>
          <p:cNvPr id="3" name="Content Placeholder 2"/>
          <p:cNvSpPr>
            <a:spLocks noGrp="1"/>
          </p:cNvSpPr>
          <p:nvPr>
            <p:ph idx="1" sz="half"/>
          </p:nvPr>
        </p:nvSpPr>
        <p:spPr/>
        <p:txBody>
          <a:bodyPr/>
          <a:lstStyle/>
          <a:p>
            <a:pPr lvl="0" indent="0" marL="0">
              <a:buNone/>
            </a:pPr>
            <a:r>
              <a:rPr/>
              <a:t>Nazca boobies (</a:t>
            </a:r>
            <a:r>
              <a:rPr i="1"/>
              <a:t>Sula granti</a:t>
            </a:r>
            <a:r>
              <a:rPr/>
              <a:t>): do the visits a chick receives from non-parent adults predict how aggressive it is as an adult?</a:t>
            </a:r>
          </a:p>
          <a:p>
            <a:pPr lvl="0" indent="0">
              <a:buNone/>
            </a:pPr>
            <a:r>
              <a:rPr>
                <a:solidFill>
                  <a:srgbClr val="003B4F"/>
                </a:solidFill>
                <a:latin typeface="Courier"/>
              </a:rPr>
              <a:t>booby_df &lt;- </a:t>
            </a:r>
            <a:r>
              <a:rPr>
                <a:solidFill>
                  <a:srgbClr val="4758AB"/>
                </a:solidFill>
                <a:latin typeface="Courier"/>
              </a:rPr>
              <a:t>read_csv</a:t>
            </a:r>
            <a:r>
              <a:rPr>
                <a:solidFill>
                  <a:srgbClr val="003B4F"/>
                </a:solidFill>
                <a:latin typeface="Courier"/>
              </a:rPr>
              <a:t>(</a:t>
            </a:r>
            <a:r>
              <a:rPr>
                <a:solidFill>
                  <a:srgbClr val="20794D"/>
                </a:solidFill>
                <a:latin typeface="Courier"/>
              </a:rPr>
              <a:t>"data/booby_aggression.csv"</a:t>
            </a:r>
            <a:r>
              <a:rPr>
                <a:solidFill>
                  <a:srgbClr val="003B4F"/>
                </a:solidFill>
                <a:latin typeface="Courier"/>
              </a:rPr>
              <a:t>)</a:t>
            </a:r>
            <a:br/>
            <a:br/>
            <a:r>
              <a:rPr>
                <a:solidFill>
                  <a:srgbClr val="4758AB"/>
                </a:solidFill>
                <a:latin typeface="Courier"/>
              </a:rPr>
              <a:t>cor.test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br/>
            <a:r>
              <a:rPr>
                <a:solidFill>
                  <a:srgbClr val="003B4F"/>
                </a:solidFill>
                <a:latin typeface="Courier"/>
              </a:rPr>
              <a:t>         booby_df</a:t>
            </a:r>
            <a:r>
              <a:rPr>
                <a:solidFill>
                  <a:srgbClr val="5E5E5E"/>
                </a:solidFill>
                <a:latin typeface="Courier"/>
              </a:rPr>
              <a:t>$</a:t>
            </a:r>
            <a:r>
              <a:rPr>
                <a:solidFill>
                  <a:srgbClr val="003B4F"/>
                </a:solidFill>
                <a:latin typeface="Courier"/>
              </a:rPr>
              <a:t>future_aggression)</a:t>
            </a:r>
          </a:p>
          <a:p>
            <a:pPr lvl="0" indent="0">
              <a:buNone/>
            </a:pPr>
            <a:r>
              <a:rPr>
                <a:latin typeface="Courier"/>
              </a:rPr>
              <a:t>
    Pearson's product-moment correlation
data:  booby_df$visits_as_nestling and booby_df$future_aggression
t = 2.9603, df = 22, p-value = 0.007229
alternative hypothesis: true correlation is not equal to 0
95 percent confidence interval:
 0.1660840 0.7710999
sample estimates:
      cor 
0.5337225 </a:t>
            </a:r>
          </a:p>
        </p:txBody>
      </p:sp>
      <p:pic>
        <p:nvPicPr>
          <p:cNvPr descr="correlation_linear_models_lecture_files/figure-pptx/correlation-linear-models-07-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 = 0.534</a:t>
                </a:r>
                <a:r>
                  <a:rPr/>
                  <a:t> — a moderate positive relationship, </a:t>
                </a:r>
                <a:r>
                  <a:rPr b="1"/>
                  <a:t>p = 0.00723</a:t>
                </a:r>
                <a:r>
                  <a:rPr/>
                  <a:t>.</a:t>
                </a:r>
              </a:p>
              <a:p>
                <a:pPr lvl="0"/>
                <a:r>
                  <a:rPr b="1"/>
                  <a:t>Square it for the variance explained</a:t>
                </a:r>
                <a:r>
                  <a:rPr/>
                  <a:t>: </a:t>
                </a:r>
                <a:r>
                  <a:rPr b="1"/>
                  <a:t>r² = 0.285</a:t>
                </a:r>
                <a:r>
                  <a:rPr/>
                  <a:t>, so about </a:t>
                </a:r>
                <a:r>
                  <a:rPr b="1"/>
                  <a:t>28.5%</a:t>
                </a:r>
                <a:r>
                  <a:rPr/>
                  <a:t> of the variation in one variable is accounted for by the other</a:t>
                </a:r>
              </a:p>
              <a:p>
                <a:pPr lvl="0"/>
                <a:r>
                  <a:rPr/>
                  <a:t>Standard error: </a:t>
                </a:r>
                <a14:m>
                  <m:oMath xmlns:m="http://schemas.openxmlformats.org/officeDocument/2006/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a14:m>
                <a:r>
                  <a:rPr/>
                  <a:t> = 0.18</a:t>
                </a:r>
              </a:p>
              <a:p>
                <a:pPr lvl="0"/>
                <a:r>
                  <a:rPr/>
                  <a:t>Tested with a t-test: </a:t>
                </a:r>
                <a14:m>
                  <m:oMath xmlns:m="http://schemas.openxmlformats.org/officeDocument/2006/math">
                    <m:r>
                      <m:t>t</m:t>
                    </m:r>
                    <m:r>
                      <m:rPr>
                        <m:sty m:val="p"/>
                      </m:rPr>
                      <m:t>=</m:t>
                    </m:r>
                    <m:r>
                      <m:t>r</m:t>
                    </m:r>
                    <m:r>
                      <m:rPr>
                        <m:sty m:val="p"/>
                      </m:rPr>
                      <m:t>/</m:t>
                    </m:r>
                    <m:r>
                      <m:t>S</m:t>
                    </m:r>
                    <m:sSub>
                      <m:e>
                        <m:r>
                          <m:t>E</m:t>
                        </m:r>
                      </m:e>
                      <m:sub>
                        <m:r>
                          <m:t>r</m:t>
                        </m:r>
                      </m:sub>
                    </m:sSub>
                  </m:oMath>
                </a14:m>
                <a:r>
                  <a:rPr/>
                  <a:t>, df = n − 2</a:t>
                </a:r>
              </a:p>
              <a:p>
                <a:pPr lvl="0" indent="0" marL="0">
                  <a:buNone/>
                </a:pPr>
                <a:r>
                  <a:rPr b="1"/>
                  <a:t>In words:</a:t>
                </a:r>
                <a:r>
                  <a:rPr/>
                  <a:t> boobies visited more often as nestlings tend to be more aggressive adults. Nothing here says the visits </a:t>
                </a:r>
                <a:r>
                  <a:rPr i="1"/>
                  <a:t>caused</a:t>
                </a:r>
                <a:r>
                  <a:rPr/>
                  <a:t> it.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Predict first</a:t>
            </a:r>
          </a:p>
          <a:p>
            <a:pPr lvl="0" indent="0" marL="1270000">
              <a:buNone/>
            </a:pPr>
            <a:r>
              <a:rPr sz="2000"/>
              <a:t>Next we run Shapiro-Wilk on both booby variables, then look at their histograms and QQ plots.</a:t>
            </a:r>
          </a:p>
          <a:p>
            <a:pPr lvl="0" indent="0" marL="1270000">
              <a:buNone/>
            </a:pPr>
            <a:r>
              <a:rPr sz="2000"/>
              <a:t>If the formal test and the picture disagree at n = 24, which would you trust?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a:t>
            </a:r>
          </a:p>
        </p:txBody>
      </p:sp>
      <p:sp>
        <p:nvSpPr>
          <p:cNvPr id="3" name="Content Placeholder 2"/>
          <p:cNvSpPr>
            <a:spLocks noGrp="1"/>
          </p:cNvSpPr>
          <p:nvPr>
            <p:ph idx="1" sz="half"/>
          </p:nvPr>
        </p:nvSpPr>
        <p:spPr/>
        <p:txBody>
          <a:bodyPr/>
          <a:lstStyle/>
          <a:p>
            <a:pPr lvl="0" indent="0" marL="0">
              <a:buNone/>
            </a:pPr>
            <a:r>
              <a:rPr/>
              <a:t>Pearson correlation assumes:</a:t>
            </a:r>
          </a:p>
          <a:p>
            <a:pPr lvl="0" indent="-342900" marL="342900">
              <a:buAutoNum type="arabicPeriod"/>
            </a:pPr>
            <a:r>
              <a:rPr b="1"/>
              <a:t>Random sampling</a:t>
            </a:r>
            <a:r>
              <a:rPr/>
              <a:t> from the population</a:t>
            </a:r>
          </a:p>
          <a:p>
            <a:pPr lvl="0" indent="-342900" marL="342900">
              <a:buAutoNum type="arabicPeriod"/>
            </a:pPr>
            <a:r>
              <a:rPr b="1"/>
              <a:t>Bivariate normality</a:t>
            </a:r>
            <a:r>
              <a:rPr/>
              <a:t> — each variable normal, and normal jointly</a:t>
            </a:r>
          </a:p>
          <a:p>
            <a:pPr lvl="0" indent="-342900" marL="342900">
              <a:buAutoNum type="arabicPeriod"/>
            </a:pPr>
            <a:r>
              <a:rPr b="1"/>
              <a:t>A linear relationship</a:t>
            </a:r>
            <a:r>
              <a:rPr/>
              <a:t> — not a curve</a:t>
            </a:r>
          </a:p>
          <a:p>
            <a:pPr lvl="0" indent="-342900" marL="342900">
              <a:buAutoNum type="arabicPeriod"/>
            </a:pPr>
            <a:r>
              <a:rPr b="1"/>
              <a:t>No extreme outliers</a:t>
            </a:r>
            <a:r>
              <a:rPr/>
              <a:t> driving the result</a:t>
            </a:r>
          </a:p>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p>
          <a:p>
            <a:pPr lvl="0" indent="0">
              <a:buNone/>
            </a:pPr>
            <a:r>
              <a:rPr>
                <a:latin typeface="Courier"/>
              </a:rPr>
              <a:t>
    Shapiro-Wilk normality test
data:  booby_df$visits_as_nestling
W = 0.95783, p-value = 0.3965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future_aggression)</a:t>
            </a:r>
          </a:p>
          <a:p>
            <a:pPr lvl="0" indent="0">
              <a:buNone/>
            </a:pPr>
            <a:r>
              <a:rPr>
                <a:latin typeface="Courier"/>
              </a:rPr>
              <a:t>
    Shapiro-Wilk normality test
data:  booby_df$future_aggression
W = 0.91575, p-value = 0.04709</a:t>
            </a:r>
          </a:p>
          <a:p>
            <a:pPr lvl="0" indent="0" marL="1270000">
              <a:buNone/>
            </a:pPr>
            <a:r>
              <a:rPr sz="2000" b="1"/>
              <a:t>Note</a:t>
            </a:r>
          </a:p>
          <a:p>
            <a:pPr lvl="0" indent="0" marL="1270000">
              <a:buNone/>
            </a:pPr>
            <a:r>
              <a:rPr sz="2000" b="1"/>
              <a:t>H₀ is “these data ARE normal”</a:t>
            </a:r>
          </a:p>
          <a:p>
            <a:pPr lvl="0" indent="0" marL="1270000">
              <a:buNone/>
            </a:pPr>
            <a:r>
              <a:rPr sz="2000"/>
              <a:t>A </a:t>
            </a:r>
            <a:r>
              <a:rPr sz="2000" b="1"/>
              <a:t>large</a:t>
            </a:r>
            <a:r>
              <a:rPr sz="2000"/>
              <a:t> p-value is the good outcome — the same backwards logic as Levene’s test.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the Same Assumptions by Eye</a:t>
            </a:r>
          </a:p>
        </p:txBody>
      </p:sp>
      <p:sp>
        <p:nvSpPr>
          <p:cNvPr id="3" name="Content Placeholder 2"/>
          <p:cNvSpPr>
            <a:spLocks noGrp="1"/>
          </p:cNvSpPr>
          <p:nvPr>
            <p:ph idx="1" sz="half"/>
          </p:nvPr>
        </p:nvSpPr>
        <p:spPr/>
        <p:txBody>
          <a:bodyPr/>
          <a:lstStyle/>
          <a:p>
            <a:pPr lvl="0" indent="0" marL="0">
              <a:buNone/>
            </a:pPr>
            <a:r>
              <a:rPr/>
              <a:t>The two tests do </a:t>
            </a:r>
            <a:r>
              <a:rPr b="1"/>
              <a:t>not</a:t>
            </a:r>
            <a:r>
              <a:rPr/>
              <a:t> agree with each other:</a:t>
            </a:r>
          </a:p>
          <a:p>
            <a:pPr lvl="0"/>
            <a:r>
              <a:rPr/>
              <a:t>visits, </a:t>
            </a:r>
            <a:r>
              <a:rPr b="1"/>
              <a:t>p = 0.396</a:t>
            </a:r>
            <a:r>
              <a:rPr/>
              <a:t> — clean</a:t>
            </a:r>
          </a:p>
          <a:p>
            <a:pPr lvl="0"/>
            <a:r>
              <a:rPr/>
              <a:t>aggression, </a:t>
            </a:r>
            <a:r>
              <a:rPr b="1"/>
              <a:t>p = 0.047</a:t>
            </a:r>
            <a:r>
              <a:rPr/>
              <a:t> — just under 0.05</a:t>
            </a:r>
          </a:p>
          <a:p>
            <a:pPr lvl="0" indent="0" marL="0">
              <a:buNone/>
            </a:pPr>
            <a:r>
              <a:rPr/>
              <a:t>Now look at the pictures. No strong skew, points close to both QQ lines, and the scatterplot was straight rather than curved.</a:t>
            </a:r>
          </a:p>
          <a:p>
            <a:pPr lvl="0" indent="0" marL="1270000">
              <a:buNone/>
            </a:pPr>
            <a:r>
              <a:rPr sz="2000" b="1"/>
              <a:t>Important</a:t>
            </a:r>
          </a:p>
          <a:p>
            <a:pPr lvl="0" indent="0" marL="1270000">
              <a:buNone/>
            </a:pPr>
            <a:r>
              <a:rPr sz="2000" b="1"/>
              <a:t>✅ This is the case the last slide asked you to predict</a:t>
            </a:r>
          </a:p>
          <a:p>
            <a:pPr lvl="0" indent="0" marL="1270000">
              <a:buNone/>
            </a:pPr>
            <a:r>
              <a:rPr sz="2000"/>
              <a:t>At n = 24, a normality p of 0.047 is a coin-flip verdict, not evidence of a real problem. W&amp;S report </a:t>
            </a:r>
            <a:r>
              <a:rPr sz="2000" b="1"/>
              <a:t>Pearson’s r</a:t>
            </a:r>
            <a:r>
              <a:rPr sz="2000"/>
              <a:t> for these data, and so do we.</a:t>
            </a:r>
          </a:p>
          <a:p>
            <a:pPr lvl="0" indent="0" marL="1270000">
              <a:buNone/>
            </a:pPr>
            <a:r>
              <a:rPr sz="2000"/>
              <a:t>Compare that with the next dataset, where the test and the picture agree that something is wrong.</a:t>
            </a:r>
          </a:p>
        </p:txBody>
      </p:sp>
      <p:pic>
        <p:nvPicPr>
          <p:cNvPr descr="correlation_linear_models_lecture_files/figure-pptx/correlation-linear-models-10-1.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the Assumption Fails — Example 16.5</a:t>
            </a:r>
          </a:p>
        </p:txBody>
      </p:sp>
      <p:sp>
        <p:nvSpPr>
          <p:cNvPr id="3" name="Content Placeholder 2"/>
          <p:cNvSpPr>
            <a:spLocks noGrp="1"/>
          </p:cNvSpPr>
          <p:nvPr>
            <p:ph idx="1" sz="half"/>
          </p:nvPr>
        </p:nvSpPr>
        <p:spPr/>
        <p:txBody>
          <a:bodyPr/>
          <a:lstStyle/>
          <a:p>
            <a:pPr lvl="0" indent="0" marL="0">
              <a:buNone/>
            </a:pPr>
            <a:r>
              <a:rPr/>
              <a:t>W&amp;S Example 16.5: people who had seen the Indian rope trick were asked, years later, how impressive it was — on a subjective </a:t>
            </a:r>
            <a:r>
              <a:rPr b="1"/>
              <a:t>score</a:t>
            </a:r>
            <a:r>
              <a:rPr/>
              <a:t>.</a:t>
            </a:r>
          </a:p>
          <a:p>
            <a:pPr lvl="0" indent="0" marL="0">
              <a:buNone/>
            </a:pPr>
            <a:r>
              <a:rPr/>
              <a:t>That score is bounded and lumpy, and it fails Shapiro badly. Three options when normality fails:</a:t>
            </a:r>
          </a:p>
          <a:p>
            <a:pPr lvl="0"/>
            <a:r>
              <a:rPr b="1"/>
              <a:t>Transform</a:t>
            </a:r>
            <a:r>
              <a:rPr/>
              <a:t> one or both variables (log, square root)</a:t>
            </a:r>
          </a:p>
          <a:p>
            <a:pPr lvl="0"/>
            <a:r>
              <a:rPr/>
              <a:t>Switch to a </a:t>
            </a:r>
            <a:r>
              <a:rPr b="1"/>
              <a:t>rank-based</a:t>
            </a:r>
            <a:r>
              <a:rPr/>
              <a:t> correlation — Spearman’s ρ or Kendall’s τ</a:t>
            </a:r>
          </a:p>
          <a:p>
            <a:pPr lvl="0"/>
            <a:r>
              <a:rPr/>
              <a:t>Hunt down the outlier that is doing the work</a:t>
            </a:r>
          </a:p>
          <a:p>
            <a:pPr lvl="0" indent="0">
              <a:buNone/>
            </a:pPr>
            <a:r>
              <a:rPr>
                <a:solidFill>
                  <a:srgbClr val="003B4F"/>
                </a:solidFill>
                <a:latin typeface="Courier"/>
              </a:rPr>
              <a:t>rope_df &lt;- </a:t>
            </a:r>
            <a:r>
              <a:rPr>
                <a:solidFill>
                  <a:srgbClr val="4758AB"/>
                </a:solidFill>
                <a:latin typeface="Courier"/>
              </a:rPr>
              <a:t>read_csv</a:t>
            </a:r>
            <a:r>
              <a:rPr>
                <a:solidFill>
                  <a:srgbClr val="003B4F"/>
                </a:solidFill>
                <a:latin typeface="Courier"/>
              </a:rPr>
              <a:t>(</a:t>
            </a:r>
            <a:r>
              <a:rPr>
                <a:solidFill>
                  <a:srgbClr val="20794D"/>
                </a:solidFill>
                <a:latin typeface="Courier"/>
              </a:rPr>
              <a:t>"data/rope_trick.csv"</a:t>
            </a:r>
            <a:r>
              <a:rPr>
                <a:solidFill>
                  <a:srgbClr val="003B4F"/>
                </a:solidFill>
                <a:latin typeface="Courier"/>
              </a:rPr>
              <a:t>)</a:t>
            </a:r>
            <a:br/>
            <a:br/>
            <a:r>
              <a:rPr>
                <a:solidFill>
                  <a:srgbClr val="4758AB"/>
                </a:solidFill>
                <a:latin typeface="Courier"/>
              </a:rPr>
              <a:t>shapiro.test</a:t>
            </a:r>
            <a:r>
              <a:rPr>
                <a:solidFill>
                  <a:srgbClr val="003B4F"/>
                </a:solidFill>
                <a:latin typeface="Courier"/>
              </a:rPr>
              <a:t>(rope_df</a:t>
            </a:r>
            <a:r>
              <a:rPr>
                <a:solidFill>
                  <a:srgbClr val="5E5E5E"/>
                </a:solidFill>
                <a:latin typeface="Courier"/>
              </a:rPr>
              <a:t>$</a:t>
            </a:r>
            <a:r>
              <a:rPr>
                <a:solidFill>
                  <a:srgbClr val="003B4F"/>
                </a:solidFill>
                <a:latin typeface="Courier"/>
              </a:rPr>
              <a:t>impressiveness)</a:t>
            </a:r>
          </a:p>
          <a:p>
            <a:pPr lvl="0" indent="0">
              <a:buNone/>
            </a:pPr>
            <a:r>
              <a:rPr>
                <a:latin typeface="Courier"/>
              </a:rPr>
              <a:t>
    Shapiro-Wilk normality test
data:  rope_df$impressiveness
W = 0.82319, p-value = 0.001517</a:t>
            </a:r>
          </a:p>
        </p:txBody>
      </p:sp>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nonparametric correlation</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cor.test</a:t>
            </a:r>
            <a:r>
              <a:rPr>
                <a:solidFill>
                  <a:srgbClr val="003B4F"/>
                </a:solidFill>
                <a:latin typeface="Courier"/>
              </a:rPr>
              <a:t>(rope_df</a:t>
            </a:r>
            <a:r>
              <a:rPr>
                <a:solidFill>
                  <a:srgbClr val="5E5E5E"/>
                </a:solidFill>
                <a:latin typeface="Courier"/>
              </a:rPr>
              <a:t>$</a:t>
            </a:r>
            <a:r>
              <a:rPr>
                <a:solidFill>
                  <a:srgbClr val="003B4F"/>
                </a:solidFill>
                <a:latin typeface="Courier"/>
              </a:rPr>
              <a:t>years_since_seen,</a:t>
            </a:r>
            <a:br/>
            <a:r>
              <a:rPr>
                <a:solidFill>
                  <a:srgbClr val="003B4F"/>
                </a:solidFill>
                <a:latin typeface="Courier"/>
              </a:rPr>
              <a:t>         rope_df</a:t>
            </a:r>
            <a:r>
              <a:rPr>
                <a:solidFill>
                  <a:srgbClr val="5E5E5E"/>
                </a:solidFill>
                <a:latin typeface="Courier"/>
              </a:rPr>
              <a:t>$</a:t>
            </a:r>
            <a:r>
              <a:rPr>
                <a:solidFill>
                  <a:srgbClr val="003B4F"/>
                </a:solidFill>
                <a:latin typeface="Courier"/>
              </a:rPr>
              <a:t>impressiveness,</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"spearman"</a:t>
            </a:r>
            <a:r>
              <a:rPr>
                <a:solidFill>
                  <a:srgbClr val="003B4F"/>
                </a:solidFill>
                <a:latin typeface="Courier"/>
              </a:rPr>
              <a:t>)</a:t>
            </a:r>
          </a:p>
          <a:p>
            <a:pPr lvl="0" indent="0">
              <a:buNone/>
            </a:pPr>
            <a:r>
              <a:rPr>
                <a:latin typeface="Courier"/>
              </a:rPr>
              <a:t>
    Spearman's rank correlation rho
data:  rope_df$years_since_seen and rope_df$impressiveness
S = 332.12, p-value = 2.571e-05
alternative hypothesis: true rho is not equal to 0
sample estimates:
      rho 
0.7843363 </a:t>
            </a:r>
          </a:p>
        </p:txBody>
      </p:sp>
      <p:sp>
        <p:nvSpPr>
          <p:cNvPr id="4" name="Content Placeholder 3"/>
          <p:cNvSpPr>
            <a:spLocks noGrp="1"/>
          </p:cNvSpPr>
          <p:nvPr>
            <p:ph idx="2" sz="half"/>
          </p:nvPr>
        </p:nvSpPr>
        <p:spPr/>
        <p:txBody>
          <a:bodyPr/>
          <a:lstStyle/>
          <a:p>
            <a:pPr lvl="0" indent="0" marL="0">
              <a:buNone/>
            </a:pPr>
            <a:r>
              <a:rPr/>
              <a:t>Spearman replaces each value with its </a:t>
            </a:r>
            <a:r>
              <a:rPr b="1"/>
              <a:t>rank</a:t>
            </a:r>
            <a:r>
              <a:rPr/>
              <a:t> and correlates the ranks — so it needs no normality and is not thrown by one extreme value.</a:t>
            </a:r>
          </a:p>
          <a:p>
            <a:pPr lvl="0"/>
            <a:r>
              <a:rPr/>
              <a:t>Pearson </a:t>
            </a:r>
            <a:r>
              <a:rPr b="1"/>
              <a:t>r = 0.848</a:t>
            </a:r>
          </a:p>
          <a:p>
            <a:pPr lvl="0"/>
            <a:r>
              <a:rPr/>
              <a:t>Spearman </a:t>
            </a:r>
            <a:r>
              <a:rPr b="1"/>
              <a:t>ρ = 0.784</a:t>
            </a:r>
          </a:p>
          <a:p>
            <a:pPr lvl="0" indent="0" marL="0">
              <a:buNone/>
            </a:pPr>
            <a:r>
              <a:rPr/>
              <a:t>Square ρ the same way: </a:t>
            </a:r>
            <a:r>
              <a:rPr b="1"/>
              <a:t>ρ² = 0.615</a:t>
            </a:r>
            <a:r>
              <a:rPr/>
              <a:t> — about 61.5% of the variation </a:t>
            </a:r>
            <a:r>
              <a:rPr i="1"/>
              <a:t>in the ranks</a:t>
            </a:r>
            <a:r>
              <a:rPr/>
              <a:t>.</a:t>
            </a:r>
          </a:p>
          <a:p>
            <a:pPr lvl="0" indent="0" marL="1270000">
              <a:buNone/>
            </a:pPr>
            <a:r>
              <a:rPr sz="2000" b="1"/>
              <a:t>Note</a:t>
            </a:r>
          </a:p>
          <a:p>
            <a:pPr lvl="0" indent="0" marL="1270000">
              <a:buNone/>
            </a:pPr>
            <a:r>
              <a:rPr sz="2000" b="1"/>
              <a:t>The cost of switching</a:t>
            </a:r>
          </a:p>
          <a:p>
            <a:pPr lvl="0" indent="0" marL="1270000">
              <a:buNone/>
            </a:pPr>
            <a:r>
              <a:rPr sz="2000"/>
              <a:t>You keep an honest p-value and lose the original units. ρ is about ranks, so it can no longer be read as “score per year.”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The Correlation That Shrank</a:t>
            </a:r>
          </a:p>
        </p:txBody>
      </p:sp>
      <p:sp>
        <p:nvSpPr>
          <p:cNvPr id="3" name="Content Placeholder 2"/>
          <p:cNvSpPr>
            <a:spLocks noGrp="1"/>
          </p:cNvSpPr>
          <p:nvPr>
            <p:ph idx="1" sz="half"/>
          </p:nvPr>
        </p:nvSpPr>
        <p:spPr/>
        <p:txBody>
          <a:bodyPr/>
          <a:lstStyle/>
          <a:p>
            <a:pPr lvl="0" indent="0" marL="0">
              <a:buNone/>
            </a:pPr>
            <a:r>
              <a:rPr/>
              <a:t>A colleague reports </a:t>
            </a:r>
            <a:r>
              <a:rPr b="1"/>
              <a:t>r = 0.82</a:t>
            </a:r>
            <a:r>
              <a:rPr/>
              <a:t> between body size and fecundity across a set of populations.</a:t>
            </a:r>
          </a:p>
          <a:p>
            <a:pPr lvl="0" indent="0" marL="0">
              <a:buNone/>
            </a:pPr>
            <a:r>
              <a:rPr/>
              <a:t>You repeat the study, carefully, at </a:t>
            </a:r>
            <a:r>
              <a:rPr b="1"/>
              <a:t>one site</a:t>
            </a:r>
            <a:r>
              <a:rPr/>
              <a:t> — where the animals are all close to the same size — and get </a:t>
            </a:r>
            <a:r>
              <a:rPr b="1"/>
              <a:t>r = 0.31</a:t>
            </a:r>
            <a:r>
              <a:rPr/>
              <a:t> from data that are every bit as clean.</a:t>
            </a:r>
          </a:p>
          <a:p>
            <a:pPr lvl="0" indent="0" marL="0">
              <a:buNone/>
            </a:pPr>
            <a:r>
              <a:rPr b="1"/>
              <a:t>What is the most likely explanation?</a:t>
            </a:r>
          </a:p>
          <a:p>
            <a:pPr lvl="0" indent="0" marL="0">
              <a:buNone/>
            </a:pPr>
            <a:r>
              <a:rPr b="1"/>
              <a:t>(a)</a:t>
            </a:r>
            <a:r>
              <a:rPr/>
              <a:t> The original result was a false positive</a:t>
            </a:r>
          </a:p>
          <a:p>
            <a:pPr lvl="0" indent="0" marL="0">
              <a:buNone/>
            </a:pPr>
            <a:r>
              <a:rPr b="1"/>
              <a:t>(b)</a:t>
            </a:r>
            <a:r>
              <a:rPr/>
              <a:t> Your sample size was too small</a:t>
            </a:r>
          </a:p>
          <a:p>
            <a:pPr lvl="0" indent="0" marL="0">
              <a:buNone/>
            </a:pPr>
            <a:r>
              <a:rPr b="1"/>
              <a:t>(c)</a:t>
            </a:r>
            <a:r>
              <a:rPr/>
              <a:t> Restricting the range of X shrank r, with the underlying relationship unchanged</a:t>
            </a:r>
          </a:p>
          <a:p>
            <a:pPr lvl="0" indent="0" marL="0">
              <a:buNone/>
            </a:pPr>
            <a:r>
              <a:rPr b="1"/>
              <a:t>(d)</a:t>
            </a:r>
            <a:r>
              <a:rPr/>
              <a:t> Measurement error in your study inflated r</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Did the relationship change — or did the slice of the world I looked at change?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 Things That Move r Without Touching the Biology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b="1"/>
              <a:t>Range restriction.</a:t>
            </a:r>
            <a:r>
              <a:rPr sz="2000"/>
              <a:t> r depends on the spread of X you sampled. Look at a narrow slice of a real relationship and r falls, even though the slope is unchanged. This is why correlations from studies with different ranges cannot be compared head to head.</a:t>
            </a:r>
          </a:p>
          <a:p>
            <a:pPr lvl="0" indent="0" marL="1270000">
              <a:buNone/>
            </a:pPr>
            <a:r>
              <a:rPr sz="2000" b="1"/>
              <a:t>Warning</a:t>
            </a:r>
          </a:p>
          <a:p>
            <a:pPr lvl="0" indent="0" marL="1270000">
              <a:buNone/>
            </a:pPr>
            <a:r>
              <a:rPr sz="2000" b="1"/>
              <a:t>⚠️ Attenuation</a:t>
            </a:r>
          </a:p>
          <a:p>
            <a:pPr lvl="0" indent="0" marL="1270000">
              <a:buNone/>
            </a:pPr>
            <a:r>
              <a:rPr sz="2000"/>
              <a:t>Measurement error in X or Y pushes r </a:t>
            </a:r>
            <a:r>
              <a:rPr sz="2000" b="1"/>
              <a:t>toward zero</a:t>
            </a:r>
            <a:r>
              <a:rPr sz="2000"/>
              <a:t>, never away from it. The true correlation is usually </a:t>
            </a:r>
            <a:r>
              <a:rPr sz="2000" b="1"/>
              <a:t>stronger</a:t>
            </a:r>
            <a:r>
              <a:rPr sz="2000"/>
              <a:t> than the one you observed — so (d) has the direction backwards.</a:t>
            </a:r>
          </a:p>
        </p:txBody>
      </p:sp>
      <p:pic>
        <p:nvPicPr>
          <p:cNvPr descr="correlation_linear_models_lecture_files/figure-pptx/correlation-linear-models-14-1.png" id="0" name="Picture 1"/>
          <p:cNvPicPr>
            <a:picLocks noGrp="1" noChangeAspect="1"/>
          </p:cNvPicPr>
          <p:nvPr/>
        </p:nvPicPr>
        <p:blipFill>
          <a:blip r:embed="rId2"/>
          <a:stretch>
            <a:fillRect/>
          </a:stretch>
        </p:blipFill>
        <p:spPr bwMode="auto">
          <a:xfrm>
            <a:off x="6121400" y="1333500"/>
            <a:ext cx="2781300" cy="3124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What to Carry Forward</a:t>
            </a:r>
          </a:p>
        </p:txBody>
      </p:sp>
      <p:sp>
        <p:nvSpPr>
          <p:cNvPr id="3" name="Content Placeholder 2"/>
          <p:cNvSpPr>
            <a:spLocks noGrp="1"/>
          </p:cNvSpPr>
          <p:nvPr>
            <p:ph idx="1" sz="half"/>
          </p:nvPr>
        </p:nvSpPr>
        <p:spPr/>
        <p:txBody>
          <a:bodyPr/>
          <a:lstStyle/>
          <a:p>
            <a:pPr lvl="0"/>
            <a:r>
              <a:rPr b="1"/>
              <a:t>r measures straight-line association only</a:t>
            </a:r>
            <a:r>
              <a:rPr/>
              <a:t> — always plot first</a:t>
            </a:r>
          </a:p>
          <a:p>
            <a:pPr lvl="0"/>
            <a:r>
              <a:rPr b="1"/>
              <a:t>r² is the variance the two variables share</a:t>
            </a:r>
          </a:p>
          <a:p>
            <a:pPr lvl="0"/>
            <a:r>
              <a:rPr b="1"/>
              <a:t>The range you sampled sets the ceiling on r</a:t>
            </a:r>
            <a:r>
              <a:rPr/>
              <a:t>; measurement error lowers it further</a:t>
            </a:r>
          </a:p>
          <a:p>
            <a:pPr lvl="0"/>
            <a:r>
              <a:rPr b="1"/>
              <a:t>Correlation does not imply causation.</a:t>
            </a:r>
            <a:r>
              <a:rPr/>
              <a:t> Three explanations always survive: X causes Y, Y causes X, or Z causes both</a:t>
            </a:r>
          </a:p>
          <a:p>
            <a:pPr lvl="0"/>
            <a:r>
              <a:rPr b="1"/>
              <a:t>The test:</a:t>
            </a:r>
            <a:r>
              <a:rPr/>
              <a:t> H₀ is ρ = 0, statistic t = r / SE(r), df = n − 2</a:t>
            </a:r>
          </a:p>
          <a:p>
            <a:pPr lvl="0"/>
            <a:r>
              <a:rPr b="1"/>
              <a:t>When normality fails</a:t>
            </a:r>
            <a:r>
              <a:rPr/>
              <a:t>, switch to rank-based Spearman’s ρ</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End of the correlation half</a:t>
            </a:r>
          </a:p>
          <a:p>
            <a:pPr lvl="0" indent="0" marL="1270000">
              <a:buNone/>
            </a:pPr>
            <a:r>
              <a:rPr sz="2000"/>
              <a:t>You can now run </a:t>
            </a:r>
            <a:r>
              <a:rPr sz="2000">
                <a:latin typeface="Courier"/>
              </a:rPr>
              <a:t>cor.test()</a:t>
            </a:r>
            <a:r>
              <a:rPr sz="2000"/>
              <a:t>, check its assumptions on the raw variables, switch to Spearman when they fail, and say what r and r² mean.</a:t>
            </a:r>
          </a:p>
          <a:p>
            <a:pPr lvl="0" indent="0" marL="1270000">
              <a:buNone/>
            </a:pPr>
            <a:r>
              <a:rPr sz="2000"/>
              <a:t>Next: the same cloud of points — but now we fit a </a:t>
            </a:r>
            <a:r>
              <a:rPr sz="2000" b="1"/>
              <a:t>line</a:t>
            </a:r>
            <a:r>
              <a:rPr sz="2000"/>
              <a:t> to it and ask what that line is made of.</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Regression models the response Y as a straight-line function of the predictor X.</a:t>
                </a:r>
              </a:p>
              <a:p>
                <a:pPr lvl="0" indent="0" marL="0">
                  <a:buNone/>
                </a:pPr>
                <a:r>
                  <a:rPr/>
                  <a:t>The </a:t>
                </a:r>
                <a:r>
                  <a:rPr b="1"/>
                  <a:t>population</a:t>
                </a:r>
                <a:r>
                  <a:rPr/>
                  <a:t> model: </a:t>
                </a:r>
                <a14:m>
                  <m:oMath xmlns:m="http://schemas.openxmlformats.org/officeDocument/2006/math">
                    <m:r>
                      <m:t>Y</m:t>
                    </m:r>
                    <m:r>
                      <m:rPr>
                        <m:sty m:val="p"/>
                      </m:rPr>
                      <m:t>=</m:t>
                    </m:r>
                    <m:r>
                      <m:t>α</m:t>
                    </m:r>
                    <m:r>
                      <m:rPr>
                        <m:sty m:val="p"/>
                      </m:rPr>
                      <m:t>+</m:t>
                    </m:r>
                    <m:r>
                      <m:t>β</m:t>
                    </m:r>
                    <m:r>
                      <m:t>X</m:t>
                    </m:r>
                    <m:r>
                      <m:rPr>
                        <m:sty m:val="p"/>
                      </m:rPr>
                      <m:t>+</m:t>
                    </m:r>
                    <m:r>
                      <m:t>ε</m:t>
                    </m:r>
                  </m:oMath>
                </a14:m>
              </a:p>
              <a:p>
                <a:pPr lvl="0"/>
                <a:r>
                  <a:rPr/>
                  <a:t>α is the intercept — the value of Y when X = 0</a:t>
                </a:r>
              </a:p>
              <a:p>
                <a:pPr lvl="0"/>
                <a:r>
                  <a:rPr/>
                  <a:t>β is the slope — the change in Y per one-unit change in X</a:t>
                </a:r>
              </a:p>
              <a:p>
                <a:pPr lvl="0"/>
                <a:r>
                  <a:rPr/>
                  <a:t>ε is the error — the random deviation of a point from the line</a:t>
                </a:r>
              </a:p>
              <a:p>
                <a:pPr lvl="0" indent="0" marL="0">
                  <a:buNone/>
                </a:pPr>
                <a:r>
                  <a:rPr/>
                  <a:t>The </a:t>
                </a:r>
                <a:r>
                  <a:rPr b="1"/>
                  <a:t>sample</a:t>
                </a:r>
                <a:r>
                  <a:rPr/>
                  <a:t> equation: </a:t>
                </a:r>
                <a14:m>
                  <m:oMath xmlns:m="http://schemas.openxmlformats.org/officeDocument/2006/math">
                    <m:acc>
                      <m:accPr>
                        <m:chr m:val="̂"/>
                      </m:accPr>
                      <m:e>
                        <m:r>
                          <m:t>Y</m:t>
                        </m:r>
                      </m:e>
                    </m:acc>
                    <m:r>
                      <m:rPr>
                        <m:sty m:val="p"/>
                      </m:rPr>
                      <m:t>=</m:t>
                    </m:r>
                    <m:r>
                      <m:t>a</m:t>
                    </m:r>
                    <m:r>
                      <m:rPr>
                        <m:sty m:val="p"/>
                      </m:rPr>
                      <m:t>+</m:t>
                    </m:r>
                    <m:r>
                      <m:t>b</m:t>
                    </m:r>
                    <m:r>
                      <m:t>X</m:t>
                    </m:r>
                  </m:oMath>
                </a14:m>
                <a:r>
                  <a:rPr/>
                  <a:t>, where a estimates α and b estimates β.</a:t>
                </a:r>
              </a:p>
              <a:p>
                <a:pPr lvl="0" indent="0" marL="0">
                  <a:buNone/>
                </a:pPr>
                <a:r>
                  <a:rPr b="1"/>
                  <a:t>Method of least squares:</a:t>
                </a:r>
                <a:r>
                  <a:rPr/>
                  <a:t> of all possible lines, take the one that makes</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as small as possible — the sum of the squared </a:t>
                </a:r>
                <a:r>
                  <a:rPr b="1"/>
                  <a:t>vertical</a:t>
                </a:r>
                <a:r>
                  <a:rPr/>
                  <a:t> distances.</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680200" y="660400"/>
            <a:ext cx="1663700" cy="44704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Fitting the Lion Model</a:t>
            </a:r>
          </a:p>
        </p:txBody>
      </p:sp>
      <p:sp>
        <p:nvSpPr>
          <p:cNvPr id="3" name="Content Placeholder 2"/>
          <p:cNvSpPr>
            <a:spLocks noGrp="1"/>
          </p:cNvSpPr>
          <p:nvPr>
            <p:ph idx="1" sz="half"/>
          </p:nvPr>
        </p:nvSpPr>
        <p:spPr/>
        <p:txBody>
          <a:bodyPr/>
          <a:lstStyle/>
          <a:p>
            <a:pPr lvl="0" indent="0" marL="0">
              <a:buNone/>
            </a:pPr>
            <a:r>
              <a:rPr/>
              <a:t>Male lions accumulate black pigment on the nose as they age — so nose colour can age a lion in the field without anyone killing it.</a:t>
            </a:r>
          </a:p>
          <a:p>
            <a:pPr lvl="0" indent="0">
              <a:buNone/>
            </a:pPr>
            <a:r>
              <a:rPr>
                <a:solidFill>
                  <a:srgbClr val="003B4F"/>
                </a:solidFill>
                <a:latin typeface="Courier"/>
              </a:rPr>
              <a:t>lion_df &lt;- </a:t>
            </a:r>
            <a:r>
              <a:rPr>
                <a:solidFill>
                  <a:srgbClr val="4758AB"/>
                </a:solidFill>
                <a:latin typeface="Courier"/>
              </a:rPr>
              <a:t>read_csv</a:t>
            </a:r>
            <a:r>
              <a:rPr>
                <a:solidFill>
                  <a:srgbClr val="003B4F"/>
                </a:solidFill>
                <a:latin typeface="Courier"/>
              </a:rPr>
              <a:t>(</a:t>
            </a:r>
            <a:r>
              <a:rPr>
                <a:solidFill>
                  <a:srgbClr val="20794D"/>
                </a:solidFill>
                <a:latin typeface="Courier"/>
              </a:rPr>
              <a:t>"data/lion_noses.csv"</a:t>
            </a:r>
            <a:r>
              <a:rPr>
                <a:solidFill>
                  <a:srgbClr val="003B4F"/>
                </a:solidFill>
                <a:latin typeface="Courier"/>
              </a:rPr>
              <a:t>)</a:t>
            </a:r>
            <a:br/>
            <a:br/>
            <a:r>
              <a:rPr>
                <a:solidFill>
                  <a:srgbClr val="003B4F"/>
                </a:solidFill>
                <a:latin typeface="Courier"/>
              </a:rPr>
              <a:t>lion_model &lt;- </a:t>
            </a:r>
            <a:r>
              <a:rPr>
                <a:solidFill>
                  <a:srgbClr val="4758AB"/>
                </a:solidFill>
                <a:latin typeface="Courier"/>
              </a:rPr>
              <a:t>lm</a:t>
            </a:r>
            <a:r>
              <a:rPr>
                <a:solidFill>
                  <a:srgbClr val="003B4F"/>
                </a:solidFill>
                <a:latin typeface="Courier"/>
              </a:rPr>
              <a:t>(age_years </a:t>
            </a:r>
            <a:r>
              <a:rPr>
                <a:solidFill>
                  <a:srgbClr val="5E5E5E"/>
                </a:solidFill>
                <a:latin typeface="Courier"/>
              </a:rPr>
              <a:t>~</a:t>
            </a:r>
            <a:r>
              <a:rPr>
                <a:solidFill>
                  <a:srgbClr val="003B4F"/>
                </a:solidFill>
                <a:latin typeface="Courier"/>
              </a:rPr>
              <a:t> proportion_black,</a:t>
            </a:r>
            <a:br/>
            <a:r>
              <a:rPr>
                <a:solidFill>
                  <a:srgbClr val="003B4F"/>
                </a:solidFill>
                <a:latin typeface="Courier"/>
              </a:rPr>
              <a:t>                 </a:t>
            </a:r>
            <a:r>
              <a:rPr>
                <a:solidFill>
                  <a:srgbClr val="657422"/>
                </a:solidFill>
                <a:latin typeface="Courier"/>
              </a:rPr>
              <a:t>data =</a:t>
            </a:r>
            <a:r>
              <a:rPr>
                <a:solidFill>
                  <a:srgbClr val="003B4F"/>
                </a:solidFill>
                <a:latin typeface="Courier"/>
              </a:rPr>
              <a:t> lion_df)</a:t>
            </a:r>
            <a:b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0">
              <a:buNone/>
            </a:pPr>
            <a:r>
              <a:rPr/>
              <a:t>Read the formula as </a:t>
            </a:r>
            <a:r>
              <a:rPr b="1"/>
              <a:t>response ~ predictor</a:t>
            </a:r>
            <a:r>
              <a:rPr/>
              <a:t>.</a:t>
            </a:r>
          </a:p>
        </p:txBody>
      </p:sp>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Model Output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summary</a:t>
            </a:r>
            <a:r>
              <a:rPr>
                <a:solidFill>
                  <a:srgbClr val="003B4F"/>
                </a:solidFill>
                <a:latin typeface="Courier"/>
              </a:rPr>
              <a:t>(lion_model)</a:t>
            </a:r>
          </a:p>
          <a:p>
            <a:pPr lvl="0" indent="0">
              <a:buNone/>
            </a:pPr>
            <a:r>
              <a:rPr>
                <a:latin typeface="Courier"/>
              </a:rPr>
              <a:t>
Call:
lm(formula = age_years ~ proportion_black, data = lion_df)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acc>
                        <m:accPr>
                          <m:chr m:val="̂"/>
                        </m:accPr>
                        <m:e>
                          <m:r>
                            <m:rPr>
                              <m:nor/>
                              <m:sty m:val="p"/>
                            </m:rPr>
                            <m:t>age</m:t>
                          </m:r>
                        </m:e>
                      </m:acc>
                      <m:r>
                        <m:rPr>
                          <m:sty m:val="p"/>
                        </m:rPr>
                        <m:t>=</m:t>
                      </m:r>
                      <m:r>
                        <m:t>0.88</m:t>
                      </m:r>
                      <m:r>
                        <m:rPr>
                          <m:sty m:val="p"/>
                        </m:rPr>
                        <m:t>+</m:t>
                      </m:r>
                      <m:r>
                        <m:t>10.65</m:t>
                      </m:r>
                      <m:r>
                        <m:rPr>
                          <m:sty m:val="p"/>
                        </m:rPr>
                        <m:t>×</m:t>
                      </m:r>
                      <m:r>
                        <m:rPr>
                          <m:nor/>
                          <m:sty m:val="p"/>
                        </m:rPr>
                        <m:t>prop. black</m:t>
                      </m:r>
                    </m:oMath>
                  </m:oMathPara>
                </a14:m>
              </a:p>
              <a:p>
                <a:pPr lvl="0"/>
                <a:r>
                  <a:rPr b="1"/>
                  <a:t>Estimate</a:t>
                </a:r>
                <a:r>
                  <a:rPr/>
                  <a:t> — the intercept and the slope</a:t>
                </a:r>
              </a:p>
              <a:p>
                <a:pPr lvl="0"/>
                <a:r>
                  <a:rPr b="1"/>
                  <a:t>Std. Error</a:t>
                </a:r>
                <a:r>
                  <a:rPr/>
                  <a:t> — how precisely each is pinned down</a:t>
                </a:r>
              </a:p>
              <a:p>
                <a:pPr lvl="0"/>
                <a:r>
                  <a:rPr b="1"/>
                  <a:t>t value</a:t>
                </a:r>
                <a:r>
                  <a:rPr/>
                  <a:t> — estimate ÷ SE, testing H₀: β = 0</a:t>
                </a:r>
              </a:p>
              <a:p>
                <a:pPr lvl="0"/>
                <a:r>
                  <a:rPr b="1"/>
                  <a:t>Multiple R-squared</a:t>
                </a:r>
                <a:r>
                  <a:rPr/>
                  <a:t> = 0.624 — the share of variation in age explained by nose colour</a:t>
                </a:r>
              </a:p>
              <a:p>
                <a:pPr lvl="0" indent="0" marL="1270000">
                  <a:buNone/>
                </a:pPr>
                <a:r>
                  <a:rPr sz="2000" b="1"/>
                  <a:t>Note</a:t>
                </a:r>
              </a:p>
              <a:p>
                <a:pPr lvl="0" indent="0" marL="1270000">
                  <a:buNone/>
                </a:pPr>
                <a:r>
                  <a:rPr sz="2000" b="1"/>
                  <a:t>Notice</a:t>
                </a:r>
              </a:p>
              <a:p>
                <a:pPr lvl="0" indent="0" marL="1270000">
                  <a:buNone/>
                </a:pPr>
                <a:r>
                  <a:rPr sz="2000"/>
                  <a:t>Correlating these same two variables and squaring r gives the </a:t>
                </a:r>
                <a:r>
                  <a:rPr sz="2000" i="1"/>
                  <a:t>same</a:t>
                </a:r>
                <a:r>
                  <a:rPr sz="2000"/>
                  <a:t> 0.624. Hold that thought — Part 5 explains why.</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the Slope and Intercept Say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fitted line is </a:t>
                </a:r>
                <a14:m>
                  <m:oMath xmlns:m="http://schemas.openxmlformats.org/officeDocument/2006/math">
                    <m:acc>
                      <m:accPr>
                        <m:chr m:val="̂"/>
                      </m:accPr>
                      <m:e>
                        <m:r>
                          <m:rPr>
                            <m:nor/>
                            <m:sty m:val="p"/>
                          </m:rPr>
                          <m:t>age</m:t>
                        </m:r>
                      </m:e>
                    </m:acc>
                    <m:r>
                      <m:rPr>
                        <m:sty m:val="p"/>
                      </m:rPr>
                      <m:t>=</m:t>
                    </m:r>
                    <m:r>
                      <m:t>0.88</m:t>
                    </m:r>
                    <m:r>
                      <m:rPr>
                        <m:sty m:val="p"/>
                      </m:rPr>
                      <m:t>+</m:t>
                    </m:r>
                    <m:r>
                      <m:t>10.65</m:t>
                    </m:r>
                    <m:r>
                      <m:rPr>
                        <m:sty m:val="p"/>
                      </m:rPr>
                      <m:t>×</m:t>
                    </m:r>
                    <m:r>
                      <m:rPr>
                        <m:nor/>
                        <m:sty m:val="p"/>
                      </m:rPr>
                      <m:t>prop. black</m:t>
                    </m:r>
                  </m:oMath>
                </a14:m>
                <a:r>
                  <a:rPr/>
                  <a:t>.</a:t>
                </a:r>
              </a:p>
              <a:p>
                <a:pPr lvl="0" indent="0" marL="0">
                  <a:buNone/>
                </a:pPr>
                <a:r>
                  <a:rPr b="1"/>
                  <a:t>Which statement is correct?</a:t>
                </a:r>
              </a:p>
              <a:p>
                <a:pPr lvl="0" indent="0" marL="0">
                  <a:buNone/>
                </a:pPr>
                <a:r>
                  <a:rPr b="1"/>
                  <a:t>(a)</a:t>
                </a:r>
                <a:r>
                  <a:rPr/>
                  <a:t> A lion’s nose darkens by 10.65 units for every year it ages</a:t>
                </a:r>
              </a:p>
              <a:p>
                <a:pPr lvl="0" indent="0" marL="0">
                  <a:buNone/>
                </a:pPr>
                <a:r>
                  <a:rPr b="1"/>
                  <a:t>(b)</a:t>
                </a:r>
                <a:r>
                  <a:rPr/>
                  <a:t> Going from a nose 10% black to one 20% black predicts about </a:t>
                </a:r>
                <a:r>
                  <a:rPr b="1"/>
                  <a:t>1.06 more years</a:t>
                </a:r>
                <a:r>
                  <a:rPr/>
                  <a:t> of age</a:t>
                </a:r>
              </a:p>
              <a:p>
                <a:pPr lvl="0" indent="0" marL="0">
                  <a:buNone/>
                </a:pPr>
                <a:r>
                  <a:rPr b="1"/>
                  <a:t>(c)</a:t>
                </a:r>
                <a:r>
                  <a:rPr/>
                  <a:t> A newborn lion is predicted to be 0.88 years old, so the model is wrong</a:t>
                </a:r>
              </a:p>
              <a:p>
                <a:pPr lvl="0" indent="0" marL="0">
                  <a:buNone/>
                </a:pPr>
                <a:r>
                  <a:rPr b="1"/>
                  <a:t>(d)</a:t>
                </a:r>
                <a:r>
                  <a:rPr/>
                  <a:t> 62.4% of lions are aged correctly by this equation</a:t>
                </a:r>
              </a:p>
              <a:p>
                <a:pPr lvl="0" indent="0" marL="1270000">
                  <a:buNone/>
                </a:pPr>
                <a:r>
                  <a:rPr sz="2000" b="1"/>
                  <a:t>Warning</a:t>
                </a:r>
              </a:p>
              <a:p>
                <a:pPr lvl="0" indent="0" marL="1270000">
                  <a:buNone/>
                </a:pPr>
                <a:r>
                  <a:rPr sz="2000" b="1"/>
                  <a:t>✍️ Write your letter down, then vote.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Ask yourself</a:t>
            </a:r>
          </a:p>
          <a:p>
            <a:pPr lvl="0" indent="0" marL="1270000">
              <a:buNone/>
            </a:pPr>
            <a:r>
              <a:rPr sz="2000" i="1"/>
              <a:t>What are the units on this slope?</a:t>
            </a:r>
          </a:p>
          <a:p>
            <a:pPr lvl="0" indent="0" marL="1270000">
              <a:buNone/>
            </a:pPr>
            <a:r>
              <a:rPr sz="2000"/>
              <a:t>A slope is always </a:t>
            </a:r>
            <a:r>
              <a:rPr sz="2000" b="1"/>
              <a:t>units of Y per one unit of X</a:t>
            </a:r>
            <a:r>
              <a:rPr sz="2000"/>
              <a:t> — and here one unit of X is the whole range, from a clean nose to a fully black 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Slope and Intercept, in Words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The slope is </a:t>
            </a:r>
            <a:r>
              <a:rPr sz="2000" b="1"/>
              <a:t>10.65 years per unit of proportion black</a:t>
            </a:r>
            <a:r>
              <a:rPr sz="2000"/>
              <a:t>, and one unit is the entire 0-to-1 range. A 0.1 change in blackness therefore predicts about </a:t>
            </a:r>
            <a:r>
              <a:rPr sz="2000" b="1"/>
              <a:t>1.06 years</a:t>
            </a:r>
            <a:r>
              <a:rPr sz="2000"/>
              <a:t>.</a:t>
            </a:r>
          </a:p>
          <a:p>
            <a:pPr lvl="0" indent="0" marL="1270000">
              <a:buNone/>
            </a:pPr>
            <a:r>
              <a:rPr sz="2000" b="1"/>
              <a:t>(a)</a:t>
            </a:r>
            <a:r>
              <a:rPr sz="2000"/>
              <a:t> reverses the variables — that is the regression of blackness on age, a different line.</a:t>
            </a:r>
          </a:p>
          <a:p>
            <a:pPr lvl="0" indent="0" marL="1270000">
              <a:buNone/>
            </a:pPr>
            <a:r>
              <a:rPr sz="2000" b="1"/>
              <a:t>(c)</a:t>
            </a:r>
            <a:r>
              <a:rPr sz="2000"/>
              <a:t> misreads the intercept: it is 0.88 years at proportion black = 0, and the youngest lion measured was 1.1 years old, so X = 0 sits </a:t>
            </a:r>
            <a:r>
              <a:rPr sz="2000" b="1"/>
              <a:t>outside the data</a:t>
            </a:r>
            <a:r>
              <a:rPr sz="2000"/>
              <a:t>. The intercept anchors the line; it is not a claim about newborns.</a:t>
            </a:r>
          </a:p>
          <a:p>
            <a:pPr lvl="0" indent="0" marL="1270000">
              <a:buNone/>
            </a:pPr>
            <a:r>
              <a:rPr sz="2000" b="1"/>
              <a:t>(d)</a:t>
            </a:r>
            <a:r>
              <a:rPr sz="2000"/>
              <a:t> confuses R² with an accuracy rate. R² is variance explained, not the percentage of lions got right.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Extrapolation</a:t>
            </a:r>
          </a:p>
          <a:p>
            <a:pPr lvl="0" indent="0" marL="1270000">
              <a:buNone/>
            </a:pPr>
            <a:r>
              <a:rPr sz="2000"/>
              <a:t>A fitted line says nothing about X values you never sampled, and the confidence band is </a:t>
            </a:r>
            <a:r>
              <a:rPr sz="2000" i="1"/>
              <a:t>widest</a:t>
            </a:r>
            <a:r>
              <a:rPr sz="2000"/>
              <a:t> exactly where you have no data.</a:t>
            </a:r>
          </a:p>
          <a:p>
            <a:pPr lvl="0" indent="0" marL="1270000">
              <a:buNone/>
            </a:pPr>
            <a:r>
              <a:rPr sz="2000" b="1"/>
              <a:t>Tip</a:t>
            </a:r>
          </a:p>
          <a:p>
            <a:pPr lvl="0" indent="0" marL="1270000">
              <a:buNone/>
            </a:pPr>
            <a:r>
              <a:rPr sz="2000" b="1"/>
              <a:t>🖐 The habit to build</a:t>
            </a:r>
          </a:p>
          <a:p>
            <a:pPr lvl="0" indent="0" marL="1270000">
              <a:buNone/>
            </a:pPr>
            <a:r>
              <a:rPr sz="2000"/>
              <a:t>Write every slope out as a sentence in the units of the data — “for every extra </a:t>
            </a:r>
            <a:r>
              <a:rPr sz="2000" b="1" i="1"/>
              <a:t>, Y changes by</a:t>
            </a:r>
            <a:r>
              <a:rPr sz="2000"/>
              <a:t>” — before you write a word about significance.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b</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r>
                        <m:t>  </m:t>
                      </m:r>
                      <m:r>
                        <m:t>a</m:t>
                      </m:r>
                      <m:r>
                        <m:rPr>
                          <m:sty m:val="p"/>
                        </m:rPr>
                        <m:t>=</m:t>
                      </m:r>
                      <m:acc>
                        <m:accPr>
                          <m:chr m:val="‾"/>
                        </m:accPr>
                        <m:e>
                          <m:r>
                            <m:t>Y</m:t>
                          </m:r>
                        </m:e>
                      </m:acc>
                      <m:r>
                        <m:rPr>
                          <m:sty m:val="p"/>
                        </m:rPr>
                        <m:t>−</m:t>
                      </m:r>
                      <m:r>
                        <m:t>b</m:t>
                      </m:r>
                      <m:acc>
                        <m:accPr>
                          <m:chr m:val="‾"/>
                        </m:accPr>
                        <m:e>
                          <m:r>
                            <m:t>X</m:t>
                          </m:r>
                        </m:e>
                      </m:acc>
                    </m:oMath>
                  </m:oMathPara>
                </a14:m>
              </a:p>
              <a:p>
                <a:pPr lvl="0" indent="0" marL="0">
                  <a:buNone/>
                </a:pPr>
                <a:r>
                  <a:rPr/>
                  <a:t>The numerator is a </a:t>
                </a:r>
                <a:r>
                  <a:rPr b="1"/>
                  <a:t>sum of cross-products</a:t>
                </a:r>
                <a:r>
                  <a:rPr/>
                  <a:t>; the denominator is a </a:t>
                </a:r>
                <a:r>
                  <a:rPr b="1"/>
                  <a:t>sum of squares</a:t>
                </a:r>
                <a:r>
                  <a:rPr/>
                  <a:t>. Both are the same kind of quantity the ANOVA table is built from in a moment.</a:t>
                </a:r>
              </a:p>
              <a:p>
                <a:pPr lvl="0" indent="0">
                  <a:buNone/>
                </a:pPr>
                <a:r>
                  <a:rPr>
                    <a:solidFill>
                      <a:srgbClr val="003B4F"/>
                    </a:solidFill>
                    <a:latin typeface="Courier"/>
                  </a:rPr>
                  <a:t>x &lt;- lion_df</a:t>
                </a:r>
                <a:r>
                  <a:rPr>
                    <a:solidFill>
                      <a:srgbClr val="5E5E5E"/>
                    </a:solidFill>
                    <a:latin typeface="Courier"/>
                  </a:rPr>
                  <a:t>$</a:t>
                </a:r>
                <a:r>
                  <a:rPr>
                    <a:solidFill>
                      <a:srgbClr val="003B4F"/>
                    </a:solidFill>
                    <a:latin typeface="Courier"/>
                  </a:rPr>
                  <a:t>proportion_black</a:t>
                </a:r>
                <a:br/>
                <a:r>
                  <a:rPr>
                    <a:solidFill>
                      <a:srgbClr val="003B4F"/>
                    </a:solidFill>
                    <a:latin typeface="Courier"/>
                  </a:rPr>
                  <a:t>y &lt;- lion_df</a:t>
                </a:r>
                <a:r>
                  <a:rPr>
                    <a:solidFill>
                      <a:srgbClr val="5E5E5E"/>
                    </a:solidFill>
                    <a:latin typeface="Courier"/>
                  </a:rPr>
                  <a:t>$</a:t>
                </a:r>
                <a:r>
                  <a:rPr>
                    <a:solidFill>
                      <a:srgbClr val="003B4F"/>
                    </a:solidFill>
                    <a:latin typeface="Courier"/>
                  </a:rPr>
                  <a:t>age_years</a:t>
                </a:r>
                <a:br/>
                <a:br/>
                <a:r>
                  <a:rPr>
                    <a:solidFill>
                      <a:srgbClr val="003B4F"/>
                    </a:solidFill>
                    <a:latin typeface="Courier"/>
                  </a:rPr>
                  <a:t>b &lt;-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 </a:t>
                </a:r>
                <a:r>
                  <a:rPr>
                    <a:solidFill>
                      <a:srgbClr val="5E5E5E"/>
                    </a:solidFill>
                    <a:latin typeface="Courier"/>
                  </a:rPr>
                  <a:t>*</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a &lt;-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b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br/>
                <a:r>
                  <a:rPr>
                    <a:solidFill>
                      <a:srgbClr val="4758AB"/>
                    </a:solidFill>
                    <a:latin typeface="Courier"/>
                  </a:rPr>
                  <a:t>c</a:t>
                </a:r>
                <a:r>
                  <a:rPr>
                    <a:solidFill>
                      <a:srgbClr val="003B4F"/>
                    </a:solidFill>
                    <a:latin typeface="Courier"/>
                  </a:rPr>
                  <a:t>(</a:t>
                </a:r>
                <a:r>
                  <a:rPr>
                    <a:solidFill>
                      <a:srgbClr val="657422"/>
                    </a:solidFill>
                    <a:latin typeface="Courier"/>
                  </a:rPr>
                  <a:t>intercept =</a:t>
                </a:r>
                <a:r>
                  <a:rPr>
                    <a:solidFill>
                      <a:srgbClr val="003B4F"/>
                    </a:solidFill>
                    <a:latin typeface="Courier"/>
                  </a:rPr>
                  <a:t> a, </a:t>
                </a:r>
                <a:r>
                  <a:rPr>
                    <a:solidFill>
                      <a:srgbClr val="657422"/>
                    </a:solidFill>
                    <a:latin typeface="Courier"/>
                  </a:rPr>
                  <a:t>slope =</a:t>
                </a:r>
                <a:r>
                  <a:rPr>
                    <a:solidFill>
                      <a:srgbClr val="003B4F"/>
                    </a:solidFill>
                    <a:latin typeface="Courier"/>
                  </a:rPr>
                  <a:t> b)</a:t>
                </a:r>
              </a:p>
              <a:p>
                <a:pPr lvl="0" indent="0">
                  <a:buNone/>
                </a:pPr>
                <a:r>
                  <a:rPr>
                    <a:latin typeface="Courier"/>
                  </a:rPr>
                  <a:t> intercept      slope 
 0.8790062 10.6471194 </a:t>
                </a:r>
              </a:p>
            </p:txBody>
          </p:sp>
        </mc:Choice>
      </mc:AlternateContent>
      <p:sp>
        <p:nvSpPr>
          <p:cNvPr id="4" name="Content Placeholder 3"/>
          <p:cNvSpPr>
            <a:spLocks noGrp="1"/>
          </p:cNvSpPr>
          <p:nvPr>
            <p:ph idx="2" sz="half"/>
          </p:nvPr>
        </p:nvSpPr>
        <p:spPr/>
        <p:txBody>
          <a:bodyPr/>
          <a:lstStyle/>
          <a:p>
            <a:pPr lvl="0" indent="0" marL="0">
              <a:buNone/>
            </a:pPr>
            <a:r>
              <a:rPr/>
              <a:t>Compare that with what </a:t>
            </a:r>
            <a:r>
              <a:rPr>
                <a:latin typeface="Courier"/>
              </a:rPr>
              <a:t>lm()</a:t>
            </a:r>
            <a:r>
              <a:rPr/>
              <a:t> reported:</a:t>
            </a:r>
          </a:p>
          <a:p>
            <a:pPr lvl="0" indent="0">
              <a:buNone/>
            </a:pP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1270000">
              <a:buNone/>
            </a:pPr>
            <a:r>
              <a:rPr sz="2000" b="1"/>
              <a:t>Note</a:t>
            </a:r>
          </a:p>
          <a:p>
            <a:pPr lvl="0" indent="0" marL="1270000">
              <a:buNone/>
            </a:pPr>
            <a:r>
              <a:rPr sz="2000" b="1"/>
              <a:t>Same answer, no magic</a:t>
            </a:r>
          </a:p>
          <a:p>
            <a:pPr lvl="0" indent="0" marL="1270000">
              <a:buNone/>
            </a:pPr>
            <a:r>
              <a:rPr sz="2000">
                <a:latin typeface="Courier"/>
              </a:rPr>
              <a:t>lm()</a:t>
            </a:r>
            <a:r>
              <a:rPr sz="2000"/>
              <a:t> is doing this arithmetic. Everything harder than this — multiple predictors, ANOVA, mixed models — is the same idea written in matrix form.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new_lion &lt;- </a:t>
            </a:r>
            <a:r>
              <a:rPr>
                <a:solidFill>
                  <a:srgbClr val="4758AB"/>
                </a:solidFill>
                <a:latin typeface="Courier"/>
              </a:rPr>
              <a:t>tibble</a:t>
            </a:r>
            <a:r>
              <a:rPr>
                <a:solidFill>
                  <a:srgbClr val="003B4F"/>
                </a:solidFill>
                <a:latin typeface="Courier"/>
              </a:rPr>
              <a:t>(</a:t>
            </a:r>
            <a:r>
              <a:rPr>
                <a:solidFill>
                  <a:srgbClr val="657422"/>
                </a:solidFill>
                <a:latin typeface="Courier"/>
              </a:rPr>
              <a:t>proportion_black =</a:t>
            </a:r>
            <a:r>
              <a:rPr>
                <a:solidFill>
                  <a:srgbClr val="003B4F"/>
                </a:solidFill>
                <a:latin typeface="Courier"/>
              </a:rPr>
              <a:t> </a:t>
            </a:r>
            <a:r>
              <a:rPr>
                <a:solidFill>
                  <a:srgbClr val="AD0000"/>
                </a:solidFill>
                <a:latin typeface="Courier"/>
              </a:rPr>
              <a:t>0.50</a:t>
            </a:r>
            <a:r>
              <a:rPr>
                <a:solidFill>
                  <a:srgbClr val="003B4F"/>
                </a:solidFill>
                <a:latin typeface="Courier"/>
              </a:rPr>
              <a:t>)</a:t>
            </a:r>
            <a:br/>
            <a:b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"confidence"</a:t>
            </a:r>
            <a:r>
              <a:rPr>
                <a:solidFill>
                  <a:srgbClr val="003B4F"/>
                </a:solidFill>
                <a:latin typeface="Courier"/>
              </a:rPr>
              <a:t>)</a:t>
            </a:r>
          </a:p>
          <a:p>
            <a:pPr lvl="0" indent="0">
              <a:buNone/>
            </a:pPr>
            <a:r>
              <a:rPr>
                <a:latin typeface="Courier"/>
              </a:rPr>
              <a:t>       fit      lwr     upr
1 6.202566 5.388042 7.01709</a:t>
            </a:r>
          </a:p>
          <a:p>
            <a:pPr lvl="0" indent="0">
              <a:buNone/>
            </a:pP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"prediction"</a:t>
            </a:r>
            <a:r>
              <a:rPr>
                <a:solidFill>
                  <a:srgbClr val="003B4F"/>
                </a:solidFill>
                <a:latin typeface="Courier"/>
              </a:rPr>
              <a:t>)</a:t>
            </a:r>
          </a:p>
          <a:p>
            <a:pPr lvl="0" indent="0">
              <a:buNone/>
            </a:pPr>
            <a:r>
              <a:rPr>
                <a:latin typeface="Courier"/>
              </a:rPr>
              <a:t>       fit      lwr     upr
1 6.202566 2.698512 9.70662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Both intervals sit on the same predicted age, and answer different questions:</a:t>
                </a:r>
              </a:p>
              <a:p>
                <a:pPr lvl="0"/>
                <a:r>
                  <a:rPr b="1"/>
                  <a:t>Confidence interval</a:t>
                </a:r>
                <a:r>
                  <a:rPr/>
                  <a:t> — where the </a:t>
                </a:r>
                <a:r>
                  <a:rPr i="1"/>
                  <a:t>mean</a:t>
                </a:r>
                <a:r>
                  <a:rPr/>
                  <a:t> age of all lions with 50% black noses lies</a:t>
                </a:r>
              </a:p>
              <a:p>
                <a:pPr lvl="0"/>
                <a:r>
                  <a:rPr b="1"/>
                  <a:t>Prediction interval</a:t>
                </a:r>
                <a:r>
                  <a:rPr/>
                  <a:t> — where a </a:t>
                </a:r>
                <a:r>
                  <a:rPr i="1"/>
                  <a:t>single</a:t>
                </a:r>
                <a:r>
                  <a:rPr/>
                  <a:t> new lion’s age lies</a:t>
                </a:r>
              </a:p>
              <a:p>
                <a:pPr lvl="0" indent="0" marL="0">
                  <a:buNone/>
                </a:pPr>
                <a:r>
                  <a:rPr/>
                  <a:t>The prediction interval is always wider: it carries the scatter of individual lions </a:t>
                </a:r>
                <a:r>
                  <a:rPr b="1"/>
                  <a:t>plus</a:t>
                </a:r>
                <a:r>
                  <a:rPr/>
                  <a:t> the uncertainty in the line itself.</a:t>
                </a:r>
              </a:p>
              <a:p>
                <a:pPr lvl="0" indent="0" marL="0">
                  <a:buNone/>
                </a:pPr>
                <a:r>
                  <a:rPr/>
                  <a:t>Both are narrowest at </a:t>
                </a:r>
                <a14:m>
                  <m:oMath xmlns:m="http://schemas.openxmlformats.org/officeDocument/2006/math">
                    <m:acc>
                      <m:accPr>
                        <m:chr m:val="‾"/>
                      </m:accPr>
                      <m:e>
                        <m:r>
                          <m:t>X</m:t>
                        </m:r>
                      </m:e>
                    </m:acc>
                  </m:oMath>
                </a14:m>
                <a:r>
                  <a:rPr/>
                  <a:t> and flare out toward the edges of the data.</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17.3 · Prairie Biodiversity and Stability</a:t>
            </a:r>
          </a:p>
        </p:txBody>
      </p:sp>
      <p:sp>
        <p:nvSpPr>
          <p:cNvPr id="3" name="Content Placeholder 2"/>
          <p:cNvSpPr>
            <a:spLocks noGrp="1"/>
          </p:cNvSpPr>
          <p:nvPr>
            <p:ph idx="1" sz="half"/>
          </p:nvPr>
        </p:nvSpPr>
        <p:spPr/>
        <p:txBody>
          <a:bodyPr/>
          <a:lstStyle/>
          <a:p>
            <a:pPr lvl="0" indent="0" marL="0">
              <a:buNone/>
            </a:pPr>
            <a:r>
              <a:rPr/>
              <a:t>Tilman et al. (2006): does a more diverse plant community produce </a:t>
            </a:r>
            <a:r>
              <a:rPr b="1"/>
              <a:t>more stable</a:t>
            </a:r>
            <a:r>
              <a:rPr/>
              <a:t> biomass? 161 plots, seeded with 1 to 16 species.</a:t>
            </a:r>
          </a:p>
          <a:p>
            <a:pPr lvl="0" indent="0">
              <a:buNone/>
            </a:pPr>
            <a:r>
              <a:rPr>
                <a:solidFill>
                  <a:srgbClr val="003B4F"/>
                </a:solidFill>
                <a:latin typeface="Courier"/>
              </a:rPr>
              <a:t>prairie_df &lt;- </a:t>
            </a:r>
            <a:r>
              <a:rPr>
                <a:solidFill>
                  <a:srgbClr val="4758AB"/>
                </a:solidFill>
                <a:latin typeface="Courier"/>
              </a:rPr>
              <a:t>read_csv</a:t>
            </a:r>
            <a:r>
              <a:rPr>
                <a:solidFill>
                  <a:srgbClr val="003B4F"/>
                </a:solidFill>
                <a:latin typeface="Courier"/>
              </a:rPr>
              <a:t>(</a:t>
            </a:r>
            <a:r>
              <a:rPr>
                <a:solidFill>
                  <a:srgbClr val="20794D"/>
                </a:solidFill>
                <a:latin typeface="Courier"/>
              </a:rPr>
              <a:t>"data/prairie_stability.csv"</a:t>
            </a:r>
            <a:r>
              <a:rPr>
                <a:solidFill>
                  <a:srgbClr val="003B4F"/>
                </a:solidFill>
                <a:latin typeface="Courier"/>
              </a:rPr>
              <a:t>)</a:t>
            </a:r>
            <a:br/>
            <a:br/>
            <a:r>
              <a:rPr>
                <a:solidFill>
                  <a:srgbClr val="003B4F"/>
                </a:solidFill>
                <a:latin typeface="Courier"/>
              </a:rPr>
              <a:t>prairie_model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(biomass_stability) </a:t>
            </a:r>
            <a:r>
              <a:rPr>
                <a:solidFill>
                  <a:srgbClr val="5E5E5E"/>
                </a:solidFill>
                <a:latin typeface="Courier"/>
              </a:rPr>
              <a:t>~</a:t>
            </a:r>
            <a:r>
              <a:rPr>
                <a:solidFill>
                  <a:srgbClr val="003B4F"/>
                </a:solidFill>
                <a:latin typeface="Courier"/>
              </a:rPr>
              <a:t> species_number,</a:t>
            </a:r>
            <a:br/>
            <a:r>
              <a:rPr>
                <a:solidFill>
                  <a:srgbClr val="003B4F"/>
                </a:solidFill>
                <a:latin typeface="Courier"/>
              </a:rPr>
              <a:t>                    </a:t>
            </a:r>
            <a:r>
              <a:rPr>
                <a:solidFill>
                  <a:srgbClr val="657422"/>
                </a:solidFill>
                <a:latin typeface="Courier"/>
              </a:rPr>
              <a:t>data =</a:t>
            </a:r>
            <a:r>
              <a:rPr>
                <a:solidFill>
                  <a:srgbClr val="003B4F"/>
                </a:solidFill>
                <a:latin typeface="Courier"/>
              </a:rPr>
              <a:t> prairie_df)</a:t>
            </a:r>
            <a:br/>
            <a:r>
              <a:rPr>
                <a:solidFill>
                  <a:srgbClr val="4758AB"/>
                </a:solidFill>
                <a:latin typeface="Courier"/>
              </a:rPr>
              <a:t>summary</a:t>
            </a:r>
            <a:r>
              <a:rPr>
                <a:solidFill>
                  <a:srgbClr val="003B4F"/>
                </a:solidFill>
                <a:latin typeface="Courier"/>
              </a:rPr>
              <a:t>(prairie_model)</a:t>
            </a:r>
            <a:r>
              <a:rPr>
                <a:solidFill>
                  <a:srgbClr val="5E5E5E"/>
                </a:solidFill>
                <a:latin typeface="Courier"/>
              </a:rPr>
              <a:t>$</a:t>
            </a:r>
            <a:r>
              <a:rPr>
                <a:solidFill>
                  <a:srgbClr val="003B4F"/>
                </a:solidFill>
                <a:latin typeface="Courier"/>
              </a:rPr>
              <a:t>coefficients</a:t>
            </a:r>
          </a:p>
          <a:p>
            <a:pPr lvl="0" indent="0">
              <a:buNone/>
            </a:pPr>
            <a:r>
              <a:rPr>
                <a:latin typeface="Courier"/>
              </a:rPr>
              <a:t>                Estimate  Std. Error   t value     Pr(&gt;|t|)
(Intercept)    1.1982943 0.041298043 29.015766 2.075490e-65
species_number 0.0329259 0.004883691  6.742012 2.733315e-10</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is about the slope:</a:t>
            </a:r>
          </a:p>
          <a:p>
            <a:pPr lvl="0"/>
            <a:r>
              <a:rPr/>
              <a:t>H₀: β = 0 — species number has no effect on stability</a:t>
            </a:r>
          </a:p>
          <a:p>
            <a:pPr lvl="0"/>
            <a:r>
              <a:rPr/>
              <a:t>H₁: β ≠ 0</a:t>
            </a:r>
          </a:p>
          <a:p>
            <a:pPr lvl="0" indent="0" marL="0">
              <a:buNone/>
            </a:pPr>
            <a:r>
              <a:rPr b="1"/>
              <a:t>Slope = 0.0329</a:t>
            </a:r>
            <a:r>
              <a:rPr/>
              <a:t> — log stability rises by about 0.033 per extra species, so a 16-species plot sits roughly 0.49 log units above a monoculture.</a:t>
            </a:r>
          </a:p>
          <a:p>
            <a:pPr lvl="0" indent="0" marL="0">
              <a:buNone/>
            </a:pPr>
            <a:r>
              <a:rPr b="1"/>
              <a:t>p = 2.73e-10</a:t>
            </a:r>
            <a:r>
              <a:rPr/>
              <a:t> — strong evidence against a zero slope.</a:t>
            </a:r>
          </a:p>
          <a:p>
            <a:pPr lvl="0" indent="0" marL="0">
              <a:buNone/>
            </a:pPr>
            <a:r>
              <a:rPr b="1"/>
              <a:t>R² = 0.222</a:t>
            </a:r>
            <a:r>
              <a:rPr/>
              <a:t> — diversity explains about 22.2% of the variation in stability. Real, and nowhere near the whole story.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 large</a:t>
            </a:r>
          </a:p>
          <a:p>
            <a:pPr lvl="0" indent="0" marL="1270000">
              <a:buNone/>
            </a:pPr>
            <a:r>
              <a:rPr sz="2000"/>
              <a:t>A tiny p-value alongside R² = 0.22 is completely ordinary in ecology.</a:t>
            </a:r>
          </a:p>
          <a:p>
            <a:pPr lvl="0" indent="0" marL="1270000">
              <a:buNone/>
            </a:pPr>
            <a:r>
              <a:rPr sz="2000"/>
              <a:t>The p-value says the slope is not zero. </a:t>
            </a:r>
            <a:r>
              <a:rPr sz="2000" b="1"/>
              <a:t>R² says how much of the world it accounts for.</a:t>
            </a:r>
            <a:r>
              <a:rPr sz="2000"/>
              <a:t> Report both.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Sums of Squares — the Engine of Everything After This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Take </a:t>
                </a:r>
                <a:r>
                  <a:rPr b="1"/>
                  <a:t>one</a:t>
                </a:r>
                <a:r>
                  <a:rPr/>
                  <a:t> data point. Its distance from the overall mean </a:t>
                </a:r>
                <a14:m>
                  <m:oMath xmlns:m="http://schemas.openxmlformats.org/officeDocument/2006/math">
                    <m:acc>
                      <m:accPr>
                        <m:chr m:val="‾"/>
                      </m:accPr>
                      <m:e>
                        <m:r>
                          <m:t>y</m:t>
                        </m:r>
                      </m:e>
                    </m:acc>
                  </m:oMath>
                </a14:m>
                <a:r>
                  <a:rPr/>
                  <a:t> splits, exactly, into two pieces:</a:t>
                </a:r>
              </a:p>
              <a:p>
                <a:pPr lvl="0" indent="0" marL="0">
                  <a:buNone/>
                </a:pPr>
                <a14:m>
                  <m:oMathPara xmlns:m="http://schemas.openxmlformats.org/officeDocument/2006/math">
                    <m:oMathParaPr>
                      <m:jc m:val="center"/>
                    </m:oMathParaPr>
                    <m:oMath>
                      <m:limLow>
                        <m:e>
                          <m:limLow>
                            <m:e>
                              <m:r>
                                <m:rPr>
                                  <m:sty m:val="p"/>
                                </m:rPr>
                                <m:t>(</m:t>
                              </m:r>
                              <m:sSub>
                                <m:e>
                                  <m:r>
                                    <m:t>y</m:t>
                                  </m:r>
                                </m:e>
                                <m:sub>
                                  <m:r>
                                    <m:t>i</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explained</m:t>
                          </m:r>
                        </m:lim>
                      </m:limLow>
                      <m:r>
                        <m:rPr>
                          <m:sty m:val="p"/>
                        </m:rPr>
                        <m:t>+</m:t>
                      </m:r>
                      <m:limLow>
                        <m:e>
                          <m:limLow>
                            <m:e>
                              <m:r>
                                <m:rPr>
                                  <m:sty m:val="p"/>
                                </m:rPr>
                                <m:t>(</m:t>
                              </m:r>
                              <m:sSub>
                                <m:e>
                                  <m:r>
                                    <m:t>y</m:t>
                                  </m:r>
                                </m:e>
                                <m:sub>
                                  <m:r>
                                    <m:t>i</m:t>
                                  </m:r>
                                </m:sub>
                              </m:sSub>
                              <m:r>
                                <m:rPr>
                                  <m:sty m:val="p"/>
                                </m:rPr>
                                <m:t>−</m:t>
                              </m:r>
                              <m:sSub>
                                <m:e>
                                  <m:acc>
                                    <m:accPr>
                                      <m:chr m:val="̂"/>
                                    </m:accPr>
                                    <m:e>
                                      <m:r>
                                        <m:t>y</m:t>
                                      </m:r>
                                    </m:e>
                                  </m:acc>
                                </m:e>
                                <m:sub>
                                  <m:r>
                                    <m:t>i</m:t>
                                  </m:r>
                                </m:sub>
                              </m:sSub>
                              <m:r>
                                <m:rPr>
                                  <m:sty m:val="p"/>
                                </m:rPr>
                                <m:t>)</m:t>
                              </m:r>
                            </m:e>
                            <m:lim>
                              <m:r>
                                <m:rPr>
                                  <m:sty m:val="p"/>
                                </m:rPr>
                                <m:t>⏟</m:t>
                              </m:r>
                            </m:lim>
                          </m:limLow>
                        </m:e>
                        <m:lim>
                          <m:r>
                            <m:rPr>
                              <m:nor/>
                              <m:sty m:val="p"/>
                            </m:rPr>
                            <m:t>left over</m:t>
                          </m:r>
                        </m:lim>
                      </m:limLow>
                    </m:oMath>
                  </m:oMathPara>
                </a14:m>
              </a:p>
              <a:p>
                <a:pPr lvl="0" indent="0" marL="0">
                  <a:buNone/>
                </a:pPr>
                <a:r>
                  <a:rPr/>
                  <a:t>Square those deviations and add them up over every point, and the same split holds for the whole dataset:</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 variation the line accounts for; </a:t>
                </a:r>
                <a:r>
                  <a:rPr b="1"/>
                  <a:t>df = 1</a:t>
                </a:r>
              </a:p>
              <a:p>
                <a:pPr lvl="0"/>
                <a14:m>
                  <m:oMath xmlns:m="http://schemas.openxmlformats.org/officeDocument/2006/math">
                    <m:r>
                      <m:t>S</m:t>
                    </m:r>
                    <m:sSub>
                      <m:e>
                        <m:r>
                          <m:t>S</m:t>
                        </m:r>
                      </m:e>
                      <m:sub>
                        <m:r>
                          <m:t>r</m:t>
                        </m:r>
                        <m:r>
                          <m:t>e</m:t>
                        </m:r>
                        <m:r>
                          <m:t>s</m:t>
                        </m:r>
                        <m:r>
                          <m:t>i</m:t>
                        </m:r>
                        <m:r>
                          <m:t>d</m:t>
                        </m:r>
                        <m:r>
                          <m:t>u</m:t>
                        </m:r>
                        <m:r>
                          <m:t>a</m:t>
                        </m:r>
                        <m:r>
                          <m:t>l</m:t>
                        </m:r>
                      </m:sub>
                    </m:sSub>
                  </m:oMath>
                </a14:m>
                <a:r>
                  <a:rPr/>
                  <a:t> — variation it does not; </a:t>
                </a:r>
                <a:r>
                  <a:rPr b="1"/>
                  <a:t>df = n − 2</a:t>
                </a:r>
              </a:p>
              <a:p>
                <a:pPr lvl="0"/>
                <a14:m>
                  <m:oMath xmlns:m="http://schemas.openxmlformats.org/officeDocument/2006/math">
                    <m:r>
                      <m:t>S</m:t>
                    </m:r>
                    <m:sSub>
                      <m:e>
                        <m:r>
                          <m:t>S</m:t>
                        </m:r>
                      </m:e>
                      <m:sub>
                        <m:r>
                          <m:t>t</m:t>
                        </m:r>
                        <m:r>
                          <m:t>o</m:t>
                        </m:r>
                        <m:r>
                          <m:t>t</m:t>
                        </m:r>
                        <m:r>
                          <m:t>a</m:t>
                        </m:r>
                        <m:r>
                          <m:t>l</m:t>
                        </m:r>
                      </m:sub>
                    </m:sSub>
                  </m:oMath>
                </a14:m>
                <a:r>
                  <a:rPr/>
                  <a:t> — all of it; </a:t>
                </a:r>
                <a:r>
                  <a:rPr b="1"/>
                  <a:t>df = n − 1</a:t>
                </a:r>
              </a:p>
            </p:txBody>
          </p:sp>
        </mc:Choice>
      </mc:AlternateContent>
      <p:pic>
        <p:nvPicPr>
          <p:cNvPr descr="correlation_linear_models_lecture_files/figure-pptx/correlation-linear-models-23-1.png" id="0" name="Picture 1"/>
          <p:cNvPicPr>
            <a:picLocks noGrp="1" noChangeAspect="1"/>
          </p:cNvPicPr>
          <p:nvPr/>
        </p:nvPicPr>
        <p:blipFill>
          <a:blip r:embed="rId2"/>
          <a:stretch>
            <a:fillRect/>
          </a:stretch>
        </p:blipFill>
        <p:spPr bwMode="auto">
          <a:xfrm>
            <a:off x="6121400" y="1638300"/>
            <a:ext cx="27813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Fit Has the Bigger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Four fitted regressions, on the right.</a:t>
                </a:r>
              </a:p>
              <a:p>
                <a:pPr lvl="0" indent="0" marL="0">
                  <a:buNone/>
                </a:pPr>
                <a:r>
                  <a:rPr b="1"/>
                  <a:t>Which statement is true?</a:t>
                </a:r>
              </a:p>
              <a:p>
                <a:pPr lvl="0" indent="0" marL="0">
                  <a:buNone/>
                </a:pPr>
                <a:r>
                  <a:rPr b="1"/>
                  <a:t>(a)</a:t>
                </a:r>
                <a:r>
                  <a:rPr/>
                  <a:t> </a:t>
                </a:r>
                <a14:m>
                  <m:oMath xmlns:m="http://schemas.openxmlformats.org/officeDocument/2006/math">
                    <m:r>
                      <m:t>S</m:t>
                    </m:r>
                    <m:sSub>
                      <m:e>
                        <m:r>
                          <m:t>S</m:t>
                        </m:r>
                      </m:e>
                      <m:sub>
                        <m:r>
                          <m:t>r</m:t>
                        </m:r>
                        <m:r>
                          <m:t>e</m:t>
                        </m:r>
                        <m:r>
                          <m:t>g</m:t>
                        </m:r>
                        <m:r>
                          <m:t>r</m:t>
                        </m:r>
                        <m:r>
                          <m:t>e</m:t>
                        </m:r>
                        <m:r>
                          <m:t>s</m:t>
                        </m:r>
                        <m:r>
                          <m:t>s</m:t>
                        </m:r>
                        <m:r>
                          <m:t>i</m:t>
                        </m:r>
                        <m:r>
                          <m:t>o</m:t>
                        </m:r>
                        <m:r>
                          <m:t>n</m:t>
                        </m:r>
                      </m:sub>
                    </m:sSub>
                  </m:oMath>
                </a14:m>
                <a:r>
                  <a:rPr/>
                  <a:t> is larger in </a:t>
                </a:r>
                <a:r>
                  <a:rPr b="1"/>
                  <a:t>(d)</a:t>
                </a:r>
                <a:r>
                  <a:rPr/>
                  <a:t> than in </a:t>
                </a:r>
                <a:r>
                  <a:rPr b="1"/>
                  <a:t>(c)</a:t>
                </a:r>
              </a:p>
              <a:p>
                <a:pPr lvl="0" indent="0" marL="0">
                  <a:buNone/>
                </a:pPr>
                <a:r>
                  <a:rPr b="1"/>
                  <a:t>(b)</a:t>
                </a:r>
                <a:r>
                  <a:rPr/>
                  <a:t> </a:t>
                </a:r>
                <a14:m>
                  <m:oMath xmlns:m="http://schemas.openxmlformats.org/officeDocument/2006/math">
                    <m:r>
                      <m:t>S</m:t>
                    </m:r>
                    <m:sSub>
                      <m:e>
                        <m:r>
                          <m:t>S</m:t>
                        </m:r>
                      </m:e>
                      <m:sub>
                        <m:r>
                          <m:t>r</m:t>
                        </m:r>
                        <m:r>
                          <m:t>e</m:t>
                        </m:r>
                        <m:r>
                          <m:t>s</m:t>
                        </m:r>
                        <m:r>
                          <m:t>i</m:t>
                        </m:r>
                        <m:r>
                          <m:t>d</m:t>
                        </m:r>
                        <m:r>
                          <m:t>u</m:t>
                        </m:r>
                        <m:r>
                          <m:t>a</m:t>
                        </m:r>
                        <m:r>
                          <m:t>l</m:t>
                        </m:r>
                      </m:sub>
                    </m:sSub>
                  </m:oMath>
                </a14:m>
                <a:r>
                  <a:rPr/>
                  <a:t> is larger in </a:t>
                </a:r>
                <a:r>
                  <a:rPr b="1"/>
                  <a:t>(b)</a:t>
                </a:r>
                <a:r>
                  <a:rPr/>
                  <a:t> than in </a:t>
                </a:r>
                <a:r>
                  <a:rPr b="1"/>
                  <a:t>(a)</a:t>
                </a:r>
              </a:p>
              <a:p>
                <a:pPr lvl="0" indent="0" marL="0">
                  <a:buNone/>
                </a:pPr>
                <a:r>
                  <a:rPr b="1"/>
                  <a:t>(c)</a:t>
                </a:r>
                <a:r>
                  <a:rPr/>
                  <a:t> </a:t>
                </a:r>
                <a14:m>
                  <m:oMath xmlns:m="http://schemas.openxmlformats.org/officeDocument/2006/math">
                    <m:r>
                      <m:t>S</m:t>
                    </m:r>
                    <m:sSub>
                      <m:e>
                        <m:r>
                          <m:t>S</m:t>
                        </m:r>
                      </m:e>
                      <m:sub>
                        <m:r>
                          <m:t>t</m:t>
                        </m:r>
                        <m:r>
                          <m:t>o</m:t>
                        </m:r>
                        <m:r>
                          <m:t>t</m:t>
                        </m:r>
                        <m:r>
                          <m:t>a</m:t>
                        </m:r>
                        <m:r>
                          <m:t>l</m:t>
                        </m:r>
                      </m:sub>
                    </m:sSub>
                  </m:oMath>
                </a14:m>
                <a:r>
                  <a:rPr/>
                  <a:t> is larger in </a:t>
                </a:r>
                <a:r>
                  <a:rPr b="1"/>
                  <a:t>(a)</a:t>
                </a:r>
                <a:r>
                  <a:rPr/>
                  <a:t> than in </a:t>
                </a:r>
                <a:r>
                  <a:rPr b="1"/>
                  <a:t>(b)</a:t>
                </a:r>
              </a:p>
              <a:p>
                <a:pPr lvl="0" indent="0" marL="0">
                  <a:buNone/>
                </a:pPr>
                <a:r>
                  <a:rPr b="1"/>
                  <a:t>(d)</a:t>
                </a:r>
                <a:r>
                  <a:rPr/>
                  <a:t> </a:t>
                </a:r>
                <a14:m>
                  <m:oMath xmlns:m="http://schemas.openxmlformats.org/officeDocument/2006/math">
                    <m:r>
                      <m:t>S</m:t>
                    </m:r>
                    <m:sSub>
                      <m:e>
                        <m:r>
                          <m:t>S</m:t>
                        </m:r>
                      </m:e>
                      <m:sub>
                        <m:r>
                          <m:t>r</m:t>
                        </m:r>
                        <m:r>
                          <m:t>e</m:t>
                        </m:r>
                        <m:r>
                          <m:t>s</m:t>
                        </m:r>
                        <m:r>
                          <m:t>i</m:t>
                        </m:r>
                        <m:r>
                          <m:t>d</m:t>
                        </m:r>
                        <m:r>
                          <m:t>u</m:t>
                        </m:r>
                        <m:r>
                          <m:t>a</m:t>
                        </m:r>
                        <m:r>
                          <m:t>l</m:t>
                        </m:r>
                      </m:sub>
                    </m:sSub>
                  </m:oMath>
                </a14:m>
                <a:r>
                  <a:rPr/>
                  <a:t> is zero in </a:t>
                </a:r>
                <a:r>
                  <a:rPr b="1"/>
                  <a:t>(c)</a:t>
                </a:r>
              </a:p>
              <a:p>
                <a:pPr lvl="0" indent="0" marL="1270000">
                  <a:buNone/>
                </a:pPr>
                <a:r>
                  <a:rPr sz="2000" b="1"/>
                  <a:t>Warning</a:t>
                </a:r>
              </a:p>
              <a:p>
                <a:pPr lvl="0" indent="0" marL="1270000">
                  <a:buNone/>
                </a:pPr>
                <a:r>
                  <a:rPr sz="2000" b="1"/>
                  <a:t>✍️ One letter. Write it down, then argue it with your neighbour.</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892300"/>
            <a:ext cx="2781300" cy="1993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Partition Off a Picture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r</m:t>
                        </m:r>
                        <m:r>
                          <m:t>e</m:t>
                        </m:r>
                        <m:r>
                          <m:t>s</m:t>
                        </m:r>
                        <m:r>
                          <m:t>i</m:t>
                        </m:r>
                        <m:r>
                          <m:t>d</m:t>
                        </m:r>
                        <m:r>
                          <m:t>u</m:t>
                        </m:r>
                        <m:r>
                          <m:t>a</m:t>
                        </m:r>
                        <m:r>
                          <m:t>l</m:t>
                        </m:r>
                      </m:sub>
                    </m:sSub>
                  </m:oMath>
                </a14:m>
                <a:r>
                  <a:rPr sz="2000"/>
                  <a:t> is the scatter </a:t>
                </a:r>
                <a:r>
                  <a:rPr sz="2000" b="1"/>
                  <a:t>around the line</a:t>
                </a:r>
                <a:r>
                  <a:rPr sz="2000"/>
                  <a:t>, and the points in (b) sit farther off their line than those in (a).</a:t>
                </a:r>
              </a:p>
              <a:p>
                <a:pPr lvl="0" indent="0" marL="1270000">
                  <a:buNone/>
                </a:pPr>
                <a:r>
                  <a:rPr sz="2000" b="1"/>
                  <a:t>(a)</a:t>
                </a:r>
                <a:r>
                  <a:rPr sz="2000"/>
                  <a:t> is backwards: </a:t>
                </a:r>
                <a14:m>
                  <m:oMath xmlns:m="http://schemas.openxmlformats.org/officeDocument/2006/math">
                    <m:r>
                      <m:t>S</m:t>
                    </m:r>
                    <m:sSub>
                      <m:e>
                        <m:r>
                          <m:t>S</m:t>
                        </m:r>
                      </m:e>
                      <m:sub>
                        <m:r>
                          <m:t>r</m:t>
                        </m:r>
                        <m:r>
                          <m:t>e</m:t>
                        </m:r>
                        <m:r>
                          <m:t>g</m:t>
                        </m:r>
                        <m:r>
                          <m:t>r</m:t>
                        </m:r>
                        <m:r>
                          <m:t>e</m:t>
                        </m:r>
                        <m:r>
                          <m:t>s</m:t>
                        </m:r>
                        <m:r>
                          <m:t>s</m:t>
                        </m:r>
                        <m:r>
                          <m:t>i</m:t>
                        </m:r>
                        <m:r>
                          <m:t>o</m:t>
                        </m:r>
                        <m:r>
                          <m:t>n</m:t>
                        </m:r>
                      </m:sub>
                    </m:sSub>
                  </m:oMath>
                </a14:m>
                <a:r>
                  <a:rPr sz="2000"/>
                  <a:t> grows with how steeply the fitted line climbs, and (c) is steeper than (d).</a:t>
                </a:r>
              </a:p>
              <a:p>
                <a:pPr lvl="0" indent="0" marL="1270000">
                  <a:buNone/>
                </a:pPr>
                <a:r>
                  <a:rPr sz="2000" b="1"/>
                  <a:t>(c)</a:t>
                </a:r>
                <a:r>
                  <a:rPr sz="2000"/>
                  <a:t> is the trap — </a:t>
                </a:r>
                <a14:m>
                  <m:oMath xmlns:m="http://schemas.openxmlformats.org/officeDocument/2006/math">
                    <m:r>
                      <m:t>S</m:t>
                    </m:r>
                    <m:sSub>
                      <m:e>
                        <m:r>
                          <m:t>S</m:t>
                        </m:r>
                      </m:e>
                      <m:sub>
                        <m:r>
                          <m:t>t</m:t>
                        </m:r>
                        <m:r>
                          <m:t>o</m:t>
                        </m:r>
                        <m:r>
                          <m:t>t</m:t>
                        </m:r>
                        <m:r>
                          <m:t>a</m:t>
                        </m:r>
                        <m:r>
                          <m:t>l</m:t>
                        </m:r>
                      </m:sub>
                    </m:sSub>
                  </m:oMath>
                </a14:m>
                <a:r>
                  <a:rPr sz="2000"/>
                  <a:t> does not depend on the fit at all. It is the spread of Y around its own mean, and the line has nothing to do with it.</a:t>
                </a:r>
              </a:p>
              <a:p>
                <a:pPr lvl="0" indent="0" marL="1270000">
                  <a:buNone/>
                </a:pPr>
                <a:r>
                  <a:rPr sz="2000" b="1"/>
                  <a:t>(d)</a:t>
                </a:r>
                <a:r>
                  <a:rPr sz="2000"/>
                  <a:t> would require every point to sit exactly on the line.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three pictures to keep</a:t>
                </a:r>
              </a:p>
              <a:p>
                <a:pPr lvl="0"/>
                <a14:m>
                  <m:oMath xmlns:m="http://schemas.openxmlformats.org/officeDocument/2006/math">
                    <m:r>
                      <m:t>S</m:t>
                    </m:r>
                    <m:sSub>
                      <m:e>
                        <m:r>
                          <m:t>S</m:t>
                        </m:r>
                      </m:e>
                      <m:sub>
                        <m:r>
                          <m:t>t</m:t>
                        </m:r>
                        <m:r>
                          <m:t>o</m:t>
                        </m:r>
                        <m:r>
                          <m:t>t</m:t>
                        </m:r>
                        <m:r>
                          <m:t>a</m:t>
                        </m:r>
                        <m:r>
                          <m:t>l</m:t>
                        </m:r>
                      </m:sub>
                    </m:sSub>
                  </m:oMath>
                </a14:m>
                <a:r>
                  <a:rPr sz="2000"/>
                  <a:t> → distance from the </a:t>
                </a:r>
                <a:r>
                  <a:rPr sz="2000" b="1"/>
                  <a:t>flat mean line</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sz="2000"/>
                  <a:t> → how far the </a:t>
                </a:r>
                <a:r>
                  <a:rPr sz="2000" b="1"/>
                  <a:t>fitted line climbs away</a:t>
                </a:r>
                <a:r>
                  <a:rPr sz="2000"/>
                  <a:t> from that flat line</a:t>
                </a:r>
              </a:p>
              <a:p>
                <a:pPr lvl="0"/>
                <a14:m>
                  <m:oMath xmlns:m="http://schemas.openxmlformats.org/officeDocument/2006/math">
                    <m:r>
                      <m:t>S</m:t>
                    </m:r>
                    <m:sSub>
                      <m:e>
                        <m:r>
                          <m:t>S</m:t>
                        </m:r>
                      </m:e>
                      <m:sub>
                        <m:r>
                          <m:t>r</m:t>
                        </m:r>
                        <m:r>
                          <m:t>e</m:t>
                        </m:r>
                        <m:r>
                          <m:t>s</m:t>
                        </m:r>
                        <m:r>
                          <m:t>i</m:t>
                        </m:r>
                        <m:r>
                          <m:t>d</m:t>
                        </m:r>
                        <m:r>
                          <m:t>u</m:t>
                        </m:r>
                        <m:r>
                          <m:t>a</m:t>
                        </m:r>
                        <m:r>
                          <m:t>l</m:t>
                        </m:r>
                      </m:sub>
                    </m:sSub>
                  </m:oMath>
                </a14:m>
                <a:r>
                  <a:rPr sz="2000"/>
                  <a:t> → how far the </a:t>
                </a:r>
                <a:r>
                  <a:rPr sz="2000" b="1"/>
                  <a:t>points sit off</a:t>
                </a:r>
                <a:r>
                  <a:rPr sz="2000"/>
                  <a:t> the fitted line</a:t>
                </a:r>
              </a:p>
              <a:p>
                <a:pPr lvl="0" indent="0" marL="0">
                  <a:buNone/>
                </a:pPr>
                <a:r>
                  <a:rPr/>
                  <a:t>A fit is good when the line does a lot of climbing and the points stay close to it.</a:t>
                </a:r>
              </a:p>
            </p:txBody>
          </p:sp>
        </mc:Choice>
      </mc:AlternateContent>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 Three Sums of Squares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fitted_age &lt;- </a:t>
            </a:r>
            <a:r>
              <a:rPr>
                <a:solidFill>
                  <a:srgbClr val="4758AB"/>
                </a:solidFill>
                <a:latin typeface="Courier"/>
              </a:rPr>
              <a:t>predict</a:t>
            </a:r>
            <a:r>
              <a:rPr>
                <a:solidFill>
                  <a:srgbClr val="003B4F"/>
                </a:solidFill>
                <a:latin typeface="Courier"/>
              </a:rPr>
              <a:t>(lion_model)</a:t>
            </a:r>
            <a:br/>
            <a:r>
              <a:rPr>
                <a:solidFill>
                  <a:srgbClr val="003B4F"/>
                </a:solidFill>
                <a:latin typeface="Courier"/>
              </a:rPr>
              <a:t>mean_age   &lt;- </a:t>
            </a:r>
            <a:r>
              <a:rPr>
                <a:solidFill>
                  <a:srgbClr val="4758AB"/>
                </a:solidFill>
                <a:latin typeface="Courier"/>
              </a:rPr>
              <a:t>mean</a:t>
            </a:r>
            <a:r>
              <a:rPr>
                <a:solidFill>
                  <a:srgbClr val="003B4F"/>
                </a:solidFill>
                <a:latin typeface="Courier"/>
              </a:rPr>
              <a:t>(lion_df</a:t>
            </a:r>
            <a:r>
              <a:rPr>
                <a:solidFill>
                  <a:srgbClr val="5E5E5E"/>
                </a:solidFill>
                <a:latin typeface="Courier"/>
              </a:rPr>
              <a:t>$</a:t>
            </a:r>
            <a:r>
              <a:rPr>
                <a:solidFill>
                  <a:srgbClr val="003B4F"/>
                </a:solidFill>
                <a:latin typeface="Courier"/>
              </a:rPr>
              <a:t>age_years)</a:t>
            </a:r>
            <a:br/>
            <a:br/>
            <a:r>
              <a:rPr>
                <a:solidFill>
                  <a:srgbClr val="003B4F"/>
                </a:solidFill>
                <a:latin typeface="Courier"/>
              </a:rPr>
              <a:t>ss_total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ss_reg   &lt;- </a:t>
            </a:r>
            <a:r>
              <a:rPr>
                <a:solidFill>
                  <a:srgbClr val="4758AB"/>
                </a:solidFill>
                <a:latin typeface="Courier"/>
              </a:rPr>
              <a:t>sum</a:t>
            </a:r>
            <a:r>
              <a:rPr>
                <a:solidFill>
                  <a:srgbClr val="003B4F"/>
                </a:solidFill>
                <a:latin typeface="Courier"/>
              </a:rPr>
              <a:t>((fitted_age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ss_resid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fitted_age)</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regression =</a:t>
            </a:r>
            <a:r>
              <a:rPr>
                <a:solidFill>
                  <a:srgbClr val="003B4F"/>
                </a:solidFill>
                <a:latin typeface="Courier"/>
              </a:rPr>
              <a:t> ss_reg, </a:t>
            </a:r>
            <a:r>
              <a:rPr>
                <a:solidFill>
                  <a:srgbClr val="657422"/>
                </a:solidFill>
                <a:latin typeface="Courier"/>
              </a:rPr>
              <a:t>residual =</a:t>
            </a:r>
            <a:r>
              <a:rPr>
                <a:solidFill>
                  <a:srgbClr val="003B4F"/>
                </a:solidFill>
                <a:latin typeface="Courier"/>
              </a:rPr>
              <a:t> ss_resid)</a:t>
            </a:r>
          </a:p>
          <a:p>
            <a:pPr lvl="0" indent="0">
              <a:buNone/>
            </a:pPr>
            <a:r>
              <a:rPr>
                <a:latin typeface="Courier"/>
              </a:rPr>
              <a:t>     total regression   residual 
 222.08719  138.54398   83.54321 </a:t>
            </a:r>
          </a:p>
          <a:p>
            <a:pPr lvl="0" indent="0">
              <a:buNone/>
            </a:pPr>
            <a:r>
              <a:rPr>
                <a:solidFill>
                  <a:srgbClr val="003B4F"/>
                </a:solidFill>
                <a:latin typeface="Courier"/>
              </a:rPr>
              <a:t>ss_reg </a:t>
            </a:r>
            <a:r>
              <a:rPr>
                <a:solidFill>
                  <a:srgbClr val="5E5E5E"/>
                </a:solidFill>
                <a:latin typeface="Courier"/>
              </a:rPr>
              <a:t>+</a:t>
            </a:r>
            <a:r>
              <a:rPr>
                <a:solidFill>
                  <a:srgbClr val="003B4F"/>
                </a:solidFill>
                <a:latin typeface="Courier"/>
              </a:rPr>
              <a:t> ss_resid          </a:t>
            </a:r>
            <a:r>
              <a:rPr>
                <a:solidFill>
                  <a:srgbClr val="5E5E5E"/>
                </a:solidFill>
                <a:latin typeface="Courier"/>
              </a:rPr>
              <a:t># does it add back up?</a:t>
            </a:r>
          </a:p>
          <a:p>
            <a:pPr lvl="0" indent="0">
              <a:buNone/>
            </a:pPr>
            <a:r>
              <a:rPr>
                <a:latin typeface="Courier"/>
              </a:rPr>
              <a:t>[1] 222.0872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138.5 + 83.5 = 222.1</a:t>
                </a:r>
                <a:r>
                  <a:rPr/>
                  <a:t> — exactly.</a:t>
                </a:r>
              </a:p>
              <a:p>
                <a:pPr lvl="0" indent="0" marL="0">
                  <a:buNone/>
                </a:pPr>
                <a:r>
                  <a:rPr/>
                  <a:t>And the share the line accounts for:</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f>
                        <m:fPr>
                          <m:type m:val="bar"/>
                        </m:fPr>
                        <m:num>
                          <m:r>
                            <m:t>138.5</m:t>
                          </m:r>
                        </m:num>
                        <m:den>
                          <m:r>
                            <m:t>222.1</m:t>
                          </m:r>
                        </m:den>
                      </m:f>
                      <m:r>
                        <m:rPr>
                          <m:sty m:val="p"/>
                        </m:rPr>
                        <m:t>=</m:t>
                      </m:r>
                      <m:r>
                        <m:t>0.624</m:t>
                      </m:r>
                    </m:oMath>
                  </m:oMathPara>
                </a14:m>
              </a:p>
              <a:p>
                <a:pPr lvl="0" indent="0" marL="1270000">
                  <a:buNone/>
                </a:pPr>
                <a:r>
                  <a:rPr sz="2000" b="1"/>
                  <a:t>Important</a:t>
                </a:r>
              </a:p>
              <a:p>
                <a:pPr lvl="0" indent="0" marL="1270000">
                  <a:buNone/>
                </a:pPr>
                <a:r>
                  <a:rPr sz="2000" b="1"/>
                  <a:t>✅ This is where R² comes from</a:t>
                </a:r>
              </a:p>
              <a:p>
                <a:pPr lvl="0" indent="0" marL="1270000">
                  <a:buNone/>
                </a:pPr>
                <a:r>
                  <a:rPr sz="2000"/>
                  <a:t>R² is not a separate statistic. It is the </a:t>
                </a:r>
                <a:r>
                  <a:rPr sz="2000" b="1"/>
                  <a:t>regression sum of squares as a fraction of the total</a:t>
                </a:r>
                <a:r>
                  <a:rPr sz="2000"/>
                  <a:t> — and with one predictor it is exactly the correlation coefficient squared.</a:t>
                </a:r>
              </a:p>
            </p:txBody>
          </p:sp>
        </mc:Choice>
      </mc:AlternateContent>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Numbers, Straight from R</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anova</a:t>
            </a:r>
            <a:r>
              <a:rPr>
                <a:solidFill>
                  <a:srgbClr val="003B4F"/>
                </a:solidFill>
                <a:latin typeface="Courier"/>
              </a:rPr>
              <a:t>(lion_model)</a:t>
            </a:r>
          </a:p>
          <a:p>
            <a:pPr lvl="0" indent="0">
              <a:buNone/>
            </a:pPr>
            <a:r>
              <a:rPr>
                <a:latin typeface="Courier"/>
              </a:rPr>
              <a:t>Analysis of Variance Table
Response: age_years
                 Df  Sum Sq Mean Sq F value    Pr(&gt;F)    
proportion_black  1 138.544 138.544   49.75 7.677e-08 ***
Residuals        30  83.543   2.785                      
---
Signif. codes:  0 '***' 0.001 '**' 0.01 '*' 0.05 '.' 0.1 ' ' 1</a:t>
            </a:r>
          </a:p>
        </p:txBody>
      </p:sp>
      <p:sp>
        <p:nvSpPr>
          <p:cNvPr id="4" name="Content Placeholder 3"/>
          <p:cNvSpPr>
            <a:spLocks noGrp="1"/>
          </p:cNvSpPr>
          <p:nvPr>
            <p:ph idx="2" sz="half"/>
          </p:nvPr>
        </p:nvSpPr>
        <p:spPr/>
        <p:txBody>
          <a:bodyPr/>
          <a:lstStyle/>
          <a:p>
            <a:pPr lvl="0" indent="0" marL="0">
              <a:buNone/>
            </a:pPr>
            <a:r>
              <a:rPr/>
              <a:t>Every number in that table you have now built by hand:</a:t>
            </a:r>
          </a:p>
          <a:p>
            <a:pPr lvl="0"/>
            <a:r>
              <a:rPr b="1"/>
              <a:t>Sum Sq</a:t>
            </a:r>
            <a:r>
              <a:rPr/>
              <a:t> — the two sums of squares, 138.5 and 83.5</a:t>
            </a:r>
          </a:p>
          <a:p>
            <a:pPr lvl="0"/>
            <a:r>
              <a:rPr b="1"/>
              <a:t>Df</a:t>
            </a:r>
            <a:r>
              <a:rPr/>
              <a:t> — 1 for the predictor, n − 2 = 30 for the residual</a:t>
            </a:r>
          </a:p>
          <a:p>
            <a:pPr lvl="0"/>
            <a:r>
              <a:rPr b="1"/>
              <a:t>Mean Sq</a:t>
            </a:r>
            <a:r>
              <a:rPr/>
              <a:t> — Sum Sq ÷ Df</a:t>
            </a:r>
          </a:p>
          <a:p>
            <a:pPr lvl="0"/>
            <a:r>
              <a:rPr b="1"/>
              <a:t>F value</a:t>
            </a:r>
            <a:r>
              <a:rPr/>
              <a:t> — the ratio of those two mean squares</a:t>
            </a:r>
          </a:p>
          <a:p>
            <a:pPr lvl="0" indent="0" marL="1270000">
              <a:buNone/>
            </a:pPr>
            <a:r>
              <a:rPr sz="2000" b="1"/>
              <a:t>Note</a:t>
            </a:r>
          </a:p>
          <a:p>
            <a:pPr lvl="0" indent="0" marL="1270000">
              <a:buNone/>
            </a:pPr>
            <a:r>
              <a:rPr sz="2000" b="1"/>
              <a:t>This table has a shape, not a topic</a:t>
            </a:r>
          </a:p>
          <a:p>
            <a:pPr lvl="0" indent="0" marL="1270000">
              <a:buNone/>
            </a:pPr>
            <a:r>
              <a:rPr sz="2000"/>
              <a:t>The identical five columns show up for one-way ANOVA, two-way ANOVA, nested ANOVA and ANCOVA. Only the </a:t>
            </a:r>
            <a:r>
              <a:rPr sz="2000" b="1"/>
              <a:t>rows</a:t>
            </a:r>
            <a:r>
              <a:rPr sz="2000"/>
              <a:t> change.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 sum of squares keeps growing as you add data, so it cannot be compared across studies. Divide by degrees of freedom and you get a </a:t>
                </a:r>
                <a:r>
                  <a:rPr b="1"/>
                  <a:t>mean square</a:t>
                </a:r>
                <a:r>
                  <a:rPr/>
                  <a:t> — a variance, which does not grow with n:</a:t>
                </a:r>
              </a:p>
              <a:p>
                <a:pPr lvl="0" indent="0" marL="0">
                  <a:buNone/>
                </a:pPr>
                <a14:m>
                  <m:oMathPara xmlns:m="http://schemas.openxmlformats.org/officeDocument/2006/math">
                    <m:oMathParaPr>
                      <m:jc m:val="center"/>
                    </m:oMathParaPr>
                    <m:oMath>
                      <m:r>
                        <m:t>M</m:t>
                      </m:r>
                      <m:r>
                        <m:t>S</m:t>
                      </m:r>
                      <m:r>
                        <m:rPr>
                          <m:sty m:val="p"/>
                        </m:rPr>
                        <m:t>=</m:t>
                      </m:r>
                      <m:f>
                        <m:fPr>
                          <m:type m:val="bar"/>
                        </m:fPr>
                        <m:num>
                          <m:r>
                            <m:t>S</m:t>
                          </m:r>
                          <m:r>
                            <m:t>S</m:t>
                          </m:r>
                        </m:num>
                        <m:den>
                          <m:r>
                            <m:t>d</m:t>
                          </m:r>
                          <m:r>
                            <m:t>f</m:t>
                          </m:r>
                        </m:den>
                      </m:f>
                      <m:r>
                        <m:t>  </m:t>
                      </m:r>
                      <m:r>
                        <m:t>F</m:t>
                      </m:r>
                      <m:r>
                        <m:rPr>
                          <m:sty m:val="p"/>
                        </m:rPr>
                        <m:t>=</m:t>
                      </m:r>
                      <m:f>
                        <m:fPr>
                          <m:type m:val="bar"/>
                        </m:fPr>
                        <m:num>
                          <m:r>
                            <m:t>M</m:t>
                          </m:r>
                          <m:sSub>
                            <m:e>
                              <m:r>
                                <m:t>S</m:t>
                              </m:r>
                            </m:e>
                            <m:sub>
                              <m:r>
                                <m:t>r</m:t>
                              </m:r>
                              <m:r>
                                <m:t>e</m:t>
                              </m:r>
                              <m:r>
                                <m:t>g</m:t>
                              </m:r>
                              <m:r>
                                <m:t>r</m:t>
                              </m:r>
                              <m:r>
                                <m:t>e</m:t>
                              </m:r>
                              <m:r>
                                <m:t>s</m:t>
                              </m:r>
                              <m:r>
                                <m:t>s</m:t>
                              </m:r>
                              <m:r>
                                <m:t>i</m:t>
                              </m:r>
                              <m:r>
                                <m:t>o</m:t>
                              </m:r>
                              <m:r>
                                <m:t>n</m:t>
                              </m:r>
                            </m:sub>
                          </m:sSub>
                        </m:num>
                        <m:den>
                          <m:r>
                            <m:t>M</m:t>
                          </m:r>
                          <m:sSub>
                            <m:e>
                              <m:r>
                                <m:t>S</m:t>
                              </m:r>
                            </m:e>
                            <m:sub>
                              <m:r>
                                <m:t>r</m:t>
                              </m:r>
                              <m:r>
                                <m:t>e</m:t>
                              </m:r>
                              <m:r>
                                <m:t>s</m:t>
                              </m:r>
                              <m:r>
                                <m:t>i</m:t>
                              </m:r>
                              <m:r>
                                <m:t>d</m:t>
                              </m:r>
                              <m:r>
                                <m:t>u</m:t>
                              </m:r>
                              <m:r>
                                <m:t>a</m:t>
                              </m:r>
                              <m:r>
                                <m:t>l</m:t>
                              </m:r>
                            </m:sub>
                          </m:sSub>
                        </m:den>
                      </m:f>
                    </m:oMath>
                  </m:oMathPara>
                </a14:m>
              </a:p>
              <a:p>
                <a:pPr lvl="0"/>
                <a14:m>
                  <m:oMath xmlns:m="http://schemas.openxmlformats.org/officeDocument/2006/math">
                    <m:r>
                      <m:t>M</m:t>
                    </m:r>
                    <m:sSub>
                      <m:e>
                        <m:r>
                          <m:t>S</m:t>
                        </m:r>
                      </m:e>
                      <m:sub>
                        <m:r>
                          <m:t>r</m:t>
                        </m:r>
                        <m:r>
                          <m:t>e</m:t>
                        </m:r>
                        <m:r>
                          <m:t>s</m:t>
                        </m:r>
                        <m:r>
                          <m:t>i</m:t>
                        </m:r>
                        <m:r>
                          <m:t>d</m:t>
                        </m:r>
                        <m:r>
                          <m:t>u</m:t>
                        </m:r>
                        <m:r>
                          <m:t>a</m:t>
                        </m:r>
                        <m:r>
                          <m:t>l</m:t>
                        </m:r>
                      </m:sub>
                    </m:sSub>
                  </m:oMath>
                </a14:m>
                <a:r>
                  <a:rPr/>
                  <a:t> = 2.785 — estimates the background variance σ²</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 138.54 — estimates that </a:t>
                </a:r>
                <a:r>
                  <a:rPr b="1"/>
                  <a:t>same</a:t>
                </a:r>
                <a:r>
                  <a:rPr/>
                  <a:t> σ², </a:t>
                </a:r>
                <a:r>
                  <a:rPr i="1"/>
                  <a:t>plus</a:t>
                </a:r>
                <a:r>
                  <a:rPr/>
                  <a:t> whatever the X–Y relationship adds</a:t>
                </a:r>
              </a:p>
              <a:p>
                <a:pPr lvl="0"/>
                <a:r>
                  <a:rPr b="1"/>
                  <a:t>If the slope is truly zero, both estimate the same thing and F ≈ 1.</a:t>
                </a:r>
                <a:r>
                  <a:rPr/>
                  <a:t> Here F = </a:t>
                </a:r>
                <a:r>
                  <a:rPr b="1"/>
                  <a:t>49.75</a:t>
                </a:r>
              </a:p>
              <a:p>
                <a:pPr lvl="0" indent="0" marL="0">
                  <a:buNone/>
                </a:pPr>
                <a:r>
                  <a:rPr/>
                  <a:t>Sums of squares add up. </a:t>
                </a:r>
                <a:r>
                  <a:rPr b="1"/>
                  <a:t>Mean squares do not.</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438400"/>
            <a:ext cx="2781300" cy="914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Double the Sample Size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You repeat the lion study and come back with </a:t>
                </a:r>
                <a:r>
                  <a:rPr b="1"/>
                  <a:t>64 lions instead of 32</a:t>
                </a:r>
                <a:r>
                  <a:rPr/>
                  <a:t>. The relationship is identical — same slope, same scatter around the line.</a:t>
                </a:r>
              </a:p>
              <a:p>
                <a:pPr lvl="0" indent="0" marL="0">
                  <a:buNone/>
                </a:pPr>
                <a:r>
                  <a:rPr b="1"/>
                  <a:t>Compared with the original analysis, what happens?</a:t>
                </a:r>
              </a:p>
              <a:p>
                <a:pPr lvl="0" indent="0" marL="0">
                  <a:buNone/>
                </a:pPr>
                <a:r>
                  <a:rPr b="1"/>
                  <a:t>(a)</a:t>
                </a:r>
                <a:r>
                  <a:rPr/>
                  <a:t> </a:t>
                </a:r>
                <a14:m>
                  <m:oMath xmlns:m="http://schemas.openxmlformats.org/officeDocument/2006/math">
                    <m:r>
                      <m:t>S</m:t>
                    </m:r>
                    <m:sSub>
                      <m:e>
                        <m:r>
                          <m:t>S</m:t>
                        </m:r>
                      </m:e>
                      <m:sub>
                        <m:r>
                          <m:t>t</m:t>
                        </m:r>
                        <m:r>
                          <m:t>o</m:t>
                        </m:r>
                        <m:r>
                          <m:t>t</m:t>
                        </m:r>
                        <m:r>
                          <m:t>a</m:t>
                        </m:r>
                        <m:r>
                          <m:t>l</m:t>
                        </m:r>
                      </m:sub>
                    </m:sSub>
                  </m:oMath>
                </a14:m>
                <a:r>
                  <a:rPr/>
                  <a:t> roughly doubles, and </a:t>
                </a:r>
                <a14:m>
                  <m:oMath xmlns:m="http://schemas.openxmlformats.org/officeDocument/2006/math">
                    <m:r>
                      <m:t>M</m:t>
                    </m:r>
                    <m:sSub>
                      <m:e>
                        <m:r>
                          <m:t>S</m:t>
                        </m:r>
                      </m:e>
                      <m:sub>
                        <m:r>
                          <m:t>r</m:t>
                        </m:r>
                        <m:r>
                          <m:t>e</m:t>
                        </m:r>
                        <m:r>
                          <m:t>s</m:t>
                        </m:r>
                        <m:r>
                          <m:t>i</m:t>
                        </m:r>
                        <m:r>
                          <m:t>d</m:t>
                        </m:r>
                        <m:r>
                          <m:t>u</m:t>
                        </m:r>
                        <m:r>
                          <m:t>a</m:t>
                        </m:r>
                        <m:r>
                          <m:t>l</m:t>
                        </m:r>
                      </m:sub>
                    </m:sSub>
                  </m:oMath>
                </a14:m>
                <a:r>
                  <a:rPr/>
                  <a:t> roughly doubles with it</a:t>
                </a:r>
              </a:p>
              <a:p>
                <a:pPr lvl="0" indent="0" marL="0">
                  <a:buNone/>
                </a:pPr>
                <a:r>
                  <a:rPr b="1"/>
                  <a:t>(b)</a:t>
                </a:r>
                <a:r>
                  <a:rPr/>
                  <a:t> </a:t>
                </a:r>
                <a14:m>
                  <m:oMath xmlns:m="http://schemas.openxmlformats.org/officeDocument/2006/math">
                    <m:r>
                      <m:t>S</m:t>
                    </m:r>
                    <m:sSub>
                      <m:e>
                        <m:r>
                          <m:t>S</m:t>
                        </m:r>
                      </m:e>
                      <m:sub>
                        <m:r>
                          <m:t>t</m:t>
                        </m:r>
                        <m:r>
                          <m:t>o</m:t>
                        </m:r>
                        <m:r>
                          <m:t>t</m:t>
                        </m:r>
                        <m:r>
                          <m:t>a</m:t>
                        </m:r>
                        <m:r>
                          <m:t>l</m:t>
                        </m:r>
                      </m:sub>
                    </m:sSub>
                  </m:oMath>
                </a14:m>
                <a:r>
                  <a:rPr/>
                  <a:t> roughly doubles, but </a:t>
                </a:r>
                <a14:m>
                  <m:oMath xmlns:m="http://schemas.openxmlformats.org/officeDocument/2006/math">
                    <m:r>
                      <m:t>M</m:t>
                    </m:r>
                    <m:sSub>
                      <m:e>
                        <m:r>
                          <m:t>S</m:t>
                        </m:r>
                      </m:e>
                      <m:sub>
                        <m:r>
                          <m:t>r</m:t>
                        </m:r>
                        <m:r>
                          <m:t>e</m:t>
                        </m:r>
                        <m:r>
                          <m:t>s</m:t>
                        </m:r>
                        <m:r>
                          <m:t>i</m:t>
                        </m:r>
                        <m:r>
                          <m:t>d</m:t>
                        </m:r>
                        <m:r>
                          <m:t>u</m:t>
                        </m:r>
                        <m:r>
                          <m:t>a</m:t>
                        </m:r>
                        <m:r>
                          <m:t>l</m:t>
                        </m:r>
                      </m:sub>
                    </m:sSub>
                  </m:oMath>
                </a14:m>
                <a:r>
                  <a:rPr/>
                  <a:t> stays about the same</a:t>
                </a:r>
              </a:p>
              <a:p>
                <a:pPr lvl="0" indent="0" marL="0">
                  <a:buNone/>
                </a:pPr>
                <a:r>
                  <a:rPr b="1"/>
                  <a:t>(c)</a:t>
                </a:r>
                <a:r>
                  <a:rPr/>
                  <a:t> Both stay about the same — doubling n changes neither</a:t>
                </a:r>
              </a:p>
              <a:p>
                <a:pPr lvl="0" indent="0" marL="0">
                  <a:buNone/>
                </a:pPr>
                <a:r>
                  <a:rPr b="1"/>
                  <a:t>(d)</a:t>
                </a:r>
                <a:r>
                  <a:rPr/>
                  <a:t> </a:t>
                </a:r>
                <a14:m>
                  <m:oMath xmlns:m="http://schemas.openxmlformats.org/officeDocument/2006/math">
                    <m:r>
                      <m:t>S</m:t>
                    </m:r>
                    <m:sSub>
                      <m:e>
                        <m:r>
                          <m:t>S</m:t>
                        </m:r>
                      </m:e>
                      <m:sub>
                        <m:r>
                          <m:t>t</m:t>
                        </m:r>
                        <m:r>
                          <m:t>o</m:t>
                        </m:r>
                        <m:r>
                          <m:t>t</m:t>
                        </m:r>
                        <m:r>
                          <m:t>a</m:t>
                        </m:r>
                        <m:r>
                          <m:t>l</m:t>
                        </m:r>
                      </m:sub>
                    </m:sSub>
                  </m:oMath>
                </a14:m>
                <a:r>
                  <a:rPr/>
                  <a:t> stays about the same and </a:t>
                </a:r>
                <a14:m>
                  <m:oMath xmlns:m="http://schemas.openxmlformats.org/officeDocument/2006/math">
                    <m:r>
                      <m:t>M</m:t>
                    </m:r>
                    <m:sSub>
                      <m:e>
                        <m:r>
                          <m:t>S</m:t>
                        </m:r>
                      </m:e>
                      <m:sub>
                        <m:r>
                          <m:t>r</m:t>
                        </m:r>
                        <m:r>
                          <m:t>e</m:t>
                        </m:r>
                        <m:r>
                          <m:t>s</m:t>
                        </m:r>
                        <m:r>
                          <m:t>i</m:t>
                        </m:r>
                        <m:r>
                          <m:t>d</m:t>
                        </m:r>
                        <m:r>
                          <m:t>u</m:t>
                        </m:r>
                        <m:r>
                          <m:t>a</m:t>
                        </m:r>
                        <m:r>
                          <m:t>l</m:t>
                        </m:r>
                      </m:sub>
                    </m:sSub>
                  </m:oMath>
                </a14:m>
                <a:r>
                  <a:rPr/>
                  <a:t> halves</a:t>
                </a:r>
              </a:p>
              <a:p>
                <a:pPr lvl="0" indent="0" marL="1270000">
                  <a:buNone/>
                </a:pPr>
                <a:r>
                  <a:rPr sz="2000" b="1"/>
                  <a:t>Warning</a:t>
                </a:r>
              </a:p>
              <a:p>
                <a:pPr lvl="0" indent="0" marL="1270000">
                  <a:buNone/>
                </a:pPr>
                <a:r>
                  <a:rPr sz="2000" b="1"/>
                  <a:t>✍️ Write your letter down. This one decides whether you can read the table.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of these is a total, and which is an average?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Mean Squares Exist At All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t</m:t>
                        </m:r>
                        <m:r>
                          <m:t>o</m:t>
                        </m:r>
                        <m:r>
                          <m:t>t</m:t>
                        </m:r>
                        <m:r>
                          <m:t>a</m:t>
                        </m:r>
                        <m:r>
                          <m:t>l</m:t>
                        </m:r>
                      </m:sub>
                    </m:sSub>
                  </m:oMath>
                </a14:m>
                <a:r>
                  <a:rPr sz="2000"/>
                  <a:t> is a </a:t>
                </a:r>
                <a:r>
                  <a:rPr sz="2000" b="1"/>
                  <a:t>sum</a:t>
                </a:r>
                <a:r>
                  <a:rPr sz="2000"/>
                  <a:t> over every observation, so twice the data is roughly twice the sum. </a:t>
                </a:r>
                <a14:m>
                  <m:oMath xmlns:m="http://schemas.openxmlformats.org/officeDocument/2006/math">
                    <m:r>
                      <m:t>M</m:t>
                    </m:r>
                    <m:sSub>
                      <m:e>
                        <m:r>
                          <m:t>S</m:t>
                        </m:r>
                      </m:e>
                      <m:sub>
                        <m:r>
                          <m:t>r</m:t>
                        </m:r>
                        <m:r>
                          <m:t>e</m:t>
                        </m:r>
                        <m:r>
                          <m:t>s</m:t>
                        </m:r>
                        <m:r>
                          <m:t>i</m:t>
                        </m:r>
                        <m:r>
                          <m:t>d</m:t>
                        </m:r>
                        <m:r>
                          <m:t>u</m:t>
                        </m:r>
                        <m:r>
                          <m:t>a</m:t>
                        </m:r>
                        <m:r>
                          <m:t>l</m:t>
                        </m:r>
                      </m:sub>
                    </m:sSub>
                  </m:oMath>
                </a14:m>
                <a:r>
                  <a:rPr sz="2000"/>
                  <a:t> is that sum </a:t>
                </a:r>
                <a:r>
                  <a:rPr sz="2000" b="1"/>
                  <a:t>divided by its degrees of freedom</a:t>
                </a:r>
                <a:r>
                  <a:rPr sz="2000"/>
                  <a:t> — an average squared deviation — so it estimates the same σ² no matter how many lions you measure.</a:t>
                </a:r>
              </a:p>
              <a:p>
                <a:pPr lvl="0" indent="0" marL="1270000">
                  <a:buNone/>
                </a:pPr>
                <a:r>
                  <a:rPr sz="2000"/>
                  <a:t>That is exactly why the table converts sums of squares into mean squares before testing anything. You cannot compare two sums built from different amounts of data; you can compare two variances.</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What doubling n actually buys</a:t>
            </a:r>
          </a:p>
          <a:p>
            <a:pPr lvl="0" indent="0" marL="1270000">
              <a:buNone/>
            </a:pPr>
            <a:r>
              <a:rPr sz="2000"/>
              <a:t>σ² does not change, but the </a:t>
            </a:r>
            <a:r>
              <a:rPr sz="2000" b="1"/>
              <a:t>standard error of the slope</a:t>
            </a:r>
            <a:r>
              <a:rPr sz="2000"/>
              <a:t> shrinks with √n — so F rises and the confidence band tightens.</a:t>
            </a:r>
          </a:p>
          <a:p>
            <a:pPr lvl="0" indent="0" marL="1270000">
              <a:buNone/>
            </a:pPr>
            <a:r>
              <a:rPr sz="2000"/>
              <a:t>More data does not reduce the scatter in nature. It reduces your uncertainty about the line running through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Bridge · One Table, Every Model From Here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For the lion model, all of these are </a:t>
                </a:r>
                <a:r>
                  <a:rPr b="1"/>
                  <a:t>the same test</a:t>
                </a:r>
                <a:r>
                  <a:rPr/>
                  <a:t>:</a:t>
                </a:r>
              </a:p>
              <a:p>
                <a:pPr lvl="0" indent="0" marL="0">
                  <a:buNone/>
                </a:pPr>
                <a:r>
                  <a:rPr b="1"/>
                  <a:t>t² = F.</a:t>
                </a:r>
                <a:r>
                  <a:rPr/>
                  <a:t> The t-test on a slope and the F-test in the ANOVA table are one test asked two ways — and </a:t>
                </a:r>
                <a14:m>
                  <m:oMath xmlns:m="http://schemas.openxmlformats.org/officeDocument/2006/math">
                    <m:sSup>
                      <m:e>
                        <m:r>
                          <m:t>r</m:t>
                        </m:r>
                      </m:e>
                      <m:sup>
                        <m:r>
                          <m:t>2</m:t>
                        </m:r>
                      </m:sup>
                    </m:sSup>
                    <m:r>
                      <m:rPr>
                        <m:sty m:val="p"/>
                      </m:rPr>
                      <m:t>=</m:t>
                    </m:r>
                    <m:r>
                      <m:t>S</m:t>
                    </m:r>
                    <m:sSub>
                      <m:e>
                        <m:r>
                          <m:t>S</m:t>
                        </m:r>
                      </m:e>
                      <m:sub>
                        <m:r>
                          <m:t>r</m:t>
                        </m:r>
                        <m:r>
                          <m:t>e</m:t>
                        </m:r>
                        <m:r>
                          <m:t>g</m:t>
                        </m:r>
                      </m:sub>
                    </m:sSub>
                    <m:r>
                      <m:rPr>
                        <m:sty m:val="p"/>
                      </m:rPr>
                      <m:t>/</m:t>
                    </m:r>
                    <m:r>
                      <m:t>S</m:t>
                    </m:r>
                    <m:sSub>
                      <m:e>
                        <m:r>
                          <m:t>S</m:t>
                        </m:r>
                      </m:e>
                      <m:sub>
                        <m:r>
                          <m:t>t</m:t>
                        </m:r>
                        <m:r>
                          <m:t>o</m:t>
                        </m:r>
                        <m:r>
                          <m:t>t</m:t>
                        </m:r>
                        <m:r>
                          <m:t>a</m:t>
                        </m:r>
                        <m:r>
                          <m:t>l</m:t>
                        </m:r>
                      </m:sub>
                    </m:sSub>
                  </m:oMath>
                </a14:m>
                <a:r>
                  <a:rPr/>
                  <a:t> ties both back to the correlation half of this lecture.</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is the most important slide today</a:t>
            </a:r>
          </a:p>
          <a:p>
            <a:pPr lvl="0" indent="0" marL="1270000">
              <a:buNone/>
            </a:pPr>
            <a:r>
              <a:rPr sz="2000"/>
              <a:t>Every analysis for the rest of the course is this same partition with more rows:</a:t>
            </a:r>
          </a:p>
          <a:p>
            <a:pPr lvl="0"/>
            <a:r>
              <a:rPr sz="2000" b="1"/>
              <a:t>One-way ANOVA</a:t>
            </a:r>
            <a:r>
              <a:rPr sz="2000"/>
              <a:t> — groups instead of a slope</a:t>
            </a:r>
          </a:p>
          <a:p>
            <a:pPr lvl="0"/>
            <a:r>
              <a:rPr sz="2000" b="1"/>
              <a:t>Two-way ANOVA</a:t>
            </a:r>
            <a:r>
              <a:rPr sz="2000"/>
              <a:t> — a row per factor, plus interaction</a:t>
            </a:r>
          </a:p>
          <a:p>
            <a:pPr lvl="0"/>
            <a:r>
              <a:rPr sz="2000" b="1"/>
              <a:t>Nested ANOVA</a:t>
            </a:r>
            <a:r>
              <a:rPr sz="2000"/>
              <a:t> — a row per level of nesting</a:t>
            </a:r>
          </a:p>
          <a:p>
            <a:pPr lvl="0"/>
            <a:r>
              <a:rPr sz="2000" b="1"/>
              <a:t>ANCOVA</a:t>
            </a:r>
            <a:r>
              <a:rPr sz="2000"/>
              <a:t> — a slope row </a:t>
            </a:r>
            <a:r>
              <a:rPr sz="2000" i="1"/>
              <a:t>and</a:t>
            </a:r>
            <a:r>
              <a:rPr sz="2000"/>
              <a:t> a group row</a:t>
            </a:r>
          </a:p>
          <a:p>
            <a:pPr lvl="0" indent="0" marL="1270000">
              <a:buNone/>
            </a:pPr>
            <a:r>
              <a:rPr sz="2000"/>
              <a:t>Learn to read this table once and you can read all of them.</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Regression Assumptions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Simple linear regression assumes:</a:t>
                </a:r>
              </a:p>
              <a:p>
                <a:pPr lvl="0" indent="-342900" marL="342900">
                  <a:buAutoNum type="arabicPeriod"/>
                </a:pPr>
                <a:r>
                  <a:rPr b="1"/>
                  <a:t>Linearity</a:t>
                </a:r>
                <a:r>
                  <a:rPr/>
                  <a:t> — the true relationship is a straight line</a:t>
                </a:r>
              </a:p>
              <a:p>
                <a:pPr lvl="0" indent="-342900" marL="342900">
                  <a:buAutoNum type="arabicPeriod"/>
                </a:pPr>
                <a:r>
                  <a:rPr b="1"/>
                  <a:t>Independence</a:t>
                </a:r>
                <a:r>
                  <a:rPr/>
                  <a:t> — observations do not depend on each other</a:t>
                </a:r>
              </a:p>
              <a:p>
                <a:pPr lvl="0" indent="-342900" marL="342900">
                  <a:buAutoNum type="arabicPeriod"/>
                </a:pPr>
                <a:r>
                  <a:rPr b="1"/>
                  <a:t>Homoscedasticity</a:t>
                </a:r>
                <a:r>
                  <a:rPr/>
                  <a:t> — equal scatter at every value of X</a:t>
                </a:r>
              </a:p>
              <a:p>
                <a:pPr lvl="0" indent="-342900" marL="342900">
                  <a:buAutoNum type="arabicPeriod"/>
                </a:pPr>
                <a:r>
                  <a:rPr b="1"/>
                  <a:t>Normality</a:t>
                </a:r>
                <a:r>
                  <a:rPr/>
                  <a:t> — the residuals are normally distributed</a:t>
                </a:r>
              </a:p>
              <a:p>
                <a:pPr lvl="0" indent="0" marL="0">
                  <a:buNone/>
                </a:pPr>
                <a:r>
                  <a:rPr/>
                  <a:t>Stated formally: the error </a:t>
                </a:r>
                <a14:m>
                  <m:oMath xmlns:m="http://schemas.openxmlformats.org/officeDocument/2006/math">
                    <m:sSub>
                      <m:e>
                        <m:r>
                          <m:t>ε</m:t>
                        </m:r>
                      </m:e>
                      <m:sub>
                        <m:r>
                          <m:t>i</m:t>
                        </m:r>
                      </m:sub>
                    </m:sSub>
                  </m:oMath>
                </a14:m>
                <a:r>
                  <a:rPr/>
                  <a:t> is normal, with a mean of 0 and the </a:t>
                </a:r>
                <a:r>
                  <a:rPr b="1"/>
                  <a:t>same variance</a:t>
                </a:r>
                <a:r>
                  <a:rPr/>
                  <a:t>, at every value of x.</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2108200"/>
            <a:ext cx="2781300" cy="1587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Every Check Is About the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uses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by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r>
                  <a:rPr/>
                  <a:t> — the same red segment you have seen on every lion plot today, and the same quantity that got squared and summed to build </a:t>
                </a:r>
                <a14:m>
                  <m:oMath xmlns:m="http://schemas.openxmlformats.org/officeDocument/2006/math">
                    <m:r>
                      <m:t>S</m:t>
                    </m:r>
                    <m:sSub>
                      <m:e>
                        <m:r>
                          <m:t>S</m:t>
                        </m:r>
                      </m:e>
                      <m:sub>
                        <m:r>
                          <m:t>r</m:t>
                        </m:r>
                        <m:r>
                          <m:t>e</m:t>
                        </m:r>
                        <m:r>
                          <m:t>s</m:t>
                        </m:r>
                        <m:r>
                          <m:t>i</m:t>
                        </m:r>
                        <m:r>
                          <m:t>d</m:t>
                        </m:r>
                        <m:r>
                          <m:t>u</m:t>
                        </m:r>
                        <m:r>
                          <m:t>a</m:t>
                        </m:r>
                        <m:r>
                          <m:t>l</m:t>
                        </m:r>
                      </m:sub>
                    </m:sSub>
                  </m:oMath>
                </a14:m>
                <a:r>
                  <a:rPr/>
                  <a:t>.</a:t>
                </a:r>
              </a:p>
              <a:p>
                <a:pPr lvl="0" indent="0" marL="0">
                  <a:buNone/>
                </a:pPr>
                <a:r>
                  <a:rPr/>
                  <a:t>Least squares already made these as small as possible. The diagnostics ask whether what is left over looks like random noise.</a:t>
                </a:r>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930400"/>
            <a:ext cx="2781300" cy="1943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trend line. A U-shape or an arch means a straight line is the wrong shape for these data — the exact failure Panel B showed back in the correlation half.</a:t>
            </a:r>
          </a:p>
          <a:p>
            <a:pPr lvl="0" indent="0" marL="0">
              <a:buNone/>
            </a:pPr>
            <a:r>
              <a:rPr/>
              <a:t>The plot doubles as a </a:t>
            </a:r>
            <a:r>
              <a:rPr b="1"/>
              <a:t>homoscedasticity</a:t>
            </a:r>
            <a:r>
              <a:rPr/>
              <a:t> check: if the cloud fans out or funnels in from left to right, the variance is not constant.</a:t>
            </a:r>
          </a:p>
        </p:txBody>
      </p:sp>
      <p:pic>
        <p:nvPicPr>
          <p:cNvPr descr="correlation_linear_models_lecture_files/figure-pptx/correlation-linear-models-2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The QQ plot compares your residuals with what perfectly normal residuals would look like.</a:t>
            </a:r>
          </a:p>
          <a:p>
            <a:pPr lvl="0" indent="0" marL="0">
              <a:buNone/>
            </a:pPr>
            <a:r>
              <a:rPr b="1"/>
              <a:t>What you want:</a:t>
            </a:r>
            <a:r>
              <a:rPr/>
              <a:t> points hugging the diagonal.</a:t>
            </a:r>
          </a:p>
          <a:p>
            <a:pPr lvl="0" indent="0" marL="0">
              <a:buNone/>
            </a:pPr>
            <a:r>
              <a:rPr b="1"/>
              <a:t>What is a problem:</a:t>
            </a:r>
            <a:r>
              <a:rPr/>
              <a:t> systematic curvature, or points peeling away at the ends. Tails are where non-normality shows up first, and tails are what p-values depend on.</a:t>
            </a:r>
          </a:p>
          <a:p>
            <a:pPr lvl="0" indent="0" marL="0">
              <a:buNone/>
            </a:pPr>
            <a:r>
              <a:rPr/>
              <a:t>Note we check the residuals, </a:t>
            </a:r>
            <a:r>
              <a:rPr b="1"/>
              <a:t>not</a:t>
            </a:r>
            <a:r>
              <a:rPr/>
              <a:t> </a:t>
            </a:r>
            <a:r>
              <a:rPr>
                <a:latin typeface="Courier"/>
              </a:rPr>
              <a:t>age_years</a:t>
            </a:r>
            <a:r>
              <a:rPr/>
              <a:t> itself. The raw ages are right-skewed, and that is allowed. It is the residuals that have to behave.</a:t>
            </a:r>
          </a:p>
        </p:txBody>
      </p:sp>
      <p:pic>
        <p:nvPicPr>
          <p:cNvPr descr="correlation_linear_models_lecture_files/figure-pptx/correlation-linear-models-2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a:buNone/>
            </a:pPr>
            <a:r>
              <a:rPr>
                <a:latin typeface="Courier"/>
              </a:rPr>
              <a:t>
    Shapiro-Wilk normality test
data:  residuals(lion_model)
W = 0.93879, p-value = 0.0692</a:t>
            </a:r>
          </a:p>
          <a:p>
            <a:pPr lvl="0" indent="0" marL="0">
              <a:buNone/>
            </a:pPr>
            <a:r>
              <a:rPr b="1">
                <a:latin typeface="Courier"/>
              </a:rPr>
              <a:t>residuals(model)</a:t>
            </a:r>
            <a:r>
              <a:rPr/>
              <a:t> — not </a:t>
            </a:r>
            <a:r>
              <a:rPr>
                <a:latin typeface="Courier"/>
              </a:rPr>
              <a:t>lion_df$age_years</a:t>
            </a:r>
            <a:r>
              <a:rPr/>
              <a:t>. Testing the raw response is a different, and usually wrong, question.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H₀ is “the residuals ARE normal”</a:t>
            </a:r>
          </a:p>
          <a:p>
            <a:pPr lvl="0" indent="0" marL="1270000">
              <a:buNone/>
            </a:pPr>
            <a:r>
              <a:rPr sz="2000"/>
              <a:t>So a </a:t>
            </a:r>
            <a:r>
              <a:rPr sz="2000" b="1"/>
              <a:t>large</a:t>
            </a:r>
            <a:r>
              <a:rPr sz="2000"/>
              <a:t> p-value is the good outcome.</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real problem; at large n it flags departures far too small to matter. Read the QQ plot first and use the test to support it — not to replace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Violations Actually Look Like</a:t>
            </a:r>
          </a:p>
        </p:txBody>
      </p:sp>
      <p:sp>
        <p:nvSpPr>
          <p:cNvPr id="3" name="Content Placeholder 2"/>
          <p:cNvSpPr>
            <a:spLocks noGrp="1"/>
          </p:cNvSpPr>
          <p:nvPr>
            <p:ph idx="1" sz="half"/>
          </p:nvPr>
        </p:nvSpPr>
        <p:spPr/>
        <p:txBody>
          <a:bodyPr/>
          <a:lstStyle/>
          <a:p>
            <a:pPr lvl="0" indent="0" marL="0">
              <a:buNone/>
            </a:pPr>
            <a:r>
              <a:rPr/>
              <a:t>When an assumption fails:</a:t>
            </a:r>
          </a:p>
          <a:p>
            <a:pPr lvl="0" indent="-342900" marL="342900">
              <a:buAutoNum type="arabicPeriod"/>
            </a:pPr>
            <a:r>
              <a:rPr b="1"/>
              <a:t>Transform</a:t>
            </a:r>
            <a:r>
              <a:rPr/>
              <a:t> one or both variables (W&amp;S §17.6) — a log on a curved or fanning relationship fixes both problems more often than not</a:t>
            </a:r>
          </a:p>
          <a:p>
            <a:pPr lvl="0" indent="-342900" marL="342900">
              <a:buAutoNum type="arabicPeriod"/>
            </a:pPr>
            <a:r>
              <a:rPr b="1"/>
              <a:t>Weighted least squares</a:t>
            </a:r>
            <a:r>
              <a:rPr/>
              <a:t> for heteroscedasticity</a:t>
            </a:r>
          </a:p>
          <a:p>
            <a:pPr lvl="0" indent="-342900" marL="342900">
              <a:buAutoNum type="arabicPeriod"/>
            </a:pPr>
            <a:r>
              <a:rPr/>
              <a:t>A </a:t>
            </a:r>
            <a:r>
              <a:rPr b="1"/>
              <a:t>non-linear model</a:t>
            </a:r>
            <a:r>
              <a:rPr/>
              <a:t> (§17.8), or a GLM in Week 11</a:t>
            </a:r>
          </a:p>
        </p:txBody>
      </p:sp>
      <p:pic>
        <p:nvPicPr>
          <p:cNvPr descr="correlation_linear_models_lecture_files/figure-pptx/correlation-linear-models-29-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One Island</a:t>
            </a:r>
          </a:p>
        </p:txBody>
      </p:sp>
      <p:sp>
        <p:nvSpPr>
          <p:cNvPr id="3" name="Content Placeholder 2"/>
          <p:cNvSpPr>
            <a:spLocks noGrp="1"/>
          </p:cNvSpPr>
          <p:nvPr>
            <p:ph idx="1" sz="half"/>
          </p:nvPr>
        </p:nvSpPr>
        <p:spPr/>
        <p:txBody>
          <a:bodyPr/>
          <a:lstStyle/>
          <a:p>
            <a:pPr lvl="0" indent="0" marL="0">
              <a:buNone/>
            </a:pPr>
            <a:r>
              <a:rPr/>
              <a:t>Gotelli &amp; Ellison’s Galápagos data: </a:t>
            </a:r>
            <a:r>
              <a:rPr b="1"/>
              <a:t>17 islands</a:t>
            </a:r>
            <a:r>
              <a:rPr/>
              <a:t>, plant species richness against island area, both log-transformed. The fit is solid — R² = 0.585, p = 3.50e-04.</a:t>
            </a:r>
          </a:p>
          <a:p>
            <a:pPr lvl="0" indent="0" marL="0">
              <a:buNone/>
            </a:pPr>
            <a:r>
              <a:rPr/>
              <a:t>Now </a:t>
            </a:r>
            <a:r>
              <a:rPr b="1"/>
              <a:t>one</a:t>
            </a:r>
            <a:r>
              <a:rPr/>
              <a:t> more point arrives: a large island reported with very few species (red).</a:t>
            </a:r>
          </a:p>
          <a:p>
            <a:pPr lvl="0" indent="0" marL="0">
              <a:buNone/>
            </a:pPr>
            <a:r>
              <a:rPr b="1"/>
              <a:t>What does that single point do?</a:t>
            </a:r>
          </a:p>
          <a:p>
            <a:pPr lvl="0" indent="0" marL="0">
              <a:buNone/>
            </a:pPr>
            <a:r>
              <a:rPr b="1"/>
              <a:t>(a)</a:t>
            </a:r>
            <a:r>
              <a:rPr/>
              <a:t> Very little — one point in 18 cannot matter much</a:t>
            </a:r>
          </a:p>
          <a:p>
            <a:pPr lvl="0" indent="0" marL="0">
              <a:buNone/>
            </a:pPr>
            <a:r>
              <a:rPr b="1"/>
              <a:t>(b)</a:t>
            </a:r>
            <a:r>
              <a:rPr/>
              <a:t> It raises R², because the range of X just got wider</a:t>
            </a:r>
          </a:p>
          <a:p>
            <a:pPr lvl="0" indent="0" marL="0">
              <a:buNone/>
            </a:pPr>
            <a:r>
              <a:rPr b="1"/>
              <a:t>(c)</a:t>
            </a:r>
            <a:r>
              <a:rPr/>
              <a:t> It roughly </a:t>
            </a:r>
            <a:r>
              <a:rPr b="1"/>
              <a:t>halves</a:t>
            </a:r>
            <a:r>
              <a:rPr/>
              <a:t> R² and pushes p to the edge of significance</a:t>
            </a:r>
          </a:p>
          <a:p>
            <a:pPr lvl="0" indent="0" marL="0">
              <a:buNone/>
            </a:pPr>
            <a:r>
              <a:rPr b="1"/>
              <a:t>(d)</a:t>
            </a:r>
            <a:r>
              <a:rPr/>
              <a:t> It can change R² but not the slope</a:t>
            </a:r>
          </a:p>
          <a:p>
            <a:pPr lvl="0" indent="0" marL="1270000">
              <a:buNone/>
            </a:pPr>
            <a:r>
              <a:rPr sz="2000" b="1"/>
              <a:t>Warning</a:t>
            </a:r>
          </a:p>
          <a:p>
            <a:pPr lvl="0" indent="0" marL="1270000">
              <a:buNone/>
            </a:pPr>
            <a:r>
              <a:rPr sz="2000" b="1"/>
              <a:t>✍️ One letter, before the next slide.</a:t>
            </a:r>
          </a:p>
        </p:txBody>
      </p:sp>
      <p:pic>
        <p:nvPicPr>
          <p:cNvPr descr="correlation_linear_models_lecture_files/figure-pptx/correlation-linear-models-30-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One Point Did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galap_plot &lt;- galap_df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4758AB"/>
                </a:solidFill>
                <a:latin typeface="Courier"/>
              </a:rPr>
              <a:t>log10</a:t>
            </a:r>
            <a:r>
              <a:rPr>
                <a:solidFill>
                  <a:srgbClr val="003B4F"/>
                </a:solidFill>
                <a:latin typeface="Courier"/>
              </a:rPr>
              <a:t>(area_km2),</a:t>
            </a:r>
            <a:b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4758AB"/>
                </a:solidFill>
                <a:latin typeface="Courier"/>
              </a:rPr>
              <a:t>log10</a:t>
            </a:r>
            <a:r>
              <a:rPr>
                <a:solidFill>
                  <a:srgbClr val="003B4F"/>
                </a:solidFill>
                <a:latin typeface="Courier"/>
              </a:rPr>
              <a:t>(n_species))</a:t>
            </a:r>
            <a:br/>
            <a:br/>
            <a:r>
              <a:rPr>
                <a:solidFill>
                  <a:srgbClr val="5E5E5E"/>
                </a:solidFill>
                <a:latin typeface="Courier"/>
              </a:rPr>
              <a:t># a big island reported with very few species</a:t>
            </a:r>
            <a:br/>
            <a:r>
              <a:rPr>
                <a:solidFill>
                  <a:srgbClr val="003B4F"/>
                </a:solidFill>
                <a:latin typeface="Courier"/>
              </a:rPr>
              <a:t>galap_bad &lt;- galap_plot </a:t>
            </a:r>
            <a:r>
              <a:rPr>
                <a:solidFill>
                  <a:srgbClr val="5E5E5E"/>
                </a:solidFill>
                <a:latin typeface="Courier"/>
              </a:rPr>
              <a:t>%&gt;%</a:t>
            </a:r>
            <a:br/>
            <a:r>
              <a:rPr>
                <a:solidFill>
                  <a:srgbClr val="003B4F"/>
                </a:solidFill>
                <a:latin typeface="Courier"/>
              </a:rPr>
              <a:t>  </a:t>
            </a:r>
            <a:r>
              <a:rPr>
                <a:solidFill>
                  <a:srgbClr val="4758AB"/>
                </a:solidFill>
                <a:latin typeface="Courier"/>
              </a:rPr>
              <a:t>add_row</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AD0000"/>
                </a:solidFill>
                <a:latin typeface="Courier"/>
              </a:rPr>
              <a:t>0.65</a:t>
            </a:r>
            <a:r>
              <a:rPr>
                <a:solidFill>
                  <a:srgbClr val="003B4F"/>
                </a:solidFill>
                <a:latin typeface="Courier"/>
              </a:rPr>
              <a:t>)</a:t>
            </a:r>
            <a:br/>
            <a:br/>
            <a:r>
              <a:rPr>
                <a:solidFill>
                  <a:srgbClr val="003B4F"/>
                </a:solidFill>
                <a:latin typeface="Courier"/>
              </a:rPr>
              <a:t>clean_model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galap_plot)</a:t>
            </a:r>
            <a:br/>
            <a:r>
              <a:rPr>
                <a:solidFill>
                  <a:srgbClr val="003B4F"/>
                </a:solidFill>
                <a:latin typeface="Courier"/>
              </a:rPr>
              <a:t>bad_model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galap_bad)</a:t>
            </a:r>
            <a:br/>
            <a:br/>
            <a:r>
              <a:rPr>
                <a:solidFill>
                  <a:srgbClr val="4758AB"/>
                </a:solidFill>
                <a:latin typeface="Courier"/>
              </a:rPr>
              <a:t>tibble</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"17 islands"</a:t>
            </a:r>
            <a:r>
              <a:rPr>
                <a:solidFill>
                  <a:srgbClr val="003B4F"/>
                </a:solidFill>
                <a:latin typeface="Courier"/>
              </a:rPr>
              <a:t>, </a:t>
            </a:r>
            <a:r>
              <a:rPr>
                <a:solidFill>
                  <a:srgbClr val="20794D"/>
                </a:solidFill>
                <a:latin typeface="Courier"/>
              </a:rPr>
              <a:t>"plus the suspect point"</a:t>
            </a:r>
            <a:r>
              <a:rPr>
                <a:solidFill>
                  <a:srgbClr val="003B4F"/>
                </a:solidFill>
                <a:latin typeface="Courier"/>
              </a:rPr>
              <a:t>),</a:t>
            </a:r>
            <a:b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coef</a:t>
            </a:r>
            <a:r>
              <a:rPr>
                <a:solidFill>
                  <a:srgbClr val="003B4F"/>
                </a:solidFill>
                <a:latin typeface="Courier"/>
              </a:rPr>
              <a:t>(clean_model)[</a:t>
            </a:r>
            <a:r>
              <a:rPr>
                <a:solidFill>
                  <a:srgbClr val="AD0000"/>
                </a:solidFill>
                <a:latin typeface="Courier"/>
              </a:rPr>
              <a:t>2</a:t>
            </a:r>
            <a:r>
              <a:rPr>
                <a:solidFill>
                  <a:srgbClr val="003B4F"/>
                </a:solidFill>
                <a:latin typeface="Courier"/>
              </a:rPr>
              <a:t>], </a:t>
            </a:r>
            <a:r>
              <a:rPr>
                <a:solidFill>
                  <a:srgbClr val="4758AB"/>
                </a:solidFill>
                <a:latin typeface="Courier"/>
              </a:rPr>
              <a:t>coef</a:t>
            </a:r>
            <a:r>
              <a:rPr>
                <a:solidFill>
                  <a:srgbClr val="003B4F"/>
                </a:solidFill>
                <a:latin typeface="Courier"/>
              </a:rPr>
              <a:t>(bad_model)[</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r2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(clean_model)</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4758AB"/>
                </a:solidFill>
                <a:latin typeface="Courier"/>
              </a:rPr>
              <a:t>summary</a:t>
            </a:r>
            <a:r>
              <a:rPr>
                <a:solidFill>
                  <a:srgbClr val="003B4F"/>
                </a:solidFill>
                <a:latin typeface="Courier"/>
              </a:rPr>
              <a:t>(bad_model)</a:t>
            </a:r>
            <a:r>
              <a:rPr>
                <a:solidFill>
                  <a:srgbClr val="5E5E5E"/>
                </a:solidFill>
                <a:latin typeface="Courier"/>
              </a:rPr>
              <a:t>$</a:t>
            </a:r>
            <a:r>
              <a:rPr>
                <a:solidFill>
                  <a:srgbClr val="003B4F"/>
                </a:solidFill>
                <a:latin typeface="Courier"/>
              </a:rPr>
              <a:t>r.squared))</a:t>
            </a:r>
          </a:p>
          <a:p>
            <a:pPr lvl="0" indent="0">
              <a:buNone/>
            </a:pPr>
            <a:r>
              <a:rPr>
                <a:latin typeface="Courier"/>
              </a:rPr>
              <a:t># A tibble: 2 × 3
  data                   slope    r2
  &lt;chr&gt;                  &lt;dbl&gt; &lt;dbl&gt;
1 17 islands             0.331 0.585
2 plus the suspect point 0.233 0.228</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One point out of 18 cuts R² from 0.58 to 0.23 and moves p from 3.50e-04 to 0.0449 — from convincing to barely publishable. The slope drops too, so (d) is out.</a:t>
            </a:r>
          </a:p>
          <a:p>
            <a:pPr lvl="0" indent="0" marL="1270000">
              <a:buNone/>
            </a:pPr>
            <a:r>
              <a:rPr sz="2000"/>
              <a:t>It is </a:t>
            </a:r>
            <a:r>
              <a:rPr sz="2000" b="1"/>
              <a:t>influential</a:t>
            </a:r>
            <a:r>
              <a:rPr sz="2000"/>
              <a:t> because it lies far out in X </a:t>
            </a:r>
            <a:r>
              <a:rPr sz="2000" i="1"/>
              <a:t>and</a:t>
            </a:r>
            <a:r>
              <a:rPr sz="2000"/>
              <a:t> far off the trend. Cook’s distance flags it at once — that is what panel 4 of </a:t>
            </a:r>
            <a:r>
              <a:rPr sz="2000">
                <a:latin typeface="Courier"/>
              </a:rPr>
              <a:t>plot(model)</a:t>
            </a:r>
            <a:r>
              <a:rPr sz="2000"/>
              <a:t> is for.</a:t>
            </a:r>
          </a:p>
          <a:p>
            <a:pPr lvl="0" indent="0" marL="0">
              <a:buNone/>
            </a:pPr>
            <a:r>
              <a:rPr b="1"/>
              <a:t>No diagnostic can tell you whether it is a typo or a real island.</a:t>
            </a:r>
            <a:r>
              <a:rPr/>
              <a:t> That takes going back to the data sheet.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Wrap-up</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Over the two days you:</a:t>
                </a:r>
              </a:p>
              <a:p>
                <a:pPr lvl="0"/>
                <a:r>
                  <a:rPr/>
                  <a:t>Separated </a:t>
                </a:r>
                <a:r>
                  <a:rPr b="1"/>
                  <a:t>correlation</a:t>
                </a:r>
                <a:r>
                  <a:rPr/>
                  <a:t> from </a:t>
                </a:r>
                <a:r>
                  <a:rPr b="1"/>
                  <a:t>regression</a:t>
                </a:r>
                <a:r>
                  <a:rPr/>
                  <a:t>, and saw that neither earns causation</a:t>
                </a:r>
              </a:p>
              <a:p>
                <a:pPr lvl="0"/>
                <a:r>
                  <a:rPr/>
                  <a:t>Computed </a:t>
                </a:r>
                <a:r>
                  <a:rPr b="1"/>
                  <a:t>Pearson’s r</a:t>
                </a:r>
                <a:r>
                  <a:rPr/>
                  <a:t>, squared it for variance explained, and tested it with </a:t>
                </a:r>
                <a:r>
                  <a:rPr>
                    <a:latin typeface="Courier"/>
                  </a:rPr>
                  <a:t>cor.test()</a:t>
                </a:r>
              </a:p>
              <a:p>
                <a:pPr lvl="0"/>
                <a:r>
                  <a:rPr/>
                  <a:t>Switched to </a:t>
                </a:r>
                <a:r>
                  <a:rPr b="1"/>
                  <a:t>Spearman’s ρ</a:t>
                </a:r>
                <a:r>
                  <a:rPr/>
                  <a:t> when normality failed</a:t>
                </a:r>
              </a:p>
              <a:p>
                <a:pPr lvl="0"/>
                <a:r>
                  <a:rPr/>
                  <a:t>Fitted a line with </a:t>
                </a:r>
                <a:r>
                  <a:rPr>
                    <a:latin typeface="Courier"/>
                  </a:rPr>
                  <a:t>lm()</a:t>
                </a:r>
                <a:r>
                  <a:rPr/>
                  <a:t> and read the slope </a:t>
                </a:r>
                <a:r>
                  <a:rPr b="1"/>
                  <a:t>in the units of the data</a:t>
                </a:r>
              </a:p>
              <a:p>
                <a:pPr lvl="0"/>
                <a:r>
                  <a:rPr/>
                  <a:t>Built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by hand, watched them add to </a:t>
                </a:r>
                <a14:m>
                  <m:oMath xmlns:m="http://schemas.openxmlformats.org/officeDocument/2006/math">
                    <m:r>
                      <m:t>S</m:t>
                    </m:r>
                    <m:sSub>
                      <m:e>
                        <m:r>
                          <m:t>S</m:t>
                        </m:r>
                      </m:e>
                      <m:sub>
                        <m:r>
                          <m:t>t</m:t>
                        </m:r>
                        <m:r>
                          <m:t>o</m:t>
                        </m:r>
                        <m:r>
                          <m:t>t</m:t>
                        </m:r>
                        <m:r>
                          <m:t>a</m:t>
                        </m:r>
                        <m:r>
                          <m:t>l</m:t>
                        </m:r>
                      </m:sub>
                    </m:sSub>
                  </m:oMath>
                </a14:m>
                <a:r>
                  <a:rPr/>
                  <a:t>, and turned them into mean squares and an F</a:t>
                </a:r>
              </a:p>
              <a:p>
                <a:pPr lvl="0"/>
                <a:r>
                  <a:rPr/>
                  <a:t>Confirmed </a:t>
                </a:r>
                <a:r>
                  <a:rPr b="1"/>
                  <a:t>t² = F</a:t>
                </a:r>
                <a:r>
                  <a:rPr/>
                  <a:t> and </a:t>
                </a:r>
                <a:r>
                  <a:rPr b="1"/>
                  <a:t>r² = SS_reg / SS_total</a:t>
                </a:r>
              </a:p>
              <a:p>
                <a:pPr lvl="0"/>
                <a:r>
                  <a:rPr/>
                  <a:t>Checked all four assumptions </a:t>
                </a:r>
                <a:r>
                  <a:rPr b="1"/>
                  <a:t>on the residuals</a:t>
                </a:r>
                <a:r>
                  <a:rPr/>
                  <a:t>, and watched one influential island halve an R²</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one idea to keep</a:t>
            </a:r>
          </a:p>
          <a:p>
            <a:pPr lvl="0" indent="0" marL="1270000">
              <a:buNone/>
            </a:pPr>
            <a:r>
              <a:rPr sz="2000"/>
              <a:t>A line can be fitted to </a:t>
            </a:r>
            <a:r>
              <a:rPr sz="2000" i="1"/>
              <a:t>any</a:t>
            </a:r>
            <a:r>
              <a:rPr sz="2000"/>
              <a:t> two numeric columns. What makes it trustworthy lives in the </a:t>
            </a:r>
            <a:r>
              <a:rPr sz="2000" b="1"/>
              <a:t>residuals</a:t>
            </a:r>
            <a:r>
              <a:rPr sz="2000"/>
              <a:t>; what makes it interpretable lives in the </a:t>
            </a:r>
            <a:r>
              <a:rPr sz="2000" b="1"/>
              <a:t>sums of squares</a:t>
            </a:r>
            <a:r>
              <a:rPr sz="2000"/>
              <a:t>. Neither lives in the p-value.</a:t>
            </a:r>
          </a:p>
          <a:p>
            <a:pPr lvl="0" indent="0" marL="1270000">
              <a:buNone/>
            </a:pPr>
            <a:r>
              <a:rPr sz="2000" b="1"/>
              <a:t>Note</a:t>
            </a:r>
          </a:p>
          <a:p>
            <a:pPr lvl="0" indent="0" marL="1270000">
              <a:buNone/>
            </a:pPr>
            <a:r>
              <a:rPr sz="2000" b="1"/>
              <a:t>Up next — Multiple Regression</a:t>
            </a:r>
          </a:p>
          <a:p>
            <a:pPr lvl="0" indent="0" marL="1270000">
              <a:buNone/>
            </a:pPr>
            <a:r>
              <a:rPr sz="2000"/>
              <a:t>More than one predictor, predictors correlated with each other, and choosing between competing models. Same table, more rows.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16 — Correlation (§16.3 assumptions; §16.5 Spearman’s rank correlation), and Ch. 17 — Regression (§17.6 transformations; §17.8 non-linear relationships).</a:t>
            </a:r>
          </a:p>
          <a:p>
            <a:pPr lvl="0"/>
            <a:r>
              <a:rPr b="1"/>
              <a:t>Gotelli &amp; Ellison</a:t>
            </a:r>
            <a:r>
              <a:rPr/>
              <a:t>, Ch. 9 — Regression, for the variance-partitioning treatment and the Galápagos species–area example.</a:t>
            </a:r>
          </a:p>
          <a:p>
            <a:pPr lvl="0"/>
            <a:r>
              <a:rPr/>
              <a:t>Tilman, D., Reich, P. B., &amp; Knops, J. M. H. (2006). Biodiversity and ecosystem stability in a decade-long grassland experiment. </a:t>
            </a:r>
            <a:r>
              <a:rPr i="1"/>
              <a:t>Nature</a:t>
            </a:r>
            <a:r>
              <a:rPr/>
              <a:t>, 441, 629–632.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and simple linear regression as two halves of one idea: Pearson’s r and Spearman’s rho, the least-squares line, the sums-of-squares partition that turns a fitted line into an ANOVA table, and the residual diagnostics that decide whether any of it can be believed. Uses the Nazca booby, Indian rope trick, lion nose-pigmentation, prairie-biodiversity and Galapagos species-area datasets.</dc:description>
  <dcterms:created xsi:type="dcterms:W3CDTF">2026-10-19T16:26:45Z</dcterms:created>
  <dcterms:modified xsi:type="dcterms:W3CDTF">2026-10-19T16:26:45Z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