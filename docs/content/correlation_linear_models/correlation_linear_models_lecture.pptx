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Study design</a:t>
            </a:r>
          </a:p>
          <a:p>
            <a:pPr lvl="0"/>
            <a:r>
              <a:rPr/>
              <a:t>Causality in ecology</a:t>
            </a:r>
          </a:p>
          <a:p>
            <a:pPr lvl="0"/>
            <a:r>
              <a:rPr/>
              <a:t>Experimental design: replication, controls, randomization, independence</a:t>
            </a:r>
          </a:p>
          <a:p>
            <a:pPr lvl="0"/>
            <a:r>
              <a:rPr/>
              <a:t>Sampling in field studies</a:t>
            </a:r>
          </a:p>
          <a:p>
            <a:pPr lvl="0"/>
            <a:r>
              <a:rPr/>
              <a:t>Power analysis: </a:t>
            </a:r>
            <a:r>
              <a:rPr i="1"/>
              <a:t>a priori</a:t>
            </a:r>
            <a:r>
              <a:rPr/>
              <a:t> and </a:t>
            </a:r>
            <a:r>
              <a:rPr i="1"/>
              <a:t>post hoc</a:t>
            </a:r>
          </a:p>
          <a:p>
            <a:pPr lvl="0"/>
            <a:r>
              <a:rPr/>
              <a:t>Study design and analysis</a:t>
            </a:r>
          </a:p>
        </p:txBody>
      </p:sp>
      <p:pic>
        <p:nvPicPr>
          <p:cNvPr descr="correlation_linear_models_lecture_files/figure-pptx/correlation-linear-models-02-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This lecture covers two fundamental statistical techniques in biology: correlation and regression analysis. Based on Chapters 16–17 from Whitlock &amp; Schluter’s </a:t>
            </a:r>
            <a:r>
              <a:rPr i="1"/>
              <a:t>The Analysis of Biological Data</a:t>
            </a:r>
            <a:r>
              <a:rPr/>
              <a:t> (3rd edition), we’ll explore:</a:t>
            </a:r>
          </a:p>
          <a:p>
            <a:pPr lvl="0"/>
            <a:r>
              <a:rPr/>
              <a:t>Correlation analysis: measuring relationships between variables</a:t>
            </a:r>
          </a:p>
          <a:p>
            <a:pPr lvl="0"/>
            <a:r>
              <a:rPr/>
              <a:t>The distinction between correlation and regression</a:t>
            </a:r>
          </a:p>
          <a:p>
            <a:pPr lvl="0"/>
            <a:r>
              <a:rPr/>
              <a:t>Simple linear regression: predicting one variable from another</a:t>
            </a:r>
          </a:p>
          <a:p>
            <a:pPr lvl="0"/>
            <a:r>
              <a:rPr/>
              <a:t>Estimating and interpreting regression parameters</a:t>
            </a:r>
          </a:p>
          <a:p>
            <a:pPr lvl="0"/>
            <a:r>
              <a:rPr/>
              <a:t>Testing assumptions and handling violations</a:t>
            </a:r>
          </a:p>
          <a:p>
            <a:pPr lvl="0"/>
            <a:r>
              <a:rPr/>
              <a:t>Analysis of variance in regression</a:t>
            </a:r>
          </a:p>
          <a:p>
            <a:pPr lvl="0"/>
            <a:r>
              <a:rPr/>
              <a:t>Model selection and comparison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16 (Correlation) and Ch. 17 (Regression) are the core references for this entire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 Analysis:</a:t>
            </a:r>
          </a:p>
          <a:p>
            <a:pPr lvl="0"/>
            <a:r>
              <a:rPr/>
              <a:t>Measures the strength and direction of a relationship between two numerical variables</a:t>
            </a:r>
          </a:p>
          <a:p>
            <a:pPr lvl="0"/>
            <a:r>
              <a:rPr/>
              <a:t>Both X and Y are random variables (both measured, neither manipulated)</a:t>
            </a:r>
          </a:p>
          <a:p>
            <a:pPr lvl="0"/>
            <a:r>
              <a:rPr/>
              <a:t>Variables are typically on equal footing (either could be X or Y)</a:t>
            </a:r>
          </a:p>
          <a:p>
            <a:pPr lvl="0"/>
            <a:r>
              <a:rPr/>
              <a:t>No cause-effect relationship implied</a:t>
            </a:r>
          </a:p>
          <a:p>
            <a:pPr lvl="0"/>
            <a:r>
              <a:rPr/>
              <a:t>Quantifies the degree to which variables are related</a:t>
            </a:r>
          </a:p>
          <a:p>
            <a:pPr lvl="0"/>
            <a:r>
              <a:rPr/>
              <a:t>Expressed as a correlation coefficient (r) from −1 to +1</a:t>
            </a:r>
          </a:p>
          <a:p>
            <a:pPr lvl="0" indent="0" marL="0">
              <a:buNone/>
            </a:pPr>
            <a:r>
              <a:rPr b="1"/>
              <a:t>Regression Analysis:</a:t>
            </a:r>
          </a:p>
          <a:p>
            <a:pPr lvl="0"/>
            <a:r>
              <a:rPr/>
              <a:t>Predicts one variable (Y) from another (X)</a:t>
            </a:r>
          </a:p>
          <a:p>
            <a:pPr lvl="0"/>
            <a:r>
              <a:rPr/>
              <a:t>X is often fixed or controlled (manipulated)</a:t>
            </a:r>
          </a:p>
          <a:p>
            <a:pPr lvl="0"/>
            <a:r>
              <a:rPr/>
              <a:t>Y is the response variable of interest</a:t>
            </a:r>
          </a:p>
          <a:p>
            <a:pPr lvl="0"/>
            <a:r>
              <a:rPr/>
              <a:t>You </a:t>
            </a:r>
            <a:r>
              <a:rPr i="1"/>
              <a:t>assume</a:t>
            </a:r>
            <a:r>
              <a:rPr/>
              <a:t> a direction — X → Y — when you choose which variable goes where</a:t>
            </a:r>
          </a:p>
          <a:p>
            <a:pPr lvl="0"/>
            <a:r>
              <a:rPr/>
              <a:t>Produces an equation for prediction, with slope and intercept parameters</a:t>
            </a:r>
          </a:p>
          <a:p>
            <a:pPr lvl="0" indent="0" marL="1270000">
              <a:buNone/>
            </a:pPr>
            <a:r>
              <a:rPr sz="2000" b="1"/>
              <a:t>Warning</a:t>
            </a:r>
          </a:p>
          <a:p>
            <a:pPr lvl="0" indent="0" marL="1270000">
              <a:buNone/>
            </a:pPr>
            <a:r>
              <a:rPr sz="2000" b="1"/>
              <a:t>⚠️ Regression does not earn you causation</a:t>
            </a:r>
          </a:p>
          <a:p>
            <a:pPr lvl="0" indent="0" marL="1270000">
              <a:buNone/>
            </a:pPr>
            <a:r>
              <a:rPr sz="2000"/>
              <a:t>Choosing which variable to call X does not make it a cause. </a:t>
            </a:r>
            <a:r>
              <a:rPr sz="2000">
                <a:latin typeface="Courier"/>
              </a:rPr>
              <a:t>lm(y ~ x)</a:t>
            </a:r>
            <a:r>
              <a:rPr sz="2000"/>
              <a:t> will fit a slope to any two columns you hand it, including ones with no causal link at all.</a:t>
            </a:r>
          </a:p>
          <a:p>
            <a:pPr lvl="0" indent="0" marL="1270000">
              <a:buNone/>
            </a:pPr>
            <a:r>
              <a:rPr sz="2000"/>
              <a:t>What licenses a causal claim is the </a:t>
            </a:r>
            <a:r>
              <a:rPr sz="2000" b="1"/>
              <a:t>study design</a:t>
            </a:r>
            <a:r>
              <a:rPr sz="2000"/>
              <a:t> — manipulation, randomization, controls (Study Design &amp; Sampling) — not the model you fit afterwards.</a:t>
            </a:r>
          </a:p>
        </p:txBody>
      </p:sp>
      <p:pic>
        <p:nvPicPr>
          <p:cNvPr descr="correlation_linear_models_lecture_files/figure-pptx/correlation-linear-models-03-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 analysis</a:t>
                </a:r>
                <a:r>
                  <a:rPr/>
                  <a:t> measures the strength and direction of a relationship between two numerical variables:</a:t>
                </a:r>
              </a:p>
              <a:p>
                <a:pPr lvl="0"/>
                <a:r>
                  <a:rPr/>
                  <a:t>Ranges from −1 to +1</a:t>
                </a:r>
              </a:p>
              <a:p>
                <a:pPr lvl="0"/>
                <a:r>
                  <a:rPr/>
                  <a:t>+1 indicates perfect positive correlation</a:t>
                </a:r>
              </a:p>
              <a:p>
                <a:pPr lvl="0"/>
                <a:r>
                  <a:rPr/>
                  <a:t>0 indicates no correlation</a:t>
                </a:r>
              </a:p>
              <a:p>
                <a:pPr lvl="0"/>
                <a:r>
                  <a:rPr/>
                  <a:t>−1 indicates perfect negative correlation</a:t>
                </a:r>
              </a:p>
              <a:p>
                <a:pPr lvl="0" indent="0" marL="0">
                  <a:buNone/>
                </a:pPr>
                <a:r>
                  <a:rPr/>
                  <a:t>The </a:t>
                </a:r>
                <a:r>
                  <a:rPr b="1"/>
                  <a:t>Pearson correlation coefficient (r)</a:t>
                </a:r>
                <a:r>
                  <a:rPr/>
                  <a:t> is defined as:</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This can be simplified as:</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a:p>
                <a:pPr lvl="0" indent="0" marL="0">
                  <a:buNone/>
                </a:pPr>
                <a:r>
                  <a:rPr/>
                  <a:t>Where </a:t>
                </a:r>
                <a14:m>
                  <m:oMath xmlns:m="http://schemas.openxmlformats.org/officeDocument/2006/math">
                    <m:sSub>
                      <m:e>
                        <m:r>
                          <m:t>s</m:t>
                        </m:r>
                      </m:e>
                      <m:sub>
                        <m:r>
                          <m:t>X</m:t>
                        </m:r>
                      </m:sub>
                    </m:sSub>
                  </m:oMath>
                </a14:m>
                <a:r>
                  <a:rPr/>
                  <a:t> and </a:t>
                </a:r>
                <a14:m>
                  <m:oMath xmlns:m="http://schemas.openxmlformats.org/officeDocument/2006/math">
                    <m:sSub>
                      <m:e>
                        <m:r>
                          <m:t>s</m:t>
                        </m:r>
                      </m:e>
                      <m:sub>
                        <m:r>
                          <m:t>Y</m:t>
                        </m:r>
                      </m:sub>
                    </m:sSub>
                  </m:oMath>
                </a14:m>
                <a:r>
                  <a:rPr/>
                  <a:t> are the standard deviations of X and Y.</a:t>
                </a:r>
              </a:p>
            </p:txBody>
          </p:sp>
        </mc:Choice>
      </mc:AlternateContent>
      <p:pic>
        <p:nvPicPr>
          <p:cNvPr descr="correlation_linear_models_lecture_files/figure-pptx/correlation-linear-models-04-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Flipping the Bird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Nazca boobies (</a:t>
                </a:r>
                <a:r>
                  <a:rPr i="1"/>
                  <a:t>Sula granti</a:t>
                </a:r>
                <a:r>
                  <a:rPr/>
                  <a:t>) — do aggressive behaviors as a chick predict future aggressive behavior as an adult?</a:t>
                </a:r>
              </a:p>
              <a:p>
                <a:pPr lvl="0"/>
                <a:r>
                  <a:rPr/>
                  <a:t>Correlation is r = 0.534 — a moderate positive relationship</a:t>
                </a:r>
              </a:p>
              <a:p>
                <a:pPr lvl="0"/>
                <a:r>
                  <a:rPr/>
                  <a:t>p-value = 0.007 — correlation is statistically significant</a:t>
                </a:r>
              </a:p>
              <a:p>
                <a:pPr lvl="0" indent="0" marL="0">
                  <a:buNone/>
                </a:pPr>
                <a:r>
                  <a:rPr/>
                  <a:t>For a Pearson correlation coefficient (r) of 0.53372:</a:t>
                </a:r>
              </a:p>
              <a:p>
                <a:pPr lvl="0"/>
                <a:r>
                  <a:rPr/>
                  <a:t>This is r (not ρ, as Spearman’s below), as indicated by “cor” in your output</a:t>
                </a:r>
              </a:p>
              <a:p>
                <a:pPr lvl="0"/>
                <a:r>
                  <a:rPr/>
                  <a:t>To determine the amount of variation explained, square this value: r² = 0.53372² = 0.2849 (≈ 28.49%)</a:t>
                </a:r>
              </a:p>
              <a:p>
                <a:pPr lvl="0"/>
                <a:r>
                  <a:rPr/>
                  <a:t>Means about 28.49% of the variance in one variable can be explained by the other</a:t>
                </a:r>
              </a:p>
              <a:p>
                <a:pPr lvl="0" indent="0" marL="0">
                  <a:buNone/>
                </a:pPr>
                <a:r>
                  <a:rPr/>
                  <a:t>Tested by a t-test: </a:t>
                </a:r>
                <a14:m>
                  <m:oMath xmlns:m="http://schemas.openxmlformats.org/officeDocument/2006/math">
                    <m:r>
                      <m:rPr>
                        <m:nor/>
                        <m:sty m:val="p"/>
                      </m:rPr>
                      <m:t>t</m:t>
                    </m:r>
                    <m:r>
                      <m:rPr>
                        <m:sty m:val="p"/>
                      </m:rPr>
                      <m:t>=</m:t>
                    </m:r>
                    <m:f>
                      <m:fPr>
                        <m:type m:val="bar"/>
                      </m:fPr>
                      <m:num>
                        <m:r>
                          <m:t>r</m:t>
                        </m:r>
                      </m:num>
                      <m:den>
                        <m:r>
                          <m:t>S</m:t>
                        </m:r>
                        <m:sSub>
                          <m:e>
                            <m:r>
                              <m:t>E</m:t>
                            </m:r>
                          </m:e>
                          <m:sub>
                            <m:r>
                              <m:t>r</m:t>
                            </m:r>
                          </m:sub>
                        </m:sSub>
                      </m:den>
                    </m:f>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Pearson's product-moment correlation
data:  booby_data$visits_as_nestling and booby_data$future_aggression
t = 2.9603, df = 22, p-value = 0.007229
alternative hypothesis: true correlation is not equal to 0
95 percent confidence interval:
 0.1660840 0.7710999
sample estimates:
      cor 
0.5337225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Interpretation:</a:t>
                </a:r>
                <a:r>
                  <a:rPr/>
                  <a:t> the correlation coefficient of r = 0.534 suggests that Nazca boobies who experienced more visits from non-parent adults as nestlings tend to display more aggressive behavior as adults. This supports the hypothesis that early experiences influence adult behavior patterns in this species.</a:t>
                </a:r>
              </a:p>
              <a:p>
                <a:pPr lvl="0" indent="0" marL="0">
                  <a:buNone/>
                </a:pPr>
                <a:r>
                  <a:rPr b="1"/>
                  <a:t>Standard error:</a:t>
                </a:r>
              </a:p>
              <a:p>
                <a:pPr lvl="0" indent="0" marL="0">
                  <a:buNone/>
                </a:pPr>
                <a14:m>
                  <m:oMathPara xmlns:m="http://schemas.openxmlformats.org/officeDocument/2006/math">
                    <m:oMathParaPr>
                      <m:jc m:val="center"/>
                    </m:oMathParaPr>
                    <m:o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m:oMathPara>
                </a14:m>
              </a:p>
              <a:p>
                <a:pPr lvl="0" indent="0" marL="0">
                  <a:buNone/>
                </a:pPr>
                <a:r>
                  <a:rPr/>
                  <a:t>SE = 0.180</a:t>
                </a:r>
              </a:p>
              <a:p>
                <a:pPr lvl="0" indent="0" marL="0">
                  <a:buNone/>
                </a:pPr>
                <a:r>
                  <a:rPr/>
                  <a:t>Need to be sure the relationship is not curved — see below.</a:t>
                </a:r>
              </a:p>
            </p:txBody>
          </p:sp>
        </mc:Choice>
      </mc:AlternateContent>
      <p:pic>
        <p:nvPicPr>
          <p:cNvPr descr="correlation_linear_models_lecture_files/figure-pptx/correlation-linear-models-0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Assumptions for Correlation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run Shapiro-Wilk on both booby variables, then look at their histograms and QQ plots. If the formal test and the visual check disagree, which would you trust more for n = 24?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with the booby data.</a:t>
            </a:r>
          </a:p>
        </p:txBody>
      </p:sp>
      <p:sp>
        <p:nvSpPr>
          <p:cNvPr id="4" name="Content Placeholder 3"/>
          <p:cNvSpPr>
            <a:spLocks noGrp="1"/>
          </p:cNvSpPr>
          <p:nvPr>
            <p:ph idx="2" sz="half"/>
          </p:nvPr>
        </p:nvSpPr>
        <p:spPr/>
        <p:txBody>
          <a:bodyPr/>
          <a:lstStyle/>
          <a:p>
            <a:pPr lvl="0" indent="0">
              <a:buNone/>
            </a:pPr>
            <a:r>
              <a:rPr>
                <a:latin typeface="Courier"/>
              </a:rPr>
              <a:t>
    Shapiro-Wilk normality test
data:  booby_data$visits_as_nestling
W = 0.95783, p-value = 0.3965</a:t>
            </a:r>
          </a:p>
          <a:p>
            <a:pPr lvl="0" indent="0">
              <a:buNone/>
            </a:pPr>
            <a:r>
              <a:rPr>
                <a:latin typeface="Courier"/>
              </a:rPr>
              <a:t>
    Shapiro-Wilk normality test
data:  booby_data$future_aggression
W = 0.91575, p-value = 0.04709</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 — Visually</a:t>
            </a:r>
          </a:p>
        </p:txBody>
      </p:sp>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using the booby data.</a:t>
            </a:r>
          </a:p>
        </p:txBody>
      </p:sp>
      <p:pic>
        <p:nvPicPr>
          <p:cNvPr descr="correlation_linear_models_lecture_files/figure-pptx/correlation-linear-models-0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Assumptions Are Violated</a:t>
            </a:r>
          </a:p>
        </p:txBody>
      </p:sp>
      <p:sp>
        <p:nvSpPr>
          <p:cNvPr id="3" name="Content Placeholder 2"/>
          <p:cNvSpPr>
            <a:spLocks noGrp="1"/>
          </p:cNvSpPr>
          <p:nvPr>
            <p:ph idx="1" sz="half"/>
          </p:nvPr>
        </p:nvSpPr>
        <p:spPr/>
        <p:txBody>
          <a:bodyPr/>
          <a:lstStyle/>
          <a:p>
            <a:pPr lvl="0"/>
            <a:r>
              <a:rPr/>
              <a:t>Transform one or both variables (log, square root, etc.)</a:t>
            </a:r>
          </a:p>
          <a:p>
            <a:pPr lvl="0"/>
            <a:r>
              <a:rPr/>
              <a:t>Use a non-parametric correlation (</a:t>
            </a:r>
            <a:r>
              <a:rPr b="1"/>
              <a:t>Spearman’s rank correlation</a:t>
            </a:r>
            <a:r>
              <a:rPr/>
              <a:t>) or Kendall’s tau (τ)</a:t>
            </a:r>
          </a:p>
          <a:p>
            <a:pPr lvl="0"/>
            <a:r>
              <a:rPr/>
              <a:t>Examine the data for outliers or influential points</a:t>
            </a:r>
          </a:p>
          <a:p>
            <a:pPr lvl="0" indent="0" marL="1270000">
              <a:buNone/>
            </a:pPr>
            <a:r>
              <a:rPr sz="2000" b="1"/>
              <a:t>Tip</a:t>
            </a:r>
          </a:p>
          <a:p>
            <a:pPr lvl="0" indent="0" marL="1270000">
              <a:buNone/>
            </a:pPr>
            <a:r>
              <a:rPr sz="2000" b="1"/>
              <a:t>🖐 Notice</a:t>
            </a:r>
          </a:p>
          <a:p>
            <a:pPr lvl="0" indent="0" marL="1270000">
              <a:buNone/>
            </a:pPr>
            <a:r>
              <a:rPr sz="2000"/>
              <a:t>The lion nose-pigmentation data (used here just as an example of non-normal data) shows a right-skewed </a:t>
            </a:r>
            <a:r>
              <a:rPr sz="2000">
                <a:latin typeface="Courier"/>
              </a:rPr>
              <a:t>proportion_black</a:t>
            </a:r>
            <a:r>
              <a:rPr sz="2000"/>
              <a:t> and clearly non-normal QQ plots — this is exactly when Spearman’s is the better tool.</a:t>
            </a:r>
          </a:p>
        </p:txBody>
      </p:sp>
      <p:pic>
        <p:nvPicPr>
          <p:cNvPr descr="correlation_linear_models_lecture_files/figure-pptx/correlation-linear-models-0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understand the amount of variation explained, you can square the non-parametric Spearman’s rho value.</a:t>
                </a:r>
              </a:p>
              <a:p>
                <a:pPr lvl="0" indent="0" marL="0">
                  <a:buNone/>
                </a:pPr>
                <a:r>
                  <a:rPr/>
                  <a:t>For your value of 0.74485:</a:t>
                </a:r>
              </a:p>
              <a:p>
                <a:pPr lvl="0" indent="0" marL="0">
                  <a:buNone/>
                </a:pPr>
                <a14:m>
                  <m:oMathPara xmlns:m="http://schemas.openxmlformats.org/officeDocument/2006/math">
                    <m:oMathParaPr>
                      <m:jc m:val="center"/>
                    </m:oMathParaPr>
                    <m:oMath>
                      <m:sSup>
                        <m:e>
                          <m:r>
                            <m:t>ρ</m:t>
                          </m:r>
                        </m:e>
                        <m:sup>
                          <m:r>
                            <m:t>2</m:t>
                          </m:r>
                        </m:sup>
                      </m:sSup>
                      <m:r>
                        <m:rPr>
                          <m:sty m:val="p"/>
                        </m:rPr>
                        <m:t>=</m:t>
                      </m:r>
                      <m:sSup>
                        <m:e>
                          <m:r>
                            <m:t>0.74485</m:t>
                          </m:r>
                        </m:e>
                        <m:sup>
                          <m:r>
                            <m:t>2</m:t>
                          </m:r>
                        </m:sup>
                      </m:sSup>
                      <m:r>
                        <m:rPr>
                          <m:sty m:val="p"/>
                        </m:rPr>
                        <m:t>=</m:t>
                      </m:r>
                      <m:r>
                        <m:t>0.5548</m:t>
                      </m:r>
                    </m:oMath>
                  </m:oMathPara>
                </a14:m>
              </a:p>
              <a:p>
                <a:pPr lvl="0" indent="0" marL="0">
                  <a:buNone/>
                </a:pPr>
                <a:r>
                  <a:rPr/>
                  <a:t>This means approximately 55.48% of the variance in the </a:t>
                </a:r>
                <a:r>
                  <a:rPr i="1"/>
                  <a:t>ranks</a:t>
                </a:r>
                <a:r>
                  <a:rPr/>
                  <a:t> of one variable can be explained by the ranks of the other. This is similar to how R² works in linear regression, but specifically for ranked data.</a:t>
                </a:r>
              </a:p>
            </p:txBody>
          </p:sp>
        </mc:Choice>
      </mc:AlternateContent>
      <p:sp>
        <p:nvSpPr>
          <p:cNvPr id="4" name="Content Placeholder 3"/>
          <p:cNvSpPr>
            <a:spLocks noGrp="1"/>
          </p:cNvSpPr>
          <p:nvPr>
            <p:ph idx="2" sz="half"/>
          </p:nvPr>
        </p:nvSpPr>
        <p:spPr/>
        <p:txBody>
          <a:bodyPr/>
          <a:lstStyle/>
          <a:p>
            <a:pPr lvl="0" indent="0">
              <a:buNone/>
            </a:pPr>
            <a:r>
              <a:rPr>
                <a:latin typeface="Courier"/>
              </a:rPr>
              <a:t>
    Spearman's rank correlation rho
data:  lion_data$proportion_black and lion_data$age_years
S = 1392.1, p-value = 1.013e-06
alternative hypothesis: true rho is not equal to 0
sample estimates:
      rho 
0.7448561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Important Considerations</a:t>
            </a:r>
          </a:p>
        </p:txBody>
      </p:sp>
      <p:sp>
        <p:nvSpPr>
          <p:cNvPr id="3" name="Content Placeholder 2"/>
          <p:cNvSpPr>
            <a:spLocks noGrp="1"/>
          </p:cNvSpPr>
          <p:nvPr>
            <p:ph idx="1" sz="half"/>
          </p:nvPr>
        </p:nvSpPr>
        <p:spPr/>
        <p:txBody>
          <a:bodyPr/>
          <a:lstStyle/>
          <a:p>
            <a:pPr lvl="0"/>
            <a:r>
              <a:rPr b="1"/>
              <a:t>The correlation coefficient depends on the range</a:t>
            </a:r>
          </a:p>
          <a:p>
            <a:pPr lvl="1"/>
            <a:r>
              <a:rPr/>
              <a:t>Restricting the range of values can reduce the correlation coefficient</a:t>
            </a:r>
          </a:p>
          <a:p>
            <a:pPr lvl="1"/>
            <a:r>
              <a:rPr/>
              <a:t>Comparing correlations between studies requires similar ranges of values</a:t>
            </a:r>
          </a:p>
          <a:p>
            <a:pPr lvl="0"/>
            <a:r>
              <a:rPr b="1"/>
              <a:t>Measurement error affects correlation</a:t>
            </a:r>
          </a:p>
          <a:p>
            <a:pPr lvl="1"/>
            <a:r>
              <a:rPr/>
              <a:t>Measurement error in X or Y tends to weaken observed correlation</a:t>
            </a:r>
          </a:p>
          <a:p>
            <a:pPr lvl="1"/>
            <a:r>
              <a:rPr/>
              <a:t>This bias is called </a:t>
            </a:r>
            <a:r>
              <a:rPr b="1"/>
              <a:t>attenuation</a:t>
            </a:r>
          </a:p>
          <a:p>
            <a:pPr lvl="1"/>
            <a:r>
              <a:rPr/>
              <a:t>True correlation is typically stronger than the observed correlation</a:t>
            </a:r>
          </a:p>
          <a:p>
            <a:pPr lvl="0"/>
            <a:r>
              <a:rPr b="1"/>
              <a:t>Correlation vs. Causation</a:t>
            </a:r>
          </a:p>
          <a:p>
            <a:pPr lvl="1"/>
            <a:r>
              <a:rPr/>
              <a:t>Correlation does not imply causation</a:t>
            </a:r>
          </a:p>
          <a:p>
            <a:pPr lvl="1"/>
            <a:r>
              <a:rPr/>
              <a:t>Three possible explanations: (1) X causes Y, (2) Y causes X, (3) Z (a third variable) causes both X and Y</a:t>
            </a:r>
          </a:p>
          <a:p>
            <a:pPr lvl="0"/>
            <a:r>
              <a:rPr b="1"/>
              <a:t>Correlation significance test</a:t>
            </a:r>
          </a:p>
          <a:p>
            <a:pPr lvl="1"/>
            <a:r>
              <a:rPr/>
              <a:t>H₀: ρ = 0 (no correlation in population); H₁: ρ ≠ 0</a:t>
            </a:r>
          </a:p>
          <a:p>
            <a:pPr lvl="1"/>
            <a:r>
              <a:rPr/>
              <a:t>Test statistic: t = r / SE(r), with df = n − 2</a:t>
            </a:r>
          </a:p>
        </p:txBody>
      </p:sp>
      <p:pic>
        <p:nvPicPr>
          <p:cNvPr descr="correlation_linear_models_lecture_files/figure-pptx/correlation-linear-models-11-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a:r>
                  <a:rPr/>
                  <a:t>Y is the response variable</a:t>
                </a:r>
              </a:p>
              <a:p>
                <a:pPr lvl="0"/>
                <a:r>
                  <a:rPr/>
                  <a:t>X is the predictor variable</a:t>
                </a:r>
              </a:p>
              <a:p>
                <a:pPr lvl="0"/>
                <a:r>
                  <a:rPr/>
                  <a:t>α (alpha) is the intercept (value of Y when X = 0)</a:t>
                </a:r>
              </a:p>
              <a:p>
                <a:pPr lvl="0"/>
                <a:r>
                  <a:rPr/>
                  <a:t>β (beta) is the slope (change in Y per unit change in X)</a:t>
                </a:r>
              </a:p>
              <a:p>
                <a:pPr lvl="0"/>
                <a:r>
                  <a:rPr/>
                  <a:t>ε (epsilon) is the error term (random deviation from the line)</a:t>
                </a:r>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a14:m>
                  <m:oMath xmlns:m="http://schemas.openxmlformats.org/officeDocument/2006/math">
                    <m:acc>
                      <m:accPr>
                        <m:chr m:val="̂"/>
                      </m:accPr>
                      <m:e>
                        <m:r>
                          <m:t>Y</m:t>
                        </m:r>
                      </m:e>
                    </m:acc>
                  </m:oMath>
                </a14:m>
                <a:r>
                  <a:rPr/>
                  <a:t> is the predicted value of Y; a estimates α; b estimates β</a:t>
                </a:r>
              </a:p>
              <a:p>
                <a:pPr lvl="0" indent="0" marL="0">
                  <a:buNone/>
                </a:pPr>
                <a:r>
                  <a:rPr b="1"/>
                  <a:t>Method of least squares:</a:t>
                </a:r>
                <a:r>
                  <a:rPr/>
                  <a:t> the line is chosen to minimize the sum of squared vertical distances (residuals) between observed and predicted Y values.</a:t>
                </a:r>
              </a:p>
              <a:p>
                <a:pPr lvl="0" indent="0" marL="1270000">
                  <a:buNone/>
                </a:pPr>
                <a:r>
                  <a:rPr sz="2000" b="1"/>
                  <a:t>Note</a:t>
                </a:r>
              </a:p>
              <a:p>
                <a:pPr lvl="0" indent="0" marL="1270000">
                  <a:buNone/>
                </a:pPr>
                <a:r>
                  <a:rPr sz="2000" b="1"/>
                  <a:t>📖 Reference</a:t>
                </a:r>
              </a:p>
              <a:p>
                <a:pPr lvl="0" indent="0" marL="1270000">
                  <a:buNone/>
                </a:pPr>
                <a:r>
                  <a:rPr sz="2000"/>
                  <a:t>Whitlock &amp; Schluter, Ch. 17 — Regression, is the primary reference for the rest of this lecture.</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769100" y="660400"/>
            <a:ext cx="147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stacked scatterplots of lion age versus proportion black on the nose, each with a different candidate line and vertical residual segments labeled ‘Large deviations,’ ‘Smaller deviations,’ and ‘Smallest deviations,’ illustrating that least squares picks the line minimizing total squared residuals.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 — the Lion Data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indent="0" marL="0">
                  <a:buNone/>
                </a:pPr>
                <a:r>
                  <a:rPr b="1"/>
                  <a:t>Method of least squares:</a:t>
                </a:r>
                <a:r>
                  <a:rPr/>
                  <a:t> the line is chosen to minimize the sum of squared vertical distances (residuals) between observed and predicted Y values.</a:t>
                </a:r>
              </a:p>
            </p:txBody>
          </p:sp>
        </mc:Choice>
      </mc:AlternateContent>
      <p:pic>
        <p:nvPicPr>
          <p:cNvPr descr="correlation_linear_models_lecture_files/figure-pptx/correlation-linear-models-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17.1 — the Lion Regression Equation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From Example 17.1 in the textbook, the regression line for the lion data is:</a:t>
                </a:r>
              </a:p>
              <a:p>
                <a:pPr lvl="0" indent="0" marL="0">
                  <a:buNone/>
                </a:pPr>
                <a14:m>
                  <m:oMathPara xmlns:m="http://schemas.openxmlformats.org/officeDocument/2006/math">
                    <m:oMathParaPr>
                      <m:jc m:val="center"/>
                    </m:oMathParaPr>
                    <m:oMath>
                      <m:r>
                        <m:rPr>
                          <m:nor/>
                          <m:sty m:val="p"/>
                        </m:rPr>
                        <m:t>age</m:t>
                      </m:r>
                      <m:r>
                        <m:rPr>
                          <m:sty m:val="p"/>
                        </m:rPr>
                        <m:t>=</m:t>
                      </m:r>
                      <m:r>
                        <m:t>0.88</m:t>
                      </m:r>
                      <m:r>
                        <m:rPr>
                          <m:sty m:val="p"/>
                        </m:rPr>
                        <m:t>+</m:t>
                      </m:r>
                      <m:r>
                        <m:t>10.65</m:t>
                      </m:r>
                      <m:r>
                        <m:rPr>
                          <m:sty m:val="p"/>
                        </m:rPr>
                        <m:t>×</m:t>
                      </m:r>
                      <m:sSub>
                        <m:e>
                          <m:r>
                            <m:rPr>
                              <m:nor/>
                              <m:sty m:val="p"/>
                            </m:rPr>
                            <m:t>proportion</m:t>
                          </m:r>
                        </m:e>
                        <m:sub>
                          <m:r>
                            <m:t>b</m:t>
                          </m:r>
                          <m:r>
                            <m:t>l</m:t>
                          </m:r>
                          <m:r>
                            <m:t>a</m:t>
                          </m:r>
                          <m:r>
                            <m:t>c</m:t>
                          </m:r>
                          <m:r>
                            <m:t>k</m:t>
                          </m:r>
                        </m:sub>
                      </m:sSub>
                    </m:oMath>
                  </m:oMathPara>
                </a14:m>
              </a:p>
              <a:p>
                <a:pPr lvl="0" indent="0" marL="0">
                  <a:buNone/>
                </a:pPr>
                <a:r>
                  <a:rPr/>
                  <a:t>This means:</a:t>
                </a:r>
              </a:p>
              <a:p>
                <a:pPr lvl="0"/>
                <a:r>
                  <a:rPr/>
                  <a:t>When a lion has no black on its nose (proportion = 0), its predicted age is 0.88 years</a:t>
                </a:r>
              </a:p>
              <a:p>
                <a:pPr lvl="0"/>
                <a:r>
                  <a:rPr/>
                  <a:t>For each 0.1 increase in the proportion of black, age increases by 1.065 years</a:t>
                </a:r>
              </a:p>
              <a:p>
                <a:pPr lvl="0"/>
                <a:r>
                  <a:rPr/>
                  <a:t>The slope (10.65) indicates that lions with more black on their noses tend to be older</a:t>
                </a:r>
              </a:p>
            </p:txBody>
          </p:sp>
        </mc:Choice>
      </mc:AlternateContent>
      <p:pic>
        <p:nvPicPr>
          <p:cNvPr descr="correlation_linear_models_lecture_files/figure-pptx/correlation-linear-models-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Male Lions and Nose Pigmentation</a:t>
            </a:r>
          </a:p>
        </p:txBody>
      </p:sp>
      <p:sp>
        <p:nvSpPr>
          <p:cNvPr id="3" name="Content Placeholder 2"/>
          <p:cNvSpPr>
            <a:spLocks noGrp="1"/>
          </p:cNvSpPr>
          <p:nvPr>
            <p:ph idx="1" sz="half"/>
          </p:nvPr>
        </p:nvSpPr>
        <p:spPr/>
        <p:txBody>
          <a:bodyPr/>
          <a:lstStyle/>
          <a:p>
            <a:pPr lvl="0"/>
            <a:r>
              <a:rPr/>
              <a:t>Male lions develop more black pigmentation on their noses as they age</a:t>
            </a:r>
          </a:p>
          <a:p>
            <a:pPr lvl="0"/>
            <a:r>
              <a:rPr/>
              <a:t>This relationship can be used to estimate the age of lions in the field</a:t>
            </a:r>
          </a:p>
        </p:txBody>
      </p:sp>
      <p:sp>
        <p:nvSpPr>
          <p:cNvPr id="4" name="Content Placeholder 3"/>
          <p:cNvSpPr>
            <a:spLocks noGrp="1"/>
          </p:cNvSpPr>
          <p:nvPr>
            <p:ph idx="2" sz="half"/>
          </p:nvPr>
        </p:nvSpPr>
        <p:spPr/>
        <p:txBody>
          <a:bodyPr/>
          <a:lstStyle/>
          <a:p>
            <a:pPr lvl="0" indent="0">
              <a:buNone/>
            </a:pPr>
            <a:r>
              <a:rPr>
                <a:latin typeface="Courier"/>
              </a:rPr>
              <a:t>
Call:
lm(formula = age_years ~ proportion_black, data = lion_data)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calculation for slope (m) is:</a:t>
                </a:r>
              </a:p>
              <a:p>
                <a:pPr lvl="0" indent="0" marL="0">
                  <a:buNone/>
                </a:pPr>
                <a14:m>
                  <m:oMathPara xmlns:m="http://schemas.openxmlformats.org/officeDocument/2006/math">
                    <m:oMathParaPr>
                      <m:jc m:val="center"/>
                    </m:oMathParaPr>
                    <m:oMath>
                      <m:r>
                        <m:t>m</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oMath>
                  </m:oMathPara>
                </a14:m>
              </a:p>
              <a:p>
                <a:pPr lvl="0" indent="0" marL="0">
                  <a:buNone/>
                </a:pPr>
                <a:r>
                  <a:rPr/>
                  <a:t>Given:</a:t>
                </a:r>
              </a:p>
              <a:p>
                <a:pPr lvl="0"/>
                <a14:m>
                  <m:oMath xmlns:m="http://schemas.openxmlformats.org/officeDocument/2006/math">
                    <m:acc>
                      <m:accPr>
                        <m:chr m:val="‾"/>
                      </m:accPr>
                      <m:e>
                        <m:r>
                          <m:t>X</m:t>
                        </m:r>
                      </m:e>
                    </m:acc>
                    <m:r>
                      <m:rPr>
                        <m:sty m:val="p"/>
                      </m:rPr>
                      <m:t>=</m:t>
                    </m:r>
                    <m:r>
                      <m:t>0.3222</m:t>
                    </m:r>
                  </m:oMath>
                </a14:m>
              </a:p>
              <a:p>
                <a:pPr lvl="0"/>
                <a14:m>
                  <m:oMath xmlns:m="http://schemas.openxmlformats.org/officeDocument/2006/math">
                    <m:acc>
                      <m:accPr>
                        <m:chr m:val="‾"/>
                      </m:accPr>
                      <m:e>
                        <m:r>
                          <m:t>Y</m:t>
                        </m:r>
                      </m:e>
                    </m:acc>
                    <m:r>
                      <m:rPr>
                        <m:sty m:val="p"/>
                      </m:rPr>
                      <m:t>=</m:t>
                    </m:r>
                    <m:r>
                      <m:t>4.3094</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r>
                      <m:rPr>
                        <m:sty m:val="p"/>
                      </m:rPr>
                      <m:t>=</m:t>
                    </m:r>
                    <m:r>
                      <m:t>1.2221</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r>
                      <m:rPr>
                        <m:sty m:val="p"/>
                      </m:rPr>
                      <m:t>=</m:t>
                    </m:r>
                    <m:r>
                      <m:t>13.0123</m:t>
                    </m:r>
                  </m:oMath>
                </a14:m>
              </a:p>
              <a:p>
                <a:pPr lvl="0" indent="0" marL="0">
                  <a:buNone/>
                </a:pPr>
                <a:r>
                  <a:rPr/>
                  <a:t>b = 13.0123 / 1.2221 = 10.647</a:t>
                </a:r>
              </a:p>
              <a:p>
                <a:pPr lvl="0" indent="0" marL="0">
                  <a:buNone/>
                </a:pPr>
                <a:r>
                  <a:rPr/>
                  <a:t>Intercept: </a:t>
                </a:r>
                <a14:m>
                  <m:oMath xmlns:m="http://schemas.openxmlformats.org/officeDocument/2006/math">
                    <m:r>
                      <m:t>b</m:t>
                    </m:r>
                    <m:r>
                      <m:rPr>
                        <m:sty m:val="p"/>
                      </m:rPr>
                      <m:t>=</m:t>
                    </m:r>
                    <m:acc>
                      <m:accPr>
                        <m:chr m:val="‾"/>
                      </m:accPr>
                      <m:e>
                        <m:r>
                          <m:t>Y</m:t>
                        </m:r>
                      </m:e>
                    </m:acc>
                    <m:r>
                      <m:rPr>
                        <m:sty m:val="p"/>
                      </m:rPr>
                      <m:t>−</m:t>
                    </m:r>
                    <m:r>
                      <m:t>m</m:t>
                    </m:r>
                    <m:acc>
                      <m:accPr>
                        <m:chr m:val="‾"/>
                      </m:accPr>
                      <m:e>
                        <m:r>
                          <m:t>X</m:t>
                        </m:r>
                      </m:e>
                    </m:acc>
                    <m:r>
                      <m:rPr>
                        <m:sty m:val="p"/>
                      </m:rPr>
                      <m:t>=</m:t>
                    </m:r>
                    <m:r>
                      <m:t>4.3094</m:t>
                    </m:r>
                    <m:r>
                      <m:rPr>
                        <m:sty m:val="p"/>
                      </m:rPr>
                      <m:t>−</m:t>
                    </m:r>
                    <m:r>
                      <m:t>10.647</m:t>
                    </m:r>
                    <m:r>
                      <m:rPr>
                        <m:sty m:val="p"/>
                      </m:rPr>
                      <m:t>(</m:t>
                    </m:r>
                    <m:r>
                      <m:t>0.3222</m:t>
                    </m:r>
                    <m:r>
                      <m:rPr>
                        <m:sty m:val="p"/>
                      </m:rPr>
                      <m:t>)</m:t>
                    </m:r>
                    <m:r>
                      <m:rPr>
                        <m:sty m:val="p"/>
                      </m:rPr>
                      <m:t>=</m:t>
                    </m:r>
                    <m:r>
                      <m:t>0.879</m:t>
                    </m:r>
                  </m:oMath>
                </a14:m>
              </a:p>
            </p:txBody>
          </p:sp>
        </mc:Choice>
      </mc:AlternateContent>
      <p:pic>
        <p:nvPicPr>
          <p:cNvPr descr="correlation_linear_models_lecture_files/figure-pptx/correlation-linear-models-15-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predict the age of a lion with 0.50 proportion of black on its nose:</a:t>
                </a:r>
              </a:p>
              <a:p>
                <a:pPr lvl="0" indent="0" marL="0">
                  <a:buNone/>
                </a:pPr>
                <a14:m>
                  <m:oMathPara xmlns:m="http://schemas.openxmlformats.org/officeDocument/2006/math">
                    <m:oMathParaPr>
                      <m:jc m:val="center"/>
                    </m:oMathParaPr>
                    <m:oMath>
                      <m:acc>
                        <m:accPr>
                          <m:chr m:val="̂"/>
                        </m:accPr>
                        <m:e>
                          <m:r>
                            <m:t>Y</m:t>
                          </m:r>
                        </m:e>
                      </m:acc>
                      <m:r>
                        <m:rPr>
                          <m:sty m:val="p"/>
                        </m:rPr>
                        <m:t>=</m:t>
                      </m:r>
                      <m:r>
                        <m:t>0.88</m:t>
                      </m:r>
                      <m:r>
                        <m:rPr>
                          <m:sty m:val="p"/>
                        </m:rPr>
                        <m:t>+</m:t>
                      </m:r>
                      <m:r>
                        <m:t>10.65</m:t>
                      </m:r>
                      <m:r>
                        <m:rPr>
                          <m:sty m:val="p"/>
                        </m:rPr>
                        <m:t>(</m:t>
                      </m:r>
                      <m:r>
                        <m:t>0.50</m:t>
                      </m:r>
                      <m:r>
                        <m:rPr>
                          <m:sty m:val="p"/>
                        </m:rPr>
                        <m:t>)</m:t>
                      </m:r>
                      <m:r>
                        <m:rPr>
                          <m:sty m:val="p"/>
                        </m:rPr>
                        <m:t>=</m:t>
                      </m:r>
                      <m:r>
                        <m:t>6.2</m:t>
                      </m:r>
                      <m:r>
                        <m:rPr>
                          <m:nor/>
                          <m:sty m:val="p"/>
                        </m:rPr>
                        <m:t> years</m:t>
                      </m:r>
                    </m:oMath>
                  </m:oMathPara>
                </a14:m>
              </a:p>
              <a:p>
                <a:pPr lvl="0" indent="0" marL="0">
                  <a:buNone/>
                </a:pPr>
                <a:r>
                  <a:rPr b="1"/>
                  <a:t>Confidence intervals vs. prediction intervals:</a:t>
                </a:r>
              </a:p>
              <a:p>
                <a:pPr lvl="0"/>
                <a:r>
                  <a:rPr b="1"/>
                  <a:t>Confidence interval</a:t>
                </a:r>
                <a:r>
                  <a:rPr/>
                  <a:t> — range for the mean age of </a:t>
                </a:r>
                <a:r>
                  <a:rPr i="1"/>
                  <a:t>all</a:t>
                </a:r>
                <a:r>
                  <a:rPr/>
                  <a:t> lions with 0.50 black</a:t>
                </a:r>
              </a:p>
              <a:p>
                <a:pPr lvl="0"/>
                <a:r>
                  <a:rPr b="1"/>
                  <a:t>Prediction interval</a:t>
                </a:r>
                <a:r>
                  <a:rPr/>
                  <a:t> — range for an </a:t>
                </a:r>
                <a:r>
                  <a:rPr i="1"/>
                  <a:t>individual</a:t>
                </a:r>
                <a:r>
                  <a:rPr/>
                  <a:t> lion with 0.50 black</a:t>
                </a:r>
              </a:p>
              <a:p>
                <a:pPr lvl="0" indent="0" marL="0">
                  <a:buNone/>
                </a:pPr>
                <a:r>
                  <a:rPr/>
                  <a:t>Both intervals are narrowest near </a:t>
                </a:r>
                <a14:m>
                  <m:oMath xmlns:m="http://schemas.openxmlformats.org/officeDocument/2006/math">
                    <m:acc>
                      <m:accPr>
                        <m:chr m:val="‾"/>
                      </m:accPr>
                      <m:e>
                        <m:r>
                          <m:t>X</m:t>
                        </m:r>
                      </m:e>
                    </m:acc>
                  </m:oMath>
                </a14:m>
                <a:r>
                  <a:rPr/>
                  <a:t> and widen as X moves away from the mean.</a:t>
                </a:r>
              </a:p>
            </p:txBody>
          </p:sp>
        </mc:Choice>
      </mc:AlternateContent>
      <p:pic>
        <p:nvPicPr>
          <p:cNvPr descr="correlation_linear_models_lecture_files/figure-pptx/correlation-linear-models-16-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the Prairie Home Companion</a:t>
            </a:r>
          </a:p>
        </p:txBody>
      </p:sp>
      <p:sp>
        <p:nvSpPr>
          <p:cNvPr id="3" name="Content Placeholder 2"/>
          <p:cNvSpPr>
            <a:spLocks noGrp="1"/>
          </p:cNvSpPr>
          <p:nvPr>
            <p:ph idx="1" sz="half"/>
          </p:nvPr>
        </p:nvSpPr>
        <p:spPr/>
        <p:txBody>
          <a:bodyPr/>
          <a:lstStyle/>
          <a:p>
            <a:pPr lvl="0"/>
            <a:r>
              <a:rPr/>
              <a:t>Does biodiversity affect ecosystem stability?</a:t>
            </a:r>
          </a:p>
          <a:p>
            <a:pPr lvl="0"/>
            <a:r>
              <a:rPr/>
              <a:t>Tilman et al. (2006) investigated this using experimental plots varying in plant species number</a:t>
            </a:r>
          </a:p>
        </p:txBody>
      </p:sp>
      <p:sp>
        <p:nvSpPr>
          <p:cNvPr id="4" name="Content Placeholder 3"/>
          <p:cNvSpPr>
            <a:spLocks noGrp="1"/>
          </p:cNvSpPr>
          <p:nvPr>
            <p:ph idx="2" sz="half"/>
          </p:nvPr>
        </p:nvSpPr>
        <p:spPr/>
        <p:txBody>
          <a:bodyPr/>
          <a:lstStyle/>
          <a:p>
            <a:pPr lvl="0" indent="0">
              <a:buNone/>
            </a:pPr>
            <a:r>
              <a:rPr>
                <a:latin typeface="Courier"/>
              </a:rPr>
              <a:t>
Call:
lm(formula = log_stability ~ species_number, data = prairie_data)
Residuals:
     Min       1Q   Median       3Q      Max 
-0.82774 -0.25344 -0.00426  0.27498  0.75240 
Coefficients:
               Estimate Std. Error t value Pr(&gt;|t|)    
(Intercept)    1.252629   0.041023  30.535  &lt; 2e-16 ***
species_number 0.025984   0.004926   5.275 4.28e-07 ***
---
Signif. codes:  0 '***' 0.001 '**' 0.01 '*' 0.05 '.' 0.1 ' ' 1
Residual standard error: 0.3433 on 159 degrees of freedom
Multiple R-squared:  0.149, Adjusted R-squared:  0.1436 
F-statistic: 27.83 on 1 and 159 DF,  p-value: 4.276e-07</a:t>
            </a:r>
          </a:p>
          <a:p>
            <a:pPr lvl="0" indent="0">
              <a:buNone/>
            </a:pPr>
            <a:r>
              <a:rPr>
                <a:latin typeface="Courier"/>
              </a:rPr>
              <a:t>Analysis of Variance Table
Response: log_stability
                Df  Sum Sq Mean Sq F value    Pr(&gt;F)    
species_number   1  3.2792  3.2792  27.829 4.276e-07 ***
Residuals      159 18.7358  0.1178                      
---
Signif. codes:  0 '***' 0.001 '**' 0.01 '*' 0.05 '.' 0.1 ' ' 1</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asks whether the slope equals zero:</a:t>
            </a:r>
          </a:p>
          <a:p>
            <a:pPr lvl="0"/>
            <a:r>
              <a:rPr/>
              <a:t>H₀: β = 0 (species number does not affect stability)</a:t>
            </a:r>
          </a:p>
          <a:p>
            <a:pPr lvl="0"/>
            <a:r>
              <a:rPr/>
              <a:t>H₁: β ≠ 0 (species number does affect stability)</a:t>
            </a:r>
          </a:p>
          <a:p>
            <a:pPr lvl="0" indent="0" marL="0">
              <a:buNone/>
            </a:pPr>
            <a:r>
              <a:rPr/>
              <a:t>t = estimate / SE</a:t>
            </a:r>
          </a:p>
          <a:p>
            <a:pPr lvl="0" indent="0" marL="0">
              <a:buNone/>
            </a:pPr>
            <a:r>
              <a:rPr b="1"/>
              <a:t>Interpretation:</a:t>
            </a:r>
          </a:p>
          <a:p>
            <a:pPr lvl="0" indent="0" marL="0">
              <a:buNone/>
            </a:pPr>
            <a:r>
              <a:rPr/>
              <a:t>The slope estimate is 0.033, indicating that log stability increases by 0.033 units for each additional plant species in the plot.</a:t>
            </a:r>
          </a:p>
          <a:p>
            <a:pPr lvl="0" indent="0" marL="0">
              <a:buNone/>
            </a:pPr>
            <a:r>
              <a:rPr/>
              <a:t>The p-value is very small (2.73e-10), providing strong evidence to reject the null hypothesis that species number has no effect on ecosystem stability.</a:t>
            </a:r>
          </a:p>
          <a:p>
            <a:pPr lvl="0" indent="0" marL="0">
              <a:buNone/>
            </a:pPr>
            <a:r>
              <a:rPr/>
              <a:t>R² = 0.222, meaning approximately 22.2% of the variation in log stability is explained by the number of plant species.</a:t>
            </a:r>
          </a:p>
          <a:p>
            <a:pPr lvl="0" indent="0" marL="0">
              <a:buNone/>
            </a:pPr>
            <a:r>
              <a:rPr/>
              <a:t>This supports the biodiversity-stability hypothesis: more diverse plant communities have more stable biomass production over time.</a:t>
            </a:r>
          </a:p>
        </p:txBody>
      </p:sp>
      <p:pic>
        <p:nvPicPr>
          <p:cNvPr descr="correlation_linear_models_lecture_files/figure-pptx/correlation-linear-models-18-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Testing Regression Assumptions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Linear regression has four key assumptions:</a:t>
                </a:r>
              </a:p>
              <a:p>
                <a:pPr lvl="0" indent="-342900" marL="342900">
                  <a:buAutoNum type="arabicPeriod"/>
                </a:pPr>
                <a:r>
                  <a:rPr b="1"/>
                  <a:t>Linearity</a:t>
                </a:r>
                <a:r>
                  <a:rPr/>
                  <a:t> — the relationship between X and Y is linear</a:t>
                </a:r>
              </a:p>
              <a:p>
                <a:pPr lvl="0" indent="-342900" marL="342900">
                  <a:buAutoNum type="arabicPeriod"/>
                </a:pPr>
                <a:r>
                  <a:rPr b="1"/>
                  <a:t>Independence</a:t>
                </a:r>
                <a:r>
                  <a:rPr/>
                  <a:t> — observations are independent</a:t>
                </a:r>
              </a:p>
              <a:p>
                <a:pPr lvl="0" indent="-342900" marL="342900">
                  <a:buAutoNum type="arabicPeriod"/>
                </a:pPr>
                <a:r>
                  <a:rPr b="1"/>
                  <a:t>Homoscedasticity</a:t>
                </a:r>
                <a:r>
                  <a:rPr/>
                  <a:t> — equal variance across all values of X</a:t>
                </a:r>
              </a:p>
              <a:p>
                <a:pPr lvl="0" indent="-342900" marL="342900">
                  <a:buAutoNum type="arabicPeriod"/>
                </a:pPr>
                <a:r>
                  <a:rPr b="1"/>
                  <a:t>Normality</a:t>
                </a:r>
                <a:r>
                  <a:rPr/>
                  <a:t> — residuals are normally distributed</a:t>
                </a:r>
              </a:p>
              <a:p>
                <a:pPr lvl="0" indent="0" marL="0">
                  <a:buNone/>
                </a:pPr>
                <a:r>
                  <a:rPr/>
                  <a:t>Let’s check these assumptions for the lion regression model.</a:t>
                </a:r>
              </a:p>
              <a:p>
                <a:pPr lvl="0" indent="0" marL="0">
                  <a:buNone/>
                </a:pPr>
                <a:r>
                  <a:rPr/>
                  <a:t>Assume that error </a:t>
                </a:r>
                <a14:m>
                  <m:oMath xmlns:m="http://schemas.openxmlformats.org/officeDocument/2006/math">
                    <m:sSub>
                      <m:e>
                        <m:r>
                          <m:t>ε</m:t>
                        </m:r>
                      </m:e>
                      <m:sub>
                        <m:r>
                          <m:t>i</m:t>
                        </m:r>
                      </m:sub>
                    </m:sSub>
                  </m:oMath>
                </a14:m>
                <a:r>
                  <a:rPr/>
                  <a:t> is normally distributed for each x_i, has the same variance, and has a mean of 0 at each x_i.</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1854200"/>
            <a:ext cx="2781300" cy="1587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the regression line mu_yi = beta0 + beta1*xi running through X-Y space, with small normal-distribution curves drawn at two X values (x1 and x2) around the line to show that Y is assumed to be normally distributed around the true regression line at every value of 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assumption check from here on is about the </a:t>
                </a:r>
                <a:r>
                  <a:rPr b="1"/>
                  <a:t>residuals</a:t>
                </a:r>
                <a:r>
                  <a:rPr/>
                  <a:t>, not the raw data. That is the single most common mix-up in regression.</a:t>
                </a:r>
              </a:p>
              <a:p>
                <a:pPr lvl="0" indent="0" marL="0">
                  <a:buNone/>
                </a:pPr>
                <a:r>
                  <a:rPr/>
                  <a:t>The error </a:t>
                </a:r>
                <a14:m>
                  <m:oMath xmlns:m="http://schemas.openxmlformats.org/officeDocument/2006/math">
                    <m:sSub>
                      <m:e>
                        <m:r>
                          <m:t>ε</m:t>
                        </m:r>
                      </m:e>
                      <m:sub>
                        <m:r>
                          <m:t>i</m:t>
                        </m:r>
                      </m:sub>
                    </m:sSub>
                  </m:oMath>
                </a14:m>
                <a:r>
                  <a:rPr/>
                  <a:t> is estimated as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p>
              <a:p>
                <a:pPr lvl="0" indent="0" marL="0">
                  <a:buNone/>
                </a:pPr>
                <a:r>
                  <a:rPr/>
                  <a:t>Ordinary least squares estimates a and b (intercept and slope) to minimize the sum of the residuals squared:</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6764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with a fitted least-squares regression line, labeled to show an observed point y_i, its predicted value y-hat_i on the line directly below it, and the vertical gap between them marked as the residual (y_i minus y-hat_i), with dashed lines also marking the means x-bar and y-bar.</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b="1"/>
              <a:t>Residuals vs. fitted</a:t>
            </a:r>
            <a:r>
              <a:rPr/>
              <a:t> is the linearity check.</a:t>
            </a:r>
          </a:p>
          <a:p>
            <a:pPr lvl="0" indent="0" marL="0">
              <a:buNone/>
            </a:pPr>
            <a:r>
              <a:rPr b="1"/>
              <a:t>What you want:</a:t>
            </a:r>
            <a:r>
              <a:rPr/>
              <a:t> a shapeless cloud, scattered evenly above and below the horizontal line at zero.</a:t>
            </a:r>
          </a:p>
          <a:p>
            <a:pPr lvl="0" indent="0" marL="0">
              <a:buNone/>
            </a:pPr>
            <a:r>
              <a:rPr b="1"/>
              <a:t>What is a problem:</a:t>
            </a:r>
            <a:r>
              <a:rPr/>
              <a:t> any </a:t>
            </a:r>
            <a:r>
              <a:rPr i="1"/>
              <a:t>curve</a:t>
            </a:r>
            <a:r>
              <a:rPr/>
              <a:t> in the red trend line. A U-shape or arch means the relationship is not straight, and a straight-line model is the wrong shape for the data.</a:t>
            </a:r>
          </a:p>
          <a:p>
            <a:pPr lvl="0" indent="0" marL="0">
              <a:buNone/>
            </a:pPr>
            <a:r>
              <a:rPr/>
              <a:t>The plot also doubles as a </a:t>
            </a:r>
            <a:r>
              <a:rPr b="1"/>
              <a:t>homoscedasticity</a:t>
            </a:r>
            <a:r>
              <a:rPr/>
              <a:t> check — if the cloud fans out or funnels in as you move right, the variance is not constant.</a:t>
            </a:r>
          </a:p>
        </p:txBody>
      </p:sp>
      <p:pic>
        <p:nvPicPr>
          <p:cNvPr descr="correlation_linear_models_lecture_files/figure-pptx/correlation-linear-models-1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b="1"/>
              <a:t>The QQ plot</a:t>
            </a:r>
            <a:r>
              <a:rPr/>
              <a:t> compares your residuals to what perfectly normal residuals would look like.</a:t>
            </a:r>
          </a:p>
          <a:p>
            <a:pPr lvl="0" indent="0" marL="0">
              <a:buNone/>
            </a:pPr>
            <a:r>
              <a:rPr b="1"/>
              <a:t>What you want:</a:t>
            </a:r>
            <a:r>
              <a:rPr/>
              <a:t> points hugging the diagonal line.</a:t>
            </a:r>
          </a:p>
          <a:p>
            <a:pPr lvl="0" indent="0" marL="0">
              <a:buNone/>
            </a:pPr>
            <a:r>
              <a:rPr b="1"/>
              <a:t>What is a problem:</a:t>
            </a:r>
            <a:r>
              <a:rPr/>
              <a:t> systematic curvature, or points peeling away at the ends — the tails are where non-normality shows up first, and the tails are what p-values depend on.</a:t>
            </a:r>
          </a:p>
          <a:p>
            <a:pPr lvl="0" indent="0" marL="0">
              <a:buNone/>
            </a:pPr>
            <a:r>
              <a:rPr/>
              <a:t>Note we check the residuals here, </a:t>
            </a:r>
            <a:r>
              <a:rPr b="1"/>
              <a:t>not</a:t>
            </a:r>
            <a:r>
              <a:rPr/>
              <a:t> </a:t>
            </a:r>
            <a:r>
              <a:rPr>
                <a:latin typeface="Courier"/>
              </a:rPr>
              <a:t>age_years</a:t>
            </a:r>
            <a:r>
              <a:rPr/>
              <a:t> itself. The raw ages are right-skewed; that is allowed. It is the residuals that must behave.</a:t>
            </a:r>
          </a:p>
        </p:txBody>
      </p:sp>
      <p:pic>
        <p:nvPicPr>
          <p:cNvPr descr="correlation_linear_models_lecture_files/figure-pptx/correlation-linear-models-20-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marL="0">
              <a:buNone/>
            </a:pPr>
            <a:r>
              <a:rPr/>
              <a:t>The formal test to go with the QQ plot. Note what goes inside it:</a:t>
            </a:r>
          </a:p>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(lion_model))</a:t>
            </a:r>
          </a:p>
          <a:p>
            <a:pPr lvl="0" indent="0" marL="0">
              <a:buNone/>
            </a:pPr>
            <a:r>
              <a:rPr b="1">
                <a:latin typeface="Courier"/>
              </a:rPr>
              <a:t>residuals(model)</a:t>
            </a:r>
            <a:r>
              <a:rPr/>
              <a:t> — not </a:t>
            </a:r>
            <a:r>
              <a:rPr>
                <a:latin typeface="Courier"/>
              </a:rPr>
              <a:t>lion_data$age_years</a:t>
            </a:r>
            <a:r>
              <a:rPr/>
              <a:t>. Testing the raw response is a different (and usually wrong) question.</a:t>
            </a:r>
          </a:p>
          <a:p>
            <a:pPr lvl="0" indent="0" marL="0">
              <a:buNone/>
            </a:pPr>
            <a:r>
              <a:rPr b="1"/>
              <a:t>H₀ is “the residuals ARE normal”,</a:t>
            </a:r>
            <a:r>
              <a:rPr/>
              <a:t> so here a </a:t>
            </a:r>
            <a:r>
              <a:rPr b="1"/>
              <a:t>large</a:t>
            </a:r>
            <a:r>
              <a:rPr/>
              <a:t> p-value is the good outcome — the same backwards logic as Levene’s test.</a:t>
            </a:r>
          </a:p>
          <a:p>
            <a:pPr lvl="0" indent="0" marL="1270000">
              <a:buNone/>
            </a:pPr>
            <a:r>
              <a:rPr sz="2000" b="1"/>
              <a:t>Warning</a:t>
            </a:r>
          </a:p>
          <a:p>
            <a:pPr lvl="0" indent="0" marL="1270000">
              <a:buNone/>
            </a:pPr>
            <a:r>
              <a:rPr sz="2000" b="1"/>
              <a:t>⚠️ Do not let this test overrule your eyes</a:t>
            </a:r>
          </a:p>
          <a:p>
            <a:pPr lvl="0" indent="0" marL="1270000">
              <a:buNone/>
            </a:pPr>
            <a:r>
              <a:rPr sz="2000"/>
              <a:t>At small n it has almost no power to detect a problem; at large n it flags departures too small to matter. Read the QQ plot first and use the test to support it, not replace it.</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residuals(lion_model)
W = 0.93879, p-value = 0.0692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Assumptions Are Violated</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If assumptions are violated:</a:t>
            </a:r>
          </a:p>
          <a:p>
            <a:pPr lvl="0" indent="-342900" marL="342900">
              <a:buAutoNum type="arabicPeriod"/>
            </a:pPr>
            <a:r>
              <a:rPr/>
              <a:t>Transform the data (Section 17.6)</a:t>
            </a:r>
          </a:p>
          <a:p>
            <a:pPr lvl="0" indent="-342900" marL="342900">
              <a:buAutoNum type="arabicPeriod"/>
            </a:pPr>
            <a:r>
              <a:rPr/>
              <a:t>Use weighted least squares for heteroscedasticity</a:t>
            </a:r>
          </a:p>
          <a:p>
            <a:pPr lvl="0" indent="-342900" marL="342900">
              <a:buAutoNum type="arabicPeriod"/>
            </a:pPr>
            <a:r>
              <a:rPr/>
              <a:t>Consider non-linear models (Section 17.8)</a:t>
            </a:r>
          </a:p>
        </p:txBody>
      </p:sp>
      <p:pic>
        <p:nvPicPr>
          <p:cNvPr descr="correlation_linear_models_lecture_files/figure-pptx/correlation-linear-models-2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Regression Inference &amp; ANOVA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Estimates of Error and Significance</a:t>
            </a:r>
          </a:p>
        </p:txBody>
      </p:sp>
      <p:sp>
        <p:nvSpPr>
          <p:cNvPr id="3" name="Content Placeholder 2"/>
          <p:cNvSpPr>
            <a:spLocks noGrp="1"/>
          </p:cNvSpPr>
          <p:nvPr>
            <p:ph idx="1" sz="half"/>
          </p:nvPr>
        </p:nvSpPr>
        <p:spPr/>
        <p:txBody>
          <a:bodyPr/>
          <a:lstStyle/>
          <a:p>
            <a:pPr lvl="0"/>
            <a:r>
              <a:rPr/>
              <a:t>Estimates of standard error and confidence intervals for slope and intercept determine confidence bands</a:t>
            </a:r>
          </a:p>
          <a:p>
            <a:pPr lvl="0"/>
            <a:r>
              <a:rPr/>
              <a:t>The 95% confidence band will contain the true population line 95/100 times under repeated sampling</a:t>
            </a:r>
          </a:p>
          <a:p>
            <a:pPr lvl="0"/>
            <a:r>
              <a:rPr/>
              <a:t>This is usually done in R</a:t>
            </a:r>
          </a:p>
        </p:txBody>
      </p:sp>
      <p:pic>
        <p:nvPicPr>
          <p:cNvPr descr="images/clipboard-934594306.png" id="0" name="Picture 1"/>
          <p:cNvPicPr>
            <a:picLocks noGrp="1" noChangeAspect="1"/>
          </p:cNvPicPr>
          <p:nvPr/>
        </p:nvPicPr>
        <p:blipFill>
          <a:blip r:embed="rId2"/>
          <a:stretch>
            <a:fillRect/>
          </a:stretch>
        </p:blipFill>
        <p:spPr bwMode="auto">
          <a:xfrm>
            <a:off x="6121400" y="2120900"/>
            <a:ext cx="2781300" cy="102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of formulas for the ordinary least squares estimates and standard errors of the slope (beta1), intercept (beta0), and error term (epsilon) in simple linear regression, each row giving the OLS estimate formula and its corresponding standard error formula.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Estimates to Hypothesis Tests</a:t>
            </a:r>
          </a:p>
        </p:txBody>
      </p:sp>
      <p:sp>
        <p:nvSpPr>
          <p:cNvPr id="3" name="Content Placeholder 2"/>
          <p:cNvSpPr>
            <a:spLocks noGrp="1"/>
          </p:cNvSpPr>
          <p:nvPr>
            <p:ph idx="1" sz="half"/>
          </p:nvPr>
        </p:nvSpPr>
        <p:spPr/>
        <p:txBody>
          <a:bodyPr/>
          <a:lstStyle/>
          <a:p>
            <a:pPr lvl="0" indent="0" marL="0">
              <a:buNone/>
            </a:pPr>
            <a:r>
              <a:rPr/>
              <a:t>In addition to getting estimates of population parameters (β₀, β₁), we want to test hypotheses about them.</a:t>
            </a:r>
          </a:p>
          <a:p>
            <a:pPr lvl="0"/>
            <a:r>
              <a:rPr/>
              <a:t>This is accomplished by analysis of variance</a:t>
            </a:r>
          </a:p>
          <a:p>
            <a:pPr lvl="0"/>
            <a:r>
              <a:rPr/>
              <a:t>Partition variance in Y: due to variation in X, and due to other things (error)</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9 — Regression, covers this variance-partitioning approach to testing a regression slope.</a:t>
            </a:r>
          </a:p>
        </p:txBody>
      </p:sp>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difference between predicted values (</a:t>
                </a:r>
                <a14:m>
                  <m:oMath xmlns:m="http://schemas.openxmlformats.org/officeDocument/2006/math">
                    <m:sSub>
                      <m:e>
                        <m:acc>
                          <m:accPr>
                            <m:chr m:val="̂"/>
                          </m:accPr>
                          <m:e>
                            <m:r>
                              <m:t>y</m:t>
                            </m:r>
                          </m:e>
                        </m:acc>
                      </m:e>
                      <m:sub>
                        <m:r>
                          <m:t>i</m:t>
                        </m:r>
                      </m:sub>
                    </m:sSub>
                  </m:oMath>
                </a14:m>
                <a:r>
                  <a:rPr/>
                  <a:t>) and mean y (</a:t>
                </a:r>
                <a14:m>
                  <m:oMath xmlns:m="http://schemas.openxmlformats.org/officeDocument/2006/math">
                    <m:acc>
                      <m:accPr>
                        <m:chr m:val="‾"/>
                      </m:accPr>
                      <m:e>
                        <m:r>
                          <m:t>y</m:t>
                        </m:r>
                      </m:e>
                    </m:acc>
                  </m:oMath>
                </a14:m>
                <a:r>
                  <a:rPr/>
                  <a:t>); df = 1 for simple linear (parameters − 1)</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difference between observed (</a:t>
                </a:r>
                <a14:m>
                  <m:oMath xmlns:m="http://schemas.openxmlformats.org/officeDocument/2006/math">
                    <m:sSub>
                      <m:e>
                        <m:r>
                          <m:t>y</m:t>
                        </m:r>
                      </m:e>
                      <m:sub>
                        <m:r>
                          <m:t>i</m:t>
                        </m:r>
                      </m:sub>
                    </m:sSub>
                  </m:oMath>
                </a14:m>
                <a:r>
                  <a:rPr/>
                  <a:t>) and predicted (</a:t>
                </a:r>
                <a14:m>
                  <m:oMath xmlns:m="http://schemas.openxmlformats.org/officeDocument/2006/math">
                    <m:sSub>
                      <m:e>
                        <m:acc>
                          <m:accPr>
                            <m:chr m:val="̂"/>
                          </m:accPr>
                          <m:e>
                            <m:r>
                              <m:t>y</m:t>
                            </m:r>
                          </m:e>
                        </m:acc>
                      </m:e>
                      <m:sub>
                        <m:r>
                          <m:t>i</m:t>
                        </m:r>
                      </m:sub>
                    </m:sSub>
                  </m:oMath>
                </a14:m>
                <a:r>
                  <a:rPr/>
                  <a:t>) values; df = n − 2</a:t>
                </a:r>
              </a:p>
              <a:p>
                <a:pPr lvl="0"/>
                <a14:m>
                  <m:oMath xmlns:m="http://schemas.openxmlformats.org/officeDocument/2006/math">
                    <m:r>
                      <m:t>S</m:t>
                    </m:r>
                    <m:sSub>
                      <m:e>
                        <m:r>
                          <m:t>S</m:t>
                        </m:r>
                      </m:e>
                      <m:sub>
                        <m:r>
                          <m:t>t</m:t>
                        </m:r>
                        <m:r>
                          <m:t>o</m:t>
                        </m:r>
                        <m:r>
                          <m:t>t</m:t>
                        </m:r>
                        <m:r>
                          <m:t>a</m:t>
                        </m:r>
                        <m:r>
                          <m:t>l</m:t>
                        </m:r>
                      </m:sub>
                    </m:sSub>
                  </m:oMath>
                </a14:m>
                <a:r>
                  <a:rPr/>
                  <a:t>: total variation — sum of squared deviations of each observation (</a:t>
                </a:r>
                <a14:m>
                  <m:oMath xmlns:m="http://schemas.openxmlformats.org/officeDocument/2006/math">
                    <m:sSub>
                      <m:e>
                        <m:r>
                          <m:t>y</m:t>
                        </m:r>
                      </m:e>
                      <m:sub>
                        <m:r>
                          <m:t>i</m:t>
                        </m:r>
                      </m:sub>
                    </m:sSub>
                  </m:oMath>
                </a14:m>
                <a:r>
                  <a:rPr/>
                  <a:t>) from the mean (</a:t>
                </a:r>
                <a14:m>
                  <m:oMath xmlns:m="http://schemas.openxmlformats.org/officeDocument/2006/math">
                    <m:acc>
                      <m:accPr>
                        <m:chr m:val="‾"/>
                      </m:accPr>
                      <m:e>
                        <m:r>
                          <m:t>y</m:t>
                        </m:r>
                      </m:e>
                    </m:acc>
                  </m:oMath>
                </a14:m>
                <a:r>
                  <a:rPr/>
                  <a:t>); df = n − 1</a:t>
                </a:r>
              </a:p>
            </p:txBody>
          </p:sp>
        </mc:Choice>
      </mc:AlternateContent>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 — Visually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df = 1 for simple linear</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df = n − 2</a:t>
                </a:r>
              </a:p>
              <a:p>
                <a:pPr lvl="0"/>
                <a14:m>
                  <m:oMath xmlns:m="http://schemas.openxmlformats.org/officeDocument/2006/math">
                    <m:r>
                      <m:t>S</m:t>
                    </m:r>
                    <m:sSub>
                      <m:e>
                        <m:r>
                          <m:t>S</m:t>
                        </m:r>
                      </m:e>
                      <m:sub>
                        <m:r>
                          <m:t>t</m:t>
                        </m:r>
                        <m:r>
                          <m:t>o</m:t>
                        </m:r>
                        <m:r>
                          <m:t>t</m:t>
                        </m:r>
                        <m:r>
                          <m:t>a</m:t>
                        </m:r>
                        <m:r>
                          <m:t>l</m:t>
                        </m:r>
                      </m:sub>
                    </m:sSub>
                  </m:oMath>
                </a14:m>
                <a:r>
                  <a:rPr/>
                  <a:t>: total variation — df = n − 1</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listing Regression, Residual, and Total sources of variation with their sum-of-squares, degrees of freedom (1, n-2, n-1), mean-square, and expected-mean-square formulas.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Regression Fits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a:t>
                </a:r>
                <a:r>
                  <a:rPr b="1"/>
                  <a:t>greater in C than D</a:t>
                </a:r>
              </a:p>
              <a:p>
                <a:pPr lvl="0"/>
                <a14:m>
                  <m:oMath xmlns:m="http://schemas.openxmlformats.org/officeDocument/2006/math">
                    <m:r>
                      <m:t>S</m:t>
                    </m:r>
                    <m:sSub>
                      <m:e>
                        <m:r>
                          <m:t>S</m:t>
                        </m:r>
                      </m:e>
                      <m:sub>
                        <m:r>
                          <m:t>r</m:t>
                        </m:r>
                        <m:r>
                          <m:t>e</m:t>
                        </m:r>
                        <m:r>
                          <m:t>s</m:t>
                        </m:r>
                        <m:r>
                          <m:t>i</m:t>
                        </m:r>
                        <m:r>
                          <m:t>d</m:t>
                        </m:r>
                        <m:r>
                          <m:t>u</m:t>
                        </m:r>
                        <m:r>
                          <m:t>a</m:t>
                        </m:r>
                        <m:r>
                          <m:t>l</m:t>
                        </m:r>
                      </m:sub>
                    </m:sSub>
                  </m:oMath>
                </a14:m>
                <a:r>
                  <a:rPr/>
                  <a:t>: </a:t>
                </a:r>
                <a:r>
                  <a:rPr b="1"/>
                  <a:t>greater in B than A</a:t>
                </a:r>
              </a:p>
              <a:p>
                <a:pPr lvl="0"/>
                <a14:m>
                  <m:oMath xmlns:m="http://schemas.openxmlformats.org/officeDocument/2006/math">
                    <m:r>
                      <m:t>S</m:t>
                    </m:r>
                    <m:sSub>
                      <m:e>
                        <m:r>
                          <m:t>S</m:t>
                        </m:r>
                      </m:e>
                      <m:sub>
                        <m:r>
                          <m:t>t</m:t>
                        </m:r>
                        <m:r>
                          <m:t>o</m:t>
                        </m:r>
                        <m:r>
                          <m:t>t</m:t>
                        </m:r>
                        <m:r>
                          <m:t>a</m:t>
                        </m:r>
                        <m:r>
                          <m:t>l</m:t>
                        </m:r>
                      </m:sub>
                    </m:sSub>
                  </m:oMath>
                </a14:m>
                <a:r>
                  <a:rPr/>
                  <a:t>: total variation</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638300"/>
            <a:ext cx="2781300" cy="1993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Four scatterplots (a)-(d) with fitted regression lines of differing steepness and fit quality, each annotated with an observed point y_i, its prediction y-hat_i, and the mean y-bar, used to compare how much regression sum-of-squares and residual sum-of-squares differ between a strong fit (a, c) and a weak fit (d).</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Sums of Squares and Degrees of Freedom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r>
                        <m:rPr>
                          <m:sty m:val="p"/>
                        </m:rPr>
                        <m:t>=</m:t>
                      </m:r>
                      <m:r>
                        <m:t>S</m:t>
                      </m:r>
                      <m:sSub>
                        <m:e>
                          <m:r>
                            <m:t>S</m:t>
                          </m:r>
                        </m:e>
                        <m:sub>
                          <m:r>
                            <m:t>t</m:t>
                          </m:r>
                          <m:r>
                            <m:t>o</m:t>
                          </m:r>
                          <m:r>
                            <m:t>t</m:t>
                          </m:r>
                          <m:r>
                            <m:t>a</m:t>
                          </m:r>
                          <m:r>
                            <m:t>l</m:t>
                          </m:r>
                        </m:sub>
                      </m:sSub>
                    </m:oMath>
                  </m:oMathPara>
                </a14:m>
              </a:p>
              <a:p>
                <a:pPr lvl="0" indent="0" marL="0">
                  <a:buNone/>
                </a:pPr>
                <a14:m>
                  <m:oMathPara xmlns:m="http://schemas.openxmlformats.org/officeDocument/2006/math">
                    <m:oMathParaPr>
                      <m:jc m:val="center"/>
                    </m:oMathParaPr>
                    <m:oMath>
                      <m:r>
                        <m:t>d</m:t>
                      </m:r>
                      <m:sSub>
                        <m:e>
                          <m:r>
                            <m:t>f</m:t>
                          </m:r>
                        </m:e>
                        <m:sub>
                          <m:r>
                            <m:t>r</m:t>
                          </m:r>
                          <m:r>
                            <m:t>e</m:t>
                          </m:r>
                          <m:r>
                            <m:t>g</m:t>
                          </m:r>
                          <m:r>
                            <m:t>r</m:t>
                          </m:r>
                          <m:r>
                            <m:t>e</m:t>
                          </m:r>
                          <m:r>
                            <m:t>s</m:t>
                          </m:r>
                          <m:r>
                            <m:t>s</m:t>
                          </m:r>
                          <m:r>
                            <m:t>i</m:t>
                          </m:r>
                          <m:r>
                            <m:t>o</m:t>
                          </m:r>
                          <m:r>
                            <m:t>n</m:t>
                          </m:r>
                        </m:sub>
                      </m:sSub>
                      <m:r>
                        <m:rPr>
                          <m:sty m:val="p"/>
                        </m:rPr>
                        <m:t>+</m:t>
                      </m:r>
                      <m:r>
                        <m:t>d</m:t>
                      </m:r>
                      <m:sSub>
                        <m:e>
                          <m:r>
                            <m:t>f</m:t>
                          </m:r>
                        </m:e>
                        <m:sub>
                          <m:r>
                            <m:t>r</m:t>
                          </m:r>
                          <m:r>
                            <m:t>e</m:t>
                          </m:r>
                          <m:r>
                            <m:t>s</m:t>
                          </m:r>
                          <m:r>
                            <m:t>i</m:t>
                          </m:r>
                          <m:r>
                            <m:t>d</m:t>
                          </m:r>
                          <m:r>
                            <m:t>u</m:t>
                          </m:r>
                          <m:r>
                            <m:t>a</m:t>
                          </m:r>
                          <m:r>
                            <m:t>l</m:t>
                          </m:r>
                        </m:sub>
                      </m:sSub>
                      <m:r>
                        <m:rPr>
                          <m:sty m:val="p"/>
                        </m:rPr>
                        <m:t>=</m:t>
                      </m:r>
                      <m:r>
                        <m:t>d</m:t>
                      </m:r>
                      <m:sSub>
                        <m:e>
                          <m:r>
                            <m:t>f</m:t>
                          </m:r>
                        </m:e>
                        <m:sub>
                          <m:r>
                            <m:t>t</m:t>
                          </m:r>
                          <m:r>
                            <m:t>o</m:t>
                          </m:r>
                          <m:r>
                            <m:t>t</m:t>
                          </m:r>
                          <m:r>
                            <m:t>a</m:t>
                          </m:r>
                          <m:r>
                            <m:t>l</m:t>
                          </m:r>
                        </m:sub>
                      </m:sSub>
                    </m:oMath>
                  </m:oMathPara>
                </a14:m>
              </a:p>
              <a:p>
                <a:pPr lvl="0"/>
                <a:r>
                  <a:rPr/>
                  <a:t>Sums of squares depend on n</a:t>
                </a:r>
              </a:p>
              <a:p>
                <a:pPr lvl="0"/>
                <a:r>
                  <a:rPr/>
                  <a:t>We need a different estimate of variance</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Sums of squares converted to mean squares:</a:t>
                </a:r>
              </a:p>
              <a:p>
                <a:pPr lvl="0"/>
                <a:r>
                  <a:rPr/>
                  <a:t>Sums of squares divided by degrees of freedom — does not depend on n</a:t>
                </a:r>
              </a:p>
              <a:p>
                <a:pPr lvl="0"/>
                <a14:m>
                  <m:oMath xmlns:m="http://schemas.openxmlformats.org/officeDocument/2006/math">
                    <m:r>
                      <m:t>M</m:t>
                    </m:r>
                    <m:sSub>
                      <m:e>
                        <m:r>
                          <m:t>S</m:t>
                        </m:r>
                      </m:e>
                      <m:sub>
                        <m:r>
                          <m:t>r</m:t>
                        </m:r>
                        <m:r>
                          <m:t>e</m:t>
                        </m:r>
                        <m:r>
                          <m:t>s</m:t>
                        </m:r>
                        <m:r>
                          <m:t>i</m:t>
                        </m:r>
                        <m:r>
                          <m:t>d</m:t>
                        </m:r>
                        <m:r>
                          <m:t>u</m:t>
                        </m:r>
                        <m:r>
                          <m:t>a</m:t>
                        </m:r>
                        <m:r>
                          <m:t>l</m:t>
                        </m:r>
                      </m:sub>
                    </m:sSub>
                  </m:oMath>
                </a14:m>
                <a:r>
                  <a:rPr/>
                  <a:t>: estimates population variation</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estimates population variation </a:t>
                </a:r>
                <a:r>
                  <a:rPr i="1"/>
                  <a:t>and</a:t>
                </a:r>
                <a:r>
                  <a:rPr/>
                  <a:t> variation due to the X-Y relationship</a:t>
                </a:r>
              </a:p>
              <a:p>
                <a:pPr lvl="0"/>
                <a:r>
                  <a:rPr/>
                  <a:t>Mean squares are </a:t>
                </a:r>
                <a:r>
                  <a:rPr b="1"/>
                  <a:t>not</a:t>
                </a:r>
                <a:r>
                  <a:rPr/>
                  <a:t> additive</a:t>
                </a:r>
              </a:p>
              <a:p>
                <a:pPr lvl="0" indent="0" marL="1270000">
                  <a:buNone/>
                </a:pPr>
                <a:r>
                  <a:rPr sz="2000" b="1"/>
                  <a:t>Note</a:t>
                </a:r>
              </a:p>
              <a:p>
                <a:pPr lvl="0" indent="0" marL="1270000">
                  <a:buNone/>
                </a:pPr>
                <a:r>
                  <a:rPr sz="2000" b="1"/>
                  <a:t>✅ Key idea</a:t>
                </a:r>
              </a:p>
              <a:p>
                <a:pPr lvl="0" indent="0" marL="1270000">
                  <a:buNone/>
                </a:pPr>
                <a:r>
                  <a:rPr sz="2000"/>
                  <a:t>The F-ratio in a regression ANOVA table is exactly </a:t>
                </a:r>
                <a14:m>
                  <m:oMath xmlns:m="http://schemas.openxmlformats.org/officeDocument/2006/math">
                    <m:r>
                      <m:t>M</m:t>
                    </m:r>
                    <m:sSub>
                      <m:e>
                        <m:r>
                          <m:t>S</m:t>
                        </m:r>
                      </m:e>
                      <m:sub>
                        <m:r>
                          <m:t>r</m:t>
                        </m:r>
                        <m:r>
                          <m:t>e</m:t>
                        </m:r>
                        <m:r>
                          <m:t>g</m:t>
                        </m:r>
                        <m:r>
                          <m:t>r</m:t>
                        </m:r>
                        <m:r>
                          <m:t>e</m:t>
                        </m:r>
                        <m:r>
                          <m:t>s</m:t>
                        </m:r>
                        <m:r>
                          <m:t>s</m:t>
                        </m:r>
                        <m:r>
                          <m:t>i</m:t>
                        </m:r>
                        <m:r>
                          <m:t>o</m:t>
                        </m:r>
                        <m:r>
                          <m:t>n</m:t>
                        </m:r>
                      </m:sub>
                    </m:sSub>
                    <m:r>
                      <m:rPr>
                        <m:sty m:val="p"/>
                      </m:rPr>
                      <m:t>/</m:t>
                    </m:r>
                    <m:r>
                      <m:t>M</m:t>
                    </m:r>
                    <m:sSub>
                      <m:e>
                        <m:r>
                          <m:t>S</m:t>
                        </m:r>
                      </m:e>
                      <m:sub>
                        <m:r>
                          <m:t>r</m:t>
                        </m:r>
                        <m:r>
                          <m:t>e</m:t>
                        </m:r>
                        <m:r>
                          <m:t>s</m:t>
                        </m:r>
                        <m:r>
                          <m:t>i</m:t>
                        </m:r>
                        <m:r>
                          <m:t>d</m:t>
                        </m:r>
                        <m:r>
                          <m:t>u</m:t>
                        </m:r>
                        <m:r>
                          <m:t>a</m:t>
                        </m:r>
                        <m:r>
                          <m:t>l</m:t>
                        </m:r>
                      </m:sub>
                    </m:sSub>
                  </m:oMath>
                </a14:m>
                <a:r>
                  <a:rPr sz="2000"/>
                  <a:t> — the same logic you’ll see again when we get to ANOVA for group comparisons.</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Separated </a:t>
                </a:r>
                <a:r>
                  <a:rPr b="1"/>
                  <a:t>correlation</a:t>
                </a:r>
                <a:r>
                  <a:rPr/>
                  <a:t> (how tightly two variables move together) from </a:t>
                </a:r>
                <a:r>
                  <a:rPr b="1"/>
                  <a:t>regression</a:t>
                </a:r>
                <a:r>
                  <a:rPr/>
                  <a:t> (an equation predicting Y from X) — and saw that neither one earns you causation</a:t>
                </a:r>
              </a:p>
              <a:p>
                <a:pPr lvl="0"/>
                <a:r>
                  <a:rPr/>
                  <a:t>Computed and interpreted </a:t>
                </a:r>
                <a:r>
                  <a:rPr b="1"/>
                  <a:t>Pearson’s r</a:t>
                </a:r>
                <a:r>
                  <a:rPr/>
                  <a:t>, squared it to get the variance explained, and tested it with </a:t>
                </a:r>
                <a:r>
                  <a:rPr>
                    <a:latin typeface="Courier"/>
                  </a:rPr>
                  <a:t>cor.test()</a:t>
                </a:r>
              </a:p>
              <a:p>
                <a:pPr lvl="0"/>
                <a:r>
                  <a:rPr/>
                  <a:t>Switched to </a:t>
                </a:r>
                <a:r>
                  <a:rPr b="1"/>
                  <a:t>Spearman’s ρ</a:t>
                </a:r>
                <a:r>
                  <a:rPr/>
                  <a:t> when the normality assumption failed</a:t>
                </a:r>
              </a:p>
              <a:p>
                <a:pPr lvl="0"/>
                <a:r>
                  <a:rPr/>
                  <a:t>Fitted a straight line with </a:t>
                </a:r>
                <a:r>
                  <a:rPr>
                    <a:latin typeface="Courier"/>
                  </a:rPr>
                  <a:t>lm()</a:t>
                </a:r>
                <a:r>
                  <a:rPr/>
                  <a:t>, and read its </a:t>
                </a:r>
                <a:r>
                  <a:rPr b="1"/>
                  <a:t>slope</a:t>
                </a:r>
                <a:r>
                  <a:rPr/>
                  <a:t> and </a:t>
                </a:r>
                <a:r>
                  <a:rPr b="1"/>
                  <a:t>intercept</a:t>
                </a:r>
                <a:r>
                  <a:rPr/>
                  <a:t> as biology, not just numbers</a:t>
                </a:r>
              </a:p>
              <a:p>
                <a:pPr lvl="0"/>
                <a:r>
                  <a:rPr/>
                  <a:t>Checked all four regression assumptions </a:t>
                </a:r>
                <a:r>
                  <a:rPr b="1"/>
                  <a:t>on the residuals</a:t>
                </a:r>
                <a:r>
                  <a:rPr/>
                  <a:t> — residuals vs. fitted, QQ plot, Shapiro-Wilk</a:t>
                </a:r>
              </a:p>
              <a:p>
                <a:pPr lvl="0"/>
                <a:r>
                  <a:rPr/>
                  <a:t>Partitioned the variance into </a:t>
                </a:r>
                <a14:m>
                  <m:oMath xmlns:m="http://schemas.openxmlformats.org/officeDocument/2006/math">
                    <m:r>
                      <m:t>S</m:t>
                    </m:r>
                    <m:sSub>
                      <m:e>
                        <m:r>
                          <m:t>S</m:t>
                        </m:r>
                      </m:e>
                      <m:sub>
                        <m:r>
                          <m:t>r</m:t>
                        </m:r>
                        <m:r>
                          <m:t>e</m:t>
                        </m:r>
                        <m:r>
                          <m:t>g</m:t>
                        </m:r>
                        <m:r>
                          <m:t>r</m:t>
                        </m:r>
                        <m:r>
                          <m:t>e</m:t>
                        </m:r>
                        <m:r>
                          <m:t>s</m:t>
                        </m:r>
                        <m:r>
                          <m:t>s</m:t>
                        </m:r>
                        <m:r>
                          <m:t>i</m:t>
                        </m:r>
                        <m:r>
                          <m:t>o</m:t>
                        </m:r>
                        <m:r>
                          <m:t>n</m:t>
                        </m:r>
                      </m:sub>
                    </m:sSub>
                  </m:oMath>
                </a14:m>
                <a:r>
                  <a:rPr/>
                  <a:t> and </a:t>
                </a:r>
                <a14:m>
                  <m:oMath xmlns:m="http://schemas.openxmlformats.org/officeDocument/2006/math">
                    <m:r>
                      <m:t>S</m:t>
                    </m:r>
                    <m:sSub>
                      <m:e>
                        <m:r>
                          <m:t>S</m:t>
                        </m:r>
                      </m:e>
                      <m:sub>
                        <m:r>
                          <m:t>r</m:t>
                        </m:r>
                        <m:r>
                          <m:t>e</m:t>
                        </m:r>
                        <m:r>
                          <m:t>s</m:t>
                        </m:r>
                        <m:r>
                          <m:t>i</m:t>
                        </m:r>
                        <m:r>
                          <m:t>d</m:t>
                        </m:r>
                        <m:r>
                          <m:t>u</m:t>
                        </m:r>
                        <m:r>
                          <m:t>a</m:t>
                        </m:r>
                        <m:r>
                          <m:t>l</m:t>
                        </m:r>
                      </m:sub>
                    </m:sSub>
                  </m:oMath>
                </a14:m>
                <a:r>
                  <a:rPr/>
                  <a:t>, and turned those into mean squares and an F-ratio</a:t>
                </a:r>
              </a:p>
              <a:p>
                <a:pPr lvl="0" indent="0" marL="1270000">
                  <a:buNone/>
                </a:pPr>
                <a:r>
                  <a:rPr sz="2000" b="1"/>
                  <a:t>Note</a:t>
                </a:r>
              </a:p>
              <a:p>
                <a:pPr lvl="0" indent="0" marL="1270000">
                  <a:buNone/>
                </a:pPr>
                <a:r>
                  <a:rPr sz="2000" b="1"/>
                  <a:t>✅ The one idea to keep</a:t>
                </a:r>
              </a:p>
              <a:p>
                <a:pPr lvl="0" indent="0" marL="1270000">
                  <a:buNone/>
                </a:pPr>
                <a:r>
                  <a:rPr sz="2000"/>
                  <a:t>A regression line can be fitted to </a:t>
                </a:r>
                <a:r>
                  <a:rPr sz="2000" i="1"/>
                  <a:t>any</a:t>
                </a:r>
                <a:r>
                  <a:rPr sz="2000"/>
                  <a:t> two numeric columns. Everything that makes it trustworthy — linearity, independent observations, constant variance, normal residuals — lives in the </a:t>
                </a:r>
                <a:r>
                  <a:rPr sz="2000" b="1"/>
                  <a:t>diagnostics</a:t>
                </a:r>
                <a:r>
                  <a:rPr sz="2000"/>
                  <a:t>, not in the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Multiple Regression</a:t>
            </a:r>
          </a:p>
          <a:p>
            <a:pPr lvl="0"/>
            <a:r>
              <a:rPr sz="2000"/>
              <a:t>More than one predictor at a time</a:t>
            </a:r>
          </a:p>
          <a:p>
            <a:pPr lvl="0"/>
            <a:r>
              <a:rPr sz="2000"/>
              <a:t>What happens when predictors are correlated with </a:t>
            </a:r>
            <a:r>
              <a:rPr sz="2000" i="1"/>
              <a:t>each other</a:t>
            </a:r>
          </a:p>
          <a:p>
            <a:pPr lvl="0"/>
            <a:r>
              <a:rPr sz="2000"/>
              <a:t>Choosing between competing models</a:t>
            </a:r>
          </a:p>
          <a:p>
            <a:pPr lvl="0" indent="0" marL="1270000">
              <a:buNone/>
            </a:pPr>
            <a:r>
              <a:rPr sz="2000" b="1"/>
              <a:t>Tip</a:t>
            </a:r>
          </a:p>
          <a:p>
            <a:pPr lvl="0" indent="0" marL="1270000">
              <a:buNone/>
            </a:pPr>
            <a:r>
              <a:rPr sz="2000" b="1"/>
              <a:t>🖐 Before next class</a:t>
            </a:r>
          </a:p>
          <a:p>
            <a:pPr lvl="0" indent="0" marL="1270000">
              <a:buNone/>
            </a:pPr>
            <a:r>
              <a:rPr sz="2000"/>
              <a:t>Finish the worksheet, and for your own model write one sentence interpreting the slope </a:t>
            </a:r>
            <a:r>
              <a:rPr sz="2000" b="1"/>
              <a:t>in the units of the data</a:t>
            </a:r>
            <a:r>
              <a:rPr sz="2000"/>
              <a:t> — “for every extra X, Y changes by ___” — not just “it was significant.”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a:t>
            </a:r>
            <a:r>
              <a:rPr>
                <a:latin typeface="Courier"/>
              </a:rPr>
              <a:t>lm()</a:t>
            </a:r>
            <a:r>
              <a:rPr/>
              <a:t> written </a:t>
            </a:r>
            <a:r>
              <a:rPr>
                <a:latin typeface="Courier"/>
              </a:rPr>
              <a:t>y ~ x</a:t>
            </a:r>
            <a:r>
              <a:rPr/>
              <a:t> (response first)? Did you pass </a:t>
            </a:r>
            <a:r>
              <a:rPr>
                <a:latin typeface="Courier"/>
              </a:rPr>
              <a:t>residuals(model)</a:t>
            </a:r>
            <a:r>
              <a:rPr/>
              <a:t> where a model was expected, or vice versa?</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vs. regression, the Pearson and Spearman correlation coefficients, simple linear regression, testing regression assumptions, and ANOVA for regression — using the Nazca booby, lion nose-pigmentation, and prairie-biodiversity textbook examples.</dc:description>
  <dcterms:created xsi:type="dcterms:W3CDTF">2026-09-14T16:05:38Z</dcterms:created>
  <dcterms:modified xsi:type="dcterms:W3CDTF">2026-09-14T16:05:38Z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10</vt:lpwstr>
  </property>
  <property fmtid="{D5CDD505-2E9C-101B-9397-08002B2CF9AE}" pid="14" name="resources">
    <vt:lpwstr/>
  </property>
  <property fmtid="{D5CDD505-2E9C-101B-9397-08002B2CF9AE}" pid="15" name="subtitle">
    <vt:lpwstr>Relationships</vt:lpwstr>
  </property>
  <property fmtid="{D5CDD505-2E9C-101B-9397-08002B2CF9AE}" pid="16" name="toc-title">
    <vt:lpwstr>Table of contents</vt:lpwstr>
  </property>
  <property fmtid="{D5CDD505-2E9C-101B-9397-08002B2CF9AE}" pid="17" name="week">
    <vt:lpwstr>6</vt:lpwstr>
  </property>
</Properties>
</file>