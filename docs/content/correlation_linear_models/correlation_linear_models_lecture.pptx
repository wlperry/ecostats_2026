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Correlation vs Linear Models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Relationships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correlation_linear_models_lecture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 with slope and intercept parameters</a:t>
            </a:r>
          </a:p>
        </p:txBody>
      </p:sp>
      <p:pic>
        <p:nvPicPr>
          <p:cNvPr descr="correlation_linear_models_lecture_files/figure-pptx/l09-0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</m:e>
                              </m:nary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</m:e>
                              </m:nary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correlation_linear_models_lecture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6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nonparametric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that it is tested by a t test: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correlation_linear_models_lecture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booby data: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booby_data$visits_as_nestling
W = 0.95783, p-value = 0.3965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booby_data$future_aggression
W = 0.91575, p-value = 0.04709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booby data</a:t>
            </a:r>
          </a:p>
        </p:txBody>
      </p:sp>
      <p:pic>
        <p:nvPicPr>
          <p:cNvPr descr="correlation_linear_models_lecture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</p:txBody>
      </p:sp>
      <p:pic>
        <p:nvPicPr>
          <p:cNvPr descr="correlation_linear_models_lecture_files/figure-pptx/overview-plot-2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understand the amount of variation explained, you can square the non parametric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/>
            <a:r>
              <a:rPr b="1"/>
              <a:t>The correlation coefficient depends on the range</a:t>
            </a:r>
          </a:p>
          <a:p>
            <a:pPr lvl="1"/>
            <a:r>
              <a:rPr/>
              <a:t>Restricting range of values can reduce the correlation coefficient</a:t>
            </a:r>
          </a:p>
          <a:p>
            <a:pPr lvl="1"/>
            <a:r>
              <a:rPr/>
              <a:t>Comparing correlations between studies requires similar ranges of values</a:t>
            </a:r>
          </a:p>
          <a:p>
            <a:pPr lvl="0"/>
            <a:r>
              <a:rPr b="1"/>
              <a:t>Measurement error affects correlation</a:t>
            </a:r>
          </a:p>
          <a:p>
            <a:pPr lvl="1"/>
            <a:r>
              <a:rPr/>
              <a:t>Measurement error in X or Y tends to weaken observed correlation</a:t>
            </a:r>
          </a:p>
          <a:p>
            <a:pPr lvl="1"/>
            <a:r>
              <a:rPr/>
              <a:t>This bias is called </a:t>
            </a:r>
            <a:r>
              <a:rPr b="1"/>
              <a:t>attenuation</a:t>
            </a:r>
          </a:p>
          <a:p>
            <a:pPr lvl="1"/>
            <a:r>
              <a:rPr/>
              <a:t>True correlation typically stronger than observed correlation</a:t>
            </a:r>
          </a:p>
          <a:p>
            <a:pPr lvl="0"/>
            <a:r>
              <a:rPr b="1"/>
              <a:t>Correlation vs. Causation</a:t>
            </a:r>
          </a:p>
          <a:p>
            <a:pPr lvl="1"/>
            <a:r>
              <a:rPr/>
              <a:t>Correlation does not imply causation</a:t>
            </a:r>
          </a:p>
          <a:p>
            <a:pPr lvl="1"/>
            <a:r>
              <a:rPr/>
              <a:t>Three possible explanations for correlation:</a:t>
            </a:r>
          </a:p>
          <a:p>
            <a:pPr lvl="2" indent="-342900" marL="1028700">
              <a:buAutoNum type="arabicPeriod"/>
            </a:pPr>
            <a:r>
              <a:rPr/>
              <a:t>X causes Y</a:t>
            </a:r>
          </a:p>
          <a:p>
            <a:pPr lvl="2" indent="-342900" marL="1028700">
              <a:buAutoNum type="arabicPeriod"/>
            </a:pPr>
            <a:r>
              <a:rPr/>
              <a:t>Y causes X</a:t>
            </a:r>
          </a:p>
          <a:p>
            <a:pPr lvl="2" indent="-342900" marL="1028700">
              <a:buAutoNum type="arabicPeriod"/>
            </a:pPr>
            <a:r>
              <a:rPr/>
              <a:t>Z (a third variable) causes both X and Y</a:t>
            </a:r>
          </a:p>
          <a:p>
            <a:pPr lvl="0"/>
            <a:r>
              <a:rPr b="1"/>
              <a:t>Correlation significance test</a:t>
            </a:r>
          </a:p>
          <a:p>
            <a:pPr lvl="1"/>
            <a:r>
              <a:rPr/>
              <a:t>H₀: ρ = 0 (no correlation in population)</a:t>
            </a:r>
          </a:p>
          <a:p>
            <a:pPr lvl="1"/>
            <a:r>
              <a:rPr/>
              <a:t>H₁: ρ ≠ 0 (correlation exists in population)</a:t>
            </a:r>
          </a:p>
          <a:p>
            <a:pPr lvl="1"/>
            <a:r>
              <a:rPr b="1"/>
              <a:t>Test statistic: t = r / SE(r) with df = n-2</a:t>
            </a:r>
          </a:p>
        </p:txBody>
      </p:sp>
      <p:pic>
        <p:nvPicPr>
          <p:cNvPr descr="correlation_linear_models_lecture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correlation_linear_models_lecture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</a:t>
                </a:r>
              </a:p>
              <a:p>
                <a:pPr lvl="0"/>
                <a:r>
                  <a:rPr/>
                  <a:t>When a lion has no black on its nose (proportion = 0), its predicted age is 0.88 years</a:t>
                </a:r>
              </a:p>
              <a:p>
                <a:pPr lvl="0"/>
                <a:r>
                  <a:rPr/>
                  <a:t>For each 0.1 increase in the proportion of black, age increases by 1.065 years</a:t>
                </a:r>
              </a:p>
              <a:p>
                <a:pPr lvl="0"/>
                <a:r>
                  <a:rPr/>
                  <a:t>The slope (10.65) indicates that lions with more black on their noses tend to be older</a:t>
                </a:r>
              </a:p>
            </p:txBody>
          </p:sp>
        </mc:Choice>
      </mc:AlternateContent>
      <p:pic>
        <p:nvPicPr>
          <p:cNvPr descr="correlation_linear_models_lecture_files/figure-pptx/overview-plot-1q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(m)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Given:</a:t>
                </a:r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r>
                          <m:rPr>
                            <m:sty m:val="p"/>
                          </m:rPr>
                          <m:t>(</m:t>
                        </m:r>
                      </m:e>
                    </m:nary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r>
                          <m:rPr>
                            <m:sty m:val="p"/>
                          </m:rPr>
                          <m:t>(</m:t>
                        </m:r>
                      </m:e>
                    </m:nary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(b):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0.3222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</p:txBody>
          </p:sp>
        </mc:Choice>
      </mc:AlternateContent>
      <p:pic>
        <p:nvPicPr>
          <p:cNvPr descr="correlation_linear_models_lecture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0.50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correlation_linear_models_lecture_files/figure-pptx/overview-plot-1b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hypothesis test asks whether the slope equals zero:</a:t>
            </a:r>
          </a:p>
          <a:p>
            <a:pPr lvl="0"/>
            <a:r>
              <a:rPr/>
              <a:t>H₀: β = 0 (species number does not affect stability)</a:t>
            </a:r>
          </a:p>
          <a:p>
            <a:pPr lvl="0"/>
            <a:r>
              <a:rPr/>
              <a:t>H₁: β ≠ 0 (species number does affect stability)</a:t>
            </a:r>
          </a:p>
          <a:p>
            <a:pPr lvl="0" indent="0" marL="0">
              <a:buNone/>
            </a:pPr>
            <a:r>
              <a:rPr/>
              <a:t>t = estimate/SE</a:t>
            </a:r>
          </a:p>
          <a:p>
            <a:pPr lvl="0" indent="0" marL="0">
              <a:buNone/>
            </a:pPr>
            <a:r>
              <a:rPr b="1"/>
              <a:t>Interpretation:</a:t>
            </a:r>
          </a:p>
          <a:p>
            <a:pPr lvl="0" indent="0" marL="0">
              <a:buNone/>
            </a:pPr>
            <a:r>
              <a:rPr/>
              <a:t>The slope estimate is 0.033, indicating that log stability increases by 0.033 units for each additional plant species in the plot.</a:t>
            </a:r>
          </a:p>
          <a:p>
            <a:pPr lvl="0" indent="0" marL="0">
              <a:buNone/>
            </a:pPr>
            <a:r>
              <a:rPr/>
              <a:t>The p-value is very small (2.73e-10), providing strong evidence to reject the null hypothesis that species number has no effect on ecosystem stability.</a:t>
            </a:r>
          </a:p>
          <a:p>
            <a:pPr lvl="0" indent="0" marL="0">
              <a:buNone/>
            </a:pPr>
            <a:r>
              <a:rPr/>
              <a:t>R² = 0.222, meaning that approximately 22.2% of the variation in log stability is explained by the number of plant species.</a:t>
            </a:r>
          </a:p>
          <a:p>
            <a:pPr lvl="0" indent="0" marL="0">
              <a:buNone/>
            </a:pPr>
            <a:r>
              <a:rPr/>
              <a:t>This supports the biodiversity-stability hypothesis: more diverse plant communities have more stable biomass production over time.</a:t>
            </a:r>
          </a:p>
        </p:txBody>
      </p:sp>
      <p:pic>
        <p:nvPicPr>
          <p:cNvPr descr="correlation_linear_models_lecture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  <a:p>
            <a:pPr lvl="0" indent="0" marL="0">
              <a:buNone/>
            </a:pPr>
            <a:r>
              <a:rPr/>
              <a:t>Linearity - how does this plot work</a:t>
            </a:r>
          </a:p>
        </p:txBody>
      </p:sp>
      <p:pic>
        <p:nvPicPr>
          <p:cNvPr descr="correlation_linear_models_lecture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correlation_linear_models_lecture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correlation_linear_models_lecture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Correlation vs Linear Models</dc:title>
  <dc:creator>Bill Perry</dc:creator>
  <cp:keywords/>
  <dc:description>Correlation and simple linear regression.</dc:description>
  <dcterms:created xsi:type="dcterms:W3CDTF">2026-08-20T19:17:18Z</dcterms:created>
  <dcterms:modified xsi:type="dcterms:W3CDTF">2026-08-20T19:17:18Z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10</vt:lpwstr>
  </property>
  <property fmtid="{D5CDD505-2E9C-101B-9397-08002B2CF9AE}" pid="11" name="resources">
    <vt:lpwstr/>
  </property>
  <property fmtid="{D5CDD505-2E9C-101B-9397-08002B2CF9AE}" pid="12" name="subtitle">
    <vt:lpwstr>Relationships</vt:lpwstr>
  </property>
  <property fmtid="{D5CDD505-2E9C-101B-9397-08002B2CF9AE}" pid="13" name="toc-title">
    <vt:lpwstr>Table of contents</vt:lpwstr>
  </property>
  <property fmtid="{D5CDD505-2E9C-101B-9397-08002B2CF9AE}" pid="14" name="week">
    <vt:lpwstr>5</vt:lpwstr>
  </property>
</Properties>
</file>