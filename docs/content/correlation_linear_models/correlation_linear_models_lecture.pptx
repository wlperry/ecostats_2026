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Correlation vs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Relationships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 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correlation_linear_models_lecture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76400"/>
            <a:ext cx="27813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Overview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16–17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16 (Correlation) and Ch. 17 (Regression) are the core references for this entire lecture.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Correlation vs. Regression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Correlation vs. Regression — What’s the Difference?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−1 to +1</a:t>
            </a:r>
          </a:p>
          <a:p>
            <a:pPr lvl="0" indent="0" marL="0"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prediction, with slope and intercept parameters</a:t>
            </a:r>
          </a:p>
        </p:txBody>
      </p:sp>
      <p:pic>
        <p:nvPicPr>
          <p:cNvPr descr="correlation_linear_models_lecture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Correlation Analysis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Correlation?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−1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−1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correlation_linear_models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16.1: Flipping the Bird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—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— a moderate positive relationship</a:t>
                </a:r>
              </a:p>
              <a:p>
                <a:pPr lvl="0"/>
                <a:r>
                  <a:rPr/>
                  <a:t>p-value = 0.007 — correlation is statistically significant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ρ, as Spearman’s below), as indicated by “cor” in your output</a:t>
                </a:r>
              </a:p>
              <a:p>
                <a:pPr lvl="0"/>
                <a:r>
                  <a:rPr/>
                  <a:t>To determine the amount of variation explained, square this value: r² = 0.53372² = 0.2849 (≈ 28.49%)</a:t>
                </a:r>
              </a:p>
              <a:p>
                <a:pPr lvl="0"/>
                <a:r>
                  <a:rPr/>
                  <a:t>Means about 28.49% of the variance in one variable can be explained by the other</a:t>
                </a:r>
              </a:p>
              <a:p>
                <a:pPr lvl="0" indent="0" marL="0">
                  <a:buNone/>
                </a:pPr>
                <a:r>
                  <a:rPr/>
                  <a:t>Tested by a t-test: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16.1: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SE</m:t>
                          </m:r>
                        </m:e>
                        <m:sub>
                          <m:r>
                            <m:t>r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p>
                                <m:e>
                                  <m:r>
                                    <m:t>r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2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the relationship is not curved — see below.</a:t>
                </a:r>
              </a:p>
            </p:txBody>
          </p:sp>
        </mc:Choice>
      </mc:AlternateContent>
      <p:pic>
        <p:nvPicPr>
          <p:cNvPr descr="correlation_linear_models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Assumptions for Correlation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run Shapiro-Wilk on both booby variables, then look at their histograms and QQ plots. If the formal test and the visual check disagree, which would you trust more for n = 24?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 —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 —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 —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with the booby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Assumptions for Correlation — Visually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 —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 —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 —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data.</a:t>
            </a:r>
          </a:p>
        </p:txBody>
      </p:sp>
      <p:pic>
        <p:nvPicPr>
          <p:cNvPr descr="correlation_linear_models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to Do If Assumptions Are Violated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Transform one or both variables (log, square root, etc.)</a:t>
            </a:r>
          </a:p>
          <a:p>
            <a:pPr lvl="0"/>
            <a:r>
              <a:rPr/>
              <a:t>Use a non-parametric correlation (</a:t>
            </a:r>
            <a:r>
              <a:rPr b="1"/>
              <a:t>Spearman’s rank correlation</a:t>
            </a:r>
            <a:r>
              <a:rPr/>
              <a:t>) or Kendall’s tau (τ)</a:t>
            </a:r>
          </a:p>
          <a:p>
            <a:pPr lvl="0"/>
            <a:r>
              <a:rPr/>
              <a:t>Examine the data for outliers or influential points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lion nose-pigmentation data (used here just as an example of non-normal data) shows a right-skewed </a:t>
            </a:r>
            <a:r>
              <a:rPr sz="2000">
                <a:latin typeface="Courier"/>
              </a:rPr>
              <a:t>proportion_black</a:t>
            </a:r>
            <a:r>
              <a:rPr sz="2000"/>
              <a:t> and clearly non-normal QQ plots — this is exactly when Spearman’s is the better tool.</a:t>
            </a:r>
          </a:p>
        </p:txBody>
      </p:sp>
      <p:pic>
        <p:nvPicPr>
          <p:cNvPr descr="correlation_linear_models_lecture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Spearman’s Rho —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understand the amount of variation explained, you can square the non-parametric Spearman’s rho value.</a:t>
                </a:r>
              </a:p>
              <a:p>
                <a:pPr lvl="0" indent="0" marL="0">
                  <a:buNone/>
                </a:pPr>
                <a:r>
                  <a:rPr/>
                  <a:t>For your value of 0.74485: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ρ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0.74485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0.5548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means approximately 55.48% of the variance in the </a:t>
                </a:r>
                <a:r>
                  <a:rPr i="1"/>
                  <a:t>ranks</a:t>
                </a:r>
                <a:r>
                  <a:rPr/>
                  <a:t> of one variable can be explained by the ranks of the other. This is similar to how R² works in linear regression, but specifically for ranked data.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Correlation — Important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the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is typically stronger than the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explanations: (1) X causes Y, (2) Y causes X, (3) 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population); H₁: ρ ≠ 0</a:t>
            </a:r>
          </a:p>
          <a:p>
            <a:pPr lvl="1"/>
            <a:r>
              <a:rPr/>
              <a:t>Test statistic: t = r / SE(r), with df = n − 2</a:t>
            </a:r>
          </a:p>
        </p:txBody>
      </p:sp>
      <p:pic>
        <p:nvPicPr>
          <p:cNvPr descr="correlation_linear_models_lecture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Linear Regression — the Model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Simple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 = 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Y; a estimates α; b estimates β</a:t>
                </a:r>
              </a:p>
              <a:p>
                <a:pPr lvl="0" indent="0" marL="0">
                  <a:buNone/>
                </a:pPr>
                <a:r>
                  <a:rPr b="1"/>
                  <a:t>Method of least squares:</a:t>
                </a:r>
                <a:r>
                  <a:rPr/>
                  <a:t> the line is chosen to minimize the sum of squared vertical distances (residuals) between observed and predicted Y values.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17 — Regression, is the primary reference for the rest of this lecture.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Simple Linear Regression Model — the Lion Data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Method of least squares:</a:t>
                </a:r>
                <a:r>
                  <a:rPr/>
                  <a:t>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correlation_linear_models_lecture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17.1 — the Lion Regression Equation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textbook, the regression line for the lion data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r>
                        <m:rPr>
                          <m:sty m:val="p"/>
                        </m:rPr>
                        <m:t>×</m:t>
                      </m:r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proportion</m:t>
                          </m:r>
                        </m:e>
                        <m:sub>
                          <m:r>
                            <m:t>b</m:t>
                          </m:r>
                          <m:r>
                            <m:t>l</m:t>
                          </m:r>
                          <m:r>
                            <m:t>a</m:t>
                          </m:r>
                          <m:r>
                            <m:t>c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correlation_linear_models_lecture_files/figure-pptx/unnamed-chunk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Male Lions and Nose Pigmentation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Male lions develop more black pigmentation on their noses as they age</a:t>
            </a:r>
          </a:p>
          <a:p>
            <a:pPr lvl="0"/>
            <a:r>
              <a:rPr/>
              <a:t>This relationship can be used to estimate the age of lions in the field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the Slope and Intercept by Hand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calculation for slope (m)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Given: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0.3222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correlation_linear_models_lecture_files/figure-pptx/unnamed-chunk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Making Predictions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0.50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 — range for the mean age of </a:t>
                </a:r>
                <a:r>
                  <a:rPr i="1"/>
                  <a:t>all</a:t>
                </a:r>
                <a:r>
                  <a:rPr/>
                  <a:t>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 — range for an </a:t>
                </a:r>
                <a:r>
                  <a:rPr i="1"/>
                  <a:t>individual</a:t>
                </a:r>
                <a:r>
                  <a:rPr/>
                  <a:t>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correlation_linear_models_lecture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Example: the Prairie Home Companion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this using experimental plots varying in plant species number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Prairie Model —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 / 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correlation_linear_models_lecture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Testing Regression Assumptions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Regression Assumptions — Overview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 —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 —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 —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 —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model.</a:t>
                </a:r>
              </a:p>
              <a:p>
                <a:pPr lvl="0" indent="0" marL="0">
                  <a:buNone/>
                </a:pPr>
                <a:r>
                  <a:rPr/>
                  <a:t>Assume that error </a:t>
                </a: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normally distributed for each x_i, has the same variance, and has a mean of 0 at each x_i.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Regression Assumptions — Residuals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Linear regression has four key assumptions: linearity, independence, homoscedasticity, and normality.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model.</a:t>
                </a:r>
              </a:p>
              <a:p>
                <a:pPr lvl="0" indent="0" marL="0">
                  <a:buNone/>
                </a:pPr>
                <a:r>
                  <a:rPr/>
                  <a:t>The error </a:t>
                </a: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estimated as the residual: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Ordinary least squares estimates a and b (intercept and slope) to minimize the sum of the residuals squared: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Linearity — Residuals vs. Fitted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Linear regression has four key assumptions: linearity, independence, homoscedasticity, and normality.</a:t>
            </a:r>
          </a:p>
          <a:p>
            <a:pPr lvl="0" indent="0" marL="0">
              <a:buNone/>
            </a:pPr>
            <a:r>
              <a:rPr/>
              <a:t>Let’s check these assumptions for the lion regression model. </a:t>
            </a:r>
            <a:r>
              <a:rPr b="1"/>
              <a:t>Linearity</a:t>
            </a:r>
            <a:r>
              <a:rPr/>
              <a:t> — how does this plot work?</a:t>
            </a:r>
          </a:p>
        </p:txBody>
      </p:sp>
      <p:pic>
        <p:nvPicPr>
          <p:cNvPr descr="correlation_linear_models_lecture_files/figure-pptx/unnamed-chunk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 of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Linear regression has four key assumptions: linearity, independence, homoscedasticity, and normality.</a:t>
            </a:r>
          </a:p>
          <a:p>
            <a:pPr lvl="0" indent="0" marL="0">
              <a:buNone/>
            </a:pPr>
            <a:r>
              <a:rPr/>
              <a:t>Let’s check these assumptions for the lion regression model.</a:t>
            </a:r>
          </a:p>
        </p:txBody>
      </p:sp>
      <p:pic>
        <p:nvPicPr>
          <p:cNvPr descr="correlation_linear_models_lecture_files/figure-pptx/unnamed-chunk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Shapiro-Wilk on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Linear regression has four key assumptions: linearity, independence, homoscedasticity, and normality.</a:t>
            </a:r>
          </a:p>
          <a:p>
            <a:pPr lvl="0" indent="0" marL="0">
              <a:buNone/>
            </a:pPr>
            <a:r>
              <a:rPr/>
              <a:t>Let’s check these assumptions for the lion regression model.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Assumptions Are Violated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Linear regression has four key assumptions: linearity, independence, homoscedasticity, and normality.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 indent="-342900" marL="342900">
              <a:buAutoNum type="arabicPeriod"/>
            </a:pPr>
            <a:r>
              <a:rPr/>
              <a:t>Transform the data (Section 17.6)</a:t>
            </a:r>
          </a:p>
          <a:p>
            <a:pPr lvl="0" indent="-342900" marL="342900">
              <a:buAutoNum type="arabicPeriod"/>
            </a:pPr>
            <a:r>
              <a:rPr/>
              <a:t>Use weighted least squares for heteroscedasticity</a:t>
            </a:r>
          </a:p>
          <a:p>
            <a:pPr lvl="0" indent="-342900" marL="342900">
              <a:buAutoNum type="arabicPeriod"/>
            </a:pPr>
            <a:r>
              <a:rPr/>
              <a:t>Consider non-linear models (Section 17.8)</a:t>
            </a:r>
          </a:p>
        </p:txBody>
      </p:sp>
      <p:pic>
        <p:nvPicPr>
          <p:cNvPr descr="correlation_linear_models_lecture_files/figure-pptx/unnamed-chunk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Regression Inference &amp; ANOVA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slope and intercept determine confidence bands</a:t>
            </a:r>
          </a:p>
          <a:p>
            <a:pPr lvl="0"/>
            <a:r>
              <a:rPr/>
              <a:t>The 95% confidence band will contain the true population line 95/100 times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From Estimates to Hypothesis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(β₀, β₁), we want to test hypotheses about them.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and due to other things (error)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9 — Regression, covers this variance-partitioning approach to testing a regression slope.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Partitioning the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 — difference between predicted values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mean y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); df = 1 for simple linear (parameters − 1)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 — 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values; df = n − 2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 — 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the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); df = n − 1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Partitioning the Variance — Visually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 — df = 1 for simple linear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 — df = n − 2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 — df = n − 1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Regression Fits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</a:t>
                </a:r>
                <a:r>
                  <a:rPr b="1"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</a:t>
                </a:r>
                <a:r>
                  <a:rPr b="1"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Sums of Squares and Degrees of Freedom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g</m:t>
                          </m:r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o</m:t>
                          </m:r>
                          <m: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t</m:t>
                          </m:r>
                          <m:r>
                            <m:t>o</m:t>
                          </m:r>
                          <m:r>
                            <m:t>t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g</m:t>
                          </m:r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o</m:t>
                          </m:r>
                          <m: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d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d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t</m:t>
                          </m:r>
                          <m:r>
                            <m:t>o</m:t>
                          </m:r>
                          <m:r>
                            <m:t>t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Sums of squares depend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From Sums of Squares to Mean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squares:</a:t>
                </a:r>
              </a:p>
              <a:p>
                <a:pPr lvl="0"/>
                <a:r>
                  <a:rPr/>
                  <a:t>Sums of squares divided by degrees of freedom —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estimates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estimates population variation </a:t>
                </a:r>
                <a:r>
                  <a:rPr i="1"/>
                  <a:t>and</a:t>
                </a:r>
                <a:r>
                  <a:rPr/>
                  <a:t> variation due to the X-Y relationship</a:t>
                </a:r>
              </a:p>
              <a:p>
                <a:pPr lvl="0"/>
                <a:r>
                  <a:rPr/>
                  <a:t>Mean squares are </a:t>
                </a:r>
                <a:r>
                  <a:rPr b="1"/>
                  <a:t>not</a:t>
                </a:r>
                <a:r>
                  <a:rPr/>
                  <a:t> additive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Key idea</a:t>
                </a:r>
              </a:p>
              <a:p>
                <a:pPr lvl="0" indent="0" marL="1270000">
                  <a:buNone/>
                </a:pPr>
                <a:r>
                  <a:rPr sz="2000"/>
                  <a:t>The F-ratio in a regression ANOVA table is exactly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/>
                  <a:t> — the same logic you’ll see again when we get to ANOVA for group comparisons.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Correlation vs Linear Models</dc:title>
  <dc:creator>Bill Perry</dc:creator>
  <cp:keywords/>
  <dc:description>Correlation vs. regression, the Pearson and Spearman correlation coefficients, simple linear regression, testing regression assumptions, and ANOVA for regression — using the Nazca booby, lion nose-pigmentation, and prairie-biodiversity textbook examples.</dc:description>
  <dcterms:created xsi:type="dcterms:W3CDTF">2026-08-21T18:40:21Z</dcterms:created>
  <dcterms:modified xsi:type="dcterms:W3CDTF">2026-08-21T18:40:21Z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10</vt:lpwstr>
  </property>
  <property fmtid="{D5CDD505-2E9C-101B-9397-08002B2CF9AE}" pid="12" name="resources">
    <vt:lpwstr/>
  </property>
  <property fmtid="{D5CDD505-2E9C-101B-9397-08002B2CF9AE}" pid="13" name="subtitle">
    <vt:lpwstr>Relationships</vt:lpwstr>
  </property>
  <property fmtid="{D5CDD505-2E9C-101B-9397-08002B2CF9AE}" pid="14" name="toc-title">
    <vt:lpwstr>Table of contents</vt:lpwstr>
  </property>
  <property fmtid="{D5CDD505-2E9C-101B-9397-08002B2CF9AE}" pid="15" name="week">
    <vt:lpwstr>5</vt:lpwstr>
  </property>
</Properties>
</file>