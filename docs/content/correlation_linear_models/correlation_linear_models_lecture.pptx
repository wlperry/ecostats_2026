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You </a:t>
            </a:r>
            <a:r>
              <a:rPr i="1"/>
              <a:t>assume</a:t>
            </a:r>
            <a:r>
              <a:rPr/>
              <a:t> a direction — X → Y — when you choose which variable goes where</a:t>
            </a:r>
          </a:p>
          <a:p>
            <a:pPr lvl="0"/>
            <a:r>
              <a:rPr/>
              <a:t>Produces an equation for prediction, with slope and intercept parameters</a:t>
            </a:r>
          </a:p>
          <a:p>
            <a:pPr lvl="0" indent="0" marL="1270000">
              <a:buNone/>
            </a:pPr>
            <a:r>
              <a:rPr sz="2000" b="1"/>
              <a:t>Warning</a:t>
            </a:r>
          </a:p>
          <a:p>
            <a:pPr lvl="0" indent="0" marL="1270000">
              <a:buNone/>
            </a:pPr>
            <a:r>
              <a:rPr sz="2000" b="1"/>
              <a:t>⚠️ Regression does not earn you causation</a:t>
            </a:r>
          </a:p>
          <a:p>
            <a:pPr lvl="0" indent="0" marL="1270000">
              <a:buNone/>
            </a:pPr>
            <a:r>
              <a:rPr sz="2000"/>
              <a:t>Choosing which variable to call X does not make it a cause. </a:t>
            </a:r>
            <a:r>
              <a:rPr sz="2000">
                <a:latin typeface="Courier"/>
              </a:rPr>
              <a:t>lm(y ~ x)</a:t>
            </a:r>
            <a:r>
              <a:rPr sz="2000"/>
              <a:t> will fit a slope to any two columns you hand it, including ones with no causal link at all.</a:t>
            </a:r>
          </a:p>
          <a:p>
            <a:pPr lvl="0" indent="0" marL="1270000">
              <a:buNone/>
            </a:pPr>
            <a:r>
              <a:rPr sz="2000"/>
              <a:t>What licenses a causal claim is the </a:t>
            </a:r>
            <a:r>
              <a:rPr sz="2000" b="1"/>
              <a:t>study design</a:t>
            </a:r>
            <a:r>
              <a:rPr sz="2000"/>
              <a:t> — manipulation, randomization, controls (Study Design &amp; Sampling) — not the model you fit afterwards.</a:t>
            </a:r>
          </a:p>
        </p:txBody>
      </p:sp>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correlation-linear-models-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correlation-linear-models-0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correlation-linear-models-0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correlation-linear-models-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correlation-linear-models-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correlation-linear-models-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correlation-linear-models-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is about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Residuals vs. fitted</a:t>
            </a:r>
            <a:r>
              <a:rPr/>
              <a:t> is the linearity check.</a:t>
            </a:r>
          </a:p>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red trend line. A U-shape or arch means the relationship is not straight, and a straight-line model is the wrong shape for the data.</a:t>
            </a:r>
          </a:p>
          <a:p>
            <a:pPr lvl="0" indent="0" marL="0">
              <a:buNone/>
            </a:pPr>
            <a:r>
              <a:rPr/>
              <a:t>The plot also doubles as a </a:t>
            </a:r>
            <a:r>
              <a:rPr b="1"/>
              <a:t>homoscedasticity</a:t>
            </a:r>
            <a:r>
              <a:rPr/>
              <a:t> check — if the cloud fans out or funnels in as you move right, the variance is not constant.</a:t>
            </a:r>
          </a:p>
        </p:txBody>
      </p:sp>
      <p:pic>
        <p:nvPicPr>
          <p:cNvPr descr="correlation_linear_models_lecture_files/figure-pptx/correlation-linear-models-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b="1"/>
              <a:t>The QQ plot</a:t>
            </a:r>
            <a:r>
              <a:rPr/>
              <a:t> compares your residuals to what perfectly normal residuals would look like.</a:t>
            </a:r>
          </a:p>
          <a:p>
            <a:pPr lvl="0" indent="0" marL="0">
              <a:buNone/>
            </a:pPr>
            <a:r>
              <a:rPr b="1"/>
              <a:t>What you want:</a:t>
            </a:r>
            <a:r>
              <a:rPr/>
              <a:t> points hugging the diagonal line.</a:t>
            </a:r>
          </a:p>
          <a:p>
            <a:pPr lvl="0" indent="0" marL="0">
              <a:buNone/>
            </a:pPr>
            <a:r>
              <a:rPr b="1"/>
              <a:t>What is a problem:</a:t>
            </a:r>
            <a:r>
              <a:rPr/>
              <a:t> systematic curvature, or points peeling away at the ends — the tails are where non-normality shows up first, and the tails are what p-values depend on.</a:t>
            </a:r>
          </a:p>
          <a:p>
            <a:pPr lvl="0" indent="0" marL="0">
              <a:buNone/>
            </a:pPr>
            <a:r>
              <a:rPr/>
              <a:t>Note we check the residuals here, </a:t>
            </a:r>
            <a:r>
              <a:rPr b="1"/>
              <a:t>not</a:t>
            </a:r>
            <a:r>
              <a:rPr/>
              <a:t> </a:t>
            </a:r>
            <a:r>
              <a:rPr>
                <a:latin typeface="Courier"/>
              </a:rPr>
              <a:t>age_years</a:t>
            </a:r>
            <a:r>
              <a:rPr/>
              <a:t> itself. The raw ages are right-skewed; that is allowed. It is the residuals that must behave.</a:t>
            </a:r>
          </a:p>
        </p:txBody>
      </p:sp>
      <p:pic>
        <p:nvPicPr>
          <p:cNvPr descr="correlation_linear_models_lecture_files/figure-pptx/correlation-linear-models-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The formal test to go with the QQ plot. Note what goes inside it:</a:t>
            </a:r>
          </a:p>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marL="0">
              <a:buNone/>
            </a:pPr>
            <a:r>
              <a:rPr b="1">
                <a:latin typeface="Courier"/>
              </a:rPr>
              <a:t>residuals(model)</a:t>
            </a:r>
            <a:r>
              <a:rPr/>
              <a:t> — not </a:t>
            </a:r>
            <a:r>
              <a:rPr>
                <a:latin typeface="Courier"/>
              </a:rPr>
              <a:t>lion_data$age_years</a:t>
            </a:r>
            <a:r>
              <a:rPr/>
              <a:t>. Testing the raw response is a different (and usually wrong) question.</a:t>
            </a:r>
          </a:p>
          <a:p>
            <a:pPr lvl="0" indent="0" marL="0">
              <a:buNone/>
            </a:pPr>
            <a:r>
              <a:rPr b="1"/>
              <a:t>H₀ is “the residuals ARE normal”,</a:t>
            </a:r>
            <a:r>
              <a:rPr/>
              <a:t> so here a </a:t>
            </a:r>
            <a:r>
              <a:rPr b="1"/>
              <a:t>large</a:t>
            </a:r>
            <a:r>
              <a:rPr/>
              <a:t> p-value is the good outcome — the same backwards logic as Levene’s test.</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problem; at large n it flags departures too small to matter. Read the QQ plot first and use the test to support it, not replace it.</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Separated </a:t>
                </a:r>
                <a:r>
                  <a:rPr b="1"/>
                  <a:t>correlation</a:t>
                </a:r>
                <a:r>
                  <a:rPr/>
                  <a:t> (how tightly two variables move together) from </a:t>
                </a:r>
                <a:r>
                  <a:rPr b="1"/>
                  <a:t>regression</a:t>
                </a:r>
                <a:r>
                  <a:rPr/>
                  <a:t> (an equation predicting Y from X) — and saw that neither one earns you causation</a:t>
                </a:r>
              </a:p>
              <a:p>
                <a:pPr lvl="0"/>
                <a:r>
                  <a:rPr/>
                  <a:t>Computed and interpreted </a:t>
                </a:r>
                <a:r>
                  <a:rPr b="1"/>
                  <a:t>Pearson’s r</a:t>
                </a:r>
                <a:r>
                  <a:rPr/>
                  <a:t>, squared it to get the variance explained, and tested it with </a:t>
                </a:r>
                <a:r>
                  <a:rPr>
                    <a:latin typeface="Courier"/>
                  </a:rPr>
                  <a:t>cor.test()</a:t>
                </a:r>
              </a:p>
              <a:p>
                <a:pPr lvl="0"/>
                <a:r>
                  <a:rPr/>
                  <a:t>Switched to </a:t>
                </a:r>
                <a:r>
                  <a:rPr b="1"/>
                  <a:t>Spearman’s ρ</a:t>
                </a:r>
                <a:r>
                  <a:rPr/>
                  <a:t> when the normality assumption failed</a:t>
                </a:r>
              </a:p>
              <a:p>
                <a:pPr lvl="0"/>
                <a:r>
                  <a:rPr/>
                  <a:t>Fitted a straight line with </a:t>
                </a:r>
                <a:r>
                  <a:rPr>
                    <a:latin typeface="Courier"/>
                  </a:rPr>
                  <a:t>lm()</a:t>
                </a:r>
                <a:r>
                  <a:rPr/>
                  <a:t>, and read its </a:t>
                </a:r>
                <a:r>
                  <a:rPr b="1"/>
                  <a:t>slope</a:t>
                </a:r>
                <a:r>
                  <a:rPr/>
                  <a:t> and </a:t>
                </a:r>
                <a:r>
                  <a:rPr b="1"/>
                  <a:t>intercept</a:t>
                </a:r>
                <a:r>
                  <a:rPr/>
                  <a:t> as biology, not just numbers</a:t>
                </a:r>
              </a:p>
              <a:p>
                <a:pPr lvl="0"/>
                <a:r>
                  <a:rPr/>
                  <a:t>Checked all four regression assumptions </a:t>
                </a:r>
                <a:r>
                  <a:rPr b="1"/>
                  <a:t>on the residuals</a:t>
                </a:r>
                <a:r>
                  <a:rPr/>
                  <a:t> — residuals vs. fitted, QQ plot, Shapiro-Wilk</a:t>
                </a:r>
              </a:p>
              <a:p>
                <a:pPr lvl="0"/>
                <a:r>
                  <a:rPr/>
                  <a:t>Partitioned the variance into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and turned those into mean squares and an F-ratio</a:t>
                </a:r>
              </a:p>
              <a:p>
                <a:pPr lvl="0" indent="0" marL="1270000">
                  <a:buNone/>
                </a:pPr>
                <a:r>
                  <a:rPr sz="2000" b="1"/>
                  <a:t>Note</a:t>
                </a:r>
              </a:p>
              <a:p>
                <a:pPr lvl="0" indent="0" marL="1270000">
                  <a:buNone/>
                </a:pPr>
                <a:r>
                  <a:rPr sz="2000" b="1"/>
                  <a:t>✅ The one idea to keep</a:t>
                </a:r>
              </a:p>
              <a:p>
                <a:pPr lvl="0" indent="0" marL="1270000">
                  <a:buNone/>
                </a:pPr>
                <a:r>
                  <a:rPr sz="2000"/>
                  <a:t>A regression line can be fitted to </a:t>
                </a:r>
                <a:r>
                  <a:rPr sz="2000" i="1"/>
                  <a:t>any</a:t>
                </a:r>
                <a:r>
                  <a:rPr sz="2000"/>
                  <a:t> two numeric columns. Everything that makes it trustworthy — linearity, independent observations, constant variance, normal residuals — lives in the </a:t>
                </a:r>
                <a:r>
                  <a:rPr sz="2000" b="1"/>
                  <a:t>diagnostics</a:t>
                </a:r>
                <a:r>
                  <a:rPr sz="2000"/>
                  <a:t>, not in the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Multiple Regression</a:t>
            </a:r>
          </a:p>
          <a:p>
            <a:pPr lvl="0"/>
            <a:r>
              <a:rPr sz="2000"/>
              <a:t>More than one predictor at a time</a:t>
            </a:r>
          </a:p>
          <a:p>
            <a:pPr lvl="0"/>
            <a:r>
              <a:rPr sz="2000"/>
              <a:t>What happens when predictors are correlated with </a:t>
            </a:r>
            <a:r>
              <a:rPr sz="2000" i="1"/>
              <a:t>each other</a:t>
            </a:r>
          </a:p>
          <a:p>
            <a:pPr lvl="0"/>
            <a:r>
              <a:rPr sz="2000"/>
              <a:t>Choosing between competing models</a:t>
            </a:r>
          </a:p>
          <a:p>
            <a:pPr lvl="0" indent="0" marL="1270000">
              <a:buNone/>
            </a:pPr>
            <a:r>
              <a:rPr sz="2000" b="1"/>
              <a:t>Tip</a:t>
            </a:r>
          </a:p>
          <a:p>
            <a:pPr lvl="0" indent="0" marL="1270000">
              <a:buNone/>
            </a:pPr>
            <a:r>
              <a:rPr sz="2000" b="1"/>
              <a:t>🖐 Before next class</a:t>
            </a:r>
          </a:p>
          <a:p>
            <a:pPr lvl="0" indent="0" marL="1270000">
              <a:buNone/>
            </a:pPr>
            <a:r>
              <a:rPr sz="2000"/>
              <a:t>Finish the worksheet, and for your own model write one sentence interpreting the slope </a:t>
            </a:r>
            <a:r>
              <a:rPr sz="2000" b="1"/>
              <a:t>in the units of the data</a:t>
            </a:r>
            <a:r>
              <a:rPr sz="2000"/>
              <a:t> — “for every extra X, Y changes by ___” — not just “it was significant.”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a:t>
            </a:r>
            <a:r>
              <a:rPr>
                <a:latin typeface="Courier"/>
              </a:rPr>
              <a:t>lm()</a:t>
            </a:r>
            <a:r>
              <a:rPr/>
              <a:t> written </a:t>
            </a:r>
            <a:r>
              <a:rPr>
                <a:latin typeface="Courier"/>
              </a:rPr>
              <a:t>y ~ x</a:t>
            </a:r>
            <a:r>
              <a:rPr/>
              <a:t> (response first)? Did you pass </a:t>
            </a:r>
            <a:r>
              <a:rPr>
                <a:latin typeface="Courier"/>
              </a:rPr>
              <a:t>residuals(model)</a:t>
            </a:r>
            <a:r>
              <a:rPr/>
              <a:t> where a model was expected, or vice versa?</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2026-09-23T17:37:02Z</dcterms:created>
  <dcterms:modified xsi:type="dcterms:W3CDTF">2026-09-23T17:37:02Z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