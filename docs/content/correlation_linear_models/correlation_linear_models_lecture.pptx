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a:r>
              <a:rPr sz="2000"/>
              <a:t>Last week ended with a table mapping designs onto analyses.</a:t>
            </a:r>
          </a:p>
          <a:p>
            <a:pPr lvl="0"/>
            <a:r>
              <a:rPr sz="2000"/>
              <a:t>Today is its </a:t>
            </a:r>
            <a:r>
              <a:rPr sz="2000" b="1"/>
              <a:t>first row</a:t>
            </a:r>
            <a:r>
              <a:rPr sz="2000"/>
              <a:t> — one continuous predictor, one continuous response.</a:t>
            </a:r>
          </a:p>
          <a:p>
            <a:pPr lvl="0"/>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a:r>
              <a:rPr sz="2000"/>
              <a:t>Whitlock &amp; Schluter, Ch. 16 (Correlation) and Ch. 17 (Regression).</a:t>
            </a:r>
          </a:p>
          <a:p>
            <a:pPr lvl="0"/>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b="1"/>
              <a:t>Both X and Y are measured; neither is manipulated</a:t>
            </a:r>
          </a:p>
          <a:p>
            <a:pPr lvl="0"/>
            <a:r>
              <a:rPr/>
              <a:t>The variables are on equal footing — swap them and </a:t>
            </a:r>
            <a:r>
              <a:rPr i="1"/>
              <a:t>r</a:t>
            </a:r>
            <a:r>
              <a:rPr/>
              <a:t> is unchanged</a:t>
            </a:r>
          </a:p>
          <a:p>
            <a:pPr lvl="0"/>
            <a:r>
              <a:rPr/>
              <a:t>r</a:t>
            </a:r>
            <a:r>
              <a:rPr baseline="30000"/>
              <a:t>2</a:t>
            </a:r>
            <a:r>
              <a:rPr/>
              <a:t> = percent variation explained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 - Y is dependent on X</a:t>
            </a:r>
          </a:p>
          <a:p>
            <a:pPr lvl="0"/>
            <a:r>
              <a:rPr/>
              <a:t>Swap X and Y and you get a </a:t>
            </a:r>
            <a:r>
              <a:rPr b="1"/>
              <a:t>different line - and it becomes a different type of regression</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342900" marL="342900">
              <a:buAutoNum type="alphaLcParenR"/>
            </a:pPr>
            <a:r>
              <a:rPr/>
              <a:t>Panel A</a:t>
            </a:r>
          </a:p>
          <a:p>
            <a:pPr lvl="0" indent="-342900" marL="342900">
              <a:buAutoNum type="alphaLcParenR"/>
            </a:pPr>
            <a:r>
              <a:rPr/>
              <a:t>Panel B</a:t>
            </a:r>
          </a:p>
          <a:p>
            <a:pPr lvl="0" indent="-342900" marL="342900">
              <a:buAutoNum type="alphaLcParenR"/>
            </a:pPr>
            <a:r>
              <a:rPr/>
              <a:t>Panel C</a:t>
            </a:r>
          </a:p>
          <a:p>
            <a:pPr lvl="0" indent="-342900" marL="342900">
              <a:buAutoNum type="alphaLcParenR"/>
            </a:pPr>
            <a:r>
              <a:rPr/>
              <a:t>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a:r>
              <a:rPr sz="2000"/>
              <a:t>Panel B is the most </a:t>
            </a:r>
            <a:r>
              <a:rPr sz="2000" i="1"/>
              <a:t>tightly related</a:t>
            </a:r>
            <a:r>
              <a:rPr sz="2000"/>
              <a:t> pair on the slide: give me x and I can tell you y almost exactly.</a:t>
            </a:r>
          </a:p>
          <a:p>
            <a:pPr lvl="0"/>
            <a:r>
              <a:rPr sz="2000"/>
              <a:t>Its correlation is near </a:t>
            </a:r>
            <a:r>
              <a:rPr sz="2000" b="1"/>
              <a:t>zero</a:t>
            </a:r>
            <a:r>
              <a:rPr sz="2000"/>
              <a:t> anyway, because the relationship is an arch, not a line.</a:t>
            </a:r>
          </a:p>
          <a:p>
            <a:pPr lvl="0"/>
            <a:r>
              <a:rPr sz="2000"/>
              <a:t>Panel C looks like the messiest, so most rooms vote (c). It has a weak but genuine </a:t>
            </a:r>
            <a:r>
              <a:rPr sz="2000" i="1"/>
              <a:t>linear</a:t>
            </a:r>
            <a:r>
              <a:rPr sz="2000"/>
              <a:t> trend, so its r sits farther from zero than B’s.</a:t>
            </a:r>
          </a:p>
          <a:p>
            <a:pPr lvl="0"/>
            <a:r>
              <a:rPr b="1"/>
              <a:t>r measures one thing only: how close the points lie to a straight line.</a:t>
            </a:r>
          </a:p>
          <a:p>
            <a:pPr lvl="0"/>
            <a:r>
              <a:rPr/>
              <a:t>A perfect relationship with a curve in it reads as “no correlation.”</a:t>
            </a:r>
          </a:p>
          <a:p>
            <a:pPr lvl="0"/>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b="1"/>
                  <a:t>Square it for the variance explained</a:t>
                </a:r>
                <a:r>
                  <a:rPr/>
                  <a:t>: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nonparametric correlation</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killing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2026-10-19T18:21:44Z</dcterms:created>
  <dcterms:modified xsi:type="dcterms:W3CDTF">2026-10-19T18:21:44Z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