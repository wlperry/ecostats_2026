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DCC31"/>
    <a:srgbClr val="70121D"/>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726"/>
  </p:normalViewPr>
  <p:slideViewPr>
    <p:cSldViewPr snapToGrid="0" snapToObjects="1">
      <p:cViewPr varScale="1">
        <p:scale>
          <a:sx d="100" n="165"/>
          <a:sy d="100" n="165"/>
        </p:scale>
        <p:origin x="560" y="176"/>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slide" Target="slides/slide45.xml" /><Relationship Id="rId47" Type="http://schemas.openxmlformats.org/officeDocument/2006/relationships/slide" Target="slides/slide46.xml" /><Relationship Id="rId48" Type="http://schemas.openxmlformats.org/officeDocument/2006/relationships/slide" Target="slides/slide47.xml" /><Relationship Id="rId49" Type="http://schemas.openxmlformats.org/officeDocument/2006/relationships/slide" Target="slides/slide48.xml" /><Relationship Id="rId50" Type="http://schemas.openxmlformats.org/officeDocument/2006/relationships/slide" Target="slides/slide49.xml" /><Relationship Id="rId51" Type="http://schemas.openxmlformats.org/officeDocument/2006/relationships/slide" Target="slides/slide50.xml" /><Relationship Id="rId52" Type="http://schemas.openxmlformats.org/officeDocument/2006/relationships/slide" Target="slides/slide51.xml" /><Relationship Id="rId53" Type="http://schemas.openxmlformats.org/officeDocument/2006/relationships/slide" Target="slides/slide52.xml" /><Relationship Id="rId54" Type="http://schemas.openxmlformats.org/officeDocument/2006/relationships/slide" Target="slides/slide53.xml" /><Relationship Id="rId56" Type="http://schemas.openxmlformats.org/officeDocument/2006/relationships/viewProps" Target="viewProps.xml" /><Relationship Id="rId55" Type="http://schemas.openxmlformats.org/officeDocument/2006/relationships/presProps" Target="presProps.xml" /><Relationship Id="rId1" Type="http://schemas.openxmlformats.org/officeDocument/2006/relationships/slideMaster" Target="slideMasters/slideMaster1.xml" /><Relationship Id="rId58" Type="http://schemas.openxmlformats.org/officeDocument/2006/relationships/tableStyles" Target="tableStyles.xml" /><Relationship Id="rId57"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565688"/>
          </a:xfrm>
        </p:spPr>
        <p:txBody>
          <a:bodyPr>
            <a:normAutofit/>
          </a:bodyPr>
          <a:lstStyle>
            <a:lvl1pPr>
              <a:defRPr sz="2400"/>
            </a:lvl1pPr>
          </a:lstStyle>
          <a:p>
            <a:r>
              <a:rPr lang="en-US" dirty="0"/>
              <a:t>Click to edit Master title style</a:t>
            </a:r>
          </a:p>
        </p:txBody>
      </p:sp>
      <p:sp>
        <p:nvSpPr>
          <p:cNvPr id="3" name="Subtitle 2"/>
          <p:cNvSpPr>
            <a:spLocks noGrp="1"/>
          </p:cNvSpPr>
          <p:nvPr>
            <p:ph type="subTitle" idx="1"/>
          </p:nvPr>
        </p:nvSpPr>
        <p:spPr>
          <a:xfrm>
            <a:off x="255722" y="565689"/>
            <a:ext cx="6400800" cy="1314450"/>
          </a:xfrm>
        </p:spPr>
        <p:txBody>
          <a:bodyPr>
            <a:normAutofit/>
          </a:bodyPr>
          <a:lstStyle>
            <a:lvl1pPr marL="0" indent="0" algn="ctr">
              <a:buNone/>
              <a:defRPr sz="2000">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normAutofit/>
          </a:bodyPr>
          <a:lstStyle>
            <a:lvl1pPr algn="l">
              <a:defRPr sz="2400"/>
            </a:lvl1pPr>
          </a:lstStyle>
          <a:p>
            <a:r>
              <a:rPr lang="en-US" dirty="0"/>
              <a:t>Click to edit Master title style</a:t>
            </a:r>
          </a:p>
        </p:txBody>
      </p:sp>
      <p:sp>
        <p:nvSpPr>
          <p:cNvPr id="3" name="Content Placeholder 2"/>
          <p:cNvSpPr>
            <a:spLocks noGrp="1"/>
          </p:cNvSpPr>
          <p:nvPr>
            <p:ph idx="1"/>
          </p:nvPr>
        </p:nvSpPr>
        <p:spPr>
          <a:xfrm>
            <a:off x="0" y="614605"/>
            <a:ext cx="9089756" cy="3914289"/>
          </a:xfrm>
        </p:spPr>
        <p:txBody>
          <a:bodyPr>
            <a:normAutofit/>
          </a:bodyPr>
          <a:lstStyle>
            <a:lvl1pPr marL="230188" indent="-230188">
              <a:tabLst/>
              <a:defRPr sz="1800"/>
            </a:lvl1pPr>
            <a:lvl2pPr marL="514350" indent="-284163">
              <a:spcBef>
                <a:spcPts val="0"/>
              </a:spcBef>
              <a:tabLst/>
              <a:defRPr sz="1600"/>
            </a:lvl2pPr>
            <a:lvl3pPr marL="692150" indent="-177800">
              <a:spcBef>
                <a:spcPts val="0"/>
              </a:spcBef>
              <a:tabLst/>
              <a:defRPr sz="1400"/>
            </a:lvl3pPr>
            <a:lvl4pPr marL="914400" indent="-222250">
              <a:spcBef>
                <a:spcPts val="0"/>
              </a:spcBef>
              <a:tabLst/>
              <a:defRPr sz="1400"/>
            </a:lvl4pPr>
            <a:lvl5pPr marL="1146175" indent="-231775">
              <a:spcBef>
                <a:spcPts val="0"/>
              </a:spcBef>
              <a:tabLst/>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21556"/>
          </a:xfrm>
        </p:spPr>
        <p:txBody>
          <a:bodyPr anchor="t">
            <a:normAutofit/>
          </a:bodyPr>
          <a:lstStyle>
            <a:lvl1pPr algn="l">
              <a:defRPr sz="2400" b="1" cap="all"/>
            </a:lvl1pPr>
          </a:lstStyle>
          <a:p>
            <a:r>
              <a:rPr lang="en-US" dirty="0"/>
              <a:t>Click to edit Master title style</a:t>
            </a:r>
          </a:p>
        </p:txBody>
      </p:sp>
      <p:sp>
        <p:nvSpPr>
          <p:cNvPr id="3" name="Text Placeholder 2"/>
          <p:cNvSpPr>
            <a:spLocks noGrp="1"/>
          </p:cNvSpPr>
          <p:nvPr>
            <p:ph type="body" idx="1"/>
          </p:nvPr>
        </p:nvSpPr>
        <p:spPr>
          <a:xfrm>
            <a:off x="457200" y="1141649"/>
            <a:ext cx="7772400" cy="1125140"/>
          </a:xfrm>
        </p:spPr>
        <p:txBody>
          <a:bodyPr anchor="b">
            <a:normAutofit/>
          </a:bodyPr>
          <a:lstStyle>
            <a:lvl1pPr marL="0" indent="0">
              <a:buNone/>
              <a:defRPr sz="16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lvl1pPr algn="l">
              <a:defRPr b="0">
                <a:solidFill>
                  <a:srgbClr val="FDCC31"/>
                </a:solidFill>
              </a:defRPr>
            </a:lvl1pPr>
          </a:lstStyle>
          <a:p>
            <a:r>
              <a:rPr lang="en-US" dirty="0"/>
              <a:t>Click to edit Master title style</a:t>
            </a:r>
          </a:p>
        </p:txBody>
      </p:sp>
      <p:sp>
        <p:nvSpPr>
          <p:cNvPr id="3" name="Content Placeholder 2"/>
          <p:cNvSpPr>
            <a:spLocks noGrp="1"/>
          </p:cNvSpPr>
          <p:nvPr>
            <p:ph sz="half" idx="1"/>
          </p:nvPr>
        </p:nvSpPr>
        <p:spPr>
          <a:xfrm>
            <a:off x="9040" y="662663"/>
            <a:ext cx="6010759" cy="4480837"/>
          </a:xfrm>
        </p:spPr>
        <p:txBody>
          <a:bodyPr>
            <a:normAutofit/>
          </a:bodyPr>
          <a:lstStyle>
            <a:lvl1pPr marL="230188" indent="-230188">
              <a:tabLst/>
              <a:defRPr sz="1800"/>
            </a:lvl1pPr>
            <a:lvl2pPr marL="460375" indent="-230188">
              <a:tabLst/>
              <a:defRPr sz="1600"/>
            </a:lvl2pPr>
            <a:lvl3pPr marL="630238" indent="-169863">
              <a:tabLst/>
              <a:defRPr sz="1400"/>
            </a:lvl3pPr>
            <a:lvl4pPr marL="914400" indent="-284163">
              <a:tabLst/>
              <a:defRPr sz="1400"/>
            </a:lvl4pPr>
            <a:lvl5pPr marL="1146175" indent="-231775">
              <a:tabLst/>
              <a:defRPr sz="1400"/>
            </a:lvl5pPr>
            <a:lvl6pPr>
              <a:defRPr sz="1350"/>
            </a:lvl6pPr>
            <a:lvl7pPr>
              <a:defRPr sz="1350"/>
            </a:lvl7pPr>
            <a:lvl8pPr>
              <a:defRPr sz="1350"/>
            </a:lvl8pPr>
            <a:lvl9pPr>
              <a:defRPr sz="135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29580" y="662664"/>
            <a:ext cx="2790986" cy="4480836"/>
          </a:xfrm>
        </p:spPr>
        <p:txBody>
          <a:bodyPr>
            <a:normAutofit/>
          </a:bodyPr>
          <a:lstStyle>
            <a:lvl1pPr marL="342900" indent="-342900">
              <a:defRPr lang="en-US" sz="1800" kern="1200" dirty="0">
                <a:solidFill>
                  <a:schemeClr val="tx1"/>
                </a:solidFill>
                <a:latin typeface="+mn-lt"/>
                <a:ea typeface="+mn-ea"/>
                <a:cs typeface="+mn-cs"/>
              </a:defRPr>
            </a:lvl1pPr>
            <a:lvl2pPr marL="515937" indent="-285750">
              <a:defRPr lang="en-US" sz="1600" kern="1200" dirty="0">
                <a:solidFill>
                  <a:schemeClr val="tx1"/>
                </a:solidFill>
                <a:latin typeface="+mn-lt"/>
                <a:ea typeface="+mn-ea"/>
                <a:cs typeface="+mn-cs"/>
              </a:defRPr>
            </a:lvl2pPr>
            <a:lvl3pPr marL="746125" indent="-285750">
              <a:defRPr lang="en-US" sz="1400" kern="1200" dirty="0">
                <a:solidFill>
                  <a:schemeClr val="tx1"/>
                </a:solidFill>
                <a:latin typeface="+mn-lt"/>
                <a:ea typeface="+mn-ea"/>
                <a:cs typeface="+mn-cs"/>
              </a:defRPr>
            </a:lvl3pPr>
            <a:lvl4pPr marL="915987" indent="-285750">
              <a:defRPr lang="en-US" sz="1400" kern="1200" dirty="0">
                <a:solidFill>
                  <a:schemeClr val="tx1"/>
                </a:solidFill>
                <a:latin typeface="+mn-lt"/>
                <a:ea typeface="+mn-ea"/>
                <a:cs typeface="+mn-cs"/>
              </a:defRPr>
            </a:lvl4pPr>
            <a:lvl5pPr marL="1200150" indent="-285750">
              <a:defRPr lang="en-US" sz="1400" kern="1200" dirty="0">
                <a:solidFill>
                  <a:schemeClr val="tx1"/>
                </a:solidFill>
                <a:latin typeface="+mn-lt"/>
                <a:ea typeface="+mn-ea"/>
                <a:cs typeface="+mn-cs"/>
              </a:defRPr>
            </a:lvl5pPr>
            <a:lvl6pPr>
              <a:defRPr sz="1350"/>
            </a:lvl6pPr>
            <a:lvl7pPr>
              <a:defRPr sz="1350"/>
            </a:lvl7pPr>
            <a:lvl8pPr>
              <a:defRPr sz="1350"/>
            </a:lvl8pPr>
            <a:lvl9pPr>
              <a:defRPr sz="1350"/>
            </a:lvl9pPr>
          </a:lstStyle>
          <a:p>
            <a:pPr marL="230188" lvl="0" indent="-230188" algn="l" defTabSz="342900" rtl="0" eaLnBrk="1" latinLnBrk="0" hangingPunct="1">
              <a:spcBef>
                <a:spcPct val="20000"/>
              </a:spcBef>
              <a:buFont typeface="Arial"/>
              <a:buChar char="•"/>
              <a:tabLst/>
            </a:pPr>
            <a:r>
              <a:rPr lang="en-US" dirty="0"/>
              <a:t>Click to edit Master text styles</a:t>
            </a:r>
          </a:p>
          <a:p>
            <a:pPr marL="460375" lvl="1" indent="-230188" algn="l" defTabSz="342900" rtl="0" eaLnBrk="1" latinLnBrk="0" hangingPunct="1">
              <a:spcBef>
                <a:spcPct val="20000"/>
              </a:spcBef>
              <a:buFont typeface="Arial"/>
              <a:buChar char="–"/>
              <a:tabLst/>
            </a:pPr>
            <a:r>
              <a:rPr lang="en-US" dirty="0"/>
              <a:t>Second level</a:t>
            </a:r>
          </a:p>
          <a:p>
            <a:pPr marL="630238" lvl="2" indent="-169863" algn="l" defTabSz="342900" rtl="0" eaLnBrk="1" latinLnBrk="0" hangingPunct="1">
              <a:spcBef>
                <a:spcPct val="20000"/>
              </a:spcBef>
              <a:buFont typeface="Arial"/>
              <a:buChar char="•"/>
              <a:tabLst/>
            </a:pPr>
            <a:r>
              <a:rPr lang="en-US" dirty="0"/>
              <a:t>Third level</a:t>
            </a:r>
          </a:p>
          <a:p>
            <a:pPr marL="914400" lvl="3" indent="-284163" algn="l" defTabSz="342900" rtl="0" eaLnBrk="1" latinLnBrk="0" hangingPunct="1">
              <a:spcBef>
                <a:spcPct val="20000"/>
              </a:spcBef>
              <a:buFont typeface="Arial"/>
              <a:buChar char="–"/>
              <a:tabLst/>
            </a:pPr>
            <a:r>
              <a:rPr lang="en-US" dirty="0"/>
              <a:t>Fourth level</a:t>
            </a:r>
          </a:p>
          <a:p>
            <a:pPr marL="1146175" lvl="4" indent="-231775" algn="l" defTabSz="342900" rtl="0" eaLnBrk="1" latinLnBrk="0" hangingPunct="1">
              <a:spcBef>
                <a:spcPct val="20000"/>
              </a:spcBef>
              <a:buFont typeface="Arial"/>
              <a:buChar char="»"/>
              <a:tabLst/>
            </a:pPr>
            <a:r>
              <a:rPr lang="en-US" dirty="0"/>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3/24/25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normAutofit/>
          </a:bodyPr>
          <a:lstStyle>
            <a:lvl1pPr algn="l">
              <a:defRPr sz="2800"/>
            </a:lvl1pPr>
          </a:lstStyle>
          <a:p>
            <a:r>
              <a:rPr lang="en-US" dirty="0"/>
              <a:t>Click to edit Master title style</a:t>
            </a:r>
          </a:p>
        </p:txBody>
      </p:sp>
      <p:sp>
        <p:nvSpPr>
          <p:cNvPr id="3" name="Text Placeholder 2"/>
          <p:cNvSpPr>
            <a:spLocks noGrp="1"/>
          </p:cNvSpPr>
          <p:nvPr>
            <p:ph type="body" idx="1"/>
          </p:nvPr>
        </p:nvSpPr>
        <p:spPr>
          <a:xfrm>
            <a:off x="136201" y="802623"/>
            <a:ext cx="4435799" cy="479822"/>
          </a:xfrm>
        </p:spPr>
        <p:txBody>
          <a:bodyPr anchor="b">
            <a:normAutofit/>
          </a:bodyPr>
          <a:lstStyle>
            <a:lvl1pPr marL="0" indent="0">
              <a:buNone/>
              <a:defRPr sz="16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4" name="Content Placeholder 3"/>
          <p:cNvSpPr>
            <a:spLocks noGrp="1"/>
          </p:cNvSpPr>
          <p:nvPr>
            <p:ph sz="half" idx="2"/>
          </p:nvPr>
        </p:nvSpPr>
        <p:spPr>
          <a:xfrm>
            <a:off x="136201" y="1282444"/>
            <a:ext cx="4435799" cy="3305054"/>
          </a:xfrm>
        </p:spPr>
        <p:txBody>
          <a:bodyPr/>
          <a:lstStyle>
            <a:lvl1pPr>
              <a:defRPr sz="16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753514" y="823389"/>
            <a:ext cx="4041775" cy="479822"/>
          </a:xfrm>
        </p:spPr>
        <p:txBody>
          <a:bodyPr anchor="b">
            <a:normAutofit/>
          </a:bodyPr>
          <a:lstStyle>
            <a:lvl1pPr marL="0" indent="0">
              <a:buNone/>
              <a:defRPr sz="16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753514" y="1303210"/>
            <a:ext cx="4041775" cy="3284288"/>
          </a:xfrm>
        </p:spPr>
        <p:txBody>
          <a:bodyPr/>
          <a:lstStyle>
            <a:lvl1pPr>
              <a:defRPr sz="16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3/24/25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3/24/25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3/24/25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71538"/>
          </a:xfrm>
        </p:spPr>
        <p:txBody>
          <a:bodyPr anchor="t" anchorCtr="0">
            <a:normAutofit/>
          </a:bodyPr>
          <a:lstStyle>
            <a:lvl1pPr algn="l">
              <a:defRPr sz="2400" b="1"/>
            </a:lvl1pPr>
          </a:lstStyle>
          <a:p>
            <a:r>
              <a:rPr lang="en-US"/>
              <a:t>Click to edit Master title style</a:t>
            </a:r>
          </a:p>
        </p:txBody>
      </p:sp>
      <p:sp>
        <p:nvSpPr>
          <p:cNvPr id="3" name="Content Placeholder 2"/>
          <p:cNvSpPr>
            <a:spLocks noGrp="1"/>
          </p:cNvSpPr>
          <p:nvPr>
            <p:ph idx="1"/>
          </p:nvPr>
        </p:nvSpPr>
        <p:spPr>
          <a:xfrm>
            <a:off x="3657600" y="960804"/>
            <a:ext cx="5238426" cy="3806460"/>
          </a:xfrm>
        </p:spPr>
        <p:txBody>
          <a:bodyPr>
            <a:normAutofit/>
          </a:bodyPr>
          <a:lstStyle>
            <a:lvl1pPr>
              <a:defRPr sz="1800"/>
            </a:lvl1pPr>
            <a:lvl2pPr>
              <a:defRPr sz="1600"/>
            </a:lvl2pPr>
            <a:lvl3pPr>
              <a:defRPr sz="1600"/>
            </a:lvl3pPr>
            <a:lvl4pPr>
              <a:defRPr sz="1600"/>
            </a:lvl4pPr>
            <a:lvl5pPr>
              <a:defRPr sz="1600"/>
            </a:lvl5pPr>
            <a:lvl6pPr>
              <a:defRPr sz="1500"/>
            </a:lvl6pPr>
            <a:lvl7pPr>
              <a:defRPr sz="1500"/>
            </a:lvl7pPr>
            <a:lvl8pPr>
              <a:defRPr sz="1500"/>
            </a:lvl8pPr>
            <a:lvl9pPr>
              <a:defRPr sz="15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0" y="960803"/>
            <a:ext cx="3541363" cy="3518297"/>
          </a:xfrm>
        </p:spPr>
        <p:txBody>
          <a:bodyPr>
            <a:normAutofit/>
          </a:bodyPr>
          <a:lstStyle>
            <a:lvl1pPr marL="0" indent="0">
              <a:buNone/>
              <a:defRPr sz="16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dirty="0"/>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3/24/25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3/24/25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7490" y="102393"/>
            <a:ext cx="8934774" cy="582780"/>
          </a:xfrm>
          <a:prstGeom prst="rect">
            <a:avLst/>
          </a:prstGeom>
          <a:solidFill>
            <a:srgbClr val="70121D"/>
          </a:solidFill>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77489" y="781696"/>
            <a:ext cx="8934773" cy="3914289"/>
          </a:xfrm>
          <a:prstGeom prst="rect">
            <a:avLst/>
          </a:prstGeom>
        </p:spPr>
        <p:txBody>
          <a:bodyPr bIns="45720" lIns="91440" rIns="91440" rtlCol="0" tIns="45720" vert="horz">
            <a:normAutofit/>
          </a:bodyPr>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3/24/25</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342900" eaLnBrk="1" hangingPunct="1" latinLnBrk="0" rtl="0">
        <a:spcBef>
          <a:spcPct val="0"/>
        </a:spcBef>
        <a:buNone/>
        <a:defRPr kern="1200" sz="2800">
          <a:solidFill>
            <a:srgbClr val="FDCC31"/>
          </a:solidFill>
          <a:latin typeface="+mj-lt"/>
          <a:ea typeface="+mj-ea"/>
          <a:cs typeface="+mj-cs"/>
        </a:defRPr>
      </a:lvl1pPr>
    </p:titleStyle>
    <p:bodyStyle>
      <a:lvl1pPr algn="l" defTabSz="342900" eaLnBrk="1" hangingPunct="1" indent="-342900" latinLnBrk="0" marL="342900" rtl="0">
        <a:spcBef>
          <a:spcPts val="0"/>
        </a:spcBef>
        <a:buFont typeface="Arial"/>
        <a:buChar char="•"/>
        <a:defRPr b="0" kern="1200" sz="1800">
          <a:solidFill>
            <a:schemeClr val="tx1"/>
          </a:solidFill>
          <a:latin typeface="+mn-lt"/>
          <a:ea typeface="+mn-ea"/>
          <a:cs typeface="+mn-cs"/>
        </a:defRPr>
      </a:lvl1pPr>
      <a:lvl2pPr algn="l" defTabSz="342900" eaLnBrk="1" hangingPunct="1" indent="-342900" latinLnBrk="0" marL="685800" rtl="0">
        <a:spcBef>
          <a:spcPts val="0"/>
        </a:spcBef>
        <a:buFont typeface="Arial"/>
        <a:buChar char="–"/>
        <a:defRPr kern="1200" sz="1600">
          <a:solidFill>
            <a:schemeClr val="tx1"/>
          </a:solidFill>
          <a:latin typeface="+mn-lt"/>
          <a:ea typeface="+mn-ea"/>
          <a:cs typeface="+mn-cs"/>
        </a:defRPr>
      </a:lvl2pPr>
      <a:lvl3pPr algn="l" defTabSz="342900" eaLnBrk="1" hangingPunct="1" indent="-342900" latinLnBrk="0" marL="1028700" rtl="0">
        <a:spcBef>
          <a:spcPts val="0"/>
        </a:spcBef>
        <a:buFont typeface="Arial"/>
        <a:buChar char="•"/>
        <a:defRPr kern="1200" sz="1600">
          <a:solidFill>
            <a:schemeClr val="tx1"/>
          </a:solidFill>
          <a:latin typeface="+mn-lt"/>
          <a:ea typeface="+mn-ea"/>
          <a:cs typeface="+mn-cs"/>
        </a:defRPr>
      </a:lvl3pPr>
      <a:lvl4pPr algn="l" defTabSz="342900" eaLnBrk="1" hangingPunct="1" indent="-342900" latinLnBrk="0" marL="1371600" rtl="0">
        <a:spcBef>
          <a:spcPts val="0"/>
        </a:spcBef>
        <a:buFont typeface="Arial"/>
        <a:buChar char="–"/>
        <a:defRPr kern="1200" sz="1600">
          <a:solidFill>
            <a:schemeClr val="tx1"/>
          </a:solidFill>
          <a:latin typeface="+mn-lt"/>
          <a:ea typeface="+mn-ea"/>
          <a:cs typeface="+mn-cs"/>
        </a:defRPr>
      </a:lvl4pPr>
      <a:lvl5pPr algn="l" defTabSz="342900" eaLnBrk="1" hangingPunct="1" indent="-342900" latinLnBrk="0" marL="1714500" rtl="0">
        <a:spcBef>
          <a:spcPts val="0"/>
        </a:spcBef>
        <a:buFont typeface="Arial"/>
        <a:buChar char="»"/>
        <a:defRPr kern="1200" sz="16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hyperlink" Target="data/booby_aggression.csv" TargetMode="External" /><Relationship Id="rId3" Type="http://schemas.openxmlformats.org/officeDocument/2006/relationships/hyperlink" Target="data/rope_trick.csv" TargetMode="External" /><Relationship Id="rId4" Type="http://schemas.openxmlformats.org/officeDocument/2006/relationships/hyperlink" Target="data/lion_noses.csv" TargetMode="External" /><Relationship Id="rId5" Type="http://schemas.openxmlformats.org/officeDocument/2006/relationships/hyperlink" Target="data/10_correlation_linear_models.R" TargetMode="Externa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png" /></Relationships>
</file>

<file path=ppt/slides/_rels/slide8.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2.png" /></Relationships>
</file>

<file path=ppt/slides/_rels/slide11.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3.png" /></Relationships>
</file>

<file path=ppt/slides/_rels/slide12.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4.png" /></Relationships>
</file>

<file path=ppt/slides/_rels/slide13.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5.png" /></Relationships>
</file>

<file path=ppt/slides/_rels/slide14.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6.png" /></Relationships>
</file>

<file path=ppt/slides/_rels/slide17.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7.png" /></Relationships>
</file>

<file path=ppt/slides/_rels/slide18.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8.png" /></Relationships>
</file>

<file path=ppt/slides/_rels/slide21.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9.png" /></Relationships>
</file>

<file path=ppt/slides/_rels/slide24.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0.png" /></Relationships>
</file>

<file path=ppt/slides/_rels/slide25.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1.png" /></Relationships>
</file>

<file path=ppt/slides/_rels/slide31.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2.png" /></Relationships>
</file>

<file path=ppt/slides/_rels/slide34.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3.png" /></Relationships>
</file>

<file path=ppt/slides/_rels/slide35.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38.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4.png" /></Relationships>
</file>

<file path=ppt/slides/_rels/slide39.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40.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41.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4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3.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5.png" /></Relationships>
</file>

<file path=ppt/slides/_rels/slide44.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6.png" /></Relationships>
</file>

<file path=ppt/slides/_rels/slide45.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7.png" /></Relationships>
</file>

<file path=ppt/slides/_rels/slide46.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8.png" /></Relationships>
</file>

<file path=ppt/slides/_rels/slide47.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48.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9.png" /></Relationships>
</file>

<file path=ppt/slides/_rels/slide49.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20.png" /></Relationships>
</file>

<file path=ppt/slides/_rels/slide50.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5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2.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53.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565688"/>
          </a:xfrm>
        </p:spPr>
        <p:txBody>
          <a:bodyPr/>
          <a:lstStyle/>
          <a:p>
            <a:pPr lvl="0" indent="0" marL="0">
              <a:buNone/>
            </a:pPr>
            <a:r>
              <a:rPr/>
              <a:t>Lecture: Correlation vs Linear Models</a:t>
            </a:r>
          </a:p>
        </p:txBody>
      </p:sp>
      <p:sp>
        <p:nvSpPr>
          <p:cNvPr id="3" name="Subtitle 2"/>
          <p:cNvSpPr>
            <a:spLocks noGrp="1"/>
          </p:cNvSpPr>
          <p:nvPr>
            <p:ph idx="1" type="subTitle"/>
          </p:nvPr>
        </p:nvSpPr>
        <p:spPr>
          <a:xfrm>
            <a:off x="255722" y="565689"/>
            <a:ext cx="6400800" cy="1314450"/>
          </a:xfrm>
        </p:spPr>
        <p:txBody>
          <a:bodyPr/>
          <a:lstStyle/>
          <a:p>
            <a:pPr lvl="0" indent="0" marL="0">
              <a:buNone/>
            </a:pPr>
            <a:r>
              <a:rPr/>
              <a:t>Relationships</a:t>
            </a:r>
            <a:br/>
            <a:br/>
            <a:r>
              <a:rPr/>
              <a:t>Bill Perry</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Where We Left Off</a:t>
            </a:r>
          </a:p>
        </p:txBody>
      </p:sp>
      <p:sp>
        <p:nvSpPr>
          <p:cNvPr id="3" name="Content Placeholder 2"/>
          <p:cNvSpPr>
            <a:spLocks noGrp="1"/>
          </p:cNvSpPr>
          <p:nvPr>
            <p:ph idx="1" sz="half"/>
          </p:nvPr>
        </p:nvSpPr>
        <p:spPr/>
        <p:txBody>
          <a:bodyPr/>
          <a:lstStyle/>
          <a:p>
            <a:pPr lvl="0" indent="0" marL="0">
              <a:buNone/>
            </a:pPr>
            <a:r>
              <a:rPr/>
              <a:t>Covered last time:</a:t>
            </a:r>
          </a:p>
          <a:p>
            <a:pPr lvl="0"/>
            <a:r>
              <a:rPr/>
              <a:t>A design has two jobs: kill </a:t>
            </a:r>
            <a:r>
              <a:rPr b="1"/>
              <a:t>bias</a:t>
            </a:r>
            <a:r>
              <a:rPr/>
              <a:t>, shrink </a:t>
            </a:r>
            <a:r>
              <a:rPr b="1"/>
              <a:t>sampling error</a:t>
            </a:r>
          </a:p>
          <a:p>
            <a:pPr lvl="0"/>
            <a:r>
              <a:rPr/>
              <a:t>Controls, randomization and blinding; replication, balance and blocking</a:t>
            </a:r>
          </a:p>
          <a:p>
            <a:pPr lvl="0"/>
            <a:r>
              <a:rPr/>
              <a:t>Natural versus manipulative experiments, and what each one licenses you to say</a:t>
            </a:r>
          </a:p>
          <a:p>
            <a:pPr lvl="0"/>
            <a:r>
              <a:rPr b="1"/>
              <a:t>Your design has already chosen your analysis</a:t>
            </a:r>
          </a:p>
        </p:txBody>
      </p:sp>
      <p:sp>
        <p:nvSpPr>
          <p:cNvPr id="4" name="Content Placeholder 3"/>
          <p:cNvSpPr>
            <a:spLocks noGrp="1"/>
          </p:cNvSpPr>
          <p:nvPr>
            <p:ph idx="2" sz="half"/>
          </p:nvPr>
        </p:nvSpPr>
        <p:spPr/>
        <p:txBody>
          <a:bodyPr/>
          <a:lstStyle/>
          <a:p>
            <a:pPr lvl="0" indent="0" marL="1270000">
              <a:buNone/>
            </a:pPr>
            <a:r>
              <a:rPr sz="2000" b="1"/>
              <a:t>Note</a:t>
            </a:r>
          </a:p>
          <a:p>
            <a:pPr lvl="0" indent="0" marL="1270000">
              <a:buNone/>
            </a:pPr>
            <a:r>
              <a:rPr sz="2000" b="1"/>
              <a:t>✅ Where today sits on that map</a:t>
            </a:r>
          </a:p>
          <a:p>
            <a:pPr lvl="0"/>
            <a:r>
              <a:rPr sz="2000"/>
              <a:t>Last week ended with a table mapping designs onto analyses.</a:t>
            </a:r>
          </a:p>
          <a:p>
            <a:pPr lvl="0"/>
            <a:r>
              <a:rPr sz="2000"/>
              <a:t>Today is its </a:t>
            </a:r>
            <a:r>
              <a:rPr sz="2000" b="1"/>
              <a:t>first row</a:t>
            </a:r>
            <a:r>
              <a:rPr sz="2000"/>
              <a:t> — one continuous predictor, one continuous response.</a:t>
            </a:r>
          </a:p>
          <a:p>
            <a:pPr lvl="0"/>
            <a:r>
              <a:rPr sz="2000"/>
              <a:t>Everything after today adds predictors or changes their type. The machinery stays the same.</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Part 1 · Overview</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Today’s Objectives</a:t>
            </a:r>
          </a:p>
        </p:txBody>
      </p:sp>
      <p:sp>
        <p:nvSpPr>
          <p:cNvPr id="3" name="Content Placeholder 2"/>
          <p:cNvSpPr>
            <a:spLocks noGrp="1"/>
          </p:cNvSpPr>
          <p:nvPr>
            <p:ph idx="1" sz="half"/>
          </p:nvPr>
        </p:nvSpPr>
        <p:spPr/>
        <p:txBody>
          <a:bodyPr/>
          <a:lstStyle/>
          <a:p>
            <a:pPr lvl="0" indent="0" marL="0">
              <a:buNone/>
            </a:pPr>
            <a:r>
              <a:rPr/>
              <a:t>Two techniques, one idea — a straight line through a cloud of points:</a:t>
            </a:r>
          </a:p>
          <a:p>
            <a:pPr lvl="0"/>
            <a:r>
              <a:rPr b="1"/>
              <a:t>Correlation</a:t>
            </a:r>
            <a:r>
              <a:rPr/>
              <a:t> — how tightly do two variables move together?</a:t>
            </a:r>
          </a:p>
          <a:p>
            <a:pPr lvl="0"/>
            <a:r>
              <a:rPr b="1"/>
              <a:t>Regression</a:t>
            </a:r>
            <a:r>
              <a:rPr/>
              <a:t> — what equation predicts Y from X?</a:t>
            </a:r>
          </a:p>
          <a:p>
            <a:pPr lvl="0"/>
            <a:r>
              <a:rPr/>
              <a:t>Assumptions for each, and what to do when they fail</a:t>
            </a:r>
          </a:p>
          <a:p>
            <a:pPr lvl="0"/>
            <a:r>
              <a:rPr b="1"/>
              <a:t>Sums of squares</a:t>
            </a:r>
            <a:r>
              <a:rPr/>
              <a:t> — how a fitted line becomes an ANOVA table</a:t>
            </a:r>
          </a:p>
          <a:p>
            <a:pPr lvl="0" indent="0" marL="0">
              <a:buNone/>
            </a:pPr>
            <a:r>
              <a:rPr/>
              <a:t>This lecture runs over </a:t>
            </a:r>
            <a:r>
              <a:rPr b="1"/>
              <a:t>two class days</a:t>
            </a:r>
            <a:r>
              <a:rPr/>
              <a:t>: correlation first, regression second.</a:t>
            </a:r>
          </a:p>
          <a:p>
            <a:pPr lvl="0" indent="0" marL="0">
              <a:buNone/>
            </a:pPr>
            <a:r>
              <a:rPr>
                <a:hlinkClick r:id="rId2"/>
              </a:rPr>
              <a:t>📥 Booby data</a:t>
            </a:r>
            <a:r>
              <a:rPr/>
              <a:t> </a:t>
            </a:r>
            <a:r>
              <a:rPr>
                <a:hlinkClick r:id="rId3"/>
              </a:rPr>
              <a:t>📥 Rope trick data</a:t>
            </a:r>
            <a:r>
              <a:rPr/>
              <a:t> </a:t>
            </a:r>
            <a:r>
              <a:rPr>
                <a:hlinkClick r:id="rId4"/>
              </a:rPr>
              <a:t>📥 Lion data</a:t>
            </a:r>
            <a:r>
              <a:rPr/>
              <a:t> </a:t>
            </a:r>
            <a:r>
              <a:rPr>
                <a:hlinkClick r:id="rId5"/>
              </a:rPr>
              <a:t>📥 Script skeleton (.R)</a:t>
            </a:r>
          </a:p>
        </p:txBody>
      </p:sp>
      <p:sp>
        <p:nvSpPr>
          <p:cNvPr id="4" name="Content Placeholder 3"/>
          <p:cNvSpPr>
            <a:spLocks noGrp="1"/>
          </p:cNvSpPr>
          <p:nvPr>
            <p:ph idx="2" sz="half"/>
          </p:nvPr>
        </p:nvSpPr>
        <p:spPr/>
        <p:txBody>
          <a:bodyPr/>
          <a:lstStyle/>
          <a:p>
            <a:pPr lvl="0" indent="0" marL="1270000">
              <a:buNone/>
            </a:pPr>
            <a:r>
              <a:rPr sz="2000" b="1"/>
              <a:t>Note</a:t>
            </a:r>
          </a:p>
          <a:p>
            <a:pPr lvl="0" indent="0" marL="1270000">
              <a:buNone/>
            </a:pPr>
            <a:r>
              <a:rPr sz="2000" b="1"/>
              <a:t>📖 Reading</a:t>
            </a:r>
          </a:p>
          <a:p>
            <a:pPr lvl="0"/>
            <a:r>
              <a:rPr sz="2000"/>
              <a:t>Whitlock &amp; Schluter, Ch. 16 (Correlation) and Ch. 17 (Regression).</a:t>
            </a:r>
          </a:p>
          <a:p>
            <a:pPr lvl="0"/>
            <a:r>
              <a:rPr sz="2000"/>
              <a:t>Gotelli &amp; Ellison, Ch. 9 (Regression).</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 How Today Works</a:t>
            </a:r>
          </a:p>
        </p:txBody>
      </p:sp>
      <p:sp>
        <p:nvSpPr>
          <p:cNvPr id="3" name="Content Placeholder 2"/>
          <p:cNvSpPr>
            <a:spLocks noGrp="1"/>
          </p:cNvSpPr>
          <p:nvPr>
            <p:ph idx="1"/>
          </p:nvPr>
        </p:nvSpPr>
        <p:spPr/>
        <p:txBody>
          <a:bodyPr/>
          <a:lstStyle/>
          <a:p>
            <a:pPr lvl="0" indent="0" marL="1270000">
              <a:buNone/>
            </a:pPr>
            <a:r>
              <a:rPr sz="2000" b="1"/>
              <a:t>Warning</a:t>
            </a:r>
          </a:p>
          <a:p>
            <a:pPr lvl="0" indent="0" marL="1270000">
              <a:buNone/>
            </a:pPr>
            <a:r>
              <a:rPr sz="2000" b="1"/>
              <a:t>🗳️ Six times over the two days, you make the call</a:t>
            </a:r>
          </a:p>
          <a:p>
            <a:pPr lvl="0" indent="0" marL="1270000">
              <a:buNone/>
            </a:pPr>
            <a:r>
              <a:rPr sz="2000"/>
              <a:t>Six slides are marked </a:t>
            </a:r>
            <a:r>
              <a:rPr sz="2000" b="1"/>
              <a:t>🗳️ DECIDE</a:t>
            </a:r>
            <a:r>
              <a:rPr sz="2000"/>
              <a:t>. Each asks a multiple-choice question, and I will </a:t>
            </a:r>
            <a:r>
              <a:rPr sz="2000" i="1"/>
              <a:t>not</a:t>
            </a:r>
            <a:r>
              <a:rPr sz="2000"/>
              <a:t> tell you the answer on that slide.</a:t>
            </a:r>
          </a:p>
          <a:p>
            <a:pPr lvl="0" indent="0" marL="1270000">
              <a:buNone/>
            </a:pPr>
            <a:r>
              <a:rPr sz="2000" b="1"/>
              <a:t>How it works:</a:t>
            </a:r>
            <a:r>
              <a:rPr sz="2000"/>
              <a:t> write your letter down — actually write it — then hold up fingers 1–4. If the room splits, turn to the person next to you, argue for ninety seconds, and we vote again. Nothing here is graded. The point is that you commit before you find out.</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Part 2 · Correlation vs. Regression</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Correlation vs. Regression — What’s the Difference?</a:t>
            </a:r>
          </a:p>
        </p:txBody>
      </p:sp>
      <p:sp>
        <p:nvSpPr>
          <p:cNvPr id="3" name="Content Placeholder 2"/>
          <p:cNvSpPr>
            <a:spLocks noGrp="1"/>
          </p:cNvSpPr>
          <p:nvPr>
            <p:ph idx="1" sz="half"/>
          </p:nvPr>
        </p:nvSpPr>
        <p:spPr/>
        <p:txBody>
          <a:bodyPr/>
          <a:lstStyle/>
          <a:p>
            <a:pPr lvl="0" indent="0" marL="0">
              <a:buNone/>
            </a:pPr>
            <a:r>
              <a:rPr b="1"/>
              <a:t>Correlation</a:t>
            </a:r>
          </a:p>
          <a:p>
            <a:pPr lvl="0"/>
            <a:r>
              <a:rPr/>
              <a:t>Measures the </a:t>
            </a:r>
            <a:r>
              <a:rPr b="1"/>
              <a:t>strength and direction</a:t>
            </a:r>
            <a:r>
              <a:rPr/>
              <a:t> of a relationship</a:t>
            </a:r>
          </a:p>
          <a:p>
            <a:pPr lvl="0"/>
            <a:r>
              <a:rPr b="1"/>
              <a:t>Both X and Y are measured; neither is manipulated</a:t>
            </a:r>
          </a:p>
          <a:p>
            <a:pPr lvl="0"/>
            <a:r>
              <a:rPr/>
              <a:t>The variables are on equal footing — swap them and </a:t>
            </a:r>
            <a:r>
              <a:rPr i="1"/>
              <a:t>r</a:t>
            </a:r>
            <a:r>
              <a:rPr/>
              <a:t> is unchanged</a:t>
            </a:r>
          </a:p>
          <a:p>
            <a:pPr lvl="0"/>
            <a:r>
              <a:rPr/>
              <a:t>r</a:t>
            </a:r>
            <a:r>
              <a:rPr baseline="30000"/>
              <a:t>2</a:t>
            </a:r>
            <a:r>
              <a:rPr/>
              <a:t> = percent variation explained</a:t>
            </a:r>
          </a:p>
          <a:p>
            <a:pPr lvl="0"/>
            <a:r>
              <a:rPr/>
              <a:t>One number, from −1 to +1</a:t>
            </a:r>
          </a:p>
          <a:p>
            <a:pPr lvl="0" indent="0" marL="0">
              <a:buNone/>
            </a:pPr>
            <a:r>
              <a:rPr b="1"/>
              <a:t>Regression</a:t>
            </a:r>
          </a:p>
          <a:p>
            <a:pPr lvl="0"/>
            <a:r>
              <a:rPr/>
              <a:t>Produces an </a:t>
            </a:r>
            <a:r>
              <a:rPr b="1"/>
              <a:t>equation</a:t>
            </a:r>
            <a:r>
              <a:rPr/>
              <a:t> predicting Y from X</a:t>
            </a:r>
          </a:p>
          <a:p>
            <a:pPr lvl="0"/>
            <a:r>
              <a:rPr/>
              <a:t>You </a:t>
            </a:r>
            <a:r>
              <a:rPr i="1"/>
              <a:t>assume</a:t>
            </a:r>
            <a:r>
              <a:rPr/>
              <a:t> a direction, X → Y, when you choose which is which - Y is dependent on X</a:t>
            </a:r>
          </a:p>
          <a:p>
            <a:pPr lvl="0"/>
            <a:r>
              <a:rPr/>
              <a:t>Swap X and Y and you get a </a:t>
            </a:r>
            <a:r>
              <a:rPr b="1"/>
              <a:t>different line - and it becomes a different type of regression</a:t>
            </a:r>
          </a:p>
          <a:p>
            <a:pPr lvl="0"/>
            <a:r>
              <a:rPr/>
              <a:t>Gives you a slope, an intercept, and predictions</a:t>
            </a:r>
          </a:p>
        </p:txBody>
      </p:sp>
      <p:pic>
        <p:nvPicPr>
          <p:cNvPr descr="correlation_linear_models_lecture_files/figure-pptx/correlation-linear-models-02-1.png" id="0" name="Picture 1"/>
          <p:cNvPicPr>
            <a:picLocks noGrp="1" noChangeAspect="1"/>
          </p:cNvPicPr>
          <p:nvPr/>
        </p:nvPicPr>
        <p:blipFill>
          <a:blip r:embed="rId2"/>
          <a:stretch>
            <a:fillRect/>
          </a:stretch>
        </p:blipFill>
        <p:spPr bwMode="auto">
          <a:xfrm>
            <a:off x="6121400" y="1346200"/>
            <a:ext cx="2781300" cy="3086100"/>
          </a:xfrm>
          <a:prstGeom prst="rect">
            <a:avLst/>
          </a:prstGeom>
          <a:noFill/>
          <a:ln w="9525">
            <a:noFill/>
            <a:headEnd/>
            <a:tailEnd/>
          </a:ln>
        </p:spPr>
      </p:pic>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Choosing X Does Not Make It a Cause</a:t>
            </a:r>
          </a:p>
        </p:txBody>
      </p:sp>
      <p:sp>
        <p:nvSpPr>
          <p:cNvPr id="3" name="Content Placeholder 2"/>
          <p:cNvSpPr>
            <a:spLocks noGrp="1"/>
          </p:cNvSpPr>
          <p:nvPr>
            <p:ph idx="1" sz="half"/>
          </p:nvPr>
        </p:nvSpPr>
        <p:spPr/>
        <p:txBody>
          <a:bodyPr/>
          <a:lstStyle/>
          <a:p>
            <a:pPr lvl="0" indent="0" marL="1270000">
              <a:buNone/>
            </a:pPr>
            <a:r>
              <a:rPr sz="2000" b="1"/>
              <a:t>Warning</a:t>
            </a:r>
          </a:p>
          <a:p>
            <a:pPr lvl="0" indent="0" marL="1270000">
              <a:buNone/>
            </a:pPr>
            <a:r>
              <a:rPr sz="2000" b="1"/>
              <a:t>⚠️ Regression does not earn you causation</a:t>
            </a:r>
          </a:p>
          <a:p>
            <a:pPr lvl="0" indent="0" marL="1270000">
              <a:buNone/>
            </a:pPr>
            <a:r>
              <a:rPr sz="2000">
                <a:latin typeface="Courier"/>
              </a:rPr>
              <a:t>lm(y ~ x)</a:t>
            </a:r>
            <a:r>
              <a:rPr sz="2000"/>
              <a:t> will fit a slope to any two numeric columns you hand it, including ones with no causal link at all. Putting a variable on the right-hand side is a </a:t>
            </a:r>
            <a:r>
              <a:rPr sz="2000" b="1"/>
              <a:t>decision you made</a:t>
            </a:r>
            <a:r>
              <a:rPr sz="2000"/>
              <a:t>, not a finding.</a:t>
            </a:r>
          </a:p>
          <a:p>
            <a:pPr lvl="0" indent="0" marL="1270000">
              <a:buNone/>
            </a:pPr>
            <a:r>
              <a:rPr sz="2000"/>
              <a:t>What licenses a causal claim is the </a:t>
            </a:r>
            <a:r>
              <a:rPr sz="2000" b="1"/>
              <a:t>study design</a:t>
            </a:r>
            <a:r>
              <a:rPr sz="2000"/>
              <a:t> — manipulation, randomization, controls — not the model you fit afterwards.</a:t>
            </a:r>
          </a:p>
          <a:p>
            <a:pPr lvl="0" indent="0" marL="0">
              <a:buNone/>
            </a:pPr>
            <a:r>
              <a:rPr/>
              <a:t>Last week’s inference gradient, in one line: the same </a:t>
            </a:r>
            <a:r>
              <a:rPr>
                <a:latin typeface="Courier"/>
              </a:rPr>
              <a:t>lm()</a:t>
            </a:r>
            <a:r>
              <a:rPr/>
              <a:t> output supports a weak claim from an observational survey and a strong claim from a randomized experiment. </a:t>
            </a:r>
            <a:r>
              <a:rPr b="1"/>
              <a:t>The design decides which one you are allowed to write.</a:t>
            </a:r>
          </a:p>
        </p:txBody>
      </p:sp>
      <p:sp>
        <p:nvSpPr>
          <p:cNvPr id="4" name="Content Placeholder 3"/>
          <p:cNvSpPr>
            <a:spLocks noGrp="1"/>
          </p:cNvSpPr>
          <p:nvPr>
            <p:ph idx="2" sz="half"/>
          </p:nvPr>
        </p:nvSpPr>
        <p:spPr/>
        <p:txBody>
          <a:bodyPr/>
          <a:lstStyle/>
          <a:p>
            <a:pPr lvl="0" indent="0" marL="1270000">
              <a:buNone/>
            </a:pPr>
            <a:r>
              <a:rPr sz="2000" b="1"/>
              <a:t>Note</a:t>
            </a:r>
          </a:p>
          <a:p>
            <a:pPr lvl="0" indent="0" marL="1270000">
              <a:buNone/>
            </a:pPr>
            <a:r>
              <a:rPr sz="2000" b="1"/>
              <a:t>Which do I report?</a:t>
            </a:r>
          </a:p>
          <a:p>
            <a:pPr lvl="0"/>
            <a:r>
              <a:rPr sz="2000"/>
              <a:t>Both variables measured, no direction implied → </a:t>
            </a:r>
            <a:r>
              <a:rPr sz="2000" b="1"/>
              <a:t>correlation</a:t>
            </a:r>
          </a:p>
          <a:p>
            <a:pPr lvl="0"/>
            <a:r>
              <a:rPr sz="2000"/>
              <a:t>One variable predicts or sets the other, or you want predictions → </a:t>
            </a:r>
            <a:r>
              <a:rPr sz="2000" b="1"/>
              <a:t>regression</a:t>
            </a:r>
          </a:p>
          <a:p>
            <a:pPr lvl="0"/>
            <a:r>
              <a:rPr sz="2000"/>
              <a:t>Reporting both is fine; claiming cause from either is not</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Part 3 · Correlation Analysis</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What Is Correlation?</a:t>
            </a:r>
          </a:p>
        </p:txBody>
      </p:sp>
      <mc:AlternateContent xmlns:mc="http://schemas.openxmlformats.org/markup-compatibility/2006">
        <mc:Choice xmlns:a14="http://schemas.microsoft.com/office/drawing/2010/main" Requires="a14">
          <p:sp>
            <p:nvSpPr>
              <p:cNvPr id="3" name="Content Placeholder 2"/>
              <p:cNvSpPr>
                <a:spLocks noGrp="1"/>
              </p:cNvSpPr>
              <p:nvPr>
                <p:ph idx="1" sz="half"/>
              </p:nvPr>
            </p:nvSpPr>
            <p:spPr/>
            <p:txBody>
              <a:bodyPr/>
              <a:lstStyle/>
              <a:p>
                <a:pPr lvl="0" indent="0" marL="0">
                  <a:buNone/>
                </a:pPr>
                <a:r>
                  <a:rPr b="1"/>
                  <a:t>Correlation</a:t>
                </a:r>
                <a:r>
                  <a:rPr/>
                  <a:t> measures the strength and direction of a </a:t>
                </a:r>
                <a:r>
                  <a:rPr b="1"/>
                  <a:t>linear</a:t>
                </a:r>
                <a:r>
                  <a:rPr/>
                  <a:t> relationship between two numerical variables. It runs from −1 to +1:</a:t>
                </a:r>
              </a:p>
              <a:p>
                <a:pPr lvl="0"/>
                <a:r>
                  <a:rPr/>
                  <a:t>+1 — perfect positive</a:t>
                </a:r>
              </a:p>
              <a:p>
                <a:pPr lvl="0"/>
                <a:r>
                  <a:rPr/>
                  <a:t>0 — no </a:t>
                </a:r>
                <a:r>
                  <a:rPr i="1"/>
                  <a:t>linear</a:t>
                </a:r>
                <a:r>
                  <a:rPr/>
                  <a:t> relationship</a:t>
                </a:r>
              </a:p>
              <a:p>
                <a:pPr lvl="0"/>
                <a:r>
                  <a:rPr/>
                  <a:t>−1 — perfect negative</a:t>
                </a:r>
              </a:p>
              <a:p>
                <a:pPr lvl="0" indent="0" marL="0">
                  <a:buNone/>
                </a:pPr>
                <a:r>
                  <a:rPr/>
                  <a:t>The </a:t>
                </a:r>
                <a:r>
                  <a:rPr b="1"/>
                  <a:t>Pearson correlation coefficient</a:t>
                </a:r>
                <a:r>
                  <a:rPr/>
                  <a:t>:</a:t>
                </a:r>
              </a:p>
              <a:p>
                <a:pPr lvl="0" indent="0" marL="0">
                  <a:buNone/>
                </a:pPr>
                <a14:m>
                  <m:oMathPara xmlns:m="http://schemas.openxmlformats.org/officeDocument/2006/math">
                    <m:oMathParaPr>
                      <m:jc m:val="center"/>
                    </m:oMathParaPr>
                    <m:oMath>
                      <m:r>
                        <m:t>r</m:t>
                      </m:r>
                      <m:r>
                        <m:rPr>
                          <m:sty m:val="p"/>
                        </m:rPr>
                        <m:t>=</m:t>
                      </m:r>
                      <m:f>
                        <m:fPr>
                          <m:type m:val="bar"/>
                        </m:fPr>
                        <m:num>
                          <m:nary>
                            <m:naryPr>
                              <m:chr m:val="∑"/>
                              <m:limLoc m:val="undOvr"/>
                              <m:subHide m:val="off"/>
                              <m:supHide m:val="on"/>
                            </m:naryPr>
                            <m:sub>
                              <m:r>
                                <m:t>i</m:t>
                              </m:r>
                            </m:sub>
                            <m:sup>
                              <m:r>
                                <m:t>​</m:t>
                              </m:r>
                            </m:sup>
                            <m:e>
                              <m:r>
                                <m:rPr>
                                  <m:sty m:val="p"/>
                                </m:rPr>
                                <m:t>(</m:t>
                              </m:r>
                            </m:e>
                          </m:nary>
                          <m:sSub>
                            <m:e>
                              <m:r>
                                <m:t>X</m:t>
                              </m:r>
                            </m:e>
                            <m:sub>
                              <m:r>
                                <m:t>i</m:t>
                              </m:r>
                            </m:sub>
                          </m:sSub>
                          <m:r>
                            <m:rPr>
                              <m:sty m:val="p"/>
                            </m:rPr>
                            <m:t>−</m:t>
                          </m:r>
                          <m:acc>
                            <m:accPr>
                              <m:chr m:val="‾"/>
                            </m:accPr>
                            <m:e>
                              <m:r>
                                <m:t>X</m:t>
                              </m:r>
                            </m:e>
                          </m:acc>
                          <m:r>
                            <m:rPr>
                              <m:sty m:val="p"/>
                            </m:rPr>
                            <m:t>)</m:t>
                          </m:r>
                          <m:r>
                            <m:rPr>
                              <m:sty m:val="p"/>
                            </m:rPr>
                            <m:t>(</m:t>
                          </m:r>
                          <m:sSub>
                            <m:e>
                              <m:r>
                                <m:t>Y</m:t>
                              </m:r>
                            </m:e>
                            <m:sub>
                              <m:r>
                                <m:t>i</m:t>
                              </m:r>
                            </m:sub>
                          </m:sSub>
                          <m:r>
                            <m:rPr>
                              <m:sty m:val="p"/>
                            </m:rPr>
                            <m:t>−</m:t>
                          </m:r>
                          <m:acc>
                            <m:accPr>
                              <m:chr m:val="‾"/>
                            </m:accPr>
                            <m:e>
                              <m:r>
                                <m:t>Y</m:t>
                              </m:r>
                            </m:e>
                          </m:acc>
                          <m:r>
                            <m:rPr>
                              <m:sty m:val="p"/>
                            </m:rPr>
                            <m:t>)</m:t>
                          </m:r>
                        </m:num>
                        <m:den>
                          <m:rad>
                            <m:radPr>
                              <m:degHide m:val="on"/>
                            </m:radPr>
                            <m:deg/>
                            <m:e>
                              <m:nary>
                                <m:naryPr>
                                  <m:chr m:val="∑"/>
                                  <m:limLoc m:val="undOvr"/>
                                  <m:subHide m:val="off"/>
                                  <m:supHide m:val="on"/>
                                </m:naryPr>
                                <m:sub>
                                  <m:r>
                                    <m:t>i</m:t>
                                  </m:r>
                                </m:sub>
                                <m:sup>
                                  <m:r>
                                    <m:t>​</m:t>
                                  </m:r>
                                </m:sup>
                                <m:e>
                                  <m:r>
                                    <m:rPr>
                                      <m:sty m:val="p"/>
                                    </m:rPr>
                                    <m:t>(</m:t>
                                  </m:r>
                                </m:e>
                              </m:nary>
                              <m:sSub>
                                <m:e>
                                  <m:r>
                                    <m:t>X</m:t>
                                  </m:r>
                                </m:e>
                                <m:sub>
                                  <m:r>
                                    <m:t>i</m:t>
                                  </m:r>
                                </m:sub>
                              </m:sSub>
                              <m:r>
                                <m:rPr>
                                  <m:sty m:val="p"/>
                                </m:rPr>
                                <m:t>−</m:t>
                              </m:r>
                              <m:acc>
                                <m:accPr>
                                  <m:chr m:val="‾"/>
                                </m:accPr>
                                <m:e>
                                  <m:r>
                                    <m:t>X</m:t>
                                  </m:r>
                                </m:e>
                              </m:acc>
                              <m:sSup>
                                <m:e>
                                  <m:r>
                                    <m:rPr>
                                      <m:sty m:val="p"/>
                                    </m:rPr>
                                    <m:t>)</m:t>
                                  </m:r>
                                </m:e>
                                <m:sup>
                                  <m:r>
                                    <m:t>2</m:t>
                                  </m:r>
                                </m:sup>
                              </m:sSup>
                              <m:nary>
                                <m:naryPr>
                                  <m:chr m:val="∑"/>
                                  <m:limLoc m:val="undOvr"/>
                                  <m:subHide m:val="off"/>
                                  <m:supHide m:val="on"/>
                                </m:naryPr>
                                <m:sub>
                                  <m:r>
                                    <m:t>i</m:t>
                                  </m:r>
                                </m:sub>
                                <m:sup>
                                  <m:r>
                                    <m:t>​</m:t>
                                  </m:r>
                                </m:sup>
                                <m:e>
                                  <m:r>
                                    <m:rPr>
                                      <m:sty m:val="p"/>
                                    </m:rPr>
                                    <m:t>(</m:t>
                                  </m:r>
                                </m:e>
                              </m:nary>
                              <m:sSub>
                                <m:e>
                                  <m:r>
                                    <m:t>Y</m:t>
                                  </m:r>
                                </m:e>
                                <m:sub>
                                  <m:r>
                                    <m:t>i</m:t>
                                  </m:r>
                                </m:sub>
                              </m:sSub>
                              <m:r>
                                <m:rPr>
                                  <m:sty m:val="p"/>
                                </m:rPr>
                                <m:t>−</m:t>
                              </m:r>
                              <m:acc>
                                <m:accPr>
                                  <m:chr m:val="‾"/>
                                </m:accPr>
                                <m:e>
                                  <m:r>
                                    <m:t>Y</m:t>
                                  </m:r>
                                </m:e>
                              </m:acc>
                              <m:sSup>
                                <m:e>
                                  <m:r>
                                    <m:rPr>
                                      <m:sty m:val="p"/>
                                    </m:rPr>
                                    <m:t>)</m:t>
                                  </m:r>
                                </m:e>
                                <m:sup>
                                  <m:r>
                                    <m:t>2</m:t>
                                  </m:r>
                                </m:sup>
                              </m:sSup>
                            </m:e>
                          </m:rad>
                        </m:den>
                      </m:f>
                    </m:oMath>
                  </m:oMathPara>
                </a14:m>
              </a:p>
              <a:p>
                <a:pPr lvl="0" indent="0" marL="0">
                  <a:buNone/>
                </a:pPr>
                <a:r>
                  <a:rPr/>
                  <a:t>which is</a:t>
                </a:r>
              </a:p>
              <a:p>
                <a:pPr lvl="0" indent="0" marL="0">
                  <a:buNone/>
                </a:pPr>
                <a14:m>
                  <m:oMathPara xmlns:m="http://schemas.openxmlformats.org/officeDocument/2006/math">
                    <m:oMathParaPr>
                      <m:jc m:val="center"/>
                    </m:oMathParaPr>
                    <m:oMath>
                      <m:r>
                        <m:t>r</m:t>
                      </m:r>
                      <m:r>
                        <m:rPr>
                          <m:sty m:val="p"/>
                        </m:rPr>
                        <m:t>=</m:t>
                      </m:r>
                      <m:f>
                        <m:fPr>
                          <m:type m:val="bar"/>
                        </m:fPr>
                        <m:num>
                          <m:r>
                            <m:rPr>
                              <m:nor/>
                              <m:sty m:val="p"/>
                            </m:rPr>
                            <m:t>Covariance</m:t>
                          </m:r>
                          <m:r>
                            <m:rPr>
                              <m:sty m:val="p"/>
                            </m:rPr>
                            <m:t>(</m:t>
                          </m:r>
                          <m:r>
                            <m:t>X</m:t>
                          </m:r>
                          <m:r>
                            <m:rPr>
                              <m:sty m:val="p"/>
                            </m:rPr>
                            <m:t>,</m:t>
                          </m:r>
                          <m:r>
                            <m:t>Y</m:t>
                          </m:r>
                          <m:r>
                            <m:rPr>
                              <m:sty m:val="p"/>
                            </m:rPr>
                            <m:t>)</m:t>
                          </m:r>
                        </m:num>
                        <m:den>
                          <m:sSub>
                            <m:e>
                              <m:r>
                                <m:t>s</m:t>
                              </m:r>
                            </m:e>
                            <m:sub>
                              <m:r>
                                <m:t>X</m:t>
                              </m:r>
                            </m:sub>
                          </m:sSub>
                          <m:r>
                            <m:rPr>
                              <m:sty m:val="p"/>
                            </m:rPr>
                            <m:t>⋅</m:t>
                          </m:r>
                          <m:sSub>
                            <m:e>
                              <m:r>
                                <m:t>s</m:t>
                              </m:r>
                            </m:e>
                            <m:sub>
                              <m:r>
                                <m:t>Y</m:t>
                              </m:r>
                            </m:sub>
                          </m:sSub>
                        </m:den>
                      </m:f>
                    </m:oMath>
                  </m:oMathPara>
                </a14:m>
              </a:p>
            </p:txBody>
          </p:sp>
        </mc:Choice>
      </mc:AlternateContent>
      <p:pic>
        <p:nvPicPr>
          <p:cNvPr descr="correlation_linear_models_lecture_files/figure-pptx/correlation-linear-models-03-1.png" id="0" name="Picture 1"/>
          <p:cNvPicPr>
            <a:picLocks noGrp="1" noChangeAspect="1"/>
          </p:cNvPicPr>
          <p:nvPr/>
        </p:nvPicPr>
        <p:blipFill>
          <a:blip r:embed="rId2"/>
          <a:stretch>
            <a:fillRect/>
          </a:stretch>
        </p:blipFill>
        <p:spPr bwMode="auto">
          <a:xfrm>
            <a:off x="6121400" y="1041400"/>
            <a:ext cx="2781300" cy="3708400"/>
          </a:xfrm>
          <a:prstGeom prst="rect">
            <a:avLst/>
          </a:prstGeom>
          <a:noFill/>
          <a:ln w="9525">
            <a:noFill/>
            <a:headEnd/>
            <a:tailEnd/>
          </a:ln>
        </p:spPr>
      </p:pic>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 DECIDE · Which One Has r Closest to Zero?</a:t>
            </a:r>
          </a:p>
        </p:txBody>
      </p:sp>
      <p:sp>
        <p:nvSpPr>
          <p:cNvPr id="3" name="Content Placeholder 2"/>
          <p:cNvSpPr>
            <a:spLocks noGrp="1"/>
          </p:cNvSpPr>
          <p:nvPr>
            <p:ph idx="1" sz="half"/>
          </p:nvPr>
        </p:nvSpPr>
        <p:spPr/>
        <p:txBody>
          <a:bodyPr/>
          <a:lstStyle/>
          <a:p>
            <a:pPr lvl="0" indent="0" marL="0">
              <a:buNone/>
            </a:pPr>
            <a:r>
              <a:rPr/>
              <a:t>Four datasets, plotted on the right. No correlation coefficients shown — on purpose.</a:t>
            </a:r>
          </a:p>
          <a:p>
            <a:pPr lvl="0" indent="0" marL="0">
              <a:buNone/>
            </a:pPr>
            <a:r>
              <a:rPr b="1"/>
              <a:t>Which panel has the Pearson correlation closest to zero?</a:t>
            </a:r>
          </a:p>
          <a:p>
            <a:pPr lvl="0" indent="-342900" marL="342900">
              <a:buAutoNum type="alphaLcParenR"/>
            </a:pPr>
            <a:r>
              <a:rPr/>
              <a:t>Panel A</a:t>
            </a:r>
          </a:p>
          <a:p>
            <a:pPr lvl="0" indent="-342900" marL="342900">
              <a:buAutoNum type="alphaLcParenR"/>
            </a:pPr>
            <a:r>
              <a:rPr/>
              <a:t>Panel B</a:t>
            </a:r>
          </a:p>
          <a:p>
            <a:pPr lvl="0" indent="-342900" marL="342900">
              <a:buAutoNum type="alphaLcParenR"/>
            </a:pPr>
            <a:r>
              <a:rPr/>
              <a:t>Panel C</a:t>
            </a:r>
          </a:p>
          <a:p>
            <a:pPr lvl="0" indent="-342900" marL="342900">
              <a:buAutoNum type="alphaLcParenR"/>
            </a:pPr>
            <a:r>
              <a:rPr/>
              <a:t>Panel D</a:t>
            </a:r>
          </a:p>
          <a:p>
            <a:pPr lvl="0" indent="0" marL="1270000">
              <a:buNone/>
            </a:pPr>
            <a:r>
              <a:rPr sz="2000" b="1"/>
              <a:t>Warning</a:t>
            </a:r>
          </a:p>
          <a:p>
            <a:pPr lvl="0" indent="0" marL="1270000">
              <a:buNone/>
            </a:pPr>
            <a:r>
              <a:rPr sz="2000" b="1"/>
              <a:t>✍️ Write your letter down, then vote.</a:t>
            </a:r>
          </a:p>
        </p:txBody>
      </p:sp>
      <p:pic>
        <p:nvPicPr>
          <p:cNvPr descr="correlation_linear_models_lecture_files/figure-pptx/correlation-linear-models-04-1.png" id="0" name="Picture 1"/>
          <p:cNvPicPr>
            <a:picLocks noGrp="1" noChangeAspect="1"/>
          </p:cNvPicPr>
          <p:nvPr/>
        </p:nvPicPr>
        <p:blipFill>
          <a:blip r:embed="rId2"/>
          <a:stretch>
            <a:fillRect/>
          </a:stretch>
        </p:blipFill>
        <p:spPr bwMode="auto">
          <a:xfrm>
            <a:off x="6121400" y="1765300"/>
            <a:ext cx="2781300" cy="2247900"/>
          </a:xfrm>
          <a:prstGeom prst="rect">
            <a:avLst/>
          </a:prstGeom>
          <a:noFill/>
          <a:ln w="9525">
            <a:noFill/>
            <a:headEnd/>
            <a:tailEnd/>
          </a:ln>
        </p:spPr>
      </p:pic>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What r Can and Cannot See</a:t>
            </a:r>
          </a:p>
        </p:txBody>
      </p:sp>
      <p:sp>
        <p:nvSpPr>
          <p:cNvPr id="3" name="Content Placeholder 2"/>
          <p:cNvSpPr>
            <a:spLocks noGrp="1"/>
          </p:cNvSpPr>
          <p:nvPr>
            <p:ph idx="1" sz="half"/>
          </p:nvPr>
        </p:nvSpPr>
        <p:spPr/>
        <p:txBody>
          <a:bodyPr/>
          <a:lstStyle/>
          <a:p>
            <a:pPr lvl="0" indent="0" marL="1270000">
              <a:buNone/>
            </a:pPr>
            <a:r>
              <a:rPr sz="2000" b="1"/>
              <a:t>Important</a:t>
            </a:r>
          </a:p>
          <a:p>
            <a:pPr lvl="0" indent="0" marL="1270000">
              <a:buNone/>
            </a:pPr>
            <a:r>
              <a:rPr sz="2000" b="1"/>
              <a:t>✅ The answer is (b) — Panel B.</a:t>
            </a:r>
          </a:p>
          <a:p>
            <a:pPr lvl="0"/>
            <a:r>
              <a:rPr sz="2000"/>
              <a:t>Panel B is the most </a:t>
            </a:r>
            <a:r>
              <a:rPr sz="2000" i="1"/>
              <a:t>tightly related</a:t>
            </a:r>
            <a:r>
              <a:rPr sz="2000"/>
              <a:t> pair on the slide: give me x and I can tell you y almost exactly.</a:t>
            </a:r>
          </a:p>
          <a:p>
            <a:pPr lvl="0"/>
            <a:r>
              <a:rPr sz="2000"/>
              <a:t>Its correlation is near </a:t>
            </a:r>
            <a:r>
              <a:rPr sz="2000" b="1"/>
              <a:t>zero</a:t>
            </a:r>
            <a:r>
              <a:rPr sz="2000"/>
              <a:t> anyway, because the relationship is an arch, not a line.</a:t>
            </a:r>
          </a:p>
          <a:p>
            <a:pPr lvl="0"/>
            <a:r>
              <a:rPr sz="2000"/>
              <a:t>Panel C looks like the messiest, so most rooms vote (c). It has a weak but genuine </a:t>
            </a:r>
            <a:r>
              <a:rPr sz="2000" i="1"/>
              <a:t>linear</a:t>
            </a:r>
            <a:r>
              <a:rPr sz="2000"/>
              <a:t> trend, so its r sits farther from zero than B’s.</a:t>
            </a:r>
          </a:p>
          <a:p>
            <a:pPr lvl="0"/>
            <a:r>
              <a:rPr b="1"/>
              <a:t>r measures one thing only: how close the points lie to a straight line.</a:t>
            </a:r>
          </a:p>
          <a:p>
            <a:pPr lvl="0"/>
            <a:r>
              <a:rPr/>
              <a:t>A perfect relationship with a curve in it reads as “no correlation.”</a:t>
            </a:r>
          </a:p>
          <a:p>
            <a:pPr lvl="0"/>
            <a:r>
              <a:rPr/>
              <a:t>Panel D is the other warning — a single far-out point can manufacture a large r out of a cloud with no trend in it.</a:t>
            </a:r>
          </a:p>
        </p:txBody>
      </p:sp>
      <p:pic>
        <p:nvPicPr>
          <p:cNvPr descr="correlation_linear_models_lecture_files/figure-pptx/correlation-linear-models-05-1.png" id="0" name="Picture 1"/>
          <p:cNvPicPr>
            <a:picLocks noGrp="1" noChangeAspect="1"/>
          </p:cNvPicPr>
          <p:nvPr/>
        </p:nvPicPr>
        <p:blipFill>
          <a:blip r:embed="rId2"/>
          <a:stretch>
            <a:fillRect/>
          </a:stretch>
        </p:blipFill>
        <p:spPr bwMode="auto">
          <a:xfrm>
            <a:off x="6121400" y="1765300"/>
            <a:ext cx="2781300" cy="2247900"/>
          </a:xfrm>
          <a:prstGeom prst="rect">
            <a:avLst/>
          </a:prstGeom>
          <a:noFill/>
          <a:ln w="9525">
            <a:noFill/>
            <a:headEnd/>
            <a:tailEnd/>
          </a:ln>
        </p:spPr>
      </p:pic>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Example 16.1 · Flipping the Bird</a:t>
            </a:r>
          </a:p>
        </p:txBody>
      </p:sp>
      <p:sp>
        <p:nvSpPr>
          <p:cNvPr id="3" name="Content Placeholder 2"/>
          <p:cNvSpPr>
            <a:spLocks noGrp="1"/>
          </p:cNvSpPr>
          <p:nvPr>
            <p:ph idx="1" sz="half"/>
          </p:nvPr>
        </p:nvSpPr>
        <p:spPr/>
        <p:txBody>
          <a:bodyPr/>
          <a:lstStyle/>
          <a:p>
            <a:pPr lvl="0" indent="0" marL="0">
              <a:buNone/>
            </a:pPr>
            <a:r>
              <a:rPr/>
              <a:t>Nazca boobies (</a:t>
            </a:r>
            <a:r>
              <a:rPr i="1"/>
              <a:t>Sula granti</a:t>
            </a:r>
            <a:r>
              <a:rPr/>
              <a:t>): do the visits a chick receives from non-parent adults predict how aggressive it is as an adult?</a:t>
            </a:r>
          </a:p>
          <a:p>
            <a:pPr lvl="0" indent="0">
              <a:buNone/>
            </a:pPr>
            <a:r>
              <a:rPr>
                <a:solidFill>
                  <a:srgbClr val="003B4F"/>
                </a:solidFill>
                <a:latin typeface="Courier"/>
              </a:rPr>
              <a:t>booby_df &lt;- </a:t>
            </a:r>
            <a:r>
              <a:rPr>
                <a:solidFill>
                  <a:srgbClr val="4758AB"/>
                </a:solidFill>
                <a:latin typeface="Courier"/>
              </a:rPr>
              <a:t>read_csv</a:t>
            </a:r>
            <a:r>
              <a:rPr>
                <a:solidFill>
                  <a:srgbClr val="003B4F"/>
                </a:solidFill>
                <a:latin typeface="Courier"/>
              </a:rPr>
              <a:t>(</a:t>
            </a:r>
            <a:r>
              <a:rPr>
                <a:solidFill>
                  <a:srgbClr val="20794D"/>
                </a:solidFill>
                <a:latin typeface="Courier"/>
              </a:rPr>
              <a:t>"data/booby_aggression.csv"</a:t>
            </a:r>
            <a:r>
              <a:rPr>
                <a:solidFill>
                  <a:srgbClr val="003B4F"/>
                </a:solidFill>
                <a:latin typeface="Courier"/>
              </a:rPr>
              <a:t>)</a:t>
            </a:r>
            <a:br/>
            <a:br/>
            <a:r>
              <a:rPr>
                <a:solidFill>
                  <a:srgbClr val="4758AB"/>
                </a:solidFill>
                <a:latin typeface="Courier"/>
              </a:rPr>
              <a:t>cor.test</a:t>
            </a:r>
            <a:r>
              <a:rPr>
                <a:solidFill>
                  <a:srgbClr val="003B4F"/>
                </a:solidFill>
                <a:latin typeface="Courier"/>
              </a:rPr>
              <a:t>(booby_df</a:t>
            </a:r>
            <a:r>
              <a:rPr>
                <a:solidFill>
                  <a:srgbClr val="5E5E5E"/>
                </a:solidFill>
                <a:latin typeface="Courier"/>
              </a:rPr>
              <a:t>$</a:t>
            </a:r>
            <a:r>
              <a:rPr>
                <a:solidFill>
                  <a:srgbClr val="003B4F"/>
                </a:solidFill>
                <a:latin typeface="Courier"/>
              </a:rPr>
              <a:t>visits_as_nestling,</a:t>
            </a:r>
            <a:br/>
            <a:r>
              <a:rPr>
                <a:solidFill>
                  <a:srgbClr val="003B4F"/>
                </a:solidFill>
                <a:latin typeface="Courier"/>
              </a:rPr>
              <a:t>         booby_df</a:t>
            </a:r>
            <a:r>
              <a:rPr>
                <a:solidFill>
                  <a:srgbClr val="5E5E5E"/>
                </a:solidFill>
                <a:latin typeface="Courier"/>
              </a:rPr>
              <a:t>$</a:t>
            </a:r>
            <a:r>
              <a:rPr>
                <a:solidFill>
                  <a:srgbClr val="003B4F"/>
                </a:solidFill>
                <a:latin typeface="Courier"/>
              </a:rPr>
              <a:t>future_aggression)</a:t>
            </a:r>
          </a:p>
          <a:p>
            <a:pPr lvl="0" indent="0">
              <a:buNone/>
            </a:pPr>
            <a:r>
              <a:rPr>
                <a:latin typeface="Courier"/>
              </a:rPr>
              <a:t>
    Pearson's product-moment correlation
data:  booby_df$visits_as_nestling and booby_df$future_aggression
t = 2.9603, df = 22, p-value = 0.007229
alternative hypothesis: true correlation is not equal to 0
95 percent confidence interval:
 0.1660840 0.7710999
sample estimates:
      cor 
0.5337225 </a:t>
            </a:r>
          </a:p>
        </p:txBody>
      </p:sp>
      <p:pic>
        <p:nvPicPr>
          <p:cNvPr descr="correlation_linear_models_lecture_files/figure-pptx/correlation-linear-models-07-1.png" id="0" name="Picture 1"/>
          <p:cNvPicPr>
            <a:picLocks noGrp="1" noChangeAspect="1"/>
          </p:cNvPicPr>
          <p:nvPr/>
        </p:nvPicPr>
        <p:blipFill>
          <a:blip r:embed="rId2"/>
          <a:stretch>
            <a:fillRect/>
          </a:stretch>
        </p:blipFill>
        <p:spPr bwMode="auto">
          <a:xfrm>
            <a:off x="6121400" y="1587500"/>
            <a:ext cx="2781300" cy="2603500"/>
          </a:xfrm>
          <a:prstGeom prst="rect">
            <a:avLst/>
          </a:prstGeom>
          <a:noFill/>
          <a:ln w="9525">
            <a:noFill/>
            <a:headEnd/>
            <a:tailEnd/>
          </a:ln>
        </p:spPr>
      </p:pic>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Example 16.1 · Interpretation</a:t>
            </a:r>
          </a:p>
        </p:txBody>
      </p:sp>
      <mc:AlternateContent xmlns:mc="http://schemas.openxmlformats.org/markup-compatibility/2006">
        <mc:Choice xmlns:a14="http://schemas.microsoft.com/office/drawing/2010/main" Requires="a14">
          <p:sp>
            <p:nvSpPr>
              <p:cNvPr id="3" name="Content Placeholder 2"/>
              <p:cNvSpPr>
                <a:spLocks noGrp="1"/>
              </p:cNvSpPr>
              <p:nvPr>
                <p:ph idx="1" sz="half"/>
              </p:nvPr>
            </p:nvSpPr>
            <p:spPr/>
            <p:txBody>
              <a:bodyPr/>
              <a:lstStyle/>
              <a:p>
                <a:pPr lvl="0" indent="0" marL="0">
                  <a:buNone/>
                </a:pPr>
                <a:r>
                  <a:rPr b="1"/>
                  <a:t>r = 0.534</a:t>
                </a:r>
                <a:r>
                  <a:rPr/>
                  <a:t> — a moderate positive relationship, </a:t>
                </a:r>
                <a:r>
                  <a:rPr b="1"/>
                  <a:t>p = 0.00723</a:t>
                </a:r>
                <a:r>
                  <a:rPr/>
                  <a:t>.</a:t>
                </a:r>
              </a:p>
              <a:p>
                <a:pPr lvl="0"/>
                <a:r>
                  <a:rPr b="1"/>
                  <a:t>Square it for the variance explained</a:t>
                </a:r>
                <a:r>
                  <a:rPr/>
                  <a:t>: </a:t>
                </a:r>
                <a:r>
                  <a:rPr b="1"/>
                  <a:t>r² = 0.285</a:t>
                </a:r>
                <a:r>
                  <a:rPr/>
                  <a:t>, so about </a:t>
                </a:r>
                <a:r>
                  <a:rPr b="1"/>
                  <a:t>28.5%</a:t>
                </a:r>
                <a:r>
                  <a:rPr/>
                  <a:t> of the variation in one variable is accounted for by the other</a:t>
                </a:r>
              </a:p>
              <a:p>
                <a:pPr lvl="0"/>
                <a:r>
                  <a:rPr/>
                  <a:t>Standard error: </a:t>
                </a:r>
                <a14:m>
                  <m:oMath xmlns:m="http://schemas.openxmlformats.org/officeDocument/2006/math">
                    <m:sSub>
                      <m:e>
                        <m:r>
                          <m:rPr>
                            <m:nor/>
                            <m:sty m:val="p"/>
                          </m:rPr>
                          <m:t>SE</m:t>
                        </m:r>
                      </m:e>
                      <m:sub>
                        <m:r>
                          <m:t>r</m:t>
                        </m:r>
                      </m:sub>
                    </m:sSub>
                    <m:r>
                      <m:rPr>
                        <m:sty m:val="p"/>
                      </m:rPr>
                      <m:t>=</m:t>
                    </m:r>
                    <m:rad>
                      <m:radPr>
                        <m:degHide m:val="on"/>
                      </m:radPr>
                      <m:deg/>
                      <m:e>
                        <m:f>
                          <m:fPr>
                            <m:type m:val="bar"/>
                          </m:fPr>
                          <m:num>
                            <m:r>
                              <m:t>1</m:t>
                            </m:r>
                            <m:r>
                              <m:rPr>
                                <m:sty m:val="p"/>
                              </m:rPr>
                              <m:t>−</m:t>
                            </m:r>
                            <m:sSup>
                              <m:e>
                                <m:r>
                                  <m:t>r</m:t>
                                </m:r>
                              </m:e>
                              <m:sup>
                                <m:r>
                                  <m:t>2</m:t>
                                </m:r>
                              </m:sup>
                            </m:sSup>
                          </m:num>
                          <m:den>
                            <m:r>
                              <m:t>n</m:t>
                            </m:r>
                            <m:r>
                              <m:rPr>
                                <m:sty m:val="p"/>
                              </m:rPr>
                              <m:t>−</m:t>
                            </m:r>
                            <m:r>
                              <m:t>2</m:t>
                            </m:r>
                          </m:den>
                        </m:f>
                      </m:e>
                    </m:rad>
                  </m:oMath>
                </a14:m>
                <a:r>
                  <a:rPr/>
                  <a:t> = 0.18</a:t>
                </a:r>
              </a:p>
              <a:p>
                <a:pPr lvl="0"/>
                <a:r>
                  <a:rPr/>
                  <a:t>Tested with a t-test: </a:t>
                </a:r>
                <a14:m>
                  <m:oMath xmlns:m="http://schemas.openxmlformats.org/officeDocument/2006/math">
                    <m:r>
                      <m:t>t</m:t>
                    </m:r>
                    <m:r>
                      <m:rPr>
                        <m:sty m:val="p"/>
                      </m:rPr>
                      <m:t>=</m:t>
                    </m:r>
                    <m:r>
                      <m:t>r</m:t>
                    </m:r>
                    <m:r>
                      <m:rPr>
                        <m:sty m:val="p"/>
                      </m:rPr>
                      <m:t>/</m:t>
                    </m:r>
                    <m:r>
                      <m:t>S</m:t>
                    </m:r>
                    <m:sSub>
                      <m:e>
                        <m:r>
                          <m:t>E</m:t>
                        </m:r>
                      </m:e>
                      <m:sub>
                        <m:r>
                          <m:t>r</m:t>
                        </m:r>
                      </m:sub>
                    </m:sSub>
                  </m:oMath>
                </a14:m>
                <a:r>
                  <a:rPr/>
                  <a:t>, df = n − 2</a:t>
                </a:r>
              </a:p>
              <a:p>
                <a:pPr lvl="0" indent="0" marL="0">
                  <a:buNone/>
                </a:pPr>
                <a:r>
                  <a:rPr b="1"/>
                  <a:t>In words:</a:t>
                </a:r>
                <a:r>
                  <a:rPr/>
                  <a:t> boobies visited more often as nestlings tend to be more aggressive adults. Nothing here says the visits </a:t>
                </a:r>
                <a:r>
                  <a:rPr i="1"/>
                  <a:t>caused</a:t>
                </a:r>
                <a:r>
                  <a:rPr/>
                  <a:t> it.</a:t>
                </a:r>
              </a:p>
            </p:txBody>
          </p:sp>
        </mc:Choice>
      </mc:AlternateContent>
      <p:sp>
        <p:nvSpPr>
          <p:cNvPr id="4" name="Content Placeholder 3"/>
          <p:cNvSpPr>
            <a:spLocks noGrp="1"/>
          </p:cNvSpPr>
          <p:nvPr>
            <p:ph idx="2" sz="half"/>
          </p:nvPr>
        </p:nvSpPr>
        <p:spPr/>
        <p:txBody>
          <a:bodyPr/>
          <a:lstStyle/>
          <a:p>
            <a:pPr lvl="0" indent="0" marL="1270000">
              <a:buNone/>
            </a:pPr>
            <a:r>
              <a:rPr sz="2000" b="1"/>
              <a:t>Note</a:t>
            </a:r>
          </a:p>
          <a:p>
            <a:pPr lvl="0" indent="0" marL="1270000">
              <a:buNone/>
            </a:pPr>
            <a:r>
              <a:rPr sz="2000" b="1"/>
              <a:t>🔮 Predict first</a:t>
            </a:r>
          </a:p>
          <a:p>
            <a:pPr lvl="0" indent="0" marL="1270000">
              <a:buNone/>
            </a:pPr>
            <a:r>
              <a:rPr sz="2000"/>
              <a:t>Next we run Shapiro-Wilk on both booby variables, then look at their histograms and QQ plots.</a:t>
            </a:r>
          </a:p>
          <a:p>
            <a:pPr lvl="0" indent="0" marL="1270000">
              <a:buNone/>
            </a:pPr>
            <a:r>
              <a:rPr sz="2000"/>
              <a:t>If the formal test and the picture disagree at n = 24, which would you trust?</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Testing Assumptions for Correlation</a:t>
            </a:r>
          </a:p>
        </p:txBody>
      </p:sp>
      <p:sp>
        <p:nvSpPr>
          <p:cNvPr id="3" name="Content Placeholder 2"/>
          <p:cNvSpPr>
            <a:spLocks noGrp="1"/>
          </p:cNvSpPr>
          <p:nvPr>
            <p:ph idx="1" sz="half"/>
          </p:nvPr>
        </p:nvSpPr>
        <p:spPr/>
        <p:txBody>
          <a:bodyPr/>
          <a:lstStyle/>
          <a:p>
            <a:pPr lvl="0" indent="0" marL="0">
              <a:buNone/>
            </a:pPr>
            <a:r>
              <a:rPr/>
              <a:t>Pearson correlation assumes:</a:t>
            </a:r>
          </a:p>
          <a:p>
            <a:pPr lvl="0" indent="-342900" marL="342900">
              <a:buAutoNum type="arabicPeriod"/>
            </a:pPr>
            <a:r>
              <a:rPr b="1"/>
              <a:t>Random sampling</a:t>
            </a:r>
            <a:r>
              <a:rPr/>
              <a:t> from the population</a:t>
            </a:r>
          </a:p>
          <a:p>
            <a:pPr lvl="0" indent="-342900" marL="342900">
              <a:buAutoNum type="arabicPeriod"/>
            </a:pPr>
            <a:r>
              <a:rPr b="1"/>
              <a:t>Bivariate normality</a:t>
            </a:r>
            <a:r>
              <a:rPr/>
              <a:t> — each variable normal, and normal jointly</a:t>
            </a:r>
          </a:p>
          <a:p>
            <a:pPr lvl="0" indent="-342900" marL="342900">
              <a:buAutoNum type="arabicPeriod"/>
            </a:pPr>
            <a:r>
              <a:rPr b="1"/>
              <a:t>A linear relationship</a:t>
            </a:r>
            <a:r>
              <a:rPr/>
              <a:t> — not a curve</a:t>
            </a:r>
          </a:p>
          <a:p>
            <a:pPr lvl="0" indent="-342900" marL="342900">
              <a:buAutoNum type="arabicPeriod"/>
            </a:pPr>
            <a:r>
              <a:rPr b="1"/>
              <a:t>No extreme outliers</a:t>
            </a:r>
            <a:r>
              <a:rPr/>
              <a:t> driving the result</a:t>
            </a:r>
          </a:p>
          <a:p>
            <a:pPr lvl="0" indent="0">
              <a:buNone/>
            </a:pPr>
            <a:r>
              <a:rPr>
                <a:solidFill>
                  <a:srgbClr val="4758AB"/>
                </a:solidFill>
                <a:latin typeface="Courier"/>
              </a:rPr>
              <a:t>shapiro.test</a:t>
            </a:r>
            <a:r>
              <a:rPr>
                <a:solidFill>
                  <a:srgbClr val="003B4F"/>
                </a:solidFill>
                <a:latin typeface="Courier"/>
              </a:rPr>
              <a:t>(booby_df</a:t>
            </a:r>
            <a:r>
              <a:rPr>
                <a:solidFill>
                  <a:srgbClr val="5E5E5E"/>
                </a:solidFill>
                <a:latin typeface="Courier"/>
              </a:rPr>
              <a:t>$</a:t>
            </a:r>
            <a:r>
              <a:rPr>
                <a:solidFill>
                  <a:srgbClr val="003B4F"/>
                </a:solidFill>
                <a:latin typeface="Courier"/>
              </a:rPr>
              <a:t>visits_as_nestling)</a:t>
            </a:r>
          </a:p>
          <a:p>
            <a:pPr lvl="0" indent="0">
              <a:buNone/>
            </a:pPr>
            <a:r>
              <a:rPr>
                <a:latin typeface="Courier"/>
              </a:rPr>
              <a:t>
    Shapiro-Wilk normality test
data:  booby_df$visits_as_nestling
W = 0.95783, p-value = 0.3965</a:t>
            </a:r>
          </a:p>
        </p:txBody>
      </p:sp>
      <p:sp>
        <p:nvSpPr>
          <p:cNvPr id="4" name="Content Placeholder 3"/>
          <p:cNvSpPr>
            <a:spLocks noGrp="1"/>
          </p:cNvSpPr>
          <p:nvPr>
            <p:ph idx="2" sz="half"/>
          </p:nvPr>
        </p:nvSpPr>
        <p:spPr/>
        <p:txBody>
          <a:bodyPr/>
          <a:lstStyle/>
          <a:p>
            <a:pPr lvl="0" indent="0">
              <a:buNone/>
            </a:pPr>
            <a:r>
              <a:rPr>
                <a:solidFill>
                  <a:srgbClr val="4758AB"/>
                </a:solidFill>
                <a:latin typeface="Courier"/>
              </a:rPr>
              <a:t>shapiro.test</a:t>
            </a:r>
            <a:r>
              <a:rPr>
                <a:solidFill>
                  <a:srgbClr val="003B4F"/>
                </a:solidFill>
                <a:latin typeface="Courier"/>
              </a:rPr>
              <a:t>(booby_df</a:t>
            </a:r>
            <a:r>
              <a:rPr>
                <a:solidFill>
                  <a:srgbClr val="5E5E5E"/>
                </a:solidFill>
                <a:latin typeface="Courier"/>
              </a:rPr>
              <a:t>$</a:t>
            </a:r>
            <a:r>
              <a:rPr>
                <a:solidFill>
                  <a:srgbClr val="003B4F"/>
                </a:solidFill>
                <a:latin typeface="Courier"/>
              </a:rPr>
              <a:t>future_aggression)</a:t>
            </a:r>
          </a:p>
          <a:p>
            <a:pPr lvl="0" indent="0">
              <a:buNone/>
            </a:pPr>
            <a:r>
              <a:rPr>
                <a:latin typeface="Courier"/>
              </a:rPr>
              <a:t>
    Shapiro-Wilk normality test
data:  booby_df$future_aggression
W = 0.91575, p-value = 0.04709</a:t>
            </a:r>
          </a:p>
          <a:p>
            <a:pPr lvl="0" indent="0" marL="1270000">
              <a:buNone/>
            </a:pPr>
            <a:r>
              <a:rPr sz="2000" b="1"/>
              <a:t>Note</a:t>
            </a:r>
          </a:p>
          <a:p>
            <a:pPr lvl="0" indent="0" marL="1270000">
              <a:buNone/>
            </a:pPr>
            <a:r>
              <a:rPr sz="2000" b="1"/>
              <a:t>H₀ is “these data ARE normal”</a:t>
            </a:r>
          </a:p>
          <a:p>
            <a:pPr lvl="0" indent="0" marL="1270000">
              <a:buNone/>
            </a:pPr>
            <a:r>
              <a:rPr sz="2000"/>
              <a:t>A </a:t>
            </a:r>
            <a:r>
              <a:rPr sz="2000" b="1"/>
              <a:t>large</a:t>
            </a:r>
            <a:r>
              <a:rPr sz="2000"/>
              <a:t> p-value is the good outcome — the same backwards logic as Levene’s test.</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Checking the Same Assumptions by Eye</a:t>
            </a:r>
          </a:p>
        </p:txBody>
      </p:sp>
      <p:sp>
        <p:nvSpPr>
          <p:cNvPr id="3" name="Content Placeholder 2"/>
          <p:cNvSpPr>
            <a:spLocks noGrp="1"/>
          </p:cNvSpPr>
          <p:nvPr>
            <p:ph idx="1" sz="half"/>
          </p:nvPr>
        </p:nvSpPr>
        <p:spPr/>
        <p:txBody>
          <a:bodyPr/>
          <a:lstStyle/>
          <a:p>
            <a:pPr lvl="0" indent="0" marL="0">
              <a:buNone/>
            </a:pPr>
            <a:r>
              <a:rPr/>
              <a:t>The two tests do </a:t>
            </a:r>
            <a:r>
              <a:rPr b="1"/>
              <a:t>not</a:t>
            </a:r>
            <a:r>
              <a:rPr/>
              <a:t> agree with each other:</a:t>
            </a:r>
          </a:p>
          <a:p>
            <a:pPr lvl="0"/>
            <a:r>
              <a:rPr/>
              <a:t>visits, </a:t>
            </a:r>
            <a:r>
              <a:rPr b="1"/>
              <a:t>p = 0.396</a:t>
            </a:r>
            <a:r>
              <a:rPr/>
              <a:t> — clean</a:t>
            </a:r>
          </a:p>
          <a:p>
            <a:pPr lvl="0"/>
            <a:r>
              <a:rPr/>
              <a:t>aggression, </a:t>
            </a:r>
            <a:r>
              <a:rPr b="1"/>
              <a:t>p = 0.047</a:t>
            </a:r>
            <a:r>
              <a:rPr/>
              <a:t> — just under 0.05</a:t>
            </a:r>
          </a:p>
          <a:p>
            <a:pPr lvl="0" indent="0" marL="0">
              <a:buNone/>
            </a:pPr>
            <a:r>
              <a:rPr/>
              <a:t>Now look at the pictures. No strong skew, points close to both QQ lines, and the scatterplot was straight rather than curved.</a:t>
            </a:r>
          </a:p>
          <a:p>
            <a:pPr lvl="0" indent="0" marL="1270000">
              <a:buNone/>
            </a:pPr>
            <a:r>
              <a:rPr sz="2000" b="1"/>
              <a:t>Important</a:t>
            </a:r>
          </a:p>
          <a:p>
            <a:pPr lvl="0" indent="0" marL="1270000">
              <a:buNone/>
            </a:pPr>
            <a:r>
              <a:rPr sz="2000" b="1"/>
              <a:t>✅ This is the case the last slide asked you to predict</a:t>
            </a:r>
          </a:p>
          <a:p>
            <a:pPr lvl="0" indent="0" marL="1270000">
              <a:buNone/>
            </a:pPr>
            <a:r>
              <a:rPr sz="2000"/>
              <a:t>At n = 24, a normality p of 0.047 is a coin-flip verdict, not evidence of a real problem. W&amp;S report </a:t>
            </a:r>
            <a:r>
              <a:rPr sz="2000" b="1"/>
              <a:t>Pearson’s r</a:t>
            </a:r>
            <a:r>
              <a:rPr sz="2000"/>
              <a:t> for these data, and so do we.</a:t>
            </a:r>
          </a:p>
          <a:p>
            <a:pPr lvl="0" indent="0" marL="1270000">
              <a:buNone/>
            </a:pPr>
            <a:r>
              <a:rPr sz="2000"/>
              <a:t>Compare that with the next dataset, where the test and the picture agree that something is wrong.</a:t>
            </a:r>
          </a:p>
        </p:txBody>
      </p:sp>
      <p:pic>
        <p:nvPicPr>
          <p:cNvPr descr="correlation_linear_models_lecture_files/figure-pptx/correlation-linear-models-10-1.png" id="0" name="Picture 1"/>
          <p:cNvPicPr>
            <a:picLocks noGrp="1" noChangeAspect="1"/>
          </p:cNvPicPr>
          <p:nvPr/>
        </p:nvPicPr>
        <p:blipFill>
          <a:blip r:embed="rId2"/>
          <a:stretch>
            <a:fillRect/>
          </a:stretch>
        </p:blipFill>
        <p:spPr bwMode="auto">
          <a:xfrm>
            <a:off x="6121400" y="1841500"/>
            <a:ext cx="2781300" cy="2120900"/>
          </a:xfrm>
          <a:prstGeom prst="rect">
            <a:avLst/>
          </a:prstGeom>
          <a:noFill/>
          <a:ln w="9525">
            <a:noFill/>
            <a:headEnd/>
            <a:tailEnd/>
          </a:ln>
        </p:spPr>
      </p:pic>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When the Assumption Fails — Example 16.5</a:t>
            </a:r>
          </a:p>
        </p:txBody>
      </p:sp>
      <p:sp>
        <p:nvSpPr>
          <p:cNvPr id="3" name="Content Placeholder 2"/>
          <p:cNvSpPr>
            <a:spLocks noGrp="1"/>
          </p:cNvSpPr>
          <p:nvPr>
            <p:ph idx="1" sz="half"/>
          </p:nvPr>
        </p:nvSpPr>
        <p:spPr/>
        <p:txBody>
          <a:bodyPr/>
          <a:lstStyle/>
          <a:p>
            <a:pPr lvl="0" indent="0" marL="0">
              <a:buNone/>
            </a:pPr>
            <a:r>
              <a:rPr/>
              <a:t>W&amp;S Example 16.5: people who had seen the Indian rope trick were asked, years later, how impressive it was — on a subjective </a:t>
            </a:r>
            <a:r>
              <a:rPr b="1"/>
              <a:t>score</a:t>
            </a:r>
            <a:r>
              <a:rPr/>
              <a:t>.</a:t>
            </a:r>
          </a:p>
          <a:p>
            <a:pPr lvl="0" indent="0" marL="0">
              <a:buNone/>
            </a:pPr>
            <a:r>
              <a:rPr/>
              <a:t>That score is bounded and lumpy, and it fails Shapiro badly. Three options when normality fails:</a:t>
            </a:r>
          </a:p>
          <a:p>
            <a:pPr lvl="0"/>
            <a:r>
              <a:rPr b="1"/>
              <a:t>Transform</a:t>
            </a:r>
            <a:r>
              <a:rPr/>
              <a:t> one or both variables (log, square root)</a:t>
            </a:r>
          </a:p>
          <a:p>
            <a:pPr lvl="0"/>
            <a:r>
              <a:rPr/>
              <a:t>Switch to a </a:t>
            </a:r>
            <a:r>
              <a:rPr b="1"/>
              <a:t>rank-based</a:t>
            </a:r>
            <a:r>
              <a:rPr/>
              <a:t> correlation — Spearman’s ρ or Kendall’s τ</a:t>
            </a:r>
          </a:p>
          <a:p>
            <a:pPr lvl="0"/>
            <a:r>
              <a:rPr/>
              <a:t>Hunt down the outlier that is doing the work</a:t>
            </a:r>
          </a:p>
          <a:p>
            <a:pPr lvl="0" indent="0">
              <a:buNone/>
            </a:pPr>
            <a:r>
              <a:rPr>
                <a:solidFill>
                  <a:srgbClr val="003B4F"/>
                </a:solidFill>
                <a:latin typeface="Courier"/>
              </a:rPr>
              <a:t>rope_df &lt;- </a:t>
            </a:r>
            <a:r>
              <a:rPr>
                <a:solidFill>
                  <a:srgbClr val="4758AB"/>
                </a:solidFill>
                <a:latin typeface="Courier"/>
              </a:rPr>
              <a:t>read_csv</a:t>
            </a:r>
            <a:r>
              <a:rPr>
                <a:solidFill>
                  <a:srgbClr val="003B4F"/>
                </a:solidFill>
                <a:latin typeface="Courier"/>
              </a:rPr>
              <a:t>(</a:t>
            </a:r>
            <a:r>
              <a:rPr>
                <a:solidFill>
                  <a:srgbClr val="20794D"/>
                </a:solidFill>
                <a:latin typeface="Courier"/>
              </a:rPr>
              <a:t>"data/rope_trick.csv"</a:t>
            </a:r>
            <a:r>
              <a:rPr>
                <a:solidFill>
                  <a:srgbClr val="003B4F"/>
                </a:solidFill>
                <a:latin typeface="Courier"/>
              </a:rPr>
              <a:t>)</a:t>
            </a:r>
            <a:br/>
            <a:br/>
            <a:r>
              <a:rPr>
                <a:solidFill>
                  <a:srgbClr val="4758AB"/>
                </a:solidFill>
                <a:latin typeface="Courier"/>
              </a:rPr>
              <a:t>shapiro.test</a:t>
            </a:r>
            <a:r>
              <a:rPr>
                <a:solidFill>
                  <a:srgbClr val="003B4F"/>
                </a:solidFill>
                <a:latin typeface="Courier"/>
              </a:rPr>
              <a:t>(rope_df</a:t>
            </a:r>
            <a:r>
              <a:rPr>
                <a:solidFill>
                  <a:srgbClr val="5E5E5E"/>
                </a:solidFill>
                <a:latin typeface="Courier"/>
              </a:rPr>
              <a:t>$</a:t>
            </a:r>
            <a:r>
              <a:rPr>
                <a:solidFill>
                  <a:srgbClr val="003B4F"/>
                </a:solidFill>
                <a:latin typeface="Courier"/>
              </a:rPr>
              <a:t>impressiveness)</a:t>
            </a:r>
          </a:p>
          <a:p>
            <a:pPr lvl="0" indent="0">
              <a:buNone/>
            </a:pPr>
            <a:r>
              <a:rPr>
                <a:latin typeface="Courier"/>
              </a:rPr>
              <a:t>
    Shapiro-Wilk normality test
data:  rope_df$impressiveness
W = 0.82319, p-value = 0.001517</a:t>
            </a:r>
          </a:p>
        </p:txBody>
      </p:sp>
      <p:pic>
        <p:nvPicPr>
          <p:cNvPr descr="correlation_linear_models_lecture_files/figure-pptx/correlation-linear-models-12-1.png" id="0" name="Picture 1"/>
          <p:cNvPicPr>
            <a:picLocks noGrp="1" noChangeAspect="1"/>
          </p:cNvPicPr>
          <p:nvPr/>
        </p:nvPicPr>
        <p:blipFill>
          <a:blip r:embed="rId2"/>
          <a:stretch>
            <a:fillRect/>
          </a:stretch>
        </p:blipFill>
        <p:spPr bwMode="auto">
          <a:xfrm>
            <a:off x="6121400" y="1587500"/>
            <a:ext cx="2781300" cy="2603500"/>
          </a:xfrm>
          <a:prstGeom prst="rect">
            <a:avLst/>
          </a:prstGeom>
          <a:noFill/>
          <a:ln w="9525">
            <a:noFill/>
            <a:headEnd/>
            <a:tailEnd/>
          </a:ln>
        </p:spPr>
      </p:pic>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Spearman’s Rho nonparametric correlation</a:t>
            </a:r>
          </a:p>
        </p:txBody>
      </p:sp>
      <p:sp>
        <p:nvSpPr>
          <p:cNvPr id="3" name="Content Placeholder 2"/>
          <p:cNvSpPr>
            <a:spLocks noGrp="1"/>
          </p:cNvSpPr>
          <p:nvPr>
            <p:ph idx="1" sz="half"/>
          </p:nvPr>
        </p:nvSpPr>
        <p:spPr/>
        <p:txBody>
          <a:bodyPr/>
          <a:lstStyle/>
          <a:p>
            <a:pPr lvl="0" indent="0">
              <a:buNone/>
            </a:pPr>
            <a:r>
              <a:rPr>
                <a:solidFill>
                  <a:srgbClr val="4758AB"/>
                </a:solidFill>
                <a:latin typeface="Courier"/>
              </a:rPr>
              <a:t>cor.test</a:t>
            </a:r>
            <a:r>
              <a:rPr>
                <a:solidFill>
                  <a:srgbClr val="003B4F"/>
                </a:solidFill>
                <a:latin typeface="Courier"/>
              </a:rPr>
              <a:t>(rope_df</a:t>
            </a:r>
            <a:r>
              <a:rPr>
                <a:solidFill>
                  <a:srgbClr val="5E5E5E"/>
                </a:solidFill>
                <a:latin typeface="Courier"/>
              </a:rPr>
              <a:t>$</a:t>
            </a:r>
            <a:r>
              <a:rPr>
                <a:solidFill>
                  <a:srgbClr val="003B4F"/>
                </a:solidFill>
                <a:latin typeface="Courier"/>
              </a:rPr>
              <a:t>years_since_seen,</a:t>
            </a:r>
            <a:br/>
            <a:r>
              <a:rPr>
                <a:solidFill>
                  <a:srgbClr val="003B4F"/>
                </a:solidFill>
                <a:latin typeface="Courier"/>
              </a:rPr>
              <a:t>         rope_df</a:t>
            </a:r>
            <a:r>
              <a:rPr>
                <a:solidFill>
                  <a:srgbClr val="5E5E5E"/>
                </a:solidFill>
                <a:latin typeface="Courier"/>
              </a:rPr>
              <a:t>$</a:t>
            </a:r>
            <a:r>
              <a:rPr>
                <a:solidFill>
                  <a:srgbClr val="003B4F"/>
                </a:solidFill>
                <a:latin typeface="Courier"/>
              </a:rPr>
              <a:t>impressiveness,</a:t>
            </a:r>
            <a:br/>
            <a:r>
              <a:rPr>
                <a:solidFill>
                  <a:srgbClr val="003B4F"/>
                </a:solidFill>
                <a:latin typeface="Courier"/>
              </a:rPr>
              <a:t>         </a:t>
            </a:r>
            <a:r>
              <a:rPr>
                <a:solidFill>
                  <a:srgbClr val="657422"/>
                </a:solidFill>
                <a:latin typeface="Courier"/>
              </a:rPr>
              <a:t>method =</a:t>
            </a:r>
            <a:r>
              <a:rPr>
                <a:solidFill>
                  <a:srgbClr val="003B4F"/>
                </a:solidFill>
                <a:latin typeface="Courier"/>
              </a:rPr>
              <a:t> </a:t>
            </a:r>
            <a:r>
              <a:rPr>
                <a:solidFill>
                  <a:srgbClr val="20794D"/>
                </a:solidFill>
                <a:latin typeface="Courier"/>
              </a:rPr>
              <a:t>"spearman"</a:t>
            </a:r>
            <a:r>
              <a:rPr>
                <a:solidFill>
                  <a:srgbClr val="003B4F"/>
                </a:solidFill>
                <a:latin typeface="Courier"/>
              </a:rPr>
              <a:t>)</a:t>
            </a:r>
          </a:p>
          <a:p>
            <a:pPr lvl="0" indent="0">
              <a:buNone/>
            </a:pPr>
            <a:r>
              <a:rPr>
                <a:latin typeface="Courier"/>
              </a:rPr>
              <a:t>
    Spearman's rank correlation rho
data:  rope_df$years_since_seen and rope_df$impressiveness
S = 332.12, p-value = 2.571e-05
alternative hypothesis: true rho is not equal to 0
sample estimates:
      rho 
0.7843363 </a:t>
            </a:r>
          </a:p>
        </p:txBody>
      </p:sp>
      <p:sp>
        <p:nvSpPr>
          <p:cNvPr id="4" name="Content Placeholder 3"/>
          <p:cNvSpPr>
            <a:spLocks noGrp="1"/>
          </p:cNvSpPr>
          <p:nvPr>
            <p:ph idx="2" sz="half"/>
          </p:nvPr>
        </p:nvSpPr>
        <p:spPr/>
        <p:txBody>
          <a:bodyPr/>
          <a:lstStyle/>
          <a:p>
            <a:pPr lvl="0" indent="0" marL="0">
              <a:buNone/>
            </a:pPr>
            <a:r>
              <a:rPr/>
              <a:t>Spearman replaces each value with its </a:t>
            </a:r>
            <a:r>
              <a:rPr b="1"/>
              <a:t>rank</a:t>
            </a:r>
            <a:r>
              <a:rPr/>
              <a:t> and correlates the ranks — so it needs no normality and is not thrown by one extreme value.</a:t>
            </a:r>
          </a:p>
          <a:p>
            <a:pPr lvl="0"/>
            <a:r>
              <a:rPr/>
              <a:t>Pearson </a:t>
            </a:r>
            <a:r>
              <a:rPr b="1"/>
              <a:t>r = 0.848</a:t>
            </a:r>
          </a:p>
          <a:p>
            <a:pPr lvl="0"/>
            <a:r>
              <a:rPr/>
              <a:t>Spearman </a:t>
            </a:r>
            <a:r>
              <a:rPr b="1"/>
              <a:t>ρ = 0.784</a:t>
            </a:r>
          </a:p>
          <a:p>
            <a:pPr lvl="0" indent="0" marL="0">
              <a:buNone/>
            </a:pPr>
            <a:r>
              <a:rPr/>
              <a:t>Square ρ the same way: </a:t>
            </a:r>
            <a:r>
              <a:rPr b="1"/>
              <a:t>ρ² = 0.615</a:t>
            </a:r>
            <a:r>
              <a:rPr/>
              <a:t> — about 61.5% of the variation </a:t>
            </a:r>
            <a:r>
              <a:rPr i="1"/>
              <a:t>in the ranks</a:t>
            </a:r>
            <a:r>
              <a:rPr/>
              <a:t>.</a:t>
            </a:r>
          </a:p>
          <a:p>
            <a:pPr lvl="0" indent="0" marL="1270000">
              <a:buNone/>
            </a:pPr>
            <a:r>
              <a:rPr sz="2000" b="1"/>
              <a:t>Note</a:t>
            </a:r>
          </a:p>
          <a:p>
            <a:pPr lvl="0" indent="0" marL="1270000">
              <a:buNone/>
            </a:pPr>
            <a:r>
              <a:rPr sz="2000" b="1"/>
              <a:t>The cost of switching</a:t>
            </a:r>
          </a:p>
          <a:p>
            <a:pPr lvl="0" indent="0" marL="1270000">
              <a:buNone/>
            </a:pPr>
            <a:r>
              <a:rPr sz="2000"/>
              <a:t>You keep an honest p-value and lose the original units. ρ is about ranks, so it can no longer be read as “score per year.”</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 DECIDE · The Correlation That Shrank</a:t>
            </a:r>
          </a:p>
        </p:txBody>
      </p:sp>
      <p:sp>
        <p:nvSpPr>
          <p:cNvPr id="3" name="Content Placeholder 2"/>
          <p:cNvSpPr>
            <a:spLocks noGrp="1"/>
          </p:cNvSpPr>
          <p:nvPr>
            <p:ph idx="1" sz="half"/>
          </p:nvPr>
        </p:nvSpPr>
        <p:spPr/>
        <p:txBody>
          <a:bodyPr/>
          <a:lstStyle/>
          <a:p>
            <a:pPr lvl="0" indent="0" marL="0">
              <a:buNone/>
            </a:pPr>
            <a:r>
              <a:rPr/>
              <a:t>A colleague reports </a:t>
            </a:r>
            <a:r>
              <a:rPr b="1"/>
              <a:t>r = 0.82</a:t>
            </a:r>
            <a:r>
              <a:rPr/>
              <a:t> between body size and fecundity across a set of populations.</a:t>
            </a:r>
          </a:p>
          <a:p>
            <a:pPr lvl="0" indent="0" marL="0">
              <a:buNone/>
            </a:pPr>
            <a:r>
              <a:rPr/>
              <a:t>You repeat the study, carefully, at </a:t>
            </a:r>
            <a:r>
              <a:rPr b="1"/>
              <a:t>one site</a:t>
            </a:r>
            <a:r>
              <a:rPr/>
              <a:t> — where the animals are all close to the same size — and get </a:t>
            </a:r>
            <a:r>
              <a:rPr b="1"/>
              <a:t>r = 0.31</a:t>
            </a:r>
            <a:r>
              <a:rPr/>
              <a:t> from data that are every bit as clean.</a:t>
            </a:r>
          </a:p>
          <a:p>
            <a:pPr lvl="0" indent="0" marL="0">
              <a:buNone/>
            </a:pPr>
            <a:r>
              <a:rPr b="1"/>
              <a:t>What is the most likely explanation?</a:t>
            </a:r>
          </a:p>
          <a:p>
            <a:pPr lvl="0" indent="0" marL="0">
              <a:buNone/>
            </a:pPr>
            <a:r>
              <a:rPr b="1"/>
              <a:t>(a)</a:t>
            </a:r>
            <a:r>
              <a:rPr/>
              <a:t> The original result was a false positive</a:t>
            </a:r>
          </a:p>
          <a:p>
            <a:pPr lvl="0" indent="0" marL="0">
              <a:buNone/>
            </a:pPr>
            <a:r>
              <a:rPr b="1"/>
              <a:t>(b)</a:t>
            </a:r>
            <a:r>
              <a:rPr/>
              <a:t> Your sample size was too small</a:t>
            </a:r>
          </a:p>
          <a:p>
            <a:pPr lvl="0" indent="0" marL="0">
              <a:buNone/>
            </a:pPr>
            <a:r>
              <a:rPr b="1"/>
              <a:t>(c)</a:t>
            </a:r>
            <a:r>
              <a:rPr/>
              <a:t> Restricting the range of X shrank r, with the underlying relationship unchanged</a:t>
            </a:r>
          </a:p>
          <a:p>
            <a:pPr lvl="0" indent="0" marL="0">
              <a:buNone/>
            </a:pPr>
            <a:r>
              <a:rPr b="1"/>
              <a:t>(d)</a:t>
            </a:r>
            <a:r>
              <a:rPr/>
              <a:t> Measurement error in your study inflated r</a:t>
            </a:r>
          </a:p>
          <a:p>
            <a:pPr lvl="0" indent="0" marL="1270000">
              <a:buNone/>
            </a:pPr>
            <a:r>
              <a:rPr sz="2000" b="1"/>
              <a:t>Warning</a:t>
            </a:r>
          </a:p>
          <a:p>
            <a:pPr lvl="0" indent="0" marL="1270000">
              <a:buNone/>
            </a:pPr>
            <a:r>
              <a:rPr sz="2000" b="1"/>
              <a:t>✍️ One letter. Write it down.</a:t>
            </a:r>
          </a:p>
        </p:txBody>
      </p:sp>
      <p:sp>
        <p:nvSpPr>
          <p:cNvPr id="4" name="Content Placeholder 3"/>
          <p:cNvSpPr>
            <a:spLocks noGrp="1"/>
          </p:cNvSpPr>
          <p:nvPr>
            <p:ph idx="2" sz="half"/>
          </p:nvPr>
        </p:nvSpPr>
        <p:spPr/>
        <p:txBody>
          <a:bodyPr/>
          <a:lstStyle/>
          <a:p>
            <a:pPr lvl="0" indent="0" marL="1270000">
              <a:buNone/>
            </a:pPr>
            <a:r>
              <a:rPr sz="2000" b="1"/>
              <a:t>Note</a:t>
            </a:r>
          </a:p>
          <a:p>
            <a:pPr lvl="0" indent="0" marL="1270000">
              <a:buNone/>
            </a:pPr>
            <a:r>
              <a:rPr sz="2000" b="1"/>
              <a:t>The question to ask</a:t>
            </a:r>
          </a:p>
          <a:p>
            <a:pPr lvl="0" indent="0" marL="1270000">
              <a:buNone/>
            </a:pPr>
            <a:r>
              <a:rPr sz="2000" i="1"/>
              <a:t>Did the relationship change — or did the slice of the world I looked at change?</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Two Things That Move r Without Touching the Biology</a:t>
            </a:r>
          </a:p>
        </p:txBody>
      </p:sp>
      <p:sp>
        <p:nvSpPr>
          <p:cNvPr id="3" name="Content Placeholder 2"/>
          <p:cNvSpPr>
            <a:spLocks noGrp="1"/>
          </p:cNvSpPr>
          <p:nvPr>
            <p:ph idx="1" sz="half"/>
          </p:nvPr>
        </p:nvSpPr>
        <p:spPr/>
        <p:txBody>
          <a:bodyPr/>
          <a:lstStyle/>
          <a:p>
            <a:pPr lvl="0" indent="0" marL="1270000">
              <a:buNone/>
            </a:pPr>
            <a:r>
              <a:rPr sz="2000" b="1"/>
              <a:t>Important</a:t>
            </a:r>
          </a:p>
          <a:p>
            <a:pPr lvl="0" indent="0" marL="1270000">
              <a:buNone/>
            </a:pPr>
            <a:r>
              <a:rPr sz="2000" b="1"/>
              <a:t>✅ The answer is (c).</a:t>
            </a:r>
          </a:p>
          <a:p>
            <a:pPr lvl="0" indent="0" marL="1270000">
              <a:buNone/>
            </a:pPr>
            <a:r>
              <a:rPr sz="2000" b="1"/>
              <a:t>Range restriction.</a:t>
            </a:r>
            <a:r>
              <a:rPr sz="2000"/>
              <a:t> r depends on the spread of X you sampled. Look at a narrow slice of a real relationship and r falls, even though the slope is unchanged. This is why correlations from studies with different ranges cannot be compared head to head.</a:t>
            </a:r>
          </a:p>
          <a:p>
            <a:pPr lvl="0" indent="0" marL="1270000">
              <a:buNone/>
            </a:pPr>
            <a:r>
              <a:rPr sz="2000" b="1"/>
              <a:t>Warning</a:t>
            </a:r>
          </a:p>
          <a:p>
            <a:pPr lvl="0" indent="0" marL="1270000">
              <a:buNone/>
            </a:pPr>
            <a:r>
              <a:rPr sz="2000" b="1"/>
              <a:t>⚠️ Attenuation</a:t>
            </a:r>
          </a:p>
          <a:p>
            <a:pPr lvl="0" indent="0" marL="1270000">
              <a:buNone/>
            </a:pPr>
            <a:r>
              <a:rPr sz="2000"/>
              <a:t>Measurement error in X or Y pushes r </a:t>
            </a:r>
            <a:r>
              <a:rPr sz="2000" b="1"/>
              <a:t>toward zero</a:t>
            </a:r>
            <a:r>
              <a:rPr sz="2000"/>
              <a:t>, never away from it. The true correlation is usually </a:t>
            </a:r>
            <a:r>
              <a:rPr sz="2000" b="1"/>
              <a:t>stronger</a:t>
            </a:r>
            <a:r>
              <a:rPr sz="2000"/>
              <a:t> than the one you observed — so (d) has the direction backwards.</a:t>
            </a:r>
          </a:p>
        </p:txBody>
      </p:sp>
      <p:pic>
        <p:nvPicPr>
          <p:cNvPr descr="correlation_linear_models_lecture_files/figure-pptx/correlation-linear-models-14-1.png" id="0" name="Picture 1"/>
          <p:cNvPicPr>
            <a:picLocks noGrp="1" noChangeAspect="1"/>
          </p:cNvPicPr>
          <p:nvPr/>
        </p:nvPicPr>
        <p:blipFill>
          <a:blip r:embed="rId2"/>
          <a:stretch>
            <a:fillRect/>
          </a:stretch>
        </p:blipFill>
        <p:spPr bwMode="auto">
          <a:xfrm>
            <a:off x="6121400" y="1333500"/>
            <a:ext cx="2781300" cy="3124200"/>
          </a:xfrm>
          <a:prstGeom prst="rect">
            <a:avLst/>
          </a:prstGeom>
          <a:noFill/>
          <a:ln w="9525">
            <a:noFill/>
            <a:headEnd/>
            <a:tailEnd/>
          </a:ln>
        </p:spPr>
      </p:pic>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Correlation — What to Carry Forward</a:t>
            </a:r>
          </a:p>
        </p:txBody>
      </p:sp>
      <p:sp>
        <p:nvSpPr>
          <p:cNvPr id="3" name="Content Placeholder 2"/>
          <p:cNvSpPr>
            <a:spLocks noGrp="1"/>
          </p:cNvSpPr>
          <p:nvPr>
            <p:ph idx="1" sz="half"/>
          </p:nvPr>
        </p:nvSpPr>
        <p:spPr/>
        <p:txBody>
          <a:bodyPr/>
          <a:lstStyle/>
          <a:p>
            <a:pPr lvl="0"/>
            <a:r>
              <a:rPr b="1"/>
              <a:t>r measures straight-line association only</a:t>
            </a:r>
            <a:r>
              <a:rPr/>
              <a:t> — always plot first</a:t>
            </a:r>
          </a:p>
          <a:p>
            <a:pPr lvl="0"/>
            <a:r>
              <a:rPr b="1"/>
              <a:t>r² is the variance the two variables share</a:t>
            </a:r>
          </a:p>
          <a:p>
            <a:pPr lvl="0"/>
            <a:r>
              <a:rPr b="1"/>
              <a:t>The range you sampled sets the ceiling on r</a:t>
            </a:r>
            <a:r>
              <a:rPr/>
              <a:t>; measurement error lowers it further</a:t>
            </a:r>
          </a:p>
          <a:p>
            <a:pPr lvl="0"/>
            <a:r>
              <a:rPr b="1"/>
              <a:t>Correlation does not imply causation.</a:t>
            </a:r>
            <a:r>
              <a:rPr/>
              <a:t> Three explanations always survive: X causes Y, Y causes X, or Z causes both</a:t>
            </a:r>
          </a:p>
          <a:p>
            <a:pPr lvl="0"/>
            <a:r>
              <a:rPr b="1"/>
              <a:t>The test:</a:t>
            </a:r>
            <a:r>
              <a:rPr/>
              <a:t> H₀ is ρ = 0, statistic t = r / SE(r), df = n − 2</a:t>
            </a:r>
          </a:p>
          <a:p>
            <a:pPr lvl="0"/>
            <a:r>
              <a:rPr b="1"/>
              <a:t>When normality fails</a:t>
            </a:r>
            <a:r>
              <a:rPr/>
              <a:t>, switch to rank-based Spearman’s ρ</a:t>
            </a:r>
          </a:p>
        </p:txBody>
      </p:sp>
      <p:sp>
        <p:nvSpPr>
          <p:cNvPr id="4" name="Content Placeholder 3"/>
          <p:cNvSpPr>
            <a:spLocks noGrp="1"/>
          </p:cNvSpPr>
          <p:nvPr>
            <p:ph idx="2" sz="half"/>
          </p:nvPr>
        </p:nvSpPr>
        <p:spPr/>
        <p:txBody>
          <a:bodyPr/>
          <a:lstStyle/>
          <a:p>
            <a:pPr lvl="0" indent="0" marL="1270000">
              <a:buNone/>
            </a:pPr>
            <a:r>
              <a:rPr sz="2000" b="1"/>
              <a:t>Note</a:t>
            </a:r>
          </a:p>
          <a:p>
            <a:pPr lvl="0" indent="0" marL="1270000">
              <a:buNone/>
            </a:pPr>
            <a:r>
              <a:rPr sz="2000" b="1"/>
              <a:t>✅ End of the correlation half</a:t>
            </a:r>
          </a:p>
          <a:p>
            <a:pPr lvl="0" indent="0" marL="1270000">
              <a:buNone/>
            </a:pPr>
            <a:r>
              <a:rPr sz="2000"/>
              <a:t>You can now run </a:t>
            </a:r>
            <a:r>
              <a:rPr sz="2000">
                <a:latin typeface="Courier"/>
              </a:rPr>
              <a:t>cor.test()</a:t>
            </a:r>
            <a:r>
              <a:rPr sz="2000"/>
              <a:t>, check its assumptions on the raw variables, switch to Spearman when they fail, and say what r and r² mean.</a:t>
            </a:r>
          </a:p>
          <a:p>
            <a:pPr lvl="0" indent="0" marL="1270000">
              <a:buNone/>
            </a:pPr>
            <a:r>
              <a:rPr sz="2000"/>
              <a:t>Next: the same cloud of points — but now we fit a </a:t>
            </a:r>
            <a:r>
              <a:rPr sz="2000" b="1"/>
              <a:t>line</a:t>
            </a:r>
            <a:r>
              <a:rPr sz="2000"/>
              <a:t> to it and ask what that line is made of.</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Part 4 · Linear Regression — the Model</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The Simple Linear Regression Model</a:t>
            </a:r>
          </a:p>
        </p:txBody>
      </p:sp>
      <mc:AlternateContent xmlns:mc="http://schemas.openxmlformats.org/markup-compatibility/2006">
        <mc:Choice xmlns:a14="http://schemas.microsoft.com/office/drawing/2010/main" Requires="a14">
          <p:sp>
            <p:nvSpPr>
              <p:cNvPr id="3" name="Content Placeholder 2"/>
              <p:cNvSpPr>
                <a:spLocks noGrp="1"/>
              </p:cNvSpPr>
              <p:nvPr>
                <p:ph idx="1" sz="half"/>
              </p:nvPr>
            </p:nvSpPr>
            <p:spPr/>
            <p:txBody>
              <a:bodyPr/>
              <a:lstStyle/>
              <a:p>
                <a:pPr lvl="0" indent="0" marL="0">
                  <a:buNone/>
                </a:pPr>
                <a:r>
                  <a:rPr/>
                  <a:t>Regression models the response Y as a straight-line function of the predictor X.</a:t>
                </a:r>
              </a:p>
              <a:p>
                <a:pPr lvl="0" indent="0" marL="0">
                  <a:buNone/>
                </a:pPr>
                <a:r>
                  <a:rPr/>
                  <a:t>The </a:t>
                </a:r>
                <a:r>
                  <a:rPr b="1"/>
                  <a:t>population</a:t>
                </a:r>
                <a:r>
                  <a:rPr/>
                  <a:t> model: </a:t>
                </a:r>
                <a14:m>
                  <m:oMath xmlns:m="http://schemas.openxmlformats.org/officeDocument/2006/math">
                    <m:r>
                      <m:t>Y</m:t>
                    </m:r>
                    <m:r>
                      <m:rPr>
                        <m:sty m:val="p"/>
                      </m:rPr>
                      <m:t>=</m:t>
                    </m:r>
                    <m:r>
                      <m:t>α</m:t>
                    </m:r>
                    <m:r>
                      <m:rPr>
                        <m:sty m:val="p"/>
                      </m:rPr>
                      <m:t>+</m:t>
                    </m:r>
                    <m:r>
                      <m:t>β</m:t>
                    </m:r>
                    <m:r>
                      <m:t>X</m:t>
                    </m:r>
                    <m:r>
                      <m:rPr>
                        <m:sty m:val="p"/>
                      </m:rPr>
                      <m:t>+</m:t>
                    </m:r>
                    <m:r>
                      <m:t>ε</m:t>
                    </m:r>
                  </m:oMath>
                </a14:m>
              </a:p>
              <a:p>
                <a:pPr lvl="0"/>
                <a:r>
                  <a:rPr/>
                  <a:t>α is the intercept — the value of Y when X = 0</a:t>
                </a:r>
              </a:p>
              <a:p>
                <a:pPr lvl="0"/>
                <a:r>
                  <a:rPr/>
                  <a:t>β is the slope — the change in Y per one-unit change in X</a:t>
                </a:r>
              </a:p>
              <a:p>
                <a:pPr lvl="0"/>
                <a:r>
                  <a:rPr/>
                  <a:t>ε is the error — the random deviation of a point from the line</a:t>
                </a:r>
              </a:p>
              <a:p>
                <a:pPr lvl="0" indent="0" marL="0">
                  <a:buNone/>
                </a:pPr>
                <a:r>
                  <a:rPr/>
                  <a:t>The </a:t>
                </a:r>
                <a:r>
                  <a:rPr b="1"/>
                  <a:t>sample</a:t>
                </a:r>
                <a:r>
                  <a:rPr/>
                  <a:t> equation: </a:t>
                </a:r>
                <a14:m>
                  <m:oMath xmlns:m="http://schemas.openxmlformats.org/officeDocument/2006/math">
                    <m:acc>
                      <m:accPr>
                        <m:chr m:val="̂"/>
                      </m:accPr>
                      <m:e>
                        <m:r>
                          <m:t>Y</m:t>
                        </m:r>
                      </m:e>
                    </m:acc>
                    <m:r>
                      <m:rPr>
                        <m:sty m:val="p"/>
                      </m:rPr>
                      <m:t>=</m:t>
                    </m:r>
                    <m:r>
                      <m:t>a</m:t>
                    </m:r>
                    <m:r>
                      <m:rPr>
                        <m:sty m:val="p"/>
                      </m:rPr>
                      <m:t>+</m:t>
                    </m:r>
                    <m:r>
                      <m:t>b</m:t>
                    </m:r>
                    <m:r>
                      <m:t>X</m:t>
                    </m:r>
                  </m:oMath>
                </a14:m>
                <a:r>
                  <a:rPr/>
                  <a:t>, where a estimates α and b estimates β.</a:t>
                </a:r>
              </a:p>
              <a:p>
                <a:pPr lvl="0" indent="0" marL="0">
                  <a:buNone/>
                </a:pPr>
                <a:r>
                  <a:rPr b="1"/>
                  <a:t>Method of least squares:</a:t>
                </a:r>
                <a:r>
                  <a:rPr/>
                  <a:t> of all possible lines, take the one that makes</a:t>
                </a:r>
              </a:p>
              <a:p>
                <a:pPr lvl="0" indent="0" marL="0">
                  <a:buNone/>
                </a:pPr>
                <a14:m>
                  <m:oMathPara xmlns:m="http://schemas.openxmlformats.org/officeDocument/2006/math">
                    <m:oMathParaPr>
                      <m:jc m:val="center"/>
                    </m:oMathParaPr>
                    <m:oMath>
                      <m:nary>
                        <m:naryPr>
                          <m:chr m:val="∑"/>
                          <m:limLoc m:val="undOvr"/>
                          <m:subHide m:val="off"/>
                          <m:supHide m:val="off"/>
                        </m:naryPr>
                        <m:sub>
                          <m:r>
                            <m:t>i</m:t>
                          </m:r>
                          <m:r>
                            <m:rPr>
                              <m:sty m:val="p"/>
                            </m:rPr>
                            <m:t>=</m:t>
                          </m:r>
                          <m:r>
                            <m:t>1</m:t>
                          </m:r>
                        </m:sub>
                        <m:sup>
                          <m:r>
                            <m:t>n</m:t>
                          </m:r>
                        </m:sup>
                        <m:e>
                          <m:r>
                            <m:rPr>
                              <m:sty m:val="p"/>
                            </m:rPr>
                            <m:t>(</m:t>
                          </m:r>
                        </m:e>
                      </m:nary>
                      <m:sSub>
                        <m:e>
                          <m:r>
                            <m:t>y</m:t>
                          </m:r>
                        </m:e>
                        <m:sub>
                          <m:r>
                            <m:t>i</m:t>
                          </m:r>
                        </m:sub>
                      </m:sSub>
                      <m:r>
                        <m:rPr>
                          <m:sty m:val="p"/>
                        </m:rPr>
                        <m:t>−</m:t>
                      </m:r>
                      <m:sSub>
                        <m:e>
                          <m:acc>
                            <m:accPr>
                              <m:chr m:val="̂"/>
                            </m:accPr>
                            <m:e>
                              <m:r>
                                <m:t>y</m:t>
                              </m:r>
                            </m:e>
                          </m:acc>
                        </m:e>
                        <m:sub>
                          <m:r>
                            <m:t>i</m:t>
                          </m:r>
                        </m:sub>
                      </m:sSub>
                      <m:sSup>
                        <m:e>
                          <m:r>
                            <m:rPr>
                              <m:sty m:val="p"/>
                            </m:rPr>
                            <m:t>)</m:t>
                          </m:r>
                        </m:e>
                        <m:sup>
                          <m:r>
                            <m:t>2</m:t>
                          </m:r>
                        </m:sup>
                      </m:sSup>
                    </m:oMath>
                  </m:oMathPara>
                </a14:m>
              </a:p>
              <a:p>
                <a:pPr lvl="0" indent="0" marL="0">
                  <a:buNone/>
                </a:pPr>
                <a:r>
                  <a:rPr/>
                  <a:t>as small as possible — the sum of the squared </a:t>
                </a:r>
                <a:r>
                  <a:rPr b="1"/>
                  <a:t>vertical</a:t>
                </a:r>
                <a:r>
                  <a:rPr/>
                  <a:t> distances.</a:t>
                </a:r>
              </a:p>
            </p:txBody>
          </p:sp>
        </mc:Choice>
      </mc:AlternateContent>
      <p:pic>
        <p:nvPicPr>
          <p:cNvPr descr="images/clipboard-3360244964.png" id="0" name="Picture 1"/>
          <p:cNvPicPr>
            <a:picLocks noGrp="1" noChangeAspect="1"/>
          </p:cNvPicPr>
          <p:nvPr/>
        </p:nvPicPr>
        <p:blipFill>
          <a:blip r:embed="rId2"/>
          <a:stretch>
            <a:fillRect/>
          </a:stretch>
        </p:blipFill>
        <p:spPr bwMode="auto">
          <a:xfrm>
            <a:off x="6680200" y="660400"/>
            <a:ext cx="1663700" cy="4470400"/>
          </a:xfrm>
          <a:prstGeom prst="rect">
            <a:avLst/>
          </a:prstGeom>
          <a:noFill/>
          <a:ln w="9525">
            <a:noFill/>
            <a:headEnd/>
            <a:tailEnd/>
          </a:ln>
        </p:spPr>
      </p:pic>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Fitting the Lion Model</a:t>
            </a:r>
          </a:p>
        </p:txBody>
      </p:sp>
      <p:sp>
        <p:nvSpPr>
          <p:cNvPr id="3" name="Content Placeholder 2"/>
          <p:cNvSpPr>
            <a:spLocks noGrp="1"/>
          </p:cNvSpPr>
          <p:nvPr>
            <p:ph idx="1" sz="half"/>
          </p:nvPr>
        </p:nvSpPr>
        <p:spPr/>
        <p:txBody>
          <a:bodyPr/>
          <a:lstStyle/>
          <a:p>
            <a:pPr lvl="0" indent="0" marL="0">
              <a:buNone/>
            </a:pPr>
            <a:r>
              <a:rPr/>
              <a:t>Male lions accumulate black pigment on the nose as they age — so nose colour can age a lion in the field without anyone killing it.</a:t>
            </a:r>
          </a:p>
          <a:p>
            <a:pPr lvl="0" indent="0">
              <a:buNone/>
            </a:pPr>
            <a:r>
              <a:rPr>
                <a:solidFill>
                  <a:srgbClr val="003B4F"/>
                </a:solidFill>
                <a:latin typeface="Courier"/>
              </a:rPr>
              <a:t>lion_df &lt;- </a:t>
            </a:r>
            <a:r>
              <a:rPr>
                <a:solidFill>
                  <a:srgbClr val="4758AB"/>
                </a:solidFill>
                <a:latin typeface="Courier"/>
              </a:rPr>
              <a:t>read_csv</a:t>
            </a:r>
            <a:r>
              <a:rPr>
                <a:solidFill>
                  <a:srgbClr val="003B4F"/>
                </a:solidFill>
                <a:latin typeface="Courier"/>
              </a:rPr>
              <a:t>(</a:t>
            </a:r>
            <a:r>
              <a:rPr>
                <a:solidFill>
                  <a:srgbClr val="20794D"/>
                </a:solidFill>
                <a:latin typeface="Courier"/>
              </a:rPr>
              <a:t>"data/lion_noses.csv"</a:t>
            </a:r>
            <a:r>
              <a:rPr>
                <a:solidFill>
                  <a:srgbClr val="003B4F"/>
                </a:solidFill>
                <a:latin typeface="Courier"/>
              </a:rPr>
              <a:t>)</a:t>
            </a:r>
            <a:br/>
            <a:br/>
            <a:r>
              <a:rPr>
                <a:solidFill>
                  <a:srgbClr val="003B4F"/>
                </a:solidFill>
                <a:latin typeface="Courier"/>
              </a:rPr>
              <a:t>lion_model &lt;- </a:t>
            </a:r>
            <a:r>
              <a:rPr>
                <a:solidFill>
                  <a:srgbClr val="4758AB"/>
                </a:solidFill>
                <a:latin typeface="Courier"/>
              </a:rPr>
              <a:t>lm</a:t>
            </a:r>
            <a:r>
              <a:rPr>
                <a:solidFill>
                  <a:srgbClr val="003B4F"/>
                </a:solidFill>
                <a:latin typeface="Courier"/>
              </a:rPr>
              <a:t>(age_years </a:t>
            </a:r>
            <a:r>
              <a:rPr>
                <a:solidFill>
                  <a:srgbClr val="5E5E5E"/>
                </a:solidFill>
                <a:latin typeface="Courier"/>
              </a:rPr>
              <a:t>~</a:t>
            </a:r>
            <a:r>
              <a:rPr>
                <a:solidFill>
                  <a:srgbClr val="003B4F"/>
                </a:solidFill>
                <a:latin typeface="Courier"/>
              </a:rPr>
              <a:t> proportion_black,</a:t>
            </a:r>
            <a:br/>
            <a:r>
              <a:rPr>
                <a:solidFill>
                  <a:srgbClr val="003B4F"/>
                </a:solidFill>
                <a:latin typeface="Courier"/>
              </a:rPr>
              <a:t>                 </a:t>
            </a:r>
            <a:r>
              <a:rPr>
                <a:solidFill>
                  <a:srgbClr val="657422"/>
                </a:solidFill>
                <a:latin typeface="Courier"/>
              </a:rPr>
              <a:t>data =</a:t>
            </a:r>
            <a:r>
              <a:rPr>
                <a:solidFill>
                  <a:srgbClr val="003B4F"/>
                </a:solidFill>
                <a:latin typeface="Courier"/>
              </a:rPr>
              <a:t> lion_df)</a:t>
            </a:r>
            <a:br/>
            <a:r>
              <a:rPr>
                <a:solidFill>
                  <a:srgbClr val="4758AB"/>
                </a:solidFill>
                <a:latin typeface="Courier"/>
              </a:rPr>
              <a:t>coef</a:t>
            </a:r>
            <a:r>
              <a:rPr>
                <a:solidFill>
                  <a:srgbClr val="003B4F"/>
                </a:solidFill>
                <a:latin typeface="Courier"/>
              </a:rPr>
              <a:t>(lion_model)</a:t>
            </a:r>
          </a:p>
          <a:p>
            <a:pPr lvl="0" indent="0">
              <a:buNone/>
            </a:pPr>
            <a:r>
              <a:rPr>
                <a:latin typeface="Courier"/>
              </a:rPr>
              <a:t>     (Intercept) proportion_black 
       0.8790062       10.6471194 </a:t>
            </a:r>
          </a:p>
          <a:p>
            <a:pPr lvl="0" indent="0" marL="0">
              <a:buNone/>
            </a:pPr>
            <a:r>
              <a:rPr/>
              <a:t>Read the formula as </a:t>
            </a:r>
            <a:r>
              <a:rPr b="1"/>
              <a:t>response ~ predictor</a:t>
            </a:r>
            <a:r>
              <a:rPr/>
              <a:t>.</a:t>
            </a:r>
          </a:p>
        </p:txBody>
      </p:sp>
      <p:pic>
        <p:nvPicPr>
          <p:cNvPr descr="correlation_linear_models_lecture_files/figure-pptx/correlation-linear-models-16-1.png" id="0" name="Picture 1"/>
          <p:cNvPicPr>
            <a:picLocks noGrp="1" noChangeAspect="1"/>
          </p:cNvPicPr>
          <p:nvPr/>
        </p:nvPicPr>
        <p:blipFill>
          <a:blip r:embed="rId2"/>
          <a:stretch>
            <a:fillRect/>
          </a:stretch>
        </p:blipFill>
        <p:spPr bwMode="auto">
          <a:xfrm>
            <a:off x="6121400" y="1651000"/>
            <a:ext cx="2781300" cy="2489200"/>
          </a:xfrm>
          <a:prstGeom prst="rect">
            <a:avLst/>
          </a:prstGeom>
          <a:noFill/>
          <a:ln w="9525">
            <a:noFill/>
            <a:headEnd/>
            <a:tailEnd/>
          </a:ln>
        </p:spPr>
      </p:pic>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Reading the Model Output</a:t>
            </a:r>
          </a:p>
        </p:txBody>
      </p:sp>
      <p:sp>
        <p:nvSpPr>
          <p:cNvPr id="3" name="Content Placeholder 2"/>
          <p:cNvSpPr>
            <a:spLocks noGrp="1"/>
          </p:cNvSpPr>
          <p:nvPr>
            <p:ph idx="1" sz="half"/>
          </p:nvPr>
        </p:nvSpPr>
        <p:spPr/>
        <p:txBody>
          <a:bodyPr/>
          <a:lstStyle/>
          <a:p>
            <a:pPr lvl="0" indent="0">
              <a:buNone/>
            </a:pPr>
            <a:r>
              <a:rPr>
                <a:solidFill>
                  <a:srgbClr val="4758AB"/>
                </a:solidFill>
                <a:latin typeface="Courier"/>
              </a:rPr>
              <a:t>summary</a:t>
            </a:r>
            <a:r>
              <a:rPr>
                <a:solidFill>
                  <a:srgbClr val="003B4F"/>
                </a:solidFill>
                <a:latin typeface="Courier"/>
              </a:rPr>
              <a:t>(lion_model)</a:t>
            </a:r>
          </a:p>
          <a:p>
            <a:pPr lvl="0" indent="0">
              <a:buNone/>
            </a:pPr>
            <a:r>
              <a:rPr>
                <a:latin typeface="Courier"/>
              </a:rPr>
              <a:t>
Call:
lm(formula = age_years ~ proportion_black, data = lion_df)
Residuals:
    Min      1Q  Median      3Q     Max 
-2.5449 -1.1117 -0.5285  0.9635  4.3421 
Coefficients:
                 Estimate Std. Error t value Pr(&gt;|t|)    
(Intercept)        0.8790     0.5688   1.545    0.133    
proportion_black  10.6471     1.5095   7.053 7.68e-08 ***
---
Signif. codes:  0 '***' 0.001 '**' 0.01 '*' 0.05 '.' 0.1 ' ' 1
Residual standard error: 1.669 on 30 degrees of freedom
Multiple R-squared:  0.6238,    Adjusted R-squared:  0.6113 
F-statistic: 49.75 on 1 and 30 DF,  p-value: 7.677e-08</a:t>
            </a:r>
          </a:p>
        </p:txBody>
      </p:sp>
      <mc:AlternateContent xmlns:mc="http://schemas.openxmlformats.org/markup-compatibility/2006">
        <mc:Choice xmlns:a14="http://schemas.microsoft.com/office/drawing/2010/main" Requires="a14">
          <p:sp>
            <p:nvSpPr>
              <p:cNvPr id="4" name="Content Placeholder 3"/>
              <p:cNvSpPr>
                <a:spLocks noGrp="1"/>
              </p:cNvSpPr>
              <p:nvPr>
                <p:ph idx="2" sz="half"/>
              </p:nvPr>
            </p:nvSpPr>
            <p:spPr/>
            <p:txBody>
              <a:bodyPr/>
              <a:lstStyle/>
              <a:p>
                <a:pPr lvl="0" indent="0" marL="0">
                  <a:buNone/>
                </a:pPr>
                <a14:m>
                  <m:oMathPara xmlns:m="http://schemas.openxmlformats.org/officeDocument/2006/math">
                    <m:oMathParaPr>
                      <m:jc m:val="center"/>
                    </m:oMathParaPr>
                    <m:oMath>
                      <m:acc>
                        <m:accPr>
                          <m:chr m:val="̂"/>
                        </m:accPr>
                        <m:e>
                          <m:r>
                            <m:rPr>
                              <m:nor/>
                              <m:sty m:val="p"/>
                            </m:rPr>
                            <m:t>age</m:t>
                          </m:r>
                        </m:e>
                      </m:acc>
                      <m:r>
                        <m:rPr>
                          <m:sty m:val="p"/>
                        </m:rPr>
                        <m:t>=</m:t>
                      </m:r>
                      <m:r>
                        <m:t>0.88</m:t>
                      </m:r>
                      <m:r>
                        <m:rPr>
                          <m:sty m:val="p"/>
                        </m:rPr>
                        <m:t>+</m:t>
                      </m:r>
                      <m:r>
                        <m:t>10.65</m:t>
                      </m:r>
                      <m:r>
                        <m:rPr>
                          <m:sty m:val="p"/>
                        </m:rPr>
                        <m:t>×</m:t>
                      </m:r>
                      <m:r>
                        <m:rPr>
                          <m:nor/>
                          <m:sty m:val="p"/>
                        </m:rPr>
                        <m:t>prop. black</m:t>
                      </m:r>
                    </m:oMath>
                  </m:oMathPara>
                </a14:m>
              </a:p>
              <a:p>
                <a:pPr lvl="0"/>
                <a:r>
                  <a:rPr b="1"/>
                  <a:t>Estimate</a:t>
                </a:r>
                <a:r>
                  <a:rPr/>
                  <a:t> — the intercept and the slope</a:t>
                </a:r>
              </a:p>
              <a:p>
                <a:pPr lvl="0"/>
                <a:r>
                  <a:rPr b="1"/>
                  <a:t>Std. Error</a:t>
                </a:r>
                <a:r>
                  <a:rPr/>
                  <a:t> — how precisely each is pinned down</a:t>
                </a:r>
              </a:p>
              <a:p>
                <a:pPr lvl="0"/>
                <a:r>
                  <a:rPr b="1"/>
                  <a:t>t value</a:t>
                </a:r>
                <a:r>
                  <a:rPr/>
                  <a:t> — estimate ÷ SE, testing H₀: β = 0</a:t>
                </a:r>
              </a:p>
              <a:p>
                <a:pPr lvl="0"/>
                <a:r>
                  <a:rPr b="1"/>
                  <a:t>Multiple R-squared</a:t>
                </a:r>
                <a:r>
                  <a:rPr/>
                  <a:t> = 0.624 — the share of variation in age explained by nose colour</a:t>
                </a:r>
              </a:p>
              <a:p>
                <a:pPr lvl="0" indent="0" marL="1270000">
                  <a:buNone/>
                </a:pPr>
                <a:r>
                  <a:rPr sz="2000" b="1"/>
                  <a:t>Note</a:t>
                </a:r>
              </a:p>
              <a:p>
                <a:pPr lvl="0" indent="0" marL="1270000">
                  <a:buNone/>
                </a:pPr>
                <a:r>
                  <a:rPr sz="2000" b="1"/>
                  <a:t>Notice</a:t>
                </a:r>
              </a:p>
              <a:p>
                <a:pPr lvl="0" indent="0" marL="1270000">
                  <a:buNone/>
                </a:pPr>
                <a:r>
                  <a:rPr sz="2000"/>
                  <a:t>Correlating these same two variables and squaring r gives the </a:t>
                </a:r>
                <a:r>
                  <a:rPr sz="2000" i="1"/>
                  <a:t>same</a:t>
                </a:r>
                <a:r>
                  <a:rPr sz="2000"/>
                  <a:t> 0.624. Hold that thought — Part 5 explains why.</a:t>
                </a:r>
              </a:p>
            </p:txBody>
          </p:sp>
        </mc:Choice>
      </mc:AlternateContent>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 DECIDE · What the Slope and Intercept Say</a:t>
            </a:r>
          </a:p>
        </p:txBody>
      </p:sp>
      <mc:AlternateContent xmlns:mc="http://schemas.openxmlformats.org/markup-compatibility/2006">
        <mc:Choice xmlns:a14="http://schemas.microsoft.com/office/drawing/2010/main" Requires="a14">
          <p:sp>
            <p:nvSpPr>
              <p:cNvPr id="3" name="Content Placeholder 2"/>
              <p:cNvSpPr>
                <a:spLocks noGrp="1"/>
              </p:cNvSpPr>
              <p:nvPr>
                <p:ph idx="1" sz="half"/>
              </p:nvPr>
            </p:nvSpPr>
            <p:spPr/>
            <p:txBody>
              <a:bodyPr/>
              <a:lstStyle/>
              <a:p>
                <a:pPr lvl="0" indent="0" marL="0">
                  <a:buNone/>
                </a:pPr>
                <a:r>
                  <a:rPr/>
                  <a:t>The fitted line is </a:t>
                </a:r>
                <a14:m>
                  <m:oMath xmlns:m="http://schemas.openxmlformats.org/officeDocument/2006/math">
                    <m:acc>
                      <m:accPr>
                        <m:chr m:val="̂"/>
                      </m:accPr>
                      <m:e>
                        <m:r>
                          <m:rPr>
                            <m:nor/>
                            <m:sty m:val="p"/>
                          </m:rPr>
                          <m:t>age</m:t>
                        </m:r>
                      </m:e>
                    </m:acc>
                    <m:r>
                      <m:rPr>
                        <m:sty m:val="p"/>
                      </m:rPr>
                      <m:t>=</m:t>
                    </m:r>
                    <m:r>
                      <m:t>0.88</m:t>
                    </m:r>
                    <m:r>
                      <m:rPr>
                        <m:sty m:val="p"/>
                      </m:rPr>
                      <m:t>+</m:t>
                    </m:r>
                    <m:r>
                      <m:t>10.65</m:t>
                    </m:r>
                    <m:r>
                      <m:rPr>
                        <m:sty m:val="p"/>
                      </m:rPr>
                      <m:t>×</m:t>
                    </m:r>
                    <m:r>
                      <m:rPr>
                        <m:nor/>
                        <m:sty m:val="p"/>
                      </m:rPr>
                      <m:t>prop. black</m:t>
                    </m:r>
                  </m:oMath>
                </a14:m>
                <a:r>
                  <a:rPr/>
                  <a:t>.</a:t>
                </a:r>
              </a:p>
              <a:p>
                <a:pPr lvl="0" indent="0" marL="0">
                  <a:buNone/>
                </a:pPr>
                <a:r>
                  <a:rPr b="1"/>
                  <a:t>Which statement is correct?</a:t>
                </a:r>
              </a:p>
              <a:p>
                <a:pPr lvl="0" indent="0" marL="0">
                  <a:buNone/>
                </a:pPr>
                <a:r>
                  <a:rPr b="1"/>
                  <a:t>(a)</a:t>
                </a:r>
                <a:r>
                  <a:rPr/>
                  <a:t> A lion’s nose darkens by 10.65 units for every year it ages</a:t>
                </a:r>
              </a:p>
              <a:p>
                <a:pPr lvl="0" indent="0" marL="0">
                  <a:buNone/>
                </a:pPr>
                <a:r>
                  <a:rPr b="1"/>
                  <a:t>(b)</a:t>
                </a:r>
                <a:r>
                  <a:rPr/>
                  <a:t> Going from a nose 10% black to one 20% black predicts about </a:t>
                </a:r>
                <a:r>
                  <a:rPr b="1"/>
                  <a:t>1.06 more years</a:t>
                </a:r>
                <a:r>
                  <a:rPr/>
                  <a:t> of age</a:t>
                </a:r>
              </a:p>
              <a:p>
                <a:pPr lvl="0" indent="0" marL="0">
                  <a:buNone/>
                </a:pPr>
                <a:r>
                  <a:rPr b="1"/>
                  <a:t>(c)</a:t>
                </a:r>
                <a:r>
                  <a:rPr/>
                  <a:t> A newborn lion is predicted to be 0.88 years old, so the model is wrong</a:t>
                </a:r>
              </a:p>
              <a:p>
                <a:pPr lvl="0" indent="0" marL="0">
                  <a:buNone/>
                </a:pPr>
                <a:r>
                  <a:rPr b="1"/>
                  <a:t>(d)</a:t>
                </a:r>
                <a:r>
                  <a:rPr/>
                  <a:t> 62.4% of lions are aged correctly by this equation</a:t>
                </a:r>
              </a:p>
              <a:p>
                <a:pPr lvl="0" indent="0" marL="1270000">
                  <a:buNone/>
                </a:pPr>
                <a:r>
                  <a:rPr sz="2000" b="1"/>
                  <a:t>Warning</a:t>
                </a:r>
              </a:p>
              <a:p>
                <a:pPr lvl="0" indent="0" marL="1270000">
                  <a:buNone/>
                </a:pPr>
                <a:r>
                  <a:rPr sz="2000" b="1"/>
                  <a:t>✍️ Write your letter down, then vote.</a:t>
                </a:r>
              </a:p>
            </p:txBody>
          </p:sp>
        </mc:Choice>
      </mc:AlternateContent>
      <p:sp>
        <p:nvSpPr>
          <p:cNvPr id="4" name="Content Placeholder 3"/>
          <p:cNvSpPr>
            <a:spLocks noGrp="1"/>
          </p:cNvSpPr>
          <p:nvPr>
            <p:ph idx="2" sz="half"/>
          </p:nvPr>
        </p:nvSpPr>
        <p:spPr/>
        <p:txBody>
          <a:bodyPr/>
          <a:lstStyle/>
          <a:p>
            <a:pPr lvl="0" indent="0" marL="1270000">
              <a:buNone/>
            </a:pPr>
            <a:r>
              <a:rPr sz="2000" b="1"/>
              <a:t>Note</a:t>
            </a:r>
          </a:p>
          <a:p>
            <a:pPr lvl="0" indent="0" marL="1270000">
              <a:buNone/>
            </a:pPr>
            <a:r>
              <a:rPr sz="2000" b="1"/>
              <a:t>Ask yourself</a:t>
            </a:r>
          </a:p>
          <a:p>
            <a:pPr lvl="0" indent="0" marL="1270000">
              <a:buNone/>
            </a:pPr>
            <a:r>
              <a:rPr sz="2000" i="1"/>
              <a:t>What are the units on this slope?</a:t>
            </a:r>
          </a:p>
          <a:p>
            <a:pPr lvl="0" indent="0" marL="1270000">
              <a:buNone/>
            </a:pPr>
            <a:r>
              <a:rPr sz="2000"/>
              <a:t>A slope is always </a:t>
            </a:r>
            <a:r>
              <a:rPr sz="2000" b="1"/>
              <a:t>units of Y per one unit of X</a:t>
            </a:r>
            <a:r>
              <a:rPr sz="2000"/>
              <a:t> — and here one unit of X is the whole range, from a clean nose to a fully black one.</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Slope and Intercept, in Words</a:t>
            </a:r>
          </a:p>
        </p:txBody>
      </p:sp>
      <p:sp>
        <p:nvSpPr>
          <p:cNvPr id="3" name="Content Placeholder 2"/>
          <p:cNvSpPr>
            <a:spLocks noGrp="1"/>
          </p:cNvSpPr>
          <p:nvPr>
            <p:ph idx="1" sz="half"/>
          </p:nvPr>
        </p:nvSpPr>
        <p:spPr/>
        <p:txBody>
          <a:bodyPr/>
          <a:lstStyle/>
          <a:p>
            <a:pPr lvl="0" indent="0" marL="1270000">
              <a:buNone/>
            </a:pPr>
            <a:r>
              <a:rPr sz="2000" b="1"/>
              <a:t>Important</a:t>
            </a:r>
          </a:p>
          <a:p>
            <a:pPr lvl="0" indent="0" marL="1270000">
              <a:buNone/>
            </a:pPr>
            <a:r>
              <a:rPr sz="2000" b="1"/>
              <a:t>✅ The answer is (b).</a:t>
            </a:r>
          </a:p>
          <a:p>
            <a:pPr lvl="0" indent="0" marL="1270000">
              <a:buNone/>
            </a:pPr>
            <a:r>
              <a:rPr sz="2000"/>
              <a:t>The slope is </a:t>
            </a:r>
            <a:r>
              <a:rPr sz="2000" b="1"/>
              <a:t>10.65 years per unit of proportion black</a:t>
            </a:r>
            <a:r>
              <a:rPr sz="2000"/>
              <a:t>, and one unit is the entire 0-to-1 range. A 0.1 change in blackness therefore predicts about </a:t>
            </a:r>
            <a:r>
              <a:rPr sz="2000" b="1"/>
              <a:t>1.06 years</a:t>
            </a:r>
            <a:r>
              <a:rPr sz="2000"/>
              <a:t>.</a:t>
            </a:r>
          </a:p>
          <a:p>
            <a:pPr lvl="0" indent="0" marL="1270000">
              <a:buNone/>
            </a:pPr>
            <a:r>
              <a:rPr sz="2000" b="1"/>
              <a:t>(a)</a:t>
            </a:r>
            <a:r>
              <a:rPr sz="2000"/>
              <a:t> reverses the variables — that is the regression of blackness on age, a different line.</a:t>
            </a:r>
          </a:p>
          <a:p>
            <a:pPr lvl="0" indent="0" marL="1270000">
              <a:buNone/>
            </a:pPr>
            <a:r>
              <a:rPr sz="2000" b="1"/>
              <a:t>(c)</a:t>
            </a:r>
            <a:r>
              <a:rPr sz="2000"/>
              <a:t> misreads the intercept: it is 0.88 years at proportion black = 0, and the youngest lion measured was 1.1 years old, so X = 0 sits </a:t>
            </a:r>
            <a:r>
              <a:rPr sz="2000" b="1"/>
              <a:t>outside the data</a:t>
            </a:r>
            <a:r>
              <a:rPr sz="2000"/>
              <a:t>. The intercept anchors the line; it is not a claim about newborns.</a:t>
            </a:r>
          </a:p>
          <a:p>
            <a:pPr lvl="0" indent="0" marL="1270000">
              <a:buNone/>
            </a:pPr>
            <a:r>
              <a:rPr sz="2000" b="1"/>
              <a:t>(d)</a:t>
            </a:r>
            <a:r>
              <a:rPr sz="2000"/>
              <a:t> confuses R² with an accuracy rate. R² is variance explained, not the percentage of lions got right.</a:t>
            </a:r>
          </a:p>
        </p:txBody>
      </p:sp>
      <p:sp>
        <p:nvSpPr>
          <p:cNvPr id="4" name="Content Placeholder 3"/>
          <p:cNvSpPr>
            <a:spLocks noGrp="1"/>
          </p:cNvSpPr>
          <p:nvPr>
            <p:ph idx="2" sz="half"/>
          </p:nvPr>
        </p:nvSpPr>
        <p:spPr/>
        <p:txBody>
          <a:bodyPr/>
          <a:lstStyle/>
          <a:p>
            <a:pPr lvl="0" indent="0" marL="1270000">
              <a:buNone/>
            </a:pPr>
            <a:r>
              <a:rPr sz="2000" b="1"/>
              <a:t>Warning</a:t>
            </a:r>
          </a:p>
          <a:p>
            <a:pPr lvl="0" indent="0" marL="1270000">
              <a:buNone/>
            </a:pPr>
            <a:r>
              <a:rPr sz="2000" b="1"/>
              <a:t>⚠️ Extrapolation</a:t>
            </a:r>
          </a:p>
          <a:p>
            <a:pPr lvl="0" indent="0" marL="1270000">
              <a:buNone/>
            </a:pPr>
            <a:r>
              <a:rPr sz="2000"/>
              <a:t>A fitted line says nothing about X values you never sampled, and the confidence band is </a:t>
            </a:r>
            <a:r>
              <a:rPr sz="2000" i="1"/>
              <a:t>widest</a:t>
            </a:r>
            <a:r>
              <a:rPr sz="2000"/>
              <a:t> exactly where you have no data.</a:t>
            </a:r>
          </a:p>
          <a:p>
            <a:pPr lvl="0" indent="0" marL="1270000">
              <a:buNone/>
            </a:pPr>
            <a:r>
              <a:rPr sz="2000" b="1"/>
              <a:t>Tip</a:t>
            </a:r>
          </a:p>
          <a:p>
            <a:pPr lvl="0" indent="0" marL="1270000">
              <a:buNone/>
            </a:pPr>
            <a:r>
              <a:rPr sz="2000" b="1"/>
              <a:t>🖐 The habit to build</a:t>
            </a:r>
          </a:p>
          <a:p>
            <a:pPr lvl="0" indent="0" marL="1270000">
              <a:buNone/>
            </a:pPr>
            <a:r>
              <a:rPr sz="2000"/>
              <a:t>Write every slope out as a sentence in the units of the data — “for every extra </a:t>
            </a:r>
            <a:r>
              <a:rPr sz="2000" b="1" i="1"/>
              <a:t>, Y changes by</a:t>
            </a:r>
            <a:r>
              <a:rPr sz="2000"/>
              <a:t>” — before you write a word about significance.</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Calculating the Slope and Intercept by Hand</a:t>
            </a:r>
          </a:p>
        </p:txBody>
      </p:sp>
      <mc:AlternateContent xmlns:mc="http://schemas.openxmlformats.org/markup-compatibility/2006">
        <mc:Choice xmlns:a14="http://schemas.microsoft.com/office/drawing/2010/main" Requires="a14">
          <p:sp>
            <p:nvSpPr>
              <p:cNvPr id="3" name="Content Placeholder 2"/>
              <p:cNvSpPr>
                <a:spLocks noGrp="1"/>
              </p:cNvSpPr>
              <p:nvPr>
                <p:ph idx="1" sz="half"/>
              </p:nvPr>
            </p:nvSpPr>
            <p:spPr/>
            <p:txBody>
              <a:bodyPr/>
              <a:lstStyle/>
              <a:p>
                <a:pPr lvl="0" indent="0" marL="0">
                  <a:buNone/>
                </a:pPr>
                <a14:m>
                  <m:oMathPara xmlns:m="http://schemas.openxmlformats.org/officeDocument/2006/math">
                    <m:oMathParaPr>
                      <m:jc m:val="center"/>
                    </m:oMathParaPr>
                    <m:oMath>
                      <m:r>
                        <m:t>b</m:t>
                      </m:r>
                      <m:r>
                        <m:rPr>
                          <m:sty m:val="p"/>
                        </m:rPr>
                        <m:t>=</m:t>
                      </m:r>
                      <m:f>
                        <m:fPr>
                          <m:type m:val="bar"/>
                        </m:fPr>
                        <m:num>
                          <m:nary>
                            <m:naryPr>
                              <m:chr m:val="∑"/>
                              <m:limLoc m:val="undOvr"/>
                              <m:subHide m:val="off"/>
                              <m:supHide m:val="on"/>
                            </m:naryPr>
                            <m:sub>
                              <m:r>
                                <m:t>i</m:t>
                              </m:r>
                            </m:sub>
                            <m:sup>
                              <m:r>
                                <m:t>​</m:t>
                              </m:r>
                            </m:sup>
                            <m:e>
                              <m:r>
                                <m:rPr>
                                  <m:sty m:val="p"/>
                                </m:rPr>
                                <m:t>(</m:t>
                              </m:r>
                            </m:e>
                          </m:nary>
                          <m:sSub>
                            <m:e>
                              <m:r>
                                <m:t>X</m:t>
                              </m:r>
                            </m:e>
                            <m:sub>
                              <m:r>
                                <m:t>i</m:t>
                              </m:r>
                            </m:sub>
                          </m:sSub>
                          <m:r>
                            <m:rPr>
                              <m:sty m:val="p"/>
                            </m:rPr>
                            <m:t>−</m:t>
                          </m:r>
                          <m:acc>
                            <m:accPr>
                              <m:chr m:val="‾"/>
                            </m:accPr>
                            <m:e>
                              <m:r>
                                <m:t>X</m:t>
                              </m:r>
                            </m:e>
                          </m:acc>
                          <m:r>
                            <m:rPr>
                              <m:sty m:val="p"/>
                            </m:rPr>
                            <m:t>)</m:t>
                          </m:r>
                          <m:r>
                            <m:rPr>
                              <m:sty m:val="p"/>
                            </m:rPr>
                            <m:t>(</m:t>
                          </m:r>
                          <m:sSub>
                            <m:e>
                              <m:r>
                                <m:t>Y</m:t>
                              </m:r>
                            </m:e>
                            <m:sub>
                              <m:r>
                                <m:t>i</m:t>
                              </m:r>
                            </m:sub>
                          </m:sSub>
                          <m:r>
                            <m:rPr>
                              <m:sty m:val="p"/>
                            </m:rPr>
                            <m:t>−</m:t>
                          </m:r>
                          <m:acc>
                            <m:accPr>
                              <m:chr m:val="‾"/>
                            </m:accPr>
                            <m:e>
                              <m:r>
                                <m:t>Y</m:t>
                              </m:r>
                            </m:e>
                          </m:acc>
                          <m:r>
                            <m:rPr>
                              <m:sty m:val="p"/>
                            </m:rPr>
                            <m:t>)</m:t>
                          </m:r>
                        </m:num>
                        <m:den>
                          <m:nary>
                            <m:naryPr>
                              <m:chr m:val="∑"/>
                              <m:limLoc m:val="undOvr"/>
                              <m:subHide m:val="off"/>
                              <m:supHide m:val="on"/>
                            </m:naryPr>
                            <m:sub>
                              <m:r>
                                <m:t>i</m:t>
                              </m:r>
                            </m:sub>
                            <m:sup>
                              <m:r>
                                <m:t>​</m:t>
                              </m:r>
                            </m:sup>
                            <m:e>
                              <m:r>
                                <m:rPr>
                                  <m:sty m:val="p"/>
                                </m:rPr>
                                <m:t>(</m:t>
                              </m:r>
                            </m:e>
                          </m:nary>
                          <m:sSub>
                            <m:e>
                              <m:r>
                                <m:t>X</m:t>
                              </m:r>
                            </m:e>
                            <m:sub>
                              <m:r>
                                <m:t>i</m:t>
                              </m:r>
                            </m:sub>
                          </m:sSub>
                          <m:r>
                            <m:rPr>
                              <m:sty m:val="p"/>
                            </m:rPr>
                            <m:t>−</m:t>
                          </m:r>
                          <m:acc>
                            <m:accPr>
                              <m:chr m:val="‾"/>
                            </m:accPr>
                            <m:e>
                              <m:r>
                                <m:t>X</m:t>
                              </m:r>
                            </m:e>
                          </m:acc>
                          <m:sSup>
                            <m:e>
                              <m:r>
                                <m:rPr>
                                  <m:sty m:val="p"/>
                                </m:rPr>
                                <m:t>)</m:t>
                              </m:r>
                            </m:e>
                            <m:sup>
                              <m:r>
                                <m:t>2</m:t>
                              </m:r>
                            </m:sup>
                          </m:sSup>
                        </m:den>
                      </m:f>
                      <m:r>
                        <m:t>  </m:t>
                      </m:r>
                      <m:r>
                        <m:t>a</m:t>
                      </m:r>
                      <m:r>
                        <m:rPr>
                          <m:sty m:val="p"/>
                        </m:rPr>
                        <m:t>=</m:t>
                      </m:r>
                      <m:acc>
                        <m:accPr>
                          <m:chr m:val="‾"/>
                        </m:accPr>
                        <m:e>
                          <m:r>
                            <m:t>Y</m:t>
                          </m:r>
                        </m:e>
                      </m:acc>
                      <m:r>
                        <m:rPr>
                          <m:sty m:val="p"/>
                        </m:rPr>
                        <m:t>−</m:t>
                      </m:r>
                      <m:r>
                        <m:t>b</m:t>
                      </m:r>
                      <m:acc>
                        <m:accPr>
                          <m:chr m:val="‾"/>
                        </m:accPr>
                        <m:e>
                          <m:r>
                            <m:t>X</m:t>
                          </m:r>
                        </m:e>
                      </m:acc>
                    </m:oMath>
                  </m:oMathPara>
                </a14:m>
              </a:p>
              <a:p>
                <a:pPr lvl="0" indent="0" marL="0">
                  <a:buNone/>
                </a:pPr>
                <a:r>
                  <a:rPr/>
                  <a:t>The numerator is a </a:t>
                </a:r>
                <a:r>
                  <a:rPr b="1"/>
                  <a:t>sum of cross-products</a:t>
                </a:r>
                <a:r>
                  <a:rPr/>
                  <a:t>; the denominator is a </a:t>
                </a:r>
                <a:r>
                  <a:rPr b="1"/>
                  <a:t>sum of squares</a:t>
                </a:r>
                <a:r>
                  <a:rPr/>
                  <a:t>. Both are the same kind of quantity the ANOVA table is built from in a moment.</a:t>
                </a:r>
              </a:p>
              <a:p>
                <a:pPr lvl="0" indent="0">
                  <a:buNone/>
                </a:pPr>
                <a:r>
                  <a:rPr>
                    <a:solidFill>
                      <a:srgbClr val="003B4F"/>
                    </a:solidFill>
                    <a:latin typeface="Courier"/>
                  </a:rPr>
                  <a:t>x &lt;- lion_df</a:t>
                </a:r>
                <a:r>
                  <a:rPr>
                    <a:solidFill>
                      <a:srgbClr val="5E5E5E"/>
                    </a:solidFill>
                    <a:latin typeface="Courier"/>
                  </a:rPr>
                  <a:t>$</a:t>
                </a:r>
                <a:r>
                  <a:rPr>
                    <a:solidFill>
                      <a:srgbClr val="003B4F"/>
                    </a:solidFill>
                    <a:latin typeface="Courier"/>
                  </a:rPr>
                  <a:t>proportion_black</a:t>
                </a:r>
                <a:br/>
                <a:r>
                  <a:rPr>
                    <a:solidFill>
                      <a:srgbClr val="003B4F"/>
                    </a:solidFill>
                    <a:latin typeface="Courier"/>
                  </a:rPr>
                  <a:t>y &lt;- lion_df</a:t>
                </a:r>
                <a:r>
                  <a:rPr>
                    <a:solidFill>
                      <a:srgbClr val="5E5E5E"/>
                    </a:solidFill>
                    <a:latin typeface="Courier"/>
                  </a:rPr>
                  <a:t>$</a:t>
                </a:r>
                <a:r>
                  <a:rPr>
                    <a:solidFill>
                      <a:srgbClr val="003B4F"/>
                    </a:solidFill>
                    <a:latin typeface="Courier"/>
                  </a:rPr>
                  <a:t>age_years</a:t>
                </a:r>
                <a:br/>
                <a:br/>
                <a:r>
                  <a:rPr>
                    <a:solidFill>
                      <a:srgbClr val="003B4F"/>
                    </a:solidFill>
                    <a:latin typeface="Courier"/>
                  </a:rPr>
                  <a:t>b &lt;- </a:t>
                </a:r>
                <a:r>
                  <a:rPr>
                    <a:solidFill>
                      <a:srgbClr val="4758AB"/>
                    </a:solidFill>
                    <a:latin typeface="Courier"/>
                  </a:rPr>
                  <a:t>sum</a:t>
                </a:r>
                <a:r>
                  <a:rPr>
                    <a:solidFill>
                      <a:srgbClr val="003B4F"/>
                    </a:solidFill>
                    <a:latin typeface="Courier"/>
                  </a:rPr>
                  <a:t>((x </a:t>
                </a:r>
                <a:r>
                  <a:rPr>
                    <a:solidFill>
                      <a:srgbClr val="5E5E5E"/>
                    </a:solidFill>
                    <a:latin typeface="Courier"/>
                  </a:rPr>
                  <a:t>-</a:t>
                </a:r>
                <a:r>
                  <a:rPr>
                    <a:solidFill>
                      <a:srgbClr val="003B4F"/>
                    </a:solidFill>
                    <a:latin typeface="Courier"/>
                  </a:rPr>
                  <a:t> </a:t>
                </a:r>
                <a:r>
                  <a:rPr>
                    <a:solidFill>
                      <a:srgbClr val="4758AB"/>
                    </a:solidFill>
                    <a:latin typeface="Courier"/>
                  </a:rPr>
                  <a:t>mean</a:t>
                </a:r>
                <a:r>
                  <a:rPr>
                    <a:solidFill>
                      <a:srgbClr val="003B4F"/>
                    </a:solidFill>
                    <a:latin typeface="Courier"/>
                  </a:rPr>
                  <a:t>(x)) </a:t>
                </a:r>
                <a:r>
                  <a:rPr>
                    <a:solidFill>
                      <a:srgbClr val="5E5E5E"/>
                    </a:solidFill>
                    <a:latin typeface="Courier"/>
                  </a:rPr>
                  <a:t>*</a:t>
                </a:r>
                <a:r>
                  <a:rPr>
                    <a:solidFill>
                      <a:srgbClr val="003B4F"/>
                    </a:solidFill>
                    <a:latin typeface="Courier"/>
                  </a:rPr>
                  <a:t> (y </a:t>
                </a:r>
                <a:r>
                  <a:rPr>
                    <a:solidFill>
                      <a:srgbClr val="5E5E5E"/>
                    </a:solidFill>
                    <a:latin typeface="Courier"/>
                  </a:rPr>
                  <a:t>-</a:t>
                </a:r>
                <a:r>
                  <a:rPr>
                    <a:solidFill>
                      <a:srgbClr val="003B4F"/>
                    </a:solidFill>
                    <a:latin typeface="Courier"/>
                  </a:rPr>
                  <a:t> </a:t>
                </a:r>
                <a:r>
                  <a:rPr>
                    <a:solidFill>
                      <a:srgbClr val="4758AB"/>
                    </a:solidFill>
                    <a:latin typeface="Courier"/>
                  </a:rPr>
                  <a:t>mean</a:t>
                </a:r>
                <a:r>
                  <a:rPr>
                    <a:solidFill>
                      <a:srgbClr val="003B4F"/>
                    </a:solidFill>
                    <a:latin typeface="Courier"/>
                  </a:rPr>
                  <a:t>(y))) </a:t>
                </a:r>
                <a:r>
                  <a:rPr>
                    <a:solidFill>
                      <a:srgbClr val="5E5E5E"/>
                    </a:solidFill>
                    <a:latin typeface="Courier"/>
                  </a:rPr>
                  <a:t>/</a:t>
                </a:r>
                <a:r>
                  <a:rPr>
                    <a:solidFill>
                      <a:srgbClr val="003B4F"/>
                    </a:solidFill>
                    <a:latin typeface="Courier"/>
                  </a:rPr>
                  <a:t> </a:t>
                </a:r>
                <a:r>
                  <a:rPr>
                    <a:solidFill>
                      <a:srgbClr val="4758AB"/>
                    </a:solidFill>
                    <a:latin typeface="Courier"/>
                  </a:rPr>
                  <a:t>sum</a:t>
                </a:r>
                <a:r>
                  <a:rPr>
                    <a:solidFill>
                      <a:srgbClr val="003B4F"/>
                    </a:solidFill>
                    <a:latin typeface="Courier"/>
                  </a:rPr>
                  <a:t>((x </a:t>
                </a:r>
                <a:r>
                  <a:rPr>
                    <a:solidFill>
                      <a:srgbClr val="5E5E5E"/>
                    </a:solidFill>
                    <a:latin typeface="Courier"/>
                  </a:rPr>
                  <a:t>-</a:t>
                </a:r>
                <a:r>
                  <a:rPr>
                    <a:solidFill>
                      <a:srgbClr val="003B4F"/>
                    </a:solidFill>
                    <a:latin typeface="Courier"/>
                  </a:rPr>
                  <a:t> </a:t>
                </a:r>
                <a:r>
                  <a:rPr>
                    <a:solidFill>
                      <a:srgbClr val="4758AB"/>
                    </a:solidFill>
                    <a:latin typeface="Courier"/>
                  </a:rPr>
                  <a:t>mean</a:t>
                </a:r>
                <a:r>
                  <a:rPr>
                    <a:solidFill>
                      <a:srgbClr val="003B4F"/>
                    </a:solidFill>
                    <a:latin typeface="Courier"/>
                  </a:rPr>
                  <a:t>(x))</a:t>
                </a:r>
                <a:r>
                  <a:rPr>
                    <a:solidFill>
                      <a:srgbClr val="5E5E5E"/>
                    </a:solidFill>
                    <a:latin typeface="Courier"/>
                  </a:rPr>
                  <a:t>^</a:t>
                </a:r>
                <a:r>
                  <a:rPr>
                    <a:solidFill>
                      <a:srgbClr val="AD0000"/>
                    </a:solidFill>
                    <a:latin typeface="Courier"/>
                  </a:rPr>
                  <a:t>2</a:t>
                </a:r>
                <a:r>
                  <a:rPr>
                    <a:solidFill>
                      <a:srgbClr val="003B4F"/>
                    </a:solidFill>
                    <a:latin typeface="Courier"/>
                  </a:rPr>
                  <a:t>)</a:t>
                </a:r>
                <a:br/>
                <a:r>
                  <a:rPr>
                    <a:solidFill>
                      <a:srgbClr val="003B4F"/>
                    </a:solidFill>
                    <a:latin typeface="Courier"/>
                  </a:rPr>
                  <a:t>a &lt;- </a:t>
                </a:r>
                <a:r>
                  <a:rPr>
                    <a:solidFill>
                      <a:srgbClr val="4758AB"/>
                    </a:solidFill>
                    <a:latin typeface="Courier"/>
                  </a:rPr>
                  <a:t>mean</a:t>
                </a:r>
                <a:r>
                  <a:rPr>
                    <a:solidFill>
                      <a:srgbClr val="003B4F"/>
                    </a:solidFill>
                    <a:latin typeface="Courier"/>
                  </a:rPr>
                  <a:t>(y) </a:t>
                </a:r>
                <a:r>
                  <a:rPr>
                    <a:solidFill>
                      <a:srgbClr val="5E5E5E"/>
                    </a:solidFill>
                    <a:latin typeface="Courier"/>
                  </a:rPr>
                  <a:t>-</a:t>
                </a:r>
                <a:r>
                  <a:rPr>
                    <a:solidFill>
                      <a:srgbClr val="003B4F"/>
                    </a:solidFill>
                    <a:latin typeface="Courier"/>
                  </a:rPr>
                  <a:t> b </a:t>
                </a:r>
                <a:r>
                  <a:rPr>
                    <a:solidFill>
                      <a:srgbClr val="5E5E5E"/>
                    </a:solidFill>
                    <a:latin typeface="Courier"/>
                  </a:rPr>
                  <a:t>*</a:t>
                </a:r>
                <a:r>
                  <a:rPr>
                    <a:solidFill>
                      <a:srgbClr val="003B4F"/>
                    </a:solidFill>
                    <a:latin typeface="Courier"/>
                  </a:rPr>
                  <a:t> </a:t>
                </a:r>
                <a:r>
                  <a:rPr>
                    <a:solidFill>
                      <a:srgbClr val="4758AB"/>
                    </a:solidFill>
                    <a:latin typeface="Courier"/>
                  </a:rPr>
                  <a:t>mean</a:t>
                </a:r>
                <a:r>
                  <a:rPr>
                    <a:solidFill>
                      <a:srgbClr val="003B4F"/>
                    </a:solidFill>
                    <a:latin typeface="Courier"/>
                  </a:rPr>
                  <a:t>(x)</a:t>
                </a:r>
                <a:br/>
                <a:r>
                  <a:rPr>
                    <a:solidFill>
                      <a:srgbClr val="4758AB"/>
                    </a:solidFill>
                    <a:latin typeface="Courier"/>
                  </a:rPr>
                  <a:t>c</a:t>
                </a:r>
                <a:r>
                  <a:rPr>
                    <a:solidFill>
                      <a:srgbClr val="003B4F"/>
                    </a:solidFill>
                    <a:latin typeface="Courier"/>
                  </a:rPr>
                  <a:t>(</a:t>
                </a:r>
                <a:r>
                  <a:rPr>
                    <a:solidFill>
                      <a:srgbClr val="657422"/>
                    </a:solidFill>
                    <a:latin typeface="Courier"/>
                  </a:rPr>
                  <a:t>intercept =</a:t>
                </a:r>
                <a:r>
                  <a:rPr>
                    <a:solidFill>
                      <a:srgbClr val="003B4F"/>
                    </a:solidFill>
                    <a:latin typeface="Courier"/>
                  </a:rPr>
                  <a:t> a, </a:t>
                </a:r>
                <a:r>
                  <a:rPr>
                    <a:solidFill>
                      <a:srgbClr val="657422"/>
                    </a:solidFill>
                    <a:latin typeface="Courier"/>
                  </a:rPr>
                  <a:t>slope =</a:t>
                </a:r>
                <a:r>
                  <a:rPr>
                    <a:solidFill>
                      <a:srgbClr val="003B4F"/>
                    </a:solidFill>
                    <a:latin typeface="Courier"/>
                  </a:rPr>
                  <a:t> b)</a:t>
                </a:r>
              </a:p>
              <a:p>
                <a:pPr lvl="0" indent="0">
                  <a:buNone/>
                </a:pPr>
                <a:r>
                  <a:rPr>
                    <a:latin typeface="Courier"/>
                  </a:rPr>
                  <a:t> intercept      slope 
 0.8790062 10.6471194 </a:t>
                </a:r>
              </a:p>
            </p:txBody>
          </p:sp>
        </mc:Choice>
      </mc:AlternateContent>
      <p:sp>
        <p:nvSpPr>
          <p:cNvPr id="4" name="Content Placeholder 3"/>
          <p:cNvSpPr>
            <a:spLocks noGrp="1"/>
          </p:cNvSpPr>
          <p:nvPr>
            <p:ph idx="2" sz="half"/>
          </p:nvPr>
        </p:nvSpPr>
        <p:spPr/>
        <p:txBody>
          <a:bodyPr/>
          <a:lstStyle/>
          <a:p>
            <a:pPr lvl="0" indent="0" marL="0">
              <a:buNone/>
            </a:pPr>
            <a:r>
              <a:rPr/>
              <a:t>Compare that with what </a:t>
            </a:r>
            <a:r>
              <a:rPr>
                <a:latin typeface="Courier"/>
              </a:rPr>
              <a:t>lm()</a:t>
            </a:r>
            <a:r>
              <a:rPr/>
              <a:t> reported:</a:t>
            </a:r>
          </a:p>
          <a:p>
            <a:pPr lvl="0" indent="0">
              <a:buNone/>
            </a:pPr>
            <a:r>
              <a:rPr>
                <a:solidFill>
                  <a:srgbClr val="4758AB"/>
                </a:solidFill>
                <a:latin typeface="Courier"/>
              </a:rPr>
              <a:t>coef</a:t>
            </a:r>
            <a:r>
              <a:rPr>
                <a:solidFill>
                  <a:srgbClr val="003B4F"/>
                </a:solidFill>
                <a:latin typeface="Courier"/>
              </a:rPr>
              <a:t>(lion_model)</a:t>
            </a:r>
          </a:p>
          <a:p>
            <a:pPr lvl="0" indent="0">
              <a:buNone/>
            </a:pPr>
            <a:r>
              <a:rPr>
                <a:latin typeface="Courier"/>
              </a:rPr>
              <a:t>     (Intercept) proportion_black 
       0.8790062       10.6471194 </a:t>
            </a:r>
          </a:p>
          <a:p>
            <a:pPr lvl="0" indent="0" marL="1270000">
              <a:buNone/>
            </a:pPr>
            <a:r>
              <a:rPr sz="2000" b="1"/>
              <a:t>Note</a:t>
            </a:r>
          </a:p>
          <a:p>
            <a:pPr lvl="0" indent="0" marL="1270000">
              <a:buNone/>
            </a:pPr>
            <a:r>
              <a:rPr sz="2000" b="1"/>
              <a:t>Same answer, no magic</a:t>
            </a:r>
          </a:p>
          <a:p>
            <a:pPr lvl="0" indent="0" marL="1270000">
              <a:buNone/>
            </a:pPr>
            <a:r>
              <a:rPr sz="2000">
                <a:latin typeface="Courier"/>
              </a:rPr>
              <a:t>lm()</a:t>
            </a:r>
            <a:r>
              <a:rPr sz="2000"/>
              <a:t> is doing this arithmetic. Everything harder than this — multiple predictors, ANOVA, mixed models — is the same idea written in matrix form.</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Making Predictions</a:t>
            </a:r>
          </a:p>
        </p:txBody>
      </p:sp>
      <p:sp>
        <p:nvSpPr>
          <p:cNvPr id="3" name="Content Placeholder 2"/>
          <p:cNvSpPr>
            <a:spLocks noGrp="1"/>
          </p:cNvSpPr>
          <p:nvPr>
            <p:ph idx="1" sz="half"/>
          </p:nvPr>
        </p:nvSpPr>
        <p:spPr/>
        <p:txBody>
          <a:bodyPr/>
          <a:lstStyle/>
          <a:p>
            <a:pPr lvl="0" indent="0">
              <a:buNone/>
            </a:pPr>
            <a:r>
              <a:rPr>
                <a:solidFill>
                  <a:srgbClr val="003B4F"/>
                </a:solidFill>
                <a:latin typeface="Courier"/>
              </a:rPr>
              <a:t>new_lion &lt;- </a:t>
            </a:r>
            <a:r>
              <a:rPr>
                <a:solidFill>
                  <a:srgbClr val="4758AB"/>
                </a:solidFill>
                <a:latin typeface="Courier"/>
              </a:rPr>
              <a:t>tibble</a:t>
            </a:r>
            <a:r>
              <a:rPr>
                <a:solidFill>
                  <a:srgbClr val="003B4F"/>
                </a:solidFill>
                <a:latin typeface="Courier"/>
              </a:rPr>
              <a:t>(</a:t>
            </a:r>
            <a:r>
              <a:rPr>
                <a:solidFill>
                  <a:srgbClr val="657422"/>
                </a:solidFill>
                <a:latin typeface="Courier"/>
              </a:rPr>
              <a:t>proportion_black =</a:t>
            </a:r>
            <a:r>
              <a:rPr>
                <a:solidFill>
                  <a:srgbClr val="003B4F"/>
                </a:solidFill>
                <a:latin typeface="Courier"/>
              </a:rPr>
              <a:t> </a:t>
            </a:r>
            <a:r>
              <a:rPr>
                <a:solidFill>
                  <a:srgbClr val="AD0000"/>
                </a:solidFill>
                <a:latin typeface="Courier"/>
              </a:rPr>
              <a:t>0.50</a:t>
            </a:r>
            <a:r>
              <a:rPr>
                <a:solidFill>
                  <a:srgbClr val="003B4F"/>
                </a:solidFill>
                <a:latin typeface="Courier"/>
              </a:rPr>
              <a:t>)</a:t>
            </a:r>
            <a:br/>
            <a:br/>
            <a:r>
              <a:rPr>
                <a:solidFill>
                  <a:srgbClr val="4758AB"/>
                </a:solidFill>
                <a:latin typeface="Courier"/>
              </a:rPr>
              <a:t>predict</a:t>
            </a:r>
            <a:r>
              <a:rPr>
                <a:solidFill>
                  <a:srgbClr val="003B4F"/>
                </a:solidFill>
                <a:latin typeface="Courier"/>
              </a:rPr>
              <a:t>(lion_model, new_lion, </a:t>
            </a:r>
            <a:r>
              <a:rPr>
                <a:solidFill>
                  <a:srgbClr val="657422"/>
                </a:solidFill>
                <a:latin typeface="Courier"/>
              </a:rPr>
              <a:t>interval =</a:t>
            </a:r>
            <a:r>
              <a:rPr>
                <a:solidFill>
                  <a:srgbClr val="003B4F"/>
                </a:solidFill>
                <a:latin typeface="Courier"/>
              </a:rPr>
              <a:t> </a:t>
            </a:r>
            <a:r>
              <a:rPr>
                <a:solidFill>
                  <a:srgbClr val="20794D"/>
                </a:solidFill>
                <a:latin typeface="Courier"/>
              </a:rPr>
              <a:t>"confidence"</a:t>
            </a:r>
            <a:r>
              <a:rPr>
                <a:solidFill>
                  <a:srgbClr val="003B4F"/>
                </a:solidFill>
                <a:latin typeface="Courier"/>
              </a:rPr>
              <a:t>)</a:t>
            </a:r>
          </a:p>
          <a:p>
            <a:pPr lvl="0" indent="0">
              <a:buNone/>
            </a:pPr>
            <a:r>
              <a:rPr>
                <a:latin typeface="Courier"/>
              </a:rPr>
              <a:t>       fit      lwr     upr
1 6.202566 5.388042 7.01709</a:t>
            </a:r>
          </a:p>
          <a:p>
            <a:pPr lvl="0" indent="0">
              <a:buNone/>
            </a:pPr>
            <a:r>
              <a:rPr>
                <a:solidFill>
                  <a:srgbClr val="4758AB"/>
                </a:solidFill>
                <a:latin typeface="Courier"/>
              </a:rPr>
              <a:t>predict</a:t>
            </a:r>
            <a:r>
              <a:rPr>
                <a:solidFill>
                  <a:srgbClr val="003B4F"/>
                </a:solidFill>
                <a:latin typeface="Courier"/>
              </a:rPr>
              <a:t>(lion_model, new_lion, </a:t>
            </a:r>
            <a:r>
              <a:rPr>
                <a:solidFill>
                  <a:srgbClr val="657422"/>
                </a:solidFill>
                <a:latin typeface="Courier"/>
              </a:rPr>
              <a:t>interval =</a:t>
            </a:r>
            <a:r>
              <a:rPr>
                <a:solidFill>
                  <a:srgbClr val="003B4F"/>
                </a:solidFill>
                <a:latin typeface="Courier"/>
              </a:rPr>
              <a:t> </a:t>
            </a:r>
            <a:r>
              <a:rPr>
                <a:solidFill>
                  <a:srgbClr val="20794D"/>
                </a:solidFill>
                <a:latin typeface="Courier"/>
              </a:rPr>
              <a:t>"prediction"</a:t>
            </a:r>
            <a:r>
              <a:rPr>
                <a:solidFill>
                  <a:srgbClr val="003B4F"/>
                </a:solidFill>
                <a:latin typeface="Courier"/>
              </a:rPr>
              <a:t>)</a:t>
            </a:r>
          </a:p>
          <a:p>
            <a:pPr lvl="0" indent="0">
              <a:buNone/>
            </a:pPr>
            <a:r>
              <a:rPr>
                <a:latin typeface="Courier"/>
              </a:rPr>
              <a:t>       fit      lwr     upr
1 6.202566 2.698512 9.70662</a:t>
            </a:r>
          </a:p>
        </p:txBody>
      </p:sp>
      <mc:AlternateContent xmlns:mc="http://schemas.openxmlformats.org/markup-compatibility/2006">
        <mc:Choice xmlns:a14="http://schemas.microsoft.com/office/drawing/2010/main" Requires="a14">
          <p:sp>
            <p:nvSpPr>
              <p:cNvPr id="4" name="Content Placeholder 3"/>
              <p:cNvSpPr>
                <a:spLocks noGrp="1"/>
              </p:cNvSpPr>
              <p:nvPr>
                <p:ph idx="2" sz="half"/>
              </p:nvPr>
            </p:nvSpPr>
            <p:spPr/>
            <p:txBody>
              <a:bodyPr/>
              <a:lstStyle/>
              <a:p>
                <a:pPr lvl="0" indent="0" marL="0">
                  <a:buNone/>
                </a:pPr>
                <a:r>
                  <a:rPr/>
                  <a:t>Both intervals sit on the same predicted age, and answer different questions:</a:t>
                </a:r>
              </a:p>
              <a:p>
                <a:pPr lvl="0"/>
                <a:r>
                  <a:rPr b="1"/>
                  <a:t>Confidence interval</a:t>
                </a:r>
                <a:r>
                  <a:rPr/>
                  <a:t> — where the </a:t>
                </a:r>
                <a:r>
                  <a:rPr i="1"/>
                  <a:t>mean</a:t>
                </a:r>
                <a:r>
                  <a:rPr/>
                  <a:t> age of all lions with 50% black noses lies</a:t>
                </a:r>
              </a:p>
              <a:p>
                <a:pPr lvl="0"/>
                <a:r>
                  <a:rPr b="1"/>
                  <a:t>Prediction interval</a:t>
                </a:r>
                <a:r>
                  <a:rPr/>
                  <a:t> — where a </a:t>
                </a:r>
                <a:r>
                  <a:rPr i="1"/>
                  <a:t>single</a:t>
                </a:r>
                <a:r>
                  <a:rPr/>
                  <a:t> new lion’s age lies</a:t>
                </a:r>
              </a:p>
              <a:p>
                <a:pPr lvl="0" indent="0" marL="0">
                  <a:buNone/>
                </a:pPr>
                <a:r>
                  <a:rPr/>
                  <a:t>The prediction interval is always wider: it carries the scatter of individual lions </a:t>
                </a:r>
                <a:r>
                  <a:rPr b="1"/>
                  <a:t>plus</a:t>
                </a:r>
                <a:r>
                  <a:rPr/>
                  <a:t> the uncertainty in the line itself.</a:t>
                </a:r>
              </a:p>
              <a:p>
                <a:pPr lvl="0" indent="0" marL="0">
                  <a:buNone/>
                </a:pPr>
                <a:r>
                  <a:rPr/>
                  <a:t>Both are narrowest at </a:t>
                </a:r>
                <a14:m>
                  <m:oMath xmlns:m="http://schemas.openxmlformats.org/officeDocument/2006/math">
                    <m:acc>
                      <m:accPr>
                        <m:chr m:val="‾"/>
                      </m:accPr>
                      <m:e>
                        <m:r>
                          <m:t>X</m:t>
                        </m:r>
                      </m:e>
                    </m:acc>
                  </m:oMath>
                </a14:m>
                <a:r>
                  <a:rPr/>
                  <a:t> and flare out toward the edges of the data.</a:t>
                </a:r>
              </a:p>
            </p:txBody>
          </p:sp>
        </mc:Choice>
      </mc:AlternateContent>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Example 17.3 · Prairie Biodiversity and Stability</a:t>
            </a:r>
          </a:p>
        </p:txBody>
      </p:sp>
      <p:sp>
        <p:nvSpPr>
          <p:cNvPr id="3" name="Content Placeholder 2"/>
          <p:cNvSpPr>
            <a:spLocks noGrp="1"/>
          </p:cNvSpPr>
          <p:nvPr>
            <p:ph idx="1" sz="half"/>
          </p:nvPr>
        </p:nvSpPr>
        <p:spPr/>
        <p:txBody>
          <a:bodyPr/>
          <a:lstStyle/>
          <a:p>
            <a:pPr lvl="0" indent="0" marL="0">
              <a:buNone/>
            </a:pPr>
            <a:r>
              <a:rPr/>
              <a:t>Tilman et al. (2006): does a more diverse plant community produce </a:t>
            </a:r>
            <a:r>
              <a:rPr b="1"/>
              <a:t>more stable</a:t>
            </a:r>
            <a:r>
              <a:rPr/>
              <a:t> biomass? 161 plots, seeded with 1 to 16 species.</a:t>
            </a:r>
          </a:p>
          <a:p>
            <a:pPr lvl="0" indent="0">
              <a:buNone/>
            </a:pPr>
            <a:r>
              <a:rPr>
                <a:solidFill>
                  <a:srgbClr val="003B4F"/>
                </a:solidFill>
                <a:latin typeface="Courier"/>
              </a:rPr>
              <a:t>prairie_df &lt;- </a:t>
            </a:r>
            <a:r>
              <a:rPr>
                <a:solidFill>
                  <a:srgbClr val="4758AB"/>
                </a:solidFill>
                <a:latin typeface="Courier"/>
              </a:rPr>
              <a:t>read_csv</a:t>
            </a:r>
            <a:r>
              <a:rPr>
                <a:solidFill>
                  <a:srgbClr val="003B4F"/>
                </a:solidFill>
                <a:latin typeface="Courier"/>
              </a:rPr>
              <a:t>(</a:t>
            </a:r>
            <a:r>
              <a:rPr>
                <a:solidFill>
                  <a:srgbClr val="20794D"/>
                </a:solidFill>
                <a:latin typeface="Courier"/>
              </a:rPr>
              <a:t>"data/prairie_stability.csv"</a:t>
            </a:r>
            <a:r>
              <a:rPr>
                <a:solidFill>
                  <a:srgbClr val="003B4F"/>
                </a:solidFill>
                <a:latin typeface="Courier"/>
              </a:rPr>
              <a:t>)</a:t>
            </a:r>
            <a:br/>
            <a:br/>
            <a:r>
              <a:rPr>
                <a:solidFill>
                  <a:srgbClr val="003B4F"/>
                </a:solidFill>
                <a:latin typeface="Courier"/>
              </a:rPr>
              <a:t>prairie_model &lt;- </a:t>
            </a:r>
            <a:r>
              <a:rPr>
                <a:solidFill>
                  <a:srgbClr val="4758AB"/>
                </a:solidFill>
                <a:latin typeface="Courier"/>
              </a:rPr>
              <a:t>lm</a:t>
            </a:r>
            <a:r>
              <a:rPr>
                <a:solidFill>
                  <a:srgbClr val="003B4F"/>
                </a:solidFill>
                <a:latin typeface="Courier"/>
              </a:rPr>
              <a:t>(</a:t>
            </a:r>
            <a:r>
              <a:rPr>
                <a:solidFill>
                  <a:srgbClr val="4758AB"/>
                </a:solidFill>
                <a:latin typeface="Courier"/>
              </a:rPr>
              <a:t>log</a:t>
            </a:r>
            <a:r>
              <a:rPr>
                <a:solidFill>
                  <a:srgbClr val="003B4F"/>
                </a:solidFill>
                <a:latin typeface="Courier"/>
              </a:rPr>
              <a:t>(biomass_stability) </a:t>
            </a:r>
            <a:r>
              <a:rPr>
                <a:solidFill>
                  <a:srgbClr val="5E5E5E"/>
                </a:solidFill>
                <a:latin typeface="Courier"/>
              </a:rPr>
              <a:t>~</a:t>
            </a:r>
            <a:r>
              <a:rPr>
                <a:solidFill>
                  <a:srgbClr val="003B4F"/>
                </a:solidFill>
                <a:latin typeface="Courier"/>
              </a:rPr>
              <a:t> species_number,</a:t>
            </a:r>
            <a:br/>
            <a:r>
              <a:rPr>
                <a:solidFill>
                  <a:srgbClr val="003B4F"/>
                </a:solidFill>
                <a:latin typeface="Courier"/>
              </a:rPr>
              <a:t>                    </a:t>
            </a:r>
            <a:r>
              <a:rPr>
                <a:solidFill>
                  <a:srgbClr val="657422"/>
                </a:solidFill>
                <a:latin typeface="Courier"/>
              </a:rPr>
              <a:t>data =</a:t>
            </a:r>
            <a:r>
              <a:rPr>
                <a:solidFill>
                  <a:srgbClr val="003B4F"/>
                </a:solidFill>
                <a:latin typeface="Courier"/>
              </a:rPr>
              <a:t> prairie_df)</a:t>
            </a:r>
            <a:br/>
            <a:r>
              <a:rPr>
                <a:solidFill>
                  <a:srgbClr val="4758AB"/>
                </a:solidFill>
                <a:latin typeface="Courier"/>
              </a:rPr>
              <a:t>summary</a:t>
            </a:r>
            <a:r>
              <a:rPr>
                <a:solidFill>
                  <a:srgbClr val="003B4F"/>
                </a:solidFill>
                <a:latin typeface="Courier"/>
              </a:rPr>
              <a:t>(prairie_model)</a:t>
            </a:r>
            <a:r>
              <a:rPr>
                <a:solidFill>
                  <a:srgbClr val="5E5E5E"/>
                </a:solidFill>
                <a:latin typeface="Courier"/>
              </a:rPr>
              <a:t>$</a:t>
            </a:r>
            <a:r>
              <a:rPr>
                <a:solidFill>
                  <a:srgbClr val="003B4F"/>
                </a:solidFill>
                <a:latin typeface="Courier"/>
              </a:rPr>
              <a:t>coefficients</a:t>
            </a:r>
          </a:p>
          <a:p>
            <a:pPr lvl="0" indent="0">
              <a:buNone/>
            </a:pPr>
            <a:r>
              <a:rPr>
                <a:latin typeface="Courier"/>
              </a:rPr>
              <a:t>                Estimate  Std. Error   t value     Pr(&gt;|t|)
(Intercept)    1.1982943 0.041298043 29.015766 2.075490e-65
species_number 0.0329259 0.004883691  6.742012 2.733315e-10</a:t>
            </a:r>
          </a:p>
        </p:txBody>
      </p:sp>
      <p:pic>
        <p:nvPicPr>
          <p:cNvPr descr="correlation_linear_models_lecture_files/figure-pptx/correlation-linear-models-22-1.png" id="0" name="Picture 1"/>
          <p:cNvPicPr>
            <a:picLocks noGrp="1" noChangeAspect="1"/>
          </p:cNvPicPr>
          <p:nvPr/>
        </p:nvPicPr>
        <p:blipFill>
          <a:blip r:embed="rId2"/>
          <a:stretch>
            <a:fillRect/>
          </a:stretch>
        </p:blipFill>
        <p:spPr bwMode="auto">
          <a:xfrm>
            <a:off x="6121400" y="1587500"/>
            <a:ext cx="2781300" cy="2603500"/>
          </a:xfrm>
          <a:prstGeom prst="rect">
            <a:avLst/>
          </a:prstGeom>
          <a:noFill/>
          <a:ln w="9525">
            <a:noFill/>
            <a:headEnd/>
            <a:tailEnd/>
          </a:ln>
        </p:spPr>
      </p:pic>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The Prairie Model — Interpretation</a:t>
            </a:r>
          </a:p>
        </p:txBody>
      </p:sp>
      <p:sp>
        <p:nvSpPr>
          <p:cNvPr id="3" name="Content Placeholder 2"/>
          <p:cNvSpPr>
            <a:spLocks noGrp="1"/>
          </p:cNvSpPr>
          <p:nvPr>
            <p:ph idx="1" sz="half"/>
          </p:nvPr>
        </p:nvSpPr>
        <p:spPr/>
        <p:txBody>
          <a:bodyPr/>
          <a:lstStyle/>
          <a:p>
            <a:pPr lvl="0" indent="0" marL="0">
              <a:buNone/>
            </a:pPr>
            <a:r>
              <a:rPr/>
              <a:t>The hypothesis test is about the slope:</a:t>
            </a:r>
          </a:p>
          <a:p>
            <a:pPr lvl="0"/>
            <a:r>
              <a:rPr/>
              <a:t>H₀: β = 0 — species number has no effect on stability</a:t>
            </a:r>
          </a:p>
          <a:p>
            <a:pPr lvl="0"/>
            <a:r>
              <a:rPr/>
              <a:t>H₁: β ≠ 0</a:t>
            </a:r>
          </a:p>
          <a:p>
            <a:pPr lvl="0" indent="0" marL="0">
              <a:buNone/>
            </a:pPr>
            <a:r>
              <a:rPr b="1"/>
              <a:t>Slope = 0.0329</a:t>
            </a:r>
            <a:r>
              <a:rPr/>
              <a:t> — log stability rises by about 0.033 per extra species, so a 16-species plot sits roughly 0.49 log units above a monoculture.</a:t>
            </a:r>
          </a:p>
          <a:p>
            <a:pPr lvl="0" indent="0" marL="0">
              <a:buNone/>
            </a:pPr>
            <a:r>
              <a:rPr b="1"/>
              <a:t>p = 2.73e-10</a:t>
            </a:r>
            <a:r>
              <a:rPr/>
              <a:t> — strong evidence against a zero slope.</a:t>
            </a:r>
          </a:p>
          <a:p>
            <a:pPr lvl="0" indent="0" marL="0">
              <a:buNone/>
            </a:pPr>
            <a:r>
              <a:rPr b="1"/>
              <a:t>R² = 0.222</a:t>
            </a:r>
            <a:r>
              <a:rPr/>
              <a:t> — diversity explains about 22.2% of the variation in stability. Real, and nowhere near the whole story.</a:t>
            </a:r>
          </a:p>
        </p:txBody>
      </p:sp>
      <p:sp>
        <p:nvSpPr>
          <p:cNvPr id="4" name="Content Placeholder 3"/>
          <p:cNvSpPr>
            <a:spLocks noGrp="1"/>
          </p:cNvSpPr>
          <p:nvPr>
            <p:ph idx="2" sz="half"/>
          </p:nvPr>
        </p:nvSpPr>
        <p:spPr/>
        <p:txBody>
          <a:bodyPr/>
          <a:lstStyle/>
          <a:p>
            <a:pPr lvl="0" indent="0" marL="1270000">
              <a:buNone/>
            </a:pPr>
            <a:r>
              <a:rPr sz="2000" b="1"/>
              <a:t>Note</a:t>
            </a:r>
          </a:p>
          <a:p>
            <a:pPr lvl="0" indent="0" marL="1270000">
              <a:buNone/>
            </a:pPr>
            <a:r>
              <a:rPr sz="2000" b="1"/>
              <a:t>Significant ≠ large</a:t>
            </a:r>
          </a:p>
          <a:p>
            <a:pPr lvl="0" indent="0" marL="1270000">
              <a:buNone/>
            </a:pPr>
            <a:r>
              <a:rPr sz="2000"/>
              <a:t>A tiny p-value alongside R² = 0.22 is completely ordinary in ecology.</a:t>
            </a:r>
          </a:p>
          <a:p>
            <a:pPr lvl="0" indent="0" marL="1270000">
              <a:buNone/>
            </a:pPr>
            <a:r>
              <a:rPr sz="2000"/>
              <a:t>The p-value says the slope is not zero. </a:t>
            </a:r>
            <a:r>
              <a:rPr sz="2000" b="1"/>
              <a:t>R² says how much of the world it accounts for.</a:t>
            </a:r>
            <a:r>
              <a:rPr sz="2000"/>
              <a:t> Report both.</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Part 5 · Sums of Squares — the Engine of Everything After This</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Where the Variation Goes</a:t>
            </a:r>
          </a:p>
        </p:txBody>
      </p:sp>
      <mc:AlternateContent xmlns:mc="http://schemas.openxmlformats.org/markup-compatibility/2006">
        <mc:Choice xmlns:a14="http://schemas.microsoft.com/office/drawing/2010/main" Requires="a14">
          <p:sp>
            <p:nvSpPr>
              <p:cNvPr id="3" name="Content Placeholder 2"/>
              <p:cNvSpPr>
                <a:spLocks noGrp="1"/>
              </p:cNvSpPr>
              <p:nvPr>
                <p:ph idx="1" sz="half"/>
              </p:nvPr>
            </p:nvSpPr>
            <p:spPr/>
            <p:txBody>
              <a:bodyPr/>
              <a:lstStyle/>
              <a:p>
                <a:pPr lvl="0" indent="0" marL="0">
                  <a:buNone/>
                </a:pPr>
                <a:r>
                  <a:rPr/>
                  <a:t>Take </a:t>
                </a:r>
                <a:r>
                  <a:rPr b="1"/>
                  <a:t>one</a:t>
                </a:r>
                <a:r>
                  <a:rPr/>
                  <a:t> data point. Its distance from the overall mean </a:t>
                </a:r>
                <a14:m>
                  <m:oMath xmlns:m="http://schemas.openxmlformats.org/officeDocument/2006/math">
                    <m:acc>
                      <m:accPr>
                        <m:chr m:val="‾"/>
                      </m:accPr>
                      <m:e>
                        <m:r>
                          <m:t>y</m:t>
                        </m:r>
                      </m:e>
                    </m:acc>
                  </m:oMath>
                </a14:m>
                <a:r>
                  <a:rPr/>
                  <a:t> splits, exactly, into two pieces:</a:t>
                </a:r>
              </a:p>
              <a:p>
                <a:pPr lvl="0" indent="0" marL="0">
                  <a:buNone/>
                </a:pPr>
                <a14:m>
                  <m:oMathPara xmlns:m="http://schemas.openxmlformats.org/officeDocument/2006/math">
                    <m:oMathParaPr>
                      <m:jc m:val="center"/>
                    </m:oMathParaPr>
                    <m:oMath>
                      <m:limLow>
                        <m:e>
                          <m:limLow>
                            <m:e>
                              <m:r>
                                <m:rPr>
                                  <m:sty m:val="p"/>
                                </m:rPr>
                                <m:t>(</m:t>
                              </m:r>
                              <m:sSub>
                                <m:e>
                                  <m:r>
                                    <m:t>y</m:t>
                                  </m:r>
                                </m:e>
                                <m:sub>
                                  <m:r>
                                    <m:t>i</m:t>
                                  </m:r>
                                </m:sub>
                              </m:sSub>
                              <m:r>
                                <m:rPr>
                                  <m:sty m:val="p"/>
                                </m:rPr>
                                <m:t>−</m:t>
                              </m:r>
                              <m:acc>
                                <m:accPr>
                                  <m:chr m:val="‾"/>
                                </m:accPr>
                                <m:e>
                                  <m:r>
                                    <m:t>y</m:t>
                                  </m:r>
                                </m:e>
                              </m:acc>
                              <m:r>
                                <m:rPr>
                                  <m:sty m:val="p"/>
                                </m:rPr>
                                <m:t>)</m:t>
                              </m:r>
                            </m:e>
                            <m:lim>
                              <m:r>
                                <m:rPr>
                                  <m:sty m:val="p"/>
                                </m:rPr>
                                <m:t>⏟</m:t>
                              </m:r>
                            </m:lim>
                          </m:limLow>
                        </m:e>
                        <m:lim>
                          <m:r>
                            <m:rPr>
                              <m:nor/>
                              <m:sty m:val="p"/>
                            </m:rPr>
                            <m:t>total</m:t>
                          </m:r>
                        </m:lim>
                      </m:limLow>
                      <m:r>
                        <m:rPr>
                          <m:sty m:val="p"/>
                        </m:rPr>
                        <m:t>=</m:t>
                      </m:r>
                      <m:limLow>
                        <m:e>
                          <m:limLow>
                            <m:e>
                              <m:r>
                                <m:rPr>
                                  <m:sty m:val="p"/>
                                </m:rPr>
                                <m:t>(</m:t>
                              </m:r>
                              <m:sSub>
                                <m:e>
                                  <m:acc>
                                    <m:accPr>
                                      <m:chr m:val="̂"/>
                                    </m:accPr>
                                    <m:e>
                                      <m:r>
                                        <m:t>y</m:t>
                                      </m:r>
                                    </m:e>
                                  </m:acc>
                                </m:e>
                                <m:sub>
                                  <m:r>
                                    <m:t>i</m:t>
                                  </m:r>
                                </m:sub>
                              </m:sSub>
                              <m:r>
                                <m:rPr>
                                  <m:sty m:val="p"/>
                                </m:rPr>
                                <m:t>−</m:t>
                              </m:r>
                              <m:acc>
                                <m:accPr>
                                  <m:chr m:val="‾"/>
                                </m:accPr>
                                <m:e>
                                  <m:r>
                                    <m:t>y</m:t>
                                  </m:r>
                                </m:e>
                              </m:acc>
                              <m:r>
                                <m:rPr>
                                  <m:sty m:val="p"/>
                                </m:rPr>
                                <m:t>)</m:t>
                              </m:r>
                            </m:e>
                            <m:lim>
                              <m:r>
                                <m:rPr>
                                  <m:sty m:val="p"/>
                                </m:rPr>
                                <m:t>⏟</m:t>
                              </m:r>
                            </m:lim>
                          </m:limLow>
                        </m:e>
                        <m:lim>
                          <m:r>
                            <m:rPr>
                              <m:nor/>
                              <m:sty m:val="p"/>
                            </m:rPr>
                            <m:t>explained</m:t>
                          </m:r>
                        </m:lim>
                      </m:limLow>
                      <m:r>
                        <m:rPr>
                          <m:sty m:val="p"/>
                        </m:rPr>
                        <m:t>+</m:t>
                      </m:r>
                      <m:limLow>
                        <m:e>
                          <m:limLow>
                            <m:e>
                              <m:r>
                                <m:rPr>
                                  <m:sty m:val="p"/>
                                </m:rPr>
                                <m:t>(</m:t>
                              </m:r>
                              <m:sSub>
                                <m:e>
                                  <m:r>
                                    <m:t>y</m:t>
                                  </m:r>
                                </m:e>
                                <m:sub>
                                  <m:r>
                                    <m:t>i</m:t>
                                  </m:r>
                                </m:sub>
                              </m:sSub>
                              <m:r>
                                <m:rPr>
                                  <m:sty m:val="p"/>
                                </m:rPr>
                                <m:t>−</m:t>
                              </m:r>
                              <m:sSub>
                                <m:e>
                                  <m:acc>
                                    <m:accPr>
                                      <m:chr m:val="̂"/>
                                    </m:accPr>
                                    <m:e>
                                      <m:r>
                                        <m:t>y</m:t>
                                      </m:r>
                                    </m:e>
                                  </m:acc>
                                </m:e>
                                <m:sub>
                                  <m:r>
                                    <m:t>i</m:t>
                                  </m:r>
                                </m:sub>
                              </m:sSub>
                              <m:r>
                                <m:rPr>
                                  <m:sty m:val="p"/>
                                </m:rPr>
                                <m:t>)</m:t>
                              </m:r>
                            </m:e>
                            <m:lim>
                              <m:r>
                                <m:rPr>
                                  <m:sty m:val="p"/>
                                </m:rPr>
                                <m:t>⏟</m:t>
                              </m:r>
                            </m:lim>
                          </m:limLow>
                        </m:e>
                        <m:lim>
                          <m:r>
                            <m:rPr>
                              <m:nor/>
                              <m:sty m:val="p"/>
                            </m:rPr>
                            <m:t>left over</m:t>
                          </m:r>
                        </m:lim>
                      </m:limLow>
                    </m:oMath>
                  </m:oMathPara>
                </a14:m>
              </a:p>
              <a:p>
                <a:pPr lvl="0" indent="0" marL="0">
                  <a:buNone/>
                </a:pPr>
                <a:r>
                  <a:rPr/>
                  <a:t>Square those deviations and add them up over every point, and the same split holds for the whole dataset:</a:t>
                </a:r>
              </a:p>
              <a:p>
                <a:pPr lvl="0" indent="0" marL="0">
                  <a:buNone/>
                </a:pPr>
                <a14:m>
                  <m:oMathPara xmlns:m="http://schemas.openxmlformats.org/officeDocument/2006/math">
                    <m:oMathParaPr>
                      <m:jc m:val="center"/>
                    </m:oMathParaPr>
                    <m:oMath>
                      <m:r>
                        <m:t>S</m:t>
                      </m:r>
                      <m:sSub>
                        <m:e>
                          <m:r>
                            <m:t>S</m:t>
                          </m:r>
                        </m:e>
                        <m:sub>
                          <m:r>
                            <m:t>t</m:t>
                          </m:r>
                          <m:r>
                            <m:t>o</m:t>
                          </m:r>
                          <m:r>
                            <m:t>t</m:t>
                          </m:r>
                          <m:r>
                            <m:t>a</m:t>
                          </m:r>
                          <m:r>
                            <m:t>l</m:t>
                          </m:r>
                        </m:sub>
                      </m:sSub>
                      <m:r>
                        <m:rPr>
                          <m:sty m:val="p"/>
                        </m:rPr>
                        <m:t>=</m:t>
                      </m:r>
                      <m:r>
                        <m:t>S</m:t>
                      </m:r>
                      <m:sSub>
                        <m:e>
                          <m:r>
                            <m:t>S</m:t>
                          </m:r>
                        </m:e>
                        <m:sub>
                          <m:r>
                            <m:t>r</m:t>
                          </m:r>
                          <m:r>
                            <m:t>e</m:t>
                          </m:r>
                          <m:r>
                            <m:t>g</m:t>
                          </m:r>
                          <m:r>
                            <m:t>r</m:t>
                          </m:r>
                          <m:r>
                            <m:t>e</m:t>
                          </m:r>
                          <m:r>
                            <m:t>s</m:t>
                          </m:r>
                          <m:r>
                            <m:t>s</m:t>
                          </m:r>
                          <m:r>
                            <m:t>i</m:t>
                          </m:r>
                          <m:r>
                            <m:t>o</m:t>
                          </m:r>
                          <m:r>
                            <m:t>n</m:t>
                          </m:r>
                        </m:sub>
                      </m:sSub>
                      <m:r>
                        <m:rPr>
                          <m:sty m:val="p"/>
                        </m:rPr>
                        <m:t>+</m:t>
                      </m:r>
                      <m:r>
                        <m:t>S</m:t>
                      </m:r>
                      <m:sSub>
                        <m:e>
                          <m:r>
                            <m:t>S</m:t>
                          </m:r>
                        </m:e>
                        <m:sub>
                          <m:r>
                            <m:t>r</m:t>
                          </m:r>
                          <m:r>
                            <m:t>e</m:t>
                          </m:r>
                          <m:r>
                            <m:t>s</m:t>
                          </m:r>
                          <m:r>
                            <m:t>i</m:t>
                          </m:r>
                          <m:r>
                            <m:t>d</m:t>
                          </m:r>
                          <m:r>
                            <m:t>u</m:t>
                          </m:r>
                          <m:r>
                            <m:t>a</m:t>
                          </m:r>
                          <m:r>
                            <m:t>l</m:t>
                          </m:r>
                        </m:sub>
                      </m:sSub>
                    </m:oMath>
                  </m:oMathPara>
                </a14:m>
              </a:p>
              <a:p>
                <a:pPr lvl="0"/>
                <a14:m>
                  <m:oMath xmlns:m="http://schemas.openxmlformats.org/officeDocument/2006/math">
                    <m:r>
                      <m:t>S</m:t>
                    </m:r>
                    <m:sSub>
                      <m:e>
                        <m:r>
                          <m:t>S</m:t>
                        </m:r>
                      </m:e>
                      <m:sub>
                        <m:r>
                          <m:t>r</m:t>
                        </m:r>
                        <m:r>
                          <m:t>e</m:t>
                        </m:r>
                        <m:r>
                          <m:t>g</m:t>
                        </m:r>
                        <m:r>
                          <m:t>r</m:t>
                        </m:r>
                        <m:r>
                          <m:t>e</m:t>
                        </m:r>
                        <m:r>
                          <m:t>s</m:t>
                        </m:r>
                        <m:r>
                          <m:t>s</m:t>
                        </m:r>
                        <m:r>
                          <m:t>i</m:t>
                        </m:r>
                        <m:r>
                          <m:t>o</m:t>
                        </m:r>
                        <m:r>
                          <m:t>n</m:t>
                        </m:r>
                      </m:sub>
                    </m:sSub>
                  </m:oMath>
                </a14:m>
                <a:r>
                  <a:rPr/>
                  <a:t> — variation the line accounts for; </a:t>
                </a:r>
                <a:r>
                  <a:rPr b="1"/>
                  <a:t>df = 1</a:t>
                </a:r>
              </a:p>
              <a:p>
                <a:pPr lvl="0"/>
                <a14:m>
                  <m:oMath xmlns:m="http://schemas.openxmlformats.org/officeDocument/2006/math">
                    <m:r>
                      <m:t>S</m:t>
                    </m:r>
                    <m:sSub>
                      <m:e>
                        <m:r>
                          <m:t>S</m:t>
                        </m:r>
                      </m:e>
                      <m:sub>
                        <m:r>
                          <m:t>r</m:t>
                        </m:r>
                        <m:r>
                          <m:t>e</m:t>
                        </m:r>
                        <m:r>
                          <m:t>s</m:t>
                        </m:r>
                        <m:r>
                          <m:t>i</m:t>
                        </m:r>
                        <m:r>
                          <m:t>d</m:t>
                        </m:r>
                        <m:r>
                          <m:t>u</m:t>
                        </m:r>
                        <m:r>
                          <m:t>a</m:t>
                        </m:r>
                        <m:r>
                          <m:t>l</m:t>
                        </m:r>
                      </m:sub>
                    </m:sSub>
                  </m:oMath>
                </a14:m>
                <a:r>
                  <a:rPr/>
                  <a:t> — variation it does not; </a:t>
                </a:r>
                <a:r>
                  <a:rPr b="1"/>
                  <a:t>df = n − 2</a:t>
                </a:r>
              </a:p>
              <a:p>
                <a:pPr lvl="0"/>
                <a14:m>
                  <m:oMath xmlns:m="http://schemas.openxmlformats.org/officeDocument/2006/math">
                    <m:r>
                      <m:t>S</m:t>
                    </m:r>
                    <m:sSub>
                      <m:e>
                        <m:r>
                          <m:t>S</m:t>
                        </m:r>
                      </m:e>
                      <m:sub>
                        <m:r>
                          <m:t>t</m:t>
                        </m:r>
                        <m:r>
                          <m:t>o</m:t>
                        </m:r>
                        <m:r>
                          <m:t>t</m:t>
                        </m:r>
                        <m:r>
                          <m:t>a</m:t>
                        </m:r>
                        <m:r>
                          <m:t>l</m:t>
                        </m:r>
                      </m:sub>
                    </m:sSub>
                  </m:oMath>
                </a14:m>
                <a:r>
                  <a:rPr/>
                  <a:t> — all of it; </a:t>
                </a:r>
                <a:r>
                  <a:rPr b="1"/>
                  <a:t>df = n − 1</a:t>
                </a:r>
              </a:p>
            </p:txBody>
          </p:sp>
        </mc:Choice>
      </mc:AlternateContent>
      <p:pic>
        <p:nvPicPr>
          <p:cNvPr descr="correlation_linear_models_lecture_files/figure-pptx/correlation-linear-models-23-1.png" id="0" name="Picture 1"/>
          <p:cNvPicPr>
            <a:picLocks noGrp="1" noChangeAspect="1"/>
          </p:cNvPicPr>
          <p:nvPr/>
        </p:nvPicPr>
        <p:blipFill>
          <a:blip r:embed="rId2"/>
          <a:stretch>
            <a:fillRect/>
          </a:stretch>
        </p:blipFill>
        <p:spPr bwMode="auto">
          <a:xfrm>
            <a:off x="6121400" y="1638300"/>
            <a:ext cx="2781300" cy="2527300"/>
          </a:xfrm>
          <a:prstGeom prst="rect">
            <a:avLst/>
          </a:prstGeom>
          <a:noFill/>
          <a:ln w="9525">
            <a:noFill/>
            <a:headEnd/>
            <a:tailEnd/>
          </a:ln>
        </p:spPr>
      </p:pic>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 DECIDE · Which Fit Has the Bigger Sums of Squares?</a:t>
            </a:r>
          </a:p>
        </p:txBody>
      </p:sp>
      <mc:AlternateContent xmlns:mc="http://schemas.openxmlformats.org/markup-compatibility/2006">
        <mc:Choice xmlns:a14="http://schemas.microsoft.com/office/drawing/2010/main" Requires="a14">
          <p:sp>
            <p:nvSpPr>
              <p:cNvPr id="3" name="Content Placeholder 2"/>
              <p:cNvSpPr>
                <a:spLocks noGrp="1"/>
              </p:cNvSpPr>
              <p:nvPr>
                <p:ph idx="1" sz="half"/>
              </p:nvPr>
            </p:nvSpPr>
            <p:spPr/>
            <p:txBody>
              <a:bodyPr/>
              <a:lstStyle/>
              <a:p>
                <a:pPr lvl="0" indent="0" marL="0">
                  <a:buNone/>
                </a:pPr>
                <a:r>
                  <a:rPr/>
                  <a:t>Four fitted regressions, on the right.</a:t>
                </a:r>
              </a:p>
              <a:p>
                <a:pPr lvl="0" indent="0" marL="0">
                  <a:buNone/>
                </a:pPr>
                <a:r>
                  <a:rPr b="1"/>
                  <a:t>Which statement is true?</a:t>
                </a:r>
              </a:p>
              <a:p>
                <a:pPr lvl="0" indent="0" marL="0">
                  <a:buNone/>
                </a:pPr>
                <a:r>
                  <a:rPr b="1"/>
                  <a:t>(a)</a:t>
                </a:r>
                <a:r>
                  <a:rPr/>
                  <a:t> </a:t>
                </a:r>
                <a14:m>
                  <m:oMath xmlns:m="http://schemas.openxmlformats.org/officeDocument/2006/math">
                    <m:r>
                      <m:t>S</m:t>
                    </m:r>
                    <m:sSub>
                      <m:e>
                        <m:r>
                          <m:t>S</m:t>
                        </m:r>
                      </m:e>
                      <m:sub>
                        <m:r>
                          <m:t>r</m:t>
                        </m:r>
                        <m:r>
                          <m:t>e</m:t>
                        </m:r>
                        <m:r>
                          <m:t>g</m:t>
                        </m:r>
                        <m:r>
                          <m:t>r</m:t>
                        </m:r>
                        <m:r>
                          <m:t>e</m:t>
                        </m:r>
                        <m:r>
                          <m:t>s</m:t>
                        </m:r>
                        <m:r>
                          <m:t>s</m:t>
                        </m:r>
                        <m:r>
                          <m:t>i</m:t>
                        </m:r>
                        <m:r>
                          <m:t>o</m:t>
                        </m:r>
                        <m:r>
                          <m:t>n</m:t>
                        </m:r>
                      </m:sub>
                    </m:sSub>
                  </m:oMath>
                </a14:m>
                <a:r>
                  <a:rPr/>
                  <a:t> is larger in </a:t>
                </a:r>
                <a:r>
                  <a:rPr b="1"/>
                  <a:t>(d)</a:t>
                </a:r>
                <a:r>
                  <a:rPr/>
                  <a:t> than in </a:t>
                </a:r>
                <a:r>
                  <a:rPr b="1"/>
                  <a:t>(c)</a:t>
                </a:r>
              </a:p>
              <a:p>
                <a:pPr lvl="0" indent="0" marL="0">
                  <a:buNone/>
                </a:pPr>
                <a:r>
                  <a:rPr b="1"/>
                  <a:t>(b)</a:t>
                </a:r>
                <a:r>
                  <a:rPr/>
                  <a:t> </a:t>
                </a:r>
                <a14:m>
                  <m:oMath xmlns:m="http://schemas.openxmlformats.org/officeDocument/2006/math">
                    <m:r>
                      <m:t>S</m:t>
                    </m:r>
                    <m:sSub>
                      <m:e>
                        <m:r>
                          <m:t>S</m:t>
                        </m:r>
                      </m:e>
                      <m:sub>
                        <m:r>
                          <m:t>r</m:t>
                        </m:r>
                        <m:r>
                          <m:t>e</m:t>
                        </m:r>
                        <m:r>
                          <m:t>s</m:t>
                        </m:r>
                        <m:r>
                          <m:t>i</m:t>
                        </m:r>
                        <m:r>
                          <m:t>d</m:t>
                        </m:r>
                        <m:r>
                          <m:t>u</m:t>
                        </m:r>
                        <m:r>
                          <m:t>a</m:t>
                        </m:r>
                        <m:r>
                          <m:t>l</m:t>
                        </m:r>
                      </m:sub>
                    </m:sSub>
                  </m:oMath>
                </a14:m>
                <a:r>
                  <a:rPr/>
                  <a:t> is larger in </a:t>
                </a:r>
                <a:r>
                  <a:rPr b="1"/>
                  <a:t>(b)</a:t>
                </a:r>
                <a:r>
                  <a:rPr/>
                  <a:t> than in </a:t>
                </a:r>
                <a:r>
                  <a:rPr b="1"/>
                  <a:t>(a)</a:t>
                </a:r>
              </a:p>
              <a:p>
                <a:pPr lvl="0" indent="0" marL="0">
                  <a:buNone/>
                </a:pPr>
                <a:r>
                  <a:rPr b="1"/>
                  <a:t>(c)</a:t>
                </a:r>
                <a:r>
                  <a:rPr/>
                  <a:t> </a:t>
                </a:r>
                <a14:m>
                  <m:oMath xmlns:m="http://schemas.openxmlformats.org/officeDocument/2006/math">
                    <m:r>
                      <m:t>S</m:t>
                    </m:r>
                    <m:sSub>
                      <m:e>
                        <m:r>
                          <m:t>S</m:t>
                        </m:r>
                      </m:e>
                      <m:sub>
                        <m:r>
                          <m:t>t</m:t>
                        </m:r>
                        <m:r>
                          <m:t>o</m:t>
                        </m:r>
                        <m:r>
                          <m:t>t</m:t>
                        </m:r>
                        <m:r>
                          <m:t>a</m:t>
                        </m:r>
                        <m:r>
                          <m:t>l</m:t>
                        </m:r>
                      </m:sub>
                    </m:sSub>
                  </m:oMath>
                </a14:m>
                <a:r>
                  <a:rPr/>
                  <a:t> is larger in </a:t>
                </a:r>
                <a:r>
                  <a:rPr b="1"/>
                  <a:t>(a)</a:t>
                </a:r>
                <a:r>
                  <a:rPr/>
                  <a:t> than in </a:t>
                </a:r>
                <a:r>
                  <a:rPr b="1"/>
                  <a:t>(b)</a:t>
                </a:r>
              </a:p>
              <a:p>
                <a:pPr lvl="0" indent="0" marL="0">
                  <a:buNone/>
                </a:pPr>
                <a:r>
                  <a:rPr b="1"/>
                  <a:t>(d)</a:t>
                </a:r>
                <a:r>
                  <a:rPr/>
                  <a:t> </a:t>
                </a:r>
                <a14:m>
                  <m:oMath xmlns:m="http://schemas.openxmlformats.org/officeDocument/2006/math">
                    <m:r>
                      <m:t>S</m:t>
                    </m:r>
                    <m:sSub>
                      <m:e>
                        <m:r>
                          <m:t>S</m:t>
                        </m:r>
                      </m:e>
                      <m:sub>
                        <m:r>
                          <m:t>r</m:t>
                        </m:r>
                        <m:r>
                          <m:t>e</m:t>
                        </m:r>
                        <m:r>
                          <m:t>s</m:t>
                        </m:r>
                        <m:r>
                          <m:t>i</m:t>
                        </m:r>
                        <m:r>
                          <m:t>d</m:t>
                        </m:r>
                        <m:r>
                          <m:t>u</m:t>
                        </m:r>
                        <m:r>
                          <m:t>a</m:t>
                        </m:r>
                        <m:r>
                          <m:t>l</m:t>
                        </m:r>
                      </m:sub>
                    </m:sSub>
                  </m:oMath>
                </a14:m>
                <a:r>
                  <a:rPr/>
                  <a:t> is zero in </a:t>
                </a:r>
                <a:r>
                  <a:rPr b="1"/>
                  <a:t>(c)</a:t>
                </a:r>
              </a:p>
              <a:p>
                <a:pPr lvl="0" indent="0" marL="1270000">
                  <a:buNone/>
                </a:pPr>
                <a:r>
                  <a:rPr sz="2000" b="1"/>
                  <a:t>Warning</a:t>
                </a:r>
              </a:p>
              <a:p>
                <a:pPr lvl="0" indent="0" marL="1270000">
                  <a:buNone/>
                </a:pPr>
                <a:r>
                  <a:rPr sz="2000" b="1"/>
                  <a:t>✍️ One letter. Write it down, then argue it with your neighbour.</a:t>
                </a:r>
              </a:p>
            </p:txBody>
          </p:sp>
        </mc:Choice>
      </mc:AlternateContent>
      <p:pic>
        <p:nvPicPr>
          <p:cNvPr descr="images/clipboard-217151541.png" id="0" name="Picture 1"/>
          <p:cNvPicPr>
            <a:picLocks noGrp="1" noChangeAspect="1"/>
          </p:cNvPicPr>
          <p:nvPr/>
        </p:nvPicPr>
        <p:blipFill>
          <a:blip r:embed="rId2"/>
          <a:stretch>
            <a:fillRect/>
          </a:stretch>
        </p:blipFill>
        <p:spPr bwMode="auto">
          <a:xfrm>
            <a:off x="6121400" y="1892300"/>
            <a:ext cx="2781300" cy="1993900"/>
          </a:xfrm>
          <a:prstGeom prst="rect">
            <a:avLst/>
          </a:prstGeom>
          <a:noFill/>
          <a:ln w="9525">
            <a:noFill/>
            <a:headEnd/>
            <a:tailEnd/>
          </a:ln>
        </p:spPr>
      </p:pic>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Reading the Partition Off a Picture</a:t>
            </a:r>
          </a:p>
        </p:txBody>
      </p:sp>
      <mc:AlternateContent xmlns:mc="http://schemas.openxmlformats.org/markup-compatibility/2006">
        <mc:Choice xmlns:a14="http://schemas.microsoft.com/office/drawing/2010/main" Requires="a14">
          <p:sp>
            <p:nvSpPr>
              <p:cNvPr id="3" name="Content Placeholder 2"/>
              <p:cNvSpPr>
                <a:spLocks noGrp="1"/>
              </p:cNvSpPr>
              <p:nvPr>
                <p:ph idx="1" sz="half"/>
              </p:nvPr>
            </p:nvSpPr>
            <p:spPr/>
            <p:txBody>
              <a:bodyPr/>
              <a:lstStyle/>
              <a:p>
                <a:pPr lvl="0" indent="0" marL="1270000">
                  <a:buNone/>
                </a:pPr>
                <a:r>
                  <a:rPr sz="2000" b="1"/>
                  <a:t>Important</a:t>
                </a:r>
              </a:p>
              <a:p>
                <a:pPr lvl="0" indent="0" marL="1270000">
                  <a:buNone/>
                </a:pPr>
                <a:r>
                  <a:rPr sz="2000" b="1"/>
                  <a:t>✅ The answer is (b).</a:t>
                </a:r>
              </a:p>
              <a:p>
                <a:pPr lvl="0" indent="0" marL="1270000">
                  <a:buNone/>
                </a:pPr>
                <a14:m>
                  <m:oMath xmlns:m="http://schemas.openxmlformats.org/officeDocument/2006/math">
                    <m:r>
                      <m:t>S</m:t>
                    </m:r>
                    <m:sSub>
                      <m:e>
                        <m:r>
                          <m:t>S</m:t>
                        </m:r>
                      </m:e>
                      <m:sub>
                        <m:r>
                          <m:t>r</m:t>
                        </m:r>
                        <m:r>
                          <m:t>e</m:t>
                        </m:r>
                        <m:r>
                          <m:t>s</m:t>
                        </m:r>
                        <m:r>
                          <m:t>i</m:t>
                        </m:r>
                        <m:r>
                          <m:t>d</m:t>
                        </m:r>
                        <m:r>
                          <m:t>u</m:t>
                        </m:r>
                        <m:r>
                          <m:t>a</m:t>
                        </m:r>
                        <m:r>
                          <m:t>l</m:t>
                        </m:r>
                      </m:sub>
                    </m:sSub>
                  </m:oMath>
                </a14:m>
                <a:r>
                  <a:rPr sz="2000"/>
                  <a:t> is the scatter </a:t>
                </a:r>
                <a:r>
                  <a:rPr sz="2000" b="1"/>
                  <a:t>around the line</a:t>
                </a:r>
                <a:r>
                  <a:rPr sz="2000"/>
                  <a:t>, and the points in (b) sit farther off their line than those in (a).</a:t>
                </a:r>
              </a:p>
              <a:p>
                <a:pPr lvl="0" indent="0" marL="1270000">
                  <a:buNone/>
                </a:pPr>
                <a:r>
                  <a:rPr sz="2000" b="1"/>
                  <a:t>(a)</a:t>
                </a:r>
                <a:r>
                  <a:rPr sz="2000"/>
                  <a:t> is backwards: </a:t>
                </a:r>
                <a14:m>
                  <m:oMath xmlns:m="http://schemas.openxmlformats.org/officeDocument/2006/math">
                    <m:r>
                      <m:t>S</m:t>
                    </m:r>
                    <m:sSub>
                      <m:e>
                        <m:r>
                          <m:t>S</m:t>
                        </m:r>
                      </m:e>
                      <m:sub>
                        <m:r>
                          <m:t>r</m:t>
                        </m:r>
                        <m:r>
                          <m:t>e</m:t>
                        </m:r>
                        <m:r>
                          <m:t>g</m:t>
                        </m:r>
                        <m:r>
                          <m:t>r</m:t>
                        </m:r>
                        <m:r>
                          <m:t>e</m:t>
                        </m:r>
                        <m:r>
                          <m:t>s</m:t>
                        </m:r>
                        <m:r>
                          <m:t>s</m:t>
                        </m:r>
                        <m:r>
                          <m:t>i</m:t>
                        </m:r>
                        <m:r>
                          <m:t>o</m:t>
                        </m:r>
                        <m:r>
                          <m:t>n</m:t>
                        </m:r>
                      </m:sub>
                    </m:sSub>
                  </m:oMath>
                </a14:m>
                <a:r>
                  <a:rPr sz="2000"/>
                  <a:t> grows with how steeply the fitted line climbs, and (c) is steeper than (d).</a:t>
                </a:r>
              </a:p>
              <a:p>
                <a:pPr lvl="0" indent="0" marL="1270000">
                  <a:buNone/>
                </a:pPr>
                <a:r>
                  <a:rPr sz="2000" b="1"/>
                  <a:t>(c)</a:t>
                </a:r>
                <a:r>
                  <a:rPr sz="2000"/>
                  <a:t> is the trap — </a:t>
                </a:r>
                <a14:m>
                  <m:oMath xmlns:m="http://schemas.openxmlformats.org/officeDocument/2006/math">
                    <m:r>
                      <m:t>S</m:t>
                    </m:r>
                    <m:sSub>
                      <m:e>
                        <m:r>
                          <m:t>S</m:t>
                        </m:r>
                      </m:e>
                      <m:sub>
                        <m:r>
                          <m:t>t</m:t>
                        </m:r>
                        <m:r>
                          <m:t>o</m:t>
                        </m:r>
                        <m:r>
                          <m:t>t</m:t>
                        </m:r>
                        <m:r>
                          <m:t>a</m:t>
                        </m:r>
                        <m:r>
                          <m:t>l</m:t>
                        </m:r>
                      </m:sub>
                    </m:sSub>
                  </m:oMath>
                </a14:m>
                <a:r>
                  <a:rPr sz="2000"/>
                  <a:t> does not depend on the fit at all. It is the spread of Y around its own mean, and the line has nothing to do with it.</a:t>
                </a:r>
              </a:p>
              <a:p>
                <a:pPr lvl="0" indent="0" marL="1270000">
                  <a:buNone/>
                </a:pPr>
                <a:r>
                  <a:rPr sz="2000" b="1"/>
                  <a:t>(d)</a:t>
                </a:r>
                <a:r>
                  <a:rPr sz="2000"/>
                  <a:t> would require every point to sit exactly on the line.</a:t>
                </a:r>
              </a:p>
            </p:txBody>
          </p:sp>
        </mc:Choice>
      </mc:AlternateContent>
      <mc:AlternateContent xmlns:mc="http://schemas.openxmlformats.org/markup-compatibility/2006">
        <mc:Choice xmlns:a14="http://schemas.microsoft.com/office/drawing/2010/main" Requires="a14">
          <p:sp>
            <p:nvSpPr>
              <p:cNvPr id="4" name="Content Placeholder 3"/>
              <p:cNvSpPr>
                <a:spLocks noGrp="1"/>
              </p:cNvSpPr>
              <p:nvPr>
                <p:ph idx="2" sz="half"/>
              </p:nvPr>
            </p:nvSpPr>
            <p:spPr/>
            <p:txBody>
              <a:bodyPr/>
              <a:lstStyle/>
              <a:p>
                <a:pPr lvl="0" indent="0" marL="1270000">
                  <a:buNone/>
                </a:pPr>
                <a:r>
                  <a:rPr sz="2000" b="1"/>
                  <a:t>Note</a:t>
                </a:r>
              </a:p>
              <a:p>
                <a:pPr lvl="0" indent="0" marL="1270000">
                  <a:buNone/>
                </a:pPr>
                <a:r>
                  <a:rPr sz="2000" b="1"/>
                  <a:t>The three pictures to keep</a:t>
                </a:r>
              </a:p>
              <a:p>
                <a:pPr lvl="0"/>
                <a14:m>
                  <m:oMath xmlns:m="http://schemas.openxmlformats.org/officeDocument/2006/math">
                    <m:r>
                      <m:t>S</m:t>
                    </m:r>
                    <m:sSub>
                      <m:e>
                        <m:r>
                          <m:t>S</m:t>
                        </m:r>
                      </m:e>
                      <m:sub>
                        <m:r>
                          <m:t>t</m:t>
                        </m:r>
                        <m:r>
                          <m:t>o</m:t>
                        </m:r>
                        <m:r>
                          <m:t>t</m:t>
                        </m:r>
                        <m:r>
                          <m:t>a</m:t>
                        </m:r>
                        <m:r>
                          <m:t>l</m:t>
                        </m:r>
                      </m:sub>
                    </m:sSub>
                  </m:oMath>
                </a14:m>
                <a:r>
                  <a:rPr sz="2000"/>
                  <a:t> → distance from the </a:t>
                </a:r>
                <a:r>
                  <a:rPr sz="2000" b="1"/>
                  <a:t>flat mean line</a:t>
                </a:r>
              </a:p>
              <a:p>
                <a:pPr lvl="0"/>
                <a14:m>
                  <m:oMath xmlns:m="http://schemas.openxmlformats.org/officeDocument/2006/math">
                    <m:r>
                      <m:t>S</m:t>
                    </m:r>
                    <m:sSub>
                      <m:e>
                        <m:r>
                          <m:t>S</m:t>
                        </m:r>
                      </m:e>
                      <m:sub>
                        <m:r>
                          <m:t>r</m:t>
                        </m:r>
                        <m:r>
                          <m:t>e</m:t>
                        </m:r>
                        <m:r>
                          <m:t>g</m:t>
                        </m:r>
                        <m:r>
                          <m:t>r</m:t>
                        </m:r>
                        <m:r>
                          <m:t>e</m:t>
                        </m:r>
                        <m:r>
                          <m:t>s</m:t>
                        </m:r>
                        <m:r>
                          <m:t>s</m:t>
                        </m:r>
                        <m:r>
                          <m:t>i</m:t>
                        </m:r>
                        <m:r>
                          <m:t>o</m:t>
                        </m:r>
                        <m:r>
                          <m:t>n</m:t>
                        </m:r>
                      </m:sub>
                    </m:sSub>
                  </m:oMath>
                </a14:m>
                <a:r>
                  <a:rPr sz="2000"/>
                  <a:t> → how far the </a:t>
                </a:r>
                <a:r>
                  <a:rPr sz="2000" b="1"/>
                  <a:t>fitted line climbs away</a:t>
                </a:r>
                <a:r>
                  <a:rPr sz="2000"/>
                  <a:t> from that flat line</a:t>
                </a:r>
              </a:p>
              <a:p>
                <a:pPr lvl="0"/>
                <a14:m>
                  <m:oMath xmlns:m="http://schemas.openxmlformats.org/officeDocument/2006/math">
                    <m:r>
                      <m:t>S</m:t>
                    </m:r>
                    <m:sSub>
                      <m:e>
                        <m:r>
                          <m:t>S</m:t>
                        </m:r>
                      </m:e>
                      <m:sub>
                        <m:r>
                          <m:t>r</m:t>
                        </m:r>
                        <m:r>
                          <m:t>e</m:t>
                        </m:r>
                        <m:r>
                          <m:t>s</m:t>
                        </m:r>
                        <m:r>
                          <m:t>i</m:t>
                        </m:r>
                        <m:r>
                          <m:t>d</m:t>
                        </m:r>
                        <m:r>
                          <m:t>u</m:t>
                        </m:r>
                        <m:r>
                          <m:t>a</m:t>
                        </m:r>
                        <m:r>
                          <m:t>l</m:t>
                        </m:r>
                      </m:sub>
                    </m:sSub>
                  </m:oMath>
                </a14:m>
                <a:r>
                  <a:rPr sz="2000"/>
                  <a:t> → how far the </a:t>
                </a:r>
                <a:r>
                  <a:rPr sz="2000" b="1"/>
                  <a:t>points sit off</a:t>
                </a:r>
                <a:r>
                  <a:rPr sz="2000"/>
                  <a:t> the fitted line</a:t>
                </a:r>
              </a:p>
              <a:p>
                <a:pPr lvl="0" indent="0" marL="0">
                  <a:buNone/>
                </a:pPr>
                <a:r>
                  <a:rPr/>
                  <a:t>A fit is good when the line does a lot of climbing and the points stay close to it.</a:t>
                </a:r>
              </a:p>
            </p:txBody>
          </p:sp>
        </mc:Choice>
      </mc:AlternateContent>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Computing the Three Sums of Squares</a:t>
            </a:r>
          </a:p>
        </p:txBody>
      </p:sp>
      <p:sp>
        <p:nvSpPr>
          <p:cNvPr id="3" name="Content Placeholder 2"/>
          <p:cNvSpPr>
            <a:spLocks noGrp="1"/>
          </p:cNvSpPr>
          <p:nvPr>
            <p:ph idx="1" sz="half"/>
          </p:nvPr>
        </p:nvSpPr>
        <p:spPr/>
        <p:txBody>
          <a:bodyPr/>
          <a:lstStyle/>
          <a:p>
            <a:pPr lvl="0" indent="0">
              <a:buNone/>
            </a:pPr>
            <a:r>
              <a:rPr>
                <a:solidFill>
                  <a:srgbClr val="003B4F"/>
                </a:solidFill>
                <a:latin typeface="Courier"/>
              </a:rPr>
              <a:t>fitted_age &lt;- </a:t>
            </a:r>
            <a:r>
              <a:rPr>
                <a:solidFill>
                  <a:srgbClr val="4758AB"/>
                </a:solidFill>
                <a:latin typeface="Courier"/>
              </a:rPr>
              <a:t>predict</a:t>
            </a:r>
            <a:r>
              <a:rPr>
                <a:solidFill>
                  <a:srgbClr val="003B4F"/>
                </a:solidFill>
                <a:latin typeface="Courier"/>
              </a:rPr>
              <a:t>(lion_model)</a:t>
            </a:r>
            <a:br/>
            <a:r>
              <a:rPr>
                <a:solidFill>
                  <a:srgbClr val="003B4F"/>
                </a:solidFill>
                <a:latin typeface="Courier"/>
              </a:rPr>
              <a:t>mean_age   &lt;- </a:t>
            </a:r>
            <a:r>
              <a:rPr>
                <a:solidFill>
                  <a:srgbClr val="4758AB"/>
                </a:solidFill>
                <a:latin typeface="Courier"/>
              </a:rPr>
              <a:t>mean</a:t>
            </a:r>
            <a:r>
              <a:rPr>
                <a:solidFill>
                  <a:srgbClr val="003B4F"/>
                </a:solidFill>
                <a:latin typeface="Courier"/>
              </a:rPr>
              <a:t>(lion_df</a:t>
            </a:r>
            <a:r>
              <a:rPr>
                <a:solidFill>
                  <a:srgbClr val="5E5E5E"/>
                </a:solidFill>
                <a:latin typeface="Courier"/>
              </a:rPr>
              <a:t>$</a:t>
            </a:r>
            <a:r>
              <a:rPr>
                <a:solidFill>
                  <a:srgbClr val="003B4F"/>
                </a:solidFill>
                <a:latin typeface="Courier"/>
              </a:rPr>
              <a:t>age_years)</a:t>
            </a:r>
            <a:br/>
            <a:br/>
            <a:r>
              <a:rPr>
                <a:solidFill>
                  <a:srgbClr val="003B4F"/>
                </a:solidFill>
                <a:latin typeface="Courier"/>
              </a:rPr>
              <a:t>ss_total &lt;- </a:t>
            </a:r>
            <a:r>
              <a:rPr>
                <a:solidFill>
                  <a:srgbClr val="4758AB"/>
                </a:solidFill>
                <a:latin typeface="Courier"/>
              </a:rPr>
              <a:t>sum</a:t>
            </a:r>
            <a:r>
              <a:rPr>
                <a:solidFill>
                  <a:srgbClr val="003B4F"/>
                </a:solidFill>
                <a:latin typeface="Courier"/>
              </a:rPr>
              <a:t>((lion_df</a:t>
            </a:r>
            <a:r>
              <a:rPr>
                <a:solidFill>
                  <a:srgbClr val="5E5E5E"/>
                </a:solidFill>
                <a:latin typeface="Courier"/>
              </a:rPr>
              <a:t>$</a:t>
            </a:r>
            <a:r>
              <a:rPr>
                <a:solidFill>
                  <a:srgbClr val="003B4F"/>
                </a:solidFill>
                <a:latin typeface="Courier"/>
              </a:rPr>
              <a:t>age_years </a:t>
            </a:r>
            <a:r>
              <a:rPr>
                <a:solidFill>
                  <a:srgbClr val="5E5E5E"/>
                </a:solidFill>
                <a:latin typeface="Courier"/>
              </a:rPr>
              <a:t>-</a:t>
            </a:r>
            <a:r>
              <a:rPr>
                <a:solidFill>
                  <a:srgbClr val="003B4F"/>
                </a:solidFill>
                <a:latin typeface="Courier"/>
              </a:rPr>
              <a:t> mean_age)</a:t>
            </a:r>
            <a:r>
              <a:rPr>
                <a:solidFill>
                  <a:srgbClr val="5E5E5E"/>
                </a:solidFill>
                <a:latin typeface="Courier"/>
              </a:rPr>
              <a:t>^</a:t>
            </a:r>
            <a:r>
              <a:rPr>
                <a:solidFill>
                  <a:srgbClr val="AD0000"/>
                </a:solidFill>
                <a:latin typeface="Courier"/>
              </a:rPr>
              <a:t>2</a:t>
            </a:r>
            <a:r>
              <a:rPr>
                <a:solidFill>
                  <a:srgbClr val="003B4F"/>
                </a:solidFill>
                <a:latin typeface="Courier"/>
              </a:rPr>
              <a:t>)</a:t>
            </a:r>
            <a:br/>
            <a:r>
              <a:rPr>
                <a:solidFill>
                  <a:srgbClr val="003B4F"/>
                </a:solidFill>
                <a:latin typeface="Courier"/>
              </a:rPr>
              <a:t>ss_reg   &lt;- </a:t>
            </a:r>
            <a:r>
              <a:rPr>
                <a:solidFill>
                  <a:srgbClr val="4758AB"/>
                </a:solidFill>
                <a:latin typeface="Courier"/>
              </a:rPr>
              <a:t>sum</a:t>
            </a:r>
            <a:r>
              <a:rPr>
                <a:solidFill>
                  <a:srgbClr val="003B4F"/>
                </a:solidFill>
                <a:latin typeface="Courier"/>
              </a:rPr>
              <a:t>((fitted_age </a:t>
            </a:r>
            <a:r>
              <a:rPr>
                <a:solidFill>
                  <a:srgbClr val="5E5E5E"/>
                </a:solidFill>
                <a:latin typeface="Courier"/>
              </a:rPr>
              <a:t>-</a:t>
            </a:r>
            <a:r>
              <a:rPr>
                <a:solidFill>
                  <a:srgbClr val="003B4F"/>
                </a:solidFill>
                <a:latin typeface="Courier"/>
              </a:rPr>
              <a:t> mean_age)</a:t>
            </a:r>
            <a:r>
              <a:rPr>
                <a:solidFill>
                  <a:srgbClr val="5E5E5E"/>
                </a:solidFill>
                <a:latin typeface="Courier"/>
              </a:rPr>
              <a:t>^</a:t>
            </a:r>
            <a:r>
              <a:rPr>
                <a:solidFill>
                  <a:srgbClr val="AD0000"/>
                </a:solidFill>
                <a:latin typeface="Courier"/>
              </a:rPr>
              <a:t>2</a:t>
            </a:r>
            <a:r>
              <a:rPr>
                <a:solidFill>
                  <a:srgbClr val="003B4F"/>
                </a:solidFill>
                <a:latin typeface="Courier"/>
              </a:rPr>
              <a:t>)</a:t>
            </a:r>
            <a:br/>
            <a:r>
              <a:rPr>
                <a:solidFill>
                  <a:srgbClr val="003B4F"/>
                </a:solidFill>
                <a:latin typeface="Courier"/>
              </a:rPr>
              <a:t>ss_resid &lt;- </a:t>
            </a:r>
            <a:r>
              <a:rPr>
                <a:solidFill>
                  <a:srgbClr val="4758AB"/>
                </a:solidFill>
                <a:latin typeface="Courier"/>
              </a:rPr>
              <a:t>sum</a:t>
            </a:r>
            <a:r>
              <a:rPr>
                <a:solidFill>
                  <a:srgbClr val="003B4F"/>
                </a:solidFill>
                <a:latin typeface="Courier"/>
              </a:rPr>
              <a:t>((lion_df</a:t>
            </a:r>
            <a:r>
              <a:rPr>
                <a:solidFill>
                  <a:srgbClr val="5E5E5E"/>
                </a:solidFill>
                <a:latin typeface="Courier"/>
              </a:rPr>
              <a:t>$</a:t>
            </a:r>
            <a:r>
              <a:rPr>
                <a:solidFill>
                  <a:srgbClr val="003B4F"/>
                </a:solidFill>
                <a:latin typeface="Courier"/>
              </a:rPr>
              <a:t>age_years </a:t>
            </a:r>
            <a:r>
              <a:rPr>
                <a:solidFill>
                  <a:srgbClr val="5E5E5E"/>
                </a:solidFill>
                <a:latin typeface="Courier"/>
              </a:rPr>
              <a:t>-</a:t>
            </a:r>
            <a:r>
              <a:rPr>
                <a:solidFill>
                  <a:srgbClr val="003B4F"/>
                </a:solidFill>
                <a:latin typeface="Courier"/>
              </a:rPr>
              <a:t> fitted_age)</a:t>
            </a:r>
            <a:r>
              <a:rPr>
                <a:solidFill>
                  <a:srgbClr val="5E5E5E"/>
                </a:solidFill>
                <a:latin typeface="Courier"/>
              </a:rPr>
              <a:t>^</a:t>
            </a:r>
            <a:r>
              <a:rPr>
                <a:solidFill>
                  <a:srgbClr val="AD0000"/>
                </a:solidFill>
                <a:latin typeface="Courier"/>
              </a:rPr>
              <a:t>2</a:t>
            </a:r>
            <a:r>
              <a:rPr>
                <a:solidFill>
                  <a:srgbClr val="003B4F"/>
                </a:solidFill>
                <a:latin typeface="Courier"/>
              </a:rPr>
              <a:t>)</a:t>
            </a:r>
            <a:br/>
            <a:br/>
            <a:r>
              <a:rPr>
                <a:solidFill>
                  <a:srgbClr val="4758AB"/>
                </a:solidFill>
                <a:latin typeface="Courier"/>
              </a:rPr>
              <a:t>c</a:t>
            </a:r>
            <a:r>
              <a:rPr>
                <a:solidFill>
                  <a:srgbClr val="003B4F"/>
                </a:solidFill>
                <a:latin typeface="Courier"/>
              </a:rPr>
              <a:t>(</a:t>
            </a:r>
            <a:r>
              <a:rPr>
                <a:solidFill>
                  <a:srgbClr val="657422"/>
                </a:solidFill>
                <a:latin typeface="Courier"/>
              </a:rPr>
              <a:t>total =</a:t>
            </a:r>
            <a:r>
              <a:rPr>
                <a:solidFill>
                  <a:srgbClr val="003B4F"/>
                </a:solidFill>
                <a:latin typeface="Courier"/>
              </a:rPr>
              <a:t> ss_total, </a:t>
            </a:r>
            <a:r>
              <a:rPr>
                <a:solidFill>
                  <a:srgbClr val="657422"/>
                </a:solidFill>
                <a:latin typeface="Courier"/>
              </a:rPr>
              <a:t>regression =</a:t>
            </a:r>
            <a:r>
              <a:rPr>
                <a:solidFill>
                  <a:srgbClr val="003B4F"/>
                </a:solidFill>
                <a:latin typeface="Courier"/>
              </a:rPr>
              <a:t> ss_reg, </a:t>
            </a:r>
            <a:r>
              <a:rPr>
                <a:solidFill>
                  <a:srgbClr val="657422"/>
                </a:solidFill>
                <a:latin typeface="Courier"/>
              </a:rPr>
              <a:t>residual =</a:t>
            </a:r>
            <a:r>
              <a:rPr>
                <a:solidFill>
                  <a:srgbClr val="003B4F"/>
                </a:solidFill>
                <a:latin typeface="Courier"/>
              </a:rPr>
              <a:t> ss_resid)</a:t>
            </a:r>
          </a:p>
          <a:p>
            <a:pPr lvl="0" indent="0">
              <a:buNone/>
            </a:pPr>
            <a:r>
              <a:rPr>
                <a:latin typeface="Courier"/>
              </a:rPr>
              <a:t>     total regression   residual 
 222.08719  138.54398   83.54321 </a:t>
            </a:r>
          </a:p>
          <a:p>
            <a:pPr lvl="0" indent="0">
              <a:buNone/>
            </a:pPr>
            <a:r>
              <a:rPr>
                <a:solidFill>
                  <a:srgbClr val="003B4F"/>
                </a:solidFill>
                <a:latin typeface="Courier"/>
              </a:rPr>
              <a:t>ss_reg </a:t>
            </a:r>
            <a:r>
              <a:rPr>
                <a:solidFill>
                  <a:srgbClr val="5E5E5E"/>
                </a:solidFill>
                <a:latin typeface="Courier"/>
              </a:rPr>
              <a:t>+</a:t>
            </a:r>
            <a:r>
              <a:rPr>
                <a:solidFill>
                  <a:srgbClr val="003B4F"/>
                </a:solidFill>
                <a:latin typeface="Courier"/>
              </a:rPr>
              <a:t> ss_resid          </a:t>
            </a:r>
            <a:r>
              <a:rPr>
                <a:solidFill>
                  <a:srgbClr val="5E5E5E"/>
                </a:solidFill>
                <a:latin typeface="Courier"/>
              </a:rPr>
              <a:t># does it add back up?</a:t>
            </a:r>
          </a:p>
          <a:p>
            <a:pPr lvl="0" indent="0">
              <a:buNone/>
            </a:pPr>
            <a:r>
              <a:rPr>
                <a:latin typeface="Courier"/>
              </a:rPr>
              <a:t>[1] 222.0872</a:t>
            </a:r>
          </a:p>
        </p:txBody>
      </p:sp>
      <mc:AlternateContent xmlns:mc="http://schemas.openxmlformats.org/markup-compatibility/2006">
        <mc:Choice xmlns:a14="http://schemas.microsoft.com/office/drawing/2010/main" Requires="a14">
          <p:sp>
            <p:nvSpPr>
              <p:cNvPr id="4" name="Content Placeholder 3"/>
              <p:cNvSpPr>
                <a:spLocks noGrp="1"/>
              </p:cNvSpPr>
              <p:nvPr>
                <p:ph idx="2" sz="half"/>
              </p:nvPr>
            </p:nvSpPr>
            <p:spPr/>
            <p:txBody>
              <a:bodyPr/>
              <a:lstStyle/>
              <a:p>
                <a:pPr lvl="0" indent="0" marL="0">
                  <a:buNone/>
                </a:pPr>
                <a:r>
                  <a:rPr b="1"/>
                  <a:t>138.5 + 83.5 = 222.1</a:t>
                </a:r>
                <a:r>
                  <a:rPr/>
                  <a:t> — exactly.</a:t>
                </a:r>
              </a:p>
              <a:p>
                <a:pPr lvl="0" indent="0" marL="0">
                  <a:buNone/>
                </a:pPr>
                <a:r>
                  <a:rPr/>
                  <a:t>And the share the line accounts for:</a:t>
                </a:r>
              </a:p>
              <a:p>
                <a:pPr lvl="0" indent="0" marL="0">
                  <a:buNone/>
                </a:pPr>
                <a14:m>
                  <m:oMathPara xmlns:m="http://schemas.openxmlformats.org/officeDocument/2006/math">
                    <m:oMathParaPr>
                      <m:jc m:val="center"/>
                    </m:oMathParaPr>
                    <m:oMath>
                      <m:sSup>
                        <m:e>
                          <m:r>
                            <m:t>R</m:t>
                          </m:r>
                        </m:e>
                        <m:sup>
                          <m:r>
                            <m:t>2</m:t>
                          </m:r>
                        </m:sup>
                      </m:sSup>
                      <m:r>
                        <m:rPr>
                          <m:sty m:val="p"/>
                        </m:rPr>
                        <m:t>=</m:t>
                      </m:r>
                      <m:f>
                        <m:fPr>
                          <m:type m:val="bar"/>
                        </m:fPr>
                        <m:num>
                          <m:r>
                            <m:t>S</m:t>
                          </m:r>
                          <m:sSub>
                            <m:e>
                              <m:r>
                                <m:t>S</m:t>
                              </m:r>
                            </m:e>
                            <m:sub>
                              <m:r>
                                <m:t>r</m:t>
                              </m:r>
                              <m:r>
                                <m:t>e</m:t>
                              </m:r>
                              <m:r>
                                <m:t>g</m:t>
                              </m:r>
                              <m:r>
                                <m:t>r</m:t>
                              </m:r>
                              <m:r>
                                <m:t>e</m:t>
                              </m:r>
                              <m:r>
                                <m:t>s</m:t>
                              </m:r>
                              <m:r>
                                <m:t>s</m:t>
                              </m:r>
                              <m:r>
                                <m:t>i</m:t>
                              </m:r>
                              <m:r>
                                <m:t>o</m:t>
                              </m:r>
                              <m:r>
                                <m:t>n</m:t>
                              </m:r>
                            </m:sub>
                          </m:sSub>
                        </m:num>
                        <m:den>
                          <m:r>
                            <m:t>S</m:t>
                          </m:r>
                          <m:sSub>
                            <m:e>
                              <m:r>
                                <m:t>S</m:t>
                              </m:r>
                            </m:e>
                            <m:sub>
                              <m:r>
                                <m:t>t</m:t>
                              </m:r>
                              <m:r>
                                <m:t>o</m:t>
                              </m:r>
                              <m:r>
                                <m:t>t</m:t>
                              </m:r>
                              <m:r>
                                <m:t>a</m:t>
                              </m:r>
                              <m:r>
                                <m:t>l</m:t>
                              </m:r>
                            </m:sub>
                          </m:sSub>
                        </m:den>
                      </m:f>
                      <m:r>
                        <m:rPr>
                          <m:sty m:val="p"/>
                        </m:rPr>
                        <m:t>=</m:t>
                      </m:r>
                      <m:f>
                        <m:fPr>
                          <m:type m:val="bar"/>
                        </m:fPr>
                        <m:num>
                          <m:r>
                            <m:t>138.5</m:t>
                          </m:r>
                        </m:num>
                        <m:den>
                          <m:r>
                            <m:t>222.1</m:t>
                          </m:r>
                        </m:den>
                      </m:f>
                      <m:r>
                        <m:rPr>
                          <m:sty m:val="p"/>
                        </m:rPr>
                        <m:t>=</m:t>
                      </m:r>
                      <m:r>
                        <m:t>0.624</m:t>
                      </m:r>
                    </m:oMath>
                  </m:oMathPara>
                </a14:m>
              </a:p>
              <a:p>
                <a:pPr lvl="0" indent="0" marL="1270000">
                  <a:buNone/>
                </a:pPr>
                <a:r>
                  <a:rPr sz="2000" b="1"/>
                  <a:t>Important</a:t>
                </a:r>
              </a:p>
              <a:p>
                <a:pPr lvl="0" indent="0" marL="1270000">
                  <a:buNone/>
                </a:pPr>
                <a:r>
                  <a:rPr sz="2000" b="1"/>
                  <a:t>✅ This is where R² comes from</a:t>
                </a:r>
              </a:p>
              <a:p>
                <a:pPr lvl="0" indent="0" marL="1270000">
                  <a:buNone/>
                </a:pPr>
                <a:r>
                  <a:rPr sz="2000"/>
                  <a:t>R² is not a separate statistic. It is the </a:t>
                </a:r>
                <a:r>
                  <a:rPr sz="2000" b="1"/>
                  <a:t>regression sum of squares as a fraction of the total</a:t>
                </a:r>
                <a:r>
                  <a:rPr sz="2000"/>
                  <a:t> — and with one predictor it is exactly the correlation coefficient squared.</a:t>
                </a:r>
              </a:p>
            </p:txBody>
          </p:sp>
        </mc:Choice>
      </mc:AlternateContent>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The Same Numbers, Straight from R</a:t>
            </a:r>
          </a:p>
        </p:txBody>
      </p:sp>
      <p:sp>
        <p:nvSpPr>
          <p:cNvPr id="3" name="Content Placeholder 2"/>
          <p:cNvSpPr>
            <a:spLocks noGrp="1"/>
          </p:cNvSpPr>
          <p:nvPr>
            <p:ph idx="1" sz="half"/>
          </p:nvPr>
        </p:nvSpPr>
        <p:spPr/>
        <p:txBody>
          <a:bodyPr/>
          <a:lstStyle/>
          <a:p>
            <a:pPr lvl="0" indent="0">
              <a:buNone/>
            </a:pPr>
            <a:r>
              <a:rPr>
                <a:solidFill>
                  <a:srgbClr val="4758AB"/>
                </a:solidFill>
                <a:latin typeface="Courier"/>
              </a:rPr>
              <a:t>anova</a:t>
            </a:r>
            <a:r>
              <a:rPr>
                <a:solidFill>
                  <a:srgbClr val="003B4F"/>
                </a:solidFill>
                <a:latin typeface="Courier"/>
              </a:rPr>
              <a:t>(lion_model)</a:t>
            </a:r>
          </a:p>
          <a:p>
            <a:pPr lvl="0" indent="0">
              <a:buNone/>
            </a:pPr>
            <a:r>
              <a:rPr>
                <a:latin typeface="Courier"/>
              </a:rPr>
              <a:t>Analysis of Variance Table
Response: age_years
                 Df  Sum Sq Mean Sq F value    Pr(&gt;F)    
proportion_black  1 138.544 138.544   49.75 7.677e-08 ***
Residuals        30  83.543   2.785                      
---
Signif. codes:  0 '***' 0.001 '**' 0.01 '*' 0.05 '.' 0.1 ' ' 1</a:t>
            </a:r>
          </a:p>
        </p:txBody>
      </p:sp>
      <p:sp>
        <p:nvSpPr>
          <p:cNvPr id="4" name="Content Placeholder 3"/>
          <p:cNvSpPr>
            <a:spLocks noGrp="1"/>
          </p:cNvSpPr>
          <p:nvPr>
            <p:ph idx="2" sz="half"/>
          </p:nvPr>
        </p:nvSpPr>
        <p:spPr/>
        <p:txBody>
          <a:bodyPr/>
          <a:lstStyle/>
          <a:p>
            <a:pPr lvl="0" indent="0" marL="0">
              <a:buNone/>
            </a:pPr>
            <a:r>
              <a:rPr/>
              <a:t>Every number in that table you have now built by hand:</a:t>
            </a:r>
          </a:p>
          <a:p>
            <a:pPr lvl="0"/>
            <a:r>
              <a:rPr b="1"/>
              <a:t>Sum Sq</a:t>
            </a:r>
            <a:r>
              <a:rPr/>
              <a:t> — the two sums of squares, 138.5 and 83.5</a:t>
            </a:r>
          </a:p>
          <a:p>
            <a:pPr lvl="0"/>
            <a:r>
              <a:rPr b="1"/>
              <a:t>Df</a:t>
            </a:r>
            <a:r>
              <a:rPr/>
              <a:t> — 1 for the predictor, n − 2 = 30 for the residual</a:t>
            </a:r>
          </a:p>
          <a:p>
            <a:pPr lvl="0"/>
            <a:r>
              <a:rPr b="1"/>
              <a:t>Mean Sq</a:t>
            </a:r>
            <a:r>
              <a:rPr/>
              <a:t> — Sum Sq ÷ Df</a:t>
            </a:r>
          </a:p>
          <a:p>
            <a:pPr lvl="0"/>
            <a:r>
              <a:rPr b="1"/>
              <a:t>F value</a:t>
            </a:r>
            <a:r>
              <a:rPr/>
              <a:t> — the ratio of those two mean squares</a:t>
            </a:r>
          </a:p>
          <a:p>
            <a:pPr lvl="0" indent="0" marL="1270000">
              <a:buNone/>
            </a:pPr>
            <a:r>
              <a:rPr sz="2000" b="1"/>
              <a:t>Note</a:t>
            </a:r>
          </a:p>
          <a:p>
            <a:pPr lvl="0" indent="0" marL="1270000">
              <a:buNone/>
            </a:pPr>
            <a:r>
              <a:rPr sz="2000" b="1"/>
              <a:t>This table has a shape, not a topic</a:t>
            </a:r>
          </a:p>
          <a:p>
            <a:pPr lvl="0" indent="0" marL="1270000">
              <a:buNone/>
            </a:pPr>
            <a:r>
              <a:rPr sz="2000"/>
              <a:t>The identical five columns show up for one-way ANOVA, two-way ANOVA, nested ANOVA and ANCOVA. Only the </a:t>
            </a:r>
            <a:r>
              <a:rPr sz="2000" b="1"/>
              <a:t>rows</a:t>
            </a:r>
            <a:r>
              <a:rPr sz="2000"/>
              <a:t> change.</a:t>
            </a:r>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From Sums of Squares to Mean Squares</a:t>
            </a:r>
          </a:p>
        </p:txBody>
      </p:sp>
      <mc:AlternateContent xmlns:mc="http://schemas.openxmlformats.org/markup-compatibility/2006">
        <mc:Choice xmlns:a14="http://schemas.microsoft.com/office/drawing/2010/main" Requires="a14">
          <p:sp>
            <p:nvSpPr>
              <p:cNvPr id="3" name="Content Placeholder 2"/>
              <p:cNvSpPr>
                <a:spLocks noGrp="1"/>
              </p:cNvSpPr>
              <p:nvPr>
                <p:ph idx="1" sz="half"/>
              </p:nvPr>
            </p:nvSpPr>
            <p:spPr/>
            <p:txBody>
              <a:bodyPr/>
              <a:lstStyle/>
              <a:p>
                <a:pPr lvl="0" indent="0" marL="0">
                  <a:buNone/>
                </a:pPr>
                <a:r>
                  <a:rPr/>
                  <a:t>A sum of squares keeps growing as you add data, so it cannot be compared across studies. Divide by degrees of freedom and you get a </a:t>
                </a:r>
                <a:r>
                  <a:rPr b="1"/>
                  <a:t>mean square</a:t>
                </a:r>
                <a:r>
                  <a:rPr/>
                  <a:t> — a variance, which does not grow with n:</a:t>
                </a:r>
              </a:p>
              <a:p>
                <a:pPr lvl="0" indent="0" marL="0">
                  <a:buNone/>
                </a:pPr>
                <a14:m>
                  <m:oMathPara xmlns:m="http://schemas.openxmlformats.org/officeDocument/2006/math">
                    <m:oMathParaPr>
                      <m:jc m:val="center"/>
                    </m:oMathParaPr>
                    <m:oMath>
                      <m:r>
                        <m:t>M</m:t>
                      </m:r>
                      <m:r>
                        <m:t>S</m:t>
                      </m:r>
                      <m:r>
                        <m:rPr>
                          <m:sty m:val="p"/>
                        </m:rPr>
                        <m:t>=</m:t>
                      </m:r>
                      <m:f>
                        <m:fPr>
                          <m:type m:val="bar"/>
                        </m:fPr>
                        <m:num>
                          <m:r>
                            <m:t>S</m:t>
                          </m:r>
                          <m:r>
                            <m:t>S</m:t>
                          </m:r>
                        </m:num>
                        <m:den>
                          <m:r>
                            <m:t>d</m:t>
                          </m:r>
                          <m:r>
                            <m:t>f</m:t>
                          </m:r>
                        </m:den>
                      </m:f>
                      <m:r>
                        <m:t>  </m:t>
                      </m:r>
                      <m:r>
                        <m:t>F</m:t>
                      </m:r>
                      <m:r>
                        <m:rPr>
                          <m:sty m:val="p"/>
                        </m:rPr>
                        <m:t>=</m:t>
                      </m:r>
                      <m:f>
                        <m:fPr>
                          <m:type m:val="bar"/>
                        </m:fPr>
                        <m:num>
                          <m:r>
                            <m:t>M</m:t>
                          </m:r>
                          <m:sSub>
                            <m:e>
                              <m:r>
                                <m:t>S</m:t>
                              </m:r>
                            </m:e>
                            <m:sub>
                              <m:r>
                                <m:t>r</m:t>
                              </m:r>
                              <m:r>
                                <m:t>e</m:t>
                              </m:r>
                              <m:r>
                                <m:t>g</m:t>
                              </m:r>
                              <m:r>
                                <m:t>r</m:t>
                              </m:r>
                              <m:r>
                                <m:t>e</m:t>
                              </m:r>
                              <m:r>
                                <m:t>s</m:t>
                              </m:r>
                              <m:r>
                                <m:t>s</m:t>
                              </m:r>
                              <m:r>
                                <m:t>i</m:t>
                              </m:r>
                              <m:r>
                                <m:t>o</m:t>
                              </m:r>
                              <m:r>
                                <m:t>n</m:t>
                              </m:r>
                            </m:sub>
                          </m:sSub>
                        </m:num>
                        <m:den>
                          <m:r>
                            <m:t>M</m:t>
                          </m:r>
                          <m:sSub>
                            <m:e>
                              <m:r>
                                <m:t>S</m:t>
                              </m:r>
                            </m:e>
                            <m:sub>
                              <m:r>
                                <m:t>r</m:t>
                              </m:r>
                              <m:r>
                                <m:t>e</m:t>
                              </m:r>
                              <m:r>
                                <m:t>s</m:t>
                              </m:r>
                              <m:r>
                                <m:t>i</m:t>
                              </m:r>
                              <m:r>
                                <m:t>d</m:t>
                              </m:r>
                              <m:r>
                                <m:t>u</m:t>
                              </m:r>
                              <m:r>
                                <m:t>a</m:t>
                              </m:r>
                              <m:r>
                                <m:t>l</m:t>
                              </m:r>
                            </m:sub>
                          </m:sSub>
                        </m:den>
                      </m:f>
                    </m:oMath>
                  </m:oMathPara>
                </a14:m>
              </a:p>
              <a:p>
                <a:pPr lvl="0"/>
                <a14:m>
                  <m:oMath xmlns:m="http://schemas.openxmlformats.org/officeDocument/2006/math">
                    <m:r>
                      <m:t>M</m:t>
                    </m:r>
                    <m:sSub>
                      <m:e>
                        <m:r>
                          <m:t>S</m:t>
                        </m:r>
                      </m:e>
                      <m:sub>
                        <m:r>
                          <m:t>r</m:t>
                        </m:r>
                        <m:r>
                          <m:t>e</m:t>
                        </m:r>
                        <m:r>
                          <m:t>s</m:t>
                        </m:r>
                        <m:r>
                          <m:t>i</m:t>
                        </m:r>
                        <m:r>
                          <m:t>d</m:t>
                        </m:r>
                        <m:r>
                          <m:t>u</m:t>
                        </m:r>
                        <m:r>
                          <m:t>a</m:t>
                        </m:r>
                        <m:r>
                          <m:t>l</m:t>
                        </m:r>
                      </m:sub>
                    </m:sSub>
                  </m:oMath>
                </a14:m>
                <a:r>
                  <a:rPr/>
                  <a:t> = 2.785 — estimates the background variance σ²</a:t>
                </a:r>
              </a:p>
              <a:p>
                <a:pPr lvl="0"/>
                <a14:m>
                  <m:oMath xmlns:m="http://schemas.openxmlformats.org/officeDocument/2006/math">
                    <m:r>
                      <m:t>M</m:t>
                    </m:r>
                    <m:sSub>
                      <m:e>
                        <m:r>
                          <m:t>S</m:t>
                        </m:r>
                      </m:e>
                      <m:sub>
                        <m:r>
                          <m:t>r</m:t>
                        </m:r>
                        <m:r>
                          <m:t>e</m:t>
                        </m:r>
                        <m:r>
                          <m:t>g</m:t>
                        </m:r>
                        <m:r>
                          <m:t>r</m:t>
                        </m:r>
                        <m:r>
                          <m:t>e</m:t>
                        </m:r>
                        <m:r>
                          <m:t>s</m:t>
                        </m:r>
                        <m:r>
                          <m:t>s</m:t>
                        </m:r>
                        <m:r>
                          <m:t>i</m:t>
                        </m:r>
                        <m:r>
                          <m:t>o</m:t>
                        </m:r>
                        <m:r>
                          <m:t>n</m:t>
                        </m:r>
                      </m:sub>
                    </m:sSub>
                  </m:oMath>
                </a14:m>
                <a:r>
                  <a:rPr/>
                  <a:t> = 138.54 — estimates that </a:t>
                </a:r>
                <a:r>
                  <a:rPr b="1"/>
                  <a:t>same</a:t>
                </a:r>
                <a:r>
                  <a:rPr/>
                  <a:t> σ², </a:t>
                </a:r>
                <a:r>
                  <a:rPr i="1"/>
                  <a:t>plus</a:t>
                </a:r>
                <a:r>
                  <a:rPr/>
                  <a:t> whatever the X–Y relationship adds</a:t>
                </a:r>
              </a:p>
              <a:p>
                <a:pPr lvl="0"/>
                <a:r>
                  <a:rPr b="1"/>
                  <a:t>If the slope is truly zero, both estimate the same thing and F ≈ 1.</a:t>
                </a:r>
                <a:r>
                  <a:rPr/>
                  <a:t> Here F = </a:t>
                </a:r>
                <a:r>
                  <a:rPr b="1"/>
                  <a:t>49.75</a:t>
                </a:r>
              </a:p>
              <a:p>
                <a:pPr lvl="0" indent="0" marL="0">
                  <a:buNone/>
                </a:pPr>
                <a:r>
                  <a:rPr/>
                  <a:t>Sums of squares add up. </a:t>
                </a:r>
                <a:r>
                  <a:rPr b="1"/>
                  <a:t>Mean squares do not.</a:t>
                </a:r>
              </a:p>
            </p:txBody>
          </p:sp>
        </mc:Choice>
      </mc:AlternateContent>
      <p:pic>
        <p:nvPicPr>
          <p:cNvPr descr="images/clipboard-77063277.png" id="0" name="Picture 1"/>
          <p:cNvPicPr>
            <a:picLocks noGrp="1" noChangeAspect="1"/>
          </p:cNvPicPr>
          <p:nvPr/>
        </p:nvPicPr>
        <p:blipFill>
          <a:blip r:embed="rId2"/>
          <a:stretch>
            <a:fillRect/>
          </a:stretch>
        </p:blipFill>
        <p:spPr bwMode="auto">
          <a:xfrm>
            <a:off x="6121400" y="2438400"/>
            <a:ext cx="2781300" cy="914400"/>
          </a:xfrm>
          <a:prstGeom prst="rect">
            <a:avLst/>
          </a:prstGeom>
          <a:noFill/>
          <a:ln w="9525">
            <a:noFill/>
            <a:headEnd/>
            <a:tailEnd/>
          </a:ln>
        </p:spPr>
      </p:pic>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 DECIDE · You Double the Sample Size</a:t>
            </a:r>
          </a:p>
        </p:txBody>
      </p:sp>
      <mc:AlternateContent xmlns:mc="http://schemas.openxmlformats.org/markup-compatibility/2006">
        <mc:Choice xmlns:a14="http://schemas.microsoft.com/office/drawing/2010/main" Requires="a14">
          <p:sp>
            <p:nvSpPr>
              <p:cNvPr id="3" name="Content Placeholder 2"/>
              <p:cNvSpPr>
                <a:spLocks noGrp="1"/>
              </p:cNvSpPr>
              <p:nvPr>
                <p:ph idx="1" sz="half"/>
              </p:nvPr>
            </p:nvSpPr>
            <p:spPr/>
            <p:txBody>
              <a:bodyPr/>
              <a:lstStyle/>
              <a:p>
                <a:pPr lvl="0" indent="0" marL="0">
                  <a:buNone/>
                </a:pPr>
                <a:r>
                  <a:rPr/>
                  <a:t>You repeat the lion study and come back with </a:t>
                </a:r>
                <a:r>
                  <a:rPr b="1"/>
                  <a:t>64 lions instead of 32</a:t>
                </a:r>
                <a:r>
                  <a:rPr/>
                  <a:t>. The relationship is identical — same slope, same scatter around the line.</a:t>
                </a:r>
              </a:p>
              <a:p>
                <a:pPr lvl="0" indent="0" marL="0">
                  <a:buNone/>
                </a:pPr>
                <a:r>
                  <a:rPr b="1"/>
                  <a:t>Compared with the original analysis, what happens?</a:t>
                </a:r>
              </a:p>
              <a:p>
                <a:pPr lvl="0" indent="0" marL="0">
                  <a:buNone/>
                </a:pPr>
                <a:r>
                  <a:rPr b="1"/>
                  <a:t>(a)</a:t>
                </a:r>
                <a:r>
                  <a:rPr/>
                  <a:t> </a:t>
                </a:r>
                <a14:m>
                  <m:oMath xmlns:m="http://schemas.openxmlformats.org/officeDocument/2006/math">
                    <m:r>
                      <m:t>S</m:t>
                    </m:r>
                    <m:sSub>
                      <m:e>
                        <m:r>
                          <m:t>S</m:t>
                        </m:r>
                      </m:e>
                      <m:sub>
                        <m:r>
                          <m:t>t</m:t>
                        </m:r>
                        <m:r>
                          <m:t>o</m:t>
                        </m:r>
                        <m:r>
                          <m:t>t</m:t>
                        </m:r>
                        <m:r>
                          <m:t>a</m:t>
                        </m:r>
                        <m:r>
                          <m:t>l</m:t>
                        </m:r>
                      </m:sub>
                    </m:sSub>
                  </m:oMath>
                </a14:m>
                <a:r>
                  <a:rPr/>
                  <a:t> roughly doubles, and </a:t>
                </a:r>
                <a14:m>
                  <m:oMath xmlns:m="http://schemas.openxmlformats.org/officeDocument/2006/math">
                    <m:r>
                      <m:t>M</m:t>
                    </m:r>
                    <m:sSub>
                      <m:e>
                        <m:r>
                          <m:t>S</m:t>
                        </m:r>
                      </m:e>
                      <m:sub>
                        <m:r>
                          <m:t>r</m:t>
                        </m:r>
                        <m:r>
                          <m:t>e</m:t>
                        </m:r>
                        <m:r>
                          <m:t>s</m:t>
                        </m:r>
                        <m:r>
                          <m:t>i</m:t>
                        </m:r>
                        <m:r>
                          <m:t>d</m:t>
                        </m:r>
                        <m:r>
                          <m:t>u</m:t>
                        </m:r>
                        <m:r>
                          <m:t>a</m:t>
                        </m:r>
                        <m:r>
                          <m:t>l</m:t>
                        </m:r>
                      </m:sub>
                    </m:sSub>
                  </m:oMath>
                </a14:m>
                <a:r>
                  <a:rPr/>
                  <a:t> roughly doubles with it</a:t>
                </a:r>
              </a:p>
              <a:p>
                <a:pPr lvl="0" indent="0" marL="0">
                  <a:buNone/>
                </a:pPr>
                <a:r>
                  <a:rPr b="1"/>
                  <a:t>(b)</a:t>
                </a:r>
                <a:r>
                  <a:rPr/>
                  <a:t> </a:t>
                </a:r>
                <a14:m>
                  <m:oMath xmlns:m="http://schemas.openxmlformats.org/officeDocument/2006/math">
                    <m:r>
                      <m:t>S</m:t>
                    </m:r>
                    <m:sSub>
                      <m:e>
                        <m:r>
                          <m:t>S</m:t>
                        </m:r>
                      </m:e>
                      <m:sub>
                        <m:r>
                          <m:t>t</m:t>
                        </m:r>
                        <m:r>
                          <m:t>o</m:t>
                        </m:r>
                        <m:r>
                          <m:t>t</m:t>
                        </m:r>
                        <m:r>
                          <m:t>a</m:t>
                        </m:r>
                        <m:r>
                          <m:t>l</m:t>
                        </m:r>
                      </m:sub>
                    </m:sSub>
                  </m:oMath>
                </a14:m>
                <a:r>
                  <a:rPr/>
                  <a:t> roughly doubles, but </a:t>
                </a:r>
                <a14:m>
                  <m:oMath xmlns:m="http://schemas.openxmlformats.org/officeDocument/2006/math">
                    <m:r>
                      <m:t>M</m:t>
                    </m:r>
                    <m:sSub>
                      <m:e>
                        <m:r>
                          <m:t>S</m:t>
                        </m:r>
                      </m:e>
                      <m:sub>
                        <m:r>
                          <m:t>r</m:t>
                        </m:r>
                        <m:r>
                          <m:t>e</m:t>
                        </m:r>
                        <m:r>
                          <m:t>s</m:t>
                        </m:r>
                        <m:r>
                          <m:t>i</m:t>
                        </m:r>
                        <m:r>
                          <m:t>d</m:t>
                        </m:r>
                        <m:r>
                          <m:t>u</m:t>
                        </m:r>
                        <m:r>
                          <m:t>a</m:t>
                        </m:r>
                        <m:r>
                          <m:t>l</m:t>
                        </m:r>
                      </m:sub>
                    </m:sSub>
                  </m:oMath>
                </a14:m>
                <a:r>
                  <a:rPr/>
                  <a:t> stays about the same</a:t>
                </a:r>
              </a:p>
              <a:p>
                <a:pPr lvl="0" indent="0" marL="0">
                  <a:buNone/>
                </a:pPr>
                <a:r>
                  <a:rPr b="1"/>
                  <a:t>(c)</a:t>
                </a:r>
                <a:r>
                  <a:rPr/>
                  <a:t> Both stay about the same — doubling n changes neither</a:t>
                </a:r>
              </a:p>
              <a:p>
                <a:pPr lvl="0" indent="0" marL="0">
                  <a:buNone/>
                </a:pPr>
                <a:r>
                  <a:rPr b="1"/>
                  <a:t>(d)</a:t>
                </a:r>
                <a:r>
                  <a:rPr/>
                  <a:t> </a:t>
                </a:r>
                <a14:m>
                  <m:oMath xmlns:m="http://schemas.openxmlformats.org/officeDocument/2006/math">
                    <m:r>
                      <m:t>S</m:t>
                    </m:r>
                    <m:sSub>
                      <m:e>
                        <m:r>
                          <m:t>S</m:t>
                        </m:r>
                      </m:e>
                      <m:sub>
                        <m:r>
                          <m:t>t</m:t>
                        </m:r>
                        <m:r>
                          <m:t>o</m:t>
                        </m:r>
                        <m:r>
                          <m:t>t</m:t>
                        </m:r>
                        <m:r>
                          <m:t>a</m:t>
                        </m:r>
                        <m:r>
                          <m:t>l</m:t>
                        </m:r>
                      </m:sub>
                    </m:sSub>
                  </m:oMath>
                </a14:m>
                <a:r>
                  <a:rPr/>
                  <a:t> stays about the same and </a:t>
                </a:r>
                <a14:m>
                  <m:oMath xmlns:m="http://schemas.openxmlformats.org/officeDocument/2006/math">
                    <m:r>
                      <m:t>M</m:t>
                    </m:r>
                    <m:sSub>
                      <m:e>
                        <m:r>
                          <m:t>S</m:t>
                        </m:r>
                      </m:e>
                      <m:sub>
                        <m:r>
                          <m:t>r</m:t>
                        </m:r>
                        <m:r>
                          <m:t>e</m:t>
                        </m:r>
                        <m:r>
                          <m:t>s</m:t>
                        </m:r>
                        <m:r>
                          <m:t>i</m:t>
                        </m:r>
                        <m:r>
                          <m:t>d</m:t>
                        </m:r>
                        <m:r>
                          <m:t>u</m:t>
                        </m:r>
                        <m:r>
                          <m:t>a</m:t>
                        </m:r>
                        <m:r>
                          <m:t>l</m:t>
                        </m:r>
                      </m:sub>
                    </m:sSub>
                  </m:oMath>
                </a14:m>
                <a:r>
                  <a:rPr/>
                  <a:t> halves</a:t>
                </a:r>
              </a:p>
              <a:p>
                <a:pPr lvl="0" indent="0" marL="1270000">
                  <a:buNone/>
                </a:pPr>
                <a:r>
                  <a:rPr sz="2000" b="1"/>
                  <a:t>Warning</a:t>
                </a:r>
              </a:p>
              <a:p>
                <a:pPr lvl="0" indent="0" marL="1270000">
                  <a:buNone/>
                </a:pPr>
                <a:r>
                  <a:rPr sz="2000" b="1"/>
                  <a:t>✍️ Write your letter down. This one decides whether you can read the table.</a:t>
                </a:r>
              </a:p>
            </p:txBody>
          </p:sp>
        </mc:Choice>
      </mc:AlternateContent>
      <p:sp>
        <p:nvSpPr>
          <p:cNvPr id="4" name="Content Placeholder 3"/>
          <p:cNvSpPr>
            <a:spLocks noGrp="1"/>
          </p:cNvSpPr>
          <p:nvPr>
            <p:ph idx="2" sz="half"/>
          </p:nvPr>
        </p:nvSpPr>
        <p:spPr/>
        <p:txBody>
          <a:bodyPr/>
          <a:lstStyle/>
          <a:p>
            <a:pPr lvl="0" indent="0" marL="1270000">
              <a:buNone/>
            </a:pPr>
            <a:r>
              <a:rPr sz="2000" b="1"/>
              <a:t>Note</a:t>
            </a:r>
          </a:p>
          <a:p>
            <a:pPr lvl="0" indent="0" marL="1270000">
              <a:buNone/>
            </a:pPr>
            <a:r>
              <a:rPr sz="2000" b="1"/>
              <a:t>The question to ask</a:t>
            </a:r>
          </a:p>
          <a:p>
            <a:pPr lvl="0" indent="0" marL="1270000">
              <a:buNone/>
            </a:pPr>
            <a:r>
              <a:rPr sz="2000" i="1"/>
              <a:t>Which of these is a total, and which is an average?</a:t>
            </a:r>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Why Mean Squares Exist At All</a:t>
            </a:r>
          </a:p>
        </p:txBody>
      </p:sp>
      <mc:AlternateContent xmlns:mc="http://schemas.openxmlformats.org/markup-compatibility/2006">
        <mc:Choice xmlns:a14="http://schemas.microsoft.com/office/drawing/2010/main" Requires="a14">
          <p:sp>
            <p:nvSpPr>
              <p:cNvPr id="3" name="Content Placeholder 2"/>
              <p:cNvSpPr>
                <a:spLocks noGrp="1"/>
              </p:cNvSpPr>
              <p:nvPr>
                <p:ph idx="1" sz="half"/>
              </p:nvPr>
            </p:nvSpPr>
            <p:spPr/>
            <p:txBody>
              <a:bodyPr/>
              <a:lstStyle/>
              <a:p>
                <a:pPr lvl="0" indent="0" marL="1270000">
                  <a:buNone/>
                </a:pPr>
                <a:r>
                  <a:rPr sz="2000" b="1"/>
                  <a:t>Important</a:t>
                </a:r>
              </a:p>
              <a:p>
                <a:pPr lvl="0" indent="0" marL="1270000">
                  <a:buNone/>
                </a:pPr>
                <a:r>
                  <a:rPr sz="2000" b="1"/>
                  <a:t>✅ The answer is (b).</a:t>
                </a:r>
              </a:p>
              <a:p>
                <a:pPr lvl="0" indent="0" marL="1270000">
                  <a:buNone/>
                </a:pPr>
                <a14:m>
                  <m:oMath xmlns:m="http://schemas.openxmlformats.org/officeDocument/2006/math">
                    <m:r>
                      <m:t>S</m:t>
                    </m:r>
                    <m:sSub>
                      <m:e>
                        <m:r>
                          <m:t>S</m:t>
                        </m:r>
                      </m:e>
                      <m:sub>
                        <m:r>
                          <m:t>t</m:t>
                        </m:r>
                        <m:r>
                          <m:t>o</m:t>
                        </m:r>
                        <m:r>
                          <m:t>t</m:t>
                        </m:r>
                        <m:r>
                          <m:t>a</m:t>
                        </m:r>
                        <m:r>
                          <m:t>l</m:t>
                        </m:r>
                      </m:sub>
                    </m:sSub>
                  </m:oMath>
                </a14:m>
                <a:r>
                  <a:rPr sz="2000"/>
                  <a:t> is a </a:t>
                </a:r>
                <a:r>
                  <a:rPr sz="2000" b="1"/>
                  <a:t>sum</a:t>
                </a:r>
                <a:r>
                  <a:rPr sz="2000"/>
                  <a:t> over every observation, so twice the data is roughly twice the sum. </a:t>
                </a:r>
                <a14:m>
                  <m:oMath xmlns:m="http://schemas.openxmlformats.org/officeDocument/2006/math">
                    <m:r>
                      <m:t>M</m:t>
                    </m:r>
                    <m:sSub>
                      <m:e>
                        <m:r>
                          <m:t>S</m:t>
                        </m:r>
                      </m:e>
                      <m:sub>
                        <m:r>
                          <m:t>r</m:t>
                        </m:r>
                        <m:r>
                          <m:t>e</m:t>
                        </m:r>
                        <m:r>
                          <m:t>s</m:t>
                        </m:r>
                        <m:r>
                          <m:t>i</m:t>
                        </m:r>
                        <m:r>
                          <m:t>d</m:t>
                        </m:r>
                        <m:r>
                          <m:t>u</m:t>
                        </m:r>
                        <m:r>
                          <m:t>a</m:t>
                        </m:r>
                        <m:r>
                          <m:t>l</m:t>
                        </m:r>
                      </m:sub>
                    </m:sSub>
                  </m:oMath>
                </a14:m>
                <a:r>
                  <a:rPr sz="2000"/>
                  <a:t> is that sum </a:t>
                </a:r>
                <a:r>
                  <a:rPr sz="2000" b="1"/>
                  <a:t>divided by its degrees of freedom</a:t>
                </a:r>
                <a:r>
                  <a:rPr sz="2000"/>
                  <a:t> — an average squared deviation — so it estimates the same σ² no matter how many lions you measure.</a:t>
                </a:r>
              </a:p>
              <a:p>
                <a:pPr lvl="0" indent="0" marL="1270000">
                  <a:buNone/>
                </a:pPr>
                <a:r>
                  <a:rPr sz="2000"/>
                  <a:t>That is exactly why the table converts sums of squares into mean squares before testing anything. You cannot compare two sums built from different amounts of data; you can compare two variances.</a:t>
                </a:r>
              </a:p>
            </p:txBody>
          </p:sp>
        </mc:Choice>
      </mc:AlternateContent>
      <p:sp>
        <p:nvSpPr>
          <p:cNvPr id="4" name="Content Placeholder 3"/>
          <p:cNvSpPr>
            <a:spLocks noGrp="1"/>
          </p:cNvSpPr>
          <p:nvPr>
            <p:ph idx="2" sz="half"/>
          </p:nvPr>
        </p:nvSpPr>
        <p:spPr/>
        <p:txBody>
          <a:bodyPr/>
          <a:lstStyle/>
          <a:p>
            <a:pPr lvl="0" indent="0" marL="1270000">
              <a:buNone/>
            </a:pPr>
            <a:r>
              <a:rPr sz="2000" b="1"/>
              <a:t>Tip</a:t>
            </a:r>
          </a:p>
          <a:p>
            <a:pPr lvl="0" indent="0" marL="1270000">
              <a:buNone/>
            </a:pPr>
            <a:r>
              <a:rPr sz="2000" b="1"/>
              <a:t>🖐 What doubling n actually buys</a:t>
            </a:r>
          </a:p>
          <a:p>
            <a:pPr lvl="0" indent="0" marL="1270000">
              <a:buNone/>
            </a:pPr>
            <a:r>
              <a:rPr sz="2000"/>
              <a:t>σ² does not change, but the </a:t>
            </a:r>
            <a:r>
              <a:rPr sz="2000" b="1"/>
              <a:t>standard error of the slope</a:t>
            </a:r>
            <a:r>
              <a:rPr sz="2000"/>
              <a:t> shrinks with √n — so F rises and the confidence band tightens.</a:t>
            </a:r>
          </a:p>
          <a:p>
            <a:pPr lvl="0" indent="0" marL="1270000">
              <a:buNone/>
            </a:pPr>
            <a:r>
              <a:rPr sz="2000"/>
              <a:t>More data does not reduce the scatter in nature. It reduces your uncertainty about the line running through it.</a:t>
            </a:r>
          </a:p>
        </p:txBody>
      </p:sp>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The Bridge · One Table, Every Model From Here</a:t>
            </a:r>
          </a:p>
        </p:txBody>
      </p:sp>
      <mc:AlternateContent xmlns:mc="http://schemas.openxmlformats.org/markup-compatibility/2006">
        <mc:Choice xmlns:a14="http://schemas.microsoft.com/office/drawing/2010/main" Requires="a14">
          <p:sp>
            <p:nvSpPr>
              <p:cNvPr id="3" name="Content Placeholder 2"/>
              <p:cNvSpPr>
                <a:spLocks noGrp="1"/>
              </p:cNvSpPr>
              <p:nvPr>
                <p:ph idx="1" sz="half"/>
              </p:nvPr>
            </p:nvSpPr>
            <p:spPr/>
            <p:txBody>
              <a:bodyPr/>
              <a:lstStyle/>
              <a:p>
                <a:pPr lvl="0" indent="0" marL="0">
                  <a:buNone/>
                </a:pPr>
                <a:r>
                  <a:rPr/>
                  <a:t>For the lion model, all of these are </a:t>
                </a:r>
                <a:r>
                  <a:rPr b="1"/>
                  <a:t>the same test</a:t>
                </a:r>
                <a:r>
                  <a:rPr/>
                  <a:t>:</a:t>
                </a:r>
              </a:p>
              <a:p>
                <a:pPr lvl="0" indent="0" marL="0">
                  <a:buNone/>
                </a:pPr>
                <a:r>
                  <a:rPr b="1"/>
                  <a:t>t² = F.</a:t>
                </a:r>
                <a:r>
                  <a:rPr/>
                  <a:t> The t-test on a slope and the F-test in the ANOVA table are one test asked two ways — and </a:t>
                </a:r>
                <a14:m>
                  <m:oMath xmlns:m="http://schemas.openxmlformats.org/officeDocument/2006/math">
                    <m:sSup>
                      <m:e>
                        <m:r>
                          <m:t>r</m:t>
                        </m:r>
                      </m:e>
                      <m:sup>
                        <m:r>
                          <m:t>2</m:t>
                        </m:r>
                      </m:sup>
                    </m:sSup>
                    <m:r>
                      <m:rPr>
                        <m:sty m:val="p"/>
                      </m:rPr>
                      <m:t>=</m:t>
                    </m:r>
                    <m:r>
                      <m:t>S</m:t>
                    </m:r>
                    <m:sSub>
                      <m:e>
                        <m:r>
                          <m:t>S</m:t>
                        </m:r>
                      </m:e>
                      <m:sub>
                        <m:r>
                          <m:t>r</m:t>
                        </m:r>
                        <m:r>
                          <m:t>e</m:t>
                        </m:r>
                        <m:r>
                          <m:t>g</m:t>
                        </m:r>
                      </m:sub>
                    </m:sSub>
                    <m:r>
                      <m:rPr>
                        <m:sty m:val="p"/>
                      </m:rPr>
                      <m:t>/</m:t>
                    </m:r>
                    <m:r>
                      <m:t>S</m:t>
                    </m:r>
                    <m:sSub>
                      <m:e>
                        <m:r>
                          <m:t>S</m:t>
                        </m:r>
                      </m:e>
                      <m:sub>
                        <m:r>
                          <m:t>t</m:t>
                        </m:r>
                        <m:r>
                          <m:t>o</m:t>
                        </m:r>
                        <m:r>
                          <m:t>t</m:t>
                        </m:r>
                        <m:r>
                          <m:t>a</m:t>
                        </m:r>
                        <m:r>
                          <m:t>l</m:t>
                        </m:r>
                      </m:sub>
                    </m:sSub>
                  </m:oMath>
                </a14:m>
                <a:r>
                  <a:rPr/>
                  <a:t> ties both back to the correlation half of this lecture.</a:t>
                </a:r>
              </a:p>
            </p:txBody>
          </p:sp>
        </mc:Choice>
      </mc:AlternateContent>
      <p:sp>
        <p:nvSpPr>
          <p:cNvPr id="4" name="Content Placeholder 3"/>
          <p:cNvSpPr>
            <a:spLocks noGrp="1"/>
          </p:cNvSpPr>
          <p:nvPr>
            <p:ph idx="2" sz="half"/>
          </p:nvPr>
        </p:nvSpPr>
        <p:spPr/>
        <p:txBody>
          <a:bodyPr/>
          <a:lstStyle/>
          <a:p>
            <a:pPr lvl="0" indent="0" marL="1270000">
              <a:buNone/>
            </a:pPr>
            <a:r>
              <a:rPr sz="2000" b="1"/>
              <a:t>Important</a:t>
            </a:r>
          </a:p>
          <a:p>
            <a:pPr lvl="0" indent="0" marL="1270000">
              <a:buNone/>
            </a:pPr>
            <a:r>
              <a:rPr sz="2000" b="1"/>
              <a:t>✅ Why this is the most important slide today</a:t>
            </a:r>
          </a:p>
          <a:p>
            <a:pPr lvl="0" indent="0" marL="1270000">
              <a:buNone/>
            </a:pPr>
            <a:r>
              <a:rPr sz="2000"/>
              <a:t>Every analysis for the rest of the course is this same partition with more rows:</a:t>
            </a:r>
          </a:p>
          <a:p>
            <a:pPr lvl="0"/>
            <a:r>
              <a:rPr sz="2000" b="1"/>
              <a:t>One-way ANOVA</a:t>
            </a:r>
            <a:r>
              <a:rPr sz="2000"/>
              <a:t> — groups instead of a slope</a:t>
            </a:r>
          </a:p>
          <a:p>
            <a:pPr lvl="0"/>
            <a:r>
              <a:rPr sz="2000" b="1"/>
              <a:t>Two-way ANOVA</a:t>
            </a:r>
            <a:r>
              <a:rPr sz="2000"/>
              <a:t> — a row per factor, plus interaction</a:t>
            </a:r>
          </a:p>
          <a:p>
            <a:pPr lvl="0"/>
            <a:r>
              <a:rPr sz="2000" b="1"/>
              <a:t>Nested ANOVA</a:t>
            </a:r>
            <a:r>
              <a:rPr sz="2000"/>
              <a:t> — a row per level of nesting</a:t>
            </a:r>
          </a:p>
          <a:p>
            <a:pPr lvl="0"/>
            <a:r>
              <a:rPr sz="2000" b="1"/>
              <a:t>ANCOVA</a:t>
            </a:r>
            <a:r>
              <a:rPr sz="2000"/>
              <a:t> — a slope row </a:t>
            </a:r>
            <a:r>
              <a:rPr sz="2000" i="1"/>
              <a:t>and</a:t>
            </a:r>
            <a:r>
              <a:rPr sz="2000"/>
              <a:t> a group row</a:t>
            </a:r>
          </a:p>
          <a:p>
            <a:pPr lvl="0" indent="0" marL="1270000">
              <a:buNone/>
            </a:pPr>
            <a:r>
              <a:rPr sz="2000"/>
              <a:t>Learn to read this table once and you can read all of them.</a:t>
            </a:r>
          </a:p>
        </p:txBody>
      </p:sp>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Part 6 · Testing Regression Assumptions</a:t>
            </a:r>
          </a:p>
        </p:txBody>
      </p:sp>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Testing Regression Assumptions — Overview</a:t>
            </a:r>
          </a:p>
        </p:txBody>
      </p:sp>
      <mc:AlternateContent xmlns:mc="http://schemas.openxmlformats.org/markup-compatibility/2006">
        <mc:Choice xmlns:a14="http://schemas.microsoft.com/office/drawing/2010/main" Requires="a14">
          <p:sp>
            <p:nvSpPr>
              <p:cNvPr id="3" name="Content Placeholder 2"/>
              <p:cNvSpPr>
                <a:spLocks noGrp="1"/>
              </p:cNvSpPr>
              <p:nvPr>
                <p:ph idx="1" sz="half"/>
              </p:nvPr>
            </p:nvSpPr>
            <p:spPr/>
            <p:txBody>
              <a:bodyPr/>
              <a:lstStyle/>
              <a:p>
                <a:pPr lvl="0" indent="0" marL="0">
                  <a:buNone/>
                </a:pPr>
                <a:r>
                  <a:rPr/>
                  <a:t>Simple linear regression assumes:</a:t>
                </a:r>
              </a:p>
              <a:p>
                <a:pPr lvl="0" indent="-342900" marL="342900">
                  <a:buAutoNum type="arabicPeriod"/>
                </a:pPr>
                <a:r>
                  <a:rPr b="1"/>
                  <a:t>Linearity</a:t>
                </a:r>
                <a:r>
                  <a:rPr/>
                  <a:t> — the true relationship is a straight line</a:t>
                </a:r>
              </a:p>
              <a:p>
                <a:pPr lvl="0" indent="-342900" marL="342900">
                  <a:buAutoNum type="arabicPeriod"/>
                </a:pPr>
                <a:r>
                  <a:rPr b="1"/>
                  <a:t>Independence</a:t>
                </a:r>
                <a:r>
                  <a:rPr/>
                  <a:t> — observations do not depend on each other</a:t>
                </a:r>
              </a:p>
              <a:p>
                <a:pPr lvl="0" indent="-342900" marL="342900">
                  <a:buAutoNum type="arabicPeriod"/>
                </a:pPr>
                <a:r>
                  <a:rPr b="1"/>
                  <a:t>Homoscedasticity</a:t>
                </a:r>
                <a:r>
                  <a:rPr/>
                  <a:t> — equal scatter at every value of X</a:t>
                </a:r>
              </a:p>
              <a:p>
                <a:pPr lvl="0" indent="-342900" marL="342900">
                  <a:buAutoNum type="arabicPeriod"/>
                </a:pPr>
                <a:r>
                  <a:rPr b="1"/>
                  <a:t>Normality</a:t>
                </a:r>
                <a:r>
                  <a:rPr/>
                  <a:t> — the residuals are normally distributed</a:t>
                </a:r>
              </a:p>
              <a:p>
                <a:pPr lvl="0" indent="0" marL="0">
                  <a:buNone/>
                </a:pPr>
                <a:r>
                  <a:rPr/>
                  <a:t>Stated formally: the error </a:t>
                </a:r>
                <a14:m>
                  <m:oMath xmlns:m="http://schemas.openxmlformats.org/officeDocument/2006/math">
                    <m:sSub>
                      <m:e>
                        <m:r>
                          <m:t>ε</m:t>
                        </m:r>
                      </m:e>
                      <m:sub>
                        <m:r>
                          <m:t>i</m:t>
                        </m:r>
                      </m:sub>
                    </m:sSub>
                  </m:oMath>
                </a14:m>
                <a:r>
                  <a:rPr/>
                  <a:t> is normal, with a mean of 0 and the </a:t>
                </a:r>
                <a:r>
                  <a:rPr b="1"/>
                  <a:t>same variance</a:t>
                </a:r>
                <a:r>
                  <a:rPr/>
                  <a:t>, at every value of x.</a:t>
                </a:r>
              </a:p>
            </p:txBody>
          </p:sp>
        </mc:Choice>
      </mc:AlternateContent>
      <p:pic>
        <p:nvPicPr>
          <p:cNvPr descr="images/clipboard-2092034232.png" id="0" name="Picture 1"/>
          <p:cNvPicPr>
            <a:picLocks noGrp="1" noChangeAspect="1"/>
          </p:cNvPicPr>
          <p:nvPr/>
        </p:nvPicPr>
        <p:blipFill>
          <a:blip r:embed="rId2"/>
          <a:stretch>
            <a:fillRect/>
          </a:stretch>
        </p:blipFill>
        <p:spPr bwMode="auto">
          <a:xfrm>
            <a:off x="6121400" y="2108200"/>
            <a:ext cx="2781300" cy="1587500"/>
          </a:xfrm>
          <a:prstGeom prst="rect">
            <a:avLst/>
          </a:prstGeom>
          <a:noFill/>
          <a:ln w="9525">
            <a:noFill/>
            <a:headEnd/>
            <a:tailEnd/>
          </a:ln>
        </p:spPr>
      </p:pic>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Every Check Is About the Residuals</a:t>
            </a:r>
          </a:p>
        </p:txBody>
      </p:sp>
      <mc:AlternateContent xmlns:mc="http://schemas.openxmlformats.org/markup-compatibility/2006">
        <mc:Choice xmlns:a14="http://schemas.microsoft.com/office/drawing/2010/main" Requires="a14">
          <p:sp>
            <p:nvSpPr>
              <p:cNvPr id="3" name="Content Placeholder 2"/>
              <p:cNvSpPr>
                <a:spLocks noGrp="1"/>
              </p:cNvSpPr>
              <p:nvPr>
                <p:ph idx="1" sz="half"/>
              </p:nvPr>
            </p:nvSpPr>
            <p:spPr/>
            <p:txBody>
              <a:bodyPr/>
              <a:lstStyle/>
              <a:p>
                <a:pPr lvl="0" indent="0" marL="0">
                  <a:buNone/>
                </a:pPr>
                <a:r>
                  <a:rPr/>
                  <a:t>Every assumption check from here on uses the </a:t>
                </a:r>
                <a:r>
                  <a:rPr b="1"/>
                  <a:t>residuals</a:t>
                </a:r>
                <a:r>
                  <a:rPr/>
                  <a:t>, not the raw data. That is the single most common mix-up in regression.</a:t>
                </a:r>
              </a:p>
              <a:p>
                <a:pPr lvl="0" indent="0" marL="0">
                  <a:buNone/>
                </a:pPr>
                <a:r>
                  <a:rPr/>
                  <a:t>The error </a:t>
                </a:r>
                <a14:m>
                  <m:oMath xmlns:m="http://schemas.openxmlformats.org/officeDocument/2006/math">
                    <m:sSub>
                      <m:e>
                        <m:r>
                          <m:t>ε</m:t>
                        </m:r>
                      </m:e>
                      <m:sub>
                        <m:r>
                          <m:t>i</m:t>
                        </m:r>
                      </m:sub>
                    </m:sSub>
                  </m:oMath>
                </a14:m>
                <a:r>
                  <a:rPr/>
                  <a:t> is estimated by the residual </a:t>
                </a:r>
                <a14:m>
                  <m:oMath xmlns:m="http://schemas.openxmlformats.org/officeDocument/2006/math">
                    <m:sSub>
                      <m:e>
                        <m:r>
                          <m:t>e</m:t>
                        </m:r>
                      </m:e>
                      <m:sub>
                        <m:r>
                          <m:t>i</m:t>
                        </m:r>
                      </m:sub>
                    </m:sSub>
                    <m:r>
                      <m:rPr>
                        <m:sty m:val="p"/>
                      </m:rPr>
                      <m:t>=</m:t>
                    </m:r>
                    <m:sSub>
                      <m:e>
                        <m:r>
                          <m:t>y</m:t>
                        </m:r>
                      </m:e>
                      <m:sub>
                        <m:r>
                          <m:t>i</m:t>
                        </m:r>
                      </m:sub>
                    </m:sSub>
                    <m:r>
                      <m:rPr>
                        <m:sty m:val="p"/>
                      </m:rPr>
                      <m:t>−</m:t>
                    </m:r>
                    <m:sSub>
                      <m:e>
                        <m:acc>
                          <m:accPr>
                            <m:chr m:val="̂"/>
                          </m:accPr>
                          <m:e>
                            <m:r>
                              <m:t>y</m:t>
                            </m:r>
                          </m:e>
                        </m:acc>
                      </m:e>
                      <m:sub>
                        <m:r>
                          <m:t>i</m:t>
                        </m:r>
                      </m:sub>
                    </m:sSub>
                  </m:oMath>
                </a14:m>
                <a:r>
                  <a:rPr/>
                  <a:t> — the same red segment you have seen on every lion plot today, and the same quantity that got squared and summed to build </a:t>
                </a:r>
                <a14:m>
                  <m:oMath xmlns:m="http://schemas.openxmlformats.org/officeDocument/2006/math">
                    <m:r>
                      <m:t>S</m:t>
                    </m:r>
                    <m:sSub>
                      <m:e>
                        <m:r>
                          <m:t>S</m:t>
                        </m:r>
                      </m:e>
                      <m:sub>
                        <m:r>
                          <m:t>r</m:t>
                        </m:r>
                        <m:r>
                          <m:t>e</m:t>
                        </m:r>
                        <m:r>
                          <m:t>s</m:t>
                        </m:r>
                        <m:r>
                          <m:t>i</m:t>
                        </m:r>
                        <m:r>
                          <m:t>d</m:t>
                        </m:r>
                        <m:r>
                          <m:t>u</m:t>
                        </m:r>
                        <m:r>
                          <m:t>a</m:t>
                        </m:r>
                        <m:r>
                          <m:t>l</m:t>
                        </m:r>
                      </m:sub>
                    </m:sSub>
                  </m:oMath>
                </a14:m>
                <a:r>
                  <a:rPr/>
                  <a:t>.</a:t>
                </a:r>
              </a:p>
              <a:p>
                <a:pPr lvl="0" indent="0" marL="0">
                  <a:buNone/>
                </a:pPr>
                <a:r>
                  <a:rPr/>
                  <a:t>Least squares already made these as small as possible. The diagnostics ask whether what is left over looks like random noise.</a:t>
                </a:r>
              </a:p>
            </p:txBody>
          </p:sp>
        </mc:Choice>
      </mc:AlternateContent>
      <p:pic>
        <p:nvPicPr>
          <p:cNvPr descr="images/clipboard-1411052425.png" id="0" name="Picture 1"/>
          <p:cNvPicPr>
            <a:picLocks noGrp="1" noChangeAspect="1"/>
          </p:cNvPicPr>
          <p:nvPr/>
        </p:nvPicPr>
        <p:blipFill>
          <a:blip r:embed="rId2"/>
          <a:stretch>
            <a:fillRect/>
          </a:stretch>
        </p:blipFill>
        <p:spPr bwMode="auto">
          <a:xfrm>
            <a:off x="6121400" y="1930400"/>
            <a:ext cx="2781300" cy="1943100"/>
          </a:xfrm>
          <a:prstGeom prst="rect">
            <a:avLst/>
          </a:prstGeom>
          <a:noFill/>
          <a:ln w="9525">
            <a:noFill/>
            <a:headEnd/>
            <a:tailEnd/>
          </a:ln>
        </p:spPr>
      </p:pic>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Checking Linearity — Residuals vs. Fitted</a:t>
            </a:r>
          </a:p>
        </p:txBody>
      </p:sp>
      <p:sp>
        <p:nvSpPr>
          <p:cNvPr id="3" name="Content Placeholder 2"/>
          <p:cNvSpPr>
            <a:spLocks noGrp="1"/>
          </p:cNvSpPr>
          <p:nvPr>
            <p:ph idx="1" sz="half"/>
          </p:nvPr>
        </p:nvSpPr>
        <p:spPr/>
        <p:txBody>
          <a:bodyPr/>
          <a:lstStyle/>
          <a:p>
            <a:pPr lvl="0" indent="0" marL="0">
              <a:buNone/>
            </a:pPr>
            <a:r>
              <a:rPr b="1"/>
              <a:t>What you want:</a:t>
            </a:r>
            <a:r>
              <a:rPr/>
              <a:t> a shapeless cloud, scattered evenly above and below the horizontal line at zero.</a:t>
            </a:r>
          </a:p>
          <a:p>
            <a:pPr lvl="0" indent="0" marL="0">
              <a:buNone/>
            </a:pPr>
            <a:r>
              <a:rPr b="1"/>
              <a:t>What is a problem:</a:t>
            </a:r>
            <a:r>
              <a:rPr/>
              <a:t> any </a:t>
            </a:r>
            <a:r>
              <a:rPr i="1"/>
              <a:t>curve</a:t>
            </a:r>
            <a:r>
              <a:rPr/>
              <a:t> in the trend line. A U-shape or an arch means a straight line is the wrong shape for these data — the exact failure Panel B showed back in the correlation half.</a:t>
            </a:r>
          </a:p>
          <a:p>
            <a:pPr lvl="0" indent="0" marL="0">
              <a:buNone/>
            </a:pPr>
            <a:r>
              <a:rPr/>
              <a:t>The plot doubles as a </a:t>
            </a:r>
            <a:r>
              <a:rPr b="1"/>
              <a:t>homoscedasticity</a:t>
            </a:r>
            <a:r>
              <a:rPr/>
              <a:t> check: if the cloud fans out or funnels in from left to right, the variance is not constant.</a:t>
            </a:r>
          </a:p>
        </p:txBody>
      </p:sp>
      <p:pic>
        <p:nvPicPr>
          <p:cNvPr descr="correlation_linear_models_lecture_files/figure-pptx/correlation-linear-models-26-1.png" id="0" name="Picture 1"/>
          <p:cNvPicPr>
            <a:picLocks noGrp="1" noChangeAspect="1"/>
          </p:cNvPicPr>
          <p:nvPr/>
        </p:nvPicPr>
        <p:blipFill>
          <a:blip r:embed="rId2"/>
          <a:stretch>
            <a:fillRect/>
          </a:stretch>
        </p:blipFill>
        <p:spPr bwMode="auto">
          <a:xfrm>
            <a:off x="6121400" y="1587500"/>
            <a:ext cx="2781300" cy="2616200"/>
          </a:xfrm>
          <a:prstGeom prst="rect">
            <a:avLst/>
          </a:prstGeom>
          <a:noFill/>
          <a:ln w="9525">
            <a:noFill/>
            <a:headEnd/>
            <a:tailEnd/>
          </a:ln>
        </p:spPr>
      </p:pic>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Checking Normality — QQ Plot of Residuals</a:t>
            </a:r>
          </a:p>
        </p:txBody>
      </p:sp>
      <p:sp>
        <p:nvSpPr>
          <p:cNvPr id="3" name="Content Placeholder 2"/>
          <p:cNvSpPr>
            <a:spLocks noGrp="1"/>
          </p:cNvSpPr>
          <p:nvPr>
            <p:ph idx="1" sz="half"/>
          </p:nvPr>
        </p:nvSpPr>
        <p:spPr/>
        <p:txBody>
          <a:bodyPr/>
          <a:lstStyle/>
          <a:p>
            <a:pPr lvl="0" indent="0" marL="0">
              <a:buNone/>
            </a:pPr>
            <a:r>
              <a:rPr/>
              <a:t>The QQ plot compares your residuals with what perfectly normal residuals would look like.</a:t>
            </a:r>
          </a:p>
          <a:p>
            <a:pPr lvl="0" indent="0" marL="0">
              <a:buNone/>
            </a:pPr>
            <a:r>
              <a:rPr b="1"/>
              <a:t>What you want:</a:t>
            </a:r>
            <a:r>
              <a:rPr/>
              <a:t> points hugging the diagonal.</a:t>
            </a:r>
          </a:p>
          <a:p>
            <a:pPr lvl="0" indent="0" marL="0">
              <a:buNone/>
            </a:pPr>
            <a:r>
              <a:rPr b="1"/>
              <a:t>What is a problem:</a:t>
            </a:r>
            <a:r>
              <a:rPr/>
              <a:t> systematic curvature, or points peeling away at the ends. Tails are where non-normality shows up first, and tails are what p-values depend on.</a:t>
            </a:r>
          </a:p>
          <a:p>
            <a:pPr lvl="0" indent="0" marL="0">
              <a:buNone/>
            </a:pPr>
            <a:r>
              <a:rPr/>
              <a:t>Note we check the residuals, </a:t>
            </a:r>
            <a:r>
              <a:rPr b="1"/>
              <a:t>not</a:t>
            </a:r>
            <a:r>
              <a:rPr/>
              <a:t> </a:t>
            </a:r>
            <a:r>
              <a:rPr>
                <a:latin typeface="Courier"/>
              </a:rPr>
              <a:t>age_years</a:t>
            </a:r>
            <a:r>
              <a:rPr/>
              <a:t> itself. The raw ages are right-skewed, and that is allowed. It is the residuals that have to behave.</a:t>
            </a:r>
          </a:p>
        </p:txBody>
      </p:sp>
      <p:pic>
        <p:nvPicPr>
          <p:cNvPr descr="correlation_linear_models_lecture_files/figure-pptx/correlation-linear-models-27-1.png" id="0" name="Picture 1"/>
          <p:cNvPicPr>
            <a:picLocks noGrp="1" noChangeAspect="1"/>
          </p:cNvPicPr>
          <p:nvPr/>
        </p:nvPicPr>
        <p:blipFill>
          <a:blip r:embed="rId2"/>
          <a:stretch>
            <a:fillRect/>
          </a:stretch>
        </p:blipFill>
        <p:spPr bwMode="auto">
          <a:xfrm>
            <a:off x="6121400" y="1587500"/>
            <a:ext cx="2781300" cy="2616200"/>
          </a:xfrm>
          <a:prstGeom prst="rect">
            <a:avLst/>
          </a:prstGeom>
          <a:noFill/>
          <a:ln w="9525">
            <a:noFill/>
            <a:headEnd/>
            <a:tailEnd/>
          </a:ln>
        </p:spPr>
      </p:pic>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Checking Normality — Shapiro-Wilk on Residuals</a:t>
            </a:r>
          </a:p>
        </p:txBody>
      </p:sp>
      <p:sp>
        <p:nvSpPr>
          <p:cNvPr id="3" name="Content Placeholder 2"/>
          <p:cNvSpPr>
            <a:spLocks noGrp="1"/>
          </p:cNvSpPr>
          <p:nvPr>
            <p:ph idx="1" sz="half"/>
          </p:nvPr>
        </p:nvSpPr>
        <p:spPr/>
        <p:txBody>
          <a:bodyPr/>
          <a:lstStyle/>
          <a:p>
            <a:pPr lvl="0" indent="0">
              <a:buNone/>
            </a:pPr>
            <a:r>
              <a:rPr>
                <a:solidFill>
                  <a:srgbClr val="4758AB"/>
                </a:solidFill>
                <a:latin typeface="Courier"/>
              </a:rPr>
              <a:t>shapiro.test</a:t>
            </a:r>
            <a:r>
              <a:rPr>
                <a:solidFill>
                  <a:srgbClr val="003B4F"/>
                </a:solidFill>
                <a:latin typeface="Courier"/>
              </a:rPr>
              <a:t>(</a:t>
            </a:r>
            <a:r>
              <a:rPr>
                <a:solidFill>
                  <a:srgbClr val="4758AB"/>
                </a:solidFill>
                <a:latin typeface="Courier"/>
              </a:rPr>
              <a:t>residuals</a:t>
            </a:r>
            <a:r>
              <a:rPr>
                <a:solidFill>
                  <a:srgbClr val="003B4F"/>
                </a:solidFill>
                <a:latin typeface="Courier"/>
              </a:rPr>
              <a:t>(lion_model))</a:t>
            </a:r>
          </a:p>
          <a:p>
            <a:pPr lvl="0" indent="0">
              <a:buNone/>
            </a:pPr>
            <a:r>
              <a:rPr>
                <a:latin typeface="Courier"/>
              </a:rPr>
              <a:t>
    Shapiro-Wilk normality test
data:  residuals(lion_model)
W = 0.93879, p-value = 0.0692</a:t>
            </a:r>
          </a:p>
          <a:p>
            <a:pPr lvl="0" indent="0" marL="0">
              <a:buNone/>
            </a:pPr>
            <a:r>
              <a:rPr b="1">
                <a:latin typeface="Courier"/>
              </a:rPr>
              <a:t>residuals(model)</a:t>
            </a:r>
            <a:r>
              <a:rPr/>
              <a:t> — not </a:t>
            </a:r>
            <a:r>
              <a:rPr>
                <a:latin typeface="Courier"/>
              </a:rPr>
              <a:t>lion_df$age_years</a:t>
            </a:r>
            <a:r>
              <a:rPr/>
              <a:t>. Testing the raw response is a different, and usually wrong, question.</a:t>
            </a:r>
          </a:p>
        </p:txBody>
      </p:sp>
      <p:sp>
        <p:nvSpPr>
          <p:cNvPr id="4" name="Content Placeholder 3"/>
          <p:cNvSpPr>
            <a:spLocks noGrp="1"/>
          </p:cNvSpPr>
          <p:nvPr>
            <p:ph idx="2" sz="half"/>
          </p:nvPr>
        </p:nvSpPr>
        <p:spPr/>
        <p:txBody>
          <a:bodyPr/>
          <a:lstStyle/>
          <a:p>
            <a:pPr lvl="0" indent="0" marL="1270000">
              <a:buNone/>
            </a:pPr>
            <a:r>
              <a:rPr sz="2000" b="1"/>
              <a:t>Note</a:t>
            </a:r>
          </a:p>
          <a:p>
            <a:pPr lvl="0" indent="0" marL="1270000">
              <a:buNone/>
            </a:pPr>
            <a:r>
              <a:rPr sz="2000" b="1"/>
              <a:t>H₀ is “the residuals ARE normal”</a:t>
            </a:r>
          </a:p>
          <a:p>
            <a:pPr lvl="0" indent="0" marL="1270000">
              <a:buNone/>
            </a:pPr>
            <a:r>
              <a:rPr sz="2000"/>
              <a:t>So a </a:t>
            </a:r>
            <a:r>
              <a:rPr sz="2000" b="1"/>
              <a:t>large</a:t>
            </a:r>
            <a:r>
              <a:rPr sz="2000"/>
              <a:t> p-value is the good outcome.</a:t>
            </a:r>
          </a:p>
          <a:p>
            <a:pPr lvl="0" indent="0" marL="1270000">
              <a:buNone/>
            </a:pPr>
            <a:r>
              <a:rPr sz="2000" b="1"/>
              <a:t>Warning</a:t>
            </a:r>
          </a:p>
          <a:p>
            <a:pPr lvl="0" indent="0" marL="1270000">
              <a:buNone/>
            </a:pPr>
            <a:r>
              <a:rPr sz="2000" b="1"/>
              <a:t>⚠️ Do not let this test overrule your eyes</a:t>
            </a:r>
          </a:p>
          <a:p>
            <a:pPr lvl="0" indent="0" marL="1270000">
              <a:buNone/>
            </a:pPr>
            <a:r>
              <a:rPr sz="2000"/>
              <a:t>At small n it has almost no power to detect a real problem; at large n it flags departures far too small to matter. Read the QQ plot first and use the test to support it — not to replace it.</a:t>
            </a:r>
          </a:p>
        </p:txBody>
      </p:sp>
    </p:spTree>
  </p:cSl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What Violations Actually Look Like</a:t>
            </a:r>
          </a:p>
        </p:txBody>
      </p:sp>
      <p:sp>
        <p:nvSpPr>
          <p:cNvPr id="3" name="Content Placeholder 2"/>
          <p:cNvSpPr>
            <a:spLocks noGrp="1"/>
          </p:cNvSpPr>
          <p:nvPr>
            <p:ph idx="1" sz="half"/>
          </p:nvPr>
        </p:nvSpPr>
        <p:spPr/>
        <p:txBody>
          <a:bodyPr/>
          <a:lstStyle/>
          <a:p>
            <a:pPr lvl="0" indent="0" marL="0">
              <a:buNone/>
            </a:pPr>
            <a:r>
              <a:rPr/>
              <a:t>When an assumption fails:</a:t>
            </a:r>
          </a:p>
          <a:p>
            <a:pPr lvl="0" indent="-342900" marL="342900">
              <a:buAutoNum type="arabicPeriod"/>
            </a:pPr>
            <a:r>
              <a:rPr b="1"/>
              <a:t>Transform</a:t>
            </a:r>
            <a:r>
              <a:rPr/>
              <a:t> one or both variables (W&amp;S §17.6) — a log on a curved or fanning relationship fixes both problems more often than not</a:t>
            </a:r>
          </a:p>
          <a:p>
            <a:pPr lvl="0" indent="-342900" marL="342900">
              <a:buAutoNum type="arabicPeriod"/>
            </a:pPr>
            <a:r>
              <a:rPr b="1"/>
              <a:t>Weighted least squares</a:t>
            </a:r>
            <a:r>
              <a:rPr/>
              <a:t> for heteroscedasticity</a:t>
            </a:r>
          </a:p>
          <a:p>
            <a:pPr lvl="0" indent="-342900" marL="342900">
              <a:buAutoNum type="arabicPeriod"/>
            </a:pPr>
            <a:r>
              <a:rPr/>
              <a:t>A </a:t>
            </a:r>
            <a:r>
              <a:rPr b="1"/>
              <a:t>non-linear model</a:t>
            </a:r>
            <a:r>
              <a:rPr/>
              <a:t> (§17.8), or a GLM in Week 11</a:t>
            </a:r>
          </a:p>
        </p:txBody>
      </p:sp>
      <p:pic>
        <p:nvPicPr>
          <p:cNvPr descr="correlation_linear_models_lecture_files/figure-pptx/correlation-linear-models-29-1.png" id="0" name="Picture 1"/>
          <p:cNvPicPr>
            <a:picLocks noGrp="1" noChangeAspect="1"/>
          </p:cNvPicPr>
          <p:nvPr/>
        </p:nvPicPr>
        <p:blipFill>
          <a:blip r:embed="rId2"/>
          <a:stretch>
            <a:fillRect/>
          </a:stretch>
        </p:blipFill>
        <p:spPr bwMode="auto">
          <a:xfrm>
            <a:off x="6121400" y="1651000"/>
            <a:ext cx="2781300" cy="2489200"/>
          </a:xfrm>
          <a:prstGeom prst="rect">
            <a:avLst/>
          </a:prstGeom>
          <a:noFill/>
          <a:ln w="9525">
            <a:noFill/>
            <a:headEnd/>
            <a:tailEnd/>
          </a:ln>
        </p:spPr>
      </p:pic>
    </p:spTree>
  </p:cSl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 DECIDE · One Island</a:t>
            </a:r>
          </a:p>
        </p:txBody>
      </p:sp>
      <p:sp>
        <p:nvSpPr>
          <p:cNvPr id="3" name="Content Placeholder 2"/>
          <p:cNvSpPr>
            <a:spLocks noGrp="1"/>
          </p:cNvSpPr>
          <p:nvPr>
            <p:ph idx="1" sz="half"/>
          </p:nvPr>
        </p:nvSpPr>
        <p:spPr/>
        <p:txBody>
          <a:bodyPr/>
          <a:lstStyle/>
          <a:p>
            <a:pPr lvl="0" indent="0" marL="0">
              <a:buNone/>
            </a:pPr>
            <a:r>
              <a:rPr/>
              <a:t>Gotelli &amp; Ellison’s Galápagos data: </a:t>
            </a:r>
            <a:r>
              <a:rPr b="1"/>
              <a:t>17 islands</a:t>
            </a:r>
            <a:r>
              <a:rPr/>
              <a:t>, plant species richness against island area, both log-transformed. The fit is solid — R² = 0.585, p = 3.50e-04.</a:t>
            </a:r>
          </a:p>
          <a:p>
            <a:pPr lvl="0" indent="0" marL="0">
              <a:buNone/>
            </a:pPr>
            <a:r>
              <a:rPr/>
              <a:t>Now </a:t>
            </a:r>
            <a:r>
              <a:rPr b="1"/>
              <a:t>one</a:t>
            </a:r>
            <a:r>
              <a:rPr/>
              <a:t> more point arrives: a large island reported with very few species (red).</a:t>
            </a:r>
          </a:p>
          <a:p>
            <a:pPr lvl="0" indent="0" marL="0">
              <a:buNone/>
            </a:pPr>
            <a:r>
              <a:rPr b="1"/>
              <a:t>What does that single point do?</a:t>
            </a:r>
          </a:p>
          <a:p>
            <a:pPr lvl="0" indent="0" marL="0">
              <a:buNone/>
            </a:pPr>
            <a:r>
              <a:rPr b="1"/>
              <a:t>(a)</a:t>
            </a:r>
            <a:r>
              <a:rPr/>
              <a:t> Very little — one point in 18 cannot matter much</a:t>
            </a:r>
          </a:p>
          <a:p>
            <a:pPr lvl="0" indent="0" marL="0">
              <a:buNone/>
            </a:pPr>
            <a:r>
              <a:rPr b="1"/>
              <a:t>(b)</a:t>
            </a:r>
            <a:r>
              <a:rPr/>
              <a:t> It raises R², because the range of X just got wider</a:t>
            </a:r>
          </a:p>
          <a:p>
            <a:pPr lvl="0" indent="0" marL="0">
              <a:buNone/>
            </a:pPr>
            <a:r>
              <a:rPr b="1"/>
              <a:t>(c)</a:t>
            </a:r>
            <a:r>
              <a:rPr/>
              <a:t> It roughly </a:t>
            </a:r>
            <a:r>
              <a:rPr b="1"/>
              <a:t>halves</a:t>
            </a:r>
            <a:r>
              <a:rPr/>
              <a:t> R² and pushes p to the edge of significance</a:t>
            </a:r>
          </a:p>
          <a:p>
            <a:pPr lvl="0" indent="0" marL="0">
              <a:buNone/>
            </a:pPr>
            <a:r>
              <a:rPr b="1"/>
              <a:t>(d)</a:t>
            </a:r>
            <a:r>
              <a:rPr/>
              <a:t> It can change R² but not the slope</a:t>
            </a:r>
          </a:p>
          <a:p>
            <a:pPr lvl="0" indent="0" marL="1270000">
              <a:buNone/>
            </a:pPr>
            <a:r>
              <a:rPr sz="2000" b="1"/>
              <a:t>Warning</a:t>
            </a:r>
          </a:p>
          <a:p>
            <a:pPr lvl="0" indent="0" marL="1270000">
              <a:buNone/>
            </a:pPr>
            <a:r>
              <a:rPr sz="2000" b="1"/>
              <a:t>✍️ One letter, before the next slide.</a:t>
            </a:r>
          </a:p>
        </p:txBody>
      </p:sp>
      <p:pic>
        <p:nvPicPr>
          <p:cNvPr descr="correlation_linear_models_lecture_files/figure-pptx/correlation-linear-models-30-1.png" id="0" name="Picture 1"/>
          <p:cNvPicPr>
            <a:picLocks noGrp="1" noChangeAspect="1"/>
          </p:cNvPicPr>
          <p:nvPr/>
        </p:nvPicPr>
        <p:blipFill>
          <a:blip r:embed="rId2"/>
          <a:stretch>
            <a:fillRect/>
          </a:stretch>
        </p:blipFill>
        <p:spPr bwMode="auto">
          <a:xfrm>
            <a:off x="6121400" y="1587500"/>
            <a:ext cx="2781300" cy="2603500"/>
          </a:xfrm>
          <a:prstGeom prst="rect">
            <a:avLst/>
          </a:prstGeom>
          <a:noFill/>
          <a:ln w="9525">
            <a:noFill/>
            <a:headEnd/>
            <a:tailEnd/>
          </a:ln>
        </p:spPr>
      </p:pic>
    </p:spTree>
  </p:cSl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What One Point Did</a:t>
            </a:r>
          </a:p>
        </p:txBody>
      </p:sp>
      <p:sp>
        <p:nvSpPr>
          <p:cNvPr id="3" name="Content Placeholder 2"/>
          <p:cNvSpPr>
            <a:spLocks noGrp="1"/>
          </p:cNvSpPr>
          <p:nvPr>
            <p:ph idx="1" sz="half"/>
          </p:nvPr>
        </p:nvSpPr>
        <p:spPr/>
        <p:txBody>
          <a:bodyPr/>
          <a:lstStyle/>
          <a:p>
            <a:pPr lvl="0" indent="0">
              <a:buNone/>
            </a:pPr>
            <a:r>
              <a:rPr>
                <a:solidFill>
                  <a:srgbClr val="003B4F"/>
                </a:solidFill>
                <a:latin typeface="Courier"/>
              </a:rPr>
              <a:t>galap_plot &lt;- galap_df </a:t>
            </a:r>
            <a:r>
              <a:rPr>
                <a:solidFill>
                  <a:srgbClr val="5E5E5E"/>
                </a:solidFill>
                <a:latin typeface="Courier"/>
              </a:rPr>
              <a:t>%&gt;%</a:t>
            </a:r>
            <a:br/>
            <a:r>
              <a:rPr>
                <a:solidFill>
                  <a:srgbClr val="003B4F"/>
                </a:solidFill>
                <a:latin typeface="Courier"/>
              </a:rPr>
              <a:t>  </a:t>
            </a:r>
            <a:r>
              <a:rPr>
                <a:solidFill>
                  <a:srgbClr val="4758AB"/>
                </a:solidFill>
                <a:latin typeface="Courier"/>
              </a:rPr>
              <a:t>mutate</a:t>
            </a:r>
            <a:r>
              <a:rPr>
                <a:solidFill>
                  <a:srgbClr val="003B4F"/>
                </a:solidFill>
                <a:latin typeface="Courier"/>
              </a:rPr>
              <a:t>(</a:t>
            </a:r>
            <a:r>
              <a:rPr>
                <a:solidFill>
                  <a:srgbClr val="657422"/>
                </a:solidFill>
                <a:latin typeface="Courier"/>
              </a:rPr>
              <a:t>log_area =</a:t>
            </a:r>
            <a:r>
              <a:rPr>
                <a:solidFill>
                  <a:srgbClr val="003B4F"/>
                </a:solidFill>
                <a:latin typeface="Courier"/>
              </a:rPr>
              <a:t> </a:t>
            </a:r>
            <a:r>
              <a:rPr>
                <a:solidFill>
                  <a:srgbClr val="4758AB"/>
                </a:solidFill>
                <a:latin typeface="Courier"/>
              </a:rPr>
              <a:t>log10</a:t>
            </a:r>
            <a:r>
              <a:rPr>
                <a:solidFill>
                  <a:srgbClr val="003B4F"/>
                </a:solidFill>
                <a:latin typeface="Courier"/>
              </a:rPr>
              <a:t>(area_km2),</a:t>
            </a:r>
            <a:br/>
            <a:r>
              <a:rPr>
                <a:solidFill>
                  <a:srgbClr val="003B4F"/>
                </a:solidFill>
                <a:latin typeface="Courier"/>
              </a:rPr>
              <a:t>         </a:t>
            </a:r>
            <a:r>
              <a:rPr>
                <a:solidFill>
                  <a:srgbClr val="657422"/>
                </a:solidFill>
                <a:latin typeface="Courier"/>
              </a:rPr>
              <a:t>log_species =</a:t>
            </a:r>
            <a:r>
              <a:rPr>
                <a:solidFill>
                  <a:srgbClr val="003B4F"/>
                </a:solidFill>
                <a:latin typeface="Courier"/>
              </a:rPr>
              <a:t> </a:t>
            </a:r>
            <a:r>
              <a:rPr>
                <a:solidFill>
                  <a:srgbClr val="4758AB"/>
                </a:solidFill>
                <a:latin typeface="Courier"/>
              </a:rPr>
              <a:t>log10</a:t>
            </a:r>
            <a:r>
              <a:rPr>
                <a:solidFill>
                  <a:srgbClr val="003B4F"/>
                </a:solidFill>
                <a:latin typeface="Courier"/>
              </a:rPr>
              <a:t>(n_species))</a:t>
            </a:r>
            <a:br/>
            <a:br/>
            <a:r>
              <a:rPr>
                <a:solidFill>
                  <a:srgbClr val="5E5E5E"/>
                </a:solidFill>
                <a:latin typeface="Courier"/>
              </a:rPr>
              <a:t># a big island reported with very few species</a:t>
            </a:r>
            <a:br/>
            <a:r>
              <a:rPr>
                <a:solidFill>
                  <a:srgbClr val="003B4F"/>
                </a:solidFill>
                <a:latin typeface="Courier"/>
              </a:rPr>
              <a:t>galap_bad &lt;- galap_plot </a:t>
            </a:r>
            <a:r>
              <a:rPr>
                <a:solidFill>
                  <a:srgbClr val="5E5E5E"/>
                </a:solidFill>
                <a:latin typeface="Courier"/>
              </a:rPr>
              <a:t>%&gt;%</a:t>
            </a:r>
            <a:br/>
            <a:r>
              <a:rPr>
                <a:solidFill>
                  <a:srgbClr val="003B4F"/>
                </a:solidFill>
                <a:latin typeface="Courier"/>
              </a:rPr>
              <a:t>  </a:t>
            </a:r>
            <a:r>
              <a:rPr>
                <a:solidFill>
                  <a:srgbClr val="4758AB"/>
                </a:solidFill>
                <a:latin typeface="Courier"/>
              </a:rPr>
              <a:t>add_row</a:t>
            </a:r>
            <a:r>
              <a:rPr>
                <a:solidFill>
                  <a:srgbClr val="003B4F"/>
                </a:solidFill>
                <a:latin typeface="Courier"/>
              </a:rPr>
              <a:t>(</a:t>
            </a:r>
            <a:r>
              <a:rPr>
                <a:solidFill>
                  <a:srgbClr val="657422"/>
                </a:solidFill>
                <a:latin typeface="Courier"/>
              </a:rPr>
              <a:t>log_area =</a:t>
            </a:r>
            <a:r>
              <a:rPr>
                <a:solidFill>
                  <a:srgbClr val="003B4F"/>
                </a:solidFill>
                <a:latin typeface="Courier"/>
              </a:rPr>
              <a:t> </a:t>
            </a:r>
            <a:r>
              <a:rPr>
                <a:solidFill>
                  <a:srgbClr val="AD0000"/>
                </a:solidFill>
                <a:latin typeface="Courier"/>
              </a:rPr>
              <a:t>3</a:t>
            </a:r>
            <a:r>
              <a:rPr>
                <a:solidFill>
                  <a:srgbClr val="003B4F"/>
                </a:solidFill>
                <a:latin typeface="Courier"/>
              </a:rPr>
              <a:t>, </a:t>
            </a:r>
            <a:r>
              <a:rPr>
                <a:solidFill>
                  <a:srgbClr val="657422"/>
                </a:solidFill>
                <a:latin typeface="Courier"/>
              </a:rPr>
              <a:t>log_species =</a:t>
            </a:r>
            <a:r>
              <a:rPr>
                <a:solidFill>
                  <a:srgbClr val="003B4F"/>
                </a:solidFill>
                <a:latin typeface="Courier"/>
              </a:rPr>
              <a:t> </a:t>
            </a:r>
            <a:r>
              <a:rPr>
                <a:solidFill>
                  <a:srgbClr val="AD0000"/>
                </a:solidFill>
                <a:latin typeface="Courier"/>
              </a:rPr>
              <a:t>0.65</a:t>
            </a:r>
            <a:r>
              <a:rPr>
                <a:solidFill>
                  <a:srgbClr val="003B4F"/>
                </a:solidFill>
                <a:latin typeface="Courier"/>
              </a:rPr>
              <a:t>)</a:t>
            </a:r>
            <a:br/>
            <a:br/>
            <a:r>
              <a:rPr>
                <a:solidFill>
                  <a:srgbClr val="003B4F"/>
                </a:solidFill>
                <a:latin typeface="Courier"/>
              </a:rPr>
              <a:t>clean_model &lt;- </a:t>
            </a:r>
            <a:r>
              <a:rPr>
                <a:solidFill>
                  <a:srgbClr val="4758AB"/>
                </a:solidFill>
                <a:latin typeface="Courier"/>
              </a:rPr>
              <a:t>lm</a:t>
            </a:r>
            <a:r>
              <a:rPr>
                <a:solidFill>
                  <a:srgbClr val="003B4F"/>
                </a:solidFill>
                <a:latin typeface="Courier"/>
              </a:rPr>
              <a:t>(log_species </a:t>
            </a:r>
            <a:r>
              <a:rPr>
                <a:solidFill>
                  <a:srgbClr val="5E5E5E"/>
                </a:solidFill>
                <a:latin typeface="Courier"/>
              </a:rPr>
              <a:t>~</a:t>
            </a:r>
            <a:r>
              <a:rPr>
                <a:solidFill>
                  <a:srgbClr val="003B4F"/>
                </a:solidFill>
                <a:latin typeface="Courier"/>
              </a:rPr>
              <a:t> log_area, galap_plot)</a:t>
            </a:r>
            <a:br/>
            <a:r>
              <a:rPr>
                <a:solidFill>
                  <a:srgbClr val="003B4F"/>
                </a:solidFill>
                <a:latin typeface="Courier"/>
              </a:rPr>
              <a:t>bad_model   &lt;- </a:t>
            </a:r>
            <a:r>
              <a:rPr>
                <a:solidFill>
                  <a:srgbClr val="4758AB"/>
                </a:solidFill>
                <a:latin typeface="Courier"/>
              </a:rPr>
              <a:t>lm</a:t>
            </a:r>
            <a:r>
              <a:rPr>
                <a:solidFill>
                  <a:srgbClr val="003B4F"/>
                </a:solidFill>
                <a:latin typeface="Courier"/>
              </a:rPr>
              <a:t>(log_species </a:t>
            </a:r>
            <a:r>
              <a:rPr>
                <a:solidFill>
                  <a:srgbClr val="5E5E5E"/>
                </a:solidFill>
                <a:latin typeface="Courier"/>
              </a:rPr>
              <a:t>~</a:t>
            </a:r>
            <a:r>
              <a:rPr>
                <a:solidFill>
                  <a:srgbClr val="003B4F"/>
                </a:solidFill>
                <a:latin typeface="Courier"/>
              </a:rPr>
              <a:t> log_area, galap_bad)</a:t>
            </a:r>
            <a:br/>
            <a:br/>
            <a:r>
              <a:rPr>
                <a:solidFill>
                  <a:srgbClr val="4758AB"/>
                </a:solidFill>
                <a:latin typeface="Courier"/>
              </a:rPr>
              <a:t>tibble</a:t>
            </a:r>
            <a:r>
              <a:rPr>
                <a:solidFill>
                  <a:srgbClr val="003B4F"/>
                </a:solidFill>
                <a:latin typeface="Courier"/>
              </a:rPr>
              <a:t>(</a:t>
            </a:r>
            <a:r>
              <a:rPr>
                <a:solidFill>
                  <a:srgbClr val="657422"/>
                </a:solidFill>
                <a:latin typeface="Courier"/>
              </a:rPr>
              <a:t>data  =</a:t>
            </a:r>
            <a:r>
              <a:rPr>
                <a:solidFill>
                  <a:srgbClr val="003B4F"/>
                </a:solidFill>
                <a:latin typeface="Courier"/>
              </a:rPr>
              <a:t> </a:t>
            </a:r>
            <a:r>
              <a:rPr>
                <a:solidFill>
                  <a:srgbClr val="4758AB"/>
                </a:solidFill>
                <a:latin typeface="Courier"/>
              </a:rPr>
              <a:t>c</a:t>
            </a:r>
            <a:r>
              <a:rPr>
                <a:solidFill>
                  <a:srgbClr val="003B4F"/>
                </a:solidFill>
                <a:latin typeface="Courier"/>
              </a:rPr>
              <a:t>(</a:t>
            </a:r>
            <a:r>
              <a:rPr>
                <a:solidFill>
                  <a:srgbClr val="20794D"/>
                </a:solidFill>
                <a:latin typeface="Courier"/>
              </a:rPr>
              <a:t>"17 islands"</a:t>
            </a:r>
            <a:r>
              <a:rPr>
                <a:solidFill>
                  <a:srgbClr val="003B4F"/>
                </a:solidFill>
                <a:latin typeface="Courier"/>
              </a:rPr>
              <a:t>, </a:t>
            </a:r>
            <a:r>
              <a:rPr>
                <a:solidFill>
                  <a:srgbClr val="20794D"/>
                </a:solidFill>
                <a:latin typeface="Courier"/>
              </a:rPr>
              <a:t>"plus the suspect point"</a:t>
            </a:r>
            <a:r>
              <a:rPr>
                <a:solidFill>
                  <a:srgbClr val="003B4F"/>
                </a:solidFill>
                <a:latin typeface="Courier"/>
              </a:rPr>
              <a:t>),</a:t>
            </a:r>
            <a:br/>
            <a:r>
              <a:rPr>
                <a:solidFill>
                  <a:srgbClr val="003B4F"/>
                </a:solidFill>
                <a:latin typeface="Courier"/>
              </a:rPr>
              <a:t>       </a:t>
            </a:r>
            <a:r>
              <a:rPr>
                <a:solidFill>
                  <a:srgbClr val="657422"/>
                </a:solidFill>
                <a:latin typeface="Courier"/>
              </a:rPr>
              <a:t>slope =</a:t>
            </a:r>
            <a:r>
              <a:rPr>
                <a:solidFill>
                  <a:srgbClr val="003B4F"/>
                </a:solidFill>
                <a:latin typeface="Courier"/>
              </a:rPr>
              <a:t> </a:t>
            </a:r>
            <a:r>
              <a:rPr>
                <a:solidFill>
                  <a:srgbClr val="4758AB"/>
                </a:solidFill>
                <a:latin typeface="Courier"/>
              </a:rPr>
              <a:t>c</a:t>
            </a:r>
            <a:r>
              <a:rPr>
                <a:solidFill>
                  <a:srgbClr val="003B4F"/>
                </a:solidFill>
                <a:latin typeface="Courier"/>
              </a:rPr>
              <a:t>(</a:t>
            </a:r>
            <a:r>
              <a:rPr>
                <a:solidFill>
                  <a:srgbClr val="4758AB"/>
                </a:solidFill>
                <a:latin typeface="Courier"/>
              </a:rPr>
              <a:t>coef</a:t>
            </a:r>
            <a:r>
              <a:rPr>
                <a:solidFill>
                  <a:srgbClr val="003B4F"/>
                </a:solidFill>
                <a:latin typeface="Courier"/>
              </a:rPr>
              <a:t>(clean_model)[</a:t>
            </a:r>
            <a:r>
              <a:rPr>
                <a:solidFill>
                  <a:srgbClr val="AD0000"/>
                </a:solidFill>
                <a:latin typeface="Courier"/>
              </a:rPr>
              <a:t>2</a:t>
            </a:r>
            <a:r>
              <a:rPr>
                <a:solidFill>
                  <a:srgbClr val="003B4F"/>
                </a:solidFill>
                <a:latin typeface="Courier"/>
              </a:rPr>
              <a:t>], </a:t>
            </a:r>
            <a:r>
              <a:rPr>
                <a:solidFill>
                  <a:srgbClr val="4758AB"/>
                </a:solidFill>
                <a:latin typeface="Courier"/>
              </a:rPr>
              <a:t>coef</a:t>
            </a:r>
            <a:r>
              <a:rPr>
                <a:solidFill>
                  <a:srgbClr val="003B4F"/>
                </a:solidFill>
                <a:latin typeface="Courier"/>
              </a:rPr>
              <a:t>(bad_model)[</a:t>
            </a:r>
            <a:r>
              <a:rPr>
                <a:solidFill>
                  <a:srgbClr val="AD0000"/>
                </a:solidFill>
                <a:latin typeface="Courier"/>
              </a:rPr>
              <a:t>2</a:t>
            </a:r>
            <a:r>
              <a:rPr>
                <a:solidFill>
                  <a:srgbClr val="003B4F"/>
                </a:solidFill>
                <a:latin typeface="Courier"/>
              </a:rPr>
              <a:t>]),</a:t>
            </a:r>
            <a:br/>
            <a:r>
              <a:rPr>
                <a:solidFill>
                  <a:srgbClr val="003B4F"/>
                </a:solidFill>
                <a:latin typeface="Courier"/>
              </a:rPr>
              <a:t>       </a:t>
            </a:r>
            <a:r>
              <a:rPr>
                <a:solidFill>
                  <a:srgbClr val="657422"/>
                </a:solidFill>
                <a:latin typeface="Courier"/>
              </a:rPr>
              <a:t>r2    =</a:t>
            </a:r>
            <a:r>
              <a:rPr>
                <a:solidFill>
                  <a:srgbClr val="003B4F"/>
                </a:solidFill>
                <a:latin typeface="Courier"/>
              </a:rPr>
              <a:t> </a:t>
            </a:r>
            <a:r>
              <a:rPr>
                <a:solidFill>
                  <a:srgbClr val="4758AB"/>
                </a:solidFill>
                <a:latin typeface="Courier"/>
              </a:rPr>
              <a:t>c</a:t>
            </a:r>
            <a:r>
              <a:rPr>
                <a:solidFill>
                  <a:srgbClr val="003B4F"/>
                </a:solidFill>
                <a:latin typeface="Courier"/>
              </a:rPr>
              <a:t>(</a:t>
            </a:r>
            <a:r>
              <a:rPr>
                <a:solidFill>
                  <a:srgbClr val="4758AB"/>
                </a:solidFill>
                <a:latin typeface="Courier"/>
              </a:rPr>
              <a:t>summary</a:t>
            </a:r>
            <a:r>
              <a:rPr>
                <a:solidFill>
                  <a:srgbClr val="003B4F"/>
                </a:solidFill>
                <a:latin typeface="Courier"/>
              </a:rPr>
              <a:t>(clean_model)</a:t>
            </a:r>
            <a:r>
              <a:rPr>
                <a:solidFill>
                  <a:srgbClr val="5E5E5E"/>
                </a:solidFill>
                <a:latin typeface="Courier"/>
              </a:rPr>
              <a:t>$</a:t>
            </a:r>
            <a:r>
              <a:rPr>
                <a:solidFill>
                  <a:srgbClr val="003B4F"/>
                </a:solidFill>
                <a:latin typeface="Courier"/>
              </a:rPr>
              <a:t>r.squared,</a:t>
            </a:r>
            <a:br/>
            <a:r>
              <a:rPr>
                <a:solidFill>
                  <a:srgbClr val="003B4F"/>
                </a:solidFill>
                <a:latin typeface="Courier"/>
              </a:rPr>
              <a:t>                 </a:t>
            </a:r>
            <a:r>
              <a:rPr>
                <a:solidFill>
                  <a:srgbClr val="4758AB"/>
                </a:solidFill>
                <a:latin typeface="Courier"/>
              </a:rPr>
              <a:t>summary</a:t>
            </a:r>
            <a:r>
              <a:rPr>
                <a:solidFill>
                  <a:srgbClr val="003B4F"/>
                </a:solidFill>
                <a:latin typeface="Courier"/>
              </a:rPr>
              <a:t>(bad_model)</a:t>
            </a:r>
            <a:r>
              <a:rPr>
                <a:solidFill>
                  <a:srgbClr val="5E5E5E"/>
                </a:solidFill>
                <a:latin typeface="Courier"/>
              </a:rPr>
              <a:t>$</a:t>
            </a:r>
            <a:r>
              <a:rPr>
                <a:solidFill>
                  <a:srgbClr val="003B4F"/>
                </a:solidFill>
                <a:latin typeface="Courier"/>
              </a:rPr>
              <a:t>r.squared))</a:t>
            </a:r>
          </a:p>
          <a:p>
            <a:pPr lvl="0" indent="0">
              <a:buNone/>
            </a:pPr>
            <a:r>
              <a:rPr>
                <a:latin typeface="Courier"/>
              </a:rPr>
              <a:t># A tibble: 2 × 3
  data                   slope    r2
  &lt;chr&gt;                  &lt;dbl&gt; &lt;dbl&gt;
1 17 islands             0.331 0.585
2 plus the suspect point 0.233 0.228</a:t>
            </a:r>
          </a:p>
        </p:txBody>
      </p:sp>
      <p:sp>
        <p:nvSpPr>
          <p:cNvPr id="4" name="Content Placeholder 3"/>
          <p:cNvSpPr>
            <a:spLocks noGrp="1"/>
          </p:cNvSpPr>
          <p:nvPr>
            <p:ph idx="2" sz="half"/>
          </p:nvPr>
        </p:nvSpPr>
        <p:spPr/>
        <p:txBody>
          <a:bodyPr/>
          <a:lstStyle/>
          <a:p>
            <a:pPr lvl="0" indent="0" marL="1270000">
              <a:buNone/>
            </a:pPr>
            <a:r>
              <a:rPr sz="2000" b="1"/>
              <a:t>Important</a:t>
            </a:r>
          </a:p>
          <a:p>
            <a:pPr lvl="0" indent="0" marL="1270000">
              <a:buNone/>
            </a:pPr>
            <a:r>
              <a:rPr sz="2000" b="1"/>
              <a:t>✅ The answer is (c).</a:t>
            </a:r>
          </a:p>
          <a:p>
            <a:pPr lvl="0" indent="0" marL="1270000">
              <a:buNone/>
            </a:pPr>
            <a:r>
              <a:rPr sz="2000"/>
              <a:t>One point out of 18 cuts R² from 0.58 to 0.23 and moves p from 3.50e-04 to 0.0449 — from convincing to barely publishable. The slope drops too, so (d) is out.</a:t>
            </a:r>
          </a:p>
          <a:p>
            <a:pPr lvl="0" indent="0" marL="1270000">
              <a:buNone/>
            </a:pPr>
            <a:r>
              <a:rPr sz="2000"/>
              <a:t>It is </a:t>
            </a:r>
            <a:r>
              <a:rPr sz="2000" b="1"/>
              <a:t>influential</a:t>
            </a:r>
            <a:r>
              <a:rPr sz="2000"/>
              <a:t> because it lies far out in X </a:t>
            </a:r>
            <a:r>
              <a:rPr sz="2000" i="1"/>
              <a:t>and</a:t>
            </a:r>
            <a:r>
              <a:rPr sz="2000"/>
              <a:t> far off the trend. Cook’s distance flags it at once — that is what panel 4 of </a:t>
            </a:r>
            <a:r>
              <a:rPr sz="2000">
                <a:latin typeface="Courier"/>
              </a:rPr>
              <a:t>plot(model)</a:t>
            </a:r>
            <a:r>
              <a:rPr sz="2000"/>
              <a:t> is for.</a:t>
            </a:r>
          </a:p>
          <a:p>
            <a:pPr lvl="0" indent="0" marL="0">
              <a:buNone/>
            </a:pPr>
            <a:r>
              <a:rPr b="1"/>
              <a:t>No diagnostic can tell you whether it is a typo or a real island.</a:t>
            </a:r>
            <a:r>
              <a:rPr/>
              <a:t> That takes going back to the data sheet.</a:t>
            </a:r>
          </a:p>
        </p:txBody>
      </p:sp>
    </p:spTree>
  </p:cSl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Part 7 · Wrap-up</a:t>
            </a:r>
          </a:p>
        </p:txBody>
      </p:sp>
    </p:spTree>
  </p:cSl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Wrap-up</a:t>
            </a:r>
          </a:p>
        </p:txBody>
      </p:sp>
      <mc:AlternateContent xmlns:mc="http://schemas.openxmlformats.org/markup-compatibility/2006">
        <mc:Choice xmlns:a14="http://schemas.microsoft.com/office/drawing/2010/main" Requires="a14">
          <p:sp>
            <p:nvSpPr>
              <p:cNvPr id="3" name="Content Placeholder 2"/>
              <p:cNvSpPr>
                <a:spLocks noGrp="1"/>
              </p:cNvSpPr>
              <p:nvPr>
                <p:ph idx="1" sz="half"/>
              </p:nvPr>
            </p:nvSpPr>
            <p:spPr/>
            <p:txBody>
              <a:bodyPr/>
              <a:lstStyle/>
              <a:p>
                <a:pPr lvl="0" indent="0" marL="0">
                  <a:buNone/>
                </a:pPr>
                <a:r>
                  <a:rPr/>
                  <a:t>Over the two days you:</a:t>
                </a:r>
              </a:p>
              <a:p>
                <a:pPr lvl="0"/>
                <a:r>
                  <a:rPr/>
                  <a:t>Separated </a:t>
                </a:r>
                <a:r>
                  <a:rPr b="1"/>
                  <a:t>correlation</a:t>
                </a:r>
                <a:r>
                  <a:rPr/>
                  <a:t> from </a:t>
                </a:r>
                <a:r>
                  <a:rPr b="1"/>
                  <a:t>regression</a:t>
                </a:r>
                <a:r>
                  <a:rPr/>
                  <a:t>, and saw that neither earns causation</a:t>
                </a:r>
              </a:p>
              <a:p>
                <a:pPr lvl="0"/>
                <a:r>
                  <a:rPr/>
                  <a:t>Computed </a:t>
                </a:r>
                <a:r>
                  <a:rPr b="1"/>
                  <a:t>Pearson’s r</a:t>
                </a:r>
                <a:r>
                  <a:rPr/>
                  <a:t>, squared it for variance explained, and tested it with </a:t>
                </a:r>
                <a:r>
                  <a:rPr>
                    <a:latin typeface="Courier"/>
                  </a:rPr>
                  <a:t>cor.test()</a:t>
                </a:r>
              </a:p>
              <a:p>
                <a:pPr lvl="0"/>
                <a:r>
                  <a:rPr/>
                  <a:t>Switched to </a:t>
                </a:r>
                <a:r>
                  <a:rPr b="1"/>
                  <a:t>Spearman’s ρ</a:t>
                </a:r>
                <a:r>
                  <a:rPr/>
                  <a:t> when normality failed</a:t>
                </a:r>
              </a:p>
              <a:p>
                <a:pPr lvl="0"/>
                <a:r>
                  <a:rPr/>
                  <a:t>Fitted a line with </a:t>
                </a:r>
                <a:r>
                  <a:rPr>
                    <a:latin typeface="Courier"/>
                  </a:rPr>
                  <a:t>lm()</a:t>
                </a:r>
                <a:r>
                  <a:rPr/>
                  <a:t> and read the slope </a:t>
                </a:r>
                <a:r>
                  <a:rPr b="1"/>
                  <a:t>in the units of the data</a:t>
                </a:r>
              </a:p>
              <a:p>
                <a:pPr lvl="0"/>
                <a:r>
                  <a:rPr/>
                  <a:t>Built </a:t>
                </a:r>
                <a14:m>
                  <m:oMath xmlns:m="http://schemas.openxmlformats.org/officeDocument/2006/math">
                    <m:r>
                      <m:t>S</m:t>
                    </m:r>
                    <m:sSub>
                      <m:e>
                        <m:r>
                          <m:t>S</m:t>
                        </m:r>
                      </m:e>
                      <m:sub>
                        <m:r>
                          <m:t>r</m:t>
                        </m:r>
                        <m:r>
                          <m:t>e</m:t>
                        </m:r>
                        <m:r>
                          <m:t>g</m:t>
                        </m:r>
                        <m:r>
                          <m:t>r</m:t>
                        </m:r>
                        <m:r>
                          <m:t>e</m:t>
                        </m:r>
                        <m:r>
                          <m:t>s</m:t>
                        </m:r>
                        <m:r>
                          <m:t>s</m:t>
                        </m:r>
                        <m:r>
                          <m:t>i</m:t>
                        </m:r>
                        <m:r>
                          <m:t>o</m:t>
                        </m:r>
                        <m:r>
                          <m:t>n</m:t>
                        </m:r>
                      </m:sub>
                    </m:sSub>
                  </m:oMath>
                </a14:m>
                <a:r>
                  <a:rPr/>
                  <a:t> and </a:t>
                </a:r>
                <a14:m>
                  <m:oMath xmlns:m="http://schemas.openxmlformats.org/officeDocument/2006/math">
                    <m:r>
                      <m:t>S</m:t>
                    </m:r>
                    <m:sSub>
                      <m:e>
                        <m:r>
                          <m:t>S</m:t>
                        </m:r>
                      </m:e>
                      <m:sub>
                        <m:r>
                          <m:t>r</m:t>
                        </m:r>
                        <m:r>
                          <m:t>e</m:t>
                        </m:r>
                        <m:r>
                          <m:t>s</m:t>
                        </m:r>
                        <m:r>
                          <m:t>i</m:t>
                        </m:r>
                        <m:r>
                          <m:t>d</m:t>
                        </m:r>
                        <m:r>
                          <m:t>u</m:t>
                        </m:r>
                        <m:r>
                          <m:t>a</m:t>
                        </m:r>
                        <m:r>
                          <m:t>l</m:t>
                        </m:r>
                      </m:sub>
                    </m:sSub>
                  </m:oMath>
                </a14:m>
                <a:r>
                  <a:rPr/>
                  <a:t> by hand, watched them add to </a:t>
                </a:r>
                <a14:m>
                  <m:oMath xmlns:m="http://schemas.openxmlformats.org/officeDocument/2006/math">
                    <m:r>
                      <m:t>S</m:t>
                    </m:r>
                    <m:sSub>
                      <m:e>
                        <m:r>
                          <m:t>S</m:t>
                        </m:r>
                      </m:e>
                      <m:sub>
                        <m:r>
                          <m:t>t</m:t>
                        </m:r>
                        <m:r>
                          <m:t>o</m:t>
                        </m:r>
                        <m:r>
                          <m:t>t</m:t>
                        </m:r>
                        <m:r>
                          <m:t>a</m:t>
                        </m:r>
                        <m:r>
                          <m:t>l</m:t>
                        </m:r>
                      </m:sub>
                    </m:sSub>
                  </m:oMath>
                </a14:m>
                <a:r>
                  <a:rPr/>
                  <a:t>, and turned them into mean squares and an F</a:t>
                </a:r>
              </a:p>
              <a:p>
                <a:pPr lvl="0"/>
                <a:r>
                  <a:rPr/>
                  <a:t>Confirmed </a:t>
                </a:r>
                <a:r>
                  <a:rPr b="1"/>
                  <a:t>t² = F</a:t>
                </a:r>
                <a:r>
                  <a:rPr/>
                  <a:t> and </a:t>
                </a:r>
                <a:r>
                  <a:rPr b="1"/>
                  <a:t>r² = SS_reg / SS_total</a:t>
                </a:r>
              </a:p>
              <a:p>
                <a:pPr lvl="0"/>
                <a:r>
                  <a:rPr/>
                  <a:t>Checked all four assumptions </a:t>
                </a:r>
                <a:r>
                  <a:rPr b="1"/>
                  <a:t>on the residuals</a:t>
                </a:r>
                <a:r>
                  <a:rPr/>
                  <a:t>, and watched one influential island halve an R²</a:t>
                </a:r>
              </a:p>
            </p:txBody>
          </p:sp>
        </mc:Choice>
      </mc:AlternateContent>
      <p:sp>
        <p:nvSpPr>
          <p:cNvPr id="4" name="Content Placeholder 3"/>
          <p:cNvSpPr>
            <a:spLocks noGrp="1"/>
          </p:cNvSpPr>
          <p:nvPr>
            <p:ph idx="2" sz="half"/>
          </p:nvPr>
        </p:nvSpPr>
        <p:spPr/>
        <p:txBody>
          <a:bodyPr/>
          <a:lstStyle/>
          <a:p>
            <a:pPr lvl="0" indent="0" marL="1270000">
              <a:buNone/>
            </a:pPr>
            <a:r>
              <a:rPr sz="2000" b="1"/>
              <a:t>Important</a:t>
            </a:r>
          </a:p>
          <a:p>
            <a:pPr lvl="0" indent="0" marL="1270000">
              <a:buNone/>
            </a:pPr>
            <a:r>
              <a:rPr sz="2000" b="1"/>
              <a:t>✅ The one idea to keep</a:t>
            </a:r>
          </a:p>
          <a:p>
            <a:pPr lvl="0" indent="0" marL="1270000">
              <a:buNone/>
            </a:pPr>
            <a:r>
              <a:rPr sz="2000"/>
              <a:t>A line can be fitted to </a:t>
            </a:r>
            <a:r>
              <a:rPr sz="2000" i="1"/>
              <a:t>any</a:t>
            </a:r>
            <a:r>
              <a:rPr sz="2000"/>
              <a:t> two numeric columns. What makes it trustworthy lives in the </a:t>
            </a:r>
            <a:r>
              <a:rPr sz="2000" b="1"/>
              <a:t>residuals</a:t>
            </a:r>
            <a:r>
              <a:rPr sz="2000"/>
              <a:t>; what makes it interpretable lives in the </a:t>
            </a:r>
            <a:r>
              <a:rPr sz="2000" b="1"/>
              <a:t>sums of squares</a:t>
            </a:r>
            <a:r>
              <a:rPr sz="2000"/>
              <a:t>. Neither lives in the p-value.</a:t>
            </a:r>
          </a:p>
          <a:p>
            <a:pPr lvl="0" indent="0" marL="1270000">
              <a:buNone/>
            </a:pPr>
            <a:r>
              <a:rPr sz="2000" b="1"/>
              <a:t>Note</a:t>
            </a:r>
          </a:p>
          <a:p>
            <a:pPr lvl="0" indent="0" marL="1270000">
              <a:buNone/>
            </a:pPr>
            <a:r>
              <a:rPr sz="2000" b="1"/>
              <a:t>Up next — Multiple Regression</a:t>
            </a:r>
          </a:p>
          <a:p>
            <a:pPr lvl="0" indent="0" marL="1270000">
              <a:buNone/>
            </a:pPr>
            <a:r>
              <a:rPr sz="2000"/>
              <a:t>More than one predictor, predictors correlated with each other, and choosing between competing models. Same table, more rows.</a:t>
            </a:r>
          </a:p>
        </p:txBody>
      </p:sp>
    </p:spTree>
  </p:cSl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Readings</a:t>
            </a:r>
          </a:p>
        </p:txBody>
      </p:sp>
      <p:sp>
        <p:nvSpPr>
          <p:cNvPr id="3" name="Content Placeholder 2"/>
          <p:cNvSpPr>
            <a:spLocks noGrp="1"/>
          </p:cNvSpPr>
          <p:nvPr>
            <p:ph idx="1"/>
          </p:nvPr>
        </p:nvSpPr>
        <p:spPr/>
        <p:txBody>
          <a:bodyPr/>
          <a:lstStyle/>
          <a:p>
            <a:pPr lvl="0"/>
            <a:r>
              <a:rPr b="1"/>
              <a:t>Whitlock &amp; Schluter</a:t>
            </a:r>
            <a:r>
              <a:rPr/>
              <a:t>, Ch. 16 — Correlation (§16.3 assumptions; §16.5 Spearman’s rank correlation), and Ch. 17 — Regression (§17.6 transformations; §17.8 non-linear relationships).</a:t>
            </a:r>
          </a:p>
          <a:p>
            <a:pPr lvl="0"/>
            <a:r>
              <a:rPr b="1"/>
              <a:t>Gotelli &amp; Ellison</a:t>
            </a:r>
            <a:r>
              <a:rPr/>
              <a:t>, Ch. 9 — Regression, for the variance-partitioning treatment and the Galápagos species–area example.</a:t>
            </a:r>
          </a:p>
          <a:p>
            <a:pPr lvl="0"/>
            <a:r>
              <a:rPr/>
              <a:t>Tilman, D., Reich, P. B., &amp; Knops, J. M. H. (2006). Biodiversity and ecosystem stability in a decade-long grassland experiment. </a:t>
            </a:r>
            <a:r>
              <a:rPr i="1"/>
              <a:t>Nature</a:t>
            </a:r>
            <a:r>
              <a:rPr/>
              <a:t>, 441, 629–632.</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TotalTime>
  <Words>46</Words>
  <Application>Microsoft Macintosh PowerPoint</Application>
  <PresentationFormat>On-screen Show (16:9)</PresentationFormat>
  <Paragraphs>14</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Correlation vs Linear Models</dc:title>
  <dc:creator>Bill Perry</dc:creator>
  <cp:keywords/>
  <dc:description>Correlation and simple linear regression as two halves of one idea: Pearson’s r and Spearman’s rho, the least-squares line, the sums-of-squares partition that turns a fitted line into an ANOVA table, and the residual diagnostics that decide whether any of it can be believed. Uses the Nazca booby, Indian rope trick, lion nose-pigmentation, prairie-biodiversity and Galapagos species-area datasets.</dc:description>
  <dcterms:created xsi:type="dcterms:W3CDTF">2026-10-05T16:36:02Z</dcterms:created>
  <dcterms:modified xsi:type="dcterms:W3CDTF">2026-10-05T16:36:02Z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categories">
    <vt:lpwstr/>
  </property>
  <property fmtid="{D5CDD505-2E9C-101B-9397-08002B2CF9AE}" pid="6" name="execute">
    <vt:lpwstr/>
  </property>
  <property fmtid="{D5CDD505-2E9C-101B-9397-08002B2CF9AE}" pid="7" name="format">
    <vt:lpwstr/>
  </property>
  <property fmtid="{D5CDD505-2E9C-101B-9397-08002B2CF9AE}" pid="8" name="header-includes">
    <vt:lpwstr/>
  </property>
  <property fmtid="{D5CDD505-2E9C-101B-9397-08002B2CF9AE}" pid="9" name="include-after">
    <vt:lpwstr/>
  </property>
  <property fmtid="{D5CDD505-2E9C-101B-9397-08002B2CF9AE}" pid="10" name="include-before">
    <vt:lpwstr/>
  </property>
  <property fmtid="{D5CDD505-2E9C-101B-9397-08002B2CF9AE}" pid="11" name="knitr">
    <vt:lpwstr/>
  </property>
  <property fmtid="{D5CDD505-2E9C-101B-9397-08002B2CF9AE}" pid="12" name="labels">
    <vt:lpwstr/>
  </property>
  <property fmtid="{D5CDD505-2E9C-101B-9397-08002B2CF9AE}" pid="13" name="order">
    <vt:lpwstr>10</vt:lpwstr>
  </property>
  <property fmtid="{D5CDD505-2E9C-101B-9397-08002B2CF9AE}" pid="14" name="resources">
    <vt:lpwstr/>
  </property>
  <property fmtid="{D5CDD505-2E9C-101B-9397-08002B2CF9AE}" pid="15" name="subtitle">
    <vt:lpwstr>Relationships</vt:lpwstr>
  </property>
  <property fmtid="{D5CDD505-2E9C-101B-9397-08002B2CF9AE}" pid="16" name="toc-title">
    <vt:lpwstr>Table of contents</vt:lpwstr>
  </property>
  <property fmtid="{D5CDD505-2E9C-101B-9397-08002B2CF9AE}" pid="17" name="week">
    <vt:lpwstr>6</vt:lpwstr>
  </property>
</Properties>
</file>