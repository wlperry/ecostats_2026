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3_01_lecture_powerpoint_standalone.html" TargetMode="External" /><Relationship Id="rId3" Type="http://schemas.openxmlformats.org/officeDocument/2006/relationships/hyperlink" Target="03_01_lecture_powerpoint.docx" TargetMode="External" /><Relationship Id="rId4" Type="http://schemas.openxmlformats.org/officeDocument/2006/relationships/hyperlink" Target="03_01_lecture_powerpoint.pptx" TargetMode="External" /><Relationship Id="rId5" Type="http://schemas.openxmlformats.org/officeDocument/2006/relationships/hyperlink" Target="03_01_lecture_powerpoint.pdf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Descriptive Statistics &amp; Wrangling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Summaries and tidy data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Download this lecture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📄 Download HTML</a:t>
            </a:r>
            <a:r>
              <a:rPr sz="2000"/>
              <a:t> | </a:t>
            </a:r>
            <a:r>
              <a:rPr sz="2000">
                <a:hlinkClick r:id="rId3"/>
              </a:rPr>
              <a:t>📝 Download Word</a:t>
            </a:r>
            <a:r>
              <a:rPr sz="2000"/>
              <a:t> | </a:t>
            </a:r>
            <a:r>
              <a:rPr sz="2000">
                <a:hlinkClick r:id="rId4"/>
              </a:rPr>
              <a:t>📊 Download PowerPoint</a:t>
            </a:r>
            <a:r>
              <a:rPr sz="2000"/>
              <a:t> | </a:t>
            </a:r>
            <a:r>
              <a:rPr sz="2000">
                <a:hlinkClick r:id="rId5"/>
              </a:rPr>
              <a:t>📄 Download PDF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 Review of data and graphing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We covered</a:t>
            </a:r>
          </a:p>
          <a:p>
            <a:pPr lvl="1"/>
            <a:r>
              <a:rPr/>
              <a:t>How to design a well-organized project structure</a:t>
            </a:r>
          </a:p>
          <a:p>
            <a:pPr lvl="1"/>
            <a:r>
              <a:rPr/>
              <a:t>How to implement good naming conventions</a:t>
            </a:r>
          </a:p>
          <a:p>
            <a:pPr lvl="2"/>
            <a:r>
              <a:rPr/>
              <a:t>Controlled vocabulary</a:t>
            </a:r>
          </a:p>
          <a:p>
            <a:pPr lvl="2"/>
            <a:r>
              <a:rPr/>
              <a:t>Including units in names</a:t>
            </a:r>
          </a:p>
          <a:p>
            <a:pPr lvl="1"/>
            <a:r>
              <a:rPr/>
              <a:t>Create and use metadata effectively</a:t>
            </a:r>
          </a:p>
          <a:p>
            <a:pPr lvl="1"/>
            <a:r>
              <a:rPr/>
              <a:t>Build tidy, well-structured spreadsheets</a:t>
            </a:r>
          </a:p>
          <a:p>
            <a:pPr lvl="1"/>
            <a:r>
              <a:rPr/>
              <a:t>Create visualizations with ggplot2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variables - do you know what they mean?</a:t>
            </a:r>
          </a:p>
          <a:p>
            <a:pPr lvl="0"/>
            <a:r>
              <a:rPr/>
              <a:t>TGW - yep its a thing</a:t>
            </a:r>
          </a:p>
          <a:p>
            <a:pPr lvl="0"/>
            <a:r>
              <a:rPr/>
              <a:t>ODO - what do you think it is?</a:t>
            </a:r>
          </a:p>
          <a:p>
            <a:pPr lvl="0"/>
            <a:r>
              <a:rPr/>
              <a:t>NO3 - what is it? Are you sure? Why might you get in legal trouble if you used this?</a:t>
            </a:r>
          </a:p>
        </p:txBody>
      </p:sp>
      <p:pic>
        <p:nvPicPr>
          <p:cNvPr descr="images/clipboard-35446140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3:</a:t>
            </a:r>
            <a:r>
              <a:rPr/>
              <a:t> Descriptive Statistics and Uncertainty in R and Tidyverse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/>
            <a:r>
              <a:rPr/>
              <a:t>Understand why statistics is vital in biology</a:t>
            </a:r>
          </a:p>
          <a:p>
            <a:pPr lvl="0"/>
            <a:r>
              <a:rPr/>
              <a:t>Calculate and interpret measures of central tendency (mean, median, geometric mean)</a:t>
            </a:r>
          </a:p>
          <a:p>
            <a:pPr lvl="0"/>
            <a:r>
              <a:rPr/>
              <a:t>Calculate and interpret measures of spread (standard deviation, variance, IQR)</a:t>
            </a:r>
          </a:p>
          <a:p>
            <a:pPr lvl="0"/>
            <a:r>
              <a:rPr/>
              <a:t>Understand data transformations for skewed distributions</a:t>
            </a:r>
          </a:p>
          <a:p>
            <a:pPr lvl="0"/>
            <a:r>
              <a:rPr/>
              <a:t>Visualize descriptive statistics for our data</a:t>
            </a:r>
          </a:p>
          <a:p>
            <a:pPr lvl="0"/>
            <a:r>
              <a:rPr/>
              <a:t>Learn how to handle uncertainty in our data</a:t>
            </a:r>
          </a:p>
          <a:p>
            <a:pPr lvl="0" indent="0" marL="0">
              <a:buNone/>
            </a:pPr>
            <a:r>
              <a:rPr/>
              <a:t>We’ll use a dataset on grayling - </a:t>
            </a:r>
            <a:r>
              <a:rPr>
                <a:latin typeface="Courier"/>
              </a:rPr>
              <a:t>gray_I3_I8.csv</a:t>
            </a:r>
            <a:r>
              <a:rPr/>
              <a:t> from two different lakes to explore these concepts.. like you did in the homework</a:t>
            </a:r>
          </a:p>
        </p:txBody>
      </p:sp>
      <p:pic>
        <p:nvPicPr>
          <p:cNvPr descr="images/grayling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38800" y="1295400"/>
            <a:ext cx="22733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dive into descriptive statistics, let’s clarify some fundamental concepts:</a:t>
            </a:r>
          </a:p>
          <a:p>
            <a:pPr lvl="0"/>
            <a:r>
              <a:rPr b="1"/>
              <a:t>Population</a:t>
            </a:r>
            <a:r>
              <a:rPr/>
              <a:t>: entire group of things under consideration</a:t>
            </a:r>
          </a:p>
          <a:p>
            <a:pPr lvl="0"/>
            <a:r>
              <a:rPr b="1"/>
              <a:t>Sample</a:t>
            </a:r>
            <a:r>
              <a:rPr/>
              <a:t>: A subset of the population that is actually measured</a:t>
            </a:r>
          </a:p>
          <a:p>
            <a:pPr lvl="0"/>
            <a:r>
              <a:rPr b="1"/>
              <a:t>Sample unit</a:t>
            </a:r>
            <a:r>
              <a:rPr/>
              <a:t>: The individual thing drawn from the population</a:t>
            </a:r>
          </a:p>
          <a:p>
            <a:pPr lvl="0" indent="0" marL="0">
              <a:buNone/>
            </a:pPr>
            <a:r>
              <a:rPr/>
              <a:t>Types of populations:</a:t>
            </a:r>
          </a:p>
          <a:p>
            <a:pPr lvl="0"/>
            <a:r>
              <a:rPr b="1"/>
              <a:t>Observational population</a:t>
            </a:r>
            <a:r>
              <a:rPr/>
              <a:t>: </a:t>
            </a:r>
            <a:r>
              <a:rPr b="1"/>
              <a:t>group whose characteristics are studied passively</a:t>
            </a:r>
            <a:r>
              <a:rPr/>
              <a:t> (e.g., head width of all corn earworms in a field)</a:t>
            </a:r>
          </a:p>
          <a:p>
            <a:pPr lvl="0"/>
            <a:r>
              <a:rPr b="1"/>
              <a:t>Experimental population</a:t>
            </a:r>
            <a:r>
              <a:rPr/>
              <a:t>: </a:t>
            </a:r>
            <a:r>
              <a:rPr b="1"/>
              <a:t>actively manipulate variables to observe effects and establish cause-and-effect relationships (e.g.,</a:t>
            </a:r>
            <a:r>
              <a:rPr/>
              <a:t> manipulate temperature and monitor head width)</a:t>
            </a:r>
          </a:p>
          <a:p>
            <a:pPr lvl="0" indent="0" marL="0">
              <a:buNone/>
            </a:pPr>
            <a:r>
              <a:rPr/>
              <a:t>Sampling involves</a:t>
            </a:r>
          </a:p>
          <a:p>
            <a:pPr lvl="0"/>
            <a:r>
              <a:rPr b="1"/>
              <a:t>inference</a:t>
            </a:r>
            <a:r>
              <a:rPr/>
              <a:t> - generalizing from what is observed in the sample to what is present in the population.</a:t>
            </a:r>
          </a:p>
          <a:p>
            <a:pPr lvl="0"/>
            <a:r>
              <a:rPr/>
              <a:t>Valid inference requires </a:t>
            </a:r>
            <a:r>
              <a:rPr b="1"/>
              <a:t>random sampling</a:t>
            </a:r>
            <a:r>
              <a:rPr/>
              <a:t>.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Parameters vs. 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important to distinguish between:</a:t>
            </a:r>
          </a:p>
          <a:p>
            <a:pPr lvl="0"/>
            <a:r>
              <a:rPr b="1"/>
              <a:t>Parameters</a:t>
            </a:r>
            <a:r>
              <a:rPr/>
              <a:t>: True numerical values for a population (usually denoted by Greek letters)</a:t>
            </a:r>
          </a:p>
          <a:p>
            <a:pPr lvl="0"/>
            <a:r>
              <a:rPr b="1"/>
              <a:t>Statistics</a:t>
            </a:r>
            <a:r>
              <a:rPr/>
              <a:t>: Estimates of parameters based on samples (usually denoted by Roman letters)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/>
            <a:r>
              <a:rPr/>
              <a:t>Population mean (μ) is estimated by sample mean (Y̅)</a:t>
            </a:r>
          </a:p>
          <a:p>
            <a:pPr lvl="0"/>
            <a:r>
              <a:rPr/>
              <a:t>Population standard deviation (σ) is estimated by sample standard deviation (s)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Kinds of Biological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type of variable you’re working with is essential for selecting appropriate statistics: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 or Quantitative Variables</a:t>
            </a:r>
          </a:p>
          <a:p>
            <a:pPr lvl="0"/>
            <a:r>
              <a:rPr b="1"/>
              <a:t>Continuous</a:t>
            </a:r>
            <a:r>
              <a:rPr/>
              <a:t>: Any value between extremes of scale is possible (e.g., mass, length)</a:t>
            </a:r>
          </a:p>
          <a:p>
            <a:pPr lvl="0"/>
            <a:r>
              <a:rPr b="1"/>
              <a:t>Discrete (meristic)</a:t>
            </a:r>
            <a:r>
              <a:rPr/>
              <a:t>: Only fixed values (usually integers) between extremes are possible (e.g., bristle number, egg count)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Rank Variables (Ordinal)</a:t>
            </a:r>
          </a:p>
          <a:p>
            <a:pPr lvl="0"/>
            <a:r>
              <a:rPr/>
              <a:t>Assign only order, not quantity - student rank - 1 2 3</a:t>
            </a:r>
          </a:p>
          <a:p>
            <a:pPr lvl="0"/>
            <a:r>
              <a:rPr/>
              <a:t>Nothing implied about relative distance between values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Categorical Variables (Qualitative)</a:t>
            </a:r>
          </a:p>
          <a:p>
            <a:pPr lvl="0"/>
            <a:r>
              <a:rPr/>
              <a:t>No quantitative information (e.g., male/female, living/dead)</a:t>
            </a:r>
          </a:p>
          <a:p>
            <a:pPr lvl="0"/>
            <a:r>
              <a:rPr/>
              <a:t>Some are simplifications of quantitative variables (e.g., color instead of wavelength)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Derived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Variables</a:t>
            </a:r>
          </a:p>
          <a:p>
            <a:pPr lvl="0"/>
            <a:r>
              <a:rPr b="1"/>
              <a:t>Percentages, Proportions</a:t>
            </a:r>
            <a:r>
              <a:rPr/>
              <a:t>: Ratio of some component to total</a:t>
            </a:r>
          </a:p>
          <a:p>
            <a:pPr lvl="0"/>
            <a:r>
              <a:rPr b="1"/>
              <a:t>Ratios</a:t>
            </a:r>
            <a:r>
              <a:rPr/>
              <a:t>: Relation of two variables</a:t>
            </a:r>
          </a:p>
          <a:p>
            <a:pPr lvl="0"/>
            <a:r>
              <a:rPr b="1"/>
              <a:t>Rates</a:t>
            </a:r>
            <a:r>
              <a:rPr/>
              <a:t>: Quantity per unit (time, mass, etc.)</a:t>
            </a:r>
          </a:p>
          <a:p>
            <a:pPr lvl="0"/>
            <a:r>
              <a:rPr b="1"/>
              <a:t>Indices</a:t>
            </a:r>
            <a:r>
              <a:rPr/>
              <a:t>: More complex derived variables (e.g., condition index)</a:t>
            </a:r>
          </a:p>
          <a:p>
            <a:pPr lvl="0" indent="0" marL="0">
              <a:buNone/>
            </a:pPr>
            <a:r>
              <a:rPr/>
              <a:t>Let’s explore our grayling dataset and identify the types of variables it contains.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Why Statistics is Vital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Biology is fundamentally different from fields like physics/chemistry in that:</a:t>
            </a:r>
          </a:p>
          <a:p>
            <a:pPr lvl="0"/>
            <a:r>
              <a:rPr/>
              <a:t>Most biological phenomena are </a:t>
            </a:r>
            <a:r>
              <a:rPr b="1"/>
              <a:t>probabilistic</a:t>
            </a:r>
            <a:r>
              <a:rPr/>
              <a:t> rather than </a:t>
            </a:r>
            <a:r>
              <a:rPr b="1"/>
              <a:t>deterministic</a:t>
            </a:r>
          </a:p>
          <a:p>
            <a:pPr lvl="1"/>
            <a:r>
              <a:rPr/>
              <a:t>Responses occur with some characteristic probability, </a:t>
            </a:r>
            <a:r>
              <a:rPr b="1"/>
              <a:t>not with certainty</a:t>
            </a:r>
          </a:p>
          <a:p>
            <a:pPr lvl="0"/>
            <a:r>
              <a:rPr/>
              <a:t>All biological material varies, which is essential for evolution (recall Darwin’s postulates):</a:t>
            </a:r>
          </a:p>
          <a:p>
            <a:pPr lvl="1"/>
            <a:r>
              <a:rPr/>
              <a:t>Variation exists within populations</a:t>
            </a:r>
          </a:p>
          <a:p>
            <a:pPr lvl="1"/>
            <a:r>
              <a:rPr/>
              <a:t>Some variation is heritable</a:t>
            </a:r>
          </a:p>
          <a:p>
            <a:pPr lvl="1"/>
            <a:r>
              <a:rPr/>
              <a:t>Some heritable variation affects survival/reproduction</a:t>
            </a:r>
          </a:p>
          <a:p>
            <a:pPr lvl="0"/>
            <a:r>
              <a:rPr/>
              <a:t>Environmental conditions (in nature, lab, or greenhouse) always vary</a:t>
            </a:r>
          </a:p>
          <a:p>
            <a:pPr lvl="0"/>
            <a:r>
              <a:rPr/>
              <a:t>Measurements include error</a:t>
            </a:r>
          </a:p>
          <a:p>
            <a:pPr lvl="0"/>
            <a:r>
              <a:rPr/>
              <a:t>Multiple unmeasured causal factors influence nearly all biological systems</a:t>
            </a:r>
          </a:p>
          <a:p>
            <a:pPr lvl="0" indent="0" marL="0">
              <a:buNone/>
            </a:pPr>
            <a:r>
              <a:rPr/>
              <a:t>Statistics helps us understand biological processes in this variable world by:</a:t>
            </a:r>
          </a:p>
          <a:p>
            <a:pPr lvl="0" indent="-342900" marL="342900">
              <a:buAutoNum type="arabicPeriod"/>
            </a:pPr>
            <a:r>
              <a:rPr/>
              <a:t>Condensing variation into summary form (Descriptive statistics)</a:t>
            </a:r>
          </a:p>
          <a:p>
            <a:pPr lvl="0" indent="-342900" marL="342900">
              <a:buAutoNum type="arabicPeriod"/>
            </a:pPr>
            <a:r>
              <a:rPr/>
              <a:t>Testing whether observations are consistent with predictions (Inferential statistics)</a:t>
            </a:r>
          </a:p>
        </p:txBody>
      </p:sp>
      <p:pic>
        <p:nvPicPr>
          <p:cNvPr descr="descriptive_stats_wrangling_lecture_files/figure-pptx/l03-0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Fish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Can you open the fish data </a:t>
            </a:r>
            <a:r>
              <a:rPr sz="2000" b="1">
                <a:latin typeface="Courier"/>
              </a:rPr>
              <a:t>gray_I3_I8.csv</a:t>
            </a:r>
            <a:r>
              <a:rPr sz="2000" b="1"/>
              <a:t> and look at the structure and make a histogram?</a:t>
            </a:r>
          </a:p>
          <a:p>
            <a:pPr lvl="0" indent="0" marL="1270000">
              <a:buNone/>
            </a:pPr>
            <a:r>
              <a:rPr sz="2000"/>
              <a:t>Note the variation around the mean… some could be due to measurement error</a:t>
            </a:r>
          </a:p>
          <a:p>
            <a:pPr lvl="0" indent="0" marL="1270000">
              <a:buNone/>
            </a:pPr>
            <a:r>
              <a:rPr sz="2000"/>
              <a:t>Let’s recreate the basic histogram of fish lengths using </a:t>
            </a:r>
            <a:r>
              <a:rPr sz="2000">
                <a:latin typeface="Courier"/>
              </a:rPr>
              <a:t>gray_I3_I8.csv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Examining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Can you do this for the pine data we have collected?</a:t>
            </a:r>
          </a:p>
          <a:p>
            <a:pPr lvl="0" indent="0" marL="1270000">
              <a:buNone/>
            </a:pPr>
            <a:r>
              <a:rPr sz="2000"/>
              <a:t>Let’s examine the different data and determine what they are?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Accuracy, Precision, and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taking biological measurements, understanding measurement quality is essential:</a:t>
            </a:r>
          </a:p>
          <a:p>
            <a:pPr lvl="0"/>
            <a:r>
              <a:rPr b="1"/>
              <a:t>Accuracy</a:t>
            </a:r>
            <a:r>
              <a:rPr/>
              <a:t>: Closeness of measured value to true value</a:t>
            </a:r>
          </a:p>
          <a:p>
            <a:pPr lvl="0"/>
            <a:r>
              <a:rPr b="1"/>
              <a:t>Precision</a:t>
            </a:r>
            <a:r>
              <a:rPr/>
              <a:t>: Closeness of repeated measurements to each other (repeatability)</a:t>
            </a:r>
          </a:p>
          <a:p>
            <a:pPr lvl="0"/>
            <a:r>
              <a:rPr b="1"/>
              <a:t>Bias</a:t>
            </a:r>
            <a:r>
              <a:rPr/>
              <a:t>: Systematic departure from the true value</a:t>
            </a:r>
          </a:p>
          <a:p>
            <a:pPr lvl="0" indent="0" marL="0">
              <a:buNone/>
            </a:pPr>
            <a:r>
              <a:rPr b="1"/>
              <a:t>Accuracy</a:t>
            </a:r>
            <a:r>
              <a:rPr/>
              <a:t> is a </a:t>
            </a:r>
            <a:r>
              <a:rPr b="1"/>
              <a:t>function</a:t>
            </a:r>
            <a:r>
              <a:rPr/>
              <a:t> of </a:t>
            </a:r>
            <a:r>
              <a:rPr b="1"/>
              <a:t>both precision and bias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statisticians, </a:t>
            </a:r>
            <a:r>
              <a:rPr b="1"/>
              <a:t>BIAS is usually a more serious problem than low precision because</a:t>
            </a:r>
            <a:r>
              <a:rPr/>
              <a:t>:</a:t>
            </a:r>
          </a:p>
          <a:p>
            <a:pPr lvl="0"/>
            <a:r>
              <a:rPr/>
              <a:t>It’s harder to detect (true value usually unknown)</a:t>
            </a:r>
          </a:p>
          <a:p>
            <a:pPr lvl="0"/>
            <a:r>
              <a:rPr/>
              <a:t>Low precision can be compensated for by increased sample size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Exercise: Sources of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What are potential sources of error in fish data?</a:t>
            </a:r>
          </a:p>
          <a:p>
            <a:pPr lvl="0" indent="0" marL="1270000">
              <a:buNone/>
            </a:pPr>
            <a:r>
              <a:rPr sz="2000"/>
              <a:t>For our grayling data, potential sources of measurement error might include:</a:t>
            </a:r>
          </a:p>
          <a:p>
            <a:pPr lvl="0"/>
            <a:r>
              <a:rPr sz="2000"/>
              <a:t>Precision issues:</a:t>
            </a:r>
          </a:p>
          <a:p>
            <a:pPr lvl="1"/>
            <a:r>
              <a:rPr sz="2000"/>
              <a:t>Variations in how fish are measured (e.g., slightly bent fish)</a:t>
            </a:r>
          </a:p>
          <a:p>
            <a:pPr lvl="0"/>
            <a:r>
              <a:rPr sz="2000"/>
              <a:t>Bias issues:</a:t>
            </a:r>
          </a:p>
          <a:p>
            <a:pPr lvl="1"/>
            <a:r>
              <a:rPr sz="2000"/>
              <a:t>Systematic underestimation of length if measurements aren’t taken from the true tip of the snout to the end of the tail</a:t>
            </a:r>
          </a:p>
          <a:p>
            <a:pPr lvl="0"/>
            <a:r>
              <a:rPr sz="2000"/>
              <a:t>Accuracy issues? what could they be?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two most common measures of central tendency are the </a:t>
                </a:r>
                <a:r>
                  <a:rPr b="1"/>
                  <a:t>mean</a:t>
                </a:r>
                <a:r>
                  <a:rPr/>
                  <a:t> and the </a:t>
                </a:r>
                <a:r>
                  <a:rPr b="1"/>
                  <a:t>median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Arithmetic Mean The arithmetic mean is the average of a set of measurements: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represents each individual measurement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total number of observations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mean_length
  &lt;chr&gt;       &lt;dbl&gt;
1 I3           266.
2 I8           363.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</a:t>
            </a:r>
          </a:p>
          <a:p>
            <a:pPr lvl="0"/>
            <a:r>
              <a:rPr/>
              <a:t>The median is the middle value of a sorted dataset.</a:t>
            </a:r>
          </a:p>
          <a:p>
            <a:pPr lvl="0"/>
            <a:r>
              <a:rPr/>
              <a:t>If there is an even number of observations, it’s the average of the two middle values.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median_length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median_length
  &lt;chr&gt;         &lt;dbl&gt;
1 I3              266
2 I8              373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Spread - 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spread of a distribution tells us how variable the measurements are.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Variance and Standard Deviation</a:t>
                </a:r>
              </a:p>
              <a:p>
                <a:pPr lvl="0" indent="0" marL="0">
                  <a:buNone/>
                </a:pPr>
                <a:r>
                  <a:rPr/>
                  <a:t>The variance is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standard deviation is the square root of variance</a:t>
                </a:r>
              </a:p>
              <a:p>
                <a:pPr lvl="0"/>
                <a:r>
                  <a:rPr/>
                  <a:t>measures how far observations typically are from the mean and are in the units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n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standard deviation of fish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var_length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sd_length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var_length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(length_mm),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 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lake  var_length sd_length
  &lt;chr&gt;      &lt;dbl&gt;     &lt;dbl&gt;
1 I3          801.      28.3
2 I8         2739.      52.3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area under the curve of a bell shaped curve within + and - 2 standard deviations on each side includes about 95% of the data</a:t>
            </a:r>
            <a:br/>
            <a:br/>
            <a:r>
              <a:rPr/>
              <a:t>so there is only 2.5% of the data that is outside this range</a:t>
            </a:r>
          </a:p>
          <a:p>
            <a:pPr lvl="0"/>
            <a:r>
              <a:rPr/>
              <a:t>note the similarity to the p &lt; 0.5</a:t>
            </a:r>
          </a:p>
          <a:p>
            <a:pPr lvl="0"/>
            <a:r>
              <a:rPr/>
              <a:t>note that it is 90.91% and that is because the curve is not normal</a:t>
            </a:r>
          </a:p>
          <a:p>
            <a:pPr lvl="0" indent="0">
              <a:buNone/>
            </a:pPr>
            <a:r>
              <a:rPr>
                <a:latin typeface="Courier"/>
              </a:rPr>
              <a:t>i3 Lake Fish Length Summary:
 Number of fish: 66 
 Mean length: 265.61 mm
 Standard Deviation: 28.3 mm
 Range for ±2 SD: 209 to 322.21 mm
 Percentage within ±2 SD: 90.91 %</a:t>
            </a:r>
          </a:p>
        </p:txBody>
      </p:sp>
      <p:pic>
        <p:nvPicPr>
          <p:cNvPr descr="descriptive_stats_wrangling_lecture_files/figure-pptx/sd-variance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Coefficient of Variation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coefficient of variation (CV) expresses the standard deviation as a percentage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useful for comparing the variability of measurements with different units or vastly different scales.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Coefficient of variation: 10.7 %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cv_length
  &lt;chr&gt;     &lt;dbl&gt;
1 I3         10.7
2 I8         14.4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interquartile range (IQR) is the range of the middle 50% of the data: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Q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the first quartile (25th percentile) and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is the third quartile (75th percentile).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First quartile: 270.75 mm</a:t>
            </a:r>
          </a:p>
          <a:p>
            <a:pPr lvl="0" indent="0">
              <a:buNone/>
            </a:pPr>
            <a:r>
              <a:rPr>
                <a:latin typeface="Courier"/>
              </a:rPr>
              <a:t>Third quartile: 377 mm</a:t>
            </a:r>
          </a:p>
          <a:p>
            <a:pPr lvl="0" indent="0">
              <a:buNone/>
            </a:pPr>
            <a:r>
              <a:rPr>
                <a:latin typeface="Courier"/>
              </a:rPr>
              <a:t>Interquartile range: 106.25 mm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lake     q1    q3   iqr
  &lt;chr&gt; &lt;dbl&gt; &lt;dbl&gt; &lt;dbl&gt;
1 I3      256   280    24
2 I8      340   401    61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Percentiles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- it is the same as quartiles but more finely divided and will come into play later 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Percentiles are values that divide a dataset into 100 equal parts.</a:t>
            </a:r>
          </a:p>
          <a:p>
            <a:pPr lvl="0"/>
            <a:r>
              <a:rPr/>
              <a:t>The 25th percentile is the first quartile (Q1)</a:t>
            </a:r>
          </a:p>
          <a:p>
            <a:pPr lvl="0"/>
            <a:r>
              <a:rPr/>
              <a:t>The 50th percentile is the median</a:t>
            </a:r>
          </a:p>
          <a:p>
            <a:pPr lvl="0"/>
            <a:r>
              <a:rPr/>
              <a:t>The 75th percentile is the third quartile (Q3)</a:t>
            </a:r>
          </a:p>
          <a:p>
            <a:pPr lvl="0"/>
            <a:r>
              <a:rPr/>
              <a:t>The IQR is the difference between Q3 and Q1.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percentiles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percentiles &lt;-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Standard Deviation vs. Interquartile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standard deviation and interquartile range both measure spread, but:</a:t>
            </a:r>
          </a:p>
          <a:p>
            <a:pPr lvl="0" indent="0" marL="0">
              <a:buNone/>
            </a:pPr>
            <a:r>
              <a:rPr b="1"/>
              <a:t>Standard deviation</a:t>
            </a:r>
            <a:r>
              <a:rPr/>
              <a:t>: Sensitive to outliers</a:t>
            </a:r>
          </a:p>
          <a:p>
            <a:pPr lvl="0" indent="0" marL="0">
              <a:buNone/>
            </a:pPr>
            <a:r>
              <a:rPr b="1"/>
              <a:t>Interquartile range</a:t>
            </a:r>
            <a:r>
              <a:rPr/>
              <a:t>: Robust against outliers</a:t>
            </a:r>
          </a:p>
          <a:p>
            <a:pPr lvl="0" indent="0" marL="0">
              <a:buNone/>
            </a:pPr>
            <a:r>
              <a:rPr/>
              <a:t>When the data is approximately normal, the IQR ≈ 1.35 × standard deviation.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lake     sd   iqr ratio_iqr_sd
  &lt;chr&gt; &lt;dbl&gt; &lt;dbl&gt;        &lt;dbl&gt;
1 I3     28.3    24        0.848
2 I8     52.3    61        1.17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Data Transformations for Skewed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Biological data are often skewed (asymmetrical), which can make the arithmetic mean less representative of central tendency. Data transformations can help address this issue.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Logarithmic Transformation</a:t>
            </a:r>
          </a:p>
          <a:p>
            <a:pPr lvl="0" indent="0" marL="0">
              <a:buNone/>
            </a:pPr>
            <a:r>
              <a:rPr/>
              <a:t>The logarithmic transformation is one of the most common for right-skewed biological data:</a:t>
            </a:r>
          </a:p>
          <a:p>
            <a:pPr lvl="0" indent="0" marL="0">
              <a:buNone/>
            </a:pPr>
            <a:r>
              <a:rPr/>
              <a:t>When data are log-normally distributed, the geometric mean often provides a better measure of central tendency than the arithmetic mean.</a:t>
            </a:r>
          </a:p>
          <a:p>
            <a:pPr lvl="0"/>
            <a:r>
              <a:rPr/>
              <a:t>But there are issues and it might not be good…</a:t>
            </a:r>
          </a:p>
          <a:p>
            <a:pPr lvl="1"/>
            <a:r>
              <a:rPr/>
              <a:t>detecting differences in geometric means, not arithmetic means</a:t>
            </a:r>
          </a:p>
          <a:p>
            <a:pPr lvl="2"/>
            <a:r>
              <a:rPr/>
              <a:t>geometric is all values multiplied taken to the nth root</a:t>
            </a:r>
          </a:p>
          <a:p>
            <a:pPr lvl="1"/>
            <a:r>
              <a:rPr/>
              <a:t>Can’t handle zeros without adding arbitrary constants (log(x+1) transformations), which can bias results</a:t>
            </a:r>
            <a:br/>
          </a:p>
          <a:p>
            <a:pPr lvl="0" indent="0">
              <a:buNone/>
            </a:pPr>
            <a:r>
              <a:rPr>
                <a:latin typeface="Courier"/>
              </a:rPr>
              <a:t>Arithmetic mean of original data: 265.6 mm
 Geometric mean (back-transformed mean of logs): NA mm</a:t>
            </a:r>
          </a:p>
        </p:txBody>
      </p:sp>
      <p:pic>
        <p:nvPicPr>
          <p:cNvPr descr="descriptive_stats_wrangling_lecture_files/figure-pptx/log-transf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When to Use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tranform data to a “normal” distribution we can use the following transformations…</a:t>
            </a:r>
          </a:p>
          <a:p>
            <a:pPr lvl="0"/>
            <a:r>
              <a:rPr b="1"/>
              <a:t>Log transformation</a:t>
            </a:r>
            <a:r>
              <a:rPr/>
              <a:t>: When data are right-skewed or follow multiplicative rather than additive processes</a:t>
            </a:r>
          </a:p>
          <a:p>
            <a:pPr lvl="0"/>
            <a:r>
              <a:rPr b="1"/>
              <a:t>Square root transformation</a:t>
            </a:r>
            <a:r>
              <a:rPr/>
              <a:t>: For count data or data where variance increases with the mean</a:t>
            </a:r>
          </a:p>
          <a:p>
            <a:pPr lvl="0"/>
            <a:r>
              <a:rPr b="1"/>
              <a:t>Inverse transformation</a:t>
            </a:r>
            <a:r>
              <a:rPr/>
              <a:t>: For strongly right-skewed data</a:t>
            </a:r>
          </a:p>
          <a:p>
            <a:pPr lvl="0"/>
            <a:r>
              <a:rPr b="1"/>
              <a:t>Arcsine square root transformation</a:t>
            </a:r>
            <a:r>
              <a:rPr/>
              <a:t>: For proportions or percentages (though logistic regression is often preferred now)</a:t>
            </a:r>
          </a:p>
          <a:p>
            <a:pPr lvl="0" indent="0" marL="0">
              <a:buNone/>
            </a:pPr>
            <a:r>
              <a:rPr/>
              <a:t>In a reflection the parameter </a:t>
            </a:r>
            <a:r>
              <a:rPr b="1"/>
              <a:t>k</a:t>
            </a:r>
            <a:r>
              <a:rPr/>
              <a:t> is typically chosen to be a value that’s larger than the maximum value</a:t>
            </a:r>
          </a:p>
        </p:txBody>
      </p:sp>
      <p:pic>
        <p:nvPicPr>
          <p:cNvPr descr="images/clipboard-2483693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Histograms</a:t>
            </a:r>
          </a:p>
          <a:p>
            <a:pPr lvl="0" indent="0" marL="0">
              <a:buNone/>
            </a:pPr>
            <a:r>
              <a:rPr/>
              <a:t>Histograms show the frequency distribution of our data.</a:t>
            </a:r>
          </a:p>
        </p:txBody>
      </p:sp>
      <p:pic>
        <p:nvPicPr>
          <p:cNvPr descr="descriptive_stats_wrangling_lecture_files/figure-pptx/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Plots</a:t>
            </a:r>
          </a:p>
          <a:p>
            <a:pPr lvl="0" indent="0" marL="0">
              <a:buNone/>
            </a:pPr>
            <a:r>
              <a:rPr/>
              <a:t>Box plots show the median, quartiles, and potential outliers.</a:t>
            </a:r>
          </a:p>
        </p:txBody>
      </p:sp>
      <p:pic>
        <p:nvPicPr>
          <p:cNvPr descr="descriptive_stats_wrangling_lecture_files/figure-pptx/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Comparing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6
  lake   mean median    sd   iqr skewness
  &lt;chr&gt; &lt;dbl&gt;  &lt;dbl&gt; &lt;dbl&gt; &lt;dbl&gt;    &lt;dbl&gt;
1 I3     266.    266  28.3    24   -0.883
2 I8     363.    373  52.3    61   -1.09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Histogram Plot -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pic>
        <p:nvPicPr>
          <p:cNvPr descr="descriptive_stats_wrangling_lecture_files/figure-pptx/mean-vs-media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examine how missing values affect our descriptive statistics by looking at the mass variable, which has some missing data.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Mean mass without handling NAs: NA g
 Mean mass with na.rm=TRUE: 351.2289 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mean_mass median_mass sd_mass n_missing
  &lt;chr&gt;     &lt;dbl&gt;       &lt;dbl&gt;   &lt;dbl&gt;     &lt;int&gt;
1 I3         150.         147    42.2         0
2 I8         484.         490   176.          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Best Practices for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Always check for missing values in your data before calculating statistics.</a:t>
            </a:r>
          </a:p>
          <a:p>
            <a:pPr lvl="0" indent="-342900" marL="342900">
              <a:buAutoNum type="arabicPeriod"/>
            </a:pPr>
            <a:r>
              <a:rPr/>
              <a:t>Use na.rm = TRUE when calculating summary statistics to handle missing values.</a:t>
            </a:r>
          </a:p>
          <a:p>
            <a:pPr lvl="0" indent="-342900" marL="342900">
              <a:buAutoNum type="arabicPeriod"/>
            </a:pPr>
            <a:r>
              <a:rPr/>
              <a:t>Report the number of missing values along with your statistics.</a:t>
            </a:r>
          </a:p>
          <a:p>
            <a:pPr lvl="0" indent="-342900" marL="342900">
              <a:buAutoNum type="arabicPeriod"/>
            </a:pPr>
            <a:r>
              <a:rPr/>
              <a:t>Consider whether the missing values are random or might introduce bias.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from 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that we have estimates of the sample we need to relate that to the population</a:t>
            </a:r>
          </a:p>
          <a:p>
            <a:pPr lvl="0" indent="0" marL="0">
              <a:buNone/>
            </a:pPr>
            <a:r>
              <a:rPr/>
              <a:t>In reality, we rarely know the true population parameters. When studying fish in lakes I3 and I8:</a:t>
            </a:r>
          </a:p>
          <a:p>
            <a:pPr lvl="0"/>
            <a:r>
              <a:rPr/>
              <a:t>The </a:t>
            </a:r>
            <a:r>
              <a:rPr b="1"/>
              <a:t>population</a:t>
            </a:r>
            <a:r>
              <a:rPr/>
              <a:t> includes all grayling fish in each lake</a:t>
            </a:r>
          </a:p>
          <a:p>
            <a:pPr lvl="0"/>
            <a:r>
              <a:rPr/>
              <a:t>The true population mean (μ) and standard deviation (σ) are unknown</a:t>
            </a:r>
          </a:p>
          <a:p>
            <a:pPr lvl="0"/>
            <a:r>
              <a:rPr/>
              <a:t>Our dataset is a </a:t>
            </a:r>
            <a:r>
              <a:rPr b="1"/>
              <a:t>sample</a:t>
            </a:r>
            <a:r>
              <a:rPr/>
              <a:t> from this population</a:t>
            </a:r>
          </a:p>
          <a:p>
            <a:pPr lvl="0"/>
            <a:r>
              <a:rPr/>
              <a:t>We use the sample mean (x̄) to estimate μ</a:t>
            </a:r>
          </a:p>
          <a:p>
            <a:pPr lvl="0"/>
            <a:r>
              <a:rPr/>
              <a:t>Sampling introduces random variation in our estimates</a:t>
            </a:r>
          </a:p>
          <a:p>
            <a:pPr lvl="0" indent="0" marL="0">
              <a:buNone/>
            </a:pPr>
            <a:r>
              <a:rPr/>
              <a:t>Let’s demonstrate how different samples from the same population can give different estimates.</a:t>
            </a:r>
          </a:p>
          <a:p>
            <a:pPr lvl="0" indent="0" marL="0">
              <a:buNone/>
            </a:pPr>
            <a:r>
              <a:rPr/>
              <a:t>If we could sample all fish in the lake, we would know the true mean length. But that’s usually impossible in ecology!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Demonstrating Sampling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take several random samples from Lake I3 and see how the sample means vary: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Plotting Sample Variation</a:t>
            </a:r>
          </a:p>
        </p:txBody>
      </p:sp>
      <p:pic>
        <p:nvPicPr>
          <p:cNvPr descr="descriptive_stats_wrangling_lecture_files/figure-pptx/l03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how each sample’s mean differs from the overall mean. This demonstrates sampling variation.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Standard Error: Quantifying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of the mean (SEM)</a:t>
                </a:r>
                <a:r>
                  <a:rPr/>
                  <a:t> measures the precision of a sample mean as an estimate of the population mean.</a:t>
                </a:r>
              </a:p>
              <a:p>
                <a:pPr lvl="0" indent="0" marL="0">
                  <a:buNone/>
                </a:pPr>
                <a:r>
                  <a:rPr/>
                  <a:t>Formula: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:r>
                  <a:rPr/>
                  <a:t>s is the sample standard deviation</a:t>
                </a:r>
              </a:p>
              <a:p>
                <a:pPr lvl="0"/>
                <a:r>
                  <a:rPr/>
                  <a:t>n is the sample size</a:t>
                </a:r>
              </a:p>
              <a:p>
                <a:pPr lvl="0" indent="0" marL="0">
                  <a:buNone/>
                </a:pPr>
                <a:r>
                  <a:rPr/>
                  <a:t>The standard error tells us:</a:t>
                </a:r>
              </a:p>
              <a:p>
                <a:pPr lvl="0"/>
                <a:r>
                  <a:rPr/>
                  <a:t>How much uncertainty is in our estimate</a:t>
                </a:r>
              </a:p>
              <a:p>
                <a:pPr lvl="0"/>
                <a:r>
                  <a:rPr/>
                  <a:t>How much sample means are expected to vary</a:t>
                </a:r>
              </a:p>
              <a:p>
                <a:pPr lvl="0"/>
                <a:r>
                  <a:rPr/>
                  <a:t>How close our sample mean is likely to be to the true population mean</a:t>
                </a:r>
              </a:p>
              <a:p>
                <a:pPr lvl="0" indent="0" marL="0">
                  <a:buNone/>
                </a:pPr>
                <a:r>
                  <a:rPr b="1"/>
                  <a:t>Remember:</a:t>
                </a:r>
              </a:p>
              <a:p>
                <a:pPr lvl="0"/>
                <a:r>
                  <a:rPr/>
                  <a:t>Standard deviation (s) describes the variability in the individual data points</a:t>
                </a:r>
              </a:p>
              <a:p>
                <a:pPr lvl="0"/>
                <a:r>
                  <a:rPr/>
                  <a:t>Standard error (SE) describes the variability in the sample mean itself</a:t>
                </a:r>
              </a:p>
              <a:p>
                <a:pPr lvl="0"/>
                <a:r>
                  <a:rPr/>
                  <a:t>As sample size increases, SE decreases (more precise estimate)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mean, SD, and SE for each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mean_length sd_length     n se_length
  &lt;chr&gt;       &lt;dbl&gt;     &lt;dbl&gt; &lt;int&gt;     &lt;dbl&gt;
1 I3           266.      28.3    66     0.429
2 I8           363.      52.3   102     0.513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Distribution of the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sampling distribution of the mean</a:t>
            </a:r>
            <a:r>
              <a:rPr/>
              <a:t> is the theoretical distribution of all possible sample means of a given sample size from a population.</a:t>
            </a:r>
          </a:p>
          <a:p>
            <a:pPr lvl="0" indent="0" marL="0">
              <a:buNone/>
            </a:pPr>
            <a:r>
              <a:rPr/>
              <a:t>Important properties:</a:t>
            </a:r>
          </a:p>
          <a:p>
            <a:pPr lvl="0" indent="-342900" marL="342900">
              <a:buAutoNum type="arabicPeriod"/>
            </a:pPr>
            <a:r>
              <a:rPr/>
              <a:t>It is centered at the population mean (μ)</a:t>
            </a:r>
          </a:p>
          <a:p>
            <a:pPr lvl="0" indent="-342900" marL="342900">
              <a:buAutoNum type="arabicPeriod"/>
            </a:pPr>
            <a:r>
              <a:rPr/>
              <a:t>Its standard deviation is the standard error (σ/√n)</a:t>
            </a:r>
          </a:p>
          <a:p>
            <a:pPr lvl="0" indent="-342900" marL="342900">
              <a:buAutoNum type="arabicPeriod"/>
            </a:pPr>
            <a:r>
              <a:rPr/>
              <a:t>For large sample sizes, it approaches a normal distribution (Central Limit Theorem)</a:t>
            </a:r>
          </a:p>
          <a:p>
            <a:pPr lvl="0" indent="0" marL="0">
              <a:buNone/>
            </a:pPr>
            <a:r>
              <a:rPr/>
              <a:t>The larger the sample size:</a:t>
            </a:r>
          </a:p>
          <a:p>
            <a:pPr lvl="0"/>
            <a:r>
              <a:rPr/>
              <a:t>The narrower the sampling distribution</a:t>
            </a:r>
          </a:p>
          <a:p>
            <a:pPr lvl="0"/>
            <a:r>
              <a:rPr/>
              <a:t>The smaller the standard error</a:t>
            </a:r>
          </a:p>
          <a:p>
            <a:pPr lvl="0"/>
            <a:r>
              <a:rPr/>
              <a:t>The more precise our estimate of the population mean</a:t>
            </a:r>
          </a:p>
          <a:p>
            <a:pPr lvl="0" indent="0" marL="0">
              <a:buNone/>
            </a:pPr>
            <a:r>
              <a:rPr/>
              <a:t>Let’s simulate the sampling distribution for Lake I3 fish data.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Simulating the Sampling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simulate taking many samples from Lake I3 to visualize the sampling distribution:</a:t>
            </a:r>
          </a:p>
        </p:txBody>
      </p:sp>
      <p:pic>
        <p:nvPicPr>
          <p:cNvPr descr="descriptive_stats_wrangling_lecture_files/figure-pptx/l03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that the simulated sampling distribution:</a:t>
            </a:r>
          </a:p>
          <a:p>
            <a:pPr lvl="0" indent="-342900" marL="342900">
              <a:buAutoNum type="arabicPeriod"/>
            </a:pPr>
            <a:r>
              <a:rPr/>
              <a:t>Is approximately normally distributed</a:t>
            </a:r>
          </a:p>
          <a:p>
            <a:pPr lvl="0" indent="-342900" marL="342900">
              <a:buAutoNum type="arabicPeriod"/>
            </a:pPr>
            <a:r>
              <a:rPr/>
              <a:t>Is centered around the overall sample mean</a:t>
            </a:r>
          </a:p>
          <a:p>
            <a:pPr lvl="0" indent="-342900" marL="342900">
              <a:buAutoNum type="arabicPeriod"/>
            </a:pPr>
            <a:r>
              <a:rPr/>
              <a:t>Has a spread that is related to the standard error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Standard Error and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see how the standard error changes with different sample sizes: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Sample Size vs. Standard Error</a:t>
            </a:r>
          </a:p>
        </p:txBody>
      </p:sp>
      <p:pic>
        <p:nvPicPr>
          <p:cNvPr descr="descriptive_stats_wrangling_lecture_files/figure-pptx/l03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confidence interval</a:t>
                </a:r>
                <a:r>
                  <a:rPr/>
                  <a:t> is a range of values that is likely to contain the true population parameter.</a:t>
                </a:r>
              </a:p>
              <a:p>
                <a:pPr lvl="0" indent="0" marL="0">
                  <a:buNone/>
                </a:pPr>
                <a:r>
                  <a:rPr/>
                  <a:t>The 95% confidence interval for the mean is approximately: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“2 SE rule of thumb” means:</a:t>
                </a:r>
              </a:p>
              <a:p>
                <a:pPr lvl="0"/>
                <a:r>
                  <a:rPr/>
                  <a:t>The interval extends 2 standard errors below and above the sample mean</a:t>
                </a:r>
              </a:p>
              <a:p>
                <a:pPr lvl="0"/>
                <a:r>
                  <a:rPr/>
                  <a:t>About 95% of such intervals constructed from different samples would contain the true population mean</a:t>
                </a:r>
              </a:p>
              <a:p>
                <a:pPr lvl="0" indent="0" marL="0">
                  <a:buNone/>
                </a:pPr>
                <a:r>
                  <a:rPr/>
                  <a:t>Confidence intervals provide a way to express the precision of our estimates.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Calculating Confidence Intervals for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calculate and visualize the 95% confidence intervals for the mean fish length in each lake: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lake  mean_length sd_length     n se_length ci_lower ci_upper
  &lt;chr&gt;       &lt;dbl&gt;     &lt;dbl&gt; &lt;int&gt;     &lt;dbl&gt;    &lt;dbl&gt;    &lt;dbl&gt;
1 I3           266.      28.3    66      3.48     259.     273.
2 I8           363.      52.3   102      5.18     352.     373.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Visualizing Confidence Intervals</a:t>
            </a:r>
          </a:p>
        </p:txBody>
      </p:sp>
      <p:pic>
        <p:nvPicPr>
          <p:cNvPr descr="descriptive_stats_wrangling_lecture_files/figure-pptx/l03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609600"/>
            <a:ext cx="4699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Different Types of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compare different ways of displaying uncertainty in our estimates: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Comparing Error Bar Types</a:t>
            </a:r>
          </a:p>
        </p:txBody>
      </p:sp>
      <p:pic>
        <p:nvPicPr>
          <p:cNvPr descr="descriptive_stats_wrangling_lecture_files/figure-pptx/l03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standard error</a:t>
                </a:r>
                <a:r>
                  <a:rPr/>
                  <a:t> measures the precision of a sample statistic as an estimate of a population parameter</a:t>
                </a:r>
              </a:p>
              <a:p>
                <a:pPr lvl="0"/>
                <a:r>
                  <a:rPr/>
                  <a:t>The standard error of the mean decreases as sample size increases: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sampling distribution</a:t>
                </a:r>
                <a:r>
                  <a:rPr/>
                  <a:t> shows the variation in sample statistics that would be expected due to random sampling</a:t>
                </a:r>
              </a:p>
              <a:p>
                <a:pPr lvl="0"/>
                <a:r>
                  <a:rPr b="1"/>
                  <a:t>Confidence intervals</a:t>
                </a:r>
                <a:r>
                  <a:rPr/>
                  <a:t> provide a range of plausible values for the population parameter</a:t>
                </a:r>
              </a:p>
              <a:p>
                <a:pPr lvl="0"/>
                <a:r>
                  <a:rPr/>
                  <a:t>Larger sample sizes provide more precise estimates (narrower confidence intervals)</a:t>
                </a:r>
              </a:p>
              <a:p>
                <a:pPr lvl="0"/>
                <a:r>
                  <a:rPr/>
                  <a:t>When reporting results, always include a measure of precision (SE or</a:t>
                </a:r>
              </a:p>
              <a:p>
                <a:pPr lvl="1" indent="-342900" marL="685800">
                  <a:buAutoNum startAt="101" type="romanUcParenR"/>
                </a:pP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lecture, we’ve explored:</a:t>
            </a:r>
          </a:p>
          <a:p>
            <a:pPr lvl="0"/>
            <a:r>
              <a:rPr/>
              <a:t>Why statistics is essential in biology</a:t>
            </a:r>
          </a:p>
          <a:p>
            <a:pPr lvl="0"/>
            <a:r>
              <a:rPr/>
              <a:t>Types of biological variables and their properties</a:t>
            </a:r>
          </a:p>
          <a:p>
            <a:pPr lvl="0"/>
            <a:r>
              <a:rPr/>
              <a:t>Accuracy, precision, and bias in measurements</a:t>
            </a:r>
          </a:p>
          <a:p>
            <a:pPr lvl="0"/>
            <a:r>
              <a:rPr/>
              <a:t>Measures of central tendency (mean, median, geometric mean)</a:t>
            </a:r>
          </a:p>
          <a:p>
            <a:pPr lvl="0"/>
            <a:r>
              <a:rPr/>
              <a:t>Measures of spread (standard deviation, variance, and interquartile range)</a:t>
            </a:r>
          </a:p>
          <a:p>
            <a:pPr lvl="0"/>
            <a:r>
              <a:rPr/>
              <a:t>Data transformations for skewed distributions</a:t>
            </a:r>
          </a:p>
          <a:p>
            <a:pPr lvl="0"/>
            <a:r>
              <a:rPr/>
              <a:t>Visualization techniques for understanding distributions</a:t>
            </a:r>
          </a:p>
          <a:p>
            <a:pPr lvl="0"/>
            <a:r>
              <a:rPr/>
              <a:t>Handling missing values</a:t>
            </a:r>
          </a:p>
          <a:p>
            <a:pPr lvl="0" indent="0" marL="0">
              <a:buNone/>
            </a:pPr>
            <a:r>
              <a:rPr/>
              <a:t>These tools form the foundation of statistical analysis and will be essential as we move forward to more complex statistical methods.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&amp; Wrangling</dc:title>
  <dc:creator>Bill Perry</dc:creator>
  <cp:keywords/>
  <dc:description>Descriptive statistics and data wrangling with the tidyverse.</dc:description>
  <dcterms:created xsi:type="dcterms:W3CDTF">2026-07-06T01:00:04Z</dcterms:created>
  <dcterms:modified xsi:type="dcterms:W3CDTF">2026-07-06T01:00:04Z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3</vt:lpwstr>
  </property>
  <property fmtid="{D5CDD505-2E9C-101B-9397-08002B2CF9AE}" pid="12" name="resources">
    <vt:lpwstr/>
  </property>
  <property fmtid="{D5CDD505-2E9C-101B-9397-08002B2CF9AE}" pid="13" name="subtitle">
    <vt:lpwstr>Summaries and tidy data</vt:lpwstr>
  </property>
  <property fmtid="{D5CDD505-2E9C-101B-9397-08002B2CF9AE}" pid="14" name="toc-title">
    <vt:lpwstr>Table of contents</vt:lpwstr>
  </property>
  <property fmtid="{D5CDD505-2E9C-101B-9397-08002B2CF9AE}" pid="15" name="week">
    <vt:lpwstr>2</vt:lpwstr>
  </property>
</Properties>
</file>